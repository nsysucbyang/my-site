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19"/>
  </p:notesMasterIdLst>
  <p:sldIdLst>
    <p:sldId id="256" r:id="rId2"/>
    <p:sldId id="321" r:id="rId3"/>
    <p:sldId id="273" r:id="rId4"/>
    <p:sldId id="312" r:id="rId5"/>
    <p:sldId id="322" r:id="rId6"/>
    <p:sldId id="323" r:id="rId7"/>
    <p:sldId id="327" r:id="rId8"/>
    <p:sldId id="325" r:id="rId9"/>
    <p:sldId id="328" r:id="rId10"/>
    <p:sldId id="330" r:id="rId11"/>
    <p:sldId id="326" r:id="rId12"/>
    <p:sldId id="332" r:id="rId13"/>
    <p:sldId id="331" r:id="rId14"/>
    <p:sldId id="333" r:id="rId15"/>
    <p:sldId id="334" r:id="rId16"/>
    <p:sldId id="335" r:id="rId17"/>
    <p:sldId id="329"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預設章節" id="{B5FBEBF5-6C27-43DA-9D2C-B1537964028B}">
          <p14:sldIdLst>
            <p14:sldId id="256"/>
            <p14:sldId id="321"/>
            <p14:sldId id="273"/>
            <p14:sldId id="312"/>
            <p14:sldId id="322"/>
            <p14:sldId id="323"/>
            <p14:sldId id="327"/>
            <p14:sldId id="325"/>
            <p14:sldId id="328"/>
            <p14:sldId id="330"/>
            <p14:sldId id="326"/>
            <p14:sldId id="332"/>
            <p14:sldId id="331"/>
            <p14:sldId id="333"/>
            <p14:sldId id="334"/>
            <p14:sldId id="335"/>
          </p14:sldIdLst>
        </p14:section>
        <p14:section name="test" id="{5A0672B8-76E0-491A-93E0-1923641389C1}">
          <p14:sldIdLst>
            <p14:sldId id="329"/>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8D0F0"/>
    <a:srgbClr val="DFBDE9"/>
    <a:srgbClr val="DEEBF7"/>
    <a:srgbClr val="4472C4"/>
    <a:srgbClr val="855151"/>
    <a:srgbClr val="FF33CC"/>
    <a:srgbClr val="CC339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無樣式、表格格線">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8D230F3-CF80-4859-8CE7-A43EE81993B5}" styleName="淺色樣式 1 - 輔色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898" autoAdjust="0"/>
    <p:restoredTop sz="85059" autoAdjust="0"/>
  </p:normalViewPr>
  <p:slideViewPr>
    <p:cSldViewPr snapToGrid="0">
      <p:cViewPr>
        <p:scale>
          <a:sx n="100" d="100"/>
          <a:sy n="100" d="100"/>
        </p:scale>
        <p:origin x="1062" y="-54"/>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TW"/>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工作表1!$B$1</c:f>
              <c:strCache>
                <c:ptCount val="1"/>
                <c:pt idx="0">
                  <c:v>Text</c:v>
                </c:pt>
              </c:strCache>
            </c:strRef>
          </c:tx>
          <c:spPr>
            <a:ln w="31750" cap="rnd">
              <a:solidFill>
                <a:srgbClr val="00B050"/>
              </a:solidFill>
              <a:round/>
            </a:ln>
            <a:effectLst/>
          </c:spPr>
          <c:marker>
            <c:symbol val="circle"/>
            <c:size val="17"/>
            <c:spPr>
              <a:solidFill>
                <a:srgbClr val="00B050"/>
              </a:solidFill>
              <a:ln>
                <a:noFill/>
              </a:ln>
              <a:effectLst/>
            </c:spPr>
          </c:marker>
          <c:dLbls>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lt1"/>
                    </a:solidFill>
                    <a:latin typeface="+mn-lt"/>
                    <a:ea typeface="+mn-ea"/>
                    <a:cs typeface="+mn-cs"/>
                  </a:defRPr>
                </a:pPr>
                <a:endParaRPr lang="zh-TW"/>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dk1">
                          <a:lumMod val="50000"/>
                          <a:lumOff val="50000"/>
                        </a:schemeClr>
                      </a:solidFill>
                    </a:ln>
                    <a:effectLst/>
                  </c:spPr>
                </c15:leaderLines>
              </c:ext>
            </c:extLst>
          </c:dLbls>
          <c:cat>
            <c:numRef>
              <c:f>工作表1!$A$2:$A$14</c:f>
              <c:numCache>
                <c:formatCode>General</c:formatCode>
                <c:ptCount val="13"/>
                <c:pt idx="0">
                  <c:v>1</c:v>
                </c:pt>
                <c:pt idx="1">
                  <c:v>2</c:v>
                </c:pt>
                <c:pt idx="2">
                  <c:v>3</c:v>
                </c:pt>
                <c:pt idx="3">
                  <c:v>4</c:v>
                </c:pt>
                <c:pt idx="4">
                  <c:v>5</c:v>
                </c:pt>
                <c:pt idx="5">
                  <c:v>6</c:v>
                </c:pt>
                <c:pt idx="6">
                  <c:v>7</c:v>
                </c:pt>
                <c:pt idx="7">
                  <c:v>8</c:v>
                </c:pt>
                <c:pt idx="8">
                  <c:v>9</c:v>
                </c:pt>
                <c:pt idx="9">
                  <c:v>10</c:v>
                </c:pt>
                <c:pt idx="10">
                  <c:v>11</c:v>
                </c:pt>
                <c:pt idx="11">
                  <c:v>12</c:v>
                </c:pt>
                <c:pt idx="12">
                  <c:v>13</c:v>
                </c:pt>
              </c:numCache>
            </c:numRef>
          </c:cat>
          <c:val>
            <c:numRef>
              <c:f>工作表1!$B$2:$B$14</c:f>
              <c:numCache>
                <c:formatCode>General</c:formatCode>
                <c:ptCount val="13"/>
                <c:pt idx="0">
                  <c:v>22</c:v>
                </c:pt>
                <c:pt idx="1">
                  <c:v>85</c:v>
                </c:pt>
                <c:pt idx="2">
                  <c:v>79</c:v>
                </c:pt>
                <c:pt idx="3">
                  <c:v>24</c:v>
                </c:pt>
                <c:pt idx="4">
                  <c:v>42</c:v>
                </c:pt>
                <c:pt idx="5">
                  <c:v>27</c:v>
                </c:pt>
                <c:pt idx="6">
                  <c:v>62</c:v>
                </c:pt>
                <c:pt idx="7">
                  <c:v>40</c:v>
                </c:pt>
                <c:pt idx="8">
                  <c:v>32</c:v>
                </c:pt>
                <c:pt idx="9">
                  <c:v>47</c:v>
                </c:pt>
                <c:pt idx="10">
                  <c:v>69</c:v>
                </c:pt>
                <c:pt idx="11">
                  <c:v>55</c:v>
                </c:pt>
                <c:pt idx="12">
                  <c:v>25</c:v>
                </c:pt>
              </c:numCache>
            </c:numRef>
          </c:val>
          <c:smooth val="0"/>
          <c:extLst>
            <c:ext xmlns:c16="http://schemas.microsoft.com/office/drawing/2014/chart" uri="{C3380CC4-5D6E-409C-BE32-E72D297353CC}">
              <c16:uniqueId val="{00000000-F670-411F-94E8-DFC1F32AB8BF}"/>
            </c:ext>
          </c:extLst>
        </c:ser>
        <c:ser>
          <c:idx val="1"/>
          <c:order val="1"/>
          <c:tx>
            <c:strRef>
              <c:f>工作表1!$C$1</c:f>
              <c:strCache>
                <c:ptCount val="1"/>
                <c:pt idx="0">
                  <c:v>Pattern</c:v>
                </c:pt>
              </c:strCache>
            </c:strRef>
          </c:tx>
          <c:spPr>
            <a:ln w="31750" cap="rnd">
              <a:solidFill>
                <a:schemeClr val="accent2"/>
              </a:solidFill>
              <a:round/>
            </a:ln>
            <a:effectLst/>
          </c:spPr>
          <c:marker>
            <c:symbol val="circle"/>
            <c:size val="17"/>
            <c:spPr>
              <a:solidFill>
                <a:schemeClr val="accent2"/>
              </a:solidFill>
              <a:ln>
                <a:noFill/>
              </a:ln>
              <a:effectLst/>
            </c:spPr>
          </c:marker>
          <c:dLbls>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lt1"/>
                    </a:solidFill>
                    <a:latin typeface="+mn-lt"/>
                    <a:ea typeface="+mn-ea"/>
                    <a:cs typeface="+mn-cs"/>
                  </a:defRPr>
                </a:pPr>
                <a:endParaRPr lang="zh-TW"/>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dk1">
                          <a:lumMod val="50000"/>
                          <a:lumOff val="50000"/>
                        </a:schemeClr>
                      </a:solidFill>
                    </a:ln>
                    <a:effectLst/>
                  </c:spPr>
                </c15:leaderLines>
              </c:ext>
            </c:extLst>
          </c:dLbls>
          <c:cat>
            <c:numRef>
              <c:f>工作表1!$A$2:$A$14</c:f>
              <c:numCache>
                <c:formatCode>General</c:formatCode>
                <c:ptCount val="13"/>
                <c:pt idx="0">
                  <c:v>1</c:v>
                </c:pt>
                <c:pt idx="1">
                  <c:v>2</c:v>
                </c:pt>
                <c:pt idx="2">
                  <c:v>3</c:v>
                </c:pt>
                <c:pt idx="3">
                  <c:v>4</c:v>
                </c:pt>
                <c:pt idx="4">
                  <c:v>5</c:v>
                </c:pt>
                <c:pt idx="5">
                  <c:v>6</c:v>
                </c:pt>
                <c:pt idx="6">
                  <c:v>7</c:v>
                </c:pt>
                <c:pt idx="7">
                  <c:v>8</c:v>
                </c:pt>
                <c:pt idx="8">
                  <c:v>9</c:v>
                </c:pt>
                <c:pt idx="9">
                  <c:v>10</c:v>
                </c:pt>
                <c:pt idx="10">
                  <c:v>11</c:v>
                </c:pt>
                <c:pt idx="11">
                  <c:v>12</c:v>
                </c:pt>
                <c:pt idx="12">
                  <c:v>13</c:v>
                </c:pt>
              </c:numCache>
            </c:numRef>
          </c:cat>
          <c:val>
            <c:numRef>
              <c:f>工作表1!$C$2:$C$14</c:f>
              <c:numCache>
                <c:formatCode>General</c:formatCode>
                <c:ptCount val="13"/>
                <c:pt idx="3">
                  <c:v>10</c:v>
                </c:pt>
                <c:pt idx="4">
                  <c:v>22</c:v>
                </c:pt>
                <c:pt idx="5">
                  <c:v>15</c:v>
                </c:pt>
                <c:pt idx="6">
                  <c:v>30</c:v>
                </c:pt>
                <c:pt idx="7">
                  <c:v>20</c:v>
                </c:pt>
                <c:pt idx="8">
                  <c:v>18</c:v>
                </c:pt>
                <c:pt idx="9">
                  <c:v>27</c:v>
                </c:pt>
              </c:numCache>
            </c:numRef>
          </c:val>
          <c:smooth val="0"/>
          <c:extLst>
            <c:ext xmlns:c16="http://schemas.microsoft.com/office/drawing/2014/chart" uri="{C3380CC4-5D6E-409C-BE32-E72D297353CC}">
              <c16:uniqueId val="{00000001-F670-411F-94E8-DFC1F32AB8BF}"/>
            </c:ext>
          </c:extLst>
        </c:ser>
        <c:dLbls>
          <c:dLblPos val="ctr"/>
          <c:showLegendKey val="0"/>
          <c:showVal val="1"/>
          <c:showCatName val="0"/>
          <c:showSerName val="0"/>
          <c:showPercent val="0"/>
          <c:showBubbleSize val="0"/>
        </c:dLbls>
        <c:marker val="1"/>
        <c:smooth val="0"/>
        <c:axId val="561740280"/>
        <c:axId val="561737328"/>
      </c:lineChart>
      <c:catAx>
        <c:axId val="561740280"/>
        <c:scaling>
          <c:orientation val="minMax"/>
        </c:scaling>
        <c:delete val="0"/>
        <c:axPos val="b"/>
        <c:numFmt formatCode="General" sourceLinked="1"/>
        <c:majorTickMark val="none"/>
        <c:minorTickMark val="none"/>
        <c:tickLblPos val="nextTo"/>
        <c:spPr>
          <a:noFill/>
          <a:ln w="19050" cap="flat" cmpd="sng" algn="ctr">
            <a:solidFill>
              <a:schemeClr val="dk1">
                <a:lumMod val="75000"/>
                <a:lumOff val="25000"/>
              </a:schemeClr>
            </a:solidFill>
            <a:round/>
          </a:ln>
          <a:effectLst/>
        </c:spPr>
        <c:txPr>
          <a:bodyPr rot="-60000000" spcFirstLastPara="1" vertOverflow="ellipsis" vert="horz" wrap="square" anchor="ctr" anchorCtr="1"/>
          <a:lstStyle/>
          <a:p>
            <a:pPr>
              <a:defRPr sz="1197" b="0" i="0" u="none" strike="noStrike" kern="1200" cap="all" baseline="0">
                <a:solidFill>
                  <a:schemeClr val="dk1">
                    <a:lumMod val="75000"/>
                    <a:lumOff val="25000"/>
                  </a:schemeClr>
                </a:solidFill>
                <a:latin typeface="+mn-lt"/>
                <a:ea typeface="+mn-ea"/>
                <a:cs typeface="+mn-cs"/>
              </a:defRPr>
            </a:pPr>
            <a:endParaRPr lang="zh-TW"/>
          </a:p>
        </c:txPr>
        <c:crossAx val="561737328"/>
        <c:crosses val="autoZero"/>
        <c:auto val="1"/>
        <c:lblAlgn val="ctr"/>
        <c:lblOffset val="100"/>
        <c:noMultiLvlLbl val="0"/>
      </c:catAx>
      <c:valAx>
        <c:axId val="561737328"/>
        <c:scaling>
          <c:orientation val="minMax"/>
        </c:scaling>
        <c:delete val="1"/>
        <c:axPos val="l"/>
        <c:majorGridlines>
          <c:spPr>
            <a:ln w="9525" cap="flat" cmpd="sng" algn="ctr">
              <a:gradFill>
                <a:gsLst>
                  <a:gs pos="100000">
                    <a:schemeClr val="dk1">
                      <a:lumMod val="95000"/>
                      <a:lumOff val="5000"/>
                      <a:alpha val="42000"/>
                    </a:schemeClr>
                  </a:gs>
                  <a:gs pos="0">
                    <a:schemeClr val="lt1">
                      <a:lumMod val="75000"/>
                      <a:alpha val="36000"/>
                    </a:schemeClr>
                  </a:gs>
                </a:gsLst>
                <a:lin ang="5400000" scaled="0"/>
              </a:gradFill>
              <a:round/>
            </a:ln>
            <a:effectLst/>
          </c:spPr>
        </c:majorGridlines>
        <c:numFmt formatCode="General" sourceLinked="1"/>
        <c:majorTickMark val="none"/>
        <c:minorTickMark val="none"/>
        <c:tickLblPos val="nextTo"/>
        <c:crossAx val="561740280"/>
        <c:crosses val="autoZero"/>
        <c:crossBetween val="between"/>
      </c:valAx>
      <c:spPr>
        <a:noFill/>
        <a:ln>
          <a:noFill/>
        </a:ln>
        <a:effectLst/>
      </c:spPr>
    </c:plotArea>
    <c:legend>
      <c:legendPos val="b"/>
      <c:overlay val="0"/>
      <c:spPr>
        <a:solidFill>
          <a:schemeClr val="lt1">
            <a:lumMod val="95000"/>
            <a:alpha val="39000"/>
          </a:schemeClr>
        </a:solidFill>
        <a:ln>
          <a:noFill/>
        </a:ln>
        <a:effectLst/>
      </c:spPr>
      <c:txPr>
        <a:bodyPr rot="0" spcFirstLastPara="1" vertOverflow="ellipsis" vert="horz" wrap="square" anchor="ctr" anchorCtr="1"/>
        <a:lstStyle/>
        <a:p>
          <a:pPr>
            <a:defRPr sz="1197" b="0" i="0" u="none" strike="noStrike" kern="1200" baseline="0">
              <a:solidFill>
                <a:schemeClr val="dk1">
                  <a:lumMod val="75000"/>
                  <a:lumOff val="25000"/>
                </a:schemeClr>
              </a:solidFill>
              <a:latin typeface="Times New Roman" panose="02020603050405020304" pitchFamily="18" charset="0"/>
              <a:ea typeface="+mn-ea"/>
              <a:cs typeface="Times New Roman" panose="02020603050405020304" pitchFamily="18" charset="0"/>
            </a:defRPr>
          </a:pPr>
          <a:endParaRPr lang="zh-TW"/>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w="9525" cap="flat" cmpd="sng" algn="ctr">
      <a:solidFill>
        <a:schemeClr val="dk1">
          <a:lumMod val="25000"/>
          <a:lumOff val="75000"/>
        </a:schemeClr>
      </a:solidFill>
      <a:round/>
    </a:ln>
    <a:effectLst/>
  </c:spPr>
  <c:txPr>
    <a:bodyPr/>
    <a:lstStyle/>
    <a:p>
      <a:pPr>
        <a:defRPr/>
      </a:pPr>
      <a:endParaRPr lang="zh-TW"/>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TW"/>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工作表1!$B$1</c:f>
              <c:strCache>
                <c:ptCount val="1"/>
                <c:pt idx="0">
                  <c:v>Text</c:v>
                </c:pt>
              </c:strCache>
            </c:strRef>
          </c:tx>
          <c:spPr>
            <a:ln w="31750" cap="rnd">
              <a:solidFill>
                <a:srgbClr val="00B050"/>
              </a:solidFill>
              <a:round/>
            </a:ln>
            <a:effectLst/>
          </c:spPr>
          <c:marker>
            <c:symbol val="circle"/>
            <c:size val="17"/>
            <c:spPr>
              <a:solidFill>
                <a:srgbClr val="00B050"/>
              </a:solidFill>
              <a:ln>
                <a:noFill/>
              </a:ln>
              <a:effectLst/>
            </c:spPr>
          </c:marker>
          <c:dLbls>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lt1"/>
                    </a:solidFill>
                    <a:latin typeface="+mn-lt"/>
                    <a:ea typeface="+mn-ea"/>
                    <a:cs typeface="+mn-cs"/>
                  </a:defRPr>
                </a:pPr>
                <a:endParaRPr lang="zh-TW"/>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dk1">
                          <a:lumMod val="50000"/>
                          <a:lumOff val="50000"/>
                        </a:schemeClr>
                      </a:solidFill>
                    </a:ln>
                    <a:effectLst/>
                  </c:spPr>
                </c15:leaderLines>
              </c:ext>
            </c:extLst>
          </c:dLbls>
          <c:cat>
            <c:numRef>
              <c:f>工作表1!$A$2:$A$14</c:f>
              <c:numCache>
                <c:formatCode>General</c:formatCode>
                <c:ptCount val="13"/>
                <c:pt idx="0">
                  <c:v>1</c:v>
                </c:pt>
                <c:pt idx="1">
                  <c:v>2</c:v>
                </c:pt>
                <c:pt idx="2">
                  <c:v>3</c:v>
                </c:pt>
                <c:pt idx="3">
                  <c:v>4</c:v>
                </c:pt>
                <c:pt idx="4">
                  <c:v>5</c:v>
                </c:pt>
                <c:pt idx="5">
                  <c:v>6</c:v>
                </c:pt>
                <c:pt idx="6">
                  <c:v>7</c:v>
                </c:pt>
                <c:pt idx="7">
                  <c:v>8</c:v>
                </c:pt>
                <c:pt idx="8">
                  <c:v>9</c:v>
                </c:pt>
                <c:pt idx="9">
                  <c:v>10</c:v>
                </c:pt>
                <c:pt idx="10">
                  <c:v>11</c:v>
                </c:pt>
                <c:pt idx="11">
                  <c:v>12</c:v>
                </c:pt>
                <c:pt idx="12">
                  <c:v>13</c:v>
                </c:pt>
              </c:numCache>
            </c:numRef>
          </c:cat>
          <c:val>
            <c:numRef>
              <c:f>工作表1!$B$2:$B$14</c:f>
              <c:numCache>
                <c:formatCode>General</c:formatCode>
                <c:ptCount val="13"/>
                <c:pt idx="0">
                  <c:v>5</c:v>
                </c:pt>
                <c:pt idx="1">
                  <c:v>10</c:v>
                </c:pt>
                <c:pt idx="2">
                  <c:v>20</c:v>
                </c:pt>
                <c:pt idx="3">
                  <c:v>15</c:v>
                </c:pt>
                <c:pt idx="4">
                  <c:v>25</c:v>
                </c:pt>
                <c:pt idx="5">
                  <c:v>35</c:v>
                </c:pt>
                <c:pt idx="6">
                  <c:v>20</c:v>
                </c:pt>
                <c:pt idx="7">
                  <c:v>30</c:v>
                </c:pt>
                <c:pt idx="8">
                  <c:v>15</c:v>
                </c:pt>
                <c:pt idx="9">
                  <c:v>30</c:v>
                </c:pt>
                <c:pt idx="10">
                  <c:v>25</c:v>
                </c:pt>
                <c:pt idx="11">
                  <c:v>20</c:v>
                </c:pt>
                <c:pt idx="12">
                  <c:v>15</c:v>
                </c:pt>
              </c:numCache>
            </c:numRef>
          </c:val>
          <c:smooth val="0"/>
          <c:extLst>
            <c:ext xmlns:c16="http://schemas.microsoft.com/office/drawing/2014/chart" uri="{C3380CC4-5D6E-409C-BE32-E72D297353CC}">
              <c16:uniqueId val="{00000000-F670-411F-94E8-DFC1F32AB8BF}"/>
            </c:ext>
          </c:extLst>
        </c:ser>
        <c:ser>
          <c:idx val="1"/>
          <c:order val="1"/>
          <c:tx>
            <c:strRef>
              <c:f>工作表1!$C$1</c:f>
              <c:strCache>
                <c:ptCount val="1"/>
                <c:pt idx="0">
                  <c:v>Pattern</c:v>
                </c:pt>
              </c:strCache>
            </c:strRef>
          </c:tx>
          <c:spPr>
            <a:ln w="31750" cap="rnd">
              <a:solidFill>
                <a:schemeClr val="accent2"/>
              </a:solidFill>
              <a:round/>
            </a:ln>
            <a:effectLst/>
          </c:spPr>
          <c:marker>
            <c:symbol val="circle"/>
            <c:size val="17"/>
            <c:spPr>
              <a:solidFill>
                <a:schemeClr val="accent2"/>
              </a:solidFill>
              <a:ln>
                <a:noFill/>
              </a:ln>
              <a:effectLst/>
            </c:spPr>
          </c:marker>
          <c:dLbls>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lt1"/>
                    </a:solidFill>
                    <a:latin typeface="+mn-lt"/>
                    <a:ea typeface="+mn-ea"/>
                    <a:cs typeface="+mn-cs"/>
                  </a:defRPr>
                </a:pPr>
                <a:endParaRPr lang="zh-TW"/>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dk1">
                          <a:lumMod val="50000"/>
                          <a:lumOff val="50000"/>
                        </a:schemeClr>
                      </a:solidFill>
                    </a:ln>
                    <a:effectLst/>
                  </c:spPr>
                </c15:leaderLines>
              </c:ext>
            </c:extLst>
          </c:dLbls>
          <c:cat>
            <c:numRef>
              <c:f>工作表1!$A$2:$A$14</c:f>
              <c:numCache>
                <c:formatCode>General</c:formatCode>
                <c:ptCount val="13"/>
                <c:pt idx="0">
                  <c:v>1</c:v>
                </c:pt>
                <c:pt idx="1">
                  <c:v>2</c:v>
                </c:pt>
                <c:pt idx="2">
                  <c:v>3</c:v>
                </c:pt>
                <c:pt idx="3">
                  <c:v>4</c:v>
                </c:pt>
                <c:pt idx="4">
                  <c:v>5</c:v>
                </c:pt>
                <c:pt idx="5">
                  <c:v>6</c:v>
                </c:pt>
                <c:pt idx="6">
                  <c:v>7</c:v>
                </c:pt>
                <c:pt idx="7">
                  <c:v>8</c:v>
                </c:pt>
                <c:pt idx="8">
                  <c:v>9</c:v>
                </c:pt>
                <c:pt idx="9">
                  <c:v>10</c:v>
                </c:pt>
                <c:pt idx="10">
                  <c:v>11</c:v>
                </c:pt>
                <c:pt idx="11">
                  <c:v>12</c:v>
                </c:pt>
                <c:pt idx="12">
                  <c:v>13</c:v>
                </c:pt>
              </c:numCache>
            </c:numRef>
          </c:cat>
          <c:val>
            <c:numRef>
              <c:f>工作表1!$C$2:$C$14</c:f>
              <c:numCache>
                <c:formatCode>General</c:formatCode>
                <c:ptCount val="13"/>
                <c:pt idx="0">
                  <c:v>2</c:v>
                </c:pt>
                <c:pt idx="1">
                  <c:v>6</c:v>
                </c:pt>
                <c:pt idx="2">
                  <c:v>10</c:v>
                </c:pt>
                <c:pt idx="3">
                  <c:v>4</c:v>
                </c:pt>
                <c:pt idx="4">
                  <c:v>8</c:v>
                </c:pt>
              </c:numCache>
            </c:numRef>
          </c:val>
          <c:smooth val="0"/>
          <c:extLst>
            <c:ext xmlns:c16="http://schemas.microsoft.com/office/drawing/2014/chart" uri="{C3380CC4-5D6E-409C-BE32-E72D297353CC}">
              <c16:uniqueId val="{00000001-F670-411F-94E8-DFC1F32AB8BF}"/>
            </c:ext>
          </c:extLst>
        </c:ser>
        <c:dLbls>
          <c:dLblPos val="ctr"/>
          <c:showLegendKey val="0"/>
          <c:showVal val="1"/>
          <c:showCatName val="0"/>
          <c:showSerName val="0"/>
          <c:showPercent val="0"/>
          <c:showBubbleSize val="0"/>
        </c:dLbls>
        <c:marker val="1"/>
        <c:smooth val="0"/>
        <c:axId val="561740280"/>
        <c:axId val="561737328"/>
      </c:lineChart>
      <c:catAx>
        <c:axId val="561740280"/>
        <c:scaling>
          <c:orientation val="minMax"/>
        </c:scaling>
        <c:delete val="0"/>
        <c:axPos val="b"/>
        <c:numFmt formatCode="General" sourceLinked="1"/>
        <c:majorTickMark val="none"/>
        <c:minorTickMark val="none"/>
        <c:tickLblPos val="nextTo"/>
        <c:spPr>
          <a:noFill/>
          <a:ln w="19050" cap="flat" cmpd="sng" algn="ctr">
            <a:solidFill>
              <a:schemeClr val="dk1">
                <a:lumMod val="75000"/>
                <a:lumOff val="25000"/>
              </a:schemeClr>
            </a:solidFill>
            <a:round/>
          </a:ln>
          <a:effectLst/>
        </c:spPr>
        <c:txPr>
          <a:bodyPr rot="-60000000" spcFirstLastPara="1" vertOverflow="ellipsis" vert="horz" wrap="square" anchor="ctr" anchorCtr="1"/>
          <a:lstStyle/>
          <a:p>
            <a:pPr>
              <a:defRPr sz="1197" b="0" i="0" u="none" strike="noStrike" kern="1200" cap="all" baseline="0">
                <a:solidFill>
                  <a:schemeClr val="dk1">
                    <a:lumMod val="75000"/>
                    <a:lumOff val="25000"/>
                  </a:schemeClr>
                </a:solidFill>
                <a:latin typeface="+mn-lt"/>
                <a:ea typeface="+mn-ea"/>
                <a:cs typeface="+mn-cs"/>
              </a:defRPr>
            </a:pPr>
            <a:endParaRPr lang="zh-TW"/>
          </a:p>
        </c:txPr>
        <c:crossAx val="561737328"/>
        <c:crosses val="autoZero"/>
        <c:auto val="1"/>
        <c:lblAlgn val="ctr"/>
        <c:lblOffset val="100"/>
        <c:noMultiLvlLbl val="0"/>
      </c:catAx>
      <c:valAx>
        <c:axId val="561737328"/>
        <c:scaling>
          <c:orientation val="minMax"/>
        </c:scaling>
        <c:delete val="1"/>
        <c:axPos val="l"/>
        <c:majorGridlines>
          <c:spPr>
            <a:ln w="9525" cap="flat" cmpd="sng" algn="ctr">
              <a:gradFill>
                <a:gsLst>
                  <a:gs pos="100000">
                    <a:schemeClr val="dk1">
                      <a:lumMod val="95000"/>
                      <a:lumOff val="5000"/>
                      <a:alpha val="42000"/>
                    </a:schemeClr>
                  </a:gs>
                  <a:gs pos="0">
                    <a:schemeClr val="lt1">
                      <a:lumMod val="75000"/>
                      <a:alpha val="36000"/>
                    </a:schemeClr>
                  </a:gs>
                </a:gsLst>
                <a:lin ang="5400000" scaled="0"/>
              </a:gradFill>
              <a:round/>
            </a:ln>
            <a:effectLst/>
          </c:spPr>
        </c:majorGridlines>
        <c:numFmt formatCode="General" sourceLinked="1"/>
        <c:majorTickMark val="none"/>
        <c:minorTickMark val="none"/>
        <c:tickLblPos val="nextTo"/>
        <c:crossAx val="561740280"/>
        <c:crosses val="autoZero"/>
        <c:crossBetween val="between"/>
      </c:valAx>
      <c:spPr>
        <a:noFill/>
        <a:ln>
          <a:noFill/>
        </a:ln>
        <a:effectLst/>
      </c:spPr>
    </c:plotArea>
    <c:legend>
      <c:legendPos val="b"/>
      <c:overlay val="0"/>
      <c:spPr>
        <a:solidFill>
          <a:schemeClr val="lt1">
            <a:lumMod val="95000"/>
            <a:alpha val="39000"/>
          </a:schemeClr>
        </a:solidFill>
        <a:ln>
          <a:noFill/>
        </a:ln>
        <a:effectLst/>
      </c:spPr>
      <c:txPr>
        <a:bodyPr rot="0" spcFirstLastPara="1" vertOverflow="ellipsis" vert="horz" wrap="square" anchor="ctr" anchorCtr="1"/>
        <a:lstStyle/>
        <a:p>
          <a:pPr>
            <a:defRPr sz="1197" b="0" i="0" u="none" strike="noStrike" kern="1200" baseline="0">
              <a:solidFill>
                <a:schemeClr val="dk1">
                  <a:lumMod val="75000"/>
                  <a:lumOff val="25000"/>
                </a:schemeClr>
              </a:solidFill>
              <a:latin typeface="Times New Roman" panose="02020603050405020304" pitchFamily="18" charset="0"/>
              <a:ea typeface="+mn-ea"/>
              <a:cs typeface="Times New Roman" panose="02020603050405020304" pitchFamily="18" charset="0"/>
            </a:defRPr>
          </a:pPr>
          <a:endParaRPr lang="zh-TW"/>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w="9525" cap="flat" cmpd="sng" algn="ctr">
      <a:solidFill>
        <a:schemeClr val="dk1">
          <a:lumMod val="25000"/>
          <a:lumOff val="75000"/>
        </a:schemeClr>
      </a:solidFill>
      <a:round/>
    </a:ln>
    <a:effectLst/>
  </c:spPr>
  <c:txPr>
    <a:bodyPr/>
    <a:lstStyle/>
    <a:p>
      <a:pPr>
        <a:defRPr/>
      </a:pPr>
      <a:endParaRPr lang="zh-TW"/>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28">
  <cs:axisTitle>
    <cs:lnRef idx="0"/>
    <cs:fillRef idx="0"/>
    <cs:effectRef idx="0"/>
    <cs:fontRef idx="minor">
      <a:schemeClr val="dk1">
        <a:lumMod val="75000"/>
        <a:lumOff val="25000"/>
      </a:schemeClr>
    </cs:fontRef>
    <cs:defRPr sz="1197" b="1" kern="1200"/>
  </cs:axisTitle>
  <cs:categoryAxis>
    <cs:lnRef idx="0"/>
    <cs:fillRef idx="0"/>
    <cs:effectRef idx="0"/>
    <cs:fontRef idx="minor">
      <a:schemeClr val="dk1">
        <a:lumMod val="75000"/>
        <a:lumOff val="25000"/>
      </a:schemeClr>
    </cs:fontRef>
    <cs:spPr>
      <a:ln w="19050" cap="flat" cmpd="sng" algn="ctr">
        <a:solidFill>
          <a:schemeClr val="dk1">
            <a:lumMod val="75000"/>
            <a:lumOff val="25000"/>
          </a:schemeClr>
        </a:solidFill>
        <a:round/>
      </a:ln>
    </cs:spPr>
    <cs:defRPr sz="1197" kern="1200" cap="all" baseline="0"/>
  </cs:categoryAxis>
  <cs:chartArea>
    <cs:lnRef idx="0"/>
    <cs:fillRef idx="0"/>
    <cs:effectRef idx="0"/>
    <cs:fontRef idx="minor">
      <a:schemeClr val="dk1"/>
    </cs:fontRef>
    <cs: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cs:spPr>
    <cs:defRPr sz="1197" kern="1200"/>
  </cs:chartArea>
  <cs:dataLabel>
    <cs:lnRef idx="0"/>
    <cs:fillRef idx="0">
      <cs:styleClr val="auto"/>
    </cs:fillRef>
    <cs:effectRef idx="0"/>
    <cs:fontRef idx="minor">
      <a:schemeClr val="lt1"/>
    </cs:fontRef>
    <cs:defRPr sz="1197" b="1" i="0" u="none" strike="noStrike" kern="1200" baseline="0"/>
  </cs:dataLabel>
  <cs:dataLabelCallout>
    <cs:lnRef idx="0"/>
    <cs:fillRef idx="0"/>
    <cs:effectRef idx="0"/>
    <cs:fontRef idx="minor">
      <a:schemeClr val="lt1"/>
    </cs:fontRef>
    <cs:spPr>
      <a:solidFill>
        <a:schemeClr val="dk1">
          <a:lumMod val="65000"/>
          <a:lumOff val="35000"/>
          <a:alpha val="75000"/>
        </a:schemeClr>
      </a:solidFill>
    </cs:spPr>
    <cs:defRPr sz="1197" b="1"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alpha val="85000"/>
        </a:schemeClr>
      </a:solidFill>
      <a:ln w="9525" cap="flat" cmpd="sng" algn="ctr">
        <a:solidFill>
          <a:schemeClr val="lt1">
            <a:alpha val="50000"/>
          </a:schemeClr>
        </a:solidFill>
        <a:round/>
      </a:ln>
    </cs:spPr>
  </cs:dataPoint>
  <cs:dataPoint3D>
    <cs:lnRef idx="0"/>
    <cs:fillRef idx="0">
      <cs:styleClr val="auto"/>
    </cs:fillRef>
    <cs:effectRef idx="0"/>
    <cs:fontRef idx="minor">
      <a:schemeClr val="dk1"/>
    </cs:fontRef>
    <cs:spPr>
      <a:solidFill>
        <a:schemeClr val="phClr">
          <a:alpha val="85000"/>
        </a:schemeClr>
      </a:solidFill>
      <a:ln w="9525" cap="flat" cmpd="sng" algn="ctr">
        <a:solidFill>
          <a:schemeClr val="lt1">
            <a:alpha val="50000"/>
          </a:schemeClr>
        </a:solidFill>
        <a:round/>
      </a:ln>
    </cs:spPr>
  </cs:dataPoint3D>
  <cs:dataPointLine>
    <cs:lnRef idx="0">
      <cs:styleClr val="auto"/>
    </cs:lnRef>
    <cs:fillRef idx="0"/>
    <cs:effectRef idx="0"/>
    <cs:fontRef idx="minor">
      <a:schemeClr val="dk1"/>
    </cs:fontRef>
    <cs:spPr>
      <a:ln w="31750" cap="rnd">
        <a:solidFill>
          <a:schemeClr val="phClr"/>
        </a:solidFill>
        <a:round/>
      </a:ln>
    </cs:spPr>
  </cs:dataPointLine>
  <cs:dataPointMarker>
    <cs:lnRef idx="0"/>
    <cs:fillRef idx="0">
      <cs:styleClr val="auto"/>
    </cs:fillRef>
    <cs:effectRef idx="0"/>
    <cs:fontRef idx="minor">
      <a:schemeClr val="dk1"/>
    </cs:fontRef>
    <cs:spPr>
      <a:solidFill>
        <a:schemeClr val="phClr"/>
      </a:solidFill>
    </cs:spPr>
  </cs:dataPointMarker>
  <cs:dataPointMarkerLayout symbol="circle" size="17"/>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75000"/>
        <a:lumOff val="25000"/>
      </a:schemeClr>
    </cs:fontRef>
    <cs:spPr>
      <a:ln w="9525">
        <a:solidFill>
          <a:schemeClr val="dk1">
            <a:lumMod val="35000"/>
            <a:lumOff val="65000"/>
          </a:schemeClr>
        </a:solidFill>
      </a:ln>
    </cs:spPr>
    <cs:defRPr sz="1197" kern="1200"/>
  </cs:dataTable>
  <cs:downBar>
    <cs:lnRef idx="0"/>
    <cs:fillRef idx="0"/>
    <cs:effectRef idx="0"/>
    <cs:fontRef idx="minor">
      <a:schemeClr val="dk1"/>
    </cs:fontRef>
    <cs:spPr>
      <a:solidFill>
        <a:schemeClr val="dk1">
          <a:lumMod val="50000"/>
          <a:lumOff val="50000"/>
        </a:schemeClr>
      </a:solidFill>
      <a:ln w="9525">
        <a:solidFill>
          <a:schemeClr val="dk1">
            <a:lumMod val="65000"/>
            <a:lumOff val="35000"/>
          </a:schemeClr>
        </a:solidFill>
      </a:ln>
    </cs:spPr>
  </cs:downBar>
  <cs:dropLine>
    <cs:lnRef idx="0"/>
    <cs:fillRef idx="0"/>
    <cs:effectRef idx="0"/>
    <cs:fontRef idx="minor">
      <a:schemeClr val="dk1"/>
    </cs:fontRef>
    <cs:spPr>
      <a:ln w="9525">
        <a:solidFill>
          <a:schemeClr val="dk1">
            <a:lumMod val="35000"/>
            <a:lumOff val="65000"/>
          </a:schemeClr>
        </a:solidFill>
        <a:prstDash val="dash"/>
      </a:ln>
    </cs:spPr>
  </cs:dropLine>
  <cs:errorBar>
    <cs:lnRef idx="0"/>
    <cs:fillRef idx="0"/>
    <cs:effectRef idx="0"/>
    <cs:fontRef idx="minor">
      <a:schemeClr val="dk1"/>
    </cs:fontRef>
    <cs:spPr>
      <a:ln w="9525">
        <a:solidFill>
          <a:schemeClr val="dk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dk1">
                <a:lumMod val="95000"/>
                <a:lumOff val="5000"/>
                <a:alpha val="42000"/>
              </a:schemeClr>
            </a:gs>
            <a:gs pos="0">
              <a:schemeClr val="lt1">
                <a:lumMod val="75000"/>
                <a:alpha val="36000"/>
              </a:schemeClr>
            </a:gs>
          </a:gsLst>
          <a:lin ang="5400000" scaled="0"/>
        </a:gradFill>
        <a:round/>
      </a:ln>
    </cs:spPr>
  </cs:gridlineMajor>
  <cs:gridlineMinor>
    <cs:lnRef idx="0"/>
    <cs:fillRef idx="0"/>
    <cs:effectRef idx="0"/>
    <cs:fontRef idx="minor">
      <a:schemeClr val="dk1"/>
    </cs:fontRef>
    <cs:spPr>
      <a:ln>
        <a:gradFill>
          <a:gsLst>
            <a:gs pos="100000">
              <a:schemeClr val="dk1">
                <a:lumMod val="95000"/>
                <a:lumOff val="5000"/>
                <a:alpha val="42000"/>
              </a:schemeClr>
            </a:gs>
            <a:gs pos="0">
              <a:schemeClr val="lt1">
                <a:lumMod val="75000"/>
                <a:alpha val="36000"/>
              </a:schemeClr>
            </a:gs>
          </a:gsLst>
          <a:lin ang="5400000" scaled="0"/>
        </a:gradFill>
      </a:ln>
    </cs:spPr>
  </cs:gridlineMinor>
  <cs:hiLoLine>
    <cs:lnRef idx="0"/>
    <cs:fillRef idx="0"/>
    <cs:effectRef idx="0"/>
    <cs:fontRef idx="minor">
      <a:schemeClr val="dk1"/>
    </cs:fontRef>
    <cs:spPr>
      <a:ln w="9525">
        <a:solidFill>
          <a:schemeClr val="dk1">
            <a:lumMod val="35000"/>
            <a:lumOff val="65000"/>
          </a:schemeClr>
        </a:solidFill>
        <a:prstDash val="dash"/>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75000"/>
        <a:lumOff val="25000"/>
      </a:schemeClr>
    </cs:fontRef>
    <cs:spPr>
      <a:solidFill>
        <a:schemeClr val="lt1">
          <a:lumMod val="95000"/>
          <a:alpha val="39000"/>
        </a:schemeClr>
      </a:solidFill>
    </cs:spPr>
    <cs:defRPr sz="1197"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75000"/>
        <a:lumOff val="25000"/>
      </a:schemeClr>
    </cs:fontRef>
    <cs:spPr>
      <a:ln w="31750" cap="flat" cmpd="sng" algn="ctr">
        <a:solidFill>
          <a:schemeClr val="dk1">
            <a:lumMod val="75000"/>
            <a:lumOff val="25000"/>
          </a:schemeClr>
        </a:solidFill>
        <a:round/>
      </a:ln>
    </cs:spPr>
    <cs:defRPr sz="1197"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75000"/>
        <a:lumOff val="25000"/>
      </a:schemeClr>
    </cs:fontRef>
    <cs:defRPr sz="2200" b="1" kern="120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75000"/>
        <a:lumOff val="25000"/>
      </a:schemeClr>
    </cs:fontRef>
    <cs:defRPr sz="1197" kern="1200"/>
  </cs:trendlineLabel>
  <cs:upBar>
    <cs:lnRef idx="0"/>
    <cs:fillRef idx="0"/>
    <cs:effectRef idx="0"/>
    <cs:fontRef idx="minor">
      <a:schemeClr val="dk1"/>
    </cs:fontRef>
    <cs:spPr>
      <a:solidFill>
        <a:schemeClr val="lt1"/>
      </a:solidFill>
      <a:ln w="9525">
        <a:solidFill>
          <a:schemeClr val="dk1">
            <a:lumMod val="65000"/>
            <a:lumOff val="35000"/>
          </a:schemeClr>
        </a:solidFill>
      </a:ln>
    </cs:spPr>
  </cs:upBar>
  <cs:valueAxis>
    <cs:lnRef idx="0"/>
    <cs:fillRef idx="0"/>
    <cs:effectRef idx="0"/>
    <cs:fontRef idx="minor">
      <a:schemeClr val="dk1">
        <a:lumMod val="75000"/>
        <a:lumOff val="25000"/>
      </a:schemeClr>
    </cs:fontRef>
    <cs:spPr>
      <a:ln>
        <a:noFill/>
      </a:ln>
    </cs:spPr>
    <cs:defRPr sz="1197" kern="1200"/>
  </cs:valueAxis>
  <cs:wall>
    <cs:lnRef idx="0"/>
    <cs:fillRef idx="0"/>
    <cs:effectRef idx="0"/>
    <cs:fontRef idx="minor">
      <a:schemeClr val="dk1"/>
    </cs:fontRef>
  </cs:wall>
</cs:chartStyle>
</file>

<file path=ppt/charts/style2.xml><?xml version="1.0" encoding="utf-8"?>
<cs:chartStyle xmlns:cs="http://schemas.microsoft.com/office/drawing/2012/chartStyle" xmlns:a="http://schemas.openxmlformats.org/drawingml/2006/main" id="228">
  <cs:axisTitle>
    <cs:lnRef idx="0"/>
    <cs:fillRef idx="0"/>
    <cs:effectRef idx="0"/>
    <cs:fontRef idx="minor">
      <a:schemeClr val="dk1">
        <a:lumMod val="75000"/>
        <a:lumOff val="25000"/>
      </a:schemeClr>
    </cs:fontRef>
    <cs:defRPr sz="1197" b="1" kern="1200"/>
  </cs:axisTitle>
  <cs:categoryAxis>
    <cs:lnRef idx="0"/>
    <cs:fillRef idx="0"/>
    <cs:effectRef idx="0"/>
    <cs:fontRef idx="minor">
      <a:schemeClr val="dk1">
        <a:lumMod val="75000"/>
        <a:lumOff val="25000"/>
      </a:schemeClr>
    </cs:fontRef>
    <cs:spPr>
      <a:ln w="19050" cap="flat" cmpd="sng" algn="ctr">
        <a:solidFill>
          <a:schemeClr val="dk1">
            <a:lumMod val="75000"/>
            <a:lumOff val="25000"/>
          </a:schemeClr>
        </a:solidFill>
        <a:round/>
      </a:ln>
    </cs:spPr>
    <cs:defRPr sz="1197" kern="1200" cap="all" baseline="0"/>
  </cs:categoryAxis>
  <cs:chartArea>
    <cs:lnRef idx="0"/>
    <cs:fillRef idx="0"/>
    <cs:effectRef idx="0"/>
    <cs:fontRef idx="minor">
      <a:schemeClr val="dk1"/>
    </cs:fontRef>
    <cs: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cs:spPr>
    <cs:defRPr sz="1197" kern="1200"/>
  </cs:chartArea>
  <cs:dataLabel>
    <cs:lnRef idx="0"/>
    <cs:fillRef idx="0">
      <cs:styleClr val="auto"/>
    </cs:fillRef>
    <cs:effectRef idx="0"/>
    <cs:fontRef idx="minor">
      <a:schemeClr val="lt1"/>
    </cs:fontRef>
    <cs:defRPr sz="1197" b="1" i="0" u="none" strike="noStrike" kern="1200" baseline="0"/>
  </cs:dataLabel>
  <cs:dataLabelCallout>
    <cs:lnRef idx="0"/>
    <cs:fillRef idx="0"/>
    <cs:effectRef idx="0"/>
    <cs:fontRef idx="minor">
      <a:schemeClr val="lt1"/>
    </cs:fontRef>
    <cs:spPr>
      <a:solidFill>
        <a:schemeClr val="dk1">
          <a:lumMod val="65000"/>
          <a:lumOff val="35000"/>
          <a:alpha val="75000"/>
        </a:schemeClr>
      </a:solidFill>
    </cs:spPr>
    <cs:defRPr sz="1197" b="1"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alpha val="85000"/>
        </a:schemeClr>
      </a:solidFill>
      <a:ln w="9525" cap="flat" cmpd="sng" algn="ctr">
        <a:solidFill>
          <a:schemeClr val="lt1">
            <a:alpha val="50000"/>
          </a:schemeClr>
        </a:solidFill>
        <a:round/>
      </a:ln>
    </cs:spPr>
  </cs:dataPoint>
  <cs:dataPoint3D>
    <cs:lnRef idx="0"/>
    <cs:fillRef idx="0">
      <cs:styleClr val="auto"/>
    </cs:fillRef>
    <cs:effectRef idx="0"/>
    <cs:fontRef idx="minor">
      <a:schemeClr val="dk1"/>
    </cs:fontRef>
    <cs:spPr>
      <a:solidFill>
        <a:schemeClr val="phClr">
          <a:alpha val="85000"/>
        </a:schemeClr>
      </a:solidFill>
      <a:ln w="9525" cap="flat" cmpd="sng" algn="ctr">
        <a:solidFill>
          <a:schemeClr val="lt1">
            <a:alpha val="50000"/>
          </a:schemeClr>
        </a:solidFill>
        <a:round/>
      </a:ln>
    </cs:spPr>
  </cs:dataPoint3D>
  <cs:dataPointLine>
    <cs:lnRef idx="0">
      <cs:styleClr val="auto"/>
    </cs:lnRef>
    <cs:fillRef idx="0"/>
    <cs:effectRef idx="0"/>
    <cs:fontRef idx="minor">
      <a:schemeClr val="dk1"/>
    </cs:fontRef>
    <cs:spPr>
      <a:ln w="31750" cap="rnd">
        <a:solidFill>
          <a:schemeClr val="phClr"/>
        </a:solidFill>
        <a:round/>
      </a:ln>
    </cs:spPr>
  </cs:dataPointLine>
  <cs:dataPointMarker>
    <cs:lnRef idx="0"/>
    <cs:fillRef idx="0">
      <cs:styleClr val="auto"/>
    </cs:fillRef>
    <cs:effectRef idx="0"/>
    <cs:fontRef idx="minor">
      <a:schemeClr val="dk1"/>
    </cs:fontRef>
    <cs:spPr>
      <a:solidFill>
        <a:schemeClr val="phClr"/>
      </a:solidFill>
    </cs:spPr>
  </cs:dataPointMarker>
  <cs:dataPointMarkerLayout symbol="circle" size="17"/>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75000"/>
        <a:lumOff val="25000"/>
      </a:schemeClr>
    </cs:fontRef>
    <cs:spPr>
      <a:ln w="9525">
        <a:solidFill>
          <a:schemeClr val="dk1">
            <a:lumMod val="35000"/>
            <a:lumOff val="65000"/>
          </a:schemeClr>
        </a:solidFill>
      </a:ln>
    </cs:spPr>
    <cs:defRPr sz="1197" kern="1200"/>
  </cs:dataTable>
  <cs:downBar>
    <cs:lnRef idx="0"/>
    <cs:fillRef idx="0"/>
    <cs:effectRef idx="0"/>
    <cs:fontRef idx="minor">
      <a:schemeClr val="dk1"/>
    </cs:fontRef>
    <cs:spPr>
      <a:solidFill>
        <a:schemeClr val="dk1">
          <a:lumMod val="50000"/>
          <a:lumOff val="50000"/>
        </a:schemeClr>
      </a:solidFill>
      <a:ln w="9525">
        <a:solidFill>
          <a:schemeClr val="dk1">
            <a:lumMod val="65000"/>
            <a:lumOff val="35000"/>
          </a:schemeClr>
        </a:solidFill>
      </a:ln>
    </cs:spPr>
  </cs:downBar>
  <cs:dropLine>
    <cs:lnRef idx="0"/>
    <cs:fillRef idx="0"/>
    <cs:effectRef idx="0"/>
    <cs:fontRef idx="minor">
      <a:schemeClr val="dk1"/>
    </cs:fontRef>
    <cs:spPr>
      <a:ln w="9525">
        <a:solidFill>
          <a:schemeClr val="dk1">
            <a:lumMod val="35000"/>
            <a:lumOff val="65000"/>
          </a:schemeClr>
        </a:solidFill>
        <a:prstDash val="dash"/>
      </a:ln>
    </cs:spPr>
  </cs:dropLine>
  <cs:errorBar>
    <cs:lnRef idx="0"/>
    <cs:fillRef idx="0"/>
    <cs:effectRef idx="0"/>
    <cs:fontRef idx="minor">
      <a:schemeClr val="dk1"/>
    </cs:fontRef>
    <cs:spPr>
      <a:ln w="9525">
        <a:solidFill>
          <a:schemeClr val="dk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dk1">
                <a:lumMod val="95000"/>
                <a:lumOff val="5000"/>
                <a:alpha val="42000"/>
              </a:schemeClr>
            </a:gs>
            <a:gs pos="0">
              <a:schemeClr val="lt1">
                <a:lumMod val="75000"/>
                <a:alpha val="36000"/>
              </a:schemeClr>
            </a:gs>
          </a:gsLst>
          <a:lin ang="5400000" scaled="0"/>
        </a:gradFill>
        <a:round/>
      </a:ln>
    </cs:spPr>
  </cs:gridlineMajor>
  <cs:gridlineMinor>
    <cs:lnRef idx="0"/>
    <cs:fillRef idx="0"/>
    <cs:effectRef idx="0"/>
    <cs:fontRef idx="minor">
      <a:schemeClr val="dk1"/>
    </cs:fontRef>
    <cs:spPr>
      <a:ln>
        <a:gradFill>
          <a:gsLst>
            <a:gs pos="100000">
              <a:schemeClr val="dk1">
                <a:lumMod val="95000"/>
                <a:lumOff val="5000"/>
                <a:alpha val="42000"/>
              </a:schemeClr>
            </a:gs>
            <a:gs pos="0">
              <a:schemeClr val="lt1">
                <a:lumMod val="75000"/>
                <a:alpha val="36000"/>
              </a:schemeClr>
            </a:gs>
          </a:gsLst>
          <a:lin ang="5400000" scaled="0"/>
        </a:gradFill>
      </a:ln>
    </cs:spPr>
  </cs:gridlineMinor>
  <cs:hiLoLine>
    <cs:lnRef idx="0"/>
    <cs:fillRef idx="0"/>
    <cs:effectRef idx="0"/>
    <cs:fontRef idx="minor">
      <a:schemeClr val="dk1"/>
    </cs:fontRef>
    <cs:spPr>
      <a:ln w="9525">
        <a:solidFill>
          <a:schemeClr val="dk1">
            <a:lumMod val="35000"/>
            <a:lumOff val="65000"/>
          </a:schemeClr>
        </a:solidFill>
        <a:prstDash val="dash"/>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75000"/>
        <a:lumOff val="25000"/>
      </a:schemeClr>
    </cs:fontRef>
    <cs:spPr>
      <a:solidFill>
        <a:schemeClr val="lt1">
          <a:lumMod val="95000"/>
          <a:alpha val="39000"/>
        </a:schemeClr>
      </a:solidFill>
    </cs:spPr>
    <cs:defRPr sz="1197"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75000"/>
        <a:lumOff val="25000"/>
      </a:schemeClr>
    </cs:fontRef>
    <cs:spPr>
      <a:ln w="31750" cap="flat" cmpd="sng" algn="ctr">
        <a:solidFill>
          <a:schemeClr val="dk1">
            <a:lumMod val="75000"/>
            <a:lumOff val="25000"/>
          </a:schemeClr>
        </a:solidFill>
        <a:round/>
      </a:ln>
    </cs:spPr>
    <cs:defRPr sz="1197"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75000"/>
        <a:lumOff val="25000"/>
      </a:schemeClr>
    </cs:fontRef>
    <cs:defRPr sz="2200" b="1" kern="120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75000"/>
        <a:lumOff val="25000"/>
      </a:schemeClr>
    </cs:fontRef>
    <cs:defRPr sz="1197" kern="1200"/>
  </cs:trendlineLabel>
  <cs:upBar>
    <cs:lnRef idx="0"/>
    <cs:fillRef idx="0"/>
    <cs:effectRef idx="0"/>
    <cs:fontRef idx="minor">
      <a:schemeClr val="dk1"/>
    </cs:fontRef>
    <cs:spPr>
      <a:solidFill>
        <a:schemeClr val="lt1"/>
      </a:solidFill>
      <a:ln w="9525">
        <a:solidFill>
          <a:schemeClr val="dk1">
            <a:lumMod val="65000"/>
            <a:lumOff val="35000"/>
          </a:schemeClr>
        </a:solidFill>
      </a:ln>
    </cs:spPr>
  </cs:upBar>
  <cs:valueAxis>
    <cs:lnRef idx="0"/>
    <cs:fillRef idx="0"/>
    <cs:effectRef idx="0"/>
    <cs:fontRef idx="minor">
      <a:schemeClr val="dk1">
        <a:lumMod val="75000"/>
        <a:lumOff val="25000"/>
      </a:schemeClr>
    </cs:fontRef>
    <cs:spPr>
      <a:ln>
        <a:noFill/>
      </a:ln>
    </cs:spPr>
    <cs:defRPr sz="1197" kern="1200"/>
  </cs:valueAxis>
  <cs:wall>
    <cs:lnRef idx="0"/>
    <cs:fillRef idx="0"/>
    <cs:effectRef idx="0"/>
    <cs:fontRef idx="minor">
      <a:schemeClr val="dk1"/>
    </cs:fontRef>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5EB1F98-CDCA-4E1F-B89C-7712647B005A}" type="datetimeFigureOut">
              <a:rPr lang="zh-TW" altLang="en-US" smtClean="0"/>
              <a:t>2018/12/25</a:t>
            </a:fld>
            <a:endParaRPr lang="zh-TW" altLang="en-US"/>
          </a:p>
        </p:txBody>
      </p:sp>
      <p:sp>
        <p:nvSpPr>
          <p:cNvPr id="4" name="投影片影像版面配置區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7E0A4FA-366C-40B7-9E40-EFBC7A72D852}" type="slidenum">
              <a:rPr lang="zh-TW" altLang="en-US" smtClean="0"/>
              <a:t>‹#›</a:t>
            </a:fld>
            <a:endParaRPr lang="zh-TW" altLang="en-US"/>
          </a:p>
        </p:txBody>
      </p:sp>
    </p:spTree>
    <p:extLst>
      <p:ext uri="{BB962C8B-B14F-4D97-AF65-F5344CB8AC3E}">
        <p14:creationId xmlns:p14="http://schemas.microsoft.com/office/powerpoint/2010/main" val="6806619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s://zh.wikipedia.org/wiki/%E8%B5%AB%E5%B0%94%E8%BE%9B%E5%9F%BA%E7%90%86%E5%B7%A5%E5%A4%A7%E5%AD%A6" TargetMode="External"/><Relationship Id="rId2" Type="http://schemas.openxmlformats.org/officeDocument/2006/relationships/slide" Target="../slides/slide2.xml"/><Relationship Id="rId1" Type="http://schemas.openxmlformats.org/officeDocument/2006/relationships/notesMaster" Target="../notesMasters/notesMaster1.xml"/><Relationship Id="rId5" Type="http://schemas.openxmlformats.org/officeDocument/2006/relationships/hyperlink" Target="https://zh.wikipedia.org/wiki/%E8%B5%AB%E5%B0%94%E8%BE%9B%E5%9F%BA%E8%89%BA%E6%9C%AF%E8%AE%BE%E8%AE%A1%E5%A4%A7%E5%AD%A6" TargetMode="External"/><Relationship Id="rId4" Type="http://schemas.openxmlformats.org/officeDocument/2006/relationships/hyperlink" Target="https://zh.wikipedia.org/wiki/%E8%B5%AB%E5%B0%94%E8%BE%9B%E5%9F%BA%E7%BB%8F%E6%B5%8E%E5%AD%A6%E9%99%A2" TargetMode="Externa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1371600" y="1143000"/>
            <a:ext cx="4114800" cy="3086100"/>
          </a:xfrm>
        </p:spPr>
      </p:sp>
      <p:sp>
        <p:nvSpPr>
          <p:cNvPr id="3" name="備忘稿版面配置區 2"/>
          <p:cNvSpPr>
            <a:spLocks noGrp="1"/>
          </p:cNvSpPr>
          <p:nvPr>
            <p:ph type="body" idx="1"/>
          </p:nvPr>
        </p:nvSpPr>
        <p:spPr/>
        <p:txBody>
          <a:bodyPr/>
          <a:lstStyle/>
          <a:p>
            <a:endParaRPr lang="en-US" altLang="zh-TW" sz="1200" b="0" i="0" kern="1200" dirty="0">
              <a:solidFill>
                <a:schemeClr val="tx1"/>
              </a:solidFill>
              <a:effectLst/>
              <a:latin typeface="+mn-lt"/>
              <a:ea typeface="+mn-ea"/>
              <a:cs typeface="+mn-cs"/>
            </a:endParaRPr>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1</a:t>
            </a:fld>
            <a:endParaRPr lang="zh-TW" altLang="en-US"/>
          </a:p>
        </p:txBody>
      </p:sp>
    </p:spTree>
    <p:extLst>
      <p:ext uri="{BB962C8B-B14F-4D97-AF65-F5344CB8AC3E}">
        <p14:creationId xmlns:p14="http://schemas.microsoft.com/office/powerpoint/2010/main" val="58121541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1371600" y="1143000"/>
            <a:ext cx="4114800" cy="3086100"/>
          </a:xfrm>
        </p:spPr>
      </p:sp>
      <p:sp>
        <p:nvSpPr>
          <p:cNvPr id="3" name="備忘稿版面配置區 2"/>
          <p:cNvSpPr>
            <a:spLocks noGrp="1"/>
          </p:cNvSpPr>
          <p:nvPr>
            <p:ph type="body" idx="1"/>
          </p:nvPr>
        </p:nvSpPr>
        <p:spPr/>
        <p:txBody>
          <a:bodyPr/>
          <a:lstStyle/>
          <a:p>
            <a:r>
              <a:rPr lang="zh-TW" altLang="en-US" sz="1200" b="1" i="0" kern="1200" dirty="0">
                <a:solidFill>
                  <a:schemeClr val="tx1"/>
                </a:solidFill>
                <a:effectLst/>
                <a:latin typeface="+mn-lt"/>
                <a:ea typeface="+mn-ea"/>
                <a:cs typeface="+mn-cs"/>
              </a:rPr>
              <a:t>阿爾托大學</a:t>
            </a:r>
            <a:r>
              <a:rPr lang="en-US" altLang="zh-TW" sz="1200" b="1" i="0" kern="1200" dirty="0">
                <a:solidFill>
                  <a:schemeClr val="tx1"/>
                </a:solidFill>
                <a:effectLst/>
                <a:latin typeface="+mn-lt"/>
                <a:ea typeface="+mn-ea"/>
                <a:cs typeface="+mn-cs"/>
              </a:rPr>
              <a:t>(2010): </a:t>
            </a:r>
            <a:r>
              <a:rPr lang="zh-TW" altLang="en-US" sz="1200" b="0" i="0" u="none" strike="noStrike" kern="1200" dirty="0">
                <a:solidFill>
                  <a:schemeClr val="tx1"/>
                </a:solidFill>
                <a:effectLst/>
                <a:latin typeface="+mn-lt"/>
                <a:ea typeface="+mn-ea"/>
                <a:cs typeface="+mn-cs"/>
                <a:hlinkClick r:id="rId3">
                  <a:extLst>
                    <a:ext uri="{A12FA001-AC4F-418D-AE19-62706E023703}">
                      <ahyp:hlinkClr xmlns:ahyp="http://schemas.microsoft.com/office/drawing/2018/hyperlinkcolor" val="tx"/>
                    </a:ext>
                  </a:extLst>
                </a:hlinkClick>
              </a:rPr>
              <a:t>赫爾辛基理工大學</a:t>
            </a:r>
            <a:r>
              <a:rPr lang="zh-TW" altLang="en-US" sz="1200" b="0" i="0" kern="1200" dirty="0">
                <a:solidFill>
                  <a:schemeClr val="tx1"/>
                </a:solidFill>
                <a:effectLst/>
                <a:latin typeface="+mn-lt"/>
                <a:ea typeface="+mn-ea"/>
                <a:cs typeface="+mn-cs"/>
              </a:rPr>
              <a:t>（</a:t>
            </a:r>
            <a:r>
              <a:rPr lang="en-US" altLang="zh-TW" sz="1200" b="0" i="0" kern="1200" dirty="0">
                <a:solidFill>
                  <a:schemeClr val="tx1"/>
                </a:solidFill>
                <a:effectLst/>
                <a:latin typeface="+mn-lt"/>
                <a:ea typeface="+mn-ea"/>
                <a:cs typeface="+mn-cs"/>
              </a:rPr>
              <a:t>1849</a:t>
            </a:r>
            <a:r>
              <a:rPr lang="zh-TW" altLang="en-US" sz="1200" b="0" i="0" kern="1200" dirty="0">
                <a:solidFill>
                  <a:schemeClr val="tx1"/>
                </a:solidFill>
                <a:effectLst/>
                <a:latin typeface="+mn-lt"/>
                <a:ea typeface="+mn-ea"/>
                <a:cs typeface="+mn-cs"/>
              </a:rPr>
              <a:t>）、</a:t>
            </a:r>
            <a:r>
              <a:rPr lang="zh-TW" altLang="en-US" sz="1200" b="0" i="0" u="none" strike="noStrike" kern="1200" dirty="0">
                <a:solidFill>
                  <a:schemeClr val="tx1"/>
                </a:solidFill>
                <a:effectLst/>
                <a:latin typeface="+mn-lt"/>
                <a:ea typeface="+mn-ea"/>
                <a:cs typeface="+mn-cs"/>
                <a:hlinkClick r:id="rId4" tooltip="赫爾辛基經濟學院">
                  <a:extLst>
                    <a:ext uri="{A12FA001-AC4F-418D-AE19-62706E023703}">
                      <ahyp:hlinkClr xmlns:ahyp="http://schemas.microsoft.com/office/drawing/2018/hyperlinkcolor" val="tx"/>
                    </a:ext>
                  </a:extLst>
                </a:hlinkClick>
              </a:rPr>
              <a:t>赫爾辛基經濟學院</a:t>
            </a:r>
            <a:r>
              <a:rPr lang="zh-TW" altLang="en-US" sz="1200" b="0" i="0" kern="1200" dirty="0">
                <a:solidFill>
                  <a:schemeClr val="tx1"/>
                </a:solidFill>
                <a:effectLst/>
                <a:latin typeface="+mn-lt"/>
                <a:ea typeface="+mn-ea"/>
                <a:cs typeface="+mn-cs"/>
              </a:rPr>
              <a:t>（</a:t>
            </a:r>
            <a:r>
              <a:rPr lang="en-US" altLang="zh-TW" sz="1200" b="0" i="0" kern="1200" dirty="0">
                <a:solidFill>
                  <a:schemeClr val="tx1"/>
                </a:solidFill>
                <a:effectLst/>
                <a:latin typeface="+mn-lt"/>
                <a:ea typeface="+mn-ea"/>
                <a:cs typeface="+mn-cs"/>
              </a:rPr>
              <a:t>1904</a:t>
            </a:r>
            <a:r>
              <a:rPr lang="zh-TW" altLang="en-US" sz="1200" b="0" i="0" kern="1200" dirty="0">
                <a:solidFill>
                  <a:schemeClr val="tx1"/>
                </a:solidFill>
                <a:effectLst/>
                <a:latin typeface="+mn-lt"/>
                <a:ea typeface="+mn-ea"/>
                <a:cs typeface="+mn-cs"/>
              </a:rPr>
              <a:t>）和</a:t>
            </a:r>
            <a:r>
              <a:rPr lang="zh-TW" altLang="en-US" sz="1200" b="0" i="0" u="none" strike="noStrike" kern="1200" dirty="0">
                <a:solidFill>
                  <a:schemeClr val="tx1"/>
                </a:solidFill>
                <a:effectLst/>
                <a:latin typeface="+mn-lt"/>
                <a:ea typeface="+mn-ea"/>
                <a:cs typeface="+mn-cs"/>
                <a:hlinkClick r:id="rId5" tooltip="赫爾辛基藝術設計大學">
                  <a:extLst>
                    <a:ext uri="{A12FA001-AC4F-418D-AE19-62706E023703}">
                      <ahyp:hlinkClr xmlns:ahyp="http://schemas.microsoft.com/office/drawing/2018/hyperlinkcolor" val="tx"/>
                    </a:ext>
                  </a:extLst>
                </a:hlinkClick>
              </a:rPr>
              <a:t>赫爾辛基藝術設計大學</a:t>
            </a:r>
            <a:r>
              <a:rPr lang="zh-TW" altLang="en-US" sz="1200" b="0" i="0" kern="1200" dirty="0">
                <a:solidFill>
                  <a:schemeClr val="tx1"/>
                </a:solidFill>
                <a:effectLst/>
                <a:latin typeface="+mn-lt"/>
                <a:ea typeface="+mn-ea"/>
                <a:cs typeface="+mn-cs"/>
              </a:rPr>
              <a:t>（</a:t>
            </a:r>
            <a:r>
              <a:rPr lang="en-US" altLang="zh-TW" sz="1200" b="0" i="0" kern="1200" dirty="0">
                <a:solidFill>
                  <a:schemeClr val="tx1"/>
                </a:solidFill>
                <a:effectLst/>
                <a:latin typeface="+mn-lt"/>
                <a:ea typeface="+mn-ea"/>
                <a:cs typeface="+mn-cs"/>
              </a:rPr>
              <a:t>1871</a:t>
            </a:r>
            <a:r>
              <a:rPr lang="zh-TW" altLang="en-US" sz="1200" b="0" i="0" kern="1200" dirty="0">
                <a:solidFill>
                  <a:schemeClr val="tx1"/>
                </a:solidFill>
                <a:effectLst/>
                <a:latin typeface="+mn-lt"/>
                <a:ea typeface="+mn-ea"/>
                <a:cs typeface="+mn-cs"/>
              </a:rPr>
              <a:t>）</a:t>
            </a:r>
            <a:endParaRPr lang="en-US" altLang="zh-TW" sz="1200" b="0" i="0" kern="1200" dirty="0">
              <a:solidFill>
                <a:schemeClr val="tx1"/>
              </a:solidFill>
              <a:effectLst/>
              <a:latin typeface="+mn-lt"/>
              <a:ea typeface="+mn-ea"/>
              <a:cs typeface="+mn-cs"/>
            </a:endParaRPr>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2</a:t>
            </a:fld>
            <a:endParaRPr lang="zh-TW" altLang="en-US"/>
          </a:p>
        </p:txBody>
      </p:sp>
    </p:spTree>
    <p:extLst>
      <p:ext uri="{BB962C8B-B14F-4D97-AF65-F5344CB8AC3E}">
        <p14:creationId xmlns:p14="http://schemas.microsoft.com/office/powerpoint/2010/main" val="37553721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1371600" y="1143000"/>
            <a:ext cx="41148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3</a:t>
            </a:fld>
            <a:endParaRPr lang="zh-TW" altLang="en-US"/>
          </a:p>
        </p:txBody>
      </p:sp>
    </p:spTree>
    <p:extLst>
      <p:ext uri="{BB962C8B-B14F-4D97-AF65-F5344CB8AC3E}">
        <p14:creationId xmlns:p14="http://schemas.microsoft.com/office/powerpoint/2010/main" val="272092154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delta</a:t>
            </a:r>
            <a:endParaRPr lang="zh-TW" altLang="en-US" dirty="0"/>
          </a:p>
        </p:txBody>
      </p:sp>
      <p:sp>
        <p:nvSpPr>
          <p:cNvPr id="4" name="投影片編號版面配置區 3"/>
          <p:cNvSpPr>
            <a:spLocks noGrp="1"/>
          </p:cNvSpPr>
          <p:nvPr>
            <p:ph type="sldNum" sz="quarter" idx="5"/>
          </p:nvPr>
        </p:nvSpPr>
        <p:spPr/>
        <p:txBody>
          <a:bodyPr/>
          <a:lstStyle/>
          <a:p>
            <a:fld id="{F7E0A4FA-366C-40B7-9E40-EFBC7A72D852}" type="slidenum">
              <a:rPr lang="zh-TW" altLang="en-US" smtClean="0"/>
              <a:t>4</a:t>
            </a:fld>
            <a:endParaRPr lang="zh-TW" altLang="en-US"/>
          </a:p>
        </p:txBody>
      </p:sp>
    </p:spTree>
    <p:extLst>
      <p:ext uri="{BB962C8B-B14F-4D97-AF65-F5344CB8AC3E}">
        <p14:creationId xmlns:p14="http://schemas.microsoft.com/office/powerpoint/2010/main" val="54662703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F7E0A4FA-366C-40B7-9E40-EFBC7A72D852}" type="slidenum">
              <a:rPr lang="zh-TW" altLang="en-US" smtClean="0"/>
              <a:t>5</a:t>
            </a:fld>
            <a:endParaRPr lang="zh-TW" altLang="en-US"/>
          </a:p>
        </p:txBody>
      </p:sp>
    </p:spTree>
    <p:extLst>
      <p:ext uri="{BB962C8B-B14F-4D97-AF65-F5344CB8AC3E}">
        <p14:creationId xmlns:p14="http://schemas.microsoft.com/office/powerpoint/2010/main" val="97496663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F7E0A4FA-366C-40B7-9E40-EFBC7A72D852}" type="slidenum">
              <a:rPr lang="zh-TW" altLang="en-US" smtClean="0"/>
              <a:t>6</a:t>
            </a:fld>
            <a:endParaRPr lang="zh-TW" altLang="en-US"/>
          </a:p>
        </p:txBody>
      </p:sp>
    </p:spTree>
    <p:extLst>
      <p:ext uri="{BB962C8B-B14F-4D97-AF65-F5344CB8AC3E}">
        <p14:creationId xmlns:p14="http://schemas.microsoft.com/office/powerpoint/2010/main" val="285202649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F7E0A4FA-366C-40B7-9E40-EFBC7A72D852}" type="slidenum">
              <a:rPr lang="zh-TW" altLang="en-US" smtClean="0"/>
              <a:t>7</a:t>
            </a:fld>
            <a:endParaRPr lang="zh-TW" altLang="en-US"/>
          </a:p>
        </p:txBody>
      </p:sp>
    </p:spTree>
    <p:extLst>
      <p:ext uri="{BB962C8B-B14F-4D97-AF65-F5344CB8AC3E}">
        <p14:creationId xmlns:p14="http://schemas.microsoft.com/office/powerpoint/2010/main" val="105304493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F7E0A4FA-366C-40B7-9E40-EFBC7A72D852}" type="slidenum">
              <a:rPr lang="zh-TW" altLang="en-US" smtClean="0"/>
              <a:t>8</a:t>
            </a:fld>
            <a:endParaRPr lang="zh-TW" altLang="en-US"/>
          </a:p>
        </p:txBody>
      </p:sp>
    </p:spTree>
    <p:extLst>
      <p:ext uri="{BB962C8B-B14F-4D97-AF65-F5344CB8AC3E}">
        <p14:creationId xmlns:p14="http://schemas.microsoft.com/office/powerpoint/2010/main" val="423806304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F7E0A4FA-366C-40B7-9E40-EFBC7A72D852}" type="slidenum">
              <a:rPr lang="zh-TW" altLang="en-US" smtClean="0"/>
              <a:t>9</a:t>
            </a:fld>
            <a:endParaRPr lang="zh-TW" altLang="en-US"/>
          </a:p>
        </p:txBody>
      </p:sp>
    </p:spTree>
    <p:extLst>
      <p:ext uri="{BB962C8B-B14F-4D97-AF65-F5344CB8AC3E}">
        <p14:creationId xmlns:p14="http://schemas.microsoft.com/office/powerpoint/2010/main" val="410185882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F7E0A4FA-366C-40B7-9E40-EFBC7A72D852}" type="slidenum">
              <a:rPr lang="zh-TW" altLang="en-US" smtClean="0"/>
              <a:t>10</a:t>
            </a:fld>
            <a:endParaRPr lang="zh-TW" altLang="en-US"/>
          </a:p>
        </p:txBody>
      </p:sp>
    </p:spTree>
    <p:extLst>
      <p:ext uri="{BB962C8B-B14F-4D97-AF65-F5344CB8AC3E}">
        <p14:creationId xmlns:p14="http://schemas.microsoft.com/office/powerpoint/2010/main" val="426513238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F7E0A4FA-366C-40B7-9E40-EFBC7A72D852}" type="slidenum">
              <a:rPr lang="zh-TW" altLang="en-US" smtClean="0"/>
              <a:t>11</a:t>
            </a:fld>
            <a:endParaRPr lang="zh-TW" altLang="en-US"/>
          </a:p>
        </p:txBody>
      </p:sp>
    </p:spTree>
    <p:extLst>
      <p:ext uri="{BB962C8B-B14F-4D97-AF65-F5344CB8AC3E}">
        <p14:creationId xmlns:p14="http://schemas.microsoft.com/office/powerpoint/2010/main" val="229117436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F7E0A4FA-366C-40B7-9E40-EFBC7A72D852}" type="slidenum">
              <a:rPr lang="zh-TW" altLang="en-US" smtClean="0"/>
              <a:t>12</a:t>
            </a:fld>
            <a:endParaRPr lang="zh-TW" altLang="en-US"/>
          </a:p>
        </p:txBody>
      </p:sp>
    </p:spTree>
    <p:extLst>
      <p:ext uri="{BB962C8B-B14F-4D97-AF65-F5344CB8AC3E}">
        <p14:creationId xmlns:p14="http://schemas.microsoft.com/office/powerpoint/2010/main" val="244330236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F7E0A4FA-366C-40B7-9E40-EFBC7A72D852}" type="slidenum">
              <a:rPr lang="zh-TW" altLang="en-US" smtClean="0"/>
              <a:t>13</a:t>
            </a:fld>
            <a:endParaRPr lang="zh-TW" altLang="en-US"/>
          </a:p>
        </p:txBody>
      </p:sp>
    </p:spTree>
    <p:extLst>
      <p:ext uri="{BB962C8B-B14F-4D97-AF65-F5344CB8AC3E}">
        <p14:creationId xmlns:p14="http://schemas.microsoft.com/office/powerpoint/2010/main" val="214806808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F7E0A4FA-366C-40B7-9E40-EFBC7A72D852}" type="slidenum">
              <a:rPr lang="zh-TW" altLang="en-US" smtClean="0"/>
              <a:t>14</a:t>
            </a:fld>
            <a:endParaRPr lang="zh-TW" altLang="en-US"/>
          </a:p>
        </p:txBody>
      </p:sp>
    </p:spTree>
    <p:extLst>
      <p:ext uri="{BB962C8B-B14F-4D97-AF65-F5344CB8AC3E}">
        <p14:creationId xmlns:p14="http://schemas.microsoft.com/office/powerpoint/2010/main" val="342674460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他們的演算法配合不同的</a:t>
            </a:r>
            <a:r>
              <a:rPr lang="en-US" altLang="zh-TW" dirty="0"/>
              <a:t>filter(exact</a:t>
            </a:r>
            <a:r>
              <a:rPr lang="zh-TW" altLang="en-US" dirty="0"/>
              <a:t> </a:t>
            </a:r>
            <a:r>
              <a:rPr lang="en-US" altLang="zh-TW" dirty="0"/>
              <a:t>pattern</a:t>
            </a:r>
            <a:r>
              <a:rPr lang="zh-TW" altLang="en-US" dirty="0"/>
              <a:t> </a:t>
            </a:r>
            <a:r>
              <a:rPr lang="en-US" altLang="zh-TW" dirty="0"/>
              <a:t>matching</a:t>
            </a:r>
            <a:r>
              <a:rPr lang="zh-TW" altLang="en-US" dirty="0"/>
              <a:t> </a:t>
            </a:r>
            <a:r>
              <a:rPr lang="en-US" altLang="zh-TW" dirty="0"/>
              <a:t>algorithm)</a:t>
            </a:r>
          </a:p>
          <a:p>
            <a:endParaRPr lang="zh-TW" altLang="en-US" dirty="0"/>
          </a:p>
        </p:txBody>
      </p:sp>
      <p:sp>
        <p:nvSpPr>
          <p:cNvPr id="4" name="投影片編號版面配置區 3"/>
          <p:cNvSpPr>
            <a:spLocks noGrp="1"/>
          </p:cNvSpPr>
          <p:nvPr>
            <p:ph type="sldNum" sz="quarter" idx="5"/>
          </p:nvPr>
        </p:nvSpPr>
        <p:spPr/>
        <p:txBody>
          <a:bodyPr/>
          <a:lstStyle/>
          <a:p>
            <a:fld id="{F7E0A4FA-366C-40B7-9E40-EFBC7A72D852}" type="slidenum">
              <a:rPr lang="zh-TW" altLang="en-US" smtClean="0"/>
              <a:t>15</a:t>
            </a:fld>
            <a:endParaRPr lang="zh-TW" altLang="en-US"/>
          </a:p>
        </p:txBody>
      </p:sp>
    </p:spTree>
    <p:extLst>
      <p:ext uri="{BB962C8B-B14F-4D97-AF65-F5344CB8AC3E}">
        <p14:creationId xmlns:p14="http://schemas.microsoft.com/office/powerpoint/2010/main" val="31020465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zh-TW" altLang="en-US"/>
              <a:t>按一下以編輯母片標題樣式</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按一下以編輯母片子標題樣式</a:t>
            </a:r>
            <a:endParaRPr lang="en-US" dirty="0"/>
          </a:p>
        </p:txBody>
      </p:sp>
      <p:sp>
        <p:nvSpPr>
          <p:cNvPr id="4" name="Date Placeholder 3"/>
          <p:cNvSpPr>
            <a:spLocks noGrp="1"/>
          </p:cNvSpPr>
          <p:nvPr>
            <p:ph type="dt" sz="half" idx="10"/>
          </p:nvPr>
        </p:nvSpPr>
        <p:spPr/>
        <p:txBody>
          <a:bodyPr/>
          <a:lstStyle/>
          <a:p>
            <a:fld id="{37765B31-2511-4B59-85CD-FE81550B112F}" type="datetime1">
              <a:rPr lang="zh-TW" altLang="en-US" smtClean="0"/>
              <a:t>2018/12/25</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14658464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Content Placeholder 2"/>
          <p:cNvSpPr>
            <a:spLocks noGrp="1"/>
          </p:cNvSpPr>
          <p:nvPr>
            <p:ph idx="1"/>
          </p:nvPr>
        </p:nvSpPr>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9BF3BFE1-3FF9-4076-BFE3-436A899C6CFC}" type="datetime1">
              <a:rPr lang="zh-TW" altLang="en-US" smtClean="0"/>
              <a:t>2018/12/25</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36779464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zh-TW" altLang="en-US"/>
              <a:t>按一下以編輯母片標題樣式</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編輯母片文字樣式</a:t>
            </a:r>
          </a:p>
        </p:txBody>
      </p:sp>
      <p:sp>
        <p:nvSpPr>
          <p:cNvPr id="4" name="Date Placeholder 3"/>
          <p:cNvSpPr>
            <a:spLocks noGrp="1"/>
          </p:cNvSpPr>
          <p:nvPr>
            <p:ph type="dt" sz="half" idx="10"/>
          </p:nvPr>
        </p:nvSpPr>
        <p:spPr/>
        <p:txBody>
          <a:bodyPr/>
          <a:lstStyle/>
          <a:p>
            <a:fld id="{CEC3635F-B179-4E14-9FEF-30274F37C964}" type="datetime1">
              <a:rPr lang="zh-TW" altLang="en-US" smtClean="0"/>
              <a:t>2018/12/25</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24434384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5" name="Date Placeholder 4"/>
          <p:cNvSpPr>
            <a:spLocks noGrp="1"/>
          </p:cNvSpPr>
          <p:nvPr>
            <p:ph type="dt" sz="half" idx="10"/>
          </p:nvPr>
        </p:nvSpPr>
        <p:spPr/>
        <p:txBody>
          <a:bodyPr/>
          <a:lstStyle/>
          <a:p>
            <a:fld id="{9471D61C-B526-46B0-B991-3372D0F0EC91}" type="datetime1">
              <a:rPr lang="zh-TW" altLang="en-US" smtClean="0"/>
              <a:t>2018/12/25</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12106894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zh-TW" altLang="en-US"/>
              <a:t>按一下以編輯母片標題樣式</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4" name="Content Placeholder 3"/>
          <p:cNvSpPr>
            <a:spLocks noGrp="1"/>
          </p:cNvSpPr>
          <p:nvPr>
            <p:ph sz="half" idx="2"/>
          </p:nvPr>
        </p:nvSpPr>
        <p:spPr>
          <a:xfrm>
            <a:off x="629842" y="2505075"/>
            <a:ext cx="3868340"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6" name="Content Placeholder 5"/>
          <p:cNvSpPr>
            <a:spLocks noGrp="1"/>
          </p:cNvSpPr>
          <p:nvPr>
            <p:ph sz="quarter" idx="4"/>
          </p:nvPr>
        </p:nvSpPr>
        <p:spPr>
          <a:xfrm>
            <a:off x="4629150" y="2505075"/>
            <a:ext cx="3887391"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7" name="Date Placeholder 6"/>
          <p:cNvSpPr>
            <a:spLocks noGrp="1"/>
          </p:cNvSpPr>
          <p:nvPr>
            <p:ph type="dt" sz="half" idx="10"/>
          </p:nvPr>
        </p:nvSpPr>
        <p:spPr/>
        <p:txBody>
          <a:bodyPr/>
          <a:lstStyle/>
          <a:p>
            <a:fld id="{FA06A488-6A5E-462F-A078-C1B45B9FC688}" type="datetime1">
              <a:rPr lang="zh-TW" altLang="en-US" smtClean="0"/>
              <a:t>2018/12/25</a:t>
            </a:fld>
            <a:endParaRPr lang="zh-TW" altLang="en-US"/>
          </a:p>
        </p:txBody>
      </p:sp>
      <p:sp>
        <p:nvSpPr>
          <p:cNvPr id="8" name="Footer Placeholder 7"/>
          <p:cNvSpPr>
            <a:spLocks noGrp="1"/>
          </p:cNvSpPr>
          <p:nvPr>
            <p:ph type="ftr" sz="quarter" idx="11"/>
          </p:nvPr>
        </p:nvSpPr>
        <p:spPr/>
        <p:txBody>
          <a:bodyPr/>
          <a:lstStyle/>
          <a:p>
            <a:endParaRPr lang="zh-TW" altLang="en-US"/>
          </a:p>
        </p:txBody>
      </p:sp>
      <p:sp>
        <p:nvSpPr>
          <p:cNvPr id="9" name="Slide Number Placeholder 8"/>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35732404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Date Placeholder 2"/>
          <p:cNvSpPr>
            <a:spLocks noGrp="1"/>
          </p:cNvSpPr>
          <p:nvPr>
            <p:ph type="dt" sz="half" idx="10"/>
          </p:nvPr>
        </p:nvSpPr>
        <p:spPr/>
        <p:txBody>
          <a:bodyPr/>
          <a:lstStyle/>
          <a:p>
            <a:fld id="{D42DF501-4962-473D-B6D8-A7428BF1B6D4}" type="datetime1">
              <a:rPr lang="zh-TW" altLang="en-US" smtClean="0"/>
              <a:t>2018/12/25</a:t>
            </a:fld>
            <a:endParaRPr lang="zh-TW" altLang="en-US"/>
          </a:p>
        </p:txBody>
      </p:sp>
      <p:sp>
        <p:nvSpPr>
          <p:cNvPr id="4" name="Footer Placeholder 3"/>
          <p:cNvSpPr>
            <a:spLocks noGrp="1"/>
          </p:cNvSpPr>
          <p:nvPr>
            <p:ph type="ftr" sz="quarter" idx="11"/>
          </p:nvPr>
        </p:nvSpPr>
        <p:spPr/>
        <p:txBody>
          <a:bodyPr/>
          <a:lstStyle/>
          <a:p>
            <a:endParaRPr lang="zh-TW" altLang="en-US"/>
          </a:p>
        </p:txBody>
      </p:sp>
      <p:sp>
        <p:nvSpPr>
          <p:cNvPr id="5" name="Slide Number Placeholder 4"/>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29265871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B72C89F-7B98-4BDD-B73A-1D10077A1F27}" type="datetime1">
              <a:rPr lang="zh-TW" altLang="en-US" smtClean="0"/>
              <a:t>2018/12/25</a:t>
            </a:fld>
            <a:endParaRPr lang="zh-TW" altLang="en-US"/>
          </a:p>
        </p:txBody>
      </p:sp>
      <p:sp>
        <p:nvSpPr>
          <p:cNvPr id="3" name="Footer Placeholder 2"/>
          <p:cNvSpPr>
            <a:spLocks noGrp="1"/>
          </p:cNvSpPr>
          <p:nvPr>
            <p:ph type="ftr" sz="quarter" idx="11"/>
          </p:nvPr>
        </p:nvSpPr>
        <p:spPr/>
        <p:txBody>
          <a:bodyPr/>
          <a:lstStyle/>
          <a:p>
            <a:endParaRPr lang="zh-TW" altLang="en-US"/>
          </a:p>
        </p:txBody>
      </p:sp>
      <p:sp>
        <p:nvSpPr>
          <p:cNvPr id="4" name="Slide Number Placeholder 3"/>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9961549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TW" altLang="en-US"/>
              <a:t>按一下以編輯母片標題樣式</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Date Placeholder 4"/>
          <p:cNvSpPr>
            <a:spLocks noGrp="1"/>
          </p:cNvSpPr>
          <p:nvPr>
            <p:ph type="dt" sz="half" idx="10"/>
          </p:nvPr>
        </p:nvSpPr>
        <p:spPr/>
        <p:txBody>
          <a:bodyPr/>
          <a:lstStyle/>
          <a:p>
            <a:fld id="{B9409844-160F-4E54-862A-C6CCEBCF4E40}" type="datetime1">
              <a:rPr lang="zh-TW" altLang="en-US" smtClean="0"/>
              <a:t>2018/12/25</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27078348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TW" altLang="en-US"/>
              <a:t>按一下以編輯母片標題樣式</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TW" altLang="en-US"/>
              <a:t>按一下圖示以新增圖片</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Date Placeholder 4"/>
          <p:cNvSpPr>
            <a:spLocks noGrp="1"/>
          </p:cNvSpPr>
          <p:nvPr>
            <p:ph type="dt" sz="half" idx="10"/>
          </p:nvPr>
        </p:nvSpPr>
        <p:spPr/>
        <p:txBody>
          <a:bodyPr/>
          <a:lstStyle/>
          <a:p>
            <a:fld id="{2D77C98F-9D28-4915-ABD0-95B43831494A}" type="datetime1">
              <a:rPr lang="zh-TW" altLang="en-US" smtClean="0"/>
              <a:t>2018/12/25</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6848322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Vertical Text Placeholder 2"/>
          <p:cNvSpPr>
            <a:spLocks noGrp="1"/>
          </p:cNvSpPr>
          <p:nvPr>
            <p:ph type="body" orient="vert" idx="1"/>
          </p:nvPr>
        </p:nvSpPr>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2AEFE765-5314-4951-98B4-C5C6DE7CD530}" type="datetime1">
              <a:rPr lang="zh-TW" altLang="en-US" smtClean="0"/>
              <a:t>2018/12/25</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42468569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zh-TW" altLang="en-US"/>
              <a:t>按一下以編輯母片標題樣式</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C3990DED-4DF0-4E86-AB35-9CE8B4D53C52}" type="datetime1">
              <a:rPr lang="zh-TW" altLang="en-US" smtClean="0"/>
              <a:t>2018/12/25</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30091451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zh-TW" altLang="en-US"/>
              <a:t>按一下以編輯母片標題樣式</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9AE8280-42F1-400D-A234-BF7D1153CCE2}" type="datetime1">
              <a:rPr lang="zh-TW" altLang="en-US" smtClean="0"/>
              <a:t>2018/12/25</a:t>
            </a:fld>
            <a:endParaRPr lang="zh-TW" alt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110862283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10.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chart" Target="../charts/chart1.xml"/><Relationship Id="rId7"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3.png"/><Relationship Id="rId7" Type="http://schemas.openxmlformats.org/officeDocument/2006/relationships/image" Target="../media/image16.png"/><Relationship Id="rId2" Type="http://schemas.openxmlformats.org/officeDocument/2006/relationships/notesSlide" Target="../notesSlides/notesSlide8.xml"/><Relationship Id="rId1" Type="http://schemas.openxmlformats.org/officeDocument/2006/relationships/slideLayout" Target="../slideLayouts/slideLayout2.xml"/><Relationship Id="rId11" Type="http://schemas.openxmlformats.org/officeDocument/2006/relationships/image" Target="../media/image18.png"/><Relationship Id="rId10" Type="http://schemas.openxmlformats.org/officeDocument/2006/relationships/image" Target="../media/image15.png"/><Relationship Id="rId9" Type="http://schemas.openxmlformats.org/officeDocument/2006/relationships/image" Target="../media/image14.png"/></Relationships>
</file>

<file path=ppt/slides/_rels/slide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21.png"/><Relationship Id="rId4" Type="http://schemas.openxmlformats.org/officeDocument/2006/relationships/image" Target="../media/image20.png"/></Relationships>
</file>

<file path=ppt/slides/_rels/slide10.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23.png"/><Relationship Id="rId4" Type="http://schemas.openxmlformats.org/officeDocument/2006/relationships/image" Target="../media/image22.png"/></Relationships>
</file>

<file path=ppt/slides/_rels/slide11.xml.rels><?xml version="1.0" encoding="UTF-8" standalone="yes"?>
<Relationships xmlns="http://schemas.openxmlformats.org/package/2006/relationships"><Relationship Id="rId8" Type="http://schemas.openxmlformats.org/officeDocument/2006/relationships/image" Target="../media/image29.png"/><Relationship Id="rId13" Type="http://schemas.openxmlformats.org/officeDocument/2006/relationships/image" Target="../media/image34.png"/><Relationship Id="rId3" Type="http://schemas.openxmlformats.org/officeDocument/2006/relationships/image" Target="../media/image24.png"/><Relationship Id="rId7" Type="http://schemas.openxmlformats.org/officeDocument/2006/relationships/image" Target="../media/image28.png"/><Relationship Id="rId12" Type="http://schemas.openxmlformats.org/officeDocument/2006/relationships/image" Target="../media/image33.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27.png"/><Relationship Id="rId11" Type="http://schemas.openxmlformats.org/officeDocument/2006/relationships/image" Target="../media/image32.png"/><Relationship Id="rId5" Type="http://schemas.openxmlformats.org/officeDocument/2006/relationships/image" Target="../media/image26.png"/><Relationship Id="rId10" Type="http://schemas.openxmlformats.org/officeDocument/2006/relationships/image" Target="../media/image31.png"/><Relationship Id="rId4" Type="http://schemas.openxmlformats.org/officeDocument/2006/relationships/image" Target="../media/image25.png"/><Relationship Id="rId9" Type="http://schemas.openxmlformats.org/officeDocument/2006/relationships/image" Target="../media/image30.png"/></Relationships>
</file>

<file path=ppt/slides/_rels/slide12.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36.png"/></Relationships>
</file>

<file path=ppt/slides/_rels/slide13.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36.png"/><Relationship Id="rId7" Type="http://schemas.openxmlformats.org/officeDocument/2006/relationships/image" Target="../media/image41.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40.png"/><Relationship Id="rId5" Type="http://schemas.openxmlformats.org/officeDocument/2006/relationships/image" Target="../media/image28.png"/><Relationship Id="rId4" Type="http://schemas.openxmlformats.org/officeDocument/2006/relationships/image" Target="../media/image39.png"/></Relationships>
</file>

<file path=ppt/slides/_rels/slide14.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36.png"/><Relationship Id="rId7" Type="http://schemas.openxmlformats.org/officeDocument/2006/relationships/image" Target="../media/image41.png"/><Relationship Id="rId12" Type="http://schemas.openxmlformats.org/officeDocument/2006/relationships/image" Target="../media/image34.pn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40.png"/><Relationship Id="rId11" Type="http://schemas.openxmlformats.org/officeDocument/2006/relationships/image" Target="../media/image43.png"/><Relationship Id="rId5" Type="http://schemas.openxmlformats.org/officeDocument/2006/relationships/image" Target="../media/image28.png"/><Relationship Id="rId10" Type="http://schemas.openxmlformats.org/officeDocument/2006/relationships/image" Target="../media/image29.png"/><Relationship Id="rId4" Type="http://schemas.openxmlformats.org/officeDocument/2006/relationships/image" Target="../media/image39.png"/><Relationship Id="rId9" Type="http://schemas.openxmlformats.org/officeDocument/2006/relationships/image" Target="../media/image33.png"/></Relationships>
</file>

<file path=ppt/slides/_rels/slide15.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45.png"/></Relationships>
</file>

<file path=ppt/slides/_rels/slide16.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13.png"/><Relationship Id="rId1" Type="http://schemas.openxmlformats.org/officeDocument/2006/relationships/slideLayout" Target="../slideLayouts/slideLayout2.xml"/><Relationship Id="rId5" Type="http://schemas.openxmlformats.org/officeDocument/2006/relationships/image" Target="../media/image49.png"/><Relationship Id="rId4" Type="http://schemas.openxmlformats.org/officeDocument/2006/relationships/image" Target="../media/image4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B447A32-0D96-4B57-86B2-82EC84E8995E}"/>
              </a:ext>
            </a:extLst>
          </p:cNvPr>
          <p:cNvSpPr>
            <a:spLocks noGrp="1"/>
          </p:cNvSpPr>
          <p:nvPr>
            <p:ph type="ctrTitle"/>
          </p:nvPr>
        </p:nvSpPr>
        <p:spPr>
          <a:xfrm>
            <a:off x="-1" y="619236"/>
            <a:ext cx="9144000" cy="1639565"/>
          </a:xfrm>
        </p:spPr>
        <p:txBody>
          <a:bodyPr>
            <a:noAutofit/>
          </a:bodyPr>
          <a:lstStyle/>
          <a:p>
            <a:br>
              <a:rPr lang="zh-TW" altLang="en-US" sz="4400" dirty="0"/>
            </a:br>
            <a:r>
              <a:rPr lang="en-US" altLang="zh-TW" sz="4400" b="1" dirty="0">
                <a:latin typeface="Times New Roman" panose="02020603050405020304" pitchFamily="18" charset="0"/>
                <a:cs typeface="Times New Roman" panose="02020603050405020304" pitchFamily="18" charset="0"/>
              </a:rPr>
              <a:t> A filtration method for order-preserving matching  </a:t>
            </a:r>
            <a:endParaRPr lang="zh-TW" altLang="en-US" sz="4400" b="1" dirty="0">
              <a:latin typeface="Times New Roman" panose="02020603050405020304" pitchFamily="18" charset="0"/>
              <a:cs typeface="Times New Roman" panose="02020603050405020304" pitchFamily="18" charset="0"/>
            </a:endParaRPr>
          </a:p>
        </p:txBody>
      </p:sp>
      <p:sp>
        <p:nvSpPr>
          <p:cNvPr id="3" name="副標題 2">
            <a:extLst>
              <a:ext uri="{FF2B5EF4-FFF2-40B4-BE49-F238E27FC236}">
                <a16:creationId xmlns:a16="http://schemas.microsoft.com/office/drawing/2014/main" id="{61456E59-5D91-4093-B1A4-6F308EA967FD}"/>
              </a:ext>
            </a:extLst>
          </p:cNvPr>
          <p:cNvSpPr>
            <a:spLocks noGrp="1"/>
          </p:cNvSpPr>
          <p:nvPr>
            <p:ph type="subTitle" idx="1"/>
          </p:nvPr>
        </p:nvSpPr>
        <p:spPr>
          <a:xfrm>
            <a:off x="234704" y="2857533"/>
            <a:ext cx="8674592" cy="830996"/>
          </a:xfrm>
        </p:spPr>
        <p:txBody>
          <a:bodyPr>
            <a:normAutofit fontScale="92500" lnSpcReduction="10000"/>
          </a:bodyPr>
          <a:lstStyle/>
          <a:p>
            <a:r>
              <a:rPr lang="en-US" altLang="zh-TW" sz="2800" dirty="0">
                <a:latin typeface="Times New Roman" panose="02020603050405020304" pitchFamily="18" charset="0"/>
                <a:ea typeface="+mj-ea"/>
                <a:cs typeface="Times New Roman" panose="02020603050405020304" pitchFamily="18" charset="0"/>
              </a:rPr>
              <a:t> </a:t>
            </a:r>
            <a:endParaRPr lang="zh-TW" altLang="en-US" dirty="0"/>
          </a:p>
          <a:p>
            <a:r>
              <a:rPr lang="en-US" altLang="zh-TW" sz="2600" dirty="0">
                <a:latin typeface="Times New Roman" panose="02020603050405020304" pitchFamily="18" charset="0"/>
                <a:ea typeface="+mj-ea"/>
                <a:cs typeface="Times New Roman" panose="02020603050405020304" pitchFamily="18" charset="0"/>
              </a:rPr>
              <a:t> </a:t>
            </a:r>
            <a:r>
              <a:rPr lang="en-US" altLang="zh-TW" sz="2600" dirty="0" err="1">
                <a:latin typeface="Times New Roman" panose="02020603050405020304" pitchFamily="18" charset="0"/>
                <a:ea typeface="+mj-ea"/>
                <a:cs typeface="Times New Roman" panose="02020603050405020304" pitchFamily="18" charset="0"/>
              </a:rPr>
              <a:t>TamannaChhabra</a:t>
            </a:r>
            <a:r>
              <a:rPr lang="en-US" altLang="zh-TW" sz="2600" dirty="0">
                <a:latin typeface="Times New Roman" panose="02020603050405020304" pitchFamily="18" charset="0"/>
                <a:ea typeface="+mj-ea"/>
                <a:cs typeface="Times New Roman" panose="02020603050405020304" pitchFamily="18" charset="0"/>
              </a:rPr>
              <a:t>, </a:t>
            </a:r>
            <a:r>
              <a:rPr lang="en-US" altLang="zh-TW" sz="2600" dirty="0" err="1">
                <a:latin typeface="Times New Roman" panose="02020603050405020304" pitchFamily="18" charset="0"/>
                <a:ea typeface="+mj-ea"/>
                <a:cs typeface="Times New Roman" panose="02020603050405020304" pitchFamily="18" charset="0"/>
              </a:rPr>
              <a:t>JormaTarhio</a:t>
            </a:r>
            <a:endParaRPr lang="zh-TW" altLang="en-US" sz="2600" dirty="0">
              <a:latin typeface="Times New Roman" panose="02020603050405020304" pitchFamily="18" charset="0"/>
              <a:ea typeface="+mj-ea"/>
              <a:cs typeface="Times New Roman" panose="02020603050405020304" pitchFamily="18" charset="0"/>
            </a:endParaRPr>
          </a:p>
        </p:txBody>
      </p:sp>
      <p:sp>
        <p:nvSpPr>
          <p:cNvPr id="4" name="副標題 2">
            <a:extLst>
              <a:ext uri="{FF2B5EF4-FFF2-40B4-BE49-F238E27FC236}">
                <a16:creationId xmlns:a16="http://schemas.microsoft.com/office/drawing/2014/main" id="{A64E0364-4674-4930-835E-A413D880DCDB}"/>
              </a:ext>
            </a:extLst>
          </p:cNvPr>
          <p:cNvSpPr txBox="1">
            <a:spLocks/>
          </p:cNvSpPr>
          <p:nvPr/>
        </p:nvSpPr>
        <p:spPr>
          <a:xfrm>
            <a:off x="5489688" y="5493605"/>
            <a:ext cx="2715491" cy="830998"/>
          </a:xfrm>
          <a:prstGeom prst="rect">
            <a:avLst/>
          </a:prstGeom>
        </p:spPr>
        <p:txBody>
          <a:bodyPr vert="horz" lIns="68580" tIns="34290" rIns="68580" bIns="3429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r"/>
            <a:r>
              <a:rPr lang="en-US" altLang="zh-TW" sz="2000" dirty="0">
                <a:latin typeface="Times New Roman" panose="02020603050405020304" pitchFamily="18" charset="0"/>
                <a:ea typeface="標楷體" panose="03000509000000000000" pitchFamily="65" charset="-120"/>
                <a:cs typeface="Times New Roman" panose="02020603050405020304" pitchFamily="18" charset="0"/>
              </a:rPr>
              <a:t>Speaker: Guan-</a:t>
            </a:r>
            <a:r>
              <a:rPr lang="en-US" altLang="zh-TW" sz="2000" dirty="0" err="1">
                <a:latin typeface="Times New Roman" panose="02020603050405020304" pitchFamily="18" charset="0"/>
                <a:ea typeface="標楷體" panose="03000509000000000000" pitchFamily="65" charset="-120"/>
                <a:cs typeface="Times New Roman" panose="02020603050405020304" pitchFamily="18" charset="0"/>
              </a:rPr>
              <a:t>Zhi</a:t>
            </a:r>
            <a:r>
              <a:rPr lang="en-US" altLang="zh-TW" sz="2000" dirty="0">
                <a:latin typeface="Times New Roman" panose="02020603050405020304" pitchFamily="18" charset="0"/>
                <a:ea typeface="標楷體" panose="03000509000000000000" pitchFamily="65" charset="-120"/>
                <a:cs typeface="Times New Roman" panose="02020603050405020304" pitchFamily="18" charset="0"/>
              </a:rPr>
              <a:t> Chen</a:t>
            </a:r>
          </a:p>
          <a:p>
            <a:pPr algn="r"/>
            <a:r>
              <a:rPr lang="en-US" altLang="zh-TW" sz="2000" dirty="0">
                <a:latin typeface="Times New Roman" panose="02020603050405020304" pitchFamily="18" charset="0"/>
                <a:ea typeface="標楷體" panose="03000509000000000000" pitchFamily="65" charset="-120"/>
                <a:cs typeface="Times New Roman" panose="02020603050405020304" pitchFamily="18" charset="0"/>
              </a:rPr>
              <a:t>Date: 2018.12.25</a:t>
            </a:r>
          </a:p>
        </p:txBody>
      </p:sp>
      <p:sp>
        <p:nvSpPr>
          <p:cNvPr id="6" name="矩形 5">
            <a:extLst>
              <a:ext uri="{FF2B5EF4-FFF2-40B4-BE49-F238E27FC236}">
                <a16:creationId xmlns:a16="http://schemas.microsoft.com/office/drawing/2014/main" id="{ADEB69C1-BEBB-4D8A-BCF3-51571A635FE9}"/>
              </a:ext>
            </a:extLst>
          </p:cNvPr>
          <p:cNvSpPr/>
          <p:nvPr/>
        </p:nvSpPr>
        <p:spPr>
          <a:xfrm flipH="1">
            <a:off x="636997" y="4624764"/>
            <a:ext cx="7870005" cy="461665"/>
          </a:xfrm>
          <a:prstGeom prst="rect">
            <a:avLst/>
          </a:prstGeom>
        </p:spPr>
        <p:txBody>
          <a:bodyPr wrap="square">
            <a:spAutoFit/>
          </a:bodyPr>
          <a:lstStyle/>
          <a:p>
            <a:pPr algn="ctr"/>
            <a:r>
              <a:rPr lang="en-US" altLang="zh-TW" sz="2400" dirty="0">
                <a:latin typeface="Times New Roman" panose="02020603050405020304" pitchFamily="18" charset="0"/>
                <a:ea typeface="+mj-ea"/>
                <a:cs typeface="Times New Roman" panose="02020603050405020304" pitchFamily="18" charset="0"/>
              </a:rPr>
              <a:t>Information Processing Letters 116 (2016) 71–74</a:t>
            </a:r>
          </a:p>
        </p:txBody>
      </p:sp>
      <p:sp>
        <p:nvSpPr>
          <p:cNvPr id="5" name="矩形 4">
            <a:extLst>
              <a:ext uri="{FF2B5EF4-FFF2-40B4-BE49-F238E27FC236}">
                <a16:creationId xmlns:a16="http://schemas.microsoft.com/office/drawing/2014/main" id="{6E3B1481-72B8-428A-B7C2-4C98C4A5B17D}"/>
              </a:ext>
            </a:extLst>
          </p:cNvPr>
          <p:cNvSpPr/>
          <p:nvPr/>
        </p:nvSpPr>
        <p:spPr>
          <a:xfrm>
            <a:off x="374119" y="3892117"/>
            <a:ext cx="8395760" cy="461665"/>
          </a:xfrm>
          <a:prstGeom prst="rect">
            <a:avLst/>
          </a:prstGeom>
        </p:spPr>
        <p:txBody>
          <a:bodyPr wrap="none">
            <a:spAutoFit/>
          </a:bodyPr>
          <a:lstStyle/>
          <a:p>
            <a:r>
              <a:rPr lang="en-US" altLang="zh-TW" sz="2400" dirty="0">
                <a:latin typeface="Times New Roman" panose="02020603050405020304" pitchFamily="18" charset="0"/>
                <a:ea typeface="+mj-ea"/>
                <a:cs typeface="Times New Roman" panose="02020603050405020304" pitchFamily="18" charset="0"/>
              </a:rPr>
              <a:t>Department of Computer Science, Aalto University, Aalto, Finland</a:t>
            </a:r>
            <a:endParaRPr lang="zh-TW" altLang="en-US" sz="2400" dirty="0">
              <a:latin typeface="Times New Roman" panose="02020603050405020304" pitchFamily="18" charset="0"/>
              <a:ea typeface="+mj-ea"/>
              <a:cs typeface="Times New Roman" panose="02020603050405020304" pitchFamily="18" charset="0"/>
            </a:endParaRPr>
          </a:p>
        </p:txBody>
      </p:sp>
    </p:spTree>
    <p:extLst>
      <p:ext uri="{BB962C8B-B14F-4D97-AF65-F5344CB8AC3E}">
        <p14:creationId xmlns:p14="http://schemas.microsoft.com/office/powerpoint/2010/main" val="2611728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圖片 1">
            <a:extLst>
              <a:ext uri="{FF2B5EF4-FFF2-40B4-BE49-F238E27FC236}">
                <a16:creationId xmlns:a16="http://schemas.microsoft.com/office/drawing/2014/main" id="{D9C404D7-20F2-4481-A987-773A2A09E8CB}"/>
              </a:ext>
            </a:extLst>
          </p:cNvPr>
          <p:cNvPicPr>
            <a:picLocks noChangeAspect="1"/>
          </p:cNvPicPr>
          <p:nvPr/>
        </p:nvPicPr>
        <p:blipFill>
          <a:blip r:embed="rId3"/>
          <a:stretch>
            <a:fillRect/>
          </a:stretch>
        </p:blipFill>
        <p:spPr>
          <a:xfrm>
            <a:off x="1049288" y="0"/>
            <a:ext cx="7045424" cy="6858000"/>
          </a:xfrm>
          <a:prstGeom prst="rect">
            <a:avLst/>
          </a:prstGeom>
        </p:spPr>
      </p:pic>
      <p:sp>
        <p:nvSpPr>
          <p:cNvPr id="3" name="矩形 2">
            <a:extLst>
              <a:ext uri="{FF2B5EF4-FFF2-40B4-BE49-F238E27FC236}">
                <a16:creationId xmlns:a16="http://schemas.microsoft.com/office/drawing/2014/main" id="{20D8F8CA-AA8D-4C45-BC32-506B63CB2C3E}"/>
              </a:ext>
            </a:extLst>
          </p:cNvPr>
          <p:cNvSpPr/>
          <p:nvPr/>
        </p:nvSpPr>
        <p:spPr>
          <a:xfrm>
            <a:off x="5775739" y="4581526"/>
            <a:ext cx="904511" cy="400110"/>
          </a:xfrm>
          <a:prstGeom prst="rect">
            <a:avLst/>
          </a:prstGeom>
        </p:spPr>
        <p:txBody>
          <a:bodyPr wrap="square">
            <a:spAutoFit/>
          </a:bodyPr>
          <a:lstStyle/>
          <a:p>
            <a:pPr algn="ctr" fontAlgn="base"/>
            <a:r>
              <a:rPr lang="zh-TW" altLang="en-US" sz="1000" b="1" dirty="0">
                <a:latin typeface="inherit"/>
              </a:rPr>
              <a:t>赫爾辛基</a:t>
            </a:r>
          </a:p>
          <a:p>
            <a:pPr algn="ctr" fontAlgn="base"/>
            <a:r>
              <a:rPr lang="en-US" altLang="zh-TW" sz="1000" b="1" dirty="0">
                <a:latin typeface="Roboto"/>
              </a:rPr>
              <a:t>Helsinki</a:t>
            </a:r>
            <a:endParaRPr lang="en-US" altLang="zh-TW" sz="1000" b="1" i="0" dirty="0">
              <a:effectLst/>
              <a:latin typeface="Roboto"/>
            </a:endParaRPr>
          </a:p>
        </p:txBody>
      </p:sp>
      <p:grpSp>
        <p:nvGrpSpPr>
          <p:cNvPr id="5" name="群組 4">
            <a:extLst>
              <a:ext uri="{FF2B5EF4-FFF2-40B4-BE49-F238E27FC236}">
                <a16:creationId xmlns:a16="http://schemas.microsoft.com/office/drawing/2014/main" id="{8C736E6F-15F3-41B0-B859-59B4E1CFB4A3}"/>
              </a:ext>
            </a:extLst>
          </p:cNvPr>
          <p:cNvGrpSpPr/>
          <p:nvPr/>
        </p:nvGrpSpPr>
        <p:grpSpPr>
          <a:xfrm>
            <a:off x="5206258" y="4581526"/>
            <a:ext cx="59531" cy="59531"/>
            <a:chOff x="-756776" y="1130711"/>
            <a:chExt cx="151938" cy="151938"/>
          </a:xfrm>
        </p:grpSpPr>
        <p:sp>
          <p:nvSpPr>
            <p:cNvPr id="4" name="橢圓 3">
              <a:extLst>
                <a:ext uri="{FF2B5EF4-FFF2-40B4-BE49-F238E27FC236}">
                  <a16:creationId xmlns:a16="http://schemas.microsoft.com/office/drawing/2014/main" id="{863FF6AA-52BD-4252-9CBA-9A962E63BFC6}"/>
                </a:ext>
              </a:extLst>
            </p:cNvPr>
            <p:cNvSpPr/>
            <p:nvPr/>
          </p:nvSpPr>
          <p:spPr>
            <a:xfrm>
              <a:off x="-704709" y="1182778"/>
              <a:ext cx="52042" cy="52042"/>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a:p>
          </p:txBody>
        </p:sp>
        <p:sp>
          <p:nvSpPr>
            <p:cNvPr id="7" name="橢圓 6">
              <a:extLst>
                <a:ext uri="{FF2B5EF4-FFF2-40B4-BE49-F238E27FC236}">
                  <a16:creationId xmlns:a16="http://schemas.microsoft.com/office/drawing/2014/main" id="{4FD102A4-6BBF-4E82-9FE0-E894AC848BAA}"/>
                </a:ext>
              </a:extLst>
            </p:cNvPr>
            <p:cNvSpPr/>
            <p:nvPr/>
          </p:nvSpPr>
          <p:spPr>
            <a:xfrm>
              <a:off x="-756776" y="1130711"/>
              <a:ext cx="151938" cy="151938"/>
            </a:xfrm>
            <a:prstGeom prst="ellipse">
              <a:avLst/>
            </a:prstGeom>
            <a:noFill/>
            <a:ln w="12700"/>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a:p>
          </p:txBody>
        </p:sp>
      </p:grpSp>
      <p:cxnSp>
        <p:nvCxnSpPr>
          <p:cNvPr id="8" name="直線接點 7">
            <a:extLst>
              <a:ext uri="{FF2B5EF4-FFF2-40B4-BE49-F238E27FC236}">
                <a16:creationId xmlns:a16="http://schemas.microsoft.com/office/drawing/2014/main" id="{CDB6B672-4599-4BCD-A2D8-D3F345FE997D}"/>
              </a:ext>
            </a:extLst>
          </p:cNvPr>
          <p:cNvCxnSpPr>
            <a:cxnSpLocks/>
          </p:cNvCxnSpPr>
          <p:nvPr/>
        </p:nvCxnSpPr>
        <p:spPr>
          <a:xfrm>
            <a:off x="5348905" y="4629360"/>
            <a:ext cx="566120" cy="8551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pic>
        <p:nvPicPr>
          <p:cNvPr id="1026" name="Picture 2" descr="Image">
            <a:extLst>
              <a:ext uri="{FF2B5EF4-FFF2-40B4-BE49-F238E27FC236}">
                <a16:creationId xmlns:a16="http://schemas.microsoft.com/office/drawing/2014/main" id="{29FE35F5-7476-47FF-8330-97109231A99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94188" y="4039694"/>
            <a:ext cx="677812" cy="44192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2249786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402232" y="305355"/>
            <a:ext cx="7886700" cy="742817"/>
          </a:xfrm>
        </p:spPr>
        <p:txBody>
          <a:bodyPr>
            <a:normAutofit/>
          </a:bodyPr>
          <a:lstStyle/>
          <a:p>
            <a:r>
              <a:rPr lang="en-US" altLang="zh-TW" sz="3600" dirty="0">
                <a:latin typeface="Times New Roman" panose="02020603050405020304" pitchFamily="18" charset="0"/>
                <a:cs typeface="Times New Roman" panose="02020603050405020304" pitchFamily="18" charset="0"/>
              </a:rPr>
              <a:t>Abstract</a:t>
            </a:r>
            <a:r>
              <a:rPr lang="zh-TW" altLang="en-US" sz="3600" dirty="0">
                <a:latin typeface="Times New Roman" panose="02020603050405020304" pitchFamily="18" charset="0"/>
                <a:cs typeface="Times New Roman" panose="02020603050405020304" pitchFamily="18" charset="0"/>
              </a:rPr>
              <a:t> </a:t>
            </a:r>
          </a:p>
        </p:txBody>
      </p:sp>
      <p:sp>
        <p:nvSpPr>
          <p:cNvPr id="4" name="投影片編號版面配置區 3">
            <a:extLst>
              <a:ext uri="{FF2B5EF4-FFF2-40B4-BE49-F238E27FC236}">
                <a16:creationId xmlns:a16="http://schemas.microsoft.com/office/drawing/2014/main" id="{EC242670-B200-4340-9830-52717E351455}"/>
              </a:ext>
            </a:extLst>
          </p:cNvPr>
          <p:cNvSpPr>
            <a:spLocks noGrp="1"/>
          </p:cNvSpPr>
          <p:nvPr>
            <p:ph type="sldNum" sz="quarter" idx="12"/>
          </p:nvPr>
        </p:nvSpPr>
        <p:spPr/>
        <p:txBody>
          <a:bodyPr/>
          <a:lstStyle/>
          <a:p>
            <a:fld id="{872633CA-77E0-4863-94F8-E28139DFB2B4}" type="slidenum">
              <a:rPr lang="zh-TW" altLang="en-US" smtClean="0"/>
              <a:t>3</a:t>
            </a:fld>
            <a:endParaRPr lang="zh-TW" altLang="en-US"/>
          </a:p>
        </p:txBody>
      </p:sp>
      <p:sp>
        <p:nvSpPr>
          <p:cNvPr id="7" name="內容版面配置區 6">
            <a:extLst>
              <a:ext uri="{FF2B5EF4-FFF2-40B4-BE49-F238E27FC236}">
                <a16:creationId xmlns:a16="http://schemas.microsoft.com/office/drawing/2014/main" id="{878CA31B-C758-4215-B281-353CA02EC37A}"/>
              </a:ext>
            </a:extLst>
          </p:cNvPr>
          <p:cNvSpPr>
            <a:spLocks noGrp="1"/>
          </p:cNvSpPr>
          <p:nvPr>
            <p:ph idx="1"/>
          </p:nvPr>
        </p:nvSpPr>
        <p:spPr>
          <a:xfrm>
            <a:off x="402232" y="1150706"/>
            <a:ext cx="8113118" cy="5205645"/>
          </a:xfrm>
        </p:spPr>
        <p:txBody>
          <a:bodyPr>
            <a:noAutofit/>
          </a:bodyPr>
          <a:lstStyle/>
          <a:p>
            <a:pPr marL="0" indent="0">
              <a:lnSpc>
                <a:spcPct val="100000"/>
              </a:lnSpc>
              <a:buNone/>
            </a:pPr>
            <a:r>
              <a:rPr lang="en-US" altLang="zh-TW" dirty="0">
                <a:latin typeface="Times New Roman" panose="02020603050405020304" pitchFamily="18" charset="0"/>
              </a:rPr>
              <a:t>The problem of </a:t>
            </a:r>
            <a:r>
              <a:rPr lang="en-US" altLang="zh-TW" dirty="0">
                <a:solidFill>
                  <a:srgbClr val="0070C0"/>
                </a:solidFill>
                <a:latin typeface="Times New Roman" panose="02020603050405020304" pitchFamily="18" charset="0"/>
              </a:rPr>
              <a:t>order-preserving matching</a:t>
            </a:r>
            <a:r>
              <a:rPr lang="en-US" altLang="zh-TW" dirty="0">
                <a:latin typeface="Times New Roman" panose="02020603050405020304" pitchFamily="18" charset="0"/>
              </a:rPr>
              <a:t> has gained attention lately. The text and the pattern consist of numbers. The task is to find all the substrings in the text which have the same length and relative order as the pattern. The problem has applications in analysis of time series. We present a new sublinear solution based on filtration. Any algorithm for exact string matching can be used as a filtering method. If the filtration algorithm is sublinear, the total method is sublinear on average. We show by practical experiments that the new solution is more efficient than earlier algorithms. </a:t>
            </a:r>
            <a:endParaRPr lang="en-US" altLang="zh-TW"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950678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a:extLst>
              <a:ext uri="{FF2B5EF4-FFF2-40B4-BE49-F238E27FC236}">
                <a16:creationId xmlns:a16="http://schemas.microsoft.com/office/drawing/2014/main" id="{01482047-C5BA-4C14-A83E-65B7E095C8D6}"/>
              </a:ext>
            </a:extLst>
          </p:cNvPr>
          <p:cNvSpPr>
            <a:spLocks noGrp="1"/>
          </p:cNvSpPr>
          <p:nvPr>
            <p:ph type="sldNum" sz="quarter" idx="12"/>
          </p:nvPr>
        </p:nvSpPr>
        <p:spPr/>
        <p:txBody>
          <a:bodyPr/>
          <a:lstStyle/>
          <a:p>
            <a:fld id="{872633CA-77E0-4863-94F8-E28139DFB2B4}" type="slidenum">
              <a:rPr lang="zh-TW" altLang="en-US" smtClean="0"/>
              <a:t>4</a:t>
            </a:fld>
            <a:endParaRPr lang="zh-TW" altLang="en-US"/>
          </a:p>
        </p:txBody>
      </p:sp>
      <p:sp>
        <p:nvSpPr>
          <p:cNvPr id="15" name="標題 1">
            <a:extLst>
              <a:ext uri="{FF2B5EF4-FFF2-40B4-BE49-F238E27FC236}">
                <a16:creationId xmlns:a16="http://schemas.microsoft.com/office/drawing/2014/main" id="{A9990B6E-C32F-4A96-940B-453E868CF6E8}"/>
              </a:ext>
            </a:extLst>
          </p:cNvPr>
          <p:cNvSpPr txBox="1">
            <a:spLocks/>
          </p:cNvSpPr>
          <p:nvPr/>
        </p:nvSpPr>
        <p:spPr>
          <a:xfrm>
            <a:off x="402232" y="305355"/>
            <a:ext cx="7886700" cy="74281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TW" sz="3600" dirty="0">
                <a:latin typeface="Times New Roman" panose="02020603050405020304" pitchFamily="18" charset="0"/>
                <a:cs typeface="Times New Roman" panose="02020603050405020304" pitchFamily="18" charset="0"/>
              </a:rPr>
              <a:t>Definition (1/2)</a:t>
            </a:r>
            <a:endParaRPr lang="zh-TW" altLang="en-US" sz="36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6" name="矩形 15">
                <a:extLst>
                  <a:ext uri="{FF2B5EF4-FFF2-40B4-BE49-F238E27FC236}">
                    <a16:creationId xmlns:a16="http://schemas.microsoft.com/office/drawing/2014/main" id="{8251FFCC-757A-4E43-BADE-BFDEC40CFB25}"/>
                  </a:ext>
                </a:extLst>
              </p:cNvPr>
              <p:cNvSpPr/>
              <p:nvPr/>
            </p:nvSpPr>
            <p:spPr>
              <a:xfrm>
                <a:off x="402232" y="1164320"/>
                <a:ext cx="8741768" cy="892552"/>
              </a:xfrm>
              <a:prstGeom prst="rect">
                <a:avLst/>
              </a:prstGeom>
            </p:spPr>
            <p:txBody>
              <a:bodyPr wrap="square">
                <a:spAutoFit/>
              </a:bodyPr>
              <a:lstStyle/>
              <a:p>
                <a:r>
                  <a:rPr lang="en-US" altLang="zh-TW" sz="2800" b="1" dirty="0">
                    <a:latin typeface="Times New Roman" panose="02020603050405020304" pitchFamily="18" charset="0"/>
                  </a:rPr>
                  <a:t>Pattern (String) matching problem: </a:t>
                </a:r>
              </a:p>
              <a:p>
                <a:r>
                  <a:rPr lang="en-US" altLang="zh-TW" sz="2400" dirty="0">
                    <a:latin typeface="Times New Roman" panose="02020603050405020304" pitchFamily="18" charset="0"/>
                  </a:rPr>
                  <a:t>Given text </a:t>
                </a:r>
                <a14:m>
                  <m:oMath xmlns:m="http://schemas.openxmlformats.org/officeDocument/2006/math">
                    <m:r>
                      <a:rPr lang="en-US" altLang="zh-TW" sz="2400" i="1" dirty="0" smtClean="0">
                        <a:latin typeface="Cambria Math" panose="02040503050406030204" pitchFamily="18" charset="0"/>
                      </a:rPr>
                      <m:t>𝑇</m:t>
                    </m:r>
                  </m:oMath>
                </a14:m>
                <a:r>
                  <a:rPr lang="en-US" altLang="zh-TW" sz="2400" dirty="0">
                    <a:latin typeface="Times New Roman" panose="02020603050405020304" pitchFamily="18" charset="0"/>
                  </a:rPr>
                  <a:t> and pattern </a:t>
                </a:r>
                <a14:m>
                  <m:oMath xmlns:m="http://schemas.openxmlformats.org/officeDocument/2006/math">
                    <m:r>
                      <a:rPr lang="en-US" altLang="zh-TW" sz="2400" i="1" dirty="0" smtClean="0">
                        <a:latin typeface="Cambria Math" panose="02040503050406030204" pitchFamily="18" charset="0"/>
                      </a:rPr>
                      <m:t>𝑃</m:t>
                    </m:r>
                    <m:r>
                      <a:rPr lang="en-US" altLang="zh-TW" sz="2400" b="0" i="1" dirty="0" smtClean="0">
                        <a:latin typeface="Cambria Math" panose="02040503050406030204" pitchFamily="18" charset="0"/>
                      </a:rPr>
                      <m:t>,</m:t>
                    </m:r>
                  </m:oMath>
                </a14:m>
                <a:r>
                  <a:rPr lang="en-US" altLang="zh-TW" sz="2400" dirty="0">
                    <a:latin typeface="Times New Roman" panose="02020603050405020304" pitchFamily="18" charset="0"/>
                  </a:rPr>
                  <a:t> find all occurrences of </a:t>
                </a:r>
                <a14:m>
                  <m:oMath xmlns:m="http://schemas.openxmlformats.org/officeDocument/2006/math">
                    <m:r>
                      <a:rPr lang="en-US" altLang="zh-TW" sz="2400" i="1" dirty="0" smtClean="0">
                        <a:latin typeface="Cambria Math" panose="02040503050406030204" pitchFamily="18" charset="0"/>
                      </a:rPr>
                      <m:t>𝑃</m:t>
                    </m:r>
                  </m:oMath>
                </a14:m>
                <a:r>
                  <a:rPr lang="en-US" altLang="zh-TW" sz="2400" dirty="0">
                    <a:latin typeface="Times New Roman" panose="02020603050405020304" pitchFamily="18" charset="0"/>
                  </a:rPr>
                  <a:t> in </a:t>
                </a:r>
                <a14:m>
                  <m:oMath xmlns:m="http://schemas.openxmlformats.org/officeDocument/2006/math">
                    <m:r>
                      <a:rPr lang="en-US" altLang="zh-TW" sz="2400" i="1" dirty="0" smtClean="0">
                        <a:latin typeface="Cambria Math" panose="02040503050406030204" pitchFamily="18" charset="0"/>
                      </a:rPr>
                      <m:t>𝑇</m:t>
                    </m:r>
                    <m:r>
                      <a:rPr lang="en-US" altLang="zh-TW" sz="2400" b="0" i="1" dirty="0" smtClean="0">
                        <a:latin typeface="Cambria Math" panose="02040503050406030204" pitchFamily="18" charset="0"/>
                      </a:rPr>
                      <m:t>.</m:t>
                    </m:r>
                  </m:oMath>
                </a14:m>
                <a:r>
                  <a:rPr lang="en-US" altLang="zh-TW" sz="2400" dirty="0">
                    <a:latin typeface="Times New Roman" panose="02020603050405020304" pitchFamily="18" charset="0"/>
                  </a:rPr>
                  <a:t> </a:t>
                </a:r>
                <a:endParaRPr lang="zh-TW" altLang="en-US" sz="2400" dirty="0">
                  <a:solidFill>
                    <a:srgbClr val="0070C0"/>
                  </a:solidFill>
                  <a:latin typeface="Times New Roman" panose="02020603050405020304" pitchFamily="18" charset="0"/>
                </a:endParaRPr>
              </a:p>
            </p:txBody>
          </p:sp>
        </mc:Choice>
        <mc:Fallback xmlns="">
          <p:sp>
            <p:nvSpPr>
              <p:cNvPr id="16" name="矩形 15">
                <a:extLst>
                  <a:ext uri="{FF2B5EF4-FFF2-40B4-BE49-F238E27FC236}">
                    <a16:creationId xmlns:a16="http://schemas.microsoft.com/office/drawing/2014/main" id="{8251FFCC-757A-4E43-BADE-BFDEC40CFB25}"/>
                  </a:ext>
                </a:extLst>
              </p:cNvPr>
              <p:cNvSpPr>
                <a:spLocks noRot="1" noChangeAspect="1" noMove="1" noResize="1" noEditPoints="1" noAdjustHandles="1" noChangeArrowheads="1" noChangeShapeType="1" noTextEdit="1"/>
              </p:cNvSpPr>
              <p:nvPr/>
            </p:nvSpPr>
            <p:spPr>
              <a:xfrm>
                <a:off x="402232" y="1164320"/>
                <a:ext cx="8741768" cy="892552"/>
              </a:xfrm>
              <a:prstGeom prst="rect">
                <a:avLst/>
              </a:prstGeom>
              <a:blipFill>
                <a:blip r:embed="rId3"/>
                <a:stretch>
                  <a:fillRect l="-1464" t="-7534" b="-15068"/>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graphicFrame>
            <p:nvGraphicFramePr>
              <p:cNvPr id="17" name="表格 16">
                <a:extLst>
                  <a:ext uri="{FF2B5EF4-FFF2-40B4-BE49-F238E27FC236}">
                    <a16:creationId xmlns:a16="http://schemas.microsoft.com/office/drawing/2014/main" id="{0CE12766-E472-4E58-BFA4-DFC969C4C286}"/>
                  </a:ext>
                </a:extLst>
              </p:cNvPr>
              <p:cNvGraphicFramePr>
                <a:graphicFrameLocks noGrp="1"/>
              </p:cNvGraphicFramePr>
              <p:nvPr>
                <p:extLst>
                  <p:ext uri="{D42A27DB-BD31-4B8C-83A1-F6EECF244321}">
                    <p14:modId xmlns:p14="http://schemas.microsoft.com/office/powerpoint/2010/main" val="1632446421"/>
                  </p:ext>
                </p:extLst>
              </p:nvPr>
            </p:nvGraphicFramePr>
            <p:xfrm>
              <a:off x="1344645" y="2438573"/>
              <a:ext cx="4320000" cy="518160"/>
            </p:xfrm>
            <a:graphic>
              <a:graphicData uri="http://schemas.openxmlformats.org/drawingml/2006/table">
                <a:tbl>
                  <a:tblPr firstRow="1" bandRow="1">
                    <a:tableStyleId>{5940675A-B579-460E-94D1-54222C63F5DA}</a:tableStyleId>
                  </a:tblPr>
                  <a:tblGrid>
                    <a:gridCol w="480000">
                      <a:extLst>
                        <a:ext uri="{9D8B030D-6E8A-4147-A177-3AD203B41FA5}">
                          <a16:colId xmlns:a16="http://schemas.microsoft.com/office/drawing/2014/main" val="106444939"/>
                        </a:ext>
                      </a:extLst>
                    </a:gridCol>
                    <a:gridCol w="480000">
                      <a:extLst>
                        <a:ext uri="{9D8B030D-6E8A-4147-A177-3AD203B41FA5}">
                          <a16:colId xmlns:a16="http://schemas.microsoft.com/office/drawing/2014/main" val="3438003960"/>
                        </a:ext>
                      </a:extLst>
                    </a:gridCol>
                    <a:gridCol w="480000">
                      <a:extLst>
                        <a:ext uri="{9D8B030D-6E8A-4147-A177-3AD203B41FA5}">
                          <a16:colId xmlns:a16="http://schemas.microsoft.com/office/drawing/2014/main" val="1539556327"/>
                        </a:ext>
                      </a:extLst>
                    </a:gridCol>
                    <a:gridCol w="480000">
                      <a:extLst>
                        <a:ext uri="{9D8B030D-6E8A-4147-A177-3AD203B41FA5}">
                          <a16:colId xmlns:a16="http://schemas.microsoft.com/office/drawing/2014/main" val="1393179428"/>
                        </a:ext>
                      </a:extLst>
                    </a:gridCol>
                    <a:gridCol w="480000">
                      <a:extLst>
                        <a:ext uri="{9D8B030D-6E8A-4147-A177-3AD203B41FA5}">
                          <a16:colId xmlns:a16="http://schemas.microsoft.com/office/drawing/2014/main" val="3965888546"/>
                        </a:ext>
                      </a:extLst>
                    </a:gridCol>
                    <a:gridCol w="480000">
                      <a:extLst>
                        <a:ext uri="{9D8B030D-6E8A-4147-A177-3AD203B41FA5}">
                          <a16:colId xmlns:a16="http://schemas.microsoft.com/office/drawing/2014/main" val="82904498"/>
                        </a:ext>
                      </a:extLst>
                    </a:gridCol>
                    <a:gridCol w="480000">
                      <a:extLst>
                        <a:ext uri="{9D8B030D-6E8A-4147-A177-3AD203B41FA5}">
                          <a16:colId xmlns:a16="http://schemas.microsoft.com/office/drawing/2014/main" val="2214715668"/>
                        </a:ext>
                      </a:extLst>
                    </a:gridCol>
                    <a:gridCol w="480000">
                      <a:extLst>
                        <a:ext uri="{9D8B030D-6E8A-4147-A177-3AD203B41FA5}">
                          <a16:colId xmlns:a16="http://schemas.microsoft.com/office/drawing/2014/main" val="777121050"/>
                        </a:ext>
                      </a:extLst>
                    </a:gridCol>
                    <a:gridCol w="480000">
                      <a:extLst>
                        <a:ext uri="{9D8B030D-6E8A-4147-A177-3AD203B41FA5}">
                          <a16:colId xmlns:a16="http://schemas.microsoft.com/office/drawing/2014/main" val="2140332791"/>
                        </a:ext>
                      </a:extLst>
                    </a:gridCol>
                  </a:tblGrid>
                  <a:tr h="229371">
                    <a:tc>
                      <a:txBody>
                        <a:bodyPr/>
                        <a:lstStyle/>
                        <a:p>
                          <a:pPr algn="ctr"/>
                          <a14:m>
                            <m:oMath xmlns:m="http://schemas.openxmlformats.org/officeDocument/2006/math">
                              <m:r>
                                <a:rPr lang="en-US" altLang="zh-TW" sz="2800" b="0" i="1" dirty="0" smtClean="0">
                                  <a:solidFill>
                                    <a:srgbClr val="002060"/>
                                  </a:solidFill>
                                  <a:latin typeface="Cambria Math" panose="02040503050406030204" pitchFamily="18" charset="0"/>
                                  <a:cs typeface="Times New Roman" panose="02020603050405020304" pitchFamily="18" charset="0"/>
                                </a:rPr>
                                <m:t>𝑇</m:t>
                              </m:r>
                            </m:oMath>
                          </a14:m>
                          <a:r>
                            <a:rPr lang="en-US" altLang="zh-TW" sz="2800" dirty="0">
                              <a:solidFill>
                                <a:srgbClr val="002060"/>
                              </a:solidFill>
                              <a:latin typeface="Times New Roman" panose="02020603050405020304" pitchFamily="18" charset="0"/>
                              <a:cs typeface="Times New Roman" panose="02020603050405020304" pitchFamily="18" charset="0"/>
                            </a:rPr>
                            <a: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FF0000"/>
                              </a:solidFill>
                              <a:latin typeface="Times New Roman" panose="02020603050405020304" pitchFamily="18" charset="0"/>
                              <a:cs typeface="Times New Roman" panose="02020603050405020304" pitchFamily="18" charset="0"/>
                            </a:rPr>
                            <a:t>C</a:t>
                          </a:r>
                          <a:endParaRPr lang="zh-TW" altLang="en-US" sz="2800" dirty="0">
                            <a:solidFill>
                              <a:srgbClr val="FF000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FF0000"/>
                              </a:solidFill>
                              <a:latin typeface="Times New Roman" panose="02020603050405020304" pitchFamily="18" charset="0"/>
                              <a:cs typeface="Times New Roman" panose="02020603050405020304" pitchFamily="18" charset="0"/>
                            </a:rPr>
                            <a:t>T</a:t>
                          </a:r>
                          <a:endParaRPr lang="zh-TW" altLang="en-US" sz="2800" dirty="0">
                            <a:solidFill>
                              <a:srgbClr val="FF000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FF0000"/>
                              </a:solidFill>
                              <a:latin typeface="Times New Roman" panose="02020603050405020304" pitchFamily="18" charset="0"/>
                              <a:cs typeface="Times New Roman" panose="02020603050405020304" pitchFamily="18" charset="0"/>
                            </a:rPr>
                            <a:t>G</a:t>
                          </a:r>
                          <a:endParaRPr lang="zh-TW" altLang="en-US" sz="2800" dirty="0">
                            <a:solidFill>
                              <a:srgbClr val="FF000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C</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G</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706415246"/>
                      </a:ext>
                    </a:extLst>
                  </a:tr>
                </a:tbl>
              </a:graphicData>
            </a:graphic>
          </p:graphicFrame>
        </mc:Choice>
        <mc:Fallback xmlns="">
          <p:graphicFrame>
            <p:nvGraphicFramePr>
              <p:cNvPr id="17" name="表格 16">
                <a:extLst>
                  <a:ext uri="{FF2B5EF4-FFF2-40B4-BE49-F238E27FC236}">
                    <a16:creationId xmlns:a16="http://schemas.microsoft.com/office/drawing/2014/main" id="{0CE12766-E472-4E58-BFA4-DFC969C4C286}"/>
                  </a:ext>
                </a:extLst>
              </p:cNvPr>
              <p:cNvGraphicFramePr>
                <a:graphicFrameLocks noGrp="1"/>
              </p:cNvGraphicFramePr>
              <p:nvPr>
                <p:extLst>
                  <p:ext uri="{D42A27DB-BD31-4B8C-83A1-F6EECF244321}">
                    <p14:modId xmlns:p14="http://schemas.microsoft.com/office/powerpoint/2010/main" val="1632446421"/>
                  </p:ext>
                </p:extLst>
              </p:nvPr>
            </p:nvGraphicFramePr>
            <p:xfrm>
              <a:off x="1344645" y="2438573"/>
              <a:ext cx="4320000" cy="518160"/>
            </p:xfrm>
            <a:graphic>
              <a:graphicData uri="http://schemas.openxmlformats.org/drawingml/2006/table">
                <a:tbl>
                  <a:tblPr firstRow="1" bandRow="1">
                    <a:tableStyleId>{5940675A-B579-460E-94D1-54222C63F5DA}</a:tableStyleId>
                  </a:tblPr>
                  <a:tblGrid>
                    <a:gridCol w="480000">
                      <a:extLst>
                        <a:ext uri="{9D8B030D-6E8A-4147-A177-3AD203B41FA5}">
                          <a16:colId xmlns:a16="http://schemas.microsoft.com/office/drawing/2014/main" val="106444939"/>
                        </a:ext>
                      </a:extLst>
                    </a:gridCol>
                    <a:gridCol w="480000">
                      <a:extLst>
                        <a:ext uri="{9D8B030D-6E8A-4147-A177-3AD203B41FA5}">
                          <a16:colId xmlns:a16="http://schemas.microsoft.com/office/drawing/2014/main" val="3438003960"/>
                        </a:ext>
                      </a:extLst>
                    </a:gridCol>
                    <a:gridCol w="480000">
                      <a:extLst>
                        <a:ext uri="{9D8B030D-6E8A-4147-A177-3AD203B41FA5}">
                          <a16:colId xmlns:a16="http://schemas.microsoft.com/office/drawing/2014/main" val="1539556327"/>
                        </a:ext>
                      </a:extLst>
                    </a:gridCol>
                    <a:gridCol w="480000">
                      <a:extLst>
                        <a:ext uri="{9D8B030D-6E8A-4147-A177-3AD203B41FA5}">
                          <a16:colId xmlns:a16="http://schemas.microsoft.com/office/drawing/2014/main" val="1393179428"/>
                        </a:ext>
                      </a:extLst>
                    </a:gridCol>
                    <a:gridCol w="480000">
                      <a:extLst>
                        <a:ext uri="{9D8B030D-6E8A-4147-A177-3AD203B41FA5}">
                          <a16:colId xmlns:a16="http://schemas.microsoft.com/office/drawing/2014/main" val="3965888546"/>
                        </a:ext>
                      </a:extLst>
                    </a:gridCol>
                    <a:gridCol w="480000">
                      <a:extLst>
                        <a:ext uri="{9D8B030D-6E8A-4147-A177-3AD203B41FA5}">
                          <a16:colId xmlns:a16="http://schemas.microsoft.com/office/drawing/2014/main" val="82904498"/>
                        </a:ext>
                      </a:extLst>
                    </a:gridCol>
                    <a:gridCol w="480000">
                      <a:extLst>
                        <a:ext uri="{9D8B030D-6E8A-4147-A177-3AD203B41FA5}">
                          <a16:colId xmlns:a16="http://schemas.microsoft.com/office/drawing/2014/main" val="2214715668"/>
                        </a:ext>
                      </a:extLst>
                    </a:gridCol>
                    <a:gridCol w="480000">
                      <a:extLst>
                        <a:ext uri="{9D8B030D-6E8A-4147-A177-3AD203B41FA5}">
                          <a16:colId xmlns:a16="http://schemas.microsoft.com/office/drawing/2014/main" val="777121050"/>
                        </a:ext>
                      </a:extLst>
                    </a:gridCol>
                    <a:gridCol w="480000">
                      <a:extLst>
                        <a:ext uri="{9D8B030D-6E8A-4147-A177-3AD203B41FA5}">
                          <a16:colId xmlns:a16="http://schemas.microsoft.com/office/drawing/2014/main" val="2140332791"/>
                        </a:ext>
                      </a:extLst>
                    </a:gridCol>
                  </a:tblGrid>
                  <a:tr h="518160">
                    <a:tc>
                      <a:txBody>
                        <a:bodyPr/>
                        <a:lstStyle/>
                        <a:p>
                          <a:endParaRPr lang="zh-TW"/>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blipFill>
                          <a:blip r:embed="rId4"/>
                          <a:stretch>
                            <a:fillRect t="-11628" r="-798734" b="-31395"/>
                          </a:stretch>
                        </a:blip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FF0000"/>
                              </a:solidFill>
                              <a:latin typeface="Times New Roman" panose="02020603050405020304" pitchFamily="18" charset="0"/>
                              <a:cs typeface="Times New Roman" panose="02020603050405020304" pitchFamily="18" charset="0"/>
                            </a:rPr>
                            <a:t>C</a:t>
                          </a:r>
                          <a:endParaRPr lang="zh-TW" altLang="en-US" sz="2800" dirty="0">
                            <a:solidFill>
                              <a:srgbClr val="FF000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FF0000"/>
                              </a:solidFill>
                              <a:latin typeface="Times New Roman" panose="02020603050405020304" pitchFamily="18" charset="0"/>
                              <a:cs typeface="Times New Roman" panose="02020603050405020304" pitchFamily="18" charset="0"/>
                            </a:rPr>
                            <a:t>T</a:t>
                          </a:r>
                          <a:endParaRPr lang="zh-TW" altLang="en-US" sz="2800" dirty="0">
                            <a:solidFill>
                              <a:srgbClr val="FF000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FF0000"/>
                              </a:solidFill>
                              <a:latin typeface="Times New Roman" panose="02020603050405020304" pitchFamily="18" charset="0"/>
                              <a:cs typeface="Times New Roman" panose="02020603050405020304" pitchFamily="18" charset="0"/>
                            </a:rPr>
                            <a:t>G</a:t>
                          </a:r>
                          <a:endParaRPr lang="zh-TW" altLang="en-US" sz="2800" dirty="0">
                            <a:solidFill>
                              <a:srgbClr val="FF000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A</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C</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G</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706415246"/>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13" name="表格 12">
                <a:extLst>
                  <a:ext uri="{FF2B5EF4-FFF2-40B4-BE49-F238E27FC236}">
                    <a16:creationId xmlns:a16="http://schemas.microsoft.com/office/drawing/2014/main" id="{2296F9C5-77A5-4169-840C-390798ED2BBF}"/>
                  </a:ext>
                </a:extLst>
              </p:cNvPr>
              <p:cNvGraphicFramePr>
                <a:graphicFrameLocks noGrp="1"/>
              </p:cNvGraphicFramePr>
              <p:nvPr>
                <p:extLst>
                  <p:ext uri="{D42A27DB-BD31-4B8C-83A1-F6EECF244321}">
                    <p14:modId xmlns:p14="http://schemas.microsoft.com/office/powerpoint/2010/main" val="1953386235"/>
                  </p:ext>
                </p:extLst>
              </p:nvPr>
            </p:nvGraphicFramePr>
            <p:xfrm>
              <a:off x="1344645" y="3001406"/>
              <a:ext cx="1920000" cy="518160"/>
            </p:xfrm>
            <a:graphic>
              <a:graphicData uri="http://schemas.openxmlformats.org/drawingml/2006/table">
                <a:tbl>
                  <a:tblPr firstRow="1" bandRow="1">
                    <a:tableStyleId>{5940675A-B579-460E-94D1-54222C63F5DA}</a:tableStyleId>
                  </a:tblPr>
                  <a:tblGrid>
                    <a:gridCol w="480000">
                      <a:extLst>
                        <a:ext uri="{9D8B030D-6E8A-4147-A177-3AD203B41FA5}">
                          <a16:colId xmlns:a16="http://schemas.microsoft.com/office/drawing/2014/main" val="106444939"/>
                        </a:ext>
                      </a:extLst>
                    </a:gridCol>
                    <a:gridCol w="480000">
                      <a:extLst>
                        <a:ext uri="{9D8B030D-6E8A-4147-A177-3AD203B41FA5}">
                          <a16:colId xmlns:a16="http://schemas.microsoft.com/office/drawing/2014/main" val="3438003960"/>
                        </a:ext>
                      </a:extLst>
                    </a:gridCol>
                    <a:gridCol w="480000">
                      <a:extLst>
                        <a:ext uri="{9D8B030D-6E8A-4147-A177-3AD203B41FA5}">
                          <a16:colId xmlns:a16="http://schemas.microsoft.com/office/drawing/2014/main" val="1539556327"/>
                        </a:ext>
                      </a:extLst>
                    </a:gridCol>
                    <a:gridCol w="480000">
                      <a:extLst>
                        <a:ext uri="{9D8B030D-6E8A-4147-A177-3AD203B41FA5}">
                          <a16:colId xmlns:a16="http://schemas.microsoft.com/office/drawing/2014/main" val="1393179428"/>
                        </a:ext>
                      </a:extLst>
                    </a:gridCol>
                  </a:tblGrid>
                  <a:tr h="229371">
                    <a:tc>
                      <a:txBody>
                        <a:bodyPr/>
                        <a:lstStyle/>
                        <a:p>
                          <a:pPr algn="ctr"/>
                          <a14:m>
                            <m:oMath xmlns:m="http://schemas.openxmlformats.org/officeDocument/2006/math">
                              <m:r>
                                <a:rPr lang="en-US" altLang="zh-TW" sz="2800" b="0" i="1" dirty="0" smtClean="0">
                                  <a:solidFill>
                                    <a:srgbClr val="002060"/>
                                  </a:solidFill>
                                  <a:latin typeface="Cambria Math" panose="02040503050406030204" pitchFamily="18" charset="0"/>
                                  <a:cs typeface="Times New Roman" panose="02020603050405020304" pitchFamily="18" charset="0"/>
                                </a:rPr>
                                <m:t>𝑃</m:t>
                              </m:r>
                            </m:oMath>
                          </a14:m>
                          <a:r>
                            <a:rPr lang="en-US" altLang="zh-TW" sz="2800" dirty="0">
                              <a:solidFill>
                                <a:srgbClr val="002060"/>
                              </a:solidFill>
                              <a:latin typeface="Times New Roman" panose="02020603050405020304" pitchFamily="18" charset="0"/>
                              <a:cs typeface="Times New Roman" panose="02020603050405020304" pitchFamily="18" charset="0"/>
                            </a:rPr>
                            <a: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C</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G</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706415246"/>
                      </a:ext>
                    </a:extLst>
                  </a:tr>
                </a:tbl>
              </a:graphicData>
            </a:graphic>
          </p:graphicFrame>
        </mc:Choice>
        <mc:Fallback xmlns="">
          <p:graphicFrame>
            <p:nvGraphicFramePr>
              <p:cNvPr id="13" name="表格 12">
                <a:extLst>
                  <a:ext uri="{FF2B5EF4-FFF2-40B4-BE49-F238E27FC236}">
                    <a16:creationId xmlns:a16="http://schemas.microsoft.com/office/drawing/2014/main" id="{2296F9C5-77A5-4169-840C-390798ED2BBF}"/>
                  </a:ext>
                </a:extLst>
              </p:cNvPr>
              <p:cNvGraphicFramePr>
                <a:graphicFrameLocks noGrp="1"/>
              </p:cNvGraphicFramePr>
              <p:nvPr>
                <p:extLst>
                  <p:ext uri="{D42A27DB-BD31-4B8C-83A1-F6EECF244321}">
                    <p14:modId xmlns:p14="http://schemas.microsoft.com/office/powerpoint/2010/main" val="1953386235"/>
                  </p:ext>
                </p:extLst>
              </p:nvPr>
            </p:nvGraphicFramePr>
            <p:xfrm>
              <a:off x="1344645" y="3001406"/>
              <a:ext cx="1920000" cy="518160"/>
            </p:xfrm>
            <a:graphic>
              <a:graphicData uri="http://schemas.openxmlformats.org/drawingml/2006/table">
                <a:tbl>
                  <a:tblPr firstRow="1" bandRow="1">
                    <a:tableStyleId>{5940675A-B579-460E-94D1-54222C63F5DA}</a:tableStyleId>
                  </a:tblPr>
                  <a:tblGrid>
                    <a:gridCol w="480000">
                      <a:extLst>
                        <a:ext uri="{9D8B030D-6E8A-4147-A177-3AD203B41FA5}">
                          <a16:colId xmlns:a16="http://schemas.microsoft.com/office/drawing/2014/main" val="106444939"/>
                        </a:ext>
                      </a:extLst>
                    </a:gridCol>
                    <a:gridCol w="480000">
                      <a:extLst>
                        <a:ext uri="{9D8B030D-6E8A-4147-A177-3AD203B41FA5}">
                          <a16:colId xmlns:a16="http://schemas.microsoft.com/office/drawing/2014/main" val="3438003960"/>
                        </a:ext>
                      </a:extLst>
                    </a:gridCol>
                    <a:gridCol w="480000">
                      <a:extLst>
                        <a:ext uri="{9D8B030D-6E8A-4147-A177-3AD203B41FA5}">
                          <a16:colId xmlns:a16="http://schemas.microsoft.com/office/drawing/2014/main" val="1539556327"/>
                        </a:ext>
                      </a:extLst>
                    </a:gridCol>
                    <a:gridCol w="480000">
                      <a:extLst>
                        <a:ext uri="{9D8B030D-6E8A-4147-A177-3AD203B41FA5}">
                          <a16:colId xmlns:a16="http://schemas.microsoft.com/office/drawing/2014/main" val="1393179428"/>
                        </a:ext>
                      </a:extLst>
                    </a:gridCol>
                  </a:tblGrid>
                  <a:tr h="518160">
                    <a:tc>
                      <a:txBody>
                        <a:bodyPr/>
                        <a:lstStyle/>
                        <a:p>
                          <a:endParaRPr lang="zh-TW"/>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blipFill>
                          <a:blip r:embed="rId5"/>
                          <a:stretch>
                            <a:fillRect t="-11628" r="-300000" b="-31395"/>
                          </a:stretch>
                        </a:blip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C</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G</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706415246"/>
                      </a:ext>
                    </a:extLst>
                  </a:tr>
                </a:tbl>
              </a:graphicData>
            </a:graphic>
          </p:graphicFrame>
        </mc:Fallback>
      </mc:AlternateContent>
      <mc:AlternateContent xmlns:mc="http://schemas.openxmlformats.org/markup-compatibility/2006">
        <mc:Choice xmlns:a14="http://schemas.microsoft.com/office/drawing/2010/main" Requires="a14">
          <p:sp>
            <p:nvSpPr>
              <p:cNvPr id="7" name="矩形 6">
                <a:extLst>
                  <a:ext uri="{FF2B5EF4-FFF2-40B4-BE49-F238E27FC236}">
                    <a16:creationId xmlns:a16="http://schemas.microsoft.com/office/drawing/2014/main" id="{CB84F36C-056D-4EB7-8FB0-C4256A516743}"/>
                  </a:ext>
                </a:extLst>
              </p:cNvPr>
              <p:cNvSpPr/>
              <p:nvPr/>
            </p:nvSpPr>
            <p:spPr>
              <a:xfrm>
                <a:off x="1344645" y="3816026"/>
                <a:ext cx="1729191"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TW" sz="2400" b="0" i="1" smtClean="0">
                          <a:solidFill>
                            <a:srgbClr val="0070C0"/>
                          </a:solidFill>
                          <a:latin typeface="Cambria Math" panose="02040503050406030204" pitchFamily="18" charset="0"/>
                        </a:rPr>
                        <m:t>𝑇</m:t>
                      </m:r>
                      <m:r>
                        <a:rPr lang="en-US" altLang="zh-TW" sz="2400" b="0" i="1" smtClean="0">
                          <a:solidFill>
                            <a:srgbClr val="0070C0"/>
                          </a:solidFill>
                          <a:latin typeface="Cambria Math" panose="02040503050406030204" pitchFamily="18" charset="0"/>
                        </a:rPr>
                        <m:t>[3:5]</m:t>
                      </m:r>
                      <m:r>
                        <a:rPr lang="en-US" altLang="zh-TW" sz="2400" b="0" i="1" smtClean="0">
                          <a:solidFill>
                            <a:srgbClr val="0070C0"/>
                          </a:solidFill>
                          <a:latin typeface="Cambria Math" panose="02040503050406030204" pitchFamily="18" charset="0"/>
                        </a:rPr>
                        <m:t>=</m:t>
                      </m:r>
                      <m:r>
                        <a:rPr lang="en-US" altLang="zh-TW" sz="2400" b="0" i="1" smtClean="0">
                          <a:solidFill>
                            <a:srgbClr val="0070C0"/>
                          </a:solidFill>
                          <a:latin typeface="Cambria Math" panose="02040503050406030204" pitchFamily="18" charset="0"/>
                        </a:rPr>
                        <m:t>𝑃</m:t>
                      </m:r>
                    </m:oMath>
                  </m:oMathPara>
                </a14:m>
                <a:endParaRPr lang="zh-TW" altLang="en-US" sz="2400" dirty="0">
                  <a:solidFill>
                    <a:srgbClr val="0070C0"/>
                  </a:solidFill>
                </a:endParaRPr>
              </a:p>
            </p:txBody>
          </p:sp>
        </mc:Choice>
        <mc:Fallback>
          <p:sp>
            <p:nvSpPr>
              <p:cNvPr id="7" name="矩形 6">
                <a:extLst>
                  <a:ext uri="{FF2B5EF4-FFF2-40B4-BE49-F238E27FC236}">
                    <a16:creationId xmlns:a16="http://schemas.microsoft.com/office/drawing/2014/main" id="{CB84F36C-056D-4EB7-8FB0-C4256A516743}"/>
                  </a:ext>
                </a:extLst>
              </p:cNvPr>
              <p:cNvSpPr>
                <a:spLocks noRot="1" noChangeAspect="1" noMove="1" noResize="1" noEditPoints="1" noAdjustHandles="1" noChangeArrowheads="1" noChangeShapeType="1" noTextEdit="1"/>
              </p:cNvSpPr>
              <p:nvPr/>
            </p:nvSpPr>
            <p:spPr>
              <a:xfrm>
                <a:off x="1344645" y="3816026"/>
                <a:ext cx="1729191" cy="461665"/>
              </a:xfrm>
              <a:prstGeom prst="rect">
                <a:avLst/>
              </a:prstGeom>
              <a:blipFill>
                <a:blip r:embed="rId6"/>
                <a:stretch>
                  <a:fillRect b="-17105"/>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21888962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a:extLst>
              <a:ext uri="{FF2B5EF4-FFF2-40B4-BE49-F238E27FC236}">
                <a16:creationId xmlns:a16="http://schemas.microsoft.com/office/drawing/2014/main" id="{01482047-C5BA-4C14-A83E-65B7E095C8D6}"/>
              </a:ext>
            </a:extLst>
          </p:cNvPr>
          <p:cNvSpPr>
            <a:spLocks noGrp="1"/>
          </p:cNvSpPr>
          <p:nvPr>
            <p:ph type="sldNum" sz="quarter" idx="12"/>
          </p:nvPr>
        </p:nvSpPr>
        <p:spPr/>
        <p:txBody>
          <a:bodyPr/>
          <a:lstStyle/>
          <a:p>
            <a:fld id="{872633CA-77E0-4863-94F8-E28139DFB2B4}" type="slidenum">
              <a:rPr lang="zh-TW" altLang="en-US" smtClean="0"/>
              <a:t>5</a:t>
            </a:fld>
            <a:endParaRPr lang="zh-TW" altLang="en-US"/>
          </a:p>
        </p:txBody>
      </p:sp>
      <p:sp>
        <p:nvSpPr>
          <p:cNvPr id="15" name="標題 1">
            <a:extLst>
              <a:ext uri="{FF2B5EF4-FFF2-40B4-BE49-F238E27FC236}">
                <a16:creationId xmlns:a16="http://schemas.microsoft.com/office/drawing/2014/main" id="{A9990B6E-C32F-4A96-940B-453E868CF6E8}"/>
              </a:ext>
            </a:extLst>
          </p:cNvPr>
          <p:cNvSpPr txBox="1">
            <a:spLocks/>
          </p:cNvSpPr>
          <p:nvPr/>
        </p:nvSpPr>
        <p:spPr>
          <a:xfrm>
            <a:off x="402232" y="305355"/>
            <a:ext cx="7886700" cy="74281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TW" sz="3600" dirty="0">
                <a:latin typeface="Times New Roman" panose="02020603050405020304" pitchFamily="18" charset="0"/>
                <a:cs typeface="Times New Roman" panose="02020603050405020304" pitchFamily="18" charset="0"/>
              </a:rPr>
              <a:t>Definition (2/2)</a:t>
            </a:r>
            <a:endParaRPr lang="zh-TW" altLang="en-US" sz="36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6" name="矩形 15">
                <a:extLst>
                  <a:ext uri="{FF2B5EF4-FFF2-40B4-BE49-F238E27FC236}">
                    <a16:creationId xmlns:a16="http://schemas.microsoft.com/office/drawing/2014/main" id="{8251FFCC-757A-4E43-BADE-BFDEC40CFB25}"/>
                  </a:ext>
                </a:extLst>
              </p:cNvPr>
              <p:cNvSpPr/>
              <p:nvPr/>
            </p:nvSpPr>
            <p:spPr>
              <a:xfrm>
                <a:off x="402232" y="1164320"/>
                <a:ext cx="7617818" cy="1261884"/>
              </a:xfrm>
              <a:prstGeom prst="rect">
                <a:avLst/>
              </a:prstGeom>
            </p:spPr>
            <p:txBody>
              <a:bodyPr wrap="square">
                <a:spAutoFit/>
              </a:bodyPr>
              <a:lstStyle/>
              <a:p>
                <a:r>
                  <a:rPr lang="en-US" altLang="zh-TW" sz="2800" b="1" dirty="0">
                    <a:latin typeface="Times New Roman" panose="02020603050405020304" pitchFamily="18" charset="0"/>
                  </a:rPr>
                  <a:t>Order-preserving matching problem: </a:t>
                </a:r>
              </a:p>
              <a:p>
                <a:r>
                  <a:rPr lang="en-US" altLang="zh-TW" sz="2400" dirty="0">
                    <a:latin typeface="Times New Roman" panose="02020603050405020304" pitchFamily="18" charset="0"/>
                  </a:rPr>
                  <a:t>Given text </a:t>
                </a:r>
                <a14:m>
                  <m:oMath xmlns:m="http://schemas.openxmlformats.org/officeDocument/2006/math">
                    <m:r>
                      <a:rPr lang="en-US" altLang="zh-TW" sz="2400" i="1" dirty="0" smtClean="0">
                        <a:latin typeface="Cambria Math" panose="02040503050406030204" pitchFamily="18" charset="0"/>
                      </a:rPr>
                      <m:t>𝑇</m:t>
                    </m:r>
                  </m:oMath>
                </a14:m>
                <a:r>
                  <a:rPr lang="en-US" altLang="zh-TW" sz="2400" dirty="0">
                    <a:latin typeface="Times New Roman" panose="02020603050405020304" pitchFamily="18" charset="0"/>
                  </a:rPr>
                  <a:t> and pattern </a:t>
                </a:r>
                <a14:m>
                  <m:oMath xmlns:m="http://schemas.openxmlformats.org/officeDocument/2006/math">
                    <m:r>
                      <a:rPr lang="en-US" altLang="zh-TW" sz="2400" i="1" dirty="0" smtClean="0">
                        <a:latin typeface="Cambria Math" panose="02040503050406030204" pitchFamily="18" charset="0"/>
                      </a:rPr>
                      <m:t>𝑃</m:t>
                    </m:r>
                    <m:r>
                      <a:rPr lang="en-US" altLang="zh-TW" sz="2400" b="0" i="1" dirty="0" smtClean="0">
                        <a:latin typeface="Cambria Math" panose="02040503050406030204" pitchFamily="18" charset="0"/>
                      </a:rPr>
                      <m:t>,</m:t>
                    </m:r>
                  </m:oMath>
                </a14:m>
                <a:r>
                  <a:rPr lang="en-US" altLang="zh-TW" sz="2400" dirty="0">
                    <a:latin typeface="Times New Roman" panose="02020603050405020304" pitchFamily="18" charset="0"/>
                  </a:rPr>
                  <a:t> find all substrings (factors) of </a:t>
                </a:r>
                <a14:m>
                  <m:oMath xmlns:m="http://schemas.openxmlformats.org/officeDocument/2006/math">
                    <m:r>
                      <a:rPr lang="en-US" altLang="zh-TW" sz="2400" b="0" i="1" dirty="0" smtClean="0">
                        <a:latin typeface="Cambria Math" panose="02040503050406030204" pitchFamily="18" charset="0"/>
                      </a:rPr>
                      <m:t>𝑇</m:t>
                    </m:r>
                  </m:oMath>
                </a14:m>
                <a:r>
                  <a:rPr lang="en-US" altLang="zh-TW" sz="2400" dirty="0">
                    <a:latin typeface="Times New Roman" panose="02020603050405020304" pitchFamily="18" charset="0"/>
                  </a:rPr>
                  <a:t> which are order-isomorphic with </a:t>
                </a:r>
                <a14:m>
                  <m:oMath xmlns:m="http://schemas.openxmlformats.org/officeDocument/2006/math">
                    <m:r>
                      <a:rPr lang="en-US" altLang="zh-TW" sz="2400" i="1" dirty="0" smtClean="0">
                        <a:latin typeface="Cambria Math" panose="02040503050406030204" pitchFamily="18" charset="0"/>
                      </a:rPr>
                      <m:t>𝑃</m:t>
                    </m:r>
                  </m:oMath>
                </a14:m>
                <a:endParaRPr lang="zh-TW" altLang="en-US" sz="2400" dirty="0">
                  <a:solidFill>
                    <a:srgbClr val="0070C0"/>
                  </a:solidFill>
                  <a:latin typeface="Times New Roman" panose="02020603050405020304" pitchFamily="18" charset="0"/>
                </a:endParaRPr>
              </a:p>
            </p:txBody>
          </p:sp>
        </mc:Choice>
        <mc:Fallback xmlns="">
          <p:sp>
            <p:nvSpPr>
              <p:cNvPr id="16" name="矩形 15">
                <a:extLst>
                  <a:ext uri="{FF2B5EF4-FFF2-40B4-BE49-F238E27FC236}">
                    <a16:creationId xmlns:a16="http://schemas.microsoft.com/office/drawing/2014/main" id="{8251FFCC-757A-4E43-BADE-BFDEC40CFB25}"/>
                  </a:ext>
                </a:extLst>
              </p:cNvPr>
              <p:cNvSpPr>
                <a:spLocks noRot="1" noChangeAspect="1" noMove="1" noResize="1" noEditPoints="1" noAdjustHandles="1" noChangeArrowheads="1" noChangeShapeType="1" noTextEdit="1"/>
              </p:cNvSpPr>
              <p:nvPr/>
            </p:nvSpPr>
            <p:spPr>
              <a:xfrm>
                <a:off x="402232" y="1164320"/>
                <a:ext cx="7617818" cy="1261884"/>
              </a:xfrm>
              <a:prstGeom prst="rect">
                <a:avLst/>
              </a:prstGeom>
              <a:blipFill>
                <a:blip r:embed="rId3"/>
                <a:stretch>
                  <a:fillRect l="-1680" t="-5314" b="-10145"/>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 name="矩形 1">
                <a:extLst>
                  <a:ext uri="{FF2B5EF4-FFF2-40B4-BE49-F238E27FC236}">
                    <a16:creationId xmlns:a16="http://schemas.microsoft.com/office/drawing/2014/main" id="{2037A9C5-E824-437E-B5CA-2F29BFD7A6B0}"/>
                  </a:ext>
                </a:extLst>
              </p:cNvPr>
              <p:cNvSpPr/>
              <p:nvPr/>
            </p:nvSpPr>
            <p:spPr>
              <a:xfrm>
                <a:off x="402231" y="2913560"/>
                <a:ext cx="7970243" cy="1261884"/>
              </a:xfrm>
              <a:prstGeom prst="rect">
                <a:avLst/>
              </a:prstGeom>
            </p:spPr>
            <p:txBody>
              <a:bodyPr wrap="square">
                <a:spAutoFit/>
              </a:bodyPr>
              <a:lstStyle/>
              <a:p>
                <a:r>
                  <a:rPr lang="en-US" altLang="zh-TW" sz="2800" b="1" dirty="0">
                    <a:latin typeface="Times New Roman" panose="02020603050405020304" pitchFamily="18" charset="0"/>
                  </a:rPr>
                  <a:t>Order-isomorphic strings</a:t>
                </a:r>
              </a:p>
              <a:p>
                <a:r>
                  <a:rPr lang="en-US" altLang="zh-TW" sz="2400" dirty="0">
                    <a:latin typeface="Times New Roman" panose="02020603050405020304" pitchFamily="18" charset="0"/>
                  </a:rPr>
                  <a:t>Two strings </a:t>
                </a:r>
                <a14:m>
                  <m:oMath xmlns:m="http://schemas.openxmlformats.org/officeDocument/2006/math">
                    <m:r>
                      <a:rPr lang="en-US" altLang="zh-TW" sz="2400" i="1" dirty="0" smtClean="0">
                        <a:latin typeface="Cambria Math" panose="02040503050406030204" pitchFamily="18" charset="0"/>
                      </a:rPr>
                      <m:t>𝑢</m:t>
                    </m:r>
                    <m:r>
                      <a:rPr lang="en-US" altLang="zh-TW" sz="2400" b="0" i="1" dirty="0" smtClean="0">
                        <a:latin typeface="Cambria Math" panose="02040503050406030204" pitchFamily="18" charset="0"/>
                      </a:rPr>
                      <m:t>=</m:t>
                    </m:r>
                    <m:sSub>
                      <m:sSubPr>
                        <m:ctrlPr>
                          <a:rPr lang="en-US" altLang="zh-TW" sz="2400" b="0" i="1" dirty="0" smtClean="0">
                            <a:latin typeface="Cambria Math" panose="02040503050406030204" pitchFamily="18" charset="0"/>
                          </a:rPr>
                        </m:ctrlPr>
                      </m:sSubPr>
                      <m:e>
                        <m:r>
                          <a:rPr lang="en-US" altLang="zh-TW" sz="2400" b="0" i="1" dirty="0" smtClean="0">
                            <a:latin typeface="Cambria Math" panose="02040503050406030204" pitchFamily="18" charset="0"/>
                          </a:rPr>
                          <m:t>𝑢</m:t>
                        </m:r>
                      </m:e>
                      <m:sub>
                        <m:r>
                          <a:rPr lang="en-US" altLang="zh-TW" sz="2400" b="0" i="1" dirty="0" smtClean="0">
                            <a:latin typeface="Cambria Math" panose="02040503050406030204" pitchFamily="18" charset="0"/>
                          </a:rPr>
                          <m:t>1</m:t>
                        </m:r>
                      </m:sub>
                    </m:sSub>
                    <m:sSub>
                      <m:sSubPr>
                        <m:ctrlPr>
                          <a:rPr lang="en-US" altLang="zh-TW" sz="2400" b="0" i="1" dirty="0" smtClean="0">
                            <a:latin typeface="Cambria Math" panose="02040503050406030204" pitchFamily="18" charset="0"/>
                          </a:rPr>
                        </m:ctrlPr>
                      </m:sSubPr>
                      <m:e>
                        <m:r>
                          <a:rPr lang="en-US" altLang="zh-TW" sz="2400" b="0" i="1" dirty="0" smtClean="0">
                            <a:latin typeface="Cambria Math" panose="02040503050406030204" pitchFamily="18" charset="0"/>
                          </a:rPr>
                          <m:t>𝑢</m:t>
                        </m:r>
                      </m:e>
                      <m:sub>
                        <m:r>
                          <a:rPr lang="en-US" altLang="zh-TW" sz="2400" b="0" i="1" dirty="0" smtClean="0">
                            <a:latin typeface="Cambria Math" panose="02040503050406030204" pitchFamily="18" charset="0"/>
                          </a:rPr>
                          <m:t>2</m:t>
                        </m:r>
                      </m:sub>
                    </m:sSub>
                    <m:r>
                      <a:rPr lang="en-US" altLang="zh-TW" sz="2400" b="0" i="1" dirty="0" smtClean="0">
                        <a:latin typeface="Cambria Math" panose="02040503050406030204" pitchFamily="18" charset="0"/>
                      </a:rPr>
                      <m:t>…</m:t>
                    </m:r>
                    <m:sSub>
                      <m:sSubPr>
                        <m:ctrlPr>
                          <a:rPr lang="en-US" altLang="zh-TW" sz="2400" b="0" i="1" dirty="0" smtClean="0">
                            <a:latin typeface="Cambria Math" panose="02040503050406030204" pitchFamily="18" charset="0"/>
                          </a:rPr>
                        </m:ctrlPr>
                      </m:sSubPr>
                      <m:e>
                        <m:r>
                          <a:rPr lang="en-US" altLang="zh-TW" sz="2400" b="0" i="1" dirty="0" smtClean="0">
                            <a:latin typeface="Cambria Math" panose="02040503050406030204" pitchFamily="18" charset="0"/>
                          </a:rPr>
                          <m:t>𝑢</m:t>
                        </m:r>
                      </m:e>
                      <m:sub>
                        <m:r>
                          <a:rPr lang="en-US" altLang="zh-TW" sz="2400" b="0" i="1" dirty="0" smtClean="0">
                            <a:latin typeface="Cambria Math" panose="02040503050406030204" pitchFamily="18" charset="0"/>
                          </a:rPr>
                          <m:t>𝑚</m:t>
                        </m:r>
                      </m:sub>
                    </m:sSub>
                  </m:oMath>
                </a14:m>
                <a:r>
                  <a:rPr lang="en-US" altLang="zh-TW" sz="2400" dirty="0">
                    <a:latin typeface="Times New Roman" panose="02020603050405020304" pitchFamily="18" charset="0"/>
                  </a:rPr>
                  <a:t> and </a:t>
                </a:r>
                <a14:m>
                  <m:oMath xmlns:m="http://schemas.openxmlformats.org/officeDocument/2006/math">
                    <m:r>
                      <a:rPr lang="en-US" altLang="zh-TW" sz="2400" i="1" dirty="0" smtClean="0">
                        <a:latin typeface="Cambria Math" panose="02040503050406030204" pitchFamily="18" charset="0"/>
                      </a:rPr>
                      <m:t>𝑣</m:t>
                    </m:r>
                    <m:r>
                      <a:rPr lang="en-US" altLang="zh-TW" sz="2400" b="0" i="1" dirty="0" smtClean="0">
                        <a:latin typeface="Cambria Math" panose="02040503050406030204" pitchFamily="18" charset="0"/>
                      </a:rPr>
                      <m:t>=</m:t>
                    </m:r>
                    <m:sSub>
                      <m:sSubPr>
                        <m:ctrlPr>
                          <a:rPr lang="en-US" altLang="zh-TW" sz="2400" b="0" i="1" dirty="0" smtClean="0">
                            <a:latin typeface="Cambria Math" panose="02040503050406030204" pitchFamily="18" charset="0"/>
                          </a:rPr>
                        </m:ctrlPr>
                      </m:sSubPr>
                      <m:e>
                        <m:r>
                          <a:rPr lang="en-US" altLang="zh-TW" sz="2400" b="0" i="1" dirty="0" smtClean="0">
                            <a:latin typeface="Cambria Math" panose="02040503050406030204" pitchFamily="18" charset="0"/>
                          </a:rPr>
                          <m:t>𝑣</m:t>
                        </m:r>
                      </m:e>
                      <m:sub>
                        <m:r>
                          <a:rPr lang="en-US" altLang="zh-TW" sz="2400" b="0" i="1" dirty="0" smtClean="0">
                            <a:latin typeface="Cambria Math" panose="02040503050406030204" pitchFamily="18" charset="0"/>
                          </a:rPr>
                          <m:t>1</m:t>
                        </m:r>
                      </m:sub>
                    </m:sSub>
                    <m:sSub>
                      <m:sSubPr>
                        <m:ctrlPr>
                          <a:rPr lang="en-US" altLang="zh-TW" sz="2400" b="0" i="1" dirty="0" smtClean="0">
                            <a:latin typeface="Cambria Math" panose="02040503050406030204" pitchFamily="18" charset="0"/>
                          </a:rPr>
                        </m:ctrlPr>
                      </m:sSubPr>
                      <m:e>
                        <m:r>
                          <a:rPr lang="en-US" altLang="zh-TW" sz="2400" b="0" i="1" dirty="0" smtClean="0">
                            <a:latin typeface="Cambria Math" panose="02040503050406030204" pitchFamily="18" charset="0"/>
                          </a:rPr>
                          <m:t>𝑣</m:t>
                        </m:r>
                      </m:e>
                      <m:sub>
                        <m:r>
                          <a:rPr lang="en-US" altLang="zh-TW" sz="2400" b="0" i="1" dirty="0" smtClean="0">
                            <a:latin typeface="Cambria Math" panose="02040503050406030204" pitchFamily="18" charset="0"/>
                          </a:rPr>
                          <m:t>2</m:t>
                        </m:r>
                      </m:sub>
                    </m:sSub>
                    <m:r>
                      <a:rPr lang="en-US" altLang="zh-TW" sz="2400" b="0" i="1" dirty="0" smtClean="0">
                        <a:latin typeface="Cambria Math" panose="02040503050406030204" pitchFamily="18" charset="0"/>
                      </a:rPr>
                      <m:t>…</m:t>
                    </m:r>
                    <m:sSub>
                      <m:sSubPr>
                        <m:ctrlPr>
                          <a:rPr lang="en-US" altLang="zh-TW" sz="2400" b="0" i="1" dirty="0" smtClean="0">
                            <a:latin typeface="Cambria Math" panose="02040503050406030204" pitchFamily="18" charset="0"/>
                          </a:rPr>
                        </m:ctrlPr>
                      </m:sSubPr>
                      <m:e>
                        <m:r>
                          <a:rPr lang="en-US" altLang="zh-TW" sz="2400" b="0" i="1" dirty="0" smtClean="0">
                            <a:latin typeface="Cambria Math" panose="02040503050406030204" pitchFamily="18" charset="0"/>
                          </a:rPr>
                          <m:t>𝑣</m:t>
                        </m:r>
                      </m:e>
                      <m:sub>
                        <m:r>
                          <a:rPr lang="en-US" altLang="zh-TW" sz="2400" b="0" i="1" dirty="0" smtClean="0">
                            <a:latin typeface="Cambria Math" panose="02040503050406030204" pitchFamily="18" charset="0"/>
                          </a:rPr>
                          <m:t>𝑚</m:t>
                        </m:r>
                      </m:sub>
                    </m:sSub>
                  </m:oMath>
                </a14:m>
                <a:r>
                  <a:rPr lang="en-US" altLang="zh-TW" sz="2400" dirty="0">
                    <a:latin typeface="Times New Roman" panose="02020603050405020304" pitchFamily="18" charset="0"/>
                  </a:rPr>
                  <a:t>, </a:t>
                </a:r>
              </a:p>
              <a:p>
                <a:r>
                  <a:rPr lang="en-US" altLang="zh-TW" sz="2400" dirty="0">
                    <a:latin typeface="Times New Roman" panose="02020603050405020304" pitchFamily="18" charset="0"/>
                  </a:rPr>
                  <a:t>they are order-isomorphic </a:t>
                </a:r>
                <a:r>
                  <a:rPr lang="en-US" altLang="zh-TW" sz="2400" dirty="0">
                    <a:solidFill>
                      <a:srgbClr val="0070C0"/>
                    </a:solidFill>
                    <a:latin typeface="Times New Roman" panose="02020603050405020304" pitchFamily="18" charset="0"/>
                  </a:rPr>
                  <a:t>(</a:t>
                </a:r>
                <a14:m>
                  <m:oMath xmlns:m="http://schemas.openxmlformats.org/officeDocument/2006/math">
                    <m:r>
                      <a:rPr lang="en-US" altLang="zh-TW" sz="2400" b="0" i="1" dirty="0" smtClean="0">
                        <a:solidFill>
                          <a:srgbClr val="0070C0"/>
                        </a:solidFill>
                        <a:latin typeface="Cambria Math" panose="02040503050406030204" pitchFamily="18" charset="0"/>
                      </a:rPr>
                      <m:t>𝑢</m:t>
                    </m:r>
                    <m:r>
                      <a:rPr lang="en-US" altLang="zh-TW" sz="2400" b="0" i="1" dirty="0" smtClean="0">
                        <a:solidFill>
                          <a:srgbClr val="0070C0"/>
                        </a:solidFill>
                        <a:latin typeface="Cambria Math" panose="02040503050406030204" pitchFamily="18" charset="0"/>
                        <a:ea typeface="Cambria Math" panose="02040503050406030204" pitchFamily="18" charset="0"/>
                      </a:rPr>
                      <m:t>≈</m:t>
                    </m:r>
                    <m:r>
                      <a:rPr lang="en-US" altLang="zh-TW" sz="2400" b="0" i="1" dirty="0" smtClean="0">
                        <a:solidFill>
                          <a:srgbClr val="0070C0"/>
                        </a:solidFill>
                        <a:latin typeface="Cambria Math" panose="02040503050406030204" pitchFamily="18" charset="0"/>
                        <a:ea typeface="Cambria Math" panose="02040503050406030204" pitchFamily="18" charset="0"/>
                      </a:rPr>
                      <m:t>𝑣</m:t>
                    </m:r>
                    <m:r>
                      <a:rPr lang="en-US" altLang="zh-TW" sz="2400" b="0" i="1" dirty="0" smtClean="0">
                        <a:solidFill>
                          <a:srgbClr val="0070C0"/>
                        </a:solidFill>
                        <a:latin typeface="Cambria Math" panose="02040503050406030204" pitchFamily="18" charset="0"/>
                        <a:ea typeface="Cambria Math" panose="02040503050406030204" pitchFamily="18" charset="0"/>
                      </a:rPr>
                      <m:t>)</m:t>
                    </m:r>
                  </m:oMath>
                </a14:m>
                <a:r>
                  <a:rPr lang="zh-TW" altLang="en-US" sz="2400" dirty="0">
                    <a:solidFill>
                      <a:srgbClr val="0070C0"/>
                    </a:solidFill>
                    <a:latin typeface="Times New Roman" panose="02020603050405020304" pitchFamily="18" charset="0"/>
                  </a:rPr>
                  <a:t> </a:t>
                </a:r>
                <a:r>
                  <a:rPr lang="en-US" altLang="zh-TW" sz="2400" dirty="0">
                    <a:latin typeface="Times New Roman" panose="02020603050405020304" pitchFamily="18" charset="0"/>
                  </a:rPr>
                  <a:t>if </a:t>
                </a:r>
                <a:endParaRPr lang="zh-TW" altLang="en-US" sz="2400" dirty="0">
                  <a:latin typeface="Times New Roman" panose="02020603050405020304" pitchFamily="18" charset="0"/>
                </a:endParaRPr>
              </a:p>
            </p:txBody>
          </p:sp>
        </mc:Choice>
        <mc:Fallback xmlns="">
          <p:sp>
            <p:nvSpPr>
              <p:cNvPr id="2" name="矩形 1">
                <a:extLst>
                  <a:ext uri="{FF2B5EF4-FFF2-40B4-BE49-F238E27FC236}">
                    <a16:creationId xmlns:a16="http://schemas.microsoft.com/office/drawing/2014/main" id="{2037A9C5-E824-437E-B5CA-2F29BFD7A6B0}"/>
                  </a:ext>
                </a:extLst>
              </p:cNvPr>
              <p:cNvSpPr>
                <a:spLocks noRot="1" noChangeAspect="1" noMove="1" noResize="1" noEditPoints="1" noAdjustHandles="1" noChangeArrowheads="1" noChangeShapeType="1" noTextEdit="1"/>
              </p:cNvSpPr>
              <p:nvPr/>
            </p:nvSpPr>
            <p:spPr>
              <a:xfrm>
                <a:off x="402231" y="2913560"/>
                <a:ext cx="7970243" cy="1261884"/>
              </a:xfrm>
              <a:prstGeom prst="rect">
                <a:avLst/>
              </a:prstGeom>
              <a:blipFill>
                <a:blip r:embed="rId4"/>
                <a:stretch>
                  <a:fillRect l="-1607" t="-5314" b="-10145"/>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9" name="矩形 8">
                <a:extLst>
                  <a:ext uri="{FF2B5EF4-FFF2-40B4-BE49-F238E27FC236}">
                    <a16:creationId xmlns:a16="http://schemas.microsoft.com/office/drawing/2014/main" id="{9C42DE9A-B368-4EB7-8718-759E807D1566}"/>
                  </a:ext>
                </a:extLst>
              </p:cNvPr>
              <p:cNvSpPr/>
              <p:nvPr/>
            </p:nvSpPr>
            <p:spPr>
              <a:xfrm>
                <a:off x="402232" y="4477843"/>
                <a:ext cx="7970243" cy="491417"/>
              </a:xfrm>
              <a:prstGeom prst="rect">
                <a:avLst/>
              </a:prstGeom>
            </p:spPr>
            <p:txBody>
              <a:bodyPr wrap="square">
                <a:spAutoFit/>
              </a:bodyPr>
              <a:lstStyle/>
              <a:p>
                <a:pPr algn="ctr"/>
                <a14:m>
                  <m:oMath xmlns:m="http://schemas.openxmlformats.org/officeDocument/2006/math">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𝑢</m:t>
                        </m:r>
                      </m:e>
                      <m:sub>
                        <m:r>
                          <a:rPr lang="en-US" altLang="zh-TW" sz="2400" b="0" i="1" smtClean="0">
                            <a:latin typeface="Cambria Math" panose="02040503050406030204" pitchFamily="18" charset="0"/>
                          </a:rPr>
                          <m:t>𝑖</m:t>
                        </m:r>
                      </m:sub>
                    </m:sSub>
                    <m:r>
                      <a:rPr lang="en-US" altLang="zh-TW" sz="2400" b="0" i="1" smtClean="0">
                        <a:latin typeface="Cambria Math" panose="02040503050406030204" pitchFamily="18" charset="0"/>
                      </a:rPr>
                      <m:t>≤</m:t>
                    </m:r>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𝑢</m:t>
                        </m:r>
                      </m:e>
                      <m:sub>
                        <m:r>
                          <a:rPr lang="en-US" altLang="zh-TW" sz="2400" b="0" i="1" smtClean="0">
                            <a:latin typeface="Cambria Math" panose="02040503050406030204" pitchFamily="18" charset="0"/>
                          </a:rPr>
                          <m:t>𝑗</m:t>
                        </m:r>
                      </m:sub>
                    </m:sSub>
                    <m:r>
                      <a:rPr lang="en-US" altLang="zh-TW" sz="2400" b="0" i="0" smtClean="0">
                        <a:latin typeface="Cambria Math" panose="02040503050406030204" pitchFamily="18" charset="0"/>
                      </a:rPr>
                      <m:t> </m:t>
                    </m:r>
                    <m:r>
                      <a:rPr lang="en-US" altLang="zh-TW" sz="2400" b="0" i="1" smtClean="0">
                        <a:latin typeface="Cambria Math" panose="02040503050406030204" pitchFamily="18" charset="0"/>
                        <a:ea typeface="Cambria Math" panose="02040503050406030204" pitchFamily="18" charset="0"/>
                      </a:rPr>
                      <m:t>⟺</m:t>
                    </m:r>
                    <m:sSub>
                      <m:sSubPr>
                        <m:ctrlPr>
                          <a:rPr lang="en-US" altLang="zh-TW" sz="2400" b="0" i="1" smtClean="0">
                            <a:latin typeface="Cambria Math" panose="02040503050406030204" pitchFamily="18" charset="0"/>
                            <a:ea typeface="Cambria Math" panose="02040503050406030204" pitchFamily="18" charset="0"/>
                          </a:rPr>
                        </m:ctrlPr>
                      </m:sSubPr>
                      <m:e>
                        <m:r>
                          <a:rPr lang="en-US" altLang="zh-TW" sz="2400" b="0" i="1" smtClean="0">
                            <a:latin typeface="Cambria Math" panose="02040503050406030204" pitchFamily="18" charset="0"/>
                            <a:ea typeface="Cambria Math" panose="02040503050406030204" pitchFamily="18" charset="0"/>
                          </a:rPr>
                          <m:t>𝑣</m:t>
                        </m:r>
                      </m:e>
                      <m:sub>
                        <m:r>
                          <a:rPr lang="en-US" altLang="zh-TW" sz="2400" b="0" i="1" smtClean="0">
                            <a:latin typeface="Cambria Math" panose="02040503050406030204" pitchFamily="18" charset="0"/>
                            <a:ea typeface="Cambria Math" panose="02040503050406030204" pitchFamily="18" charset="0"/>
                          </a:rPr>
                          <m:t>𝑖</m:t>
                        </m:r>
                      </m:sub>
                    </m:sSub>
                    <m:r>
                      <a:rPr lang="en-US" altLang="zh-TW" sz="2400" b="0" i="1" smtClean="0">
                        <a:latin typeface="Cambria Math" panose="02040503050406030204" pitchFamily="18" charset="0"/>
                        <a:ea typeface="Cambria Math" panose="02040503050406030204" pitchFamily="18" charset="0"/>
                      </a:rPr>
                      <m:t>≤</m:t>
                    </m:r>
                    <m:sSub>
                      <m:sSubPr>
                        <m:ctrlPr>
                          <a:rPr lang="en-US" altLang="zh-TW" sz="2400" b="0" i="1" smtClean="0">
                            <a:latin typeface="Cambria Math" panose="02040503050406030204" pitchFamily="18" charset="0"/>
                            <a:ea typeface="Cambria Math" panose="02040503050406030204" pitchFamily="18" charset="0"/>
                          </a:rPr>
                        </m:ctrlPr>
                      </m:sSubPr>
                      <m:e>
                        <m:r>
                          <a:rPr lang="en-US" altLang="zh-TW" sz="2400" b="0" i="1" smtClean="0">
                            <a:latin typeface="Cambria Math" panose="02040503050406030204" pitchFamily="18" charset="0"/>
                            <a:ea typeface="Cambria Math" panose="02040503050406030204" pitchFamily="18" charset="0"/>
                          </a:rPr>
                          <m:t>𝑣</m:t>
                        </m:r>
                      </m:e>
                      <m:sub>
                        <m:r>
                          <a:rPr lang="en-US" altLang="zh-TW" sz="2400" b="0" i="1" smtClean="0">
                            <a:latin typeface="Cambria Math" panose="02040503050406030204" pitchFamily="18" charset="0"/>
                            <a:ea typeface="Cambria Math" panose="02040503050406030204" pitchFamily="18" charset="0"/>
                          </a:rPr>
                          <m:t>𝑗</m:t>
                        </m:r>
                      </m:sub>
                    </m:sSub>
                    <m:r>
                      <a:rPr lang="en-US" altLang="zh-TW" sz="2400" b="0" i="1" smtClean="0">
                        <a:latin typeface="Cambria Math" panose="02040503050406030204" pitchFamily="18" charset="0"/>
                        <a:ea typeface="Cambria Math" panose="02040503050406030204" pitchFamily="18" charset="0"/>
                      </a:rPr>
                      <m:t>, </m:t>
                    </m:r>
                  </m:oMath>
                </a14:m>
                <a:r>
                  <a:rPr lang="en-US" altLang="zh-TW" sz="2400" dirty="0">
                    <a:latin typeface="Times New Roman" panose="02020603050405020304" pitchFamily="18" charset="0"/>
                  </a:rPr>
                  <a:t>for </a:t>
                </a:r>
                <a14:m>
                  <m:oMath xmlns:m="http://schemas.openxmlformats.org/officeDocument/2006/math">
                    <m:r>
                      <a:rPr lang="en-US" altLang="zh-TW" sz="2400" b="0" i="1" smtClean="0">
                        <a:latin typeface="Cambria Math" panose="02040503050406030204" pitchFamily="18" charset="0"/>
                      </a:rPr>
                      <m:t>1≤</m:t>
                    </m:r>
                    <m:r>
                      <a:rPr lang="en-US" altLang="zh-TW" sz="2400" b="0" i="1" smtClean="0">
                        <a:latin typeface="Cambria Math" panose="02040503050406030204" pitchFamily="18" charset="0"/>
                      </a:rPr>
                      <m:t>𝑖</m:t>
                    </m:r>
                    <m:r>
                      <a:rPr lang="en-US" altLang="zh-TW" sz="2400" b="0" i="1" smtClean="0">
                        <a:latin typeface="Cambria Math" panose="02040503050406030204" pitchFamily="18" charset="0"/>
                      </a:rPr>
                      <m:t>,</m:t>
                    </m:r>
                    <m:r>
                      <a:rPr lang="en-US" altLang="zh-TW" sz="2400" b="0" i="1" smtClean="0">
                        <a:latin typeface="Cambria Math" panose="02040503050406030204" pitchFamily="18" charset="0"/>
                      </a:rPr>
                      <m:t>𝑗</m:t>
                    </m:r>
                    <m:r>
                      <a:rPr lang="en-US" altLang="zh-TW" sz="2400" b="0" i="1" smtClean="0">
                        <a:latin typeface="Cambria Math" panose="02040503050406030204" pitchFamily="18" charset="0"/>
                      </a:rPr>
                      <m:t>≤</m:t>
                    </m:r>
                    <m:r>
                      <a:rPr lang="en-US" altLang="zh-TW" sz="2400" b="0" i="1" smtClean="0">
                        <a:latin typeface="Cambria Math" panose="02040503050406030204" pitchFamily="18" charset="0"/>
                      </a:rPr>
                      <m:t>𝑚</m:t>
                    </m:r>
                  </m:oMath>
                </a14:m>
                <a:r>
                  <a:rPr lang="en-US" altLang="zh-TW" sz="2400" dirty="0">
                    <a:latin typeface="Times New Roman" panose="02020603050405020304" pitchFamily="18" charset="0"/>
                  </a:rPr>
                  <a:t> </a:t>
                </a:r>
              </a:p>
            </p:txBody>
          </p:sp>
        </mc:Choice>
        <mc:Fallback xmlns="">
          <p:sp>
            <p:nvSpPr>
              <p:cNvPr id="9" name="矩形 8">
                <a:extLst>
                  <a:ext uri="{FF2B5EF4-FFF2-40B4-BE49-F238E27FC236}">
                    <a16:creationId xmlns:a16="http://schemas.microsoft.com/office/drawing/2014/main" id="{9C42DE9A-B368-4EB7-8718-759E807D1566}"/>
                  </a:ext>
                </a:extLst>
              </p:cNvPr>
              <p:cNvSpPr>
                <a:spLocks noRot="1" noChangeAspect="1" noMove="1" noResize="1" noEditPoints="1" noAdjustHandles="1" noChangeArrowheads="1" noChangeShapeType="1" noTextEdit="1"/>
              </p:cNvSpPr>
              <p:nvPr/>
            </p:nvSpPr>
            <p:spPr>
              <a:xfrm>
                <a:off x="402232" y="4477843"/>
                <a:ext cx="7970243" cy="491417"/>
              </a:xfrm>
              <a:prstGeom prst="rect">
                <a:avLst/>
              </a:prstGeom>
              <a:blipFill>
                <a:blip r:embed="rId5"/>
                <a:stretch>
                  <a:fillRect t="-10000" b="-22500"/>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4309969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a:extLst>
              <a:ext uri="{FF2B5EF4-FFF2-40B4-BE49-F238E27FC236}">
                <a16:creationId xmlns:a16="http://schemas.microsoft.com/office/drawing/2014/main" id="{01482047-C5BA-4C14-A83E-65B7E095C8D6}"/>
              </a:ext>
            </a:extLst>
          </p:cNvPr>
          <p:cNvSpPr>
            <a:spLocks noGrp="1"/>
          </p:cNvSpPr>
          <p:nvPr>
            <p:ph type="sldNum" sz="quarter" idx="12"/>
          </p:nvPr>
        </p:nvSpPr>
        <p:spPr/>
        <p:txBody>
          <a:bodyPr/>
          <a:lstStyle/>
          <a:p>
            <a:fld id="{872633CA-77E0-4863-94F8-E28139DFB2B4}" type="slidenum">
              <a:rPr lang="zh-TW" altLang="en-US" smtClean="0"/>
              <a:t>6</a:t>
            </a:fld>
            <a:endParaRPr lang="zh-TW" altLang="en-US"/>
          </a:p>
        </p:txBody>
      </p:sp>
      <p:sp>
        <p:nvSpPr>
          <p:cNvPr id="15" name="標題 1">
            <a:extLst>
              <a:ext uri="{FF2B5EF4-FFF2-40B4-BE49-F238E27FC236}">
                <a16:creationId xmlns:a16="http://schemas.microsoft.com/office/drawing/2014/main" id="{A9990B6E-C32F-4A96-940B-453E868CF6E8}"/>
              </a:ext>
            </a:extLst>
          </p:cNvPr>
          <p:cNvSpPr txBox="1">
            <a:spLocks/>
          </p:cNvSpPr>
          <p:nvPr/>
        </p:nvSpPr>
        <p:spPr>
          <a:xfrm>
            <a:off x="402232" y="305355"/>
            <a:ext cx="7886700" cy="74281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TW" sz="3600" dirty="0">
                <a:latin typeface="Times New Roman" panose="02020603050405020304" pitchFamily="18" charset="0"/>
                <a:cs typeface="Times New Roman" panose="02020603050405020304" pitchFamily="18" charset="0"/>
              </a:rPr>
              <a:t>Example</a:t>
            </a:r>
            <a:endParaRPr lang="zh-TW" altLang="en-US" sz="3600" dirty="0">
              <a:latin typeface="Times New Roman" panose="02020603050405020304" pitchFamily="18" charset="0"/>
              <a:cs typeface="Times New Roman" panose="02020603050405020304" pitchFamily="18" charset="0"/>
            </a:endParaRPr>
          </a:p>
        </p:txBody>
      </p:sp>
      <p:graphicFrame>
        <p:nvGraphicFramePr>
          <p:cNvPr id="13" name="圖表 12">
            <a:extLst>
              <a:ext uri="{FF2B5EF4-FFF2-40B4-BE49-F238E27FC236}">
                <a16:creationId xmlns:a16="http://schemas.microsoft.com/office/drawing/2014/main" id="{092E3017-EF43-449F-ABB5-B9C1FAE7129F}"/>
              </a:ext>
            </a:extLst>
          </p:cNvPr>
          <p:cNvGraphicFramePr/>
          <p:nvPr>
            <p:extLst>
              <p:ext uri="{D42A27DB-BD31-4B8C-83A1-F6EECF244321}">
                <p14:modId xmlns:p14="http://schemas.microsoft.com/office/powerpoint/2010/main" val="3041381436"/>
              </p:ext>
            </p:extLst>
          </p:nvPr>
        </p:nvGraphicFramePr>
        <p:xfrm>
          <a:off x="1883568" y="2771775"/>
          <a:ext cx="5376864" cy="3584576"/>
        </p:xfrm>
        <a:graphic>
          <a:graphicData uri="http://schemas.openxmlformats.org/drawingml/2006/chart">
            <c:chart xmlns:c="http://schemas.openxmlformats.org/drawingml/2006/chart" xmlns:r="http://schemas.openxmlformats.org/officeDocument/2006/relationships" r:id="rId3"/>
          </a:graphicData>
        </a:graphic>
      </p:graphicFrame>
      <mc:AlternateContent xmlns:mc="http://schemas.openxmlformats.org/markup-compatibility/2006">
        <mc:Choice xmlns:a14="http://schemas.microsoft.com/office/drawing/2010/main" Requires="a14">
          <p:sp>
            <p:nvSpPr>
              <p:cNvPr id="11" name="矩形 10">
                <a:extLst>
                  <a:ext uri="{FF2B5EF4-FFF2-40B4-BE49-F238E27FC236}">
                    <a16:creationId xmlns:a16="http://schemas.microsoft.com/office/drawing/2014/main" id="{60725B62-62DF-41ED-B2D3-411BA1A9B8ED}"/>
                  </a:ext>
                </a:extLst>
              </p:cNvPr>
              <p:cNvSpPr/>
              <p:nvPr/>
            </p:nvSpPr>
            <p:spPr>
              <a:xfrm>
                <a:off x="3835676" y="617973"/>
                <a:ext cx="1614545" cy="40011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TW" sz="2000" b="0" i="1" smtClean="0">
                          <a:solidFill>
                            <a:srgbClr val="0070C0"/>
                          </a:solidFill>
                          <a:latin typeface="Cambria Math" panose="02040503050406030204" pitchFamily="18" charset="0"/>
                        </a:rPr>
                        <m:t>𝑇</m:t>
                      </m:r>
                      <m:d>
                        <m:dPr>
                          <m:begChr m:val="["/>
                          <m:endChr m:val="]"/>
                          <m:ctrlPr>
                            <a:rPr lang="en-US" altLang="zh-TW" sz="2000" b="0" i="1" smtClean="0">
                              <a:solidFill>
                                <a:srgbClr val="0070C0"/>
                              </a:solidFill>
                              <a:latin typeface="Cambria Math" panose="02040503050406030204" pitchFamily="18" charset="0"/>
                            </a:rPr>
                          </m:ctrlPr>
                        </m:dPr>
                        <m:e>
                          <m:r>
                            <a:rPr lang="en-US" altLang="zh-TW" sz="2000" b="0" i="1" smtClean="0">
                              <a:solidFill>
                                <a:srgbClr val="0070C0"/>
                              </a:solidFill>
                              <a:latin typeface="Cambria Math" panose="02040503050406030204" pitchFamily="18" charset="0"/>
                            </a:rPr>
                            <m:t>4:10</m:t>
                          </m:r>
                        </m:e>
                      </m:d>
                      <m:r>
                        <a:rPr lang="en-US" altLang="zh-TW" sz="2000" b="0" i="1" smtClean="0">
                          <a:solidFill>
                            <a:srgbClr val="0070C0"/>
                          </a:solidFill>
                          <a:latin typeface="Cambria Math" panose="02040503050406030204" pitchFamily="18" charset="0"/>
                        </a:rPr>
                        <m:t>≈</m:t>
                      </m:r>
                      <m:r>
                        <a:rPr lang="en-US" altLang="zh-TW" sz="2000" b="0" i="1" smtClean="0">
                          <a:solidFill>
                            <a:srgbClr val="0070C0"/>
                          </a:solidFill>
                          <a:latin typeface="Cambria Math" panose="02040503050406030204" pitchFamily="18" charset="0"/>
                        </a:rPr>
                        <m:t>𝑃</m:t>
                      </m:r>
                    </m:oMath>
                  </m:oMathPara>
                </a14:m>
                <a:endParaRPr lang="zh-TW" altLang="en-US" sz="2000" dirty="0">
                  <a:solidFill>
                    <a:srgbClr val="0070C0"/>
                  </a:solidFill>
                </a:endParaRPr>
              </a:p>
            </p:txBody>
          </p:sp>
        </mc:Choice>
        <mc:Fallback>
          <p:sp>
            <p:nvSpPr>
              <p:cNvPr id="11" name="矩形 10">
                <a:extLst>
                  <a:ext uri="{FF2B5EF4-FFF2-40B4-BE49-F238E27FC236}">
                    <a16:creationId xmlns:a16="http://schemas.microsoft.com/office/drawing/2014/main" id="{60725B62-62DF-41ED-B2D3-411BA1A9B8ED}"/>
                  </a:ext>
                </a:extLst>
              </p:cNvPr>
              <p:cNvSpPr>
                <a:spLocks noRot="1" noChangeAspect="1" noMove="1" noResize="1" noEditPoints="1" noAdjustHandles="1" noChangeArrowheads="1" noChangeShapeType="1" noTextEdit="1"/>
              </p:cNvSpPr>
              <p:nvPr/>
            </p:nvSpPr>
            <p:spPr>
              <a:xfrm>
                <a:off x="3835676" y="617973"/>
                <a:ext cx="1614545" cy="400110"/>
              </a:xfrm>
              <a:prstGeom prst="rect">
                <a:avLst/>
              </a:prstGeom>
              <a:blipFill>
                <a:blip r:embed="rId4"/>
                <a:stretch>
                  <a:fillRect/>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graphicFrame>
            <p:nvGraphicFramePr>
              <p:cNvPr id="34" name="表格 33">
                <a:extLst>
                  <a:ext uri="{FF2B5EF4-FFF2-40B4-BE49-F238E27FC236}">
                    <a16:creationId xmlns:a16="http://schemas.microsoft.com/office/drawing/2014/main" id="{EF6725E2-9AFF-46A0-88E3-30969D79B617}"/>
                  </a:ext>
                </a:extLst>
              </p:cNvPr>
              <p:cNvGraphicFramePr>
                <a:graphicFrameLocks noGrp="1"/>
              </p:cNvGraphicFramePr>
              <p:nvPr>
                <p:extLst>
                  <p:ext uri="{D42A27DB-BD31-4B8C-83A1-F6EECF244321}">
                    <p14:modId xmlns:p14="http://schemas.microsoft.com/office/powerpoint/2010/main" val="1460297647"/>
                  </p:ext>
                </p:extLst>
              </p:nvPr>
            </p:nvGraphicFramePr>
            <p:xfrm>
              <a:off x="596038" y="1080348"/>
              <a:ext cx="7560000" cy="518160"/>
            </p:xfrm>
            <a:graphic>
              <a:graphicData uri="http://schemas.openxmlformats.org/drawingml/2006/table">
                <a:tbl>
                  <a:tblPr firstRow="1" bandRow="1">
                    <a:tableStyleId>{5940675A-B579-460E-94D1-54222C63F5DA}</a:tableStyleId>
                  </a:tblPr>
                  <a:tblGrid>
                    <a:gridCol w="540000">
                      <a:extLst>
                        <a:ext uri="{9D8B030D-6E8A-4147-A177-3AD203B41FA5}">
                          <a16:colId xmlns:a16="http://schemas.microsoft.com/office/drawing/2014/main" val="106444939"/>
                        </a:ext>
                      </a:extLst>
                    </a:gridCol>
                    <a:gridCol w="540000">
                      <a:extLst>
                        <a:ext uri="{9D8B030D-6E8A-4147-A177-3AD203B41FA5}">
                          <a16:colId xmlns:a16="http://schemas.microsoft.com/office/drawing/2014/main" val="3438003960"/>
                        </a:ext>
                      </a:extLst>
                    </a:gridCol>
                    <a:gridCol w="540000">
                      <a:extLst>
                        <a:ext uri="{9D8B030D-6E8A-4147-A177-3AD203B41FA5}">
                          <a16:colId xmlns:a16="http://schemas.microsoft.com/office/drawing/2014/main" val="1539556327"/>
                        </a:ext>
                      </a:extLst>
                    </a:gridCol>
                    <a:gridCol w="540000">
                      <a:extLst>
                        <a:ext uri="{9D8B030D-6E8A-4147-A177-3AD203B41FA5}">
                          <a16:colId xmlns:a16="http://schemas.microsoft.com/office/drawing/2014/main" val="1393179428"/>
                        </a:ext>
                      </a:extLst>
                    </a:gridCol>
                    <a:gridCol w="540000">
                      <a:extLst>
                        <a:ext uri="{9D8B030D-6E8A-4147-A177-3AD203B41FA5}">
                          <a16:colId xmlns:a16="http://schemas.microsoft.com/office/drawing/2014/main" val="3965888546"/>
                        </a:ext>
                      </a:extLst>
                    </a:gridCol>
                    <a:gridCol w="540000">
                      <a:extLst>
                        <a:ext uri="{9D8B030D-6E8A-4147-A177-3AD203B41FA5}">
                          <a16:colId xmlns:a16="http://schemas.microsoft.com/office/drawing/2014/main" val="82904498"/>
                        </a:ext>
                      </a:extLst>
                    </a:gridCol>
                    <a:gridCol w="540000">
                      <a:extLst>
                        <a:ext uri="{9D8B030D-6E8A-4147-A177-3AD203B41FA5}">
                          <a16:colId xmlns:a16="http://schemas.microsoft.com/office/drawing/2014/main" val="2214715668"/>
                        </a:ext>
                      </a:extLst>
                    </a:gridCol>
                    <a:gridCol w="540000">
                      <a:extLst>
                        <a:ext uri="{9D8B030D-6E8A-4147-A177-3AD203B41FA5}">
                          <a16:colId xmlns:a16="http://schemas.microsoft.com/office/drawing/2014/main" val="777121050"/>
                        </a:ext>
                      </a:extLst>
                    </a:gridCol>
                    <a:gridCol w="540000">
                      <a:extLst>
                        <a:ext uri="{9D8B030D-6E8A-4147-A177-3AD203B41FA5}">
                          <a16:colId xmlns:a16="http://schemas.microsoft.com/office/drawing/2014/main" val="2140332791"/>
                        </a:ext>
                      </a:extLst>
                    </a:gridCol>
                    <a:gridCol w="540000">
                      <a:extLst>
                        <a:ext uri="{9D8B030D-6E8A-4147-A177-3AD203B41FA5}">
                          <a16:colId xmlns:a16="http://schemas.microsoft.com/office/drawing/2014/main" val="1910247371"/>
                        </a:ext>
                      </a:extLst>
                    </a:gridCol>
                    <a:gridCol w="540000">
                      <a:extLst>
                        <a:ext uri="{9D8B030D-6E8A-4147-A177-3AD203B41FA5}">
                          <a16:colId xmlns:a16="http://schemas.microsoft.com/office/drawing/2014/main" val="3804762709"/>
                        </a:ext>
                      </a:extLst>
                    </a:gridCol>
                    <a:gridCol w="540000">
                      <a:extLst>
                        <a:ext uri="{9D8B030D-6E8A-4147-A177-3AD203B41FA5}">
                          <a16:colId xmlns:a16="http://schemas.microsoft.com/office/drawing/2014/main" val="354420647"/>
                        </a:ext>
                      </a:extLst>
                    </a:gridCol>
                    <a:gridCol w="540000">
                      <a:extLst>
                        <a:ext uri="{9D8B030D-6E8A-4147-A177-3AD203B41FA5}">
                          <a16:colId xmlns:a16="http://schemas.microsoft.com/office/drawing/2014/main" val="4131807763"/>
                        </a:ext>
                      </a:extLst>
                    </a:gridCol>
                    <a:gridCol w="540000">
                      <a:extLst>
                        <a:ext uri="{9D8B030D-6E8A-4147-A177-3AD203B41FA5}">
                          <a16:colId xmlns:a16="http://schemas.microsoft.com/office/drawing/2014/main" val="2190297588"/>
                        </a:ext>
                      </a:extLst>
                    </a:gridCol>
                  </a:tblGrid>
                  <a:tr h="229371">
                    <a:tc>
                      <a:txBody>
                        <a:bodyPr/>
                        <a:lstStyle/>
                        <a:p>
                          <a:pPr algn="ctr"/>
                          <a14:m>
                            <m:oMath xmlns:m="http://schemas.openxmlformats.org/officeDocument/2006/math">
                              <m:r>
                                <a:rPr lang="en-US" altLang="zh-TW" sz="2800" b="0" i="1" dirty="0" smtClean="0">
                                  <a:solidFill>
                                    <a:srgbClr val="002060"/>
                                  </a:solidFill>
                                  <a:latin typeface="Cambria Math" panose="02040503050406030204" pitchFamily="18" charset="0"/>
                                  <a:cs typeface="Times New Roman" panose="02020603050405020304" pitchFamily="18" charset="0"/>
                                </a:rPr>
                                <m:t>𝑇</m:t>
                              </m:r>
                            </m:oMath>
                          </a14:m>
                          <a:r>
                            <a:rPr lang="en-US" altLang="zh-TW" sz="2800" dirty="0">
                              <a:solidFill>
                                <a:srgbClr val="002060"/>
                              </a:solidFill>
                              <a:latin typeface="Times New Roman" panose="02020603050405020304" pitchFamily="18" charset="0"/>
                              <a:cs typeface="Times New Roman" panose="02020603050405020304" pitchFamily="18" charset="0"/>
                            </a:rPr>
                            <a: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22</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85</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79</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24</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42</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27</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62</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40</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32</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47</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69</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55</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25</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706415246"/>
                      </a:ext>
                    </a:extLst>
                  </a:tr>
                </a:tbl>
              </a:graphicData>
            </a:graphic>
          </p:graphicFrame>
        </mc:Choice>
        <mc:Fallback>
          <p:graphicFrame>
            <p:nvGraphicFramePr>
              <p:cNvPr id="34" name="表格 33">
                <a:extLst>
                  <a:ext uri="{FF2B5EF4-FFF2-40B4-BE49-F238E27FC236}">
                    <a16:creationId xmlns:a16="http://schemas.microsoft.com/office/drawing/2014/main" id="{EF6725E2-9AFF-46A0-88E3-30969D79B617}"/>
                  </a:ext>
                </a:extLst>
              </p:cNvPr>
              <p:cNvGraphicFramePr>
                <a:graphicFrameLocks noGrp="1"/>
              </p:cNvGraphicFramePr>
              <p:nvPr>
                <p:extLst>
                  <p:ext uri="{D42A27DB-BD31-4B8C-83A1-F6EECF244321}">
                    <p14:modId xmlns:p14="http://schemas.microsoft.com/office/powerpoint/2010/main" val="1460297647"/>
                  </p:ext>
                </p:extLst>
              </p:nvPr>
            </p:nvGraphicFramePr>
            <p:xfrm>
              <a:off x="596038" y="1080348"/>
              <a:ext cx="7560000" cy="518160"/>
            </p:xfrm>
            <a:graphic>
              <a:graphicData uri="http://schemas.openxmlformats.org/drawingml/2006/table">
                <a:tbl>
                  <a:tblPr firstRow="1" bandRow="1">
                    <a:tableStyleId>{5940675A-B579-460E-94D1-54222C63F5DA}</a:tableStyleId>
                  </a:tblPr>
                  <a:tblGrid>
                    <a:gridCol w="540000">
                      <a:extLst>
                        <a:ext uri="{9D8B030D-6E8A-4147-A177-3AD203B41FA5}">
                          <a16:colId xmlns:a16="http://schemas.microsoft.com/office/drawing/2014/main" val="106444939"/>
                        </a:ext>
                      </a:extLst>
                    </a:gridCol>
                    <a:gridCol w="540000">
                      <a:extLst>
                        <a:ext uri="{9D8B030D-6E8A-4147-A177-3AD203B41FA5}">
                          <a16:colId xmlns:a16="http://schemas.microsoft.com/office/drawing/2014/main" val="3438003960"/>
                        </a:ext>
                      </a:extLst>
                    </a:gridCol>
                    <a:gridCol w="540000">
                      <a:extLst>
                        <a:ext uri="{9D8B030D-6E8A-4147-A177-3AD203B41FA5}">
                          <a16:colId xmlns:a16="http://schemas.microsoft.com/office/drawing/2014/main" val="1539556327"/>
                        </a:ext>
                      </a:extLst>
                    </a:gridCol>
                    <a:gridCol w="540000">
                      <a:extLst>
                        <a:ext uri="{9D8B030D-6E8A-4147-A177-3AD203B41FA5}">
                          <a16:colId xmlns:a16="http://schemas.microsoft.com/office/drawing/2014/main" val="1393179428"/>
                        </a:ext>
                      </a:extLst>
                    </a:gridCol>
                    <a:gridCol w="540000">
                      <a:extLst>
                        <a:ext uri="{9D8B030D-6E8A-4147-A177-3AD203B41FA5}">
                          <a16:colId xmlns:a16="http://schemas.microsoft.com/office/drawing/2014/main" val="3965888546"/>
                        </a:ext>
                      </a:extLst>
                    </a:gridCol>
                    <a:gridCol w="540000">
                      <a:extLst>
                        <a:ext uri="{9D8B030D-6E8A-4147-A177-3AD203B41FA5}">
                          <a16:colId xmlns:a16="http://schemas.microsoft.com/office/drawing/2014/main" val="82904498"/>
                        </a:ext>
                      </a:extLst>
                    </a:gridCol>
                    <a:gridCol w="540000">
                      <a:extLst>
                        <a:ext uri="{9D8B030D-6E8A-4147-A177-3AD203B41FA5}">
                          <a16:colId xmlns:a16="http://schemas.microsoft.com/office/drawing/2014/main" val="2214715668"/>
                        </a:ext>
                      </a:extLst>
                    </a:gridCol>
                    <a:gridCol w="540000">
                      <a:extLst>
                        <a:ext uri="{9D8B030D-6E8A-4147-A177-3AD203B41FA5}">
                          <a16:colId xmlns:a16="http://schemas.microsoft.com/office/drawing/2014/main" val="777121050"/>
                        </a:ext>
                      </a:extLst>
                    </a:gridCol>
                    <a:gridCol w="540000">
                      <a:extLst>
                        <a:ext uri="{9D8B030D-6E8A-4147-A177-3AD203B41FA5}">
                          <a16:colId xmlns:a16="http://schemas.microsoft.com/office/drawing/2014/main" val="2140332791"/>
                        </a:ext>
                      </a:extLst>
                    </a:gridCol>
                    <a:gridCol w="540000">
                      <a:extLst>
                        <a:ext uri="{9D8B030D-6E8A-4147-A177-3AD203B41FA5}">
                          <a16:colId xmlns:a16="http://schemas.microsoft.com/office/drawing/2014/main" val="1910247371"/>
                        </a:ext>
                      </a:extLst>
                    </a:gridCol>
                    <a:gridCol w="540000">
                      <a:extLst>
                        <a:ext uri="{9D8B030D-6E8A-4147-A177-3AD203B41FA5}">
                          <a16:colId xmlns:a16="http://schemas.microsoft.com/office/drawing/2014/main" val="3804762709"/>
                        </a:ext>
                      </a:extLst>
                    </a:gridCol>
                    <a:gridCol w="540000">
                      <a:extLst>
                        <a:ext uri="{9D8B030D-6E8A-4147-A177-3AD203B41FA5}">
                          <a16:colId xmlns:a16="http://schemas.microsoft.com/office/drawing/2014/main" val="354420647"/>
                        </a:ext>
                      </a:extLst>
                    </a:gridCol>
                    <a:gridCol w="540000">
                      <a:extLst>
                        <a:ext uri="{9D8B030D-6E8A-4147-A177-3AD203B41FA5}">
                          <a16:colId xmlns:a16="http://schemas.microsoft.com/office/drawing/2014/main" val="4131807763"/>
                        </a:ext>
                      </a:extLst>
                    </a:gridCol>
                    <a:gridCol w="540000">
                      <a:extLst>
                        <a:ext uri="{9D8B030D-6E8A-4147-A177-3AD203B41FA5}">
                          <a16:colId xmlns:a16="http://schemas.microsoft.com/office/drawing/2014/main" val="2190297588"/>
                        </a:ext>
                      </a:extLst>
                    </a:gridCol>
                  </a:tblGrid>
                  <a:tr h="518160">
                    <a:tc>
                      <a:txBody>
                        <a:bodyPr/>
                        <a:lstStyle/>
                        <a:p>
                          <a:endParaRPr lang="zh-TW"/>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blipFill>
                          <a:blip r:embed="rId5"/>
                          <a:stretch>
                            <a:fillRect t="-11628" r="-1294382" b="-31395"/>
                          </a:stretch>
                        </a:blip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22</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85</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79</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24</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42</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27</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62</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40</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32</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47</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69</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55</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25</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706415246"/>
                      </a:ext>
                    </a:extLst>
                  </a:tr>
                </a:tbl>
              </a:graphicData>
            </a:graphic>
          </p:graphicFrame>
        </mc:Fallback>
      </mc:AlternateContent>
      <mc:AlternateContent xmlns:mc="http://schemas.openxmlformats.org/markup-compatibility/2006">
        <mc:Choice xmlns:a14="http://schemas.microsoft.com/office/drawing/2010/main" Requires="a14">
          <p:graphicFrame>
            <p:nvGraphicFramePr>
              <p:cNvPr id="35" name="表格 34">
                <a:extLst>
                  <a:ext uri="{FF2B5EF4-FFF2-40B4-BE49-F238E27FC236}">
                    <a16:creationId xmlns:a16="http://schemas.microsoft.com/office/drawing/2014/main" id="{0AC84F35-EEA7-44D1-B892-FBEC8DE654C3}"/>
                  </a:ext>
                </a:extLst>
              </p:cNvPr>
              <p:cNvGraphicFramePr>
                <a:graphicFrameLocks noGrp="1"/>
              </p:cNvGraphicFramePr>
              <p:nvPr>
                <p:extLst>
                  <p:ext uri="{D42A27DB-BD31-4B8C-83A1-F6EECF244321}">
                    <p14:modId xmlns:p14="http://schemas.microsoft.com/office/powerpoint/2010/main" val="3052768744"/>
                  </p:ext>
                </p:extLst>
              </p:nvPr>
            </p:nvGraphicFramePr>
            <p:xfrm>
              <a:off x="596038" y="1762549"/>
              <a:ext cx="7560000" cy="518160"/>
            </p:xfrm>
            <a:graphic>
              <a:graphicData uri="http://schemas.openxmlformats.org/drawingml/2006/table">
                <a:tbl>
                  <a:tblPr firstRow="1" bandRow="1">
                    <a:tableStyleId>{5940675A-B579-460E-94D1-54222C63F5DA}</a:tableStyleId>
                  </a:tblPr>
                  <a:tblGrid>
                    <a:gridCol w="540000">
                      <a:extLst>
                        <a:ext uri="{9D8B030D-6E8A-4147-A177-3AD203B41FA5}">
                          <a16:colId xmlns:a16="http://schemas.microsoft.com/office/drawing/2014/main" val="106444939"/>
                        </a:ext>
                      </a:extLst>
                    </a:gridCol>
                    <a:gridCol w="540000">
                      <a:extLst>
                        <a:ext uri="{9D8B030D-6E8A-4147-A177-3AD203B41FA5}">
                          <a16:colId xmlns:a16="http://schemas.microsoft.com/office/drawing/2014/main" val="3438003960"/>
                        </a:ext>
                      </a:extLst>
                    </a:gridCol>
                    <a:gridCol w="540000">
                      <a:extLst>
                        <a:ext uri="{9D8B030D-6E8A-4147-A177-3AD203B41FA5}">
                          <a16:colId xmlns:a16="http://schemas.microsoft.com/office/drawing/2014/main" val="1539556327"/>
                        </a:ext>
                      </a:extLst>
                    </a:gridCol>
                    <a:gridCol w="540000">
                      <a:extLst>
                        <a:ext uri="{9D8B030D-6E8A-4147-A177-3AD203B41FA5}">
                          <a16:colId xmlns:a16="http://schemas.microsoft.com/office/drawing/2014/main" val="1393179428"/>
                        </a:ext>
                      </a:extLst>
                    </a:gridCol>
                    <a:gridCol w="540000">
                      <a:extLst>
                        <a:ext uri="{9D8B030D-6E8A-4147-A177-3AD203B41FA5}">
                          <a16:colId xmlns:a16="http://schemas.microsoft.com/office/drawing/2014/main" val="3965888546"/>
                        </a:ext>
                      </a:extLst>
                    </a:gridCol>
                    <a:gridCol w="540000">
                      <a:extLst>
                        <a:ext uri="{9D8B030D-6E8A-4147-A177-3AD203B41FA5}">
                          <a16:colId xmlns:a16="http://schemas.microsoft.com/office/drawing/2014/main" val="82904498"/>
                        </a:ext>
                      </a:extLst>
                    </a:gridCol>
                    <a:gridCol w="540000">
                      <a:extLst>
                        <a:ext uri="{9D8B030D-6E8A-4147-A177-3AD203B41FA5}">
                          <a16:colId xmlns:a16="http://schemas.microsoft.com/office/drawing/2014/main" val="2214715668"/>
                        </a:ext>
                      </a:extLst>
                    </a:gridCol>
                    <a:gridCol w="540000">
                      <a:extLst>
                        <a:ext uri="{9D8B030D-6E8A-4147-A177-3AD203B41FA5}">
                          <a16:colId xmlns:a16="http://schemas.microsoft.com/office/drawing/2014/main" val="777121050"/>
                        </a:ext>
                      </a:extLst>
                    </a:gridCol>
                    <a:gridCol w="540000">
                      <a:extLst>
                        <a:ext uri="{9D8B030D-6E8A-4147-A177-3AD203B41FA5}">
                          <a16:colId xmlns:a16="http://schemas.microsoft.com/office/drawing/2014/main" val="2140332791"/>
                        </a:ext>
                      </a:extLst>
                    </a:gridCol>
                    <a:gridCol w="540000">
                      <a:extLst>
                        <a:ext uri="{9D8B030D-6E8A-4147-A177-3AD203B41FA5}">
                          <a16:colId xmlns:a16="http://schemas.microsoft.com/office/drawing/2014/main" val="1910247371"/>
                        </a:ext>
                      </a:extLst>
                    </a:gridCol>
                    <a:gridCol w="540000">
                      <a:extLst>
                        <a:ext uri="{9D8B030D-6E8A-4147-A177-3AD203B41FA5}">
                          <a16:colId xmlns:a16="http://schemas.microsoft.com/office/drawing/2014/main" val="3804762709"/>
                        </a:ext>
                      </a:extLst>
                    </a:gridCol>
                    <a:gridCol w="540000">
                      <a:extLst>
                        <a:ext uri="{9D8B030D-6E8A-4147-A177-3AD203B41FA5}">
                          <a16:colId xmlns:a16="http://schemas.microsoft.com/office/drawing/2014/main" val="354420647"/>
                        </a:ext>
                      </a:extLst>
                    </a:gridCol>
                    <a:gridCol w="540000">
                      <a:extLst>
                        <a:ext uri="{9D8B030D-6E8A-4147-A177-3AD203B41FA5}">
                          <a16:colId xmlns:a16="http://schemas.microsoft.com/office/drawing/2014/main" val="4131807763"/>
                        </a:ext>
                      </a:extLst>
                    </a:gridCol>
                    <a:gridCol w="540000">
                      <a:extLst>
                        <a:ext uri="{9D8B030D-6E8A-4147-A177-3AD203B41FA5}">
                          <a16:colId xmlns:a16="http://schemas.microsoft.com/office/drawing/2014/main" val="2190297588"/>
                        </a:ext>
                      </a:extLst>
                    </a:gridCol>
                  </a:tblGrid>
                  <a:tr h="229371">
                    <a:tc>
                      <a:txBody>
                        <a:bodyPr/>
                        <a:lstStyle/>
                        <a:p>
                          <a:pPr algn="ctr"/>
                          <a14:m>
                            <m:oMath xmlns:m="http://schemas.openxmlformats.org/officeDocument/2006/math">
                              <m:r>
                                <a:rPr lang="en-US" altLang="zh-TW" sz="2800" b="0" i="1" dirty="0" smtClean="0">
                                  <a:solidFill>
                                    <a:srgbClr val="002060"/>
                                  </a:solidFill>
                                  <a:latin typeface="Cambria Math" panose="02040503050406030204" pitchFamily="18" charset="0"/>
                                  <a:cs typeface="Times New Roman" panose="02020603050405020304" pitchFamily="18" charset="0"/>
                                </a:rPr>
                                <m:t>𝑃</m:t>
                              </m:r>
                            </m:oMath>
                          </a14:m>
                          <a:r>
                            <a:rPr lang="en-US" altLang="zh-TW" sz="2800" dirty="0">
                              <a:solidFill>
                                <a:srgbClr val="002060"/>
                              </a:solidFill>
                              <a:latin typeface="Times New Roman" panose="02020603050405020304" pitchFamily="18" charset="0"/>
                              <a:cs typeface="Times New Roman" panose="02020603050405020304" pitchFamily="18" charset="0"/>
                            </a:rPr>
                            <a: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10</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22</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15</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30</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20</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18</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27</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706415246"/>
                      </a:ext>
                    </a:extLst>
                  </a:tr>
                </a:tbl>
              </a:graphicData>
            </a:graphic>
          </p:graphicFrame>
        </mc:Choice>
        <mc:Fallback>
          <p:graphicFrame>
            <p:nvGraphicFramePr>
              <p:cNvPr id="35" name="表格 34">
                <a:extLst>
                  <a:ext uri="{FF2B5EF4-FFF2-40B4-BE49-F238E27FC236}">
                    <a16:creationId xmlns:a16="http://schemas.microsoft.com/office/drawing/2014/main" id="{0AC84F35-EEA7-44D1-B892-FBEC8DE654C3}"/>
                  </a:ext>
                </a:extLst>
              </p:cNvPr>
              <p:cNvGraphicFramePr>
                <a:graphicFrameLocks noGrp="1"/>
              </p:cNvGraphicFramePr>
              <p:nvPr>
                <p:extLst>
                  <p:ext uri="{D42A27DB-BD31-4B8C-83A1-F6EECF244321}">
                    <p14:modId xmlns:p14="http://schemas.microsoft.com/office/powerpoint/2010/main" val="3052768744"/>
                  </p:ext>
                </p:extLst>
              </p:nvPr>
            </p:nvGraphicFramePr>
            <p:xfrm>
              <a:off x="596038" y="1762549"/>
              <a:ext cx="7560000" cy="518160"/>
            </p:xfrm>
            <a:graphic>
              <a:graphicData uri="http://schemas.openxmlformats.org/drawingml/2006/table">
                <a:tbl>
                  <a:tblPr firstRow="1" bandRow="1">
                    <a:tableStyleId>{5940675A-B579-460E-94D1-54222C63F5DA}</a:tableStyleId>
                  </a:tblPr>
                  <a:tblGrid>
                    <a:gridCol w="540000">
                      <a:extLst>
                        <a:ext uri="{9D8B030D-6E8A-4147-A177-3AD203B41FA5}">
                          <a16:colId xmlns:a16="http://schemas.microsoft.com/office/drawing/2014/main" val="106444939"/>
                        </a:ext>
                      </a:extLst>
                    </a:gridCol>
                    <a:gridCol w="540000">
                      <a:extLst>
                        <a:ext uri="{9D8B030D-6E8A-4147-A177-3AD203B41FA5}">
                          <a16:colId xmlns:a16="http://schemas.microsoft.com/office/drawing/2014/main" val="3438003960"/>
                        </a:ext>
                      </a:extLst>
                    </a:gridCol>
                    <a:gridCol w="540000">
                      <a:extLst>
                        <a:ext uri="{9D8B030D-6E8A-4147-A177-3AD203B41FA5}">
                          <a16:colId xmlns:a16="http://schemas.microsoft.com/office/drawing/2014/main" val="1539556327"/>
                        </a:ext>
                      </a:extLst>
                    </a:gridCol>
                    <a:gridCol w="540000">
                      <a:extLst>
                        <a:ext uri="{9D8B030D-6E8A-4147-A177-3AD203B41FA5}">
                          <a16:colId xmlns:a16="http://schemas.microsoft.com/office/drawing/2014/main" val="1393179428"/>
                        </a:ext>
                      </a:extLst>
                    </a:gridCol>
                    <a:gridCol w="540000">
                      <a:extLst>
                        <a:ext uri="{9D8B030D-6E8A-4147-A177-3AD203B41FA5}">
                          <a16:colId xmlns:a16="http://schemas.microsoft.com/office/drawing/2014/main" val="3965888546"/>
                        </a:ext>
                      </a:extLst>
                    </a:gridCol>
                    <a:gridCol w="540000">
                      <a:extLst>
                        <a:ext uri="{9D8B030D-6E8A-4147-A177-3AD203B41FA5}">
                          <a16:colId xmlns:a16="http://schemas.microsoft.com/office/drawing/2014/main" val="82904498"/>
                        </a:ext>
                      </a:extLst>
                    </a:gridCol>
                    <a:gridCol w="540000">
                      <a:extLst>
                        <a:ext uri="{9D8B030D-6E8A-4147-A177-3AD203B41FA5}">
                          <a16:colId xmlns:a16="http://schemas.microsoft.com/office/drawing/2014/main" val="2214715668"/>
                        </a:ext>
                      </a:extLst>
                    </a:gridCol>
                    <a:gridCol w="540000">
                      <a:extLst>
                        <a:ext uri="{9D8B030D-6E8A-4147-A177-3AD203B41FA5}">
                          <a16:colId xmlns:a16="http://schemas.microsoft.com/office/drawing/2014/main" val="777121050"/>
                        </a:ext>
                      </a:extLst>
                    </a:gridCol>
                    <a:gridCol w="540000">
                      <a:extLst>
                        <a:ext uri="{9D8B030D-6E8A-4147-A177-3AD203B41FA5}">
                          <a16:colId xmlns:a16="http://schemas.microsoft.com/office/drawing/2014/main" val="2140332791"/>
                        </a:ext>
                      </a:extLst>
                    </a:gridCol>
                    <a:gridCol w="540000">
                      <a:extLst>
                        <a:ext uri="{9D8B030D-6E8A-4147-A177-3AD203B41FA5}">
                          <a16:colId xmlns:a16="http://schemas.microsoft.com/office/drawing/2014/main" val="1910247371"/>
                        </a:ext>
                      </a:extLst>
                    </a:gridCol>
                    <a:gridCol w="540000">
                      <a:extLst>
                        <a:ext uri="{9D8B030D-6E8A-4147-A177-3AD203B41FA5}">
                          <a16:colId xmlns:a16="http://schemas.microsoft.com/office/drawing/2014/main" val="3804762709"/>
                        </a:ext>
                      </a:extLst>
                    </a:gridCol>
                    <a:gridCol w="540000">
                      <a:extLst>
                        <a:ext uri="{9D8B030D-6E8A-4147-A177-3AD203B41FA5}">
                          <a16:colId xmlns:a16="http://schemas.microsoft.com/office/drawing/2014/main" val="354420647"/>
                        </a:ext>
                      </a:extLst>
                    </a:gridCol>
                    <a:gridCol w="540000">
                      <a:extLst>
                        <a:ext uri="{9D8B030D-6E8A-4147-A177-3AD203B41FA5}">
                          <a16:colId xmlns:a16="http://schemas.microsoft.com/office/drawing/2014/main" val="4131807763"/>
                        </a:ext>
                      </a:extLst>
                    </a:gridCol>
                    <a:gridCol w="540000">
                      <a:extLst>
                        <a:ext uri="{9D8B030D-6E8A-4147-A177-3AD203B41FA5}">
                          <a16:colId xmlns:a16="http://schemas.microsoft.com/office/drawing/2014/main" val="2190297588"/>
                        </a:ext>
                      </a:extLst>
                    </a:gridCol>
                  </a:tblGrid>
                  <a:tr h="518160">
                    <a:tc>
                      <a:txBody>
                        <a:bodyPr/>
                        <a:lstStyle/>
                        <a:p>
                          <a:endParaRPr lang="zh-TW"/>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blipFill>
                          <a:blip r:embed="rId6"/>
                          <a:stretch>
                            <a:fillRect t="-11628" r="-1294382" b="-31395"/>
                          </a:stretch>
                        </a:blipFill>
                      </a:tcPr>
                    </a:tc>
                    <a:tc>
                      <a:txBody>
                        <a:bodyPr/>
                        <a:lstStyle/>
                        <a:p>
                          <a:pPr algn="ct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10</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22</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15</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30</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20</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18</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27</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706415246"/>
                      </a:ext>
                    </a:extLst>
                  </a:tr>
                </a:tbl>
              </a:graphicData>
            </a:graphic>
          </p:graphicFrame>
        </mc:Fallback>
      </mc:AlternateContent>
      <p:sp>
        <p:nvSpPr>
          <p:cNvPr id="36" name="矩形 35">
            <a:extLst>
              <a:ext uri="{FF2B5EF4-FFF2-40B4-BE49-F238E27FC236}">
                <a16:creationId xmlns:a16="http://schemas.microsoft.com/office/drawing/2014/main" id="{7A477B0E-B908-452D-A08C-5010E9AD1B32}"/>
              </a:ext>
            </a:extLst>
          </p:cNvPr>
          <p:cNvSpPr/>
          <p:nvPr/>
        </p:nvSpPr>
        <p:spPr>
          <a:xfrm>
            <a:off x="2790825" y="1048172"/>
            <a:ext cx="3762376" cy="1232537"/>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mc:AlternateContent xmlns:mc="http://schemas.openxmlformats.org/markup-compatibility/2006">
        <mc:Choice xmlns:a14="http://schemas.microsoft.com/office/drawing/2010/main" Requires="a14">
          <p:sp>
            <p:nvSpPr>
              <p:cNvPr id="37" name="矩形 36">
                <a:extLst>
                  <a:ext uri="{FF2B5EF4-FFF2-40B4-BE49-F238E27FC236}">
                    <a16:creationId xmlns:a16="http://schemas.microsoft.com/office/drawing/2014/main" id="{030AF019-F7D8-4BD5-8D6A-053DDDCED075}"/>
                  </a:ext>
                </a:extLst>
              </p:cNvPr>
              <p:cNvSpPr/>
              <p:nvPr/>
            </p:nvSpPr>
            <p:spPr>
              <a:xfrm>
                <a:off x="2035451" y="2312885"/>
                <a:ext cx="882229"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TW" b="0" i="1" smtClean="0">
                          <a:solidFill>
                            <a:srgbClr val="0070C0"/>
                          </a:solidFill>
                          <a:latin typeface="Cambria Math" panose="02040503050406030204" pitchFamily="18" charset="0"/>
                        </a:rPr>
                        <m:t>𝑜𝑟𝑑𝑒𝑟</m:t>
                      </m:r>
                      <m:r>
                        <a:rPr lang="en-US" altLang="zh-TW" b="0" i="1" smtClean="0">
                          <a:solidFill>
                            <a:srgbClr val="0070C0"/>
                          </a:solidFill>
                          <a:latin typeface="Cambria Math" panose="02040503050406030204" pitchFamily="18" charset="0"/>
                        </a:rPr>
                        <m:t> </m:t>
                      </m:r>
                    </m:oMath>
                  </m:oMathPara>
                </a14:m>
                <a:endParaRPr lang="zh-TW" altLang="en-US" dirty="0">
                  <a:solidFill>
                    <a:srgbClr val="0070C0"/>
                  </a:solidFill>
                </a:endParaRPr>
              </a:p>
            </p:txBody>
          </p:sp>
        </mc:Choice>
        <mc:Fallback>
          <p:sp>
            <p:nvSpPr>
              <p:cNvPr id="37" name="矩形 36">
                <a:extLst>
                  <a:ext uri="{FF2B5EF4-FFF2-40B4-BE49-F238E27FC236}">
                    <a16:creationId xmlns:a16="http://schemas.microsoft.com/office/drawing/2014/main" id="{030AF019-F7D8-4BD5-8D6A-053DDDCED075}"/>
                  </a:ext>
                </a:extLst>
              </p:cNvPr>
              <p:cNvSpPr>
                <a:spLocks noRot="1" noChangeAspect="1" noMove="1" noResize="1" noEditPoints="1" noAdjustHandles="1" noChangeArrowheads="1" noChangeShapeType="1" noTextEdit="1"/>
              </p:cNvSpPr>
              <p:nvPr/>
            </p:nvSpPr>
            <p:spPr>
              <a:xfrm>
                <a:off x="2035451" y="2312885"/>
                <a:ext cx="882229" cy="369332"/>
              </a:xfrm>
              <a:prstGeom prst="rect">
                <a:avLst/>
              </a:prstGeom>
              <a:blipFill>
                <a:blip r:embed="rId7"/>
                <a:stretch>
                  <a:fillRect/>
                </a:stretch>
              </a:blipFill>
            </p:spPr>
            <p:txBody>
              <a:bodyPr/>
              <a:lstStyle/>
              <a:p>
                <a:r>
                  <a:rPr lang="zh-TW" altLang="en-US">
                    <a:noFill/>
                  </a:rPr>
                  <a:t> </a:t>
                </a:r>
              </a:p>
            </p:txBody>
          </p:sp>
        </mc:Fallback>
      </mc:AlternateContent>
      <p:graphicFrame>
        <p:nvGraphicFramePr>
          <p:cNvPr id="38" name="表格 37">
            <a:extLst>
              <a:ext uri="{FF2B5EF4-FFF2-40B4-BE49-F238E27FC236}">
                <a16:creationId xmlns:a16="http://schemas.microsoft.com/office/drawing/2014/main" id="{E5106A1B-4ED6-4F56-B4B0-34C604D5DDB0}"/>
              </a:ext>
            </a:extLst>
          </p:cNvPr>
          <p:cNvGraphicFramePr>
            <a:graphicFrameLocks noGrp="1"/>
          </p:cNvGraphicFramePr>
          <p:nvPr>
            <p:extLst>
              <p:ext uri="{D42A27DB-BD31-4B8C-83A1-F6EECF244321}">
                <p14:modId xmlns:p14="http://schemas.microsoft.com/office/powerpoint/2010/main" val="2605794315"/>
              </p:ext>
            </p:extLst>
          </p:nvPr>
        </p:nvGraphicFramePr>
        <p:xfrm>
          <a:off x="2773201" y="2299431"/>
          <a:ext cx="3780000" cy="396240"/>
        </p:xfrm>
        <a:graphic>
          <a:graphicData uri="http://schemas.openxmlformats.org/drawingml/2006/table">
            <a:tbl>
              <a:tblPr firstRow="1" bandRow="1">
                <a:tableStyleId>{5940675A-B579-460E-94D1-54222C63F5DA}</a:tableStyleId>
              </a:tblPr>
              <a:tblGrid>
                <a:gridCol w="540000">
                  <a:extLst>
                    <a:ext uri="{9D8B030D-6E8A-4147-A177-3AD203B41FA5}">
                      <a16:colId xmlns:a16="http://schemas.microsoft.com/office/drawing/2014/main" val="1214256893"/>
                    </a:ext>
                  </a:extLst>
                </a:gridCol>
                <a:gridCol w="540000">
                  <a:extLst>
                    <a:ext uri="{9D8B030D-6E8A-4147-A177-3AD203B41FA5}">
                      <a16:colId xmlns:a16="http://schemas.microsoft.com/office/drawing/2014/main" val="2185945537"/>
                    </a:ext>
                  </a:extLst>
                </a:gridCol>
                <a:gridCol w="540000">
                  <a:extLst>
                    <a:ext uri="{9D8B030D-6E8A-4147-A177-3AD203B41FA5}">
                      <a16:colId xmlns:a16="http://schemas.microsoft.com/office/drawing/2014/main" val="2888216586"/>
                    </a:ext>
                  </a:extLst>
                </a:gridCol>
                <a:gridCol w="540000">
                  <a:extLst>
                    <a:ext uri="{9D8B030D-6E8A-4147-A177-3AD203B41FA5}">
                      <a16:colId xmlns:a16="http://schemas.microsoft.com/office/drawing/2014/main" val="998630240"/>
                    </a:ext>
                  </a:extLst>
                </a:gridCol>
                <a:gridCol w="540000">
                  <a:extLst>
                    <a:ext uri="{9D8B030D-6E8A-4147-A177-3AD203B41FA5}">
                      <a16:colId xmlns:a16="http://schemas.microsoft.com/office/drawing/2014/main" val="3620064634"/>
                    </a:ext>
                  </a:extLst>
                </a:gridCol>
                <a:gridCol w="540000">
                  <a:extLst>
                    <a:ext uri="{9D8B030D-6E8A-4147-A177-3AD203B41FA5}">
                      <a16:colId xmlns:a16="http://schemas.microsoft.com/office/drawing/2014/main" val="985709612"/>
                    </a:ext>
                  </a:extLst>
                </a:gridCol>
                <a:gridCol w="540000">
                  <a:extLst>
                    <a:ext uri="{9D8B030D-6E8A-4147-A177-3AD203B41FA5}">
                      <a16:colId xmlns:a16="http://schemas.microsoft.com/office/drawing/2014/main" val="3926957693"/>
                    </a:ext>
                  </a:extLst>
                </a:gridCol>
              </a:tblGrid>
              <a:tr h="229371">
                <a:tc>
                  <a:txBody>
                    <a:bodyPr/>
                    <a:lstStyle/>
                    <a:p>
                      <a:pPr algn="ctr"/>
                      <a:r>
                        <a:rPr lang="en-US" altLang="zh-TW" sz="2000" dirty="0">
                          <a:solidFill>
                            <a:srgbClr val="0070C0"/>
                          </a:solidFill>
                          <a:latin typeface="Times New Roman" panose="02020603050405020304" pitchFamily="18" charset="0"/>
                          <a:cs typeface="Times New Roman" panose="02020603050405020304" pitchFamily="18" charset="0"/>
                        </a:rPr>
                        <a:t>1</a:t>
                      </a:r>
                      <a:endParaRPr lang="zh-TW" altLang="en-US" sz="2000" dirty="0">
                        <a:solidFill>
                          <a:srgbClr val="0070C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000" dirty="0">
                          <a:solidFill>
                            <a:srgbClr val="0070C0"/>
                          </a:solidFill>
                          <a:latin typeface="Times New Roman" panose="02020603050405020304" pitchFamily="18" charset="0"/>
                          <a:cs typeface="Times New Roman" panose="02020603050405020304" pitchFamily="18" charset="0"/>
                        </a:rPr>
                        <a:t>5</a:t>
                      </a:r>
                      <a:endParaRPr lang="zh-TW" altLang="en-US" sz="2000" dirty="0">
                        <a:solidFill>
                          <a:srgbClr val="0070C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000" dirty="0">
                          <a:solidFill>
                            <a:srgbClr val="0070C0"/>
                          </a:solidFill>
                          <a:latin typeface="Times New Roman" panose="02020603050405020304" pitchFamily="18" charset="0"/>
                          <a:cs typeface="Times New Roman" panose="02020603050405020304" pitchFamily="18" charset="0"/>
                        </a:rPr>
                        <a:t>2</a:t>
                      </a:r>
                      <a:endParaRPr lang="zh-TW" altLang="en-US" sz="2000" dirty="0">
                        <a:solidFill>
                          <a:srgbClr val="0070C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000" dirty="0">
                          <a:solidFill>
                            <a:srgbClr val="0070C0"/>
                          </a:solidFill>
                          <a:latin typeface="Times New Roman" panose="02020603050405020304" pitchFamily="18" charset="0"/>
                          <a:cs typeface="Times New Roman" panose="02020603050405020304" pitchFamily="18" charset="0"/>
                        </a:rPr>
                        <a:t>7</a:t>
                      </a:r>
                      <a:endParaRPr lang="zh-TW" altLang="en-US" sz="2000" dirty="0">
                        <a:solidFill>
                          <a:srgbClr val="0070C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000" dirty="0">
                          <a:solidFill>
                            <a:srgbClr val="0070C0"/>
                          </a:solidFill>
                          <a:latin typeface="Times New Roman" panose="02020603050405020304" pitchFamily="18" charset="0"/>
                          <a:cs typeface="Times New Roman" panose="02020603050405020304" pitchFamily="18" charset="0"/>
                        </a:rPr>
                        <a:t>4</a:t>
                      </a:r>
                      <a:endParaRPr lang="zh-TW" altLang="en-US" sz="2000" dirty="0">
                        <a:solidFill>
                          <a:srgbClr val="0070C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000" dirty="0">
                          <a:solidFill>
                            <a:srgbClr val="0070C0"/>
                          </a:solidFill>
                          <a:latin typeface="Times New Roman" panose="02020603050405020304" pitchFamily="18" charset="0"/>
                          <a:cs typeface="Times New Roman" panose="02020603050405020304" pitchFamily="18" charset="0"/>
                        </a:rPr>
                        <a:t>3</a:t>
                      </a:r>
                      <a:endParaRPr lang="zh-TW" altLang="en-US" sz="2000" dirty="0">
                        <a:solidFill>
                          <a:srgbClr val="0070C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000" dirty="0">
                          <a:solidFill>
                            <a:srgbClr val="0070C0"/>
                          </a:solidFill>
                          <a:latin typeface="Times New Roman" panose="02020603050405020304" pitchFamily="18" charset="0"/>
                          <a:cs typeface="Times New Roman" panose="02020603050405020304" pitchFamily="18" charset="0"/>
                        </a:rPr>
                        <a:t>6</a:t>
                      </a:r>
                      <a:endParaRPr lang="zh-TW" altLang="en-US" sz="2000" dirty="0">
                        <a:solidFill>
                          <a:srgbClr val="0070C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980373752"/>
                  </a:ext>
                </a:extLst>
              </a:tr>
            </a:tbl>
          </a:graphicData>
        </a:graphic>
      </p:graphicFrame>
    </p:spTree>
    <p:extLst>
      <p:ext uri="{BB962C8B-B14F-4D97-AF65-F5344CB8AC3E}">
        <p14:creationId xmlns:p14="http://schemas.microsoft.com/office/powerpoint/2010/main" val="12740381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37"/>
                                        </p:tgtEl>
                                        <p:attrNameLst>
                                          <p:attrName>style.visibility</p:attrName>
                                        </p:attrNameLst>
                                      </p:cBhvr>
                                      <p:to>
                                        <p:strVal val="visible"/>
                                      </p:to>
                                    </p:set>
                                    <p:animEffect transition="in" filter="fade">
                                      <p:cBhvr>
                                        <p:cTn id="11" dur="500"/>
                                        <p:tgtEl>
                                          <p:spTgt spid="37"/>
                                        </p:tgtEl>
                                      </p:cBhvr>
                                    </p:animEffect>
                                  </p:childTnLst>
                                </p:cTn>
                              </p:par>
                              <p:par>
                                <p:cTn id="12" presetID="10" presetClass="entr" presetSubtype="0" fill="hold" nodeType="withEffect">
                                  <p:stCondLst>
                                    <p:cond delay="0"/>
                                  </p:stCondLst>
                                  <p:childTnLst>
                                    <p:set>
                                      <p:cBhvr>
                                        <p:cTn id="13" dur="1" fill="hold">
                                          <p:stCondLst>
                                            <p:cond delay="0"/>
                                          </p:stCondLst>
                                        </p:cTn>
                                        <p:tgtEl>
                                          <p:spTgt spid="38"/>
                                        </p:tgtEl>
                                        <p:attrNameLst>
                                          <p:attrName>style.visibility</p:attrName>
                                        </p:attrNameLst>
                                      </p:cBhvr>
                                      <p:to>
                                        <p:strVal val="visible"/>
                                      </p:to>
                                    </p:set>
                                    <p:animEffect transition="in" filter="fade">
                                      <p:cBhvr>
                                        <p:cTn id="14"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37"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a:extLst>
              <a:ext uri="{FF2B5EF4-FFF2-40B4-BE49-F238E27FC236}">
                <a16:creationId xmlns:a16="http://schemas.microsoft.com/office/drawing/2014/main" id="{01482047-C5BA-4C14-A83E-65B7E095C8D6}"/>
              </a:ext>
            </a:extLst>
          </p:cNvPr>
          <p:cNvSpPr>
            <a:spLocks noGrp="1"/>
          </p:cNvSpPr>
          <p:nvPr>
            <p:ph type="sldNum" sz="quarter" idx="12"/>
          </p:nvPr>
        </p:nvSpPr>
        <p:spPr/>
        <p:txBody>
          <a:bodyPr/>
          <a:lstStyle/>
          <a:p>
            <a:fld id="{872633CA-77E0-4863-94F8-E28139DFB2B4}" type="slidenum">
              <a:rPr lang="zh-TW" altLang="en-US" smtClean="0"/>
              <a:t>7</a:t>
            </a:fld>
            <a:endParaRPr lang="zh-TW" altLang="en-US"/>
          </a:p>
        </p:txBody>
      </p:sp>
      <p:sp>
        <p:nvSpPr>
          <p:cNvPr id="15" name="標題 1">
            <a:extLst>
              <a:ext uri="{FF2B5EF4-FFF2-40B4-BE49-F238E27FC236}">
                <a16:creationId xmlns:a16="http://schemas.microsoft.com/office/drawing/2014/main" id="{A9990B6E-C32F-4A96-940B-453E868CF6E8}"/>
              </a:ext>
            </a:extLst>
          </p:cNvPr>
          <p:cNvSpPr txBox="1">
            <a:spLocks/>
          </p:cNvSpPr>
          <p:nvPr/>
        </p:nvSpPr>
        <p:spPr>
          <a:xfrm>
            <a:off x="402232" y="305355"/>
            <a:ext cx="7886700" cy="74281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TW" sz="3600" dirty="0">
                <a:latin typeface="Times New Roman" panose="02020603050405020304" pitchFamily="18" charset="0"/>
                <a:cs typeface="Times New Roman" panose="02020603050405020304" pitchFamily="18" charset="0"/>
              </a:rPr>
              <a:t>Their method</a:t>
            </a:r>
            <a:endParaRPr lang="zh-TW" altLang="en-US" sz="3600" dirty="0">
              <a:latin typeface="Times New Roman" panose="02020603050405020304" pitchFamily="18"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8" name="矩形 7">
                <a:extLst>
                  <a:ext uri="{FF2B5EF4-FFF2-40B4-BE49-F238E27FC236}">
                    <a16:creationId xmlns:a16="http://schemas.microsoft.com/office/drawing/2014/main" id="{F963363B-4812-446A-9AD2-DA0B4776CC5D}"/>
                  </a:ext>
                </a:extLst>
              </p:cNvPr>
              <p:cNvSpPr/>
              <p:nvPr/>
            </p:nvSpPr>
            <p:spPr>
              <a:xfrm>
                <a:off x="402232" y="1164320"/>
                <a:ext cx="7617818" cy="1781450"/>
              </a:xfrm>
              <a:prstGeom prst="rect">
                <a:avLst/>
              </a:prstGeom>
            </p:spPr>
            <p:txBody>
              <a:bodyPr wrap="square">
                <a:spAutoFit/>
              </a:bodyPr>
              <a:lstStyle/>
              <a:p>
                <a:pPr>
                  <a:lnSpc>
                    <a:spcPct val="150000"/>
                  </a:lnSpc>
                </a:pPr>
                <a:r>
                  <a:rPr lang="en-US" altLang="zh-TW" sz="2800" b="1" dirty="0">
                    <a:latin typeface="Times New Roman" panose="02020603050405020304" pitchFamily="18" charset="0"/>
                  </a:rPr>
                  <a:t>Filtration (preprocessing + searching): </a:t>
                </a:r>
              </a:p>
              <a:p>
                <a:pPr>
                  <a:lnSpc>
                    <a:spcPct val="150000"/>
                  </a:lnSpc>
                </a:pPr>
                <a:r>
                  <a:rPr lang="en-US" altLang="zh-TW" sz="2400" dirty="0">
                    <a:solidFill>
                      <a:srgbClr val="0070C0"/>
                    </a:solidFill>
                    <a:latin typeface="Times New Roman" panose="02020603050405020304" pitchFamily="18" charset="0"/>
                  </a:rPr>
                  <a:t>①</a:t>
                </a:r>
                <a:r>
                  <a:rPr lang="en-US" altLang="zh-TW" sz="2400" dirty="0">
                    <a:latin typeface="Times New Roman" panose="02020603050405020304" pitchFamily="18" charset="0"/>
                  </a:rPr>
                  <a:t> </a:t>
                </a:r>
                <a:r>
                  <a:rPr lang="en-US" altLang="zh-TW" sz="2400" dirty="0">
                    <a:solidFill>
                      <a:srgbClr val="0070C0"/>
                    </a:solidFill>
                    <a:latin typeface="Times New Roman" panose="02020603050405020304" pitchFamily="18" charset="0"/>
                  </a:rPr>
                  <a:t>encode text </a:t>
                </a:r>
                <a14:m>
                  <m:oMath xmlns:m="http://schemas.openxmlformats.org/officeDocument/2006/math">
                    <m:r>
                      <a:rPr lang="en-US" altLang="zh-TW" sz="2400" i="1" dirty="0" smtClean="0">
                        <a:solidFill>
                          <a:srgbClr val="0070C0"/>
                        </a:solidFill>
                        <a:latin typeface="Cambria Math" panose="02040503050406030204" pitchFamily="18" charset="0"/>
                      </a:rPr>
                      <m:t>𝑇</m:t>
                    </m:r>
                  </m:oMath>
                </a14:m>
                <a:r>
                  <a:rPr lang="en-US" altLang="zh-TW" sz="2400" dirty="0">
                    <a:solidFill>
                      <a:srgbClr val="0070C0"/>
                    </a:solidFill>
                    <a:latin typeface="Times New Roman" panose="02020603050405020304" pitchFamily="18" charset="0"/>
                  </a:rPr>
                  <a:t> and pattern </a:t>
                </a:r>
                <a14:m>
                  <m:oMath xmlns:m="http://schemas.openxmlformats.org/officeDocument/2006/math">
                    <m:r>
                      <a:rPr lang="en-US" altLang="zh-TW" sz="2400" dirty="0">
                        <a:solidFill>
                          <a:srgbClr val="0070C0"/>
                        </a:solidFill>
                        <a:latin typeface="Cambria Math" panose="02040503050406030204" pitchFamily="18" charset="0"/>
                      </a:rPr>
                      <m:t>𝑃</m:t>
                    </m:r>
                  </m:oMath>
                </a14:m>
                <a:r>
                  <a:rPr lang="en-US" altLang="zh-TW" sz="2400" dirty="0">
                    <a:solidFill>
                      <a:srgbClr val="0070C0"/>
                    </a:solidFill>
                    <a:latin typeface="Times New Roman" panose="02020603050405020304" pitchFamily="18" charset="0"/>
                  </a:rPr>
                  <a:t> as binary strings </a:t>
                </a:r>
                <a14:m>
                  <m:oMath xmlns:m="http://schemas.openxmlformats.org/officeDocument/2006/math">
                    <m:r>
                      <a:rPr lang="en-US" altLang="zh-TW" sz="2400" b="0" i="1" smtClean="0">
                        <a:solidFill>
                          <a:srgbClr val="0070C0"/>
                        </a:solidFill>
                        <a:latin typeface="Cambria Math" panose="02040503050406030204" pitchFamily="18" charset="0"/>
                      </a:rPr>
                      <m:t>𝑇</m:t>
                    </m:r>
                    <m:r>
                      <a:rPr lang="en-US" altLang="zh-TW" sz="2400" b="0" i="1" smtClean="0">
                        <a:solidFill>
                          <a:srgbClr val="0070C0"/>
                        </a:solidFill>
                        <a:latin typeface="Cambria Math" panose="02040503050406030204" pitchFamily="18" charset="0"/>
                      </a:rPr>
                      <m:t>′</m:t>
                    </m:r>
                  </m:oMath>
                </a14:m>
                <a:r>
                  <a:rPr lang="en-US" altLang="zh-TW" sz="2400" dirty="0">
                    <a:solidFill>
                      <a:srgbClr val="0070C0"/>
                    </a:solidFill>
                    <a:latin typeface="Times New Roman" panose="02020603050405020304" pitchFamily="18" charset="0"/>
                  </a:rPr>
                  <a:t> and </a:t>
                </a:r>
                <a14:m>
                  <m:oMath xmlns:m="http://schemas.openxmlformats.org/officeDocument/2006/math">
                    <m:r>
                      <a:rPr lang="en-US" altLang="zh-TW" sz="2400" b="0" i="1" smtClean="0">
                        <a:solidFill>
                          <a:srgbClr val="0070C0"/>
                        </a:solidFill>
                        <a:latin typeface="Cambria Math" panose="02040503050406030204" pitchFamily="18" charset="0"/>
                      </a:rPr>
                      <m:t>𝑃</m:t>
                    </m:r>
                    <m:r>
                      <a:rPr lang="en-US" altLang="zh-TW" sz="2400" b="0" i="1" smtClean="0">
                        <a:solidFill>
                          <a:srgbClr val="0070C0"/>
                        </a:solidFill>
                        <a:latin typeface="Cambria Math" panose="02040503050406030204" pitchFamily="18" charset="0"/>
                      </a:rPr>
                      <m:t>′</m:t>
                    </m:r>
                  </m:oMath>
                </a14:m>
                <a:endParaRPr lang="en-US" altLang="zh-TW" sz="2400" dirty="0">
                  <a:solidFill>
                    <a:srgbClr val="0070C0"/>
                  </a:solidFill>
                  <a:latin typeface="Times New Roman" panose="02020603050405020304" pitchFamily="18" charset="0"/>
                </a:endParaRPr>
              </a:p>
              <a:p>
                <a:pPr>
                  <a:lnSpc>
                    <a:spcPct val="150000"/>
                  </a:lnSpc>
                </a:pPr>
                <a:r>
                  <a:rPr lang="en-US" altLang="zh-TW" sz="2400" dirty="0">
                    <a:solidFill>
                      <a:srgbClr val="0070C0"/>
                    </a:solidFill>
                    <a:latin typeface="Times New Roman" panose="02020603050405020304" pitchFamily="18" charset="0"/>
                  </a:rPr>
                  <a:t>② filter with some match candidates </a:t>
                </a:r>
              </a:p>
            </p:txBody>
          </p:sp>
        </mc:Choice>
        <mc:Fallback>
          <p:sp>
            <p:nvSpPr>
              <p:cNvPr id="8" name="矩形 7">
                <a:extLst>
                  <a:ext uri="{FF2B5EF4-FFF2-40B4-BE49-F238E27FC236}">
                    <a16:creationId xmlns:a16="http://schemas.microsoft.com/office/drawing/2014/main" id="{F963363B-4812-446A-9AD2-DA0B4776CC5D}"/>
                  </a:ext>
                </a:extLst>
              </p:cNvPr>
              <p:cNvSpPr>
                <a:spLocks noRot="1" noChangeAspect="1" noMove="1" noResize="1" noEditPoints="1" noAdjustHandles="1" noChangeArrowheads="1" noChangeShapeType="1" noTextEdit="1"/>
              </p:cNvSpPr>
              <p:nvPr/>
            </p:nvSpPr>
            <p:spPr>
              <a:xfrm>
                <a:off x="402232" y="1164320"/>
                <a:ext cx="7617818" cy="1781450"/>
              </a:xfrm>
              <a:prstGeom prst="rect">
                <a:avLst/>
              </a:prstGeom>
              <a:blipFill>
                <a:blip r:embed="rId3"/>
                <a:stretch>
                  <a:fillRect l="-1680" b="-7192"/>
                </a:stretch>
              </a:blipFill>
            </p:spPr>
            <p:txBody>
              <a:bodyPr/>
              <a:lstStyle/>
              <a:p>
                <a:r>
                  <a:rPr lang="zh-TW" altLang="en-US">
                    <a:noFill/>
                  </a:rPr>
                  <a:t> </a:t>
                </a:r>
              </a:p>
            </p:txBody>
          </p:sp>
        </mc:Fallback>
      </mc:AlternateContent>
      <p:sp>
        <p:nvSpPr>
          <p:cNvPr id="9" name="矩形 8">
            <a:extLst>
              <a:ext uri="{FF2B5EF4-FFF2-40B4-BE49-F238E27FC236}">
                <a16:creationId xmlns:a16="http://schemas.microsoft.com/office/drawing/2014/main" id="{19CBA21A-8792-44D9-BA58-A509A4530A7D}"/>
              </a:ext>
            </a:extLst>
          </p:cNvPr>
          <p:cNvSpPr/>
          <p:nvPr/>
        </p:nvSpPr>
        <p:spPr>
          <a:xfrm>
            <a:off x="402232" y="3465955"/>
            <a:ext cx="8421728" cy="1226298"/>
          </a:xfrm>
          <a:prstGeom prst="rect">
            <a:avLst/>
          </a:prstGeom>
        </p:spPr>
        <p:txBody>
          <a:bodyPr wrap="square">
            <a:spAutoFit/>
          </a:bodyPr>
          <a:lstStyle/>
          <a:p>
            <a:pPr>
              <a:lnSpc>
                <a:spcPct val="150000"/>
              </a:lnSpc>
            </a:pPr>
            <a:r>
              <a:rPr lang="en-US" altLang="zh-TW" sz="2800" b="1" dirty="0">
                <a:latin typeface="Times New Roman" panose="02020603050405020304" pitchFamily="18" charset="0"/>
              </a:rPr>
              <a:t>Verification</a:t>
            </a:r>
          </a:p>
          <a:p>
            <a:pPr>
              <a:lnSpc>
                <a:spcPct val="150000"/>
              </a:lnSpc>
            </a:pPr>
            <a:r>
              <a:rPr lang="en-US" altLang="zh-TW" sz="2400" dirty="0">
                <a:solidFill>
                  <a:srgbClr val="0070C0"/>
                </a:solidFill>
                <a:latin typeface="Times New Roman" panose="02020603050405020304" pitchFamily="18" charset="0"/>
              </a:rPr>
              <a:t>use a checking routine to get the answer within match candidates</a:t>
            </a:r>
            <a:endParaRPr lang="zh-TW" altLang="en-US" sz="2400" dirty="0">
              <a:solidFill>
                <a:srgbClr val="0070C0"/>
              </a:solidFill>
              <a:latin typeface="Times New Roman" panose="02020603050405020304" pitchFamily="18" charset="0"/>
            </a:endParaRPr>
          </a:p>
        </p:txBody>
      </p:sp>
    </p:spTree>
    <p:extLst>
      <p:ext uri="{BB962C8B-B14F-4D97-AF65-F5344CB8AC3E}">
        <p14:creationId xmlns:p14="http://schemas.microsoft.com/office/powerpoint/2010/main" val="28035885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a:extLst>
              <a:ext uri="{FF2B5EF4-FFF2-40B4-BE49-F238E27FC236}">
                <a16:creationId xmlns:a16="http://schemas.microsoft.com/office/drawing/2014/main" id="{01482047-C5BA-4C14-A83E-65B7E095C8D6}"/>
              </a:ext>
            </a:extLst>
          </p:cNvPr>
          <p:cNvSpPr>
            <a:spLocks noGrp="1"/>
          </p:cNvSpPr>
          <p:nvPr>
            <p:ph type="sldNum" sz="quarter" idx="12"/>
          </p:nvPr>
        </p:nvSpPr>
        <p:spPr/>
        <p:txBody>
          <a:bodyPr/>
          <a:lstStyle/>
          <a:p>
            <a:fld id="{872633CA-77E0-4863-94F8-E28139DFB2B4}" type="slidenum">
              <a:rPr lang="zh-TW" altLang="en-US" smtClean="0"/>
              <a:t>8</a:t>
            </a:fld>
            <a:endParaRPr lang="zh-TW" altLang="en-US"/>
          </a:p>
        </p:txBody>
      </p:sp>
      <p:sp>
        <p:nvSpPr>
          <p:cNvPr id="15" name="標題 1">
            <a:extLst>
              <a:ext uri="{FF2B5EF4-FFF2-40B4-BE49-F238E27FC236}">
                <a16:creationId xmlns:a16="http://schemas.microsoft.com/office/drawing/2014/main" id="{A9990B6E-C32F-4A96-940B-453E868CF6E8}"/>
              </a:ext>
            </a:extLst>
          </p:cNvPr>
          <p:cNvSpPr txBox="1">
            <a:spLocks/>
          </p:cNvSpPr>
          <p:nvPr/>
        </p:nvSpPr>
        <p:spPr>
          <a:xfrm>
            <a:off x="402232" y="305355"/>
            <a:ext cx="7886700" cy="74281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TW" sz="3600" dirty="0">
                <a:latin typeface="Times New Roman" panose="02020603050405020304" pitchFamily="18" charset="0"/>
                <a:cs typeface="Times New Roman" panose="02020603050405020304" pitchFamily="18" charset="0"/>
              </a:rPr>
              <a:t>Preprocessing: binary number strings</a:t>
            </a:r>
            <a:endParaRPr lang="zh-TW" altLang="en-US" sz="3600" dirty="0">
              <a:latin typeface="Times New Roman" panose="02020603050405020304" pitchFamily="18" charset="0"/>
              <a:cs typeface="Times New Roman" panose="02020603050405020304" pitchFamily="18" charset="0"/>
            </a:endParaRPr>
          </a:p>
        </p:txBody>
      </p:sp>
      <mc:AlternateContent xmlns:mc="http://schemas.openxmlformats.org/markup-compatibility/2006">
        <mc:Choice xmlns:a14="http://schemas.microsoft.com/office/drawing/2010/main" Requires="a14">
          <p:graphicFrame>
            <p:nvGraphicFramePr>
              <p:cNvPr id="9" name="表格 8">
                <a:extLst>
                  <a:ext uri="{FF2B5EF4-FFF2-40B4-BE49-F238E27FC236}">
                    <a16:creationId xmlns:a16="http://schemas.microsoft.com/office/drawing/2014/main" id="{389994F4-5F2E-435A-8057-C5AF2DCD791C}"/>
                  </a:ext>
                </a:extLst>
              </p:cNvPr>
              <p:cNvGraphicFramePr>
                <a:graphicFrameLocks noGrp="1"/>
              </p:cNvGraphicFramePr>
              <p:nvPr>
                <p:extLst>
                  <p:ext uri="{D42A27DB-BD31-4B8C-83A1-F6EECF244321}">
                    <p14:modId xmlns:p14="http://schemas.microsoft.com/office/powerpoint/2010/main" val="2548940882"/>
                  </p:ext>
                </p:extLst>
              </p:nvPr>
            </p:nvGraphicFramePr>
            <p:xfrm>
              <a:off x="596038" y="3517153"/>
              <a:ext cx="7560000" cy="518160"/>
            </p:xfrm>
            <a:graphic>
              <a:graphicData uri="http://schemas.openxmlformats.org/drawingml/2006/table">
                <a:tbl>
                  <a:tblPr firstRow="1" bandRow="1">
                    <a:tableStyleId>{5940675A-B579-460E-94D1-54222C63F5DA}</a:tableStyleId>
                  </a:tblPr>
                  <a:tblGrid>
                    <a:gridCol w="540000">
                      <a:extLst>
                        <a:ext uri="{9D8B030D-6E8A-4147-A177-3AD203B41FA5}">
                          <a16:colId xmlns:a16="http://schemas.microsoft.com/office/drawing/2014/main" val="106444939"/>
                        </a:ext>
                      </a:extLst>
                    </a:gridCol>
                    <a:gridCol w="540000">
                      <a:extLst>
                        <a:ext uri="{9D8B030D-6E8A-4147-A177-3AD203B41FA5}">
                          <a16:colId xmlns:a16="http://schemas.microsoft.com/office/drawing/2014/main" val="3438003960"/>
                        </a:ext>
                      </a:extLst>
                    </a:gridCol>
                    <a:gridCol w="540000">
                      <a:extLst>
                        <a:ext uri="{9D8B030D-6E8A-4147-A177-3AD203B41FA5}">
                          <a16:colId xmlns:a16="http://schemas.microsoft.com/office/drawing/2014/main" val="1539556327"/>
                        </a:ext>
                      </a:extLst>
                    </a:gridCol>
                    <a:gridCol w="540000">
                      <a:extLst>
                        <a:ext uri="{9D8B030D-6E8A-4147-A177-3AD203B41FA5}">
                          <a16:colId xmlns:a16="http://schemas.microsoft.com/office/drawing/2014/main" val="1393179428"/>
                        </a:ext>
                      </a:extLst>
                    </a:gridCol>
                    <a:gridCol w="540000">
                      <a:extLst>
                        <a:ext uri="{9D8B030D-6E8A-4147-A177-3AD203B41FA5}">
                          <a16:colId xmlns:a16="http://schemas.microsoft.com/office/drawing/2014/main" val="3965888546"/>
                        </a:ext>
                      </a:extLst>
                    </a:gridCol>
                    <a:gridCol w="540000">
                      <a:extLst>
                        <a:ext uri="{9D8B030D-6E8A-4147-A177-3AD203B41FA5}">
                          <a16:colId xmlns:a16="http://schemas.microsoft.com/office/drawing/2014/main" val="82904498"/>
                        </a:ext>
                      </a:extLst>
                    </a:gridCol>
                    <a:gridCol w="540000">
                      <a:extLst>
                        <a:ext uri="{9D8B030D-6E8A-4147-A177-3AD203B41FA5}">
                          <a16:colId xmlns:a16="http://schemas.microsoft.com/office/drawing/2014/main" val="2214715668"/>
                        </a:ext>
                      </a:extLst>
                    </a:gridCol>
                    <a:gridCol w="540000">
                      <a:extLst>
                        <a:ext uri="{9D8B030D-6E8A-4147-A177-3AD203B41FA5}">
                          <a16:colId xmlns:a16="http://schemas.microsoft.com/office/drawing/2014/main" val="777121050"/>
                        </a:ext>
                      </a:extLst>
                    </a:gridCol>
                    <a:gridCol w="540000">
                      <a:extLst>
                        <a:ext uri="{9D8B030D-6E8A-4147-A177-3AD203B41FA5}">
                          <a16:colId xmlns:a16="http://schemas.microsoft.com/office/drawing/2014/main" val="2140332791"/>
                        </a:ext>
                      </a:extLst>
                    </a:gridCol>
                    <a:gridCol w="540000">
                      <a:extLst>
                        <a:ext uri="{9D8B030D-6E8A-4147-A177-3AD203B41FA5}">
                          <a16:colId xmlns:a16="http://schemas.microsoft.com/office/drawing/2014/main" val="1910247371"/>
                        </a:ext>
                      </a:extLst>
                    </a:gridCol>
                    <a:gridCol w="540000">
                      <a:extLst>
                        <a:ext uri="{9D8B030D-6E8A-4147-A177-3AD203B41FA5}">
                          <a16:colId xmlns:a16="http://schemas.microsoft.com/office/drawing/2014/main" val="3804762709"/>
                        </a:ext>
                      </a:extLst>
                    </a:gridCol>
                    <a:gridCol w="540000">
                      <a:extLst>
                        <a:ext uri="{9D8B030D-6E8A-4147-A177-3AD203B41FA5}">
                          <a16:colId xmlns:a16="http://schemas.microsoft.com/office/drawing/2014/main" val="354420647"/>
                        </a:ext>
                      </a:extLst>
                    </a:gridCol>
                    <a:gridCol w="540000">
                      <a:extLst>
                        <a:ext uri="{9D8B030D-6E8A-4147-A177-3AD203B41FA5}">
                          <a16:colId xmlns:a16="http://schemas.microsoft.com/office/drawing/2014/main" val="4131807763"/>
                        </a:ext>
                      </a:extLst>
                    </a:gridCol>
                    <a:gridCol w="540000">
                      <a:extLst>
                        <a:ext uri="{9D8B030D-6E8A-4147-A177-3AD203B41FA5}">
                          <a16:colId xmlns:a16="http://schemas.microsoft.com/office/drawing/2014/main" val="2190297588"/>
                        </a:ext>
                      </a:extLst>
                    </a:gridCol>
                  </a:tblGrid>
                  <a:tr h="229371">
                    <a:tc>
                      <a:txBody>
                        <a:bodyPr/>
                        <a:lstStyle/>
                        <a:p>
                          <a:pPr algn="ctr"/>
                          <a14:m>
                            <m:oMath xmlns:m="http://schemas.openxmlformats.org/officeDocument/2006/math">
                              <m:r>
                                <a:rPr lang="en-US" altLang="zh-TW" sz="2800" b="0" i="1" smtClean="0">
                                  <a:solidFill>
                                    <a:srgbClr val="0070C0"/>
                                  </a:solidFill>
                                  <a:latin typeface="Cambria Math" panose="02040503050406030204" pitchFamily="18" charset="0"/>
                                  <a:cs typeface="Times New Roman" panose="02020603050405020304" pitchFamily="18" charset="0"/>
                                </a:rPr>
                                <m:t>𝑇</m:t>
                              </m:r>
                              <m:r>
                                <a:rPr lang="en-US" altLang="zh-TW" sz="2800" b="0" i="1" smtClean="0">
                                  <a:solidFill>
                                    <a:srgbClr val="0070C0"/>
                                  </a:solidFill>
                                  <a:latin typeface="Cambria Math" panose="02040503050406030204" pitchFamily="18" charset="0"/>
                                  <a:cs typeface="Times New Roman" panose="02020603050405020304" pitchFamily="18" charset="0"/>
                                </a:rPr>
                                <m:t>′</m:t>
                              </m:r>
                            </m:oMath>
                          </a14:m>
                          <a:r>
                            <a:rPr lang="en-US" altLang="zh-TW" sz="2800" dirty="0">
                              <a:solidFill>
                                <a:srgbClr val="0070C0"/>
                              </a:solidFill>
                              <a:latin typeface="Times New Roman" panose="02020603050405020304" pitchFamily="18" charset="0"/>
                              <a:cs typeface="Times New Roman" panose="02020603050405020304" pitchFamily="18" charset="0"/>
                            </a:rPr>
                            <a:t>:</a:t>
                          </a:r>
                          <a:endParaRPr lang="zh-TW" altLang="en-US" sz="2800" dirty="0">
                            <a:solidFill>
                              <a:srgbClr val="0070C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70C0"/>
                              </a:solidFill>
                              <a:latin typeface="Times New Roman" panose="02020603050405020304" pitchFamily="18" charset="0"/>
                              <a:cs typeface="Times New Roman" panose="02020603050405020304" pitchFamily="18" charset="0"/>
                            </a:rPr>
                            <a:t>1</a:t>
                          </a:r>
                          <a:endParaRPr lang="zh-TW" altLang="en-US" sz="2800" dirty="0">
                            <a:solidFill>
                              <a:srgbClr val="0070C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70C0"/>
                              </a:solidFill>
                              <a:latin typeface="Times New Roman" panose="02020603050405020304" pitchFamily="18" charset="0"/>
                              <a:cs typeface="Times New Roman" panose="02020603050405020304" pitchFamily="18" charset="0"/>
                            </a:rPr>
                            <a:t>0</a:t>
                          </a:r>
                          <a:endParaRPr lang="zh-TW" altLang="en-US" sz="2800" dirty="0">
                            <a:solidFill>
                              <a:srgbClr val="0070C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70C0"/>
                              </a:solidFill>
                              <a:latin typeface="Times New Roman" panose="02020603050405020304" pitchFamily="18" charset="0"/>
                              <a:cs typeface="Times New Roman" panose="02020603050405020304" pitchFamily="18" charset="0"/>
                            </a:rPr>
                            <a:t>0</a:t>
                          </a:r>
                          <a:endParaRPr lang="zh-TW" altLang="en-US" sz="2800" dirty="0">
                            <a:solidFill>
                              <a:srgbClr val="0070C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70C0"/>
                              </a:solidFill>
                              <a:latin typeface="Times New Roman" panose="02020603050405020304" pitchFamily="18" charset="0"/>
                              <a:cs typeface="Times New Roman" panose="02020603050405020304" pitchFamily="18" charset="0"/>
                            </a:rPr>
                            <a:t>1</a:t>
                          </a:r>
                          <a:endParaRPr lang="zh-TW" altLang="en-US" sz="2800" dirty="0">
                            <a:solidFill>
                              <a:srgbClr val="0070C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70C0"/>
                              </a:solidFill>
                              <a:latin typeface="Times New Roman" panose="02020603050405020304" pitchFamily="18" charset="0"/>
                              <a:cs typeface="Times New Roman" panose="02020603050405020304" pitchFamily="18" charset="0"/>
                            </a:rPr>
                            <a:t>0</a:t>
                          </a:r>
                          <a:endParaRPr lang="zh-TW" altLang="en-US" sz="2800" dirty="0">
                            <a:solidFill>
                              <a:srgbClr val="0070C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70C0"/>
                              </a:solidFill>
                              <a:latin typeface="Times New Roman" panose="02020603050405020304" pitchFamily="18" charset="0"/>
                              <a:cs typeface="Times New Roman" panose="02020603050405020304" pitchFamily="18" charset="0"/>
                            </a:rPr>
                            <a:t>1</a:t>
                          </a:r>
                          <a:endParaRPr lang="zh-TW" altLang="en-US" sz="2800" dirty="0">
                            <a:solidFill>
                              <a:srgbClr val="0070C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70C0"/>
                              </a:solidFill>
                              <a:latin typeface="Times New Roman" panose="02020603050405020304" pitchFamily="18" charset="0"/>
                              <a:cs typeface="Times New Roman" panose="02020603050405020304" pitchFamily="18" charset="0"/>
                            </a:rPr>
                            <a:t>0</a:t>
                          </a:r>
                          <a:endParaRPr lang="zh-TW" altLang="en-US" sz="2800" dirty="0">
                            <a:solidFill>
                              <a:srgbClr val="0070C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70C0"/>
                              </a:solidFill>
                              <a:latin typeface="Times New Roman" panose="02020603050405020304" pitchFamily="18" charset="0"/>
                              <a:cs typeface="Times New Roman" panose="02020603050405020304" pitchFamily="18" charset="0"/>
                            </a:rPr>
                            <a:t>0</a:t>
                          </a:r>
                          <a:endParaRPr lang="zh-TW" altLang="en-US" sz="2800" dirty="0">
                            <a:solidFill>
                              <a:srgbClr val="0070C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70C0"/>
                              </a:solidFill>
                              <a:latin typeface="Times New Roman" panose="02020603050405020304" pitchFamily="18" charset="0"/>
                              <a:cs typeface="Times New Roman" panose="02020603050405020304" pitchFamily="18" charset="0"/>
                            </a:rPr>
                            <a:t>1</a:t>
                          </a:r>
                          <a:endParaRPr lang="zh-TW" altLang="en-US" sz="2800" dirty="0">
                            <a:solidFill>
                              <a:srgbClr val="0070C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70C0"/>
                              </a:solidFill>
                              <a:latin typeface="Times New Roman" panose="02020603050405020304" pitchFamily="18" charset="0"/>
                              <a:cs typeface="Times New Roman" panose="02020603050405020304" pitchFamily="18" charset="0"/>
                            </a:rPr>
                            <a:t>1</a:t>
                          </a:r>
                          <a:endParaRPr lang="zh-TW" altLang="en-US" sz="2800" dirty="0">
                            <a:solidFill>
                              <a:srgbClr val="0070C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70C0"/>
                              </a:solidFill>
                              <a:latin typeface="Times New Roman" panose="02020603050405020304" pitchFamily="18" charset="0"/>
                              <a:cs typeface="Times New Roman" panose="02020603050405020304" pitchFamily="18" charset="0"/>
                            </a:rPr>
                            <a:t>0</a:t>
                          </a:r>
                          <a:endParaRPr lang="zh-TW" altLang="en-US" sz="2800" dirty="0">
                            <a:solidFill>
                              <a:srgbClr val="0070C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70C0"/>
                              </a:solidFill>
                              <a:latin typeface="Times New Roman" panose="02020603050405020304" pitchFamily="18" charset="0"/>
                              <a:cs typeface="Times New Roman" panose="02020603050405020304" pitchFamily="18" charset="0"/>
                            </a:rPr>
                            <a:t>0</a:t>
                          </a:r>
                          <a:endParaRPr lang="zh-TW" altLang="en-US" sz="2800" dirty="0">
                            <a:solidFill>
                              <a:srgbClr val="0070C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endParaRPr lang="zh-TW" altLang="en-US" sz="2800" dirty="0">
                            <a:solidFill>
                              <a:srgbClr val="0070C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706415246"/>
                      </a:ext>
                    </a:extLst>
                  </a:tr>
                </a:tbl>
              </a:graphicData>
            </a:graphic>
          </p:graphicFrame>
        </mc:Choice>
        <mc:Fallback>
          <p:graphicFrame>
            <p:nvGraphicFramePr>
              <p:cNvPr id="9" name="表格 8">
                <a:extLst>
                  <a:ext uri="{FF2B5EF4-FFF2-40B4-BE49-F238E27FC236}">
                    <a16:creationId xmlns:a16="http://schemas.microsoft.com/office/drawing/2014/main" id="{389994F4-5F2E-435A-8057-C5AF2DCD791C}"/>
                  </a:ext>
                </a:extLst>
              </p:cNvPr>
              <p:cNvGraphicFramePr>
                <a:graphicFrameLocks noGrp="1"/>
              </p:cNvGraphicFramePr>
              <p:nvPr>
                <p:extLst>
                  <p:ext uri="{D42A27DB-BD31-4B8C-83A1-F6EECF244321}">
                    <p14:modId xmlns:p14="http://schemas.microsoft.com/office/powerpoint/2010/main" val="2548940882"/>
                  </p:ext>
                </p:extLst>
              </p:nvPr>
            </p:nvGraphicFramePr>
            <p:xfrm>
              <a:off x="596038" y="3517153"/>
              <a:ext cx="7560000" cy="518160"/>
            </p:xfrm>
            <a:graphic>
              <a:graphicData uri="http://schemas.openxmlformats.org/drawingml/2006/table">
                <a:tbl>
                  <a:tblPr firstRow="1" bandRow="1">
                    <a:tableStyleId>{5940675A-B579-460E-94D1-54222C63F5DA}</a:tableStyleId>
                  </a:tblPr>
                  <a:tblGrid>
                    <a:gridCol w="540000">
                      <a:extLst>
                        <a:ext uri="{9D8B030D-6E8A-4147-A177-3AD203B41FA5}">
                          <a16:colId xmlns:a16="http://schemas.microsoft.com/office/drawing/2014/main" val="106444939"/>
                        </a:ext>
                      </a:extLst>
                    </a:gridCol>
                    <a:gridCol w="540000">
                      <a:extLst>
                        <a:ext uri="{9D8B030D-6E8A-4147-A177-3AD203B41FA5}">
                          <a16:colId xmlns:a16="http://schemas.microsoft.com/office/drawing/2014/main" val="3438003960"/>
                        </a:ext>
                      </a:extLst>
                    </a:gridCol>
                    <a:gridCol w="540000">
                      <a:extLst>
                        <a:ext uri="{9D8B030D-6E8A-4147-A177-3AD203B41FA5}">
                          <a16:colId xmlns:a16="http://schemas.microsoft.com/office/drawing/2014/main" val="1539556327"/>
                        </a:ext>
                      </a:extLst>
                    </a:gridCol>
                    <a:gridCol w="540000">
                      <a:extLst>
                        <a:ext uri="{9D8B030D-6E8A-4147-A177-3AD203B41FA5}">
                          <a16:colId xmlns:a16="http://schemas.microsoft.com/office/drawing/2014/main" val="1393179428"/>
                        </a:ext>
                      </a:extLst>
                    </a:gridCol>
                    <a:gridCol w="540000">
                      <a:extLst>
                        <a:ext uri="{9D8B030D-6E8A-4147-A177-3AD203B41FA5}">
                          <a16:colId xmlns:a16="http://schemas.microsoft.com/office/drawing/2014/main" val="3965888546"/>
                        </a:ext>
                      </a:extLst>
                    </a:gridCol>
                    <a:gridCol w="540000">
                      <a:extLst>
                        <a:ext uri="{9D8B030D-6E8A-4147-A177-3AD203B41FA5}">
                          <a16:colId xmlns:a16="http://schemas.microsoft.com/office/drawing/2014/main" val="82904498"/>
                        </a:ext>
                      </a:extLst>
                    </a:gridCol>
                    <a:gridCol w="540000">
                      <a:extLst>
                        <a:ext uri="{9D8B030D-6E8A-4147-A177-3AD203B41FA5}">
                          <a16:colId xmlns:a16="http://schemas.microsoft.com/office/drawing/2014/main" val="2214715668"/>
                        </a:ext>
                      </a:extLst>
                    </a:gridCol>
                    <a:gridCol w="540000">
                      <a:extLst>
                        <a:ext uri="{9D8B030D-6E8A-4147-A177-3AD203B41FA5}">
                          <a16:colId xmlns:a16="http://schemas.microsoft.com/office/drawing/2014/main" val="777121050"/>
                        </a:ext>
                      </a:extLst>
                    </a:gridCol>
                    <a:gridCol w="540000">
                      <a:extLst>
                        <a:ext uri="{9D8B030D-6E8A-4147-A177-3AD203B41FA5}">
                          <a16:colId xmlns:a16="http://schemas.microsoft.com/office/drawing/2014/main" val="2140332791"/>
                        </a:ext>
                      </a:extLst>
                    </a:gridCol>
                    <a:gridCol w="540000">
                      <a:extLst>
                        <a:ext uri="{9D8B030D-6E8A-4147-A177-3AD203B41FA5}">
                          <a16:colId xmlns:a16="http://schemas.microsoft.com/office/drawing/2014/main" val="1910247371"/>
                        </a:ext>
                      </a:extLst>
                    </a:gridCol>
                    <a:gridCol w="540000">
                      <a:extLst>
                        <a:ext uri="{9D8B030D-6E8A-4147-A177-3AD203B41FA5}">
                          <a16:colId xmlns:a16="http://schemas.microsoft.com/office/drawing/2014/main" val="3804762709"/>
                        </a:ext>
                      </a:extLst>
                    </a:gridCol>
                    <a:gridCol w="540000">
                      <a:extLst>
                        <a:ext uri="{9D8B030D-6E8A-4147-A177-3AD203B41FA5}">
                          <a16:colId xmlns:a16="http://schemas.microsoft.com/office/drawing/2014/main" val="354420647"/>
                        </a:ext>
                      </a:extLst>
                    </a:gridCol>
                    <a:gridCol w="540000">
                      <a:extLst>
                        <a:ext uri="{9D8B030D-6E8A-4147-A177-3AD203B41FA5}">
                          <a16:colId xmlns:a16="http://schemas.microsoft.com/office/drawing/2014/main" val="4131807763"/>
                        </a:ext>
                      </a:extLst>
                    </a:gridCol>
                    <a:gridCol w="540000">
                      <a:extLst>
                        <a:ext uri="{9D8B030D-6E8A-4147-A177-3AD203B41FA5}">
                          <a16:colId xmlns:a16="http://schemas.microsoft.com/office/drawing/2014/main" val="2190297588"/>
                        </a:ext>
                      </a:extLst>
                    </a:gridCol>
                  </a:tblGrid>
                  <a:tr h="518160">
                    <a:tc>
                      <a:txBody>
                        <a:bodyPr/>
                        <a:lstStyle/>
                        <a:p>
                          <a:endParaRPr lang="zh-TW"/>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blipFill>
                          <a:blip r:embed="rId3"/>
                          <a:stretch>
                            <a:fillRect t="-11628" r="-1294382" b="-32558"/>
                          </a:stretch>
                        </a:blipFill>
                      </a:tcPr>
                    </a:tc>
                    <a:tc>
                      <a:txBody>
                        <a:bodyPr/>
                        <a:lstStyle/>
                        <a:p>
                          <a:pPr algn="ctr"/>
                          <a:r>
                            <a:rPr lang="en-US" altLang="zh-TW" sz="2800" dirty="0">
                              <a:solidFill>
                                <a:srgbClr val="0070C0"/>
                              </a:solidFill>
                              <a:latin typeface="Times New Roman" panose="02020603050405020304" pitchFamily="18" charset="0"/>
                              <a:cs typeface="Times New Roman" panose="02020603050405020304" pitchFamily="18" charset="0"/>
                            </a:rPr>
                            <a:t>1</a:t>
                          </a:r>
                          <a:endParaRPr lang="zh-TW" altLang="en-US" sz="2800" dirty="0">
                            <a:solidFill>
                              <a:srgbClr val="0070C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70C0"/>
                              </a:solidFill>
                              <a:latin typeface="Times New Roman" panose="02020603050405020304" pitchFamily="18" charset="0"/>
                              <a:cs typeface="Times New Roman" panose="02020603050405020304" pitchFamily="18" charset="0"/>
                            </a:rPr>
                            <a:t>0</a:t>
                          </a:r>
                          <a:endParaRPr lang="zh-TW" altLang="en-US" sz="2800" dirty="0">
                            <a:solidFill>
                              <a:srgbClr val="0070C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70C0"/>
                              </a:solidFill>
                              <a:latin typeface="Times New Roman" panose="02020603050405020304" pitchFamily="18" charset="0"/>
                              <a:cs typeface="Times New Roman" panose="02020603050405020304" pitchFamily="18" charset="0"/>
                            </a:rPr>
                            <a:t>0</a:t>
                          </a:r>
                          <a:endParaRPr lang="zh-TW" altLang="en-US" sz="2800" dirty="0">
                            <a:solidFill>
                              <a:srgbClr val="0070C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70C0"/>
                              </a:solidFill>
                              <a:latin typeface="Times New Roman" panose="02020603050405020304" pitchFamily="18" charset="0"/>
                              <a:cs typeface="Times New Roman" panose="02020603050405020304" pitchFamily="18" charset="0"/>
                            </a:rPr>
                            <a:t>1</a:t>
                          </a:r>
                          <a:endParaRPr lang="zh-TW" altLang="en-US" sz="2800" dirty="0">
                            <a:solidFill>
                              <a:srgbClr val="0070C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70C0"/>
                              </a:solidFill>
                              <a:latin typeface="Times New Roman" panose="02020603050405020304" pitchFamily="18" charset="0"/>
                              <a:cs typeface="Times New Roman" panose="02020603050405020304" pitchFamily="18" charset="0"/>
                            </a:rPr>
                            <a:t>0</a:t>
                          </a:r>
                          <a:endParaRPr lang="zh-TW" altLang="en-US" sz="2800" dirty="0">
                            <a:solidFill>
                              <a:srgbClr val="0070C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70C0"/>
                              </a:solidFill>
                              <a:latin typeface="Times New Roman" panose="02020603050405020304" pitchFamily="18" charset="0"/>
                              <a:cs typeface="Times New Roman" panose="02020603050405020304" pitchFamily="18" charset="0"/>
                            </a:rPr>
                            <a:t>1</a:t>
                          </a:r>
                          <a:endParaRPr lang="zh-TW" altLang="en-US" sz="2800" dirty="0">
                            <a:solidFill>
                              <a:srgbClr val="0070C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70C0"/>
                              </a:solidFill>
                              <a:latin typeface="Times New Roman" panose="02020603050405020304" pitchFamily="18" charset="0"/>
                              <a:cs typeface="Times New Roman" panose="02020603050405020304" pitchFamily="18" charset="0"/>
                            </a:rPr>
                            <a:t>0</a:t>
                          </a:r>
                          <a:endParaRPr lang="zh-TW" altLang="en-US" sz="2800" dirty="0">
                            <a:solidFill>
                              <a:srgbClr val="0070C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70C0"/>
                              </a:solidFill>
                              <a:latin typeface="Times New Roman" panose="02020603050405020304" pitchFamily="18" charset="0"/>
                              <a:cs typeface="Times New Roman" panose="02020603050405020304" pitchFamily="18" charset="0"/>
                            </a:rPr>
                            <a:t>0</a:t>
                          </a:r>
                          <a:endParaRPr lang="zh-TW" altLang="en-US" sz="2800" dirty="0">
                            <a:solidFill>
                              <a:srgbClr val="0070C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70C0"/>
                              </a:solidFill>
                              <a:latin typeface="Times New Roman" panose="02020603050405020304" pitchFamily="18" charset="0"/>
                              <a:cs typeface="Times New Roman" panose="02020603050405020304" pitchFamily="18" charset="0"/>
                            </a:rPr>
                            <a:t>1</a:t>
                          </a:r>
                          <a:endParaRPr lang="zh-TW" altLang="en-US" sz="2800" dirty="0">
                            <a:solidFill>
                              <a:srgbClr val="0070C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70C0"/>
                              </a:solidFill>
                              <a:latin typeface="Times New Roman" panose="02020603050405020304" pitchFamily="18" charset="0"/>
                              <a:cs typeface="Times New Roman" panose="02020603050405020304" pitchFamily="18" charset="0"/>
                            </a:rPr>
                            <a:t>1</a:t>
                          </a:r>
                          <a:endParaRPr lang="zh-TW" altLang="en-US" sz="2800" dirty="0">
                            <a:solidFill>
                              <a:srgbClr val="0070C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70C0"/>
                              </a:solidFill>
                              <a:latin typeface="Times New Roman" panose="02020603050405020304" pitchFamily="18" charset="0"/>
                              <a:cs typeface="Times New Roman" panose="02020603050405020304" pitchFamily="18" charset="0"/>
                            </a:rPr>
                            <a:t>0</a:t>
                          </a:r>
                          <a:endParaRPr lang="zh-TW" altLang="en-US" sz="2800" dirty="0">
                            <a:solidFill>
                              <a:srgbClr val="0070C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70C0"/>
                              </a:solidFill>
                              <a:latin typeface="Times New Roman" panose="02020603050405020304" pitchFamily="18" charset="0"/>
                              <a:cs typeface="Times New Roman" panose="02020603050405020304" pitchFamily="18" charset="0"/>
                            </a:rPr>
                            <a:t>0</a:t>
                          </a:r>
                          <a:endParaRPr lang="zh-TW" altLang="en-US" sz="2800" dirty="0">
                            <a:solidFill>
                              <a:srgbClr val="0070C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endParaRPr lang="zh-TW" altLang="en-US" sz="2800" dirty="0">
                            <a:solidFill>
                              <a:srgbClr val="0070C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706415246"/>
                      </a:ext>
                    </a:extLst>
                  </a:tr>
                </a:tbl>
              </a:graphicData>
            </a:graphic>
          </p:graphicFrame>
        </mc:Fallback>
      </mc:AlternateContent>
      <mc:AlternateContent xmlns:mc="http://schemas.openxmlformats.org/markup-compatibility/2006" xmlns:a14="http://schemas.microsoft.com/office/drawing/2010/main">
        <mc:Choice Requires="a14">
          <p:sp>
            <p:nvSpPr>
              <p:cNvPr id="17" name="矩形 16">
                <a:extLst>
                  <a:ext uri="{FF2B5EF4-FFF2-40B4-BE49-F238E27FC236}">
                    <a16:creationId xmlns:a16="http://schemas.microsoft.com/office/drawing/2014/main" id="{CD2A594C-2F00-4EE6-9EB0-117C4925313E}"/>
                  </a:ext>
                </a:extLst>
              </p:cNvPr>
              <p:cNvSpPr/>
              <p:nvPr/>
            </p:nvSpPr>
            <p:spPr>
              <a:xfrm>
                <a:off x="402232" y="1430001"/>
                <a:ext cx="8573602" cy="916148"/>
              </a:xfrm>
              <a:prstGeom prst="rect">
                <a:avLst/>
              </a:prstGeom>
            </p:spPr>
            <p:txBody>
              <a:bodyPr wrap="square">
                <a:spAutoFit/>
              </a:bodyPr>
              <a:lstStyle/>
              <a:p>
                <a:r>
                  <a:rPr lang="en-US" altLang="zh-TW" sz="2400" dirty="0">
                    <a:latin typeface="Times New Roman" panose="02020603050405020304" pitchFamily="18" charset="0"/>
                  </a:rPr>
                  <a:t>for string </a:t>
                </a:r>
                <a14:m>
                  <m:oMath xmlns:m="http://schemas.openxmlformats.org/officeDocument/2006/math">
                    <m:r>
                      <a:rPr lang="en-US" altLang="zh-TW" sz="2400" b="0" i="1" dirty="0" smtClean="0">
                        <a:latin typeface="Cambria Math" panose="02040503050406030204" pitchFamily="18" charset="0"/>
                      </a:rPr>
                      <m:t>𝑆</m:t>
                    </m:r>
                    <m:r>
                      <a:rPr lang="en-US" altLang="zh-TW" sz="2400" b="0" i="1" dirty="0" smtClean="0">
                        <a:latin typeface="Cambria Math" panose="02040503050406030204" pitchFamily="18" charset="0"/>
                      </a:rPr>
                      <m:t>=</m:t>
                    </m:r>
                    <m:sSub>
                      <m:sSubPr>
                        <m:ctrlPr>
                          <a:rPr lang="en-US" altLang="zh-TW" sz="2400" b="0" i="1" dirty="0" smtClean="0">
                            <a:latin typeface="Cambria Math" panose="02040503050406030204" pitchFamily="18" charset="0"/>
                          </a:rPr>
                        </m:ctrlPr>
                      </m:sSubPr>
                      <m:e>
                        <m:r>
                          <a:rPr lang="en-US" altLang="zh-TW" sz="2400" b="0" i="1" dirty="0" smtClean="0">
                            <a:latin typeface="Cambria Math" panose="02040503050406030204" pitchFamily="18" charset="0"/>
                          </a:rPr>
                          <m:t>𝑆</m:t>
                        </m:r>
                      </m:e>
                      <m:sub>
                        <m:r>
                          <a:rPr lang="en-US" altLang="zh-TW" sz="2400" b="0" i="1" dirty="0" smtClean="0">
                            <a:latin typeface="Cambria Math" panose="02040503050406030204" pitchFamily="18" charset="0"/>
                          </a:rPr>
                          <m:t>1</m:t>
                        </m:r>
                      </m:sub>
                    </m:sSub>
                    <m:sSub>
                      <m:sSubPr>
                        <m:ctrlPr>
                          <a:rPr lang="en-US" altLang="zh-TW" sz="2400" b="0" i="1" dirty="0" smtClean="0">
                            <a:latin typeface="Cambria Math" panose="02040503050406030204" pitchFamily="18" charset="0"/>
                          </a:rPr>
                        </m:ctrlPr>
                      </m:sSubPr>
                      <m:e>
                        <m:r>
                          <a:rPr lang="en-US" altLang="zh-TW" sz="2400" b="0" i="1" dirty="0" smtClean="0">
                            <a:latin typeface="Cambria Math" panose="02040503050406030204" pitchFamily="18" charset="0"/>
                          </a:rPr>
                          <m:t>𝑆</m:t>
                        </m:r>
                      </m:e>
                      <m:sub>
                        <m:r>
                          <a:rPr lang="en-US" altLang="zh-TW" sz="2400" b="0" i="1" dirty="0" smtClean="0">
                            <a:latin typeface="Cambria Math" panose="02040503050406030204" pitchFamily="18" charset="0"/>
                          </a:rPr>
                          <m:t>2</m:t>
                        </m:r>
                      </m:sub>
                    </m:sSub>
                    <m:r>
                      <a:rPr lang="en-US" altLang="zh-TW" sz="2400" b="0" i="1" dirty="0" smtClean="0">
                        <a:latin typeface="Cambria Math" panose="02040503050406030204" pitchFamily="18" charset="0"/>
                      </a:rPr>
                      <m:t>…</m:t>
                    </m:r>
                    <m:sSub>
                      <m:sSubPr>
                        <m:ctrlPr>
                          <a:rPr lang="en-US" altLang="zh-TW" sz="2400" b="0" i="1" dirty="0" smtClean="0">
                            <a:latin typeface="Cambria Math" panose="02040503050406030204" pitchFamily="18" charset="0"/>
                          </a:rPr>
                        </m:ctrlPr>
                      </m:sSubPr>
                      <m:e>
                        <m:r>
                          <a:rPr lang="en-US" altLang="zh-TW" sz="2400" b="0" i="1" dirty="0" smtClean="0">
                            <a:latin typeface="Cambria Math" panose="02040503050406030204" pitchFamily="18" charset="0"/>
                          </a:rPr>
                          <m:t>𝑆</m:t>
                        </m:r>
                      </m:e>
                      <m:sub>
                        <m:r>
                          <a:rPr lang="en-US" altLang="zh-TW" sz="2400" b="0" i="1" dirty="0" smtClean="0">
                            <a:latin typeface="Cambria Math" panose="02040503050406030204" pitchFamily="18" charset="0"/>
                          </a:rPr>
                          <m:t>𝑚</m:t>
                        </m:r>
                      </m:sub>
                    </m:sSub>
                    <m:r>
                      <a:rPr lang="en-US" altLang="zh-TW" sz="2400" b="0" i="1" dirty="0" smtClean="0">
                        <a:latin typeface="Cambria Math" panose="02040503050406030204" pitchFamily="18" charset="0"/>
                      </a:rPr>
                      <m:t>,  </m:t>
                    </m:r>
                    <m:sSubSup>
                      <m:sSubSupPr>
                        <m:ctrlPr>
                          <a:rPr lang="en-US" altLang="zh-TW" sz="2400" b="0" i="1" dirty="0" smtClean="0">
                            <a:latin typeface="Cambria Math" panose="02040503050406030204" pitchFamily="18" charset="0"/>
                          </a:rPr>
                        </m:ctrlPr>
                      </m:sSubSupPr>
                      <m:e>
                        <m:r>
                          <a:rPr lang="en-US" altLang="zh-TW" sz="2400" b="0" i="1" dirty="0" smtClean="0">
                            <a:latin typeface="Cambria Math" panose="02040503050406030204" pitchFamily="18" charset="0"/>
                          </a:rPr>
                          <m:t>𝑆</m:t>
                        </m:r>
                      </m:e>
                      <m:sub>
                        <m:r>
                          <a:rPr lang="en-US" altLang="zh-TW" sz="2400" b="0" i="1" dirty="0" smtClean="0">
                            <a:latin typeface="Cambria Math" panose="02040503050406030204" pitchFamily="18" charset="0"/>
                          </a:rPr>
                          <m:t>𝑖</m:t>
                        </m:r>
                      </m:sub>
                      <m:sup>
                        <m:r>
                          <a:rPr lang="en-US" altLang="zh-TW" sz="2400" b="0" i="1" dirty="0" smtClean="0">
                            <a:latin typeface="Cambria Math" panose="02040503050406030204" pitchFamily="18" charset="0"/>
                          </a:rPr>
                          <m:t>′</m:t>
                        </m:r>
                      </m:sup>
                    </m:sSubSup>
                    <m:r>
                      <a:rPr lang="en-US" altLang="zh-TW" sz="2400" b="0" i="1" dirty="0" smtClean="0">
                        <a:latin typeface="Cambria Math" panose="02040503050406030204" pitchFamily="18" charset="0"/>
                      </a:rPr>
                      <m:t>=</m:t>
                    </m:r>
                    <m:d>
                      <m:dPr>
                        <m:begChr m:val="{"/>
                        <m:endChr m:val=""/>
                        <m:ctrlPr>
                          <a:rPr lang="en-US" altLang="zh-TW" sz="2400" b="0" i="1" dirty="0" smtClean="0">
                            <a:latin typeface="Cambria Math" panose="02040503050406030204" pitchFamily="18" charset="0"/>
                          </a:rPr>
                        </m:ctrlPr>
                      </m:dPr>
                      <m:e>
                        <m:eqArr>
                          <m:eqArrPr>
                            <m:ctrlPr>
                              <a:rPr lang="en-US" altLang="zh-TW" sz="2400" b="0" i="1" dirty="0" smtClean="0">
                                <a:latin typeface="Cambria Math" panose="02040503050406030204" pitchFamily="18" charset="0"/>
                              </a:rPr>
                            </m:ctrlPr>
                          </m:eqArrPr>
                          <m:e>
                            <m:r>
                              <a:rPr lang="en-US" altLang="zh-TW" sz="2400" b="0" i="1" dirty="0" smtClean="0">
                                <a:latin typeface="Cambria Math" panose="02040503050406030204" pitchFamily="18" charset="0"/>
                              </a:rPr>
                              <m:t>1,</m:t>
                            </m:r>
                          </m:e>
                          <m:e>
                            <m:r>
                              <a:rPr lang="en-US" altLang="zh-TW" sz="2400" b="0" i="1" dirty="0" smtClean="0">
                                <a:latin typeface="Cambria Math" panose="02040503050406030204" pitchFamily="18" charset="0"/>
                              </a:rPr>
                              <m:t>0,</m:t>
                            </m:r>
                          </m:e>
                        </m:eqArr>
                      </m:e>
                    </m:d>
                    <m:r>
                      <a:rPr lang="en-US" altLang="zh-TW" sz="2400" b="0" i="1" dirty="0" smtClean="0">
                        <a:latin typeface="Cambria Math" panose="02040503050406030204" pitchFamily="18" charset="0"/>
                      </a:rPr>
                      <m:t>                            (1≤</m:t>
                    </m:r>
                    <m:r>
                      <a:rPr lang="en-US" altLang="zh-TW" sz="2400" b="0" i="1" dirty="0" smtClean="0">
                        <a:latin typeface="Cambria Math" panose="02040503050406030204" pitchFamily="18" charset="0"/>
                      </a:rPr>
                      <m:t>𝑖</m:t>
                    </m:r>
                    <m:r>
                      <a:rPr lang="en-US" altLang="zh-TW" sz="2400" b="0" i="1" dirty="0" smtClean="0">
                        <a:latin typeface="Cambria Math" panose="02040503050406030204" pitchFamily="18" charset="0"/>
                      </a:rPr>
                      <m:t>≤</m:t>
                    </m:r>
                    <m:r>
                      <a:rPr lang="en-US" altLang="zh-TW" sz="2400" b="0" i="1" dirty="0" smtClean="0">
                        <a:latin typeface="Cambria Math" panose="02040503050406030204" pitchFamily="18" charset="0"/>
                      </a:rPr>
                      <m:t>𝑚</m:t>
                    </m:r>
                    <m:r>
                      <a:rPr lang="en-US" altLang="zh-TW" sz="2400" b="0" i="1" dirty="0" smtClean="0">
                        <a:latin typeface="Cambria Math" panose="02040503050406030204" pitchFamily="18" charset="0"/>
                      </a:rPr>
                      <m:t>−1)</m:t>
                    </m:r>
                  </m:oMath>
                </a14:m>
                <a:endParaRPr lang="zh-TW" altLang="en-US" sz="2400" dirty="0">
                  <a:latin typeface="Times New Roman" panose="02020603050405020304" pitchFamily="18" charset="0"/>
                </a:endParaRPr>
              </a:p>
            </p:txBody>
          </p:sp>
        </mc:Choice>
        <mc:Fallback xmlns="">
          <p:sp>
            <p:nvSpPr>
              <p:cNvPr id="17" name="矩形 16">
                <a:extLst>
                  <a:ext uri="{FF2B5EF4-FFF2-40B4-BE49-F238E27FC236}">
                    <a16:creationId xmlns:a16="http://schemas.microsoft.com/office/drawing/2014/main" id="{CD2A594C-2F00-4EE6-9EB0-117C4925313E}"/>
                  </a:ext>
                </a:extLst>
              </p:cNvPr>
              <p:cNvSpPr>
                <a:spLocks noRot="1" noChangeAspect="1" noMove="1" noResize="1" noEditPoints="1" noAdjustHandles="1" noChangeArrowheads="1" noChangeShapeType="1" noTextEdit="1"/>
              </p:cNvSpPr>
              <p:nvPr/>
            </p:nvSpPr>
            <p:spPr>
              <a:xfrm>
                <a:off x="402232" y="1430001"/>
                <a:ext cx="8573602" cy="916148"/>
              </a:xfrm>
              <a:prstGeom prst="rect">
                <a:avLst/>
              </a:prstGeom>
              <a:blipFill>
                <a:blip r:embed="rId7"/>
                <a:stretch>
                  <a:fillRect l="-1138"/>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 name="矩形 2">
                <a:extLst>
                  <a:ext uri="{FF2B5EF4-FFF2-40B4-BE49-F238E27FC236}">
                    <a16:creationId xmlns:a16="http://schemas.microsoft.com/office/drawing/2014/main" id="{C3CCD584-1730-46F0-9F9D-3D3D696704DE}"/>
                  </a:ext>
                </a:extLst>
              </p:cNvPr>
              <p:cNvSpPr/>
              <p:nvPr/>
            </p:nvSpPr>
            <p:spPr>
              <a:xfrm>
                <a:off x="5107297" y="1471267"/>
                <a:ext cx="1642244" cy="461665"/>
              </a:xfrm>
              <a:prstGeom prst="rect">
                <a:avLst/>
              </a:prstGeom>
            </p:spPr>
            <p:txBody>
              <a:bodyPr wrap="none">
                <a:spAutoFit/>
              </a:bodyPr>
              <a:lstStyle/>
              <a:p>
                <a:r>
                  <a:rPr lang="en-US" altLang="zh-TW" sz="2400" dirty="0">
                    <a:latin typeface="Times New Roman" panose="02020603050405020304" pitchFamily="18" charset="0"/>
                  </a:rPr>
                  <a:t>if </a:t>
                </a:r>
                <a14:m>
                  <m:oMath xmlns:m="http://schemas.openxmlformats.org/officeDocument/2006/math">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𝑆</m:t>
                        </m:r>
                      </m:e>
                      <m:sub>
                        <m:r>
                          <a:rPr lang="en-US" altLang="zh-TW" sz="2400" i="1">
                            <a:latin typeface="Cambria Math" panose="02040503050406030204" pitchFamily="18" charset="0"/>
                          </a:rPr>
                          <m:t>𝑖</m:t>
                        </m:r>
                      </m:sub>
                    </m:sSub>
                    <m:r>
                      <a:rPr lang="en-US" altLang="zh-TW" sz="2400" i="1">
                        <a:latin typeface="Cambria Math" panose="02040503050406030204" pitchFamily="18" charset="0"/>
                      </a:rPr>
                      <m:t>&lt;</m:t>
                    </m:r>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𝑆</m:t>
                        </m:r>
                      </m:e>
                      <m:sub>
                        <m:r>
                          <a:rPr lang="en-US" altLang="zh-TW" sz="2400" i="1">
                            <a:latin typeface="Cambria Math" panose="02040503050406030204" pitchFamily="18" charset="0"/>
                          </a:rPr>
                          <m:t>𝑖</m:t>
                        </m:r>
                        <m:r>
                          <a:rPr lang="en-US" altLang="zh-TW" sz="2400" i="1">
                            <a:latin typeface="Cambria Math" panose="02040503050406030204" pitchFamily="18" charset="0"/>
                          </a:rPr>
                          <m:t>+1</m:t>
                        </m:r>
                      </m:sub>
                    </m:sSub>
                  </m:oMath>
                </a14:m>
                <a:endParaRPr lang="zh-TW" altLang="en-US" sz="2400" dirty="0"/>
              </a:p>
            </p:txBody>
          </p:sp>
        </mc:Choice>
        <mc:Fallback xmlns="">
          <p:sp>
            <p:nvSpPr>
              <p:cNvPr id="3" name="矩形 2">
                <a:extLst>
                  <a:ext uri="{FF2B5EF4-FFF2-40B4-BE49-F238E27FC236}">
                    <a16:creationId xmlns:a16="http://schemas.microsoft.com/office/drawing/2014/main" id="{C3CCD584-1730-46F0-9F9D-3D3D696704DE}"/>
                  </a:ext>
                </a:extLst>
              </p:cNvPr>
              <p:cNvSpPr>
                <a:spLocks noRot="1" noChangeAspect="1" noMove="1" noResize="1" noEditPoints="1" noAdjustHandles="1" noChangeArrowheads="1" noChangeShapeType="1" noTextEdit="1"/>
              </p:cNvSpPr>
              <p:nvPr/>
            </p:nvSpPr>
            <p:spPr>
              <a:xfrm>
                <a:off x="5107297" y="1471267"/>
                <a:ext cx="1642244" cy="461665"/>
              </a:xfrm>
              <a:prstGeom prst="rect">
                <a:avLst/>
              </a:prstGeom>
              <a:blipFill>
                <a:blip r:embed="rId8"/>
                <a:stretch>
                  <a:fillRect l="-5948" t="-11842" b="-27632"/>
                </a:stretch>
              </a:blipFill>
            </p:spPr>
            <p:txBody>
              <a:bodyPr/>
              <a:lstStyle/>
              <a:p>
                <a:r>
                  <a:rPr lang="zh-TW" altLang="en-US">
                    <a:noFill/>
                  </a:rPr>
                  <a:t> </a:t>
                </a:r>
              </a:p>
            </p:txBody>
          </p:sp>
        </mc:Fallback>
      </mc:AlternateContent>
      <p:sp>
        <p:nvSpPr>
          <p:cNvPr id="18" name="矩形 17">
            <a:extLst>
              <a:ext uri="{FF2B5EF4-FFF2-40B4-BE49-F238E27FC236}">
                <a16:creationId xmlns:a16="http://schemas.microsoft.com/office/drawing/2014/main" id="{FE629B41-6CBD-4EC3-9217-70132AB87F19}"/>
              </a:ext>
            </a:extLst>
          </p:cNvPr>
          <p:cNvSpPr/>
          <p:nvPr/>
        </p:nvSpPr>
        <p:spPr>
          <a:xfrm>
            <a:off x="5107297" y="1836521"/>
            <a:ext cx="1380506" cy="461665"/>
          </a:xfrm>
          <a:prstGeom prst="rect">
            <a:avLst/>
          </a:prstGeom>
        </p:spPr>
        <p:txBody>
          <a:bodyPr wrap="none">
            <a:spAutoFit/>
          </a:bodyPr>
          <a:lstStyle/>
          <a:p>
            <a:r>
              <a:rPr lang="en-US" altLang="zh-TW" sz="2400" dirty="0">
                <a:latin typeface="Times New Roman" panose="02020603050405020304" pitchFamily="18" charset="0"/>
              </a:rPr>
              <a:t>otherwise</a:t>
            </a:r>
            <a:endParaRPr lang="zh-TW" altLang="en-US" sz="2400" dirty="0"/>
          </a:p>
        </p:txBody>
      </p:sp>
      <mc:AlternateContent xmlns:mc="http://schemas.openxmlformats.org/markup-compatibility/2006">
        <mc:Choice xmlns:a14="http://schemas.microsoft.com/office/drawing/2010/main" Requires="a14">
          <p:graphicFrame>
            <p:nvGraphicFramePr>
              <p:cNvPr id="11" name="表格 10">
                <a:extLst>
                  <a:ext uri="{FF2B5EF4-FFF2-40B4-BE49-F238E27FC236}">
                    <a16:creationId xmlns:a16="http://schemas.microsoft.com/office/drawing/2014/main" id="{F1987452-D9D9-459D-8741-C25C9DF1B1C0}"/>
                  </a:ext>
                </a:extLst>
              </p:cNvPr>
              <p:cNvGraphicFramePr>
                <a:graphicFrameLocks noGrp="1"/>
              </p:cNvGraphicFramePr>
              <p:nvPr>
                <p:extLst>
                  <p:ext uri="{D42A27DB-BD31-4B8C-83A1-F6EECF244321}">
                    <p14:modId xmlns:p14="http://schemas.microsoft.com/office/powerpoint/2010/main" val="1760453069"/>
                  </p:ext>
                </p:extLst>
              </p:nvPr>
            </p:nvGraphicFramePr>
            <p:xfrm>
              <a:off x="596038" y="2995874"/>
              <a:ext cx="7560000" cy="518160"/>
            </p:xfrm>
            <a:graphic>
              <a:graphicData uri="http://schemas.openxmlformats.org/drawingml/2006/table">
                <a:tbl>
                  <a:tblPr firstRow="1" bandRow="1">
                    <a:tableStyleId>{5940675A-B579-460E-94D1-54222C63F5DA}</a:tableStyleId>
                  </a:tblPr>
                  <a:tblGrid>
                    <a:gridCol w="540000">
                      <a:extLst>
                        <a:ext uri="{9D8B030D-6E8A-4147-A177-3AD203B41FA5}">
                          <a16:colId xmlns:a16="http://schemas.microsoft.com/office/drawing/2014/main" val="106444939"/>
                        </a:ext>
                      </a:extLst>
                    </a:gridCol>
                    <a:gridCol w="540000">
                      <a:extLst>
                        <a:ext uri="{9D8B030D-6E8A-4147-A177-3AD203B41FA5}">
                          <a16:colId xmlns:a16="http://schemas.microsoft.com/office/drawing/2014/main" val="3438003960"/>
                        </a:ext>
                      </a:extLst>
                    </a:gridCol>
                    <a:gridCol w="540000">
                      <a:extLst>
                        <a:ext uri="{9D8B030D-6E8A-4147-A177-3AD203B41FA5}">
                          <a16:colId xmlns:a16="http://schemas.microsoft.com/office/drawing/2014/main" val="1539556327"/>
                        </a:ext>
                      </a:extLst>
                    </a:gridCol>
                    <a:gridCol w="540000">
                      <a:extLst>
                        <a:ext uri="{9D8B030D-6E8A-4147-A177-3AD203B41FA5}">
                          <a16:colId xmlns:a16="http://schemas.microsoft.com/office/drawing/2014/main" val="1393179428"/>
                        </a:ext>
                      </a:extLst>
                    </a:gridCol>
                    <a:gridCol w="540000">
                      <a:extLst>
                        <a:ext uri="{9D8B030D-6E8A-4147-A177-3AD203B41FA5}">
                          <a16:colId xmlns:a16="http://schemas.microsoft.com/office/drawing/2014/main" val="3965888546"/>
                        </a:ext>
                      </a:extLst>
                    </a:gridCol>
                    <a:gridCol w="540000">
                      <a:extLst>
                        <a:ext uri="{9D8B030D-6E8A-4147-A177-3AD203B41FA5}">
                          <a16:colId xmlns:a16="http://schemas.microsoft.com/office/drawing/2014/main" val="82904498"/>
                        </a:ext>
                      </a:extLst>
                    </a:gridCol>
                    <a:gridCol w="540000">
                      <a:extLst>
                        <a:ext uri="{9D8B030D-6E8A-4147-A177-3AD203B41FA5}">
                          <a16:colId xmlns:a16="http://schemas.microsoft.com/office/drawing/2014/main" val="2214715668"/>
                        </a:ext>
                      </a:extLst>
                    </a:gridCol>
                    <a:gridCol w="540000">
                      <a:extLst>
                        <a:ext uri="{9D8B030D-6E8A-4147-A177-3AD203B41FA5}">
                          <a16:colId xmlns:a16="http://schemas.microsoft.com/office/drawing/2014/main" val="777121050"/>
                        </a:ext>
                      </a:extLst>
                    </a:gridCol>
                    <a:gridCol w="540000">
                      <a:extLst>
                        <a:ext uri="{9D8B030D-6E8A-4147-A177-3AD203B41FA5}">
                          <a16:colId xmlns:a16="http://schemas.microsoft.com/office/drawing/2014/main" val="2140332791"/>
                        </a:ext>
                      </a:extLst>
                    </a:gridCol>
                    <a:gridCol w="540000">
                      <a:extLst>
                        <a:ext uri="{9D8B030D-6E8A-4147-A177-3AD203B41FA5}">
                          <a16:colId xmlns:a16="http://schemas.microsoft.com/office/drawing/2014/main" val="1910247371"/>
                        </a:ext>
                      </a:extLst>
                    </a:gridCol>
                    <a:gridCol w="540000">
                      <a:extLst>
                        <a:ext uri="{9D8B030D-6E8A-4147-A177-3AD203B41FA5}">
                          <a16:colId xmlns:a16="http://schemas.microsoft.com/office/drawing/2014/main" val="3804762709"/>
                        </a:ext>
                      </a:extLst>
                    </a:gridCol>
                    <a:gridCol w="540000">
                      <a:extLst>
                        <a:ext uri="{9D8B030D-6E8A-4147-A177-3AD203B41FA5}">
                          <a16:colId xmlns:a16="http://schemas.microsoft.com/office/drawing/2014/main" val="354420647"/>
                        </a:ext>
                      </a:extLst>
                    </a:gridCol>
                    <a:gridCol w="540000">
                      <a:extLst>
                        <a:ext uri="{9D8B030D-6E8A-4147-A177-3AD203B41FA5}">
                          <a16:colId xmlns:a16="http://schemas.microsoft.com/office/drawing/2014/main" val="4131807763"/>
                        </a:ext>
                      </a:extLst>
                    </a:gridCol>
                    <a:gridCol w="540000">
                      <a:extLst>
                        <a:ext uri="{9D8B030D-6E8A-4147-A177-3AD203B41FA5}">
                          <a16:colId xmlns:a16="http://schemas.microsoft.com/office/drawing/2014/main" val="2190297588"/>
                        </a:ext>
                      </a:extLst>
                    </a:gridCol>
                  </a:tblGrid>
                  <a:tr h="229371">
                    <a:tc>
                      <a:txBody>
                        <a:bodyPr/>
                        <a:lstStyle/>
                        <a:p>
                          <a:pPr algn="ctr"/>
                          <a14:m>
                            <m:oMath xmlns:m="http://schemas.openxmlformats.org/officeDocument/2006/math">
                              <m:r>
                                <a:rPr lang="en-US" altLang="zh-TW" sz="2800" b="0" i="1" dirty="0" smtClean="0">
                                  <a:solidFill>
                                    <a:srgbClr val="002060"/>
                                  </a:solidFill>
                                  <a:latin typeface="Cambria Math" panose="02040503050406030204" pitchFamily="18" charset="0"/>
                                  <a:cs typeface="Times New Roman" panose="02020603050405020304" pitchFamily="18" charset="0"/>
                                </a:rPr>
                                <m:t>𝑇</m:t>
                              </m:r>
                            </m:oMath>
                          </a14:m>
                          <a:r>
                            <a:rPr lang="en-US" altLang="zh-TW" sz="2800" dirty="0">
                              <a:solidFill>
                                <a:srgbClr val="002060"/>
                              </a:solidFill>
                              <a:latin typeface="Times New Roman" panose="02020603050405020304" pitchFamily="18" charset="0"/>
                              <a:cs typeface="Times New Roman" panose="02020603050405020304" pitchFamily="18" charset="0"/>
                            </a:rPr>
                            <a: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22</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85</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79</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24</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42</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27</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62</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40</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32</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47</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69</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55</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25</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706415246"/>
                      </a:ext>
                    </a:extLst>
                  </a:tr>
                </a:tbl>
              </a:graphicData>
            </a:graphic>
          </p:graphicFrame>
        </mc:Choice>
        <mc:Fallback>
          <p:graphicFrame>
            <p:nvGraphicFramePr>
              <p:cNvPr id="11" name="表格 10">
                <a:extLst>
                  <a:ext uri="{FF2B5EF4-FFF2-40B4-BE49-F238E27FC236}">
                    <a16:creationId xmlns:a16="http://schemas.microsoft.com/office/drawing/2014/main" id="{F1987452-D9D9-459D-8741-C25C9DF1B1C0}"/>
                  </a:ext>
                </a:extLst>
              </p:cNvPr>
              <p:cNvGraphicFramePr>
                <a:graphicFrameLocks noGrp="1"/>
              </p:cNvGraphicFramePr>
              <p:nvPr>
                <p:extLst>
                  <p:ext uri="{D42A27DB-BD31-4B8C-83A1-F6EECF244321}">
                    <p14:modId xmlns:p14="http://schemas.microsoft.com/office/powerpoint/2010/main" val="1760453069"/>
                  </p:ext>
                </p:extLst>
              </p:nvPr>
            </p:nvGraphicFramePr>
            <p:xfrm>
              <a:off x="596038" y="2995874"/>
              <a:ext cx="7560000" cy="518160"/>
            </p:xfrm>
            <a:graphic>
              <a:graphicData uri="http://schemas.openxmlformats.org/drawingml/2006/table">
                <a:tbl>
                  <a:tblPr firstRow="1" bandRow="1">
                    <a:tableStyleId>{5940675A-B579-460E-94D1-54222C63F5DA}</a:tableStyleId>
                  </a:tblPr>
                  <a:tblGrid>
                    <a:gridCol w="540000">
                      <a:extLst>
                        <a:ext uri="{9D8B030D-6E8A-4147-A177-3AD203B41FA5}">
                          <a16:colId xmlns:a16="http://schemas.microsoft.com/office/drawing/2014/main" val="106444939"/>
                        </a:ext>
                      </a:extLst>
                    </a:gridCol>
                    <a:gridCol w="540000">
                      <a:extLst>
                        <a:ext uri="{9D8B030D-6E8A-4147-A177-3AD203B41FA5}">
                          <a16:colId xmlns:a16="http://schemas.microsoft.com/office/drawing/2014/main" val="3438003960"/>
                        </a:ext>
                      </a:extLst>
                    </a:gridCol>
                    <a:gridCol w="540000">
                      <a:extLst>
                        <a:ext uri="{9D8B030D-6E8A-4147-A177-3AD203B41FA5}">
                          <a16:colId xmlns:a16="http://schemas.microsoft.com/office/drawing/2014/main" val="1539556327"/>
                        </a:ext>
                      </a:extLst>
                    </a:gridCol>
                    <a:gridCol w="540000">
                      <a:extLst>
                        <a:ext uri="{9D8B030D-6E8A-4147-A177-3AD203B41FA5}">
                          <a16:colId xmlns:a16="http://schemas.microsoft.com/office/drawing/2014/main" val="1393179428"/>
                        </a:ext>
                      </a:extLst>
                    </a:gridCol>
                    <a:gridCol w="540000">
                      <a:extLst>
                        <a:ext uri="{9D8B030D-6E8A-4147-A177-3AD203B41FA5}">
                          <a16:colId xmlns:a16="http://schemas.microsoft.com/office/drawing/2014/main" val="3965888546"/>
                        </a:ext>
                      </a:extLst>
                    </a:gridCol>
                    <a:gridCol w="540000">
                      <a:extLst>
                        <a:ext uri="{9D8B030D-6E8A-4147-A177-3AD203B41FA5}">
                          <a16:colId xmlns:a16="http://schemas.microsoft.com/office/drawing/2014/main" val="82904498"/>
                        </a:ext>
                      </a:extLst>
                    </a:gridCol>
                    <a:gridCol w="540000">
                      <a:extLst>
                        <a:ext uri="{9D8B030D-6E8A-4147-A177-3AD203B41FA5}">
                          <a16:colId xmlns:a16="http://schemas.microsoft.com/office/drawing/2014/main" val="2214715668"/>
                        </a:ext>
                      </a:extLst>
                    </a:gridCol>
                    <a:gridCol w="540000">
                      <a:extLst>
                        <a:ext uri="{9D8B030D-6E8A-4147-A177-3AD203B41FA5}">
                          <a16:colId xmlns:a16="http://schemas.microsoft.com/office/drawing/2014/main" val="777121050"/>
                        </a:ext>
                      </a:extLst>
                    </a:gridCol>
                    <a:gridCol w="540000">
                      <a:extLst>
                        <a:ext uri="{9D8B030D-6E8A-4147-A177-3AD203B41FA5}">
                          <a16:colId xmlns:a16="http://schemas.microsoft.com/office/drawing/2014/main" val="2140332791"/>
                        </a:ext>
                      </a:extLst>
                    </a:gridCol>
                    <a:gridCol w="540000">
                      <a:extLst>
                        <a:ext uri="{9D8B030D-6E8A-4147-A177-3AD203B41FA5}">
                          <a16:colId xmlns:a16="http://schemas.microsoft.com/office/drawing/2014/main" val="1910247371"/>
                        </a:ext>
                      </a:extLst>
                    </a:gridCol>
                    <a:gridCol w="540000">
                      <a:extLst>
                        <a:ext uri="{9D8B030D-6E8A-4147-A177-3AD203B41FA5}">
                          <a16:colId xmlns:a16="http://schemas.microsoft.com/office/drawing/2014/main" val="3804762709"/>
                        </a:ext>
                      </a:extLst>
                    </a:gridCol>
                    <a:gridCol w="540000">
                      <a:extLst>
                        <a:ext uri="{9D8B030D-6E8A-4147-A177-3AD203B41FA5}">
                          <a16:colId xmlns:a16="http://schemas.microsoft.com/office/drawing/2014/main" val="354420647"/>
                        </a:ext>
                      </a:extLst>
                    </a:gridCol>
                    <a:gridCol w="540000">
                      <a:extLst>
                        <a:ext uri="{9D8B030D-6E8A-4147-A177-3AD203B41FA5}">
                          <a16:colId xmlns:a16="http://schemas.microsoft.com/office/drawing/2014/main" val="4131807763"/>
                        </a:ext>
                      </a:extLst>
                    </a:gridCol>
                    <a:gridCol w="540000">
                      <a:extLst>
                        <a:ext uri="{9D8B030D-6E8A-4147-A177-3AD203B41FA5}">
                          <a16:colId xmlns:a16="http://schemas.microsoft.com/office/drawing/2014/main" val="2190297588"/>
                        </a:ext>
                      </a:extLst>
                    </a:gridCol>
                  </a:tblGrid>
                  <a:tr h="518160">
                    <a:tc>
                      <a:txBody>
                        <a:bodyPr/>
                        <a:lstStyle/>
                        <a:p>
                          <a:endParaRPr lang="zh-TW"/>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blipFill>
                          <a:blip r:embed="rId9"/>
                          <a:stretch>
                            <a:fillRect t="-11628" r="-1294382" b="-31395"/>
                          </a:stretch>
                        </a:blip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22</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85</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79</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24</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42</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27</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62</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40</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32</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47</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69</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55</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25</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706415246"/>
                      </a:ext>
                    </a:extLst>
                  </a:tr>
                </a:tbl>
              </a:graphicData>
            </a:graphic>
          </p:graphicFrame>
        </mc:Fallback>
      </mc:AlternateContent>
      <mc:AlternateContent xmlns:mc="http://schemas.openxmlformats.org/markup-compatibility/2006">
        <mc:Choice xmlns:a14="http://schemas.microsoft.com/office/drawing/2010/main" Requires="a14">
          <p:graphicFrame>
            <p:nvGraphicFramePr>
              <p:cNvPr id="13" name="表格 12">
                <a:extLst>
                  <a:ext uri="{FF2B5EF4-FFF2-40B4-BE49-F238E27FC236}">
                    <a16:creationId xmlns:a16="http://schemas.microsoft.com/office/drawing/2014/main" id="{E67451B7-436B-4DCD-B3D0-48272B6E45DF}"/>
                  </a:ext>
                </a:extLst>
              </p:cNvPr>
              <p:cNvGraphicFramePr>
                <a:graphicFrameLocks noGrp="1"/>
              </p:cNvGraphicFramePr>
              <p:nvPr>
                <p:extLst>
                  <p:ext uri="{D42A27DB-BD31-4B8C-83A1-F6EECF244321}">
                    <p14:modId xmlns:p14="http://schemas.microsoft.com/office/powerpoint/2010/main" val="983435233"/>
                  </p:ext>
                </p:extLst>
              </p:nvPr>
            </p:nvGraphicFramePr>
            <p:xfrm>
              <a:off x="596038" y="4411226"/>
              <a:ext cx="4320000" cy="518160"/>
            </p:xfrm>
            <a:graphic>
              <a:graphicData uri="http://schemas.openxmlformats.org/drawingml/2006/table">
                <a:tbl>
                  <a:tblPr firstRow="1" bandRow="1">
                    <a:tableStyleId>{5940675A-B579-460E-94D1-54222C63F5DA}</a:tableStyleId>
                  </a:tblPr>
                  <a:tblGrid>
                    <a:gridCol w="540000">
                      <a:extLst>
                        <a:ext uri="{9D8B030D-6E8A-4147-A177-3AD203B41FA5}">
                          <a16:colId xmlns:a16="http://schemas.microsoft.com/office/drawing/2014/main" val="106444939"/>
                        </a:ext>
                      </a:extLst>
                    </a:gridCol>
                    <a:gridCol w="540000">
                      <a:extLst>
                        <a:ext uri="{9D8B030D-6E8A-4147-A177-3AD203B41FA5}">
                          <a16:colId xmlns:a16="http://schemas.microsoft.com/office/drawing/2014/main" val="3965888546"/>
                        </a:ext>
                      </a:extLst>
                    </a:gridCol>
                    <a:gridCol w="540000">
                      <a:extLst>
                        <a:ext uri="{9D8B030D-6E8A-4147-A177-3AD203B41FA5}">
                          <a16:colId xmlns:a16="http://schemas.microsoft.com/office/drawing/2014/main" val="82904498"/>
                        </a:ext>
                      </a:extLst>
                    </a:gridCol>
                    <a:gridCol w="540000">
                      <a:extLst>
                        <a:ext uri="{9D8B030D-6E8A-4147-A177-3AD203B41FA5}">
                          <a16:colId xmlns:a16="http://schemas.microsoft.com/office/drawing/2014/main" val="2214715668"/>
                        </a:ext>
                      </a:extLst>
                    </a:gridCol>
                    <a:gridCol w="540000">
                      <a:extLst>
                        <a:ext uri="{9D8B030D-6E8A-4147-A177-3AD203B41FA5}">
                          <a16:colId xmlns:a16="http://schemas.microsoft.com/office/drawing/2014/main" val="777121050"/>
                        </a:ext>
                      </a:extLst>
                    </a:gridCol>
                    <a:gridCol w="540000">
                      <a:extLst>
                        <a:ext uri="{9D8B030D-6E8A-4147-A177-3AD203B41FA5}">
                          <a16:colId xmlns:a16="http://schemas.microsoft.com/office/drawing/2014/main" val="2140332791"/>
                        </a:ext>
                      </a:extLst>
                    </a:gridCol>
                    <a:gridCol w="540000">
                      <a:extLst>
                        <a:ext uri="{9D8B030D-6E8A-4147-A177-3AD203B41FA5}">
                          <a16:colId xmlns:a16="http://schemas.microsoft.com/office/drawing/2014/main" val="1910247371"/>
                        </a:ext>
                      </a:extLst>
                    </a:gridCol>
                    <a:gridCol w="540000">
                      <a:extLst>
                        <a:ext uri="{9D8B030D-6E8A-4147-A177-3AD203B41FA5}">
                          <a16:colId xmlns:a16="http://schemas.microsoft.com/office/drawing/2014/main" val="3804762709"/>
                        </a:ext>
                      </a:extLst>
                    </a:gridCol>
                  </a:tblGrid>
                  <a:tr h="229371">
                    <a:tc>
                      <a:txBody>
                        <a:bodyPr/>
                        <a:lstStyle/>
                        <a:p>
                          <a:pPr algn="ctr"/>
                          <a14:m>
                            <m:oMath xmlns:m="http://schemas.openxmlformats.org/officeDocument/2006/math">
                              <m:r>
                                <a:rPr lang="en-US" altLang="zh-TW" sz="2800" b="0" i="1" smtClean="0">
                                  <a:solidFill>
                                    <a:srgbClr val="002060"/>
                                  </a:solidFill>
                                  <a:latin typeface="Cambria Math" panose="02040503050406030204" pitchFamily="18" charset="0"/>
                                  <a:cs typeface="Times New Roman" panose="02020603050405020304" pitchFamily="18" charset="0"/>
                                </a:rPr>
                                <m:t>𝑃</m:t>
                              </m:r>
                            </m:oMath>
                          </a14:m>
                          <a:r>
                            <a:rPr lang="en-US" altLang="zh-TW" sz="2800" dirty="0">
                              <a:solidFill>
                                <a:srgbClr val="002060"/>
                              </a:solidFill>
                              <a:latin typeface="Times New Roman" panose="02020603050405020304" pitchFamily="18" charset="0"/>
                              <a:cs typeface="Times New Roman" panose="02020603050405020304" pitchFamily="18" charset="0"/>
                            </a:rPr>
                            <a: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10</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22</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15</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30</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20</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18</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27</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706415246"/>
                      </a:ext>
                    </a:extLst>
                  </a:tr>
                </a:tbl>
              </a:graphicData>
            </a:graphic>
          </p:graphicFrame>
        </mc:Choice>
        <mc:Fallback>
          <p:graphicFrame>
            <p:nvGraphicFramePr>
              <p:cNvPr id="13" name="表格 12">
                <a:extLst>
                  <a:ext uri="{FF2B5EF4-FFF2-40B4-BE49-F238E27FC236}">
                    <a16:creationId xmlns:a16="http://schemas.microsoft.com/office/drawing/2014/main" id="{E67451B7-436B-4DCD-B3D0-48272B6E45DF}"/>
                  </a:ext>
                </a:extLst>
              </p:cNvPr>
              <p:cNvGraphicFramePr>
                <a:graphicFrameLocks noGrp="1"/>
              </p:cNvGraphicFramePr>
              <p:nvPr>
                <p:extLst>
                  <p:ext uri="{D42A27DB-BD31-4B8C-83A1-F6EECF244321}">
                    <p14:modId xmlns:p14="http://schemas.microsoft.com/office/powerpoint/2010/main" val="983435233"/>
                  </p:ext>
                </p:extLst>
              </p:nvPr>
            </p:nvGraphicFramePr>
            <p:xfrm>
              <a:off x="596038" y="4411226"/>
              <a:ext cx="4320000" cy="518160"/>
            </p:xfrm>
            <a:graphic>
              <a:graphicData uri="http://schemas.openxmlformats.org/drawingml/2006/table">
                <a:tbl>
                  <a:tblPr firstRow="1" bandRow="1">
                    <a:tableStyleId>{5940675A-B579-460E-94D1-54222C63F5DA}</a:tableStyleId>
                  </a:tblPr>
                  <a:tblGrid>
                    <a:gridCol w="540000">
                      <a:extLst>
                        <a:ext uri="{9D8B030D-6E8A-4147-A177-3AD203B41FA5}">
                          <a16:colId xmlns:a16="http://schemas.microsoft.com/office/drawing/2014/main" val="106444939"/>
                        </a:ext>
                      </a:extLst>
                    </a:gridCol>
                    <a:gridCol w="540000">
                      <a:extLst>
                        <a:ext uri="{9D8B030D-6E8A-4147-A177-3AD203B41FA5}">
                          <a16:colId xmlns:a16="http://schemas.microsoft.com/office/drawing/2014/main" val="3965888546"/>
                        </a:ext>
                      </a:extLst>
                    </a:gridCol>
                    <a:gridCol w="540000">
                      <a:extLst>
                        <a:ext uri="{9D8B030D-6E8A-4147-A177-3AD203B41FA5}">
                          <a16:colId xmlns:a16="http://schemas.microsoft.com/office/drawing/2014/main" val="82904498"/>
                        </a:ext>
                      </a:extLst>
                    </a:gridCol>
                    <a:gridCol w="540000">
                      <a:extLst>
                        <a:ext uri="{9D8B030D-6E8A-4147-A177-3AD203B41FA5}">
                          <a16:colId xmlns:a16="http://schemas.microsoft.com/office/drawing/2014/main" val="2214715668"/>
                        </a:ext>
                      </a:extLst>
                    </a:gridCol>
                    <a:gridCol w="540000">
                      <a:extLst>
                        <a:ext uri="{9D8B030D-6E8A-4147-A177-3AD203B41FA5}">
                          <a16:colId xmlns:a16="http://schemas.microsoft.com/office/drawing/2014/main" val="777121050"/>
                        </a:ext>
                      </a:extLst>
                    </a:gridCol>
                    <a:gridCol w="540000">
                      <a:extLst>
                        <a:ext uri="{9D8B030D-6E8A-4147-A177-3AD203B41FA5}">
                          <a16:colId xmlns:a16="http://schemas.microsoft.com/office/drawing/2014/main" val="2140332791"/>
                        </a:ext>
                      </a:extLst>
                    </a:gridCol>
                    <a:gridCol w="540000">
                      <a:extLst>
                        <a:ext uri="{9D8B030D-6E8A-4147-A177-3AD203B41FA5}">
                          <a16:colId xmlns:a16="http://schemas.microsoft.com/office/drawing/2014/main" val="1910247371"/>
                        </a:ext>
                      </a:extLst>
                    </a:gridCol>
                    <a:gridCol w="540000">
                      <a:extLst>
                        <a:ext uri="{9D8B030D-6E8A-4147-A177-3AD203B41FA5}">
                          <a16:colId xmlns:a16="http://schemas.microsoft.com/office/drawing/2014/main" val="3804762709"/>
                        </a:ext>
                      </a:extLst>
                    </a:gridCol>
                  </a:tblGrid>
                  <a:tr h="518160">
                    <a:tc>
                      <a:txBody>
                        <a:bodyPr/>
                        <a:lstStyle/>
                        <a:p>
                          <a:endParaRPr lang="zh-TW"/>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blipFill>
                          <a:blip r:embed="rId10"/>
                          <a:stretch>
                            <a:fillRect t="-11628" r="-697753" b="-32558"/>
                          </a:stretch>
                        </a:blip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10</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22</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15</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30</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20</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18</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27</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706415246"/>
                      </a:ext>
                    </a:extLst>
                  </a:tr>
                </a:tbl>
              </a:graphicData>
            </a:graphic>
          </p:graphicFrame>
        </mc:Fallback>
      </mc:AlternateContent>
      <mc:AlternateContent xmlns:mc="http://schemas.openxmlformats.org/markup-compatibility/2006">
        <mc:Choice xmlns:a14="http://schemas.microsoft.com/office/drawing/2010/main" Requires="a14">
          <p:graphicFrame>
            <p:nvGraphicFramePr>
              <p:cNvPr id="14" name="表格 13">
                <a:extLst>
                  <a:ext uri="{FF2B5EF4-FFF2-40B4-BE49-F238E27FC236}">
                    <a16:creationId xmlns:a16="http://schemas.microsoft.com/office/drawing/2014/main" id="{58F9429C-D333-48BA-BD57-7AB398795371}"/>
                  </a:ext>
                </a:extLst>
              </p:cNvPr>
              <p:cNvGraphicFramePr>
                <a:graphicFrameLocks noGrp="1"/>
              </p:cNvGraphicFramePr>
              <p:nvPr>
                <p:extLst>
                  <p:ext uri="{D42A27DB-BD31-4B8C-83A1-F6EECF244321}">
                    <p14:modId xmlns:p14="http://schemas.microsoft.com/office/powerpoint/2010/main" val="4212098860"/>
                  </p:ext>
                </p:extLst>
              </p:nvPr>
            </p:nvGraphicFramePr>
            <p:xfrm>
              <a:off x="596038" y="4929386"/>
              <a:ext cx="5940000" cy="518160"/>
            </p:xfrm>
            <a:graphic>
              <a:graphicData uri="http://schemas.openxmlformats.org/drawingml/2006/table">
                <a:tbl>
                  <a:tblPr firstRow="1" bandRow="1">
                    <a:tableStyleId>{5940675A-B579-460E-94D1-54222C63F5DA}</a:tableStyleId>
                  </a:tblPr>
                  <a:tblGrid>
                    <a:gridCol w="540000">
                      <a:extLst>
                        <a:ext uri="{9D8B030D-6E8A-4147-A177-3AD203B41FA5}">
                          <a16:colId xmlns:a16="http://schemas.microsoft.com/office/drawing/2014/main" val="106444939"/>
                        </a:ext>
                      </a:extLst>
                    </a:gridCol>
                    <a:gridCol w="540000">
                      <a:extLst>
                        <a:ext uri="{9D8B030D-6E8A-4147-A177-3AD203B41FA5}">
                          <a16:colId xmlns:a16="http://schemas.microsoft.com/office/drawing/2014/main" val="3965888546"/>
                        </a:ext>
                      </a:extLst>
                    </a:gridCol>
                    <a:gridCol w="540000">
                      <a:extLst>
                        <a:ext uri="{9D8B030D-6E8A-4147-A177-3AD203B41FA5}">
                          <a16:colId xmlns:a16="http://schemas.microsoft.com/office/drawing/2014/main" val="82904498"/>
                        </a:ext>
                      </a:extLst>
                    </a:gridCol>
                    <a:gridCol w="540000">
                      <a:extLst>
                        <a:ext uri="{9D8B030D-6E8A-4147-A177-3AD203B41FA5}">
                          <a16:colId xmlns:a16="http://schemas.microsoft.com/office/drawing/2014/main" val="2214715668"/>
                        </a:ext>
                      </a:extLst>
                    </a:gridCol>
                    <a:gridCol w="540000">
                      <a:extLst>
                        <a:ext uri="{9D8B030D-6E8A-4147-A177-3AD203B41FA5}">
                          <a16:colId xmlns:a16="http://schemas.microsoft.com/office/drawing/2014/main" val="777121050"/>
                        </a:ext>
                      </a:extLst>
                    </a:gridCol>
                    <a:gridCol w="540000">
                      <a:extLst>
                        <a:ext uri="{9D8B030D-6E8A-4147-A177-3AD203B41FA5}">
                          <a16:colId xmlns:a16="http://schemas.microsoft.com/office/drawing/2014/main" val="2140332791"/>
                        </a:ext>
                      </a:extLst>
                    </a:gridCol>
                    <a:gridCol w="540000">
                      <a:extLst>
                        <a:ext uri="{9D8B030D-6E8A-4147-A177-3AD203B41FA5}">
                          <a16:colId xmlns:a16="http://schemas.microsoft.com/office/drawing/2014/main" val="1910247371"/>
                        </a:ext>
                      </a:extLst>
                    </a:gridCol>
                    <a:gridCol w="671462">
                      <a:extLst>
                        <a:ext uri="{9D8B030D-6E8A-4147-A177-3AD203B41FA5}">
                          <a16:colId xmlns:a16="http://schemas.microsoft.com/office/drawing/2014/main" val="3804762709"/>
                        </a:ext>
                      </a:extLst>
                    </a:gridCol>
                    <a:gridCol w="408538">
                      <a:extLst>
                        <a:ext uri="{9D8B030D-6E8A-4147-A177-3AD203B41FA5}">
                          <a16:colId xmlns:a16="http://schemas.microsoft.com/office/drawing/2014/main" val="354420647"/>
                        </a:ext>
                      </a:extLst>
                    </a:gridCol>
                    <a:gridCol w="540000">
                      <a:extLst>
                        <a:ext uri="{9D8B030D-6E8A-4147-A177-3AD203B41FA5}">
                          <a16:colId xmlns:a16="http://schemas.microsoft.com/office/drawing/2014/main" val="4131807763"/>
                        </a:ext>
                      </a:extLst>
                    </a:gridCol>
                    <a:gridCol w="540000">
                      <a:extLst>
                        <a:ext uri="{9D8B030D-6E8A-4147-A177-3AD203B41FA5}">
                          <a16:colId xmlns:a16="http://schemas.microsoft.com/office/drawing/2014/main" val="2190297588"/>
                        </a:ext>
                      </a:extLst>
                    </a:gridCol>
                  </a:tblGrid>
                  <a:tr h="229371">
                    <a:tc>
                      <a:txBody>
                        <a:bodyPr/>
                        <a:lstStyle/>
                        <a:p>
                          <a:pPr algn="ctr"/>
                          <a14:m>
                            <m:oMath xmlns:m="http://schemas.openxmlformats.org/officeDocument/2006/math">
                              <m:r>
                                <a:rPr lang="en-US" altLang="zh-TW" sz="2800" b="0" i="1" smtClean="0">
                                  <a:solidFill>
                                    <a:srgbClr val="0070C0"/>
                                  </a:solidFill>
                                  <a:latin typeface="Cambria Math" panose="02040503050406030204" pitchFamily="18" charset="0"/>
                                  <a:cs typeface="Times New Roman" panose="02020603050405020304" pitchFamily="18" charset="0"/>
                                </a:rPr>
                                <m:t>𝑃</m:t>
                              </m:r>
                              <m:r>
                                <a:rPr lang="en-US" altLang="zh-TW" sz="2800" b="0" i="1" smtClean="0">
                                  <a:solidFill>
                                    <a:srgbClr val="0070C0"/>
                                  </a:solidFill>
                                  <a:latin typeface="Cambria Math" panose="02040503050406030204" pitchFamily="18" charset="0"/>
                                  <a:cs typeface="Times New Roman" panose="02020603050405020304" pitchFamily="18" charset="0"/>
                                </a:rPr>
                                <m:t>′</m:t>
                              </m:r>
                            </m:oMath>
                          </a14:m>
                          <a:r>
                            <a:rPr lang="en-US" altLang="zh-TW" sz="2800" dirty="0">
                              <a:solidFill>
                                <a:srgbClr val="0070C0"/>
                              </a:solidFill>
                              <a:latin typeface="Times New Roman" panose="02020603050405020304" pitchFamily="18" charset="0"/>
                              <a:cs typeface="Times New Roman" panose="02020603050405020304" pitchFamily="18" charset="0"/>
                            </a:rPr>
                            <a:t>:</a:t>
                          </a:r>
                          <a:endParaRPr lang="zh-TW" altLang="en-US" sz="2800" dirty="0">
                            <a:solidFill>
                              <a:srgbClr val="0070C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70C0"/>
                              </a:solidFill>
                              <a:latin typeface="Times New Roman" panose="02020603050405020304" pitchFamily="18" charset="0"/>
                              <a:cs typeface="Times New Roman" panose="02020603050405020304" pitchFamily="18" charset="0"/>
                            </a:rPr>
                            <a:t>1</a:t>
                          </a:r>
                          <a:endParaRPr lang="zh-TW" altLang="en-US" sz="2800" dirty="0">
                            <a:solidFill>
                              <a:srgbClr val="0070C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70C0"/>
                              </a:solidFill>
                              <a:latin typeface="Times New Roman" panose="02020603050405020304" pitchFamily="18" charset="0"/>
                              <a:cs typeface="Times New Roman" panose="02020603050405020304" pitchFamily="18" charset="0"/>
                            </a:rPr>
                            <a:t>0</a:t>
                          </a:r>
                          <a:endParaRPr lang="zh-TW" altLang="en-US" sz="2800" dirty="0">
                            <a:solidFill>
                              <a:srgbClr val="0070C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70C0"/>
                              </a:solidFill>
                              <a:latin typeface="Times New Roman" panose="02020603050405020304" pitchFamily="18" charset="0"/>
                              <a:cs typeface="Times New Roman" panose="02020603050405020304" pitchFamily="18" charset="0"/>
                            </a:rPr>
                            <a:t>1</a:t>
                          </a:r>
                          <a:endParaRPr lang="zh-TW" altLang="en-US" sz="2800" dirty="0">
                            <a:solidFill>
                              <a:srgbClr val="0070C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70C0"/>
                              </a:solidFill>
                              <a:latin typeface="Times New Roman" panose="02020603050405020304" pitchFamily="18" charset="0"/>
                              <a:cs typeface="Times New Roman" panose="02020603050405020304" pitchFamily="18" charset="0"/>
                            </a:rPr>
                            <a:t>0</a:t>
                          </a:r>
                          <a:endParaRPr lang="zh-TW" altLang="en-US" sz="2800" dirty="0">
                            <a:solidFill>
                              <a:srgbClr val="0070C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70C0"/>
                              </a:solidFill>
                              <a:latin typeface="Times New Roman" panose="02020603050405020304" pitchFamily="18" charset="0"/>
                              <a:cs typeface="Times New Roman" panose="02020603050405020304" pitchFamily="18" charset="0"/>
                            </a:rPr>
                            <a:t>0</a:t>
                          </a:r>
                          <a:endParaRPr lang="zh-TW" altLang="en-US" sz="2800" dirty="0">
                            <a:solidFill>
                              <a:srgbClr val="0070C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70C0"/>
                              </a:solidFill>
                              <a:latin typeface="Times New Roman" panose="02020603050405020304" pitchFamily="18" charset="0"/>
                              <a:cs typeface="Times New Roman" panose="02020603050405020304" pitchFamily="18" charset="0"/>
                            </a:rPr>
                            <a:t>1</a:t>
                          </a:r>
                          <a:endParaRPr lang="zh-TW" altLang="en-US" sz="2800" dirty="0">
                            <a:solidFill>
                              <a:srgbClr val="0070C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endParaRPr lang="zh-TW" altLang="en-US" sz="2800" dirty="0">
                            <a:solidFill>
                              <a:srgbClr val="0070C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endParaRPr lang="zh-TW" altLang="en-US" sz="2800" dirty="0">
                            <a:solidFill>
                              <a:srgbClr val="0070C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endParaRPr lang="zh-TW" altLang="en-US" sz="2800" dirty="0">
                            <a:solidFill>
                              <a:srgbClr val="0070C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endParaRPr lang="zh-TW" altLang="en-US" sz="2800" dirty="0">
                            <a:solidFill>
                              <a:srgbClr val="0070C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706415246"/>
                      </a:ext>
                    </a:extLst>
                  </a:tr>
                </a:tbl>
              </a:graphicData>
            </a:graphic>
          </p:graphicFrame>
        </mc:Choice>
        <mc:Fallback>
          <p:graphicFrame>
            <p:nvGraphicFramePr>
              <p:cNvPr id="14" name="表格 13">
                <a:extLst>
                  <a:ext uri="{FF2B5EF4-FFF2-40B4-BE49-F238E27FC236}">
                    <a16:creationId xmlns:a16="http://schemas.microsoft.com/office/drawing/2014/main" id="{58F9429C-D333-48BA-BD57-7AB398795371}"/>
                  </a:ext>
                </a:extLst>
              </p:cNvPr>
              <p:cNvGraphicFramePr>
                <a:graphicFrameLocks noGrp="1"/>
              </p:cNvGraphicFramePr>
              <p:nvPr>
                <p:extLst>
                  <p:ext uri="{D42A27DB-BD31-4B8C-83A1-F6EECF244321}">
                    <p14:modId xmlns:p14="http://schemas.microsoft.com/office/powerpoint/2010/main" val="4212098860"/>
                  </p:ext>
                </p:extLst>
              </p:nvPr>
            </p:nvGraphicFramePr>
            <p:xfrm>
              <a:off x="596038" y="4929386"/>
              <a:ext cx="5940000" cy="518160"/>
            </p:xfrm>
            <a:graphic>
              <a:graphicData uri="http://schemas.openxmlformats.org/drawingml/2006/table">
                <a:tbl>
                  <a:tblPr firstRow="1" bandRow="1">
                    <a:tableStyleId>{5940675A-B579-460E-94D1-54222C63F5DA}</a:tableStyleId>
                  </a:tblPr>
                  <a:tblGrid>
                    <a:gridCol w="540000">
                      <a:extLst>
                        <a:ext uri="{9D8B030D-6E8A-4147-A177-3AD203B41FA5}">
                          <a16:colId xmlns:a16="http://schemas.microsoft.com/office/drawing/2014/main" val="106444939"/>
                        </a:ext>
                      </a:extLst>
                    </a:gridCol>
                    <a:gridCol w="540000">
                      <a:extLst>
                        <a:ext uri="{9D8B030D-6E8A-4147-A177-3AD203B41FA5}">
                          <a16:colId xmlns:a16="http://schemas.microsoft.com/office/drawing/2014/main" val="3965888546"/>
                        </a:ext>
                      </a:extLst>
                    </a:gridCol>
                    <a:gridCol w="540000">
                      <a:extLst>
                        <a:ext uri="{9D8B030D-6E8A-4147-A177-3AD203B41FA5}">
                          <a16:colId xmlns:a16="http://schemas.microsoft.com/office/drawing/2014/main" val="82904498"/>
                        </a:ext>
                      </a:extLst>
                    </a:gridCol>
                    <a:gridCol w="540000">
                      <a:extLst>
                        <a:ext uri="{9D8B030D-6E8A-4147-A177-3AD203B41FA5}">
                          <a16:colId xmlns:a16="http://schemas.microsoft.com/office/drawing/2014/main" val="2214715668"/>
                        </a:ext>
                      </a:extLst>
                    </a:gridCol>
                    <a:gridCol w="540000">
                      <a:extLst>
                        <a:ext uri="{9D8B030D-6E8A-4147-A177-3AD203B41FA5}">
                          <a16:colId xmlns:a16="http://schemas.microsoft.com/office/drawing/2014/main" val="777121050"/>
                        </a:ext>
                      </a:extLst>
                    </a:gridCol>
                    <a:gridCol w="540000">
                      <a:extLst>
                        <a:ext uri="{9D8B030D-6E8A-4147-A177-3AD203B41FA5}">
                          <a16:colId xmlns:a16="http://schemas.microsoft.com/office/drawing/2014/main" val="2140332791"/>
                        </a:ext>
                      </a:extLst>
                    </a:gridCol>
                    <a:gridCol w="540000">
                      <a:extLst>
                        <a:ext uri="{9D8B030D-6E8A-4147-A177-3AD203B41FA5}">
                          <a16:colId xmlns:a16="http://schemas.microsoft.com/office/drawing/2014/main" val="1910247371"/>
                        </a:ext>
                      </a:extLst>
                    </a:gridCol>
                    <a:gridCol w="671462">
                      <a:extLst>
                        <a:ext uri="{9D8B030D-6E8A-4147-A177-3AD203B41FA5}">
                          <a16:colId xmlns:a16="http://schemas.microsoft.com/office/drawing/2014/main" val="3804762709"/>
                        </a:ext>
                      </a:extLst>
                    </a:gridCol>
                    <a:gridCol w="408538">
                      <a:extLst>
                        <a:ext uri="{9D8B030D-6E8A-4147-A177-3AD203B41FA5}">
                          <a16:colId xmlns:a16="http://schemas.microsoft.com/office/drawing/2014/main" val="354420647"/>
                        </a:ext>
                      </a:extLst>
                    </a:gridCol>
                    <a:gridCol w="540000">
                      <a:extLst>
                        <a:ext uri="{9D8B030D-6E8A-4147-A177-3AD203B41FA5}">
                          <a16:colId xmlns:a16="http://schemas.microsoft.com/office/drawing/2014/main" val="4131807763"/>
                        </a:ext>
                      </a:extLst>
                    </a:gridCol>
                    <a:gridCol w="540000">
                      <a:extLst>
                        <a:ext uri="{9D8B030D-6E8A-4147-A177-3AD203B41FA5}">
                          <a16:colId xmlns:a16="http://schemas.microsoft.com/office/drawing/2014/main" val="2190297588"/>
                        </a:ext>
                      </a:extLst>
                    </a:gridCol>
                  </a:tblGrid>
                  <a:tr h="518160">
                    <a:tc>
                      <a:txBody>
                        <a:bodyPr/>
                        <a:lstStyle/>
                        <a:p>
                          <a:endParaRPr lang="zh-TW"/>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blipFill>
                          <a:blip r:embed="rId11"/>
                          <a:stretch>
                            <a:fillRect t="-11628" r="-996629" b="-32558"/>
                          </a:stretch>
                        </a:blipFill>
                      </a:tcPr>
                    </a:tc>
                    <a:tc>
                      <a:txBody>
                        <a:bodyPr/>
                        <a:lstStyle/>
                        <a:p>
                          <a:pPr algn="ctr"/>
                          <a:r>
                            <a:rPr lang="en-US" altLang="zh-TW" sz="2800" dirty="0">
                              <a:solidFill>
                                <a:srgbClr val="0070C0"/>
                              </a:solidFill>
                              <a:latin typeface="Times New Roman" panose="02020603050405020304" pitchFamily="18" charset="0"/>
                              <a:cs typeface="Times New Roman" panose="02020603050405020304" pitchFamily="18" charset="0"/>
                            </a:rPr>
                            <a:t>1</a:t>
                          </a:r>
                          <a:endParaRPr lang="zh-TW" altLang="en-US" sz="2800" dirty="0">
                            <a:solidFill>
                              <a:srgbClr val="0070C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70C0"/>
                              </a:solidFill>
                              <a:latin typeface="Times New Roman" panose="02020603050405020304" pitchFamily="18" charset="0"/>
                              <a:cs typeface="Times New Roman" panose="02020603050405020304" pitchFamily="18" charset="0"/>
                            </a:rPr>
                            <a:t>0</a:t>
                          </a:r>
                          <a:endParaRPr lang="zh-TW" altLang="en-US" sz="2800" dirty="0">
                            <a:solidFill>
                              <a:srgbClr val="0070C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70C0"/>
                              </a:solidFill>
                              <a:latin typeface="Times New Roman" panose="02020603050405020304" pitchFamily="18" charset="0"/>
                              <a:cs typeface="Times New Roman" panose="02020603050405020304" pitchFamily="18" charset="0"/>
                            </a:rPr>
                            <a:t>1</a:t>
                          </a:r>
                          <a:endParaRPr lang="zh-TW" altLang="en-US" sz="2800" dirty="0">
                            <a:solidFill>
                              <a:srgbClr val="0070C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70C0"/>
                              </a:solidFill>
                              <a:latin typeface="Times New Roman" panose="02020603050405020304" pitchFamily="18" charset="0"/>
                              <a:cs typeface="Times New Roman" panose="02020603050405020304" pitchFamily="18" charset="0"/>
                            </a:rPr>
                            <a:t>0</a:t>
                          </a:r>
                          <a:endParaRPr lang="zh-TW" altLang="en-US" sz="2800" dirty="0">
                            <a:solidFill>
                              <a:srgbClr val="0070C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70C0"/>
                              </a:solidFill>
                              <a:latin typeface="Times New Roman" panose="02020603050405020304" pitchFamily="18" charset="0"/>
                              <a:cs typeface="Times New Roman" panose="02020603050405020304" pitchFamily="18" charset="0"/>
                            </a:rPr>
                            <a:t>0</a:t>
                          </a:r>
                          <a:endParaRPr lang="zh-TW" altLang="en-US" sz="2800" dirty="0">
                            <a:solidFill>
                              <a:srgbClr val="0070C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70C0"/>
                              </a:solidFill>
                              <a:latin typeface="Times New Roman" panose="02020603050405020304" pitchFamily="18" charset="0"/>
                              <a:cs typeface="Times New Roman" panose="02020603050405020304" pitchFamily="18" charset="0"/>
                            </a:rPr>
                            <a:t>1</a:t>
                          </a:r>
                          <a:endParaRPr lang="zh-TW" altLang="en-US" sz="2800" dirty="0">
                            <a:solidFill>
                              <a:srgbClr val="0070C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endParaRPr lang="zh-TW" altLang="en-US" sz="2800" dirty="0">
                            <a:solidFill>
                              <a:srgbClr val="0070C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endParaRPr lang="zh-TW" altLang="en-US" sz="2800" dirty="0">
                            <a:solidFill>
                              <a:srgbClr val="0070C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endParaRPr lang="zh-TW" altLang="en-US" sz="2800" dirty="0">
                            <a:solidFill>
                              <a:srgbClr val="0070C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endParaRPr lang="zh-TW" altLang="en-US" sz="2800" dirty="0">
                            <a:solidFill>
                              <a:srgbClr val="0070C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706415246"/>
                      </a:ext>
                    </a:extLst>
                  </a:tr>
                </a:tbl>
              </a:graphicData>
            </a:graphic>
          </p:graphicFrame>
        </mc:Fallback>
      </mc:AlternateContent>
    </p:spTree>
    <p:extLst>
      <p:ext uri="{BB962C8B-B14F-4D97-AF65-F5344CB8AC3E}">
        <p14:creationId xmlns:p14="http://schemas.microsoft.com/office/powerpoint/2010/main" val="29652025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a:extLst>
              <a:ext uri="{FF2B5EF4-FFF2-40B4-BE49-F238E27FC236}">
                <a16:creationId xmlns:a16="http://schemas.microsoft.com/office/drawing/2014/main" id="{01482047-C5BA-4C14-A83E-65B7E095C8D6}"/>
              </a:ext>
            </a:extLst>
          </p:cNvPr>
          <p:cNvSpPr>
            <a:spLocks noGrp="1"/>
          </p:cNvSpPr>
          <p:nvPr>
            <p:ph type="sldNum" sz="quarter" idx="12"/>
          </p:nvPr>
        </p:nvSpPr>
        <p:spPr/>
        <p:txBody>
          <a:bodyPr/>
          <a:lstStyle/>
          <a:p>
            <a:fld id="{872633CA-77E0-4863-94F8-E28139DFB2B4}" type="slidenum">
              <a:rPr lang="zh-TW" altLang="en-US" smtClean="0"/>
              <a:t>9</a:t>
            </a:fld>
            <a:endParaRPr lang="zh-TW" altLang="en-US"/>
          </a:p>
        </p:txBody>
      </p:sp>
      <p:sp>
        <p:nvSpPr>
          <p:cNvPr id="15" name="標題 1">
            <a:extLst>
              <a:ext uri="{FF2B5EF4-FFF2-40B4-BE49-F238E27FC236}">
                <a16:creationId xmlns:a16="http://schemas.microsoft.com/office/drawing/2014/main" id="{A9990B6E-C32F-4A96-940B-453E868CF6E8}"/>
              </a:ext>
            </a:extLst>
          </p:cNvPr>
          <p:cNvSpPr txBox="1">
            <a:spLocks/>
          </p:cNvSpPr>
          <p:nvPr/>
        </p:nvSpPr>
        <p:spPr>
          <a:xfrm>
            <a:off x="402232" y="305355"/>
            <a:ext cx="7886700" cy="74281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TW" sz="3600" dirty="0">
                <a:latin typeface="Times New Roman" panose="02020603050405020304" pitchFamily="18" charset="0"/>
                <a:cs typeface="Times New Roman" panose="02020603050405020304" pitchFamily="18" charset="0"/>
              </a:rPr>
              <a:t>Searching: get candidate matches</a:t>
            </a:r>
            <a:endParaRPr lang="zh-TW" altLang="en-US" sz="3600" dirty="0">
              <a:latin typeface="Times New Roman" panose="02020603050405020304" pitchFamily="18" charset="0"/>
              <a:cs typeface="Times New Roman" panose="02020603050405020304" pitchFamily="18" charset="0"/>
            </a:endParaRPr>
          </a:p>
        </p:txBody>
      </p:sp>
      <p:sp>
        <p:nvSpPr>
          <p:cNvPr id="17" name="矩形 16">
            <a:extLst>
              <a:ext uri="{FF2B5EF4-FFF2-40B4-BE49-F238E27FC236}">
                <a16:creationId xmlns:a16="http://schemas.microsoft.com/office/drawing/2014/main" id="{CD2A594C-2F00-4EE6-9EB0-117C4925313E}"/>
              </a:ext>
            </a:extLst>
          </p:cNvPr>
          <p:cNvSpPr/>
          <p:nvPr/>
        </p:nvSpPr>
        <p:spPr>
          <a:xfrm>
            <a:off x="402232" y="1236128"/>
            <a:ext cx="7886700" cy="461665"/>
          </a:xfrm>
          <a:prstGeom prst="rect">
            <a:avLst/>
          </a:prstGeom>
        </p:spPr>
        <p:txBody>
          <a:bodyPr wrap="square">
            <a:spAutoFit/>
          </a:bodyPr>
          <a:lstStyle/>
          <a:p>
            <a:r>
              <a:rPr lang="en-US" altLang="zh-TW" sz="2400" dirty="0">
                <a:latin typeface="Times New Roman" panose="02020603050405020304" pitchFamily="18" charset="0"/>
              </a:rPr>
              <a:t>use any algorithm for exact string matching problem</a:t>
            </a:r>
            <a:endParaRPr lang="zh-TW" altLang="en-US" sz="2400" dirty="0">
              <a:latin typeface="Times New Roman" panose="02020603050405020304" pitchFamily="18" charset="0"/>
            </a:endParaRPr>
          </a:p>
        </p:txBody>
      </p:sp>
      <mc:AlternateContent xmlns:mc="http://schemas.openxmlformats.org/markup-compatibility/2006">
        <mc:Choice xmlns:a14="http://schemas.microsoft.com/office/drawing/2010/main" Requires="a14">
          <p:graphicFrame>
            <p:nvGraphicFramePr>
              <p:cNvPr id="11" name="表格 10">
                <a:extLst>
                  <a:ext uri="{FF2B5EF4-FFF2-40B4-BE49-F238E27FC236}">
                    <a16:creationId xmlns:a16="http://schemas.microsoft.com/office/drawing/2014/main" id="{E04DFD9F-09DE-4582-BE09-84A28779AD82}"/>
                  </a:ext>
                </a:extLst>
              </p:cNvPr>
              <p:cNvGraphicFramePr>
                <a:graphicFrameLocks noGrp="1"/>
              </p:cNvGraphicFramePr>
              <p:nvPr>
                <p:extLst>
                  <p:ext uri="{D42A27DB-BD31-4B8C-83A1-F6EECF244321}">
                    <p14:modId xmlns:p14="http://schemas.microsoft.com/office/powerpoint/2010/main" val="1382602615"/>
                  </p:ext>
                </p:extLst>
              </p:nvPr>
            </p:nvGraphicFramePr>
            <p:xfrm>
              <a:off x="634138" y="3185130"/>
              <a:ext cx="7560000" cy="518160"/>
            </p:xfrm>
            <a:graphic>
              <a:graphicData uri="http://schemas.openxmlformats.org/drawingml/2006/table">
                <a:tbl>
                  <a:tblPr firstRow="1" bandRow="1">
                    <a:tableStyleId>{5940675A-B579-460E-94D1-54222C63F5DA}</a:tableStyleId>
                  </a:tblPr>
                  <a:tblGrid>
                    <a:gridCol w="540000">
                      <a:extLst>
                        <a:ext uri="{9D8B030D-6E8A-4147-A177-3AD203B41FA5}">
                          <a16:colId xmlns:a16="http://schemas.microsoft.com/office/drawing/2014/main" val="106444939"/>
                        </a:ext>
                      </a:extLst>
                    </a:gridCol>
                    <a:gridCol w="540000">
                      <a:extLst>
                        <a:ext uri="{9D8B030D-6E8A-4147-A177-3AD203B41FA5}">
                          <a16:colId xmlns:a16="http://schemas.microsoft.com/office/drawing/2014/main" val="3438003960"/>
                        </a:ext>
                      </a:extLst>
                    </a:gridCol>
                    <a:gridCol w="540000">
                      <a:extLst>
                        <a:ext uri="{9D8B030D-6E8A-4147-A177-3AD203B41FA5}">
                          <a16:colId xmlns:a16="http://schemas.microsoft.com/office/drawing/2014/main" val="1539556327"/>
                        </a:ext>
                      </a:extLst>
                    </a:gridCol>
                    <a:gridCol w="540000">
                      <a:extLst>
                        <a:ext uri="{9D8B030D-6E8A-4147-A177-3AD203B41FA5}">
                          <a16:colId xmlns:a16="http://schemas.microsoft.com/office/drawing/2014/main" val="1393179428"/>
                        </a:ext>
                      </a:extLst>
                    </a:gridCol>
                    <a:gridCol w="540000">
                      <a:extLst>
                        <a:ext uri="{9D8B030D-6E8A-4147-A177-3AD203B41FA5}">
                          <a16:colId xmlns:a16="http://schemas.microsoft.com/office/drawing/2014/main" val="3965888546"/>
                        </a:ext>
                      </a:extLst>
                    </a:gridCol>
                    <a:gridCol w="540000">
                      <a:extLst>
                        <a:ext uri="{9D8B030D-6E8A-4147-A177-3AD203B41FA5}">
                          <a16:colId xmlns:a16="http://schemas.microsoft.com/office/drawing/2014/main" val="82904498"/>
                        </a:ext>
                      </a:extLst>
                    </a:gridCol>
                    <a:gridCol w="540000">
                      <a:extLst>
                        <a:ext uri="{9D8B030D-6E8A-4147-A177-3AD203B41FA5}">
                          <a16:colId xmlns:a16="http://schemas.microsoft.com/office/drawing/2014/main" val="2214715668"/>
                        </a:ext>
                      </a:extLst>
                    </a:gridCol>
                    <a:gridCol w="540000">
                      <a:extLst>
                        <a:ext uri="{9D8B030D-6E8A-4147-A177-3AD203B41FA5}">
                          <a16:colId xmlns:a16="http://schemas.microsoft.com/office/drawing/2014/main" val="777121050"/>
                        </a:ext>
                      </a:extLst>
                    </a:gridCol>
                    <a:gridCol w="540000">
                      <a:extLst>
                        <a:ext uri="{9D8B030D-6E8A-4147-A177-3AD203B41FA5}">
                          <a16:colId xmlns:a16="http://schemas.microsoft.com/office/drawing/2014/main" val="2140332791"/>
                        </a:ext>
                      </a:extLst>
                    </a:gridCol>
                    <a:gridCol w="540000">
                      <a:extLst>
                        <a:ext uri="{9D8B030D-6E8A-4147-A177-3AD203B41FA5}">
                          <a16:colId xmlns:a16="http://schemas.microsoft.com/office/drawing/2014/main" val="1910247371"/>
                        </a:ext>
                      </a:extLst>
                    </a:gridCol>
                    <a:gridCol w="540000">
                      <a:extLst>
                        <a:ext uri="{9D8B030D-6E8A-4147-A177-3AD203B41FA5}">
                          <a16:colId xmlns:a16="http://schemas.microsoft.com/office/drawing/2014/main" val="3804762709"/>
                        </a:ext>
                      </a:extLst>
                    </a:gridCol>
                    <a:gridCol w="540000">
                      <a:extLst>
                        <a:ext uri="{9D8B030D-6E8A-4147-A177-3AD203B41FA5}">
                          <a16:colId xmlns:a16="http://schemas.microsoft.com/office/drawing/2014/main" val="354420647"/>
                        </a:ext>
                      </a:extLst>
                    </a:gridCol>
                    <a:gridCol w="540000">
                      <a:extLst>
                        <a:ext uri="{9D8B030D-6E8A-4147-A177-3AD203B41FA5}">
                          <a16:colId xmlns:a16="http://schemas.microsoft.com/office/drawing/2014/main" val="4131807763"/>
                        </a:ext>
                      </a:extLst>
                    </a:gridCol>
                    <a:gridCol w="540000">
                      <a:extLst>
                        <a:ext uri="{9D8B030D-6E8A-4147-A177-3AD203B41FA5}">
                          <a16:colId xmlns:a16="http://schemas.microsoft.com/office/drawing/2014/main" val="2190297588"/>
                        </a:ext>
                      </a:extLst>
                    </a:gridCol>
                  </a:tblGrid>
                  <a:tr h="229371">
                    <a:tc>
                      <a:txBody>
                        <a:bodyPr/>
                        <a:lstStyle/>
                        <a:p>
                          <a:pPr algn="ctr"/>
                          <a14:m>
                            <m:oMath xmlns:m="http://schemas.openxmlformats.org/officeDocument/2006/math">
                              <m:r>
                                <a:rPr lang="en-US" altLang="zh-TW" sz="2800" b="0" i="1" smtClean="0">
                                  <a:solidFill>
                                    <a:srgbClr val="002060"/>
                                  </a:solidFill>
                                  <a:latin typeface="Cambria Math" panose="02040503050406030204" pitchFamily="18" charset="0"/>
                                  <a:cs typeface="Times New Roman" panose="02020603050405020304" pitchFamily="18" charset="0"/>
                                </a:rPr>
                                <m:t>𝑇</m:t>
                              </m:r>
                              <m:r>
                                <a:rPr lang="en-US" altLang="zh-TW" sz="2800" b="0" i="1" smtClean="0">
                                  <a:solidFill>
                                    <a:srgbClr val="002060"/>
                                  </a:solidFill>
                                  <a:latin typeface="Cambria Math" panose="02040503050406030204" pitchFamily="18" charset="0"/>
                                  <a:cs typeface="Times New Roman" panose="02020603050405020304" pitchFamily="18" charset="0"/>
                                </a:rPr>
                                <m:t>′</m:t>
                              </m:r>
                            </m:oMath>
                          </a14:m>
                          <a:r>
                            <a:rPr lang="en-US" altLang="zh-TW" sz="2800" dirty="0">
                              <a:solidFill>
                                <a:srgbClr val="002060"/>
                              </a:solidFill>
                              <a:latin typeface="Times New Roman" panose="02020603050405020304" pitchFamily="18" charset="0"/>
                              <a:cs typeface="Times New Roman" panose="02020603050405020304" pitchFamily="18" charset="0"/>
                            </a:rPr>
                            <a: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1</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0</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0</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FF0000"/>
                              </a:solidFill>
                              <a:latin typeface="Times New Roman" panose="02020603050405020304" pitchFamily="18" charset="0"/>
                              <a:cs typeface="Times New Roman" panose="02020603050405020304" pitchFamily="18" charset="0"/>
                            </a:rPr>
                            <a:t>1</a:t>
                          </a:r>
                          <a:endParaRPr lang="zh-TW" altLang="en-US" sz="2800" dirty="0">
                            <a:solidFill>
                              <a:srgbClr val="FF000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FF0000"/>
                              </a:solidFill>
                              <a:latin typeface="Times New Roman" panose="02020603050405020304" pitchFamily="18" charset="0"/>
                              <a:cs typeface="Times New Roman" panose="02020603050405020304" pitchFamily="18" charset="0"/>
                            </a:rPr>
                            <a:t>0</a:t>
                          </a:r>
                          <a:endParaRPr lang="zh-TW" altLang="en-US" sz="2800" dirty="0">
                            <a:solidFill>
                              <a:srgbClr val="FF000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FF0000"/>
                              </a:solidFill>
                              <a:latin typeface="Times New Roman" panose="02020603050405020304" pitchFamily="18" charset="0"/>
                              <a:cs typeface="Times New Roman" panose="02020603050405020304" pitchFamily="18" charset="0"/>
                            </a:rPr>
                            <a:t>1</a:t>
                          </a:r>
                          <a:endParaRPr lang="zh-TW" altLang="en-US" sz="2800" dirty="0">
                            <a:solidFill>
                              <a:srgbClr val="FF000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FF0000"/>
                              </a:solidFill>
                              <a:latin typeface="Times New Roman" panose="02020603050405020304" pitchFamily="18" charset="0"/>
                              <a:cs typeface="Times New Roman" panose="02020603050405020304" pitchFamily="18" charset="0"/>
                            </a:rPr>
                            <a:t>0</a:t>
                          </a:r>
                          <a:endParaRPr lang="zh-TW" altLang="en-US" sz="2800" dirty="0">
                            <a:solidFill>
                              <a:srgbClr val="FF000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FF0000"/>
                              </a:solidFill>
                              <a:latin typeface="Times New Roman" panose="02020603050405020304" pitchFamily="18" charset="0"/>
                              <a:cs typeface="Times New Roman" panose="02020603050405020304" pitchFamily="18" charset="0"/>
                            </a:rPr>
                            <a:t>0</a:t>
                          </a:r>
                          <a:endParaRPr lang="zh-TW" altLang="en-US" sz="2800" dirty="0">
                            <a:solidFill>
                              <a:srgbClr val="FF000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FF0000"/>
                              </a:solidFill>
                              <a:latin typeface="Times New Roman" panose="02020603050405020304" pitchFamily="18" charset="0"/>
                              <a:cs typeface="Times New Roman" panose="02020603050405020304" pitchFamily="18" charset="0"/>
                            </a:rPr>
                            <a:t>1</a:t>
                          </a:r>
                          <a:endParaRPr lang="zh-TW" altLang="en-US" sz="2800" dirty="0">
                            <a:solidFill>
                              <a:srgbClr val="FF000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1</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0</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0</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706415246"/>
                      </a:ext>
                    </a:extLst>
                  </a:tr>
                </a:tbl>
              </a:graphicData>
            </a:graphic>
          </p:graphicFrame>
        </mc:Choice>
        <mc:Fallback>
          <p:graphicFrame>
            <p:nvGraphicFramePr>
              <p:cNvPr id="11" name="表格 10">
                <a:extLst>
                  <a:ext uri="{FF2B5EF4-FFF2-40B4-BE49-F238E27FC236}">
                    <a16:creationId xmlns:a16="http://schemas.microsoft.com/office/drawing/2014/main" id="{E04DFD9F-09DE-4582-BE09-84A28779AD82}"/>
                  </a:ext>
                </a:extLst>
              </p:cNvPr>
              <p:cNvGraphicFramePr>
                <a:graphicFrameLocks noGrp="1"/>
              </p:cNvGraphicFramePr>
              <p:nvPr>
                <p:extLst>
                  <p:ext uri="{D42A27DB-BD31-4B8C-83A1-F6EECF244321}">
                    <p14:modId xmlns:p14="http://schemas.microsoft.com/office/powerpoint/2010/main" val="1382602615"/>
                  </p:ext>
                </p:extLst>
              </p:nvPr>
            </p:nvGraphicFramePr>
            <p:xfrm>
              <a:off x="634138" y="3185130"/>
              <a:ext cx="7560000" cy="518160"/>
            </p:xfrm>
            <a:graphic>
              <a:graphicData uri="http://schemas.openxmlformats.org/drawingml/2006/table">
                <a:tbl>
                  <a:tblPr firstRow="1" bandRow="1">
                    <a:tableStyleId>{5940675A-B579-460E-94D1-54222C63F5DA}</a:tableStyleId>
                  </a:tblPr>
                  <a:tblGrid>
                    <a:gridCol w="540000">
                      <a:extLst>
                        <a:ext uri="{9D8B030D-6E8A-4147-A177-3AD203B41FA5}">
                          <a16:colId xmlns:a16="http://schemas.microsoft.com/office/drawing/2014/main" val="106444939"/>
                        </a:ext>
                      </a:extLst>
                    </a:gridCol>
                    <a:gridCol w="540000">
                      <a:extLst>
                        <a:ext uri="{9D8B030D-6E8A-4147-A177-3AD203B41FA5}">
                          <a16:colId xmlns:a16="http://schemas.microsoft.com/office/drawing/2014/main" val="3438003960"/>
                        </a:ext>
                      </a:extLst>
                    </a:gridCol>
                    <a:gridCol w="540000">
                      <a:extLst>
                        <a:ext uri="{9D8B030D-6E8A-4147-A177-3AD203B41FA5}">
                          <a16:colId xmlns:a16="http://schemas.microsoft.com/office/drawing/2014/main" val="1539556327"/>
                        </a:ext>
                      </a:extLst>
                    </a:gridCol>
                    <a:gridCol w="540000">
                      <a:extLst>
                        <a:ext uri="{9D8B030D-6E8A-4147-A177-3AD203B41FA5}">
                          <a16:colId xmlns:a16="http://schemas.microsoft.com/office/drawing/2014/main" val="1393179428"/>
                        </a:ext>
                      </a:extLst>
                    </a:gridCol>
                    <a:gridCol w="540000">
                      <a:extLst>
                        <a:ext uri="{9D8B030D-6E8A-4147-A177-3AD203B41FA5}">
                          <a16:colId xmlns:a16="http://schemas.microsoft.com/office/drawing/2014/main" val="3965888546"/>
                        </a:ext>
                      </a:extLst>
                    </a:gridCol>
                    <a:gridCol w="540000">
                      <a:extLst>
                        <a:ext uri="{9D8B030D-6E8A-4147-A177-3AD203B41FA5}">
                          <a16:colId xmlns:a16="http://schemas.microsoft.com/office/drawing/2014/main" val="82904498"/>
                        </a:ext>
                      </a:extLst>
                    </a:gridCol>
                    <a:gridCol w="540000">
                      <a:extLst>
                        <a:ext uri="{9D8B030D-6E8A-4147-A177-3AD203B41FA5}">
                          <a16:colId xmlns:a16="http://schemas.microsoft.com/office/drawing/2014/main" val="2214715668"/>
                        </a:ext>
                      </a:extLst>
                    </a:gridCol>
                    <a:gridCol w="540000">
                      <a:extLst>
                        <a:ext uri="{9D8B030D-6E8A-4147-A177-3AD203B41FA5}">
                          <a16:colId xmlns:a16="http://schemas.microsoft.com/office/drawing/2014/main" val="777121050"/>
                        </a:ext>
                      </a:extLst>
                    </a:gridCol>
                    <a:gridCol w="540000">
                      <a:extLst>
                        <a:ext uri="{9D8B030D-6E8A-4147-A177-3AD203B41FA5}">
                          <a16:colId xmlns:a16="http://schemas.microsoft.com/office/drawing/2014/main" val="2140332791"/>
                        </a:ext>
                      </a:extLst>
                    </a:gridCol>
                    <a:gridCol w="540000">
                      <a:extLst>
                        <a:ext uri="{9D8B030D-6E8A-4147-A177-3AD203B41FA5}">
                          <a16:colId xmlns:a16="http://schemas.microsoft.com/office/drawing/2014/main" val="1910247371"/>
                        </a:ext>
                      </a:extLst>
                    </a:gridCol>
                    <a:gridCol w="540000">
                      <a:extLst>
                        <a:ext uri="{9D8B030D-6E8A-4147-A177-3AD203B41FA5}">
                          <a16:colId xmlns:a16="http://schemas.microsoft.com/office/drawing/2014/main" val="3804762709"/>
                        </a:ext>
                      </a:extLst>
                    </a:gridCol>
                    <a:gridCol w="540000">
                      <a:extLst>
                        <a:ext uri="{9D8B030D-6E8A-4147-A177-3AD203B41FA5}">
                          <a16:colId xmlns:a16="http://schemas.microsoft.com/office/drawing/2014/main" val="354420647"/>
                        </a:ext>
                      </a:extLst>
                    </a:gridCol>
                    <a:gridCol w="540000">
                      <a:extLst>
                        <a:ext uri="{9D8B030D-6E8A-4147-A177-3AD203B41FA5}">
                          <a16:colId xmlns:a16="http://schemas.microsoft.com/office/drawing/2014/main" val="4131807763"/>
                        </a:ext>
                      </a:extLst>
                    </a:gridCol>
                    <a:gridCol w="540000">
                      <a:extLst>
                        <a:ext uri="{9D8B030D-6E8A-4147-A177-3AD203B41FA5}">
                          <a16:colId xmlns:a16="http://schemas.microsoft.com/office/drawing/2014/main" val="2190297588"/>
                        </a:ext>
                      </a:extLst>
                    </a:gridCol>
                  </a:tblGrid>
                  <a:tr h="518160">
                    <a:tc>
                      <a:txBody>
                        <a:bodyPr/>
                        <a:lstStyle/>
                        <a:p>
                          <a:endParaRPr lang="zh-TW"/>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blipFill>
                          <a:blip r:embed="rId3"/>
                          <a:stretch>
                            <a:fillRect t="-11628" r="-1294382" b="-31395"/>
                          </a:stretch>
                        </a:blip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1</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0</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0</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FF0000"/>
                              </a:solidFill>
                              <a:latin typeface="Times New Roman" panose="02020603050405020304" pitchFamily="18" charset="0"/>
                              <a:cs typeface="Times New Roman" panose="02020603050405020304" pitchFamily="18" charset="0"/>
                            </a:rPr>
                            <a:t>1</a:t>
                          </a:r>
                          <a:endParaRPr lang="zh-TW" altLang="en-US" sz="2800" dirty="0">
                            <a:solidFill>
                              <a:srgbClr val="FF000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FF0000"/>
                              </a:solidFill>
                              <a:latin typeface="Times New Roman" panose="02020603050405020304" pitchFamily="18" charset="0"/>
                              <a:cs typeface="Times New Roman" panose="02020603050405020304" pitchFamily="18" charset="0"/>
                            </a:rPr>
                            <a:t>0</a:t>
                          </a:r>
                          <a:endParaRPr lang="zh-TW" altLang="en-US" sz="2800" dirty="0">
                            <a:solidFill>
                              <a:srgbClr val="FF000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FF0000"/>
                              </a:solidFill>
                              <a:latin typeface="Times New Roman" panose="02020603050405020304" pitchFamily="18" charset="0"/>
                              <a:cs typeface="Times New Roman" panose="02020603050405020304" pitchFamily="18" charset="0"/>
                            </a:rPr>
                            <a:t>1</a:t>
                          </a:r>
                          <a:endParaRPr lang="zh-TW" altLang="en-US" sz="2800" dirty="0">
                            <a:solidFill>
                              <a:srgbClr val="FF000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FF0000"/>
                              </a:solidFill>
                              <a:latin typeface="Times New Roman" panose="02020603050405020304" pitchFamily="18" charset="0"/>
                              <a:cs typeface="Times New Roman" panose="02020603050405020304" pitchFamily="18" charset="0"/>
                            </a:rPr>
                            <a:t>0</a:t>
                          </a:r>
                          <a:endParaRPr lang="zh-TW" altLang="en-US" sz="2800" dirty="0">
                            <a:solidFill>
                              <a:srgbClr val="FF000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FF0000"/>
                              </a:solidFill>
                              <a:latin typeface="Times New Roman" panose="02020603050405020304" pitchFamily="18" charset="0"/>
                              <a:cs typeface="Times New Roman" panose="02020603050405020304" pitchFamily="18" charset="0"/>
                            </a:rPr>
                            <a:t>0</a:t>
                          </a:r>
                          <a:endParaRPr lang="zh-TW" altLang="en-US" sz="2800" dirty="0">
                            <a:solidFill>
                              <a:srgbClr val="FF000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FF0000"/>
                              </a:solidFill>
                              <a:latin typeface="Times New Roman" panose="02020603050405020304" pitchFamily="18" charset="0"/>
                              <a:cs typeface="Times New Roman" panose="02020603050405020304" pitchFamily="18" charset="0"/>
                            </a:rPr>
                            <a:t>1</a:t>
                          </a:r>
                          <a:endParaRPr lang="zh-TW" altLang="en-US" sz="2800" dirty="0">
                            <a:solidFill>
                              <a:srgbClr val="FF000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1</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0</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0</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706415246"/>
                      </a:ext>
                    </a:extLst>
                  </a:tr>
                </a:tbl>
              </a:graphicData>
            </a:graphic>
          </p:graphicFrame>
        </mc:Fallback>
      </mc:AlternateContent>
      <mc:AlternateContent xmlns:mc="http://schemas.openxmlformats.org/markup-compatibility/2006">
        <mc:Choice xmlns:a14="http://schemas.microsoft.com/office/drawing/2010/main" Requires="a14">
          <p:graphicFrame>
            <p:nvGraphicFramePr>
              <p:cNvPr id="13" name="表格 12">
                <a:extLst>
                  <a:ext uri="{FF2B5EF4-FFF2-40B4-BE49-F238E27FC236}">
                    <a16:creationId xmlns:a16="http://schemas.microsoft.com/office/drawing/2014/main" id="{960F730F-C86C-4677-B731-F7639257A29B}"/>
                  </a:ext>
                </a:extLst>
              </p:cNvPr>
              <p:cNvGraphicFramePr>
                <a:graphicFrameLocks noGrp="1"/>
              </p:cNvGraphicFramePr>
              <p:nvPr>
                <p:extLst>
                  <p:ext uri="{D42A27DB-BD31-4B8C-83A1-F6EECF244321}">
                    <p14:modId xmlns:p14="http://schemas.microsoft.com/office/powerpoint/2010/main" val="2005491398"/>
                  </p:ext>
                </p:extLst>
              </p:nvPr>
            </p:nvGraphicFramePr>
            <p:xfrm>
              <a:off x="634138" y="3891246"/>
              <a:ext cx="5940000" cy="518160"/>
            </p:xfrm>
            <a:graphic>
              <a:graphicData uri="http://schemas.openxmlformats.org/drawingml/2006/table">
                <a:tbl>
                  <a:tblPr firstRow="1" bandRow="1">
                    <a:tableStyleId>{5940675A-B579-460E-94D1-54222C63F5DA}</a:tableStyleId>
                  </a:tblPr>
                  <a:tblGrid>
                    <a:gridCol w="540000">
                      <a:extLst>
                        <a:ext uri="{9D8B030D-6E8A-4147-A177-3AD203B41FA5}">
                          <a16:colId xmlns:a16="http://schemas.microsoft.com/office/drawing/2014/main" val="106444939"/>
                        </a:ext>
                      </a:extLst>
                    </a:gridCol>
                    <a:gridCol w="540000">
                      <a:extLst>
                        <a:ext uri="{9D8B030D-6E8A-4147-A177-3AD203B41FA5}">
                          <a16:colId xmlns:a16="http://schemas.microsoft.com/office/drawing/2014/main" val="3965888546"/>
                        </a:ext>
                      </a:extLst>
                    </a:gridCol>
                    <a:gridCol w="540000">
                      <a:extLst>
                        <a:ext uri="{9D8B030D-6E8A-4147-A177-3AD203B41FA5}">
                          <a16:colId xmlns:a16="http://schemas.microsoft.com/office/drawing/2014/main" val="82904498"/>
                        </a:ext>
                      </a:extLst>
                    </a:gridCol>
                    <a:gridCol w="540000">
                      <a:extLst>
                        <a:ext uri="{9D8B030D-6E8A-4147-A177-3AD203B41FA5}">
                          <a16:colId xmlns:a16="http://schemas.microsoft.com/office/drawing/2014/main" val="2214715668"/>
                        </a:ext>
                      </a:extLst>
                    </a:gridCol>
                    <a:gridCol w="540000">
                      <a:extLst>
                        <a:ext uri="{9D8B030D-6E8A-4147-A177-3AD203B41FA5}">
                          <a16:colId xmlns:a16="http://schemas.microsoft.com/office/drawing/2014/main" val="777121050"/>
                        </a:ext>
                      </a:extLst>
                    </a:gridCol>
                    <a:gridCol w="540000">
                      <a:extLst>
                        <a:ext uri="{9D8B030D-6E8A-4147-A177-3AD203B41FA5}">
                          <a16:colId xmlns:a16="http://schemas.microsoft.com/office/drawing/2014/main" val="2140332791"/>
                        </a:ext>
                      </a:extLst>
                    </a:gridCol>
                    <a:gridCol w="540000">
                      <a:extLst>
                        <a:ext uri="{9D8B030D-6E8A-4147-A177-3AD203B41FA5}">
                          <a16:colId xmlns:a16="http://schemas.microsoft.com/office/drawing/2014/main" val="1910247371"/>
                        </a:ext>
                      </a:extLst>
                    </a:gridCol>
                    <a:gridCol w="671462">
                      <a:extLst>
                        <a:ext uri="{9D8B030D-6E8A-4147-A177-3AD203B41FA5}">
                          <a16:colId xmlns:a16="http://schemas.microsoft.com/office/drawing/2014/main" val="3804762709"/>
                        </a:ext>
                      </a:extLst>
                    </a:gridCol>
                    <a:gridCol w="408538">
                      <a:extLst>
                        <a:ext uri="{9D8B030D-6E8A-4147-A177-3AD203B41FA5}">
                          <a16:colId xmlns:a16="http://schemas.microsoft.com/office/drawing/2014/main" val="354420647"/>
                        </a:ext>
                      </a:extLst>
                    </a:gridCol>
                    <a:gridCol w="540000">
                      <a:extLst>
                        <a:ext uri="{9D8B030D-6E8A-4147-A177-3AD203B41FA5}">
                          <a16:colId xmlns:a16="http://schemas.microsoft.com/office/drawing/2014/main" val="4131807763"/>
                        </a:ext>
                      </a:extLst>
                    </a:gridCol>
                    <a:gridCol w="540000">
                      <a:extLst>
                        <a:ext uri="{9D8B030D-6E8A-4147-A177-3AD203B41FA5}">
                          <a16:colId xmlns:a16="http://schemas.microsoft.com/office/drawing/2014/main" val="2190297588"/>
                        </a:ext>
                      </a:extLst>
                    </a:gridCol>
                  </a:tblGrid>
                  <a:tr h="229371">
                    <a:tc>
                      <a:txBody>
                        <a:bodyPr/>
                        <a:lstStyle/>
                        <a:p>
                          <a:pPr algn="ctr"/>
                          <a14:m>
                            <m:oMath xmlns:m="http://schemas.openxmlformats.org/officeDocument/2006/math">
                              <m:r>
                                <a:rPr lang="en-US" altLang="zh-TW" sz="2800" b="0" i="1" smtClean="0">
                                  <a:solidFill>
                                    <a:srgbClr val="002060"/>
                                  </a:solidFill>
                                  <a:latin typeface="Cambria Math" panose="02040503050406030204" pitchFamily="18" charset="0"/>
                                  <a:cs typeface="Times New Roman" panose="02020603050405020304" pitchFamily="18" charset="0"/>
                                </a:rPr>
                                <m:t>𝑃</m:t>
                              </m:r>
                              <m:r>
                                <a:rPr lang="en-US" altLang="zh-TW" sz="2800" b="0" i="1" smtClean="0">
                                  <a:solidFill>
                                    <a:srgbClr val="002060"/>
                                  </a:solidFill>
                                  <a:latin typeface="Cambria Math" panose="02040503050406030204" pitchFamily="18" charset="0"/>
                                  <a:cs typeface="Times New Roman" panose="02020603050405020304" pitchFamily="18" charset="0"/>
                                </a:rPr>
                                <m:t>′</m:t>
                              </m:r>
                            </m:oMath>
                          </a14:m>
                          <a:r>
                            <a:rPr lang="en-US" altLang="zh-TW" sz="2800" dirty="0">
                              <a:solidFill>
                                <a:srgbClr val="002060"/>
                              </a:solidFill>
                              <a:latin typeface="Times New Roman" panose="02020603050405020304" pitchFamily="18" charset="0"/>
                              <a:cs typeface="Times New Roman" panose="02020603050405020304" pitchFamily="18" charset="0"/>
                            </a:rPr>
                            <a: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1</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0</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1</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0</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0</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1</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706415246"/>
                      </a:ext>
                    </a:extLst>
                  </a:tr>
                </a:tbl>
              </a:graphicData>
            </a:graphic>
          </p:graphicFrame>
        </mc:Choice>
        <mc:Fallback>
          <p:graphicFrame>
            <p:nvGraphicFramePr>
              <p:cNvPr id="13" name="表格 12">
                <a:extLst>
                  <a:ext uri="{FF2B5EF4-FFF2-40B4-BE49-F238E27FC236}">
                    <a16:creationId xmlns:a16="http://schemas.microsoft.com/office/drawing/2014/main" id="{960F730F-C86C-4677-B731-F7639257A29B}"/>
                  </a:ext>
                </a:extLst>
              </p:cNvPr>
              <p:cNvGraphicFramePr>
                <a:graphicFrameLocks noGrp="1"/>
              </p:cNvGraphicFramePr>
              <p:nvPr>
                <p:extLst>
                  <p:ext uri="{D42A27DB-BD31-4B8C-83A1-F6EECF244321}">
                    <p14:modId xmlns:p14="http://schemas.microsoft.com/office/powerpoint/2010/main" val="2005491398"/>
                  </p:ext>
                </p:extLst>
              </p:nvPr>
            </p:nvGraphicFramePr>
            <p:xfrm>
              <a:off x="634138" y="3891246"/>
              <a:ext cx="5940000" cy="518160"/>
            </p:xfrm>
            <a:graphic>
              <a:graphicData uri="http://schemas.openxmlformats.org/drawingml/2006/table">
                <a:tbl>
                  <a:tblPr firstRow="1" bandRow="1">
                    <a:tableStyleId>{5940675A-B579-460E-94D1-54222C63F5DA}</a:tableStyleId>
                  </a:tblPr>
                  <a:tblGrid>
                    <a:gridCol w="540000">
                      <a:extLst>
                        <a:ext uri="{9D8B030D-6E8A-4147-A177-3AD203B41FA5}">
                          <a16:colId xmlns:a16="http://schemas.microsoft.com/office/drawing/2014/main" val="106444939"/>
                        </a:ext>
                      </a:extLst>
                    </a:gridCol>
                    <a:gridCol w="540000">
                      <a:extLst>
                        <a:ext uri="{9D8B030D-6E8A-4147-A177-3AD203B41FA5}">
                          <a16:colId xmlns:a16="http://schemas.microsoft.com/office/drawing/2014/main" val="3965888546"/>
                        </a:ext>
                      </a:extLst>
                    </a:gridCol>
                    <a:gridCol w="540000">
                      <a:extLst>
                        <a:ext uri="{9D8B030D-6E8A-4147-A177-3AD203B41FA5}">
                          <a16:colId xmlns:a16="http://schemas.microsoft.com/office/drawing/2014/main" val="82904498"/>
                        </a:ext>
                      </a:extLst>
                    </a:gridCol>
                    <a:gridCol w="540000">
                      <a:extLst>
                        <a:ext uri="{9D8B030D-6E8A-4147-A177-3AD203B41FA5}">
                          <a16:colId xmlns:a16="http://schemas.microsoft.com/office/drawing/2014/main" val="2214715668"/>
                        </a:ext>
                      </a:extLst>
                    </a:gridCol>
                    <a:gridCol w="540000">
                      <a:extLst>
                        <a:ext uri="{9D8B030D-6E8A-4147-A177-3AD203B41FA5}">
                          <a16:colId xmlns:a16="http://schemas.microsoft.com/office/drawing/2014/main" val="777121050"/>
                        </a:ext>
                      </a:extLst>
                    </a:gridCol>
                    <a:gridCol w="540000">
                      <a:extLst>
                        <a:ext uri="{9D8B030D-6E8A-4147-A177-3AD203B41FA5}">
                          <a16:colId xmlns:a16="http://schemas.microsoft.com/office/drawing/2014/main" val="2140332791"/>
                        </a:ext>
                      </a:extLst>
                    </a:gridCol>
                    <a:gridCol w="540000">
                      <a:extLst>
                        <a:ext uri="{9D8B030D-6E8A-4147-A177-3AD203B41FA5}">
                          <a16:colId xmlns:a16="http://schemas.microsoft.com/office/drawing/2014/main" val="1910247371"/>
                        </a:ext>
                      </a:extLst>
                    </a:gridCol>
                    <a:gridCol w="671462">
                      <a:extLst>
                        <a:ext uri="{9D8B030D-6E8A-4147-A177-3AD203B41FA5}">
                          <a16:colId xmlns:a16="http://schemas.microsoft.com/office/drawing/2014/main" val="3804762709"/>
                        </a:ext>
                      </a:extLst>
                    </a:gridCol>
                    <a:gridCol w="408538">
                      <a:extLst>
                        <a:ext uri="{9D8B030D-6E8A-4147-A177-3AD203B41FA5}">
                          <a16:colId xmlns:a16="http://schemas.microsoft.com/office/drawing/2014/main" val="354420647"/>
                        </a:ext>
                      </a:extLst>
                    </a:gridCol>
                    <a:gridCol w="540000">
                      <a:extLst>
                        <a:ext uri="{9D8B030D-6E8A-4147-A177-3AD203B41FA5}">
                          <a16:colId xmlns:a16="http://schemas.microsoft.com/office/drawing/2014/main" val="4131807763"/>
                        </a:ext>
                      </a:extLst>
                    </a:gridCol>
                    <a:gridCol w="540000">
                      <a:extLst>
                        <a:ext uri="{9D8B030D-6E8A-4147-A177-3AD203B41FA5}">
                          <a16:colId xmlns:a16="http://schemas.microsoft.com/office/drawing/2014/main" val="2190297588"/>
                        </a:ext>
                      </a:extLst>
                    </a:gridCol>
                  </a:tblGrid>
                  <a:tr h="518160">
                    <a:tc>
                      <a:txBody>
                        <a:bodyPr/>
                        <a:lstStyle/>
                        <a:p>
                          <a:endParaRPr lang="zh-TW"/>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blipFill>
                          <a:blip r:embed="rId4"/>
                          <a:stretch>
                            <a:fillRect t="-11628" r="-995506" b="-31395"/>
                          </a:stretch>
                        </a:blip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1</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0</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1</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0</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0</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1</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706415246"/>
                      </a:ext>
                    </a:extLst>
                  </a:tr>
                </a:tbl>
              </a:graphicData>
            </a:graphic>
          </p:graphicFrame>
        </mc:Fallback>
      </mc:AlternateContent>
      <mc:AlternateContent xmlns:mc="http://schemas.openxmlformats.org/markup-compatibility/2006">
        <mc:Choice xmlns:a14="http://schemas.microsoft.com/office/drawing/2010/main" Requires="a14">
          <p:sp>
            <p:nvSpPr>
              <p:cNvPr id="14" name="矩形 13">
                <a:extLst>
                  <a:ext uri="{FF2B5EF4-FFF2-40B4-BE49-F238E27FC236}">
                    <a16:creationId xmlns:a16="http://schemas.microsoft.com/office/drawing/2014/main" id="{1F866D1C-6193-4212-9D34-37B0747E5F4C}"/>
                  </a:ext>
                </a:extLst>
              </p:cNvPr>
              <p:cNvSpPr/>
              <p:nvPr/>
            </p:nvSpPr>
            <p:spPr>
              <a:xfrm>
                <a:off x="402232" y="1812840"/>
                <a:ext cx="8408393" cy="461665"/>
              </a:xfrm>
              <a:prstGeom prst="rect">
                <a:avLst/>
              </a:prstGeom>
            </p:spPr>
            <p:txBody>
              <a:bodyPr wrap="square">
                <a:spAutoFit/>
              </a:bodyPr>
              <a:lstStyle/>
              <a:p>
                <a:r>
                  <a:rPr lang="en-US" altLang="zh-TW" sz="2400" dirty="0">
                    <a:latin typeface="Times New Roman" panose="02020603050405020304" pitchFamily="18" charset="0"/>
                  </a:rPr>
                  <a:t>=&gt; given text </a:t>
                </a:r>
                <a14:m>
                  <m:oMath xmlns:m="http://schemas.openxmlformats.org/officeDocument/2006/math">
                    <m:r>
                      <a:rPr lang="en-US" altLang="zh-TW" sz="2400" i="1">
                        <a:latin typeface="Cambria Math" panose="02040503050406030204" pitchFamily="18" charset="0"/>
                      </a:rPr>
                      <m:t>𝑇</m:t>
                    </m:r>
                    <m:r>
                      <a:rPr lang="en-US" altLang="zh-TW" sz="2400" i="1">
                        <a:latin typeface="Cambria Math" panose="02040503050406030204" pitchFamily="18" charset="0"/>
                      </a:rPr>
                      <m:t>′</m:t>
                    </m:r>
                  </m:oMath>
                </a14:m>
                <a:r>
                  <a:rPr lang="en-US" altLang="zh-TW" sz="2400" dirty="0">
                    <a:latin typeface="Times New Roman" panose="02020603050405020304" pitchFamily="18" charset="0"/>
                  </a:rPr>
                  <a:t> and pattern </a:t>
                </a:r>
                <a14:m>
                  <m:oMath xmlns:m="http://schemas.openxmlformats.org/officeDocument/2006/math">
                    <m:r>
                      <a:rPr lang="en-US" altLang="zh-TW" sz="2400" i="1">
                        <a:latin typeface="Cambria Math" panose="02040503050406030204" pitchFamily="18" charset="0"/>
                      </a:rPr>
                      <m:t>𝑃</m:t>
                    </m:r>
                    <m:r>
                      <a:rPr lang="en-US" altLang="zh-TW" sz="2400" i="1">
                        <a:latin typeface="Cambria Math" panose="02040503050406030204" pitchFamily="18" charset="0"/>
                      </a:rPr>
                      <m:t>′</m:t>
                    </m:r>
                  </m:oMath>
                </a14:m>
                <a:r>
                  <a:rPr lang="en-US" altLang="zh-TW" sz="2400" dirty="0">
                    <a:latin typeface="Times New Roman" panose="02020603050405020304" pitchFamily="18" charset="0"/>
                  </a:rPr>
                  <a:t>, find </a:t>
                </a:r>
                <a:r>
                  <a:rPr lang="en-US" altLang="zh-TW" sz="2400" dirty="0">
                    <a:solidFill>
                      <a:srgbClr val="FF0000"/>
                    </a:solidFill>
                    <a:latin typeface="Times New Roman" panose="02020603050405020304" pitchFamily="18" charset="0"/>
                  </a:rPr>
                  <a:t>candidate matches</a:t>
                </a:r>
                <a:endParaRPr lang="zh-TW" altLang="en-US" sz="2400" dirty="0">
                  <a:solidFill>
                    <a:srgbClr val="FF0000"/>
                  </a:solidFill>
                  <a:latin typeface="Times New Roman" panose="02020603050405020304" pitchFamily="18" charset="0"/>
                </a:endParaRPr>
              </a:p>
            </p:txBody>
          </p:sp>
        </mc:Choice>
        <mc:Fallback>
          <p:sp>
            <p:nvSpPr>
              <p:cNvPr id="14" name="矩形 13">
                <a:extLst>
                  <a:ext uri="{FF2B5EF4-FFF2-40B4-BE49-F238E27FC236}">
                    <a16:creationId xmlns:a16="http://schemas.microsoft.com/office/drawing/2014/main" id="{1F866D1C-6193-4212-9D34-37B0747E5F4C}"/>
                  </a:ext>
                </a:extLst>
              </p:cNvPr>
              <p:cNvSpPr>
                <a:spLocks noRot="1" noChangeAspect="1" noMove="1" noResize="1" noEditPoints="1" noAdjustHandles="1" noChangeArrowheads="1" noChangeShapeType="1" noTextEdit="1"/>
              </p:cNvSpPr>
              <p:nvPr/>
            </p:nvSpPr>
            <p:spPr>
              <a:xfrm>
                <a:off x="402232" y="1812840"/>
                <a:ext cx="8408393" cy="461665"/>
              </a:xfrm>
              <a:prstGeom prst="rect">
                <a:avLst/>
              </a:prstGeom>
              <a:blipFill>
                <a:blip r:embed="rId5"/>
                <a:stretch>
                  <a:fillRect l="-1160" t="-10526" b="-28947"/>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32298493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a:extLst>
              <a:ext uri="{FF2B5EF4-FFF2-40B4-BE49-F238E27FC236}">
                <a16:creationId xmlns:a16="http://schemas.microsoft.com/office/drawing/2014/main" id="{01482047-C5BA-4C14-A83E-65B7E095C8D6}"/>
              </a:ext>
            </a:extLst>
          </p:cNvPr>
          <p:cNvSpPr>
            <a:spLocks noGrp="1"/>
          </p:cNvSpPr>
          <p:nvPr>
            <p:ph type="sldNum" sz="quarter" idx="12"/>
          </p:nvPr>
        </p:nvSpPr>
        <p:spPr/>
        <p:txBody>
          <a:bodyPr/>
          <a:lstStyle/>
          <a:p>
            <a:fld id="{872633CA-77E0-4863-94F8-E28139DFB2B4}" type="slidenum">
              <a:rPr lang="zh-TW" altLang="en-US" smtClean="0"/>
              <a:t>10</a:t>
            </a:fld>
            <a:endParaRPr lang="zh-TW" altLang="en-US"/>
          </a:p>
        </p:txBody>
      </p:sp>
      <p:sp>
        <p:nvSpPr>
          <p:cNvPr id="15" name="標題 1">
            <a:extLst>
              <a:ext uri="{FF2B5EF4-FFF2-40B4-BE49-F238E27FC236}">
                <a16:creationId xmlns:a16="http://schemas.microsoft.com/office/drawing/2014/main" id="{A9990B6E-C32F-4A96-940B-453E868CF6E8}"/>
              </a:ext>
            </a:extLst>
          </p:cNvPr>
          <p:cNvSpPr txBox="1">
            <a:spLocks/>
          </p:cNvSpPr>
          <p:nvPr/>
        </p:nvSpPr>
        <p:spPr>
          <a:xfrm>
            <a:off x="402232" y="305355"/>
            <a:ext cx="7886700" cy="74281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TW" sz="3600" dirty="0">
                <a:latin typeface="Times New Roman" panose="02020603050405020304" pitchFamily="18" charset="0"/>
                <a:cs typeface="Times New Roman" panose="02020603050405020304" pitchFamily="18" charset="0"/>
              </a:rPr>
              <a:t>Another Example</a:t>
            </a:r>
            <a:endParaRPr lang="zh-TW" altLang="en-US" sz="3600" dirty="0">
              <a:latin typeface="Times New Roman" panose="02020603050405020304" pitchFamily="18" charset="0"/>
              <a:cs typeface="Times New Roman" panose="02020603050405020304" pitchFamily="18" charset="0"/>
            </a:endParaRPr>
          </a:p>
        </p:txBody>
      </p:sp>
      <p:graphicFrame>
        <p:nvGraphicFramePr>
          <p:cNvPr id="13" name="圖表 12">
            <a:extLst>
              <a:ext uri="{FF2B5EF4-FFF2-40B4-BE49-F238E27FC236}">
                <a16:creationId xmlns:a16="http://schemas.microsoft.com/office/drawing/2014/main" id="{092E3017-EF43-449F-ABB5-B9C1FAE7129F}"/>
              </a:ext>
            </a:extLst>
          </p:cNvPr>
          <p:cNvGraphicFramePr/>
          <p:nvPr>
            <p:extLst>
              <p:ext uri="{D42A27DB-BD31-4B8C-83A1-F6EECF244321}">
                <p14:modId xmlns:p14="http://schemas.microsoft.com/office/powerpoint/2010/main" val="2460909404"/>
              </p:ext>
            </p:extLst>
          </p:nvPr>
        </p:nvGraphicFramePr>
        <p:xfrm>
          <a:off x="1638300" y="2444751"/>
          <a:ext cx="5867400" cy="3911600"/>
        </p:xfrm>
        <a:graphic>
          <a:graphicData uri="http://schemas.openxmlformats.org/drawingml/2006/chart">
            <c:chart xmlns:c="http://schemas.openxmlformats.org/drawingml/2006/chart" xmlns:r="http://schemas.openxmlformats.org/officeDocument/2006/relationships" r:id="rId3"/>
          </a:graphicData>
        </a:graphic>
      </p:graphicFrame>
      <mc:AlternateContent xmlns:mc="http://schemas.openxmlformats.org/markup-compatibility/2006">
        <mc:Choice xmlns:a14="http://schemas.microsoft.com/office/drawing/2010/main" Requires="a14">
          <p:graphicFrame>
            <p:nvGraphicFramePr>
              <p:cNvPr id="34" name="表格 33">
                <a:extLst>
                  <a:ext uri="{FF2B5EF4-FFF2-40B4-BE49-F238E27FC236}">
                    <a16:creationId xmlns:a16="http://schemas.microsoft.com/office/drawing/2014/main" id="{EF6725E2-9AFF-46A0-88E3-30969D79B617}"/>
                  </a:ext>
                </a:extLst>
              </p:cNvPr>
              <p:cNvGraphicFramePr>
                <a:graphicFrameLocks noGrp="1"/>
              </p:cNvGraphicFramePr>
              <p:nvPr>
                <p:extLst>
                  <p:ext uri="{D42A27DB-BD31-4B8C-83A1-F6EECF244321}">
                    <p14:modId xmlns:p14="http://schemas.microsoft.com/office/powerpoint/2010/main" val="3220108960"/>
                  </p:ext>
                </p:extLst>
              </p:nvPr>
            </p:nvGraphicFramePr>
            <p:xfrm>
              <a:off x="596038" y="1080348"/>
              <a:ext cx="7560000" cy="518160"/>
            </p:xfrm>
            <a:graphic>
              <a:graphicData uri="http://schemas.openxmlformats.org/drawingml/2006/table">
                <a:tbl>
                  <a:tblPr firstRow="1" bandRow="1">
                    <a:tableStyleId>{5940675A-B579-460E-94D1-54222C63F5DA}</a:tableStyleId>
                  </a:tblPr>
                  <a:tblGrid>
                    <a:gridCol w="540000">
                      <a:extLst>
                        <a:ext uri="{9D8B030D-6E8A-4147-A177-3AD203B41FA5}">
                          <a16:colId xmlns:a16="http://schemas.microsoft.com/office/drawing/2014/main" val="106444939"/>
                        </a:ext>
                      </a:extLst>
                    </a:gridCol>
                    <a:gridCol w="540000">
                      <a:extLst>
                        <a:ext uri="{9D8B030D-6E8A-4147-A177-3AD203B41FA5}">
                          <a16:colId xmlns:a16="http://schemas.microsoft.com/office/drawing/2014/main" val="3438003960"/>
                        </a:ext>
                      </a:extLst>
                    </a:gridCol>
                    <a:gridCol w="540000">
                      <a:extLst>
                        <a:ext uri="{9D8B030D-6E8A-4147-A177-3AD203B41FA5}">
                          <a16:colId xmlns:a16="http://schemas.microsoft.com/office/drawing/2014/main" val="1539556327"/>
                        </a:ext>
                      </a:extLst>
                    </a:gridCol>
                    <a:gridCol w="540000">
                      <a:extLst>
                        <a:ext uri="{9D8B030D-6E8A-4147-A177-3AD203B41FA5}">
                          <a16:colId xmlns:a16="http://schemas.microsoft.com/office/drawing/2014/main" val="1393179428"/>
                        </a:ext>
                      </a:extLst>
                    </a:gridCol>
                    <a:gridCol w="540000">
                      <a:extLst>
                        <a:ext uri="{9D8B030D-6E8A-4147-A177-3AD203B41FA5}">
                          <a16:colId xmlns:a16="http://schemas.microsoft.com/office/drawing/2014/main" val="3965888546"/>
                        </a:ext>
                      </a:extLst>
                    </a:gridCol>
                    <a:gridCol w="540000">
                      <a:extLst>
                        <a:ext uri="{9D8B030D-6E8A-4147-A177-3AD203B41FA5}">
                          <a16:colId xmlns:a16="http://schemas.microsoft.com/office/drawing/2014/main" val="82904498"/>
                        </a:ext>
                      </a:extLst>
                    </a:gridCol>
                    <a:gridCol w="540000">
                      <a:extLst>
                        <a:ext uri="{9D8B030D-6E8A-4147-A177-3AD203B41FA5}">
                          <a16:colId xmlns:a16="http://schemas.microsoft.com/office/drawing/2014/main" val="2214715668"/>
                        </a:ext>
                      </a:extLst>
                    </a:gridCol>
                    <a:gridCol w="540000">
                      <a:extLst>
                        <a:ext uri="{9D8B030D-6E8A-4147-A177-3AD203B41FA5}">
                          <a16:colId xmlns:a16="http://schemas.microsoft.com/office/drawing/2014/main" val="777121050"/>
                        </a:ext>
                      </a:extLst>
                    </a:gridCol>
                    <a:gridCol w="540000">
                      <a:extLst>
                        <a:ext uri="{9D8B030D-6E8A-4147-A177-3AD203B41FA5}">
                          <a16:colId xmlns:a16="http://schemas.microsoft.com/office/drawing/2014/main" val="2140332791"/>
                        </a:ext>
                      </a:extLst>
                    </a:gridCol>
                    <a:gridCol w="540000">
                      <a:extLst>
                        <a:ext uri="{9D8B030D-6E8A-4147-A177-3AD203B41FA5}">
                          <a16:colId xmlns:a16="http://schemas.microsoft.com/office/drawing/2014/main" val="1910247371"/>
                        </a:ext>
                      </a:extLst>
                    </a:gridCol>
                    <a:gridCol w="540000">
                      <a:extLst>
                        <a:ext uri="{9D8B030D-6E8A-4147-A177-3AD203B41FA5}">
                          <a16:colId xmlns:a16="http://schemas.microsoft.com/office/drawing/2014/main" val="3804762709"/>
                        </a:ext>
                      </a:extLst>
                    </a:gridCol>
                    <a:gridCol w="540000">
                      <a:extLst>
                        <a:ext uri="{9D8B030D-6E8A-4147-A177-3AD203B41FA5}">
                          <a16:colId xmlns:a16="http://schemas.microsoft.com/office/drawing/2014/main" val="354420647"/>
                        </a:ext>
                      </a:extLst>
                    </a:gridCol>
                    <a:gridCol w="540000">
                      <a:extLst>
                        <a:ext uri="{9D8B030D-6E8A-4147-A177-3AD203B41FA5}">
                          <a16:colId xmlns:a16="http://schemas.microsoft.com/office/drawing/2014/main" val="4131807763"/>
                        </a:ext>
                      </a:extLst>
                    </a:gridCol>
                    <a:gridCol w="540000">
                      <a:extLst>
                        <a:ext uri="{9D8B030D-6E8A-4147-A177-3AD203B41FA5}">
                          <a16:colId xmlns:a16="http://schemas.microsoft.com/office/drawing/2014/main" val="2190297588"/>
                        </a:ext>
                      </a:extLst>
                    </a:gridCol>
                  </a:tblGrid>
                  <a:tr h="229371">
                    <a:tc>
                      <a:txBody>
                        <a:bodyPr/>
                        <a:lstStyle/>
                        <a:p>
                          <a:pPr algn="ctr"/>
                          <a14:m>
                            <m:oMath xmlns:m="http://schemas.openxmlformats.org/officeDocument/2006/math">
                              <m:r>
                                <a:rPr lang="en-US" altLang="zh-TW" sz="2800" b="0" i="1" dirty="0" smtClean="0">
                                  <a:solidFill>
                                    <a:srgbClr val="002060"/>
                                  </a:solidFill>
                                  <a:latin typeface="Cambria Math" panose="02040503050406030204" pitchFamily="18" charset="0"/>
                                  <a:cs typeface="Times New Roman" panose="02020603050405020304" pitchFamily="18" charset="0"/>
                                </a:rPr>
                                <m:t>𝑇</m:t>
                              </m:r>
                            </m:oMath>
                          </a14:m>
                          <a:r>
                            <a:rPr lang="en-US" altLang="zh-TW" sz="2800" dirty="0">
                              <a:solidFill>
                                <a:srgbClr val="002060"/>
                              </a:solidFill>
                              <a:latin typeface="Times New Roman" panose="02020603050405020304" pitchFamily="18" charset="0"/>
                              <a:cs typeface="Times New Roman" panose="02020603050405020304" pitchFamily="18" charset="0"/>
                            </a:rPr>
                            <a: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5</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10</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20</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15</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25</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35</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20</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30</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15</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30</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25</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20</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15</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706415246"/>
                      </a:ext>
                    </a:extLst>
                  </a:tr>
                </a:tbl>
              </a:graphicData>
            </a:graphic>
          </p:graphicFrame>
        </mc:Choice>
        <mc:Fallback>
          <p:graphicFrame>
            <p:nvGraphicFramePr>
              <p:cNvPr id="34" name="表格 33">
                <a:extLst>
                  <a:ext uri="{FF2B5EF4-FFF2-40B4-BE49-F238E27FC236}">
                    <a16:creationId xmlns:a16="http://schemas.microsoft.com/office/drawing/2014/main" id="{EF6725E2-9AFF-46A0-88E3-30969D79B617}"/>
                  </a:ext>
                </a:extLst>
              </p:cNvPr>
              <p:cNvGraphicFramePr>
                <a:graphicFrameLocks noGrp="1"/>
              </p:cNvGraphicFramePr>
              <p:nvPr>
                <p:extLst>
                  <p:ext uri="{D42A27DB-BD31-4B8C-83A1-F6EECF244321}">
                    <p14:modId xmlns:p14="http://schemas.microsoft.com/office/powerpoint/2010/main" val="3220108960"/>
                  </p:ext>
                </p:extLst>
              </p:nvPr>
            </p:nvGraphicFramePr>
            <p:xfrm>
              <a:off x="596038" y="1080348"/>
              <a:ext cx="7560000" cy="518160"/>
            </p:xfrm>
            <a:graphic>
              <a:graphicData uri="http://schemas.openxmlformats.org/drawingml/2006/table">
                <a:tbl>
                  <a:tblPr firstRow="1" bandRow="1">
                    <a:tableStyleId>{5940675A-B579-460E-94D1-54222C63F5DA}</a:tableStyleId>
                  </a:tblPr>
                  <a:tblGrid>
                    <a:gridCol w="540000">
                      <a:extLst>
                        <a:ext uri="{9D8B030D-6E8A-4147-A177-3AD203B41FA5}">
                          <a16:colId xmlns:a16="http://schemas.microsoft.com/office/drawing/2014/main" val="106444939"/>
                        </a:ext>
                      </a:extLst>
                    </a:gridCol>
                    <a:gridCol w="540000">
                      <a:extLst>
                        <a:ext uri="{9D8B030D-6E8A-4147-A177-3AD203B41FA5}">
                          <a16:colId xmlns:a16="http://schemas.microsoft.com/office/drawing/2014/main" val="3438003960"/>
                        </a:ext>
                      </a:extLst>
                    </a:gridCol>
                    <a:gridCol w="540000">
                      <a:extLst>
                        <a:ext uri="{9D8B030D-6E8A-4147-A177-3AD203B41FA5}">
                          <a16:colId xmlns:a16="http://schemas.microsoft.com/office/drawing/2014/main" val="1539556327"/>
                        </a:ext>
                      </a:extLst>
                    </a:gridCol>
                    <a:gridCol w="540000">
                      <a:extLst>
                        <a:ext uri="{9D8B030D-6E8A-4147-A177-3AD203B41FA5}">
                          <a16:colId xmlns:a16="http://schemas.microsoft.com/office/drawing/2014/main" val="1393179428"/>
                        </a:ext>
                      </a:extLst>
                    </a:gridCol>
                    <a:gridCol w="540000">
                      <a:extLst>
                        <a:ext uri="{9D8B030D-6E8A-4147-A177-3AD203B41FA5}">
                          <a16:colId xmlns:a16="http://schemas.microsoft.com/office/drawing/2014/main" val="3965888546"/>
                        </a:ext>
                      </a:extLst>
                    </a:gridCol>
                    <a:gridCol w="540000">
                      <a:extLst>
                        <a:ext uri="{9D8B030D-6E8A-4147-A177-3AD203B41FA5}">
                          <a16:colId xmlns:a16="http://schemas.microsoft.com/office/drawing/2014/main" val="82904498"/>
                        </a:ext>
                      </a:extLst>
                    </a:gridCol>
                    <a:gridCol w="540000">
                      <a:extLst>
                        <a:ext uri="{9D8B030D-6E8A-4147-A177-3AD203B41FA5}">
                          <a16:colId xmlns:a16="http://schemas.microsoft.com/office/drawing/2014/main" val="2214715668"/>
                        </a:ext>
                      </a:extLst>
                    </a:gridCol>
                    <a:gridCol w="540000">
                      <a:extLst>
                        <a:ext uri="{9D8B030D-6E8A-4147-A177-3AD203B41FA5}">
                          <a16:colId xmlns:a16="http://schemas.microsoft.com/office/drawing/2014/main" val="777121050"/>
                        </a:ext>
                      </a:extLst>
                    </a:gridCol>
                    <a:gridCol w="540000">
                      <a:extLst>
                        <a:ext uri="{9D8B030D-6E8A-4147-A177-3AD203B41FA5}">
                          <a16:colId xmlns:a16="http://schemas.microsoft.com/office/drawing/2014/main" val="2140332791"/>
                        </a:ext>
                      </a:extLst>
                    </a:gridCol>
                    <a:gridCol w="540000">
                      <a:extLst>
                        <a:ext uri="{9D8B030D-6E8A-4147-A177-3AD203B41FA5}">
                          <a16:colId xmlns:a16="http://schemas.microsoft.com/office/drawing/2014/main" val="1910247371"/>
                        </a:ext>
                      </a:extLst>
                    </a:gridCol>
                    <a:gridCol w="540000">
                      <a:extLst>
                        <a:ext uri="{9D8B030D-6E8A-4147-A177-3AD203B41FA5}">
                          <a16:colId xmlns:a16="http://schemas.microsoft.com/office/drawing/2014/main" val="3804762709"/>
                        </a:ext>
                      </a:extLst>
                    </a:gridCol>
                    <a:gridCol w="540000">
                      <a:extLst>
                        <a:ext uri="{9D8B030D-6E8A-4147-A177-3AD203B41FA5}">
                          <a16:colId xmlns:a16="http://schemas.microsoft.com/office/drawing/2014/main" val="354420647"/>
                        </a:ext>
                      </a:extLst>
                    </a:gridCol>
                    <a:gridCol w="540000">
                      <a:extLst>
                        <a:ext uri="{9D8B030D-6E8A-4147-A177-3AD203B41FA5}">
                          <a16:colId xmlns:a16="http://schemas.microsoft.com/office/drawing/2014/main" val="4131807763"/>
                        </a:ext>
                      </a:extLst>
                    </a:gridCol>
                    <a:gridCol w="540000">
                      <a:extLst>
                        <a:ext uri="{9D8B030D-6E8A-4147-A177-3AD203B41FA5}">
                          <a16:colId xmlns:a16="http://schemas.microsoft.com/office/drawing/2014/main" val="2190297588"/>
                        </a:ext>
                      </a:extLst>
                    </a:gridCol>
                  </a:tblGrid>
                  <a:tr h="518160">
                    <a:tc>
                      <a:txBody>
                        <a:bodyPr/>
                        <a:lstStyle/>
                        <a:p>
                          <a:endParaRPr lang="zh-TW"/>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blipFill>
                          <a:blip r:embed="rId4"/>
                          <a:stretch>
                            <a:fillRect t="-11628" r="-1294382" b="-31395"/>
                          </a:stretch>
                        </a:blip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5</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10</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20</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15</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25</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35</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20</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30</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15</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30</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25</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20</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15</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706415246"/>
                      </a:ext>
                    </a:extLst>
                  </a:tr>
                </a:tbl>
              </a:graphicData>
            </a:graphic>
          </p:graphicFrame>
        </mc:Fallback>
      </mc:AlternateContent>
      <mc:AlternateContent xmlns:mc="http://schemas.openxmlformats.org/markup-compatibility/2006">
        <mc:Choice xmlns:a14="http://schemas.microsoft.com/office/drawing/2010/main" Requires="a14">
          <p:graphicFrame>
            <p:nvGraphicFramePr>
              <p:cNvPr id="35" name="表格 34">
                <a:extLst>
                  <a:ext uri="{FF2B5EF4-FFF2-40B4-BE49-F238E27FC236}">
                    <a16:creationId xmlns:a16="http://schemas.microsoft.com/office/drawing/2014/main" id="{0AC84F35-EEA7-44D1-B892-FBEC8DE654C3}"/>
                  </a:ext>
                </a:extLst>
              </p:cNvPr>
              <p:cNvGraphicFramePr>
                <a:graphicFrameLocks noGrp="1"/>
              </p:cNvGraphicFramePr>
              <p:nvPr>
                <p:extLst>
                  <p:ext uri="{D42A27DB-BD31-4B8C-83A1-F6EECF244321}">
                    <p14:modId xmlns:p14="http://schemas.microsoft.com/office/powerpoint/2010/main" val="1045345262"/>
                  </p:ext>
                </p:extLst>
              </p:nvPr>
            </p:nvGraphicFramePr>
            <p:xfrm>
              <a:off x="596038" y="1762549"/>
              <a:ext cx="5940000" cy="518160"/>
            </p:xfrm>
            <a:graphic>
              <a:graphicData uri="http://schemas.openxmlformats.org/drawingml/2006/table">
                <a:tbl>
                  <a:tblPr firstRow="1" bandRow="1">
                    <a:tableStyleId>{5940675A-B579-460E-94D1-54222C63F5DA}</a:tableStyleId>
                  </a:tblPr>
                  <a:tblGrid>
                    <a:gridCol w="540000">
                      <a:extLst>
                        <a:ext uri="{9D8B030D-6E8A-4147-A177-3AD203B41FA5}">
                          <a16:colId xmlns:a16="http://schemas.microsoft.com/office/drawing/2014/main" val="106444939"/>
                        </a:ext>
                      </a:extLst>
                    </a:gridCol>
                    <a:gridCol w="540000">
                      <a:extLst>
                        <a:ext uri="{9D8B030D-6E8A-4147-A177-3AD203B41FA5}">
                          <a16:colId xmlns:a16="http://schemas.microsoft.com/office/drawing/2014/main" val="3965888546"/>
                        </a:ext>
                      </a:extLst>
                    </a:gridCol>
                    <a:gridCol w="540000">
                      <a:extLst>
                        <a:ext uri="{9D8B030D-6E8A-4147-A177-3AD203B41FA5}">
                          <a16:colId xmlns:a16="http://schemas.microsoft.com/office/drawing/2014/main" val="82904498"/>
                        </a:ext>
                      </a:extLst>
                    </a:gridCol>
                    <a:gridCol w="540000">
                      <a:extLst>
                        <a:ext uri="{9D8B030D-6E8A-4147-A177-3AD203B41FA5}">
                          <a16:colId xmlns:a16="http://schemas.microsoft.com/office/drawing/2014/main" val="2214715668"/>
                        </a:ext>
                      </a:extLst>
                    </a:gridCol>
                    <a:gridCol w="540000">
                      <a:extLst>
                        <a:ext uri="{9D8B030D-6E8A-4147-A177-3AD203B41FA5}">
                          <a16:colId xmlns:a16="http://schemas.microsoft.com/office/drawing/2014/main" val="777121050"/>
                        </a:ext>
                      </a:extLst>
                    </a:gridCol>
                    <a:gridCol w="540000">
                      <a:extLst>
                        <a:ext uri="{9D8B030D-6E8A-4147-A177-3AD203B41FA5}">
                          <a16:colId xmlns:a16="http://schemas.microsoft.com/office/drawing/2014/main" val="2140332791"/>
                        </a:ext>
                      </a:extLst>
                    </a:gridCol>
                    <a:gridCol w="540000">
                      <a:extLst>
                        <a:ext uri="{9D8B030D-6E8A-4147-A177-3AD203B41FA5}">
                          <a16:colId xmlns:a16="http://schemas.microsoft.com/office/drawing/2014/main" val="1910247371"/>
                        </a:ext>
                      </a:extLst>
                    </a:gridCol>
                    <a:gridCol w="540000">
                      <a:extLst>
                        <a:ext uri="{9D8B030D-6E8A-4147-A177-3AD203B41FA5}">
                          <a16:colId xmlns:a16="http://schemas.microsoft.com/office/drawing/2014/main" val="3804762709"/>
                        </a:ext>
                      </a:extLst>
                    </a:gridCol>
                    <a:gridCol w="540000">
                      <a:extLst>
                        <a:ext uri="{9D8B030D-6E8A-4147-A177-3AD203B41FA5}">
                          <a16:colId xmlns:a16="http://schemas.microsoft.com/office/drawing/2014/main" val="354420647"/>
                        </a:ext>
                      </a:extLst>
                    </a:gridCol>
                    <a:gridCol w="540000">
                      <a:extLst>
                        <a:ext uri="{9D8B030D-6E8A-4147-A177-3AD203B41FA5}">
                          <a16:colId xmlns:a16="http://schemas.microsoft.com/office/drawing/2014/main" val="4131807763"/>
                        </a:ext>
                      </a:extLst>
                    </a:gridCol>
                    <a:gridCol w="540000">
                      <a:extLst>
                        <a:ext uri="{9D8B030D-6E8A-4147-A177-3AD203B41FA5}">
                          <a16:colId xmlns:a16="http://schemas.microsoft.com/office/drawing/2014/main" val="2190297588"/>
                        </a:ext>
                      </a:extLst>
                    </a:gridCol>
                  </a:tblGrid>
                  <a:tr h="229371">
                    <a:tc>
                      <a:txBody>
                        <a:bodyPr/>
                        <a:lstStyle/>
                        <a:p>
                          <a:pPr algn="ctr"/>
                          <a14:m>
                            <m:oMath xmlns:m="http://schemas.openxmlformats.org/officeDocument/2006/math">
                              <m:r>
                                <a:rPr lang="en-US" altLang="zh-TW" sz="2800" b="0" i="1" dirty="0" smtClean="0">
                                  <a:solidFill>
                                    <a:srgbClr val="002060"/>
                                  </a:solidFill>
                                  <a:latin typeface="Cambria Math" panose="02040503050406030204" pitchFamily="18" charset="0"/>
                                  <a:cs typeface="Times New Roman" panose="02020603050405020304" pitchFamily="18" charset="0"/>
                                </a:rPr>
                                <m:t>𝑃</m:t>
                              </m:r>
                            </m:oMath>
                          </a14:m>
                          <a:r>
                            <a:rPr lang="en-US" altLang="zh-TW" sz="2800" dirty="0">
                              <a:solidFill>
                                <a:srgbClr val="002060"/>
                              </a:solidFill>
                              <a:latin typeface="Times New Roman" panose="02020603050405020304" pitchFamily="18" charset="0"/>
                              <a:cs typeface="Times New Roman" panose="02020603050405020304" pitchFamily="18" charset="0"/>
                            </a:rPr>
                            <a: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2</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6</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10</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4</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8</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706415246"/>
                      </a:ext>
                    </a:extLst>
                  </a:tr>
                </a:tbl>
              </a:graphicData>
            </a:graphic>
          </p:graphicFrame>
        </mc:Choice>
        <mc:Fallback>
          <p:graphicFrame>
            <p:nvGraphicFramePr>
              <p:cNvPr id="35" name="表格 34">
                <a:extLst>
                  <a:ext uri="{FF2B5EF4-FFF2-40B4-BE49-F238E27FC236}">
                    <a16:creationId xmlns:a16="http://schemas.microsoft.com/office/drawing/2014/main" id="{0AC84F35-EEA7-44D1-B892-FBEC8DE654C3}"/>
                  </a:ext>
                </a:extLst>
              </p:cNvPr>
              <p:cNvGraphicFramePr>
                <a:graphicFrameLocks noGrp="1"/>
              </p:cNvGraphicFramePr>
              <p:nvPr>
                <p:extLst>
                  <p:ext uri="{D42A27DB-BD31-4B8C-83A1-F6EECF244321}">
                    <p14:modId xmlns:p14="http://schemas.microsoft.com/office/powerpoint/2010/main" val="1045345262"/>
                  </p:ext>
                </p:extLst>
              </p:nvPr>
            </p:nvGraphicFramePr>
            <p:xfrm>
              <a:off x="596038" y="1762549"/>
              <a:ext cx="5940000" cy="518160"/>
            </p:xfrm>
            <a:graphic>
              <a:graphicData uri="http://schemas.openxmlformats.org/drawingml/2006/table">
                <a:tbl>
                  <a:tblPr firstRow="1" bandRow="1">
                    <a:tableStyleId>{5940675A-B579-460E-94D1-54222C63F5DA}</a:tableStyleId>
                  </a:tblPr>
                  <a:tblGrid>
                    <a:gridCol w="540000">
                      <a:extLst>
                        <a:ext uri="{9D8B030D-6E8A-4147-A177-3AD203B41FA5}">
                          <a16:colId xmlns:a16="http://schemas.microsoft.com/office/drawing/2014/main" val="106444939"/>
                        </a:ext>
                      </a:extLst>
                    </a:gridCol>
                    <a:gridCol w="540000">
                      <a:extLst>
                        <a:ext uri="{9D8B030D-6E8A-4147-A177-3AD203B41FA5}">
                          <a16:colId xmlns:a16="http://schemas.microsoft.com/office/drawing/2014/main" val="3965888546"/>
                        </a:ext>
                      </a:extLst>
                    </a:gridCol>
                    <a:gridCol w="540000">
                      <a:extLst>
                        <a:ext uri="{9D8B030D-6E8A-4147-A177-3AD203B41FA5}">
                          <a16:colId xmlns:a16="http://schemas.microsoft.com/office/drawing/2014/main" val="82904498"/>
                        </a:ext>
                      </a:extLst>
                    </a:gridCol>
                    <a:gridCol w="540000">
                      <a:extLst>
                        <a:ext uri="{9D8B030D-6E8A-4147-A177-3AD203B41FA5}">
                          <a16:colId xmlns:a16="http://schemas.microsoft.com/office/drawing/2014/main" val="2214715668"/>
                        </a:ext>
                      </a:extLst>
                    </a:gridCol>
                    <a:gridCol w="540000">
                      <a:extLst>
                        <a:ext uri="{9D8B030D-6E8A-4147-A177-3AD203B41FA5}">
                          <a16:colId xmlns:a16="http://schemas.microsoft.com/office/drawing/2014/main" val="777121050"/>
                        </a:ext>
                      </a:extLst>
                    </a:gridCol>
                    <a:gridCol w="540000">
                      <a:extLst>
                        <a:ext uri="{9D8B030D-6E8A-4147-A177-3AD203B41FA5}">
                          <a16:colId xmlns:a16="http://schemas.microsoft.com/office/drawing/2014/main" val="2140332791"/>
                        </a:ext>
                      </a:extLst>
                    </a:gridCol>
                    <a:gridCol w="540000">
                      <a:extLst>
                        <a:ext uri="{9D8B030D-6E8A-4147-A177-3AD203B41FA5}">
                          <a16:colId xmlns:a16="http://schemas.microsoft.com/office/drawing/2014/main" val="1910247371"/>
                        </a:ext>
                      </a:extLst>
                    </a:gridCol>
                    <a:gridCol w="540000">
                      <a:extLst>
                        <a:ext uri="{9D8B030D-6E8A-4147-A177-3AD203B41FA5}">
                          <a16:colId xmlns:a16="http://schemas.microsoft.com/office/drawing/2014/main" val="3804762709"/>
                        </a:ext>
                      </a:extLst>
                    </a:gridCol>
                    <a:gridCol w="540000">
                      <a:extLst>
                        <a:ext uri="{9D8B030D-6E8A-4147-A177-3AD203B41FA5}">
                          <a16:colId xmlns:a16="http://schemas.microsoft.com/office/drawing/2014/main" val="354420647"/>
                        </a:ext>
                      </a:extLst>
                    </a:gridCol>
                    <a:gridCol w="540000">
                      <a:extLst>
                        <a:ext uri="{9D8B030D-6E8A-4147-A177-3AD203B41FA5}">
                          <a16:colId xmlns:a16="http://schemas.microsoft.com/office/drawing/2014/main" val="4131807763"/>
                        </a:ext>
                      </a:extLst>
                    </a:gridCol>
                    <a:gridCol w="540000">
                      <a:extLst>
                        <a:ext uri="{9D8B030D-6E8A-4147-A177-3AD203B41FA5}">
                          <a16:colId xmlns:a16="http://schemas.microsoft.com/office/drawing/2014/main" val="2190297588"/>
                        </a:ext>
                      </a:extLst>
                    </a:gridCol>
                  </a:tblGrid>
                  <a:tr h="518160">
                    <a:tc>
                      <a:txBody>
                        <a:bodyPr/>
                        <a:lstStyle/>
                        <a:p>
                          <a:endParaRPr lang="zh-TW"/>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blipFill>
                          <a:blip r:embed="rId5"/>
                          <a:stretch>
                            <a:fillRect t="-11628" r="-996629" b="-31395"/>
                          </a:stretch>
                        </a:blip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2</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6</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10</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4</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8</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706415246"/>
                      </a:ext>
                    </a:extLst>
                  </a:tr>
                </a:tbl>
              </a:graphicData>
            </a:graphic>
          </p:graphicFrame>
        </mc:Fallback>
      </mc:AlternateContent>
    </p:spTree>
    <p:extLst>
      <p:ext uri="{BB962C8B-B14F-4D97-AF65-F5344CB8AC3E}">
        <p14:creationId xmlns:p14="http://schemas.microsoft.com/office/powerpoint/2010/main" val="9069188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a:extLst>
              <a:ext uri="{FF2B5EF4-FFF2-40B4-BE49-F238E27FC236}">
                <a16:creationId xmlns:a16="http://schemas.microsoft.com/office/drawing/2014/main" id="{01482047-C5BA-4C14-A83E-65B7E095C8D6}"/>
              </a:ext>
            </a:extLst>
          </p:cNvPr>
          <p:cNvSpPr>
            <a:spLocks noGrp="1"/>
          </p:cNvSpPr>
          <p:nvPr>
            <p:ph type="sldNum" sz="quarter" idx="12"/>
          </p:nvPr>
        </p:nvSpPr>
        <p:spPr/>
        <p:txBody>
          <a:bodyPr/>
          <a:lstStyle/>
          <a:p>
            <a:fld id="{872633CA-77E0-4863-94F8-E28139DFB2B4}" type="slidenum">
              <a:rPr lang="zh-TW" altLang="en-US" smtClean="0"/>
              <a:t>11</a:t>
            </a:fld>
            <a:endParaRPr lang="zh-TW" altLang="en-US"/>
          </a:p>
        </p:txBody>
      </p:sp>
      <mc:AlternateContent xmlns:mc="http://schemas.openxmlformats.org/markup-compatibility/2006">
        <mc:Choice xmlns:a14="http://schemas.microsoft.com/office/drawing/2010/main" Requires="a14">
          <p:graphicFrame>
            <p:nvGraphicFramePr>
              <p:cNvPr id="8" name="表格 7">
                <a:extLst>
                  <a:ext uri="{FF2B5EF4-FFF2-40B4-BE49-F238E27FC236}">
                    <a16:creationId xmlns:a16="http://schemas.microsoft.com/office/drawing/2014/main" id="{195B1704-2928-4390-9E5A-9823FFBFF75B}"/>
                  </a:ext>
                </a:extLst>
              </p:cNvPr>
              <p:cNvGraphicFramePr>
                <a:graphicFrameLocks noGrp="1"/>
              </p:cNvGraphicFramePr>
              <p:nvPr>
                <p:extLst>
                  <p:ext uri="{D42A27DB-BD31-4B8C-83A1-F6EECF244321}">
                    <p14:modId xmlns:p14="http://schemas.microsoft.com/office/powerpoint/2010/main" val="1247270138"/>
                  </p:ext>
                </p:extLst>
              </p:nvPr>
            </p:nvGraphicFramePr>
            <p:xfrm>
              <a:off x="596038" y="739685"/>
              <a:ext cx="7560000" cy="518160"/>
            </p:xfrm>
            <a:graphic>
              <a:graphicData uri="http://schemas.openxmlformats.org/drawingml/2006/table">
                <a:tbl>
                  <a:tblPr firstRow="1" bandRow="1">
                    <a:tableStyleId>{5940675A-B579-460E-94D1-54222C63F5DA}</a:tableStyleId>
                  </a:tblPr>
                  <a:tblGrid>
                    <a:gridCol w="540000">
                      <a:extLst>
                        <a:ext uri="{9D8B030D-6E8A-4147-A177-3AD203B41FA5}">
                          <a16:colId xmlns:a16="http://schemas.microsoft.com/office/drawing/2014/main" val="106444939"/>
                        </a:ext>
                      </a:extLst>
                    </a:gridCol>
                    <a:gridCol w="540000">
                      <a:extLst>
                        <a:ext uri="{9D8B030D-6E8A-4147-A177-3AD203B41FA5}">
                          <a16:colId xmlns:a16="http://schemas.microsoft.com/office/drawing/2014/main" val="3438003960"/>
                        </a:ext>
                      </a:extLst>
                    </a:gridCol>
                    <a:gridCol w="540000">
                      <a:extLst>
                        <a:ext uri="{9D8B030D-6E8A-4147-A177-3AD203B41FA5}">
                          <a16:colId xmlns:a16="http://schemas.microsoft.com/office/drawing/2014/main" val="1539556327"/>
                        </a:ext>
                      </a:extLst>
                    </a:gridCol>
                    <a:gridCol w="540000">
                      <a:extLst>
                        <a:ext uri="{9D8B030D-6E8A-4147-A177-3AD203B41FA5}">
                          <a16:colId xmlns:a16="http://schemas.microsoft.com/office/drawing/2014/main" val="1393179428"/>
                        </a:ext>
                      </a:extLst>
                    </a:gridCol>
                    <a:gridCol w="540000">
                      <a:extLst>
                        <a:ext uri="{9D8B030D-6E8A-4147-A177-3AD203B41FA5}">
                          <a16:colId xmlns:a16="http://schemas.microsoft.com/office/drawing/2014/main" val="3965888546"/>
                        </a:ext>
                      </a:extLst>
                    </a:gridCol>
                    <a:gridCol w="540000">
                      <a:extLst>
                        <a:ext uri="{9D8B030D-6E8A-4147-A177-3AD203B41FA5}">
                          <a16:colId xmlns:a16="http://schemas.microsoft.com/office/drawing/2014/main" val="82904498"/>
                        </a:ext>
                      </a:extLst>
                    </a:gridCol>
                    <a:gridCol w="540000">
                      <a:extLst>
                        <a:ext uri="{9D8B030D-6E8A-4147-A177-3AD203B41FA5}">
                          <a16:colId xmlns:a16="http://schemas.microsoft.com/office/drawing/2014/main" val="2214715668"/>
                        </a:ext>
                      </a:extLst>
                    </a:gridCol>
                    <a:gridCol w="540000">
                      <a:extLst>
                        <a:ext uri="{9D8B030D-6E8A-4147-A177-3AD203B41FA5}">
                          <a16:colId xmlns:a16="http://schemas.microsoft.com/office/drawing/2014/main" val="777121050"/>
                        </a:ext>
                      </a:extLst>
                    </a:gridCol>
                    <a:gridCol w="540000">
                      <a:extLst>
                        <a:ext uri="{9D8B030D-6E8A-4147-A177-3AD203B41FA5}">
                          <a16:colId xmlns:a16="http://schemas.microsoft.com/office/drawing/2014/main" val="2140332791"/>
                        </a:ext>
                      </a:extLst>
                    </a:gridCol>
                    <a:gridCol w="540000">
                      <a:extLst>
                        <a:ext uri="{9D8B030D-6E8A-4147-A177-3AD203B41FA5}">
                          <a16:colId xmlns:a16="http://schemas.microsoft.com/office/drawing/2014/main" val="1910247371"/>
                        </a:ext>
                      </a:extLst>
                    </a:gridCol>
                    <a:gridCol w="540000">
                      <a:extLst>
                        <a:ext uri="{9D8B030D-6E8A-4147-A177-3AD203B41FA5}">
                          <a16:colId xmlns:a16="http://schemas.microsoft.com/office/drawing/2014/main" val="3804762709"/>
                        </a:ext>
                      </a:extLst>
                    </a:gridCol>
                    <a:gridCol w="540000">
                      <a:extLst>
                        <a:ext uri="{9D8B030D-6E8A-4147-A177-3AD203B41FA5}">
                          <a16:colId xmlns:a16="http://schemas.microsoft.com/office/drawing/2014/main" val="354420647"/>
                        </a:ext>
                      </a:extLst>
                    </a:gridCol>
                    <a:gridCol w="540000">
                      <a:extLst>
                        <a:ext uri="{9D8B030D-6E8A-4147-A177-3AD203B41FA5}">
                          <a16:colId xmlns:a16="http://schemas.microsoft.com/office/drawing/2014/main" val="4131807763"/>
                        </a:ext>
                      </a:extLst>
                    </a:gridCol>
                    <a:gridCol w="540000">
                      <a:extLst>
                        <a:ext uri="{9D8B030D-6E8A-4147-A177-3AD203B41FA5}">
                          <a16:colId xmlns:a16="http://schemas.microsoft.com/office/drawing/2014/main" val="2190297588"/>
                        </a:ext>
                      </a:extLst>
                    </a:gridCol>
                  </a:tblGrid>
                  <a:tr h="229371">
                    <a:tc>
                      <a:txBody>
                        <a:bodyPr/>
                        <a:lstStyle/>
                        <a:p>
                          <a:pPr algn="ctr"/>
                          <a14:m>
                            <m:oMath xmlns:m="http://schemas.openxmlformats.org/officeDocument/2006/math">
                              <m:r>
                                <a:rPr lang="en-US" altLang="zh-TW" sz="2800" b="0" i="1" dirty="0" smtClean="0">
                                  <a:solidFill>
                                    <a:srgbClr val="002060"/>
                                  </a:solidFill>
                                  <a:latin typeface="Cambria Math" panose="02040503050406030204" pitchFamily="18" charset="0"/>
                                  <a:cs typeface="Times New Roman" panose="02020603050405020304" pitchFamily="18" charset="0"/>
                                </a:rPr>
                                <m:t>𝑇</m:t>
                              </m:r>
                            </m:oMath>
                          </a14:m>
                          <a:r>
                            <a:rPr lang="en-US" altLang="zh-TW" sz="2800" dirty="0">
                              <a:solidFill>
                                <a:srgbClr val="002060"/>
                              </a:solidFill>
                              <a:latin typeface="Times New Roman" panose="02020603050405020304" pitchFamily="18" charset="0"/>
                              <a:cs typeface="Times New Roman" panose="02020603050405020304" pitchFamily="18" charset="0"/>
                            </a:rPr>
                            <a: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5</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10</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20</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15</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25</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35</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20</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30</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15</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30</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25</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20</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15</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706415246"/>
                      </a:ext>
                    </a:extLst>
                  </a:tr>
                </a:tbl>
              </a:graphicData>
            </a:graphic>
          </p:graphicFrame>
        </mc:Choice>
        <mc:Fallback>
          <p:graphicFrame>
            <p:nvGraphicFramePr>
              <p:cNvPr id="8" name="表格 7">
                <a:extLst>
                  <a:ext uri="{FF2B5EF4-FFF2-40B4-BE49-F238E27FC236}">
                    <a16:creationId xmlns:a16="http://schemas.microsoft.com/office/drawing/2014/main" id="{195B1704-2928-4390-9E5A-9823FFBFF75B}"/>
                  </a:ext>
                </a:extLst>
              </p:cNvPr>
              <p:cNvGraphicFramePr>
                <a:graphicFrameLocks noGrp="1"/>
              </p:cNvGraphicFramePr>
              <p:nvPr>
                <p:extLst>
                  <p:ext uri="{D42A27DB-BD31-4B8C-83A1-F6EECF244321}">
                    <p14:modId xmlns:p14="http://schemas.microsoft.com/office/powerpoint/2010/main" val="1247270138"/>
                  </p:ext>
                </p:extLst>
              </p:nvPr>
            </p:nvGraphicFramePr>
            <p:xfrm>
              <a:off x="596038" y="739685"/>
              <a:ext cx="7560000" cy="518160"/>
            </p:xfrm>
            <a:graphic>
              <a:graphicData uri="http://schemas.openxmlformats.org/drawingml/2006/table">
                <a:tbl>
                  <a:tblPr firstRow="1" bandRow="1">
                    <a:tableStyleId>{5940675A-B579-460E-94D1-54222C63F5DA}</a:tableStyleId>
                  </a:tblPr>
                  <a:tblGrid>
                    <a:gridCol w="540000">
                      <a:extLst>
                        <a:ext uri="{9D8B030D-6E8A-4147-A177-3AD203B41FA5}">
                          <a16:colId xmlns:a16="http://schemas.microsoft.com/office/drawing/2014/main" val="106444939"/>
                        </a:ext>
                      </a:extLst>
                    </a:gridCol>
                    <a:gridCol w="540000">
                      <a:extLst>
                        <a:ext uri="{9D8B030D-6E8A-4147-A177-3AD203B41FA5}">
                          <a16:colId xmlns:a16="http://schemas.microsoft.com/office/drawing/2014/main" val="3438003960"/>
                        </a:ext>
                      </a:extLst>
                    </a:gridCol>
                    <a:gridCol w="540000">
                      <a:extLst>
                        <a:ext uri="{9D8B030D-6E8A-4147-A177-3AD203B41FA5}">
                          <a16:colId xmlns:a16="http://schemas.microsoft.com/office/drawing/2014/main" val="1539556327"/>
                        </a:ext>
                      </a:extLst>
                    </a:gridCol>
                    <a:gridCol w="540000">
                      <a:extLst>
                        <a:ext uri="{9D8B030D-6E8A-4147-A177-3AD203B41FA5}">
                          <a16:colId xmlns:a16="http://schemas.microsoft.com/office/drawing/2014/main" val="1393179428"/>
                        </a:ext>
                      </a:extLst>
                    </a:gridCol>
                    <a:gridCol w="540000">
                      <a:extLst>
                        <a:ext uri="{9D8B030D-6E8A-4147-A177-3AD203B41FA5}">
                          <a16:colId xmlns:a16="http://schemas.microsoft.com/office/drawing/2014/main" val="3965888546"/>
                        </a:ext>
                      </a:extLst>
                    </a:gridCol>
                    <a:gridCol w="540000">
                      <a:extLst>
                        <a:ext uri="{9D8B030D-6E8A-4147-A177-3AD203B41FA5}">
                          <a16:colId xmlns:a16="http://schemas.microsoft.com/office/drawing/2014/main" val="82904498"/>
                        </a:ext>
                      </a:extLst>
                    </a:gridCol>
                    <a:gridCol w="540000">
                      <a:extLst>
                        <a:ext uri="{9D8B030D-6E8A-4147-A177-3AD203B41FA5}">
                          <a16:colId xmlns:a16="http://schemas.microsoft.com/office/drawing/2014/main" val="2214715668"/>
                        </a:ext>
                      </a:extLst>
                    </a:gridCol>
                    <a:gridCol w="540000">
                      <a:extLst>
                        <a:ext uri="{9D8B030D-6E8A-4147-A177-3AD203B41FA5}">
                          <a16:colId xmlns:a16="http://schemas.microsoft.com/office/drawing/2014/main" val="777121050"/>
                        </a:ext>
                      </a:extLst>
                    </a:gridCol>
                    <a:gridCol w="540000">
                      <a:extLst>
                        <a:ext uri="{9D8B030D-6E8A-4147-A177-3AD203B41FA5}">
                          <a16:colId xmlns:a16="http://schemas.microsoft.com/office/drawing/2014/main" val="2140332791"/>
                        </a:ext>
                      </a:extLst>
                    </a:gridCol>
                    <a:gridCol w="540000">
                      <a:extLst>
                        <a:ext uri="{9D8B030D-6E8A-4147-A177-3AD203B41FA5}">
                          <a16:colId xmlns:a16="http://schemas.microsoft.com/office/drawing/2014/main" val="1910247371"/>
                        </a:ext>
                      </a:extLst>
                    </a:gridCol>
                    <a:gridCol w="540000">
                      <a:extLst>
                        <a:ext uri="{9D8B030D-6E8A-4147-A177-3AD203B41FA5}">
                          <a16:colId xmlns:a16="http://schemas.microsoft.com/office/drawing/2014/main" val="3804762709"/>
                        </a:ext>
                      </a:extLst>
                    </a:gridCol>
                    <a:gridCol w="540000">
                      <a:extLst>
                        <a:ext uri="{9D8B030D-6E8A-4147-A177-3AD203B41FA5}">
                          <a16:colId xmlns:a16="http://schemas.microsoft.com/office/drawing/2014/main" val="354420647"/>
                        </a:ext>
                      </a:extLst>
                    </a:gridCol>
                    <a:gridCol w="540000">
                      <a:extLst>
                        <a:ext uri="{9D8B030D-6E8A-4147-A177-3AD203B41FA5}">
                          <a16:colId xmlns:a16="http://schemas.microsoft.com/office/drawing/2014/main" val="4131807763"/>
                        </a:ext>
                      </a:extLst>
                    </a:gridCol>
                    <a:gridCol w="540000">
                      <a:extLst>
                        <a:ext uri="{9D8B030D-6E8A-4147-A177-3AD203B41FA5}">
                          <a16:colId xmlns:a16="http://schemas.microsoft.com/office/drawing/2014/main" val="2190297588"/>
                        </a:ext>
                      </a:extLst>
                    </a:gridCol>
                  </a:tblGrid>
                  <a:tr h="518160">
                    <a:tc>
                      <a:txBody>
                        <a:bodyPr/>
                        <a:lstStyle/>
                        <a:p>
                          <a:endParaRPr lang="zh-TW"/>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blipFill>
                          <a:blip r:embed="rId3"/>
                          <a:stretch>
                            <a:fillRect t="-11628" r="-1294382" b="-31395"/>
                          </a:stretch>
                        </a:blip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5</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10</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20</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15</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25</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35</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20</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30</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15</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30</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25</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20</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15</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706415246"/>
                      </a:ext>
                    </a:extLst>
                  </a:tr>
                </a:tbl>
              </a:graphicData>
            </a:graphic>
          </p:graphicFrame>
        </mc:Fallback>
      </mc:AlternateContent>
      <mc:AlternateContent xmlns:mc="http://schemas.openxmlformats.org/markup-compatibility/2006">
        <mc:Choice xmlns:a14="http://schemas.microsoft.com/office/drawing/2010/main" Requires="a14">
          <p:graphicFrame>
            <p:nvGraphicFramePr>
              <p:cNvPr id="13" name="表格 12">
                <a:extLst>
                  <a:ext uri="{FF2B5EF4-FFF2-40B4-BE49-F238E27FC236}">
                    <a16:creationId xmlns:a16="http://schemas.microsoft.com/office/drawing/2014/main" id="{A3DF1471-FC45-4D26-875A-15E973C4CEA8}"/>
                  </a:ext>
                </a:extLst>
              </p:cNvPr>
              <p:cNvGraphicFramePr>
                <a:graphicFrameLocks noGrp="1"/>
              </p:cNvGraphicFramePr>
              <p:nvPr>
                <p:extLst>
                  <p:ext uri="{D42A27DB-BD31-4B8C-83A1-F6EECF244321}">
                    <p14:modId xmlns:p14="http://schemas.microsoft.com/office/powerpoint/2010/main" val="1468653309"/>
                  </p:ext>
                </p:extLst>
              </p:nvPr>
            </p:nvGraphicFramePr>
            <p:xfrm>
              <a:off x="596038" y="2216980"/>
              <a:ext cx="5940000" cy="518160"/>
            </p:xfrm>
            <a:graphic>
              <a:graphicData uri="http://schemas.openxmlformats.org/drawingml/2006/table">
                <a:tbl>
                  <a:tblPr firstRow="1" bandRow="1">
                    <a:tableStyleId>{5940675A-B579-460E-94D1-54222C63F5DA}</a:tableStyleId>
                  </a:tblPr>
                  <a:tblGrid>
                    <a:gridCol w="540000">
                      <a:extLst>
                        <a:ext uri="{9D8B030D-6E8A-4147-A177-3AD203B41FA5}">
                          <a16:colId xmlns:a16="http://schemas.microsoft.com/office/drawing/2014/main" val="106444939"/>
                        </a:ext>
                      </a:extLst>
                    </a:gridCol>
                    <a:gridCol w="540000">
                      <a:extLst>
                        <a:ext uri="{9D8B030D-6E8A-4147-A177-3AD203B41FA5}">
                          <a16:colId xmlns:a16="http://schemas.microsoft.com/office/drawing/2014/main" val="3965888546"/>
                        </a:ext>
                      </a:extLst>
                    </a:gridCol>
                    <a:gridCol w="540000">
                      <a:extLst>
                        <a:ext uri="{9D8B030D-6E8A-4147-A177-3AD203B41FA5}">
                          <a16:colId xmlns:a16="http://schemas.microsoft.com/office/drawing/2014/main" val="82904498"/>
                        </a:ext>
                      </a:extLst>
                    </a:gridCol>
                    <a:gridCol w="540000">
                      <a:extLst>
                        <a:ext uri="{9D8B030D-6E8A-4147-A177-3AD203B41FA5}">
                          <a16:colId xmlns:a16="http://schemas.microsoft.com/office/drawing/2014/main" val="2214715668"/>
                        </a:ext>
                      </a:extLst>
                    </a:gridCol>
                    <a:gridCol w="540000">
                      <a:extLst>
                        <a:ext uri="{9D8B030D-6E8A-4147-A177-3AD203B41FA5}">
                          <a16:colId xmlns:a16="http://schemas.microsoft.com/office/drawing/2014/main" val="777121050"/>
                        </a:ext>
                      </a:extLst>
                    </a:gridCol>
                    <a:gridCol w="540000">
                      <a:extLst>
                        <a:ext uri="{9D8B030D-6E8A-4147-A177-3AD203B41FA5}">
                          <a16:colId xmlns:a16="http://schemas.microsoft.com/office/drawing/2014/main" val="2140332791"/>
                        </a:ext>
                      </a:extLst>
                    </a:gridCol>
                    <a:gridCol w="540000">
                      <a:extLst>
                        <a:ext uri="{9D8B030D-6E8A-4147-A177-3AD203B41FA5}">
                          <a16:colId xmlns:a16="http://schemas.microsoft.com/office/drawing/2014/main" val="1910247371"/>
                        </a:ext>
                      </a:extLst>
                    </a:gridCol>
                    <a:gridCol w="540000">
                      <a:extLst>
                        <a:ext uri="{9D8B030D-6E8A-4147-A177-3AD203B41FA5}">
                          <a16:colId xmlns:a16="http://schemas.microsoft.com/office/drawing/2014/main" val="3804762709"/>
                        </a:ext>
                      </a:extLst>
                    </a:gridCol>
                    <a:gridCol w="540000">
                      <a:extLst>
                        <a:ext uri="{9D8B030D-6E8A-4147-A177-3AD203B41FA5}">
                          <a16:colId xmlns:a16="http://schemas.microsoft.com/office/drawing/2014/main" val="354420647"/>
                        </a:ext>
                      </a:extLst>
                    </a:gridCol>
                    <a:gridCol w="540000">
                      <a:extLst>
                        <a:ext uri="{9D8B030D-6E8A-4147-A177-3AD203B41FA5}">
                          <a16:colId xmlns:a16="http://schemas.microsoft.com/office/drawing/2014/main" val="4131807763"/>
                        </a:ext>
                      </a:extLst>
                    </a:gridCol>
                    <a:gridCol w="540000">
                      <a:extLst>
                        <a:ext uri="{9D8B030D-6E8A-4147-A177-3AD203B41FA5}">
                          <a16:colId xmlns:a16="http://schemas.microsoft.com/office/drawing/2014/main" val="2190297588"/>
                        </a:ext>
                      </a:extLst>
                    </a:gridCol>
                  </a:tblGrid>
                  <a:tr h="229371">
                    <a:tc>
                      <a:txBody>
                        <a:bodyPr/>
                        <a:lstStyle/>
                        <a:p>
                          <a:pPr algn="ctr"/>
                          <a14:m>
                            <m:oMath xmlns:m="http://schemas.openxmlformats.org/officeDocument/2006/math">
                              <m:r>
                                <a:rPr lang="en-US" altLang="zh-TW" sz="2800" b="0" i="1" dirty="0" smtClean="0">
                                  <a:solidFill>
                                    <a:srgbClr val="002060"/>
                                  </a:solidFill>
                                  <a:latin typeface="Cambria Math" panose="02040503050406030204" pitchFamily="18" charset="0"/>
                                  <a:cs typeface="Times New Roman" panose="02020603050405020304" pitchFamily="18" charset="0"/>
                                </a:rPr>
                                <m:t>𝑃</m:t>
                              </m:r>
                            </m:oMath>
                          </a14:m>
                          <a:r>
                            <a:rPr lang="en-US" altLang="zh-TW" sz="2800" dirty="0">
                              <a:solidFill>
                                <a:srgbClr val="002060"/>
                              </a:solidFill>
                              <a:latin typeface="Times New Roman" panose="02020603050405020304" pitchFamily="18" charset="0"/>
                              <a:cs typeface="Times New Roman" panose="02020603050405020304" pitchFamily="18" charset="0"/>
                            </a:rPr>
                            <a: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2</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6</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10</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4</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8</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706415246"/>
                      </a:ext>
                    </a:extLst>
                  </a:tr>
                </a:tbl>
              </a:graphicData>
            </a:graphic>
          </p:graphicFrame>
        </mc:Choice>
        <mc:Fallback>
          <p:graphicFrame>
            <p:nvGraphicFramePr>
              <p:cNvPr id="13" name="表格 12">
                <a:extLst>
                  <a:ext uri="{FF2B5EF4-FFF2-40B4-BE49-F238E27FC236}">
                    <a16:creationId xmlns:a16="http://schemas.microsoft.com/office/drawing/2014/main" id="{A3DF1471-FC45-4D26-875A-15E973C4CEA8}"/>
                  </a:ext>
                </a:extLst>
              </p:cNvPr>
              <p:cNvGraphicFramePr>
                <a:graphicFrameLocks noGrp="1"/>
              </p:cNvGraphicFramePr>
              <p:nvPr>
                <p:extLst>
                  <p:ext uri="{D42A27DB-BD31-4B8C-83A1-F6EECF244321}">
                    <p14:modId xmlns:p14="http://schemas.microsoft.com/office/powerpoint/2010/main" val="1468653309"/>
                  </p:ext>
                </p:extLst>
              </p:nvPr>
            </p:nvGraphicFramePr>
            <p:xfrm>
              <a:off x="596038" y="2216980"/>
              <a:ext cx="5940000" cy="518160"/>
            </p:xfrm>
            <a:graphic>
              <a:graphicData uri="http://schemas.openxmlformats.org/drawingml/2006/table">
                <a:tbl>
                  <a:tblPr firstRow="1" bandRow="1">
                    <a:tableStyleId>{5940675A-B579-460E-94D1-54222C63F5DA}</a:tableStyleId>
                  </a:tblPr>
                  <a:tblGrid>
                    <a:gridCol w="540000">
                      <a:extLst>
                        <a:ext uri="{9D8B030D-6E8A-4147-A177-3AD203B41FA5}">
                          <a16:colId xmlns:a16="http://schemas.microsoft.com/office/drawing/2014/main" val="106444939"/>
                        </a:ext>
                      </a:extLst>
                    </a:gridCol>
                    <a:gridCol w="540000">
                      <a:extLst>
                        <a:ext uri="{9D8B030D-6E8A-4147-A177-3AD203B41FA5}">
                          <a16:colId xmlns:a16="http://schemas.microsoft.com/office/drawing/2014/main" val="3965888546"/>
                        </a:ext>
                      </a:extLst>
                    </a:gridCol>
                    <a:gridCol w="540000">
                      <a:extLst>
                        <a:ext uri="{9D8B030D-6E8A-4147-A177-3AD203B41FA5}">
                          <a16:colId xmlns:a16="http://schemas.microsoft.com/office/drawing/2014/main" val="82904498"/>
                        </a:ext>
                      </a:extLst>
                    </a:gridCol>
                    <a:gridCol w="540000">
                      <a:extLst>
                        <a:ext uri="{9D8B030D-6E8A-4147-A177-3AD203B41FA5}">
                          <a16:colId xmlns:a16="http://schemas.microsoft.com/office/drawing/2014/main" val="2214715668"/>
                        </a:ext>
                      </a:extLst>
                    </a:gridCol>
                    <a:gridCol w="540000">
                      <a:extLst>
                        <a:ext uri="{9D8B030D-6E8A-4147-A177-3AD203B41FA5}">
                          <a16:colId xmlns:a16="http://schemas.microsoft.com/office/drawing/2014/main" val="777121050"/>
                        </a:ext>
                      </a:extLst>
                    </a:gridCol>
                    <a:gridCol w="540000">
                      <a:extLst>
                        <a:ext uri="{9D8B030D-6E8A-4147-A177-3AD203B41FA5}">
                          <a16:colId xmlns:a16="http://schemas.microsoft.com/office/drawing/2014/main" val="2140332791"/>
                        </a:ext>
                      </a:extLst>
                    </a:gridCol>
                    <a:gridCol w="540000">
                      <a:extLst>
                        <a:ext uri="{9D8B030D-6E8A-4147-A177-3AD203B41FA5}">
                          <a16:colId xmlns:a16="http://schemas.microsoft.com/office/drawing/2014/main" val="1910247371"/>
                        </a:ext>
                      </a:extLst>
                    </a:gridCol>
                    <a:gridCol w="540000">
                      <a:extLst>
                        <a:ext uri="{9D8B030D-6E8A-4147-A177-3AD203B41FA5}">
                          <a16:colId xmlns:a16="http://schemas.microsoft.com/office/drawing/2014/main" val="3804762709"/>
                        </a:ext>
                      </a:extLst>
                    </a:gridCol>
                    <a:gridCol w="540000">
                      <a:extLst>
                        <a:ext uri="{9D8B030D-6E8A-4147-A177-3AD203B41FA5}">
                          <a16:colId xmlns:a16="http://schemas.microsoft.com/office/drawing/2014/main" val="354420647"/>
                        </a:ext>
                      </a:extLst>
                    </a:gridCol>
                    <a:gridCol w="540000">
                      <a:extLst>
                        <a:ext uri="{9D8B030D-6E8A-4147-A177-3AD203B41FA5}">
                          <a16:colId xmlns:a16="http://schemas.microsoft.com/office/drawing/2014/main" val="4131807763"/>
                        </a:ext>
                      </a:extLst>
                    </a:gridCol>
                    <a:gridCol w="540000">
                      <a:extLst>
                        <a:ext uri="{9D8B030D-6E8A-4147-A177-3AD203B41FA5}">
                          <a16:colId xmlns:a16="http://schemas.microsoft.com/office/drawing/2014/main" val="2190297588"/>
                        </a:ext>
                      </a:extLst>
                    </a:gridCol>
                  </a:tblGrid>
                  <a:tr h="518160">
                    <a:tc>
                      <a:txBody>
                        <a:bodyPr/>
                        <a:lstStyle/>
                        <a:p>
                          <a:endParaRPr lang="zh-TW"/>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blipFill>
                          <a:blip r:embed="rId4"/>
                          <a:stretch>
                            <a:fillRect t="-11628" r="-996629" b="-32558"/>
                          </a:stretch>
                        </a:blip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2</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6</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10</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4</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8</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706415246"/>
                      </a:ext>
                    </a:extLst>
                  </a:tr>
                </a:tbl>
              </a:graphicData>
            </a:graphic>
          </p:graphicFrame>
        </mc:Fallback>
      </mc:AlternateContent>
      <mc:AlternateContent xmlns:mc="http://schemas.openxmlformats.org/markup-compatibility/2006">
        <mc:Choice xmlns:a14="http://schemas.microsoft.com/office/drawing/2010/main" Requires="a14">
          <p:graphicFrame>
            <p:nvGraphicFramePr>
              <p:cNvPr id="14" name="表格 13">
                <a:extLst>
                  <a:ext uri="{FF2B5EF4-FFF2-40B4-BE49-F238E27FC236}">
                    <a16:creationId xmlns:a16="http://schemas.microsoft.com/office/drawing/2014/main" id="{CD2BC239-AFF3-4480-A2F3-91437537F900}"/>
                  </a:ext>
                </a:extLst>
              </p:cNvPr>
              <p:cNvGraphicFramePr>
                <a:graphicFrameLocks noGrp="1"/>
              </p:cNvGraphicFramePr>
              <p:nvPr>
                <p:extLst>
                  <p:ext uri="{D42A27DB-BD31-4B8C-83A1-F6EECF244321}">
                    <p14:modId xmlns:p14="http://schemas.microsoft.com/office/powerpoint/2010/main" val="507006499"/>
                  </p:ext>
                </p:extLst>
              </p:nvPr>
            </p:nvGraphicFramePr>
            <p:xfrm>
              <a:off x="596038" y="1461684"/>
              <a:ext cx="7560000" cy="518160"/>
            </p:xfrm>
            <a:graphic>
              <a:graphicData uri="http://schemas.openxmlformats.org/drawingml/2006/table">
                <a:tbl>
                  <a:tblPr firstRow="1" bandRow="1">
                    <a:tableStyleId>{5940675A-B579-460E-94D1-54222C63F5DA}</a:tableStyleId>
                  </a:tblPr>
                  <a:tblGrid>
                    <a:gridCol w="540000">
                      <a:extLst>
                        <a:ext uri="{9D8B030D-6E8A-4147-A177-3AD203B41FA5}">
                          <a16:colId xmlns:a16="http://schemas.microsoft.com/office/drawing/2014/main" val="106444939"/>
                        </a:ext>
                      </a:extLst>
                    </a:gridCol>
                    <a:gridCol w="540000">
                      <a:extLst>
                        <a:ext uri="{9D8B030D-6E8A-4147-A177-3AD203B41FA5}">
                          <a16:colId xmlns:a16="http://schemas.microsoft.com/office/drawing/2014/main" val="3438003960"/>
                        </a:ext>
                      </a:extLst>
                    </a:gridCol>
                    <a:gridCol w="540000">
                      <a:extLst>
                        <a:ext uri="{9D8B030D-6E8A-4147-A177-3AD203B41FA5}">
                          <a16:colId xmlns:a16="http://schemas.microsoft.com/office/drawing/2014/main" val="1539556327"/>
                        </a:ext>
                      </a:extLst>
                    </a:gridCol>
                    <a:gridCol w="540000">
                      <a:extLst>
                        <a:ext uri="{9D8B030D-6E8A-4147-A177-3AD203B41FA5}">
                          <a16:colId xmlns:a16="http://schemas.microsoft.com/office/drawing/2014/main" val="1393179428"/>
                        </a:ext>
                      </a:extLst>
                    </a:gridCol>
                    <a:gridCol w="540000">
                      <a:extLst>
                        <a:ext uri="{9D8B030D-6E8A-4147-A177-3AD203B41FA5}">
                          <a16:colId xmlns:a16="http://schemas.microsoft.com/office/drawing/2014/main" val="3965888546"/>
                        </a:ext>
                      </a:extLst>
                    </a:gridCol>
                    <a:gridCol w="540000">
                      <a:extLst>
                        <a:ext uri="{9D8B030D-6E8A-4147-A177-3AD203B41FA5}">
                          <a16:colId xmlns:a16="http://schemas.microsoft.com/office/drawing/2014/main" val="82904498"/>
                        </a:ext>
                      </a:extLst>
                    </a:gridCol>
                    <a:gridCol w="540000">
                      <a:extLst>
                        <a:ext uri="{9D8B030D-6E8A-4147-A177-3AD203B41FA5}">
                          <a16:colId xmlns:a16="http://schemas.microsoft.com/office/drawing/2014/main" val="2214715668"/>
                        </a:ext>
                      </a:extLst>
                    </a:gridCol>
                    <a:gridCol w="540000">
                      <a:extLst>
                        <a:ext uri="{9D8B030D-6E8A-4147-A177-3AD203B41FA5}">
                          <a16:colId xmlns:a16="http://schemas.microsoft.com/office/drawing/2014/main" val="777121050"/>
                        </a:ext>
                      </a:extLst>
                    </a:gridCol>
                    <a:gridCol w="540000">
                      <a:extLst>
                        <a:ext uri="{9D8B030D-6E8A-4147-A177-3AD203B41FA5}">
                          <a16:colId xmlns:a16="http://schemas.microsoft.com/office/drawing/2014/main" val="2140332791"/>
                        </a:ext>
                      </a:extLst>
                    </a:gridCol>
                    <a:gridCol w="540000">
                      <a:extLst>
                        <a:ext uri="{9D8B030D-6E8A-4147-A177-3AD203B41FA5}">
                          <a16:colId xmlns:a16="http://schemas.microsoft.com/office/drawing/2014/main" val="1910247371"/>
                        </a:ext>
                      </a:extLst>
                    </a:gridCol>
                    <a:gridCol w="540000">
                      <a:extLst>
                        <a:ext uri="{9D8B030D-6E8A-4147-A177-3AD203B41FA5}">
                          <a16:colId xmlns:a16="http://schemas.microsoft.com/office/drawing/2014/main" val="3804762709"/>
                        </a:ext>
                      </a:extLst>
                    </a:gridCol>
                    <a:gridCol w="540000">
                      <a:extLst>
                        <a:ext uri="{9D8B030D-6E8A-4147-A177-3AD203B41FA5}">
                          <a16:colId xmlns:a16="http://schemas.microsoft.com/office/drawing/2014/main" val="354420647"/>
                        </a:ext>
                      </a:extLst>
                    </a:gridCol>
                    <a:gridCol w="540000">
                      <a:extLst>
                        <a:ext uri="{9D8B030D-6E8A-4147-A177-3AD203B41FA5}">
                          <a16:colId xmlns:a16="http://schemas.microsoft.com/office/drawing/2014/main" val="4131807763"/>
                        </a:ext>
                      </a:extLst>
                    </a:gridCol>
                    <a:gridCol w="540000">
                      <a:extLst>
                        <a:ext uri="{9D8B030D-6E8A-4147-A177-3AD203B41FA5}">
                          <a16:colId xmlns:a16="http://schemas.microsoft.com/office/drawing/2014/main" val="2190297588"/>
                        </a:ext>
                      </a:extLst>
                    </a:gridCol>
                  </a:tblGrid>
                  <a:tr h="229371">
                    <a:tc>
                      <a:txBody>
                        <a:bodyPr/>
                        <a:lstStyle/>
                        <a:p>
                          <a:pPr algn="ctr"/>
                          <a14:m>
                            <m:oMath xmlns:m="http://schemas.openxmlformats.org/officeDocument/2006/math">
                              <m:r>
                                <a:rPr lang="en-US" altLang="zh-TW" sz="2800" b="0" i="1" dirty="0" smtClean="0">
                                  <a:solidFill>
                                    <a:srgbClr val="002060"/>
                                  </a:solidFill>
                                  <a:latin typeface="Cambria Math" panose="02040503050406030204" pitchFamily="18" charset="0"/>
                                  <a:cs typeface="Times New Roman" panose="02020603050405020304" pitchFamily="18" charset="0"/>
                                </a:rPr>
                                <m:t>𝑇</m:t>
                              </m:r>
                              <m:r>
                                <a:rPr lang="en-US" altLang="zh-TW" sz="2800" b="0" i="1" dirty="0" smtClean="0">
                                  <a:solidFill>
                                    <a:srgbClr val="002060"/>
                                  </a:solidFill>
                                  <a:latin typeface="Cambria Math" panose="02040503050406030204" pitchFamily="18" charset="0"/>
                                  <a:cs typeface="Times New Roman" panose="02020603050405020304" pitchFamily="18" charset="0"/>
                                </a:rPr>
                                <m:t>′</m:t>
                              </m:r>
                            </m:oMath>
                          </a14:m>
                          <a:r>
                            <a:rPr lang="en-US" altLang="zh-TW" sz="2800" dirty="0">
                              <a:solidFill>
                                <a:srgbClr val="002060"/>
                              </a:solidFill>
                              <a:latin typeface="Times New Roman" panose="02020603050405020304" pitchFamily="18" charset="0"/>
                              <a:cs typeface="Times New Roman" panose="02020603050405020304" pitchFamily="18" charset="0"/>
                            </a:rPr>
                            <a: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1</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1</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0</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1</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1</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0</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1</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0</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1</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0</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0</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0</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706415246"/>
                      </a:ext>
                    </a:extLst>
                  </a:tr>
                </a:tbl>
              </a:graphicData>
            </a:graphic>
          </p:graphicFrame>
        </mc:Choice>
        <mc:Fallback>
          <p:graphicFrame>
            <p:nvGraphicFramePr>
              <p:cNvPr id="14" name="表格 13">
                <a:extLst>
                  <a:ext uri="{FF2B5EF4-FFF2-40B4-BE49-F238E27FC236}">
                    <a16:creationId xmlns:a16="http://schemas.microsoft.com/office/drawing/2014/main" id="{CD2BC239-AFF3-4480-A2F3-91437537F900}"/>
                  </a:ext>
                </a:extLst>
              </p:cNvPr>
              <p:cNvGraphicFramePr>
                <a:graphicFrameLocks noGrp="1"/>
              </p:cNvGraphicFramePr>
              <p:nvPr>
                <p:extLst>
                  <p:ext uri="{D42A27DB-BD31-4B8C-83A1-F6EECF244321}">
                    <p14:modId xmlns:p14="http://schemas.microsoft.com/office/powerpoint/2010/main" val="507006499"/>
                  </p:ext>
                </p:extLst>
              </p:nvPr>
            </p:nvGraphicFramePr>
            <p:xfrm>
              <a:off x="596038" y="1461684"/>
              <a:ext cx="7560000" cy="518160"/>
            </p:xfrm>
            <a:graphic>
              <a:graphicData uri="http://schemas.openxmlformats.org/drawingml/2006/table">
                <a:tbl>
                  <a:tblPr firstRow="1" bandRow="1">
                    <a:tableStyleId>{5940675A-B579-460E-94D1-54222C63F5DA}</a:tableStyleId>
                  </a:tblPr>
                  <a:tblGrid>
                    <a:gridCol w="540000">
                      <a:extLst>
                        <a:ext uri="{9D8B030D-6E8A-4147-A177-3AD203B41FA5}">
                          <a16:colId xmlns:a16="http://schemas.microsoft.com/office/drawing/2014/main" val="106444939"/>
                        </a:ext>
                      </a:extLst>
                    </a:gridCol>
                    <a:gridCol w="540000">
                      <a:extLst>
                        <a:ext uri="{9D8B030D-6E8A-4147-A177-3AD203B41FA5}">
                          <a16:colId xmlns:a16="http://schemas.microsoft.com/office/drawing/2014/main" val="3438003960"/>
                        </a:ext>
                      </a:extLst>
                    </a:gridCol>
                    <a:gridCol w="540000">
                      <a:extLst>
                        <a:ext uri="{9D8B030D-6E8A-4147-A177-3AD203B41FA5}">
                          <a16:colId xmlns:a16="http://schemas.microsoft.com/office/drawing/2014/main" val="1539556327"/>
                        </a:ext>
                      </a:extLst>
                    </a:gridCol>
                    <a:gridCol w="540000">
                      <a:extLst>
                        <a:ext uri="{9D8B030D-6E8A-4147-A177-3AD203B41FA5}">
                          <a16:colId xmlns:a16="http://schemas.microsoft.com/office/drawing/2014/main" val="1393179428"/>
                        </a:ext>
                      </a:extLst>
                    </a:gridCol>
                    <a:gridCol w="540000">
                      <a:extLst>
                        <a:ext uri="{9D8B030D-6E8A-4147-A177-3AD203B41FA5}">
                          <a16:colId xmlns:a16="http://schemas.microsoft.com/office/drawing/2014/main" val="3965888546"/>
                        </a:ext>
                      </a:extLst>
                    </a:gridCol>
                    <a:gridCol w="540000">
                      <a:extLst>
                        <a:ext uri="{9D8B030D-6E8A-4147-A177-3AD203B41FA5}">
                          <a16:colId xmlns:a16="http://schemas.microsoft.com/office/drawing/2014/main" val="82904498"/>
                        </a:ext>
                      </a:extLst>
                    </a:gridCol>
                    <a:gridCol w="540000">
                      <a:extLst>
                        <a:ext uri="{9D8B030D-6E8A-4147-A177-3AD203B41FA5}">
                          <a16:colId xmlns:a16="http://schemas.microsoft.com/office/drawing/2014/main" val="2214715668"/>
                        </a:ext>
                      </a:extLst>
                    </a:gridCol>
                    <a:gridCol w="540000">
                      <a:extLst>
                        <a:ext uri="{9D8B030D-6E8A-4147-A177-3AD203B41FA5}">
                          <a16:colId xmlns:a16="http://schemas.microsoft.com/office/drawing/2014/main" val="777121050"/>
                        </a:ext>
                      </a:extLst>
                    </a:gridCol>
                    <a:gridCol w="540000">
                      <a:extLst>
                        <a:ext uri="{9D8B030D-6E8A-4147-A177-3AD203B41FA5}">
                          <a16:colId xmlns:a16="http://schemas.microsoft.com/office/drawing/2014/main" val="2140332791"/>
                        </a:ext>
                      </a:extLst>
                    </a:gridCol>
                    <a:gridCol w="540000">
                      <a:extLst>
                        <a:ext uri="{9D8B030D-6E8A-4147-A177-3AD203B41FA5}">
                          <a16:colId xmlns:a16="http://schemas.microsoft.com/office/drawing/2014/main" val="1910247371"/>
                        </a:ext>
                      </a:extLst>
                    </a:gridCol>
                    <a:gridCol w="540000">
                      <a:extLst>
                        <a:ext uri="{9D8B030D-6E8A-4147-A177-3AD203B41FA5}">
                          <a16:colId xmlns:a16="http://schemas.microsoft.com/office/drawing/2014/main" val="3804762709"/>
                        </a:ext>
                      </a:extLst>
                    </a:gridCol>
                    <a:gridCol w="540000">
                      <a:extLst>
                        <a:ext uri="{9D8B030D-6E8A-4147-A177-3AD203B41FA5}">
                          <a16:colId xmlns:a16="http://schemas.microsoft.com/office/drawing/2014/main" val="354420647"/>
                        </a:ext>
                      </a:extLst>
                    </a:gridCol>
                    <a:gridCol w="540000">
                      <a:extLst>
                        <a:ext uri="{9D8B030D-6E8A-4147-A177-3AD203B41FA5}">
                          <a16:colId xmlns:a16="http://schemas.microsoft.com/office/drawing/2014/main" val="4131807763"/>
                        </a:ext>
                      </a:extLst>
                    </a:gridCol>
                    <a:gridCol w="540000">
                      <a:extLst>
                        <a:ext uri="{9D8B030D-6E8A-4147-A177-3AD203B41FA5}">
                          <a16:colId xmlns:a16="http://schemas.microsoft.com/office/drawing/2014/main" val="2190297588"/>
                        </a:ext>
                      </a:extLst>
                    </a:gridCol>
                  </a:tblGrid>
                  <a:tr h="518160">
                    <a:tc>
                      <a:txBody>
                        <a:bodyPr/>
                        <a:lstStyle/>
                        <a:p>
                          <a:endParaRPr lang="zh-TW"/>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blipFill>
                          <a:blip r:embed="rId5"/>
                          <a:stretch>
                            <a:fillRect t="-11628" r="-1294382" b="-32558"/>
                          </a:stretch>
                        </a:blip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1</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1</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0</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1</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1</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0</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1</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0</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1</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0</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0</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0</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706415246"/>
                      </a:ext>
                    </a:extLst>
                  </a:tr>
                </a:tbl>
              </a:graphicData>
            </a:graphic>
          </p:graphicFrame>
        </mc:Fallback>
      </mc:AlternateContent>
      <mc:AlternateContent xmlns:mc="http://schemas.openxmlformats.org/markup-compatibility/2006">
        <mc:Choice xmlns:a14="http://schemas.microsoft.com/office/drawing/2010/main" Requires="a14">
          <p:graphicFrame>
            <p:nvGraphicFramePr>
              <p:cNvPr id="15" name="表格 14">
                <a:extLst>
                  <a:ext uri="{FF2B5EF4-FFF2-40B4-BE49-F238E27FC236}">
                    <a16:creationId xmlns:a16="http://schemas.microsoft.com/office/drawing/2014/main" id="{10E21ECE-E08E-4D9F-82BE-1FF5A5111768}"/>
                  </a:ext>
                </a:extLst>
              </p:cNvPr>
              <p:cNvGraphicFramePr>
                <a:graphicFrameLocks noGrp="1"/>
              </p:cNvGraphicFramePr>
              <p:nvPr>
                <p:extLst>
                  <p:ext uri="{D42A27DB-BD31-4B8C-83A1-F6EECF244321}">
                    <p14:modId xmlns:p14="http://schemas.microsoft.com/office/powerpoint/2010/main" val="116519046"/>
                  </p:ext>
                </p:extLst>
              </p:nvPr>
            </p:nvGraphicFramePr>
            <p:xfrm>
              <a:off x="596038" y="2935912"/>
              <a:ext cx="5940000" cy="518160"/>
            </p:xfrm>
            <a:graphic>
              <a:graphicData uri="http://schemas.openxmlformats.org/drawingml/2006/table">
                <a:tbl>
                  <a:tblPr firstRow="1" bandRow="1">
                    <a:tableStyleId>{5940675A-B579-460E-94D1-54222C63F5DA}</a:tableStyleId>
                  </a:tblPr>
                  <a:tblGrid>
                    <a:gridCol w="540000">
                      <a:extLst>
                        <a:ext uri="{9D8B030D-6E8A-4147-A177-3AD203B41FA5}">
                          <a16:colId xmlns:a16="http://schemas.microsoft.com/office/drawing/2014/main" val="106444939"/>
                        </a:ext>
                      </a:extLst>
                    </a:gridCol>
                    <a:gridCol w="540000">
                      <a:extLst>
                        <a:ext uri="{9D8B030D-6E8A-4147-A177-3AD203B41FA5}">
                          <a16:colId xmlns:a16="http://schemas.microsoft.com/office/drawing/2014/main" val="3965888546"/>
                        </a:ext>
                      </a:extLst>
                    </a:gridCol>
                    <a:gridCol w="540000">
                      <a:extLst>
                        <a:ext uri="{9D8B030D-6E8A-4147-A177-3AD203B41FA5}">
                          <a16:colId xmlns:a16="http://schemas.microsoft.com/office/drawing/2014/main" val="82904498"/>
                        </a:ext>
                      </a:extLst>
                    </a:gridCol>
                    <a:gridCol w="540000">
                      <a:extLst>
                        <a:ext uri="{9D8B030D-6E8A-4147-A177-3AD203B41FA5}">
                          <a16:colId xmlns:a16="http://schemas.microsoft.com/office/drawing/2014/main" val="2214715668"/>
                        </a:ext>
                      </a:extLst>
                    </a:gridCol>
                    <a:gridCol w="540000">
                      <a:extLst>
                        <a:ext uri="{9D8B030D-6E8A-4147-A177-3AD203B41FA5}">
                          <a16:colId xmlns:a16="http://schemas.microsoft.com/office/drawing/2014/main" val="777121050"/>
                        </a:ext>
                      </a:extLst>
                    </a:gridCol>
                    <a:gridCol w="540000">
                      <a:extLst>
                        <a:ext uri="{9D8B030D-6E8A-4147-A177-3AD203B41FA5}">
                          <a16:colId xmlns:a16="http://schemas.microsoft.com/office/drawing/2014/main" val="2140332791"/>
                        </a:ext>
                      </a:extLst>
                    </a:gridCol>
                    <a:gridCol w="540000">
                      <a:extLst>
                        <a:ext uri="{9D8B030D-6E8A-4147-A177-3AD203B41FA5}">
                          <a16:colId xmlns:a16="http://schemas.microsoft.com/office/drawing/2014/main" val="1910247371"/>
                        </a:ext>
                      </a:extLst>
                    </a:gridCol>
                    <a:gridCol w="540000">
                      <a:extLst>
                        <a:ext uri="{9D8B030D-6E8A-4147-A177-3AD203B41FA5}">
                          <a16:colId xmlns:a16="http://schemas.microsoft.com/office/drawing/2014/main" val="3804762709"/>
                        </a:ext>
                      </a:extLst>
                    </a:gridCol>
                    <a:gridCol w="540000">
                      <a:extLst>
                        <a:ext uri="{9D8B030D-6E8A-4147-A177-3AD203B41FA5}">
                          <a16:colId xmlns:a16="http://schemas.microsoft.com/office/drawing/2014/main" val="354420647"/>
                        </a:ext>
                      </a:extLst>
                    </a:gridCol>
                    <a:gridCol w="540000">
                      <a:extLst>
                        <a:ext uri="{9D8B030D-6E8A-4147-A177-3AD203B41FA5}">
                          <a16:colId xmlns:a16="http://schemas.microsoft.com/office/drawing/2014/main" val="4131807763"/>
                        </a:ext>
                      </a:extLst>
                    </a:gridCol>
                    <a:gridCol w="540000">
                      <a:extLst>
                        <a:ext uri="{9D8B030D-6E8A-4147-A177-3AD203B41FA5}">
                          <a16:colId xmlns:a16="http://schemas.microsoft.com/office/drawing/2014/main" val="2190297588"/>
                        </a:ext>
                      </a:extLst>
                    </a:gridCol>
                  </a:tblGrid>
                  <a:tr h="229371">
                    <a:tc>
                      <a:txBody>
                        <a:bodyPr/>
                        <a:lstStyle/>
                        <a:p>
                          <a:pPr algn="ctr"/>
                          <a14:m>
                            <m:oMath xmlns:m="http://schemas.openxmlformats.org/officeDocument/2006/math">
                              <m:r>
                                <a:rPr lang="en-US" altLang="zh-TW" sz="2800" b="0" i="1" dirty="0" smtClean="0">
                                  <a:solidFill>
                                    <a:srgbClr val="002060"/>
                                  </a:solidFill>
                                  <a:latin typeface="Cambria Math" panose="02040503050406030204" pitchFamily="18" charset="0"/>
                                  <a:cs typeface="Times New Roman" panose="02020603050405020304" pitchFamily="18" charset="0"/>
                                </a:rPr>
                                <m:t>𝑃</m:t>
                              </m:r>
                              <m:r>
                                <a:rPr lang="en-US" altLang="zh-TW" sz="2800" b="0" i="1" dirty="0" smtClean="0">
                                  <a:solidFill>
                                    <a:srgbClr val="002060"/>
                                  </a:solidFill>
                                  <a:latin typeface="Cambria Math" panose="02040503050406030204" pitchFamily="18" charset="0"/>
                                  <a:cs typeface="Times New Roman" panose="02020603050405020304" pitchFamily="18" charset="0"/>
                                </a:rPr>
                                <m:t>′</m:t>
                              </m:r>
                            </m:oMath>
                          </a14:m>
                          <a:r>
                            <a:rPr lang="en-US" altLang="zh-TW" sz="2800" dirty="0">
                              <a:solidFill>
                                <a:srgbClr val="002060"/>
                              </a:solidFill>
                              <a:latin typeface="Times New Roman" panose="02020603050405020304" pitchFamily="18" charset="0"/>
                              <a:cs typeface="Times New Roman" panose="02020603050405020304" pitchFamily="18" charset="0"/>
                            </a:rPr>
                            <a: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1</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1</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0</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1</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706415246"/>
                      </a:ext>
                    </a:extLst>
                  </a:tr>
                </a:tbl>
              </a:graphicData>
            </a:graphic>
          </p:graphicFrame>
        </mc:Choice>
        <mc:Fallback>
          <p:graphicFrame>
            <p:nvGraphicFramePr>
              <p:cNvPr id="15" name="表格 14">
                <a:extLst>
                  <a:ext uri="{FF2B5EF4-FFF2-40B4-BE49-F238E27FC236}">
                    <a16:creationId xmlns:a16="http://schemas.microsoft.com/office/drawing/2014/main" id="{10E21ECE-E08E-4D9F-82BE-1FF5A5111768}"/>
                  </a:ext>
                </a:extLst>
              </p:cNvPr>
              <p:cNvGraphicFramePr>
                <a:graphicFrameLocks noGrp="1"/>
              </p:cNvGraphicFramePr>
              <p:nvPr>
                <p:extLst>
                  <p:ext uri="{D42A27DB-BD31-4B8C-83A1-F6EECF244321}">
                    <p14:modId xmlns:p14="http://schemas.microsoft.com/office/powerpoint/2010/main" val="116519046"/>
                  </p:ext>
                </p:extLst>
              </p:nvPr>
            </p:nvGraphicFramePr>
            <p:xfrm>
              <a:off x="596038" y="2935912"/>
              <a:ext cx="5940000" cy="518160"/>
            </p:xfrm>
            <a:graphic>
              <a:graphicData uri="http://schemas.openxmlformats.org/drawingml/2006/table">
                <a:tbl>
                  <a:tblPr firstRow="1" bandRow="1">
                    <a:tableStyleId>{5940675A-B579-460E-94D1-54222C63F5DA}</a:tableStyleId>
                  </a:tblPr>
                  <a:tblGrid>
                    <a:gridCol w="540000">
                      <a:extLst>
                        <a:ext uri="{9D8B030D-6E8A-4147-A177-3AD203B41FA5}">
                          <a16:colId xmlns:a16="http://schemas.microsoft.com/office/drawing/2014/main" val="106444939"/>
                        </a:ext>
                      </a:extLst>
                    </a:gridCol>
                    <a:gridCol w="540000">
                      <a:extLst>
                        <a:ext uri="{9D8B030D-6E8A-4147-A177-3AD203B41FA5}">
                          <a16:colId xmlns:a16="http://schemas.microsoft.com/office/drawing/2014/main" val="3965888546"/>
                        </a:ext>
                      </a:extLst>
                    </a:gridCol>
                    <a:gridCol w="540000">
                      <a:extLst>
                        <a:ext uri="{9D8B030D-6E8A-4147-A177-3AD203B41FA5}">
                          <a16:colId xmlns:a16="http://schemas.microsoft.com/office/drawing/2014/main" val="82904498"/>
                        </a:ext>
                      </a:extLst>
                    </a:gridCol>
                    <a:gridCol w="540000">
                      <a:extLst>
                        <a:ext uri="{9D8B030D-6E8A-4147-A177-3AD203B41FA5}">
                          <a16:colId xmlns:a16="http://schemas.microsoft.com/office/drawing/2014/main" val="2214715668"/>
                        </a:ext>
                      </a:extLst>
                    </a:gridCol>
                    <a:gridCol w="540000">
                      <a:extLst>
                        <a:ext uri="{9D8B030D-6E8A-4147-A177-3AD203B41FA5}">
                          <a16:colId xmlns:a16="http://schemas.microsoft.com/office/drawing/2014/main" val="777121050"/>
                        </a:ext>
                      </a:extLst>
                    </a:gridCol>
                    <a:gridCol w="540000">
                      <a:extLst>
                        <a:ext uri="{9D8B030D-6E8A-4147-A177-3AD203B41FA5}">
                          <a16:colId xmlns:a16="http://schemas.microsoft.com/office/drawing/2014/main" val="2140332791"/>
                        </a:ext>
                      </a:extLst>
                    </a:gridCol>
                    <a:gridCol w="540000">
                      <a:extLst>
                        <a:ext uri="{9D8B030D-6E8A-4147-A177-3AD203B41FA5}">
                          <a16:colId xmlns:a16="http://schemas.microsoft.com/office/drawing/2014/main" val="1910247371"/>
                        </a:ext>
                      </a:extLst>
                    </a:gridCol>
                    <a:gridCol w="540000">
                      <a:extLst>
                        <a:ext uri="{9D8B030D-6E8A-4147-A177-3AD203B41FA5}">
                          <a16:colId xmlns:a16="http://schemas.microsoft.com/office/drawing/2014/main" val="3804762709"/>
                        </a:ext>
                      </a:extLst>
                    </a:gridCol>
                    <a:gridCol w="540000">
                      <a:extLst>
                        <a:ext uri="{9D8B030D-6E8A-4147-A177-3AD203B41FA5}">
                          <a16:colId xmlns:a16="http://schemas.microsoft.com/office/drawing/2014/main" val="354420647"/>
                        </a:ext>
                      </a:extLst>
                    </a:gridCol>
                    <a:gridCol w="540000">
                      <a:extLst>
                        <a:ext uri="{9D8B030D-6E8A-4147-A177-3AD203B41FA5}">
                          <a16:colId xmlns:a16="http://schemas.microsoft.com/office/drawing/2014/main" val="4131807763"/>
                        </a:ext>
                      </a:extLst>
                    </a:gridCol>
                    <a:gridCol w="540000">
                      <a:extLst>
                        <a:ext uri="{9D8B030D-6E8A-4147-A177-3AD203B41FA5}">
                          <a16:colId xmlns:a16="http://schemas.microsoft.com/office/drawing/2014/main" val="2190297588"/>
                        </a:ext>
                      </a:extLst>
                    </a:gridCol>
                  </a:tblGrid>
                  <a:tr h="518160">
                    <a:tc>
                      <a:txBody>
                        <a:bodyPr/>
                        <a:lstStyle/>
                        <a:p>
                          <a:endParaRPr lang="zh-TW"/>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blipFill>
                          <a:blip r:embed="rId6"/>
                          <a:stretch>
                            <a:fillRect t="-11628" r="-996629" b="-32558"/>
                          </a:stretch>
                        </a:blip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1</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1</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0</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1</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706415246"/>
                      </a:ext>
                    </a:extLst>
                  </a:tr>
                </a:tbl>
              </a:graphicData>
            </a:graphic>
          </p:graphicFrame>
        </mc:Fallback>
      </mc:AlternateContent>
      <p:sp>
        <p:nvSpPr>
          <p:cNvPr id="17" name="矩形 16">
            <a:extLst>
              <a:ext uri="{FF2B5EF4-FFF2-40B4-BE49-F238E27FC236}">
                <a16:creationId xmlns:a16="http://schemas.microsoft.com/office/drawing/2014/main" id="{F1D80E7A-84C6-42A8-8E25-48A2F519729A}"/>
              </a:ext>
            </a:extLst>
          </p:cNvPr>
          <p:cNvSpPr/>
          <p:nvPr/>
        </p:nvSpPr>
        <p:spPr>
          <a:xfrm>
            <a:off x="402232" y="3843585"/>
            <a:ext cx="1559918" cy="461665"/>
          </a:xfrm>
          <a:prstGeom prst="rect">
            <a:avLst/>
          </a:prstGeom>
        </p:spPr>
        <p:txBody>
          <a:bodyPr wrap="square">
            <a:spAutoFit/>
          </a:bodyPr>
          <a:lstStyle/>
          <a:p>
            <a:r>
              <a:rPr lang="en-US" altLang="zh-TW" sz="2400" dirty="0">
                <a:latin typeface="Times New Roman" panose="02020603050405020304" pitchFamily="18" charset="0"/>
              </a:rPr>
              <a:t>candidate:</a:t>
            </a:r>
            <a:endParaRPr lang="zh-TW" altLang="en-US" sz="2400" dirty="0">
              <a:latin typeface="Times New Roman" panose="02020603050405020304" pitchFamily="18" charset="0"/>
            </a:endParaRPr>
          </a:p>
        </p:txBody>
      </p:sp>
      <mc:AlternateContent xmlns:mc="http://schemas.openxmlformats.org/markup-compatibility/2006">
        <mc:Choice xmlns:a14="http://schemas.microsoft.com/office/drawing/2010/main" Requires="a14">
          <p:sp>
            <p:nvSpPr>
              <p:cNvPr id="18" name="矩形 17">
                <a:extLst>
                  <a:ext uri="{FF2B5EF4-FFF2-40B4-BE49-F238E27FC236}">
                    <a16:creationId xmlns:a16="http://schemas.microsoft.com/office/drawing/2014/main" id="{5394AD9B-77D4-4940-8E64-4F40F40E2ABC}"/>
                  </a:ext>
                </a:extLst>
              </p:cNvPr>
              <p:cNvSpPr/>
              <p:nvPr/>
            </p:nvSpPr>
            <p:spPr>
              <a:xfrm>
                <a:off x="596038" y="4324739"/>
                <a:ext cx="1140819" cy="461665"/>
              </a:xfrm>
              <a:prstGeom prst="rect">
                <a:avLst/>
              </a:prstGeom>
            </p:spPr>
            <p:txBody>
              <a:bodyPr wrap="square">
                <a:spAutoFit/>
              </a:bodyPr>
              <a:lstStyle/>
              <a:p>
                <a:pPr/>
                <a14:m>
                  <m:oMathPara xmlns:m="http://schemas.openxmlformats.org/officeDocument/2006/math">
                    <m:oMathParaPr>
                      <m:jc m:val="left"/>
                    </m:oMathParaPr>
                    <m:oMath xmlns:m="http://schemas.openxmlformats.org/officeDocument/2006/math">
                      <m:r>
                        <a:rPr lang="en-US" altLang="zh-TW" sz="2400" b="0" i="1" dirty="0" smtClean="0">
                          <a:latin typeface="Cambria Math" panose="02040503050406030204" pitchFamily="18" charset="0"/>
                        </a:rPr>
                        <m:t>𝑇</m:t>
                      </m:r>
                      <m:d>
                        <m:dPr>
                          <m:begChr m:val="["/>
                          <m:endChr m:val="]"/>
                          <m:ctrlPr>
                            <a:rPr lang="en-US" altLang="zh-TW" sz="2400" b="0" i="1" dirty="0" smtClean="0">
                              <a:latin typeface="Cambria Math" panose="02040503050406030204" pitchFamily="18" charset="0"/>
                            </a:rPr>
                          </m:ctrlPr>
                        </m:dPr>
                        <m:e>
                          <m:r>
                            <a:rPr lang="en-US" altLang="zh-TW" sz="2400" b="0" i="1" dirty="0" smtClean="0">
                              <a:latin typeface="Cambria Math" panose="02040503050406030204" pitchFamily="18" charset="0"/>
                            </a:rPr>
                            <m:t>1:5</m:t>
                          </m:r>
                        </m:e>
                      </m:d>
                    </m:oMath>
                  </m:oMathPara>
                </a14:m>
                <a:endParaRPr lang="zh-TW" altLang="en-US" sz="2400" dirty="0">
                  <a:latin typeface="Times New Roman" panose="02020603050405020304" pitchFamily="18" charset="0"/>
                </a:endParaRPr>
              </a:p>
            </p:txBody>
          </p:sp>
        </mc:Choice>
        <mc:Fallback>
          <p:sp>
            <p:nvSpPr>
              <p:cNvPr id="18" name="矩形 17">
                <a:extLst>
                  <a:ext uri="{FF2B5EF4-FFF2-40B4-BE49-F238E27FC236}">
                    <a16:creationId xmlns:a16="http://schemas.microsoft.com/office/drawing/2014/main" id="{5394AD9B-77D4-4940-8E64-4F40F40E2ABC}"/>
                  </a:ext>
                </a:extLst>
              </p:cNvPr>
              <p:cNvSpPr>
                <a:spLocks noRot="1" noChangeAspect="1" noMove="1" noResize="1" noEditPoints="1" noAdjustHandles="1" noChangeArrowheads="1" noChangeShapeType="1" noTextEdit="1"/>
              </p:cNvSpPr>
              <p:nvPr/>
            </p:nvSpPr>
            <p:spPr>
              <a:xfrm>
                <a:off x="596038" y="4324739"/>
                <a:ext cx="1140819" cy="461665"/>
              </a:xfrm>
              <a:prstGeom prst="rect">
                <a:avLst/>
              </a:prstGeom>
              <a:blipFill>
                <a:blip r:embed="rId7"/>
                <a:stretch>
                  <a:fillRect l="-1604"/>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19" name="矩形 18">
                <a:extLst>
                  <a:ext uri="{FF2B5EF4-FFF2-40B4-BE49-F238E27FC236}">
                    <a16:creationId xmlns:a16="http://schemas.microsoft.com/office/drawing/2014/main" id="{0F495D8F-063A-4F96-91A1-121C902084CF}"/>
                  </a:ext>
                </a:extLst>
              </p:cNvPr>
              <p:cNvSpPr/>
              <p:nvPr/>
            </p:nvSpPr>
            <p:spPr>
              <a:xfrm>
                <a:off x="596038" y="5321749"/>
                <a:ext cx="1140819" cy="461665"/>
              </a:xfrm>
              <a:prstGeom prst="rect">
                <a:avLst/>
              </a:prstGeom>
            </p:spPr>
            <p:txBody>
              <a:bodyPr wrap="square">
                <a:spAutoFit/>
              </a:bodyPr>
              <a:lstStyle/>
              <a:p>
                <a:pPr/>
                <a14:m>
                  <m:oMathPara xmlns:m="http://schemas.openxmlformats.org/officeDocument/2006/math">
                    <m:oMathParaPr>
                      <m:jc m:val="left"/>
                    </m:oMathParaPr>
                    <m:oMath xmlns:m="http://schemas.openxmlformats.org/officeDocument/2006/math">
                      <m:r>
                        <a:rPr lang="en-US" altLang="zh-TW" sz="2400" b="0" i="1" dirty="0" smtClean="0">
                          <a:latin typeface="Cambria Math" panose="02040503050406030204" pitchFamily="18" charset="0"/>
                        </a:rPr>
                        <m:t>𝑇</m:t>
                      </m:r>
                      <m:d>
                        <m:dPr>
                          <m:begChr m:val="["/>
                          <m:endChr m:val="]"/>
                          <m:ctrlPr>
                            <a:rPr lang="en-US" altLang="zh-TW" sz="2400" b="0" i="1" dirty="0" smtClean="0">
                              <a:latin typeface="Cambria Math" panose="02040503050406030204" pitchFamily="18" charset="0"/>
                            </a:rPr>
                          </m:ctrlPr>
                        </m:dPr>
                        <m:e>
                          <m:r>
                            <a:rPr lang="en-US" altLang="zh-TW" sz="2400" b="0" i="1" dirty="0" smtClean="0">
                              <a:latin typeface="Cambria Math" panose="02040503050406030204" pitchFamily="18" charset="0"/>
                            </a:rPr>
                            <m:t>4</m:t>
                          </m:r>
                          <m:r>
                            <a:rPr lang="en-US" altLang="zh-TW" sz="2400" b="0" i="1" dirty="0" smtClean="0">
                              <a:latin typeface="Cambria Math" panose="02040503050406030204" pitchFamily="18" charset="0"/>
                            </a:rPr>
                            <m:t>:8</m:t>
                          </m:r>
                        </m:e>
                      </m:d>
                    </m:oMath>
                  </m:oMathPara>
                </a14:m>
                <a:endParaRPr lang="zh-TW" altLang="en-US" sz="2400" dirty="0">
                  <a:latin typeface="Times New Roman" panose="02020603050405020304" pitchFamily="18" charset="0"/>
                </a:endParaRPr>
              </a:p>
            </p:txBody>
          </p:sp>
        </mc:Choice>
        <mc:Fallback>
          <p:sp>
            <p:nvSpPr>
              <p:cNvPr id="19" name="矩形 18">
                <a:extLst>
                  <a:ext uri="{FF2B5EF4-FFF2-40B4-BE49-F238E27FC236}">
                    <a16:creationId xmlns:a16="http://schemas.microsoft.com/office/drawing/2014/main" id="{0F495D8F-063A-4F96-91A1-121C902084CF}"/>
                  </a:ext>
                </a:extLst>
              </p:cNvPr>
              <p:cNvSpPr>
                <a:spLocks noRot="1" noChangeAspect="1" noMove="1" noResize="1" noEditPoints="1" noAdjustHandles="1" noChangeArrowheads="1" noChangeShapeType="1" noTextEdit="1"/>
              </p:cNvSpPr>
              <p:nvPr/>
            </p:nvSpPr>
            <p:spPr>
              <a:xfrm>
                <a:off x="596038" y="5321749"/>
                <a:ext cx="1140819" cy="461665"/>
              </a:xfrm>
              <a:prstGeom prst="rect">
                <a:avLst/>
              </a:prstGeom>
              <a:blipFill>
                <a:blip r:embed="rId8"/>
                <a:stretch>
                  <a:fillRect l="-1604"/>
                </a:stretch>
              </a:blipFill>
            </p:spPr>
            <p:txBody>
              <a:bodyPr/>
              <a:lstStyle/>
              <a:p>
                <a:r>
                  <a:rPr lang="zh-TW" altLang="en-US">
                    <a:noFill/>
                  </a:rPr>
                  <a:t> </a:t>
                </a:r>
              </a:p>
            </p:txBody>
          </p:sp>
        </mc:Fallback>
      </mc:AlternateContent>
      <p:graphicFrame>
        <p:nvGraphicFramePr>
          <p:cNvPr id="3" name="表格 2">
            <a:extLst>
              <a:ext uri="{FF2B5EF4-FFF2-40B4-BE49-F238E27FC236}">
                <a16:creationId xmlns:a16="http://schemas.microsoft.com/office/drawing/2014/main" id="{63B66954-457B-4CF7-B6D9-E837F5645B89}"/>
              </a:ext>
            </a:extLst>
          </p:cNvPr>
          <p:cNvGraphicFramePr>
            <a:graphicFrameLocks noGrp="1"/>
          </p:cNvGraphicFramePr>
          <p:nvPr>
            <p:extLst>
              <p:ext uri="{D42A27DB-BD31-4B8C-83A1-F6EECF244321}">
                <p14:modId xmlns:p14="http://schemas.microsoft.com/office/powerpoint/2010/main" val="530580656"/>
              </p:ext>
            </p:extLst>
          </p:nvPr>
        </p:nvGraphicFramePr>
        <p:xfrm>
          <a:off x="1962150" y="4264244"/>
          <a:ext cx="2700000" cy="518160"/>
        </p:xfrm>
        <a:graphic>
          <a:graphicData uri="http://schemas.openxmlformats.org/drawingml/2006/table">
            <a:tbl>
              <a:tblPr firstRow="1" bandRow="1">
                <a:tableStyleId>{5940675A-B579-460E-94D1-54222C63F5DA}</a:tableStyleId>
              </a:tblPr>
              <a:tblGrid>
                <a:gridCol w="540000">
                  <a:extLst>
                    <a:ext uri="{9D8B030D-6E8A-4147-A177-3AD203B41FA5}">
                      <a16:colId xmlns:a16="http://schemas.microsoft.com/office/drawing/2014/main" val="2577381676"/>
                    </a:ext>
                  </a:extLst>
                </a:gridCol>
                <a:gridCol w="540000">
                  <a:extLst>
                    <a:ext uri="{9D8B030D-6E8A-4147-A177-3AD203B41FA5}">
                      <a16:colId xmlns:a16="http://schemas.microsoft.com/office/drawing/2014/main" val="2494047531"/>
                    </a:ext>
                  </a:extLst>
                </a:gridCol>
                <a:gridCol w="540000">
                  <a:extLst>
                    <a:ext uri="{9D8B030D-6E8A-4147-A177-3AD203B41FA5}">
                      <a16:colId xmlns:a16="http://schemas.microsoft.com/office/drawing/2014/main" val="265930632"/>
                    </a:ext>
                  </a:extLst>
                </a:gridCol>
                <a:gridCol w="540000">
                  <a:extLst>
                    <a:ext uri="{9D8B030D-6E8A-4147-A177-3AD203B41FA5}">
                      <a16:colId xmlns:a16="http://schemas.microsoft.com/office/drawing/2014/main" val="4267407961"/>
                    </a:ext>
                  </a:extLst>
                </a:gridCol>
                <a:gridCol w="540000">
                  <a:extLst>
                    <a:ext uri="{9D8B030D-6E8A-4147-A177-3AD203B41FA5}">
                      <a16:colId xmlns:a16="http://schemas.microsoft.com/office/drawing/2014/main" val="567536525"/>
                    </a:ext>
                  </a:extLst>
                </a:gridCol>
              </a:tblGrid>
              <a:tr h="229371">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5</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10</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20</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15</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25</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389455085"/>
                  </a:ext>
                </a:extLst>
              </a:tr>
            </a:tbl>
          </a:graphicData>
        </a:graphic>
      </p:graphicFrame>
      <p:graphicFrame>
        <p:nvGraphicFramePr>
          <p:cNvPr id="20" name="表格 19">
            <a:extLst>
              <a:ext uri="{FF2B5EF4-FFF2-40B4-BE49-F238E27FC236}">
                <a16:creationId xmlns:a16="http://schemas.microsoft.com/office/drawing/2014/main" id="{A04B9FA2-E42C-4499-AF56-5D5091C428F2}"/>
              </a:ext>
            </a:extLst>
          </p:cNvPr>
          <p:cNvGraphicFramePr>
            <a:graphicFrameLocks noGrp="1"/>
          </p:cNvGraphicFramePr>
          <p:nvPr>
            <p:extLst>
              <p:ext uri="{D42A27DB-BD31-4B8C-83A1-F6EECF244321}">
                <p14:modId xmlns:p14="http://schemas.microsoft.com/office/powerpoint/2010/main" val="1493057416"/>
              </p:ext>
            </p:extLst>
          </p:nvPr>
        </p:nvGraphicFramePr>
        <p:xfrm>
          <a:off x="1962150" y="5291802"/>
          <a:ext cx="2700000" cy="518160"/>
        </p:xfrm>
        <a:graphic>
          <a:graphicData uri="http://schemas.openxmlformats.org/drawingml/2006/table">
            <a:tbl>
              <a:tblPr firstRow="1" bandRow="1">
                <a:tableStyleId>{5940675A-B579-460E-94D1-54222C63F5DA}</a:tableStyleId>
              </a:tblPr>
              <a:tblGrid>
                <a:gridCol w="540000">
                  <a:extLst>
                    <a:ext uri="{9D8B030D-6E8A-4147-A177-3AD203B41FA5}">
                      <a16:colId xmlns:a16="http://schemas.microsoft.com/office/drawing/2014/main" val="2577381676"/>
                    </a:ext>
                  </a:extLst>
                </a:gridCol>
                <a:gridCol w="540000">
                  <a:extLst>
                    <a:ext uri="{9D8B030D-6E8A-4147-A177-3AD203B41FA5}">
                      <a16:colId xmlns:a16="http://schemas.microsoft.com/office/drawing/2014/main" val="2494047531"/>
                    </a:ext>
                  </a:extLst>
                </a:gridCol>
                <a:gridCol w="540000">
                  <a:extLst>
                    <a:ext uri="{9D8B030D-6E8A-4147-A177-3AD203B41FA5}">
                      <a16:colId xmlns:a16="http://schemas.microsoft.com/office/drawing/2014/main" val="265930632"/>
                    </a:ext>
                  </a:extLst>
                </a:gridCol>
                <a:gridCol w="540000">
                  <a:extLst>
                    <a:ext uri="{9D8B030D-6E8A-4147-A177-3AD203B41FA5}">
                      <a16:colId xmlns:a16="http://schemas.microsoft.com/office/drawing/2014/main" val="4267407961"/>
                    </a:ext>
                  </a:extLst>
                </a:gridCol>
                <a:gridCol w="540000">
                  <a:extLst>
                    <a:ext uri="{9D8B030D-6E8A-4147-A177-3AD203B41FA5}">
                      <a16:colId xmlns:a16="http://schemas.microsoft.com/office/drawing/2014/main" val="567536525"/>
                    </a:ext>
                  </a:extLst>
                </a:gridCol>
              </a:tblGrid>
              <a:tr h="229371">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15</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25</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35</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20</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30</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389455085"/>
                  </a:ext>
                </a:extLst>
              </a:tr>
            </a:tbl>
          </a:graphicData>
        </a:graphic>
      </p:graphicFrame>
      <mc:AlternateContent xmlns:mc="http://schemas.openxmlformats.org/markup-compatibility/2006">
        <mc:Choice xmlns:a14="http://schemas.microsoft.com/office/drawing/2010/main" Requires="a14">
          <p:sp>
            <p:nvSpPr>
              <p:cNvPr id="21" name="矩形 20">
                <a:extLst>
                  <a:ext uri="{FF2B5EF4-FFF2-40B4-BE49-F238E27FC236}">
                    <a16:creationId xmlns:a16="http://schemas.microsoft.com/office/drawing/2014/main" id="{4D0048C2-3905-4471-9A7F-29635F321F08}"/>
                  </a:ext>
                </a:extLst>
              </p:cNvPr>
              <p:cNvSpPr/>
              <p:nvPr/>
            </p:nvSpPr>
            <p:spPr>
              <a:xfrm>
                <a:off x="1224400" y="4657359"/>
                <a:ext cx="882229"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TW" b="0" i="1" smtClean="0">
                          <a:solidFill>
                            <a:srgbClr val="0070C0"/>
                          </a:solidFill>
                          <a:latin typeface="Cambria Math" panose="02040503050406030204" pitchFamily="18" charset="0"/>
                        </a:rPr>
                        <m:t>𝑜𝑟𝑑𝑒𝑟</m:t>
                      </m:r>
                      <m:r>
                        <a:rPr lang="en-US" altLang="zh-TW" b="0" i="1" smtClean="0">
                          <a:solidFill>
                            <a:srgbClr val="0070C0"/>
                          </a:solidFill>
                          <a:latin typeface="Cambria Math" panose="02040503050406030204" pitchFamily="18" charset="0"/>
                        </a:rPr>
                        <m:t> </m:t>
                      </m:r>
                    </m:oMath>
                  </m:oMathPara>
                </a14:m>
                <a:endParaRPr lang="zh-TW" altLang="en-US" dirty="0">
                  <a:solidFill>
                    <a:srgbClr val="0070C0"/>
                  </a:solidFill>
                </a:endParaRPr>
              </a:p>
            </p:txBody>
          </p:sp>
        </mc:Choice>
        <mc:Fallback>
          <p:sp>
            <p:nvSpPr>
              <p:cNvPr id="21" name="矩形 20">
                <a:extLst>
                  <a:ext uri="{FF2B5EF4-FFF2-40B4-BE49-F238E27FC236}">
                    <a16:creationId xmlns:a16="http://schemas.microsoft.com/office/drawing/2014/main" id="{4D0048C2-3905-4471-9A7F-29635F321F08}"/>
                  </a:ext>
                </a:extLst>
              </p:cNvPr>
              <p:cNvSpPr>
                <a:spLocks noRot="1" noChangeAspect="1" noMove="1" noResize="1" noEditPoints="1" noAdjustHandles="1" noChangeArrowheads="1" noChangeShapeType="1" noTextEdit="1"/>
              </p:cNvSpPr>
              <p:nvPr/>
            </p:nvSpPr>
            <p:spPr>
              <a:xfrm>
                <a:off x="1224400" y="4657359"/>
                <a:ext cx="882229" cy="369332"/>
              </a:xfrm>
              <a:prstGeom prst="rect">
                <a:avLst/>
              </a:prstGeom>
              <a:blipFill>
                <a:blip r:embed="rId9"/>
                <a:stretch>
                  <a:fillRect/>
                </a:stretch>
              </a:blipFill>
            </p:spPr>
            <p:txBody>
              <a:bodyPr/>
              <a:lstStyle/>
              <a:p>
                <a:r>
                  <a:rPr lang="zh-TW" altLang="en-US">
                    <a:noFill/>
                  </a:rPr>
                  <a:t> </a:t>
                </a:r>
              </a:p>
            </p:txBody>
          </p:sp>
        </mc:Fallback>
      </mc:AlternateContent>
      <p:graphicFrame>
        <p:nvGraphicFramePr>
          <p:cNvPr id="22" name="表格 21">
            <a:extLst>
              <a:ext uri="{FF2B5EF4-FFF2-40B4-BE49-F238E27FC236}">
                <a16:creationId xmlns:a16="http://schemas.microsoft.com/office/drawing/2014/main" id="{147D88BA-5A6F-4C8F-9C6B-5C0139966DE7}"/>
              </a:ext>
            </a:extLst>
          </p:cNvPr>
          <p:cNvGraphicFramePr>
            <a:graphicFrameLocks noGrp="1"/>
          </p:cNvGraphicFramePr>
          <p:nvPr>
            <p:extLst>
              <p:ext uri="{D42A27DB-BD31-4B8C-83A1-F6EECF244321}">
                <p14:modId xmlns:p14="http://schemas.microsoft.com/office/powerpoint/2010/main" val="2989347309"/>
              </p:ext>
            </p:extLst>
          </p:nvPr>
        </p:nvGraphicFramePr>
        <p:xfrm>
          <a:off x="1962150" y="4643905"/>
          <a:ext cx="2700000" cy="396240"/>
        </p:xfrm>
        <a:graphic>
          <a:graphicData uri="http://schemas.openxmlformats.org/drawingml/2006/table">
            <a:tbl>
              <a:tblPr firstRow="1" bandRow="1">
                <a:tableStyleId>{5940675A-B579-460E-94D1-54222C63F5DA}</a:tableStyleId>
              </a:tblPr>
              <a:tblGrid>
                <a:gridCol w="540000">
                  <a:extLst>
                    <a:ext uri="{9D8B030D-6E8A-4147-A177-3AD203B41FA5}">
                      <a16:colId xmlns:a16="http://schemas.microsoft.com/office/drawing/2014/main" val="1214256893"/>
                    </a:ext>
                  </a:extLst>
                </a:gridCol>
                <a:gridCol w="540000">
                  <a:extLst>
                    <a:ext uri="{9D8B030D-6E8A-4147-A177-3AD203B41FA5}">
                      <a16:colId xmlns:a16="http://schemas.microsoft.com/office/drawing/2014/main" val="2185945537"/>
                    </a:ext>
                  </a:extLst>
                </a:gridCol>
                <a:gridCol w="540000">
                  <a:extLst>
                    <a:ext uri="{9D8B030D-6E8A-4147-A177-3AD203B41FA5}">
                      <a16:colId xmlns:a16="http://schemas.microsoft.com/office/drawing/2014/main" val="2888216586"/>
                    </a:ext>
                  </a:extLst>
                </a:gridCol>
                <a:gridCol w="540000">
                  <a:extLst>
                    <a:ext uri="{9D8B030D-6E8A-4147-A177-3AD203B41FA5}">
                      <a16:colId xmlns:a16="http://schemas.microsoft.com/office/drawing/2014/main" val="998630240"/>
                    </a:ext>
                  </a:extLst>
                </a:gridCol>
                <a:gridCol w="540000">
                  <a:extLst>
                    <a:ext uri="{9D8B030D-6E8A-4147-A177-3AD203B41FA5}">
                      <a16:colId xmlns:a16="http://schemas.microsoft.com/office/drawing/2014/main" val="3620064634"/>
                    </a:ext>
                  </a:extLst>
                </a:gridCol>
              </a:tblGrid>
              <a:tr h="229371">
                <a:tc>
                  <a:txBody>
                    <a:bodyPr/>
                    <a:lstStyle/>
                    <a:p>
                      <a:pPr algn="ctr"/>
                      <a:r>
                        <a:rPr lang="en-US" altLang="zh-TW" sz="2000" dirty="0">
                          <a:solidFill>
                            <a:srgbClr val="0070C0"/>
                          </a:solidFill>
                          <a:latin typeface="Times New Roman" panose="02020603050405020304" pitchFamily="18" charset="0"/>
                          <a:cs typeface="Times New Roman" panose="02020603050405020304" pitchFamily="18" charset="0"/>
                        </a:rPr>
                        <a:t>1</a:t>
                      </a:r>
                      <a:endParaRPr lang="zh-TW" altLang="en-US" sz="2000" dirty="0">
                        <a:solidFill>
                          <a:srgbClr val="0070C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000" dirty="0">
                          <a:solidFill>
                            <a:srgbClr val="0070C0"/>
                          </a:solidFill>
                          <a:latin typeface="Times New Roman" panose="02020603050405020304" pitchFamily="18" charset="0"/>
                          <a:cs typeface="Times New Roman" panose="02020603050405020304" pitchFamily="18" charset="0"/>
                        </a:rPr>
                        <a:t>2</a:t>
                      </a:r>
                      <a:endParaRPr lang="zh-TW" altLang="en-US" sz="2000" dirty="0">
                        <a:solidFill>
                          <a:srgbClr val="0070C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000" dirty="0">
                          <a:solidFill>
                            <a:srgbClr val="0070C0"/>
                          </a:solidFill>
                          <a:latin typeface="Times New Roman" panose="02020603050405020304" pitchFamily="18" charset="0"/>
                          <a:cs typeface="Times New Roman" panose="02020603050405020304" pitchFamily="18" charset="0"/>
                        </a:rPr>
                        <a:t>4</a:t>
                      </a:r>
                      <a:endParaRPr lang="zh-TW" altLang="en-US" sz="2000" dirty="0">
                        <a:solidFill>
                          <a:srgbClr val="0070C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000" dirty="0">
                          <a:solidFill>
                            <a:srgbClr val="0070C0"/>
                          </a:solidFill>
                          <a:latin typeface="Times New Roman" panose="02020603050405020304" pitchFamily="18" charset="0"/>
                          <a:cs typeface="Times New Roman" panose="02020603050405020304" pitchFamily="18" charset="0"/>
                        </a:rPr>
                        <a:t>3</a:t>
                      </a:r>
                      <a:endParaRPr lang="zh-TW" altLang="en-US" sz="2000" dirty="0">
                        <a:solidFill>
                          <a:srgbClr val="0070C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000" dirty="0">
                          <a:solidFill>
                            <a:srgbClr val="0070C0"/>
                          </a:solidFill>
                          <a:latin typeface="Times New Roman" panose="02020603050405020304" pitchFamily="18" charset="0"/>
                          <a:cs typeface="Times New Roman" panose="02020603050405020304" pitchFamily="18" charset="0"/>
                        </a:rPr>
                        <a:t>5</a:t>
                      </a:r>
                      <a:endParaRPr lang="zh-TW" altLang="en-US" sz="2000" dirty="0">
                        <a:solidFill>
                          <a:srgbClr val="0070C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980373752"/>
                  </a:ext>
                </a:extLst>
              </a:tr>
            </a:tbl>
          </a:graphicData>
        </a:graphic>
      </p:graphicFrame>
      <p:sp>
        <p:nvSpPr>
          <p:cNvPr id="5" name="矩形 4">
            <a:extLst>
              <a:ext uri="{FF2B5EF4-FFF2-40B4-BE49-F238E27FC236}">
                <a16:creationId xmlns:a16="http://schemas.microsoft.com/office/drawing/2014/main" id="{F8153957-4474-4098-B3ED-0CFE9DDCEAB9}"/>
              </a:ext>
            </a:extLst>
          </p:cNvPr>
          <p:cNvSpPr/>
          <p:nvPr/>
        </p:nvSpPr>
        <p:spPr>
          <a:xfrm>
            <a:off x="400050" y="3816303"/>
            <a:ext cx="6391275" cy="230201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3" name="矩形 22">
            <a:extLst>
              <a:ext uri="{FF2B5EF4-FFF2-40B4-BE49-F238E27FC236}">
                <a16:creationId xmlns:a16="http://schemas.microsoft.com/office/drawing/2014/main" id="{83A1EEED-DA12-43D7-BFAE-544153BE5011}"/>
              </a:ext>
            </a:extLst>
          </p:cNvPr>
          <p:cNvSpPr/>
          <p:nvPr/>
        </p:nvSpPr>
        <p:spPr>
          <a:xfrm>
            <a:off x="1181100" y="1436582"/>
            <a:ext cx="2057400" cy="51816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24" name="矩形 23">
            <a:extLst>
              <a:ext uri="{FF2B5EF4-FFF2-40B4-BE49-F238E27FC236}">
                <a16:creationId xmlns:a16="http://schemas.microsoft.com/office/drawing/2014/main" id="{147E6169-775D-4DB3-B7F7-23FD58BDE3EA}"/>
              </a:ext>
            </a:extLst>
          </p:cNvPr>
          <p:cNvSpPr/>
          <p:nvPr/>
        </p:nvSpPr>
        <p:spPr>
          <a:xfrm>
            <a:off x="2781300" y="1338474"/>
            <a:ext cx="2125525" cy="782900"/>
          </a:xfrm>
          <a:prstGeom prst="rect">
            <a:avLst/>
          </a:prstGeom>
          <a:noFill/>
          <a:ln w="1905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mc:AlternateContent xmlns:mc="http://schemas.openxmlformats.org/markup-compatibility/2006">
        <mc:Choice xmlns:a14="http://schemas.microsoft.com/office/drawing/2010/main" Requires="a14">
          <p:sp>
            <p:nvSpPr>
              <p:cNvPr id="26" name="矩形 25">
                <a:extLst>
                  <a:ext uri="{FF2B5EF4-FFF2-40B4-BE49-F238E27FC236}">
                    <a16:creationId xmlns:a16="http://schemas.microsoft.com/office/drawing/2014/main" id="{1A272CE8-8F04-492E-8505-2900039A4786}"/>
                  </a:ext>
                </a:extLst>
              </p:cNvPr>
              <p:cNvSpPr/>
              <p:nvPr/>
            </p:nvSpPr>
            <p:spPr>
              <a:xfrm>
                <a:off x="400050" y="2568465"/>
                <a:ext cx="882229"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TW" b="0" i="1" smtClean="0">
                          <a:solidFill>
                            <a:srgbClr val="0070C0"/>
                          </a:solidFill>
                          <a:latin typeface="Cambria Math" panose="02040503050406030204" pitchFamily="18" charset="0"/>
                        </a:rPr>
                        <m:t>𝑜𝑟𝑑𝑒𝑟</m:t>
                      </m:r>
                      <m:r>
                        <a:rPr lang="en-US" altLang="zh-TW" b="0" i="1" smtClean="0">
                          <a:solidFill>
                            <a:srgbClr val="0070C0"/>
                          </a:solidFill>
                          <a:latin typeface="Cambria Math" panose="02040503050406030204" pitchFamily="18" charset="0"/>
                        </a:rPr>
                        <m:t> </m:t>
                      </m:r>
                    </m:oMath>
                  </m:oMathPara>
                </a14:m>
                <a:endParaRPr lang="zh-TW" altLang="en-US" dirty="0">
                  <a:solidFill>
                    <a:srgbClr val="0070C0"/>
                  </a:solidFill>
                </a:endParaRPr>
              </a:p>
            </p:txBody>
          </p:sp>
        </mc:Choice>
        <mc:Fallback>
          <p:sp>
            <p:nvSpPr>
              <p:cNvPr id="26" name="矩形 25">
                <a:extLst>
                  <a:ext uri="{FF2B5EF4-FFF2-40B4-BE49-F238E27FC236}">
                    <a16:creationId xmlns:a16="http://schemas.microsoft.com/office/drawing/2014/main" id="{1A272CE8-8F04-492E-8505-2900039A4786}"/>
                  </a:ext>
                </a:extLst>
              </p:cNvPr>
              <p:cNvSpPr>
                <a:spLocks noRot="1" noChangeAspect="1" noMove="1" noResize="1" noEditPoints="1" noAdjustHandles="1" noChangeArrowheads="1" noChangeShapeType="1" noTextEdit="1"/>
              </p:cNvSpPr>
              <p:nvPr/>
            </p:nvSpPr>
            <p:spPr>
              <a:xfrm>
                <a:off x="400050" y="2568465"/>
                <a:ext cx="882229" cy="369332"/>
              </a:xfrm>
              <a:prstGeom prst="rect">
                <a:avLst/>
              </a:prstGeom>
              <a:blipFill>
                <a:blip r:embed="rId10"/>
                <a:stretch>
                  <a:fillRect/>
                </a:stretch>
              </a:blipFill>
            </p:spPr>
            <p:txBody>
              <a:bodyPr/>
              <a:lstStyle/>
              <a:p>
                <a:r>
                  <a:rPr lang="zh-TW" altLang="en-US">
                    <a:noFill/>
                  </a:rPr>
                  <a:t> </a:t>
                </a:r>
              </a:p>
            </p:txBody>
          </p:sp>
        </mc:Fallback>
      </mc:AlternateContent>
      <p:graphicFrame>
        <p:nvGraphicFramePr>
          <p:cNvPr id="27" name="表格 26">
            <a:extLst>
              <a:ext uri="{FF2B5EF4-FFF2-40B4-BE49-F238E27FC236}">
                <a16:creationId xmlns:a16="http://schemas.microsoft.com/office/drawing/2014/main" id="{7CF94C48-2B27-4187-8D10-67370FD4CCFE}"/>
              </a:ext>
            </a:extLst>
          </p:cNvPr>
          <p:cNvGraphicFramePr>
            <a:graphicFrameLocks noGrp="1"/>
          </p:cNvGraphicFramePr>
          <p:nvPr>
            <p:extLst>
              <p:ext uri="{D42A27DB-BD31-4B8C-83A1-F6EECF244321}">
                <p14:modId xmlns:p14="http://schemas.microsoft.com/office/powerpoint/2010/main" val="643308179"/>
              </p:ext>
            </p:extLst>
          </p:nvPr>
        </p:nvGraphicFramePr>
        <p:xfrm>
          <a:off x="1137800" y="2555011"/>
          <a:ext cx="2700000" cy="396240"/>
        </p:xfrm>
        <a:graphic>
          <a:graphicData uri="http://schemas.openxmlformats.org/drawingml/2006/table">
            <a:tbl>
              <a:tblPr firstRow="1" bandRow="1">
                <a:tableStyleId>{5940675A-B579-460E-94D1-54222C63F5DA}</a:tableStyleId>
              </a:tblPr>
              <a:tblGrid>
                <a:gridCol w="540000">
                  <a:extLst>
                    <a:ext uri="{9D8B030D-6E8A-4147-A177-3AD203B41FA5}">
                      <a16:colId xmlns:a16="http://schemas.microsoft.com/office/drawing/2014/main" val="1214256893"/>
                    </a:ext>
                  </a:extLst>
                </a:gridCol>
                <a:gridCol w="540000">
                  <a:extLst>
                    <a:ext uri="{9D8B030D-6E8A-4147-A177-3AD203B41FA5}">
                      <a16:colId xmlns:a16="http://schemas.microsoft.com/office/drawing/2014/main" val="2185945537"/>
                    </a:ext>
                  </a:extLst>
                </a:gridCol>
                <a:gridCol w="540000">
                  <a:extLst>
                    <a:ext uri="{9D8B030D-6E8A-4147-A177-3AD203B41FA5}">
                      <a16:colId xmlns:a16="http://schemas.microsoft.com/office/drawing/2014/main" val="2888216586"/>
                    </a:ext>
                  </a:extLst>
                </a:gridCol>
                <a:gridCol w="540000">
                  <a:extLst>
                    <a:ext uri="{9D8B030D-6E8A-4147-A177-3AD203B41FA5}">
                      <a16:colId xmlns:a16="http://schemas.microsoft.com/office/drawing/2014/main" val="998630240"/>
                    </a:ext>
                  </a:extLst>
                </a:gridCol>
                <a:gridCol w="540000">
                  <a:extLst>
                    <a:ext uri="{9D8B030D-6E8A-4147-A177-3AD203B41FA5}">
                      <a16:colId xmlns:a16="http://schemas.microsoft.com/office/drawing/2014/main" val="3620064634"/>
                    </a:ext>
                  </a:extLst>
                </a:gridCol>
              </a:tblGrid>
              <a:tr h="229371">
                <a:tc>
                  <a:txBody>
                    <a:bodyPr/>
                    <a:lstStyle/>
                    <a:p>
                      <a:pPr algn="ctr"/>
                      <a:r>
                        <a:rPr lang="en-US" altLang="zh-TW" sz="2000" dirty="0">
                          <a:solidFill>
                            <a:srgbClr val="0070C0"/>
                          </a:solidFill>
                          <a:latin typeface="Times New Roman" panose="02020603050405020304" pitchFamily="18" charset="0"/>
                          <a:cs typeface="Times New Roman" panose="02020603050405020304" pitchFamily="18" charset="0"/>
                        </a:rPr>
                        <a:t>1</a:t>
                      </a:r>
                      <a:endParaRPr lang="zh-TW" altLang="en-US" sz="2000" dirty="0">
                        <a:solidFill>
                          <a:srgbClr val="0070C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000" dirty="0">
                          <a:solidFill>
                            <a:srgbClr val="0070C0"/>
                          </a:solidFill>
                          <a:latin typeface="Times New Roman" panose="02020603050405020304" pitchFamily="18" charset="0"/>
                          <a:cs typeface="Times New Roman" panose="02020603050405020304" pitchFamily="18" charset="0"/>
                        </a:rPr>
                        <a:t>3</a:t>
                      </a:r>
                      <a:endParaRPr lang="zh-TW" altLang="en-US" sz="2000" dirty="0">
                        <a:solidFill>
                          <a:srgbClr val="0070C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000" dirty="0">
                          <a:solidFill>
                            <a:srgbClr val="0070C0"/>
                          </a:solidFill>
                          <a:latin typeface="Times New Roman" panose="02020603050405020304" pitchFamily="18" charset="0"/>
                          <a:cs typeface="Times New Roman" panose="02020603050405020304" pitchFamily="18" charset="0"/>
                        </a:rPr>
                        <a:t>5</a:t>
                      </a:r>
                      <a:endParaRPr lang="zh-TW" altLang="en-US" sz="2000" dirty="0">
                        <a:solidFill>
                          <a:srgbClr val="0070C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000" dirty="0">
                          <a:solidFill>
                            <a:srgbClr val="0070C0"/>
                          </a:solidFill>
                          <a:latin typeface="Times New Roman" panose="02020603050405020304" pitchFamily="18" charset="0"/>
                          <a:cs typeface="Times New Roman" panose="02020603050405020304" pitchFamily="18" charset="0"/>
                        </a:rPr>
                        <a:t>2</a:t>
                      </a:r>
                      <a:endParaRPr lang="zh-TW" altLang="en-US" sz="2000" dirty="0">
                        <a:solidFill>
                          <a:srgbClr val="0070C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000" dirty="0">
                          <a:solidFill>
                            <a:srgbClr val="0070C0"/>
                          </a:solidFill>
                          <a:latin typeface="Times New Roman" panose="02020603050405020304" pitchFamily="18" charset="0"/>
                          <a:cs typeface="Times New Roman" panose="02020603050405020304" pitchFamily="18" charset="0"/>
                        </a:rPr>
                        <a:t>4</a:t>
                      </a:r>
                      <a:endParaRPr lang="zh-TW" altLang="en-US" sz="2000" dirty="0">
                        <a:solidFill>
                          <a:srgbClr val="0070C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980373752"/>
                  </a:ext>
                </a:extLst>
              </a:tr>
            </a:tbl>
          </a:graphicData>
        </a:graphic>
      </p:graphicFrame>
      <mc:AlternateContent xmlns:mc="http://schemas.openxmlformats.org/markup-compatibility/2006">
        <mc:Choice xmlns:a14="http://schemas.microsoft.com/office/drawing/2010/main" Requires="a14">
          <p:sp>
            <p:nvSpPr>
              <p:cNvPr id="28" name="矩形 27">
                <a:extLst>
                  <a:ext uri="{FF2B5EF4-FFF2-40B4-BE49-F238E27FC236}">
                    <a16:creationId xmlns:a16="http://schemas.microsoft.com/office/drawing/2014/main" id="{BD264284-CE0E-40B5-A4D6-0B49C1C6C7EC}"/>
                  </a:ext>
                </a:extLst>
              </p:cNvPr>
              <p:cNvSpPr/>
              <p:nvPr/>
            </p:nvSpPr>
            <p:spPr>
              <a:xfrm>
                <a:off x="1224400" y="5678901"/>
                <a:ext cx="882229"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TW" b="0" i="1" smtClean="0">
                          <a:solidFill>
                            <a:srgbClr val="0070C0"/>
                          </a:solidFill>
                          <a:latin typeface="Cambria Math" panose="02040503050406030204" pitchFamily="18" charset="0"/>
                        </a:rPr>
                        <m:t>𝑜𝑟𝑑𝑒𝑟</m:t>
                      </m:r>
                      <m:r>
                        <a:rPr lang="en-US" altLang="zh-TW" b="0" i="1" smtClean="0">
                          <a:solidFill>
                            <a:srgbClr val="0070C0"/>
                          </a:solidFill>
                          <a:latin typeface="Cambria Math" panose="02040503050406030204" pitchFamily="18" charset="0"/>
                        </a:rPr>
                        <m:t> </m:t>
                      </m:r>
                    </m:oMath>
                  </m:oMathPara>
                </a14:m>
                <a:endParaRPr lang="zh-TW" altLang="en-US" dirty="0">
                  <a:solidFill>
                    <a:srgbClr val="0070C0"/>
                  </a:solidFill>
                </a:endParaRPr>
              </a:p>
            </p:txBody>
          </p:sp>
        </mc:Choice>
        <mc:Fallback>
          <p:sp>
            <p:nvSpPr>
              <p:cNvPr id="28" name="矩形 27">
                <a:extLst>
                  <a:ext uri="{FF2B5EF4-FFF2-40B4-BE49-F238E27FC236}">
                    <a16:creationId xmlns:a16="http://schemas.microsoft.com/office/drawing/2014/main" id="{BD264284-CE0E-40B5-A4D6-0B49C1C6C7EC}"/>
                  </a:ext>
                </a:extLst>
              </p:cNvPr>
              <p:cNvSpPr>
                <a:spLocks noRot="1" noChangeAspect="1" noMove="1" noResize="1" noEditPoints="1" noAdjustHandles="1" noChangeArrowheads="1" noChangeShapeType="1" noTextEdit="1"/>
              </p:cNvSpPr>
              <p:nvPr/>
            </p:nvSpPr>
            <p:spPr>
              <a:xfrm>
                <a:off x="1224400" y="5678901"/>
                <a:ext cx="882229" cy="369332"/>
              </a:xfrm>
              <a:prstGeom prst="rect">
                <a:avLst/>
              </a:prstGeom>
              <a:blipFill>
                <a:blip r:embed="rId11"/>
                <a:stretch>
                  <a:fillRect/>
                </a:stretch>
              </a:blipFill>
            </p:spPr>
            <p:txBody>
              <a:bodyPr/>
              <a:lstStyle/>
              <a:p>
                <a:r>
                  <a:rPr lang="zh-TW" altLang="en-US">
                    <a:noFill/>
                  </a:rPr>
                  <a:t> </a:t>
                </a:r>
              </a:p>
            </p:txBody>
          </p:sp>
        </mc:Fallback>
      </mc:AlternateContent>
      <p:graphicFrame>
        <p:nvGraphicFramePr>
          <p:cNvPr id="29" name="表格 28">
            <a:extLst>
              <a:ext uri="{FF2B5EF4-FFF2-40B4-BE49-F238E27FC236}">
                <a16:creationId xmlns:a16="http://schemas.microsoft.com/office/drawing/2014/main" id="{C730651E-E2A2-4160-8B93-BAE0D0A7E120}"/>
              </a:ext>
            </a:extLst>
          </p:cNvPr>
          <p:cNvGraphicFramePr>
            <a:graphicFrameLocks noGrp="1"/>
          </p:cNvGraphicFramePr>
          <p:nvPr>
            <p:extLst>
              <p:ext uri="{D42A27DB-BD31-4B8C-83A1-F6EECF244321}">
                <p14:modId xmlns:p14="http://schemas.microsoft.com/office/powerpoint/2010/main" val="2663958183"/>
              </p:ext>
            </p:extLst>
          </p:nvPr>
        </p:nvGraphicFramePr>
        <p:xfrm>
          <a:off x="1962150" y="5665447"/>
          <a:ext cx="2700000" cy="396240"/>
        </p:xfrm>
        <a:graphic>
          <a:graphicData uri="http://schemas.openxmlformats.org/drawingml/2006/table">
            <a:tbl>
              <a:tblPr firstRow="1" bandRow="1">
                <a:tableStyleId>{5940675A-B579-460E-94D1-54222C63F5DA}</a:tableStyleId>
              </a:tblPr>
              <a:tblGrid>
                <a:gridCol w="540000">
                  <a:extLst>
                    <a:ext uri="{9D8B030D-6E8A-4147-A177-3AD203B41FA5}">
                      <a16:colId xmlns:a16="http://schemas.microsoft.com/office/drawing/2014/main" val="1214256893"/>
                    </a:ext>
                  </a:extLst>
                </a:gridCol>
                <a:gridCol w="540000">
                  <a:extLst>
                    <a:ext uri="{9D8B030D-6E8A-4147-A177-3AD203B41FA5}">
                      <a16:colId xmlns:a16="http://schemas.microsoft.com/office/drawing/2014/main" val="2185945537"/>
                    </a:ext>
                  </a:extLst>
                </a:gridCol>
                <a:gridCol w="540000">
                  <a:extLst>
                    <a:ext uri="{9D8B030D-6E8A-4147-A177-3AD203B41FA5}">
                      <a16:colId xmlns:a16="http://schemas.microsoft.com/office/drawing/2014/main" val="2888216586"/>
                    </a:ext>
                  </a:extLst>
                </a:gridCol>
                <a:gridCol w="540000">
                  <a:extLst>
                    <a:ext uri="{9D8B030D-6E8A-4147-A177-3AD203B41FA5}">
                      <a16:colId xmlns:a16="http://schemas.microsoft.com/office/drawing/2014/main" val="998630240"/>
                    </a:ext>
                  </a:extLst>
                </a:gridCol>
                <a:gridCol w="540000">
                  <a:extLst>
                    <a:ext uri="{9D8B030D-6E8A-4147-A177-3AD203B41FA5}">
                      <a16:colId xmlns:a16="http://schemas.microsoft.com/office/drawing/2014/main" val="3620064634"/>
                    </a:ext>
                  </a:extLst>
                </a:gridCol>
              </a:tblGrid>
              <a:tr h="229371">
                <a:tc>
                  <a:txBody>
                    <a:bodyPr/>
                    <a:lstStyle/>
                    <a:p>
                      <a:pPr algn="ctr"/>
                      <a:r>
                        <a:rPr lang="en-US" altLang="zh-TW" sz="2000" dirty="0">
                          <a:solidFill>
                            <a:srgbClr val="0070C0"/>
                          </a:solidFill>
                          <a:latin typeface="Times New Roman" panose="02020603050405020304" pitchFamily="18" charset="0"/>
                          <a:cs typeface="Times New Roman" panose="02020603050405020304" pitchFamily="18" charset="0"/>
                        </a:rPr>
                        <a:t>1</a:t>
                      </a:r>
                      <a:endParaRPr lang="zh-TW" altLang="en-US" sz="2000" dirty="0">
                        <a:solidFill>
                          <a:srgbClr val="0070C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000" dirty="0">
                          <a:solidFill>
                            <a:srgbClr val="0070C0"/>
                          </a:solidFill>
                          <a:latin typeface="Times New Roman" panose="02020603050405020304" pitchFamily="18" charset="0"/>
                          <a:cs typeface="Times New Roman" panose="02020603050405020304" pitchFamily="18" charset="0"/>
                        </a:rPr>
                        <a:t>3</a:t>
                      </a:r>
                      <a:endParaRPr lang="zh-TW" altLang="en-US" sz="2000" dirty="0">
                        <a:solidFill>
                          <a:srgbClr val="0070C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000" dirty="0">
                          <a:solidFill>
                            <a:srgbClr val="0070C0"/>
                          </a:solidFill>
                          <a:latin typeface="Times New Roman" panose="02020603050405020304" pitchFamily="18" charset="0"/>
                          <a:cs typeface="Times New Roman" panose="02020603050405020304" pitchFamily="18" charset="0"/>
                        </a:rPr>
                        <a:t>5</a:t>
                      </a:r>
                      <a:endParaRPr lang="zh-TW" altLang="en-US" sz="2000" dirty="0">
                        <a:solidFill>
                          <a:srgbClr val="0070C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000" dirty="0">
                          <a:solidFill>
                            <a:srgbClr val="0070C0"/>
                          </a:solidFill>
                          <a:latin typeface="Times New Roman" panose="02020603050405020304" pitchFamily="18" charset="0"/>
                          <a:cs typeface="Times New Roman" panose="02020603050405020304" pitchFamily="18" charset="0"/>
                        </a:rPr>
                        <a:t>2</a:t>
                      </a:r>
                      <a:endParaRPr lang="zh-TW" altLang="en-US" sz="2000" dirty="0">
                        <a:solidFill>
                          <a:srgbClr val="0070C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000" dirty="0">
                          <a:solidFill>
                            <a:srgbClr val="0070C0"/>
                          </a:solidFill>
                          <a:latin typeface="Times New Roman" panose="02020603050405020304" pitchFamily="18" charset="0"/>
                          <a:cs typeface="Times New Roman" panose="02020603050405020304" pitchFamily="18" charset="0"/>
                        </a:rPr>
                        <a:t>4</a:t>
                      </a:r>
                      <a:endParaRPr lang="zh-TW" altLang="en-US" sz="2000" dirty="0">
                        <a:solidFill>
                          <a:srgbClr val="0070C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980373752"/>
                  </a:ext>
                </a:extLst>
              </a:tr>
            </a:tbl>
          </a:graphicData>
        </a:graphic>
      </p:graphicFrame>
      <mc:AlternateContent xmlns:mc="http://schemas.openxmlformats.org/markup-compatibility/2006">
        <mc:Choice xmlns:a14="http://schemas.microsoft.com/office/drawing/2010/main" Requires="a14">
          <p:sp>
            <p:nvSpPr>
              <p:cNvPr id="30" name="矩形 29">
                <a:extLst>
                  <a:ext uri="{FF2B5EF4-FFF2-40B4-BE49-F238E27FC236}">
                    <a16:creationId xmlns:a16="http://schemas.microsoft.com/office/drawing/2014/main" id="{71E455E7-F4A0-4E75-9F89-264B328CCBA8}"/>
                  </a:ext>
                </a:extLst>
              </p:cNvPr>
              <p:cNvSpPr/>
              <p:nvPr/>
            </p:nvSpPr>
            <p:spPr>
              <a:xfrm>
                <a:off x="5973553" y="4320739"/>
                <a:ext cx="540533"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TW" sz="2400" b="0" i="1" smtClean="0">
                          <a:solidFill>
                            <a:srgbClr val="FF0000"/>
                          </a:solidFill>
                          <a:latin typeface="Cambria Math" panose="02040503050406030204" pitchFamily="18" charset="0"/>
                        </a:rPr>
                        <m:t>× </m:t>
                      </m:r>
                    </m:oMath>
                  </m:oMathPara>
                </a14:m>
                <a:endParaRPr lang="zh-TW" altLang="en-US" sz="2400" dirty="0">
                  <a:solidFill>
                    <a:srgbClr val="FF0000"/>
                  </a:solidFill>
                </a:endParaRPr>
              </a:p>
            </p:txBody>
          </p:sp>
        </mc:Choice>
        <mc:Fallback>
          <p:sp>
            <p:nvSpPr>
              <p:cNvPr id="30" name="矩形 29">
                <a:extLst>
                  <a:ext uri="{FF2B5EF4-FFF2-40B4-BE49-F238E27FC236}">
                    <a16:creationId xmlns:a16="http://schemas.microsoft.com/office/drawing/2014/main" id="{71E455E7-F4A0-4E75-9F89-264B328CCBA8}"/>
                  </a:ext>
                </a:extLst>
              </p:cNvPr>
              <p:cNvSpPr>
                <a:spLocks noRot="1" noChangeAspect="1" noMove="1" noResize="1" noEditPoints="1" noAdjustHandles="1" noChangeArrowheads="1" noChangeShapeType="1" noTextEdit="1"/>
              </p:cNvSpPr>
              <p:nvPr/>
            </p:nvSpPr>
            <p:spPr>
              <a:xfrm>
                <a:off x="5973553" y="4320739"/>
                <a:ext cx="540533" cy="461665"/>
              </a:xfrm>
              <a:prstGeom prst="rect">
                <a:avLst/>
              </a:prstGeom>
              <a:blipFill>
                <a:blip r:embed="rId12"/>
                <a:stretch>
                  <a:fillRect/>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31" name="矩形 30">
                <a:extLst>
                  <a:ext uri="{FF2B5EF4-FFF2-40B4-BE49-F238E27FC236}">
                    <a16:creationId xmlns:a16="http://schemas.microsoft.com/office/drawing/2014/main" id="{86D1F774-4F37-43E9-827E-974328DE3B81}"/>
                  </a:ext>
                </a:extLst>
              </p:cNvPr>
              <p:cNvSpPr/>
              <p:nvPr/>
            </p:nvSpPr>
            <p:spPr>
              <a:xfrm>
                <a:off x="5973553" y="5366216"/>
                <a:ext cx="540533"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TW" b="0" i="1" smtClean="0">
                          <a:solidFill>
                            <a:srgbClr val="FF0000"/>
                          </a:solidFill>
                          <a:latin typeface="Cambria Math" panose="02040503050406030204" pitchFamily="18" charset="0"/>
                        </a:rPr>
                        <m:t>◯ </m:t>
                      </m:r>
                    </m:oMath>
                  </m:oMathPara>
                </a14:m>
                <a:endParaRPr lang="zh-TW" altLang="en-US" dirty="0">
                  <a:solidFill>
                    <a:srgbClr val="FF0000"/>
                  </a:solidFill>
                </a:endParaRPr>
              </a:p>
            </p:txBody>
          </p:sp>
        </mc:Choice>
        <mc:Fallback>
          <p:sp>
            <p:nvSpPr>
              <p:cNvPr id="31" name="矩形 30">
                <a:extLst>
                  <a:ext uri="{FF2B5EF4-FFF2-40B4-BE49-F238E27FC236}">
                    <a16:creationId xmlns:a16="http://schemas.microsoft.com/office/drawing/2014/main" id="{86D1F774-4F37-43E9-827E-974328DE3B81}"/>
                  </a:ext>
                </a:extLst>
              </p:cNvPr>
              <p:cNvSpPr>
                <a:spLocks noRot="1" noChangeAspect="1" noMove="1" noResize="1" noEditPoints="1" noAdjustHandles="1" noChangeArrowheads="1" noChangeShapeType="1" noTextEdit="1"/>
              </p:cNvSpPr>
              <p:nvPr/>
            </p:nvSpPr>
            <p:spPr>
              <a:xfrm>
                <a:off x="5973553" y="5366216"/>
                <a:ext cx="540533" cy="369332"/>
              </a:xfrm>
              <a:prstGeom prst="rect">
                <a:avLst/>
              </a:prstGeom>
              <a:blipFill>
                <a:blip r:embed="rId13"/>
                <a:stretch>
                  <a:fillRect b="-8197"/>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10198138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fade">
                                      <p:cBhvr>
                                        <p:cTn id="7" dur="500"/>
                                        <p:tgtEl>
                                          <p:spTgt spid="26"/>
                                        </p:tgtEl>
                                      </p:cBhvr>
                                    </p:animEffect>
                                  </p:childTnLst>
                                </p:cTn>
                              </p:par>
                              <p:par>
                                <p:cTn id="8" presetID="10" presetClass="entr" presetSubtype="0" fill="hold"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fade">
                                      <p:cBhvr>
                                        <p:cTn id="10" dur="500"/>
                                        <p:tgtEl>
                                          <p:spTgt spid="27"/>
                                        </p:tgtEl>
                                      </p:cBhvr>
                                    </p:animEffect>
                                  </p:childTnLst>
                                </p:cTn>
                              </p:par>
                            </p:childTnLst>
                          </p:cTn>
                        </p:par>
                        <p:par>
                          <p:cTn id="11" fill="hold">
                            <p:stCondLst>
                              <p:cond delay="500"/>
                            </p:stCondLst>
                            <p:childTnLst>
                              <p:par>
                                <p:cTn id="12" presetID="10" presetClass="entr" presetSubtype="0" fill="hold" grpId="0" nodeType="afterEffect">
                                  <p:stCondLst>
                                    <p:cond delay="0"/>
                                  </p:stCondLst>
                                  <p:childTnLst>
                                    <p:set>
                                      <p:cBhvr>
                                        <p:cTn id="13" dur="1" fill="hold">
                                          <p:stCondLst>
                                            <p:cond delay="0"/>
                                          </p:stCondLst>
                                        </p:cTn>
                                        <p:tgtEl>
                                          <p:spTgt spid="21"/>
                                        </p:tgtEl>
                                        <p:attrNameLst>
                                          <p:attrName>style.visibility</p:attrName>
                                        </p:attrNameLst>
                                      </p:cBhvr>
                                      <p:to>
                                        <p:strVal val="visible"/>
                                      </p:to>
                                    </p:set>
                                    <p:animEffect transition="in" filter="fade">
                                      <p:cBhvr>
                                        <p:cTn id="14" dur="500"/>
                                        <p:tgtEl>
                                          <p:spTgt spid="21"/>
                                        </p:tgtEl>
                                      </p:cBhvr>
                                    </p:animEffect>
                                  </p:childTnLst>
                                </p:cTn>
                              </p:par>
                              <p:par>
                                <p:cTn id="15" presetID="10" presetClass="entr" presetSubtype="0" fill="hold" nodeType="withEffect">
                                  <p:stCondLst>
                                    <p:cond delay="0"/>
                                  </p:stCondLst>
                                  <p:childTnLst>
                                    <p:set>
                                      <p:cBhvr>
                                        <p:cTn id="16" dur="1" fill="hold">
                                          <p:stCondLst>
                                            <p:cond delay="0"/>
                                          </p:stCondLst>
                                        </p:cTn>
                                        <p:tgtEl>
                                          <p:spTgt spid="22"/>
                                        </p:tgtEl>
                                        <p:attrNameLst>
                                          <p:attrName>style.visibility</p:attrName>
                                        </p:attrNameLst>
                                      </p:cBhvr>
                                      <p:to>
                                        <p:strVal val="visible"/>
                                      </p:to>
                                    </p:set>
                                    <p:animEffect transition="in" filter="fade">
                                      <p:cBhvr>
                                        <p:cTn id="17" dur="500"/>
                                        <p:tgtEl>
                                          <p:spTgt spid="22"/>
                                        </p:tgtEl>
                                      </p:cBhvr>
                                    </p:animEffect>
                                  </p:childTnLst>
                                </p:cTn>
                              </p:par>
                            </p:childTnLst>
                          </p:cTn>
                        </p:par>
                        <p:par>
                          <p:cTn id="18" fill="hold">
                            <p:stCondLst>
                              <p:cond delay="1000"/>
                            </p:stCondLst>
                            <p:childTnLst>
                              <p:par>
                                <p:cTn id="19" presetID="10" presetClass="entr" presetSubtype="0" fill="hold" grpId="0" nodeType="afterEffect">
                                  <p:stCondLst>
                                    <p:cond delay="0"/>
                                  </p:stCondLst>
                                  <p:childTnLst>
                                    <p:set>
                                      <p:cBhvr>
                                        <p:cTn id="20" dur="1" fill="hold">
                                          <p:stCondLst>
                                            <p:cond delay="0"/>
                                          </p:stCondLst>
                                        </p:cTn>
                                        <p:tgtEl>
                                          <p:spTgt spid="28"/>
                                        </p:tgtEl>
                                        <p:attrNameLst>
                                          <p:attrName>style.visibility</p:attrName>
                                        </p:attrNameLst>
                                      </p:cBhvr>
                                      <p:to>
                                        <p:strVal val="visible"/>
                                      </p:to>
                                    </p:set>
                                    <p:animEffect transition="in" filter="fade">
                                      <p:cBhvr>
                                        <p:cTn id="21" dur="500"/>
                                        <p:tgtEl>
                                          <p:spTgt spid="28"/>
                                        </p:tgtEl>
                                      </p:cBhvr>
                                    </p:animEffect>
                                  </p:childTnLst>
                                </p:cTn>
                              </p:par>
                              <p:par>
                                <p:cTn id="22" presetID="10" presetClass="entr" presetSubtype="0" fill="hold" nodeType="withEffect">
                                  <p:stCondLst>
                                    <p:cond delay="0"/>
                                  </p:stCondLst>
                                  <p:childTnLst>
                                    <p:set>
                                      <p:cBhvr>
                                        <p:cTn id="23" dur="1" fill="hold">
                                          <p:stCondLst>
                                            <p:cond delay="0"/>
                                          </p:stCondLst>
                                        </p:cTn>
                                        <p:tgtEl>
                                          <p:spTgt spid="29"/>
                                        </p:tgtEl>
                                        <p:attrNameLst>
                                          <p:attrName>style.visibility</p:attrName>
                                        </p:attrNameLst>
                                      </p:cBhvr>
                                      <p:to>
                                        <p:strVal val="visible"/>
                                      </p:to>
                                    </p:set>
                                    <p:animEffect transition="in" filter="fade">
                                      <p:cBhvr>
                                        <p:cTn id="24" dur="500"/>
                                        <p:tgtEl>
                                          <p:spTgt spid="29"/>
                                        </p:tgtEl>
                                      </p:cBhvr>
                                    </p:animEffect>
                                  </p:childTnLst>
                                </p:cTn>
                              </p:par>
                            </p:childTnLst>
                          </p:cTn>
                        </p:par>
                        <p:par>
                          <p:cTn id="25" fill="hold">
                            <p:stCondLst>
                              <p:cond delay="1500"/>
                            </p:stCondLst>
                            <p:childTnLst>
                              <p:par>
                                <p:cTn id="26" presetID="10" presetClass="entr" presetSubtype="0" fill="hold" grpId="0" nodeType="afterEffect">
                                  <p:stCondLst>
                                    <p:cond delay="0"/>
                                  </p:stCondLst>
                                  <p:childTnLst>
                                    <p:set>
                                      <p:cBhvr>
                                        <p:cTn id="27" dur="1" fill="hold">
                                          <p:stCondLst>
                                            <p:cond delay="0"/>
                                          </p:stCondLst>
                                        </p:cTn>
                                        <p:tgtEl>
                                          <p:spTgt spid="30"/>
                                        </p:tgtEl>
                                        <p:attrNameLst>
                                          <p:attrName>style.visibility</p:attrName>
                                        </p:attrNameLst>
                                      </p:cBhvr>
                                      <p:to>
                                        <p:strVal val="visible"/>
                                      </p:to>
                                    </p:set>
                                    <p:animEffect transition="in" filter="fade">
                                      <p:cBhvr>
                                        <p:cTn id="28" dur="500"/>
                                        <p:tgtEl>
                                          <p:spTgt spid="30"/>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31"/>
                                        </p:tgtEl>
                                        <p:attrNameLst>
                                          <p:attrName>style.visibility</p:attrName>
                                        </p:attrNameLst>
                                      </p:cBhvr>
                                      <p:to>
                                        <p:strVal val="visible"/>
                                      </p:to>
                                    </p:set>
                                    <p:animEffect transition="in" filter="fade">
                                      <p:cBhvr>
                                        <p:cTn id="31"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P spid="26" grpId="0"/>
      <p:bldP spid="28" grpId="0"/>
      <p:bldP spid="30" grpId="0"/>
      <p:bldP spid="31"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a:extLst>
              <a:ext uri="{FF2B5EF4-FFF2-40B4-BE49-F238E27FC236}">
                <a16:creationId xmlns:a16="http://schemas.microsoft.com/office/drawing/2014/main" id="{01482047-C5BA-4C14-A83E-65B7E095C8D6}"/>
              </a:ext>
            </a:extLst>
          </p:cNvPr>
          <p:cNvSpPr>
            <a:spLocks noGrp="1"/>
          </p:cNvSpPr>
          <p:nvPr>
            <p:ph type="sldNum" sz="quarter" idx="12"/>
          </p:nvPr>
        </p:nvSpPr>
        <p:spPr/>
        <p:txBody>
          <a:bodyPr/>
          <a:lstStyle/>
          <a:p>
            <a:fld id="{872633CA-77E0-4863-94F8-E28139DFB2B4}" type="slidenum">
              <a:rPr lang="zh-TW" altLang="en-US" smtClean="0"/>
              <a:t>12</a:t>
            </a:fld>
            <a:endParaRPr lang="zh-TW" altLang="en-US"/>
          </a:p>
        </p:txBody>
      </p:sp>
      <p:sp>
        <p:nvSpPr>
          <p:cNvPr id="15" name="標題 1">
            <a:extLst>
              <a:ext uri="{FF2B5EF4-FFF2-40B4-BE49-F238E27FC236}">
                <a16:creationId xmlns:a16="http://schemas.microsoft.com/office/drawing/2014/main" id="{A9990B6E-C32F-4A96-940B-453E868CF6E8}"/>
              </a:ext>
            </a:extLst>
          </p:cNvPr>
          <p:cNvSpPr txBox="1">
            <a:spLocks/>
          </p:cNvSpPr>
          <p:nvPr/>
        </p:nvSpPr>
        <p:spPr>
          <a:xfrm>
            <a:off x="402232" y="305355"/>
            <a:ext cx="7886700" cy="74281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TW" sz="3600" dirty="0">
                <a:latin typeface="Times New Roman" panose="02020603050405020304" pitchFamily="18" charset="0"/>
                <a:cs typeface="Times New Roman" panose="02020603050405020304" pitchFamily="18" charset="0"/>
              </a:rPr>
              <a:t>Verification</a:t>
            </a:r>
            <a:endParaRPr lang="zh-TW" altLang="en-US" sz="3600" dirty="0">
              <a:latin typeface="Times New Roman" panose="02020603050405020304" pitchFamily="18"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17" name="矩形 16">
                <a:extLst>
                  <a:ext uri="{FF2B5EF4-FFF2-40B4-BE49-F238E27FC236}">
                    <a16:creationId xmlns:a16="http://schemas.microsoft.com/office/drawing/2014/main" id="{CD2A594C-2F00-4EE6-9EB0-117C4925313E}"/>
                  </a:ext>
                </a:extLst>
              </p:cNvPr>
              <p:cNvSpPr/>
              <p:nvPr/>
            </p:nvSpPr>
            <p:spPr>
              <a:xfrm>
                <a:off x="402232" y="1308332"/>
                <a:ext cx="5179418" cy="461665"/>
              </a:xfrm>
              <a:prstGeom prst="rect">
                <a:avLst/>
              </a:prstGeom>
            </p:spPr>
            <p:txBody>
              <a:bodyPr wrap="square">
                <a:spAutoFit/>
              </a:bodyPr>
              <a:lstStyle/>
              <a:p>
                <a:r>
                  <a:rPr lang="en-US" altLang="zh-TW" sz="2400" dirty="0">
                    <a:latin typeface="Times New Roman" panose="02020603050405020304" pitchFamily="18" charset="0"/>
                  </a:rPr>
                  <a:t>①</a:t>
                </a:r>
                <a:r>
                  <a:rPr lang="en-US" altLang="zh-TW" sz="2400" dirty="0">
                    <a:solidFill>
                      <a:srgbClr val="0070C0"/>
                    </a:solidFill>
                    <a:latin typeface="Times New Roman" panose="02020603050405020304" pitchFamily="18" charset="0"/>
                  </a:rPr>
                  <a:t> </a:t>
                </a:r>
                <a:r>
                  <a:rPr lang="en-US" altLang="zh-TW" sz="2400" dirty="0">
                    <a:latin typeface="Times New Roman" panose="02020603050405020304" pitchFamily="18" charset="0"/>
                  </a:rPr>
                  <a:t>build table </a:t>
                </a:r>
                <a14:m>
                  <m:oMath xmlns:m="http://schemas.openxmlformats.org/officeDocument/2006/math">
                    <m:r>
                      <a:rPr lang="en-US" altLang="zh-TW" sz="2400" i="1" dirty="0" smtClean="0">
                        <a:latin typeface="Cambria Math" panose="02040503050406030204" pitchFamily="18" charset="0"/>
                      </a:rPr>
                      <m:t>𝑟</m:t>
                    </m:r>
                  </m:oMath>
                </a14:m>
                <a:r>
                  <a:rPr lang="en-US" altLang="zh-TW" sz="2400" dirty="0">
                    <a:latin typeface="Times New Roman" panose="02020603050405020304" pitchFamily="18" charset="0"/>
                  </a:rPr>
                  <a:t> for sorted pattern </a:t>
                </a:r>
                <a14:m>
                  <m:oMath xmlns:m="http://schemas.openxmlformats.org/officeDocument/2006/math">
                    <m:r>
                      <a:rPr lang="en-US" altLang="zh-TW" sz="2400" i="1" dirty="0" smtClean="0">
                        <a:latin typeface="Cambria Math" panose="02040503050406030204" pitchFamily="18" charset="0"/>
                      </a:rPr>
                      <m:t>𝑃</m:t>
                    </m:r>
                  </m:oMath>
                </a14:m>
                <a:endParaRPr lang="zh-TW" altLang="en-US" sz="2400" dirty="0">
                  <a:latin typeface="Times New Roman" panose="02020603050405020304" pitchFamily="18" charset="0"/>
                </a:endParaRPr>
              </a:p>
            </p:txBody>
          </p:sp>
        </mc:Choice>
        <mc:Fallback>
          <p:sp>
            <p:nvSpPr>
              <p:cNvPr id="17" name="矩形 16">
                <a:extLst>
                  <a:ext uri="{FF2B5EF4-FFF2-40B4-BE49-F238E27FC236}">
                    <a16:creationId xmlns:a16="http://schemas.microsoft.com/office/drawing/2014/main" id="{CD2A594C-2F00-4EE6-9EB0-117C4925313E}"/>
                  </a:ext>
                </a:extLst>
              </p:cNvPr>
              <p:cNvSpPr>
                <a:spLocks noRot="1" noChangeAspect="1" noMove="1" noResize="1" noEditPoints="1" noAdjustHandles="1" noChangeArrowheads="1" noChangeShapeType="1" noTextEdit="1"/>
              </p:cNvSpPr>
              <p:nvPr/>
            </p:nvSpPr>
            <p:spPr>
              <a:xfrm>
                <a:off x="402232" y="1308332"/>
                <a:ext cx="5179418" cy="461665"/>
              </a:xfrm>
              <a:prstGeom prst="rect">
                <a:avLst/>
              </a:prstGeom>
              <a:blipFill>
                <a:blip r:embed="rId3"/>
                <a:stretch>
                  <a:fillRect l="-1882" t="-10667" b="-30667"/>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graphicFrame>
            <p:nvGraphicFramePr>
              <p:cNvPr id="12" name="表格 11">
                <a:extLst>
                  <a:ext uri="{FF2B5EF4-FFF2-40B4-BE49-F238E27FC236}">
                    <a16:creationId xmlns:a16="http://schemas.microsoft.com/office/drawing/2014/main" id="{DC87DD96-6F4F-4B4C-81AD-844C518AFD66}"/>
                  </a:ext>
                </a:extLst>
              </p:cNvPr>
              <p:cNvGraphicFramePr>
                <a:graphicFrameLocks noGrp="1"/>
              </p:cNvGraphicFramePr>
              <p:nvPr>
                <p:extLst/>
              </p:nvPr>
            </p:nvGraphicFramePr>
            <p:xfrm>
              <a:off x="3901213" y="461844"/>
              <a:ext cx="3240000" cy="518160"/>
            </p:xfrm>
            <a:graphic>
              <a:graphicData uri="http://schemas.openxmlformats.org/drawingml/2006/table">
                <a:tbl>
                  <a:tblPr firstRow="1" bandRow="1">
                    <a:tableStyleId>{5940675A-B579-460E-94D1-54222C63F5DA}</a:tableStyleId>
                  </a:tblPr>
                  <a:tblGrid>
                    <a:gridCol w="540000">
                      <a:extLst>
                        <a:ext uri="{9D8B030D-6E8A-4147-A177-3AD203B41FA5}">
                          <a16:colId xmlns:a16="http://schemas.microsoft.com/office/drawing/2014/main" val="106444939"/>
                        </a:ext>
                      </a:extLst>
                    </a:gridCol>
                    <a:gridCol w="540000">
                      <a:extLst>
                        <a:ext uri="{9D8B030D-6E8A-4147-A177-3AD203B41FA5}">
                          <a16:colId xmlns:a16="http://schemas.microsoft.com/office/drawing/2014/main" val="3965888546"/>
                        </a:ext>
                      </a:extLst>
                    </a:gridCol>
                    <a:gridCol w="540000">
                      <a:extLst>
                        <a:ext uri="{9D8B030D-6E8A-4147-A177-3AD203B41FA5}">
                          <a16:colId xmlns:a16="http://schemas.microsoft.com/office/drawing/2014/main" val="82904498"/>
                        </a:ext>
                      </a:extLst>
                    </a:gridCol>
                    <a:gridCol w="540000">
                      <a:extLst>
                        <a:ext uri="{9D8B030D-6E8A-4147-A177-3AD203B41FA5}">
                          <a16:colId xmlns:a16="http://schemas.microsoft.com/office/drawing/2014/main" val="2214715668"/>
                        </a:ext>
                      </a:extLst>
                    </a:gridCol>
                    <a:gridCol w="540000">
                      <a:extLst>
                        <a:ext uri="{9D8B030D-6E8A-4147-A177-3AD203B41FA5}">
                          <a16:colId xmlns:a16="http://schemas.microsoft.com/office/drawing/2014/main" val="777121050"/>
                        </a:ext>
                      </a:extLst>
                    </a:gridCol>
                    <a:gridCol w="540000">
                      <a:extLst>
                        <a:ext uri="{9D8B030D-6E8A-4147-A177-3AD203B41FA5}">
                          <a16:colId xmlns:a16="http://schemas.microsoft.com/office/drawing/2014/main" val="2140332791"/>
                        </a:ext>
                      </a:extLst>
                    </a:gridCol>
                  </a:tblGrid>
                  <a:tr h="229371">
                    <a:tc>
                      <a:txBody>
                        <a:bodyPr/>
                        <a:lstStyle/>
                        <a:p>
                          <a:pPr algn="ctr"/>
                          <a14:m>
                            <m:oMath xmlns:m="http://schemas.openxmlformats.org/officeDocument/2006/math">
                              <m:r>
                                <a:rPr lang="en-US" altLang="zh-TW" sz="2800" b="0" i="1" dirty="0" smtClean="0">
                                  <a:solidFill>
                                    <a:srgbClr val="002060"/>
                                  </a:solidFill>
                                  <a:latin typeface="Cambria Math" panose="02040503050406030204" pitchFamily="18" charset="0"/>
                                  <a:cs typeface="Times New Roman" panose="02020603050405020304" pitchFamily="18" charset="0"/>
                                </a:rPr>
                                <m:t>𝑃</m:t>
                              </m:r>
                            </m:oMath>
                          </a14:m>
                          <a:r>
                            <a:rPr lang="en-US" altLang="zh-TW" sz="2800" dirty="0">
                              <a:solidFill>
                                <a:srgbClr val="002060"/>
                              </a:solidFill>
                              <a:latin typeface="Times New Roman" panose="02020603050405020304" pitchFamily="18" charset="0"/>
                              <a:cs typeface="Times New Roman" panose="02020603050405020304" pitchFamily="18" charset="0"/>
                            </a:rPr>
                            <a: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2</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6</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10</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4</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8</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706415246"/>
                      </a:ext>
                    </a:extLst>
                  </a:tr>
                </a:tbl>
              </a:graphicData>
            </a:graphic>
          </p:graphicFrame>
        </mc:Choice>
        <mc:Fallback>
          <p:graphicFrame>
            <p:nvGraphicFramePr>
              <p:cNvPr id="12" name="表格 11">
                <a:extLst>
                  <a:ext uri="{FF2B5EF4-FFF2-40B4-BE49-F238E27FC236}">
                    <a16:creationId xmlns:a16="http://schemas.microsoft.com/office/drawing/2014/main" id="{DC87DD96-6F4F-4B4C-81AD-844C518AFD66}"/>
                  </a:ext>
                </a:extLst>
              </p:cNvPr>
              <p:cNvGraphicFramePr>
                <a:graphicFrameLocks noGrp="1"/>
              </p:cNvGraphicFramePr>
              <p:nvPr>
                <p:extLst/>
              </p:nvPr>
            </p:nvGraphicFramePr>
            <p:xfrm>
              <a:off x="3901213" y="461844"/>
              <a:ext cx="3240000" cy="518160"/>
            </p:xfrm>
            <a:graphic>
              <a:graphicData uri="http://schemas.openxmlformats.org/drawingml/2006/table">
                <a:tbl>
                  <a:tblPr firstRow="1" bandRow="1">
                    <a:tableStyleId>{5940675A-B579-460E-94D1-54222C63F5DA}</a:tableStyleId>
                  </a:tblPr>
                  <a:tblGrid>
                    <a:gridCol w="540000">
                      <a:extLst>
                        <a:ext uri="{9D8B030D-6E8A-4147-A177-3AD203B41FA5}">
                          <a16:colId xmlns:a16="http://schemas.microsoft.com/office/drawing/2014/main" val="106444939"/>
                        </a:ext>
                      </a:extLst>
                    </a:gridCol>
                    <a:gridCol w="540000">
                      <a:extLst>
                        <a:ext uri="{9D8B030D-6E8A-4147-A177-3AD203B41FA5}">
                          <a16:colId xmlns:a16="http://schemas.microsoft.com/office/drawing/2014/main" val="3965888546"/>
                        </a:ext>
                      </a:extLst>
                    </a:gridCol>
                    <a:gridCol w="540000">
                      <a:extLst>
                        <a:ext uri="{9D8B030D-6E8A-4147-A177-3AD203B41FA5}">
                          <a16:colId xmlns:a16="http://schemas.microsoft.com/office/drawing/2014/main" val="82904498"/>
                        </a:ext>
                      </a:extLst>
                    </a:gridCol>
                    <a:gridCol w="540000">
                      <a:extLst>
                        <a:ext uri="{9D8B030D-6E8A-4147-A177-3AD203B41FA5}">
                          <a16:colId xmlns:a16="http://schemas.microsoft.com/office/drawing/2014/main" val="2214715668"/>
                        </a:ext>
                      </a:extLst>
                    </a:gridCol>
                    <a:gridCol w="540000">
                      <a:extLst>
                        <a:ext uri="{9D8B030D-6E8A-4147-A177-3AD203B41FA5}">
                          <a16:colId xmlns:a16="http://schemas.microsoft.com/office/drawing/2014/main" val="777121050"/>
                        </a:ext>
                      </a:extLst>
                    </a:gridCol>
                    <a:gridCol w="540000">
                      <a:extLst>
                        <a:ext uri="{9D8B030D-6E8A-4147-A177-3AD203B41FA5}">
                          <a16:colId xmlns:a16="http://schemas.microsoft.com/office/drawing/2014/main" val="2140332791"/>
                        </a:ext>
                      </a:extLst>
                    </a:gridCol>
                  </a:tblGrid>
                  <a:tr h="518160">
                    <a:tc>
                      <a:txBody>
                        <a:bodyPr/>
                        <a:lstStyle/>
                        <a:p>
                          <a:endParaRPr lang="zh-TW"/>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blipFill>
                          <a:blip r:embed="rId4"/>
                          <a:stretch>
                            <a:fillRect t="-11628" r="-498876" b="-32558"/>
                          </a:stretch>
                        </a:blip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2</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6</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10</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4</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8</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706415246"/>
                      </a:ext>
                    </a:extLst>
                  </a:tr>
                </a:tbl>
              </a:graphicData>
            </a:graphic>
          </p:graphicFrame>
        </mc:Fallback>
      </mc:AlternateContent>
      <mc:AlternateContent xmlns:mc="http://schemas.openxmlformats.org/markup-compatibility/2006">
        <mc:Choice xmlns:a14="http://schemas.microsoft.com/office/drawing/2010/main" Requires="a14">
          <p:graphicFrame>
            <p:nvGraphicFramePr>
              <p:cNvPr id="16" name="表格 15">
                <a:extLst>
                  <a:ext uri="{FF2B5EF4-FFF2-40B4-BE49-F238E27FC236}">
                    <a16:creationId xmlns:a16="http://schemas.microsoft.com/office/drawing/2014/main" id="{44D298C2-5178-4D59-8A9C-C346D5B4238F}"/>
                  </a:ext>
                </a:extLst>
              </p:cNvPr>
              <p:cNvGraphicFramePr>
                <a:graphicFrameLocks noGrp="1"/>
              </p:cNvGraphicFramePr>
              <p:nvPr>
                <p:extLst>
                  <p:ext uri="{D42A27DB-BD31-4B8C-83A1-F6EECF244321}">
                    <p14:modId xmlns:p14="http://schemas.microsoft.com/office/powerpoint/2010/main" val="3505522297"/>
                  </p:ext>
                </p:extLst>
              </p:nvPr>
            </p:nvGraphicFramePr>
            <p:xfrm>
              <a:off x="2916000" y="2491824"/>
              <a:ext cx="3312000" cy="1210437"/>
            </p:xfrm>
            <a:graphic>
              <a:graphicData uri="http://schemas.openxmlformats.org/drawingml/2006/table">
                <a:tbl>
                  <a:tblPr firstRow="1" bandRow="1">
                    <a:tableStyleId>{5940675A-B579-460E-94D1-54222C63F5DA}</a:tableStyleId>
                  </a:tblPr>
                  <a:tblGrid>
                    <a:gridCol w="612000">
                      <a:extLst>
                        <a:ext uri="{9D8B030D-6E8A-4147-A177-3AD203B41FA5}">
                          <a16:colId xmlns:a16="http://schemas.microsoft.com/office/drawing/2014/main" val="162654532"/>
                        </a:ext>
                      </a:extLst>
                    </a:gridCol>
                    <a:gridCol w="540000">
                      <a:extLst>
                        <a:ext uri="{9D8B030D-6E8A-4147-A177-3AD203B41FA5}">
                          <a16:colId xmlns:a16="http://schemas.microsoft.com/office/drawing/2014/main" val="1214256893"/>
                        </a:ext>
                      </a:extLst>
                    </a:gridCol>
                    <a:gridCol w="540000">
                      <a:extLst>
                        <a:ext uri="{9D8B030D-6E8A-4147-A177-3AD203B41FA5}">
                          <a16:colId xmlns:a16="http://schemas.microsoft.com/office/drawing/2014/main" val="2185945537"/>
                        </a:ext>
                      </a:extLst>
                    </a:gridCol>
                    <a:gridCol w="540000">
                      <a:extLst>
                        <a:ext uri="{9D8B030D-6E8A-4147-A177-3AD203B41FA5}">
                          <a16:colId xmlns:a16="http://schemas.microsoft.com/office/drawing/2014/main" val="2888216586"/>
                        </a:ext>
                      </a:extLst>
                    </a:gridCol>
                    <a:gridCol w="540000">
                      <a:extLst>
                        <a:ext uri="{9D8B030D-6E8A-4147-A177-3AD203B41FA5}">
                          <a16:colId xmlns:a16="http://schemas.microsoft.com/office/drawing/2014/main" val="998630240"/>
                        </a:ext>
                      </a:extLst>
                    </a:gridCol>
                    <a:gridCol w="540000">
                      <a:extLst>
                        <a:ext uri="{9D8B030D-6E8A-4147-A177-3AD203B41FA5}">
                          <a16:colId xmlns:a16="http://schemas.microsoft.com/office/drawing/2014/main" val="3620064634"/>
                        </a:ext>
                      </a:extLst>
                    </a:gridCol>
                  </a:tblGrid>
                  <a:tr h="229371">
                    <a:tc>
                      <a:txBody>
                        <a:bodyPr/>
                        <a:lstStyle/>
                        <a:p>
                          <a:pPr algn="ctr"/>
                          <a14:m>
                            <m:oMathPara xmlns:m="http://schemas.openxmlformats.org/officeDocument/2006/math">
                              <m:oMathParaPr>
                                <m:jc m:val="centerGroup"/>
                              </m:oMathParaPr>
                              <m:oMath xmlns:m="http://schemas.openxmlformats.org/officeDocument/2006/math">
                                <m:r>
                                  <a:rPr lang="en-US" altLang="zh-TW" sz="2000" b="0" i="1" dirty="0" smtClean="0">
                                    <a:solidFill>
                                      <a:srgbClr val="0070C0"/>
                                    </a:solidFill>
                                    <a:latin typeface="Cambria Math" panose="02040503050406030204" pitchFamily="18" charset="0"/>
                                    <a:cs typeface="Times New Roman" panose="02020603050405020304" pitchFamily="18" charset="0"/>
                                  </a:rPr>
                                  <m:t>𝑖</m:t>
                                </m:r>
                              </m:oMath>
                            </m:oMathPara>
                          </a14:m>
                          <a:endParaRPr lang="zh-TW" altLang="en-US" sz="2000" b="0" dirty="0">
                            <a:solidFill>
                              <a:srgbClr val="0070C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rgbClr val="0070C0"/>
                              </a:solidFill>
                              <a:latin typeface="Times New Roman" panose="02020603050405020304" pitchFamily="18" charset="0"/>
                              <a:cs typeface="Times New Roman" panose="02020603050405020304" pitchFamily="18" charset="0"/>
                            </a:rPr>
                            <a:t>1</a:t>
                          </a:r>
                          <a:endParaRPr lang="zh-TW" altLang="en-US" sz="2000" dirty="0">
                            <a:solidFill>
                              <a:srgbClr val="0070C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rgbClr val="0070C0"/>
                              </a:solidFill>
                              <a:latin typeface="Times New Roman" panose="02020603050405020304" pitchFamily="18" charset="0"/>
                              <a:cs typeface="Times New Roman" panose="02020603050405020304" pitchFamily="18" charset="0"/>
                            </a:rPr>
                            <a:t>2</a:t>
                          </a:r>
                          <a:endParaRPr lang="zh-TW" altLang="en-US" sz="2000" dirty="0">
                            <a:solidFill>
                              <a:srgbClr val="0070C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rgbClr val="0070C0"/>
                              </a:solidFill>
                              <a:latin typeface="Times New Roman" panose="02020603050405020304" pitchFamily="18" charset="0"/>
                              <a:cs typeface="Times New Roman" panose="02020603050405020304" pitchFamily="18" charset="0"/>
                            </a:rPr>
                            <a:t>3</a:t>
                          </a:r>
                          <a:endParaRPr lang="zh-TW" altLang="en-US" sz="2000" dirty="0">
                            <a:solidFill>
                              <a:srgbClr val="0070C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rgbClr val="0070C0"/>
                              </a:solidFill>
                              <a:latin typeface="Times New Roman" panose="02020603050405020304" pitchFamily="18" charset="0"/>
                              <a:cs typeface="Times New Roman" panose="02020603050405020304" pitchFamily="18" charset="0"/>
                            </a:rPr>
                            <a:t>4</a:t>
                          </a:r>
                          <a:endParaRPr lang="zh-TW" altLang="en-US" sz="2000" dirty="0">
                            <a:solidFill>
                              <a:srgbClr val="0070C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rgbClr val="0070C0"/>
                              </a:solidFill>
                              <a:latin typeface="Times New Roman" panose="02020603050405020304" pitchFamily="18" charset="0"/>
                              <a:cs typeface="Times New Roman" panose="02020603050405020304" pitchFamily="18" charset="0"/>
                            </a:rPr>
                            <a:t>5</a:t>
                          </a:r>
                          <a:endParaRPr lang="zh-TW" altLang="en-US" sz="2000" dirty="0">
                            <a:solidFill>
                              <a:srgbClr val="0070C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80373752"/>
                      </a:ext>
                    </a:extLst>
                  </a:tr>
                  <a:tr h="229371">
                    <a:tc>
                      <a:txBody>
                        <a:bodyPr/>
                        <a:lstStyle/>
                        <a:p>
                          <a:pPr algn="ctr"/>
                          <a14:m>
                            <m:oMathPara xmlns:m="http://schemas.openxmlformats.org/officeDocument/2006/math">
                              <m:oMathParaPr>
                                <m:jc m:val="centerGroup"/>
                              </m:oMathParaPr>
                              <m:oMath xmlns:m="http://schemas.openxmlformats.org/officeDocument/2006/math">
                                <m:r>
                                  <a:rPr lang="en-US" altLang="zh-TW" sz="2000" b="0" i="1" dirty="0" smtClean="0">
                                    <a:solidFill>
                                      <a:srgbClr val="0070C0"/>
                                    </a:solidFill>
                                    <a:latin typeface="Cambria Math" panose="02040503050406030204" pitchFamily="18" charset="0"/>
                                    <a:cs typeface="Times New Roman" panose="02020603050405020304" pitchFamily="18" charset="0"/>
                                  </a:rPr>
                                  <m:t>𝑟</m:t>
                                </m:r>
                                <m:r>
                                  <a:rPr lang="en-US" altLang="zh-TW" sz="2000" b="0" i="1" dirty="0" smtClean="0">
                                    <a:solidFill>
                                      <a:srgbClr val="0070C0"/>
                                    </a:solidFill>
                                    <a:latin typeface="Cambria Math" panose="02040503050406030204" pitchFamily="18" charset="0"/>
                                    <a:cs typeface="Times New Roman" panose="02020603050405020304" pitchFamily="18" charset="0"/>
                                  </a:rPr>
                                  <m:t>[</m:t>
                                </m:r>
                                <m:r>
                                  <a:rPr lang="en-US" altLang="zh-TW" sz="2000" b="0" i="1" dirty="0" err="1" smtClean="0">
                                    <a:solidFill>
                                      <a:srgbClr val="0070C0"/>
                                    </a:solidFill>
                                    <a:latin typeface="Cambria Math" panose="02040503050406030204" pitchFamily="18" charset="0"/>
                                    <a:cs typeface="Times New Roman" panose="02020603050405020304" pitchFamily="18" charset="0"/>
                                  </a:rPr>
                                  <m:t>𝑖</m:t>
                                </m:r>
                                <m:r>
                                  <a:rPr lang="en-US" altLang="zh-TW" sz="2000" b="0" i="1" dirty="0" smtClean="0">
                                    <a:solidFill>
                                      <a:srgbClr val="0070C0"/>
                                    </a:solidFill>
                                    <a:latin typeface="Cambria Math" panose="02040503050406030204" pitchFamily="18" charset="0"/>
                                    <a:cs typeface="Times New Roman" panose="02020603050405020304" pitchFamily="18" charset="0"/>
                                  </a:rPr>
                                  <m:t>]</m:t>
                                </m:r>
                              </m:oMath>
                            </m:oMathPara>
                          </a14:m>
                          <a:endParaRPr lang="zh-TW" altLang="en-US" sz="2000" b="0" dirty="0">
                            <a:solidFill>
                              <a:srgbClr val="0070C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rgbClr val="0070C0"/>
                              </a:solidFill>
                              <a:latin typeface="Times New Roman" panose="02020603050405020304" pitchFamily="18" charset="0"/>
                              <a:cs typeface="Times New Roman" panose="02020603050405020304" pitchFamily="18" charset="0"/>
                            </a:rPr>
                            <a:t>1</a:t>
                          </a:r>
                          <a:endParaRPr lang="zh-TW" altLang="en-US" sz="2000" dirty="0">
                            <a:solidFill>
                              <a:srgbClr val="0070C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rgbClr val="0070C0"/>
                              </a:solidFill>
                              <a:latin typeface="Times New Roman" panose="02020603050405020304" pitchFamily="18" charset="0"/>
                              <a:cs typeface="Times New Roman" panose="02020603050405020304" pitchFamily="18" charset="0"/>
                            </a:rPr>
                            <a:t>4</a:t>
                          </a:r>
                          <a:endParaRPr lang="zh-TW" altLang="en-US" sz="2000" dirty="0">
                            <a:solidFill>
                              <a:srgbClr val="0070C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rgbClr val="0070C0"/>
                              </a:solidFill>
                              <a:latin typeface="Times New Roman" panose="02020603050405020304" pitchFamily="18" charset="0"/>
                              <a:cs typeface="Times New Roman" panose="02020603050405020304" pitchFamily="18" charset="0"/>
                            </a:rPr>
                            <a:t>2</a:t>
                          </a:r>
                          <a:endParaRPr lang="zh-TW" altLang="en-US" sz="2000" dirty="0">
                            <a:solidFill>
                              <a:srgbClr val="0070C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rgbClr val="0070C0"/>
                              </a:solidFill>
                              <a:latin typeface="Times New Roman" panose="02020603050405020304" pitchFamily="18" charset="0"/>
                              <a:cs typeface="Times New Roman" panose="02020603050405020304" pitchFamily="18" charset="0"/>
                            </a:rPr>
                            <a:t>5</a:t>
                          </a:r>
                          <a:endParaRPr lang="zh-TW" altLang="en-US" sz="2000" dirty="0">
                            <a:solidFill>
                              <a:srgbClr val="0070C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rgbClr val="0070C0"/>
                              </a:solidFill>
                              <a:latin typeface="Times New Roman" panose="02020603050405020304" pitchFamily="18" charset="0"/>
                              <a:cs typeface="Times New Roman" panose="02020603050405020304" pitchFamily="18" charset="0"/>
                            </a:rPr>
                            <a:t>3</a:t>
                          </a:r>
                          <a:endParaRPr lang="zh-TW" altLang="en-US" sz="2000" dirty="0">
                            <a:solidFill>
                              <a:srgbClr val="0070C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65958278"/>
                      </a:ext>
                    </a:extLst>
                  </a:tr>
                  <a:tr h="229371">
                    <a:tc>
                      <a:txBody>
                        <a:bodyPr/>
                        <a:lstStyle/>
                        <a:p>
                          <a:pPr algn="ctr"/>
                          <a14:m>
                            <m:oMathPara xmlns:m="http://schemas.openxmlformats.org/officeDocument/2006/math">
                              <m:oMathParaPr>
                                <m:jc m:val="centerGroup"/>
                              </m:oMathParaPr>
                              <m:oMath xmlns:m="http://schemas.openxmlformats.org/officeDocument/2006/math">
                                <m:sSub>
                                  <m:sSubPr>
                                    <m:ctrlPr>
                                      <a:rPr lang="en-US" altLang="zh-TW" sz="2000" b="0" i="1" smtClean="0">
                                        <a:solidFill>
                                          <a:srgbClr val="0070C0"/>
                                        </a:solidFill>
                                        <a:latin typeface="Cambria Math" panose="02040503050406030204" pitchFamily="18" charset="0"/>
                                      </a:rPr>
                                    </m:ctrlPr>
                                  </m:sSubPr>
                                  <m:e>
                                    <m:r>
                                      <a:rPr lang="en-US" altLang="zh-TW" sz="2000" b="0" i="1" smtClean="0">
                                        <a:solidFill>
                                          <a:srgbClr val="0070C0"/>
                                        </a:solidFill>
                                        <a:latin typeface="Cambria Math" panose="02040503050406030204" pitchFamily="18" charset="0"/>
                                      </a:rPr>
                                      <m:t>𝑃</m:t>
                                    </m:r>
                                  </m:e>
                                  <m:sub>
                                    <m:r>
                                      <a:rPr lang="en-US" altLang="zh-TW" sz="2000" b="0" i="1" smtClean="0">
                                        <a:solidFill>
                                          <a:srgbClr val="0070C0"/>
                                        </a:solidFill>
                                        <a:latin typeface="Cambria Math" panose="02040503050406030204" pitchFamily="18" charset="0"/>
                                      </a:rPr>
                                      <m:t>𝑟</m:t>
                                    </m:r>
                                    <m:d>
                                      <m:dPr>
                                        <m:begChr m:val="["/>
                                        <m:endChr m:val="]"/>
                                        <m:ctrlPr>
                                          <a:rPr lang="en-US" altLang="zh-TW" sz="2000" b="0" i="1" smtClean="0">
                                            <a:solidFill>
                                              <a:srgbClr val="0070C0"/>
                                            </a:solidFill>
                                            <a:latin typeface="Cambria Math" panose="02040503050406030204" pitchFamily="18" charset="0"/>
                                          </a:rPr>
                                        </m:ctrlPr>
                                      </m:dPr>
                                      <m:e>
                                        <m:r>
                                          <a:rPr lang="en-US" altLang="zh-TW" sz="2000" b="0" i="1" smtClean="0">
                                            <a:solidFill>
                                              <a:srgbClr val="0070C0"/>
                                            </a:solidFill>
                                            <a:latin typeface="Cambria Math" panose="02040503050406030204" pitchFamily="18" charset="0"/>
                                          </a:rPr>
                                          <m:t>𝑖</m:t>
                                        </m:r>
                                      </m:e>
                                    </m:d>
                                  </m:sub>
                                </m:sSub>
                              </m:oMath>
                            </m:oMathPara>
                          </a14:m>
                          <a:endParaRPr lang="zh-TW" altLang="en-US" sz="2000" b="0" dirty="0">
                            <a:solidFill>
                              <a:srgbClr val="0070C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rgbClr val="0070C0"/>
                              </a:solidFill>
                              <a:latin typeface="Times New Roman" panose="02020603050405020304" pitchFamily="18" charset="0"/>
                              <a:cs typeface="Times New Roman" panose="02020603050405020304" pitchFamily="18" charset="0"/>
                            </a:rPr>
                            <a:t>2</a:t>
                          </a:r>
                          <a:endParaRPr lang="zh-TW" altLang="en-US" sz="2000" dirty="0">
                            <a:solidFill>
                              <a:srgbClr val="0070C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rgbClr val="0070C0"/>
                              </a:solidFill>
                              <a:latin typeface="Times New Roman" panose="02020603050405020304" pitchFamily="18" charset="0"/>
                              <a:cs typeface="Times New Roman" panose="02020603050405020304" pitchFamily="18" charset="0"/>
                            </a:rPr>
                            <a:t>4</a:t>
                          </a:r>
                          <a:endParaRPr lang="zh-TW" altLang="en-US" sz="2000" dirty="0">
                            <a:solidFill>
                              <a:srgbClr val="0070C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rgbClr val="0070C0"/>
                              </a:solidFill>
                              <a:latin typeface="Times New Roman" panose="02020603050405020304" pitchFamily="18" charset="0"/>
                              <a:cs typeface="Times New Roman" panose="02020603050405020304" pitchFamily="18" charset="0"/>
                            </a:rPr>
                            <a:t>6</a:t>
                          </a:r>
                          <a:endParaRPr lang="zh-TW" altLang="en-US" sz="2000" dirty="0">
                            <a:solidFill>
                              <a:srgbClr val="0070C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rgbClr val="0070C0"/>
                              </a:solidFill>
                              <a:latin typeface="Times New Roman" panose="02020603050405020304" pitchFamily="18" charset="0"/>
                              <a:cs typeface="Times New Roman" panose="02020603050405020304" pitchFamily="18" charset="0"/>
                            </a:rPr>
                            <a:t>8</a:t>
                          </a:r>
                          <a:endParaRPr lang="zh-TW" altLang="en-US" sz="2000" dirty="0">
                            <a:solidFill>
                              <a:srgbClr val="0070C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rgbClr val="0070C0"/>
                              </a:solidFill>
                              <a:latin typeface="Times New Roman" panose="02020603050405020304" pitchFamily="18" charset="0"/>
                              <a:cs typeface="Times New Roman" panose="02020603050405020304" pitchFamily="18" charset="0"/>
                            </a:rPr>
                            <a:t>10</a:t>
                          </a:r>
                          <a:endParaRPr lang="zh-TW" altLang="en-US" sz="2000" dirty="0">
                            <a:solidFill>
                              <a:srgbClr val="0070C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97000692"/>
                      </a:ext>
                    </a:extLst>
                  </a:tr>
                </a:tbl>
              </a:graphicData>
            </a:graphic>
          </p:graphicFrame>
        </mc:Choice>
        <mc:Fallback>
          <p:graphicFrame>
            <p:nvGraphicFramePr>
              <p:cNvPr id="16" name="表格 15">
                <a:extLst>
                  <a:ext uri="{FF2B5EF4-FFF2-40B4-BE49-F238E27FC236}">
                    <a16:creationId xmlns:a16="http://schemas.microsoft.com/office/drawing/2014/main" id="{44D298C2-5178-4D59-8A9C-C346D5B4238F}"/>
                  </a:ext>
                </a:extLst>
              </p:cNvPr>
              <p:cNvGraphicFramePr>
                <a:graphicFrameLocks noGrp="1"/>
              </p:cNvGraphicFramePr>
              <p:nvPr>
                <p:extLst>
                  <p:ext uri="{D42A27DB-BD31-4B8C-83A1-F6EECF244321}">
                    <p14:modId xmlns:p14="http://schemas.microsoft.com/office/powerpoint/2010/main" val="3505522297"/>
                  </p:ext>
                </p:extLst>
              </p:nvPr>
            </p:nvGraphicFramePr>
            <p:xfrm>
              <a:off x="2916000" y="2491824"/>
              <a:ext cx="3312000" cy="1210437"/>
            </p:xfrm>
            <a:graphic>
              <a:graphicData uri="http://schemas.openxmlformats.org/drawingml/2006/table">
                <a:tbl>
                  <a:tblPr firstRow="1" bandRow="1">
                    <a:tableStyleId>{5940675A-B579-460E-94D1-54222C63F5DA}</a:tableStyleId>
                  </a:tblPr>
                  <a:tblGrid>
                    <a:gridCol w="612000">
                      <a:extLst>
                        <a:ext uri="{9D8B030D-6E8A-4147-A177-3AD203B41FA5}">
                          <a16:colId xmlns:a16="http://schemas.microsoft.com/office/drawing/2014/main" val="162654532"/>
                        </a:ext>
                      </a:extLst>
                    </a:gridCol>
                    <a:gridCol w="540000">
                      <a:extLst>
                        <a:ext uri="{9D8B030D-6E8A-4147-A177-3AD203B41FA5}">
                          <a16:colId xmlns:a16="http://schemas.microsoft.com/office/drawing/2014/main" val="1214256893"/>
                        </a:ext>
                      </a:extLst>
                    </a:gridCol>
                    <a:gridCol w="540000">
                      <a:extLst>
                        <a:ext uri="{9D8B030D-6E8A-4147-A177-3AD203B41FA5}">
                          <a16:colId xmlns:a16="http://schemas.microsoft.com/office/drawing/2014/main" val="2185945537"/>
                        </a:ext>
                      </a:extLst>
                    </a:gridCol>
                    <a:gridCol w="540000">
                      <a:extLst>
                        <a:ext uri="{9D8B030D-6E8A-4147-A177-3AD203B41FA5}">
                          <a16:colId xmlns:a16="http://schemas.microsoft.com/office/drawing/2014/main" val="2888216586"/>
                        </a:ext>
                      </a:extLst>
                    </a:gridCol>
                    <a:gridCol w="540000">
                      <a:extLst>
                        <a:ext uri="{9D8B030D-6E8A-4147-A177-3AD203B41FA5}">
                          <a16:colId xmlns:a16="http://schemas.microsoft.com/office/drawing/2014/main" val="998630240"/>
                        </a:ext>
                      </a:extLst>
                    </a:gridCol>
                    <a:gridCol w="540000">
                      <a:extLst>
                        <a:ext uri="{9D8B030D-6E8A-4147-A177-3AD203B41FA5}">
                          <a16:colId xmlns:a16="http://schemas.microsoft.com/office/drawing/2014/main" val="3620064634"/>
                        </a:ext>
                      </a:extLst>
                    </a:gridCol>
                  </a:tblGrid>
                  <a:tr h="396240">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5"/>
                          <a:stretch>
                            <a:fillRect l="-990" t="-7692" r="-440594" b="-232308"/>
                          </a:stretch>
                        </a:blipFill>
                      </a:tcPr>
                    </a:tc>
                    <a:tc>
                      <a:txBody>
                        <a:bodyPr/>
                        <a:lstStyle/>
                        <a:p>
                          <a:pPr algn="ctr"/>
                          <a:r>
                            <a:rPr lang="en-US" altLang="zh-TW" sz="2000" dirty="0">
                              <a:solidFill>
                                <a:srgbClr val="0070C0"/>
                              </a:solidFill>
                              <a:latin typeface="Times New Roman" panose="02020603050405020304" pitchFamily="18" charset="0"/>
                              <a:cs typeface="Times New Roman" panose="02020603050405020304" pitchFamily="18" charset="0"/>
                            </a:rPr>
                            <a:t>1</a:t>
                          </a:r>
                          <a:endParaRPr lang="zh-TW" altLang="en-US" sz="2000" dirty="0">
                            <a:solidFill>
                              <a:srgbClr val="0070C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rgbClr val="0070C0"/>
                              </a:solidFill>
                              <a:latin typeface="Times New Roman" panose="02020603050405020304" pitchFamily="18" charset="0"/>
                              <a:cs typeface="Times New Roman" panose="02020603050405020304" pitchFamily="18" charset="0"/>
                            </a:rPr>
                            <a:t>2</a:t>
                          </a:r>
                          <a:endParaRPr lang="zh-TW" altLang="en-US" sz="2000" dirty="0">
                            <a:solidFill>
                              <a:srgbClr val="0070C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rgbClr val="0070C0"/>
                              </a:solidFill>
                              <a:latin typeface="Times New Roman" panose="02020603050405020304" pitchFamily="18" charset="0"/>
                              <a:cs typeface="Times New Roman" panose="02020603050405020304" pitchFamily="18" charset="0"/>
                            </a:rPr>
                            <a:t>3</a:t>
                          </a:r>
                          <a:endParaRPr lang="zh-TW" altLang="en-US" sz="2000" dirty="0">
                            <a:solidFill>
                              <a:srgbClr val="0070C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rgbClr val="0070C0"/>
                              </a:solidFill>
                              <a:latin typeface="Times New Roman" panose="02020603050405020304" pitchFamily="18" charset="0"/>
                              <a:cs typeface="Times New Roman" panose="02020603050405020304" pitchFamily="18" charset="0"/>
                            </a:rPr>
                            <a:t>4</a:t>
                          </a:r>
                          <a:endParaRPr lang="zh-TW" altLang="en-US" sz="2000" dirty="0">
                            <a:solidFill>
                              <a:srgbClr val="0070C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rgbClr val="0070C0"/>
                              </a:solidFill>
                              <a:latin typeface="Times New Roman" panose="02020603050405020304" pitchFamily="18" charset="0"/>
                              <a:cs typeface="Times New Roman" panose="02020603050405020304" pitchFamily="18" charset="0"/>
                            </a:rPr>
                            <a:t>5</a:t>
                          </a:r>
                          <a:endParaRPr lang="zh-TW" altLang="en-US" sz="2000" dirty="0">
                            <a:solidFill>
                              <a:srgbClr val="0070C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80373752"/>
                      </a:ext>
                    </a:extLst>
                  </a:tr>
                  <a:tr h="396240">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5"/>
                          <a:stretch>
                            <a:fillRect l="-990" t="-106061" r="-440594" b="-128788"/>
                          </a:stretch>
                        </a:blipFill>
                      </a:tcPr>
                    </a:tc>
                    <a:tc>
                      <a:txBody>
                        <a:bodyPr/>
                        <a:lstStyle/>
                        <a:p>
                          <a:pPr algn="ctr"/>
                          <a:r>
                            <a:rPr lang="en-US" altLang="zh-TW" sz="2000" dirty="0">
                              <a:solidFill>
                                <a:srgbClr val="0070C0"/>
                              </a:solidFill>
                              <a:latin typeface="Times New Roman" panose="02020603050405020304" pitchFamily="18" charset="0"/>
                              <a:cs typeface="Times New Roman" panose="02020603050405020304" pitchFamily="18" charset="0"/>
                            </a:rPr>
                            <a:t>1</a:t>
                          </a:r>
                          <a:endParaRPr lang="zh-TW" altLang="en-US" sz="2000" dirty="0">
                            <a:solidFill>
                              <a:srgbClr val="0070C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rgbClr val="0070C0"/>
                              </a:solidFill>
                              <a:latin typeface="Times New Roman" panose="02020603050405020304" pitchFamily="18" charset="0"/>
                              <a:cs typeface="Times New Roman" panose="02020603050405020304" pitchFamily="18" charset="0"/>
                            </a:rPr>
                            <a:t>4</a:t>
                          </a:r>
                          <a:endParaRPr lang="zh-TW" altLang="en-US" sz="2000" dirty="0">
                            <a:solidFill>
                              <a:srgbClr val="0070C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rgbClr val="0070C0"/>
                              </a:solidFill>
                              <a:latin typeface="Times New Roman" panose="02020603050405020304" pitchFamily="18" charset="0"/>
                              <a:cs typeface="Times New Roman" panose="02020603050405020304" pitchFamily="18" charset="0"/>
                            </a:rPr>
                            <a:t>2</a:t>
                          </a:r>
                          <a:endParaRPr lang="zh-TW" altLang="en-US" sz="2000" dirty="0">
                            <a:solidFill>
                              <a:srgbClr val="0070C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rgbClr val="0070C0"/>
                              </a:solidFill>
                              <a:latin typeface="Times New Roman" panose="02020603050405020304" pitchFamily="18" charset="0"/>
                              <a:cs typeface="Times New Roman" panose="02020603050405020304" pitchFamily="18" charset="0"/>
                            </a:rPr>
                            <a:t>5</a:t>
                          </a:r>
                          <a:endParaRPr lang="zh-TW" altLang="en-US" sz="2000" dirty="0">
                            <a:solidFill>
                              <a:srgbClr val="0070C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rgbClr val="0070C0"/>
                              </a:solidFill>
                              <a:latin typeface="Times New Roman" panose="02020603050405020304" pitchFamily="18" charset="0"/>
                              <a:cs typeface="Times New Roman" panose="02020603050405020304" pitchFamily="18" charset="0"/>
                            </a:rPr>
                            <a:t>3</a:t>
                          </a:r>
                          <a:endParaRPr lang="zh-TW" altLang="en-US" sz="2000" dirty="0">
                            <a:solidFill>
                              <a:srgbClr val="0070C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65958278"/>
                      </a:ext>
                    </a:extLst>
                  </a:tr>
                  <a:tr h="417957">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5"/>
                          <a:stretch>
                            <a:fillRect l="-990" t="-197101" r="-440594" b="-23188"/>
                          </a:stretch>
                        </a:blipFill>
                      </a:tcPr>
                    </a:tc>
                    <a:tc>
                      <a:txBody>
                        <a:bodyPr/>
                        <a:lstStyle/>
                        <a:p>
                          <a:pPr algn="ctr"/>
                          <a:r>
                            <a:rPr lang="en-US" altLang="zh-TW" sz="2000" dirty="0">
                              <a:solidFill>
                                <a:srgbClr val="0070C0"/>
                              </a:solidFill>
                              <a:latin typeface="Times New Roman" panose="02020603050405020304" pitchFamily="18" charset="0"/>
                              <a:cs typeface="Times New Roman" panose="02020603050405020304" pitchFamily="18" charset="0"/>
                            </a:rPr>
                            <a:t>2</a:t>
                          </a:r>
                          <a:endParaRPr lang="zh-TW" altLang="en-US" sz="2000" dirty="0">
                            <a:solidFill>
                              <a:srgbClr val="0070C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rgbClr val="0070C0"/>
                              </a:solidFill>
                              <a:latin typeface="Times New Roman" panose="02020603050405020304" pitchFamily="18" charset="0"/>
                              <a:cs typeface="Times New Roman" panose="02020603050405020304" pitchFamily="18" charset="0"/>
                            </a:rPr>
                            <a:t>4</a:t>
                          </a:r>
                          <a:endParaRPr lang="zh-TW" altLang="en-US" sz="2000" dirty="0">
                            <a:solidFill>
                              <a:srgbClr val="0070C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rgbClr val="0070C0"/>
                              </a:solidFill>
                              <a:latin typeface="Times New Roman" panose="02020603050405020304" pitchFamily="18" charset="0"/>
                              <a:cs typeface="Times New Roman" panose="02020603050405020304" pitchFamily="18" charset="0"/>
                            </a:rPr>
                            <a:t>6</a:t>
                          </a:r>
                          <a:endParaRPr lang="zh-TW" altLang="en-US" sz="2000" dirty="0">
                            <a:solidFill>
                              <a:srgbClr val="0070C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rgbClr val="0070C0"/>
                              </a:solidFill>
                              <a:latin typeface="Times New Roman" panose="02020603050405020304" pitchFamily="18" charset="0"/>
                              <a:cs typeface="Times New Roman" panose="02020603050405020304" pitchFamily="18" charset="0"/>
                            </a:rPr>
                            <a:t>8</a:t>
                          </a:r>
                          <a:endParaRPr lang="zh-TW" altLang="en-US" sz="2000" dirty="0">
                            <a:solidFill>
                              <a:srgbClr val="0070C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rgbClr val="0070C0"/>
                              </a:solidFill>
                              <a:latin typeface="Times New Roman" panose="02020603050405020304" pitchFamily="18" charset="0"/>
                              <a:cs typeface="Times New Roman" panose="02020603050405020304" pitchFamily="18" charset="0"/>
                            </a:rPr>
                            <a:t>10</a:t>
                          </a:r>
                          <a:endParaRPr lang="zh-TW" altLang="en-US" sz="2000" dirty="0">
                            <a:solidFill>
                              <a:srgbClr val="0070C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97000692"/>
                      </a:ext>
                    </a:extLst>
                  </a:tr>
                </a:tbl>
              </a:graphicData>
            </a:graphic>
          </p:graphicFrame>
        </mc:Fallback>
      </mc:AlternateContent>
      <mc:AlternateContent xmlns:mc="http://schemas.openxmlformats.org/markup-compatibility/2006">
        <mc:Choice xmlns:a14="http://schemas.microsoft.com/office/drawing/2010/main" Requires="a14">
          <p:sp>
            <p:nvSpPr>
              <p:cNvPr id="2" name="矩形 1">
                <a:extLst>
                  <a:ext uri="{FF2B5EF4-FFF2-40B4-BE49-F238E27FC236}">
                    <a16:creationId xmlns:a16="http://schemas.microsoft.com/office/drawing/2014/main" id="{A353A00F-5FAF-4BF4-9715-65CB44B3871F}"/>
                  </a:ext>
                </a:extLst>
              </p:cNvPr>
              <p:cNvSpPr/>
              <p:nvPr/>
            </p:nvSpPr>
            <p:spPr>
              <a:xfrm>
                <a:off x="2828780" y="3793784"/>
                <a:ext cx="3498650" cy="424796"/>
              </a:xfrm>
              <a:prstGeom prst="rect">
                <a:avLst/>
              </a:prstGeom>
            </p:spPr>
            <p:txBody>
              <a:bodyPr wrap="none">
                <a:spAutoFit/>
              </a:bodyPr>
              <a:lstStyle/>
              <a:p>
                <a14:m>
                  <m:oMath xmlns:m="http://schemas.openxmlformats.org/officeDocument/2006/math">
                    <m:sSub>
                      <m:sSubPr>
                        <m:ctrlPr>
                          <a:rPr lang="en-US" altLang="zh-TW" sz="2000" b="0" i="1" smtClean="0">
                            <a:solidFill>
                              <a:srgbClr val="000000"/>
                            </a:solidFill>
                            <a:latin typeface="Cambria Math" panose="02040503050406030204" pitchFamily="18" charset="0"/>
                          </a:rPr>
                        </m:ctrlPr>
                      </m:sSubPr>
                      <m:e>
                        <m:r>
                          <a:rPr lang="en-US" altLang="zh-TW" sz="2000" b="0" i="1" smtClean="0">
                            <a:solidFill>
                              <a:srgbClr val="000000"/>
                            </a:solidFill>
                            <a:latin typeface="Cambria Math" panose="02040503050406030204" pitchFamily="18" charset="0"/>
                          </a:rPr>
                          <m:t>𝑃</m:t>
                        </m:r>
                      </m:e>
                      <m:sub>
                        <m:r>
                          <a:rPr lang="en-US" altLang="zh-TW" sz="2000" b="0" i="1" smtClean="0">
                            <a:solidFill>
                              <a:srgbClr val="000000"/>
                            </a:solidFill>
                            <a:latin typeface="Cambria Math" panose="02040503050406030204" pitchFamily="18" charset="0"/>
                          </a:rPr>
                          <m:t>𝑟</m:t>
                        </m:r>
                        <m:d>
                          <m:dPr>
                            <m:begChr m:val="["/>
                            <m:endChr m:val="]"/>
                            <m:ctrlPr>
                              <a:rPr lang="en-US" altLang="zh-TW" sz="2000" b="0" i="1" smtClean="0">
                                <a:solidFill>
                                  <a:srgbClr val="000000"/>
                                </a:solidFill>
                                <a:latin typeface="Cambria Math" panose="02040503050406030204" pitchFamily="18" charset="0"/>
                              </a:rPr>
                            </m:ctrlPr>
                          </m:dPr>
                          <m:e>
                            <m:r>
                              <a:rPr lang="en-US" altLang="zh-TW" sz="2000" b="0" i="1" smtClean="0">
                                <a:solidFill>
                                  <a:srgbClr val="000000"/>
                                </a:solidFill>
                                <a:latin typeface="Cambria Math" panose="02040503050406030204" pitchFamily="18" charset="0"/>
                              </a:rPr>
                              <m:t>𝑖</m:t>
                            </m:r>
                          </m:e>
                        </m:d>
                      </m:sub>
                    </m:sSub>
                    <m:r>
                      <a:rPr lang="en-US" altLang="zh-TW" sz="2000" b="0" i="0" smtClean="0">
                        <a:solidFill>
                          <a:srgbClr val="000000"/>
                        </a:solidFill>
                        <a:latin typeface="Cambria Math" panose="02040503050406030204" pitchFamily="18" charset="0"/>
                      </a:rPr>
                      <m:t>≤</m:t>
                    </m:r>
                  </m:oMath>
                </a14:m>
                <a:r>
                  <a:rPr lang="en-US" altLang="zh-TW" sz="2000" dirty="0">
                    <a:solidFill>
                      <a:srgbClr val="000000"/>
                    </a:solidFill>
                    <a:latin typeface="Times New Roman" panose="02020603050405020304" pitchFamily="18" charset="0"/>
                    <a:cs typeface="Times New Roman" panose="02020603050405020304" pitchFamily="18" charset="0"/>
                  </a:rPr>
                  <a:t> </a:t>
                </a:r>
                <a14:m>
                  <m:oMath xmlns:m="http://schemas.openxmlformats.org/officeDocument/2006/math">
                    <m:sSub>
                      <m:sSubPr>
                        <m:ctrlPr>
                          <a:rPr lang="en-US" altLang="zh-TW" sz="2000" i="1">
                            <a:solidFill>
                              <a:srgbClr val="000000"/>
                            </a:solidFill>
                            <a:latin typeface="Cambria Math" panose="02040503050406030204" pitchFamily="18" charset="0"/>
                          </a:rPr>
                        </m:ctrlPr>
                      </m:sSubPr>
                      <m:e>
                        <m:r>
                          <a:rPr lang="en-US" altLang="zh-TW" sz="2000" i="1">
                            <a:solidFill>
                              <a:srgbClr val="000000"/>
                            </a:solidFill>
                            <a:latin typeface="Cambria Math" panose="02040503050406030204" pitchFamily="18" charset="0"/>
                          </a:rPr>
                          <m:t>𝑃</m:t>
                        </m:r>
                      </m:e>
                      <m:sub>
                        <m:r>
                          <a:rPr lang="en-US" altLang="zh-TW" sz="2000" i="1">
                            <a:solidFill>
                              <a:srgbClr val="000000"/>
                            </a:solidFill>
                            <a:latin typeface="Cambria Math" panose="02040503050406030204" pitchFamily="18" charset="0"/>
                          </a:rPr>
                          <m:t>𝑟</m:t>
                        </m:r>
                        <m:d>
                          <m:dPr>
                            <m:begChr m:val="["/>
                            <m:endChr m:val="]"/>
                            <m:ctrlPr>
                              <a:rPr lang="en-US" altLang="zh-TW" sz="2000" i="1">
                                <a:solidFill>
                                  <a:srgbClr val="000000"/>
                                </a:solidFill>
                                <a:latin typeface="Cambria Math" panose="02040503050406030204" pitchFamily="18" charset="0"/>
                              </a:rPr>
                            </m:ctrlPr>
                          </m:dPr>
                          <m:e>
                            <m:r>
                              <a:rPr lang="en-US" altLang="zh-TW" sz="2000" b="0" i="1" smtClean="0">
                                <a:solidFill>
                                  <a:srgbClr val="000000"/>
                                </a:solidFill>
                                <a:latin typeface="Cambria Math" panose="02040503050406030204" pitchFamily="18" charset="0"/>
                              </a:rPr>
                              <m:t>𝑗</m:t>
                            </m:r>
                          </m:e>
                        </m:d>
                      </m:sub>
                    </m:sSub>
                  </m:oMath>
                </a14:m>
                <a:r>
                  <a:rPr lang="en-US" altLang="zh-TW" sz="2000" dirty="0">
                    <a:latin typeface="Times New Roman" panose="02020603050405020304" pitchFamily="18" charset="0"/>
                    <a:cs typeface="Times New Roman" panose="02020603050405020304" pitchFamily="18" charset="0"/>
                  </a:rPr>
                  <a:t>, for each pair </a:t>
                </a:r>
                <a14:m>
                  <m:oMath xmlns:m="http://schemas.openxmlformats.org/officeDocument/2006/math">
                    <m:r>
                      <a:rPr lang="en-US" altLang="zh-TW" sz="2000" b="0" i="1" smtClean="0">
                        <a:latin typeface="Cambria Math" panose="02040503050406030204" pitchFamily="18" charset="0"/>
                      </a:rPr>
                      <m:t>𝑖</m:t>
                    </m:r>
                    <m:r>
                      <a:rPr lang="en-US" altLang="zh-TW" sz="2000" b="0" i="1" smtClean="0">
                        <a:latin typeface="Cambria Math" panose="02040503050406030204" pitchFamily="18" charset="0"/>
                      </a:rPr>
                      <m:t>&lt;</m:t>
                    </m:r>
                    <m:r>
                      <a:rPr lang="en-US" altLang="zh-TW" sz="2000" b="0" i="1" smtClean="0">
                        <a:latin typeface="Cambria Math" panose="02040503050406030204" pitchFamily="18" charset="0"/>
                      </a:rPr>
                      <m:t>𝑗</m:t>
                    </m:r>
                  </m:oMath>
                </a14:m>
                <a:endParaRPr lang="zh-TW" altLang="en-US" sz="2000" dirty="0">
                  <a:latin typeface="Times New Roman" panose="02020603050405020304" pitchFamily="18" charset="0"/>
                  <a:cs typeface="Times New Roman" panose="02020603050405020304" pitchFamily="18" charset="0"/>
                </a:endParaRPr>
              </a:p>
            </p:txBody>
          </p:sp>
        </mc:Choice>
        <mc:Fallback>
          <p:sp>
            <p:nvSpPr>
              <p:cNvPr id="2" name="矩形 1">
                <a:extLst>
                  <a:ext uri="{FF2B5EF4-FFF2-40B4-BE49-F238E27FC236}">
                    <a16:creationId xmlns:a16="http://schemas.microsoft.com/office/drawing/2014/main" id="{A353A00F-5FAF-4BF4-9715-65CB44B3871F}"/>
                  </a:ext>
                </a:extLst>
              </p:cNvPr>
              <p:cNvSpPr>
                <a:spLocks noRot="1" noChangeAspect="1" noMove="1" noResize="1" noEditPoints="1" noAdjustHandles="1" noChangeArrowheads="1" noChangeShapeType="1" noTextEdit="1"/>
              </p:cNvSpPr>
              <p:nvPr/>
            </p:nvSpPr>
            <p:spPr>
              <a:xfrm>
                <a:off x="2828780" y="3793784"/>
                <a:ext cx="3498650" cy="424796"/>
              </a:xfrm>
              <a:prstGeom prst="rect">
                <a:avLst/>
              </a:prstGeom>
              <a:blipFill>
                <a:blip r:embed="rId6"/>
                <a:stretch>
                  <a:fillRect t="-7143" b="-18571"/>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120595083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a:extLst>
              <a:ext uri="{FF2B5EF4-FFF2-40B4-BE49-F238E27FC236}">
                <a16:creationId xmlns:a16="http://schemas.microsoft.com/office/drawing/2014/main" id="{01482047-C5BA-4C14-A83E-65B7E095C8D6}"/>
              </a:ext>
            </a:extLst>
          </p:cNvPr>
          <p:cNvSpPr>
            <a:spLocks noGrp="1"/>
          </p:cNvSpPr>
          <p:nvPr>
            <p:ph type="sldNum" sz="quarter" idx="12"/>
          </p:nvPr>
        </p:nvSpPr>
        <p:spPr/>
        <p:txBody>
          <a:bodyPr/>
          <a:lstStyle/>
          <a:p>
            <a:fld id="{872633CA-77E0-4863-94F8-E28139DFB2B4}" type="slidenum">
              <a:rPr lang="zh-TW" altLang="en-US" smtClean="0"/>
              <a:t>13</a:t>
            </a:fld>
            <a:endParaRPr lang="zh-TW" altLang="en-US"/>
          </a:p>
        </p:txBody>
      </p:sp>
      <p:sp>
        <p:nvSpPr>
          <p:cNvPr id="15" name="標題 1">
            <a:extLst>
              <a:ext uri="{FF2B5EF4-FFF2-40B4-BE49-F238E27FC236}">
                <a16:creationId xmlns:a16="http://schemas.microsoft.com/office/drawing/2014/main" id="{A9990B6E-C32F-4A96-940B-453E868CF6E8}"/>
              </a:ext>
            </a:extLst>
          </p:cNvPr>
          <p:cNvSpPr txBox="1">
            <a:spLocks/>
          </p:cNvSpPr>
          <p:nvPr/>
        </p:nvSpPr>
        <p:spPr>
          <a:xfrm>
            <a:off x="402232" y="305355"/>
            <a:ext cx="7886700" cy="74281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TW" sz="3600" dirty="0">
                <a:latin typeface="Times New Roman" panose="02020603050405020304" pitchFamily="18" charset="0"/>
                <a:cs typeface="Times New Roman" panose="02020603050405020304" pitchFamily="18" charset="0"/>
              </a:rPr>
              <a:t>Verification</a:t>
            </a:r>
            <a:endParaRPr lang="zh-TW" altLang="en-US" sz="3600" dirty="0">
              <a:latin typeface="Times New Roman" panose="02020603050405020304" pitchFamily="18" charset="0"/>
              <a:cs typeface="Times New Roman" panose="02020603050405020304" pitchFamily="18" charset="0"/>
            </a:endParaRPr>
          </a:p>
        </p:txBody>
      </p:sp>
      <mc:AlternateContent xmlns:mc="http://schemas.openxmlformats.org/markup-compatibility/2006">
        <mc:Choice xmlns:a14="http://schemas.microsoft.com/office/drawing/2010/main" Requires="a14">
          <p:graphicFrame>
            <p:nvGraphicFramePr>
              <p:cNvPr id="12" name="表格 11">
                <a:extLst>
                  <a:ext uri="{FF2B5EF4-FFF2-40B4-BE49-F238E27FC236}">
                    <a16:creationId xmlns:a16="http://schemas.microsoft.com/office/drawing/2014/main" id="{DC87DD96-6F4F-4B4C-81AD-844C518AFD66}"/>
                  </a:ext>
                </a:extLst>
              </p:cNvPr>
              <p:cNvGraphicFramePr>
                <a:graphicFrameLocks noGrp="1"/>
              </p:cNvGraphicFramePr>
              <p:nvPr>
                <p:extLst>
                  <p:ext uri="{D42A27DB-BD31-4B8C-83A1-F6EECF244321}">
                    <p14:modId xmlns:p14="http://schemas.microsoft.com/office/powerpoint/2010/main" val="303769698"/>
                  </p:ext>
                </p:extLst>
              </p:nvPr>
            </p:nvGraphicFramePr>
            <p:xfrm>
              <a:off x="3901213" y="461844"/>
              <a:ext cx="3240000" cy="518160"/>
            </p:xfrm>
            <a:graphic>
              <a:graphicData uri="http://schemas.openxmlformats.org/drawingml/2006/table">
                <a:tbl>
                  <a:tblPr firstRow="1" bandRow="1">
                    <a:tableStyleId>{5940675A-B579-460E-94D1-54222C63F5DA}</a:tableStyleId>
                  </a:tblPr>
                  <a:tblGrid>
                    <a:gridCol w="540000">
                      <a:extLst>
                        <a:ext uri="{9D8B030D-6E8A-4147-A177-3AD203B41FA5}">
                          <a16:colId xmlns:a16="http://schemas.microsoft.com/office/drawing/2014/main" val="106444939"/>
                        </a:ext>
                      </a:extLst>
                    </a:gridCol>
                    <a:gridCol w="540000">
                      <a:extLst>
                        <a:ext uri="{9D8B030D-6E8A-4147-A177-3AD203B41FA5}">
                          <a16:colId xmlns:a16="http://schemas.microsoft.com/office/drawing/2014/main" val="3965888546"/>
                        </a:ext>
                      </a:extLst>
                    </a:gridCol>
                    <a:gridCol w="540000">
                      <a:extLst>
                        <a:ext uri="{9D8B030D-6E8A-4147-A177-3AD203B41FA5}">
                          <a16:colId xmlns:a16="http://schemas.microsoft.com/office/drawing/2014/main" val="82904498"/>
                        </a:ext>
                      </a:extLst>
                    </a:gridCol>
                    <a:gridCol w="540000">
                      <a:extLst>
                        <a:ext uri="{9D8B030D-6E8A-4147-A177-3AD203B41FA5}">
                          <a16:colId xmlns:a16="http://schemas.microsoft.com/office/drawing/2014/main" val="2214715668"/>
                        </a:ext>
                      </a:extLst>
                    </a:gridCol>
                    <a:gridCol w="540000">
                      <a:extLst>
                        <a:ext uri="{9D8B030D-6E8A-4147-A177-3AD203B41FA5}">
                          <a16:colId xmlns:a16="http://schemas.microsoft.com/office/drawing/2014/main" val="777121050"/>
                        </a:ext>
                      </a:extLst>
                    </a:gridCol>
                    <a:gridCol w="540000">
                      <a:extLst>
                        <a:ext uri="{9D8B030D-6E8A-4147-A177-3AD203B41FA5}">
                          <a16:colId xmlns:a16="http://schemas.microsoft.com/office/drawing/2014/main" val="2140332791"/>
                        </a:ext>
                      </a:extLst>
                    </a:gridCol>
                  </a:tblGrid>
                  <a:tr h="229371">
                    <a:tc>
                      <a:txBody>
                        <a:bodyPr/>
                        <a:lstStyle/>
                        <a:p>
                          <a:pPr algn="ctr"/>
                          <a14:m>
                            <m:oMath xmlns:m="http://schemas.openxmlformats.org/officeDocument/2006/math">
                              <m:r>
                                <a:rPr lang="en-US" altLang="zh-TW" sz="2800" b="0" i="1" dirty="0" smtClean="0">
                                  <a:solidFill>
                                    <a:srgbClr val="002060"/>
                                  </a:solidFill>
                                  <a:latin typeface="Cambria Math" panose="02040503050406030204" pitchFamily="18" charset="0"/>
                                  <a:cs typeface="Times New Roman" panose="02020603050405020304" pitchFamily="18" charset="0"/>
                                </a:rPr>
                                <m:t>𝑃</m:t>
                              </m:r>
                            </m:oMath>
                          </a14:m>
                          <a:r>
                            <a:rPr lang="en-US" altLang="zh-TW" sz="2800" dirty="0">
                              <a:solidFill>
                                <a:srgbClr val="002060"/>
                              </a:solidFill>
                              <a:latin typeface="Times New Roman" panose="02020603050405020304" pitchFamily="18" charset="0"/>
                              <a:cs typeface="Times New Roman" panose="02020603050405020304" pitchFamily="18" charset="0"/>
                            </a:rPr>
                            <a: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2</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6</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10</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4</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8</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706415246"/>
                      </a:ext>
                    </a:extLst>
                  </a:tr>
                </a:tbl>
              </a:graphicData>
            </a:graphic>
          </p:graphicFrame>
        </mc:Choice>
        <mc:Fallback>
          <p:graphicFrame>
            <p:nvGraphicFramePr>
              <p:cNvPr id="12" name="表格 11">
                <a:extLst>
                  <a:ext uri="{FF2B5EF4-FFF2-40B4-BE49-F238E27FC236}">
                    <a16:creationId xmlns:a16="http://schemas.microsoft.com/office/drawing/2014/main" id="{DC87DD96-6F4F-4B4C-81AD-844C518AFD66}"/>
                  </a:ext>
                </a:extLst>
              </p:cNvPr>
              <p:cNvGraphicFramePr>
                <a:graphicFrameLocks noGrp="1"/>
              </p:cNvGraphicFramePr>
              <p:nvPr>
                <p:extLst>
                  <p:ext uri="{D42A27DB-BD31-4B8C-83A1-F6EECF244321}">
                    <p14:modId xmlns:p14="http://schemas.microsoft.com/office/powerpoint/2010/main" val="303769698"/>
                  </p:ext>
                </p:extLst>
              </p:nvPr>
            </p:nvGraphicFramePr>
            <p:xfrm>
              <a:off x="3901213" y="461844"/>
              <a:ext cx="3240000" cy="518160"/>
            </p:xfrm>
            <a:graphic>
              <a:graphicData uri="http://schemas.openxmlformats.org/drawingml/2006/table">
                <a:tbl>
                  <a:tblPr firstRow="1" bandRow="1">
                    <a:tableStyleId>{5940675A-B579-460E-94D1-54222C63F5DA}</a:tableStyleId>
                  </a:tblPr>
                  <a:tblGrid>
                    <a:gridCol w="540000">
                      <a:extLst>
                        <a:ext uri="{9D8B030D-6E8A-4147-A177-3AD203B41FA5}">
                          <a16:colId xmlns:a16="http://schemas.microsoft.com/office/drawing/2014/main" val="106444939"/>
                        </a:ext>
                      </a:extLst>
                    </a:gridCol>
                    <a:gridCol w="540000">
                      <a:extLst>
                        <a:ext uri="{9D8B030D-6E8A-4147-A177-3AD203B41FA5}">
                          <a16:colId xmlns:a16="http://schemas.microsoft.com/office/drawing/2014/main" val="3965888546"/>
                        </a:ext>
                      </a:extLst>
                    </a:gridCol>
                    <a:gridCol w="540000">
                      <a:extLst>
                        <a:ext uri="{9D8B030D-6E8A-4147-A177-3AD203B41FA5}">
                          <a16:colId xmlns:a16="http://schemas.microsoft.com/office/drawing/2014/main" val="82904498"/>
                        </a:ext>
                      </a:extLst>
                    </a:gridCol>
                    <a:gridCol w="540000">
                      <a:extLst>
                        <a:ext uri="{9D8B030D-6E8A-4147-A177-3AD203B41FA5}">
                          <a16:colId xmlns:a16="http://schemas.microsoft.com/office/drawing/2014/main" val="2214715668"/>
                        </a:ext>
                      </a:extLst>
                    </a:gridCol>
                    <a:gridCol w="540000">
                      <a:extLst>
                        <a:ext uri="{9D8B030D-6E8A-4147-A177-3AD203B41FA5}">
                          <a16:colId xmlns:a16="http://schemas.microsoft.com/office/drawing/2014/main" val="777121050"/>
                        </a:ext>
                      </a:extLst>
                    </a:gridCol>
                    <a:gridCol w="540000">
                      <a:extLst>
                        <a:ext uri="{9D8B030D-6E8A-4147-A177-3AD203B41FA5}">
                          <a16:colId xmlns:a16="http://schemas.microsoft.com/office/drawing/2014/main" val="2140332791"/>
                        </a:ext>
                      </a:extLst>
                    </a:gridCol>
                  </a:tblGrid>
                  <a:tr h="518160">
                    <a:tc>
                      <a:txBody>
                        <a:bodyPr/>
                        <a:lstStyle/>
                        <a:p>
                          <a:endParaRPr lang="zh-TW"/>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blipFill>
                          <a:blip r:embed="rId3"/>
                          <a:stretch>
                            <a:fillRect t="-11628" r="-498876" b="-32558"/>
                          </a:stretch>
                        </a:blip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2</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6</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10</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4</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8</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706415246"/>
                      </a:ext>
                    </a:extLst>
                  </a:tr>
                </a:tbl>
              </a:graphicData>
            </a:graphic>
          </p:graphicFrame>
        </mc:Fallback>
      </mc:AlternateContent>
      <mc:AlternateContent xmlns:mc="http://schemas.openxmlformats.org/markup-compatibility/2006">
        <mc:Choice xmlns:a14="http://schemas.microsoft.com/office/drawing/2010/main" Requires="a14">
          <p:graphicFrame>
            <p:nvGraphicFramePr>
              <p:cNvPr id="16" name="表格 15">
                <a:extLst>
                  <a:ext uri="{FF2B5EF4-FFF2-40B4-BE49-F238E27FC236}">
                    <a16:creationId xmlns:a16="http://schemas.microsoft.com/office/drawing/2014/main" id="{44D298C2-5178-4D59-8A9C-C346D5B4238F}"/>
                  </a:ext>
                </a:extLst>
              </p:cNvPr>
              <p:cNvGraphicFramePr>
                <a:graphicFrameLocks noGrp="1"/>
              </p:cNvGraphicFramePr>
              <p:nvPr>
                <p:extLst>
                  <p:ext uri="{D42A27DB-BD31-4B8C-83A1-F6EECF244321}">
                    <p14:modId xmlns:p14="http://schemas.microsoft.com/office/powerpoint/2010/main" val="1806363670"/>
                  </p:ext>
                </p:extLst>
              </p:nvPr>
            </p:nvGraphicFramePr>
            <p:xfrm>
              <a:off x="5135325" y="2183665"/>
              <a:ext cx="3312000" cy="1210437"/>
            </p:xfrm>
            <a:graphic>
              <a:graphicData uri="http://schemas.openxmlformats.org/drawingml/2006/table">
                <a:tbl>
                  <a:tblPr firstRow="1" bandRow="1">
                    <a:tableStyleId>{5940675A-B579-460E-94D1-54222C63F5DA}</a:tableStyleId>
                  </a:tblPr>
                  <a:tblGrid>
                    <a:gridCol w="612000">
                      <a:extLst>
                        <a:ext uri="{9D8B030D-6E8A-4147-A177-3AD203B41FA5}">
                          <a16:colId xmlns:a16="http://schemas.microsoft.com/office/drawing/2014/main" val="162654532"/>
                        </a:ext>
                      </a:extLst>
                    </a:gridCol>
                    <a:gridCol w="540000">
                      <a:extLst>
                        <a:ext uri="{9D8B030D-6E8A-4147-A177-3AD203B41FA5}">
                          <a16:colId xmlns:a16="http://schemas.microsoft.com/office/drawing/2014/main" val="1214256893"/>
                        </a:ext>
                      </a:extLst>
                    </a:gridCol>
                    <a:gridCol w="540000">
                      <a:extLst>
                        <a:ext uri="{9D8B030D-6E8A-4147-A177-3AD203B41FA5}">
                          <a16:colId xmlns:a16="http://schemas.microsoft.com/office/drawing/2014/main" val="2185945537"/>
                        </a:ext>
                      </a:extLst>
                    </a:gridCol>
                    <a:gridCol w="540000">
                      <a:extLst>
                        <a:ext uri="{9D8B030D-6E8A-4147-A177-3AD203B41FA5}">
                          <a16:colId xmlns:a16="http://schemas.microsoft.com/office/drawing/2014/main" val="2888216586"/>
                        </a:ext>
                      </a:extLst>
                    </a:gridCol>
                    <a:gridCol w="540000">
                      <a:extLst>
                        <a:ext uri="{9D8B030D-6E8A-4147-A177-3AD203B41FA5}">
                          <a16:colId xmlns:a16="http://schemas.microsoft.com/office/drawing/2014/main" val="998630240"/>
                        </a:ext>
                      </a:extLst>
                    </a:gridCol>
                    <a:gridCol w="540000">
                      <a:extLst>
                        <a:ext uri="{9D8B030D-6E8A-4147-A177-3AD203B41FA5}">
                          <a16:colId xmlns:a16="http://schemas.microsoft.com/office/drawing/2014/main" val="3620064634"/>
                        </a:ext>
                      </a:extLst>
                    </a:gridCol>
                  </a:tblGrid>
                  <a:tr h="229371">
                    <a:tc>
                      <a:txBody>
                        <a:bodyPr/>
                        <a:lstStyle/>
                        <a:p>
                          <a:pPr algn="ctr"/>
                          <a14:m>
                            <m:oMathPara xmlns:m="http://schemas.openxmlformats.org/officeDocument/2006/math">
                              <m:oMathParaPr>
                                <m:jc m:val="centerGroup"/>
                              </m:oMathParaPr>
                              <m:oMath xmlns:m="http://schemas.openxmlformats.org/officeDocument/2006/math">
                                <m:r>
                                  <a:rPr lang="en-US" altLang="zh-TW" sz="2000" b="0" i="1" dirty="0" smtClean="0">
                                    <a:solidFill>
                                      <a:srgbClr val="0070C0"/>
                                    </a:solidFill>
                                    <a:latin typeface="Cambria Math" panose="02040503050406030204" pitchFamily="18" charset="0"/>
                                    <a:cs typeface="Times New Roman" panose="02020603050405020304" pitchFamily="18" charset="0"/>
                                  </a:rPr>
                                  <m:t>𝑖</m:t>
                                </m:r>
                              </m:oMath>
                            </m:oMathPara>
                          </a14:m>
                          <a:endParaRPr lang="zh-TW" altLang="en-US" sz="2000" b="0" dirty="0">
                            <a:solidFill>
                              <a:srgbClr val="0070C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rgbClr val="0070C0"/>
                              </a:solidFill>
                              <a:latin typeface="Times New Roman" panose="02020603050405020304" pitchFamily="18" charset="0"/>
                              <a:cs typeface="Times New Roman" panose="02020603050405020304" pitchFamily="18" charset="0"/>
                            </a:rPr>
                            <a:t>1</a:t>
                          </a:r>
                          <a:endParaRPr lang="zh-TW" altLang="en-US" sz="2000" dirty="0">
                            <a:solidFill>
                              <a:srgbClr val="0070C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rgbClr val="0070C0"/>
                              </a:solidFill>
                              <a:latin typeface="Times New Roman" panose="02020603050405020304" pitchFamily="18" charset="0"/>
                              <a:cs typeface="Times New Roman" panose="02020603050405020304" pitchFamily="18" charset="0"/>
                            </a:rPr>
                            <a:t>2</a:t>
                          </a:r>
                          <a:endParaRPr lang="zh-TW" altLang="en-US" sz="2000" dirty="0">
                            <a:solidFill>
                              <a:srgbClr val="0070C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rgbClr val="0070C0"/>
                              </a:solidFill>
                              <a:latin typeface="Times New Roman" panose="02020603050405020304" pitchFamily="18" charset="0"/>
                              <a:cs typeface="Times New Roman" panose="02020603050405020304" pitchFamily="18" charset="0"/>
                            </a:rPr>
                            <a:t>3</a:t>
                          </a:r>
                          <a:endParaRPr lang="zh-TW" altLang="en-US" sz="2000" dirty="0">
                            <a:solidFill>
                              <a:srgbClr val="0070C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rgbClr val="0070C0"/>
                              </a:solidFill>
                              <a:latin typeface="Times New Roman" panose="02020603050405020304" pitchFamily="18" charset="0"/>
                              <a:cs typeface="Times New Roman" panose="02020603050405020304" pitchFamily="18" charset="0"/>
                            </a:rPr>
                            <a:t>4</a:t>
                          </a:r>
                          <a:endParaRPr lang="zh-TW" altLang="en-US" sz="2000" dirty="0">
                            <a:solidFill>
                              <a:srgbClr val="0070C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rgbClr val="0070C0"/>
                              </a:solidFill>
                              <a:latin typeface="Times New Roman" panose="02020603050405020304" pitchFamily="18" charset="0"/>
                              <a:cs typeface="Times New Roman" panose="02020603050405020304" pitchFamily="18" charset="0"/>
                            </a:rPr>
                            <a:t>5</a:t>
                          </a:r>
                          <a:endParaRPr lang="zh-TW" altLang="en-US" sz="2000" dirty="0">
                            <a:solidFill>
                              <a:srgbClr val="0070C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80373752"/>
                      </a:ext>
                    </a:extLst>
                  </a:tr>
                  <a:tr h="229371">
                    <a:tc>
                      <a:txBody>
                        <a:bodyPr/>
                        <a:lstStyle/>
                        <a:p>
                          <a:pPr algn="ctr"/>
                          <a14:m>
                            <m:oMathPara xmlns:m="http://schemas.openxmlformats.org/officeDocument/2006/math">
                              <m:oMathParaPr>
                                <m:jc m:val="centerGroup"/>
                              </m:oMathParaPr>
                              <m:oMath xmlns:m="http://schemas.openxmlformats.org/officeDocument/2006/math">
                                <m:r>
                                  <a:rPr lang="en-US" altLang="zh-TW" sz="2000" b="0" i="1" dirty="0" smtClean="0">
                                    <a:solidFill>
                                      <a:srgbClr val="0070C0"/>
                                    </a:solidFill>
                                    <a:latin typeface="Cambria Math" panose="02040503050406030204" pitchFamily="18" charset="0"/>
                                    <a:cs typeface="Times New Roman" panose="02020603050405020304" pitchFamily="18" charset="0"/>
                                  </a:rPr>
                                  <m:t>𝑟</m:t>
                                </m:r>
                                <m:r>
                                  <a:rPr lang="en-US" altLang="zh-TW" sz="2000" b="0" i="1" dirty="0" smtClean="0">
                                    <a:solidFill>
                                      <a:srgbClr val="0070C0"/>
                                    </a:solidFill>
                                    <a:latin typeface="Cambria Math" panose="02040503050406030204" pitchFamily="18" charset="0"/>
                                    <a:cs typeface="Times New Roman" panose="02020603050405020304" pitchFamily="18" charset="0"/>
                                  </a:rPr>
                                  <m:t>[</m:t>
                                </m:r>
                                <m:r>
                                  <a:rPr lang="en-US" altLang="zh-TW" sz="2000" b="0" i="1" dirty="0" err="1" smtClean="0">
                                    <a:solidFill>
                                      <a:srgbClr val="0070C0"/>
                                    </a:solidFill>
                                    <a:latin typeface="Cambria Math" panose="02040503050406030204" pitchFamily="18" charset="0"/>
                                    <a:cs typeface="Times New Roman" panose="02020603050405020304" pitchFamily="18" charset="0"/>
                                  </a:rPr>
                                  <m:t>𝑖</m:t>
                                </m:r>
                                <m:r>
                                  <a:rPr lang="en-US" altLang="zh-TW" sz="2000" b="0" i="1" dirty="0" smtClean="0">
                                    <a:solidFill>
                                      <a:srgbClr val="0070C0"/>
                                    </a:solidFill>
                                    <a:latin typeface="Cambria Math" panose="02040503050406030204" pitchFamily="18" charset="0"/>
                                    <a:cs typeface="Times New Roman" panose="02020603050405020304" pitchFamily="18" charset="0"/>
                                  </a:rPr>
                                  <m:t>]</m:t>
                                </m:r>
                              </m:oMath>
                            </m:oMathPara>
                          </a14:m>
                          <a:endParaRPr lang="zh-TW" altLang="en-US" sz="2000" b="0" dirty="0">
                            <a:solidFill>
                              <a:srgbClr val="0070C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rgbClr val="0070C0"/>
                              </a:solidFill>
                              <a:latin typeface="Times New Roman" panose="02020603050405020304" pitchFamily="18" charset="0"/>
                              <a:cs typeface="Times New Roman" panose="02020603050405020304" pitchFamily="18" charset="0"/>
                            </a:rPr>
                            <a:t>1</a:t>
                          </a:r>
                          <a:endParaRPr lang="zh-TW" altLang="en-US" sz="2000" dirty="0">
                            <a:solidFill>
                              <a:srgbClr val="0070C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rgbClr val="0070C0"/>
                              </a:solidFill>
                              <a:latin typeface="Times New Roman" panose="02020603050405020304" pitchFamily="18" charset="0"/>
                              <a:cs typeface="Times New Roman" panose="02020603050405020304" pitchFamily="18" charset="0"/>
                            </a:rPr>
                            <a:t>4</a:t>
                          </a:r>
                          <a:endParaRPr lang="zh-TW" altLang="en-US" sz="2000" dirty="0">
                            <a:solidFill>
                              <a:srgbClr val="0070C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rgbClr val="0070C0"/>
                              </a:solidFill>
                              <a:latin typeface="Times New Roman" panose="02020603050405020304" pitchFamily="18" charset="0"/>
                              <a:cs typeface="Times New Roman" panose="02020603050405020304" pitchFamily="18" charset="0"/>
                            </a:rPr>
                            <a:t>2</a:t>
                          </a:r>
                          <a:endParaRPr lang="zh-TW" altLang="en-US" sz="2000" dirty="0">
                            <a:solidFill>
                              <a:srgbClr val="0070C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rgbClr val="0070C0"/>
                              </a:solidFill>
                              <a:latin typeface="Times New Roman" panose="02020603050405020304" pitchFamily="18" charset="0"/>
                              <a:cs typeface="Times New Roman" panose="02020603050405020304" pitchFamily="18" charset="0"/>
                            </a:rPr>
                            <a:t>5</a:t>
                          </a:r>
                          <a:endParaRPr lang="zh-TW" altLang="en-US" sz="2000" dirty="0">
                            <a:solidFill>
                              <a:srgbClr val="0070C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rgbClr val="0070C0"/>
                              </a:solidFill>
                              <a:latin typeface="Times New Roman" panose="02020603050405020304" pitchFamily="18" charset="0"/>
                              <a:cs typeface="Times New Roman" panose="02020603050405020304" pitchFamily="18" charset="0"/>
                            </a:rPr>
                            <a:t>3</a:t>
                          </a:r>
                          <a:endParaRPr lang="zh-TW" altLang="en-US" sz="2000" dirty="0">
                            <a:solidFill>
                              <a:srgbClr val="0070C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65958278"/>
                      </a:ext>
                    </a:extLst>
                  </a:tr>
                  <a:tr h="229371">
                    <a:tc>
                      <a:txBody>
                        <a:bodyPr/>
                        <a:lstStyle/>
                        <a:p>
                          <a:pPr algn="ctr"/>
                          <a14:m>
                            <m:oMathPara xmlns:m="http://schemas.openxmlformats.org/officeDocument/2006/math">
                              <m:oMathParaPr>
                                <m:jc m:val="centerGroup"/>
                              </m:oMathParaPr>
                              <m:oMath xmlns:m="http://schemas.openxmlformats.org/officeDocument/2006/math">
                                <m:sSub>
                                  <m:sSubPr>
                                    <m:ctrlPr>
                                      <a:rPr lang="en-US" altLang="zh-TW" sz="2000" b="0" i="1" smtClean="0">
                                        <a:solidFill>
                                          <a:srgbClr val="0070C0"/>
                                        </a:solidFill>
                                        <a:latin typeface="Cambria Math" panose="02040503050406030204" pitchFamily="18" charset="0"/>
                                      </a:rPr>
                                    </m:ctrlPr>
                                  </m:sSubPr>
                                  <m:e>
                                    <m:r>
                                      <a:rPr lang="en-US" altLang="zh-TW" sz="2000" b="0" i="1" smtClean="0">
                                        <a:solidFill>
                                          <a:srgbClr val="0070C0"/>
                                        </a:solidFill>
                                        <a:latin typeface="Cambria Math" panose="02040503050406030204" pitchFamily="18" charset="0"/>
                                      </a:rPr>
                                      <m:t>𝑃</m:t>
                                    </m:r>
                                  </m:e>
                                  <m:sub>
                                    <m:r>
                                      <a:rPr lang="en-US" altLang="zh-TW" sz="2000" b="0" i="1" smtClean="0">
                                        <a:solidFill>
                                          <a:srgbClr val="0070C0"/>
                                        </a:solidFill>
                                        <a:latin typeface="Cambria Math" panose="02040503050406030204" pitchFamily="18" charset="0"/>
                                      </a:rPr>
                                      <m:t>𝑟</m:t>
                                    </m:r>
                                    <m:d>
                                      <m:dPr>
                                        <m:begChr m:val="["/>
                                        <m:endChr m:val="]"/>
                                        <m:ctrlPr>
                                          <a:rPr lang="en-US" altLang="zh-TW" sz="2000" b="0" i="1" smtClean="0">
                                            <a:solidFill>
                                              <a:srgbClr val="0070C0"/>
                                            </a:solidFill>
                                            <a:latin typeface="Cambria Math" panose="02040503050406030204" pitchFamily="18" charset="0"/>
                                          </a:rPr>
                                        </m:ctrlPr>
                                      </m:dPr>
                                      <m:e>
                                        <m:r>
                                          <a:rPr lang="en-US" altLang="zh-TW" sz="2000" b="0" i="1" smtClean="0">
                                            <a:solidFill>
                                              <a:srgbClr val="0070C0"/>
                                            </a:solidFill>
                                            <a:latin typeface="Cambria Math" panose="02040503050406030204" pitchFamily="18" charset="0"/>
                                          </a:rPr>
                                          <m:t>𝑖</m:t>
                                        </m:r>
                                      </m:e>
                                    </m:d>
                                  </m:sub>
                                </m:sSub>
                              </m:oMath>
                            </m:oMathPara>
                          </a14:m>
                          <a:endParaRPr lang="zh-TW" altLang="en-US" sz="2000" b="0" dirty="0">
                            <a:solidFill>
                              <a:srgbClr val="0070C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rgbClr val="0070C0"/>
                              </a:solidFill>
                              <a:latin typeface="Times New Roman" panose="02020603050405020304" pitchFamily="18" charset="0"/>
                              <a:cs typeface="Times New Roman" panose="02020603050405020304" pitchFamily="18" charset="0"/>
                            </a:rPr>
                            <a:t>2</a:t>
                          </a:r>
                          <a:endParaRPr lang="zh-TW" altLang="en-US" sz="2000" dirty="0">
                            <a:solidFill>
                              <a:srgbClr val="0070C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rgbClr val="0070C0"/>
                              </a:solidFill>
                              <a:latin typeface="Times New Roman" panose="02020603050405020304" pitchFamily="18" charset="0"/>
                              <a:cs typeface="Times New Roman" panose="02020603050405020304" pitchFamily="18" charset="0"/>
                            </a:rPr>
                            <a:t>4</a:t>
                          </a:r>
                          <a:endParaRPr lang="zh-TW" altLang="en-US" sz="2000" dirty="0">
                            <a:solidFill>
                              <a:srgbClr val="0070C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rgbClr val="0070C0"/>
                              </a:solidFill>
                              <a:latin typeface="Times New Roman" panose="02020603050405020304" pitchFamily="18" charset="0"/>
                              <a:cs typeface="Times New Roman" panose="02020603050405020304" pitchFamily="18" charset="0"/>
                            </a:rPr>
                            <a:t>6</a:t>
                          </a:r>
                          <a:endParaRPr lang="zh-TW" altLang="en-US" sz="2000" dirty="0">
                            <a:solidFill>
                              <a:srgbClr val="0070C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rgbClr val="0070C0"/>
                              </a:solidFill>
                              <a:latin typeface="Times New Roman" panose="02020603050405020304" pitchFamily="18" charset="0"/>
                              <a:cs typeface="Times New Roman" panose="02020603050405020304" pitchFamily="18" charset="0"/>
                            </a:rPr>
                            <a:t>8</a:t>
                          </a:r>
                          <a:endParaRPr lang="zh-TW" altLang="en-US" sz="2000" dirty="0">
                            <a:solidFill>
                              <a:srgbClr val="0070C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rgbClr val="0070C0"/>
                              </a:solidFill>
                              <a:latin typeface="Times New Roman" panose="02020603050405020304" pitchFamily="18" charset="0"/>
                              <a:cs typeface="Times New Roman" panose="02020603050405020304" pitchFamily="18" charset="0"/>
                            </a:rPr>
                            <a:t>10</a:t>
                          </a:r>
                          <a:endParaRPr lang="zh-TW" altLang="en-US" sz="2000" dirty="0">
                            <a:solidFill>
                              <a:srgbClr val="0070C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97000692"/>
                      </a:ext>
                    </a:extLst>
                  </a:tr>
                </a:tbl>
              </a:graphicData>
            </a:graphic>
          </p:graphicFrame>
        </mc:Choice>
        <mc:Fallback>
          <p:graphicFrame>
            <p:nvGraphicFramePr>
              <p:cNvPr id="16" name="表格 15">
                <a:extLst>
                  <a:ext uri="{FF2B5EF4-FFF2-40B4-BE49-F238E27FC236}">
                    <a16:creationId xmlns:a16="http://schemas.microsoft.com/office/drawing/2014/main" id="{44D298C2-5178-4D59-8A9C-C346D5B4238F}"/>
                  </a:ext>
                </a:extLst>
              </p:cNvPr>
              <p:cNvGraphicFramePr>
                <a:graphicFrameLocks noGrp="1"/>
              </p:cNvGraphicFramePr>
              <p:nvPr>
                <p:extLst>
                  <p:ext uri="{D42A27DB-BD31-4B8C-83A1-F6EECF244321}">
                    <p14:modId xmlns:p14="http://schemas.microsoft.com/office/powerpoint/2010/main" val="1806363670"/>
                  </p:ext>
                </p:extLst>
              </p:nvPr>
            </p:nvGraphicFramePr>
            <p:xfrm>
              <a:off x="5135325" y="2183665"/>
              <a:ext cx="3312000" cy="1210437"/>
            </p:xfrm>
            <a:graphic>
              <a:graphicData uri="http://schemas.openxmlformats.org/drawingml/2006/table">
                <a:tbl>
                  <a:tblPr firstRow="1" bandRow="1">
                    <a:tableStyleId>{5940675A-B579-460E-94D1-54222C63F5DA}</a:tableStyleId>
                  </a:tblPr>
                  <a:tblGrid>
                    <a:gridCol w="612000">
                      <a:extLst>
                        <a:ext uri="{9D8B030D-6E8A-4147-A177-3AD203B41FA5}">
                          <a16:colId xmlns:a16="http://schemas.microsoft.com/office/drawing/2014/main" val="162654532"/>
                        </a:ext>
                      </a:extLst>
                    </a:gridCol>
                    <a:gridCol w="540000">
                      <a:extLst>
                        <a:ext uri="{9D8B030D-6E8A-4147-A177-3AD203B41FA5}">
                          <a16:colId xmlns:a16="http://schemas.microsoft.com/office/drawing/2014/main" val="1214256893"/>
                        </a:ext>
                      </a:extLst>
                    </a:gridCol>
                    <a:gridCol w="540000">
                      <a:extLst>
                        <a:ext uri="{9D8B030D-6E8A-4147-A177-3AD203B41FA5}">
                          <a16:colId xmlns:a16="http://schemas.microsoft.com/office/drawing/2014/main" val="2185945537"/>
                        </a:ext>
                      </a:extLst>
                    </a:gridCol>
                    <a:gridCol w="540000">
                      <a:extLst>
                        <a:ext uri="{9D8B030D-6E8A-4147-A177-3AD203B41FA5}">
                          <a16:colId xmlns:a16="http://schemas.microsoft.com/office/drawing/2014/main" val="2888216586"/>
                        </a:ext>
                      </a:extLst>
                    </a:gridCol>
                    <a:gridCol w="540000">
                      <a:extLst>
                        <a:ext uri="{9D8B030D-6E8A-4147-A177-3AD203B41FA5}">
                          <a16:colId xmlns:a16="http://schemas.microsoft.com/office/drawing/2014/main" val="998630240"/>
                        </a:ext>
                      </a:extLst>
                    </a:gridCol>
                    <a:gridCol w="540000">
                      <a:extLst>
                        <a:ext uri="{9D8B030D-6E8A-4147-A177-3AD203B41FA5}">
                          <a16:colId xmlns:a16="http://schemas.microsoft.com/office/drawing/2014/main" val="3620064634"/>
                        </a:ext>
                      </a:extLst>
                    </a:gridCol>
                  </a:tblGrid>
                  <a:tr h="396240">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4"/>
                          <a:stretch>
                            <a:fillRect l="-990" t="-7692" r="-440594" b="-230769"/>
                          </a:stretch>
                        </a:blipFill>
                      </a:tcPr>
                    </a:tc>
                    <a:tc>
                      <a:txBody>
                        <a:bodyPr/>
                        <a:lstStyle/>
                        <a:p>
                          <a:pPr algn="ctr"/>
                          <a:r>
                            <a:rPr lang="en-US" altLang="zh-TW" sz="2000" dirty="0">
                              <a:solidFill>
                                <a:srgbClr val="0070C0"/>
                              </a:solidFill>
                              <a:latin typeface="Times New Roman" panose="02020603050405020304" pitchFamily="18" charset="0"/>
                              <a:cs typeface="Times New Roman" panose="02020603050405020304" pitchFamily="18" charset="0"/>
                            </a:rPr>
                            <a:t>1</a:t>
                          </a:r>
                          <a:endParaRPr lang="zh-TW" altLang="en-US" sz="2000" dirty="0">
                            <a:solidFill>
                              <a:srgbClr val="0070C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rgbClr val="0070C0"/>
                              </a:solidFill>
                              <a:latin typeface="Times New Roman" panose="02020603050405020304" pitchFamily="18" charset="0"/>
                              <a:cs typeface="Times New Roman" panose="02020603050405020304" pitchFamily="18" charset="0"/>
                            </a:rPr>
                            <a:t>2</a:t>
                          </a:r>
                          <a:endParaRPr lang="zh-TW" altLang="en-US" sz="2000" dirty="0">
                            <a:solidFill>
                              <a:srgbClr val="0070C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rgbClr val="0070C0"/>
                              </a:solidFill>
                              <a:latin typeface="Times New Roman" panose="02020603050405020304" pitchFamily="18" charset="0"/>
                              <a:cs typeface="Times New Roman" panose="02020603050405020304" pitchFamily="18" charset="0"/>
                            </a:rPr>
                            <a:t>3</a:t>
                          </a:r>
                          <a:endParaRPr lang="zh-TW" altLang="en-US" sz="2000" dirty="0">
                            <a:solidFill>
                              <a:srgbClr val="0070C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rgbClr val="0070C0"/>
                              </a:solidFill>
                              <a:latin typeface="Times New Roman" panose="02020603050405020304" pitchFamily="18" charset="0"/>
                              <a:cs typeface="Times New Roman" panose="02020603050405020304" pitchFamily="18" charset="0"/>
                            </a:rPr>
                            <a:t>4</a:t>
                          </a:r>
                          <a:endParaRPr lang="zh-TW" altLang="en-US" sz="2000" dirty="0">
                            <a:solidFill>
                              <a:srgbClr val="0070C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rgbClr val="0070C0"/>
                              </a:solidFill>
                              <a:latin typeface="Times New Roman" panose="02020603050405020304" pitchFamily="18" charset="0"/>
                              <a:cs typeface="Times New Roman" panose="02020603050405020304" pitchFamily="18" charset="0"/>
                            </a:rPr>
                            <a:t>5</a:t>
                          </a:r>
                          <a:endParaRPr lang="zh-TW" altLang="en-US" sz="2000" dirty="0">
                            <a:solidFill>
                              <a:srgbClr val="0070C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80373752"/>
                      </a:ext>
                    </a:extLst>
                  </a:tr>
                  <a:tr h="396240">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4"/>
                          <a:stretch>
                            <a:fillRect l="-990" t="-107692" r="-440594" b="-130769"/>
                          </a:stretch>
                        </a:blipFill>
                      </a:tcPr>
                    </a:tc>
                    <a:tc>
                      <a:txBody>
                        <a:bodyPr/>
                        <a:lstStyle/>
                        <a:p>
                          <a:pPr algn="ctr"/>
                          <a:r>
                            <a:rPr lang="en-US" altLang="zh-TW" sz="2000" dirty="0">
                              <a:solidFill>
                                <a:srgbClr val="0070C0"/>
                              </a:solidFill>
                              <a:latin typeface="Times New Roman" panose="02020603050405020304" pitchFamily="18" charset="0"/>
                              <a:cs typeface="Times New Roman" panose="02020603050405020304" pitchFamily="18" charset="0"/>
                            </a:rPr>
                            <a:t>1</a:t>
                          </a:r>
                          <a:endParaRPr lang="zh-TW" altLang="en-US" sz="2000" dirty="0">
                            <a:solidFill>
                              <a:srgbClr val="0070C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rgbClr val="0070C0"/>
                              </a:solidFill>
                              <a:latin typeface="Times New Roman" panose="02020603050405020304" pitchFamily="18" charset="0"/>
                              <a:cs typeface="Times New Roman" panose="02020603050405020304" pitchFamily="18" charset="0"/>
                            </a:rPr>
                            <a:t>4</a:t>
                          </a:r>
                          <a:endParaRPr lang="zh-TW" altLang="en-US" sz="2000" dirty="0">
                            <a:solidFill>
                              <a:srgbClr val="0070C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rgbClr val="0070C0"/>
                              </a:solidFill>
                              <a:latin typeface="Times New Roman" panose="02020603050405020304" pitchFamily="18" charset="0"/>
                              <a:cs typeface="Times New Roman" panose="02020603050405020304" pitchFamily="18" charset="0"/>
                            </a:rPr>
                            <a:t>2</a:t>
                          </a:r>
                          <a:endParaRPr lang="zh-TW" altLang="en-US" sz="2000" dirty="0">
                            <a:solidFill>
                              <a:srgbClr val="0070C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rgbClr val="0070C0"/>
                              </a:solidFill>
                              <a:latin typeface="Times New Roman" panose="02020603050405020304" pitchFamily="18" charset="0"/>
                              <a:cs typeface="Times New Roman" panose="02020603050405020304" pitchFamily="18" charset="0"/>
                            </a:rPr>
                            <a:t>5</a:t>
                          </a:r>
                          <a:endParaRPr lang="zh-TW" altLang="en-US" sz="2000" dirty="0">
                            <a:solidFill>
                              <a:srgbClr val="0070C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rgbClr val="0070C0"/>
                              </a:solidFill>
                              <a:latin typeface="Times New Roman" panose="02020603050405020304" pitchFamily="18" charset="0"/>
                              <a:cs typeface="Times New Roman" panose="02020603050405020304" pitchFamily="18" charset="0"/>
                            </a:rPr>
                            <a:t>3</a:t>
                          </a:r>
                          <a:endParaRPr lang="zh-TW" altLang="en-US" sz="2000" dirty="0">
                            <a:solidFill>
                              <a:srgbClr val="0070C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65958278"/>
                      </a:ext>
                    </a:extLst>
                  </a:tr>
                  <a:tr h="417957">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4"/>
                          <a:stretch>
                            <a:fillRect l="-990" t="-195652" r="-440594" b="-23188"/>
                          </a:stretch>
                        </a:blipFill>
                      </a:tcPr>
                    </a:tc>
                    <a:tc>
                      <a:txBody>
                        <a:bodyPr/>
                        <a:lstStyle/>
                        <a:p>
                          <a:pPr algn="ctr"/>
                          <a:r>
                            <a:rPr lang="en-US" altLang="zh-TW" sz="2000" dirty="0">
                              <a:solidFill>
                                <a:srgbClr val="0070C0"/>
                              </a:solidFill>
                              <a:latin typeface="Times New Roman" panose="02020603050405020304" pitchFamily="18" charset="0"/>
                              <a:cs typeface="Times New Roman" panose="02020603050405020304" pitchFamily="18" charset="0"/>
                            </a:rPr>
                            <a:t>2</a:t>
                          </a:r>
                          <a:endParaRPr lang="zh-TW" altLang="en-US" sz="2000" dirty="0">
                            <a:solidFill>
                              <a:srgbClr val="0070C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rgbClr val="0070C0"/>
                              </a:solidFill>
                              <a:latin typeface="Times New Roman" panose="02020603050405020304" pitchFamily="18" charset="0"/>
                              <a:cs typeface="Times New Roman" panose="02020603050405020304" pitchFamily="18" charset="0"/>
                            </a:rPr>
                            <a:t>4</a:t>
                          </a:r>
                          <a:endParaRPr lang="zh-TW" altLang="en-US" sz="2000" dirty="0">
                            <a:solidFill>
                              <a:srgbClr val="0070C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rgbClr val="0070C0"/>
                              </a:solidFill>
                              <a:latin typeface="Times New Roman" panose="02020603050405020304" pitchFamily="18" charset="0"/>
                              <a:cs typeface="Times New Roman" panose="02020603050405020304" pitchFamily="18" charset="0"/>
                            </a:rPr>
                            <a:t>6</a:t>
                          </a:r>
                          <a:endParaRPr lang="zh-TW" altLang="en-US" sz="2000" dirty="0">
                            <a:solidFill>
                              <a:srgbClr val="0070C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rgbClr val="0070C0"/>
                              </a:solidFill>
                              <a:latin typeface="Times New Roman" panose="02020603050405020304" pitchFamily="18" charset="0"/>
                              <a:cs typeface="Times New Roman" panose="02020603050405020304" pitchFamily="18" charset="0"/>
                            </a:rPr>
                            <a:t>8</a:t>
                          </a:r>
                          <a:endParaRPr lang="zh-TW" altLang="en-US" sz="2000" dirty="0">
                            <a:solidFill>
                              <a:srgbClr val="0070C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rgbClr val="0070C0"/>
                              </a:solidFill>
                              <a:latin typeface="Times New Roman" panose="02020603050405020304" pitchFamily="18" charset="0"/>
                              <a:cs typeface="Times New Roman" panose="02020603050405020304" pitchFamily="18" charset="0"/>
                            </a:rPr>
                            <a:t>10</a:t>
                          </a:r>
                          <a:endParaRPr lang="zh-TW" altLang="en-US" sz="2000" dirty="0">
                            <a:solidFill>
                              <a:srgbClr val="0070C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97000692"/>
                      </a:ext>
                    </a:extLst>
                  </a:tr>
                </a:tbl>
              </a:graphicData>
            </a:graphic>
          </p:graphicFrame>
        </mc:Fallback>
      </mc:AlternateContent>
      <mc:AlternateContent xmlns:mc="http://schemas.openxmlformats.org/markup-compatibility/2006">
        <mc:Choice xmlns:a14="http://schemas.microsoft.com/office/drawing/2010/main" Requires="a14">
          <p:sp>
            <p:nvSpPr>
              <p:cNvPr id="19" name="矩形 18">
                <a:extLst>
                  <a:ext uri="{FF2B5EF4-FFF2-40B4-BE49-F238E27FC236}">
                    <a16:creationId xmlns:a16="http://schemas.microsoft.com/office/drawing/2014/main" id="{FFD6ACFD-6072-4BF7-A592-A69118C0776B}"/>
                  </a:ext>
                </a:extLst>
              </p:cNvPr>
              <p:cNvSpPr/>
              <p:nvPr/>
            </p:nvSpPr>
            <p:spPr>
              <a:xfrm>
                <a:off x="596038" y="4324739"/>
                <a:ext cx="1140819" cy="461665"/>
              </a:xfrm>
              <a:prstGeom prst="rect">
                <a:avLst/>
              </a:prstGeom>
            </p:spPr>
            <p:txBody>
              <a:bodyPr wrap="square">
                <a:spAutoFit/>
              </a:bodyPr>
              <a:lstStyle/>
              <a:p>
                <a:pPr/>
                <a14:m>
                  <m:oMathPara xmlns:m="http://schemas.openxmlformats.org/officeDocument/2006/math">
                    <m:oMathParaPr>
                      <m:jc m:val="left"/>
                    </m:oMathParaPr>
                    <m:oMath xmlns:m="http://schemas.openxmlformats.org/officeDocument/2006/math">
                      <m:r>
                        <a:rPr lang="en-US" altLang="zh-TW" sz="2400" b="0" i="1" dirty="0" smtClean="0">
                          <a:latin typeface="Cambria Math" panose="02040503050406030204" pitchFamily="18" charset="0"/>
                        </a:rPr>
                        <m:t>𝑇</m:t>
                      </m:r>
                      <m:d>
                        <m:dPr>
                          <m:begChr m:val="["/>
                          <m:endChr m:val="]"/>
                          <m:ctrlPr>
                            <a:rPr lang="en-US" altLang="zh-TW" sz="2400" b="0" i="1" dirty="0" smtClean="0">
                              <a:latin typeface="Cambria Math" panose="02040503050406030204" pitchFamily="18" charset="0"/>
                            </a:rPr>
                          </m:ctrlPr>
                        </m:dPr>
                        <m:e>
                          <m:r>
                            <a:rPr lang="en-US" altLang="zh-TW" sz="2400" b="0" i="1" dirty="0" smtClean="0">
                              <a:latin typeface="Cambria Math" panose="02040503050406030204" pitchFamily="18" charset="0"/>
                            </a:rPr>
                            <m:t>1:5</m:t>
                          </m:r>
                        </m:e>
                      </m:d>
                    </m:oMath>
                  </m:oMathPara>
                </a14:m>
                <a:endParaRPr lang="zh-TW" altLang="en-US" sz="2400" dirty="0">
                  <a:latin typeface="Times New Roman" panose="02020603050405020304" pitchFamily="18" charset="0"/>
                </a:endParaRPr>
              </a:p>
            </p:txBody>
          </p:sp>
        </mc:Choice>
        <mc:Fallback>
          <p:sp>
            <p:nvSpPr>
              <p:cNvPr id="19" name="矩形 18">
                <a:extLst>
                  <a:ext uri="{FF2B5EF4-FFF2-40B4-BE49-F238E27FC236}">
                    <a16:creationId xmlns:a16="http://schemas.microsoft.com/office/drawing/2014/main" id="{FFD6ACFD-6072-4BF7-A592-A69118C0776B}"/>
                  </a:ext>
                </a:extLst>
              </p:cNvPr>
              <p:cNvSpPr>
                <a:spLocks noRot="1" noChangeAspect="1" noMove="1" noResize="1" noEditPoints="1" noAdjustHandles="1" noChangeArrowheads="1" noChangeShapeType="1" noTextEdit="1"/>
              </p:cNvSpPr>
              <p:nvPr/>
            </p:nvSpPr>
            <p:spPr>
              <a:xfrm>
                <a:off x="596038" y="4324739"/>
                <a:ext cx="1140819" cy="461665"/>
              </a:xfrm>
              <a:prstGeom prst="rect">
                <a:avLst/>
              </a:prstGeom>
              <a:blipFill>
                <a:blip r:embed="rId5"/>
                <a:stretch>
                  <a:fillRect l="-1604"/>
                </a:stretch>
              </a:blipFill>
            </p:spPr>
            <p:txBody>
              <a:bodyPr/>
              <a:lstStyle/>
              <a:p>
                <a:r>
                  <a:rPr lang="zh-TW" altLang="en-US">
                    <a:noFill/>
                  </a:rPr>
                  <a:t> </a:t>
                </a:r>
              </a:p>
            </p:txBody>
          </p:sp>
        </mc:Fallback>
      </mc:AlternateContent>
      <p:graphicFrame>
        <p:nvGraphicFramePr>
          <p:cNvPr id="21" name="表格 20">
            <a:extLst>
              <a:ext uri="{FF2B5EF4-FFF2-40B4-BE49-F238E27FC236}">
                <a16:creationId xmlns:a16="http://schemas.microsoft.com/office/drawing/2014/main" id="{C5D9CEE8-226E-4741-88B6-CBE2DF364F0F}"/>
              </a:ext>
            </a:extLst>
          </p:cNvPr>
          <p:cNvGraphicFramePr>
            <a:graphicFrameLocks noGrp="1"/>
          </p:cNvGraphicFramePr>
          <p:nvPr>
            <p:extLst>
              <p:ext uri="{D42A27DB-BD31-4B8C-83A1-F6EECF244321}">
                <p14:modId xmlns:p14="http://schemas.microsoft.com/office/powerpoint/2010/main" val="1584168107"/>
              </p:ext>
            </p:extLst>
          </p:nvPr>
        </p:nvGraphicFramePr>
        <p:xfrm>
          <a:off x="1962150" y="4264244"/>
          <a:ext cx="2700000" cy="518160"/>
        </p:xfrm>
        <a:graphic>
          <a:graphicData uri="http://schemas.openxmlformats.org/drawingml/2006/table">
            <a:tbl>
              <a:tblPr firstRow="1" bandRow="1">
                <a:tableStyleId>{5940675A-B579-460E-94D1-54222C63F5DA}</a:tableStyleId>
              </a:tblPr>
              <a:tblGrid>
                <a:gridCol w="540000">
                  <a:extLst>
                    <a:ext uri="{9D8B030D-6E8A-4147-A177-3AD203B41FA5}">
                      <a16:colId xmlns:a16="http://schemas.microsoft.com/office/drawing/2014/main" val="2577381676"/>
                    </a:ext>
                  </a:extLst>
                </a:gridCol>
                <a:gridCol w="540000">
                  <a:extLst>
                    <a:ext uri="{9D8B030D-6E8A-4147-A177-3AD203B41FA5}">
                      <a16:colId xmlns:a16="http://schemas.microsoft.com/office/drawing/2014/main" val="2494047531"/>
                    </a:ext>
                  </a:extLst>
                </a:gridCol>
                <a:gridCol w="540000">
                  <a:extLst>
                    <a:ext uri="{9D8B030D-6E8A-4147-A177-3AD203B41FA5}">
                      <a16:colId xmlns:a16="http://schemas.microsoft.com/office/drawing/2014/main" val="265930632"/>
                    </a:ext>
                  </a:extLst>
                </a:gridCol>
                <a:gridCol w="540000">
                  <a:extLst>
                    <a:ext uri="{9D8B030D-6E8A-4147-A177-3AD203B41FA5}">
                      <a16:colId xmlns:a16="http://schemas.microsoft.com/office/drawing/2014/main" val="4267407961"/>
                    </a:ext>
                  </a:extLst>
                </a:gridCol>
                <a:gridCol w="540000">
                  <a:extLst>
                    <a:ext uri="{9D8B030D-6E8A-4147-A177-3AD203B41FA5}">
                      <a16:colId xmlns:a16="http://schemas.microsoft.com/office/drawing/2014/main" val="567536525"/>
                    </a:ext>
                  </a:extLst>
                </a:gridCol>
              </a:tblGrid>
              <a:tr h="229371">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5</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10</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20</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15</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25</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389455085"/>
                  </a:ext>
                </a:extLst>
              </a:tr>
            </a:tbl>
          </a:graphicData>
        </a:graphic>
      </p:graphicFrame>
      <p:sp>
        <p:nvSpPr>
          <p:cNvPr id="23" name="矩形 22">
            <a:extLst>
              <a:ext uri="{FF2B5EF4-FFF2-40B4-BE49-F238E27FC236}">
                <a16:creationId xmlns:a16="http://schemas.microsoft.com/office/drawing/2014/main" id="{EE9F3E45-71E4-4339-BA13-F26070BE1EA6}"/>
              </a:ext>
            </a:extLst>
          </p:cNvPr>
          <p:cNvSpPr/>
          <p:nvPr/>
        </p:nvSpPr>
        <p:spPr>
          <a:xfrm>
            <a:off x="402232" y="3843585"/>
            <a:ext cx="1559918" cy="461665"/>
          </a:xfrm>
          <a:prstGeom prst="rect">
            <a:avLst/>
          </a:prstGeom>
        </p:spPr>
        <p:txBody>
          <a:bodyPr wrap="square">
            <a:spAutoFit/>
          </a:bodyPr>
          <a:lstStyle/>
          <a:p>
            <a:r>
              <a:rPr lang="en-US" altLang="zh-TW" sz="2400" dirty="0">
                <a:latin typeface="Times New Roman" panose="02020603050405020304" pitchFamily="18" charset="0"/>
              </a:rPr>
              <a:t>candidate:</a:t>
            </a:r>
            <a:endParaRPr lang="zh-TW" altLang="en-US" sz="2400" dirty="0">
              <a:latin typeface="Times New Roman" panose="02020603050405020304" pitchFamily="18" charset="0"/>
            </a:endParaRPr>
          </a:p>
        </p:txBody>
      </p:sp>
      <p:sp>
        <p:nvSpPr>
          <p:cNvPr id="24" name="矩形 23">
            <a:extLst>
              <a:ext uri="{FF2B5EF4-FFF2-40B4-BE49-F238E27FC236}">
                <a16:creationId xmlns:a16="http://schemas.microsoft.com/office/drawing/2014/main" id="{581B457C-8DA7-4DCC-8B3D-31E11210E2E5}"/>
              </a:ext>
            </a:extLst>
          </p:cNvPr>
          <p:cNvSpPr/>
          <p:nvPr/>
        </p:nvSpPr>
        <p:spPr>
          <a:xfrm>
            <a:off x="400050" y="3816303"/>
            <a:ext cx="6391275" cy="230201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mc:AlternateContent xmlns:mc="http://schemas.openxmlformats.org/markup-compatibility/2006">
        <mc:Choice xmlns:a14="http://schemas.microsoft.com/office/drawing/2010/main" Requires="a14">
          <p:sp>
            <p:nvSpPr>
              <p:cNvPr id="26" name="矩形 25">
                <a:extLst>
                  <a:ext uri="{FF2B5EF4-FFF2-40B4-BE49-F238E27FC236}">
                    <a16:creationId xmlns:a16="http://schemas.microsoft.com/office/drawing/2014/main" id="{5A3FA3CA-37F2-4476-A44E-F0A6872DA694}"/>
                  </a:ext>
                </a:extLst>
              </p:cNvPr>
              <p:cNvSpPr/>
              <p:nvPr/>
            </p:nvSpPr>
            <p:spPr>
              <a:xfrm>
                <a:off x="402232" y="1308332"/>
                <a:ext cx="7160618" cy="497893"/>
              </a:xfrm>
              <a:prstGeom prst="rect">
                <a:avLst/>
              </a:prstGeom>
            </p:spPr>
            <p:txBody>
              <a:bodyPr wrap="square">
                <a:spAutoFit/>
              </a:bodyPr>
              <a:lstStyle/>
              <a:p>
                <a:r>
                  <a:rPr lang="en-US" altLang="zh-TW" sz="2400" dirty="0">
                    <a:latin typeface="Times New Roman" panose="02020603050405020304" pitchFamily="18" charset="0"/>
                  </a:rPr>
                  <a:t>② for each candidate, compare </a:t>
                </a:r>
                <a14:m>
                  <m:oMath xmlns:m="http://schemas.openxmlformats.org/officeDocument/2006/math">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𝑇</m:t>
                        </m:r>
                      </m:e>
                      <m:sub>
                        <m:r>
                          <a:rPr lang="en-US" altLang="zh-TW" sz="2400" i="1">
                            <a:latin typeface="Cambria Math" panose="02040503050406030204" pitchFamily="18" charset="0"/>
                          </a:rPr>
                          <m:t>𝑗</m:t>
                        </m:r>
                        <m:r>
                          <a:rPr lang="en-US" altLang="zh-TW" sz="2400" i="1">
                            <a:latin typeface="Cambria Math" panose="02040503050406030204" pitchFamily="18" charset="0"/>
                          </a:rPr>
                          <m:t>−1+</m:t>
                        </m:r>
                        <m:r>
                          <a:rPr lang="en-US" altLang="zh-TW" sz="2400" i="1">
                            <a:latin typeface="Cambria Math" panose="02040503050406030204" pitchFamily="18" charset="0"/>
                          </a:rPr>
                          <m:t>𝑟</m:t>
                        </m:r>
                        <m:r>
                          <a:rPr lang="en-US" altLang="zh-TW" sz="2400" i="1">
                            <a:latin typeface="Cambria Math" panose="02040503050406030204" pitchFamily="18" charset="0"/>
                          </a:rPr>
                          <m:t>[</m:t>
                        </m:r>
                        <m:r>
                          <a:rPr lang="en-US" altLang="zh-TW" sz="2400" i="1">
                            <a:latin typeface="Cambria Math" panose="02040503050406030204" pitchFamily="18" charset="0"/>
                          </a:rPr>
                          <m:t>𝑖</m:t>
                        </m:r>
                        <m:r>
                          <a:rPr lang="en-US" altLang="zh-TW" sz="2400" i="1">
                            <a:latin typeface="Cambria Math" panose="02040503050406030204" pitchFamily="18" charset="0"/>
                          </a:rPr>
                          <m:t>]</m:t>
                        </m:r>
                      </m:sub>
                    </m:sSub>
                    <m:r>
                      <a:rPr lang="en-US" altLang="zh-TW" sz="2400" i="1">
                        <a:latin typeface="Cambria Math" panose="02040503050406030204" pitchFamily="18" charset="0"/>
                      </a:rPr>
                      <m:t> &amp; </m:t>
                    </m:r>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𝑇</m:t>
                        </m:r>
                      </m:e>
                      <m:sub>
                        <m:r>
                          <a:rPr lang="en-US" altLang="zh-TW" sz="2400" i="1">
                            <a:latin typeface="Cambria Math" panose="02040503050406030204" pitchFamily="18" charset="0"/>
                          </a:rPr>
                          <m:t>𝑗</m:t>
                        </m:r>
                        <m:r>
                          <a:rPr lang="en-US" altLang="zh-TW" sz="2400" i="1">
                            <a:latin typeface="Cambria Math" panose="02040503050406030204" pitchFamily="18" charset="0"/>
                          </a:rPr>
                          <m:t>−1+</m:t>
                        </m:r>
                        <m:r>
                          <a:rPr lang="en-US" altLang="zh-TW" sz="2400" b="0" i="1" smtClean="0">
                            <a:latin typeface="Cambria Math" panose="02040503050406030204" pitchFamily="18" charset="0"/>
                          </a:rPr>
                          <m:t>𝑟</m:t>
                        </m:r>
                        <m:r>
                          <a:rPr lang="en-US" altLang="zh-TW" sz="2400" b="0" i="1" smtClean="0">
                            <a:latin typeface="Cambria Math" panose="02040503050406030204" pitchFamily="18" charset="0"/>
                          </a:rPr>
                          <m:t>[</m:t>
                        </m:r>
                        <m:r>
                          <a:rPr lang="en-US" altLang="zh-TW" sz="2400" b="0" i="1" smtClean="0">
                            <a:latin typeface="Cambria Math" panose="02040503050406030204" pitchFamily="18" charset="0"/>
                          </a:rPr>
                          <m:t>𝑖</m:t>
                        </m:r>
                        <m:r>
                          <a:rPr lang="en-US" altLang="zh-TW" sz="2400" b="0" i="1" smtClean="0">
                            <a:latin typeface="Cambria Math" panose="02040503050406030204" pitchFamily="18" charset="0"/>
                          </a:rPr>
                          <m:t>+1]</m:t>
                        </m:r>
                      </m:sub>
                    </m:sSub>
                  </m:oMath>
                </a14:m>
                <a:endParaRPr lang="zh-TW" altLang="en-US" sz="2400" dirty="0">
                  <a:latin typeface="Times New Roman" panose="02020603050405020304" pitchFamily="18" charset="0"/>
                </a:endParaRPr>
              </a:p>
            </p:txBody>
          </p:sp>
        </mc:Choice>
        <mc:Fallback>
          <p:sp>
            <p:nvSpPr>
              <p:cNvPr id="26" name="矩形 25">
                <a:extLst>
                  <a:ext uri="{FF2B5EF4-FFF2-40B4-BE49-F238E27FC236}">
                    <a16:creationId xmlns:a16="http://schemas.microsoft.com/office/drawing/2014/main" id="{5A3FA3CA-37F2-4476-A44E-F0A6872DA694}"/>
                  </a:ext>
                </a:extLst>
              </p:cNvPr>
              <p:cNvSpPr>
                <a:spLocks noRot="1" noChangeAspect="1" noMove="1" noResize="1" noEditPoints="1" noAdjustHandles="1" noChangeArrowheads="1" noChangeShapeType="1" noTextEdit="1"/>
              </p:cNvSpPr>
              <p:nvPr/>
            </p:nvSpPr>
            <p:spPr>
              <a:xfrm>
                <a:off x="402232" y="1308332"/>
                <a:ext cx="7160618" cy="497893"/>
              </a:xfrm>
              <a:prstGeom prst="rect">
                <a:avLst/>
              </a:prstGeom>
              <a:blipFill>
                <a:blip r:embed="rId6"/>
                <a:stretch>
                  <a:fillRect l="-1362" t="-9877" b="-20988"/>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5" name="矩形 4">
                <a:extLst>
                  <a:ext uri="{FF2B5EF4-FFF2-40B4-BE49-F238E27FC236}">
                    <a16:creationId xmlns:a16="http://schemas.microsoft.com/office/drawing/2014/main" id="{AC4619A2-D974-4930-BF5D-394DE26FF0F3}"/>
                  </a:ext>
                </a:extLst>
              </p:cNvPr>
              <p:cNvSpPr/>
              <p:nvPr/>
            </p:nvSpPr>
            <p:spPr>
              <a:xfrm>
                <a:off x="596038" y="2000962"/>
                <a:ext cx="2564163" cy="396519"/>
              </a:xfrm>
              <a:prstGeom prst="rect">
                <a:avLst/>
              </a:prstGeom>
            </p:spPr>
            <p:txBody>
              <a:bodyPr wrap="none">
                <a:spAutoFit/>
              </a:bodyPr>
              <a:lstStyle/>
              <a:p>
                <a:r>
                  <a:rPr lang="en-US" altLang="zh-TW" dirty="0">
                    <a:latin typeface="Times New Roman" panose="02020603050405020304" pitchFamily="18" charset="0"/>
                    <a:cs typeface="Times New Roman" panose="02020603050405020304" pitchFamily="18" charset="0"/>
                  </a:rPr>
                  <a:t>if</a:t>
                </a:r>
                <a:r>
                  <a:rPr lang="en-US" altLang="zh-TW" dirty="0"/>
                  <a:t> </a:t>
                </a:r>
                <a14:m>
                  <m:oMath xmlns:m="http://schemas.openxmlformats.org/officeDocument/2006/math">
                    <m:sSub>
                      <m:sSubPr>
                        <m:ctrlPr>
                          <a:rPr lang="en-US" altLang="zh-TW" i="1" smtClean="0">
                            <a:latin typeface="Cambria Math" panose="02040503050406030204" pitchFamily="18" charset="0"/>
                          </a:rPr>
                        </m:ctrlPr>
                      </m:sSubPr>
                      <m:e>
                        <m:r>
                          <a:rPr lang="en-US" altLang="zh-TW" i="1">
                            <a:latin typeface="Cambria Math" panose="02040503050406030204" pitchFamily="18" charset="0"/>
                          </a:rPr>
                          <m:t>𝑇</m:t>
                        </m:r>
                      </m:e>
                      <m:sub>
                        <m:r>
                          <a:rPr lang="en-US" altLang="zh-TW" i="1">
                            <a:latin typeface="Cambria Math" panose="02040503050406030204" pitchFamily="18" charset="0"/>
                          </a:rPr>
                          <m:t>𝑗</m:t>
                        </m:r>
                        <m:r>
                          <a:rPr lang="en-US" altLang="zh-TW" i="1">
                            <a:latin typeface="Cambria Math" panose="02040503050406030204" pitchFamily="18" charset="0"/>
                          </a:rPr>
                          <m:t>−1+</m:t>
                        </m:r>
                        <m:r>
                          <a:rPr lang="en-US" altLang="zh-TW" i="1">
                            <a:latin typeface="Cambria Math" panose="02040503050406030204" pitchFamily="18" charset="0"/>
                          </a:rPr>
                          <m:t>𝑟</m:t>
                        </m:r>
                        <m:r>
                          <a:rPr lang="en-US" altLang="zh-TW" i="1">
                            <a:latin typeface="Cambria Math" panose="02040503050406030204" pitchFamily="18" charset="0"/>
                          </a:rPr>
                          <m:t>[</m:t>
                        </m:r>
                        <m:r>
                          <a:rPr lang="en-US" altLang="zh-TW" i="1">
                            <a:latin typeface="Cambria Math" panose="02040503050406030204" pitchFamily="18" charset="0"/>
                          </a:rPr>
                          <m:t>𝑖</m:t>
                        </m:r>
                        <m:r>
                          <a:rPr lang="en-US" altLang="zh-TW" i="1">
                            <a:latin typeface="Cambria Math" panose="02040503050406030204" pitchFamily="18" charset="0"/>
                          </a:rPr>
                          <m:t>]</m:t>
                        </m:r>
                      </m:sub>
                    </m:sSub>
                    <m:r>
                      <a:rPr lang="en-US" altLang="zh-TW" b="0" i="1" smtClean="0">
                        <a:latin typeface="Cambria Math" panose="02040503050406030204" pitchFamily="18" charset="0"/>
                      </a:rPr>
                      <m:t>&gt;</m:t>
                    </m:r>
                    <m:r>
                      <a:rPr lang="en-US" altLang="zh-TW" i="1">
                        <a:latin typeface="Cambria Math" panose="02040503050406030204" pitchFamily="18" charset="0"/>
                      </a:rPr>
                      <m:t> </m:t>
                    </m:r>
                    <m:sSub>
                      <m:sSubPr>
                        <m:ctrlPr>
                          <a:rPr lang="en-US" altLang="zh-TW" i="1">
                            <a:latin typeface="Cambria Math" panose="02040503050406030204" pitchFamily="18" charset="0"/>
                          </a:rPr>
                        </m:ctrlPr>
                      </m:sSubPr>
                      <m:e>
                        <m:r>
                          <a:rPr lang="en-US" altLang="zh-TW" i="1">
                            <a:latin typeface="Cambria Math" panose="02040503050406030204" pitchFamily="18" charset="0"/>
                          </a:rPr>
                          <m:t>𝑇</m:t>
                        </m:r>
                      </m:e>
                      <m:sub>
                        <m:r>
                          <a:rPr lang="en-US" altLang="zh-TW" i="1">
                            <a:latin typeface="Cambria Math" panose="02040503050406030204" pitchFamily="18" charset="0"/>
                          </a:rPr>
                          <m:t>𝑗</m:t>
                        </m:r>
                        <m:r>
                          <a:rPr lang="en-US" altLang="zh-TW" i="1">
                            <a:latin typeface="Cambria Math" panose="02040503050406030204" pitchFamily="18" charset="0"/>
                          </a:rPr>
                          <m:t>−1+</m:t>
                        </m:r>
                        <m:r>
                          <a:rPr lang="en-US" altLang="zh-TW" i="1">
                            <a:latin typeface="Cambria Math" panose="02040503050406030204" pitchFamily="18" charset="0"/>
                          </a:rPr>
                          <m:t>𝑟</m:t>
                        </m:r>
                        <m:r>
                          <a:rPr lang="en-US" altLang="zh-TW" i="1">
                            <a:latin typeface="Cambria Math" panose="02040503050406030204" pitchFamily="18" charset="0"/>
                          </a:rPr>
                          <m:t>[</m:t>
                        </m:r>
                        <m:r>
                          <a:rPr lang="en-US" altLang="zh-TW" i="1">
                            <a:latin typeface="Cambria Math" panose="02040503050406030204" pitchFamily="18" charset="0"/>
                          </a:rPr>
                          <m:t>𝑖</m:t>
                        </m:r>
                        <m:r>
                          <a:rPr lang="en-US" altLang="zh-TW" i="1">
                            <a:latin typeface="Cambria Math" panose="02040503050406030204" pitchFamily="18" charset="0"/>
                          </a:rPr>
                          <m:t>+1]</m:t>
                        </m:r>
                      </m:sub>
                    </m:sSub>
                  </m:oMath>
                </a14:m>
                <a:endParaRPr lang="zh-TW" altLang="en-US" dirty="0"/>
              </a:p>
            </p:txBody>
          </p:sp>
        </mc:Choice>
        <mc:Fallback>
          <p:sp>
            <p:nvSpPr>
              <p:cNvPr id="5" name="矩形 4">
                <a:extLst>
                  <a:ext uri="{FF2B5EF4-FFF2-40B4-BE49-F238E27FC236}">
                    <a16:creationId xmlns:a16="http://schemas.microsoft.com/office/drawing/2014/main" id="{AC4619A2-D974-4930-BF5D-394DE26FF0F3}"/>
                  </a:ext>
                </a:extLst>
              </p:cNvPr>
              <p:cNvSpPr>
                <a:spLocks noRot="1" noChangeAspect="1" noMove="1" noResize="1" noEditPoints="1" noAdjustHandles="1" noChangeArrowheads="1" noChangeShapeType="1" noTextEdit="1"/>
              </p:cNvSpPr>
              <p:nvPr/>
            </p:nvSpPr>
            <p:spPr>
              <a:xfrm>
                <a:off x="596038" y="2000962"/>
                <a:ext cx="2564163" cy="396519"/>
              </a:xfrm>
              <a:prstGeom prst="rect">
                <a:avLst/>
              </a:prstGeom>
              <a:blipFill>
                <a:blip r:embed="rId7"/>
                <a:stretch>
                  <a:fillRect l="-2143" t="-7692" b="-16923"/>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6" name="矩形 5">
                <a:extLst>
                  <a:ext uri="{FF2B5EF4-FFF2-40B4-BE49-F238E27FC236}">
                    <a16:creationId xmlns:a16="http://schemas.microsoft.com/office/drawing/2014/main" id="{D66B9F7E-65E8-448B-BC5C-6CE6FD28614C}"/>
                  </a:ext>
                </a:extLst>
              </p:cNvPr>
              <p:cNvSpPr/>
              <p:nvPr/>
            </p:nvSpPr>
            <p:spPr>
              <a:xfrm>
                <a:off x="7013336" y="1158821"/>
                <a:ext cx="1765291" cy="369332"/>
              </a:xfrm>
              <a:prstGeom prst="rect">
                <a:avLst/>
              </a:prstGeom>
            </p:spPr>
            <p:txBody>
              <a:bodyPr wrap="none">
                <a:spAutoFit/>
              </a:bodyPr>
              <a:lstStyle/>
              <a:p>
                <a:r>
                  <a:rPr lang="en-US" altLang="zh-TW" dirty="0"/>
                  <a:t>(</a:t>
                </a:r>
                <a14:m>
                  <m:oMath xmlns:m="http://schemas.openxmlformats.org/officeDocument/2006/math">
                    <m:r>
                      <a:rPr lang="en-US" altLang="zh-TW" i="1" dirty="0">
                        <a:latin typeface="Cambria Math" panose="02040503050406030204" pitchFamily="18" charset="0"/>
                      </a:rPr>
                      <m:t>1≤</m:t>
                    </m:r>
                    <m:r>
                      <a:rPr lang="en-US" altLang="zh-TW" i="1" dirty="0">
                        <a:latin typeface="Cambria Math" panose="02040503050406030204" pitchFamily="18" charset="0"/>
                      </a:rPr>
                      <m:t>𝑖</m:t>
                    </m:r>
                    <m:r>
                      <a:rPr lang="en-US" altLang="zh-TW" i="1" dirty="0">
                        <a:latin typeface="Cambria Math" panose="02040503050406030204" pitchFamily="18" charset="0"/>
                      </a:rPr>
                      <m:t>≤</m:t>
                    </m:r>
                    <m:r>
                      <a:rPr lang="en-US" altLang="zh-TW" i="1" dirty="0">
                        <a:latin typeface="Cambria Math" panose="02040503050406030204" pitchFamily="18" charset="0"/>
                      </a:rPr>
                      <m:t>𝑚</m:t>
                    </m:r>
                    <m:r>
                      <a:rPr lang="en-US" altLang="zh-TW" i="1" dirty="0">
                        <a:latin typeface="Cambria Math" panose="02040503050406030204" pitchFamily="18" charset="0"/>
                      </a:rPr>
                      <m:t>−1)</m:t>
                    </m:r>
                  </m:oMath>
                </a14:m>
                <a:endParaRPr lang="zh-TW" altLang="en-US" dirty="0"/>
              </a:p>
            </p:txBody>
          </p:sp>
        </mc:Choice>
        <mc:Fallback>
          <p:sp>
            <p:nvSpPr>
              <p:cNvPr id="6" name="矩形 5">
                <a:extLst>
                  <a:ext uri="{FF2B5EF4-FFF2-40B4-BE49-F238E27FC236}">
                    <a16:creationId xmlns:a16="http://schemas.microsoft.com/office/drawing/2014/main" id="{D66B9F7E-65E8-448B-BC5C-6CE6FD28614C}"/>
                  </a:ext>
                </a:extLst>
              </p:cNvPr>
              <p:cNvSpPr>
                <a:spLocks noRot="1" noChangeAspect="1" noMove="1" noResize="1" noEditPoints="1" noAdjustHandles="1" noChangeArrowheads="1" noChangeShapeType="1" noTextEdit="1"/>
              </p:cNvSpPr>
              <p:nvPr/>
            </p:nvSpPr>
            <p:spPr>
              <a:xfrm>
                <a:off x="7013336" y="1158821"/>
                <a:ext cx="1765291" cy="369332"/>
              </a:xfrm>
              <a:prstGeom prst="rect">
                <a:avLst/>
              </a:prstGeom>
              <a:blipFill>
                <a:blip r:embed="rId8"/>
                <a:stretch>
                  <a:fillRect l="-2759" t="-8197" r="-345" b="-24590"/>
                </a:stretch>
              </a:blipFill>
            </p:spPr>
            <p:txBody>
              <a:bodyPr/>
              <a:lstStyle/>
              <a:p>
                <a:r>
                  <a:rPr lang="zh-TW" altLang="en-US">
                    <a:noFill/>
                  </a:rPr>
                  <a:t> </a:t>
                </a:r>
              </a:p>
            </p:txBody>
          </p:sp>
        </mc:Fallback>
      </mc:AlternateContent>
      <p:sp>
        <p:nvSpPr>
          <p:cNvPr id="27" name="矩形 26">
            <a:extLst>
              <a:ext uri="{FF2B5EF4-FFF2-40B4-BE49-F238E27FC236}">
                <a16:creationId xmlns:a16="http://schemas.microsoft.com/office/drawing/2014/main" id="{72FC08A5-2081-4BFA-8894-D58CCF5072CE}"/>
              </a:ext>
            </a:extLst>
          </p:cNvPr>
          <p:cNvSpPr/>
          <p:nvPr/>
        </p:nvSpPr>
        <p:spPr>
          <a:xfrm>
            <a:off x="596038" y="2507674"/>
            <a:ext cx="3153427" cy="369332"/>
          </a:xfrm>
          <a:prstGeom prst="rect">
            <a:avLst/>
          </a:prstGeom>
        </p:spPr>
        <p:txBody>
          <a:bodyPr wrap="none">
            <a:spAutoFit/>
          </a:bodyPr>
          <a:lstStyle/>
          <a:p>
            <a:r>
              <a:rPr lang="en-US" altLang="zh-TW" dirty="0">
                <a:latin typeface="Times New Roman" panose="02020603050405020304" pitchFamily="18" charset="0"/>
                <a:cs typeface="Times New Roman" panose="02020603050405020304" pitchFamily="18" charset="0"/>
              </a:rPr>
              <a:t>means mismatch, then discard it</a:t>
            </a:r>
            <a:endParaRPr lang="zh-TW" altLang="en-US" dirty="0"/>
          </a:p>
        </p:txBody>
      </p:sp>
      <p:sp>
        <p:nvSpPr>
          <p:cNvPr id="28" name="矩形 27">
            <a:extLst>
              <a:ext uri="{FF2B5EF4-FFF2-40B4-BE49-F238E27FC236}">
                <a16:creationId xmlns:a16="http://schemas.microsoft.com/office/drawing/2014/main" id="{B9F5F21D-C546-4D5B-943C-C17C7FFEC57A}"/>
              </a:ext>
            </a:extLst>
          </p:cNvPr>
          <p:cNvSpPr/>
          <p:nvPr/>
        </p:nvSpPr>
        <p:spPr>
          <a:xfrm>
            <a:off x="5838581" y="2628900"/>
            <a:ext cx="847969" cy="305968"/>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7" name="橢圓 6">
            <a:extLst>
              <a:ext uri="{FF2B5EF4-FFF2-40B4-BE49-F238E27FC236}">
                <a16:creationId xmlns:a16="http://schemas.microsoft.com/office/drawing/2014/main" id="{FCC5F539-F249-46CF-B20D-9C9796CA0445}"/>
              </a:ext>
            </a:extLst>
          </p:cNvPr>
          <p:cNvSpPr/>
          <p:nvPr/>
        </p:nvSpPr>
        <p:spPr>
          <a:xfrm>
            <a:off x="1962150" y="4210050"/>
            <a:ext cx="495300" cy="576354"/>
          </a:xfrm>
          <a:prstGeom prst="ellipse">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TW" altLang="en-US"/>
          </a:p>
        </p:txBody>
      </p:sp>
      <p:sp>
        <p:nvSpPr>
          <p:cNvPr id="29" name="橢圓 28">
            <a:extLst>
              <a:ext uri="{FF2B5EF4-FFF2-40B4-BE49-F238E27FC236}">
                <a16:creationId xmlns:a16="http://schemas.microsoft.com/office/drawing/2014/main" id="{82EEB7A9-B4FB-4822-B9AB-3D461432C87B}"/>
              </a:ext>
            </a:extLst>
          </p:cNvPr>
          <p:cNvSpPr/>
          <p:nvPr/>
        </p:nvSpPr>
        <p:spPr>
          <a:xfrm>
            <a:off x="3595687" y="4210050"/>
            <a:ext cx="495300" cy="576354"/>
          </a:xfrm>
          <a:prstGeom prst="ellipse">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TW" altLang="en-US"/>
          </a:p>
        </p:txBody>
      </p:sp>
      <p:sp>
        <p:nvSpPr>
          <p:cNvPr id="30" name="矩形 29">
            <a:extLst>
              <a:ext uri="{FF2B5EF4-FFF2-40B4-BE49-F238E27FC236}">
                <a16:creationId xmlns:a16="http://schemas.microsoft.com/office/drawing/2014/main" id="{C5763C4D-DB34-488E-88CA-F7D37CCB12B3}"/>
              </a:ext>
            </a:extLst>
          </p:cNvPr>
          <p:cNvSpPr/>
          <p:nvPr/>
        </p:nvSpPr>
        <p:spPr>
          <a:xfrm>
            <a:off x="1461177" y="3033482"/>
            <a:ext cx="833883" cy="369332"/>
          </a:xfrm>
          <a:prstGeom prst="rect">
            <a:avLst/>
          </a:prstGeom>
        </p:spPr>
        <p:txBody>
          <a:bodyPr wrap="none">
            <a:spAutoFit/>
          </a:bodyPr>
          <a:lstStyle/>
          <a:p>
            <a:r>
              <a:rPr lang="en-US" altLang="zh-TW" dirty="0">
                <a:latin typeface="Times New Roman" panose="02020603050405020304" pitchFamily="18" charset="0"/>
                <a:cs typeface="Times New Roman" panose="02020603050405020304" pitchFamily="18" charset="0"/>
              </a:rPr>
              <a:t>5  &lt; 15</a:t>
            </a:r>
            <a:endParaRPr lang="zh-TW" altLang="en-US" dirty="0"/>
          </a:p>
        </p:txBody>
      </p:sp>
    </p:spTree>
    <p:extLst>
      <p:ext uri="{BB962C8B-B14F-4D97-AF65-F5344CB8AC3E}">
        <p14:creationId xmlns:p14="http://schemas.microsoft.com/office/powerpoint/2010/main" val="446663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500"/>
                                        <p:tgtEl>
                                          <p:spTgt spid="19"/>
                                        </p:tgtEl>
                                      </p:cBhvr>
                                    </p:animEffect>
                                  </p:childTnLst>
                                </p:cTn>
                              </p:par>
                              <p:par>
                                <p:cTn id="8" presetID="10" presetClass="entr" presetSubtype="0" fill="hold" nodeType="withEffect">
                                  <p:stCondLst>
                                    <p:cond delay="0"/>
                                  </p:stCondLst>
                                  <p:childTnLst>
                                    <p:set>
                                      <p:cBhvr>
                                        <p:cTn id="9" dur="1" fill="hold">
                                          <p:stCondLst>
                                            <p:cond delay="0"/>
                                          </p:stCondLst>
                                        </p:cTn>
                                        <p:tgtEl>
                                          <p:spTgt spid="21"/>
                                        </p:tgtEl>
                                        <p:attrNameLst>
                                          <p:attrName>style.visibility</p:attrName>
                                        </p:attrNameLst>
                                      </p:cBhvr>
                                      <p:to>
                                        <p:strVal val="visible"/>
                                      </p:to>
                                    </p:set>
                                    <p:animEffect transition="in" filter="fade">
                                      <p:cBhvr>
                                        <p:cTn id="10" dur="5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28"/>
                                        </p:tgtEl>
                                        <p:attrNameLst>
                                          <p:attrName>style.visibility</p:attrName>
                                        </p:attrNameLst>
                                      </p:cBhvr>
                                      <p:to>
                                        <p:strVal val="visible"/>
                                      </p:to>
                                    </p:set>
                                    <p:animEffect transition="in" filter="fade">
                                      <p:cBhvr>
                                        <p:cTn id="15" dur="500"/>
                                        <p:tgtEl>
                                          <p:spTgt spid="28"/>
                                        </p:tgtEl>
                                      </p:cBhvr>
                                    </p:animEffect>
                                  </p:childTnLst>
                                </p:cTn>
                              </p:par>
                            </p:childTnLst>
                          </p:cTn>
                        </p:par>
                        <p:par>
                          <p:cTn id="16" fill="hold">
                            <p:stCondLst>
                              <p:cond delay="500"/>
                            </p:stCondLst>
                            <p:childTnLst>
                              <p:par>
                                <p:cTn id="17" presetID="10" presetClass="entr" presetSubtype="0" fill="hold" grpId="0" nodeType="after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500"/>
                                        <p:tgtEl>
                                          <p:spTgt spid="7"/>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9"/>
                                        </p:tgtEl>
                                        <p:attrNameLst>
                                          <p:attrName>style.visibility</p:attrName>
                                        </p:attrNameLst>
                                      </p:cBhvr>
                                      <p:to>
                                        <p:strVal val="visible"/>
                                      </p:to>
                                    </p:set>
                                    <p:animEffect transition="in" filter="fade">
                                      <p:cBhvr>
                                        <p:cTn id="22" dur="500"/>
                                        <p:tgtEl>
                                          <p:spTgt spid="29"/>
                                        </p:tgtEl>
                                      </p:cBhvr>
                                    </p:animEffect>
                                  </p:childTnLst>
                                </p:cTn>
                              </p:par>
                            </p:childTnLst>
                          </p:cTn>
                        </p:par>
                        <p:par>
                          <p:cTn id="23" fill="hold">
                            <p:stCondLst>
                              <p:cond delay="1000"/>
                            </p:stCondLst>
                            <p:childTnLst>
                              <p:par>
                                <p:cTn id="24" presetID="10" presetClass="entr" presetSubtype="0" fill="hold" grpId="0" nodeType="afterEffect">
                                  <p:stCondLst>
                                    <p:cond delay="0"/>
                                  </p:stCondLst>
                                  <p:childTnLst>
                                    <p:set>
                                      <p:cBhvr>
                                        <p:cTn id="25" dur="1" fill="hold">
                                          <p:stCondLst>
                                            <p:cond delay="0"/>
                                          </p:stCondLst>
                                        </p:cTn>
                                        <p:tgtEl>
                                          <p:spTgt spid="30"/>
                                        </p:tgtEl>
                                        <p:attrNameLst>
                                          <p:attrName>style.visibility</p:attrName>
                                        </p:attrNameLst>
                                      </p:cBhvr>
                                      <p:to>
                                        <p:strVal val="visible"/>
                                      </p:to>
                                    </p:set>
                                    <p:animEffect transition="in" filter="fade">
                                      <p:cBhvr>
                                        <p:cTn id="26"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28" grpId="0" animBg="1"/>
      <p:bldP spid="7" grpId="0" animBg="1"/>
      <p:bldP spid="29" grpId="0" animBg="1"/>
      <p:bldP spid="30"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a:extLst>
              <a:ext uri="{FF2B5EF4-FFF2-40B4-BE49-F238E27FC236}">
                <a16:creationId xmlns:a16="http://schemas.microsoft.com/office/drawing/2014/main" id="{01482047-C5BA-4C14-A83E-65B7E095C8D6}"/>
              </a:ext>
            </a:extLst>
          </p:cNvPr>
          <p:cNvSpPr>
            <a:spLocks noGrp="1"/>
          </p:cNvSpPr>
          <p:nvPr>
            <p:ph type="sldNum" sz="quarter" idx="12"/>
          </p:nvPr>
        </p:nvSpPr>
        <p:spPr/>
        <p:txBody>
          <a:bodyPr/>
          <a:lstStyle/>
          <a:p>
            <a:fld id="{872633CA-77E0-4863-94F8-E28139DFB2B4}" type="slidenum">
              <a:rPr lang="zh-TW" altLang="en-US" smtClean="0"/>
              <a:t>14</a:t>
            </a:fld>
            <a:endParaRPr lang="zh-TW" altLang="en-US"/>
          </a:p>
        </p:txBody>
      </p:sp>
      <p:sp>
        <p:nvSpPr>
          <p:cNvPr id="15" name="標題 1">
            <a:extLst>
              <a:ext uri="{FF2B5EF4-FFF2-40B4-BE49-F238E27FC236}">
                <a16:creationId xmlns:a16="http://schemas.microsoft.com/office/drawing/2014/main" id="{A9990B6E-C32F-4A96-940B-453E868CF6E8}"/>
              </a:ext>
            </a:extLst>
          </p:cNvPr>
          <p:cNvSpPr txBox="1">
            <a:spLocks/>
          </p:cNvSpPr>
          <p:nvPr/>
        </p:nvSpPr>
        <p:spPr>
          <a:xfrm>
            <a:off x="402232" y="305355"/>
            <a:ext cx="7886700" cy="74281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TW" sz="3600" dirty="0">
                <a:latin typeface="Times New Roman" panose="02020603050405020304" pitchFamily="18" charset="0"/>
                <a:cs typeface="Times New Roman" panose="02020603050405020304" pitchFamily="18" charset="0"/>
              </a:rPr>
              <a:t>Verification</a:t>
            </a:r>
            <a:endParaRPr lang="zh-TW" altLang="en-US" sz="3600" dirty="0">
              <a:latin typeface="Times New Roman" panose="02020603050405020304" pitchFamily="18" charset="0"/>
              <a:cs typeface="Times New Roman" panose="02020603050405020304" pitchFamily="18" charset="0"/>
            </a:endParaRPr>
          </a:p>
        </p:txBody>
      </p:sp>
      <mc:AlternateContent xmlns:mc="http://schemas.openxmlformats.org/markup-compatibility/2006">
        <mc:Choice xmlns:a14="http://schemas.microsoft.com/office/drawing/2010/main" Requires="a14">
          <p:graphicFrame>
            <p:nvGraphicFramePr>
              <p:cNvPr id="12" name="表格 11">
                <a:extLst>
                  <a:ext uri="{FF2B5EF4-FFF2-40B4-BE49-F238E27FC236}">
                    <a16:creationId xmlns:a16="http://schemas.microsoft.com/office/drawing/2014/main" id="{DC87DD96-6F4F-4B4C-81AD-844C518AFD66}"/>
                  </a:ext>
                </a:extLst>
              </p:cNvPr>
              <p:cNvGraphicFramePr>
                <a:graphicFrameLocks noGrp="1"/>
              </p:cNvGraphicFramePr>
              <p:nvPr>
                <p:extLst/>
              </p:nvPr>
            </p:nvGraphicFramePr>
            <p:xfrm>
              <a:off x="3901213" y="461844"/>
              <a:ext cx="3240000" cy="518160"/>
            </p:xfrm>
            <a:graphic>
              <a:graphicData uri="http://schemas.openxmlformats.org/drawingml/2006/table">
                <a:tbl>
                  <a:tblPr firstRow="1" bandRow="1">
                    <a:tableStyleId>{5940675A-B579-460E-94D1-54222C63F5DA}</a:tableStyleId>
                  </a:tblPr>
                  <a:tblGrid>
                    <a:gridCol w="540000">
                      <a:extLst>
                        <a:ext uri="{9D8B030D-6E8A-4147-A177-3AD203B41FA5}">
                          <a16:colId xmlns:a16="http://schemas.microsoft.com/office/drawing/2014/main" val="106444939"/>
                        </a:ext>
                      </a:extLst>
                    </a:gridCol>
                    <a:gridCol w="540000">
                      <a:extLst>
                        <a:ext uri="{9D8B030D-6E8A-4147-A177-3AD203B41FA5}">
                          <a16:colId xmlns:a16="http://schemas.microsoft.com/office/drawing/2014/main" val="3965888546"/>
                        </a:ext>
                      </a:extLst>
                    </a:gridCol>
                    <a:gridCol w="540000">
                      <a:extLst>
                        <a:ext uri="{9D8B030D-6E8A-4147-A177-3AD203B41FA5}">
                          <a16:colId xmlns:a16="http://schemas.microsoft.com/office/drawing/2014/main" val="82904498"/>
                        </a:ext>
                      </a:extLst>
                    </a:gridCol>
                    <a:gridCol w="540000">
                      <a:extLst>
                        <a:ext uri="{9D8B030D-6E8A-4147-A177-3AD203B41FA5}">
                          <a16:colId xmlns:a16="http://schemas.microsoft.com/office/drawing/2014/main" val="2214715668"/>
                        </a:ext>
                      </a:extLst>
                    </a:gridCol>
                    <a:gridCol w="540000">
                      <a:extLst>
                        <a:ext uri="{9D8B030D-6E8A-4147-A177-3AD203B41FA5}">
                          <a16:colId xmlns:a16="http://schemas.microsoft.com/office/drawing/2014/main" val="777121050"/>
                        </a:ext>
                      </a:extLst>
                    </a:gridCol>
                    <a:gridCol w="540000">
                      <a:extLst>
                        <a:ext uri="{9D8B030D-6E8A-4147-A177-3AD203B41FA5}">
                          <a16:colId xmlns:a16="http://schemas.microsoft.com/office/drawing/2014/main" val="2140332791"/>
                        </a:ext>
                      </a:extLst>
                    </a:gridCol>
                  </a:tblGrid>
                  <a:tr h="229371">
                    <a:tc>
                      <a:txBody>
                        <a:bodyPr/>
                        <a:lstStyle/>
                        <a:p>
                          <a:pPr algn="ctr"/>
                          <a14:m>
                            <m:oMath xmlns:m="http://schemas.openxmlformats.org/officeDocument/2006/math">
                              <m:r>
                                <a:rPr lang="en-US" altLang="zh-TW" sz="2800" b="0" i="1" dirty="0" smtClean="0">
                                  <a:solidFill>
                                    <a:srgbClr val="002060"/>
                                  </a:solidFill>
                                  <a:latin typeface="Cambria Math" panose="02040503050406030204" pitchFamily="18" charset="0"/>
                                  <a:cs typeface="Times New Roman" panose="02020603050405020304" pitchFamily="18" charset="0"/>
                                </a:rPr>
                                <m:t>𝑃</m:t>
                              </m:r>
                            </m:oMath>
                          </a14:m>
                          <a:r>
                            <a:rPr lang="en-US" altLang="zh-TW" sz="2800" dirty="0">
                              <a:solidFill>
                                <a:srgbClr val="002060"/>
                              </a:solidFill>
                              <a:latin typeface="Times New Roman" panose="02020603050405020304" pitchFamily="18" charset="0"/>
                              <a:cs typeface="Times New Roman" panose="02020603050405020304" pitchFamily="18" charset="0"/>
                            </a:rPr>
                            <a: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2</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6</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10</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4</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8</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706415246"/>
                      </a:ext>
                    </a:extLst>
                  </a:tr>
                </a:tbl>
              </a:graphicData>
            </a:graphic>
          </p:graphicFrame>
        </mc:Choice>
        <mc:Fallback>
          <p:graphicFrame>
            <p:nvGraphicFramePr>
              <p:cNvPr id="12" name="表格 11">
                <a:extLst>
                  <a:ext uri="{FF2B5EF4-FFF2-40B4-BE49-F238E27FC236}">
                    <a16:creationId xmlns:a16="http://schemas.microsoft.com/office/drawing/2014/main" id="{DC87DD96-6F4F-4B4C-81AD-844C518AFD66}"/>
                  </a:ext>
                </a:extLst>
              </p:cNvPr>
              <p:cNvGraphicFramePr>
                <a:graphicFrameLocks noGrp="1"/>
              </p:cNvGraphicFramePr>
              <p:nvPr>
                <p:extLst/>
              </p:nvPr>
            </p:nvGraphicFramePr>
            <p:xfrm>
              <a:off x="3901213" y="461844"/>
              <a:ext cx="3240000" cy="518160"/>
            </p:xfrm>
            <a:graphic>
              <a:graphicData uri="http://schemas.openxmlformats.org/drawingml/2006/table">
                <a:tbl>
                  <a:tblPr firstRow="1" bandRow="1">
                    <a:tableStyleId>{5940675A-B579-460E-94D1-54222C63F5DA}</a:tableStyleId>
                  </a:tblPr>
                  <a:tblGrid>
                    <a:gridCol w="540000">
                      <a:extLst>
                        <a:ext uri="{9D8B030D-6E8A-4147-A177-3AD203B41FA5}">
                          <a16:colId xmlns:a16="http://schemas.microsoft.com/office/drawing/2014/main" val="106444939"/>
                        </a:ext>
                      </a:extLst>
                    </a:gridCol>
                    <a:gridCol w="540000">
                      <a:extLst>
                        <a:ext uri="{9D8B030D-6E8A-4147-A177-3AD203B41FA5}">
                          <a16:colId xmlns:a16="http://schemas.microsoft.com/office/drawing/2014/main" val="3965888546"/>
                        </a:ext>
                      </a:extLst>
                    </a:gridCol>
                    <a:gridCol w="540000">
                      <a:extLst>
                        <a:ext uri="{9D8B030D-6E8A-4147-A177-3AD203B41FA5}">
                          <a16:colId xmlns:a16="http://schemas.microsoft.com/office/drawing/2014/main" val="82904498"/>
                        </a:ext>
                      </a:extLst>
                    </a:gridCol>
                    <a:gridCol w="540000">
                      <a:extLst>
                        <a:ext uri="{9D8B030D-6E8A-4147-A177-3AD203B41FA5}">
                          <a16:colId xmlns:a16="http://schemas.microsoft.com/office/drawing/2014/main" val="2214715668"/>
                        </a:ext>
                      </a:extLst>
                    </a:gridCol>
                    <a:gridCol w="540000">
                      <a:extLst>
                        <a:ext uri="{9D8B030D-6E8A-4147-A177-3AD203B41FA5}">
                          <a16:colId xmlns:a16="http://schemas.microsoft.com/office/drawing/2014/main" val="777121050"/>
                        </a:ext>
                      </a:extLst>
                    </a:gridCol>
                    <a:gridCol w="540000">
                      <a:extLst>
                        <a:ext uri="{9D8B030D-6E8A-4147-A177-3AD203B41FA5}">
                          <a16:colId xmlns:a16="http://schemas.microsoft.com/office/drawing/2014/main" val="2140332791"/>
                        </a:ext>
                      </a:extLst>
                    </a:gridCol>
                  </a:tblGrid>
                  <a:tr h="518160">
                    <a:tc>
                      <a:txBody>
                        <a:bodyPr/>
                        <a:lstStyle/>
                        <a:p>
                          <a:endParaRPr lang="zh-TW"/>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blipFill>
                          <a:blip r:embed="rId3"/>
                          <a:stretch>
                            <a:fillRect t="-11628" r="-498876" b="-32558"/>
                          </a:stretch>
                        </a:blip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2</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6</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10</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4</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8</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706415246"/>
                      </a:ext>
                    </a:extLst>
                  </a:tr>
                </a:tbl>
              </a:graphicData>
            </a:graphic>
          </p:graphicFrame>
        </mc:Fallback>
      </mc:AlternateContent>
      <mc:AlternateContent xmlns:mc="http://schemas.openxmlformats.org/markup-compatibility/2006">
        <mc:Choice xmlns:a14="http://schemas.microsoft.com/office/drawing/2010/main" Requires="a14">
          <p:graphicFrame>
            <p:nvGraphicFramePr>
              <p:cNvPr id="16" name="表格 15">
                <a:extLst>
                  <a:ext uri="{FF2B5EF4-FFF2-40B4-BE49-F238E27FC236}">
                    <a16:creationId xmlns:a16="http://schemas.microsoft.com/office/drawing/2014/main" id="{44D298C2-5178-4D59-8A9C-C346D5B4238F}"/>
                  </a:ext>
                </a:extLst>
              </p:cNvPr>
              <p:cNvGraphicFramePr>
                <a:graphicFrameLocks noGrp="1"/>
              </p:cNvGraphicFramePr>
              <p:nvPr/>
            </p:nvGraphicFramePr>
            <p:xfrm>
              <a:off x="5135325" y="2183665"/>
              <a:ext cx="3312000" cy="1210437"/>
            </p:xfrm>
            <a:graphic>
              <a:graphicData uri="http://schemas.openxmlformats.org/drawingml/2006/table">
                <a:tbl>
                  <a:tblPr firstRow="1" bandRow="1">
                    <a:tableStyleId>{5940675A-B579-460E-94D1-54222C63F5DA}</a:tableStyleId>
                  </a:tblPr>
                  <a:tblGrid>
                    <a:gridCol w="612000">
                      <a:extLst>
                        <a:ext uri="{9D8B030D-6E8A-4147-A177-3AD203B41FA5}">
                          <a16:colId xmlns:a16="http://schemas.microsoft.com/office/drawing/2014/main" val="162654532"/>
                        </a:ext>
                      </a:extLst>
                    </a:gridCol>
                    <a:gridCol w="540000">
                      <a:extLst>
                        <a:ext uri="{9D8B030D-6E8A-4147-A177-3AD203B41FA5}">
                          <a16:colId xmlns:a16="http://schemas.microsoft.com/office/drawing/2014/main" val="1214256893"/>
                        </a:ext>
                      </a:extLst>
                    </a:gridCol>
                    <a:gridCol w="540000">
                      <a:extLst>
                        <a:ext uri="{9D8B030D-6E8A-4147-A177-3AD203B41FA5}">
                          <a16:colId xmlns:a16="http://schemas.microsoft.com/office/drawing/2014/main" val="2185945537"/>
                        </a:ext>
                      </a:extLst>
                    </a:gridCol>
                    <a:gridCol w="540000">
                      <a:extLst>
                        <a:ext uri="{9D8B030D-6E8A-4147-A177-3AD203B41FA5}">
                          <a16:colId xmlns:a16="http://schemas.microsoft.com/office/drawing/2014/main" val="2888216586"/>
                        </a:ext>
                      </a:extLst>
                    </a:gridCol>
                    <a:gridCol w="540000">
                      <a:extLst>
                        <a:ext uri="{9D8B030D-6E8A-4147-A177-3AD203B41FA5}">
                          <a16:colId xmlns:a16="http://schemas.microsoft.com/office/drawing/2014/main" val="998630240"/>
                        </a:ext>
                      </a:extLst>
                    </a:gridCol>
                    <a:gridCol w="540000">
                      <a:extLst>
                        <a:ext uri="{9D8B030D-6E8A-4147-A177-3AD203B41FA5}">
                          <a16:colId xmlns:a16="http://schemas.microsoft.com/office/drawing/2014/main" val="3620064634"/>
                        </a:ext>
                      </a:extLst>
                    </a:gridCol>
                  </a:tblGrid>
                  <a:tr h="229371">
                    <a:tc>
                      <a:txBody>
                        <a:bodyPr/>
                        <a:lstStyle/>
                        <a:p>
                          <a:pPr algn="ctr"/>
                          <a14:m>
                            <m:oMathPara xmlns:m="http://schemas.openxmlformats.org/officeDocument/2006/math">
                              <m:oMathParaPr>
                                <m:jc m:val="centerGroup"/>
                              </m:oMathParaPr>
                              <m:oMath xmlns:m="http://schemas.openxmlformats.org/officeDocument/2006/math">
                                <m:r>
                                  <a:rPr lang="en-US" altLang="zh-TW" sz="2000" b="0" i="1" dirty="0" smtClean="0">
                                    <a:solidFill>
                                      <a:srgbClr val="0070C0"/>
                                    </a:solidFill>
                                    <a:latin typeface="Cambria Math" panose="02040503050406030204" pitchFamily="18" charset="0"/>
                                    <a:cs typeface="Times New Roman" panose="02020603050405020304" pitchFamily="18" charset="0"/>
                                  </a:rPr>
                                  <m:t>𝑖</m:t>
                                </m:r>
                              </m:oMath>
                            </m:oMathPara>
                          </a14:m>
                          <a:endParaRPr lang="zh-TW" altLang="en-US" sz="2000" b="0" dirty="0">
                            <a:solidFill>
                              <a:srgbClr val="0070C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rgbClr val="0070C0"/>
                              </a:solidFill>
                              <a:latin typeface="Times New Roman" panose="02020603050405020304" pitchFamily="18" charset="0"/>
                              <a:cs typeface="Times New Roman" panose="02020603050405020304" pitchFamily="18" charset="0"/>
                            </a:rPr>
                            <a:t>1</a:t>
                          </a:r>
                          <a:endParaRPr lang="zh-TW" altLang="en-US" sz="2000" dirty="0">
                            <a:solidFill>
                              <a:srgbClr val="0070C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rgbClr val="0070C0"/>
                              </a:solidFill>
                              <a:latin typeface="Times New Roman" panose="02020603050405020304" pitchFamily="18" charset="0"/>
                              <a:cs typeface="Times New Roman" panose="02020603050405020304" pitchFamily="18" charset="0"/>
                            </a:rPr>
                            <a:t>2</a:t>
                          </a:r>
                          <a:endParaRPr lang="zh-TW" altLang="en-US" sz="2000" dirty="0">
                            <a:solidFill>
                              <a:srgbClr val="0070C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rgbClr val="0070C0"/>
                              </a:solidFill>
                              <a:latin typeface="Times New Roman" panose="02020603050405020304" pitchFamily="18" charset="0"/>
                              <a:cs typeface="Times New Roman" panose="02020603050405020304" pitchFamily="18" charset="0"/>
                            </a:rPr>
                            <a:t>3</a:t>
                          </a:r>
                          <a:endParaRPr lang="zh-TW" altLang="en-US" sz="2000" dirty="0">
                            <a:solidFill>
                              <a:srgbClr val="0070C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rgbClr val="0070C0"/>
                              </a:solidFill>
                              <a:latin typeface="Times New Roman" panose="02020603050405020304" pitchFamily="18" charset="0"/>
                              <a:cs typeface="Times New Roman" panose="02020603050405020304" pitchFamily="18" charset="0"/>
                            </a:rPr>
                            <a:t>4</a:t>
                          </a:r>
                          <a:endParaRPr lang="zh-TW" altLang="en-US" sz="2000" dirty="0">
                            <a:solidFill>
                              <a:srgbClr val="0070C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rgbClr val="0070C0"/>
                              </a:solidFill>
                              <a:latin typeface="Times New Roman" panose="02020603050405020304" pitchFamily="18" charset="0"/>
                              <a:cs typeface="Times New Roman" panose="02020603050405020304" pitchFamily="18" charset="0"/>
                            </a:rPr>
                            <a:t>5</a:t>
                          </a:r>
                          <a:endParaRPr lang="zh-TW" altLang="en-US" sz="2000" dirty="0">
                            <a:solidFill>
                              <a:srgbClr val="0070C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80373752"/>
                      </a:ext>
                    </a:extLst>
                  </a:tr>
                  <a:tr h="229371">
                    <a:tc>
                      <a:txBody>
                        <a:bodyPr/>
                        <a:lstStyle/>
                        <a:p>
                          <a:pPr algn="ctr"/>
                          <a14:m>
                            <m:oMathPara xmlns:m="http://schemas.openxmlformats.org/officeDocument/2006/math">
                              <m:oMathParaPr>
                                <m:jc m:val="centerGroup"/>
                              </m:oMathParaPr>
                              <m:oMath xmlns:m="http://schemas.openxmlformats.org/officeDocument/2006/math">
                                <m:r>
                                  <a:rPr lang="en-US" altLang="zh-TW" sz="2000" b="0" i="1" dirty="0" smtClean="0">
                                    <a:solidFill>
                                      <a:srgbClr val="0070C0"/>
                                    </a:solidFill>
                                    <a:latin typeface="Cambria Math" panose="02040503050406030204" pitchFamily="18" charset="0"/>
                                    <a:cs typeface="Times New Roman" panose="02020603050405020304" pitchFamily="18" charset="0"/>
                                  </a:rPr>
                                  <m:t>𝑟</m:t>
                                </m:r>
                                <m:r>
                                  <a:rPr lang="en-US" altLang="zh-TW" sz="2000" b="0" i="1" dirty="0" smtClean="0">
                                    <a:solidFill>
                                      <a:srgbClr val="0070C0"/>
                                    </a:solidFill>
                                    <a:latin typeface="Cambria Math" panose="02040503050406030204" pitchFamily="18" charset="0"/>
                                    <a:cs typeface="Times New Roman" panose="02020603050405020304" pitchFamily="18" charset="0"/>
                                  </a:rPr>
                                  <m:t>[</m:t>
                                </m:r>
                                <m:r>
                                  <a:rPr lang="en-US" altLang="zh-TW" sz="2000" b="0" i="1" dirty="0" err="1" smtClean="0">
                                    <a:solidFill>
                                      <a:srgbClr val="0070C0"/>
                                    </a:solidFill>
                                    <a:latin typeface="Cambria Math" panose="02040503050406030204" pitchFamily="18" charset="0"/>
                                    <a:cs typeface="Times New Roman" panose="02020603050405020304" pitchFamily="18" charset="0"/>
                                  </a:rPr>
                                  <m:t>𝑖</m:t>
                                </m:r>
                                <m:r>
                                  <a:rPr lang="en-US" altLang="zh-TW" sz="2000" b="0" i="1" dirty="0" smtClean="0">
                                    <a:solidFill>
                                      <a:srgbClr val="0070C0"/>
                                    </a:solidFill>
                                    <a:latin typeface="Cambria Math" panose="02040503050406030204" pitchFamily="18" charset="0"/>
                                    <a:cs typeface="Times New Roman" panose="02020603050405020304" pitchFamily="18" charset="0"/>
                                  </a:rPr>
                                  <m:t>]</m:t>
                                </m:r>
                              </m:oMath>
                            </m:oMathPara>
                          </a14:m>
                          <a:endParaRPr lang="zh-TW" altLang="en-US" sz="2000" b="0" dirty="0">
                            <a:solidFill>
                              <a:srgbClr val="0070C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rgbClr val="0070C0"/>
                              </a:solidFill>
                              <a:latin typeface="Times New Roman" panose="02020603050405020304" pitchFamily="18" charset="0"/>
                              <a:cs typeface="Times New Roman" panose="02020603050405020304" pitchFamily="18" charset="0"/>
                            </a:rPr>
                            <a:t>1</a:t>
                          </a:r>
                          <a:endParaRPr lang="zh-TW" altLang="en-US" sz="2000" dirty="0">
                            <a:solidFill>
                              <a:srgbClr val="0070C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rgbClr val="0070C0"/>
                              </a:solidFill>
                              <a:latin typeface="Times New Roman" panose="02020603050405020304" pitchFamily="18" charset="0"/>
                              <a:cs typeface="Times New Roman" panose="02020603050405020304" pitchFamily="18" charset="0"/>
                            </a:rPr>
                            <a:t>4</a:t>
                          </a:r>
                          <a:endParaRPr lang="zh-TW" altLang="en-US" sz="2000" dirty="0">
                            <a:solidFill>
                              <a:srgbClr val="0070C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rgbClr val="0070C0"/>
                              </a:solidFill>
                              <a:latin typeface="Times New Roman" panose="02020603050405020304" pitchFamily="18" charset="0"/>
                              <a:cs typeface="Times New Roman" panose="02020603050405020304" pitchFamily="18" charset="0"/>
                            </a:rPr>
                            <a:t>2</a:t>
                          </a:r>
                          <a:endParaRPr lang="zh-TW" altLang="en-US" sz="2000" dirty="0">
                            <a:solidFill>
                              <a:srgbClr val="0070C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rgbClr val="0070C0"/>
                              </a:solidFill>
                              <a:latin typeface="Times New Roman" panose="02020603050405020304" pitchFamily="18" charset="0"/>
                              <a:cs typeface="Times New Roman" panose="02020603050405020304" pitchFamily="18" charset="0"/>
                            </a:rPr>
                            <a:t>5</a:t>
                          </a:r>
                          <a:endParaRPr lang="zh-TW" altLang="en-US" sz="2000" dirty="0">
                            <a:solidFill>
                              <a:srgbClr val="0070C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rgbClr val="0070C0"/>
                              </a:solidFill>
                              <a:latin typeface="Times New Roman" panose="02020603050405020304" pitchFamily="18" charset="0"/>
                              <a:cs typeface="Times New Roman" panose="02020603050405020304" pitchFamily="18" charset="0"/>
                            </a:rPr>
                            <a:t>3</a:t>
                          </a:r>
                          <a:endParaRPr lang="zh-TW" altLang="en-US" sz="2000" dirty="0">
                            <a:solidFill>
                              <a:srgbClr val="0070C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65958278"/>
                      </a:ext>
                    </a:extLst>
                  </a:tr>
                  <a:tr h="229371">
                    <a:tc>
                      <a:txBody>
                        <a:bodyPr/>
                        <a:lstStyle/>
                        <a:p>
                          <a:pPr algn="ctr"/>
                          <a14:m>
                            <m:oMathPara xmlns:m="http://schemas.openxmlformats.org/officeDocument/2006/math">
                              <m:oMathParaPr>
                                <m:jc m:val="centerGroup"/>
                              </m:oMathParaPr>
                              <m:oMath xmlns:m="http://schemas.openxmlformats.org/officeDocument/2006/math">
                                <m:sSub>
                                  <m:sSubPr>
                                    <m:ctrlPr>
                                      <a:rPr lang="en-US" altLang="zh-TW" sz="2000" b="0" i="1" smtClean="0">
                                        <a:solidFill>
                                          <a:srgbClr val="0070C0"/>
                                        </a:solidFill>
                                        <a:latin typeface="Cambria Math" panose="02040503050406030204" pitchFamily="18" charset="0"/>
                                      </a:rPr>
                                    </m:ctrlPr>
                                  </m:sSubPr>
                                  <m:e>
                                    <m:r>
                                      <a:rPr lang="en-US" altLang="zh-TW" sz="2000" b="0" i="1" smtClean="0">
                                        <a:solidFill>
                                          <a:srgbClr val="0070C0"/>
                                        </a:solidFill>
                                        <a:latin typeface="Cambria Math" panose="02040503050406030204" pitchFamily="18" charset="0"/>
                                      </a:rPr>
                                      <m:t>𝑃</m:t>
                                    </m:r>
                                  </m:e>
                                  <m:sub>
                                    <m:r>
                                      <a:rPr lang="en-US" altLang="zh-TW" sz="2000" b="0" i="1" smtClean="0">
                                        <a:solidFill>
                                          <a:srgbClr val="0070C0"/>
                                        </a:solidFill>
                                        <a:latin typeface="Cambria Math" panose="02040503050406030204" pitchFamily="18" charset="0"/>
                                      </a:rPr>
                                      <m:t>𝑟</m:t>
                                    </m:r>
                                    <m:d>
                                      <m:dPr>
                                        <m:begChr m:val="["/>
                                        <m:endChr m:val="]"/>
                                        <m:ctrlPr>
                                          <a:rPr lang="en-US" altLang="zh-TW" sz="2000" b="0" i="1" smtClean="0">
                                            <a:solidFill>
                                              <a:srgbClr val="0070C0"/>
                                            </a:solidFill>
                                            <a:latin typeface="Cambria Math" panose="02040503050406030204" pitchFamily="18" charset="0"/>
                                          </a:rPr>
                                        </m:ctrlPr>
                                      </m:dPr>
                                      <m:e>
                                        <m:r>
                                          <a:rPr lang="en-US" altLang="zh-TW" sz="2000" b="0" i="1" smtClean="0">
                                            <a:solidFill>
                                              <a:srgbClr val="0070C0"/>
                                            </a:solidFill>
                                            <a:latin typeface="Cambria Math" panose="02040503050406030204" pitchFamily="18" charset="0"/>
                                          </a:rPr>
                                          <m:t>𝑖</m:t>
                                        </m:r>
                                      </m:e>
                                    </m:d>
                                  </m:sub>
                                </m:sSub>
                              </m:oMath>
                            </m:oMathPara>
                          </a14:m>
                          <a:endParaRPr lang="zh-TW" altLang="en-US" sz="2000" b="0" dirty="0">
                            <a:solidFill>
                              <a:srgbClr val="0070C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rgbClr val="0070C0"/>
                              </a:solidFill>
                              <a:latin typeface="Times New Roman" panose="02020603050405020304" pitchFamily="18" charset="0"/>
                              <a:cs typeface="Times New Roman" panose="02020603050405020304" pitchFamily="18" charset="0"/>
                            </a:rPr>
                            <a:t>2</a:t>
                          </a:r>
                          <a:endParaRPr lang="zh-TW" altLang="en-US" sz="2000" dirty="0">
                            <a:solidFill>
                              <a:srgbClr val="0070C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rgbClr val="0070C0"/>
                              </a:solidFill>
                              <a:latin typeface="Times New Roman" panose="02020603050405020304" pitchFamily="18" charset="0"/>
                              <a:cs typeface="Times New Roman" panose="02020603050405020304" pitchFamily="18" charset="0"/>
                            </a:rPr>
                            <a:t>4</a:t>
                          </a:r>
                          <a:endParaRPr lang="zh-TW" altLang="en-US" sz="2000" dirty="0">
                            <a:solidFill>
                              <a:srgbClr val="0070C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rgbClr val="0070C0"/>
                              </a:solidFill>
                              <a:latin typeface="Times New Roman" panose="02020603050405020304" pitchFamily="18" charset="0"/>
                              <a:cs typeface="Times New Roman" panose="02020603050405020304" pitchFamily="18" charset="0"/>
                            </a:rPr>
                            <a:t>6</a:t>
                          </a:r>
                          <a:endParaRPr lang="zh-TW" altLang="en-US" sz="2000" dirty="0">
                            <a:solidFill>
                              <a:srgbClr val="0070C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rgbClr val="0070C0"/>
                              </a:solidFill>
                              <a:latin typeface="Times New Roman" panose="02020603050405020304" pitchFamily="18" charset="0"/>
                              <a:cs typeface="Times New Roman" panose="02020603050405020304" pitchFamily="18" charset="0"/>
                            </a:rPr>
                            <a:t>8</a:t>
                          </a:r>
                          <a:endParaRPr lang="zh-TW" altLang="en-US" sz="2000" dirty="0">
                            <a:solidFill>
                              <a:srgbClr val="0070C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rgbClr val="0070C0"/>
                              </a:solidFill>
                              <a:latin typeface="Times New Roman" panose="02020603050405020304" pitchFamily="18" charset="0"/>
                              <a:cs typeface="Times New Roman" panose="02020603050405020304" pitchFamily="18" charset="0"/>
                            </a:rPr>
                            <a:t>10</a:t>
                          </a:r>
                          <a:endParaRPr lang="zh-TW" altLang="en-US" sz="2000" dirty="0">
                            <a:solidFill>
                              <a:srgbClr val="0070C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97000692"/>
                      </a:ext>
                    </a:extLst>
                  </a:tr>
                </a:tbl>
              </a:graphicData>
            </a:graphic>
          </p:graphicFrame>
        </mc:Choice>
        <mc:Fallback>
          <p:graphicFrame>
            <p:nvGraphicFramePr>
              <p:cNvPr id="16" name="表格 15">
                <a:extLst>
                  <a:ext uri="{FF2B5EF4-FFF2-40B4-BE49-F238E27FC236}">
                    <a16:creationId xmlns:a16="http://schemas.microsoft.com/office/drawing/2014/main" id="{44D298C2-5178-4D59-8A9C-C346D5B4238F}"/>
                  </a:ext>
                </a:extLst>
              </p:cNvPr>
              <p:cNvGraphicFramePr>
                <a:graphicFrameLocks noGrp="1"/>
              </p:cNvGraphicFramePr>
              <p:nvPr/>
            </p:nvGraphicFramePr>
            <p:xfrm>
              <a:off x="5135325" y="2183665"/>
              <a:ext cx="3312000" cy="1210437"/>
            </p:xfrm>
            <a:graphic>
              <a:graphicData uri="http://schemas.openxmlformats.org/drawingml/2006/table">
                <a:tbl>
                  <a:tblPr firstRow="1" bandRow="1">
                    <a:tableStyleId>{5940675A-B579-460E-94D1-54222C63F5DA}</a:tableStyleId>
                  </a:tblPr>
                  <a:tblGrid>
                    <a:gridCol w="612000">
                      <a:extLst>
                        <a:ext uri="{9D8B030D-6E8A-4147-A177-3AD203B41FA5}">
                          <a16:colId xmlns:a16="http://schemas.microsoft.com/office/drawing/2014/main" val="162654532"/>
                        </a:ext>
                      </a:extLst>
                    </a:gridCol>
                    <a:gridCol w="540000">
                      <a:extLst>
                        <a:ext uri="{9D8B030D-6E8A-4147-A177-3AD203B41FA5}">
                          <a16:colId xmlns:a16="http://schemas.microsoft.com/office/drawing/2014/main" val="1214256893"/>
                        </a:ext>
                      </a:extLst>
                    </a:gridCol>
                    <a:gridCol w="540000">
                      <a:extLst>
                        <a:ext uri="{9D8B030D-6E8A-4147-A177-3AD203B41FA5}">
                          <a16:colId xmlns:a16="http://schemas.microsoft.com/office/drawing/2014/main" val="2185945537"/>
                        </a:ext>
                      </a:extLst>
                    </a:gridCol>
                    <a:gridCol w="540000">
                      <a:extLst>
                        <a:ext uri="{9D8B030D-6E8A-4147-A177-3AD203B41FA5}">
                          <a16:colId xmlns:a16="http://schemas.microsoft.com/office/drawing/2014/main" val="2888216586"/>
                        </a:ext>
                      </a:extLst>
                    </a:gridCol>
                    <a:gridCol w="540000">
                      <a:extLst>
                        <a:ext uri="{9D8B030D-6E8A-4147-A177-3AD203B41FA5}">
                          <a16:colId xmlns:a16="http://schemas.microsoft.com/office/drawing/2014/main" val="998630240"/>
                        </a:ext>
                      </a:extLst>
                    </a:gridCol>
                    <a:gridCol w="540000">
                      <a:extLst>
                        <a:ext uri="{9D8B030D-6E8A-4147-A177-3AD203B41FA5}">
                          <a16:colId xmlns:a16="http://schemas.microsoft.com/office/drawing/2014/main" val="3620064634"/>
                        </a:ext>
                      </a:extLst>
                    </a:gridCol>
                  </a:tblGrid>
                  <a:tr h="396240">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4"/>
                          <a:stretch>
                            <a:fillRect l="-990" t="-7692" r="-440594" b="-230769"/>
                          </a:stretch>
                        </a:blipFill>
                      </a:tcPr>
                    </a:tc>
                    <a:tc>
                      <a:txBody>
                        <a:bodyPr/>
                        <a:lstStyle/>
                        <a:p>
                          <a:pPr algn="ctr"/>
                          <a:r>
                            <a:rPr lang="en-US" altLang="zh-TW" sz="2000" dirty="0">
                              <a:solidFill>
                                <a:srgbClr val="0070C0"/>
                              </a:solidFill>
                              <a:latin typeface="Times New Roman" panose="02020603050405020304" pitchFamily="18" charset="0"/>
                              <a:cs typeface="Times New Roman" panose="02020603050405020304" pitchFamily="18" charset="0"/>
                            </a:rPr>
                            <a:t>1</a:t>
                          </a:r>
                          <a:endParaRPr lang="zh-TW" altLang="en-US" sz="2000" dirty="0">
                            <a:solidFill>
                              <a:srgbClr val="0070C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rgbClr val="0070C0"/>
                              </a:solidFill>
                              <a:latin typeface="Times New Roman" panose="02020603050405020304" pitchFamily="18" charset="0"/>
                              <a:cs typeface="Times New Roman" panose="02020603050405020304" pitchFamily="18" charset="0"/>
                            </a:rPr>
                            <a:t>2</a:t>
                          </a:r>
                          <a:endParaRPr lang="zh-TW" altLang="en-US" sz="2000" dirty="0">
                            <a:solidFill>
                              <a:srgbClr val="0070C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rgbClr val="0070C0"/>
                              </a:solidFill>
                              <a:latin typeface="Times New Roman" panose="02020603050405020304" pitchFamily="18" charset="0"/>
                              <a:cs typeface="Times New Roman" panose="02020603050405020304" pitchFamily="18" charset="0"/>
                            </a:rPr>
                            <a:t>3</a:t>
                          </a:r>
                          <a:endParaRPr lang="zh-TW" altLang="en-US" sz="2000" dirty="0">
                            <a:solidFill>
                              <a:srgbClr val="0070C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rgbClr val="0070C0"/>
                              </a:solidFill>
                              <a:latin typeface="Times New Roman" panose="02020603050405020304" pitchFamily="18" charset="0"/>
                              <a:cs typeface="Times New Roman" panose="02020603050405020304" pitchFamily="18" charset="0"/>
                            </a:rPr>
                            <a:t>4</a:t>
                          </a:r>
                          <a:endParaRPr lang="zh-TW" altLang="en-US" sz="2000" dirty="0">
                            <a:solidFill>
                              <a:srgbClr val="0070C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rgbClr val="0070C0"/>
                              </a:solidFill>
                              <a:latin typeface="Times New Roman" panose="02020603050405020304" pitchFamily="18" charset="0"/>
                              <a:cs typeface="Times New Roman" panose="02020603050405020304" pitchFamily="18" charset="0"/>
                            </a:rPr>
                            <a:t>5</a:t>
                          </a:r>
                          <a:endParaRPr lang="zh-TW" altLang="en-US" sz="2000" dirty="0">
                            <a:solidFill>
                              <a:srgbClr val="0070C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80373752"/>
                      </a:ext>
                    </a:extLst>
                  </a:tr>
                  <a:tr h="396240">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4"/>
                          <a:stretch>
                            <a:fillRect l="-990" t="-107692" r="-440594" b="-130769"/>
                          </a:stretch>
                        </a:blipFill>
                      </a:tcPr>
                    </a:tc>
                    <a:tc>
                      <a:txBody>
                        <a:bodyPr/>
                        <a:lstStyle/>
                        <a:p>
                          <a:pPr algn="ctr"/>
                          <a:r>
                            <a:rPr lang="en-US" altLang="zh-TW" sz="2000" dirty="0">
                              <a:solidFill>
                                <a:srgbClr val="0070C0"/>
                              </a:solidFill>
                              <a:latin typeface="Times New Roman" panose="02020603050405020304" pitchFamily="18" charset="0"/>
                              <a:cs typeface="Times New Roman" panose="02020603050405020304" pitchFamily="18" charset="0"/>
                            </a:rPr>
                            <a:t>1</a:t>
                          </a:r>
                          <a:endParaRPr lang="zh-TW" altLang="en-US" sz="2000" dirty="0">
                            <a:solidFill>
                              <a:srgbClr val="0070C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rgbClr val="0070C0"/>
                              </a:solidFill>
                              <a:latin typeface="Times New Roman" panose="02020603050405020304" pitchFamily="18" charset="0"/>
                              <a:cs typeface="Times New Roman" panose="02020603050405020304" pitchFamily="18" charset="0"/>
                            </a:rPr>
                            <a:t>4</a:t>
                          </a:r>
                          <a:endParaRPr lang="zh-TW" altLang="en-US" sz="2000" dirty="0">
                            <a:solidFill>
                              <a:srgbClr val="0070C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rgbClr val="0070C0"/>
                              </a:solidFill>
                              <a:latin typeface="Times New Roman" panose="02020603050405020304" pitchFamily="18" charset="0"/>
                              <a:cs typeface="Times New Roman" panose="02020603050405020304" pitchFamily="18" charset="0"/>
                            </a:rPr>
                            <a:t>2</a:t>
                          </a:r>
                          <a:endParaRPr lang="zh-TW" altLang="en-US" sz="2000" dirty="0">
                            <a:solidFill>
                              <a:srgbClr val="0070C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rgbClr val="0070C0"/>
                              </a:solidFill>
                              <a:latin typeface="Times New Roman" panose="02020603050405020304" pitchFamily="18" charset="0"/>
                              <a:cs typeface="Times New Roman" panose="02020603050405020304" pitchFamily="18" charset="0"/>
                            </a:rPr>
                            <a:t>5</a:t>
                          </a:r>
                          <a:endParaRPr lang="zh-TW" altLang="en-US" sz="2000" dirty="0">
                            <a:solidFill>
                              <a:srgbClr val="0070C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rgbClr val="0070C0"/>
                              </a:solidFill>
                              <a:latin typeface="Times New Roman" panose="02020603050405020304" pitchFamily="18" charset="0"/>
                              <a:cs typeface="Times New Roman" panose="02020603050405020304" pitchFamily="18" charset="0"/>
                            </a:rPr>
                            <a:t>3</a:t>
                          </a:r>
                          <a:endParaRPr lang="zh-TW" altLang="en-US" sz="2000" dirty="0">
                            <a:solidFill>
                              <a:srgbClr val="0070C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65958278"/>
                      </a:ext>
                    </a:extLst>
                  </a:tr>
                  <a:tr h="417957">
                    <a:tc>
                      <a:txBody>
                        <a:bodyPr/>
                        <a:lstStyle/>
                        <a:p>
                          <a:endParaRPr lang="zh-TW"/>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4"/>
                          <a:stretch>
                            <a:fillRect l="-990" t="-195652" r="-440594" b="-23188"/>
                          </a:stretch>
                        </a:blipFill>
                      </a:tcPr>
                    </a:tc>
                    <a:tc>
                      <a:txBody>
                        <a:bodyPr/>
                        <a:lstStyle/>
                        <a:p>
                          <a:pPr algn="ctr"/>
                          <a:r>
                            <a:rPr lang="en-US" altLang="zh-TW" sz="2000" dirty="0">
                              <a:solidFill>
                                <a:srgbClr val="0070C0"/>
                              </a:solidFill>
                              <a:latin typeface="Times New Roman" panose="02020603050405020304" pitchFamily="18" charset="0"/>
                              <a:cs typeface="Times New Roman" panose="02020603050405020304" pitchFamily="18" charset="0"/>
                            </a:rPr>
                            <a:t>2</a:t>
                          </a:r>
                          <a:endParaRPr lang="zh-TW" altLang="en-US" sz="2000" dirty="0">
                            <a:solidFill>
                              <a:srgbClr val="0070C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rgbClr val="0070C0"/>
                              </a:solidFill>
                              <a:latin typeface="Times New Roman" panose="02020603050405020304" pitchFamily="18" charset="0"/>
                              <a:cs typeface="Times New Roman" panose="02020603050405020304" pitchFamily="18" charset="0"/>
                            </a:rPr>
                            <a:t>4</a:t>
                          </a:r>
                          <a:endParaRPr lang="zh-TW" altLang="en-US" sz="2000" dirty="0">
                            <a:solidFill>
                              <a:srgbClr val="0070C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rgbClr val="0070C0"/>
                              </a:solidFill>
                              <a:latin typeface="Times New Roman" panose="02020603050405020304" pitchFamily="18" charset="0"/>
                              <a:cs typeface="Times New Roman" panose="02020603050405020304" pitchFamily="18" charset="0"/>
                            </a:rPr>
                            <a:t>6</a:t>
                          </a:r>
                          <a:endParaRPr lang="zh-TW" altLang="en-US" sz="2000" dirty="0">
                            <a:solidFill>
                              <a:srgbClr val="0070C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rgbClr val="0070C0"/>
                              </a:solidFill>
                              <a:latin typeface="Times New Roman" panose="02020603050405020304" pitchFamily="18" charset="0"/>
                              <a:cs typeface="Times New Roman" panose="02020603050405020304" pitchFamily="18" charset="0"/>
                            </a:rPr>
                            <a:t>8</a:t>
                          </a:r>
                          <a:endParaRPr lang="zh-TW" altLang="en-US" sz="2000" dirty="0">
                            <a:solidFill>
                              <a:srgbClr val="0070C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000" dirty="0">
                              <a:solidFill>
                                <a:srgbClr val="0070C0"/>
                              </a:solidFill>
                              <a:latin typeface="Times New Roman" panose="02020603050405020304" pitchFamily="18" charset="0"/>
                              <a:cs typeface="Times New Roman" panose="02020603050405020304" pitchFamily="18" charset="0"/>
                            </a:rPr>
                            <a:t>10</a:t>
                          </a:r>
                          <a:endParaRPr lang="zh-TW" altLang="en-US" sz="2000" dirty="0">
                            <a:solidFill>
                              <a:srgbClr val="0070C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97000692"/>
                      </a:ext>
                    </a:extLst>
                  </a:tr>
                </a:tbl>
              </a:graphicData>
            </a:graphic>
          </p:graphicFrame>
        </mc:Fallback>
      </mc:AlternateContent>
      <mc:AlternateContent xmlns:mc="http://schemas.openxmlformats.org/markup-compatibility/2006">
        <mc:Choice xmlns:a14="http://schemas.microsoft.com/office/drawing/2010/main" Requires="a14">
          <p:sp>
            <p:nvSpPr>
              <p:cNvPr id="19" name="矩形 18">
                <a:extLst>
                  <a:ext uri="{FF2B5EF4-FFF2-40B4-BE49-F238E27FC236}">
                    <a16:creationId xmlns:a16="http://schemas.microsoft.com/office/drawing/2014/main" id="{FFD6ACFD-6072-4BF7-A592-A69118C0776B}"/>
                  </a:ext>
                </a:extLst>
              </p:cNvPr>
              <p:cNvSpPr/>
              <p:nvPr/>
            </p:nvSpPr>
            <p:spPr>
              <a:xfrm>
                <a:off x="596038" y="4324739"/>
                <a:ext cx="1140819" cy="461665"/>
              </a:xfrm>
              <a:prstGeom prst="rect">
                <a:avLst/>
              </a:prstGeom>
            </p:spPr>
            <p:txBody>
              <a:bodyPr wrap="square">
                <a:spAutoFit/>
              </a:bodyPr>
              <a:lstStyle/>
              <a:p>
                <a:pPr/>
                <a14:m>
                  <m:oMathPara xmlns:m="http://schemas.openxmlformats.org/officeDocument/2006/math">
                    <m:oMathParaPr>
                      <m:jc m:val="left"/>
                    </m:oMathParaPr>
                    <m:oMath xmlns:m="http://schemas.openxmlformats.org/officeDocument/2006/math">
                      <m:r>
                        <a:rPr lang="en-US" altLang="zh-TW" sz="2400" b="0" i="1" dirty="0" smtClean="0">
                          <a:latin typeface="Cambria Math" panose="02040503050406030204" pitchFamily="18" charset="0"/>
                        </a:rPr>
                        <m:t>𝑇</m:t>
                      </m:r>
                      <m:d>
                        <m:dPr>
                          <m:begChr m:val="["/>
                          <m:endChr m:val="]"/>
                          <m:ctrlPr>
                            <a:rPr lang="en-US" altLang="zh-TW" sz="2400" b="0" i="1" dirty="0" smtClean="0">
                              <a:latin typeface="Cambria Math" panose="02040503050406030204" pitchFamily="18" charset="0"/>
                            </a:rPr>
                          </m:ctrlPr>
                        </m:dPr>
                        <m:e>
                          <m:r>
                            <a:rPr lang="en-US" altLang="zh-TW" sz="2400" b="0" i="1" dirty="0" smtClean="0">
                              <a:latin typeface="Cambria Math" panose="02040503050406030204" pitchFamily="18" charset="0"/>
                            </a:rPr>
                            <m:t>1:5</m:t>
                          </m:r>
                        </m:e>
                      </m:d>
                    </m:oMath>
                  </m:oMathPara>
                </a14:m>
                <a:endParaRPr lang="zh-TW" altLang="en-US" sz="2400" dirty="0">
                  <a:latin typeface="Times New Roman" panose="02020603050405020304" pitchFamily="18" charset="0"/>
                </a:endParaRPr>
              </a:p>
            </p:txBody>
          </p:sp>
        </mc:Choice>
        <mc:Fallback>
          <p:sp>
            <p:nvSpPr>
              <p:cNvPr id="19" name="矩形 18">
                <a:extLst>
                  <a:ext uri="{FF2B5EF4-FFF2-40B4-BE49-F238E27FC236}">
                    <a16:creationId xmlns:a16="http://schemas.microsoft.com/office/drawing/2014/main" id="{FFD6ACFD-6072-4BF7-A592-A69118C0776B}"/>
                  </a:ext>
                </a:extLst>
              </p:cNvPr>
              <p:cNvSpPr>
                <a:spLocks noRot="1" noChangeAspect="1" noMove="1" noResize="1" noEditPoints="1" noAdjustHandles="1" noChangeArrowheads="1" noChangeShapeType="1" noTextEdit="1"/>
              </p:cNvSpPr>
              <p:nvPr/>
            </p:nvSpPr>
            <p:spPr>
              <a:xfrm>
                <a:off x="596038" y="4324739"/>
                <a:ext cx="1140819" cy="461665"/>
              </a:xfrm>
              <a:prstGeom prst="rect">
                <a:avLst/>
              </a:prstGeom>
              <a:blipFill>
                <a:blip r:embed="rId5"/>
                <a:stretch>
                  <a:fillRect l="-1604"/>
                </a:stretch>
              </a:blipFill>
            </p:spPr>
            <p:txBody>
              <a:bodyPr/>
              <a:lstStyle/>
              <a:p>
                <a:r>
                  <a:rPr lang="zh-TW" altLang="en-US">
                    <a:noFill/>
                  </a:rPr>
                  <a:t> </a:t>
                </a:r>
              </a:p>
            </p:txBody>
          </p:sp>
        </mc:Fallback>
      </mc:AlternateContent>
      <p:graphicFrame>
        <p:nvGraphicFramePr>
          <p:cNvPr id="21" name="表格 20">
            <a:extLst>
              <a:ext uri="{FF2B5EF4-FFF2-40B4-BE49-F238E27FC236}">
                <a16:creationId xmlns:a16="http://schemas.microsoft.com/office/drawing/2014/main" id="{C5D9CEE8-226E-4741-88B6-CBE2DF364F0F}"/>
              </a:ext>
            </a:extLst>
          </p:cNvPr>
          <p:cNvGraphicFramePr>
            <a:graphicFrameLocks noGrp="1"/>
          </p:cNvGraphicFramePr>
          <p:nvPr/>
        </p:nvGraphicFramePr>
        <p:xfrm>
          <a:off x="1962150" y="4264244"/>
          <a:ext cx="2700000" cy="518160"/>
        </p:xfrm>
        <a:graphic>
          <a:graphicData uri="http://schemas.openxmlformats.org/drawingml/2006/table">
            <a:tbl>
              <a:tblPr firstRow="1" bandRow="1">
                <a:tableStyleId>{5940675A-B579-460E-94D1-54222C63F5DA}</a:tableStyleId>
              </a:tblPr>
              <a:tblGrid>
                <a:gridCol w="540000">
                  <a:extLst>
                    <a:ext uri="{9D8B030D-6E8A-4147-A177-3AD203B41FA5}">
                      <a16:colId xmlns:a16="http://schemas.microsoft.com/office/drawing/2014/main" val="2577381676"/>
                    </a:ext>
                  </a:extLst>
                </a:gridCol>
                <a:gridCol w="540000">
                  <a:extLst>
                    <a:ext uri="{9D8B030D-6E8A-4147-A177-3AD203B41FA5}">
                      <a16:colId xmlns:a16="http://schemas.microsoft.com/office/drawing/2014/main" val="2494047531"/>
                    </a:ext>
                  </a:extLst>
                </a:gridCol>
                <a:gridCol w="540000">
                  <a:extLst>
                    <a:ext uri="{9D8B030D-6E8A-4147-A177-3AD203B41FA5}">
                      <a16:colId xmlns:a16="http://schemas.microsoft.com/office/drawing/2014/main" val="265930632"/>
                    </a:ext>
                  </a:extLst>
                </a:gridCol>
                <a:gridCol w="540000">
                  <a:extLst>
                    <a:ext uri="{9D8B030D-6E8A-4147-A177-3AD203B41FA5}">
                      <a16:colId xmlns:a16="http://schemas.microsoft.com/office/drawing/2014/main" val="4267407961"/>
                    </a:ext>
                  </a:extLst>
                </a:gridCol>
                <a:gridCol w="540000">
                  <a:extLst>
                    <a:ext uri="{9D8B030D-6E8A-4147-A177-3AD203B41FA5}">
                      <a16:colId xmlns:a16="http://schemas.microsoft.com/office/drawing/2014/main" val="567536525"/>
                    </a:ext>
                  </a:extLst>
                </a:gridCol>
              </a:tblGrid>
              <a:tr h="229371">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5</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10</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20</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15</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25</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389455085"/>
                  </a:ext>
                </a:extLst>
              </a:tr>
            </a:tbl>
          </a:graphicData>
        </a:graphic>
      </p:graphicFrame>
      <p:sp>
        <p:nvSpPr>
          <p:cNvPr id="23" name="矩形 22">
            <a:extLst>
              <a:ext uri="{FF2B5EF4-FFF2-40B4-BE49-F238E27FC236}">
                <a16:creationId xmlns:a16="http://schemas.microsoft.com/office/drawing/2014/main" id="{EE9F3E45-71E4-4339-BA13-F26070BE1EA6}"/>
              </a:ext>
            </a:extLst>
          </p:cNvPr>
          <p:cNvSpPr/>
          <p:nvPr/>
        </p:nvSpPr>
        <p:spPr>
          <a:xfrm>
            <a:off x="402232" y="3843585"/>
            <a:ext cx="1559918" cy="461665"/>
          </a:xfrm>
          <a:prstGeom prst="rect">
            <a:avLst/>
          </a:prstGeom>
        </p:spPr>
        <p:txBody>
          <a:bodyPr wrap="square">
            <a:spAutoFit/>
          </a:bodyPr>
          <a:lstStyle/>
          <a:p>
            <a:r>
              <a:rPr lang="en-US" altLang="zh-TW" sz="2400" dirty="0">
                <a:latin typeface="Times New Roman" panose="02020603050405020304" pitchFamily="18" charset="0"/>
              </a:rPr>
              <a:t>candidate:</a:t>
            </a:r>
            <a:endParaRPr lang="zh-TW" altLang="en-US" sz="2400" dirty="0">
              <a:latin typeface="Times New Roman" panose="02020603050405020304" pitchFamily="18" charset="0"/>
            </a:endParaRPr>
          </a:p>
        </p:txBody>
      </p:sp>
      <p:sp>
        <p:nvSpPr>
          <p:cNvPr id="24" name="矩形 23">
            <a:extLst>
              <a:ext uri="{FF2B5EF4-FFF2-40B4-BE49-F238E27FC236}">
                <a16:creationId xmlns:a16="http://schemas.microsoft.com/office/drawing/2014/main" id="{581B457C-8DA7-4DCC-8B3D-31E11210E2E5}"/>
              </a:ext>
            </a:extLst>
          </p:cNvPr>
          <p:cNvSpPr/>
          <p:nvPr/>
        </p:nvSpPr>
        <p:spPr>
          <a:xfrm>
            <a:off x="400050" y="3816303"/>
            <a:ext cx="6391275" cy="230201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mc:AlternateContent xmlns:mc="http://schemas.openxmlformats.org/markup-compatibility/2006">
        <mc:Choice xmlns:a14="http://schemas.microsoft.com/office/drawing/2010/main" Requires="a14">
          <p:sp>
            <p:nvSpPr>
              <p:cNvPr id="26" name="矩形 25">
                <a:extLst>
                  <a:ext uri="{FF2B5EF4-FFF2-40B4-BE49-F238E27FC236}">
                    <a16:creationId xmlns:a16="http://schemas.microsoft.com/office/drawing/2014/main" id="{5A3FA3CA-37F2-4476-A44E-F0A6872DA694}"/>
                  </a:ext>
                </a:extLst>
              </p:cNvPr>
              <p:cNvSpPr/>
              <p:nvPr/>
            </p:nvSpPr>
            <p:spPr>
              <a:xfrm>
                <a:off x="402232" y="1308332"/>
                <a:ext cx="7160618" cy="497893"/>
              </a:xfrm>
              <a:prstGeom prst="rect">
                <a:avLst/>
              </a:prstGeom>
            </p:spPr>
            <p:txBody>
              <a:bodyPr wrap="square">
                <a:spAutoFit/>
              </a:bodyPr>
              <a:lstStyle/>
              <a:p>
                <a:r>
                  <a:rPr lang="en-US" altLang="zh-TW" sz="2400" dirty="0">
                    <a:latin typeface="Times New Roman" panose="02020603050405020304" pitchFamily="18" charset="0"/>
                  </a:rPr>
                  <a:t>② for each candidate, compare </a:t>
                </a:r>
                <a14:m>
                  <m:oMath xmlns:m="http://schemas.openxmlformats.org/officeDocument/2006/math">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𝑇</m:t>
                        </m:r>
                      </m:e>
                      <m:sub>
                        <m:r>
                          <a:rPr lang="en-US" altLang="zh-TW" sz="2400" i="1">
                            <a:latin typeface="Cambria Math" panose="02040503050406030204" pitchFamily="18" charset="0"/>
                          </a:rPr>
                          <m:t>𝑗</m:t>
                        </m:r>
                        <m:r>
                          <a:rPr lang="en-US" altLang="zh-TW" sz="2400" i="1">
                            <a:latin typeface="Cambria Math" panose="02040503050406030204" pitchFamily="18" charset="0"/>
                          </a:rPr>
                          <m:t>−1+</m:t>
                        </m:r>
                        <m:r>
                          <a:rPr lang="en-US" altLang="zh-TW" sz="2400" i="1">
                            <a:latin typeface="Cambria Math" panose="02040503050406030204" pitchFamily="18" charset="0"/>
                          </a:rPr>
                          <m:t>𝑟</m:t>
                        </m:r>
                        <m:r>
                          <a:rPr lang="en-US" altLang="zh-TW" sz="2400" i="1">
                            <a:latin typeface="Cambria Math" panose="02040503050406030204" pitchFamily="18" charset="0"/>
                          </a:rPr>
                          <m:t>[</m:t>
                        </m:r>
                        <m:r>
                          <a:rPr lang="en-US" altLang="zh-TW" sz="2400" i="1">
                            <a:latin typeface="Cambria Math" panose="02040503050406030204" pitchFamily="18" charset="0"/>
                          </a:rPr>
                          <m:t>𝑖</m:t>
                        </m:r>
                        <m:r>
                          <a:rPr lang="en-US" altLang="zh-TW" sz="2400" i="1">
                            <a:latin typeface="Cambria Math" panose="02040503050406030204" pitchFamily="18" charset="0"/>
                          </a:rPr>
                          <m:t>]</m:t>
                        </m:r>
                      </m:sub>
                    </m:sSub>
                    <m:r>
                      <a:rPr lang="en-US" altLang="zh-TW" sz="2400" i="1">
                        <a:latin typeface="Cambria Math" panose="02040503050406030204" pitchFamily="18" charset="0"/>
                      </a:rPr>
                      <m:t> &amp; </m:t>
                    </m:r>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𝑇</m:t>
                        </m:r>
                      </m:e>
                      <m:sub>
                        <m:r>
                          <a:rPr lang="en-US" altLang="zh-TW" sz="2400" i="1">
                            <a:latin typeface="Cambria Math" panose="02040503050406030204" pitchFamily="18" charset="0"/>
                          </a:rPr>
                          <m:t>𝑗</m:t>
                        </m:r>
                        <m:r>
                          <a:rPr lang="en-US" altLang="zh-TW" sz="2400" i="1">
                            <a:latin typeface="Cambria Math" panose="02040503050406030204" pitchFamily="18" charset="0"/>
                          </a:rPr>
                          <m:t>−1+</m:t>
                        </m:r>
                        <m:r>
                          <a:rPr lang="en-US" altLang="zh-TW" sz="2400" b="0" i="1" smtClean="0">
                            <a:latin typeface="Cambria Math" panose="02040503050406030204" pitchFamily="18" charset="0"/>
                          </a:rPr>
                          <m:t>𝑟</m:t>
                        </m:r>
                        <m:r>
                          <a:rPr lang="en-US" altLang="zh-TW" sz="2400" b="0" i="1" smtClean="0">
                            <a:latin typeface="Cambria Math" panose="02040503050406030204" pitchFamily="18" charset="0"/>
                          </a:rPr>
                          <m:t>[</m:t>
                        </m:r>
                        <m:r>
                          <a:rPr lang="en-US" altLang="zh-TW" sz="2400" b="0" i="1" smtClean="0">
                            <a:latin typeface="Cambria Math" panose="02040503050406030204" pitchFamily="18" charset="0"/>
                          </a:rPr>
                          <m:t>𝑖</m:t>
                        </m:r>
                        <m:r>
                          <a:rPr lang="en-US" altLang="zh-TW" sz="2400" b="0" i="1" smtClean="0">
                            <a:latin typeface="Cambria Math" panose="02040503050406030204" pitchFamily="18" charset="0"/>
                          </a:rPr>
                          <m:t>+1]</m:t>
                        </m:r>
                      </m:sub>
                    </m:sSub>
                  </m:oMath>
                </a14:m>
                <a:endParaRPr lang="zh-TW" altLang="en-US" sz="2400" dirty="0">
                  <a:latin typeface="Times New Roman" panose="02020603050405020304" pitchFamily="18" charset="0"/>
                </a:endParaRPr>
              </a:p>
            </p:txBody>
          </p:sp>
        </mc:Choice>
        <mc:Fallback>
          <p:sp>
            <p:nvSpPr>
              <p:cNvPr id="26" name="矩形 25">
                <a:extLst>
                  <a:ext uri="{FF2B5EF4-FFF2-40B4-BE49-F238E27FC236}">
                    <a16:creationId xmlns:a16="http://schemas.microsoft.com/office/drawing/2014/main" id="{5A3FA3CA-37F2-4476-A44E-F0A6872DA694}"/>
                  </a:ext>
                </a:extLst>
              </p:cNvPr>
              <p:cNvSpPr>
                <a:spLocks noRot="1" noChangeAspect="1" noMove="1" noResize="1" noEditPoints="1" noAdjustHandles="1" noChangeArrowheads="1" noChangeShapeType="1" noTextEdit="1"/>
              </p:cNvSpPr>
              <p:nvPr/>
            </p:nvSpPr>
            <p:spPr>
              <a:xfrm>
                <a:off x="402232" y="1308332"/>
                <a:ext cx="7160618" cy="497893"/>
              </a:xfrm>
              <a:prstGeom prst="rect">
                <a:avLst/>
              </a:prstGeom>
              <a:blipFill>
                <a:blip r:embed="rId6"/>
                <a:stretch>
                  <a:fillRect l="-1362" t="-9877" b="-20988"/>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5" name="矩形 4">
                <a:extLst>
                  <a:ext uri="{FF2B5EF4-FFF2-40B4-BE49-F238E27FC236}">
                    <a16:creationId xmlns:a16="http://schemas.microsoft.com/office/drawing/2014/main" id="{AC4619A2-D974-4930-BF5D-394DE26FF0F3}"/>
                  </a:ext>
                </a:extLst>
              </p:cNvPr>
              <p:cNvSpPr/>
              <p:nvPr/>
            </p:nvSpPr>
            <p:spPr>
              <a:xfrm>
                <a:off x="596038" y="2000962"/>
                <a:ext cx="2564163" cy="396519"/>
              </a:xfrm>
              <a:prstGeom prst="rect">
                <a:avLst/>
              </a:prstGeom>
            </p:spPr>
            <p:txBody>
              <a:bodyPr wrap="none">
                <a:spAutoFit/>
              </a:bodyPr>
              <a:lstStyle/>
              <a:p>
                <a:r>
                  <a:rPr lang="en-US" altLang="zh-TW" dirty="0">
                    <a:latin typeface="Times New Roman" panose="02020603050405020304" pitchFamily="18" charset="0"/>
                    <a:cs typeface="Times New Roman" panose="02020603050405020304" pitchFamily="18" charset="0"/>
                  </a:rPr>
                  <a:t>if</a:t>
                </a:r>
                <a:r>
                  <a:rPr lang="en-US" altLang="zh-TW" dirty="0"/>
                  <a:t> </a:t>
                </a:r>
                <a14:m>
                  <m:oMath xmlns:m="http://schemas.openxmlformats.org/officeDocument/2006/math">
                    <m:sSub>
                      <m:sSubPr>
                        <m:ctrlPr>
                          <a:rPr lang="en-US" altLang="zh-TW" i="1" smtClean="0">
                            <a:latin typeface="Cambria Math" panose="02040503050406030204" pitchFamily="18" charset="0"/>
                          </a:rPr>
                        </m:ctrlPr>
                      </m:sSubPr>
                      <m:e>
                        <m:r>
                          <a:rPr lang="en-US" altLang="zh-TW" i="1">
                            <a:latin typeface="Cambria Math" panose="02040503050406030204" pitchFamily="18" charset="0"/>
                          </a:rPr>
                          <m:t>𝑇</m:t>
                        </m:r>
                      </m:e>
                      <m:sub>
                        <m:r>
                          <a:rPr lang="en-US" altLang="zh-TW" i="1">
                            <a:latin typeface="Cambria Math" panose="02040503050406030204" pitchFamily="18" charset="0"/>
                          </a:rPr>
                          <m:t>𝑗</m:t>
                        </m:r>
                        <m:r>
                          <a:rPr lang="en-US" altLang="zh-TW" i="1">
                            <a:latin typeface="Cambria Math" panose="02040503050406030204" pitchFamily="18" charset="0"/>
                          </a:rPr>
                          <m:t>−1+</m:t>
                        </m:r>
                        <m:r>
                          <a:rPr lang="en-US" altLang="zh-TW" i="1">
                            <a:latin typeface="Cambria Math" panose="02040503050406030204" pitchFamily="18" charset="0"/>
                          </a:rPr>
                          <m:t>𝑟</m:t>
                        </m:r>
                        <m:r>
                          <a:rPr lang="en-US" altLang="zh-TW" i="1">
                            <a:latin typeface="Cambria Math" panose="02040503050406030204" pitchFamily="18" charset="0"/>
                          </a:rPr>
                          <m:t>[</m:t>
                        </m:r>
                        <m:r>
                          <a:rPr lang="en-US" altLang="zh-TW" i="1">
                            <a:latin typeface="Cambria Math" panose="02040503050406030204" pitchFamily="18" charset="0"/>
                          </a:rPr>
                          <m:t>𝑖</m:t>
                        </m:r>
                        <m:r>
                          <a:rPr lang="en-US" altLang="zh-TW" i="1">
                            <a:latin typeface="Cambria Math" panose="02040503050406030204" pitchFamily="18" charset="0"/>
                          </a:rPr>
                          <m:t>]</m:t>
                        </m:r>
                      </m:sub>
                    </m:sSub>
                    <m:r>
                      <a:rPr lang="en-US" altLang="zh-TW" b="0" i="1" smtClean="0">
                        <a:latin typeface="Cambria Math" panose="02040503050406030204" pitchFamily="18" charset="0"/>
                      </a:rPr>
                      <m:t>&gt;</m:t>
                    </m:r>
                    <m:r>
                      <a:rPr lang="en-US" altLang="zh-TW" i="1">
                        <a:latin typeface="Cambria Math" panose="02040503050406030204" pitchFamily="18" charset="0"/>
                      </a:rPr>
                      <m:t> </m:t>
                    </m:r>
                    <m:sSub>
                      <m:sSubPr>
                        <m:ctrlPr>
                          <a:rPr lang="en-US" altLang="zh-TW" i="1">
                            <a:latin typeface="Cambria Math" panose="02040503050406030204" pitchFamily="18" charset="0"/>
                          </a:rPr>
                        </m:ctrlPr>
                      </m:sSubPr>
                      <m:e>
                        <m:r>
                          <a:rPr lang="en-US" altLang="zh-TW" i="1">
                            <a:latin typeface="Cambria Math" panose="02040503050406030204" pitchFamily="18" charset="0"/>
                          </a:rPr>
                          <m:t>𝑇</m:t>
                        </m:r>
                      </m:e>
                      <m:sub>
                        <m:r>
                          <a:rPr lang="en-US" altLang="zh-TW" i="1">
                            <a:latin typeface="Cambria Math" panose="02040503050406030204" pitchFamily="18" charset="0"/>
                          </a:rPr>
                          <m:t>𝑗</m:t>
                        </m:r>
                        <m:r>
                          <a:rPr lang="en-US" altLang="zh-TW" i="1">
                            <a:latin typeface="Cambria Math" panose="02040503050406030204" pitchFamily="18" charset="0"/>
                          </a:rPr>
                          <m:t>−1+</m:t>
                        </m:r>
                        <m:r>
                          <a:rPr lang="en-US" altLang="zh-TW" i="1">
                            <a:latin typeface="Cambria Math" panose="02040503050406030204" pitchFamily="18" charset="0"/>
                          </a:rPr>
                          <m:t>𝑟</m:t>
                        </m:r>
                        <m:r>
                          <a:rPr lang="en-US" altLang="zh-TW" i="1">
                            <a:latin typeface="Cambria Math" panose="02040503050406030204" pitchFamily="18" charset="0"/>
                          </a:rPr>
                          <m:t>[</m:t>
                        </m:r>
                        <m:r>
                          <a:rPr lang="en-US" altLang="zh-TW" i="1">
                            <a:latin typeface="Cambria Math" panose="02040503050406030204" pitchFamily="18" charset="0"/>
                          </a:rPr>
                          <m:t>𝑖</m:t>
                        </m:r>
                        <m:r>
                          <a:rPr lang="en-US" altLang="zh-TW" i="1">
                            <a:latin typeface="Cambria Math" panose="02040503050406030204" pitchFamily="18" charset="0"/>
                          </a:rPr>
                          <m:t>+1]</m:t>
                        </m:r>
                      </m:sub>
                    </m:sSub>
                  </m:oMath>
                </a14:m>
                <a:endParaRPr lang="zh-TW" altLang="en-US" dirty="0"/>
              </a:p>
            </p:txBody>
          </p:sp>
        </mc:Choice>
        <mc:Fallback>
          <p:sp>
            <p:nvSpPr>
              <p:cNvPr id="5" name="矩形 4">
                <a:extLst>
                  <a:ext uri="{FF2B5EF4-FFF2-40B4-BE49-F238E27FC236}">
                    <a16:creationId xmlns:a16="http://schemas.microsoft.com/office/drawing/2014/main" id="{AC4619A2-D974-4930-BF5D-394DE26FF0F3}"/>
                  </a:ext>
                </a:extLst>
              </p:cNvPr>
              <p:cNvSpPr>
                <a:spLocks noRot="1" noChangeAspect="1" noMove="1" noResize="1" noEditPoints="1" noAdjustHandles="1" noChangeArrowheads="1" noChangeShapeType="1" noTextEdit="1"/>
              </p:cNvSpPr>
              <p:nvPr/>
            </p:nvSpPr>
            <p:spPr>
              <a:xfrm>
                <a:off x="596038" y="2000962"/>
                <a:ext cx="2564163" cy="396519"/>
              </a:xfrm>
              <a:prstGeom prst="rect">
                <a:avLst/>
              </a:prstGeom>
              <a:blipFill>
                <a:blip r:embed="rId7"/>
                <a:stretch>
                  <a:fillRect l="-2143" t="-7692" b="-16923"/>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6" name="矩形 5">
                <a:extLst>
                  <a:ext uri="{FF2B5EF4-FFF2-40B4-BE49-F238E27FC236}">
                    <a16:creationId xmlns:a16="http://schemas.microsoft.com/office/drawing/2014/main" id="{D66B9F7E-65E8-448B-BC5C-6CE6FD28614C}"/>
                  </a:ext>
                </a:extLst>
              </p:cNvPr>
              <p:cNvSpPr/>
              <p:nvPr/>
            </p:nvSpPr>
            <p:spPr>
              <a:xfrm>
                <a:off x="7013336" y="1158821"/>
                <a:ext cx="1765291" cy="369332"/>
              </a:xfrm>
              <a:prstGeom prst="rect">
                <a:avLst/>
              </a:prstGeom>
            </p:spPr>
            <p:txBody>
              <a:bodyPr wrap="none">
                <a:spAutoFit/>
              </a:bodyPr>
              <a:lstStyle/>
              <a:p>
                <a:r>
                  <a:rPr lang="en-US" altLang="zh-TW" dirty="0"/>
                  <a:t>(</a:t>
                </a:r>
                <a14:m>
                  <m:oMath xmlns:m="http://schemas.openxmlformats.org/officeDocument/2006/math">
                    <m:r>
                      <a:rPr lang="en-US" altLang="zh-TW" i="1" dirty="0">
                        <a:latin typeface="Cambria Math" panose="02040503050406030204" pitchFamily="18" charset="0"/>
                      </a:rPr>
                      <m:t>1≤</m:t>
                    </m:r>
                    <m:r>
                      <a:rPr lang="en-US" altLang="zh-TW" i="1" dirty="0">
                        <a:latin typeface="Cambria Math" panose="02040503050406030204" pitchFamily="18" charset="0"/>
                      </a:rPr>
                      <m:t>𝑖</m:t>
                    </m:r>
                    <m:r>
                      <a:rPr lang="en-US" altLang="zh-TW" i="1" dirty="0">
                        <a:latin typeface="Cambria Math" panose="02040503050406030204" pitchFamily="18" charset="0"/>
                      </a:rPr>
                      <m:t>≤</m:t>
                    </m:r>
                    <m:r>
                      <a:rPr lang="en-US" altLang="zh-TW" i="1" dirty="0">
                        <a:latin typeface="Cambria Math" panose="02040503050406030204" pitchFamily="18" charset="0"/>
                      </a:rPr>
                      <m:t>𝑚</m:t>
                    </m:r>
                    <m:r>
                      <a:rPr lang="en-US" altLang="zh-TW" i="1" dirty="0">
                        <a:latin typeface="Cambria Math" panose="02040503050406030204" pitchFamily="18" charset="0"/>
                      </a:rPr>
                      <m:t>−1)</m:t>
                    </m:r>
                  </m:oMath>
                </a14:m>
                <a:endParaRPr lang="zh-TW" altLang="en-US" dirty="0"/>
              </a:p>
            </p:txBody>
          </p:sp>
        </mc:Choice>
        <mc:Fallback>
          <p:sp>
            <p:nvSpPr>
              <p:cNvPr id="6" name="矩形 5">
                <a:extLst>
                  <a:ext uri="{FF2B5EF4-FFF2-40B4-BE49-F238E27FC236}">
                    <a16:creationId xmlns:a16="http://schemas.microsoft.com/office/drawing/2014/main" id="{D66B9F7E-65E8-448B-BC5C-6CE6FD28614C}"/>
                  </a:ext>
                </a:extLst>
              </p:cNvPr>
              <p:cNvSpPr>
                <a:spLocks noRot="1" noChangeAspect="1" noMove="1" noResize="1" noEditPoints="1" noAdjustHandles="1" noChangeArrowheads="1" noChangeShapeType="1" noTextEdit="1"/>
              </p:cNvSpPr>
              <p:nvPr/>
            </p:nvSpPr>
            <p:spPr>
              <a:xfrm>
                <a:off x="7013336" y="1158821"/>
                <a:ext cx="1765291" cy="369332"/>
              </a:xfrm>
              <a:prstGeom prst="rect">
                <a:avLst/>
              </a:prstGeom>
              <a:blipFill>
                <a:blip r:embed="rId8"/>
                <a:stretch>
                  <a:fillRect l="-2759" t="-8197" r="-345" b="-24590"/>
                </a:stretch>
              </a:blipFill>
            </p:spPr>
            <p:txBody>
              <a:bodyPr/>
              <a:lstStyle/>
              <a:p>
                <a:r>
                  <a:rPr lang="zh-TW" altLang="en-US">
                    <a:noFill/>
                  </a:rPr>
                  <a:t> </a:t>
                </a:r>
              </a:p>
            </p:txBody>
          </p:sp>
        </mc:Fallback>
      </mc:AlternateContent>
      <p:sp>
        <p:nvSpPr>
          <p:cNvPr id="27" name="矩形 26">
            <a:extLst>
              <a:ext uri="{FF2B5EF4-FFF2-40B4-BE49-F238E27FC236}">
                <a16:creationId xmlns:a16="http://schemas.microsoft.com/office/drawing/2014/main" id="{72FC08A5-2081-4BFA-8894-D58CCF5072CE}"/>
              </a:ext>
            </a:extLst>
          </p:cNvPr>
          <p:cNvSpPr/>
          <p:nvPr/>
        </p:nvSpPr>
        <p:spPr>
          <a:xfrm>
            <a:off x="596038" y="2507674"/>
            <a:ext cx="3153427" cy="369332"/>
          </a:xfrm>
          <a:prstGeom prst="rect">
            <a:avLst/>
          </a:prstGeom>
        </p:spPr>
        <p:txBody>
          <a:bodyPr wrap="none">
            <a:spAutoFit/>
          </a:bodyPr>
          <a:lstStyle/>
          <a:p>
            <a:r>
              <a:rPr lang="en-US" altLang="zh-TW" dirty="0">
                <a:latin typeface="Times New Roman" panose="02020603050405020304" pitchFamily="18" charset="0"/>
                <a:cs typeface="Times New Roman" panose="02020603050405020304" pitchFamily="18" charset="0"/>
              </a:rPr>
              <a:t>means mismatch, then discard it</a:t>
            </a:r>
            <a:endParaRPr lang="zh-TW" altLang="en-US" dirty="0"/>
          </a:p>
        </p:txBody>
      </p:sp>
      <p:sp>
        <p:nvSpPr>
          <p:cNvPr id="28" name="矩形 27">
            <a:extLst>
              <a:ext uri="{FF2B5EF4-FFF2-40B4-BE49-F238E27FC236}">
                <a16:creationId xmlns:a16="http://schemas.microsoft.com/office/drawing/2014/main" id="{B9F5F21D-C546-4D5B-943C-C17C7FFEC57A}"/>
              </a:ext>
            </a:extLst>
          </p:cNvPr>
          <p:cNvSpPr/>
          <p:nvPr/>
        </p:nvSpPr>
        <p:spPr>
          <a:xfrm>
            <a:off x="6457950" y="2628900"/>
            <a:ext cx="847969" cy="305968"/>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7" name="橢圓 6">
            <a:extLst>
              <a:ext uri="{FF2B5EF4-FFF2-40B4-BE49-F238E27FC236}">
                <a16:creationId xmlns:a16="http://schemas.microsoft.com/office/drawing/2014/main" id="{FCC5F539-F249-46CF-B20D-9C9796CA0445}"/>
              </a:ext>
            </a:extLst>
          </p:cNvPr>
          <p:cNvSpPr/>
          <p:nvPr/>
        </p:nvSpPr>
        <p:spPr>
          <a:xfrm>
            <a:off x="2529224" y="4206050"/>
            <a:ext cx="495300" cy="576354"/>
          </a:xfrm>
          <a:prstGeom prst="ellipse">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TW" altLang="en-US"/>
          </a:p>
        </p:txBody>
      </p:sp>
      <p:sp>
        <p:nvSpPr>
          <p:cNvPr id="29" name="橢圓 28">
            <a:extLst>
              <a:ext uri="{FF2B5EF4-FFF2-40B4-BE49-F238E27FC236}">
                <a16:creationId xmlns:a16="http://schemas.microsoft.com/office/drawing/2014/main" id="{82EEB7A9-B4FB-4822-B9AB-3D461432C87B}"/>
              </a:ext>
            </a:extLst>
          </p:cNvPr>
          <p:cNvSpPr/>
          <p:nvPr/>
        </p:nvSpPr>
        <p:spPr>
          <a:xfrm>
            <a:off x="3595687" y="4210050"/>
            <a:ext cx="495300" cy="576354"/>
          </a:xfrm>
          <a:prstGeom prst="ellipse">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TW" altLang="en-US"/>
          </a:p>
        </p:txBody>
      </p:sp>
      <p:sp>
        <p:nvSpPr>
          <p:cNvPr id="17" name="矩形 16">
            <a:extLst>
              <a:ext uri="{FF2B5EF4-FFF2-40B4-BE49-F238E27FC236}">
                <a16:creationId xmlns:a16="http://schemas.microsoft.com/office/drawing/2014/main" id="{AF680B6F-CEE2-49B5-9AF2-5FBCF544DB7B}"/>
              </a:ext>
            </a:extLst>
          </p:cNvPr>
          <p:cNvSpPr/>
          <p:nvPr/>
        </p:nvSpPr>
        <p:spPr>
          <a:xfrm>
            <a:off x="1461177" y="3033482"/>
            <a:ext cx="949299" cy="369332"/>
          </a:xfrm>
          <a:prstGeom prst="rect">
            <a:avLst/>
          </a:prstGeom>
        </p:spPr>
        <p:txBody>
          <a:bodyPr wrap="none">
            <a:spAutoFit/>
          </a:bodyPr>
          <a:lstStyle/>
          <a:p>
            <a:r>
              <a:rPr lang="en-US" altLang="zh-TW" dirty="0">
                <a:latin typeface="Times New Roman" panose="02020603050405020304" pitchFamily="18" charset="0"/>
                <a:cs typeface="Times New Roman" panose="02020603050405020304" pitchFamily="18" charset="0"/>
              </a:rPr>
              <a:t>15  &gt; 10</a:t>
            </a:r>
            <a:endParaRPr lang="zh-TW" altLang="en-US" dirty="0"/>
          </a:p>
        </p:txBody>
      </p:sp>
      <mc:AlternateContent xmlns:mc="http://schemas.openxmlformats.org/markup-compatibility/2006">
        <mc:Choice xmlns:a14="http://schemas.microsoft.com/office/drawing/2010/main" Requires="a14">
          <p:sp>
            <p:nvSpPr>
              <p:cNvPr id="18" name="矩形 17">
                <a:extLst>
                  <a:ext uri="{FF2B5EF4-FFF2-40B4-BE49-F238E27FC236}">
                    <a16:creationId xmlns:a16="http://schemas.microsoft.com/office/drawing/2014/main" id="{78837ABF-AE0F-423F-8F31-3D7BA73D195E}"/>
                  </a:ext>
                </a:extLst>
              </p:cNvPr>
              <p:cNvSpPr/>
              <p:nvPr/>
            </p:nvSpPr>
            <p:spPr>
              <a:xfrm>
                <a:off x="5973553" y="4320739"/>
                <a:ext cx="540533"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TW" sz="2400" b="0" i="1" smtClean="0">
                          <a:solidFill>
                            <a:srgbClr val="FF0000"/>
                          </a:solidFill>
                          <a:latin typeface="Cambria Math" panose="02040503050406030204" pitchFamily="18" charset="0"/>
                        </a:rPr>
                        <m:t>× </m:t>
                      </m:r>
                    </m:oMath>
                  </m:oMathPara>
                </a14:m>
                <a:endParaRPr lang="zh-TW" altLang="en-US" sz="2400" dirty="0">
                  <a:solidFill>
                    <a:srgbClr val="FF0000"/>
                  </a:solidFill>
                </a:endParaRPr>
              </a:p>
            </p:txBody>
          </p:sp>
        </mc:Choice>
        <mc:Fallback>
          <p:sp>
            <p:nvSpPr>
              <p:cNvPr id="18" name="矩形 17">
                <a:extLst>
                  <a:ext uri="{FF2B5EF4-FFF2-40B4-BE49-F238E27FC236}">
                    <a16:creationId xmlns:a16="http://schemas.microsoft.com/office/drawing/2014/main" id="{78837ABF-AE0F-423F-8F31-3D7BA73D195E}"/>
                  </a:ext>
                </a:extLst>
              </p:cNvPr>
              <p:cNvSpPr>
                <a:spLocks noRot="1" noChangeAspect="1" noMove="1" noResize="1" noEditPoints="1" noAdjustHandles="1" noChangeArrowheads="1" noChangeShapeType="1" noTextEdit="1"/>
              </p:cNvSpPr>
              <p:nvPr/>
            </p:nvSpPr>
            <p:spPr>
              <a:xfrm>
                <a:off x="5973553" y="4320739"/>
                <a:ext cx="540533" cy="461665"/>
              </a:xfrm>
              <a:prstGeom prst="rect">
                <a:avLst/>
              </a:prstGeom>
              <a:blipFill>
                <a:blip r:embed="rId9"/>
                <a:stretch>
                  <a:fillRect/>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20" name="矩形 19">
                <a:extLst>
                  <a:ext uri="{FF2B5EF4-FFF2-40B4-BE49-F238E27FC236}">
                    <a16:creationId xmlns:a16="http://schemas.microsoft.com/office/drawing/2014/main" id="{2EFCE7DD-B262-4EB1-BE4C-527F2804F6DE}"/>
                  </a:ext>
                </a:extLst>
              </p:cNvPr>
              <p:cNvSpPr/>
              <p:nvPr/>
            </p:nvSpPr>
            <p:spPr>
              <a:xfrm>
                <a:off x="596038" y="5321749"/>
                <a:ext cx="1140819" cy="461665"/>
              </a:xfrm>
              <a:prstGeom prst="rect">
                <a:avLst/>
              </a:prstGeom>
            </p:spPr>
            <p:txBody>
              <a:bodyPr wrap="square">
                <a:spAutoFit/>
              </a:bodyPr>
              <a:lstStyle/>
              <a:p>
                <a:pPr/>
                <a14:m>
                  <m:oMathPara xmlns:m="http://schemas.openxmlformats.org/officeDocument/2006/math">
                    <m:oMathParaPr>
                      <m:jc m:val="left"/>
                    </m:oMathParaPr>
                    <m:oMath xmlns:m="http://schemas.openxmlformats.org/officeDocument/2006/math">
                      <m:r>
                        <a:rPr lang="en-US" altLang="zh-TW" sz="2400" b="0" i="1" dirty="0" smtClean="0">
                          <a:latin typeface="Cambria Math" panose="02040503050406030204" pitchFamily="18" charset="0"/>
                        </a:rPr>
                        <m:t>𝑇</m:t>
                      </m:r>
                      <m:d>
                        <m:dPr>
                          <m:begChr m:val="["/>
                          <m:endChr m:val="]"/>
                          <m:ctrlPr>
                            <a:rPr lang="en-US" altLang="zh-TW" sz="2400" b="0" i="1" dirty="0" smtClean="0">
                              <a:latin typeface="Cambria Math" panose="02040503050406030204" pitchFamily="18" charset="0"/>
                            </a:rPr>
                          </m:ctrlPr>
                        </m:dPr>
                        <m:e>
                          <m:r>
                            <a:rPr lang="en-US" altLang="zh-TW" sz="2400" b="0" i="1" dirty="0" smtClean="0">
                              <a:latin typeface="Cambria Math" panose="02040503050406030204" pitchFamily="18" charset="0"/>
                            </a:rPr>
                            <m:t>4</m:t>
                          </m:r>
                          <m:r>
                            <a:rPr lang="en-US" altLang="zh-TW" sz="2400" b="0" i="1" dirty="0" smtClean="0">
                              <a:latin typeface="Cambria Math" panose="02040503050406030204" pitchFamily="18" charset="0"/>
                            </a:rPr>
                            <m:t>:8</m:t>
                          </m:r>
                        </m:e>
                      </m:d>
                    </m:oMath>
                  </m:oMathPara>
                </a14:m>
                <a:endParaRPr lang="zh-TW" altLang="en-US" sz="2400" dirty="0">
                  <a:latin typeface="Times New Roman" panose="02020603050405020304" pitchFamily="18" charset="0"/>
                </a:endParaRPr>
              </a:p>
            </p:txBody>
          </p:sp>
        </mc:Choice>
        <mc:Fallback>
          <p:sp>
            <p:nvSpPr>
              <p:cNvPr id="20" name="矩形 19">
                <a:extLst>
                  <a:ext uri="{FF2B5EF4-FFF2-40B4-BE49-F238E27FC236}">
                    <a16:creationId xmlns:a16="http://schemas.microsoft.com/office/drawing/2014/main" id="{2EFCE7DD-B262-4EB1-BE4C-527F2804F6DE}"/>
                  </a:ext>
                </a:extLst>
              </p:cNvPr>
              <p:cNvSpPr>
                <a:spLocks noRot="1" noChangeAspect="1" noMove="1" noResize="1" noEditPoints="1" noAdjustHandles="1" noChangeArrowheads="1" noChangeShapeType="1" noTextEdit="1"/>
              </p:cNvSpPr>
              <p:nvPr/>
            </p:nvSpPr>
            <p:spPr>
              <a:xfrm>
                <a:off x="596038" y="5321749"/>
                <a:ext cx="1140819" cy="461665"/>
              </a:xfrm>
              <a:prstGeom prst="rect">
                <a:avLst/>
              </a:prstGeom>
              <a:blipFill>
                <a:blip r:embed="rId10"/>
                <a:stretch>
                  <a:fillRect l="-1604"/>
                </a:stretch>
              </a:blipFill>
            </p:spPr>
            <p:txBody>
              <a:bodyPr/>
              <a:lstStyle/>
              <a:p>
                <a:r>
                  <a:rPr lang="zh-TW" altLang="en-US">
                    <a:noFill/>
                  </a:rPr>
                  <a:t> </a:t>
                </a:r>
              </a:p>
            </p:txBody>
          </p:sp>
        </mc:Fallback>
      </mc:AlternateContent>
      <p:graphicFrame>
        <p:nvGraphicFramePr>
          <p:cNvPr id="22" name="表格 21">
            <a:extLst>
              <a:ext uri="{FF2B5EF4-FFF2-40B4-BE49-F238E27FC236}">
                <a16:creationId xmlns:a16="http://schemas.microsoft.com/office/drawing/2014/main" id="{932A1FDD-97D9-4558-99CB-8174B4C619D9}"/>
              </a:ext>
            </a:extLst>
          </p:cNvPr>
          <p:cNvGraphicFramePr>
            <a:graphicFrameLocks noGrp="1"/>
          </p:cNvGraphicFramePr>
          <p:nvPr>
            <p:extLst>
              <p:ext uri="{D42A27DB-BD31-4B8C-83A1-F6EECF244321}">
                <p14:modId xmlns:p14="http://schemas.microsoft.com/office/powerpoint/2010/main" val="507599111"/>
              </p:ext>
            </p:extLst>
          </p:nvPr>
        </p:nvGraphicFramePr>
        <p:xfrm>
          <a:off x="1962150" y="5291802"/>
          <a:ext cx="2700000" cy="518160"/>
        </p:xfrm>
        <a:graphic>
          <a:graphicData uri="http://schemas.openxmlformats.org/drawingml/2006/table">
            <a:tbl>
              <a:tblPr firstRow="1" bandRow="1">
                <a:tableStyleId>{5940675A-B579-460E-94D1-54222C63F5DA}</a:tableStyleId>
              </a:tblPr>
              <a:tblGrid>
                <a:gridCol w="540000">
                  <a:extLst>
                    <a:ext uri="{9D8B030D-6E8A-4147-A177-3AD203B41FA5}">
                      <a16:colId xmlns:a16="http://schemas.microsoft.com/office/drawing/2014/main" val="2577381676"/>
                    </a:ext>
                  </a:extLst>
                </a:gridCol>
                <a:gridCol w="540000">
                  <a:extLst>
                    <a:ext uri="{9D8B030D-6E8A-4147-A177-3AD203B41FA5}">
                      <a16:colId xmlns:a16="http://schemas.microsoft.com/office/drawing/2014/main" val="2494047531"/>
                    </a:ext>
                  </a:extLst>
                </a:gridCol>
                <a:gridCol w="540000">
                  <a:extLst>
                    <a:ext uri="{9D8B030D-6E8A-4147-A177-3AD203B41FA5}">
                      <a16:colId xmlns:a16="http://schemas.microsoft.com/office/drawing/2014/main" val="265930632"/>
                    </a:ext>
                  </a:extLst>
                </a:gridCol>
                <a:gridCol w="540000">
                  <a:extLst>
                    <a:ext uri="{9D8B030D-6E8A-4147-A177-3AD203B41FA5}">
                      <a16:colId xmlns:a16="http://schemas.microsoft.com/office/drawing/2014/main" val="4267407961"/>
                    </a:ext>
                  </a:extLst>
                </a:gridCol>
                <a:gridCol w="540000">
                  <a:extLst>
                    <a:ext uri="{9D8B030D-6E8A-4147-A177-3AD203B41FA5}">
                      <a16:colId xmlns:a16="http://schemas.microsoft.com/office/drawing/2014/main" val="567536525"/>
                    </a:ext>
                  </a:extLst>
                </a:gridCol>
              </a:tblGrid>
              <a:tr h="229371">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15</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25</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35</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20</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30</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389455085"/>
                  </a:ext>
                </a:extLst>
              </a:tr>
            </a:tbl>
          </a:graphicData>
        </a:graphic>
      </p:graphicFrame>
      <mc:AlternateContent xmlns:mc="http://schemas.openxmlformats.org/markup-compatibility/2006">
        <mc:Choice xmlns:a14="http://schemas.microsoft.com/office/drawing/2010/main" Requires="a14">
          <p:sp>
            <p:nvSpPr>
              <p:cNvPr id="36" name="矩形 35">
                <a:extLst>
                  <a:ext uri="{FF2B5EF4-FFF2-40B4-BE49-F238E27FC236}">
                    <a16:creationId xmlns:a16="http://schemas.microsoft.com/office/drawing/2014/main" id="{23F87548-6556-4067-BCF6-F4DD7B76A130}"/>
                  </a:ext>
                </a:extLst>
              </p:cNvPr>
              <p:cNvSpPr/>
              <p:nvPr/>
            </p:nvSpPr>
            <p:spPr>
              <a:xfrm>
                <a:off x="860514" y="3025912"/>
                <a:ext cx="2624474" cy="369332"/>
              </a:xfrm>
              <a:prstGeom prst="rect">
                <a:avLst/>
              </a:prstGeom>
            </p:spPr>
            <p:txBody>
              <a:bodyPr wrap="square">
                <a:spAutoFit/>
              </a:bodyPr>
              <a:lstStyle/>
              <a:p>
                <a:pPr algn="ctr"/>
                <a:r>
                  <a:rPr lang="en-US" altLang="zh-TW" dirty="0">
                    <a:latin typeface="Times New Roman" panose="02020603050405020304" pitchFamily="18" charset="0"/>
                    <a:cs typeface="Times New Roman" panose="02020603050405020304" pitchFamily="18" charset="0"/>
                  </a:rPr>
                  <a:t>15 &lt; 20 &lt; </a:t>
                </a:r>
                <a14:m>
                  <m:oMath xmlns:m="http://schemas.openxmlformats.org/officeDocument/2006/math">
                    <m:r>
                      <m:rPr>
                        <m:nor/>
                      </m:rPr>
                      <a:rPr lang="en-US" altLang="zh-TW" b="0" i="0" smtClean="0">
                        <a:latin typeface="Cambria Math" panose="02040503050406030204" pitchFamily="18" charset="0"/>
                        <a:cs typeface="Times New Roman" panose="02020603050405020304" pitchFamily="18" charset="0"/>
                      </a:rPr>
                      <m:t>2</m:t>
                    </m:r>
                    <m:r>
                      <m:rPr>
                        <m:nor/>
                      </m:rPr>
                      <a:rPr lang="en-US" altLang="zh-TW" dirty="0">
                        <a:latin typeface="Times New Roman" panose="02020603050405020304" pitchFamily="18" charset="0"/>
                        <a:cs typeface="Times New Roman" panose="02020603050405020304" pitchFamily="18" charset="0"/>
                      </a:rPr>
                      <m:t>5 &lt; </m:t>
                    </m:r>
                    <m:r>
                      <m:rPr>
                        <m:nor/>
                      </m:rPr>
                      <a:rPr lang="en-US" altLang="zh-TW" b="0" i="0" dirty="0" smtClean="0">
                        <a:latin typeface="Times New Roman" panose="02020603050405020304" pitchFamily="18" charset="0"/>
                        <a:cs typeface="Times New Roman" panose="02020603050405020304" pitchFamily="18" charset="0"/>
                      </a:rPr>
                      <m:t>30</m:t>
                    </m:r>
                    <m:r>
                      <m:rPr>
                        <m:nor/>
                      </m:rPr>
                      <a:rPr lang="en-US" altLang="zh-TW" dirty="0">
                        <a:latin typeface="Times New Roman" panose="02020603050405020304" pitchFamily="18" charset="0"/>
                        <a:cs typeface="Times New Roman" panose="02020603050405020304" pitchFamily="18" charset="0"/>
                      </a:rPr>
                      <m:t> &lt; </m:t>
                    </m:r>
                    <m:r>
                      <m:rPr>
                        <m:nor/>
                      </m:rPr>
                      <a:rPr lang="en-US" altLang="zh-TW" b="0" i="0" dirty="0" smtClean="0">
                        <a:latin typeface="Times New Roman" panose="02020603050405020304" pitchFamily="18" charset="0"/>
                        <a:cs typeface="Times New Roman" panose="02020603050405020304" pitchFamily="18" charset="0"/>
                      </a:rPr>
                      <m:t>35</m:t>
                    </m:r>
                    <m:r>
                      <m:rPr>
                        <m:nor/>
                      </m:rPr>
                      <a:rPr lang="en-US" altLang="zh-TW" dirty="0">
                        <a:latin typeface="Times New Roman" panose="02020603050405020304" pitchFamily="18" charset="0"/>
                        <a:cs typeface="Times New Roman" panose="02020603050405020304" pitchFamily="18" charset="0"/>
                      </a:rPr>
                      <m:t> </m:t>
                    </m:r>
                  </m:oMath>
                </a14:m>
                <a:endParaRPr lang="zh-TW" altLang="en-US" dirty="0"/>
              </a:p>
            </p:txBody>
          </p:sp>
        </mc:Choice>
        <mc:Fallback>
          <p:sp>
            <p:nvSpPr>
              <p:cNvPr id="36" name="矩形 35">
                <a:extLst>
                  <a:ext uri="{FF2B5EF4-FFF2-40B4-BE49-F238E27FC236}">
                    <a16:creationId xmlns:a16="http://schemas.microsoft.com/office/drawing/2014/main" id="{23F87548-6556-4067-BCF6-F4DD7B76A130}"/>
                  </a:ext>
                </a:extLst>
              </p:cNvPr>
              <p:cNvSpPr>
                <a:spLocks noRot="1" noChangeAspect="1" noMove="1" noResize="1" noEditPoints="1" noAdjustHandles="1" noChangeArrowheads="1" noChangeShapeType="1" noTextEdit="1"/>
              </p:cNvSpPr>
              <p:nvPr/>
            </p:nvSpPr>
            <p:spPr>
              <a:xfrm>
                <a:off x="860514" y="3025912"/>
                <a:ext cx="2624474" cy="369332"/>
              </a:xfrm>
              <a:prstGeom prst="rect">
                <a:avLst/>
              </a:prstGeom>
              <a:blipFill>
                <a:blip r:embed="rId11"/>
                <a:stretch>
                  <a:fillRect t="-9836" b="-22951"/>
                </a:stretch>
              </a:blipFill>
            </p:spPr>
            <p:txBody>
              <a:bodyPr/>
              <a:lstStyle/>
              <a:p>
                <a:r>
                  <a:rPr lang="zh-TW" altLang="en-US">
                    <a:noFill/>
                  </a:rPr>
                  <a:t> </a:t>
                </a:r>
              </a:p>
            </p:txBody>
          </p:sp>
        </mc:Fallback>
      </mc:AlternateContent>
      <p:sp>
        <p:nvSpPr>
          <p:cNvPr id="38" name="矩形 37">
            <a:extLst>
              <a:ext uri="{FF2B5EF4-FFF2-40B4-BE49-F238E27FC236}">
                <a16:creationId xmlns:a16="http://schemas.microsoft.com/office/drawing/2014/main" id="{3E688AD7-9E22-41F9-A2EE-6D584A6A05C7}"/>
              </a:ext>
            </a:extLst>
          </p:cNvPr>
          <p:cNvSpPr/>
          <p:nvPr/>
        </p:nvSpPr>
        <p:spPr>
          <a:xfrm>
            <a:off x="5819834" y="2628900"/>
            <a:ext cx="2552641" cy="305968"/>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mc:AlternateContent xmlns:mc="http://schemas.openxmlformats.org/markup-compatibility/2006">
        <mc:Choice xmlns:a14="http://schemas.microsoft.com/office/drawing/2010/main" Requires="a14">
          <p:sp>
            <p:nvSpPr>
              <p:cNvPr id="39" name="矩形 38">
                <a:extLst>
                  <a:ext uri="{FF2B5EF4-FFF2-40B4-BE49-F238E27FC236}">
                    <a16:creationId xmlns:a16="http://schemas.microsoft.com/office/drawing/2014/main" id="{75ED2BCA-8A85-458D-8F3E-174FE8577B15}"/>
                  </a:ext>
                </a:extLst>
              </p:cNvPr>
              <p:cNvSpPr/>
              <p:nvPr/>
            </p:nvSpPr>
            <p:spPr>
              <a:xfrm>
                <a:off x="5973553" y="5366216"/>
                <a:ext cx="540533"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TW" b="0" i="1" smtClean="0">
                          <a:solidFill>
                            <a:srgbClr val="FF0000"/>
                          </a:solidFill>
                          <a:latin typeface="Cambria Math" panose="02040503050406030204" pitchFamily="18" charset="0"/>
                        </a:rPr>
                        <m:t>◯ </m:t>
                      </m:r>
                    </m:oMath>
                  </m:oMathPara>
                </a14:m>
                <a:endParaRPr lang="zh-TW" altLang="en-US" dirty="0">
                  <a:solidFill>
                    <a:srgbClr val="FF0000"/>
                  </a:solidFill>
                </a:endParaRPr>
              </a:p>
            </p:txBody>
          </p:sp>
        </mc:Choice>
        <mc:Fallback>
          <p:sp>
            <p:nvSpPr>
              <p:cNvPr id="39" name="矩形 38">
                <a:extLst>
                  <a:ext uri="{FF2B5EF4-FFF2-40B4-BE49-F238E27FC236}">
                    <a16:creationId xmlns:a16="http://schemas.microsoft.com/office/drawing/2014/main" id="{75ED2BCA-8A85-458D-8F3E-174FE8577B15}"/>
                  </a:ext>
                </a:extLst>
              </p:cNvPr>
              <p:cNvSpPr>
                <a:spLocks noRot="1" noChangeAspect="1" noMove="1" noResize="1" noEditPoints="1" noAdjustHandles="1" noChangeArrowheads="1" noChangeShapeType="1" noTextEdit="1"/>
              </p:cNvSpPr>
              <p:nvPr/>
            </p:nvSpPr>
            <p:spPr>
              <a:xfrm>
                <a:off x="5973553" y="5366216"/>
                <a:ext cx="540533" cy="369332"/>
              </a:xfrm>
              <a:prstGeom prst="rect">
                <a:avLst/>
              </a:prstGeom>
              <a:blipFill>
                <a:blip r:embed="rId12"/>
                <a:stretch>
                  <a:fillRect b="-8197"/>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5633902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500"/>
                                        <p:tgtEl>
                                          <p:spTgt spid="1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fade">
                                      <p:cBhvr>
                                        <p:cTn id="12" dur="500"/>
                                        <p:tgtEl>
                                          <p:spTgt spid="20"/>
                                        </p:tgtEl>
                                      </p:cBhvr>
                                    </p:animEffect>
                                  </p:childTnLst>
                                </p:cTn>
                              </p:par>
                              <p:par>
                                <p:cTn id="13" presetID="10" presetClass="entr" presetSubtype="0" fill="hold" nodeType="withEffect">
                                  <p:stCondLst>
                                    <p:cond delay="0"/>
                                  </p:stCondLst>
                                  <p:childTnLst>
                                    <p:set>
                                      <p:cBhvr>
                                        <p:cTn id="14" dur="1" fill="hold">
                                          <p:stCondLst>
                                            <p:cond delay="0"/>
                                          </p:stCondLst>
                                        </p:cTn>
                                        <p:tgtEl>
                                          <p:spTgt spid="22"/>
                                        </p:tgtEl>
                                        <p:attrNameLst>
                                          <p:attrName>style.visibility</p:attrName>
                                        </p:attrNameLst>
                                      </p:cBhvr>
                                      <p:to>
                                        <p:strVal val="visible"/>
                                      </p:to>
                                    </p:set>
                                    <p:animEffect transition="in" filter="fade">
                                      <p:cBhvr>
                                        <p:cTn id="15" dur="500"/>
                                        <p:tgtEl>
                                          <p:spTgt spid="22"/>
                                        </p:tgtEl>
                                      </p:cBhvr>
                                    </p:animEffect>
                                  </p:childTnLst>
                                </p:cTn>
                              </p:par>
                              <p:par>
                                <p:cTn id="16" presetID="1" presetClass="exit" presetSubtype="0" fill="hold" grpId="0" nodeType="withEffect">
                                  <p:stCondLst>
                                    <p:cond delay="0"/>
                                  </p:stCondLst>
                                  <p:childTnLst>
                                    <p:set>
                                      <p:cBhvr>
                                        <p:cTn id="17" dur="1" fill="hold">
                                          <p:stCondLst>
                                            <p:cond delay="0"/>
                                          </p:stCondLst>
                                        </p:cTn>
                                        <p:tgtEl>
                                          <p:spTgt spid="28"/>
                                        </p:tgtEl>
                                        <p:attrNameLst>
                                          <p:attrName>style.visibility</p:attrName>
                                        </p:attrNameLst>
                                      </p:cBhvr>
                                      <p:to>
                                        <p:strVal val="hidden"/>
                                      </p:to>
                                    </p:set>
                                  </p:childTnLst>
                                </p:cTn>
                              </p:par>
                              <p:par>
                                <p:cTn id="18" presetID="1" presetClass="exit" presetSubtype="0" fill="hold" grpId="0" nodeType="withEffect">
                                  <p:stCondLst>
                                    <p:cond delay="0"/>
                                  </p:stCondLst>
                                  <p:childTnLst>
                                    <p:set>
                                      <p:cBhvr>
                                        <p:cTn id="19" dur="1" fill="hold">
                                          <p:stCondLst>
                                            <p:cond delay="0"/>
                                          </p:stCondLst>
                                        </p:cTn>
                                        <p:tgtEl>
                                          <p:spTgt spid="17"/>
                                        </p:tgtEl>
                                        <p:attrNameLst>
                                          <p:attrName>style.visibility</p:attrName>
                                        </p:attrNameLst>
                                      </p:cBhvr>
                                      <p:to>
                                        <p:strVal val="hidden"/>
                                      </p:to>
                                    </p:set>
                                  </p:childTnLst>
                                </p:cTn>
                              </p:par>
                            </p:childTnLst>
                          </p:cTn>
                        </p:par>
                        <p:par>
                          <p:cTn id="20" fill="hold">
                            <p:stCondLst>
                              <p:cond delay="500"/>
                            </p:stCondLst>
                            <p:childTnLst>
                              <p:par>
                                <p:cTn id="21" presetID="10" presetClass="entr" presetSubtype="0" fill="hold" grpId="0" nodeType="afterEffect">
                                  <p:stCondLst>
                                    <p:cond delay="0"/>
                                  </p:stCondLst>
                                  <p:childTnLst>
                                    <p:set>
                                      <p:cBhvr>
                                        <p:cTn id="22" dur="1" fill="hold">
                                          <p:stCondLst>
                                            <p:cond delay="0"/>
                                          </p:stCondLst>
                                        </p:cTn>
                                        <p:tgtEl>
                                          <p:spTgt spid="38"/>
                                        </p:tgtEl>
                                        <p:attrNameLst>
                                          <p:attrName>style.visibility</p:attrName>
                                        </p:attrNameLst>
                                      </p:cBhvr>
                                      <p:to>
                                        <p:strVal val="visible"/>
                                      </p:to>
                                    </p:set>
                                    <p:animEffect transition="in" filter="fade">
                                      <p:cBhvr>
                                        <p:cTn id="23" dur="500"/>
                                        <p:tgtEl>
                                          <p:spTgt spid="38"/>
                                        </p:tgtEl>
                                      </p:cBhvr>
                                    </p:animEffect>
                                  </p:childTnLst>
                                </p:cTn>
                              </p:par>
                            </p:childTnLst>
                          </p:cTn>
                        </p:par>
                        <p:par>
                          <p:cTn id="24" fill="hold">
                            <p:stCondLst>
                              <p:cond delay="1000"/>
                            </p:stCondLst>
                            <p:childTnLst>
                              <p:par>
                                <p:cTn id="25" presetID="10" presetClass="entr" presetSubtype="0" fill="hold" grpId="0" nodeType="afterEffect">
                                  <p:stCondLst>
                                    <p:cond delay="0"/>
                                  </p:stCondLst>
                                  <p:childTnLst>
                                    <p:set>
                                      <p:cBhvr>
                                        <p:cTn id="26" dur="1" fill="hold">
                                          <p:stCondLst>
                                            <p:cond delay="0"/>
                                          </p:stCondLst>
                                        </p:cTn>
                                        <p:tgtEl>
                                          <p:spTgt spid="36"/>
                                        </p:tgtEl>
                                        <p:attrNameLst>
                                          <p:attrName>style.visibility</p:attrName>
                                        </p:attrNameLst>
                                      </p:cBhvr>
                                      <p:to>
                                        <p:strVal val="visible"/>
                                      </p:to>
                                    </p:set>
                                    <p:animEffect transition="in" filter="fade">
                                      <p:cBhvr>
                                        <p:cTn id="27" dur="500"/>
                                        <p:tgtEl>
                                          <p:spTgt spid="36"/>
                                        </p:tgtEl>
                                      </p:cBhvr>
                                    </p:animEffect>
                                  </p:childTnLst>
                                </p:cTn>
                              </p:par>
                            </p:childTnLst>
                          </p:cTn>
                        </p:par>
                        <p:par>
                          <p:cTn id="28" fill="hold">
                            <p:stCondLst>
                              <p:cond delay="1500"/>
                            </p:stCondLst>
                            <p:childTnLst>
                              <p:par>
                                <p:cTn id="29" presetID="10" presetClass="entr" presetSubtype="0" fill="hold" grpId="0" nodeType="afterEffect">
                                  <p:stCondLst>
                                    <p:cond delay="0"/>
                                  </p:stCondLst>
                                  <p:childTnLst>
                                    <p:set>
                                      <p:cBhvr>
                                        <p:cTn id="30" dur="1" fill="hold">
                                          <p:stCondLst>
                                            <p:cond delay="0"/>
                                          </p:stCondLst>
                                        </p:cTn>
                                        <p:tgtEl>
                                          <p:spTgt spid="39"/>
                                        </p:tgtEl>
                                        <p:attrNameLst>
                                          <p:attrName>style.visibility</p:attrName>
                                        </p:attrNameLst>
                                      </p:cBhvr>
                                      <p:to>
                                        <p:strVal val="visible"/>
                                      </p:to>
                                    </p:set>
                                    <p:animEffect transition="in" filter="fade">
                                      <p:cBhvr>
                                        <p:cTn id="31" dur="5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animBg="1"/>
      <p:bldP spid="17" grpId="0"/>
      <p:bldP spid="18" grpId="0"/>
      <p:bldP spid="20" grpId="0"/>
      <p:bldP spid="36" grpId="0"/>
      <p:bldP spid="38" grpId="0" animBg="1"/>
      <p:bldP spid="39"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a:extLst>
              <a:ext uri="{FF2B5EF4-FFF2-40B4-BE49-F238E27FC236}">
                <a16:creationId xmlns:a16="http://schemas.microsoft.com/office/drawing/2014/main" id="{ED499970-435B-41E0-9D5F-D4B25C714828}"/>
              </a:ext>
            </a:extLst>
          </p:cNvPr>
          <p:cNvSpPr>
            <a:spLocks noGrp="1"/>
          </p:cNvSpPr>
          <p:nvPr>
            <p:ph type="sldNum" sz="quarter" idx="12"/>
          </p:nvPr>
        </p:nvSpPr>
        <p:spPr/>
        <p:txBody>
          <a:bodyPr/>
          <a:lstStyle/>
          <a:p>
            <a:fld id="{872633CA-77E0-4863-94F8-E28139DFB2B4}" type="slidenum">
              <a:rPr lang="zh-TW" altLang="en-US" smtClean="0"/>
              <a:t>15</a:t>
            </a:fld>
            <a:endParaRPr lang="zh-TW" altLang="en-US"/>
          </a:p>
        </p:txBody>
      </p:sp>
      <p:pic>
        <p:nvPicPr>
          <p:cNvPr id="5" name="圖片 4">
            <a:extLst>
              <a:ext uri="{FF2B5EF4-FFF2-40B4-BE49-F238E27FC236}">
                <a16:creationId xmlns:a16="http://schemas.microsoft.com/office/drawing/2014/main" id="{97634585-A671-41A4-B04B-EC572C346C4D}"/>
              </a:ext>
            </a:extLst>
          </p:cNvPr>
          <p:cNvPicPr>
            <a:picLocks noChangeAspect="1"/>
          </p:cNvPicPr>
          <p:nvPr/>
        </p:nvPicPr>
        <p:blipFill>
          <a:blip r:embed="rId3"/>
          <a:stretch>
            <a:fillRect/>
          </a:stretch>
        </p:blipFill>
        <p:spPr>
          <a:xfrm>
            <a:off x="2168029" y="1322012"/>
            <a:ext cx="4485184" cy="3008355"/>
          </a:xfrm>
          <a:prstGeom prst="rect">
            <a:avLst/>
          </a:prstGeom>
        </p:spPr>
      </p:pic>
      <p:sp>
        <p:nvSpPr>
          <p:cNvPr id="6" name="標題 1">
            <a:extLst>
              <a:ext uri="{FF2B5EF4-FFF2-40B4-BE49-F238E27FC236}">
                <a16:creationId xmlns:a16="http://schemas.microsoft.com/office/drawing/2014/main" id="{940017F4-B354-44E5-8377-9FAA0E8ACF87}"/>
              </a:ext>
            </a:extLst>
          </p:cNvPr>
          <p:cNvSpPr txBox="1">
            <a:spLocks/>
          </p:cNvSpPr>
          <p:nvPr/>
        </p:nvSpPr>
        <p:spPr>
          <a:xfrm>
            <a:off x="402232" y="305355"/>
            <a:ext cx="7886700" cy="74281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TW" sz="3600" dirty="0">
                <a:latin typeface="Times New Roman" panose="02020603050405020304" pitchFamily="18" charset="0"/>
                <a:cs typeface="Times New Roman" panose="02020603050405020304" pitchFamily="18" charset="0"/>
              </a:rPr>
              <a:t>Experiments (1/2)</a:t>
            </a:r>
            <a:endParaRPr lang="zh-TW" altLang="en-US" sz="3600" dirty="0">
              <a:latin typeface="Times New Roman" panose="02020603050405020304" pitchFamily="18" charset="0"/>
              <a:cs typeface="Times New Roman" panose="02020603050405020304" pitchFamily="18" charset="0"/>
            </a:endParaRPr>
          </a:p>
        </p:txBody>
      </p:sp>
      <p:sp>
        <p:nvSpPr>
          <p:cNvPr id="7" name="矩形 6">
            <a:extLst>
              <a:ext uri="{FF2B5EF4-FFF2-40B4-BE49-F238E27FC236}">
                <a16:creationId xmlns:a16="http://schemas.microsoft.com/office/drawing/2014/main" id="{A789B5F2-C9F7-45F0-8F1F-017C7DFB5E59}"/>
              </a:ext>
            </a:extLst>
          </p:cNvPr>
          <p:cNvSpPr/>
          <p:nvPr/>
        </p:nvSpPr>
        <p:spPr>
          <a:xfrm>
            <a:off x="4474914" y="904231"/>
            <a:ext cx="4356597" cy="369332"/>
          </a:xfrm>
          <a:prstGeom prst="rect">
            <a:avLst/>
          </a:prstGeom>
        </p:spPr>
        <p:txBody>
          <a:bodyPr wrap="square">
            <a:spAutoFit/>
          </a:bodyPr>
          <a:lstStyle/>
          <a:p>
            <a:pPr algn="ctr"/>
            <a:r>
              <a:rPr lang="en-US" altLang="zh-TW" dirty="0">
                <a:solidFill>
                  <a:srgbClr val="000000"/>
                </a:solidFill>
                <a:latin typeface="Times New Roman" panose="02020603050405020304" pitchFamily="18" charset="0"/>
                <a:cs typeface="Times New Roman" panose="02020603050405020304" pitchFamily="18" charset="0"/>
              </a:rPr>
              <a:t>Execution times of algorithms (Dow Jones)</a:t>
            </a:r>
            <a:endParaRPr lang="zh-TW" altLang="en-US" dirty="0">
              <a:latin typeface="Times New Roman" panose="02020603050405020304" pitchFamily="18"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8" name="矩形 7">
                <a:extLst>
                  <a:ext uri="{FF2B5EF4-FFF2-40B4-BE49-F238E27FC236}">
                    <a16:creationId xmlns:a16="http://schemas.microsoft.com/office/drawing/2014/main" id="{0F2A0277-F59F-4BD9-897F-40CD87A62DC9}"/>
                  </a:ext>
                </a:extLst>
              </p:cNvPr>
              <p:cNvSpPr/>
              <p:nvPr/>
            </p:nvSpPr>
            <p:spPr>
              <a:xfrm>
                <a:off x="185737" y="4467991"/>
                <a:ext cx="8772525" cy="1750736"/>
              </a:xfrm>
              <a:prstGeom prst="rect">
                <a:avLst/>
              </a:prstGeom>
            </p:spPr>
            <p:txBody>
              <a:bodyPr wrap="square">
                <a:spAutoFit/>
              </a:bodyPr>
              <a:lstStyle/>
              <a:p>
                <a:pPr>
                  <a:lnSpc>
                    <a:spcPct val="150000"/>
                  </a:lnSpc>
                </a:pPr>
                <a:r>
                  <a:rPr lang="en-US" altLang="zh-TW" sz="2000" dirty="0">
                    <a:solidFill>
                      <a:srgbClr val="000000"/>
                    </a:solidFill>
                    <a:latin typeface="Times New Roman" panose="02020603050405020304" pitchFamily="18" charset="0"/>
                    <a:cs typeface="Times New Roman" panose="02020603050405020304" pitchFamily="18" charset="0"/>
                  </a:rPr>
                  <a:t>3 kinds of data</a:t>
                </a:r>
              </a:p>
              <a:p>
                <a:pPr marL="342900" indent="-342900">
                  <a:lnSpc>
                    <a:spcPct val="150000"/>
                  </a:lnSpc>
                  <a:buFont typeface="+mj-lt"/>
                  <a:buAutoNum type="arabicPeriod"/>
                </a:pPr>
                <a:r>
                  <a:rPr lang="en-US" altLang="zh-TW" dirty="0">
                    <a:solidFill>
                      <a:srgbClr val="0070C0"/>
                    </a:solidFill>
                    <a:latin typeface="Times New Roman" panose="02020603050405020304" pitchFamily="18" charset="0"/>
                    <a:cs typeface="Times New Roman" panose="02020603050405020304" pitchFamily="18" charset="0"/>
                  </a:rPr>
                  <a:t>Random data: </a:t>
                </a:r>
                <a:r>
                  <a:rPr lang="en-US" altLang="zh-TW" dirty="0">
                    <a:solidFill>
                      <a:srgbClr val="000000"/>
                    </a:solidFill>
                    <a:latin typeface="Times New Roman" panose="02020603050405020304" pitchFamily="18" charset="0"/>
                    <a:cs typeface="Times New Roman" panose="02020603050405020304" pitchFamily="18" charset="0"/>
                  </a:rPr>
                  <a:t>1,000,000 random integers between 0 and </a:t>
                </a:r>
                <a14:m>
                  <m:oMath xmlns:m="http://schemas.openxmlformats.org/officeDocument/2006/math">
                    <m:sSup>
                      <m:sSupPr>
                        <m:ctrlPr>
                          <a:rPr lang="en-US" altLang="zh-TW" b="0" i="1" smtClean="0">
                            <a:solidFill>
                              <a:srgbClr val="000000"/>
                            </a:solidFill>
                            <a:latin typeface="Cambria Math" panose="02040503050406030204" pitchFamily="18" charset="0"/>
                          </a:rPr>
                        </m:ctrlPr>
                      </m:sSupPr>
                      <m:e>
                        <m:r>
                          <a:rPr lang="en-US" altLang="zh-TW" b="0" i="1" smtClean="0">
                            <a:solidFill>
                              <a:srgbClr val="000000"/>
                            </a:solidFill>
                            <a:latin typeface="Cambria Math" panose="02040503050406030204" pitchFamily="18" charset="0"/>
                          </a:rPr>
                          <m:t>2</m:t>
                        </m:r>
                      </m:e>
                      <m:sup>
                        <m:r>
                          <a:rPr lang="en-US" altLang="zh-TW" b="0" i="1" smtClean="0">
                            <a:solidFill>
                              <a:srgbClr val="000000"/>
                            </a:solidFill>
                            <a:latin typeface="Cambria Math" panose="02040503050406030204" pitchFamily="18" charset="0"/>
                          </a:rPr>
                          <m:t>30</m:t>
                        </m:r>
                      </m:sup>
                    </m:sSup>
                  </m:oMath>
                </a14:m>
                <a:endParaRPr lang="en-US" altLang="zh-TW" dirty="0">
                  <a:solidFill>
                    <a:srgbClr val="000000"/>
                  </a:solidFill>
                  <a:latin typeface="Times New Roman" panose="02020603050405020304" pitchFamily="18" charset="0"/>
                  <a:cs typeface="Times New Roman" panose="02020603050405020304" pitchFamily="18" charset="0"/>
                </a:endParaRPr>
              </a:p>
              <a:p>
                <a:pPr marL="342900" indent="-342900">
                  <a:lnSpc>
                    <a:spcPct val="150000"/>
                  </a:lnSpc>
                  <a:buFont typeface="+mj-lt"/>
                  <a:buAutoNum type="arabicPeriod"/>
                </a:pPr>
                <a:r>
                  <a:rPr lang="en-US" altLang="zh-TW" dirty="0">
                    <a:latin typeface="Times New Roman" panose="02020603050405020304" pitchFamily="18" charset="0"/>
                    <a:cs typeface="Times New Roman" panose="02020603050405020304" pitchFamily="18" charset="0"/>
                  </a:rPr>
                  <a:t>Dow Jones: 15,248 integers - daily values of the stock index (1950–2011)</a:t>
                </a:r>
              </a:p>
              <a:p>
                <a:pPr marL="342900" indent="-342900">
                  <a:lnSpc>
                    <a:spcPct val="150000"/>
                  </a:lnSpc>
                  <a:buFont typeface="+mj-lt"/>
                  <a:buAutoNum type="arabicPeriod"/>
                </a:pPr>
                <a:r>
                  <a:rPr lang="en-US" altLang="zh-TW" dirty="0">
                    <a:latin typeface="Times New Roman" panose="02020603050405020304" pitchFamily="18" charset="0"/>
                    <a:cs typeface="Times New Roman" panose="02020603050405020304" pitchFamily="18" charset="0"/>
                  </a:rPr>
                  <a:t>Helsinki temperatures: 6818 integers - daily mean temperatures in Helsinki (1995–2005) </a:t>
                </a:r>
                <a:endParaRPr lang="zh-TW" altLang="en-US" dirty="0">
                  <a:latin typeface="Times New Roman" panose="02020603050405020304" pitchFamily="18" charset="0"/>
                  <a:cs typeface="Times New Roman" panose="02020603050405020304" pitchFamily="18" charset="0"/>
                </a:endParaRPr>
              </a:p>
            </p:txBody>
          </p:sp>
        </mc:Choice>
        <mc:Fallback>
          <p:sp>
            <p:nvSpPr>
              <p:cNvPr id="8" name="矩形 7">
                <a:extLst>
                  <a:ext uri="{FF2B5EF4-FFF2-40B4-BE49-F238E27FC236}">
                    <a16:creationId xmlns:a16="http://schemas.microsoft.com/office/drawing/2014/main" id="{0F2A0277-F59F-4BD9-897F-40CD87A62DC9}"/>
                  </a:ext>
                </a:extLst>
              </p:cNvPr>
              <p:cNvSpPr>
                <a:spLocks noRot="1" noChangeAspect="1" noMove="1" noResize="1" noEditPoints="1" noAdjustHandles="1" noChangeArrowheads="1" noChangeShapeType="1" noTextEdit="1"/>
              </p:cNvSpPr>
              <p:nvPr/>
            </p:nvSpPr>
            <p:spPr>
              <a:xfrm>
                <a:off x="185737" y="4467991"/>
                <a:ext cx="8772525" cy="1750736"/>
              </a:xfrm>
              <a:prstGeom prst="rect">
                <a:avLst/>
              </a:prstGeom>
              <a:blipFill>
                <a:blip r:embed="rId4"/>
                <a:stretch>
                  <a:fillRect l="-694" b="-4878"/>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167930517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a:extLst>
              <a:ext uri="{FF2B5EF4-FFF2-40B4-BE49-F238E27FC236}">
                <a16:creationId xmlns:a16="http://schemas.microsoft.com/office/drawing/2014/main" id="{ED499970-435B-41E0-9D5F-D4B25C714828}"/>
              </a:ext>
            </a:extLst>
          </p:cNvPr>
          <p:cNvSpPr>
            <a:spLocks noGrp="1"/>
          </p:cNvSpPr>
          <p:nvPr>
            <p:ph type="sldNum" sz="quarter" idx="12"/>
          </p:nvPr>
        </p:nvSpPr>
        <p:spPr/>
        <p:txBody>
          <a:bodyPr/>
          <a:lstStyle/>
          <a:p>
            <a:fld id="{872633CA-77E0-4863-94F8-E28139DFB2B4}" type="slidenum">
              <a:rPr lang="zh-TW" altLang="en-US" smtClean="0"/>
              <a:t>16</a:t>
            </a:fld>
            <a:endParaRPr lang="zh-TW" altLang="en-US"/>
          </a:p>
        </p:txBody>
      </p:sp>
      <p:sp>
        <p:nvSpPr>
          <p:cNvPr id="9" name="標題 1">
            <a:extLst>
              <a:ext uri="{FF2B5EF4-FFF2-40B4-BE49-F238E27FC236}">
                <a16:creationId xmlns:a16="http://schemas.microsoft.com/office/drawing/2014/main" id="{BDB9483A-B896-4D80-A566-FA9284ABEA36}"/>
              </a:ext>
            </a:extLst>
          </p:cNvPr>
          <p:cNvSpPr txBox="1">
            <a:spLocks/>
          </p:cNvSpPr>
          <p:nvPr/>
        </p:nvSpPr>
        <p:spPr>
          <a:xfrm>
            <a:off x="402232" y="305355"/>
            <a:ext cx="7886700" cy="74281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TW" sz="3600" dirty="0">
                <a:latin typeface="Times New Roman" panose="02020603050405020304" pitchFamily="18" charset="0"/>
                <a:cs typeface="Times New Roman" panose="02020603050405020304" pitchFamily="18" charset="0"/>
              </a:rPr>
              <a:t>Experiments (2/2)</a:t>
            </a:r>
            <a:endParaRPr lang="zh-TW" altLang="en-US" sz="3600" dirty="0">
              <a:latin typeface="Times New Roman" panose="02020603050405020304" pitchFamily="18" charset="0"/>
              <a:cs typeface="Times New Roman" panose="02020603050405020304" pitchFamily="18" charset="0"/>
            </a:endParaRPr>
          </a:p>
        </p:txBody>
      </p:sp>
      <p:pic>
        <p:nvPicPr>
          <p:cNvPr id="2" name="圖片 1">
            <a:extLst>
              <a:ext uri="{FF2B5EF4-FFF2-40B4-BE49-F238E27FC236}">
                <a16:creationId xmlns:a16="http://schemas.microsoft.com/office/drawing/2014/main" id="{4FD53D4D-1991-4A1B-8310-1FB6BA3B13BF}"/>
              </a:ext>
            </a:extLst>
          </p:cNvPr>
          <p:cNvPicPr>
            <a:picLocks noChangeAspect="1"/>
          </p:cNvPicPr>
          <p:nvPr/>
        </p:nvPicPr>
        <p:blipFill>
          <a:blip r:embed="rId2"/>
          <a:stretch>
            <a:fillRect/>
          </a:stretch>
        </p:blipFill>
        <p:spPr>
          <a:xfrm>
            <a:off x="221456" y="1278217"/>
            <a:ext cx="8701088" cy="4093210"/>
          </a:xfrm>
          <a:prstGeom prst="rect">
            <a:avLst/>
          </a:prstGeom>
        </p:spPr>
      </p:pic>
    </p:spTree>
    <p:extLst>
      <p:ext uri="{BB962C8B-B14F-4D97-AF65-F5344CB8AC3E}">
        <p14:creationId xmlns:p14="http://schemas.microsoft.com/office/powerpoint/2010/main" val="391888273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投影片編號版面配置區 3">
            <a:extLst>
              <a:ext uri="{FF2B5EF4-FFF2-40B4-BE49-F238E27FC236}">
                <a16:creationId xmlns:a16="http://schemas.microsoft.com/office/drawing/2014/main" id="{AA0CE9ED-8BAD-4F5C-9318-0EDD24950B21}"/>
              </a:ext>
            </a:extLst>
          </p:cNvPr>
          <p:cNvSpPr>
            <a:spLocks noGrp="1"/>
          </p:cNvSpPr>
          <p:nvPr>
            <p:ph type="sldNum" sz="quarter" idx="12"/>
          </p:nvPr>
        </p:nvSpPr>
        <p:spPr/>
        <p:txBody>
          <a:bodyPr/>
          <a:lstStyle/>
          <a:p>
            <a:fld id="{872633CA-77E0-4863-94F8-E28139DFB2B4}" type="slidenum">
              <a:rPr lang="zh-TW" altLang="en-US" smtClean="0"/>
              <a:t>17</a:t>
            </a:fld>
            <a:endParaRPr lang="zh-TW" altLang="en-US"/>
          </a:p>
        </p:txBody>
      </p:sp>
      <mc:AlternateContent xmlns:mc="http://schemas.openxmlformats.org/markup-compatibility/2006">
        <mc:Choice xmlns:a14="http://schemas.microsoft.com/office/drawing/2010/main" Requires="a14">
          <p:graphicFrame>
            <p:nvGraphicFramePr>
              <p:cNvPr id="5" name="表格 4">
                <a:extLst>
                  <a:ext uri="{FF2B5EF4-FFF2-40B4-BE49-F238E27FC236}">
                    <a16:creationId xmlns:a16="http://schemas.microsoft.com/office/drawing/2014/main" id="{81F84256-35AF-473F-8C7F-CD905C7C900B}"/>
                  </a:ext>
                </a:extLst>
              </p:cNvPr>
              <p:cNvGraphicFramePr>
                <a:graphicFrameLocks noGrp="1"/>
              </p:cNvGraphicFramePr>
              <p:nvPr>
                <p:extLst>
                  <p:ext uri="{D42A27DB-BD31-4B8C-83A1-F6EECF244321}">
                    <p14:modId xmlns:p14="http://schemas.microsoft.com/office/powerpoint/2010/main" val="1515957000"/>
                  </p:ext>
                </p:extLst>
              </p:nvPr>
            </p:nvGraphicFramePr>
            <p:xfrm>
              <a:off x="596038" y="3517153"/>
              <a:ext cx="7560000" cy="518160"/>
            </p:xfrm>
            <a:graphic>
              <a:graphicData uri="http://schemas.openxmlformats.org/drawingml/2006/table">
                <a:tbl>
                  <a:tblPr firstRow="1" bandRow="1">
                    <a:tableStyleId>{5940675A-B579-460E-94D1-54222C63F5DA}</a:tableStyleId>
                  </a:tblPr>
                  <a:tblGrid>
                    <a:gridCol w="540000">
                      <a:extLst>
                        <a:ext uri="{9D8B030D-6E8A-4147-A177-3AD203B41FA5}">
                          <a16:colId xmlns:a16="http://schemas.microsoft.com/office/drawing/2014/main" val="106444939"/>
                        </a:ext>
                      </a:extLst>
                    </a:gridCol>
                    <a:gridCol w="540000">
                      <a:extLst>
                        <a:ext uri="{9D8B030D-6E8A-4147-A177-3AD203B41FA5}">
                          <a16:colId xmlns:a16="http://schemas.microsoft.com/office/drawing/2014/main" val="3438003960"/>
                        </a:ext>
                      </a:extLst>
                    </a:gridCol>
                    <a:gridCol w="540000">
                      <a:extLst>
                        <a:ext uri="{9D8B030D-6E8A-4147-A177-3AD203B41FA5}">
                          <a16:colId xmlns:a16="http://schemas.microsoft.com/office/drawing/2014/main" val="1539556327"/>
                        </a:ext>
                      </a:extLst>
                    </a:gridCol>
                    <a:gridCol w="540000">
                      <a:extLst>
                        <a:ext uri="{9D8B030D-6E8A-4147-A177-3AD203B41FA5}">
                          <a16:colId xmlns:a16="http://schemas.microsoft.com/office/drawing/2014/main" val="1393179428"/>
                        </a:ext>
                      </a:extLst>
                    </a:gridCol>
                    <a:gridCol w="540000">
                      <a:extLst>
                        <a:ext uri="{9D8B030D-6E8A-4147-A177-3AD203B41FA5}">
                          <a16:colId xmlns:a16="http://schemas.microsoft.com/office/drawing/2014/main" val="3965888546"/>
                        </a:ext>
                      </a:extLst>
                    </a:gridCol>
                    <a:gridCol w="540000">
                      <a:extLst>
                        <a:ext uri="{9D8B030D-6E8A-4147-A177-3AD203B41FA5}">
                          <a16:colId xmlns:a16="http://schemas.microsoft.com/office/drawing/2014/main" val="82904498"/>
                        </a:ext>
                      </a:extLst>
                    </a:gridCol>
                    <a:gridCol w="540000">
                      <a:extLst>
                        <a:ext uri="{9D8B030D-6E8A-4147-A177-3AD203B41FA5}">
                          <a16:colId xmlns:a16="http://schemas.microsoft.com/office/drawing/2014/main" val="2214715668"/>
                        </a:ext>
                      </a:extLst>
                    </a:gridCol>
                    <a:gridCol w="540000">
                      <a:extLst>
                        <a:ext uri="{9D8B030D-6E8A-4147-A177-3AD203B41FA5}">
                          <a16:colId xmlns:a16="http://schemas.microsoft.com/office/drawing/2014/main" val="777121050"/>
                        </a:ext>
                      </a:extLst>
                    </a:gridCol>
                    <a:gridCol w="540000">
                      <a:extLst>
                        <a:ext uri="{9D8B030D-6E8A-4147-A177-3AD203B41FA5}">
                          <a16:colId xmlns:a16="http://schemas.microsoft.com/office/drawing/2014/main" val="2140332791"/>
                        </a:ext>
                      </a:extLst>
                    </a:gridCol>
                    <a:gridCol w="540000">
                      <a:extLst>
                        <a:ext uri="{9D8B030D-6E8A-4147-A177-3AD203B41FA5}">
                          <a16:colId xmlns:a16="http://schemas.microsoft.com/office/drawing/2014/main" val="1910247371"/>
                        </a:ext>
                      </a:extLst>
                    </a:gridCol>
                    <a:gridCol w="540000">
                      <a:extLst>
                        <a:ext uri="{9D8B030D-6E8A-4147-A177-3AD203B41FA5}">
                          <a16:colId xmlns:a16="http://schemas.microsoft.com/office/drawing/2014/main" val="3804762709"/>
                        </a:ext>
                      </a:extLst>
                    </a:gridCol>
                    <a:gridCol w="540000">
                      <a:extLst>
                        <a:ext uri="{9D8B030D-6E8A-4147-A177-3AD203B41FA5}">
                          <a16:colId xmlns:a16="http://schemas.microsoft.com/office/drawing/2014/main" val="354420647"/>
                        </a:ext>
                      </a:extLst>
                    </a:gridCol>
                    <a:gridCol w="540000">
                      <a:extLst>
                        <a:ext uri="{9D8B030D-6E8A-4147-A177-3AD203B41FA5}">
                          <a16:colId xmlns:a16="http://schemas.microsoft.com/office/drawing/2014/main" val="4131807763"/>
                        </a:ext>
                      </a:extLst>
                    </a:gridCol>
                    <a:gridCol w="540000">
                      <a:extLst>
                        <a:ext uri="{9D8B030D-6E8A-4147-A177-3AD203B41FA5}">
                          <a16:colId xmlns:a16="http://schemas.microsoft.com/office/drawing/2014/main" val="2190297588"/>
                        </a:ext>
                      </a:extLst>
                    </a:gridCol>
                  </a:tblGrid>
                  <a:tr h="229371">
                    <a:tc>
                      <a:txBody>
                        <a:bodyPr/>
                        <a:lstStyle/>
                        <a:p>
                          <a:pPr algn="ctr"/>
                          <a14:m>
                            <m:oMath xmlns:m="http://schemas.openxmlformats.org/officeDocument/2006/math">
                              <m:r>
                                <a:rPr lang="en-US" altLang="zh-TW" sz="2800" b="0" i="1" smtClean="0">
                                  <a:solidFill>
                                    <a:srgbClr val="0070C0"/>
                                  </a:solidFill>
                                  <a:latin typeface="Cambria Math" panose="02040503050406030204" pitchFamily="18" charset="0"/>
                                  <a:cs typeface="Times New Roman" panose="02020603050405020304" pitchFamily="18" charset="0"/>
                                </a:rPr>
                                <m:t>𝑇</m:t>
                              </m:r>
                              <m:r>
                                <a:rPr lang="en-US" altLang="zh-TW" sz="2800" b="0" i="1" smtClean="0">
                                  <a:solidFill>
                                    <a:srgbClr val="0070C0"/>
                                  </a:solidFill>
                                  <a:latin typeface="Cambria Math" panose="02040503050406030204" pitchFamily="18" charset="0"/>
                                  <a:cs typeface="Times New Roman" panose="02020603050405020304" pitchFamily="18" charset="0"/>
                                </a:rPr>
                                <m:t>′</m:t>
                              </m:r>
                            </m:oMath>
                          </a14:m>
                          <a:r>
                            <a:rPr lang="en-US" altLang="zh-TW" sz="2800" dirty="0">
                              <a:solidFill>
                                <a:srgbClr val="0070C0"/>
                              </a:solidFill>
                              <a:latin typeface="Times New Roman" panose="02020603050405020304" pitchFamily="18" charset="0"/>
                              <a:cs typeface="Times New Roman" panose="02020603050405020304" pitchFamily="18" charset="0"/>
                            </a:rPr>
                            <a:t>:</a:t>
                          </a:r>
                          <a:endParaRPr lang="zh-TW" altLang="en-US" sz="2800" dirty="0">
                            <a:solidFill>
                              <a:srgbClr val="0070C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70C0"/>
                              </a:solidFill>
                              <a:latin typeface="Times New Roman" panose="02020603050405020304" pitchFamily="18" charset="0"/>
                              <a:cs typeface="Times New Roman" panose="02020603050405020304" pitchFamily="18" charset="0"/>
                            </a:rPr>
                            <a:t>1</a:t>
                          </a:r>
                          <a:endParaRPr lang="zh-TW" altLang="en-US" sz="2800" dirty="0">
                            <a:solidFill>
                              <a:srgbClr val="0070C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70C0"/>
                              </a:solidFill>
                              <a:latin typeface="Times New Roman" panose="02020603050405020304" pitchFamily="18" charset="0"/>
                              <a:cs typeface="Times New Roman" panose="02020603050405020304" pitchFamily="18" charset="0"/>
                            </a:rPr>
                            <a:t>0</a:t>
                          </a:r>
                          <a:endParaRPr lang="zh-TW" altLang="en-US" sz="2800" dirty="0">
                            <a:solidFill>
                              <a:srgbClr val="0070C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70C0"/>
                              </a:solidFill>
                              <a:latin typeface="Times New Roman" panose="02020603050405020304" pitchFamily="18" charset="0"/>
                              <a:cs typeface="Times New Roman" panose="02020603050405020304" pitchFamily="18" charset="0"/>
                            </a:rPr>
                            <a:t>0</a:t>
                          </a:r>
                          <a:endParaRPr lang="zh-TW" altLang="en-US" sz="2800" dirty="0">
                            <a:solidFill>
                              <a:srgbClr val="0070C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70C0"/>
                              </a:solidFill>
                              <a:latin typeface="Times New Roman" panose="02020603050405020304" pitchFamily="18" charset="0"/>
                              <a:cs typeface="Times New Roman" panose="02020603050405020304" pitchFamily="18" charset="0"/>
                            </a:rPr>
                            <a:t>1</a:t>
                          </a:r>
                          <a:endParaRPr lang="zh-TW" altLang="en-US" sz="2800" dirty="0">
                            <a:solidFill>
                              <a:srgbClr val="0070C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70C0"/>
                              </a:solidFill>
                              <a:latin typeface="Times New Roman" panose="02020603050405020304" pitchFamily="18" charset="0"/>
                              <a:cs typeface="Times New Roman" panose="02020603050405020304" pitchFamily="18" charset="0"/>
                            </a:rPr>
                            <a:t>0</a:t>
                          </a:r>
                          <a:endParaRPr lang="zh-TW" altLang="en-US" sz="2800" dirty="0">
                            <a:solidFill>
                              <a:srgbClr val="0070C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70C0"/>
                              </a:solidFill>
                              <a:latin typeface="Times New Roman" panose="02020603050405020304" pitchFamily="18" charset="0"/>
                              <a:cs typeface="Times New Roman" panose="02020603050405020304" pitchFamily="18" charset="0"/>
                            </a:rPr>
                            <a:t>1</a:t>
                          </a:r>
                          <a:endParaRPr lang="zh-TW" altLang="en-US" sz="2800" dirty="0">
                            <a:solidFill>
                              <a:srgbClr val="0070C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70C0"/>
                              </a:solidFill>
                              <a:latin typeface="Times New Roman" panose="02020603050405020304" pitchFamily="18" charset="0"/>
                              <a:cs typeface="Times New Roman" panose="02020603050405020304" pitchFamily="18" charset="0"/>
                            </a:rPr>
                            <a:t>0</a:t>
                          </a:r>
                          <a:endParaRPr lang="zh-TW" altLang="en-US" sz="2800" dirty="0">
                            <a:solidFill>
                              <a:srgbClr val="0070C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70C0"/>
                              </a:solidFill>
                              <a:latin typeface="Times New Roman" panose="02020603050405020304" pitchFamily="18" charset="0"/>
                              <a:cs typeface="Times New Roman" panose="02020603050405020304" pitchFamily="18" charset="0"/>
                            </a:rPr>
                            <a:t>0</a:t>
                          </a:r>
                          <a:endParaRPr lang="zh-TW" altLang="en-US" sz="2800" dirty="0">
                            <a:solidFill>
                              <a:srgbClr val="0070C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70C0"/>
                              </a:solidFill>
                              <a:latin typeface="Times New Roman" panose="02020603050405020304" pitchFamily="18" charset="0"/>
                              <a:cs typeface="Times New Roman" panose="02020603050405020304" pitchFamily="18" charset="0"/>
                            </a:rPr>
                            <a:t>1</a:t>
                          </a:r>
                          <a:endParaRPr lang="zh-TW" altLang="en-US" sz="2800" dirty="0">
                            <a:solidFill>
                              <a:srgbClr val="0070C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70C0"/>
                              </a:solidFill>
                              <a:latin typeface="Times New Roman" panose="02020603050405020304" pitchFamily="18" charset="0"/>
                              <a:cs typeface="Times New Roman" panose="02020603050405020304" pitchFamily="18" charset="0"/>
                            </a:rPr>
                            <a:t>1</a:t>
                          </a:r>
                          <a:endParaRPr lang="zh-TW" altLang="en-US" sz="2800" dirty="0">
                            <a:solidFill>
                              <a:srgbClr val="0070C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70C0"/>
                              </a:solidFill>
                              <a:latin typeface="Times New Roman" panose="02020603050405020304" pitchFamily="18" charset="0"/>
                              <a:cs typeface="Times New Roman" panose="02020603050405020304" pitchFamily="18" charset="0"/>
                            </a:rPr>
                            <a:t>0</a:t>
                          </a:r>
                          <a:endParaRPr lang="zh-TW" altLang="en-US" sz="2800" dirty="0">
                            <a:solidFill>
                              <a:srgbClr val="0070C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70C0"/>
                              </a:solidFill>
                              <a:latin typeface="Times New Roman" panose="02020603050405020304" pitchFamily="18" charset="0"/>
                              <a:cs typeface="Times New Roman" panose="02020603050405020304" pitchFamily="18" charset="0"/>
                            </a:rPr>
                            <a:t>0</a:t>
                          </a:r>
                          <a:endParaRPr lang="zh-TW" altLang="en-US" sz="2800" dirty="0">
                            <a:solidFill>
                              <a:srgbClr val="0070C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endParaRPr lang="zh-TW" altLang="en-US" sz="2800" dirty="0">
                            <a:solidFill>
                              <a:srgbClr val="0070C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706415246"/>
                      </a:ext>
                    </a:extLst>
                  </a:tr>
                </a:tbl>
              </a:graphicData>
            </a:graphic>
          </p:graphicFrame>
        </mc:Choice>
        <mc:Fallback>
          <p:graphicFrame>
            <p:nvGraphicFramePr>
              <p:cNvPr id="5" name="表格 4">
                <a:extLst>
                  <a:ext uri="{FF2B5EF4-FFF2-40B4-BE49-F238E27FC236}">
                    <a16:creationId xmlns:a16="http://schemas.microsoft.com/office/drawing/2014/main" id="{81F84256-35AF-473F-8C7F-CD905C7C900B}"/>
                  </a:ext>
                </a:extLst>
              </p:cNvPr>
              <p:cNvGraphicFramePr>
                <a:graphicFrameLocks noGrp="1"/>
              </p:cNvGraphicFramePr>
              <p:nvPr>
                <p:extLst>
                  <p:ext uri="{D42A27DB-BD31-4B8C-83A1-F6EECF244321}">
                    <p14:modId xmlns:p14="http://schemas.microsoft.com/office/powerpoint/2010/main" val="1515957000"/>
                  </p:ext>
                </p:extLst>
              </p:nvPr>
            </p:nvGraphicFramePr>
            <p:xfrm>
              <a:off x="596038" y="3517153"/>
              <a:ext cx="7560000" cy="518160"/>
            </p:xfrm>
            <a:graphic>
              <a:graphicData uri="http://schemas.openxmlformats.org/drawingml/2006/table">
                <a:tbl>
                  <a:tblPr firstRow="1" bandRow="1">
                    <a:tableStyleId>{5940675A-B579-460E-94D1-54222C63F5DA}</a:tableStyleId>
                  </a:tblPr>
                  <a:tblGrid>
                    <a:gridCol w="540000">
                      <a:extLst>
                        <a:ext uri="{9D8B030D-6E8A-4147-A177-3AD203B41FA5}">
                          <a16:colId xmlns:a16="http://schemas.microsoft.com/office/drawing/2014/main" val="106444939"/>
                        </a:ext>
                      </a:extLst>
                    </a:gridCol>
                    <a:gridCol w="540000">
                      <a:extLst>
                        <a:ext uri="{9D8B030D-6E8A-4147-A177-3AD203B41FA5}">
                          <a16:colId xmlns:a16="http://schemas.microsoft.com/office/drawing/2014/main" val="3438003960"/>
                        </a:ext>
                      </a:extLst>
                    </a:gridCol>
                    <a:gridCol w="540000">
                      <a:extLst>
                        <a:ext uri="{9D8B030D-6E8A-4147-A177-3AD203B41FA5}">
                          <a16:colId xmlns:a16="http://schemas.microsoft.com/office/drawing/2014/main" val="1539556327"/>
                        </a:ext>
                      </a:extLst>
                    </a:gridCol>
                    <a:gridCol w="540000">
                      <a:extLst>
                        <a:ext uri="{9D8B030D-6E8A-4147-A177-3AD203B41FA5}">
                          <a16:colId xmlns:a16="http://schemas.microsoft.com/office/drawing/2014/main" val="1393179428"/>
                        </a:ext>
                      </a:extLst>
                    </a:gridCol>
                    <a:gridCol w="540000">
                      <a:extLst>
                        <a:ext uri="{9D8B030D-6E8A-4147-A177-3AD203B41FA5}">
                          <a16:colId xmlns:a16="http://schemas.microsoft.com/office/drawing/2014/main" val="3965888546"/>
                        </a:ext>
                      </a:extLst>
                    </a:gridCol>
                    <a:gridCol w="540000">
                      <a:extLst>
                        <a:ext uri="{9D8B030D-6E8A-4147-A177-3AD203B41FA5}">
                          <a16:colId xmlns:a16="http://schemas.microsoft.com/office/drawing/2014/main" val="82904498"/>
                        </a:ext>
                      </a:extLst>
                    </a:gridCol>
                    <a:gridCol w="540000">
                      <a:extLst>
                        <a:ext uri="{9D8B030D-6E8A-4147-A177-3AD203B41FA5}">
                          <a16:colId xmlns:a16="http://schemas.microsoft.com/office/drawing/2014/main" val="2214715668"/>
                        </a:ext>
                      </a:extLst>
                    </a:gridCol>
                    <a:gridCol w="540000">
                      <a:extLst>
                        <a:ext uri="{9D8B030D-6E8A-4147-A177-3AD203B41FA5}">
                          <a16:colId xmlns:a16="http://schemas.microsoft.com/office/drawing/2014/main" val="777121050"/>
                        </a:ext>
                      </a:extLst>
                    </a:gridCol>
                    <a:gridCol w="540000">
                      <a:extLst>
                        <a:ext uri="{9D8B030D-6E8A-4147-A177-3AD203B41FA5}">
                          <a16:colId xmlns:a16="http://schemas.microsoft.com/office/drawing/2014/main" val="2140332791"/>
                        </a:ext>
                      </a:extLst>
                    </a:gridCol>
                    <a:gridCol w="540000">
                      <a:extLst>
                        <a:ext uri="{9D8B030D-6E8A-4147-A177-3AD203B41FA5}">
                          <a16:colId xmlns:a16="http://schemas.microsoft.com/office/drawing/2014/main" val="1910247371"/>
                        </a:ext>
                      </a:extLst>
                    </a:gridCol>
                    <a:gridCol w="540000">
                      <a:extLst>
                        <a:ext uri="{9D8B030D-6E8A-4147-A177-3AD203B41FA5}">
                          <a16:colId xmlns:a16="http://schemas.microsoft.com/office/drawing/2014/main" val="3804762709"/>
                        </a:ext>
                      </a:extLst>
                    </a:gridCol>
                    <a:gridCol w="540000">
                      <a:extLst>
                        <a:ext uri="{9D8B030D-6E8A-4147-A177-3AD203B41FA5}">
                          <a16:colId xmlns:a16="http://schemas.microsoft.com/office/drawing/2014/main" val="354420647"/>
                        </a:ext>
                      </a:extLst>
                    </a:gridCol>
                    <a:gridCol w="540000">
                      <a:extLst>
                        <a:ext uri="{9D8B030D-6E8A-4147-A177-3AD203B41FA5}">
                          <a16:colId xmlns:a16="http://schemas.microsoft.com/office/drawing/2014/main" val="4131807763"/>
                        </a:ext>
                      </a:extLst>
                    </a:gridCol>
                    <a:gridCol w="540000">
                      <a:extLst>
                        <a:ext uri="{9D8B030D-6E8A-4147-A177-3AD203B41FA5}">
                          <a16:colId xmlns:a16="http://schemas.microsoft.com/office/drawing/2014/main" val="2190297588"/>
                        </a:ext>
                      </a:extLst>
                    </a:gridCol>
                  </a:tblGrid>
                  <a:tr h="518160">
                    <a:tc>
                      <a:txBody>
                        <a:bodyPr/>
                        <a:lstStyle/>
                        <a:p>
                          <a:endParaRPr lang="zh-TW"/>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blipFill>
                          <a:blip r:embed="rId2"/>
                          <a:stretch>
                            <a:fillRect t="-11628" r="-1294382" b="-32558"/>
                          </a:stretch>
                        </a:blipFill>
                      </a:tcPr>
                    </a:tc>
                    <a:tc>
                      <a:txBody>
                        <a:bodyPr/>
                        <a:lstStyle/>
                        <a:p>
                          <a:pPr algn="ctr"/>
                          <a:r>
                            <a:rPr lang="en-US" altLang="zh-TW" sz="2800" dirty="0">
                              <a:solidFill>
                                <a:srgbClr val="0070C0"/>
                              </a:solidFill>
                              <a:latin typeface="Times New Roman" panose="02020603050405020304" pitchFamily="18" charset="0"/>
                              <a:cs typeface="Times New Roman" panose="02020603050405020304" pitchFamily="18" charset="0"/>
                            </a:rPr>
                            <a:t>1</a:t>
                          </a:r>
                          <a:endParaRPr lang="zh-TW" altLang="en-US" sz="2800" dirty="0">
                            <a:solidFill>
                              <a:srgbClr val="0070C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70C0"/>
                              </a:solidFill>
                              <a:latin typeface="Times New Roman" panose="02020603050405020304" pitchFamily="18" charset="0"/>
                              <a:cs typeface="Times New Roman" panose="02020603050405020304" pitchFamily="18" charset="0"/>
                            </a:rPr>
                            <a:t>0</a:t>
                          </a:r>
                          <a:endParaRPr lang="zh-TW" altLang="en-US" sz="2800" dirty="0">
                            <a:solidFill>
                              <a:srgbClr val="0070C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70C0"/>
                              </a:solidFill>
                              <a:latin typeface="Times New Roman" panose="02020603050405020304" pitchFamily="18" charset="0"/>
                              <a:cs typeface="Times New Roman" panose="02020603050405020304" pitchFamily="18" charset="0"/>
                            </a:rPr>
                            <a:t>0</a:t>
                          </a:r>
                          <a:endParaRPr lang="zh-TW" altLang="en-US" sz="2800" dirty="0">
                            <a:solidFill>
                              <a:srgbClr val="0070C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70C0"/>
                              </a:solidFill>
                              <a:latin typeface="Times New Roman" panose="02020603050405020304" pitchFamily="18" charset="0"/>
                              <a:cs typeface="Times New Roman" panose="02020603050405020304" pitchFamily="18" charset="0"/>
                            </a:rPr>
                            <a:t>1</a:t>
                          </a:r>
                          <a:endParaRPr lang="zh-TW" altLang="en-US" sz="2800" dirty="0">
                            <a:solidFill>
                              <a:srgbClr val="0070C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70C0"/>
                              </a:solidFill>
                              <a:latin typeface="Times New Roman" panose="02020603050405020304" pitchFamily="18" charset="0"/>
                              <a:cs typeface="Times New Roman" panose="02020603050405020304" pitchFamily="18" charset="0"/>
                            </a:rPr>
                            <a:t>0</a:t>
                          </a:r>
                          <a:endParaRPr lang="zh-TW" altLang="en-US" sz="2800" dirty="0">
                            <a:solidFill>
                              <a:srgbClr val="0070C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70C0"/>
                              </a:solidFill>
                              <a:latin typeface="Times New Roman" panose="02020603050405020304" pitchFamily="18" charset="0"/>
                              <a:cs typeface="Times New Roman" panose="02020603050405020304" pitchFamily="18" charset="0"/>
                            </a:rPr>
                            <a:t>1</a:t>
                          </a:r>
                          <a:endParaRPr lang="zh-TW" altLang="en-US" sz="2800" dirty="0">
                            <a:solidFill>
                              <a:srgbClr val="0070C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70C0"/>
                              </a:solidFill>
                              <a:latin typeface="Times New Roman" panose="02020603050405020304" pitchFamily="18" charset="0"/>
                              <a:cs typeface="Times New Roman" panose="02020603050405020304" pitchFamily="18" charset="0"/>
                            </a:rPr>
                            <a:t>0</a:t>
                          </a:r>
                          <a:endParaRPr lang="zh-TW" altLang="en-US" sz="2800" dirty="0">
                            <a:solidFill>
                              <a:srgbClr val="0070C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70C0"/>
                              </a:solidFill>
                              <a:latin typeface="Times New Roman" panose="02020603050405020304" pitchFamily="18" charset="0"/>
                              <a:cs typeface="Times New Roman" panose="02020603050405020304" pitchFamily="18" charset="0"/>
                            </a:rPr>
                            <a:t>0</a:t>
                          </a:r>
                          <a:endParaRPr lang="zh-TW" altLang="en-US" sz="2800" dirty="0">
                            <a:solidFill>
                              <a:srgbClr val="0070C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70C0"/>
                              </a:solidFill>
                              <a:latin typeface="Times New Roman" panose="02020603050405020304" pitchFamily="18" charset="0"/>
                              <a:cs typeface="Times New Roman" panose="02020603050405020304" pitchFamily="18" charset="0"/>
                            </a:rPr>
                            <a:t>1</a:t>
                          </a:r>
                          <a:endParaRPr lang="zh-TW" altLang="en-US" sz="2800" dirty="0">
                            <a:solidFill>
                              <a:srgbClr val="0070C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70C0"/>
                              </a:solidFill>
                              <a:latin typeface="Times New Roman" panose="02020603050405020304" pitchFamily="18" charset="0"/>
                              <a:cs typeface="Times New Roman" panose="02020603050405020304" pitchFamily="18" charset="0"/>
                            </a:rPr>
                            <a:t>1</a:t>
                          </a:r>
                          <a:endParaRPr lang="zh-TW" altLang="en-US" sz="2800" dirty="0">
                            <a:solidFill>
                              <a:srgbClr val="0070C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70C0"/>
                              </a:solidFill>
                              <a:latin typeface="Times New Roman" panose="02020603050405020304" pitchFamily="18" charset="0"/>
                              <a:cs typeface="Times New Roman" panose="02020603050405020304" pitchFamily="18" charset="0"/>
                            </a:rPr>
                            <a:t>0</a:t>
                          </a:r>
                          <a:endParaRPr lang="zh-TW" altLang="en-US" sz="2800" dirty="0">
                            <a:solidFill>
                              <a:srgbClr val="0070C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70C0"/>
                              </a:solidFill>
                              <a:latin typeface="Times New Roman" panose="02020603050405020304" pitchFamily="18" charset="0"/>
                              <a:cs typeface="Times New Roman" panose="02020603050405020304" pitchFamily="18" charset="0"/>
                            </a:rPr>
                            <a:t>0</a:t>
                          </a:r>
                          <a:endParaRPr lang="zh-TW" altLang="en-US" sz="2800" dirty="0">
                            <a:solidFill>
                              <a:srgbClr val="0070C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endParaRPr lang="zh-TW" altLang="en-US" sz="2800" dirty="0">
                            <a:solidFill>
                              <a:srgbClr val="0070C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706415246"/>
                      </a:ext>
                    </a:extLst>
                  </a:tr>
                </a:tbl>
              </a:graphicData>
            </a:graphic>
          </p:graphicFrame>
        </mc:Fallback>
      </mc:AlternateContent>
      <mc:AlternateContent xmlns:mc="http://schemas.openxmlformats.org/markup-compatibility/2006">
        <mc:Choice xmlns:a14="http://schemas.microsoft.com/office/drawing/2010/main" Requires="a14">
          <p:graphicFrame>
            <p:nvGraphicFramePr>
              <p:cNvPr id="6" name="表格 5">
                <a:extLst>
                  <a:ext uri="{FF2B5EF4-FFF2-40B4-BE49-F238E27FC236}">
                    <a16:creationId xmlns:a16="http://schemas.microsoft.com/office/drawing/2014/main" id="{83B29E16-A3E0-4167-BBA8-DE66FBE7BD61}"/>
                  </a:ext>
                </a:extLst>
              </p:cNvPr>
              <p:cNvGraphicFramePr>
                <a:graphicFrameLocks noGrp="1"/>
              </p:cNvGraphicFramePr>
              <p:nvPr>
                <p:extLst>
                  <p:ext uri="{D42A27DB-BD31-4B8C-83A1-F6EECF244321}">
                    <p14:modId xmlns:p14="http://schemas.microsoft.com/office/powerpoint/2010/main" val="863824866"/>
                  </p:ext>
                </p:extLst>
              </p:nvPr>
            </p:nvGraphicFramePr>
            <p:xfrm>
              <a:off x="596038" y="2995874"/>
              <a:ext cx="7560000" cy="518160"/>
            </p:xfrm>
            <a:graphic>
              <a:graphicData uri="http://schemas.openxmlformats.org/drawingml/2006/table">
                <a:tbl>
                  <a:tblPr firstRow="1" bandRow="1">
                    <a:tableStyleId>{5940675A-B579-460E-94D1-54222C63F5DA}</a:tableStyleId>
                  </a:tblPr>
                  <a:tblGrid>
                    <a:gridCol w="540000">
                      <a:extLst>
                        <a:ext uri="{9D8B030D-6E8A-4147-A177-3AD203B41FA5}">
                          <a16:colId xmlns:a16="http://schemas.microsoft.com/office/drawing/2014/main" val="106444939"/>
                        </a:ext>
                      </a:extLst>
                    </a:gridCol>
                    <a:gridCol w="540000">
                      <a:extLst>
                        <a:ext uri="{9D8B030D-6E8A-4147-A177-3AD203B41FA5}">
                          <a16:colId xmlns:a16="http://schemas.microsoft.com/office/drawing/2014/main" val="3438003960"/>
                        </a:ext>
                      </a:extLst>
                    </a:gridCol>
                    <a:gridCol w="540000">
                      <a:extLst>
                        <a:ext uri="{9D8B030D-6E8A-4147-A177-3AD203B41FA5}">
                          <a16:colId xmlns:a16="http://schemas.microsoft.com/office/drawing/2014/main" val="1539556327"/>
                        </a:ext>
                      </a:extLst>
                    </a:gridCol>
                    <a:gridCol w="540000">
                      <a:extLst>
                        <a:ext uri="{9D8B030D-6E8A-4147-A177-3AD203B41FA5}">
                          <a16:colId xmlns:a16="http://schemas.microsoft.com/office/drawing/2014/main" val="1393179428"/>
                        </a:ext>
                      </a:extLst>
                    </a:gridCol>
                    <a:gridCol w="540000">
                      <a:extLst>
                        <a:ext uri="{9D8B030D-6E8A-4147-A177-3AD203B41FA5}">
                          <a16:colId xmlns:a16="http://schemas.microsoft.com/office/drawing/2014/main" val="3965888546"/>
                        </a:ext>
                      </a:extLst>
                    </a:gridCol>
                    <a:gridCol w="540000">
                      <a:extLst>
                        <a:ext uri="{9D8B030D-6E8A-4147-A177-3AD203B41FA5}">
                          <a16:colId xmlns:a16="http://schemas.microsoft.com/office/drawing/2014/main" val="82904498"/>
                        </a:ext>
                      </a:extLst>
                    </a:gridCol>
                    <a:gridCol w="540000">
                      <a:extLst>
                        <a:ext uri="{9D8B030D-6E8A-4147-A177-3AD203B41FA5}">
                          <a16:colId xmlns:a16="http://schemas.microsoft.com/office/drawing/2014/main" val="2214715668"/>
                        </a:ext>
                      </a:extLst>
                    </a:gridCol>
                    <a:gridCol w="540000">
                      <a:extLst>
                        <a:ext uri="{9D8B030D-6E8A-4147-A177-3AD203B41FA5}">
                          <a16:colId xmlns:a16="http://schemas.microsoft.com/office/drawing/2014/main" val="777121050"/>
                        </a:ext>
                      </a:extLst>
                    </a:gridCol>
                    <a:gridCol w="540000">
                      <a:extLst>
                        <a:ext uri="{9D8B030D-6E8A-4147-A177-3AD203B41FA5}">
                          <a16:colId xmlns:a16="http://schemas.microsoft.com/office/drawing/2014/main" val="2140332791"/>
                        </a:ext>
                      </a:extLst>
                    </a:gridCol>
                    <a:gridCol w="540000">
                      <a:extLst>
                        <a:ext uri="{9D8B030D-6E8A-4147-A177-3AD203B41FA5}">
                          <a16:colId xmlns:a16="http://schemas.microsoft.com/office/drawing/2014/main" val="1910247371"/>
                        </a:ext>
                      </a:extLst>
                    </a:gridCol>
                    <a:gridCol w="540000">
                      <a:extLst>
                        <a:ext uri="{9D8B030D-6E8A-4147-A177-3AD203B41FA5}">
                          <a16:colId xmlns:a16="http://schemas.microsoft.com/office/drawing/2014/main" val="3804762709"/>
                        </a:ext>
                      </a:extLst>
                    </a:gridCol>
                    <a:gridCol w="540000">
                      <a:extLst>
                        <a:ext uri="{9D8B030D-6E8A-4147-A177-3AD203B41FA5}">
                          <a16:colId xmlns:a16="http://schemas.microsoft.com/office/drawing/2014/main" val="354420647"/>
                        </a:ext>
                      </a:extLst>
                    </a:gridCol>
                    <a:gridCol w="540000">
                      <a:extLst>
                        <a:ext uri="{9D8B030D-6E8A-4147-A177-3AD203B41FA5}">
                          <a16:colId xmlns:a16="http://schemas.microsoft.com/office/drawing/2014/main" val="4131807763"/>
                        </a:ext>
                      </a:extLst>
                    </a:gridCol>
                    <a:gridCol w="540000">
                      <a:extLst>
                        <a:ext uri="{9D8B030D-6E8A-4147-A177-3AD203B41FA5}">
                          <a16:colId xmlns:a16="http://schemas.microsoft.com/office/drawing/2014/main" val="2190297588"/>
                        </a:ext>
                      </a:extLst>
                    </a:gridCol>
                  </a:tblGrid>
                  <a:tr h="229371">
                    <a:tc>
                      <a:txBody>
                        <a:bodyPr/>
                        <a:lstStyle/>
                        <a:p>
                          <a:pPr algn="ctr"/>
                          <a14:m>
                            <m:oMath xmlns:m="http://schemas.openxmlformats.org/officeDocument/2006/math">
                              <m:r>
                                <a:rPr lang="en-US" altLang="zh-TW" sz="2800" b="0" i="1" dirty="0" smtClean="0">
                                  <a:solidFill>
                                    <a:srgbClr val="002060"/>
                                  </a:solidFill>
                                  <a:latin typeface="Cambria Math" panose="02040503050406030204" pitchFamily="18" charset="0"/>
                                  <a:cs typeface="Times New Roman" panose="02020603050405020304" pitchFamily="18" charset="0"/>
                                </a:rPr>
                                <m:t>𝑇</m:t>
                              </m:r>
                            </m:oMath>
                          </a14:m>
                          <a:r>
                            <a:rPr lang="en-US" altLang="zh-TW" sz="2800" dirty="0">
                              <a:solidFill>
                                <a:srgbClr val="002060"/>
                              </a:solidFill>
                              <a:latin typeface="Times New Roman" panose="02020603050405020304" pitchFamily="18" charset="0"/>
                              <a:cs typeface="Times New Roman" panose="02020603050405020304" pitchFamily="18" charset="0"/>
                            </a:rPr>
                            <a: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22</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85</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79</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24</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FF0000"/>
                              </a:solidFill>
                              <a:latin typeface="Times New Roman" panose="02020603050405020304" pitchFamily="18" charset="0"/>
                              <a:cs typeface="Times New Roman" panose="02020603050405020304" pitchFamily="18" charset="0"/>
                            </a:rPr>
                            <a:t>42</a:t>
                          </a:r>
                          <a:endParaRPr lang="zh-TW" altLang="en-US" sz="2800" dirty="0">
                            <a:solidFill>
                              <a:srgbClr val="FF000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chemeClr val="accent4">
                                  <a:lumMod val="75000"/>
                                </a:schemeClr>
                              </a:solidFill>
                              <a:latin typeface="Times New Roman" panose="02020603050405020304" pitchFamily="18" charset="0"/>
                              <a:cs typeface="Times New Roman" panose="02020603050405020304" pitchFamily="18" charset="0"/>
                            </a:rPr>
                            <a:t>27</a:t>
                          </a:r>
                          <a:endParaRPr lang="zh-TW" altLang="en-US" sz="2800" dirty="0">
                            <a:solidFill>
                              <a:schemeClr val="accent4">
                                <a:lumMod val="75000"/>
                              </a:schemeClr>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FF0000"/>
                              </a:solidFill>
                              <a:latin typeface="Times New Roman" panose="02020603050405020304" pitchFamily="18" charset="0"/>
                              <a:cs typeface="Times New Roman" panose="02020603050405020304" pitchFamily="18" charset="0"/>
                            </a:rPr>
                            <a:t>62</a:t>
                          </a:r>
                          <a:endParaRPr lang="zh-TW" altLang="en-US" sz="2800" dirty="0">
                            <a:solidFill>
                              <a:srgbClr val="FF000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chemeClr val="accent4">
                                  <a:lumMod val="75000"/>
                                </a:schemeClr>
                              </a:solidFill>
                              <a:latin typeface="Times New Roman" panose="02020603050405020304" pitchFamily="18" charset="0"/>
                              <a:cs typeface="Times New Roman" panose="02020603050405020304" pitchFamily="18" charset="0"/>
                            </a:rPr>
                            <a:t>40</a:t>
                          </a:r>
                          <a:endParaRPr lang="zh-TW" altLang="en-US" sz="2800" dirty="0">
                            <a:solidFill>
                              <a:schemeClr val="accent4">
                                <a:lumMod val="75000"/>
                              </a:schemeClr>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chemeClr val="accent4">
                                  <a:lumMod val="75000"/>
                                </a:schemeClr>
                              </a:solidFill>
                              <a:latin typeface="Times New Roman" panose="02020603050405020304" pitchFamily="18" charset="0"/>
                              <a:cs typeface="Times New Roman" panose="02020603050405020304" pitchFamily="18" charset="0"/>
                            </a:rPr>
                            <a:t>32</a:t>
                          </a:r>
                          <a:endParaRPr lang="zh-TW" altLang="en-US" sz="2800" dirty="0">
                            <a:solidFill>
                              <a:schemeClr val="accent4">
                                <a:lumMod val="75000"/>
                              </a:schemeClr>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FF0000"/>
                              </a:solidFill>
                              <a:latin typeface="Times New Roman" panose="02020603050405020304" pitchFamily="18" charset="0"/>
                              <a:cs typeface="Times New Roman" panose="02020603050405020304" pitchFamily="18" charset="0"/>
                            </a:rPr>
                            <a:t>47</a:t>
                          </a:r>
                          <a:endParaRPr lang="zh-TW" altLang="en-US" sz="2800" dirty="0">
                            <a:solidFill>
                              <a:srgbClr val="FF000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69</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55</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25</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706415246"/>
                      </a:ext>
                    </a:extLst>
                  </a:tr>
                </a:tbl>
              </a:graphicData>
            </a:graphic>
          </p:graphicFrame>
        </mc:Choice>
        <mc:Fallback>
          <p:graphicFrame>
            <p:nvGraphicFramePr>
              <p:cNvPr id="6" name="表格 5">
                <a:extLst>
                  <a:ext uri="{FF2B5EF4-FFF2-40B4-BE49-F238E27FC236}">
                    <a16:creationId xmlns:a16="http://schemas.microsoft.com/office/drawing/2014/main" id="{83B29E16-A3E0-4167-BBA8-DE66FBE7BD61}"/>
                  </a:ext>
                </a:extLst>
              </p:cNvPr>
              <p:cNvGraphicFramePr>
                <a:graphicFrameLocks noGrp="1"/>
              </p:cNvGraphicFramePr>
              <p:nvPr>
                <p:extLst>
                  <p:ext uri="{D42A27DB-BD31-4B8C-83A1-F6EECF244321}">
                    <p14:modId xmlns:p14="http://schemas.microsoft.com/office/powerpoint/2010/main" val="863824866"/>
                  </p:ext>
                </p:extLst>
              </p:nvPr>
            </p:nvGraphicFramePr>
            <p:xfrm>
              <a:off x="596038" y="2995874"/>
              <a:ext cx="7560000" cy="518160"/>
            </p:xfrm>
            <a:graphic>
              <a:graphicData uri="http://schemas.openxmlformats.org/drawingml/2006/table">
                <a:tbl>
                  <a:tblPr firstRow="1" bandRow="1">
                    <a:tableStyleId>{5940675A-B579-460E-94D1-54222C63F5DA}</a:tableStyleId>
                  </a:tblPr>
                  <a:tblGrid>
                    <a:gridCol w="540000">
                      <a:extLst>
                        <a:ext uri="{9D8B030D-6E8A-4147-A177-3AD203B41FA5}">
                          <a16:colId xmlns:a16="http://schemas.microsoft.com/office/drawing/2014/main" val="106444939"/>
                        </a:ext>
                      </a:extLst>
                    </a:gridCol>
                    <a:gridCol w="540000">
                      <a:extLst>
                        <a:ext uri="{9D8B030D-6E8A-4147-A177-3AD203B41FA5}">
                          <a16:colId xmlns:a16="http://schemas.microsoft.com/office/drawing/2014/main" val="3438003960"/>
                        </a:ext>
                      </a:extLst>
                    </a:gridCol>
                    <a:gridCol w="540000">
                      <a:extLst>
                        <a:ext uri="{9D8B030D-6E8A-4147-A177-3AD203B41FA5}">
                          <a16:colId xmlns:a16="http://schemas.microsoft.com/office/drawing/2014/main" val="1539556327"/>
                        </a:ext>
                      </a:extLst>
                    </a:gridCol>
                    <a:gridCol w="540000">
                      <a:extLst>
                        <a:ext uri="{9D8B030D-6E8A-4147-A177-3AD203B41FA5}">
                          <a16:colId xmlns:a16="http://schemas.microsoft.com/office/drawing/2014/main" val="1393179428"/>
                        </a:ext>
                      </a:extLst>
                    </a:gridCol>
                    <a:gridCol w="540000">
                      <a:extLst>
                        <a:ext uri="{9D8B030D-6E8A-4147-A177-3AD203B41FA5}">
                          <a16:colId xmlns:a16="http://schemas.microsoft.com/office/drawing/2014/main" val="3965888546"/>
                        </a:ext>
                      </a:extLst>
                    </a:gridCol>
                    <a:gridCol w="540000">
                      <a:extLst>
                        <a:ext uri="{9D8B030D-6E8A-4147-A177-3AD203B41FA5}">
                          <a16:colId xmlns:a16="http://schemas.microsoft.com/office/drawing/2014/main" val="82904498"/>
                        </a:ext>
                      </a:extLst>
                    </a:gridCol>
                    <a:gridCol w="540000">
                      <a:extLst>
                        <a:ext uri="{9D8B030D-6E8A-4147-A177-3AD203B41FA5}">
                          <a16:colId xmlns:a16="http://schemas.microsoft.com/office/drawing/2014/main" val="2214715668"/>
                        </a:ext>
                      </a:extLst>
                    </a:gridCol>
                    <a:gridCol w="540000">
                      <a:extLst>
                        <a:ext uri="{9D8B030D-6E8A-4147-A177-3AD203B41FA5}">
                          <a16:colId xmlns:a16="http://schemas.microsoft.com/office/drawing/2014/main" val="777121050"/>
                        </a:ext>
                      </a:extLst>
                    </a:gridCol>
                    <a:gridCol w="540000">
                      <a:extLst>
                        <a:ext uri="{9D8B030D-6E8A-4147-A177-3AD203B41FA5}">
                          <a16:colId xmlns:a16="http://schemas.microsoft.com/office/drawing/2014/main" val="2140332791"/>
                        </a:ext>
                      </a:extLst>
                    </a:gridCol>
                    <a:gridCol w="540000">
                      <a:extLst>
                        <a:ext uri="{9D8B030D-6E8A-4147-A177-3AD203B41FA5}">
                          <a16:colId xmlns:a16="http://schemas.microsoft.com/office/drawing/2014/main" val="1910247371"/>
                        </a:ext>
                      </a:extLst>
                    </a:gridCol>
                    <a:gridCol w="540000">
                      <a:extLst>
                        <a:ext uri="{9D8B030D-6E8A-4147-A177-3AD203B41FA5}">
                          <a16:colId xmlns:a16="http://schemas.microsoft.com/office/drawing/2014/main" val="3804762709"/>
                        </a:ext>
                      </a:extLst>
                    </a:gridCol>
                    <a:gridCol w="540000">
                      <a:extLst>
                        <a:ext uri="{9D8B030D-6E8A-4147-A177-3AD203B41FA5}">
                          <a16:colId xmlns:a16="http://schemas.microsoft.com/office/drawing/2014/main" val="354420647"/>
                        </a:ext>
                      </a:extLst>
                    </a:gridCol>
                    <a:gridCol w="540000">
                      <a:extLst>
                        <a:ext uri="{9D8B030D-6E8A-4147-A177-3AD203B41FA5}">
                          <a16:colId xmlns:a16="http://schemas.microsoft.com/office/drawing/2014/main" val="4131807763"/>
                        </a:ext>
                      </a:extLst>
                    </a:gridCol>
                    <a:gridCol w="540000">
                      <a:extLst>
                        <a:ext uri="{9D8B030D-6E8A-4147-A177-3AD203B41FA5}">
                          <a16:colId xmlns:a16="http://schemas.microsoft.com/office/drawing/2014/main" val="2190297588"/>
                        </a:ext>
                      </a:extLst>
                    </a:gridCol>
                  </a:tblGrid>
                  <a:tr h="518160">
                    <a:tc>
                      <a:txBody>
                        <a:bodyPr/>
                        <a:lstStyle/>
                        <a:p>
                          <a:endParaRPr lang="zh-TW"/>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blipFill>
                          <a:blip r:embed="rId3"/>
                          <a:stretch>
                            <a:fillRect t="-11628" r="-1294382" b="-31395"/>
                          </a:stretch>
                        </a:blip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22</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85</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79</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24</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FF0000"/>
                              </a:solidFill>
                              <a:latin typeface="Times New Roman" panose="02020603050405020304" pitchFamily="18" charset="0"/>
                              <a:cs typeface="Times New Roman" panose="02020603050405020304" pitchFamily="18" charset="0"/>
                            </a:rPr>
                            <a:t>42</a:t>
                          </a:r>
                          <a:endParaRPr lang="zh-TW" altLang="en-US" sz="2800" dirty="0">
                            <a:solidFill>
                              <a:srgbClr val="FF000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chemeClr val="accent4">
                                  <a:lumMod val="75000"/>
                                </a:schemeClr>
                              </a:solidFill>
                              <a:latin typeface="Times New Roman" panose="02020603050405020304" pitchFamily="18" charset="0"/>
                              <a:cs typeface="Times New Roman" panose="02020603050405020304" pitchFamily="18" charset="0"/>
                            </a:rPr>
                            <a:t>27</a:t>
                          </a:r>
                          <a:endParaRPr lang="zh-TW" altLang="en-US" sz="2800" dirty="0">
                            <a:solidFill>
                              <a:schemeClr val="accent4">
                                <a:lumMod val="75000"/>
                              </a:schemeClr>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FF0000"/>
                              </a:solidFill>
                              <a:latin typeface="Times New Roman" panose="02020603050405020304" pitchFamily="18" charset="0"/>
                              <a:cs typeface="Times New Roman" panose="02020603050405020304" pitchFamily="18" charset="0"/>
                            </a:rPr>
                            <a:t>62</a:t>
                          </a:r>
                          <a:endParaRPr lang="zh-TW" altLang="en-US" sz="2800" dirty="0">
                            <a:solidFill>
                              <a:srgbClr val="FF000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chemeClr val="accent4">
                                  <a:lumMod val="75000"/>
                                </a:schemeClr>
                              </a:solidFill>
                              <a:latin typeface="Times New Roman" panose="02020603050405020304" pitchFamily="18" charset="0"/>
                              <a:cs typeface="Times New Roman" panose="02020603050405020304" pitchFamily="18" charset="0"/>
                            </a:rPr>
                            <a:t>40</a:t>
                          </a:r>
                          <a:endParaRPr lang="zh-TW" altLang="en-US" sz="2800" dirty="0">
                            <a:solidFill>
                              <a:schemeClr val="accent4">
                                <a:lumMod val="75000"/>
                              </a:schemeClr>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chemeClr val="accent4">
                                  <a:lumMod val="75000"/>
                                </a:schemeClr>
                              </a:solidFill>
                              <a:latin typeface="Times New Roman" panose="02020603050405020304" pitchFamily="18" charset="0"/>
                              <a:cs typeface="Times New Roman" panose="02020603050405020304" pitchFamily="18" charset="0"/>
                            </a:rPr>
                            <a:t>32</a:t>
                          </a:r>
                          <a:endParaRPr lang="zh-TW" altLang="en-US" sz="2800" dirty="0">
                            <a:solidFill>
                              <a:schemeClr val="accent4">
                                <a:lumMod val="75000"/>
                              </a:schemeClr>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FF0000"/>
                              </a:solidFill>
                              <a:latin typeface="Times New Roman" panose="02020603050405020304" pitchFamily="18" charset="0"/>
                              <a:cs typeface="Times New Roman" panose="02020603050405020304" pitchFamily="18" charset="0"/>
                            </a:rPr>
                            <a:t>47</a:t>
                          </a:r>
                          <a:endParaRPr lang="zh-TW" altLang="en-US" sz="2800" dirty="0">
                            <a:solidFill>
                              <a:srgbClr val="FF000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69</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55</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25</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706415246"/>
                      </a:ext>
                    </a:extLst>
                  </a:tr>
                </a:tbl>
              </a:graphicData>
            </a:graphic>
          </p:graphicFrame>
        </mc:Fallback>
      </mc:AlternateContent>
      <mc:AlternateContent xmlns:mc="http://schemas.openxmlformats.org/markup-compatibility/2006">
        <mc:Choice xmlns:a14="http://schemas.microsoft.com/office/drawing/2010/main" Requires="a14">
          <p:graphicFrame>
            <p:nvGraphicFramePr>
              <p:cNvPr id="8" name="表格 7">
                <a:extLst>
                  <a:ext uri="{FF2B5EF4-FFF2-40B4-BE49-F238E27FC236}">
                    <a16:creationId xmlns:a16="http://schemas.microsoft.com/office/drawing/2014/main" id="{7E86DE47-9D62-4688-91AC-BC592D30E772}"/>
                  </a:ext>
                </a:extLst>
              </p:cNvPr>
              <p:cNvGraphicFramePr>
                <a:graphicFrameLocks noGrp="1"/>
              </p:cNvGraphicFramePr>
              <p:nvPr>
                <p:extLst>
                  <p:ext uri="{D42A27DB-BD31-4B8C-83A1-F6EECF244321}">
                    <p14:modId xmlns:p14="http://schemas.microsoft.com/office/powerpoint/2010/main" val="784147480"/>
                  </p:ext>
                </p:extLst>
              </p:nvPr>
            </p:nvGraphicFramePr>
            <p:xfrm>
              <a:off x="596038" y="4411226"/>
              <a:ext cx="5940000" cy="518160"/>
            </p:xfrm>
            <a:graphic>
              <a:graphicData uri="http://schemas.openxmlformats.org/drawingml/2006/table">
                <a:tbl>
                  <a:tblPr firstRow="1" bandRow="1">
                    <a:tableStyleId>{5940675A-B579-460E-94D1-54222C63F5DA}</a:tableStyleId>
                  </a:tblPr>
                  <a:tblGrid>
                    <a:gridCol w="540000">
                      <a:extLst>
                        <a:ext uri="{9D8B030D-6E8A-4147-A177-3AD203B41FA5}">
                          <a16:colId xmlns:a16="http://schemas.microsoft.com/office/drawing/2014/main" val="106444939"/>
                        </a:ext>
                      </a:extLst>
                    </a:gridCol>
                    <a:gridCol w="540000">
                      <a:extLst>
                        <a:ext uri="{9D8B030D-6E8A-4147-A177-3AD203B41FA5}">
                          <a16:colId xmlns:a16="http://schemas.microsoft.com/office/drawing/2014/main" val="3438003960"/>
                        </a:ext>
                      </a:extLst>
                    </a:gridCol>
                    <a:gridCol w="540000">
                      <a:extLst>
                        <a:ext uri="{9D8B030D-6E8A-4147-A177-3AD203B41FA5}">
                          <a16:colId xmlns:a16="http://schemas.microsoft.com/office/drawing/2014/main" val="1539556327"/>
                        </a:ext>
                      </a:extLst>
                    </a:gridCol>
                    <a:gridCol w="540000">
                      <a:extLst>
                        <a:ext uri="{9D8B030D-6E8A-4147-A177-3AD203B41FA5}">
                          <a16:colId xmlns:a16="http://schemas.microsoft.com/office/drawing/2014/main" val="1393179428"/>
                        </a:ext>
                      </a:extLst>
                    </a:gridCol>
                    <a:gridCol w="540000">
                      <a:extLst>
                        <a:ext uri="{9D8B030D-6E8A-4147-A177-3AD203B41FA5}">
                          <a16:colId xmlns:a16="http://schemas.microsoft.com/office/drawing/2014/main" val="3965888546"/>
                        </a:ext>
                      </a:extLst>
                    </a:gridCol>
                    <a:gridCol w="540000">
                      <a:extLst>
                        <a:ext uri="{9D8B030D-6E8A-4147-A177-3AD203B41FA5}">
                          <a16:colId xmlns:a16="http://schemas.microsoft.com/office/drawing/2014/main" val="82904498"/>
                        </a:ext>
                      </a:extLst>
                    </a:gridCol>
                    <a:gridCol w="540000">
                      <a:extLst>
                        <a:ext uri="{9D8B030D-6E8A-4147-A177-3AD203B41FA5}">
                          <a16:colId xmlns:a16="http://schemas.microsoft.com/office/drawing/2014/main" val="2214715668"/>
                        </a:ext>
                      </a:extLst>
                    </a:gridCol>
                    <a:gridCol w="540000">
                      <a:extLst>
                        <a:ext uri="{9D8B030D-6E8A-4147-A177-3AD203B41FA5}">
                          <a16:colId xmlns:a16="http://schemas.microsoft.com/office/drawing/2014/main" val="777121050"/>
                        </a:ext>
                      </a:extLst>
                    </a:gridCol>
                    <a:gridCol w="540000">
                      <a:extLst>
                        <a:ext uri="{9D8B030D-6E8A-4147-A177-3AD203B41FA5}">
                          <a16:colId xmlns:a16="http://schemas.microsoft.com/office/drawing/2014/main" val="2140332791"/>
                        </a:ext>
                      </a:extLst>
                    </a:gridCol>
                    <a:gridCol w="540000">
                      <a:extLst>
                        <a:ext uri="{9D8B030D-6E8A-4147-A177-3AD203B41FA5}">
                          <a16:colId xmlns:a16="http://schemas.microsoft.com/office/drawing/2014/main" val="1910247371"/>
                        </a:ext>
                      </a:extLst>
                    </a:gridCol>
                    <a:gridCol w="540000">
                      <a:extLst>
                        <a:ext uri="{9D8B030D-6E8A-4147-A177-3AD203B41FA5}">
                          <a16:colId xmlns:a16="http://schemas.microsoft.com/office/drawing/2014/main" val="3804762709"/>
                        </a:ext>
                      </a:extLst>
                    </a:gridCol>
                  </a:tblGrid>
                  <a:tr h="229371">
                    <a:tc>
                      <a:txBody>
                        <a:bodyPr/>
                        <a:lstStyle/>
                        <a:p>
                          <a:pPr algn="ctr"/>
                          <a14:m>
                            <m:oMath xmlns:m="http://schemas.openxmlformats.org/officeDocument/2006/math">
                              <m:r>
                                <a:rPr lang="en-US" altLang="zh-TW" sz="2800" b="0" i="1" smtClean="0">
                                  <a:solidFill>
                                    <a:srgbClr val="002060"/>
                                  </a:solidFill>
                                  <a:latin typeface="Cambria Math" panose="02040503050406030204" pitchFamily="18" charset="0"/>
                                  <a:cs typeface="Times New Roman" panose="02020603050405020304" pitchFamily="18" charset="0"/>
                                </a:rPr>
                                <m:t>𝑃</m:t>
                              </m:r>
                            </m:oMath>
                          </a14:m>
                          <a:r>
                            <a:rPr lang="en-US" altLang="zh-TW" sz="2800" dirty="0">
                              <a:solidFill>
                                <a:srgbClr val="002060"/>
                              </a:solidFill>
                              <a:latin typeface="Times New Roman" panose="02020603050405020304" pitchFamily="18" charset="0"/>
                              <a:cs typeface="Times New Roman" panose="02020603050405020304" pitchFamily="18" charset="0"/>
                            </a:rPr>
                            <a:t>:</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10</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FF0000"/>
                              </a:solidFill>
                              <a:latin typeface="Times New Roman" panose="02020603050405020304" pitchFamily="18" charset="0"/>
                              <a:cs typeface="Times New Roman" panose="02020603050405020304" pitchFamily="18" charset="0"/>
                            </a:rPr>
                            <a:t>22</a:t>
                          </a:r>
                          <a:endParaRPr lang="zh-TW" altLang="en-US" sz="2800" dirty="0">
                            <a:solidFill>
                              <a:srgbClr val="FF000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chemeClr val="accent4">
                                  <a:lumMod val="75000"/>
                                </a:schemeClr>
                              </a:solidFill>
                              <a:latin typeface="Times New Roman" panose="02020603050405020304" pitchFamily="18" charset="0"/>
                              <a:cs typeface="Times New Roman" panose="02020603050405020304" pitchFamily="18" charset="0"/>
                            </a:rPr>
                            <a:t>15</a:t>
                          </a:r>
                          <a:endParaRPr lang="zh-TW" altLang="en-US" sz="2800" dirty="0">
                            <a:solidFill>
                              <a:schemeClr val="accent4">
                                <a:lumMod val="75000"/>
                              </a:schemeClr>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FF0000"/>
                              </a:solidFill>
                              <a:latin typeface="Times New Roman" panose="02020603050405020304" pitchFamily="18" charset="0"/>
                              <a:cs typeface="Times New Roman" panose="02020603050405020304" pitchFamily="18" charset="0"/>
                            </a:rPr>
                            <a:t>30</a:t>
                          </a:r>
                          <a:endParaRPr lang="zh-TW" altLang="en-US" sz="2800" dirty="0">
                            <a:solidFill>
                              <a:srgbClr val="FF000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chemeClr val="accent4">
                                  <a:lumMod val="75000"/>
                                </a:schemeClr>
                              </a:solidFill>
                              <a:latin typeface="Times New Roman" panose="02020603050405020304" pitchFamily="18" charset="0"/>
                              <a:cs typeface="Times New Roman" panose="02020603050405020304" pitchFamily="18" charset="0"/>
                            </a:rPr>
                            <a:t>20</a:t>
                          </a:r>
                          <a:endParaRPr lang="zh-TW" altLang="en-US" sz="2800" dirty="0">
                            <a:solidFill>
                              <a:schemeClr val="accent4">
                                <a:lumMod val="75000"/>
                              </a:schemeClr>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chemeClr val="accent4">
                                  <a:lumMod val="75000"/>
                                </a:schemeClr>
                              </a:solidFill>
                              <a:latin typeface="Times New Roman" panose="02020603050405020304" pitchFamily="18" charset="0"/>
                              <a:cs typeface="Times New Roman" panose="02020603050405020304" pitchFamily="18" charset="0"/>
                            </a:rPr>
                            <a:t>18</a:t>
                          </a:r>
                          <a:endParaRPr lang="zh-TW" altLang="en-US" sz="2800" dirty="0">
                            <a:solidFill>
                              <a:schemeClr val="accent4">
                                <a:lumMod val="75000"/>
                              </a:schemeClr>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FF0000"/>
                              </a:solidFill>
                              <a:latin typeface="Times New Roman" panose="02020603050405020304" pitchFamily="18" charset="0"/>
                              <a:cs typeface="Times New Roman" panose="02020603050405020304" pitchFamily="18" charset="0"/>
                            </a:rPr>
                            <a:t>27</a:t>
                          </a:r>
                          <a:endParaRPr lang="zh-TW" altLang="en-US" sz="2800" dirty="0">
                            <a:solidFill>
                              <a:srgbClr val="FF000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706415246"/>
                      </a:ext>
                    </a:extLst>
                  </a:tr>
                </a:tbl>
              </a:graphicData>
            </a:graphic>
          </p:graphicFrame>
        </mc:Choice>
        <mc:Fallback>
          <p:graphicFrame>
            <p:nvGraphicFramePr>
              <p:cNvPr id="8" name="表格 7">
                <a:extLst>
                  <a:ext uri="{FF2B5EF4-FFF2-40B4-BE49-F238E27FC236}">
                    <a16:creationId xmlns:a16="http://schemas.microsoft.com/office/drawing/2014/main" id="{7E86DE47-9D62-4688-91AC-BC592D30E772}"/>
                  </a:ext>
                </a:extLst>
              </p:cNvPr>
              <p:cNvGraphicFramePr>
                <a:graphicFrameLocks noGrp="1"/>
              </p:cNvGraphicFramePr>
              <p:nvPr>
                <p:extLst>
                  <p:ext uri="{D42A27DB-BD31-4B8C-83A1-F6EECF244321}">
                    <p14:modId xmlns:p14="http://schemas.microsoft.com/office/powerpoint/2010/main" val="784147480"/>
                  </p:ext>
                </p:extLst>
              </p:nvPr>
            </p:nvGraphicFramePr>
            <p:xfrm>
              <a:off x="596038" y="4411226"/>
              <a:ext cx="5940000" cy="518160"/>
            </p:xfrm>
            <a:graphic>
              <a:graphicData uri="http://schemas.openxmlformats.org/drawingml/2006/table">
                <a:tbl>
                  <a:tblPr firstRow="1" bandRow="1">
                    <a:tableStyleId>{5940675A-B579-460E-94D1-54222C63F5DA}</a:tableStyleId>
                  </a:tblPr>
                  <a:tblGrid>
                    <a:gridCol w="540000">
                      <a:extLst>
                        <a:ext uri="{9D8B030D-6E8A-4147-A177-3AD203B41FA5}">
                          <a16:colId xmlns:a16="http://schemas.microsoft.com/office/drawing/2014/main" val="106444939"/>
                        </a:ext>
                      </a:extLst>
                    </a:gridCol>
                    <a:gridCol w="540000">
                      <a:extLst>
                        <a:ext uri="{9D8B030D-6E8A-4147-A177-3AD203B41FA5}">
                          <a16:colId xmlns:a16="http://schemas.microsoft.com/office/drawing/2014/main" val="3438003960"/>
                        </a:ext>
                      </a:extLst>
                    </a:gridCol>
                    <a:gridCol w="540000">
                      <a:extLst>
                        <a:ext uri="{9D8B030D-6E8A-4147-A177-3AD203B41FA5}">
                          <a16:colId xmlns:a16="http://schemas.microsoft.com/office/drawing/2014/main" val="1539556327"/>
                        </a:ext>
                      </a:extLst>
                    </a:gridCol>
                    <a:gridCol w="540000">
                      <a:extLst>
                        <a:ext uri="{9D8B030D-6E8A-4147-A177-3AD203B41FA5}">
                          <a16:colId xmlns:a16="http://schemas.microsoft.com/office/drawing/2014/main" val="1393179428"/>
                        </a:ext>
                      </a:extLst>
                    </a:gridCol>
                    <a:gridCol w="540000">
                      <a:extLst>
                        <a:ext uri="{9D8B030D-6E8A-4147-A177-3AD203B41FA5}">
                          <a16:colId xmlns:a16="http://schemas.microsoft.com/office/drawing/2014/main" val="3965888546"/>
                        </a:ext>
                      </a:extLst>
                    </a:gridCol>
                    <a:gridCol w="540000">
                      <a:extLst>
                        <a:ext uri="{9D8B030D-6E8A-4147-A177-3AD203B41FA5}">
                          <a16:colId xmlns:a16="http://schemas.microsoft.com/office/drawing/2014/main" val="82904498"/>
                        </a:ext>
                      </a:extLst>
                    </a:gridCol>
                    <a:gridCol w="540000">
                      <a:extLst>
                        <a:ext uri="{9D8B030D-6E8A-4147-A177-3AD203B41FA5}">
                          <a16:colId xmlns:a16="http://schemas.microsoft.com/office/drawing/2014/main" val="2214715668"/>
                        </a:ext>
                      </a:extLst>
                    </a:gridCol>
                    <a:gridCol w="540000">
                      <a:extLst>
                        <a:ext uri="{9D8B030D-6E8A-4147-A177-3AD203B41FA5}">
                          <a16:colId xmlns:a16="http://schemas.microsoft.com/office/drawing/2014/main" val="777121050"/>
                        </a:ext>
                      </a:extLst>
                    </a:gridCol>
                    <a:gridCol w="540000">
                      <a:extLst>
                        <a:ext uri="{9D8B030D-6E8A-4147-A177-3AD203B41FA5}">
                          <a16:colId xmlns:a16="http://schemas.microsoft.com/office/drawing/2014/main" val="2140332791"/>
                        </a:ext>
                      </a:extLst>
                    </a:gridCol>
                    <a:gridCol w="540000">
                      <a:extLst>
                        <a:ext uri="{9D8B030D-6E8A-4147-A177-3AD203B41FA5}">
                          <a16:colId xmlns:a16="http://schemas.microsoft.com/office/drawing/2014/main" val="1910247371"/>
                        </a:ext>
                      </a:extLst>
                    </a:gridCol>
                    <a:gridCol w="540000">
                      <a:extLst>
                        <a:ext uri="{9D8B030D-6E8A-4147-A177-3AD203B41FA5}">
                          <a16:colId xmlns:a16="http://schemas.microsoft.com/office/drawing/2014/main" val="3804762709"/>
                        </a:ext>
                      </a:extLst>
                    </a:gridCol>
                  </a:tblGrid>
                  <a:tr h="518160">
                    <a:tc>
                      <a:txBody>
                        <a:bodyPr/>
                        <a:lstStyle/>
                        <a:p>
                          <a:endParaRPr lang="zh-TW"/>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blipFill>
                          <a:blip r:embed="rId4"/>
                          <a:stretch>
                            <a:fillRect t="-11628" r="-996629" b="-32558"/>
                          </a:stretch>
                        </a:blipFill>
                      </a:tcPr>
                    </a:tc>
                    <a:tc>
                      <a:txBody>
                        <a:bodyPr/>
                        <a:lstStyle/>
                        <a:p>
                          <a:pPr algn="ct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2060"/>
                              </a:solidFill>
                              <a:latin typeface="Times New Roman" panose="02020603050405020304" pitchFamily="18" charset="0"/>
                              <a:cs typeface="Times New Roman" panose="02020603050405020304" pitchFamily="18" charset="0"/>
                            </a:rPr>
                            <a:t>10</a:t>
                          </a:r>
                          <a:endParaRPr lang="zh-TW" altLang="en-US" sz="2800" dirty="0">
                            <a:solidFill>
                              <a:srgbClr val="00206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FF0000"/>
                              </a:solidFill>
                              <a:latin typeface="Times New Roman" panose="02020603050405020304" pitchFamily="18" charset="0"/>
                              <a:cs typeface="Times New Roman" panose="02020603050405020304" pitchFamily="18" charset="0"/>
                            </a:rPr>
                            <a:t>22</a:t>
                          </a:r>
                          <a:endParaRPr lang="zh-TW" altLang="en-US" sz="2800" dirty="0">
                            <a:solidFill>
                              <a:srgbClr val="FF000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chemeClr val="accent4">
                                  <a:lumMod val="75000"/>
                                </a:schemeClr>
                              </a:solidFill>
                              <a:latin typeface="Times New Roman" panose="02020603050405020304" pitchFamily="18" charset="0"/>
                              <a:cs typeface="Times New Roman" panose="02020603050405020304" pitchFamily="18" charset="0"/>
                            </a:rPr>
                            <a:t>15</a:t>
                          </a:r>
                          <a:endParaRPr lang="zh-TW" altLang="en-US" sz="2800" dirty="0">
                            <a:solidFill>
                              <a:schemeClr val="accent4">
                                <a:lumMod val="75000"/>
                              </a:schemeClr>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FF0000"/>
                              </a:solidFill>
                              <a:latin typeface="Times New Roman" panose="02020603050405020304" pitchFamily="18" charset="0"/>
                              <a:cs typeface="Times New Roman" panose="02020603050405020304" pitchFamily="18" charset="0"/>
                            </a:rPr>
                            <a:t>30</a:t>
                          </a:r>
                          <a:endParaRPr lang="zh-TW" altLang="en-US" sz="2800" dirty="0">
                            <a:solidFill>
                              <a:srgbClr val="FF000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chemeClr val="accent4">
                                  <a:lumMod val="75000"/>
                                </a:schemeClr>
                              </a:solidFill>
                              <a:latin typeface="Times New Roman" panose="02020603050405020304" pitchFamily="18" charset="0"/>
                              <a:cs typeface="Times New Roman" panose="02020603050405020304" pitchFamily="18" charset="0"/>
                            </a:rPr>
                            <a:t>20</a:t>
                          </a:r>
                          <a:endParaRPr lang="zh-TW" altLang="en-US" sz="2800" dirty="0">
                            <a:solidFill>
                              <a:schemeClr val="accent4">
                                <a:lumMod val="75000"/>
                              </a:schemeClr>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chemeClr val="accent4">
                                  <a:lumMod val="75000"/>
                                </a:schemeClr>
                              </a:solidFill>
                              <a:latin typeface="Times New Roman" panose="02020603050405020304" pitchFamily="18" charset="0"/>
                              <a:cs typeface="Times New Roman" panose="02020603050405020304" pitchFamily="18" charset="0"/>
                            </a:rPr>
                            <a:t>18</a:t>
                          </a:r>
                          <a:endParaRPr lang="zh-TW" altLang="en-US" sz="2800" dirty="0">
                            <a:solidFill>
                              <a:schemeClr val="accent4">
                                <a:lumMod val="75000"/>
                              </a:schemeClr>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FF0000"/>
                              </a:solidFill>
                              <a:latin typeface="Times New Roman" panose="02020603050405020304" pitchFamily="18" charset="0"/>
                              <a:cs typeface="Times New Roman" panose="02020603050405020304" pitchFamily="18" charset="0"/>
                            </a:rPr>
                            <a:t>27</a:t>
                          </a:r>
                          <a:endParaRPr lang="zh-TW" altLang="en-US" sz="2800" dirty="0">
                            <a:solidFill>
                              <a:srgbClr val="FF000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706415246"/>
                      </a:ext>
                    </a:extLst>
                  </a:tr>
                </a:tbl>
              </a:graphicData>
            </a:graphic>
          </p:graphicFrame>
        </mc:Fallback>
      </mc:AlternateContent>
      <mc:AlternateContent xmlns:mc="http://schemas.openxmlformats.org/markup-compatibility/2006">
        <mc:Choice xmlns:a14="http://schemas.microsoft.com/office/drawing/2010/main" Requires="a14">
          <p:graphicFrame>
            <p:nvGraphicFramePr>
              <p:cNvPr id="9" name="表格 8">
                <a:extLst>
                  <a:ext uri="{FF2B5EF4-FFF2-40B4-BE49-F238E27FC236}">
                    <a16:creationId xmlns:a16="http://schemas.microsoft.com/office/drawing/2014/main" id="{767BF3D7-E903-4D4E-B2FE-E100805B375B}"/>
                  </a:ext>
                </a:extLst>
              </p:cNvPr>
              <p:cNvGraphicFramePr>
                <a:graphicFrameLocks noGrp="1"/>
              </p:cNvGraphicFramePr>
              <p:nvPr>
                <p:extLst>
                  <p:ext uri="{D42A27DB-BD31-4B8C-83A1-F6EECF244321}">
                    <p14:modId xmlns:p14="http://schemas.microsoft.com/office/powerpoint/2010/main" val="2889143782"/>
                  </p:ext>
                </p:extLst>
              </p:nvPr>
            </p:nvGraphicFramePr>
            <p:xfrm>
              <a:off x="596038" y="4929386"/>
              <a:ext cx="7560000" cy="518160"/>
            </p:xfrm>
            <a:graphic>
              <a:graphicData uri="http://schemas.openxmlformats.org/drawingml/2006/table">
                <a:tbl>
                  <a:tblPr firstRow="1" bandRow="1">
                    <a:tableStyleId>{5940675A-B579-460E-94D1-54222C63F5DA}</a:tableStyleId>
                  </a:tblPr>
                  <a:tblGrid>
                    <a:gridCol w="540000">
                      <a:extLst>
                        <a:ext uri="{9D8B030D-6E8A-4147-A177-3AD203B41FA5}">
                          <a16:colId xmlns:a16="http://schemas.microsoft.com/office/drawing/2014/main" val="106444939"/>
                        </a:ext>
                      </a:extLst>
                    </a:gridCol>
                    <a:gridCol w="540000">
                      <a:extLst>
                        <a:ext uri="{9D8B030D-6E8A-4147-A177-3AD203B41FA5}">
                          <a16:colId xmlns:a16="http://schemas.microsoft.com/office/drawing/2014/main" val="3438003960"/>
                        </a:ext>
                      </a:extLst>
                    </a:gridCol>
                    <a:gridCol w="540000">
                      <a:extLst>
                        <a:ext uri="{9D8B030D-6E8A-4147-A177-3AD203B41FA5}">
                          <a16:colId xmlns:a16="http://schemas.microsoft.com/office/drawing/2014/main" val="1539556327"/>
                        </a:ext>
                      </a:extLst>
                    </a:gridCol>
                    <a:gridCol w="540000">
                      <a:extLst>
                        <a:ext uri="{9D8B030D-6E8A-4147-A177-3AD203B41FA5}">
                          <a16:colId xmlns:a16="http://schemas.microsoft.com/office/drawing/2014/main" val="1393179428"/>
                        </a:ext>
                      </a:extLst>
                    </a:gridCol>
                    <a:gridCol w="540000">
                      <a:extLst>
                        <a:ext uri="{9D8B030D-6E8A-4147-A177-3AD203B41FA5}">
                          <a16:colId xmlns:a16="http://schemas.microsoft.com/office/drawing/2014/main" val="3965888546"/>
                        </a:ext>
                      </a:extLst>
                    </a:gridCol>
                    <a:gridCol w="540000">
                      <a:extLst>
                        <a:ext uri="{9D8B030D-6E8A-4147-A177-3AD203B41FA5}">
                          <a16:colId xmlns:a16="http://schemas.microsoft.com/office/drawing/2014/main" val="82904498"/>
                        </a:ext>
                      </a:extLst>
                    </a:gridCol>
                    <a:gridCol w="540000">
                      <a:extLst>
                        <a:ext uri="{9D8B030D-6E8A-4147-A177-3AD203B41FA5}">
                          <a16:colId xmlns:a16="http://schemas.microsoft.com/office/drawing/2014/main" val="2214715668"/>
                        </a:ext>
                      </a:extLst>
                    </a:gridCol>
                    <a:gridCol w="540000">
                      <a:extLst>
                        <a:ext uri="{9D8B030D-6E8A-4147-A177-3AD203B41FA5}">
                          <a16:colId xmlns:a16="http://schemas.microsoft.com/office/drawing/2014/main" val="777121050"/>
                        </a:ext>
                      </a:extLst>
                    </a:gridCol>
                    <a:gridCol w="540000">
                      <a:extLst>
                        <a:ext uri="{9D8B030D-6E8A-4147-A177-3AD203B41FA5}">
                          <a16:colId xmlns:a16="http://schemas.microsoft.com/office/drawing/2014/main" val="2140332791"/>
                        </a:ext>
                      </a:extLst>
                    </a:gridCol>
                    <a:gridCol w="540000">
                      <a:extLst>
                        <a:ext uri="{9D8B030D-6E8A-4147-A177-3AD203B41FA5}">
                          <a16:colId xmlns:a16="http://schemas.microsoft.com/office/drawing/2014/main" val="1910247371"/>
                        </a:ext>
                      </a:extLst>
                    </a:gridCol>
                    <a:gridCol w="671462">
                      <a:extLst>
                        <a:ext uri="{9D8B030D-6E8A-4147-A177-3AD203B41FA5}">
                          <a16:colId xmlns:a16="http://schemas.microsoft.com/office/drawing/2014/main" val="3804762709"/>
                        </a:ext>
                      </a:extLst>
                    </a:gridCol>
                    <a:gridCol w="408538">
                      <a:extLst>
                        <a:ext uri="{9D8B030D-6E8A-4147-A177-3AD203B41FA5}">
                          <a16:colId xmlns:a16="http://schemas.microsoft.com/office/drawing/2014/main" val="354420647"/>
                        </a:ext>
                      </a:extLst>
                    </a:gridCol>
                    <a:gridCol w="540000">
                      <a:extLst>
                        <a:ext uri="{9D8B030D-6E8A-4147-A177-3AD203B41FA5}">
                          <a16:colId xmlns:a16="http://schemas.microsoft.com/office/drawing/2014/main" val="4131807763"/>
                        </a:ext>
                      </a:extLst>
                    </a:gridCol>
                    <a:gridCol w="540000">
                      <a:extLst>
                        <a:ext uri="{9D8B030D-6E8A-4147-A177-3AD203B41FA5}">
                          <a16:colId xmlns:a16="http://schemas.microsoft.com/office/drawing/2014/main" val="2190297588"/>
                        </a:ext>
                      </a:extLst>
                    </a:gridCol>
                  </a:tblGrid>
                  <a:tr h="229371">
                    <a:tc>
                      <a:txBody>
                        <a:bodyPr/>
                        <a:lstStyle/>
                        <a:p>
                          <a:pPr algn="ctr"/>
                          <a14:m>
                            <m:oMath xmlns:m="http://schemas.openxmlformats.org/officeDocument/2006/math">
                              <m:r>
                                <a:rPr lang="en-US" altLang="zh-TW" sz="2800" b="0" i="1" smtClean="0">
                                  <a:solidFill>
                                    <a:srgbClr val="0070C0"/>
                                  </a:solidFill>
                                  <a:latin typeface="Cambria Math" panose="02040503050406030204" pitchFamily="18" charset="0"/>
                                  <a:cs typeface="Times New Roman" panose="02020603050405020304" pitchFamily="18" charset="0"/>
                                </a:rPr>
                                <m:t>𝑃</m:t>
                              </m:r>
                              <m:r>
                                <a:rPr lang="en-US" altLang="zh-TW" sz="2800" b="0" i="1" smtClean="0">
                                  <a:solidFill>
                                    <a:srgbClr val="0070C0"/>
                                  </a:solidFill>
                                  <a:latin typeface="Cambria Math" panose="02040503050406030204" pitchFamily="18" charset="0"/>
                                  <a:cs typeface="Times New Roman" panose="02020603050405020304" pitchFamily="18" charset="0"/>
                                </a:rPr>
                                <m:t>′</m:t>
                              </m:r>
                            </m:oMath>
                          </a14:m>
                          <a:r>
                            <a:rPr lang="en-US" altLang="zh-TW" sz="2800" dirty="0">
                              <a:solidFill>
                                <a:srgbClr val="0070C0"/>
                              </a:solidFill>
                              <a:latin typeface="Times New Roman" panose="02020603050405020304" pitchFamily="18" charset="0"/>
                              <a:cs typeface="Times New Roman" panose="02020603050405020304" pitchFamily="18" charset="0"/>
                            </a:rPr>
                            <a:t>:</a:t>
                          </a:r>
                          <a:endParaRPr lang="zh-TW" altLang="en-US" sz="2800" dirty="0">
                            <a:solidFill>
                              <a:srgbClr val="0070C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endParaRPr lang="zh-TW" altLang="en-US" sz="2800" dirty="0">
                            <a:solidFill>
                              <a:srgbClr val="0070C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endParaRPr lang="zh-TW" altLang="en-US" sz="2800" dirty="0">
                            <a:solidFill>
                              <a:srgbClr val="0070C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endParaRPr lang="zh-TW" altLang="en-US" sz="2800" dirty="0">
                            <a:solidFill>
                              <a:srgbClr val="0070C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70C0"/>
                              </a:solidFill>
                              <a:latin typeface="Times New Roman" panose="02020603050405020304" pitchFamily="18" charset="0"/>
                              <a:cs typeface="Times New Roman" panose="02020603050405020304" pitchFamily="18" charset="0"/>
                            </a:rPr>
                            <a:t>1</a:t>
                          </a:r>
                          <a:endParaRPr lang="zh-TW" altLang="en-US" sz="2800" dirty="0">
                            <a:solidFill>
                              <a:srgbClr val="0070C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70C0"/>
                              </a:solidFill>
                              <a:latin typeface="Times New Roman" panose="02020603050405020304" pitchFamily="18" charset="0"/>
                              <a:cs typeface="Times New Roman" panose="02020603050405020304" pitchFamily="18" charset="0"/>
                            </a:rPr>
                            <a:t>0</a:t>
                          </a:r>
                          <a:endParaRPr lang="zh-TW" altLang="en-US" sz="2800" dirty="0">
                            <a:solidFill>
                              <a:srgbClr val="0070C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70C0"/>
                              </a:solidFill>
                              <a:latin typeface="Times New Roman" panose="02020603050405020304" pitchFamily="18" charset="0"/>
                              <a:cs typeface="Times New Roman" panose="02020603050405020304" pitchFamily="18" charset="0"/>
                            </a:rPr>
                            <a:t>1</a:t>
                          </a:r>
                          <a:endParaRPr lang="zh-TW" altLang="en-US" sz="2800" dirty="0">
                            <a:solidFill>
                              <a:srgbClr val="0070C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70C0"/>
                              </a:solidFill>
                              <a:latin typeface="Times New Roman" panose="02020603050405020304" pitchFamily="18" charset="0"/>
                              <a:cs typeface="Times New Roman" panose="02020603050405020304" pitchFamily="18" charset="0"/>
                            </a:rPr>
                            <a:t>0</a:t>
                          </a:r>
                          <a:endParaRPr lang="zh-TW" altLang="en-US" sz="2800" dirty="0">
                            <a:solidFill>
                              <a:srgbClr val="0070C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70C0"/>
                              </a:solidFill>
                              <a:latin typeface="Times New Roman" panose="02020603050405020304" pitchFamily="18" charset="0"/>
                              <a:cs typeface="Times New Roman" panose="02020603050405020304" pitchFamily="18" charset="0"/>
                            </a:rPr>
                            <a:t>0</a:t>
                          </a:r>
                          <a:endParaRPr lang="zh-TW" altLang="en-US" sz="2800" dirty="0">
                            <a:solidFill>
                              <a:srgbClr val="0070C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70C0"/>
                              </a:solidFill>
                              <a:latin typeface="Times New Roman" panose="02020603050405020304" pitchFamily="18" charset="0"/>
                              <a:cs typeface="Times New Roman" panose="02020603050405020304" pitchFamily="18" charset="0"/>
                            </a:rPr>
                            <a:t>1</a:t>
                          </a:r>
                          <a:endParaRPr lang="zh-TW" altLang="en-US" sz="2800" dirty="0">
                            <a:solidFill>
                              <a:srgbClr val="0070C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endParaRPr lang="zh-TW" altLang="en-US" sz="2800" dirty="0">
                            <a:solidFill>
                              <a:srgbClr val="0070C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endParaRPr lang="zh-TW" altLang="en-US" sz="2800" dirty="0">
                            <a:solidFill>
                              <a:srgbClr val="0070C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endParaRPr lang="zh-TW" altLang="en-US" sz="2800" dirty="0">
                            <a:solidFill>
                              <a:srgbClr val="0070C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endParaRPr lang="zh-TW" altLang="en-US" sz="2800" dirty="0">
                            <a:solidFill>
                              <a:srgbClr val="0070C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706415246"/>
                      </a:ext>
                    </a:extLst>
                  </a:tr>
                </a:tbl>
              </a:graphicData>
            </a:graphic>
          </p:graphicFrame>
        </mc:Choice>
        <mc:Fallback>
          <p:graphicFrame>
            <p:nvGraphicFramePr>
              <p:cNvPr id="9" name="表格 8">
                <a:extLst>
                  <a:ext uri="{FF2B5EF4-FFF2-40B4-BE49-F238E27FC236}">
                    <a16:creationId xmlns:a16="http://schemas.microsoft.com/office/drawing/2014/main" id="{767BF3D7-E903-4D4E-B2FE-E100805B375B}"/>
                  </a:ext>
                </a:extLst>
              </p:cNvPr>
              <p:cNvGraphicFramePr>
                <a:graphicFrameLocks noGrp="1"/>
              </p:cNvGraphicFramePr>
              <p:nvPr>
                <p:extLst>
                  <p:ext uri="{D42A27DB-BD31-4B8C-83A1-F6EECF244321}">
                    <p14:modId xmlns:p14="http://schemas.microsoft.com/office/powerpoint/2010/main" val="2889143782"/>
                  </p:ext>
                </p:extLst>
              </p:nvPr>
            </p:nvGraphicFramePr>
            <p:xfrm>
              <a:off x="596038" y="4929386"/>
              <a:ext cx="7560000" cy="518160"/>
            </p:xfrm>
            <a:graphic>
              <a:graphicData uri="http://schemas.openxmlformats.org/drawingml/2006/table">
                <a:tbl>
                  <a:tblPr firstRow="1" bandRow="1">
                    <a:tableStyleId>{5940675A-B579-460E-94D1-54222C63F5DA}</a:tableStyleId>
                  </a:tblPr>
                  <a:tblGrid>
                    <a:gridCol w="540000">
                      <a:extLst>
                        <a:ext uri="{9D8B030D-6E8A-4147-A177-3AD203B41FA5}">
                          <a16:colId xmlns:a16="http://schemas.microsoft.com/office/drawing/2014/main" val="106444939"/>
                        </a:ext>
                      </a:extLst>
                    </a:gridCol>
                    <a:gridCol w="540000">
                      <a:extLst>
                        <a:ext uri="{9D8B030D-6E8A-4147-A177-3AD203B41FA5}">
                          <a16:colId xmlns:a16="http://schemas.microsoft.com/office/drawing/2014/main" val="3438003960"/>
                        </a:ext>
                      </a:extLst>
                    </a:gridCol>
                    <a:gridCol w="540000">
                      <a:extLst>
                        <a:ext uri="{9D8B030D-6E8A-4147-A177-3AD203B41FA5}">
                          <a16:colId xmlns:a16="http://schemas.microsoft.com/office/drawing/2014/main" val="1539556327"/>
                        </a:ext>
                      </a:extLst>
                    </a:gridCol>
                    <a:gridCol w="540000">
                      <a:extLst>
                        <a:ext uri="{9D8B030D-6E8A-4147-A177-3AD203B41FA5}">
                          <a16:colId xmlns:a16="http://schemas.microsoft.com/office/drawing/2014/main" val="1393179428"/>
                        </a:ext>
                      </a:extLst>
                    </a:gridCol>
                    <a:gridCol w="540000">
                      <a:extLst>
                        <a:ext uri="{9D8B030D-6E8A-4147-A177-3AD203B41FA5}">
                          <a16:colId xmlns:a16="http://schemas.microsoft.com/office/drawing/2014/main" val="3965888546"/>
                        </a:ext>
                      </a:extLst>
                    </a:gridCol>
                    <a:gridCol w="540000">
                      <a:extLst>
                        <a:ext uri="{9D8B030D-6E8A-4147-A177-3AD203B41FA5}">
                          <a16:colId xmlns:a16="http://schemas.microsoft.com/office/drawing/2014/main" val="82904498"/>
                        </a:ext>
                      </a:extLst>
                    </a:gridCol>
                    <a:gridCol w="540000">
                      <a:extLst>
                        <a:ext uri="{9D8B030D-6E8A-4147-A177-3AD203B41FA5}">
                          <a16:colId xmlns:a16="http://schemas.microsoft.com/office/drawing/2014/main" val="2214715668"/>
                        </a:ext>
                      </a:extLst>
                    </a:gridCol>
                    <a:gridCol w="540000">
                      <a:extLst>
                        <a:ext uri="{9D8B030D-6E8A-4147-A177-3AD203B41FA5}">
                          <a16:colId xmlns:a16="http://schemas.microsoft.com/office/drawing/2014/main" val="777121050"/>
                        </a:ext>
                      </a:extLst>
                    </a:gridCol>
                    <a:gridCol w="540000">
                      <a:extLst>
                        <a:ext uri="{9D8B030D-6E8A-4147-A177-3AD203B41FA5}">
                          <a16:colId xmlns:a16="http://schemas.microsoft.com/office/drawing/2014/main" val="2140332791"/>
                        </a:ext>
                      </a:extLst>
                    </a:gridCol>
                    <a:gridCol w="540000">
                      <a:extLst>
                        <a:ext uri="{9D8B030D-6E8A-4147-A177-3AD203B41FA5}">
                          <a16:colId xmlns:a16="http://schemas.microsoft.com/office/drawing/2014/main" val="1910247371"/>
                        </a:ext>
                      </a:extLst>
                    </a:gridCol>
                    <a:gridCol w="671462">
                      <a:extLst>
                        <a:ext uri="{9D8B030D-6E8A-4147-A177-3AD203B41FA5}">
                          <a16:colId xmlns:a16="http://schemas.microsoft.com/office/drawing/2014/main" val="3804762709"/>
                        </a:ext>
                      </a:extLst>
                    </a:gridCol>
                    <a:gridCol w="408538">
                      <a:extLst>
                        <a:ext uri="{9D8B030D-6E8A-4147-A177-3AD203B41FA5}">
                          <a16:colId xmlns:a16="http://schemas.microsoft.com/office/drawing/2014/main" val="354420647"/>
                        </a:ext>
                      </a:extLst>
                    </a:gridCol>
                    <a:gridCol w="540000">
                      <a:extLst>
                        <a:ext uri="{9D8B030D-6E8A-4147-A177-3AD203B41FA5}">
                          <a16:colId xmlns:a16="http://schemas.microsoft.com/office/drawing/2014/main" val="4131807763"/>
                        </a:ext>
                      </a:extLst>
                    </a:gridCol>
                    <a:gridCol w="540000">
                      <a:extLst>
                        <a:ext uri="{9D8B030D-6E8A-4147-A177-3AD203B41FA5}">
                          <a16:colId xmlns:a16="http://schemas.microsoft.com/office/drawing/2014/main" val="2190297588"/>
                        </a:ext>
                      </a:extLst>
                    </a:gridCol>
                  </a:tblGrid>
                  <a:tr h="518160">
                    <a:tc>
                      <a:txBody>
                        <a:bodyPr/>
                        <a:lstStyle/>
                        <a:p>
                          <a:endParaRPr lang="zh-TW"/>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blipFill>
                          <a:blip r:embed="rId5"/>
                          <a:stretch>
                            <a:fillRect t="-11628" r="-1294382" b="-32558"/>
                          </a:stretch>
                        </a:blipFill>
                      </a:tcPr>
                    </a:tc>
                    <a:tc>
                      <a:txBody>
                        <a:bodyPr/>
                        <a:lstStyle/>
                        <a:p>
                          <a:pPr algn="ctr"/>
                          <a:endParaRPr lang="zh-TW" altLang="en-US" sz="2800" dirty="0">
                            <a:solidFill>
                              <a:srgbClr val="0070C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endParaRPr lang="zh-TW" altLang="en-US" sz="2800" dirty="0">
                            <a:solidFill>
                              <a:srgbClr val="0070C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endParaRPr lang="zh-TW" altLang="en-US" sz="2800" dirty="0">
                            <a:solidFill>
                              <a:srgbClr val="0070C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70C0"/>
                              </a:solidFill>
                              <a:latin typeface="Times New Roman" panose="02020603050405020304" pitchFamily="18" charset="0"/>
                              <a:cs typeface="Times New Roman" panose="02020603050405020304" pitchFamily="18" charset="0"/>
                            </a:rPr>
                            <a:t>1</a:t>
                          </a:r>
                          <a:endParaRPr lang="zh-TW" altLang="en-US" sz="2800" dirty="0">
                            <a:solidFill>
                              <a:srgbClr val="0070C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70C0"/>
                              </a:solidFill>
                              <a:latin typeface="Times New Roman" panose="02020603050405020304" pitchFamily="18" charset="0"/>
                              <a:cs typeface="Times New Roman" panose="02020603050405020304" pitchFamily="18" charset="0"/>
                            </a:rPr>
                            <a:t>0</a:t>
                          </a:r>
                          <a:endParaRPr lang="zh-TW" altLang="en-US" sz="2800" dirty="0">
                            <a:solidFill>
                              <a:srgbClr val="0070C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70C0"/>
                              </a:solidFill>
                              <a:latin typeface="Times New Roman" panose="02020603050405020304" pitchFamily="18" charset="0"/>
                              <a:cs typeface="Times New Roman" panose="02020603050405020304" pitchFamily="18" charset="0"/>
                            </a:rPr>
                            <a:t>1</a:t>
                          </a:r>
                          <a:endParaRPr lang="zh-TW" altLang="en-US" sz="2800" dirty="0">
                            <a:solidFill>
                              <a:srgbClr val="0070C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70C0"/>
                              </a:solidFill>
                              <a:latin typeface="Times New Roman" panose="02020603050405020304" pitchFamily="18" charset="0"/>
                              <a:cs typeface="Times New Roman" panose="02020603050405020304" pitchFamily="18" charset="0"/>
                            </a:rPr>
                            <a:t>0</a:t>
                          </a:r>
                          <a:endParaRPr lang="zh-TW" altLang="en-US" sz="2800" dirty="0">
                            <a:solidFill>
                              <a:srgbClr val="0070C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70C0"/>
                              </a:solidFill>
                              <a:latin typeface="Times New Roman" panose="02020603050405020304" pitchFamily="18" charset="0"/>
                              <a:cs typeface="Times New Roman" panose="02020603050405020304" pitchFamily="18" charset="0"/>
                            </a:rPr>
                            <a:t>0</a:t>
                          </a:r>
                          <a:endParaRPr lang="zh-TW" altLang="en-US" sz="2800" dirty="0">
                            <a:solidFill>
                              <a:srgbClr val="0070C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2800" dirty="0">
                              <a:solidFill>
                                <a:srgbClr val="0070C0"/>
                              </a:solidFill>
                              <a:latin typeface="Times New Roman" panose="02020603050405020304" pitchFamily="18" charset="0"/>
                              <a:cs typeface="Times New Roman" panose="02020603050405020304" pitchFamily="18" charset="0"/>
                            </a:rPr>
                            <a:t>1</a:t>
                          </a:r>
                          <a:endParaRPr lang="zh-TW" altLang="en-US" sz="2800" dirty="0">
                            <a:solidFill>
                              <a:srgbClr val="0070C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endParaRPr lang="zh-TW" altLang="en-US" sz="2800" dirty="0">
                            <a:solidFill>
                              <a:srgbClr val="0070C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endParaRPr lang="zh-TW" altLang="en-US" sz="2800" dirty="0">
                            <a:solidFill>
                              <a:srgbClr val="0070C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endParaRPr lang="zh-TW" altLang="en-US" sz="2800" dirty="0">
                            <a:solidFill>
                              <a:srgbClr val="0070C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endParaRPr lang="zh-TW" altLang="en-US" sz="2800" dirty="0">
                            <a:solidFill>
                              <a:srgbClr val="0070C0"/>
                            </a:solidFill>
                            <a:latin typeface="Times New Roman" panose="02020603050405020304" pitchFamily="18" charset="0"/>
                            <a:cs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706415246"/>
                      </a:ext>
                    </a:extLst>
                  </a:tr>
                </a:tbl>
              </a:graphicData>
            </a:graphic>
          </p:graphicFrame>
        </mc:Fallback>
      </mc:AlternateContent>
    </p:spTree>
    <p:extLst>
      <p:ext uri="{BB962C8B-B14F-4D97-AF65-F5344CB8AC3E}">
        <p14:creationId xmlns:p14="http://schemas.microsoft.com/office/powerpoint/2010/main" val="685885430"/>
      </p:ext>
    </p:extLst>
  </p:cSld>
  <p:clrMapOvr>
    <a:masterClrMapping/>
  </p:clrMapOvr>
</p:sld>
</file>

<file path=ppt/theme/theme1.xml><?xml version="1.0" encoding="utf-8"?>
<a:theme xmlns:a="http://schemas.openxmlformats.org/drawingml/2006/main" name="Office 佈景主題">
  <a:themeElements>
    <a:clrScheme name="Office 佈景主題">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佈景主題">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佈景主題">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63096</TotalTime>
  <Words>942</Words>
  <Application>Microsoft Office PowerPoint</Application>
  <PresentationFormat>如螢幕大小 (4:3)</PresentationFormat>
  <Paragraphs>426</Paragraphs>
  <Slides>17</Slides>
  <Notes>15</Notes>
  <HiddenSlides>1</HiddenSlides>
  <MMClips>0</MMClips>
  <ScaleCrop>false</ScaleCrop>
  <HeadingPairs>
    <vt:vector size="6" baseType="variant">
      <vt:variant>
        <vt:lpstr>使用字型</vt:lpstr>
      </vt:variant>
      <vt:variant>
        <vt:i4>7</vt:i4>
      </vt:variant>
      <vt:variant>
        <vt:lpstr>佈景主題</vt:lpstr>
      </vt:variant>
      <vt:variant>
        <vt:i4>1</vt:i4>
      </vt:variant>
      <vt:variant>
        <vt:lpstr>投影片標題</vt:lpstr>
      </vt:variant>
      <vt:variant>
        <vt:i4>17</vt:i4>
      </vt:variant>
    </vt:vector>
  </HeadingPairs>
  <TitlesOfParts>
    <vt:vector size="25" baseType="lpstr">
      <vt:lpstr>inherit</vt:lpstr>
      <vt:lpstr>Roboto</vt:lpstr>
      <vt:lpstr>Arial</vt:lpstr>
      <vt:lpstr>Calibri</vt:lpstr>
      <vt:lpstr>Calibri Light</vt:lpstr>
      <vt:lpstr>Cambria Math</vt:lpstr>
      <vt:lpstr>Times New Roman</vt:lpstr>
      <vt:lpstr>Office 佈景主題</vt:lpstr>
      <vt:lpstr>  A filtration method for order-preserving matching  </vt:lpstr>
      <vt:lpstr>PowerPoint 簡報</vt:lpstr>
      <vt:lpstr>Abstract </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fast algorithm for computing a longest common increasing subsequence</dc:title>
  <dc:creator>GaryC</dc:creator>
  <cp:lastModifiedBy>GaryC</cp:lastModifiedBy>
  <cp:revision>766</cp:revision>
  <dcterms:created xsi:type="dcterms:W3CDTF">2017-09-25T08:45:50Z</dcterms:created>
  <dcterms:modified xsi:type="dcterms:W3CDTF">2018-12-25T10:16:05Z</dcterms:modified>
</cp:coreProperties>
</file>