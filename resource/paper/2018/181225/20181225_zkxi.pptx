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307" r:id="rId8"/>
    <p:sldId id="260" r:id="rId9"/>
    <p:sldId id="308" r:id="rId10"/>
    <p:sldId id="261" r:id="rId11"/>
    <p:sldId id="316" r:id="rId12"/>
    <p:sldId id="317" r:id="rId13"/>
    <p:sldId id="318" r:id="rId14"/>
    <p:sldId id="319" r:id="rId15"/>
    <p:sldId id="320" r:id="rId16"/>
    <p:sldId id="321" r:id="rId17"/>
    <p:sldId id="322" r:id="rId18"/>
    <p:sldId id="323" r:id="rId19"/>
    <p:sldId id="262" r:id="rId20"/>
    <p:sldId id="263" r:id="rId21"/>
    <p:sldId id="264" r:id="rId22"/>
    <p:sldId id="324" r:id="rId23"/>
    <p:sldId id="325" r:id="rId24"/>
  </p:sldIdLst>
  <p:sldSz cx="12192000" cy="6858000"/>
  <p:notesSz cx="6858000" cy="9144000"/>
  <p:embeddedFontLst>
    <p:embeddedFont>
      <p:font typeface="Questrial" panose="02000000000000000000"/>
      <p:regular r:id="rId28"/>
    </p:embeddedFont>
    <p:embeddedFont>
      <p:font typeface="Calibri" panose="020F0502020204030204"/>
      <p:regular r:id="rId29"/>
      <p:bold r:id="rId30"/>
      <p:italic r:id="rId31"/>
      <p:boldItalic r:id="rId32"/>
    </p:embeddedFont>
    <p:embeddedFont>
      <p:font typeface="Questrial" panose="02000000000000000000" charset="0"/>
      <p:regular r:id="rId33"/>
    </p:embeddedFont>
    <p:embeddedFont>
      <p:font typeface="PMingLiU" panose="02020500000000000000" charset="-12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2128"/>
        <p:guide pos="3839"/>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font" Target="fonts/font7.fntdata"/><Relationship Id="rId33" Type="http://schemas.openxmlformats.org/officeDocument/2006/relationships/font" Target="fonts/font6.fntdata"/><Relationship Id="rId32" Type="http://schemas.openxmlformats.org/officeDocument/2006/relationships/font" Target="fonts/font5.fntdata"/><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7" name="Google Shape;87;p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p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6" name="Google Shape;96;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1" name="Shape 101"/>
        <p:cNvGrpSpPr/>
        <p:nvPr/>
      </p:nvGrpSpPr>
      <p:grpSpPr>
        <a:xfrm>
          <a:off x="0" y="0"/>
          <a:ext cx="0" cy="0"/>
          <a:chOff x="0" y="0"/>
          <a:chExt cx="0" cy="0"/>
        </a:xfrm>
      </p:grpSpPr>
      <p:sp>
        <p:nvSpPr>
          <p:cNvPr id="102" name="Google Shape;102;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 name="Google Shape;103;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0" name="Google Shape;110;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p4: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0" name="Google Shape;110;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8" name="Google Shape;118;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p5: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8" name="Google Shape;118;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2" name="Google Shape;132;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p8: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9" name="Google Shape;139;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8" name="Google Shape;148;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8" name="Google Shape;148;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p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8" name="Google Shape;148;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標題投影片">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lstStyle>
            <a:lvl1pPr lvl="0" algn="ctr">
              <a:lnSpc>
                <a:spcPct val="90000"/>
              </a:lnSpc>
              <a:spcBef>
                <a:spcPts val="0"/>
              </a:spcBef>
              <a:spcAft>
                <a:spcPts val="0"/>
              </a:spcAft>
              <a:buClr>
                <a:schemeClr val="dk1"/>
              </a:buClr>
              <a:buSzPts val="6000"/>
              <a:buFont typeface="Questrial" panose="02000000000000000000"/>
              <a:buNone/>
              <a:defRPr sz="6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lstStyle>
            <a:lvl1pPr lvl="0" algn="ctr">
              <a:lnSpc>
                <a:spcPct val="90000"/>
              </a:lnSpc>
              <a:spcBef>
                <a:spcPts val="1000"/>
              </a:spcBef>
              <a:spcAft>
                <a:spcPts val="0"/>
              </a:spcAft>
              <a:buClr>
                <a:srgbClr val="A5A5A5"/>
              </a:buClr>
              <a:buSzPts val="2400"/>
              <a:buNone/>
              <a:defRPr sz="2400">
                <a:solidFill>
                  <a:srgbClr val="A5A5A5"/>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標題及內容">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Questrial" panose="020000000000000000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3"/>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章節標題">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1" y="1709740"/>
            <a:ext cx="10515600" cy="2852737"/>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6000"/>
              <a:buFont typeface="Questrial" panose="02000000000000000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type="body" idx="1"/>
          </p:nvPr>
        </p:nvSpPr>
        <p:spPr>
          <a:xfrm>
            <a:off x="831851" y="4589465"/>
            <a:ext cx="10515600" cy="1500187"/>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兩個內容">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5"/>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5"/>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對">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type="body" idx="1"/>
          </p:nvPr>
        </p:nvSpPr>
        <p:spPr>
          <a:xfrm>
            <a:off x="839789" y="1681163"/>
            <a:ext cx="5157787"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3" name="Google Shape;43;p6"/>
          <p:cNvSpPr txBox="1"/>
          <p:nvPr>
            <p:ph type="body" idx="2"/>
          </p:nvPr>
        </p:nvSpPr>
        <p:spPr>
          <a:xfrm>
            <a:off x="839789" y="2505075"/>
            <a:ext cx="5157787" cy="368458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6"/>
          <p:cNvSpPr txBox="1"/>
          <p:nvPr>
            <p:ph type="body" idx="3"/>
          </p:nvPr>
        </p:nvSpPr>
        <p:spPr>
          <a:xfrm>
            <a:off x="6172201" y="1681163"/>
            <a:ext cx="5183188"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6"/>
          <p:cNvSpPr txBox="1"/>
          <p:nvPr>
            <p:ph type="body" idx="4"/>
          </p:nvPr>
        </p:nvSpPr>
        <p:spPr>
          <a:xfrm>
            <a:off x="6172201" y="2505075"/>
            <a:ext cx="5183188" cy="3684588"/>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6"/>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只有標題">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4" name="Shape 54"/>
        <p:cNvGrpSpPr/>
        <p:nvPr/>
      </p:nvGrpSpPr>
      <p:grpSpPr>
        <a:xfrm>
          <a:off x="0" y="0"/>
          <a:ext cx="0" cy="0"/>
          <a:chOff x="0" y="0"/>
          <a:chExt cx="0" cy="0"/>
        </a:xfrm>
      </p:grpSpPr>
      <p:sp>
        <p:nvSpPr>
          <p:cNvPr id="55" name="Google Shape;55;p8"/>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含標題的內容">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Questrial" panose="020000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type="body" idx="1"/>
          </p:nvPr>
        </p:nvSpPr>
        <p:spPr>
          <a:xfrm>
            <a:off x="5183188" y="987427"/>
            <a:ext cx="6172200" cy="4873625"/>
          </a:xfrm>
          <a:prstGeom prst="rect">
            <a:avLst/>
          </a:prstGeom>
          <a:noFill/>
          <a:ln>
            <a:noFill/>
          </a:ln>
        </p:spPr>
        <p:txBody>
          <a:bodyPr spcFirstLastPara="1" wrap="square" lIns="91425" tIns="45700" rIns="91425" bIns="45700" anchor="t" anchorCtr="0"/>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9"/>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含標題的圖片">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Questrial" panose="02000000000000000000"/>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type="pic" idx="2"/>
          </p:nvPr>
        </p:nvSpPr>
        <p:spPr>
          <a:xfrm>
            <a:off x="5183188" y="987427"/>
            <a:ext cx="6172200" cy="4873625"/>
          </a:xfrm>
          <a:prstGeom prst="rect">
            <a:avLst/>
          </a:prstGeom>
          <a:noFill/>
          <a:ln>
            <a:noFill/>
          </a:ln>
        </p:spPr>
        <p:txBody>
          <a:bodyPr spcFirstLastPara="1" wrap="square" lIns="91425" tIns="45700" rIns="91425" bIns="45700" anchor="t" anchorCtr="0"/>
          <a:lstStyle>
            <a:lvl1pPr marR="0" lvl="0" algn="l" rtl="0">
              <a:lnSpc>
                <a:spcPct val="90000"/>
              </a:lnSpc>
              <a:spcBef>
                <a:spcPts val="1000"/>
              </a:spcBef>
              <a:spcAft>
                <a:spcPts val="0"/>
              </a:spcAft>
              <a:buClr>
                <a:schemeClr val="dk1"/>
              </a:buClr>
              <a:buSzPts val="3200"/>
              <a:buFont typeface="Arial" panose="020B0604020202020204"/>
              <a:buNone/>
              <a:defRPr sz="32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1pPr>
            <a:lvl2pPr marR="0" lvl="1" algn="l" rtl="0">
              <a:lnSpc>
                <a:spcPct val="90000"/>
              </a:lnSpc>
              <a:spcBef>
                <a:spcPts val="500"/>
              </a:spcBef>
              <a:spcAft>
                <a:spcPts val="0"/>
              </a:spcAft>
              <a:buClr>
                <a:schemeClr val="dk1"/>
              </a:buClr>
              <a:buSzPts val="2800"/>
              <a:buFont typeface="Arial" panose="020B0604020202020204"/>
              <a:buNone/>
              <a:defRPr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R="0" lvl="2"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R="0" lvl="3"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R="0" lvl="4"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R="0" lvl="5"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R="0" lvl="6"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R="0" lvl="7"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R="0" lvl="8"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p:txBody>
      </p:sp>
      <p:sp>
        <p:nvSpPr>
          <p:cNvPr id="68" name="Google Shape;68;p10"/>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0"/>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標題及直排文字">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11"/>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直排標題及文字">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2" y="1956594"/>
            <a:ext cx="5811838" cy="2628900"/>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type="body" idx="1"/>
          </p:nvPr>
        </p:nvSpPr>
        <p:spPr>
          <a:xfrm rot="5400000">
            <a:off x="1799432" y="-596106"/>
            <a:ext cx="5811838" cy="7734300"/>
          </a:xfrm>
          <a:prstGeom prst="rect">
            <a:avLst/>
          </a:prstGeom>
          <a:noFill/>
          <a:ln>
            <a:noFill/>
          </a:ln>
        </p:spPr>
        <p:txBody>
          <a:bodyPr spcFirstLastPara="1" wrap="square" lIns="91425" tIns="45700" rIns="91425" bIns="45700" anchor="t" anchorCtr="0"/>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12"/>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Questrial" panose="02000000000000000000"/>
              <a:buNone/>
              <a:defRPr sz="44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p:txBody>
      </p:sp>
      <p:sp>
        <p:nvSpPr>
          <p:cNvPr id="12" name="Google Shape;12;p1"/>
          <p:cNvSpPr txBox="1"/>
          <p:nvPr>
            <p:ph type="dt" idx="10"/>
          </p:nvPr>
        </p:nvSpPr>
        <p:spPr>
          <a:xfrm>
            <a:off x="838200" y="6356352"/>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1pPr>
            <a:lvl2pPr marR="0" lvl="1"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R="0" lvl="2"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R="0" lvl="3"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R="0" lvl="4"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R="0" lvl="5"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R="0" lvl="6"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R="0" lvl="7"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R="0" lvl="8"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p:txBody>
      </p:sp>
      <p:sp>
        <p:nvSpPr>
          <p:cNvPr id="13" name="Google Shape;13;p1"/>
          <p:cNvSpPr txBox="1"/>
          <p:nvPr>
            <p:ph type="ftr" idx="11"/>
          </p:nvPr>
        </p:nvSpPr>
        <p:spPr>
          <a:xfrm>
            <a:off x="4038600" y="6356352"/>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1pPr>
            <a:lvl2pPr marR="0" lvl="1"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2pPr>
            <a:lvl3pPr marR="0" lvl="2"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3pPr>
            <a:lvl4pPr marR="0" lvl="3"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4pPr>
            <a:lvl5pPr marR="0" lvl="4"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5pPr>
            <a:lvl6pPr marR="0" lvl="5"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6pPr>
            <a:lvl7pPr marR="0" lvl="6"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7pPr>
            <a:lvl8pPr marR="0" lvl="7"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8pPr>
            <a:lvl9pPr marR="0" lvl="8" algn="l" rtl="0">
              <a:spcBef>
                <a:spcPts val="0"/>
              </a:spcBef>
              <a:spcAft>
                <a:spcPts val="0"/>
              </a:spcAft>
              <a:buSzPts val="1400"/>
              <a:buNone/>
              <a:defRPr sz="1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defRPr>
            </a:lvl9pPr>
          </a:lstStyle>
          <a:p/>
        </p:txBody>
      </p:sp>
      <p:sp>
        <p:nvSpPr>
          <p:cNvPr id="14" name="Google Shape;14;p1"/>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1pPr>
            <a:lvl2pPr marL="0" marR="0" lvl="1"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2pPr>
            <a:lvl3pPr marL="0" marR="0" lvl="2"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3pPr>
            <a:lvl4pPr marL="0" marR="0" lvl="3"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4pPr>
            <a:lvl5pPr marL="0" marR="0" lvl="4"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5pPr>
            <a:lvl6pPr marL="0" marR="0" lvl="5"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6pPr>
            <a:lvl7pPr marL="0" marR="0" lvl="6"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7pPr>
            <a:lvl8pPr marL="0" marR="0" lvl="7"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8pPr>
            <a:lvl9pPr marL="0" marR="0" lvl="8" indent="0" algn="r" rtl="0">
              <a:spcBef>
                <a:spcPts val="0"/>
              </a:spcBef>
              <a:buNone/>
              <a:defRPr sz="1200" b="0" i="0" u="none" strike="noStrike" cap="none">
                <a:solidFill>
                  <a:srgbClr val="888888"/>
                </a:solidFill>
                <a:latin typeface="Questrial" panose="02000000000000000000"/>
                <a:ea typeface="Questrial" panose="02000000000000000000"/>
                <a:cs typeface="Questrial" panose="02000000000000000000"/>
                <a:sym typeface="Questrial" panose="02000000000000000000"/>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8" name="Shape 88"/>
        <p:cNvGrpSpPr/>
        <p:nvPr/>
      </p:nvGrpSpPr>
      <p:grpSpPr>
        <a:xfrm>
          <a:off x="0" y="0"/>
          <a:ext cx="0" cy="0"/>
          <a:chOff x="0" y="0"/>
          <a:chExt cx="0" cy="0"/>
        </a:xfrm>
      </p:grpSpPr>
      <p:sp>
        <p:nvSpPr>
          <p:cNvPr id="89" name="Google Shape;89;p13"/>
          <p:cNvSpPr txBox="1"/>
          <p:nvPr>
            <p:ph type="ctrTitle"/>
          </p:nvPr>
        </p:nvSpPr>
        <p:spPr>
          <a:xfrm>
            <a:off x="1415539" y="471285"/>
            <a:ext cx="9359651" cy="1356957"/>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3600"/>
              <a:buFont typeface="Questrial" panose="02000000000000000000"/>
              <a:buNone/>
            </a:pPr>
            <a:r>
              <a:rPr lang="en-US" sz="3600"/>
              <a:t>Dropout: A Simple Way to Prevent Neural Networks from Overfitting</a:t>
            </a:r>
            <a:endParaRPr lang="en-US" sz="3600"/>
          </a:p>
        </p:txBody>
      </p:sp>
      <p:sp>
        <p:nvSpPr>
          <p:cNvPr id="90" name="Google Shape;90;p13"/>
          <p:cNvSpPr txBox="1"/>
          <p:nvPr>
            <p:ph type="subTitle" idx="1"/>
          </p:nvPr>
        </p:nvSpPr>
        <p:spPr>
          <a:xfrm>
            <a:off x="981075" y="2339975"/>
            <a:ext cx="10227945" cy="1039495"/>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A5A5A5"/>
              </a:buClr>
              <a:buSzPts val="2800"/>
              <a:buNone/>
            </a:pPr>
            <a:r>
              <a:rPr lang="en-US" sz="2800" cap="all">
                <a:solidFill>
                  <a:srgbClr val="A5A5A5"/>
                </a:solidFill>
                <a:uFillTx/>
                <a:latin typeface="Questrial" panose="02000000000000000000" charset="0"/>
              </a:rPr>
              <a:t>Nitish Srivastava, Geoffrey Hinton, Alex Krizhevsky, Ilya Sutskever, AND Ruslan Salakhutdinov´</a:t>
            </a:r>
            <a:br>
              <a:rPr lang="en-US"/>
            </a:br>
            <a:endParaRPr sz="2600"/>
          </a:p>
        </p:txBody>
      </p:sp>
      <p:sp>
        <p:nvSpPr>
          <p:cNvPr id="91" name="Google Shape;91;p13"/>
          <p:cNvSpPr txBox="1"/>
          <p:nvPr>
            <p:ph type="sldNum" idx="12"/>
          </p:nvPr>
        </p:nvSpPr>
        <p:spPr>
          <a:xfrm>
            <a:off x="8354568" y="6485003"/>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2" name="Google Shape;92;p13"/>
          <p:cNvSpPr txBox="1"/>
          <p:nvPr/>
        </p:nvSpPr>
        <p:spPr>
          <a:xfrm>
            <a:off x="1048428" y="3891090"/>
            <a:ext cx="10095142"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1" i="0" u="none" strike="noStrike" cap="none">
                <a:solidFill>
                  <a:schemeClr val="dk1"/>
                </a:solidFill>
                <a:latin typeface="Questrial" panose="02000000000000000000"/>
                <a:ea typeface="Questrial" panose="02000000000000000000"/>
                <a:cs typeface="Questrial" panose="02000000000000000000"/>
                <a:sym typeface="Questrial" panose="02000000000000000000"/>
              </a:rPr>
              <a:t>Journal of Machine Learning Research, </a:t>
            </a:r>
            <a:endParaRPr sz="2800" b="1" i="0" u="none" strike="noStrike" cap="none">
              <a:solidFill>
                <a:schemeClr val="dk1"/>
              </a:solidFill>
              <a:latin typeface="Questrial" panose="02000000000000000000"/>
              <a:ea typeface="Questrial" panose="02000000000000000000"/>
              <a:cs typeface="Questrial" panose="02000000000000000000"/>
              <a:sym typeface="Questrial" panose="02000000000000000000"/>
            </a:endParaRPr>
          </a:p>
          <a:p>
            <a:pPr marL="0" marR="0" lvl="0" indent="0" algn="ctr" rtl="0">
              <a:lnSpc>
                <a:spcPct val="90000"/>
              </a:lnSpc>
              <a:spcBef>
                <a:spcPts val="1000"/>
              </a:spcBef>
              <a:spcAft>
                <a:spcPts val="0"/>
              </a:spcAft>
              <a:buClr>
                <a:schemeClr val="dk1"/>
              </a:buClr>
              <a:buSzPts val="2800"/>
              <a:buFont typeface="Arial" panose="020B0604020202020204"/>
              <a:buNone/>
            </a:pPr>
            <a:r>
              <a:rPr lang="en-US" sz="2800" b="1" i="0" u="none" strike="noStrike" cap="none">
                <a:solidFill>
                  <a:schemeClr val="dk1"/>
                </a:solidFill>
                <a:latin typeface="Questrial" panose="02000000000000000000"/>
                <a:ea typeface="Questrial" panose="02000000000000000000"/>
                <a:cs typeface="Questrial" panose="02000000000000000000"/>
                <a:sym typeface="Questrial" panose="02000000000000000000"/>
              </a:rPr>
              <a:t>15 (2014) 1929-1958</a:t>
            </a:r>
            <a:endParaRPr lang="en-US" sz="2800" b="1" i="0" u="none" strike="noStrike" cap="none">
              <a:solidFill>
                <a:schemeClr val="dk1"/>
              </a:solidFill>
              <a:latin typeface="Questrial" panose="02000000000000000000"/>
              <a:ea typeface="Questrial" panose="02000000000000000000"/>
              <a:cs typeface="Questrial" panose="02000000000000000000"/>
              <a:sym typeface="Questrial" panose="02000000000000000000"/>
            </a:endParaRPr>
          </a:p>
        </p:txBody>
      </p:sp>
      <p:sp>
        <p:nvSpPr>
          <p:cNvPr id="93" name="Google Shape;93;p13"/>
          <p:cNvSpPr txBox="1"/>
          <p:nvPr/>
        </p:nvSpPr>
        <p:spPr>
          <a:xfrm>
            <a:off x="1192823" y="5265553"/>
            <a:ext cx="9806355"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rPr>
              <a:t>Presenter: Ke-Xin Zhu</a:t>
            </a:r>
            <a:endParaRPr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endParaRPr>
          </a:p>
          <a:p>
            <a:pPr marL="0" marR="0" lvl="0" indent="0" algn="ctr" rtl="0">
              <a:lnSpc>
                <a:spcPct val="90000"/>
              </a:lnSpc>
              <a:spcBef>
                <a:spcPts val="1000"/>
              </a:spcBef>
              <a:spcAft>
                <a:spcPts val="0"/>
              </a:spcAft>
              <a:buClr>
                <a:schemeClr val="dk1"/>
              </a:buClr>
              <a:buSzPts val="2800"/>
              <a:buFont typeface="Arial" panose="020B0604020202020204"/>
              <a:buNone/>
            </a:pPr>
            <a:r>
              <a:rPr lang="en-US"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rPr>
              <a:t>Date: 2018/12/25</a:t>
            </a:r>
            <a:endParaRPr lang="en-US" sz="2800" b="0" i="0" u="none" strike="noStrike" cap="none">
              <a:solidFill>
                <a:schemeClr val="dk1"/>
              </a:solidFill>
              <a:latin typeface="Questrial" panose="02000000000000000000"/>
              <a:ea typeface="Questrial" panose="02000000000000000000"/>
              <a:cs typeface="Questrial" panose="02000000000000000000"/>
              <a:sym typeface="Questrial" panose="020000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sp>
        <p:nvSpPr>
          <p:cNvPr id="98" name="Google Shape;98;p14"/>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Abstract (1/2)</a:t>
            </a:r>
            <a:endParaRPr lang="en-US"/>
          </a:p>
        </p:txBody>
      </p:sp>
      <p:sp>
        <p:nvSpPr>
          <p:cNvPr id="99" name="Google Shape;99;p14"/>
          <p:cNvSpPr txBox="1"/>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lgn="l" rtl="0" eaLnBrk="1" fontAlgn="auto" latinLnBrk="0" hangingPunct="1">
              <a:lnSpc>
                <a:spcPct val="90000"/>
              </a:lnSpc>
              <a:spcBef>
                <a:spcPts val="0"/>
              </a:spcBef>
              <a:spcAft>
                <a:spcPts val="0"/>
              </a:spcAft>
              <a:buClr>
                <a:schemeClr val="dk1"/>
              </a:buClr>
              <a:buSzPts val="2800"/>
              <a:buNone/>
            </a:pPr>
            <a:r>
              <a:rPr lang="en-US"/>
              <a:t>Deep neural nets with a large number of parameters are very powerful machine learning systems. However, overfitting is a serious problem in such networks. Large networks are also slow to use, making it difficult to deal with overfitting by combining the predictions of many different large neural nets at test time. Dropout is a technique for addressing this problem. The key idea is to randomly drop units (along with their connections) from the neural network during training. This prevents units from co-adapting too much. During training, dropout samples from an exponential number of different “thinned” networks. </a:t>
            </a:r>
            <a:endParaRPr lang="en-US"/>
          </a:p>
        </p:txBody>
      </p:sp>
      <p:sp>
        <p:nvSpPr>
          <p:cNvPr id="100" name="Google Shape;100;p14"/>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4" name="Shape 104"/>
        <p:cNvGrpSpPr/>
        <p:nvPr/>
      </p:nvGrpSpPr>
      <p:grpSpPr>
        <a:xfrm>
          <a:off x="0" y="0"/>
          <a:ext cx="0" cy="0"/>
          <a:chOff x="0" y="0"/>
          <a:chExt cx="0" cy="0"/>
        </a:xfrm>
      </p:grpSpPr>
      <p:sp>
        <p:nvSpPr>
          <p:cNvPr id="105" name="Google Shape;105;p15"/>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Abstract (2/2)</a:t>
            </a:r>
            <a:endParaRPr lang="en-US"/>
          </a:p>
        </p:txBody>
      </p:sp>
      <p:sp>
        <p:nvSpPr>
          <p:cNvPr id="106" name="Google Shape;106;p15"/>
          <p:cNvSpPr txBox="1"/>
          <p:nvPr>
            <p:ph type="body" idx="1"/>
          </p:nvPr>
        </p:nvSpPr>
        <p:spPr>
          <a:xfrm>
            <a:off x="838200" y="1581650"/>
            <a:ext cx="10011032" cy="44468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None/>
            </a:pPr>
            <a:r>
              <a:rPr lang="en-US"/>
              <a:t>At test time, it is easy to approximate the effect of averaging the predictions of all these thinned networks by simply using a single unthinned network that has smaller weights. This significantly reduces overfitting and gives major improvements over other regularization methods. We show that dropout improves the performance of neural networks on supervised learning tasks in vision, speech recognition, document classification and computational biology, obtaining  state-of-the-art  results  on  many  benchmark  data sets.</a:t>
            </a:r>
            <a:endParaRPr lang="en-US"/>
          </a:p>
        </p:txBody>
      </p:sp>
      <p:sp>
        <p:nvSpPr>
          <p:cNvPr id="107" name="Google Shape;107;p15"/>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sp>
        <p:nvSpPr>
          <p:cNvPr id="112" name="Google Shape;112;p16"/>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INTRODUCTION</a:t>
            </a:r>
            <a:r>
              <a:rPr lang="zh-TW" altLang="en-US" dirty="0">
                <a:sym typeface="+mn-ea"/>
              </a:rPr>
              <a:t> </a:t>
            </a:r>
            <a:r>
              <a:rPr lang="en-US" altLang="zh-TW" dirty="0">
                <a:sym typeface="+mn-ea"/>
              </a:rPr>
              <a:t>(1/2)</a:t>
            </a:r>
            <a:endParaRPr lang="en-US"/>
          </a:p>
        </p:txBody>
      </p:sp>
      <p:sp>
        <p:nvSpPr>
          <p:cNvPr id="113" name="Google Shape;113;p16"/>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15" name="Google Shape;115;p16"/>
          <p:cNvSpPr txBox="1"/>
          <p:nvPr>
            <p:ph type="body" idx="1"/>
          </p:nvPr>
        </p:nvSpPr>
        <p:spPr>
          <a:xfrm>
            <a:off x="838200" y="1569720"/>
            <a:ext cx="9616440" cy="86741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a:t>overfitting</a:t>
            </a:r>
            <a:r>
              <a:rPr lang="zh-CN" altLang="en-US">
                <a:ea typeface="宋体" panose="02010600030101010101" pitchFamily="2" charset="-122"/>
              </a:rPr>
              <a:t>；</a:t>
            </a:r>
            <a:r>
              <a:rPr lang="en-US" altLang="zh-CN">
                <a:ea typeface="宋体" panose="02010600030101010101" pitchFamily="2" charset="-122"/>
              </a:rPr>
              <a:t>regularization</a:t>
            </a:r>
            <a:r>
              <a:rPr lang="zh-CN" altLang="en-US">
                <a:ea typeface="宋体" panose="02010600030101010101" pitchFamily="2" charset="-122"/>
              </a:rPr>
              <a:t>；</a:t>
            </a:r>
            <a:r>
              <a:rPr lang="en-US"/>
              <a:t> model combination</a:t>
            </a:r>
            <a:endParaRPr lang="en-US"/>
          </a:p>
        </p:txBody>
      </p:sp>
      <p:pic>
        <p:nvPicPr>
          <p:cNvPr id="1" name="图片 0"/>
          <p:cNvPicPr>
            <a:picLocks noChangeAspect="1"/>
          </p:cNvPicPr>
          <p:nvPr/>
        </p:nvPicPr>
        <p:blipFill>
          <a:blip r:embed="rId1"/>
          <a:stretch>
            <a:fillRect/>
          </a:stretch>
        </p:blipFill>
        <p:spPr>
          <a:xfrm>
            <a:off x="1923415" y="2437130"/>
            <a:ext cx="8001635" cy="4070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sp>
        <p:nvSpPr>
          <p:cNvPr id="112" name="Google Shape;112;p16"/>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INTRODUCTION</a:t>
            </a:r>
            <a:r>
              <a:rPr lang="zh-TW" altLang="en-US" dirty="0">
                <a:sym typeface="+mn-ea"/>
              </a:rPr>
              <a:t> </a:t>
            </a:r>
            <a:r>
              <a:rPr lang="en-US" altLang="zh-TW" dirty="0">
                <a:sym typeface="+mn-ea"/>
              </a:rPr>
              <a:t>(2/2)</a:t>
            </a:r>
            <a:endParaRPr lang="en-US"/>
          </a:p>
        </p:txBody>
      </p:sp>
      <p:sp>
        <p:nvSpPr>
          <p:cNvPr id="113" name="Google Shape;113;p16"/>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15" name="Google Shape;115;p16"/>
          <p:cNvSpPr txBox="1"/>
          <p:nvPr>
            <p:ph type="body" idx="1"/>
          </p:nvPr>
        </p:nvSpPr>
        <p:spPr>
          <a:xfrm>
            <a:off x="838200" y="1569720"/>
            <a:ext cx="10339705" cy="95186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Font typeface="Noto Sans Symbols"/>
              <a:buChar char="●"/>
            </a:pPr>
            <a:r>
              <a:rPr lang="en-US" sz="2400"/>
              <a:t>train 2</a:t>
            </a:r>
            <a:r>
              <a:rPr lang="en-US" sz="2400" baseline="30000"/>
              <a:t>n</a:t>
            </a:r>
            <a:r>
              <a:rPr lang="en-US" sz="2400"/>
              <a:t> -&gt; test one;</a:t>
            </a:r>
            <a:endParaRPr lang="en-US" sz="2400"/>
          </a:p>
          <a:p>
            <a:pPr marL="228600" lvl="0" indent="-228600" algn="l" rtl="0">
              <a:lnSpc>
                <a:spcPct val="90000"/>
              </a:lnSpc>
              <a:spcBef>
                <a:spcPts val="0"/>
              </a:spcBef>
              <a:spcAft>
                <a:spcPts val="0"/>
              </a:spcAft>
              <a:buClr>
                <a:schemeClr val="dk1"/>
              </a:buClr>
              <a:buSzPts val="2800"/>
              <a:buFont typeface="Noto Sans Symbols"/>
              <a:buChar char="●"/>
            </a:pPr>
            <a:r>
              <a:rPr lang="zh-CN" altLang="en-US" sz="2400">
                <a:ea typeface="宋体" panose="02010600030101010101" pitchFamily="2" charset="-122"/>
              </a:rPr>
              <a:t>Motivation</a:t>
            </a:r>
            <a:r>
              <a:rPr lang="en-US" altLang="zh-CN" sz="2400">
                <a:ea typeface="宋体" panose="02010600030101010101" pitchFamily="2" charset="-122"/>
              </a:rPr>
              <a:t>: Sexual Reproduction—break up complex co-adaptations.</a:t>
            </a:r>
            <a:endParaRPr lang="en-US" altLang="zh-CN" sz="240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666115" y="2521585"/>
            <a:ext cx="9960610" cy="35350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Model Description</a:t>
            </a:r>
            <a:r>
              <a:rPr lang="zh-TW" altLang="en-US" dirty="0">
                <a:sym typeface="+mn-ea"/>
              </a:rPr>
              <a:t> </a:t>
            </a:r>
            <a:r>
              <a:rPr lang="en-US" altLang="zh-TW" dirty="0">
                <a:sym typeface="+mn-ea"/>
              </a:rPr>
              <a:t>(1/2)</a:t>
            </a:r>
            <a:r>
              <a:rPr lang="en-US"/>
              <a:t> </a:t>
            </a:r>
            <a:endParaRPr lang="en-US"/>
          </a:p>
        </p:txBody>
      </p:sp>
      <p:sp>
        <p:nvSpPr>
          <p:cNvPr id="121" name="Google Shape;121;p17"/>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 name="图片 0"/>
          <p:cNvPicPr>
            <a:picLocks noChangeAspect="1"/>
          </p:cNvPicPr>
          <p:nvPr/>
        </p:nvPicPr>
        <p:blipFill>
          <a:blip r:embed="rId1"/>
          <a:stretch>
            <a:fillRect/>
          </a:stretch>
        </p:blipFill>
        <p:spPr>
          <a:xfrm>
            <a:off x="562610" y="2066925"/>
            <a:ext cx="8396605" cy="35039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Model Description</a:t>
            </a:r>
            <a:r>
              <a:rPr lang="zh-TW" altLang="en-US" dirty="0">
                <a:sym typeface="+mn-ea"/>
              </a:rPr>
              <a:t> </a:t>
            </a:r>
            <a:r>
              <a:rPr lang="en-US" altLang="zh-TW" dirty="0">
                <a:sym typeface="+mn-ea"/>
              </a:rPr>
              <a:t>(2/2)</a:t>
            </a:r>
            <a:r>
              <a:rPr lang="en-US"/>
              <a:t> </a:t>
            </a:r>
            <a:endParaRPr lang="en-US"/>
          </a:p>
        </p:txBody>
      </p:sp>
      <p:sp>
        <p:nvSpPr>
          <p:cNvPr id="121" name="Google Shape;121;p17"/>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图片 1"/>
          <p:cNvPicPr>
            <a:picLocks noChangeAspect="1"/>
          </p:cNvPicPr>
          <p:nvPr/>
        </p:nvPicPr>
        <p:blipFill>
          <a:blip r:embed="rId1"/>
          <a:stretch>
            <a:fillRect/>
          </a:stretch>
        </p:blipFill>
        <p:spPr>
          <a:xfrm>
            <a:off x="1907540" y="2059305"/>
            <a:ext cx="8376285" cy="4446905"/>
          </a:xfrm>
          <a:prstGeom prst="rect">
            <a:avLst/>
          </a:prstGeom>
        </p:spPr>
      </p:pic>
      <p:sp>
        <p:nvSpPr>
          <p:cNvPr id="115" name="Google Shape;115;p16"/>
          <p:cNvSpPr txBox="1"/>
          <p:nvPr>
            <p:ph type="body" idx="1"/>
          </p:nvPr>
        </p:nvSpPr>
        <p:spPr>
          <a:xfrm>
            <a:off x="864235" y="1477010"/>
            <a:ext cx="9616440" cy="867410"/>
          </a:xfrm>
          <a:prstGeom prst="rect">
            <a:avLst/>
          </a:prstGeom>
          <a:noFill/>
          <a:ln>
            <a:noFill/>
          </a:ln>
        </p:spPr>
        <p:txBody>
          <a:bodyPr spcFirstLastPara="1" wrap="square" lIns="91425" tIns="45700" rIns="91425" bIns="45700" anchor="t" anchorCtr="0">
            <a:noAutofit/>
          </a:bodyPr>
          <a:p>
            <a:pPr marL="228600" lvl="0" indent="-228600" algn="l" rtl="0">
              <a:lnSpc>
                <a:spcPct val="90000"/>
              </a:lnSpc>
              <a:spcBef>
                <a:spcPts val="0"/>
              </a:spcBef>
              <a:spcAft>
                <a:spcPts val="0"/>
              </a:spcAft>
              <a:buClr>
                <a:schemeClr val="dk1"/>
              </a:buClr>
              <a:buSzPts val="2800"/>
              <a:buFont typeface="Noto Sans Symbols"/>
              <a:buChar char="●"/>
            </a:pPr>
            <a:r>
              <a:rPr lang="en-US"/>
              <a:t>learning W -&gt; learning r(0/1)</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Experimental Results</a:t>
            </a:r>
            <a:r>
              <a:rPr lang="zh-TW" altLang="en-US" dirty="0">
                <a:sym typeface="+mn-ea"/>
              </a:rPr>
              <a:t> </a:t>
            </a:r>
            <a:r>
              <a:rPr lang="en-US" altLang="zh-TW" dirty="0">
                <a:sym typeface="+mn-ea"/>
              </a:rPr>
              <a:t>(1/8)</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图片 1"/>
          <p:cNvPicPr>
            <a:picLocks noChangeAspect="1"/>
          </p:cNvPicPr>
          <p:nvPr/>
        </p:nvPicPr>
        <p:blipFill>
          <a:blip r:embed="rId1"/>
          <a:srcRect t="5305"/>
          <a:stretch>
            <a:fillRect/>
          </a:stretch>
        </p:blipFill>
        <p:spPr>
          <a:xfrm>
            <a:off x="838200" y="1691005"/>
            <a:ext cx="7903845" cy="2232025"/>
          </a:xfrm>
          <a:prstGeom prst="rect">
            <a:avLst/>
          </a:prstGeom>
        </p:spPr>
      </p:pic>
      <p:pic>
        <p:nvPicPr>
          <p:cNvPr id="3" name="图片 2"/>
          <p:cNvPicPr>
            <a:picLocks noChangeAspect="1"/>
          </p:cNvPicPr>
          <p:nvPr/>
        </p:nvPicPr>
        <p:blipFill>
          <a:blip r:embed="rId2"/>
          <a:stretch>
            <a:fillRect/>
          </a:stretch>
        </p:blipFill>
        <p:spPr>
          <a:xfrm>
            <a:off x="838200" y="3923665"/>
            <a:ext cx="7956550" cy="24320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Experimental Results</a:t>
            </a:r>
            <a:r>
              <a:rPr lang="zh-TW" altLang="en-US" dirty="0">
                <a:sym typeface="+mn-ea"/>
              </a:rPr>
              <a:t> </a:t>
            </a:r>
            <a:r>
              <a:rPr lang="en-US" altLang="zh-TW" dirty="0">
                <a:sym typeface="+mn-ea"/>
              </a:rPr>
              <a:t>(2/8)</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 name="图片 0"/>
          <p:cNvPicPr>
            <a:picLocks noChangeAspect="1"/>
          </p:cNvPicPr>
          <p:nvPr/>
        </p:nvPicPr>
        <p:blipFill>
          <a:blip r:embed="rId1"/>
          <a:stretch>
            <a:fillRect/>
          </a:stretch>
        </p:blipFill>
        <p:spPr>
          <a:xfrm>
            <a:off x="2179955" y="1585595"/>
            <a:ext cx="7832725" cy="43935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Experimental Results</a:t>
            </a:r>
            <a:r>
              <a:rPr lang="zh-TW" altLang="en-US" dirty="0">
                <a:sym typeface="+mn-ea"/>
              </a:rPr>
              <a:t> </a:t>
            </a:r>
            <a:r>
              <a:rPr lang="en-US" altLang="zh-TW" dirty="0">
                <a:sym typeface="+mn-ea"/>
              </a:rPr>
              <a:t>(3/8)</a:t>
            </a:r>
            <a:r>
              <a:rPr lang="en-US">
                <a:sym typeface="+mn-ea"/>
              </a:rPr>
              <a:t> </a:t>
            </a:r>
            <a:endParaRPr lang="en-US"/>
          </a:p>
        </p:txBody>
      </p:sp>
      <p:pic>
        <p:nvPicPr>
          <p:cNvPr id="3" name="图片 2"/>
          <p:cNvPicPr>
            <a:picLocks noChangeAspect="1"/>
          </p:cNvPicPr>
          <p:nvPr/>
        </p:nvPicPr>
        <p:blipFill>
          <a:blip r:embed="rId1"/>
          <a:stretch>
            <a:fillRect/>
          </a:stretch>
        </p:blipFill>
        <p:spPr>
          <a:xfrm>
            <a:off x="3531870" y="1691005"/>
            <a:ext cx="5127625" cy="4897755"/>
          </a:xfrm>
          <a:prstGeom prst="rect">
            <a:avLst/>
          </a:prstGeom>
        </p:spPr>
      </p:pic>
      <p:sp>
        <p:nvSpPr>
          <p:cNvPr id="1"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Experimental Results</a:t>
            </a:r>
            <a:r>
              <a:rPr lang="zh-TW" altLang="en-US" dirty="0">
                <a:sym typeface="+mn-ea"/>
              </a:rPr>
              <a:t> </a:t>
            </a:r>
            <a:r>
              <a:rPr lang="en-US" altLang="zh-TW" dirty="0">
                <a:sym typeface="+mn-ea"/>
              </a:rPr>
              <a:t>(4/8)</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 name="图片 0"/>
          <p:cNvPicPr>
            <a:picLocks noChangeAspect="1"/>
          </p:cNvPicPr>
          <p:nvPr/>
        </p:nvPicPr>
        <p:blipFill>
          <a:blip r:embed="rId1"/>
          <a:stretch>
            <a:fillRect/>
          </a:stretch>
        </p:blipFill>
        <p:spPr>
          <a:xfrm>
            <a:off x="2182495" y="1776730"/>
            <a:ext cx="7826375" cy="45796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Experimental Results</a:t>
            </a:r>
            <a:r>
              <a:rPr lang="zh-TW" altLang="en-US" dirty="0">
                <a:sym typeface="+mn-ea"/>
              </a:rPr>
              <a:t> </a:t>
            </a:r>
            <a:r>
              <a:rPr lang="en-US" altLang="zh-TW" dirty="0">
                <a:sym typeface="+mn-ea"/>
              </a:rPr>
              <a:t>(5/8)</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 name="图片 0"/>
          <p:cNvPicPr>
            <a:picLocks noChangeAspect="1"/>
          </p:cNvPicPr>
          <p:nvPr/>
        </p:nvPicPr>
        <p:blipFill>
          <a:blip r:embed="rId1"/>
          <a:stretch>
            <a:fillRect/>
          </a:stretch>
        </p:blipFill>
        <p:spPr>
          <a:xfrm>
            <a:off x="838200" y="1348740"/>
            <a:ext cx="5817235" cy="3314065"/>
          </a:xfrm>
          <a:prstGeom prst="rect">
            <a:avLst/>
          </a:prstGeom>
        </p:spPr>
      </p:pic>
      <p:pic>
        <p:nvPicPr>
          <p:cNvPr id="3" name="图片 2"/>
          <p:cNvPicPr>
            <a:picLocks noChangeAspect="1"/>
          </p:cNvPicPr>
          <p:nvPr/>
        </p:nvPicPr>
        <p:blipFill>
          <a:blip r:embed="rId2"/>
          <a:stretch>
            <a:fillRect/>
          </a:stretch>
        </p:blipFill>
        <p:spPr>
          <a:xfrm>
            <a:off x="838200" y="4662805"/>
            <a:ext cx="6052185" cy="18364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Experimental Results</a:t>
            </a:r>
            <a:r>
              <a:rPr lang="zh-TW" altLang="en-US" dirty="0">
                <a:sym typeface="+mn-ea"/>
              </a:rPr>
              <a:t> </a:t>
            </a:r>
            <a:r>
              <a:rPr lang="en-US" altLang="zh-TW" dirty="0">
                <a:sym typeface="+mn-ea"/>
              </a:rPr>
              <a:t>(6/8)</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3" name="图片 2"/>
          <p:cNvPicPr>
            <a:picLocks noChangeAspect="1"/>
          </p:cNvPicPr>
          <p:nvPr/>
        </p:nvPicPr>
        <p:blipFill>
          <a:blip r:embed="rId1"/>
          <a:stretch>
            <a:fillRect/>
          </a:stretch>
        </p:blipFill>
        <p:spPr>
          <a:xfrm>
            <a:off x="1835785" y="2148205"/>
            <a:ext cx="8520430" cy="37509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Experimental Results</a:t>
            </a:r>
            <a:r>
              <a:rPr lang="zh-TW" altLang="en-US" dirty="0">
                <a:sym typeface="+mn-ea"/>
              </a:rPr>
              <a:t> </a:t>
            </a:r>
            <a:r>
              <a:rPr lang="en-US" altLang="zh-TW" dirty="0">
                <a:sym typeface="+mn-ea"/>
              </a:rPr>
              <a:t>(7/8)</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 name="图片 0"/>
          <p:cNvPicPr>
            <a:picLocks noChangeAspect="1"/>
          </p:cNvPicPr>
          <p:nvPr/>
        </p:nvPicPr>
        <p:blipFill>
          <a:blip r:embed="rId1"/>
          <a:srcRect t="2448"/>
          <a:stretch>
            <a:fillRect/>
          </a:stretch>
        </p:blipFill>
        <p:spPr>
          <a:xfrm>
            <a:off x="1673225" y="2064385"/>
            <a:ext cx="8846185" cy="36690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Experimental Results</a:t>
            </a:r>
            <a:r>
              <a:rPr lang="zh-TW" altLang="en-US" dirty="0">
                <a:sym typeface="+mn-ea"/>
              </a:rPr>
              <a:t> </a:t>
            </a:r>
            <a:r>
              <a:rPr lang="en-US" altLang="zh-TW" dirty="0">
                <a:sym typeface="+mn-ea"/>
              </a:rPr>
              <a:t>(8/8)</a:t>
            </a:r>
            <a:r>
              <a:rPr lang="en-US">
                <a:sym typeface="+mn-ea"/>
              </a:rPr>
              <a:t> </a:t>
            </a:r>
            <a:endParaRPr lang="en-US"/>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 name="图片 0"/>
          <p:cNvPicPr>
            <a:picLocks noChangeAspect="1"/>
          </p:cNvPicPr>
          <p:nvPr/>
        </p:nvPicPr>
        <p:blipFill>
          <a:blip r:embed="rId1"/>
          <a:stretch>
            <a:fillRect/>
          </a:stretch>
        </p:blipFill>
        <p:spPr>
          <a:xfrm>
            <a:off x="2443480" y="1426210"/>
            <a:ext cx="7305040" cy="2623185"/>
          </a:xfrm>
          <a:prstGeom prst="rect">
            <a:avLst/>
          </a:prstGeom>
        </p:spPr>
      </p:pic>
      <p:pic>
        <p:nvPicPr>
          <p:cNvPr id="3" name="图片 2"/>
          <p:cNvPicPr>
            <a:picLocks noChangeAspect="1"/>
          </p:cNvPicPr>
          <p:nvPr/>
        </p:nvPicPr>
        <p:blipFill>
          <a:blip r:embed="rId2"/>
          <a:stretch>
            <a:fillRect/>
          </a:stretch>
        </p:blipFill>
        <p:spPr>
          <a:xfrm>
            <a:off x="2443480" y="4049395"/>
            <a:ext cx="7423150" cy="23075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t>Effect on Features</a:t>
            </a:r>
          </a:p>
        </p:txBody>
      </p:sp>
      <p:sp>
        <p:nvSpPr>
          <p:cNvPr id="129" name="Google Shape;129;p18"/>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3" name="图片 2"/>
          <p:cNvPicPr>
            <a:picLocks noChangeAspect="1"/>
          </p:cNvPicPr>
          <p:nvPr/>
        </p:nvPicPr>
        <p:blipFill>
          <a:blip r:embed="rId1"/>
          <a:stretch>
            <a:fillRect/>
          </a:stretch>
        </p:blipFill>
        <p:spPr>
          <a:xfrm>
            <a:off x="1691640" y="1691005"/>
            <a:ext cx="8809355" cy="479234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Effect on Sparsity</a:t>
            </a:r>
            <a:endParaRPr lang="en-US"/>
          </a:p>
        </p:txBody>
      </p:sp>
      <p:sp>
        <p:nvSpPr>
          <p:cNvPr id="136" name="Google Shape;136;p19"/>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 name="图片 0"/>
          <p:cNvPicPr>
            <a:picLocks noChangeAspect="1"/>
          </p:cNvPicPr>
          <p:nvPr/>
        </p:nvPicPr>
        <p:blipFill>
          <a:blip r:embed="rId1"/>
          <a:stretch>
            <a:fillRect/>
          </a:stretch>
        </p:blipFill>
        <p:spPr>
          <a:xfrm>
            <a:off x="1947545" y="1691005"/>
            <a:ext cx="8296910" cy="50171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Effect of Dropout Rate</a:t>
            </a:r>
            <a:endParaRPr lang="en-US"/>
          </a:p>
        </p:txBody>
      </p:sp>
      <p:sp>
        <p:nvSpPr>
          <p:cNvPr id="142" name="Google Shape;142;p20"/>
          <p:cNvSpPr txBox="1"/>
          <p:nvPr>
            <p:ph type="sldNum" idx="12"/>
          </p:nvPr>
        </p:nvSpPr>
        <p:spPr>
          <a:xfrm>
            <a:off x="8610600" y="6343017"/>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图片 1"/>
          <p:cNvPicPr>
            <a:picLocks noChangeAspect="1"/>
          </p:cNvPicPr>
          <p:nvPr/>
        </p:nvPicPr>
        <p:blipFill>
          <a:blip r:embed="rId1"/>
          <a:stretch>
            <a:fillRect/>
          </a:stretch>
        </p:blipFill>
        <p:spPr>
          <a:xfrm>
            <a:off x="1715135" y="1985645"/>
            <a:ext cx="8762365" cy="40760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Dropout Restricted Boltzmann Machines</a:t>
            </a:r>
            <a:r>
              <a:rPr lang="zh-TW" altLang="en-US" dirty="0">
                <a:sym typeface="+mn-ea"/>
              </a:rPr>
              <a:t> </a:t>
            </a:r>
            <a:r>
              <a:rPr lang="en-US" altLang="zh-TW" dirty="0">
                <a:sym typeface="+mn-ea"/>
              </a:rPr>
              <a:t>(1/2)</a:t>
            </a:r>
            <a:r>
              <a:rPr lang="en-US">
                <a:sym typeface="+mn-ea"/>
              </a:rPr>
              <a:t> </a:t>
            </a:r>
            <a:br>
              <a:rPr lang="en-US"/>
            </a:br>
            <a:endParaRPr lang="en-US"/>
          </a:p>
        </p:txBody>
      </p:sp>
      <p:sp>
        <p:nvSpPr>
          <p:cNvPr id="152" name="Google Shape;152;p21"/>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6" name="图片 5"/>
          <p:cNvPicPr>
            <a:picLocks noChangeAspect="1"/>
          </p:cNvPicPr>
          <p:nvPr/>
        </p:nvPicPr>
        <p:blipFill>
          <a:blip r:embed="rId1"/>
          <a:stretch>
            <a:fillRect/>
          </a:stretch>
        </p:blipFill>
        <p:spPr>
          <a:xfrm>
            <a:off x="1838325" y="1613535"/>
            <a:ext cx="8304530" cy="47428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a:t>Dropout Restricted Boltzmann Machines</a:t>
            </a:r>
            <a:r>
              <a:rPr lang="zh-TW" altLang="en-US" dirty="0">
                <a:sym typeface="+mn-ea"/>
              </a:rPr>
              <a:t> </a:t>
            </a:r>
            <a:r>
              <a:rPr lang="en-US" altLang="zh-TW" dirty="0">
                <a:sym typeface="+mn-ea"/>
              </a:rPr>
              <a:t>(2/2)</a:t>
            </a:r>
            <a:r>
              <a:rPr lang="en-US">
                <a:sym typeface="+mn-ea"/>
              </a:rPr>
              <a:t> </a:t>
            </a:r>
            <a:br>
              <a:rPr lang="en-US"/>
            </a:br>
            <a:endParaRPr lang="en-US"/>
          </a:p>
        </p:txBody>
      </p:sp>
      <p:sp>
        <p:nvSpPr>
          <p:cNvPr id="152" name="Google Shape;152;p21"/>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 name="图片 0"/>
          <p:cNvPicPr>
            <a:picLocks noChangeAspect="1"/>
          </p:cNvPicPr>
          <p:nvPr/>
        </p:nvPicPr>
        <p:blipFill>
          <a:blip r:embed="rId1"/>
          <a:stretch>
            <a:fillRect/>
          </a:stretch>
        </p:blipFill>
        <p:spPr>
          <a:xfrm>
            <a:off x="1285240" y="1691005"/>
            <a:ext cx="9620885" cy="47656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t>Logistic Regression and Deep Networks</a:t>
            </a:r>
            <a:br>
              <a:rPr lang="en-US"/>
            </a:br>
            <a:endParaRPr lang="en-US"/>
          </a:p>
        </p:txBody>
      </p:sp>
      <p:sp>
        <p:nvSpPr>
          <p:cNvPr id="152" name="Google Shape;152;p21"/>
          <p:cNvSpPr txBox="1"/>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图片 1"/>
          <p:cNvPicPr>
            <a:picLocks noChangeAspect="1"/>
          </p:cNvPicPr>
          <p:nvPr/>
        </p:nvPicPr>
        <p:blipFill>
          <a:blip r:embed="rId1"/>
          <a:stretch>
            <a:fillRect/>
          </a:stretch>
        </p:blipFill>
        <p:spPr>
          <a:xfrm>
            <a:off x="1140460" y="1913255"/>
            <a:ext cx="9911080" cy="3031490"/>
          </a:xfrm>
          <a:prstGeom prst="rect">
            <a:avLst/>
          </a:prstGeom>
        </p:spPr>
      </p:pic>
    </p:spTree>
  </p:cSld>
  <p:clrMapOvr>
    <a:masterClrMapping/>
  </p:clrMapOvr>
</p:sld>
</file>

<file path=ppt/theme/theme1.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2094</Words>
  <Application>WPS 演示</Application>
  <PresentationFormat/>
  <Paragraphs>103</Paragraphs>
  <Slides>21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21</vt:i4>
      </vt:variant>
    </vt:vector>
  </HeadingPairs>
  <TitlesOfParts>
    <vt:vector size="35" baseType="lpstr">
      <vt:lpstr>Arial</vt:lpstr>
      <vt:lpstr>宋体</vt:lpstr>
      <vt:lpstr>Wingdings</vt:lpstr>
      <vt:lpstr>Arial</vt:lpstr>
      <vt:lpstr>Questrial</vt:lpstr>
      <vt:lpstr>Calibri</vt:lpstr>
      <vt:lpstr>Noto Sans Symbols</vt:lpstr>
      <vt:lpstr>微软雅黑</vt:lpstr>
      <vt:lpstr>Arial Unicode MS</vt:lpstr>
      <vt:lpstr>Segoe Print</vt:lpstr>
      <vt:lpstr>Questrial</vt:lpstr>
      <vt:lpstr>Calibri</vt:lpstr>
      <vt:lpstr>PMingLiU</vt:lpstr>
      <vt:lpstr>Office 佈景主題</vt:lpstr>
      <vt:lpstr>Feature-Based Similarity Search in 3D Object Databases</vt:lpstr>
      <vt:lpstr>Abstract (1/2)</vt:lpstr>
      <vt:lpstr>Abstract (2/2)</vt:lpstr>
      <vt:lpstr>1.INTRODUCTION</vt:lpstr>
      <vt:lpstr>INTRODUCTION</vt:lpstr>
      <vt:lpstr>1.1 Similarity Search in 3D Object Databases </vt:lpstr>
      <vt:lpstr>Model Description (1/2) </vt:lpstr>
      <vt:lpstr>1.2 Feature Vector Paradigm</vt:lpstr>
      <vt:lpstr>Experimental Results (1/2) </vt:lpstr>
      <vt:lpstr>Experimental Results (1/2) </vt:lpstr>
      <vt:lpstr>Experimental Results (1/2) </vt:lpstr>
      <vt:lpstr>Experimental Results (1/2) </vt:lpstr>
      <vt:lpstr>Experimental Results (1/2) </vt:lpstr>
      <vt:lpstr>Experimental Results (1/2) </vt:lpstr>
      <vt:lpstr>Experimental Results (1/2) </vt:lpstr>
      <vt:lpstr>Experimental Results (1/2) </vt:lpstr>
      <vt:lpstr>1.2.1 Feature Vector Extraction</vt:lpstr>
      <vt:lpstr>1.2.2 Metrics for Feature Vectors</vt:lpstr>
      <vt:lpstr>2 PROBLEMS AND CHALLENGES OF 3D SIMILARITY SEARCH SYSTEMS</vt:lpstr>
      <vt:lpstr>Dropout Restricted Boltzmann Machines (1/2)  </vt:lpstr>
      <vt:lpstr>Dropout Restricted Boltzmann Machines (2/2)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Dropout: A Simple Way to Prevent Neural Networks from Overfitting</dc:title>
  <dc:creator/>
  <cp:lastModifiedBy>zkxshg</cp:lastModifiedBy>
  <cp:revision>49</cp:revision>
  <dcterms:created xsi:type="dcterms:W3CDTF">2018-12-24T14:49:30Z</dcterms:created>
  <dcterms:modified xsi:type="dcterms:W3CDTF">2018-12-24T16:12:30Z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2052-10.1.0.7697</vt:lpwstr>
  </property>
</Properties>
</file>