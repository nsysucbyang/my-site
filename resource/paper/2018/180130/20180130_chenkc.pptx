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3" r:id="rId6"/>
    <p:sldId id="264" r:id="rId7"/>
    <p:sldId id="268" r:id="rId8"/>
    <p:sldId id="261" r:id="rId9"/>
    <p:sldId id="262" r:id="rId10"/>
    <p:sldId id="265" r:id="rId11"/>
    <p:sldId id="269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2019" autoAdjust="0"/>
  </p:normalViewPr>
  <p:slideViewPr>
    <p:cSldViewPr snapToGrid="0">
      <p:cViewPr>
        <p:scale>
          <a:sx n="75" d="100"/>
          <a:sy n="75" d="100"/>
        </p:scale>
        <p:origin x="2046" y="4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劍橋大學博士生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貌似是博士論文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FM-index :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compressed full-text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substring index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the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Burrows-Wheeler transform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71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06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秀麗隱桿線蟲</a:t>
            </a:r>
            <a:endParaRPr lang="en-US" altLang="zh-TW" dirty="0"/>
          </a:p>
          <a:p>
            <a:r>
              <a:rPr lang="zh-TW" altLang="en-US" dirty="0"/>
              <a:t>它具有完整和準確的參考序列</a:t>
            </a:r>
            <a:endParaRPr lang="en-US" altLang="zh-TW" dirty="0"/>
          </a:p>
          <a:p>
            <a:r>
              <a:rPr lang="zh-TW" altLang="en-US" dirty="0"/>
              <a:t>它以雌雄同體的形式繁殖，所以個體（或株系）的基因組是純合的，</a:t>
            </a:r>
            <a:endParaRPr lang="en-US" altLang="zh-TW" dirty="0"/>
          </a:p>
          <a:p>
            <a:r>
              <a:rPr lang="zh-TW" altLang="en-US" dirty="0"/>
              <a:t>基本上沒有</a:t>
            </a:r>
            <a:r>
              <a:rPr lang="en-US" altLang="zh-TW" dirty="0"/>
              <a:t>SNP</a:t>
            </a:r>
            <a:r>
              <a:rPr lang="zh-TW" altLang="en-US" dirty="0"/>
              <a:t>和結構變異，而且基因組是一個合理的評估尺寸（</a:t>
            </a:r>
            <a:r>
              <a:rPr lang="en-US" altLang="zh-TW" dirty="0"/>
              <a:t>100 </a:t>
            </a:r>
            <a:r>
              <a:rPr lang="en-US" altLang="zh-TW" dirty="0" err="1"/>
              <a:t>Mbp</a:t>
            </a:r>
            <a:r>
              <a:rPr lang="zh-TW" altLang="en-US" dirty="0"/>
              <a:t>）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N50: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用來評估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novo assembly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效果好壞的方法之一。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scaffold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從大到小排列後，從最大的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進行長度的累加，累加到全部總長度的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時，此時所加上的長度，即為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N50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。數字越大，則評估條件越嚴苛。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Velvet assembler : </a:t>
            </a:r>
            <a:r>
              <a:rPr lang="zh-TW" altLang="en-US" dirty="0"/>
              <a:t>第一個基於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en-US" altLang="zh-TW" dirty="0"/>
              <a:t> graph</a:t>
            </a:r>
            <a:r>
              <a:rPr lang="zh-TW" altLang="en-US" dirty="0"/>
              <a:t>的</a:t>
            </a:r>
            <a:r>
              <a:rPr lang="en-US" altLang="zh-TW" dirty="0"/>
              <a:t>assemblers (for short reads )</a:t>
            </a:r>
            <a:r>
              <a:rPr lang="zh-TW" altLang="en-US" dirty="0"/>
              <a:t>，已經成為組裝中小型基因組的標準工具</a:t>
            </a:r>
          </a:p>
          <a:p>
            <a:r>
              <a:rPr lang="en-US" altLang="zh-TW" dirty="0" err="1"/>
              <a:t>ABySS</a:t>
            </a:r>
            <a:r>
              <a:rPr lang="en-US" altLang="zh-TW" dirty="0"/>
              <a:t> assembler</a:t>
            </a:r>
            <a:r>
              <a:rPr lang="zh-TW" altLang="en-US" dirty="0"/>
              <a:t>為了處理大型的基因組，通過在計算機集群上分佈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endParaRPr lang="zh-TW" altLang="en-US" dirty="0"/>
          </a:p>
          <a:p>
            <a:r>
              <a:rPr lang="en-US" altLang="zh-TW" dirty="0" err="1"/>
              <a:t>SOAPdenovo</a:t>
            </a:r>
            <a:r>
              <a:rPr lang="zh-TW" altLang="en-US" dirty="0"/>
              <a:t>也基於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r>
              <a:rPr lang="zh-TW" altLang="en-US" dirty="0"/>
              <a:t>並被設計來組裝大型基因組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521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針對人體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1.2 billion sequence reads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039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16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tp://ftp.sanger.ac.uk/pub/resources/theses/js18/chapter3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ts/sg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569" y="1153272"/>
            <a:ext cx="7837715" cy="1666831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 novo assembly of large genomes using compressed data structures elements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4976" y="3576234"/>
            <a:ext cx="5168900" cy="461664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Jared T. Simpson and Richard Durbin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22453" y="4987602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2018.01.30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2733767" y="4147436"/>
            <a:ext cx="39773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Genome Research 22:549–556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25" y="998092"/>
            <a:ext cx="8421949" cy="513163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novo genome sequence assembly is important both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new sequence assemblies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previously uncharacterized genomes and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genome 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individuals in a reference-unbiased way. We present memory efficient data structures and algorithms for assembly using the FM-index derived from the compressed Burrows-Wheeler transform, and a new assembler based on these called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SGA (String Graph Assembler)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describe algorithms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error-correct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scaffold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sets of sequence data. SGA uses the overlap-based string graph model of assembly, unlike most de novo assemblers that rely on de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graphs, and is simply parallelizable.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26" y="998091"/>
            <a:ext cx="8252348" cy="513163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demonstrate the error correction and assembly performance of SGA on 1.2 billion sequence reads from a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genome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we are able to assemble using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GB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memory. The resulting contigs are highly accurate and contiguous, while covering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reference genome (excluding contigs &lt; 200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length). Because of the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memory requirements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parallelization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requiring inter-process communication, SGA provides the first practical assembler to our knowledge for a mammalian-sized genome on a low-end computing cluster.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47C5F27D-9ABC-4D01-98B3-F4B0515E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4FE45DB4-55FF-4EB6-81F6-3825A8DB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47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assembly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6" y="1800815"/>
            <a:ext cx="813235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Bioinformatics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的分析方法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依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Reference Sequence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的有無，分成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de-novo(</a:t>
            </a: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新的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沒有參考序列，僅用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fragment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本身的資訊進行組裝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有參考序列，將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fragment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align/map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至參考序列上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ACDFA3-E6A6-4972-ADF5-465B4305A857}"/>
              </a:ext>
            </a:extLst>
          </p:cNvPr>
          <p:cNvSpPr/>
          <p:nvPr/>
        </p:nvSpPr>
        <p:spPr>
          <a:xfrm>
            <a:off x="5506304" y="489820"/>
            <a:ext cx="1766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DNA fragment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FEEA2C-BD0D-41E0-BEB2-F79363692EB3}"/>
              </a:ext>
            </a:extLst>
          </p:cNvPr>
          <p:cNvSpPr/>
          <p:nvPr/>
        </p:nvSpPr>
        <p:spPr>
          <a:xfrm>
            <a:off x="5075193" y="1431483"/>
            <a:ext cx="2628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longer DNA sequence</a:t>
            </a:r>
            <a:endParaRPr lang="zh-TW" altLang="en-US" dirty="0">
              <a:solidFill>
                <a:srgbClr val="222222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FCCE11E-FCED-49B3-914D-8BBE0B080AE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389431" y="859152"/>
            <a:ext cx="0" cy="572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8D767AF-D780-4739-820C-16316BB83DC2}"/>
              </a:ext>
            </a:extLst>
          </p:cNvPr>
          <p:cNvSpPr/>
          <p:nvPr/>
        </p:nvSpPr>
        <p:spPr>
          <a:xfrm>
            <a:off x="6559766" y="83591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Sequence merging/</a:t>
            </a:r>
          </a:p>
          <a:p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Sequence alignment</a:t>
            </a:r>
          </a:p>
        </p:txBody>
      </p:sp>
      <p:pic>
        <p:nvPicPr>
          <p:cNvPr id="3074" name="Picture 2" descr="https://upload.wikimedia.org/wikipedia/commons/thumb/d/dd/Seqassemble.png/450px-Seqassemble.png">
            <a:extLst>
              <a:ext uri="{FF2B5EF4-FFF2-40B4-BE49-F238E27FC236}">
                <a16:creationId xmlns:a16="http://schemas.microsoft.com/office/drawing/2014/main" id="{046C2BD2-9FA8-4B78-9F36-B7A8E9F54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18" y="4185943"/>
            <a:ext cx="4194175" cy="172427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7405B18E-9D07-4154-8AD8-80CE14A06DA2}"/>
              </a:ext>
            </a:extLst>
          </p:cNvPr>
          <p:cNvSpPr/>
          <p:nvPr/>
        </p:nvSpPr>
        <p:spPr>
          <a:xfrm>
            <a:off x="3582384" y="5948617"/>
            <a:ext cx="1742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Problem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4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novo assembly(1/3)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8028609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Overlap-layout-consensus(OLC)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reads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兩兩比對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 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找出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重疊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區域，以圖學的方式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呈現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重疊的關係，最後從這些片段中找出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一致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consensus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的序列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運算量較大，通常用在資料量不大而測序長度較長的資料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098" name="Picture 2" descr="https://upload.wikimedia.org/wikipedia/commons/thumb/6/68/OLC%2COverlap-Layout-consensus.png/397px-OLC%2COverlap-Layout-consensus.png">
            <a:extLst>
              <a:ext uri="{FF2B5EF4-FFF2-40B4-BE49-F238E27FC236}">
                <a16:creationId xmlns:a16="http://schemas.microsoft.com/office/drawing/2014/main" id="{D63A62FB-4629-45F2-AA2D-0918E8A03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54"/>
          <a:stretch/>
        </p:blipFill>
        <p:spPr bwMode="auto">
          <a:xfrm>
            <a:off x="4607181" y="3069770"/>
            <a:ext cx="3781425" cy="2934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upload.wikimedia.org/wikipedia/commons/thumb/6/68/OLC%2COverlap-Layout-consensus.png/397px-OLC%2COverlap-Layout-consensus.png">
            <a:extLst>
              <a:ext uri="{FF2B5EF4-FFF2-40B4-BE49-F238E27FC236}">
                <a16:creationId xmlns:a16="http://schemas.microsoft.com/office/drawing/2014/main" id="{5DC1661F-3A9C-4874-A5E4-68470AF34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56"/>
          <a:stretch/>
        </p:blipFill>
        <p:spPr bwMode="auto">
          <a:xfrm>
            <a:off x="471956" y="3209847"/>
            <a:ext cx="3781425" cy="26542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6221173-5CB9-425A-A81C-BAAB84C63582}"/>
              </a:ext>
            </a:extLst>
          </p:cNvPr>
          <p:cNvSpPr/>
          <p:nvPr/>
        </p:nvSpPr>
        <p:spPr>
          <a:xfrm>
            <a:off x="3700607" y="6066274"/>
            <a:ext cx="1422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49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novo assembly(2/3)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/>
              <p:nvPr/>
            </p:nvSpPr>
            <p:spPr>
              <a:xfrm>
                <a:off x="592877" y="1054387"/>
                <a:ext cx="792247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De-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bruijn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-graph(DBG)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Bruijn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sequence: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B(k, n)</a:t>
                </a:r>
                <a:r>
                  <a:rPr lang="zh-TW" altLang="en-US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由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種符號組成的序列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長度為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00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長度為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zh-TW" altLang="en-US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連續子序列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剛好為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種符號且長度為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的所有序列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77" y="1054387"/>
                <a:ext cx="7922473" cy="1938992"/>
              </a:xfrm>
              <a:prstGeom prst="rect">
                <a:avLst/>
              </a:prstGeom>
              <a:blipFill>
                <a:blip r:embed="rId2"/>
                <a:stretch>
                  <a:fillRect l="-692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88B926-8B7D-4537-9DA0-F0197FBED3B0}"/>
              </a:ext>
            </a:extLst>
          </p:cNvPr>
          <p:cNvSpPr/>
          <p:nvPr/>
        </p:nvSpPr>
        <p:spPr>
          <a:xfrm>
            <a:off x="1108936" y="3130874"/>
            <a:ext cx="3463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B(2, 2)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0011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{00, 01, 11, 10}</a:t>
            </a:r>
            <a:endParaRPr lang="zh-TW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2BF184-B139-4384-B791-D5E2350CC936}"/>
              </a:ext>
            </a:extLst>
          </p:cNvPr>
          <p:cNvSpPr/>
          <p:nvPr/>
        </p:nvSpPr>
        <p:spPr>
          <a:xfrm>
            <a:off x="1108936" y="3597273"/>
            <a:ext cx="6566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B(2, 3)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00010111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{000, 001, 010, 101, 011, 111, 110, 100} 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122" name="群組 4121">
            <a:extLst>
              <a:ext uri="{FF2B5EF4-FFF2-40B4-BE49-F238E27FC236}">
                <a16:creationId xmlns:a16="http://schemas.microsoft.com/office/drawing/2014/main" id="{CD39999E-48C9-41E1-BC58-0BA0957901FB}"/>
              </a:ext>
            </a:extLst>
          </p:cNvPr>
          <p:cNvGrpSpPr/>
          <p:nvPr/>
        </p:nvGrpSpPr>
        <p:grpSpPr>
          <a:xfrm>
            <a:off x="597008" y="2126869"/>
            <a:ext cx="7954115" cy="3676745"/>
            <a:chOff x="597008" y="2126869"/>
            <a:chExt cx="7954115" cy="3676745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E8C313AA-05B3-4151-A4E0-2C01ECD0D924}"/>
                </a:ext>
              </a:extLst>
            </p:cNvPr>
            <p:cNvGrpSpPr/>
            <p:nvPr/>
          </p:nvGrpSpPr>
          <p:grpSpPr>
            <a:xfrm>
              <a:off x="597008" y="2126869"/>
              <a:ext cx="7954115" cy="3676745"/>
              <a:chOff x="597008" y="2126869"/>
              <a:chExt cx="7954115" cy="3676745"/>
            </a:xfrm>
          </p:grpSpPr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CBCEBB4C-E38F-46A5-B670-956778AFA4B7}"/>
                  </a:ext>
                </a:extLst>
              </p:cNvPr>
              <p:cNvGrpSpPr/>
              <p:nvPr/>
            </p:nvGrpSpPr>
            <p:grpSpPr>
              <a:xfrm>
                <a:off x="1061899" y="2126869"/>
                <a:ext cx="7489224" cy="3676745"/>
                <a:chOff x="1061899" y="2126869"/>
                <a:chExt cx="7489224" cy="3676745"/>
              </a:xfrm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5B732E0-21FB-4ED2-8F7A-52E7A7CAEE7C}"/>
                    </a:ext>
                  </a:extLst>
                </p:cNvPr>
                <p:cNvSpPr/>
                <p:nvPr/>
              </p:nvSpPr>
              <p:spPr>
                <a:xfrm>
                  <a:off x="1108936" y="2126870"/>
                  <a:ext cx="7249720" cy="36767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4A54EA8-F757-4701-B916-065D70D4D83D}"/>
                    </a:ext>
                  </a:extLst>
                </p:cNvPr>
                <p:cNvSpPr/>
                <p:nvPr/>
              </p:nvSpPr>
              <p:spPr>
                <a:xfrm>
                  <a:off x="1061899" y="2126869"/>
                  <a:ext cx="748922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TW" sz="20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Magic show</a:t>
                  </a:r>
                </a:p>
              </p:txBody>
            </p:sp>
          </p:grpSp>
          <p:pic>
            <p:nvPicPr>
              <p:cNvPr id="6146" name="Picture 2" descr="「撲克牌」的圖片搜尋結果">
                <a:extLst>
                  <a:ext uri="{FF2B5EF4-FFF2-40B4-BE49-F238E27FC236}">
                    <a16:creationId xmlns:a16="http://schemas.microsoft.com/office/drawing/2014/main" id="{B977CF8F-A9B4-4075-ACB7-CA412E080C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143631">
                <a:off x="597008" y="3391489"/>
                <a:ext cx="2273367" cy="2195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2164525-57A2-41E9-954E-D5B9F2362A15}"/>
                </a:ext>
              </a:extLst>
            </p:cNvPr>
            <p:cNvSpPr/>
            <p:nvPr/>
          </p:nvSpPr>
          <p:spPr>
            <a:xfrm>
              <a:off x="3585029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002060"/>
                  </a:solidFill>
                </a:rPr>
                <a:t>?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EE6BABF-6096-445A-A424-4B53273E5377}"/>
                </a:ext>
              </a:extLst>
            </p:cNvPr>
            <p:cNvSpPr/>
            <p:nvPr/>
          </p:nvSpPr>
          <p:spPr>
            <a:xfrm>
              <a:off x="3810589" y="2452933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58274B0-88C6-4741-873B-6EF0157D8272}"/>
                </a:ext>
              </a:extLst>
            </p:cNvPr>
            <p:cNvSpPr/>
            <p:nvPr/>
          </p:nvSpPr>
          <p:spPr>
            <a:xfrm>
              <a:off x="4006522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152" name="Picture 8" descr="「person icon」的圖片搜尋結果">
              <a:extLst>
                <a:ext uri="{FF2B5EF4-FFF2-40B4-BE49-F238E27FC236}">
                  <a16:creationId xmlns:a16="http://schemas.microsoft.com/office/drawing/2014/main" id="{D81E106D-1D5C-489F-8A0C-2C944D1683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723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8" descr="「person icon」的圖片搜尋結果">
              <a:extLst>
                <a:ext uri="{FF2B5EF4-FFF2-40B4-BE49-F238E27FC236}">
                  <a16:creationId xmlns:a16="http://schemas.microsoft.com/office/drawing/2014/main" id="{A6C34F9C-30F9-4FEA-84AE-0210C8728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191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8" descr="「person icon」的圖片搜尋結果">
              <a:extLst>
                <a:ext uri="{FF2B5EF4-FFF2-40B4-BE49-F238E27FC236}">
                  <a16:creationId xmlns:a16="http://schemas.microsoft.com/office/drawing/2014/main" id="{E0C33B88-FDE6-4597-B842-2671A5E48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164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8" descr="「person icon」的圖片搜尋結果">
              <a:extLst>
                <a:ext uri="{FF2B5EF4-FFF2-40B4-BE49-F238E27FC236}">
                  <a16:creationId xmlns:a16="http://schemas.microsoft.com/office/drawing/2014/main" id="{71FCA86B-E7D3-4BB9-A811-430362674D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3844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C9864DA-7EE2-4373-B34D-11289F0CD295}"/>
                </a:ext>
              </a:extLst>
            </p:cNvPr>
            <p:cNvSpPr/>
            <p:nvPr/>
          </p:nvSpPr>
          <p:spPr>
            <a:xfrm>
              <a:off x="4263447" y="2452933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72645-5211-4D91-A265-E7BAA0332E92}"/>
                </a:ext>
              </a:extLst>
            </p:cNvPr>
            <p:cNvSpPr/>
            <p:nvPr/>
          </p:nvSpPr>
          <p:spPr>
            <a:xfrm>
              <a:off x="4459380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109" name="直線單箭頭接點 4108">
              <a:extLst>
                <a:ext uri="{FF2B5EF4-FFF2-40B4-BE49-F238E27FC236}">
                  <a16:creationId xmlns:a16="http://schemas.microsoft.com/office/drawing/2014/main" id="{D82D9E87-2827-4B54-8080-41FC55A64946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3744686" y="2804322"/>
              <a:ext cx="225560" cy="87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>
              <a:extLst>
                <a:ext uri="{FF2B5EF4-FFF2-40B4-BE49-F238E27FC236}">
                  <a16:creationId xmlns:a16="http://schemas.microsoft.com/office/drawing/2014/main" id="{6DFF2626-2598-49D7-8DC5-B5F1865A5531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970246" y="2930331"/>
              <a:ext cx="403514" cy="726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6F3F36AF-6545-445D-9A2E-B4D118E512A4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4166179" y="2804322"/>
              <a:ext cx="615168" cy="852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>
              <a:extLst>
                <a:ext uri="{FF2B5EF4-FFF2-40B4-BE49-F238E27FC236}">
                  <a16:creationId xmlns:a16="http://schemas.microsoft.com/office/drawing/2014/main" id="{C4118FB2-7024-4094-8C32-2F07DFFE6003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>
              <a:off x="4423104" y="2930331"/>
              <a:ext cx="785173" cy="726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30BCA03-3774-4F31-B00D-BA165170038C}"/>
                </a:ext>
              </a:extLst>
            </p:cNvPr>
            <p:cNvSpPr/>
            <p:nvPr/>
          </p:nvSpPr>
          <p:spPr>
            <a:xfrm>
              <a:off x="4733796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1675E19-B862-4711-9DE7-B0B89ABCAF26}"/>
                </a:ext>
              </a:extLst>
            </p:cNvPr>
            <p:cNvSpPr/>
            <p:nvPr/>
          </p:nvSpPr>
          <p:spPr>
            <a:xfrm>
              <a:off x="4930048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8AEF2312-8E7E-4AFB-8E5F-C56E7ABF12BD}"/>
                </a:ext>
              </a:extLst>
            </p:cNvPr>
            <p:cNvSpPr/>
            <p:nvPr/>
          </p:nvSpPr>
          <p:spPr>
            <a:xfrm>
              <a:off x="5186973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F067CA61-D828-41E8-8AEA-D71F55FF827B}"/>
                </a:ext>
              </a:extLst>
            </p:cNvPr>
            <p:cNvSpPr/>
            <p:nvPr/>
          </p:nvSpPr>
          <p:spPr>
            <a:xfrm>
              <a:off x="5382906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0F23015-0D72-412B-9D94-8D988BCBB006}"/>
                </a:ext>
              </a:extLst>
            </p:cNvPr>
            <p:cNvSpPr/>
            <p:nvPr/>
          </p:nvSpPr>
          <p:spPr>
            <a:xfrm>
              <a:off x="5657322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5" name="直線單箭頭接點 104">
              <a:extLst>
                <a:ext uri="{FF2B5EF4-FFF2-40B4-BE49-F238E27FC236}">
                  <a16:creationId xmlns:a16="http://schemas.microsoft.com/office/drawing/2014/main" id="{4F6B58E6-90EA-432F-80C7-4242ABBF5CBE}"/>
                </a:ext>
              </a:extLst>
            </p:cNvPr>
            <p:cNvCxnSpPr>
              <a:cxnSpLocks/>
              <a:stCxn id="85" idx="2"/>
            </p:cNvCxnSpPr>
            <p:nvPr/>
          </p:nvCxnSpPr>
          <p:spPr>
            <a:xfrm>
              <a:off x="4619037" y="2804322"/>
              <a:ext cx="967232" cy="87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4" name="Picture 8" descr="「person icon」的圖片搜尋結果">
              <a:extLst>
                <a:ext uri="{FF2B5EF4-FFF2-40B4-BE49-F238E27FC236}">
                  <a16:creationId xmlns:a16="http://schemas.microsoft.com/office/drawing/2014/main" id="{204AE82E-0D92-46F6-873A-04B9F9EC6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919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FA0042F-1F0B-41EF-91CE-53F4A356CD80}"/>
                </a:ext>
              </a:extLst>
            </p:cNvPr>
            <p:cNvSpPr/>
            <p:nvPr/>
          </p:nvSpPr>
          <p:spPr>
            <a:xfrm>
              <a:off x="5905509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1CE15F-0315-4C42-9787-4BB872F1D453}"/>
                </a:ext>
              </a:extLst>
            </p:cNvPr>
            <p:cNvSpPr/>
            <p:nvPr/>
          </p:nvSpPr>
          <p:spPr>
            <a:xfrm>
              <a:off x="6162434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9C9E9812-DA19-4379-8EA5-53737B7B54F2}"/>
                </a:ext>
              </a:extLst>
            </p:cNvPr>
            <p:cNvSpPr/>
            <p:nvPr/>
          </p:nvSpPr>
          <p:spPr>
            <a:xfrm>
              <a:off x="6358367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28B3A16D-88D9-4637-B686-E11174B7E03D}"/>
                </a:ext>
              </a:extLst>
            </p:cNvPr>
            <p:cNvSpPr/>
            <p:nvPr/>
          </p:nvSpPr>
          <p:spPr>
            <a:xfrm>
              <a:off x="6632783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C2673CB-A489-476D-8F62-A1F6E51E5027}"/>
                </a:ext>
              </a:extLst>
            </p:cNvPr>
            <p:cNvSpPr/>
            <p:nvPr/>
          </p:nvSpPr>
          <p:spPr>
            <a:xfrm>
              <a:off x="6897186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2138D78-BF2F-4157-93BF-5BDC34B177E5}"/>
                </a:ext>
              </a:extLst>
            </p:cNvPr>
            <p:cNvSpPr/>
            <p:nvPr/>
          </p:nvSpPr>
          <p:spPr>
            <a:xfrm>
              <a:off x="7154111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2BFB47EF-B9AF-4D09-B7F5-000F8B8E5967}"/>
                </a:ext>
              </a:extLst>
            </p:cNvPr>
            <p:cNvSpPr/>
            <p:nvPr/>
          </p:nvSpPr>
          <p:spPr>
            <a:xfrm>
              <a:off x="7350044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7EF01AC5-A8D2-46CD-BA26-03FAA7C63963}"/>
                </a:ext>
              </a:extLst>
            </p:cNvPr>
            <p:cNvSpPr/>
            <p:nvPr/>
          </p:nvSpPr>
          <p:spPr>
            <a:xfrm>
              <a:off x="7624460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EBC11C4-A276-4AD1-A7BC-1D8D92E7E4AE}"/>
                </a:ext>
              </a:extLst>
            </p:cNvPr>
            <p:cNvSpPr/>
            <p:nvPr/>
          </p:nvSpPr>
          <p:spPr>
            <a:xfrm>
              <a:off x="7885344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5761E31E-26B2-4E5B-95CB-F216F9A6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253" y="2065424"/>
            <a:ext cx="4708405" cy="3686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0A2537D-725F-4360-9DEE-68B37E897AB4}"/>
              </a:ext>
            </a:extLst>
          </p:cNvPr>
          <p:cNvSpPr/>
          <p:nvPr/>
        </p:nvSpPr>
        <p:spPr>
          <a:xfrm>
            <a:off x="1500845" y="5882260"/>
            <a:ext cx="6629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0,0,0,0,0,1,0,0,1,0,1,1,0,0,1,1,1,1,1,0,0,0,1,1,0,1,1,1,0,1,0,1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118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https://zhouer.org/DeBruijn/e23.png">
            <a:extLst>
              <a:ext uri="{FF2B5EF4-FFF2-40B4-BE49-F238E27FC236}">
                <a16:creationId xmlns:a16="http://schemas.microsoft.com/office/drawing/2014/main" id="{8EE04035-CCD8-48C8-B395-89A03DFA0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437" y="2936145"/>
            <a:ext cx="2846767" cy="278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novo assembly(2/2)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77657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bruijn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-graph(DBG)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Bruijn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graph: </a:t>
            </a:r>
          </a:p>
          <a:p>
            <a:pPr lvl="1">
              <a:lnSpc>
                <a:spcPct val="150000"/>
              </a:lnSpc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G(k, n)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種符號組成，長度為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的所有序列為頂點形成的有向圖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218" name="Picture 2" descr="https://zhouer.org/DeBruijn/h23.png">
            <a:extLst>
              <a:ext uri="{FF2B5EF4-FFF2-40B4-BE49-F238E27FC236}">
                <a16:creationId xmlns:a16="http://schemas.microsoft.com/office/drawing/2014/main" id="{53256654-5E08-45DD-A4F9-66BC97B73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74" y="2751479"/>
            <a:ext cx="3732592" cy="359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A9722C2-7577-4F1A-926C-A6264447A01A}"/>
              </a:ext>
            </a:extLst>
          </p:cNvPr>
          <p:cNvSpPr/>
          <p:nvPr/>
        </p:nvSpPr>
        <p:spPr>
          <a:xfrm>
            <a:off x="930264" y="2782257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G(2, 3)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13DE90-C475-44BF-A354-DC96B53030AF}"/>
              </a:ext>
            </a:extLst>
          </p:cNvPr>
          <p:cNvSpPr/>
          <p:nvPr/>
        </p:nvSpPr>
        <p:spPr>
          <a:xfrm>
            <a:off x="4085809" y="2751479"/>
            <a:ext cx="11916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10111000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A614B7-32D9-4098-853C-7938B6F899B2}"/>
              </a:ext>
            </a:extLst>
          </p:cNvPr>
          <p:cNvSpPr/>
          <p:nvPr/>
        </p:nvSpPr>
        <p:spPr>
          <a:xfrm>
            <a:off x="7225393" y="3186066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G(2, 2)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4B70D7-093F-4F31-ADB7-B58D3527FF60}"/>
              </a:ext>
            </a:extLst>
          </p:cNvPr>
          <p:cNvSpPr/>
          <p:nvPr/>
        </p:nvSpPr>
        <p:spPr>
          <a:xfrm>
            <a:off x="401155" y="1562100"/>
            <a:ext cx="8419602" cy="501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3D9397B-6CEE-40C4-A975-1C6E303D0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43" y="2456205"/>
            <a:ext cx="4214813" cy="39710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5896670-D379-4871-A175-F77EA2FAA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944" y="3052623"/>
            <a:ext cx="4136901" cy="1862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75E62FD-DE24-4DED-BF5D-C98DC007B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663" y="1640418"/>
            <a:ext cx="37719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8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AFE-569F-43E7-9A55-B626610B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2790AFBB-E19E-4279-80D6-E7318467133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830468-D7C6-4270-BFCB-F128ECB4D495}"/>
              </a:ext>
            </a:extLst>
          </p:cNvPr>
          <p:cNvSpPr/>
          <p:nvPr/>
        </p:nvSpPr>
        <p:spPr>
          <a:xfrm>
            <a:off x="532272" y="1069876"/>
            <a:ext cx="807945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called</a:t>
            </a:r>
            <a:r>
              <a:rPr lang="zh-TW" alt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block-sorting compression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Rearranging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 character string into runs of similar characters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compress a string that has runs of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characters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altLang="zh-TW" sz="2400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banana</a:t>
            </a:r>
            <a:endParaRPr lang="zh-TW" altLang="en-US" sz="2400" dirty="0">
              <a:solidFill>
                <a:srgbClr val="222222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8C3FD1-7FD3-4D90-9F0D-C5CDAB3C2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05817"/>
            <a:ext cx="1422400" cy="224676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$ b a n a n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$ b a n a n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 a $ b a n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n a $ b a n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 a n a $ b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n a n a $ b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 a n a n a $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BDDE08F-8E0E-4E34-B716-2545A3504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528" y="3905817"/>
            <a:ext cx="1607472" cy="224676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a n a n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 b a n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a $ b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a n a $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 a n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$ b a n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 a $ b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75583-E49E-459E-9F8B-D84401922340}"/>
              </a:ext>
            </a:extLst>
          </p:cNvPr>
          <p:cNvSpPr/>
          <p:nvPr/>
        </p:nvSpPr>
        <p:spPr>
          <a:xfrm>
            <a:off x="2655431" y="4659869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Sort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73CD8C-45CB-413F-A18E-AAF057FAC8EE}"/>
              </a:ext>
            </a:extLst>
          </p:cNvPr>
          <p:cNvCxnSpPr/>
          <p:nvPr/>
        </p:nvCxnSpPr>
        <p:spPr>
          <a:xfrm>
            <a:off x="2434764" y="5029201"/>
            <a:ext cx="1193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1457553-E447-4B43-B0E5-B9217BC344A9}"/>
              </a:ext>
            </a:extLst>
          </p:cNvPr>
          <p:cNvSpPr/>
          <p:nvPr/>
        </p:nvSpPr>
        <p:spPr>
          <a:xfrm>
            <a:off x="5558222" y="4659869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Output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5437609-A3B9-4563-AE63-0FB88E1F2A4F}"/>
              </a:ext>
            </a:extLst>
          </p:cNvPr>
          <p:cNvCxnSpPr/>
          <p:nvPr/>
        </p:nvCxnSpPr>
        <p:spPr>
          <a:xfrm>
            <a:off x="5431964" y="5029201"/>
            <a:ext cx="1193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DFD6E4B-B886-4263-8342-C28BECF39DB0}"/>
              </a:ext>
            </a:extLst>
          </p:cNvPr>
          <p:cNvSpPr/>
          <p:nvPr/>
        </p:nvSpPr>
        <p:spPr>
          <a:xfrm>
            <a:off x="6979752" y="4751714"/>
            <a:ext cx="1378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annb$aa</a:t>
            </a:r>
            <a:endParaRPr lang="zh-TW" alt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92B007-8447-464D-BAD2-77E2F876BFDA}"/>
              </a:ext>
            </a:extLst>
          </p:cNvPr>
          <p:cNvSpPr/>
          <p:nvPr/>
        </p:nvSpPr>
        <p:spPr>
          <a:xfrm>
            <a:off x="6257693" y="798037"/>
            <a:ext cx="1261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2060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FM-index</a:t>
            </a:r>
            <a:endParaRPr lang="zh-TW" altLang="en-US" sz="2000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05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CCB9AC2-57A8-4168-AB78-CD341307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31" y="1564258"/>
            <a:ext cx="5722026" cy="44820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B41E603-6303-485D-8F63-944D8B5BD287}"/>
              </a:ext>
            </a:extLst>
          </p:cNvPr>
          <p:cNvSpPr/>
          <p:nvPr/>
        </p:nvSpPr>
        <p:spPr>
          <a:xfrm>
            <a:off x="2865899" y="5974319"/>
            <a:ext cx="2351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pipeline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2685472" y="811060"/>
            <a:ext cx="54988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 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 assembly 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Scaffolding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58D5CC-40F9-4BCC-8FC8-CEE233DDF0EA}"/>
              </a:ext>
            </a:extLst>
          </p:cNvPr>
          <p:cNvSpPr/>
          <p:nvPr/>
        </p:nvSpPr>
        <p:spPr>
          <a:xfrm>
            <a:off x="2435914" y="1470141"/>
            <a:ext cx="1208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FM-index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0C4EF-999E-4F0C-ADA0-837879F0E510}"/>
              </a:ext>
            </a:extLst>
          </p:cNvPr>
          <p:cNvSpPr/>
          <p:nvPr/>
        </p:nvSpPr>
        <p:spPr>
          <a:xfrm>
            <a:off x="1945615" y="2435278"/>
            <a:ext cx="18667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CAB197-4B4B-43A4-9223-AD719F1E09AA}"/>
              </a:ext>
            </a:extLst>
          </p:cNvPr>
          <p:cNvSpPr/>
          <p:nvPr/>
        </p:nvSpPr>
        <p:spPr>
          <a:xfrm>
            <a:off x="4008906" y="3381246"/>
            <a:ext cx="43236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and low-quality reads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F408EF-FB37-42E0-945A-598BCA3AF915}"/>
              </a:ext>
            </a:extLst>
          </p:cNvPr>
          <p:cNvSpPr/>
          <p:nvPr/>
        </p:nvSpPr>
        <p:spPr>
          <a:xfrm>
            <a:off x="1886817" y="4477728"/>
            <a:ext cx="1925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contigs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07DE8-8D04-41BF-9A07-568DE9F7E99D}"/>
              </a:ext>
            </a:extLst>
          </p:cNvPr>
          <p:cNvSpPr/>
          <p:nvPr/>
        </p:nvSpPr>
        <p:spPr>
          <a:xfrm>
            <a:off x="4255126" y="5004408"/>
            <a:ext cx="43529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reads and contigs by BWA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77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673ABB2-1E4B-443F-856B-FBA1DD1BF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084871"/>
            <a:ext cx="7886700" cy="3779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DA1950-37BA-4AFF-A14F-3326E367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05C1E1-29A5-4007-A3F2-65B85D1DE7EC}"/>
              </a:ext>
            </a:extLst>
          </p:cNvPr>
          <p:cNvSpPr/>
          <p:nvPr/>
        </p:nvSpPr>
        <p:spPr>
          <a:xfrm>
            <a:off x="2540033" y="5855145"/>
            <a:ext cx="4063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 statistics for C. </a:t>
            </a:r>
            <a:r>
              <a:rPr lang="en-US" altLang="zh-TW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elegans</a:t>
            </a:r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set</a:t>
            </a:r>
            <a:endParaRPr lang="zh-TW" alt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03CB818-07A3-45B7-9309-84FFDF5B8429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elegans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</a:t>
            </a:r>
            <a:r>
              <a:rPr lang="zh-TW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(100Mbp)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F1159B-3B9A-4F84-A1C8-E167BAE4BD43}"/>
              </a:ext>
            </a:extLst>
          </p:cNvPr>
          <p:cNvSpPr/>
          <p:nvPr/>
        </p:nvSpPr>
        <p:spPr>
          <a:xfrm>
            <a:off x="1346657" y="1019384"/>
            <a:ext cx="4127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from the NCBI SRA (accession SRX026594)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70AC0E7-5EB7-483E-B0AA-005DFE777ACB}"/>
              </a:ext>
            </a:extLst>
          </p:cNvPr>
          <p:cNvSpPr/>
          <p:nvPr/>
        </p:nvSpPr>
        <p:spPr>
          <a:xfrm>
            <a:off x="471956" y="5495339"/>
            <a:ext cx="3429538" cy="21949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179227-5D93-422B-84E0-29C6FFCE79F2}"/>
              </a:ext>
            </a:extLst>
          </p:cNvPr>
          <p:cNvSpPr/>
          <p:nvPr/>
        </p:nvSpPr>
        <p:spPr>
          <a:xfrm>
            <a:off x="6945690" y="3707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秀麗隱桿線蟲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124" name="Picture 4" descr="「秀麗隱桿線蟲」的圖片搜尋結果">
            <a:extLst>
              <a:ext uri="{FF2B5EF4-FFF2-40B4-BE49-F238E27FC236}">
                <a16:creationId xmlns:a16="http://schemas.microsoft.com/office/drawing/2014/main" id="{4B4AB7C9-734C-46C4-856A-F362311D5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087" y="719990"/>
            <a:ext cx="1781916" cy="108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38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AC50E-B733-4CB3-9955-221005B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D9F2699-9FAB-4A48-98E8-75195249647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coverage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D42ED-14B7-4437-8C10-2E6FEC3641DF}"/>
              </a:ext>
            </a:extLst>
          </p:cNvPr>
          <p:cNvSpPr/>
          <p:nvPr/>
        </p:nvSpPr>
        <p:spPr>
          <a:xfrm>
            <a:off x="532272" y="1069876"/>
            <a:ext cx="78263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whether strings from the consensus sequence were exactly present in the contigs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Contigs must be: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Contiguous </a:t>
            </a:r>
            <a:endParaRPr lang="zh-TW" alt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096AE55-93D6-400B-A6B9-7C4BC5E9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388" y="2379155"/>
            <a:ext cx="4245936" cy="3803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4751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3C142-BE95-4B92-8357-C65D5B6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4F6B907-8E89-4AA8-AAC4-854A4A340A52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 and memory summary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3C9FFA0-F2E5-4F29-AE11-C7152C95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" y="1708896"/>
            <a:ext cx="8372475" cy="3667125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FB4320EE-BD97-4BC0-963A-FDE3F3CF86C4}"/>
              </a:ext>
            </a:extLst>
          </p:cNvPr>
          <p:cNvSpPr/>
          <p:nvPr/>
        </p:nvSpPr>
        <p:spPr>
          <a:xfrm>
            <a:off x="5863901" y="2459567"/>
            <a:ext cx="982134" cy="7027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F502D0-3B45-4959-BFA7-B0EB28AEA7A1}"/>
              </a:ext>
            </a:extLst>
          </p:cNvPr>
          <p:cNvSpPr/>
          <p:nvPr/>
        </p:nvSpPr>
        <p:spPr>
          <a:xfrm>
            <a:off x="2515133" y="998092"/>
            <a:ext cx="3343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for SGA human genome assembly</a:t>
            </a:r>
            <a:endParaRPr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ED583EF-1629-452B-AFDD-58944F0B4B45}"/>
              </a:ext>
            </a:extLst>
          </p:cNvPr>
          <p:cNvGrpSpPr/>
          <p:nvPr/>
        </p:nvGrpSpPr>
        <p:grpSpPr>
          <a:xfrm>
            <a:off x="385762" y="5376021"/>
            <a:ext cx="7964431" cy="400110"/>
            <a:chOff x="471956" y="5569428"/>
            <a:chExt cx="7964431" cy="4001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77B7D15-46A0-4E3D-83EC-9D7F4837C600}"/>
                </a:ext>
              </a:extLst>
            </p:cNvPr>
            <p:cNvSpPr/>
            <p:nvPr/>
          </p:nvSpPr>
          <p:spPr>
            <a:xfrm>
              <a:off x="471956" y="5569428"/>
              <a:ext cx="159691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SOAPdenovo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E4C0A02-A829-4DD1-A4B8-1EA148C1B1B6}"/>
                </a:ext>
              </a:extLst>
            </p:cNvPr>
            <p:cNvSpPr/>
            <p:nvPr/>
          </p:nvSpPr>
          <p:spPr>
            <a:xfrm>
              <a:off x="5955660" y="5569428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479hr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BAF2AA-4FF0-4068-B5F1-212F86A905E3}"/>
                </a:ext>
              </a:extLst>
            </p:cNvPr>
            <p:cNvSpPr/>
            <p:nvPr/>
          </p:nvSpPr>
          <p:spPr>
            <a:xfrm>
              <a:off x="4685660" y="5569428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121hr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F2C5054-2DD7-48ED-960F-7E53EE8E2D30}"/>
                </a:ext>
              </a:extLst>
            </p:cNvPr>
            <p:cNvSpPr/>
            <p:nvPr/>
          </p:nvSpPr>
          <p:spPr>
            <a:xfrm>
              <a:off x="7454900" y="5569428"/>
              <a:ext cx="9814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118 GB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71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4B4EA4D-79CA-49E6-A0CF-575DAD434141}"/>
              </a:ext>
            </a:extLst>
          </p:cNvPr>
          <p:cNvSpPr/>
          <p:nvPr/>
        </p:nvSpPr>
        <p:spPr>
          <a:xfrm>
            <a:off x="471956" y="1110172"/>
            <a:ext cx="7071844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3"/>
              </a:rPr>
              <a:t>https://en.wikipedia.org/wiki/Sequence_assembly</a:t>
            </a: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3"/>
              </a:rPr>
              <a:t>https://zhouer.org/DeBruijn/</a:t>
            </a: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70C0"/>
                </a:solidFill>
                <a:hlinkClick r:id="rId3"/>
              </a:rPr>
              <a:t>ftp://ftp.sanger.ac.uk/pub/resources/theses/js18/chapter3.pdf</a:t>
            </a: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4"/>
              </a:rPr>
              <a:t>https://github.com/jts/sga</a:t>
            </a: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3C142-BE95-4B92-8357-C65D5B6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4F6B907-8E89-4AA8-AAC4-854A4A340A52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3079EE-88ED-4719-8FC2-30EB669B900D}"/>
              </a:ext>
            </a:extLst>
          </p:cNvPr>
          <p:cNvSpPr/>
          <p:nvPr/>
        </p:nvSpPr>
        <p:spPr>
          <a:xfrm>
            <a:off x="471956" y="1110172"/>
            <a:ext cx="2463880" cy="67403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Sequence assembly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De </a:t>
            </a:r>
            <a:r>
              <a:rPr lang="en-US" altLang="zh-TW" b="1" dirty="0" err="1">
                <a:solidFill>
                  <a:srgbClr val="002060"/>
                </a:solidFill>
              </a:rPr>
              <a:t>Bruijn</a:t>
            </a:r>
            <a:r>
              <a:rPr lang="en-US" altLang="zh-TW" b="1" dirty="0">
                <a:solidFill>
                  <a:srgbClr val="002060"/>
                </a:solidFill>
              </a:rPr>
              <a:t> sequence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The SGA Assembler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SGA – </a:t>
            </a:r>
            <a:r>
              <a:rPr lang="en-US" altLang="zh-TW" b="1" dirty="0" err="1">
                <a:solidFill>
                  <a:srgbClr val="002060"/>
                </a:solidFill>
              </a:rPr>
              <a:t>Github</a:t>
            </a:r>
            <a:r>
              <a:rPr lang="en-US" altLang="zh-TW" b="1" dirty="0">
                <a:solidFill>
                  <a:srgbClr val="002060"/>
                </a:solidFill>
              </a:rPr>
              <a:t>(Software)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7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25813</TotalTime>
  <Words>787</Words>
  <Application>Microsoft Office PowerPoint</Application>
  <PresentationFormat>如螢幕大小 (4:3)</PresentationFormat>
  <Paragraphs>138</Paragraphs>
  <Slides>13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-apple-system</vt:lpstr>
      <vt:lpstr>Microsoft YaHei</vt:lpstr>
      <vt:lpstr>新細明體</vt:lpstr>
      <vt:lpstr>標楷體</vt:lpstr>
      <vt:lpstr>Arial</vt:lpstr>
      <vt:lpstr>Arial Rounded MT Bold</vt:lpstr>
      <vt:lpstr>Bahnschrift SemiBold</vt:lpstr>
      <vt:lpstr>Calibri</vt:lpstr>
      <vt:lpstr>Calibri Light</vt:lpstr>
      <vt:lpstr>Courier New</vt:lpstr>
      <vt:lpstr>Times New Roman</vt:lpstr>
      <vt:lpstr>Office 佈景主題</vt:lpstr>
      <vt:lpstr>Efficient de novo assembly of large genomes using compressed data structures elements</vt:lpstr>
      <vt:lpstr>Abstract(1/2)</vt:lpstr>
      <vt:lpstr>Abstract(2/2)</vt:lpstr>
      <vt:lpstr>Sequence assembly</vt:lpstr>
      <vt:lpstr>De novo assembly(1/3)</vt:lpstr>
      <vt:lpstr>De novo assembly(2/3)</vt:lpstr>
      <vt:lpstr>De novo assembly(2/2)</vt:lpstr>
      <vt:lpstr>PowerPoint 簡報</vt:lpstr>
      <vt:lpstr>Overview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206</cp:revision>
  <dcterms:created xsi:type="dcterms:W3CDTF">2017-09-25T08:45:50Z</dcterms:created>
  <dcterms:modified xsi:type="dcterms:W3CDTF">2018-01-30T09:56:12Z</dcterms:modified>
</cp:coreProperties>
</file>