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86" r:id="rId4"/>
    <p:sldId id="287" r:id="rId5"/>
    <p:sldId id="289" r:id="rId6"/>
    <p:sldId id="290" r:id="rId7"/>
    <p:sldId id="291" r:id="rId8"/>
    <p:sldId id="292" r:id="rId9"/>
    <p:sldId id="293" r:id="rId10"/>
    <p:sldId id="294" r:id="rId11"/>
    <p:sldId id="305" r:id="rId12"/>
    <p:sldId id="295" r:id="rId13"/>
    <p:sldId id="296" r:id="rId14"/>
    <p:sldId id="297" r:id="rId15"/>
    <p:sldId id="298" r:id="rId16"/>
    <p:sldId id="299" r:id="rId17"/>
    <p:sldId id="300" r:id="rId18"/>
    <p:sldId id="301" r:id="rId19"/>
    <p:sldId id="302" r:id="rId20"/>
    <p:sldId id="303" r:id="rId21"/>
    <p:sldId id="30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88592" autoAdjust="0"/>
  </p:normalViewPr>
  <p:slideViewPr>
    <p:cSldViewPr snapToGrid="0">
      <p:cViewPr varScale="1">
        <p:scale>
          <a:sx n="61" d="100"/>
          <a:sy n="61" d="100"/>
        </p:scale>
        <p:origin x="1520"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2018/9/25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mn-lt"/>
                <a:ea typeface="+mn-ea"/>
                <a:cs typeface="+mn-cs"/>
              </a:rPr>
              <a:t>https://www.google.com.tw/maps/place/%E6%96%AF%E7%89%B9%E6%8B%89%E6%96%AF%E5%85%8B%E8%90%8A%E5%BE%B7%E5%A4%A7%E5%AD%B8/@55.9604939,-5.243658,8z/data=!4m5!3m4!1s0x4888441df658a4b5:0x60143d33c0e3adbe!8m2!3d55.8621213!4d-4.2422837</a:t>
            </a:r>
          </a:p>
          <a:p>
            <a:r>
              <a:rPr lang="en-US" altLang="zh-TW" sz="1200" b="0" i="0" kern="1200" dirty="0" smtClean="0">
                <a:solidFill>
                  <a:schemeClr val="tx1"/>
                </a:solidFill>
                <a:effectLst/>
                <a:latin typeface="+mn-lt"/>
                <a:ea typeface="+mn-ea"/>
                <a:cs typeface="+mn-cs"/>
              </a:rPr>
              <a:t>https://www.google.com.tw/maps/place/%E9%87%9C%E5%B1%B1%E5%A4%A7%E5%AD%B8/@35.2324603,129.0644651,14z/data=!4m5!3m4!1s0x0:0x43d6042e21f10697!8m2!3d35.2331576!4d129.07951</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mn-lt"/>
                <a:ea typeface="+mn-ea"/>
                <a:cs typeface="+mn-cs"/>
              </a:rPr>
              <a:t>https://www.google.com.tw/maps/place/%E6%8C%AA%E5%A8%81%E5%A5%A7%E6%96%AF%E9%99%B8/@59.8948518,10.6353454,11z/data=!4m5!3m4!1s0x46416e61f267f039:0x7e92605fd3231e9a!8m2!3d59.9139019!4d10.752182</a:t>
            </a:r>
          </a:p>
          <a:p>
            <a:r>
              <a:rPr lang="zh-TW" altLang="en-US" sz="1200" b="0" i="0" kern="1200" dirty="0" smtClean="0">
                <a:solidFill>
                  <a:schemeClr val="tx1"/>
                </a:solidFill>
                <a:effectLst/>
                <a:latin typeface="+mn-lt"/>
                <a:ea typeface="+mn-ea"/>
                <a:cs typeface="+mn-cs"/>
              </a:rPr>
              <a:t>挪威商立恩威驗證股份有限公司</a:t>
            </a:r>
            <a:r>
              <a:rPr lang="en-US" altLang="zh-TW" sz="1200" b="0" i="0" kern="1200" dirty="0" smtClean="0">
                <a:solidFill>
                  <a:schemeClr val="tx1"/>
                </a:solidFill>
                <a:effectLst/>
                <a:latin typeface="+mn-lt"/>
                <a:ea typeface="+mn-ea"/>
                <a:cs typeface="+mn-cs"/>
              </a:rPr>
              <a:t>( DET NORSKE VERITAS</a:t>
            </a:r>
            <a:r>
              <a:rPr lang="zh-TW" altLang="en-US" sz="1200" b="0" i="0" kern="1200" dirty="0" smtClean="0">
                <a:solidFill>
                  <a:schemeClr val="tx1"/>
                </a:solidFill>
                <a:effectLst/>
                <a:latin typeface="+mn-lt"/>
                <a:ea typeface="+mn-ea"/>
                <a:cs typeface="+mn-cs"/>
              </a:rPr>
              <a:t>，簡稱</a:t>
            </a:r>
            <a:r>
              <a:rPr lang="en-US" altLang="zh-TW" sz="1200" b="0" i="0" kern="1200" dirty="0" smtClean="0">
                <a:solidFill>
                  <a:schemeClr val="tx1"/>
                </a:solidFill>
                <a:effectLst/>
                <a:latin typeface="+mn-lt"/>
                <a:ea typeface="+mn-ea"/>
                <a:cs typeface="+mn-cs"/>
              </a:rPr>
              <a:t>DNV)</a:t>
            </a:r>
            <a:r>
              <a:rPr lang="zh-TW" altLang="en-US" sz="1200" b="0" i="0" kern="1200" dirty="0" smtClean="0">
                <a:solidFill>
                  <a:schemeClr val="tx1"/>
                </a:solidFill>
                <a:effectLst/>
                <a:latin typeface="+mn-lt"/>
                <a:ea typeface="+mn-ea"/>
                <a:cs typeface="+mn-cs"/>
              </a:rPr>
              <a:t>創立於</a:t>
            </a:r>
            <a:r>
              <a:rPr lang="en-US" altLang="zh-TW" sz="1200" b="0" i="0" kern="1200" dirty="0" smtClean="0">
                <a:solidFill>
                  <a:schemeClr val="tx1"/>
                </a:solidFill>
                <a:effectLst/>
                <a:latin typeface="+mn-lt"/>
                <a:ea typeface="+mn-ea"/>
                <a:cs typeface="+mn-cs"/>
              </a:rPr>
              <a:t>1864</a:t>
            </a:r>
            <a:r>
              <a:rPr lang="zh-TW" altLang="en-US" sz="1200" b="0" i="0" kern="1200" dirty="0" smtClean="0">
                <a:solidFill>
                  <a:schemeClr val="tx1"/>
                </a:solidFill>
                <a:effectLst/>
                <a:latin typeface="+mn-lt"/>
                <a:ea typeface="+mn-ea"/>
                <a:cs typeface="+mn-cs"/>
              </a:rPr>
              <a:t>年，總部位於挪威奧斯陸，</a:t>
            </a:r>
            <a:endParaRPr lang="en-US" altLang="zh-TW" sz="1200" b="0" i="0" kern="1200" dirty="0" smtClean="0">
              <a:solidFill>
                <a:schemeClr val="tx1"/>
              </a:solidFill>
              <a:effectLst/>
              <a:latin typeface="+mn-lt"/>
              <a:ea typeface="+mn-ea"/>
              <a:cs typeface="+mn-cs"/>
            </a:endParaRPr>
          </a:p>
          <a:p>
            <a:r>
              <a:rPr lang="en-US" altLang="zh-TW" sz="1200" b="0" i="0" kern="1200" dirty="0" smtClean="0">
                <a:solidFill>
                  <a:schemeClr val="tx1"/>
                </a:solidFill>
                <a:effectLst/>
                <a:latin typeface="+mn-lt"/>
                <a:ea typeface="+mn-ea"/>
                <a:cs typeface="+mn-cs"/>
              </a:rPr>
              <a:t>1.</a:t>
            </a:r>
            <a:r>
              <a:rPr lang="zh-TW" altLang="en-US" sz="1200" b="0" i="0" kern="1200" dirty="0" smtClean="0">
                <a:solidFill>
                  <a:schemeClr val="tx1"/>
                </a:solidFill>
                <a:effectLst/>
                <a:latin typeface="+mn-lt"/>
                <a:ea typeface="+mn-ea"/>
                <a:cs typeface="+mn-cs"/>
              </a:rPr>
              <a:t>船舶、機械、機械電氣設備檢驗</a:t>
            </a:r>
            <a:r>
              <a:rPr lang="zh-TW" altLang="en-US" dirty="0" smtClean="0"/>
              <a:t/>
            </a:r>
            <a:br>
              <a:rPr lang="zh-TW" altLang="en-US" dirty="0" smtClean="0"/>
            </a:br>
            <a:r>
              <a:rPr lang="en-US" altLang="zh-TW" sz="1200" b="0" i="0" kern="1200" dirty="0" smtClean="0">
                <a:solidFill>
                  <a:schemeClr val="tx1"/>
                </a:solidFill>
                <a:effectLst/>
                <a:latin typeface="+mn-lt"/>
                <a:ea typeface="+mn-ea"/>
                <a:cs typeface="+mn-cs"/>
              </a:rPr>
              <a:t>2.</a:t>
            </a:r>
            <a:r>
              <a:rPr lang="zh-TW" altLang="en-US" sz="1200" b="0" i="0" kern="1200" dirty="0" smtClean="0">
                <a:solidFill>
                  <a:schemeClr val="tx1"/>
                </a:solidFill>
                <a:effectLst/>
                <a:latin typeface="+mn-lt"/>
                <a:ea typeface="+mn-ea"/>
                <a:cs typeface="+mn-cs"/>
              </a:rPr>
              <a:t>海上探油平台、海陸油管檢驗</a:t>
            </a:r>
            <a:r>
              <a:rPr lang="zh-TW" altLang="en-US" dirty="0" smtClean="0"/>
              <a:t/>
            </a:r>
            <a:br>
              <a:rPr lang="zh-TW" altLang="en-US" dirty="0" smtClean="0"/>
            </a:br>
            <a:r>
              <a:rPr lang="en-US" altLang="zh-TW" sz="1200" b="0" i="0" kern="1200" dirty="0" smtClean="0">
                <a:solidFill>
                  <a:schemeClr val="tx1"/>
                </a:solidFill>
                <a:effectLst/>
                <a:latin typeface="+mn-lt"/>
                <a:ea typeface="+mn-ea"/>
                <a:cs typeface="+mn-cs"/>
              </a:rPr>
              <a:t>3.</a:t>
            </a:r>
            <a:r>
              <a:rPr lang="zh-TW" altLang="en-US" sz="1200" b="0" i="0" kern="1200" dirty="0" smtClean="0">
                <a:solidFill>
                  <a:schemeClr val="tx1"/>
                </a:solidFill>
                <a:effectLst/>
                <a:latin typeface="+mn-lt"/>
                <a:ea typeface="+mn-ea"/>
                <a:cs typeface="+mn-cs"/>
              </a:rPr>
              <a:t>技術顧問諮詢服務</a:t>
            </a:r>
            <a:endParaRPr lang="en-US"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目前全球共有</a:t>
            </a:r>
            <a:r>
              <a:rPr lang="en-US" altLang="zh-TW" sz="1200" b="0" i="0" kern="1200" dirty="0" smtClean="0">
                <a:solidFill>
                  <a:schemeClr val="tx1"/>
                </a:solidFill>
                <a:effectLst/>
                <a:latin typeface="+mn-lt"/>
                <a:ea typeface="+mn-ea"/>
                <a:cs typeface="+mn-cs"/>
              </a:rPr>
              <a:t>8,000</a:t>
            </a:r>
            <a:r>
              <a:rPr lang="zh-TW" altLang="en-US" sz="1200" b="0" i="0" kern="1200" dirty="0" smtClean="0">
                <a:solidFill>
                  <a:schemeClr val="tx1"/>
                </a:solidFill>
                <a:effectLst/>
                <a:latin typeface="+mn-lt"/>
                <a:ea typeface="+mn-ea"/>
                <a:cs typeface="+mn-cs"/>
              </a:rPr>
              <a:t>多名員工，超過</a:t>
            </a:r>
            <a:r>
              <a:rPr lang="en-US" altLang="zh-TW" sz="1200" b="0" i="0" kern="1200" dirty="0" smtClean="0">
                <a:solidFill>
                  <a:schemeClr val="tx1"/>
                </a:solidFill>
                <a:effectLst/>
                <a:latin typeface="+mn-lt"/>
                <a:ea typeface="+mn-ea"/>
                <a:cs typeface="+mn-cs"/>
              </a:rPr>
              <a:t>300</a:t>
            </a:r>
            <a:r>
              <a:rPr lang="zh-TW" altLang="en-US" sz="1200" b="0" i="0" kern="1200" dirty="0" smtClean="0">
                <a:solidFill>
                  <a:schemeClr val="tx1"/>
                </a:solidFill>
                <a:effectLst/>
                <a:latin typeface="+mn-lt"/>
                <a:ea typeface="+mn-ea"/>
                <a:cs typeface="+mn-cs"/>
              </a:rPr>
              <a:t>個分支機構分布於全球</a:t>
            </a:r>
            <a:r>
              <a:rPr lang="en-US" altLang="zh-TW" sz="1200" b="0" i="0" kern="1200" dirty="0" smtClean="0">
                <a:solidFill>
                  <a:schemeClr val="tx1"/>
                </a:solidFill>
                <a:effectLst/>
                <a:latin typeface="+mn-lt"/>
                <a:ea typeface="+mn-ea"/>
                <a:cs typeface="+mn-cs"/>
              </a:rPr>
              <a:t>100</a:t>
            </a:r>
            <a:r>
              <a:rPr lang="zh-TW" altLang="en-US" sz="1200" b="0" i="0" kern="1200" dirty="0" smtClean="0">
                <a:solidFill>
                  <a:schemeClr val="tx1"/>
                </a:solidFill>
                <a:effectLst/>
                <a:latin typeface="+mn-lt"/>
                <a:ea typeface="+mn-ea"/>
                <a:cs typeface="+mn-cs"/>
              </a:rPr>
              <a:t>多個國家中。目前台灣分公司在台北及高雄各設有辦公室。</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778214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3892022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2018/9/25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430922" y="1064304"/>
            <a:ext cx="8366235" cy="2006330"/>
          </a:xfrm>
        </p:spPr>
        <p:txBody>
          <a:bodyPr>
            <a:noAutofit/>
          </a:bodyPr>
          <a:lstStyle/>
          <a:p>
            <a:r>
              <a:rPr lang="en-US" altLang="zh-TW" sz="4000" dirty="0" err="1">
                <a:latin typeface="Times New Roman" panose="02020603050405020304" pitchFamily="18" charset="0"/>
                <a:cs typeface="Times New Roman" panose="02020603050405020304" pitchFamily="18" charset="0"/>
              </a:rPr>
              <a:t>Optimisation</a:t>
            </a:r>
            <a:r>
              <a:rPr lang="en-US" altLang="zh-TW" sz="4000" dirty="0">
                <a:latin typeface="Times New Roman" panose="02020603050405020304" pitchFamily="18" charset="0"/>
                <a:cs typeface="Times New Roman" panose="02020603050405020304" pitchFamily="18" charset="0"/>
              </a:rPr>
              <a:t> of pipeline route in the presence of obstacles based on a least</a:t>
            </a:r>
            <a:br>
              <a:rPr lang="en-US" altLang="zh-TW" sz="4000" dirty="0">
                <a:latin typeface="Times New Roman" panose="02020603050405020304" pitchFamily="18" charset="0"/>
                <a:cs typeface="Times New Roman" panose="02020603050405020304" pitchFamily="18" charset="0"/>
              </a:rPr>
            </a:br>
            <a:r>
              <a:rPr lang="en-US" altLang="zh-TW" sz="4000" dirty="0">
                <a:latin typeface="Times New Roman" panose="02020603050405020304" pitchFamily="18" charset="0"/>
                <a:cs typeface="Times New Roman" panose="02020603050405020304" pitchFamily="18" charset="0"/>
              </a:rPr>
              <a:t>cost path algorithm and </a:t>
            </a:r>
            <a:r>
              <a:rPr lang="en-US" altLang="zh-TW" sz="4000" dirty="0" err="1">
                <a:latin typeface="Times New Roman" panose="02020603050405020304" pitchFamily="18" charset="0"/>
                <a:cs typeface="Times New Roman" panose="02020603050405020304" pitchFamily="18" charset="0"/>
              </a:rPr>
              <a:t>laplacian</a:t>
            </a:r>
            <a:r>
              <a:rPr lang="en-US" altLang="zh-TW" sz="4000" dirty="0">
                <a:latin typeface="Times New Roman" panose="02020603050405020304" pitchFamily="18" charset="0"/>
                <a:cs typeface="Times New Roman" panose="02020603050405020304" pitchFamily="18" charset="0"/>
              </a:rPr>
              <a:t> smoothing</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70202" y="3451415"/>
            <a:ext cx="8526955" cy="433133"/>
          </a:xfrm>
        </p:spPr>
        <p:txBody>
          <a:bodyPr>
            <a:noAutofit/>
          </a:bodyPr>
          <a:lstStyle/>
          <a:p>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Ju</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Young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Kang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Byung</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Suk Lee</a:t>
            </a:r>
          </a:p>
          <a:p>
            <a:endParaRPr lang="zh-TW" altLang="en-US"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43474" y="5187639"/>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2018.09.26</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776243CF-D414-4295-8B1E-9BF6541E940C}"/>
              </a:ext>
            </a:extLst>
          </p:cNvPr>
          <p:cNvSpPr/>
          <p:nvPr/>
        </p:nvSpPr>
        <p:spPr>
          <a:xfrm>
            <a:off x="578066" y="4141209"/>
            <a:ext cx="8071945" cy="830997"/>
          </a:xfrm>
          <a:prstGeom prst="rect">
            <a:avLst/>
          </a:prstGeom>
        </p:spPr>
        <p:txBody>
          <a:bodyPr wrap="square">
            <a:spAutoFit/>
          </a:bodyPr>
          <a:lstStyle/>
          <a:p>
            <a:pPr algn="ct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International Journal of Naval Architecture and Ocean Engineering 9 (2017) </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492-498</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mc:Choice xmlns:p14="http://schemas.microsoft.com/office/powerpoint/2010/main" Requires="p14">
      <p:transition spd="slow" p14:dur="2000" advTm="2519"/>
    </mc:Choice>
    <mc:Fallback>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52906" y="644700"/>
            <a:ext cx="7886700" cy="583367"/>
          </a:xfrm>
        </p:spPr>
        <p:txBody>
          <a:bodyPr>
            <a:normAutofit/>
          </a:bodyPr>
          <a:lstStyle/>
          <a:p>
            <a:r>
              <a:rPr lang="en-US" altLang="zh-TW" sz="3200" dirty="0" smtClean="0">
                <a:latin typeface="Times New Roman" panose="02020603050405020304" pitchFamily="18" charset="0"/>
                <a:cs typeface="Times New Roman" panose="02020603050405020304" pitchFamily="18" charset="0"/>
              </a:rPr>
              <a:t>Abstract(1/2)</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398166" y="1311642"/>
            <a:ext cx="8252348" cy="5131633"/>
          </a:xfrm>
        </p:spPr>
        <p:txBody>
          <a:bodyPr>
            <a:noAutofit/>
          </a:bodyPr>
          <a:lstStyle/>
          <a:p>
            <a:pPr marL="0" indent="0">
              <a:lnSpc>
                <a:spcPct val="170000"/>
              </a:lnSpc>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Subsea pipeline route design is a crucial task for the offshore oil and gas industry, and the route selected can signiﬁcantly affect the success </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or failure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of an offshore project. Thus, it is essential to design pipeline routes to be eco-friendly, economical and safe. Obstacle avoidance is one </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of the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main problems that affect pipeline route selection. In this study, we propose a technique for designing an automatic obstacle avoidance. </a:t>
            </a:r>
            <a:r>
              <a:rPr lang="en-US" altLang="zh-TW" sz="2400" b="1" dirty="0" smtClean="0">
                <a:latin typeface="Times New Roman" panose="02020603050405020304" pitchFamily="18" charset="0"/>
                <a:ea typeface="標楷體" panose="03000509000000000000" pitchFamily="65" charset="-120"/>
                <a:cs typeface="Times New Roman" panose="02020603050405020304" pitchFamily="18" charset="0"/>
              </a:rPr>
              <a:t>The Laplacian </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smoothing algorithm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was used to make automatically </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generated</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2906" y="1352660"/>
            <a:ext cx="7886700" cy="4351338"/>
          </a:xfrm>
        </p:spPr>
        <p:txBody>
          <a:bodyPr>
            <a:normAutofit/>
          </a:bodyPr>
          <a:lstStyle/>
          <a:p>
            <a:pPr marL="0" indent="0">
              <a:lnSpc>
                <a:spcPct val="170000"/>
              </a:lnSpc>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pipeline routes fairer. The algorithms were fast and the method was shown to be effective and easy to use in a simple set of case studies.</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標題 1">
            <a:extLst>
              <a:ext uri="{FF2B5EF4-FFF2-40B4-BE49-F238E27FC236}">
                <a16:creationId xmlns:a16="http://schemas.microsoft.com/office/drawing/2014/main" id="{94B01AB9-0651-4F6D-A93A-D571F0BAE9A7}"/>
              </a:ext>
            </a:extLst>
          </p:cNvPr>
          <p:cNvSpPr>
            <a:spLocks noGrp="1"/>
          </p:cNvSpPr>
          <p:nvPr>
            <p:ph type="title"/>
          </p:nvPr>
        </p:nvSpPr>
        <p:spPr>
          <a:xfrm>
            <a:off x="452906" y="644700"/>
            <a:ext cx="7886700" cy="583367"/>
          </a:xfrm>
        </p:spPr>
        <p:txBody>
          <a:bodyPr>
            <a:normAutofit/>
          </a:bodyPr>
          <a:lstStyle/>
          <a:p>
            <a:r>
              <a:rPr lang="en-US" altLang="zh-TW" sz="3200" dirty="0" smtClean="0">
                <a:latin typeface="Times New Roman" panose="02020603050405020304" pitchFamily="18" charset="0"/>
                <a:cs typeface="Times New Roman" panose="02020603050405020304" pitchFamily="18" charset="0"/>
              </a:rPr>
              <a:t>Abstract(2/2)</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9235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13036" y="459280"/>
            <a:ext cx="7886700" cy="6015092"/>
          </a:xfrm>
        </p:spPr>
        <p:txBody>
          <a:bodyPr>
            <a:normAutofit lnSpcReduction="10000"/>
          </a:bodyPr>
          <a:lstStyle/>
          <a:p>
            <a:pPr marL="0" indent="0">
              <a:buNone/>
            </a:pPr>
            <a:r>
              <a:rPr lang="en-US" altLang="zh-TW" dirty="0"/>
              <a:t>Pipelines are essential for oil and gas </a:t>
            </a:r>
            <a:r>
              <a:rPr lang="en-US" altLang="zh-TW" dirty="0" smtClean="0"/>
              <a:t>projects.</a:t>
            </a:r>
          </a:p>
          <a:p>
            <a:pPr marL="0" indent="0">
              <a:buNone/>
            </a:pPr>
            <a:r>
              <a:rPr lang="en-US" altLang="zh-TW" dirty="0" smtClean="0"/>
              <a:t>It is essential</a:t>
            </a:r>
            <a:r>
              <a:rPr lang="en-US" altLang="zh-TW" dirty="0"/>
              <a:t>, therefore, that their design should be </a:t>
            </a:r>
            <a:r>
              <a:rPr lang="en-US" altLang="zh-TW" b="1" dirty="0" smtClean="0">
                <a:solidFill>
                  <a:srgbClr val="FF0000"/>
                </a:solidFill>
              </a:rPr>
              <a:t>cost-effective</a:t>
            </a:r>
            <a:r>
              <a:rPr lang="en-US" altLang="zh-TW" dirty="0" smtClean="0"/>
              <a:t> whilst </a:t>
            </a:r>
            <a:r>
              <a:rPr lang="en-US" altLang="zh-TW" dirty="0"/>
              <a:t>meeting their operational requirements</a:t>
            </a:r>
            <a:r>
              <a:rPr lang="en-US" altLang="zh-TW" dirty="0" smtClean="0"/>
              <a:t>.</a:t>
            </a:r>
          </a:p>
          <a:p>
            <a:pPr marL="0" indent="0">
              <a:buNone/>
            </a:pPr>
            <a:endParaRPr lang="en-US" altLang="zh-TW" dirty="0" smtClean="0"/>
          </a:p>
          <a:p>
            <a:pPr marL="0" indent="0">
              <a:buNone/>
            </a:pPr>
            <a:r>
              <a:rPr lang="en-US" altLang="zh-TW" sz="3300" b="1" dirty="0" smtClean="0"/>
              <a:t>Design parameters:</a:t>
            </a:r>
          </a:p>
          <a:p>
            <a:r>
              <a:rPr lang="en-US" altLang="zh-TW" dirty="0" smtClean="0"/>
              <a:t>Route selection</a:t>
            </a:r>
          </a:p>
          <a:p>
            <a:r>
              <a:rPr lang="en-US" altLang="zh-TW" dirty="0" err="1" smtClean="0"/>
              <a:t>Pipesizing</a:t>
            </a:r>
            <a:r>
              <a:rPr lang="en-US" altLang="zh-TW" dirty="0" smtClean="0"/>
              <a:t> </a:t>
            </a:r>
          </a:p>
          <a:p>
            <a:r>
              <a:rPr lang="en-US" altLang="zh-TW" dirty="0" smtClean="0"/>
              <a:t>Material</a:t>
            </a:r>
          </a:p>
          <a:p>
            <a:r>
              <a:rPr lang="en-US" altLang="zh-TW" dirty="0"/>
              <a:t>C</a:t>
            </a:r>
            <a:r>
              <a:rPr lang="en-US" altLang="zh-TW" dirty="0" smtClean="0"/>
              <a:t>oating </a:t>
            </a:r>
          </a:p>
          <a:p>
            <a:r>
              <a:rPr lang="en-US" altLang="zh-TW" dirty="0"/>
              <a:t>W</a:t>
            </a:r>
            <a:r>
              <a:rPr lang="en-US" altLang="zh-TW" dirty="0" smtClean="0"/>
              <a:t>all thickness </a:t>
            </a:r>
          </a:p>
          <a:p>
            <a:r>
              <a:rPr lang="en-US" altLang="zh-TW" dirty="0"/>
              <a:t>F</a:t>
            </a:r>
            <a:r>
              <a:rPr lang="en-US" altLang="zh-TW" dirty="0" smtClean="0"/>
              <a:t>ree span</a:t>
            </a:r>
            <a:endParaRPr lang="en-US" altLang="zh-TW" dirty="0"/>
          </a:p>
          <a:p>
            <a:r>
              <a:rPr lang="en-US" altLang="zh-TW" dirty="0" err="1" smtClean="0"/>
              <a:t>Cathodic</a:t>
            </a:r>
            <a:r>
              <a:rPr lang="en-US" altLang="zh-TW" dirty="0" smtClean="0"/>
              <a:t> </a:t>
            </a:r>
            <a:r>
              <a:rPr lang="en-US" altLang="zh-TW" dirty="0"/>
              <a:t>protection </a:t>
            </a:r>
            <a:endParaRPr lang="en-US" altLang="zh-TW" dirty="0" smtClean="0"/>
          </a:p>
          <a:p>
            <a:endParaRPr lang="zh-TW" altLang="en-US" dirty="0"/>
          </a:p>
        </p:txBody>
      </p:sp>
    </p:spTree>
    <p:extLst>
      <p:ext uri="{BB962C8B-B14F-4D97-AF65-F5344CB8AC3E}">
        <p14:creationId xmlns:p14="http://schemas.microsoft.com/office/powerpoint/2010/main" val="5326251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07933" y="548618"/>
            <a:ext cx="7886700" cy="6309382"/>
          </a:xfrm>
        </p:spPr>
        <p:txBody>
          <a:bodyPr>
            <a:normAutofit lnSpcReduction="10000"/>
          </a:bodyPr>
          <a:lstStyle/>
          <a:p>
            <a:pPr marL="0" indent="0">
              <a:buNone/>
            </a:pPr>
            <a:r>
              <a:rPr lang="en-US" altLang="zh-TW" b="1" dirty="0"/>
              <a:t>Factors affecting </a:t>
            </a:r>
            <a:r>
              <a:rPr lang="en-US" altLang="zh-TW" b="1" dirty="0" smtClean="0"/>
              <a:t>design:</a:t>
            </a:r>
          </a:p>
          <a:p>
            <a:r>
              <a:rPr lang="en-US" altLang="zh-TW" dirty="0" smtClean="0"/>
              <a:t>ﬂow </a:t>
            </a:r>
            <a:r>
              <a:rPr lang="en-US" altLang="zh-TW" dirty="0"/>
              <a:t>rate</a:t>
            </a:r>
          </a:p>
          <a:p>
            <a:r>
              <a:rPr lang="en-US" altLang="zh-TW" dirty="0"/>
              <a:t>ﬂuid properties</a:t>
            </a:r>
          </a:p>
          <a:p>
            <a:r>
              <a:rPr lang="en-US" altLang="zh-TW" dirty="0"/>
              <a:t>Seabed terrain</a:t>
            </a:r>
            <a:r>
              <a:rPr lang="zh-TW" altLang="en-US" dirty="0"/>
              <a:t> </a:t>
            </a:r>
            <a:endParaRPr lang="en-US" altLang="zh-TW" dirty="0"/>
          </a:p>
          <a:p>
            <a:r>
              <a:rPr lang="en-US" altLang="zh-TW" dirty="0"/>
              <a:t>on-bottom stability</a:t>
            </a:r>
          </a:p>
          <a:p>
            <a:r>
              <a:rPr lang="en-US" altLang="zh-TW" dirty="0"/>
              <a:t>thermal expansion.</a:t>
            </a:r>
          </a:p>
          <a:p>
            <a:pPr marL="0" indent="0">
              <a:buNone/>
            </a:pPr>
            <a:endParaRPr lang="en-US" altLang="zh-TW" dirty="0" smtClean="0"/>
          </a:p>
          <a:p>
            <a:pPr marL="0" indent="0">
              <a:buNone/>
            </a:pPr>
            <a:r>
              <a:rPr lang="en-US" altLang="zh-TW" dirty="0" err="1" smtClean="0"/>
              <a:t>Det</a:t>
            </a:r>
            <a:r>
              <a:rPr lang="en-US" altLang="zh-TW" dirty="0" smtClean="0"/>
              <a:t> Norske </a:t>
            </a:r>
            <a:r>
              <a:rPr lang="en-US" altLang="zh-TW" dirty="0"/>
              <a:t>Veritas(DNV) </a:t>
            </a:r>
            <a:r>
              <a:rPr lang="en-US" altLang="zh-TW" dirty="0" smtClean="0"/>
              <a:t> </a:t>
            </a:r>
            <a:r>
              <a:rPr lang="en-US" altLang="zh-TW" dirty="0"/>
              <a:t>Offshore Standard and Rec-</a:t>
            </a:r>
          </a:p>
          <a:p>
            <a:pPr marL="0" indent="0">
              <a:buNone/>
            </a:pPr>
            <a:r>
              <a:rPr lang="en-US" altLang="zh-TW" dirty="0" err="1"/>
              <a:t>ommended</a:t>
            </a:r>
            <a:r>
              <a:rPr lang="en-US" altLang="zh-TW" dirty="0"/>
              <a:t> Practice </a:t>
            </a:r>
            <a:endParaRPr lang="en-US" altLang="zh-TW" dirty="0" smtClean="0"/>
          </a:p>
          <a:p>
            <a:pPr marL="0" indent="0">
              <a:buNone/>
            </a:pPr>
            <a:endParaRPr lang="en-US" altLang="zh-TW" dirty="0" smtClean="0"/>
          </a:p>
          <a:p>
            <a:pPr marL="0" indent="0">
              <a:buNone/>
            </a:pPr>
            <a:r>
              <a:rPr lang="en-US" altLang="zh-TW" dirty="0" smtClean="0"/>
              <a:t>Most </a:t>
            </a:r>
            <a:r>
              <a:rPr lang="en-US" altLang="zh-TW" dirty="0"/>
              <a:t>of these tasks can be computerized, </a:t>
            </a:r>
            <a:r>
              <a:rPr lang="en-US" altLang="zh-TW" dirty="0" smtClean="0"/>
              <a:t>but pipeline </a:t>
            </a:r>
            <a:r>
              <a:rPr lang="en-US" altLang="zh-TW" dirty="0"/>
              <a:t>route selection still requires much human </a:t>
            </a:r>
            <a:r>
              <a:rPr lang="en-US" altLang="zh-TW" dirty="0" smtClean="0"/>
              <a:t>intervention due </a:t>
            </a:r>
            <a:r>
              <a:rPr lang="en-US" altLang="zh-TW" dirty="0"/>
              <a:t>to difﬁculties in automation. </a:t>
            </a:r>
            <a:endParaRPr lang="en-US" altLang="zh-TW" dirty="0" smtClean="0"/>
          </a:p>
        </p:txBody>
      </p:sp>
    </p:spTree>
    <p:extLst>
      <p:ext uri="{BB962C8B-B14F-4D97-AF65-F5344CB8AC3E}">
        <p14:creationId xmlns:p14="http://schemas.microsoft.com/office/powerpoint/2010/main" val="33184679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44567" y="658976"/>
            <a:ext cx="7886700" cy="4837934"/>
          </a:xfrm>
        </p:spPr>
        <p:txBody>
          <a:bodyPr>
            <a:normAutofit lnSpcReduction="10000"/>
          </a:bodyPr>
          <a:lstStyle/>
          <a:p>
            <a:pPr marL="0" indent="0">
              <a:buNone/>
            </a:pPr>
            <a:r>
              <a:rPr lang="en-US" altLang="zh-TW" dirty="0" err="1"/>
              <a:t>Matori</a:t>
            </a:r>
            <a:r>
              <a:rPr lang="en-US" altLang="zh-TW" dirty="0"/>
              <a:t>, A.N., Lee, H.Y., 2009. Suitability Analysis of Subsea Pipeline </a:t>
            </a:r>
            <a:r>
              <a:rPr lang="en-US" altLang="zh-TW" dirty="0" smtClean="0"/>
              <a:t>Route Using </a:t>
            </a:r>
            <a:r>
              <a:rPr lang="en-US" altLang="zh-TW" dirty="0"/>
              <a:t>GIS. Map Malaysia. GIS Development. based on the </a:t>
            </a:r>
            <a:r>
              <a:rPr lang="en-US" altLang="zh-TW" dirty="0" smtClean="0"/>
              <a:t>commercial program </a:t>
            </a:r>
            <a:r>
              <a:rPr lang="en-US" altLang="zh-TW" dirty="0"/>
              <a:t>ArcGIS 3.2. </a:t>
            </a:r>
            <a:endParaRPr lang="en-US" altLang="zh-TW" dirty="0" smtClean="0"/>
          </a:p>
          <a:p>
            <a:endParaRPr lang="en-US" altLang="zh-TW" dirty="0" smtClean="0"/>
          </a:p>
          <a:p>
            <a:pPr marL="0" indent="0">
              <a:buNone/>
            </a:pPr>
            <a:r>
              <a:rPr lang="en-US" altLang="zh-TW" dirty="0" smtClean="0"/>
              <a:t>Automatic </a:t>
            </a:r>
            <a:r>
              <a:rPr lang="en-US" altLang="zh-TW" dirty="0"/>
              <a:t>pipeline route design </a:t>
            </a:r>
            <a:r>
              <a:rPr lang="en-US" altLang="zh-TW" dirty="0" smtClean="0"/>
              <a:t>with </a:t>
            </a:r>
            <a:r>
              <a:rPr lang="en-US" altLang="zh-TW" b="1" dirty="0" smtClean="0"/>
              <a:t>efﬁcient </a:t>
            </a:r>
            <a:r>
              <a:rPr lang="en-US" altLang="zh-TW" b="1" dirty="0"/>
              <a:t>obstacle avoidance algorithms</a:t>
            </a:r>
            <a:r>
              <a:rPr lang="en-US" altLang="zh-TW" dirty="0" smtClean="0"/>
              <a:t>.</a:t>
            </a:r>
          </a:p>
          <a:p>
            <a:endParaRPr lang="en-US" altLang="zh-TW" dirty="0"/>
          </a:p>
          <a:p>
            <a:pPr marL="0" indent="0">
              <a:buNone/>
            </a:pPr>
            <a:r>
              <a:rPr lang="en-US" altLang="zh-TW" b="1" dirty="0" smtClean="0"/>
              <a:t>Least Cost Path </a:t>
            </a:r>
            <a:r>
              <a:rPr lang="en-US" altLang="zh-TW" b="1" dirty="0"/>
              <a:t>(LCP) algorithm </a:t>
            </a:r>
            <a:endParaRPr lang="en-US" altLang="zh-TW" b="1" dirty="0" smtClean="0"/>
          </a:p>
          <a:p>
            <a:pPr marL="0" indent="0">
              <a:buNone/>
            </a:pPr>
            <a:r>
              <a:rPr lang="en-US" altLang="zh-TW" dirty="0" err="1"/>
              <a:t>Dijkstra</a:t>
            </a:r>
            <a:r>
              <a:rPr lang="en-US" altLang="zh-TW" dirty="0"/>
              <a:t> ' s Algorithm </a:t>
            </a:r>
            <a:endParaRPr lang="en-US" altLang="zh-TW" dirty="0" smtClean="0"/>
          </a:p>
          <a:p>
            <a:pPr marL="0" indent="0">
              <a:buNone/>
            </a:pPr>
            <a:r>
              <a:rPr lang="en-US" altLang="zh-TW" dirty="0"/>
              <a:t> A* Algorithm </a:t>
            </a:r>
            <a:endParaRPr lang="zh-TW" altLang="en-US" dirty="0"/>
          </a:p>
        </p:txBody>
      </p:sp>
    </p:spTree>
    <p:extLst>
      <p:ext uri="{BB962C8B-B14F-4D97-AF65-F5344CB8AC3E}">
        <p14:creationId xmlns:p14="http://schemas.microsoft.com/office/powerpoint/2010/main" val="7033798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0497" y="326867"/>
            <a:ext cx="7898426" cy="5369740"/>
          </a:xfrm>
        </p:spPr>
      </p:pic>
      <p:sp>
        <p:nvSpPr>
          <p:cNvPr id="5" name="矩形 4"/>
          <p:cNvSpPr/>
          <p:nvPr/>
        </p:nvSpPr>
        <p:spPr>
          <a:xfrm>
            <a:off x="1695868" y="5696607"/>
            <a:ext cx="6027683" cy="369332"/>
          </a:xfrm>
          <a:prstGeom prst="rect">
            <a:avLst/>
          </a:prstGeom>
        </p:spPr>
        <p:txBody>
          <a:bodyPr wrap="square">
            <a:spAutoFit/>
          </a:bodyPr>
          <a:lstStyle/>
          <a:p>
            <a:r>
              <a:rPr lang="en-US" altLang="zh-TW" dirty="0"/>
              <a:t>Fig. </a:t>
            </a:r>
            <a:r>
              <a:rPr lang="en-US" altLang="zh-TW" dirty="0" smtClean="0"/>
              <a:t>1.(</a:t>
            </a:r>
            <a:r>
              <a:rPr lang="zh-TW" altLang="en-US" dirty="0">
                <a:latin typeface="微軟正黑體" panose="020B0604030504040204" pitchFamily="34" charset="-120"/>
                <a:ea typeface="微軟正黑體" panose="020B0604030504040204" pitchFamily="34" charset="-120"/>
              </a:rPr>
              <a:t>圖片取自</a:t>
            </a:r>
            <a:r>
              <a:rPr lang="zh-TW" altLang="en-US" dirty="0"/>
              <a:t> </a:t>
            </a:r>
            <a:r>
              <a:rPr lang="en-US" altLang="zh-TW" dirty="0">
                <a:latin typeface="Times New Roman" panose="02020603050405020304" pitchFamily="18" charset="0"/>
                <a:cs typeface="Times New Roman" panose="02020603050405020304" pitchFamily="18" charset="0"/>
              </a:rPr>
              <a:t>Amit's Thoughts on Path-Finding and A-Star</a:t>
            </a:r>
            <a:r>
              <a:rPr lang="en-US" altLang="zh-TW" dirty="0"/>
              <a:t>)</a:t>
            </a:r>
          </a:p>
        </p:txBody>
      </p:sp>
    </p:spTree>
    <p:extLst>
      <p:ext uri="{BB962C8B-B14F-4D97-AF65-F5344CB8AC3E}">
        <p14:creationId xmlns:p14="http://schemas.microsoft.com/office/powerpoint/2010/main" val="6594752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07932" y="599090"/>
            <a:ext cx="8357695" cy="5399197"/>
          </a:xfrm>
        </p:spPr>
        <p:txBody>
          <a:bodyPr>
            <a:normAutofit lnSpcReduction="10000"/>
          </a:bodyPr>
          <a:lstStyle/>
          <a:p>
            <a:pPr marL="0" indent="0">
              <a:buNone/>
            </a:pPr>
            <a:r>
              <a:rPr lang="en-US" altLang="zh-TW" dirty="0"/>
              <a:t>Most digital display systems project images using </a:t>
            </a:r>
            <a:r>
              <a:rPr lang="en-US" altLang="zh-TW" b="1" dirty="0" err="1" smtClean="0"/>
              <a:t>ﬁxedpicture</a:t>
            </a:r>
            <a:r>
              <a:rPr lang="en-US" altLang="zh-TW" b="1" dirty="0" smtClean="0"/>
              <a:t>-element </a:t>
            </a:r>
            <a:r>
              <a:rPr lang="en-US" altLang="zh-TW" b="1" dirty="0"/>
              <a:t>(pixel) arrays</a:t>
            </a:r>
            <a:r>
              <a:rPr lang="en-US" altLang="zh-TW" dirty="0"/>
              <a:t>, and the pixels are </a:t>
            </a:r>
            <a:r>
              <a:rPr lang="en-US" altLang="zh-TW" dirty="0" smtClean="0"/>
              <a:t>normally</a:t>
            </a:r>
            <a:r>
              <a:rPr lang="zh-TW" altLang="en-US" dirty="0" smtClean="0"/>
              <a:t> </a:t>
            </a:r>
            <a:r>
              <a:rPr lang="en-US" altLang="zh-TW" dirty="0"/>
              <a:t>arranged in a </a:t>
            </a:r>
            <a:r>
              <a:rPr lang="en-US" altLang="zh-TW" dirty="0" smtClean="0"/>
              <a:t>2D </a:t>
            </a:r>
            <a:r>
              <a:rPr lang="en-US" altLang="zh-TW" dirty="0"/>
              <a:t>grid </a:t>
            </a:r>
            <a:r>
              <a:rPr lang="en-US" altLang="zh-TW" dirty="0" smtClean="0"/>
              <a:t>for convenience</a:t>
            </a:r>
            <a:r>
              <a:rPr lang="en-US" altLang="zh-TW" dirty="0" smtClean="0"/>
              <a:t>.</a:t>
            </a:r>
          </a:p>
          <a:p>
            <a:pPr marL="0" indent="0">
              <a:buNone/>
            </a:pPr>
            <a:endParaRPr lang="en-US" altLang="zh-TW" dirty="0" smtClean="0"/>
          </a:p>
          <a:p>
            <a:pPr marL="0" indent="0">
              <a:buNone/>
            </a:pPr>
            <a:r>
              <a:rPr lang="en-US" altLang="zh-TW" dirty="0" smtClean="0"/>
              <a:t>GIS </a:t>
            </a:r>
            <a:r>
              <a:rPr lang="en-US" altLang="zh-TW" dirty="0"/>
              <a:t>relies </a:t>
            </a:r>
            <a:r>
              <a:rPr lang="en-US" altLang="zh-TW" dirty="0" smtClean="0"/>
              <a:t>on </a:t>
            </a:r>
            <a:r>
              <a:rPr lang="en-US" altLang="zh-TW" b="1" dirty="0" smtClean="0"/>
              <a:t>digital </a:t>
            </a:r>
            <a:r>
              <a:rPr lang="en-US" altLang="zh-TW" b="1" dirty="0"/>
              <a:t>displays</a:t>
            </a:r>
            <a:r>
              <a:rPr lang="en-US" altLang="zh-TW" dirty="0"/>
              <a:t>, and therefore grid-based path ﬁnding </a:t>
            </a:r>
            <a:r>
              <a:rPr lang="en-US" altLang="zh-TW" dirty="0" smtClean="0"/>
              <a:t>algorithms </a:t>
            </a:r>
            <a:r>
              <a:rPr lang="en-US" altLang="zh-TW" dirty="0"/>
              <a:t>will often be more advantageous for offshore </a:t>
            </a:r>
            <a:r>
              <a:rPr lang="en-US" altLang="zh-TW" dirty="0" smtClean="0"/>
              <a:t>pipeline route </a:t>
            </a:r>
            <a:r>
              <a:rPr lang="en-US" altLang="zh-TW" dirty="0"/>
              <a:t>design than the graph-based algorithm</a:t>
            </a:r>
            <a:r>
              <a:rPr lang="en-US" altLang="zh-TW" dirty="0" smtClean="0"/>
              <a:t>.</a:t>
            </a:r>
          </a:p>
          <a:p>
            <a:pPr marL="0" indent="0">
              <a:buNone/>
            </a:pPr>
            <a:endParaRPr lang="en-US" altLang="zh-TW" dirty="0" smtClean="0"/>
          </a:p>
          <a:p>
            <a:pPr marL="0" indent="0">
              <a:buNone/>
            </a:pPr>
            <a:r>
              <a:rPr lang="en-US" altLang="zh-TW" dirty="0"/>
              <a:t>However, </a:t>
            </a:r>
            <a:r>
              <a:rPr lang="en-US" altLang="zh-TW" dirty="0" smtClean="0"/>
              <a:t>the graph </a:t>
            </a:r>
            <a:r>
              <a:rPr lang="en-US" altLang="zh-TW" dirty="0"/>
              <a:t>structure can easily be extended to a grid type </a:t>
            </a:r>
            <a:r>
              <a:rPr lang="en-US" altLang="zh-TW" dirty="0" err="1" smtClean="0"/>
              <a:t>byconsidering</a:t>
            </a:r>
            <a:r>
              <a:rPr lang="en-US" altLang="zh-TW" dirty="0" smtClean="0"/>
              <a:t> </a:t>
            </a:r>
            <a:r>
              <a:rPr lang="en-US" altLang="zh-TW" dirty="0"/>
              <a:t>each pixel as a node. The whole terrain </a:t>
            </a:r>
            <a:r>
              <a:rPr lang="en-US" altLang="zh-TW" dirty="0" smtClean="0"/>
              <a:t>can therefore </a:t>
            </a:r>
            <a:r>
              <a:rPr lang="en-US" altLang="zh-TW" dirty="0"/>
              <a:t>be discretized as an array of nodes.</a:t>
            </a:r>
            <a:endParaRPr lang="zh-TW" altLang="en-US" dirty="0"/>
          </a:p>
        </p:txBody>
      </p:sp>
    </p:spTree>
    <p:extLst>
      <p:ext uri="{BB962C8B-B14F-4D97-AF65-F5344CB8AC3E}">
        <p14:creationId xmlns:p14="http://schemas.microsoft.com/office/powerpoint/2010/main" val="24190076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stretch>
            <a:fillRect/>
          </a:stretch>
        </p:blipFill>
        <p:spPr>
          <a:xfrm>
            <a:off x="881555" y="1639614"/>
            <a:ext cx="7277100" cy="4179442"/>
          </a:xfrm>
          <a:prstGeom prst="rect">
            <a:avLst/>
          </a:prstGeom>
        </p:spPr>
      </p:pic>
      <p:sp>
        <p:nvSpPr>
          <p:cNvPr id="7" name="矩形 6"/>
          <p:cNvSpPr/>
          <p:nvPr/>
        </p:nvSpPr>
        <p:spPr>
          <a:xfrm>
            <a:off x="881555" y="5955690"/>
            <a:ext cx="7782911" cy="646331"/>
          </a:xfrm>
          <a:prstGeom prst="rect">
            <a:avLst/>
          </a:prstGeom>
        </p:spPr>
        <p:txBody>
          <a:bodyPr wrap="square">
            <a:spAutoFit/>
          </a:bodyPr>
          <a:lstStyle/>
          <a:p>
            <a:r>
              <a:rPr lang="en-US" altLang="zh-TW" dirty="0"/>
              <a:t>Fig. 2. An example grid of nodes showing the calculation of the shortest path</a:t>
            </a:r>
          </a:p>
          <a:p>
            <a:r>
              <a:rPr lang="en-US" altLang="zh-TW" dirty="0"/>
              <a:t>using </a:t>
            </a:r>
            <a:r>
              <a:rPr lang="en-US" altLang="zh-TW" dirty="0" err="1"/>
              <a:t>Dijkstra</a:t>
            </a:r>
            <a:r>
              <a:rPr lang="en-US" altLang="zh-TW" dirty="0"/>
              <a:t> ' s Algorithm.</a:t>
            </a:r>
            <a:endParaRPr lang="zh-TW" altLang="en-US" dirty="0"/>
          </a:p>
        </p:txBody>
      </p:sp>
      <p:sp>
        <p:nvSpPr>
          <p:cNvPr id="8" name="矩形 7"/>
          <p:cNvSpPr/>
          <p:nvPr/>
        </p:nvSpPr>
        <p:spPr>
          <a:xfrm>
            <a:off x="767911" y="725212"/>
            <a:ext cx="7819697" cy="646331"/>
          </a:xfrm>
          <a:prstGeom prst="rect">
            <a:avLst/>
          </a:prstGeom>
        </p:spPr>
        <p:txBody>
          <a:bodyPr wrap="square">
            <a:spAutoFit/>
          </a:bodyPr>
          <a:lstStyle/>
          <a:p>
            <a:r>
              <a:rPr lang="pt-BR" altLang="zh-TW" dirty="0"/>
              <a:t>(S / n3 / n13 / n17 / n21), (S / n4 /n13 / n17 / n21), (S / n4 / n14 / n17 / n21) </a:t>
            </a:r>
            <a:r>
              <a:rPr lang="pt-BR" altLang="zh-TW" dirty="0" smtClean="0"/>
              <a:t>,</a:t>
            </a:r>
          </a:p>
          <a:p>
            <a:r>
              <a:rPr lang="pt-BR" altLang="zh-TW" dirty="0" smtClean="0"/>
              <a:t>(S </a:t>
            </a:r>
            <a:r>
              <a:rPr lang="pt-BR" altLang="zh-TW" dirty="0"/>
              <a:t>/ n4 / n14 / n18 / n21</a:t>
            </a:r>
            <a:r>
              <a:rPr lang="pt-BR" altLang="zh-TW" dirty="0" smtClean="0"/>
              <a:t>) </a:t>
            </a:r>
            <a:r>
              <a:rPr lang="en-US" altLang="zh-TW" dirty="0" smtClean="0"/>
              <a:t> </a:t>
            </a:r>
            <a:r>
              <a:rPr lang="en-US" altLang="zh-TW" dirty="0"/>
              <a:t>total cost is equally 44. </a:t>
            </a:r>
            <a:endParaRPr lang="zh-TW" altLang="en-US" dirty="0"/>
          </a:p>
        </p:txBody>
      </p:sp>
    </p:spTree>
    <p:extLst>
      <p:ext uri="{BB962C8B-B14F-4D97-AF65-F5344CB8AC3E}">
        <p14:creationId xmlns:p14="http://schemas.microsoft.com/office/powerpoint/2010/main" val="29567414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467710" y="2145476"/>
            <a:ext cx="7611460" cy="1277939"/>
          </a:xfrm>
          <a:prstGeom prst="rect">
            <a:avLst/>
          </a:prstGeom>
        </p:spPr>
      </p:pic>
      <p:sp>
        <p:nvSpPr>
          <p:cNvPr id="6" name="矩形 5"/>
          <p:cNvSpPr/>
          <p:nvPr/>
        </p:nvSpPr>
        <p:spPr>
          <a:xfrm>
            <a:off x="467710" y="588267"/>
            <a:ext cx="7856484"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To apply the LCP algorithm to </a:t>
            </a:r>
            <a:r>
              <a:rPr lang="zh-TW" altLang="en-US" sz="2400" dirty="0" smtClean="0">
                <a:latin typeface="Times New Roman" panose="02020603050405020304" pitchFamily="18" charset="0"/>
                <a:cs typeface="Times New Roman" panose="02020603050405020304" pitchFamily="18" charset="0"/>
              </a:rPr>
              <a:t>a 3</a:t>
            </a:r>
            <a:r>
              <a:rPr lang="zh-TW" altLang="en-US" sz="2400" dirty="0">
                <a:latin typeface="Times New Roman" panose="02020603050405020304" pitchFamily="18" charset="0"/>
                <a:cs typeface="Times New Roman" panose="02020603050405020304" pitchFamily="18" charset="0"/>
              </a:rPr>
              <a:t>D terrain, the vertical levels of the nodes should be taken </a:t>
            </a:r>
            <a:r>
              <a:rPr lang="zh-TW" altLang="en-US" sz="2400" dirty="0" smtClean="0">
                <a:latin typeface="Times New Roman" panose="02020603050405020304" pitchFamily="18" charset="0"/>
                <a:cs typeface="Times New Roman" panose="02020603050405020304" pitchFamily="18" charset="0"/>
              </a:rPr>
              <a:t>into consideration </a:t>
            </a:r>
            <a:r>
              <a:rPr lang="zh-TW" altLang="en-US" sz="2400" dirty="0">
                <a:latin typeface="Times New Roman" panose="02020603050405020304" pitchFamily="18" charset="0"/>
                <a:cs typeface="Times New Roman" panose="02020603050405020304" pitchFamily="18" charset="0"/>
              </a:rPr>
              <a:t>in determining the movement cost. </a:t>
            </a:r>
          </a:p>
        </p:txBody>
      </p:sp>
      <mc:AlternateContent xmlns:mc="http://schemas.openxmlformats.org/markup-compatibility/2006" xmlns:a14="http://schemas.microsoft.com/office/drawing/2010/main">
        <mc:Choice Requires="a14">
          <p:sp>
            <p:nvSpPr>
              <p:cNvPr id="7" name="矩形 6"/>
              <p:cNvSpPr/>
              <p:nvPr/>
            </p:nvSpPr>
            <p:spPr>
              <a:xfrm>
                <a:off x="467710" y="3780295"/>
                <a:ext cx="8676290" cy="1938992"/>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f(n) is the least cost value from node S to node n in a </a:t>
                </a:r>
                <a:r>
                  <a:rPr lang="en-US" altLang="zh-TW" sz="2400" dirty="0" smtClean="0">
                    <a:latin typeface="Times New Roman" panose="02020603050405020304" pitchFamily="18" charset="0"/>
                    <a:cs typeface="Times New Roman" panose="02020603050405020304" pitchFamily="18" charset="0"/>
                  </a:rPr>
                  <a:t>3D Terrain</a:t>
                </a:r>
              </a:p>
              <a:p>
                <a:r>
                  <a:rPr lang="en-US" altLang="zh-TW" sz="2400" dirty="0" smtClean="0">
                    <a:latin typeface="Times New Roman" panose="02020603050405020304" pitchFamily="18" charset="0"/>
                    <a:cs typeface="Times New Roman" panose="02020603050405020304" pitchFamily="18" charset="0"/>
                  </a:rPr>
                  <a:t> g(n</a:t>
                </a:r>
                <a:r>
                  <a:rPr lang="en-US" altLang="zh-TW" sz="2400" dirty="0">
                    <a:latin typeface="Times New Roman" panose="02020603050405020304" pitchFamily="18" charset="0"/>
                    <a:cs typeface="Times New Roman" panose="02020603050405020304" pitchFamily="18" charset="0"/>
                  </a:rPr>
                  <a:t>) is the cost value from node n-1 to node n on a </a:t>
                </a:r>
                <a:r>
                  <a:rPr lang="en-US" altLang="zh-TW" sz="2400" dirty="0" smtClean="0">
                    <a:latin typeface="Times New Roman" panose="02020603050405020304" pitchFamily="18" charset="0"/>
                    <a:cs typeface="Times New Roman" panose="02020603050405020304" pitchFamily="18" charset="0"/>
                  </a:rPr>
                  <a:t>2D plain</a:t>
                </a:r>
              </a:p>
              <a:p>
                <a:r>
                  <a:rPr lang="en-US" altLang="zh-TW" sz="2400" dirty="0" smtClean="0">
                    <a:latin typeface="Times New Roman" panose="02020603050405020304" pitchFamily="18" charset="0"/>
                    <a:cs typeface="Times New Roman" panose="02020603050405020304" pitchFamily="18" charset="0"/>
                  </a:rPr>
                  <a:t> e(n</a:t>
                </a:r>
                <a:r>
                  <a:rPr lang="en-US" altLang="zh-TW" sz="2400" dirty="0">
                    <a:latin typeface="Times New Roman" panose="02020603050405020304" pitchFamily="18" charset="0"/>
                    <a:cs typeface="Times New Roman" panose="02020603050405020304" pitchFamily="18" charset="0"/>
                  </a:rPr>
                  <a:t>) is an additional cost for 3D </a:t>
                </a:r>
                <a:r>
                  <a:rPr lang="en-US" altLang="zh-TW" sz="2400" dirty="0" smtClean="0">
                    <a:latin typeface="Times New Roman" panose="02020603050405020304" pitchFamily="18" charset="0"/>
                    <a:cs typeface="Times New Roman" panose="02020603050405020304" pitchFamily="18" charset="0"/>
                  </a:rPr>
                  <a:t>terrain</a:t>
                </a:r>
              </a:p>
              <a:p>
                <a14:m>
                  <m:oMath xmlns:m="http://schemas.openxmlformats.org/officeDocument/2006/math">
                    <m:r>
                      <a:rPr lang="en-US" altLang="zh-TW" sz="2400" b="0" i="1" smtClean="0">
                        <a:latin typeface="Cambria Math" panose="02040503050406030204" pitchFamily="18" charset="0"/>
                      </a:rPr>
                      <m:t> </m:t>
                    </m:r>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𝑤</m:t>
                        </m:r>
                      </m:e>
                      <m:sub>
                        <m:r>
                          <a:rPr lang="en-US" altLang="zh-TW" sz="2400" i="1" smtClean="0">
                            <a:latin typeface="Cambria Math" panose="02040503050406030204" pitchFamily="18" charset="0"/>
                          </a:rPr>
                          <m:t>𝑒</m:t>
                        </m:r>
                      </m:sub>
                    </m:sSub>
                  </m:oMath>
                </a14:m>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is </a:t>
                </a:r>
                <a:r>
                  <a:rPr lang="en-US" altLang="zh-TW" sz="2400" dirty="0" smtClean="0">
                    <a:latin typeface="Times New Roman" panose="02020603050405020304" pitchFamily="18" charset="0"/>
                    <a:cs typeface="Times New Roman" panose="02020603050405020304" pitchFamily="18" charset="0"/>
                  </a:rPr>
                  <a:t>the weighting </a:t>
                </a:r>
                <a:r>
                  <a:rPr lang="en-US" altLang="zh-TW" sz="2400" dirty="0">
                    <a:latin typeface="Times New Roman" panose="02020603050405020304" pitchFamily="18" charset="0"/>
                    <a:cs typeface="Times New Roman" panose="02020603050405020304" pitchFamily="18" charset="0"/>
                  </a:rPr>
                  <a:t>value for elevation </a:t>
                </a:r>
              </a:p>
              <a:p>
                <a:r>
                  <a:rPr lang="en-US" altLang="zh-TW" sz="2400"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smtClean="0">
                        <a:latin typeface="Cambria Math" panose="02040503050406030204" pitchFamily="18" charset="0"/>
                      </a:rPr>
                      <m:t>ⅆ</m:t>
                    </m:r>
                    <m:r>
                      <a:rPr lang="en-US" altLang="zh-TW" sz="2400" i="1" smtClean="0">
                        <a:latin typeface="Cambria Math" panose="02040503050406030204" pitchFamily="18" charset="0"/>
                      </a:rPr>
                      <m:t>𝑧</m:t>
                    </m:r>
                  </m:oMath>
                </a14:m>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is the difference </a:t>
                </a:r>
                <a:r>
                  <a:rPr lang="en-US" altLang="zh-TW" sz="2400" dirty="0" smtClean="0">
                    <a:latin typeface="Times New Roman" panose="02020603050405020304" pitchFamily="18" charset="0"/>
                    <a:cs typeface="Times New Roman" panose="02020603050405020304" pitchFamily="18" charset="0"/>
                  </a:rPr>
                  <a:t>between the </a:t>
                </a:r>
                <a:r>
                  <a:rPr lang="en-US" altLang="zh-TW" sz="2400" dirty="0">
                    <a:latin typeface="Times New Roman" panose="02020603050405020304" pitchFamily="18" charset="0"/>
                    <a:cs typeface="Times New Roman" panose="02020603050405020304" pitchFamily="18" charset="0"/>
                  </a:rPr>
                  <a:t>altitude of the node n-1 and node </a:t>
                </a:r>
                <a:r>
                  <a:rPr lang="en-US" altLang="zh-TW" sz="2400" dirty="0" smtClean="0">
                    <a:latin typeface="Times New Roman" panose="02020603050405020304" pitchFamily="18" charset="0"/>
                    <a:cs typeface="Times New Roman" panose="02020603050405020304" pitchFamily="18" charset="0"/>
                  </a:rPr>
                  <a:t>n</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467710" y="3780295"/>
                <a:ext cx="8676290" cy="1938992"/>
              </a:xfrm>
              <a:prstGeom prst="rect">
                <a:avLst/>
              </a:prstGeom>
              <a:blipFill>
                <a:blip r:embed="rId3"/>
                <a:stretch>
                  <a:fillRect l="-281" t="-2516" b="-6289"/>
                </a:stretch>
              </a:blipFill>
            </p:spPr>
            <p:txBody>
              <a:bodyPr/>
              <a:lstStyle/>
              <a:p>
                <a:r>
                  <a:rPr lang="zh-TW" altLang="en-US">
                    <a:noFill/>
                  </a:rPr>
                  <a:t> </a:t>
                </a:r>
              </a:p>
            </p:txBody>
          </p:sp>
        </mc:Fallback>
      </mc:AlternateContent>
      <p:sp>
        <p:nvSpPr>
          <p:cNvPr id="2" name="矩形 1"/>
          <p:cNvSpPr/>
          <p:nvPr/>
        </p:nvSpPr>
        <p:spPr>
          <a:xfrm>
            <a:off x="6902644" y="2236414"/>
            <a:ext cx="909170" cy="461665"/>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Eq</a:t>
            </a:r>
            <a:r>
              <a:rPr lang="zh-TW" altLang="en-US" sz="2400" dirty="0">
                <a:latin typeface="Times New Roman" panose="02020603050405020304" pitchFamily="18" charset="0"/>
                <a:cs typeface="Times New Roman" panose="02020603050405020304" pitchFamily="18" charset="0"/>
              </a:rPr>
              <a:t>.</a:t>
            </a:r>
          </a:p>
        </p:txBody>
      </p:sp>
      <p:sp>
        <p:nvSpPr>
          <p:cNvPr id="3" name="矩形 2"/>
          <p:cNvSpPr/>
          <p:nvPr/>
        </p:nvSpPr>
        <p:spPr>
          <a:xfrm>
            <a:off x="6902644" y="2831059"/>
            <a:ext cx="603050" cy="461665"/>
          </a:xfrm>
          <a:prstGeom prst="rect">
            <a:avLst/>
          </a:prstGeom>
        </p:spPr>
        <p:txBody>
          <a:bodyPr wrap="none">
            <a:spAutoFit/>
          </a:bodyPr>
          <a:lstStyle/>
          <a:p>
            <a:r>
              <a:rPr lang="zh-TW" altLang="en-US" sz="2400" dirty="0">
                <a:latin typeface="Times New Roman" panose="02020603050405020304" pitchFamily="18" charset="0"/>
                <a:cs typeface="Times New Roman" panose="02020603050405020304" pitchFamily="18" charset="0"/>
              </a:rPr>
              <a:t>Eq.</a:t>
            </a:r>
          </a:p>
        </p:txBody>
      </p:sp>
    </p:spTree>
    <p:extLst>
      <p:ext uri="{BB962C8B-B14F-4D97-AF65-F5344CB8AC3E}">
        <p14:creationId xmlns:p14="http://schemas.microsoft.com/office/powerpoint/2010/main" val="12922635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44566" y="641130"/>
            <a:ext cx="9356178" cy="4306121"/>
          </a:xfrm>
        </p:spPr>
        <p:txBody>
          <a:bodyPr>
            <a:normAutofit/>
          </a:bodyPr>
          <a:lstStyle/>
          <a:p>
            <a:pPr marL="0" indent="0">
              <a:buNone/>
            </a:pPr>
            <a:r>
              <a:rPr lang="en-US" altLang="zh-TW" sz="2400" dirty="0" smtClean="0">
                <a:latin typeface="Times New Roman" panose="02020603050405020304" pitchFamily="18" charset="0"/>
                <a:cs typeface="Times New Roman" panose="02020603050405020304" pitchFamily="18" charset="0"/>
              </a:rPr>
              <a:t>There </a:t>
            </a:r>
            <a:r>
              <a:rPr lang="en-US" altLang="zh-TW" sz="2400" dirty="0">
                <a:latin typeface="Times New Roman" panose="02020603050405020304" pitchFamily="18" charset="0"/>
                <a:cs typeface="Times New Roman" panose="02020603050405020304" pitchFamily="18" charset="0"/>
              </a:rPr>
              <a:t>are three ways </a:t>
            </a:r>
            <a:r>
              <a:rPr lang="en-US" altLang="zh-TW" sz="2400" dirty="0" smtClean="0">
                <a:latin typeface="Times New Roman" panose="02020603050405020304" pitchFamily="18" charset="0"/>
                <a:cs typeface="Times New Roman" panose="02020603050405020304" pitchFamily="18" charset="0"/>
              </a:rPr>
              <a:t>to </a:t>
            </a:r>
            <a:r>
              <a:rPr lang="en-US" altLang="zh-TW" sz="2400" dirty="0">
                <a:latin typeface="Times New Roman" panose="02020603050405020304" pitchFamily="18" charset="0"/>
                <a:cs typeface="Times New Roman" panose="02020603050405020304" pitchFamily="18" charset="0"/>
              </a:rPr>
              <a:t>avoid obstacles in the LCP algorithm</a:t>
            </a:r>
            <a:r>
              <a:rPr lang="en-US" altLang="zh-TW" sz="2400" dirty="0" smtClean="0">
                <a:latin typeface="Times New Roman" panose="02020603050405020304" pitchFamily="18" charset="0"/>
                <a:cs typeface="Times New Roman" panose="02020603050405020304" pitchFamily="18" charset="0"/>
              </a:rPr>
              <a:t>:</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1.removing </a:t>
            </a:r>
            <a:r>
              <a:rPr lang="en-US" altLang="zh-TW" sz="2400" dirty="0">
                <a:latin typeface="Times New Roman" panose="02020603050405020304" pitchFamily="18" charset="0"/>
                <a:cs typeface="Times New Roman" panose="02020603050405020304" pitchFamily="18" charset="0"/>
              </a:rPr>
              <a:t>nodes </a:t>
            </a: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2.removing edges</a:t>
            </a:r>
          </a:p>
          <a:p>
            <a:pPr marL="0" indent="0">
              <a:buNone/>
            </a:pPr>
            <a:r>
              <a:rPr lang="en-US" altLang="zh-TW" sz="2400" dirty="0" smtClean="0">
                <a:latin typeface="Times New Roman" panose="02020603050405020304" pitchFamily="18" charset="0"/>
                <a:cs typeface="Times New Roman" panose="02020603050405020304" pitchFamily="18" charset="0"/>
              </a:rPr>
              <a:t>3.imposing a very high weighting to the </a:t>
            </a:r>
            <a:r>
              <a:rPr lang="en-US" altLang="zh-TW" sz="2400" dirty="0" err="1" smtClean="0">
                <a:latin typeface="Times New Roman" panose="02020603050405020304" pitchFamily="18" charset="0"/>
                <a:cs typeface="Times New Roman" panose="02020603050405020304" pitchFamily="18" charset="0"/>
              </a:rPr>
              <a:t>appropriateedges</a:t>
            </a:r>
            <a:r>
              <a:rPr lang="en-US" altLang="zh-TW" sz="2400" dirty="0" smtClean="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sp>
        <p:nvSpPr>
          <p:cNvPr id="4" name="矩形 3"/>
          <p:cNvSpPr/>
          <p:nvPr/>
        </p:nvSpPr>
        <p:spPr>
          <a:xfrm>
            <a:off x="544566" y="4033641"/>
            <a:ext cx="7215352" cy="830997"/>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In </a:t>
            </a:r>
            <a:r>
              <a:rPr lang="en-US" altLang="zh-TW" sz="2400" dirty="0" smtClean="0">
                <a:latin typeface="Times New Roman" panose="02020603050405020304" pitchFamily="18" charset="0"/>
                <a:cs typeface="Times New Roman" panose="02020603050405020304" pitchFamily="18" charset="0"/>
              </a:rPr>
              <a:t>first</a:t>
            </a:r>
            <a:r>
              <a:rPr lang="zh-TW" altLang="en-US" sz="2400" dirty="0" smtClean="0">
                <a:latin typeface="Times New Roman" panose="02020603050405020304" pitchFamily="18" charset="0"/>
                <a:cs typeface="Times New Roman" panose="02020603050405020304" pitchFamily="18" charset="0"/>
              </a:rPr>
              <a:t> approach the nodes assigned as obstacles are not considered at all, thereby reducing the calculation time.</a:t>
            </a:r>
            <a:endParaRPr lang="zh-TW" altLang="en-US" sz="2400" dirty="0">
              <a:latin typeface="Times New Roman" panose="02020603050405020304" pitchFamily="18" charset="0"/>
              <a:cs typeface="Times New Roman" panose="02020603050405020304" pitchFamily="18" charset="0"/>
            </a:endParaRPr>
          </a:p>
        </p:txBody>
      </p:sp>
      <p:sp>
        <p:nvSpPr>
          <p:cNvPr id="5" name="矩形 4"/>
          <p:cNvSpPr/>
          <p:nvPr/>
        </p:nvSpPr>
        <p:spPr>
          <a:xfrm>
            <a:off x="544566" y="5311141"/>
            <a:ext cx="7215352"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For this reason, the method of node removal was used </a:t>
            </a:r>
            <a:r>
              <a:rPr lang="zh-TW" altLang="en-US" sz="2400" dirty="0" smtClean="0">
                <a:latin typeface="Times New Roman" panose="02020603050405020304" pitchFamily="18" charset="0"/>
                <a:cs typeface="Times New Roman" panose="02020603050405020304" pitchFamily="18" charset="0"/>
              </a:rPr>
              <a:t>for obstacle </a:t>
            </a:r>
            <a:r>
              <a:rPr lang="zh-TW" altLang="en-US" sz="2400" dirty="0">
                <a:latin typeface="Times New Roman" panose="02020603050405020304" pitchFamily="18" charset="0"/>
                <a:cs typeface="Times New Roman" panose="02020603050405020304" pitchFamily="18" charset="0"/>
              </a:rPr>
              <a:t>avoidance in this study.</a:t>
            </a:r>
          </a:p>
        </p:txBody>
      </p:sp>
    </p:spTree>
    <p:extLst>
      <p:ext uri="{BB962C8B-B14F-4D97-AF65-F5344CB8AC3E}">
        <p14:creationId xmlns:p14="http://schemas.microsoft.com/office/powerpoint/2010/main" val="4038530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827032" y="1804603"/>
            <a:ext cx="7231117" cy="4147687"/>
          </a:xfrm>
          <a:prstGeom prst="rect">
            <a:avLst/>
          </a:prstGeom>
        </p:spPr>
      </p:pic>
      <p:sp>
        <p:nvSpPr>
          <p:cNvPr id="5" name="矩形 4"/>
          <p:cNvSpPr/>
          <p:nvPr/>
        </p:nvSpPr>
        <p:spPr>
          <a:xfrm>
            <a:off x="700909" y="173387"/>
            <a:ext cx="5395091" cy="1631216"/>
          </a:xfrm>
          <a:prstGeom prst="rect">
            <a:avLst/>
          </a:prstGeom>
        </p:spPr>
        <p:txBody>
          <a:bodyPr wrap="square">
            <a:spAutoFit/>
          </a:bodyPr>
          <a:lstStyle/>
          <a:p>
            <a:r>
              <a:rPr lang="zh-TW" altLang="en-US" sz="2000" dirty="0" smtClean="0">
                <a:latin typeface="Times New Roman" panose="02020603050405020304" pitchFamily="18" charset="0"/>
                <a:cs typeface="Times New Roman" panose="02020603050405020304" pitchFamily="18" charset="0"/>
              </a:rPr>
              <a:t>The </a:t>
            </a:r>
            <a:r>
              <a:rPr lang="zh-TW" altLang="en-US" sz="2000" dirty="0">
                <a:latin typeface="Times New Roman" panose="02020603050405020304" pitchFamily="18" charset="0"/>
                <a:cs typeface="Times New Roman" panose="02020603050405020304" pitchFamily="18" charset="0"/>
              </a:rPr>
              <a:t>obstacles are </a:t>
            </a:r>
            <a:r>
              <a:rPr lang="zh-TW" altLang="en-US" sz="2000" dirty="0" smtClean="0">
                <a:latin typeface="Times New Roman" panose="02020603050405020304" pitchFamily="18" charset="0"/>
                <a:cs typeface="Times New Roman" panose="02020603050405020304" pitchFamily="18" charset="0"/>
              </a:rPr>
              <a:t>placed  on </a:t>
            </a:r>
            <a:r>
              <a:rPr lang="zh-TW" altLang="en-US" sz="2000" dirty="0">
                <a:latin typeface="Times New Roman" panose="02020603050405020304" pitchFamily="18" charset="0"/>
                <a:cs typeface="Times New Roman" panose="02020603050405020304" pitchFamily="18" charset="0"/>
              </a:rPr>
              <a:t>n13, n14, and n15. There are two optimal paths from S to n21:</a:t>
            </a:r>
          </a:p>
          <a:p>
            <a:r>
              <a:rPr lang="zh-TW" altLang="en-US" sz="2000" dirty="0">
                <a:latin typeface="Times New Roman" panose="02020603050405020304" pitchFamily="18" charset="0"/>
                <a:cs typeface="Times New Roman" panose="02020603050405020304" pitchFamily="18" charset="0"/>
              </a:rPr>
              <a:t>(S / n3 / n12 / n16 / n21) </a:t>
            </a:r>
            <a:endParaRPr lang="en-US" altLang="zh-TW" sz="2000" dirty="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(S </a:t>
            </a:r>
            <a:r>
              <a:rPr lang="zh-TW" altLang="en-US" sz="2000" dirty="0">
                <a:latin typeface="Times New Roman" panose="02020603050405020304" pitchFamily="18" charset="0"/>
                <a:cs typeface="Times New Roman" panose="02020603050405020304" pitchFamily="18" charset="0"/>
              </a:rPr>
              <a:t>/ n3 / n12 / n17 </a:t>
            </a:r>
            <a:r>
              <a:rPr lang="zh-TW" altLang="en-US" sz="2000" dirty="0" smtClean="0">
                <a:latin typeface="Times New Roman" panose="02020603050405020304" pitchFamily="18" charset="0"/>
                <a:cs typeface="Times New Roman" panose="02020603050405020304" pitchFamily="18" charset="0"/>
              </a:rPr>
              <a:t>/n</a:t>
            </a:r>
            <a:r>
              <a:rPr lang="zh-TW" altLang="en-US" sz="2000" dirty="0">
                <a:latin typeface="Times New Roman" panose="02020603050405020304" pitchFamily="18" charset="0"/>
                <a:cs typeface="Times New Roman" panose="02020603050405020304" pitchFamily="18" charset="0"/>
              </a:rPr>
              <a:t>21), </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and </a:t>
            </a:r>
            <a:r>
              <a:rPr lang="zh-TW" altLang="en-US" sz="2000" dirty="0">
                <a:latin typeface="Times New Roman" panose="02020603050405020304" pitchFamily="18" charset="0"/>
                <a:cs typeface="Times New Roman" panose="02020603050405020304" pitchFamily="18" charset="0"/>
              </a:rPr>
              <a:t>the actual cost of these paths is 52.</a:t>
            </a:r>
          </a:p>
        </p:txBody>
      </p:sp>
      <p:sp>
        <p:nvSpPr>
          <p:cNvPr id="2" name="矩形 1"/>
          <p:cNvSpPr/>
          <p:nvPr/>
        </p:nvSpPr>
        <p:spPr>
          <a:xfrm>
            <a:off x="1357803" y="5952290"/>
            <a:ext cx="6406056" cy="400110"/>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Fig. 3. An example of a grid-based terrain with obstacles</a:t>
            </a:r>
            <a:r>
              <a:rPr lang="zh-TW" altLang="en-US" dirty="0"/>
              <a:t>.</a:t>
            </a:r>
          </a:p>
        </p:txBody>
      </p:sp>
    </p:spTree>
    <p:extLst>
      <p:ext uri="{BB962C8B-B14F-4D97-AF65-F5344CB8AC3E}">
        <p14:creationId xmlns:p14="http://schemas.microsoft.com/office/powerpoint/2010/main" val="37982843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Smoothing algorithm</a:t>
            </a:r>
            <a:endParaRPr lang="zh-TW" altLang="en-US" b="1" dirty="0"/>
          </a:p>
        </p:txBody>
      </p:sp>
      <p:sp>
        <p:nvSpPr>
          <p:cNvPr id="4" name="矩形 3"/>
          <p:cNvSpPr/>
          <p:nvPr/>
        </p:nvSpPr>
        <p:spPr>
          <a:xfrm>
            <a:off x="628650" y="1690689"/>
            <a:ext cx="4557658" cy="523220"/>
          </a:xfrm>
          <a:prstGeom prst="rect">
            <a:avLst/>
          </a:prstGeom>
        </p:spPr>
        <p:txBody>
          <a:bodyPr wrap="none">
            <a:spAutoFit/>
          </a:bodyPr>
          <a:lstStyle/>
          <a:p>
            <a:r>
              <a:rPr lang="zh-TW" altLang="en-US" sz="2800" dirty="0">
                <a:latin typeface="Times New Roman" panose="02020603050405020304" pitchFamily="18" charset="0"/>
                <a:cs typeface="Times New Roman" panose="02020603050405020304" pitchFamily="18" charset="0"/>
              </a:rPr>
              <a:t>minimum allowed bend </a:t>
            </a:r>
            <a:r>
              <a:rPr lang="zh-TW" altLang="en-US" sz="2800" dirty="0" smtClean="0">
                <a:latin typeface="Times New Roman" panose="02020603050405020304" pitchFamily="18" charset="0"/>
                <a:cs typeface="Times New Roman" panose="02020603050405020304" pitchFamily="18" charset="0"/>
              </a:rPr>
              <a:t>radius</a:t>
            </a:r>
            <a:endParaRPr lang="zh-TW" altLang="en-US" sz="2800" dirty="0">
              <a:latin typeface="Times New Roman" panose="02020603050405020304" pitchFamily="18" charset="0"/>
              <a:cs typeface="Times New Roman" panose="02020603050405020304" pitchFamily="18" charset="0"/>
            </a:endParaRPr>
          </a:p>
        </p:txBody>
      </p:sp>
      <p:sp>
        <p:nvSpPr>
          <p:cNvPr id="5" name="矩形 4"/>
          <p:cNvSpPr/>
          <p:nvPr/>
        </p:nvSpPr>
        <p:spPr>
          <a:xfrm>
            <a:off x="628650" y="2754642"/>
            <a:ext cx="8487103" cy="1569660"/>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because the </a:t>
            </a:r>
            <a:r>
              <a:rPr lang="zh-TW" altLang="en-US" sz="2400" dirty="0">
                <a:latin typeface="Times New Roman" panose="02020603050405020304" pitchFamily="18" charset="0"/>
                <a:cs typeface="Times New Roman" panose="02020603050405020304" pitchFamily="18" charset="0"/>
              </a:rPr>
              <a:t>bend radius of the pipeline must not be less than this value throughout its entire length tovensure that the stresses in the pipe wall do not exceed the allowable limits usually speciﬁed by the design codes</a:t>
            </a:r>
            <a:r>
              <a:rPr lang="zh-TW" altLang="en-US"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979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stretch>
            <a:fillRect/>
          </a:stretch>
        </p:blipFill>
        <p:spPr>
          <a:xfrm>
            <a:off x="843455" y="2706712"/>
            <a:ext cx="5943600" cy="1085850"/>
          </a:xfrm>
          <a:prstGeom prst="rect">
            <a:avLst/>
          </a:prstGeom>
        </p:spPr>
      </p:pic>
      <mc:AlternateContent xmlns:mc="http://schemas.openxmlformats.org/markup-compatibility/2006" xmlns:a14="http://schemas.microsoft.com/office/drawing/2010/main">
        <mc:Choice Requires="a14">
          <p:sp>
            <p:nvSpPr>
              <p:cNvPr id="11" name="矩形 10"/>
              <p:cNvSpPr/>
              <p:nvPr/>
            </p:nvSpPr>
            <p:spPr>
              <a:xfrm>
                <a:off x="843455" y="4422679"/>
                <a:ext cx="8142890" cy="830997"/>
              </a:xfrm>
              <a:prstGeom prst="rect">
                <a:avLst/>
              </a:prstGeom>
            </p:spPr>
            <p:txBody>
              <a:bodyPr wrap="square">
                <a:spAutoFit/>
              </a:bodyPr>
              <a:lstStyle/>
              <a:p>
                <a14:m>
                  <m:oMath xmlns:m="http://schemas.openxmlformats.org/officeDocument/2006/math">
                    <m:r>
                      <a:rPr lang="zh-TW" altLang="en-US" sz="2400" i="1" smtClean="0">
                        <a:latin typeface="Cambria Math" panose="02040503050406030204" pitchFamily="18" charset="0"/>
                      </a:rPr>
                      <m:t>𝜆</m:t>
                    </m:r>
                  </m:oMath>
                </a14:m>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is a scale factor (0 &lt;</a:t>
                </a:r>
                <a14:m>
                  <m:oMath xmlns:m="http://schemas.openxmlformats.org/officeDocument/2006/math">
                    <m:r>
                      <a:rPr lang="zh-TW" altLang="en-US" sz="2400" i="1">
                        <a:latin typeface="Cambria Math" panose="02040503050406030204" pitchFamily="18" charset="0"/>
                      </a:rPr>
                      <m:t>𝜆</m:t>
                    </m:r>
                  </m:oMath>
                </a14:m>
                <a:r>
                  <a:rPr lang="zh-TW" altLang="en-US" sz="2400" dirty="0" smtClean="0">
                    <a:latin typeface="Times New Roman" panose="02020603050405020304" pitchFamily="18" charset="0"/>
                    <a:cs typeface="Times New Roman" panose="02020603050405020304" pitchFamily="18" charset="0"/>
                  </a:rPr>
                  <a:t>&lt; </a:t>
                </a:r>
                <a:r>
                  <a:rPr lang="zh-TW" altLang="en-US" sz="2400" dirty="0">
                    <a:latin typeface="Times New Roman" panose="02020603050405020304" pitchFamily="18" charset="0"/>
                    <a:cs typeface="Times New Roman" panose="02020603050405020304" pitchFamily="18" charset="0"/>
                  </a:rPr>
                  <a:t>1) </a:t>
                </a:r>
                <a:endParaRPr lang="en-US" altLang="zh-TW" sz="2400" dirty="0">
                  <a:latin typeface="Times New Roman" panose="02020603050405020304" pitchFamily="18" charset="0"/>
                  <a:cs typeface="Times New Roman" panose="02020603050405020304" pitchFamily="18" charset="0"/>
                </a:endParaRPr>
              </a:p>
              <a:p>
                <a14:m>
                  <m:oMath xmlns:m="http://schemas.openxmlformats.org/officeDocument/2006/math">
                    <m:r>
                      <a:rPr lang="zh-TW" altLang="en-US" sz="2400" i="1" dirty="0" smtClean="0">
                        <a:latin typeface="Cambria Math" panose="02040503050406030204" pitchFamily="18" charset="0"/>
                      </a:rPr>
                      <m:t>𝐿</m:t>
                    </m:r>
                    <m:r>
                      <a:rPr lang="zh-TW" altLang="en-US" sz="2400" i="1" dirty="0" smtClean="0">
                        <a:latin typeface="Cambria Math" panose="02040503050406030204" pitchFamily="18" charset="0"/>
                      </a:rPr>
                      <m:t> </m:t>
                    </m:r>
                  </m:oMath>
                </a14:m>
                <a:r>
                  <a:rPr lang="zh-TW" altLang="en-US" sz="2400" dirty="0">
                    <a:latin typeface="Times New Roman" panose="02020603050405020304" pitchFamily="18" charset="0"/>
                    <a:cs typeface="Times New Roman" panose="02020603050405020304" pitchFamily="18" charset="0"/>
                  </a:rPr>
                  <a:t>is the </a:t>
                </a:r>
                <a:r>
                  <a:rPr lang="zh-TW" altLang="en-US" sz="2400" dirty="0" smtClean="0">
                    <a:latin typeface="Times New Roman" panose="02020603050405020304" pitchFamily="18" charset="0"/>
                    <a:cs typeface="Times New Roman" panose="02020603050405020304" pitchFamily="18" charset="0"/>
                  </a:rPr>
                  <a:t>Laplacian operator.</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843455" y="4422679"/>
                <a:ext cx="8142890" cy="830997"/>
              </a:xfrm>
              <a:prstGeom prst="rect">
                <a:avLst/>
              </a:prstGeom>
              <a:blipFill>
                <a:blip r:embed="rId3"/>
                <a:stretch>
                  <a:fillRect l="-225" t="-5882" b="-16176"/>
                </a:stretch>
              </a:blipFill>
            </p:spPr>
            <p:txBody>
              <a:bodyPr/>
              <a:lstStyle/>
              <a:p>
                <a:r>
                  <a:rPr lang="zh-TW" altLang="en-US">
                    <a:noFill/>
                  </a:rPr>
                  <a:t> </a:t>
                </a:r>
              </a:p>
            </p:txBody>
          </p:sp>
        </mc:Fallback>
      </mc:AlternateContent>
      <p:sp>
        <p:nvSpPr>
          <p:cNvPr id="12" name="矩形 11"/>
          <p:cNvSpPr/>
          <p:nvPr/>
        </p:nvSpPr>
        <p:spPr>
          <a:xfrm>
            <a:off x="843455" y="685609"/>
            <a:ext cx="7225862" cy="1569660"/>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The Laplacian smoothing is an iterative </a:t>
            </a:r>
            <a:r>
              <a:rPr lang="zh-TW" altLang="en-US" sz="2400" dirty="0" smtClean="0">
                <a:latin typeface="Times New Roman" panose="02020603050405020304" pitchFamily="18" charset="0"/>
                <a:cs typeface="Times New Roman" panose="02020603050405020304" pitchFamily="18" charset="0"/>
              </a:rPr>
              <a:t>algorithm,</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This algorithm </a:t>
            </a:r>
            <a:r>
              <a:rPr lang="en-US" altLang="zh-TW" sz="2400" dirty="0">
                <a:latin typeface="Times New Roman" panose="02020603050405020304" pitchFamily="18" charset="0"/>
                <a:cs typeface="Times New Roman" panose="02020603050405020304" pitchFamily="18" charset="0"/>
              </a:rPr>
              <a:t>replaces the original vertex on the initial path with </a:t>
            </a:r>
            <a:r>
              <a:rPr lang="en-US" altLang="zh-TW" sz="2400" dirty="0" smtClean="0">
                <a:latin typeface="Times New Roman" panose="02020603050405020304" pitchFamily="18" charset="0"/>
                <a:cs typeface="Times New Roman" panose="02020603050405020304" pitchFamily="18" charset="0"/>
              </a:rPr>
              <a:t>a new </a:t>
            </a:r>
            <a:r>
              <a:rPr lang="en-US" altLang="zh-TW" sz="2400" dirty="0">
                <a:latin typeface="Times New Roman" panose="02020603050405020304" pitchFamily="18" charset="0"/>
                <a:cs typeface="Times New Roman" panose="02020603050405020304" pitchFamily="18" charset="0"/>
              </a:rPr>
              <a:t>one determined by a weighted average of </a:t>
            </a:r>
            <a:r>
              <a:rPr lang="en-US" altLang="zh-TW" sz="2400" dirty="0" err="1" smtClean="0">
                <a:latin typeface="Times New Roman" panose="02020603050405020304" pitchFamily="18" charset="0"/>
                <a:cs typeface="Times New Roman" panose="02020603050405020304" pitchFamily="18" charset="0"/>
              </a:rPr>
              <a:t>neighbouring</a:t>
            </a:r>
            <a:r>
              <a:rPr lang="en-US" altLang="zh-TW" sz="2400" dirty="0" smtClean="0">
                <a:latin typeface="Times New Roman" panose="02020603050405020304" pitchFamily="18" charset="0"/>
                <a:cs typeface="Times New Roman" panose="02020603050405020304" pitchFamily="18" charset="0"/>
              </a:rPr>
              <a:t> points </a:t>
            </a:r>
            <a:r>
              <a:rPr lang="en-US" altLang="zh-TW" sz="2400" dirty="0">
                <a:latin typeface="Times New Roman" panose="02020603050405020304" pitchFamily="18" charset="0"/>
                <a:cs typeface="Times New Roman" panose="02020603050405020304" pitchFamily="18" charset="0"/>
              </a:rPr>
              <a:t>in an iterative manner.</a:t>
            </a:r>
            <a:endParaRPr lang="zh-TW" altLang="en-US" sz="2400" dirty="0">
              <a:latin typeface="Times New Roman" panose="02020603050405020304" pitchFamily="18" charset="0"/>
              <a:cs typeface="Times New Roman" panose="02020603050405020304" pitchFamily="18" charset="0"/>
            </a:endParaRPr>
          </a:p>
        </p:txBody>
      </p:sp>
      <p:sp>
        <p:nvSpPr>
          <p:cNvPr id="2" name="矩形 1"/>
          <p:cNvSpPr/>
          <p:nvPr/>
        </p:nvSpPr>
        <p:spPr>
          <a:xfrm>
            <a:off x="7372981" y="3108141"/>
            <a:ext cx="962123" cy="461665"/>
          </a:xfrm>
          <a:prstGeom prst="rect">
            <a:avLst/>
          </a:prstGeom>
        </p:spPr>
        <p:txBody>
          <a:bodyPr wrap="none">
            <a:spAutoFit/>
          </a:bodyPr>
          <a:lstStyle/>
          <a:p>
            <a:r>
              <a:rPr lang="zh-TW" altLang="en-US" sz="2400" dirty="0">
                <a:latin typeface="Times New Roman" panose="02020603050405020304" pitchFamily="18" charset="0"/>
                <a:cs typeface="Times New Roman" panose="02020603050405020304" pitchFamily="18" charset="0"/>
              </a:rPr>
              <a:t>Eq</a:t>
            </a:r>
            <a:r>
              <a:rPr lang="zh-TW" altLang="en-US"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20018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814551" y="2294052"/>
            <a:ext cx="4963473" cy="1584266"/>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814551" y="854003"/>
                <a:ext cx="7499132" cy="860748"/>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For a vertex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𝑉</m:t>
                        </m:r>
                      </m:e>
                      <m:sub>
                        <m:r>
                          <a:rPr lang="zh-TW" altLang="en-US" sz="2400" i="1" dirty="0">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its </a:t>
                </a:r>
                <a:r>
                  <a:rPr lang="zh-TW" altLang="en-US" sz="2400" b="1" dirty="0">
                    <a:latin typeface="Times New Roman" panose="02020603050405020304" pitchFamily="18" charset="0"/>
                    <a:cs typeface="Times New Roman" panose="02020603050405020304" pitchFamily="18" charset="0"/>
                  </a:rPr>
                  <a:t>Laplacian operator </a:t>
                </a:r>
                <a:r>
                  <a:rPr lang="zh-TW" altLang="en-US" sz="2400" dirty="0">
                    <a:latin typeface="Times New Roman" panose="02020603050405020304" pitchFamily="18" charset="0"/>
                    <a:cs typeface="Times New Roman" panose="02020603050405020304" pitchFamily="18" charset="0"/>
                  </a:rPr>
                  <a:t>can be linearly approximated by the neighbouring vertices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𝑉</m:t>
                        </m:r>
                      </m:e>
                      <m:sub>
                        <m:r>
                          <a:rPr lang="zh-TW" altLang="en-US" sz="2400" i="1" dirty="0">
                            <a:latin typeface="Cambria Math" panose="02040503050406030204" pitchFamily="18" charset="0"/>
                          </a:rPr>
                          <m:t>𝑗</m:t>
                        </m:r>
                      </m:sub>
                    </m:sSub>
                  </m:oMath>
                </a14:m>
                <a:r>
                  <a:rPr lang="zh-TW" altLang="en-US" sz="2400" dirty="0">
                    <a:latin typeface="Times New Roman" panose="02020603050405020304" pitchFamily="18" charset="0"/>
                    <a:cs typeface="Times New Roman" panose="02020603050405020304" pitchFamily="18" charset="0"/>
                  </a:rPr>
                  <a:t>as follows:</a:t>
                </a:r>
              </a:p>
            </p:txBody>
          </p:sp>
        </mc:Choice>
        <mc:Fallback xmlns="">
          <p:sp>
            <p:nvSpPr>
              <p:cNvPr id="5" name="矩形 4"/>
              <p:cNvSpPr>
                <a:spLocks noRot="1" noChangeAspect="1" noMove="1" noResize="1" noEditPoints="1" noAdjustHandles="1" noChangeArrowheads="1" noChangeShapeType="1" noTextEdit="1"/>
              </p:cNvSpPr>
              <p:nvPr/>
            </p:nvSpPr>
            <p:spPr>
              <a:xfrm>
                <a:off x="814551" y="854003"/>
                <a:ext cx="7499132" cy="860748"/>
              </a:xfrm>
              <a:prstGeom prst="rect">
                <a:avLst/>
              </a:prstGeom>
              <a:blipFill>
                <a:blip r:embed="rId3"/>
                <a:stretch>
                  <a:fillRect l="-1301" t="-5674" b="-1205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814551" y="4286043"/>
                <a:ext cx="7383518" cy="1599412"/>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where i* is the index set of vertices neighbouring vertex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𝑉</m:t>
                        </m:r>
                      </m:e>
                      <m:sub>
                        <m:r>
                          <a:rPr lang="zh-TW" altLang="en-US" sz="2400" i="1" dirty="0">
                            <a:latin typeface="Cambria Math" panose="02040503050406030204" pitchFamily="18" charset="0"/>
                          </a:rPr>
                          <m:t>𝑖</m:t>
                        </m:r>
                      </m:sub>
                    </m:sSub>
                  </m:oMath>
                </a14:m>
                <a:r>
                  <a:rPr lang="zh-TW" altLang="en-US" sz="2400" dirty="0" smtClean="0">
                    <a:latin typeface="Times New Roman" panose="02020603050405020304" pitchFamily="18" charset="0"/>
                    <a:cs typeface="Times New Roman" panose="02020603050405020304" pitchFamily="18" charset="0"/>
                  </a:rPr>
                  <a:t> ,and</a:t>
                </a:r>
                <a14:m>
                  <m:oMath xmlns:m="http://schemas.openxmlformats.org/officeDocument/2006/math">
                    <m:sSub>
                      <m:sSubPr>
                        <m:ctrlPr>
                          <a:rPr lang="zh-TW" altLang="en-US" sz="2400" i="1" smtClean="0">
                            <a:latin typeface="Cambria Math" panose="02040503050406030204" pitchFamily="18" charset="0"/>
                          </a:rPr>
                        </m:ctrlPr>
                      </m:sSubPr>
                      <m:e>
                        <m:r>
                          <a:rPr lang="zh-TW" altLang="en-US" sz="2400" i="1" smtClean="0">
                            <a:latin typeface="Cambria Math" panose="02040503050406030204" pitchFamily="18" charset="0"/>
                          </a:rPr>
                          <m:t>𝑤</m:t>
                        </m:r>
                      </m:e>
                      <m:sub>
                        <m:r>
                          <a:rPr lang="zh-TW" altLang="en-US" sz="2400" i="1" smtClean="0">
                            <a:latin typeface="Cambria Math" panose="02040503050406030204" pitchFamily="18" charset="0"/>
                          </a:rPr>
                          <m:t>𝑖𝑗</m:t>
                        </m:r>
                      </m:sub>
                    </m:sSub>
                  </m:oMath>
                </a14:m>
                <a:r>
                  <a:rPr lang="zh-TW" altLang="en-US" sz="2400" dirty="0" smtClean="0">
                    <a:latin typeface="Times New Roman" panose="02020603050405020304" pitchFamily="18" charset="0"/>
                    <a:cs typeface="Times New Roman" panose="02020603050405020304" pitchFamily="18" charset="0"/>
                  </a:rPr>
                  <a:t> is </a:t>
                </a:r>
                <a:r>
                  <a:rPr lang="zh-TW" altLang="en-US" sz="2400" dirty="0">
                    <a:latin typeface="Times New Roman" panose="02020603050405020304" pitchFamily="18" charset="0"/>
                    <a:cs typeface="Times New Roman" panose="02020603050405020304" pitchFamily="18" charset="0"/>
                  </a:rPr>
                  <a:t>the weighting factor for the edge (i, j ) </a:t>
                </a:r>
                <a:r>
                  <a:rPr lang="zh-TW" altLang="en-US" sz="2400" dirty="0" smtClean="0">
                    <a:latin typeface="Times New Roman" panose="02020603050405020304" pitchFamily="18" charset="0"/>
                    <a:cs typeface="Times New Roman" panose="02020603050405020304" pitchFamily="18" charset="0"/>
                  </a:rPr>
                  <a:t>corresponding to </a:t>
                </a:r>
                <a:r>
                  <a:rPr lang="zh-TW" altLang="en-US" sz="2400" dirty="0">
                    <a:latin typeface="Times New Roman" panose="02020603050405020304" pitchFamily="18" charset="0"/>
                    <a:cs typeface="Times New Roman" panose="02020603050405020304" pitchFamily="18" charset="0"/>
                  </a:rPr>
                  <a:t>vertex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𝑉</m:t>
                        </m:r>
                      </m:e>
                      <m:sub>
                        <m:r>
                          <a:rPr lang="zh-TW" altLang="en-US" sz="2400" i="1" dirty="0">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 The sum of the weighting factors should be 1.</a:t>
                </a:r>
              </a:p>
            </p:txBody>
          </p:sp>
        </mc:Choice>
        <mc:Fallback xmlns="">
          <p:sp>
            <p:nvSpPr>
              <p:cNvPr id="6" name="矩形 5"/>
              <p:cNvSpPr>
                <a:spLocks noRot="1" noChangeAspect="1" noMove="1" noResize="1" noEditPoints="1" noAdjustHandles="1" noChangeArrowheads="1" noChangeShapeType="1" noTextEdit="1"/>
              </p:cNvSpPr>
              <p:nvPr/>
            </p:nvSpPr>
            <p:spPr>
              <a:xfrm>
                <a:off x="814551" y="4286043"/>
                <a:ext cx="7383518" cy="1599412"/>
              </a:xfrm>
              <a:prstGeom prst="rect">
                <a:avLst/>
              </a:prstGeom>
              <a:blipFill>
                <a:blip r:embed="rId4"/>
                <a:stretch>
                  <a:fillRect l="-1321" t="-3053" b="-8015"/>
                </a:stretch>
              </a:blipFill>
            </p:spPr>
            <p:txBody>
              <a:bodyPr/>
              <a:lstStyle/>
              <a:p>
                <a:r>
                  <a:rPr lang="zh-TW" altLang="en-US">
                    <a:noFill/>
                  </a:rPr>
                  <a:t> </a:t>
                </a:r>
              </a:p>
            </p:txBody>
          </p:sp>
        </mc:Fallback>
      </mc:AlternateContent>
      <p:sp>
        <p:nvSpPr>
          <p:cNvPr id="7" name="矩形 6"/>
          <p:cNvSpPr/>
          <p:nvPr/>
        </p:nvSpPr>
        <p:spPr>
          <a:xfrm>
            <a:off x="7351560" y="2855352"/>
            <a:ext cx="962123" cy="461665"/>
          </a:xfrm>
          <a:prstGeom prst="rect">
            <a:avLst/>
          </a:prstGeom>
        </p:spPr>
        <p:txBody>
          <a:bodyPr wrap="none">
            <a:spAutoFit/>
          </a:bodyPr>
          <a:lstStyle/>
          <a:p>
            <a:r>
              <a:rPr lang="zh-TW" altLang="en-US" sz="2400" dirty="0">
                <a:latin typeface="Times New Roman" panose="02020603050405020304" pitchFamily="18" charset="0"/>
                <a:cs typeface="Times New Roman" panose="02020603050405020304" pitchFamily="18" charset="0"/>
              </a:rPr>
              <a:t>Eq</a:t>
            </a:r>
            <a:r>
              <a:rPr lang="zh-TW" altLang="en-US"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162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0811" y="779320"/>
            <a:ext cx="6858000" cy="1200329"/>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T</a:t>
            </a:r>
            <a:r>
              <a:rPr lang="zh-TW" altLang="en-US" sz="2400" dirty="0" smtClean="0">
                <a:latin typeface="Times New Roman" panose="02020603050405020304" pitchFamily="18" charset="0"/>
                <a:cs typeface="Times New Roman" panose="02020603050405020304" pitchFamily="18" charset="0"/>
              </a:rPr>
              <a:t>he </a:t>
            </a:r>
            <a:r>
              <a:rPr lang="zh-TW" altLang="en-US" sz="2400" dirty="0">
                <a:latin typeface="Times New Roman" panose="02020603050405020304" pitchFamily="18" charset="0"/>
                <a:cs typeface="Times New Roman" panose="02020603050405020304" pitchFamily="18" charset="0"/>
              </a:rPr>
              <a:t>Laplacian smoothing algorithm can be controlled directly and the curvature of the pipeline can always be checked to ensure that the path is ‘fair ’ .</a:t>
            </a:r>
          </a:p>
        </p:txBody>
      </p:sp>
      <mc:AlternateContent xmlns:mc="http://schemas.openxmlformats.org/markup-compatibility/2006">
        <mc:Choice xmlns:a14="http://schemas.microsoft.com/office/drawing/2010/main" Requires="a14">
          <p:sp>
            <p:nvSpPr>
              <p:cNvPr id="5" name="矩形 4"/>
              <p:cNvSpPr/>
              <p:nvPr/>
            </p:nvSpPr>
            <p:spPr>
              <a:xfrm>
                <a:off x="1010811" y="2231284"/>
                <a:ext cx="7092665" cy="1569660"/>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The </a:t>
                </a:r>
                <a:r>
                  <a:rPr lang="en-US" altLang="zh-TW" sz="2400" dirty="0">
                    <a:latin typeface="Times New Roman" panose="02020603050405020304" pitchFamily="18" charset="0"/>
                    <a:cs typeface="Times New Roman" panose="02020603050405020304" pitchFamily="18" charset="0"/>
                  </a:rPr>
                  <a:t>curvature k at a vertex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𝑣</m:t>
                        </m:r>
                      </m:e>
                      <m:sub>
                        <m:r>
                          <a:rPr lang="zh-TW" altLang="en-US" sz="2400" i="1" dirty="0">
                            <a:latin typeface="Cambria Math" panose="02040503050406030204" pitchFamily="18" charset="0"/>
                          </a:rPr>
                          <m:t>𝑖</m:t>
                        </m:r>
                      </m:sub>
                    </m:sSub>
                    <m:r>
                      <a:rPr lang="zh-TW" altLang="en-US" sz="2400" i="1" dirty="0">
                        <a:latin typeface="Cambria Math" panose="02040503050406030204" pitchFamily="18" charset="0"/>
                      </a:rPr>
                      <m:t> </m:t>
                    </m:r>
                  </m:oMath>
                </a14:m>
                <a:r>
                  <a:rPr lang="en-US" altLang="zh-TW" sz="2400" dirty="0" smtClean="0">
                    <a:latin typeface="Times New Roman" panose="02020603050405020304" pitchFamily="18" charset="0"/>
                    <a:cs typeface="Times New Roman" panose="02020603050405020304" pitchFamily="18" charset="0"/>
                  </a:rPr>
                  <a:t>is </a:t>
                </a:r>
                <a:r>
                  <a:rPr lang="en-US" altLang="zh-TW" sz="2400" dirty="0">
                    <a:latin typeface="Times New Roman" panose="02020603050405020304" pitchFamily="18" charset="0"/>
                    <a:cs typeface="Times New Roman" panose="02020603050405020304" pitchFamily="18" charset="0"/>
                  </a:rPr>
                  <a:t>deﬁned by the limit of the </a:t>
                </a:r>
                <a:r>
                  <a:rPr lang="en-US" altLang="zh-TW" sz="2400" dirty="0" smtClean="0">
                    <a:latin typeface="Times New Roman" panose="02020603050405020304" pitchFamily="18" charset="0"/>
                    <a:cs typeface="Times New Roman" panose="02020603050405020304" pitchFamily="18" charset="0"/>
                  </a:rPr>
                  <a:t>ratio of </a:t>
                </a:r>
                <a:r>
                  <a:rPr lang="en-US" altLang="zh-TW" sz="2400" dirty="0">
                    <a:latin typeface="Times New Roman" panose="02020603050405020304" pitchFamily="18" charset="0"/>
                    <a:cs typeface="Times New Roman" panose="02020603050405020304" pitchFamily="18" charset="0"/>
                  </a:rPr>
                  <a:t>change in the slope angle </a:t>
                </a:r>
                <a14:m>
                  <m:oMath xmlns:m="http://schemas.openxmlformats.org/officeDocument/2006/math">
                    <m:r>
                      <a:rPr lang="en-US" altLang="zh-TW" sz="2400" smtClean="0">
                        <a:latin typeface="Cambria Math" panose="02040503050406030204" pitchFamily="18" charset="0"/>
                      </a:rPr>
                      <m:t>ⅆ</m:t>
                    </m:r>
                    <m:r>
                      <a:rPr lang="en-US" altLang="zh-TW" sz="2400" i="1" smtClean="0">
                        <a:latin typeface="Cambria Math" panose="02040503050406030204" pitchFamily="18" charset="0"/>
                      </a:rPr>
                      <m:t>𝜃</m:t>
                    </m:r>
                  </m:oMath>
                </a14:m>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the arc length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𝑑𝑠</m:t>
                    </m:r>
                  </m:oMath>
                </a14:m>
                <a:r>
                  <a:rPr lang="en-US" altLang="zh-TW" sz="2400" dirty="0">
                    <a:latin typeface="Times New Roman" panose="02020603050405020304" pitchFamily="18" charset="0"/>
                    <a:cs typeface="Times New Roman" panose="02020603050405020304" pitchFamily="18" charset="0"/>
                  </a:rPr>
                  <a:t>, while </a:t>
                </a:r>
                <a:r>
                  <a:rPr lang="en-US" altLang="zh-TW" sz="2400" dirty="0" err="1" smtClean="0">
                    <a:latin typeface="Times New Roman" panose="02020603050405020304" pitchFamily="18" charset="0"/>
                    <a:cs typeface="Times New Roman" panose="02020603050405020304" pitchFamily="18" charset="0"/>
                  </a:rPr>
                  <a:t>theradius</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of the curvature R at vertex </a:t>
                </a:r>
                <a14:m>
                  <m:oMath xmlns:m="http://schemas.openxmlformats.org/officeDocument/2006/math">
                    <m:sSub>
                      <m:sSubPr>
                        <m:ctrlPr>
                          <a:rPr lang="zh-TW" altLang="en-US" sz="2400" i="1" dirty="0">
                            <a:latin typeface="Cambria Math" panose="02040503050406030204" pitchFamily="18" charset="0"/>
                          </a:rPr>
                        </m:ctrlPr>
                      </m:sSubPr>
                      <m:e>
                        <m:r>
                          <a:rPr lang="zh-TW" altLang="en-US" sz="2400" i="1" dirty="0">
                            <a:latin typeface="Cambria Math" panose="02040503050406030204" pitchFamily="18" charset="0"/>
                          </a:rPr>
                          <m:t>𝑣</m:t>
                        </m:r>
                      </m:e>
                      <m:sub>
                        <m:r>
                          <a:rPr lang="zh-TW" altLang="en-US" sz="2400" i="1" dirty="0">
                            <a:latin typeface="Cambria Math" panose="02040503050406030204" pitchFamily="18" charset="0"/>
                          </a:rPr>
                          <m:t>𝑖</m:t>
                        </m:r>
                      </m:sub>
                    </m:sSub>
                    <m:r>
                      <a:rPr lang="zh-TW" altLang="en-US" sz="2400" i="1" dirty="0">
                        <a:latin typeface="Cambria Math" panose="02040503050406030204" pitchFamily="18" charset="0"/>
                      </a:rPr>
                      <m:t> </m:t>
                    </m:r>
                  </m:oMath>
                </a14:m>
                <a:r>
                  <a:rPr lang="en-US" altLang="zh-TW" sz="2400" dirty="0" smtClean="0">
                    <a:latin typeface="Times New Roman" panose="02020603050405020304" pitchFamily="18" charset="0"/>
                    <a:cs typeface="Times New Roman" panose="02020603050405020304" pitchFamily="18" charset="0"/>
                  </a:rPr>
                  <a:t>is </a:t>
                </a:r>
                <a:r>
                  <a:rPr lang="en-US" altLang="zh-TW" sz="2400" dirty="0">
                    <a:latin typeface="Times New Roman" panose="02020603050405020304" pitchFamily="18" charset="0"/>
                    <a:cs typeface="Times New Roman" panose="02020603050405020304" pitchFamily="18" charset="0"/>
                  </a:rPr>
                  <a:t>the inverse of the curvature.</a:t>
                </a:r>
                <a:endParaRPr lang="zh-TW" altLang="en-US" sz="2400" dirty="0">
                  <a:latin typeface="Times New Roman" panose="020206030504050203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010811" y="2231284"/>
                <a:ext cx="7092665" cy="1569660"/>
              </a:xfrm>
              <a:prstGeom prst="rect">
                <a:avLst/>
              </a:prstGeom>
              <a:blipFill>
                <a:blip r:embed="rId2"/>
                <a:stretch>
                  <a:fillRect l="-1376" t="-3101" b="-775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010811" y="4134708"/>
                <a:ext cx="7026166" cy="830997"/>
              </a:xfrm>
              <a:prstGeom prst="rect">
                <a:avLst/>
              </a:prstGeom>
            </p:spPr>
            <p:txBody>
              <a:bodyPr wrap="square">
                <a:spAutoFit/>
              </a:bodyPr>
              <a:lstStyle/>
              <a:p>
                <a:r>
                  <a:rPr lang="en-US" altLang="zh-TW" sz="2400" b="1" dirty="0" smtClean="0">
                    <a:latin typeface="Times New Roman" panose="02020603050405020304" pitchFamily="18" charset="0"/>
                    <a:cs typeface="Times New Roman" panose="02020603050405020304" pitchFamily="18" charset="0"/>
                  </a:rPr>
                  <a:t>R</a:t>
                </a:r>
                <a:r>
                  <a:rPr lang="zh-TW" altLang="en-US" sz="2400" b="1" dirty="0" smtClean="0">
                    <a:latin typeface="Times New Roman" panose="02020603050405020304" pitchFamily="18" charset="0"/>
                    <a:cs typeface="Times New Roman" panose="02020603050405020304" pitchFamily="18" charset="0"/>
                  </a:rPr>
                  <a:t>adius </a:t>
                </a:r>
                <a:r>
                  <a:rPr lang="zh-TW" altLang="en-US" sz="2400" b="1" dirty="0">
                    <a:latin typeface="Times New Roman" panose="02020603050405020304" pitchFamily="18" charset="0"/>
                    <a:cs typeface="Times New Roman" panose="02020603050405020304" pitchFamily="18" charset="0"/>
                  </a:rPr>
                  <a:t>of </a:t>
                </a:r>
                <a:r>
                  <a:rPr lang="zh-TW" altLang="en-US" sz="2400" b="1" dirty="0" smtClean="0">
                    <a:latin typeface="Times New Roman" panose="02020603050405020304" pitchFamily="18" charset="0"/>
                    <a:cs typeface="Times New Roman" panose="02020603050405020304" pitchFamily="18" charset="0"/>
                  </a:rPr>
                  <a:t>the curvature </a:t>
                </a:r>
                <a:r>
                  <a:rPr lang="zh-TW" altLang="en-US" sz="2400" b="1" dirty="0">
                    <a:latin typeface="Times New Roman" panose="02020603050405020304" pitchFamily="18" charset="0"/>
                    <a:cs typeface="Times New Roman" panose="02020603050405020304" pitchFamily="18" charset="0"/>
                  </a:rPr>
                  <a:t>R </a:t>
                </a:r>
                <a:r>
                  <a:rPr lang="zh-TW" altLang="en-US" sz="2400" dirty="0">
                    <a:latin typeface="Times New Roman" panose="02020603050405020304" pitchFamily="18" charset="0"/>
                    <a:cs typeface="Times New Roman" panose="02020603050405020304" pitchFamily="18" charset="0"/>
                  </a:rPr>
                  <a:t>at the ith vertex </a:t>
                </a:r>
                <a14:m>
                  <m:oMath xmlns:m="http://schemas.openxmlformats.org/officeDocument/2006/math">
                    <m:sSub>
                      <m:sSubPr>
                        <m:ctrlPr>
                          <a:rPr lang="zh-TW" altLang="en-US" sz="2400" dirty="0" smtClean="0">
                            <a:latin typeface="Cambria Math" panose="02040503050406030204" pitchFamily="18" charset="0"/>
                          </a:rPr>
                        </m:ctrlPr>
                      </m:sSubPr>
                      <m:e>
                        <m:r>
                          <a:rPr lang="zh-TW" altLang="en-US" sz="2400" i="1" dirty="0">
                            <a:latin typeface="Cambria Math" panose="02040503050406030204" pitchFamily="18" charset="0"/>
                          </a:rPr>
                          <m:t>𝑣</m:t>
                        </m:r>
                      </m:e>
                      <m:sub>
                        <m:r>
                          <a:rPr lang="zh-TW" altLang="en-US" sz="2400" i="1" dirty="0">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can be represented as follows:</a:t>
                </a:r>
              </a:p>
            </p:txBody>
          </p:sp>
        </mc:Choice>
        <mc:Fallback>
          <p:sp>
            <p:nvSpPr>
              <p:cNvPr id="6" name="矩形 5"/>
              <p:cNvSpPr>
                <a:spLocks noRot="1" noChangeAspect="1" noMove="1" noResize="1" noEditPoints="1" noAdjustHandles="1" noChangeArrowheads="1" noChangeShapeType="1" noTextEdit="1"/>
              </p:cNvSpPr>
              <p:nvPr/>
            </p:nvSpPr>
            <p:spPr>
              <a:xfrm>
                <a:off x="1010811" y="4134708"/>
                <a:ext cx="7026166" cy="830997"/>
              </a:xfrm>
              <a:prstGeom prst="rect">
                <a:avLst/>
              </a:prstGeom>
              <a:blipFill>
                <a:blip r:embed="rId3"/>
                <a:stretch>
                  <a:fillRect l="-1389" t="-5839" b="-15328"/>
                </a:stretch>
              </a:blipFill>
            </p:spPr>
            <p:txBody>
              <a:bodyPr/>
              <a:lstStyle/>
              <a:p>
                <a:r>
                  <a:rPr lang="zh-TW" altLang="en-US">
                    <a:noFill/>
                  </a:rPr>
                  <a:t> </a:t>
                </a:r>
              </a:p>
            </p:txBody>
          </p:sp>
        </mc:Fallback>
      </mc:AlternateContent>
      <p:pic>
        <p:nvPicPr>
          <p:cNvPr id="8" name="圖片 7"/>
          <p:cNvPicPr>
            <a:picLocks noChangeAspect="1"/>
          </p:cNvPicPr>
          <p:nvPr/>
        </p:nvPicPr>
        <p:blipFill>
          <a:blip r:embed="rId4"/>
          <a:stretch>
            <a:fillRect/>
          </a:stretch>
        </p:blipFill>
        <p:spPr>
          <a:xfrm>
            <a:off x="1010811" y="4965705"/>
            <a:ext cx="3381933" cy="1513902"/>
          </a:xfrm>
          <a:prstGeom prst="rect">
            <a:avLst/>
          </a:prstGeom>
        </p:spPr>
      </p:pic>
      <p:sp>
        <p:nvSpPr>
          <p:cNvPr id="7" name="矩形 6"/>
          <p:cNvSpPr/>
          <p:nvPr/>
        </p:nvSpPr>
        <p:spPr>
          <a:xfrm>
            <a:off x="6906688" y="5491823"/>
            <a:ext cx="962123" cy="461665"/>
          </a:xfrm>
          <a:prstGeom prst="rect">
            <a:avLst/>
          </a:prstGeom>
        </p:spPr>
        <p:txBody>
          <a:bodyPr wrap="none">
            <a:spAutoFit/>
          </a:bodyPr>
          <a:lstStyle/>
          <a:p>
            <a:r>
              <a:rPr lang="zh-TW" altLang="en-US" sz="2400" dirty="0">
                <a:latin typeface="Times New Roman" panose="02020603050405020304" pitchFamily="18" charset="0"/>
                <a:cs typeface="Times New Roman" panose="02020603050405020304" pitchFamily="18" charset="0"/>
              </a:rPr>
              <a:t>Eq</a:t>
            </a:r>
            <a:r>
              <a:rPr lang="zh-TW" altLang="en-US"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6007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675011" y="788857"/>
            <a:ext cx="5902948" cy="4434272"/>
          </a:xfrm>
          <a:prstGeom prst="rect">
            <a:avLst/>
          </a:prstGeom>
        </p:spPr>
      </p:pic>
      <p:sp>
        <p:nvSpPr>
          <p:cNvPr id="2" name="矩形 1"/>
          <p:cNvSpPr/>
          <p:nvPr/>
        </p:nvSpPr>
        <p:spPr>
          <a:xfrm>
            <a:off x="2236756" y="5496398"/>
            <a:ext cx="4628190" cy="400110"/>
          </a:xfrm>
          <a:prstGeom prst="rect">
            <a:avLst/>
          </a:prstGeom>
        </p:spPr>
        <p:txBody>
          <a:bodyPr wrap="none">
            <a:spAutoFit/>
          </a:bodyPr>
          <a:lstStyle/>
          <a:p>
            <a:r>
              <a:rPr lang="zh-TW" altLang="en-US" sz="2000" dirty="0">
                <a:latin typeface="Times New Roman" panose="02020603050405020304" pitchFamily="18" charset="0"/>
                <a:cs typeface="Times New Roman" panose="02020603050405020304" pitchFamily="18" charset="0"/>
              </a:rPr>
              <a:t>Fig. 4. Curvature calculation for a polyline.</a:t>
            </a:r>
          </a:p>
        </p:txBody>
      </p:sp>
    </p:spTree>
    <p:extLst>
      <p:ext uri="{BB962C8B-B14F-4D97-AF65-F5344CB8AC3E}">
        <p14:creationId xmlns:p14="http://schemas.microsoft.com/office/powerpoint/2010/main" val="36953430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859674" y="560774"/>
            <a:ext cx="5466036" cy="4894587"/>
          </a:xfrm>
          <a:prstGeom prst="rect">
            <a:avLst/>
          </a:prstGeom>
        </p:spPr>
      </p:pic>
      <p:sp>
        <p:nvSpPr>
          <p:cNvPr id="5" name="矩形 4"/>
          <p:cNvSpPr/>
          <p:nvPr/>
        </p:nvSpPr>
        <p:spPr>
          <a:xfrm>
            <a:off x="273657" y="5819368"/>
            <a:ext cx="8870343" cy="461665"/>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a:t>
            </a:r>
          </a:p>
        </p:txBody>
      </p:sp>
      <p:sp>
        <p:nvSpPr>
          <p:cNvPr id="2" name="矩形 1"/>
          <p:cNvSpPr/>
          <p:nvPr/>
        </p:nvSpPr>
        <p:spPr>
          <a:xfrm>
            <a:off x="1098705" y="5727034"/>
            <a:ext cx="7220246" cy="646331"/>
          </a:xfrm>
          <a:prstGeom prst="rect">
            <a:avLst/>
          </a:prstGeom>
        </p:spPr>
        <p:txBody>
          <a:bodyPr wrap="none">
            <a:spAutoFit/>
          </a:bodyPr>
          <a:lstStyle/>
          <a:p>
            <a:r>
              <a:rPr lang="zh-TW" altLang="en-US" dirty="0" smtClean="0"/>
              <a:t>Fig. 5.</a:t>
            </a:r>
            <a:r>
              <a:rPr lang="zh-TW" altLang="en-US" dirty="0">
                <a:latin typeface="Times New Roman" panose="02020603050405020304" pitchFamily="18" charset="0"/>
                <a:cs typeface="Times New Roman" panose="02020603050405020304" pitchFamily="18" charset="0"/>
              </a:rPr>
              <a:t> Open Graphics </a:t>
            </a:r>
            <a:r>
              <a:rPr lang="en-US" altLang="zh-TW" dirty="0">
                <a:latin typeface="Times New Roman" panose="02020603050405020304" pitchFamily="18" charset="0"/>
                <a:cs typeface="Times New Roman" panose="02020603050405020304" pitchFamily="18" charset="0"/>
              </a:rPr>
              <a:t>Library (OpenGL) application programming interface</a:t>
            </a:r>
            <a:endParaRPr lang="zh-TW" altLang="en-US" dirty="0">
              <a:latin typeface="Times New Roman" panose="02020603050405020304" pitchFamily="18"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17854308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190" y="5100935"/>
            <a:ext cx="7866993" cy="1015663"/>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Fig. 6. (a) Raw unsmoothed LCP (1.025 km); </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(b</a:t>
            </a:r>
            <a:r>
              <a:rPr lang="zh-TW" altLang="en-US" sz="2000" dirty="0">
                <a:latin typeface="Times New Roman" panose="02020603050405020304" pitchFamily="18" charset="0"/>
                <a:cs typeface="Times New Roman" panose="02020603050405020304" pitchFamily="18" charset="0"/>
              </a:rPr>
              <a:t>) smoothed to 30 km bend radius; </a:t>
            </a:r>
            <a:r>
              <a:rPr lang="zh-TW" altLang="en-US" sz="2000" dirty="0" smtClean="0">
                <a:latin typeface="Times New Roman" panose="02020603050405020304" pitchFamily="18" charset="0"/>
                <a:cs typeface="Times New Roman" panose="02020603050405020304" pitchFamily="18" charset="0"/>
              </a:rPr>
              <a:t> </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(c</a:t>
            </a:r>
            <a:r>
              <a:rPr lang="zh-TW" altLang="en-US" sz="2000" dirty="0">
                <a:latin typeface="Times New Roman" panose="02020603050405020304" pitchFamily="18" charset="0"/>
                <a:cs typeface="Times New Roman" panose="02020603050405020304" pitchFamily="18" charset="0"/>
              </a:rPr>
              <a:t>) smoothed to 90 km bend radius.</a:t>
            </a:r>
          </a:p>
        </p:txBody>
      </p:sp>
      <p:pic>
        <p:nvPicPr>
          <p:cNvPr id="3" name="圖片 2"/>
          <p:cNvPicPr>
            <a:picLocks noChangeAspect="1"/>
          </p:cNvPicPr>
          <p:nvPr/>
        </p:nvPicPr>
        <p:blipFill>
          <a:blip r:embed="rId3"/>
          <a:stretch>
            <a:fillRect/>
          </a:stretch>
        </p:blipFill>
        <p:spPr>
          <a:xfrm>
            <a:off x="408160" y="1166647"/>
            <a:ext cx="8525726" cy="3260835"/>
          </a:xfrm>
          <a:prstGeom prst="rect">
            <a:avLst/>
          </a:prstGeom>
        </p:spPr>
      </p:pic>
      <p:pic>
        <p:nvPicPr>
          <p:cNvPr id="4" name="圖片 3"/>
          <p:cNvPicPr>
            <a:picLocks noChangeAspect="1"/>
          </p:cNvPicPr>
          <p:nvPr/>
        </p:nvPicPr>
        <p:blipFill>
          <a:blip r:embed="rId4"/>
          <a:stretch>
            <a:fillRect/>
          </a:stretch>
        </p:blipFill>
        <p:spPr>
          <a:xfrm>
            <a:off x="511703" y="1250597"/>
            <a:ext cx="8422184" cy="3216984"/>
          </a:xfrm>
          <a:prstGeom prst="rect">
            <a:avLst/>
          </a:prstGeom>
        </p:spPr>
      </p:pic>
      <p:pic>
        <p:nvPicPr>
          <p:cNvPr id="8" name="圖片 7"/>
          <p:cNvPicPr>
            <a:picLocks noChangeAspect="1"/>
          </p:cNvPicPr>
          <p:nvPr/>
        </p:nvPicPr>
        <p:blipFill>
          <a:blip r:embed="rId5"/>
          <a:stretch>
            <a:fillRect/>
          </a:stretch>
        </p:blipFill>
        <p:spPr>
          <a:xfrm>
            <a:off x="445056" y="1166647"/>
            <a:ext cx="8698944" cy="3356563"/>
          </a:xfrm>
          <a:prstGeom prst="rect">
            <a:avLst/>
          </a:prstGeom>
        </p:spPr>
      </p:pic>
    </p:spTree>
    <p:extLst>
      <p:ext uri="{BB962C8B-B14F-4D97-AF65-F5344CB8AC3E}">
        <p14:creationId xmlns:p14="http://schemas.microsoft.com/office/powerpoint/2010/main" val="4002390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91978" y="663341"/>
            <a:ext cx="8741816" cy="4148932"/>
          </a:xfrm>
          <a:prstGeom prst="rect">
            <a:avLst/>
          </a:prstGeom>
        </p:spPr>
      </p:pic>
      <mc:AlternateContent xmlns:mc="http://schemas.openxmlformats.org/markup-compatibility/2006">
        <mc:Choice xmlns:a14="http://schemas.microsoft.com/office/drawing/2010/main" Requires="a14">
          <p:sp>
            <p:nvSpPr>
              <p:cNvPr id="5" name="矩形 4"/>
              <p:cNvSpPr/>
              <p:nvPr/>
            </p:nvSpPr>
            <p:spPr>
              <a:xfrm>
                <a:off x="419183" y="4865978"/>
                <a:ext cx="8287407" cy="1200329"/>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The Laplacian smoothing algorithm is an iterative algorithm, </a:t>
                </a:r>
                <a:r>
                  <a:rPr lang="zh-TW" altLang="en-US" sz="2400" dirty="0">
                    <a:latin typeface="Times New Roman" panose="02020603050405020304" pitchFamily="18" charset="0"/>
                    <a:cs typeface="Times New Roman" panose="02020603050405020304" pitchFamily="18" charset="0"/>
                  </a:rPr>
                  <a:t>and the minimum bend radius can be controlled by </a:t>
                </a:r>
                <a:r>
                  <a:rPr lang="zh-TW" altLang="en-US" sz="2400" dirty="0" smtClean="0">
                    <a:latin typeface="Times New Roman" panose="02020603050405020304" pitchFamily="18" charset="0"/>
                    <a:cs typeface="Times New Roman" panose="02020603050405020304" pitchFamily="18" charset="0"/>
                  </a:rPr>
                  <a:t>the number </a:t>
                </a:r>
                <a:r>
                  <a:rPr lang="zh-TW" altLang="en-US" sz="2400" dirty="0">
                    <a:latin typeface="Times New Roman" panose="02020603050405020304" pitchFamily="18" charset="0"/>
                    <a:cs typeface="Times New Roman" panose="02020603050405020304" pitchFamily="18" charset="0"/>
                  </a:rPr>
                  <a:t>of </a:t>
                </a:r>
                <a:r>
                  <a:rPr lang="zh-TW" altLang="en-US" sz="2400" b="1" dirty="0">
                    <a:latin typeface="Times New Roman" panose="02020603050405020304" pitchFamily="18" charset="0"/>
                    <a:cs typeface="Times New Roman" panose="02020603050405020304" pitchFamily="18" charset="0"/>
                  </a:rPr>
                  <a:t>iterations</a:t>
                </a:r>
                <a:r>
                  <a:rPr lang="zh-TW" altLang="en-US" sz="2400" dirty="0">
                    <a:latin typeface="Times New Roman" panose="02020603050405020304" pitchFamily="18" charset="0"/>
                    <a:cs typeface="Times New Roman" panose="02020603050405020304" pitchFamily="18" charset="0"/>
                  </a:rPr>
                  <a:t> and </a:t>
                </a:r>
                <a:r>
                  <a:rPr lang="zh-TW" altLang="en-US" sz="2400" b="1" dirty="0">
                    <a:latin typeface="Times New Roman" panose="02020603050405020304" pitchFamily="18" charset="0"/>
                    <a:cs typeface="Times New Roman" panose="02020603050405020304" pitchFamily="18" charset="0"/>
                  </a:rPr>
                  <a:t>the scale factor</a:t>
                </a:r>
                <a14:m>
                  <m:oMath xmlns:m="http://schemas.openxmlformats.org/officeDocument/2006/math">
                    <m:r>
                      <a:rPr lang="en-US" altLang="zh-TW" sz="2400" b="1" i="0" smtClean="0">
                        <a:latin typeface="Cambria Math" panose="02040503050406030204" pitchFamily="18" charset="0"/>
                      </a:rPr>
                      <m:t> </m:t>
                    </m:r>
                    <m:r>
                      <a:rPr lang="zh-TW" altLang="en-US" sz="2400" b="1" i="1">
                        <a:latin typeface="Cambria Math" panose="02040503050406030204" pitchFamily="18" charset="0"/>
                      </a:rPr>
                      <m:t>𝝀</m:t>
                    </m:r>
                  </m:oMath>
                </a14:m>
                <a:r>
                  <a:rPr lang="zh-TW" altLang="en-US" sz="2400" b="1"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419183" y="4865978"/>
                <a:ext cx="8287407" cy="1200329"/>
              </a:xfrm>
              <a:prstGeom prst="rect">
                <a:avLst/>
              </a:prstGeom>
              <a:blipFill>
                <a:blip r:embed="rId3"/>
                <a:stretch>
                  <a:fillRect l="-1177" t="-4061" b="-10660"/>
                </a:stretch>
              </a:blipFill>
            </p:spPr>
            <p:txBody>
              <a:bodyPr/>
              <a:lstStyle/>
              <a:p>
                <a:r>
                  <a:rPr lang="zh-TW" altLang="en-US">
                    <a:noFill/>
                  </a:rPr>
                  <a:t> </a:t>
                </a:r>
              </a:p>
            </p:txBody>
          </p:sp>
        </mc:Fallback>
      </mc:AlternateContent>
      <p:sp>
        <p:nvSpPr>
          <p:cNvPr id="6" name="矩形 5"/>
          <p:cNvSpPr/>
          <p:nvPr/>
        </p:nvSpPr>
        <p:spPr>
          <a:xfrm>
            <a:off x="419183" y="147972"/>
            <a:ext cx="1092928" cy="461665"/>
          </a:xfrm>
          <a:prstGeom prst="rect">
            <a:avLst/>
          </a:prstGeom>
        </p:spPr>
        <p:txBody>
          <a:bodyPr wrap="none">
            <a:spAutoFit/>
          </a:bodyPr>
          <a:lstStyle/>
          <a:p>
            <a:r>
              <a:rPr lang="en-US" altLang="zh-TW" sz="2400" dirty="0" err="1" smtClean="0">
                <a:latin typeface="Times New Roman" panose="02020603050405020304" pitchFamily="18" charset="0"/>
                <a:cs typeface="Times New Roman" panose="02020603050405020304" pitchFamily="18" charset="0"/>
              </a:rPr>
              <a:t>Tabel</a:t>
            </a:r>
            <a:r>
              <a:rPr lang="en-US" altLang="zh-TW" sz="2400" dirty="0" smtClean="0">
                <a:latin typeface="Times New Roman" panose="02020603050405020304" pitchFamily="18" charset="0"/>
                <a:cs typeface="Times New Roman" panose="02020603050405020304" pitchFamily="18" charset="0"/>
              </a:rPr>
              <a:t> 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0185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762327" y="343435"/>
            <a:ext cx="7551355" cy="3636207"/>
          </a:xfrm>
          <a:prstGeom prst="rect">
            <a:avLst/>
          </a:prstGeom>
        </p:spPr>
      </p:pic>
      <p:pic>
        <p:nvPicPr>
          <p:cNvPr id="5" name="圖片 4"/>
          <p:cNvPicPr>
            <a:picLocks noChangeAspect="1"/>
          </p:cNvPicPr>
          <p:nvPr/>
        </p:nvPicPr>
        <p:blipFill>
          <a:blip r:embed="rId3"/>
          <a:stretch>
            <a:fillRect/>
          </a:stretch>
        </p:blipFill>
        <p:spPr>
          <a:xfrm>
            <a:off x="693956" y="343435"/>
            <a:ext cx="7767693" cy="3553306"/>
          </a:xfrm>
          <a:prstGeom prst="rect">
            <a:avLst/>
          </a:prstGeom>
        </p:spPr>
      </p:pic>
      <p:pic>
        <p:nvPicPr>
          <p:cNvPr id="6" name="圖片 5"/>
          <p:cNvPicPr>
            <a:picLocks noChangeAspect="1"/>
          </p:cNvPicPr>
          <p:nvPr/>
        </p:nvPicPr>
        <p:blipFill>
          <a:blip r:embed="rId4"/>
          <a:stretch>
            <a:fillRect/>
          </a:stretch>
        </p:blipFill>
        <p:spPr>
          <a:xfrm>
            <a:off x="693956" y="218448"/>
            <a:ext cx="7967937" cy="3678293"/>
          </a:xfrm>
          <a:prstGeom prst="rect">
            <a:avLst/>
          </a:prstGeom>
        </p:spPr>
      </p:pic>
      <p:sp>
        <p:nvSpPr>
          <p:cNvPr id="7" name="矩形 6"/>
          <p:cNvSpPr/>
          <p:nvPr/>
        </p:nvSpPr>
        <p:spPr>
          <a:xfrm>
            <a:off x="1261515" y="4022899"/>
            <a:ext cx="7882485" cy="1015663"/>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Fig. 7. LCPs obtained in a variety of scenarios</a:t>
            </a:r>
            <a:r>
              <a:rPr lang="zh-TW" altLang="en-US" sz="2000" dirty="0" smtClean="0">
                <a:latin typeface="Times New Roman" panose="02020603050405020304" pitchFamily="18" charset="0"/>
                <a:cs typeface="Times New Roman" panose="02020603050405020304" pitchFamily="18" charset="0"/>
              </a:rPr>
              <a:t>:</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a) no obstacle, unsmoothed; </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(b</a:t>
            </a:r>
            <a:r>
              <a:rPr lang="zh-TW" altLang="en-US" sz="2000" dirty="0">
                <a:latin typeface="Times New Roman" panose="02020603050405020304" pitchFamily="18" charset="0"/>
                <a:cs typeface="Times New Roman" panose="02020603050405020304" pitchFamily="18" charset="0"/>
              </a:rPr>
              <a:t>) no obstacle, minimum bend radius </a:t>
            </a:r>
            <a:r>
              <a:rPr lang="en-US" altLang="zh-TW" sz="2000" dirty="0" smtClean="0">
                <a:latin typeface="Times New Roman" panose="02020603050405020304" pitchFamily="18" charset="0"/>
                <a:cs typeface="Times New Roman" panose="02020603050405020304" pitchFamily="18" charset="0"/>
              </a:rPr>
              <a:t>= </a:t>
            </a:r>
            <a:r>
              <a:rPr lang="zh-TW" altLang="en-US" sz="2000" dirty="0" smtClean="0">
                <a:latin typeface="Times New Roman" panose="02020603050405020304" pitchFamily="18" charset="0"/>
                <a:cs typeface="Times New Roman" panose="02020603050405020304" pitchFamily="18" charset="0"/>
              </a:rPr>
              <a:t>30 km</a:t>
            </a:r>
            <a:endParaRPr lang="zh-TW" altLang="en-US" sz="2000" dirty="0">
              <a:latin typeface="Times New Roman" panose="02020603050405020304" pitchFamily="18" charset="0"/>
              <a:cs typeface="Times New Roman" panose="02020603050405020304" pitchFamily="18" charset="0"/>
            </a:endParaRPr>
          </a:p>
        </p:txBody>
      </p:sp>
      <p:sp>
        <p:nvSpPr>
          <p:cNvPr id="8" name="矩形 7"/>
          <p:cNvSpPr/>
          <p:nvPr/>
        </p:nvSpPr>
        <p:spPr>
          <a:xfrm>
            <a:off x="1261514" y="4258880"/>
            <a:ext cx="6395544" cy="400110"/>
          </a:xfrm>
          <a:prstGeom prst="rect">
            <a:avLst/>
          </a:prstGeom>
        </p:spPr>
        <p:txBody>
          <a:bodyPr wrap="square">
            <a:spAutoFit/>
          </a:bodyPr>
          <a:lstStyle/>
          <a:p>
            <a:r>
              <a:rPr lang="zh-TW" altLang="en-US" sz="2000" dirty="0" smtClean="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c) one obstacle, unsmoothed; (d) </a:t>
            </a:r>
            <a:r>
              <a:rPr lang="zh-TW" altLang="en-US" sz="2000" dirty="0" smtClean="0">
                <a:latin typeface="Times New Roman" panose="02020603050405020304" pitchFamily="18" charset="0"/>
                <a:cs typeface="Times New Roman" panose="02020603050405020304" pitchFamily="18" charset="0"/>
              </a:rPr>
              <a:t>one obstacle, </a:t>
            </a:r>
            <a:r>
              <a:rPr lang="zh-TW" altLang="en-US" sz="2000" dirty="0">
                <a:latin typeface="Times New Roman" panose="02020603050405020304" pitchFamily="18" charset="0"/>
                <a:cs typeface="Times New Roman" panose="02020603050405020304" pitchFamily="18" charset="0"/>
              </a:rPr>
              <a:t>30 km</a:t>
            </a:r>
            <a:r>
              <a:rPr lang="zh-TW" altLang="en-US"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p:txBody>
      </p:sp>
      <p:sp>
        <p:nvSpPr>
          <p:cNvPr id="9" name="矩形 8"/>
          <p:cNvSpPr/>
          <p:nvPr/>
        </p:nvSpPr>
        <p:spPr>
          <a:xfrm>
            <a:off x="1261513" y="4638452"/>
            <a:ext cx="5980113" cy="400110"/>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(e) two obstacles, unsmoothed; (f) </a:t>
            </a:r>
            <a:r>
              <a:rPr lang="zh-TW" altLang="en-US" sz="2000" dirty="0" smtClean="0">
                <a:latin typeface="Times New Roman" panose="02020603050405020304" pitchFamily="18" charset="0"/>
                <a:cs typeface="Times New Roman" panose="02020603050405020304" pitchFamily="18" charset="0"/>
              </a:rPr>
              <a:t>two obstacles, </a:t>
            </a:r>
            <a:r>
              <a:rPr lang="zh-TW" altLang="en-US" sz="2000" dirty="0">
                <a:latin typeface="Times New Roman" panose="02020603050405020304" pitchFamily="18" charset="0"/>
                <a:cs typeface="Times New Roman" panose="02020603050405020304" pitchFamily="18" charset="0"/>
              </a:rPr>
              <a:t>30 km</a:t>
            </a:r>
            <a:r>
              <a:rPr lang="zh-TW" altLang="en-US" sz="2000" dirty="0"/>
              <a:t>.</a:t>
            </a:r>
          </a:p>
        </p:txBody>
      </p:sp>
    </p:spTree>
    <p:extLst>
      <p:ext uri="{BB962C8B-B14F-4D97-AF65-F5344CB8AC3E}">
        <p14:creationId xmlns:p14="http://schemas.microsoft.com/office/powerpoint/2010/main" val="393720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xit" presetSubtype="0" fill="hold" grpId="0"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21222</TotalTime>
  <Words>1217</Words>
  <Application>Microsoft Office PowerPoint</Application>
  <PresentationFormat>如螢幕大小 (4:3)</PresentationFormat>
  <Paragraphs>105</Paragraphs>
  <Slides>21</Slides>
  <Notes>4</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21</vt:i4>
      </vt:variant>
    </vt:vector>
  </HeadingPairs>
  <TitlesOfParts>
    <vt:vector size="30" baseType="lpstr">
      <vt:lpstr>微軟正黑體</vt:lpstr>
      <vt:lpstr>新細明體</vt:lpstr>
      <vt:lpstr>標楷體</vt:lpstr>
      <vt:lpstr>Arial</vt:lpstr>
      <vt:lpstr>Calibri</vt:lpstr>
      <vt:lpstr>Calibri Light</vt:lpstr>
      <vt:lpstr>Cambria Math</vt:lpstr>
      <vt:lpstr>Times New Roman</vt:lpstr>
      <vt:lpstr>Office 佈景主題</vt:lpstr>
      <vt:lpstr>Optimisation of pipeline route in the presence of obstacles based on a least cost path algorithm and laplacian smoothing</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Smoothing algorithm</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豐仰 蔡</cp:lastModifiedBy>
  <cp:revision>201</cp:revision>
  <dcterms:created xsi:type="dcterms:W3CDTF">2017-09-25T08:45:50Z</dcterms:created>
  <dcterms:modified xsi:type="dcterms:W3CDTF">2018-09-26T07:42:50Z</dcterms:modified>
</cp:coreProperties>
</file>