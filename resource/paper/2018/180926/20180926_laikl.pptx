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6" r:id="rId7"/>
    <p:sldId id="261" r:id="rId8"/>
    <p:sldId id="270" r:id="rId9"/>
    <p:sldId id="262" r:id="rId10"/>
    <p:sldId id="272" r:id="rId11"/>
    <p:sldId id="269" r:id="rId12"/>
    <p:sldId id="263" r:id="rId13"/>
    <p:sldId id="264" r:id="rId14"/>
    <p:sldId id="265" r:id="rId15"/>
    <p:sldId id="271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077E3B-BF42-4F5A-9736-C902E3A60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47B9E44-359E-4680-BF91-46D7D7DA9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B54E4F-5A19-48D4-B803-83B3EFB1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A533A7-C618-4EE5-96B1-AB1AD6CB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D46952-320A-4CF2-9DB2-EDF29833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417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E6F8B-B7C8-463E-AEC5-714357D8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77049C-6F03-46CC-B2B1-BB3174B91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E4271F-9421-4C7C-9D79-0AED8CE3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42779-EE9E-4E42-BFB1-865B4AF6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4B4112-F1D0-4F70-8AA8-7A2F524B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685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B86843-F369-46BD-B980-5C6A965B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6C0C51-80B2-4457-B815-C860C2EED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CA0AEF-7CDA-4DEF-B919-9C3B3A3F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7EFF26-90F4-48AF-85AE-16549D3D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9968CB-6E2A-4E80-AF4A-E3DA59F9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31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98F37B-3DC4-4813-B510-1C9A194C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BCD06-0C34-4375-A510-5671B852D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6EE32E-8230-4358-8F95-2273B76B7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BEA3CA-8C34-4E05-B2C7-578F5369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C5D630-A84A-4904-97AF-4C3D7546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434969-3CD8-43B6-9A30-638FC912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81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09AFD0-8955-4523-BE69-79E6C82E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5DF26F-7329-48E3-86A5-AC255B419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FE88F2-35F7-430B-8927-7B948957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FC389D1-C6BB-4193-AEBB-556F0F1BD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54B4B43-617F-443F-B8F1-C2731049F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4AFE385-090B-47D9-9166-854A3869F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E5084E7-A94D-44FC-98B5-68CA882B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E00039-72E1-4848-86AE-5C8A6E55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13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21325C-37F9-41E1-9633-46A67E88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7BE906C-235B-466E-99D4-77577B33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CDFFB0-E376-4FCA-81C1-C38ABF98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85191F-7D77-47D7-AD6F-C238943D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811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9E0579-B081-4C26-9D70-B6533CBE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69EAEC-66C9-4CB7-BA87-07E545E7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352164-BC27-423E-AB75-6D907163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93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23B96-8BBB-4E6A-9222-35437E72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04C0F0-6701-4775-AAD5-66A254865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16355A8-6804-4247-89FC-60EA60FC8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B5E865-E9D6-419E-9885-ECA6548C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00428C-4432-4048-820E-EDCEF595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304B8-AEFA-420C-8318-3BDD6EDB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18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810EB7-32CF-44F1-B176-613A17DA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864A8AF-F065-4DBD-B241-DC36E2543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6AFAC9-8CC6-4D20-A170-6D947B408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EE558B-96D8-4A43-BD77-C1F1A41C0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61AE3F-CB0F-4AEE-B501-4EB2F7B1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D8F891-65BD-4812-B41B-36717340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28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266AD7-AEE1-4AB1-986D-2DBFBA09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83D4B4-B85D-468A-B56C-24905D6DA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4B29F9-6A02-4C8B-86D1-7F019307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508476-59F5-4666-A561-40D02B6B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121B41-21FF-4FFE-9330-B4366B6C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2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C7A318-27BF-4B57-A973-26A5C82E2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085F0E-2D61-4CF7-AD78-7E8EF7B13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F3642B-0693-45B7-81CD-4D892DDC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8B2A2C-7754-47BC-B555-4CB24227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03266-DF96-4F42-939A-8AFECCF1F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17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AD6C95F-B3A1-4B16-8B57-2DC035389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74E585-8E77-41FE-B993-705C5F37A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45FF18-B70B-42F3-965B-A82E8C487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40A6D-3A79-48D0-8FDC-CA3BDDEDC8F4}" type="datetimeFigureOut">
              <a:rPr lang="zh-TW" altLang="en-US" smtClean="0"/>
              <a:t>2018/9/26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434921-F5B5-406B-B9AE-5E8E760E8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C34076-BDF0-4B26-A343-4B3E3A728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2E7E0-08EB-4854-8889-FA9400B57A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79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E9046-8327-44F8-B315-3459BE6F9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6817"/>
            <a:ext cx="9144000" cy="2387600"/>
          </a:xfrm>
        </p:spPr>
        <p:txBody>
          <a:bodyPr/>
          <a:lstStyle/>
          <a:p>
            <a:r>
              <a:rPr lang="en-US" altLang="zh-TW" dirty="0"/>
              <a:t>Order preserving pattern matching revisited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8BBD056-7E62-47B9-822D-03B47F3BA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6599"/>
            <a:ext cx="9144000" cy="268960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Md. </a:t>
            </a:r>
            <a:r>
              <a:rPr lang="en-US" altLang="zh-TW" dirty="0" err="1"/>
              <a:t>Mahbubul</a:t>
            </a:r>
            <a:r>
              <a:rPr lang="en-US" altLang="zh-TW" dirty="0"/>
              <a:t> Hasan,</a:t>
            </a:r>
            <a:r>
              <a:rPr lang="zh-TW" altLang="en-US" dirty="0"/>
              <a:t>  </a:t>
            </a:r>
            <a:r>
              <a:rPr lang="en-US" altLang="zh-TW" dirty="0"/>
              <a:t> A.S.M. </a:t>
            </a:r>
            <a:r>
              <a:rPr lang="en-US" altLang="zh-TW" dirty="0" err="1"/>
              <a:t>Shohidull</a:t>
            </a:r>
            <a:r>
              <a:rPr lang="en-US" altLang="zh-TW" dirty="0"/>
              <a:t> Islam </a:t>
            </a:r>
            <a:br>
              <a:rPr lang="en-US" altLang="zh-TW" dirty="0"/>
            </a:br>
            <a:r>
              <a:rPr lang="en-US" altLang="zh-TW" dirty="0"/>
              <a:t>Mohammad </a:t>
            </a:r>
            <a:r>
              <a:rPr lang="en-US" altLang="zh-TW" dirty="0" err="1"/>
              <a:t>Saifur</a:t>
            </a:r>
            <a:r>
              <a:rPr lang="en-US" altLang="zh-TW" dirty="0"/>
              <a:t> Rahman, </a:t>
            </a:r>
            <a:r>
              <a:rPr lang="zh-TW" altLang="en-US" dirty="0"/>
              <a:t>  </a:t>
            </a:r>
            <a:r>
              <a:rPr lang="en-US" altLang="zh-TW" dirty="0"/>
              <a:t>M. </a:t>
            </a:r>
            <a:r>
              <a:rPr lang="en-US" altLang="zh-TW" dirty="0" err="1"/>
              <a:t>Sohel</a:t>
            </a:r>
            <a:r>
              <a:rPr lang="en-US" altLang="zh-TW" dirty="0"/>
              <a:t> Rahman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Pattern Recognition Letters 55 (2015) 15–21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                                                                                    </a:t>
            </a:r>
            <a:br>
              <a:rPr lang="en-US" altLang="zh-TW" dirty="0"/>
            </a:br>
            <a:r>
              <a:rPr lang="en-US" altLang="zh-TW" dirty="0"/>
              <a:t>Presenter</a:t>
            </a:r>
            <a:r>
              <a:rPr lang="zh-TW" altLang="en-US" dirty="0"/>
              <a:t>：</a:t>
            </a:r>
            <a:r>
              <a:rPr lang="en-US" altLang="zh-TW" dirty="0" err="1"/>
              <a:t>Kuan</a:t>
            </a:r>
            <a:r>
              <a:rPr lang="en-US" altLang="zh-TW" dirty="0"/>
              <a:t>-Lin Lai</a:t>
            </a:r>
            <a:br>
              <a:rPr lang="en-US" altLang="zh-TW" dirty="0"/>
            </a:br>
            <a:r>
              <a:rPr lang="en-US" altLang="zh-TW" dirty="0"/>
              <a:t>Date</a:t>
            </a:r>
            <a:r>
              <a:rPr lang="zh-TW" altLang="en-US" dirty="0"/>
              <a:t>：</a:t>
            </a:r>
            <a:r>
              <a:rPr lang="en-US" altLang="zh-TW" dirty="0"/>
              <a:t>2018/09/26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020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646F13-0FBA-4B6B-90F6-EFBE5B3E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BE5C0A-DD90-4378-8A70-1514D59D4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In this paper, we study the order preserving pattern matching (OPPM) problem, which is a very recent variant of the classic pattern matching problem. We revisit this variant, present a new interesting pattern matching algorithm and for the first time consider string regularities from this new perspective.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843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50B539-7C29-4900-9F62-DEF8FD95F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085" y="5067754"/>
            <a:ext cx="9080641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Text</a:t>
            </a:r>
            <a:r>
              <a:rPr lang="zh-TW" altLang="en-US" sz="2800" dirty="0"/>
              <a:t>         </a:t>
            </a:r>
            <a:r>
              <a:rPr lang="en-US" altLang="zh-TW" sz="2800" dirty="0"/>
              <a:t>T= 5,15,10,20,17,23,23,8,15,28,10,20</a:t>
            </a:r>
            <a:br>
              <a:rPr lang="en-US" altLang="zh-TW" sz="2800" dirty="0"/>
            </a:br>
            <a:r>
              <a:rPr lang="en-US" altLang="zh-TW" sz="2800" dirty="0"/>
              <a:t>Pattern   P=30,28,35,35,20,25,37</a:t>
            </a:r>
            <a:endParaRPr lang="zh-TW" altLang="en-US" sz="28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EF2C4A2-ACAD-4BD2-B738-4ECE2296D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629" y="365125"/>
            <a:ext cx="6767055" cy="4351338"/>
          </a:xfrm>
        </p:spPr>
      </p:pic>
    </p:spTree>
    <p:extLst>
      <p:ext uri="{BB962C8B-B14F-4D97-AF65-F5344CB8AC3E}">
        <p14:creationId xmlns:p14="http://schemas.microsoft.com/office/powerpoint/2010/main" val="475746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DE355-450A-4F13-959D-326919DC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Preliminaries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319FD5-9D30-4ECD-9F7C-5B7721857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574"/>
            <a:ext cx="10515600" cy="4949301"/>
          </a:xfrm>
        </p:spPr>
        <p:txBody>
          <a:bodyPr>
            <a:normAutofit/>
          </a:bodyPr>
          <a:lstStyle/>
          <a:p>
            <a:r>
              <a:rPr lang="en-US" altLang="zh-TW" sz="2600" dirty="0"/>
              <a:t>If</a:t>
            </a:r>
            <a:r>
              <a:rPr lang="zh-TW" altLang="en-US" sz="2600" dirty="0"/>
              <a:t> </a:t>
            </a:r>
            <a:r>
              <a:rPr lang="en-US" altLang="zh-TW" sz="2600" dirty="0"/>
              <a:t>a string S = (S[1], S[2],..., S[n])</a:t>
            </a:r>
            <a:br>
              <a:rPr lang="en-US" altLang="zh-TW" sz="2600" dirty="0"/>
            </a:br>
            <a:r>
              <a:rPr lang="en-US" altLang="zh-TW" sz="2600" dirty="0"/>
              <a:t>The rank of a number c in a string S is defined as follows</a:t>
            </a:r>
            <a:r>
              <a:rPr lang="zh-TW" altLang="en-US" sz="2600" dirty="0"/>
              <a:t>：</a:t>
            </a:r>
            <a:endParaRPr lang="en-US" altLang="zh-TW" sz="2600" dirty="0"/>
          </a:p>
          <a:p>
            <a:pPr marL="0" indent="0" algn="ctr">
              <a:buNone/>
            </a:pPr>
            <a:r>
              <a:rPr lang="en-US" altLang="zh-TW" sz="2600" dirty="0" err="1"/>
              <a:t>rank</a:t>
            </a:r>
            <a:r>
              <a:rPr lang="en-US" altLang="zh-TW" sz="2600" baseline="-25000" dirty="0" err="1"/>
              <a:t>S</a:t>
            </a:r>
            <a:r>
              <a:rPr lang="en-US" altLang="zh-TW" sz="2600" dirty="0"/>
              <a:t>(c) = 1 + |{</a:t>
            </a:r>
            <a:r>
              <a:rPr lang="en-US" altLang="zh-TW" sz="2600" dirty="0" err="1"/>
              <a:t>i</a:t>
            </a:r>
            <a:r>
              <a:rPr lang="en-US" altLang="zh-TW" sz="2600" dirty="0"/>
              <a:t> | S[</a:t>
            </a:r>
            <a:r>
              <a:rPr lang="en-US" altLang="zh-TW" sz="2600" dirty="0" err="1"/>
              <a:t>i</a:t>
            </a:r>
            <a:r>
              <a:rPr lang="en-US" altLang="zh-TW" sz="2600" dirty="0"/>
              <a:t>] &lt; c, 1 ≤ </a:t>
            </a:r>
            <a:r>
              <a:rPr lang="en-US" altLang="zh-TW" sz="2600" dirty="0" err="1"/>
              <a:t>i</a:t>
            </a:r>
            <a:r>
              <a:rPr lang="en-US" altLang="zh-TW" sz="2600" dirty="0"/>
              <a:t> ≤ |S|}|</a:t>
            </a:r>
          </a:p>
          <a:p>
            <a:pPr marL="0" indent="0" algn="ctr">
              <a:buNone/>
            </a:pPr>
            <a:endParaRPr lang="en-US" altLang="zh-TW" sz="2600" dirty="0"/>
          </a:p>
          <a:p>
            <a:r>
              <a:rPr lang="en-US" altLang="zh-TW" sz="2600" dirty="0"/>
              <a:t>The order preserving representation (OPR) of a string S</a:t>
            </a:r>
            <a:r>
              <a:rPr lang="zh-TW" altLang="en-US" sz="2600" dirty="0"/>
              <a:t>：</a:t>
            </a:r>
            <a:endParaRPr lang="en-US" altLang="zh-TW" sz="2600" dirty="0"/>
          </a:p>
          <a:p>
            <a:pPr marL="0" indent="0" algn="ctr">
              <a:buNone/>
            </a:pPr>
            <a:r>
              <a:rPr lang="el-GR" altLang="zh-TW" sz="2600" dirty="0"/>
              <a:t>σ (</a:t>
            </a:r>
            <a:r>
              <a:rPr lang="en-US" altLang="zh-TW" sz="2600" dirty="0"/>
              <a:t>S) = </a:t>
            </a:r>
            <a:r>
              <a:rPr lang="en-US" altLang="zh-TW" sz="2600" dirty="0" err="1"/>
              <a:t>rank</a:t>
            </a:r>
            <a:r>
              <a:rPr lang="en-US" altLang="zh-TW" sz="2600" baseline="-25000" dirty="0" err="1"/>
              <a:t>S</a:t>
            </a:r>
            <a:r>
              <a:rPr lang="en-US" altLang="zh-TW" sz="2600" dirty="0"/>
              <a:t>(S[1]), </a:t>
            </a:r>
            <a:r>
              <a:rPr lang="en-US" altLang="zh-TW" sz="2600" dirty="0" err="1"/>
              <a:t>rank</a:t>
            </a:r>
            <a:r>
              <a:rPr lang="en-US" altLang="zh-TW" sz="2600" baseline="-25000" dirty="0" err="1"/>
              <a:t>S</a:t>
            </a:r>
            <a:r>
              <a:rPr lang="en-US" altLang="zh-TW" sz="2600" dirty="0"/>
              <a:t>(S[2]),..., </a:t>
            </a:r>
            <a:r>
              <a:rPr lang="en-US" altLang="zh-TW" sz="2600" dirty="0" err="1"/>
              <a:t>rank</a:t>
            </a:r>
            <a:r>
              <a:rPr lang="en-US" altLang="zh-TW" sz="2600" baseline="-25000" dirty="0" err="1"/>
              <a:t>S</a:t>
            </a:r>
            <a:r>
              <a:rPr lang="en-US" altLang="zh-TW" sz="2600" dirty="0"/>
              <a:t>(S[|S|]).</a:t>
            </a:r>
            <a:br>
              <a:rPr lang="en-US" altLang="zh-TW" dirty="0"/>
            </a:b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EX</a:t>
            </a:r>
            <a:r>
              <a:rPr lang="zh-TW" altLang="en-US" dirty="0"/>
              <a:t>：</a:t>
            </a:r>
            <a:r>
              <a:rPr lang="en-US" altLang="zh-TW" dirty="0"/>
              <a:t> S      = 30,28,35,35,20,25,37        </a:t>
            </a:r>
          </a:p>
          <a:p>
            <a:pPr marL="0" indent="0">
              <a:buNone/>
            </a:pPr>
            <a:r>
              <a:rPr lang="en-US" altLang="zh-TW" dirty="0"/>
              <a:t>             </a:t>
            </a:r>
            <a:r>
              <a:rPr lang="el-GR" altLang="zh-TW" dirty="0"/>
              <a:t>σ (</a:t>
            </a:r>
            <a:r>
              <a:rPr lang="en-US" altLang="zh-TW" dirty="0"/>
              <a:t>S) =  4   3    5   5   1    2   7</a:t>
            </a:r>
          </a:p>
        </p:txBody>
      </p:sp>
    </p:spTree>
    <p:extLst>
      <p:ext uri="{BB962C8B-B14F-4D97-AF65-F5344CB8AC3E}">
        <p14:creationId xmlns:p14="http://schemas.microsoft.com/office/powerpoint/2010/main" val="101872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3ED616-C9BD-4B2A-A1A1-B36EDFF8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225"/>
          </a:xfrm>
        </p:spPr>
        <p:txBody>
          <a:bodyPr/>
          <a:lstStyle/>
          <a:p>
            <a:r>
              <a:rPr lang="en-US" altLang="zh-TW" dirty="0"/>
              <a:t>Modified Z-function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03FD8A-2433-4632-A6A6-F37B53EB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10515600" cy="5100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The Z-function, Z</a:t>
            </a:r>
            <a:r>
              <a:rPr lang="en-US" altLang="zh-TW" baseline="-25000" dirty="0"/>
              <a:t>i</a:t>
            </a:r>
            <a:r>
              <a:rPr lang="en-US" altLang="zh-TW" dirty="0"/>
              <a:t>(S)  is the length of the longest substring of S that starts at position </a:t>
            </a:r>
            <a:r>
              <a:rPr lang="en-US" altLang="zh-TW" dirty="0" err="1"/>
              <a:t>i</a:t>
            </a:r>
            <a:r>
              <a:rPr lang="en-US" altLang="zh-TW" dirty="0"/>
              <a:t> and matches a prefix of S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     </a:t>
            </a:r>
            <a:br>
              <a:rPr lang="en-US" altLang="zh-TW" dirty="0"/>
            </a:br>
            <a:r>
              <a:rPr lang="en-US" altLang="zh-TW" dirty="0"/>
              <a:t>   </a:t>
            </a:r>
            <a:br>
              <a:rPr lang="en-US" altLang="zh-TW" dirty="0"/>
            </a:br>
            <a:r>
              <a:rPr lang="en-US" altLang="zh-TW" dirty="0"/>
              <a:t>   </a:t>
            </a:r>
            <a:br>
              <a:rPr lang="en-US" altLang="zh-TW" dirty="0"/>
            </a:b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Given a string S, the modified Z-function Z</a:t>
            </a:r>
            <a:r>
              <a:rPr lang="en-US" altLang="zh-TW" baseline="-25000" dirty="0"/>
              <a:t>i</a:t>
            </a:r>
            <a:r>
              <a:rPr lang="en-US" altLang="zh-TW" dirty="0"/>
              <a:t>(S), 1 ≤ </a:t>
            </a:r>
            <a:r>
              <a:rPr lang="en-US" altLang="zh-TW" dirty="0" err="1"/>
              <a:t>i</a:t>
            </a:r>
            <a:r>
              <a:rPr lang="en-US" altLang="zh-TW" dirty="0"/>
              <a:t> ≤ |S| is the length of the longest prefix P of </a:t>
            </a:r>
            <a:r>
              <a:rPr lang="en-US" altLang="zh-TW" dirty="0" err="1"/>
              <a:t>suffix</a:t>
            </a:r>
            <a:r>
              <a:rPr lang="en-US" altLang="zh-TW" baseline="-25000" dirty="0" err="1"/>
              <a:t>i</a:t>
            </a:r>
            <a:r>
              <a:rPr lang="en-US" altLang="zh-TW" dirty="0"/>
              <a:t>(S)such that σ (P) = σ (S[1, |P|]).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EX</a:t>
            </a:r>
            <a:r>
              <a:rPr lang="zh-TW" altLang="en-US" dirty="0"/>
              <a:t>：   </a:t>
            </a:r>
            <a:r>
              <a:rPr lang="en-US" altLang="zh-TW" dirty="0"/>
              <a:t>        S   = ( 11, 18, 24, 20, 25, 29 )</a:t>
            </a:r>
          </a:p>
          <a:p>
            <a:pPr marL="0" indent="0">
              <a:buNone/>
            </a:pPr>
            <a:r>
              <a:rPr lang="en-US" altLang="zh-TW" dirty="0"/>
              <a:t>                 Z(S) =     6     2    1     3    2    1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309666-8EAE-49F5-BBF7-C0A7BD233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04" y="2523132"/>
            <a:ext cx="8786812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25FFF-16DD-4475-8849-64F2E160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Z-function construction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928373-7F2A-4AA3-B949-07BCC10FA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158" y="1783680"/>
            <a:ext cx="6087325" cy="3029373"/>
          </a:xfrm>
          <a:prstGeom prst="rect">
            <a:avLst/>
          </a:prstGeom>
        </p:spPr>
      </p:pic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6CEA993-DB8C-4825-8905-15DA45EBF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05" y="1783680"/>
            <a:ext cx="5196103" cy="4351338"/>
          </a:xfr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87D7F75-CA0E-45BA-B12D-D5FD2CF0F5EA}"/>
              </a:ext>
            </a:extLst>
          </p:cNvPr>
          <p:cNvSpPr/>
          <p:nvPr/>
        </p:nvSpPr>
        <p:spPr>
          <a:xfrm>
            <a:off x="2252870" y="3298366"/>
            <a:ext cx="1934817" cy="279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D1F985-2DFB-4E97-878E-CD3831765488}"/>
              </a:ext>
            </a:extLst>
          </p:cNvPr>
          <p:cNvSpPr/>
          <p:nvPr/>
        </p:nvSpPr>
        <p:spPr>
          <a:xfrm>
            <a:off x="2040835" y="3684104"/>
            <a:ext cx="3697356" cy="279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09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F085E5-4B1C-4C5A-BC8E-132D9ED0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Z-function construction</a:t>
            </a:r>
            <a:r>
              <a:rPr lang="zh-TW" altLang="en-US" dirty="0"/>
              <a:t>：</a:t>
            </a:r>
            <a:r>
              <a:rPr lang="en-US" altLang="zh-TW" dirty="0"/>
              <a:t>min( R-i+1, Z(i-L+1) )</a:t>
            </a:r>
            <a:endParaRPr lang="zh-TW" alt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0661506E-A8CB-438A-A697-311AF2D11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Example 1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E2E9BBE-A543-4C5B-9815-2F2F2702B7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br>
              <a:rPr lang="en-US" altLang="zh-TW" dirty="0"/>
            </a:br>
            <a:endParaRPr lang="en-US" altLang="zh-TW" dirty="0"/>
          </a:p>
          <a:p>
            <a:pPr marL="0" indent="0">
              <a:lnSpc>
                <a:spcPct val="150000"/>
              </a:lnSpc>
              <a:buNone/>
            </a:pPr>
            <a:endParaRPr lang="en-US" altLang="zh-TW" dirty="0"/>
          </a:p>
          <a:p>
            <a:pPr marL="0" indent="0">
              <a:lnSpc>
                <a:spcPct val="150000"/>
              </a:lnSpc>
              <a:buNone/>
            </a:pPr>
            <a:endParaRPr lang="en-US" altLang="zh-TW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                                     </a:t>
            </a:r>
            <a:endParaRPr lang="zh-TW" altLang="en-US" dirty="0"/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B88077BF-B364-4382-87DF-21AE054CB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zh-TW" dirty="0"/>
              <a:t>Example 2</a:t>
            </a:r>
            <a:endParaRPr lang="zh-TW" altLang="en-US" dirty="0"/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941F2332-D905-4EF2-8892-4ADABF4DA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169"/>
            <a:ext cx="5183188" cy="355449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L  =           1      2     3     3      3</a:t>
            </a:r>
            <a:br>
              <a:rPr lang="en-US" altLang="zh-TW" dirty="0"/>
            </a:br>
            <a:r>
              <a:rPr lang="en-US" altLang="zh-TW" dirty="0"/>
              <a:t>R  =           1      2     6     6      6</a:t>
            </a:r>
            <a:br>
              <a:rPr lang="en-US" altLang="zh-TW" dirty="0"/>
            </a:br>
            <a:r>
              <a:rPr lang="en-US" altLang="zh-TW" dirty="0"/>
              <a:t>S  =</a:t>
            </a:r>
            <a:r>
              <a:rPr lang="zh-TW" altLang="en-US" dirty="0"/>
              <a:t>  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5,</a:t>
            </a:r>
            <a:r>
              <a:rPr lang="zh-TW" altLang="en-US" dirty="0"/>
              <a:t>  </a:t>
            </a:r>
            <a:r>
              <a:rPr lang="en-US" altLang="zh-TW" dirty="0"/>
              <a:t>15,</a:t>
            </a:r>
            <a:r>
              <a:rPr lang="zh-TW" altLang="en-US" dirty="0"/>
              <a:t>  </a:t>
            </a:r>
            <a:r>
              <a:rPr lang="en-US" altLang="zh-TW" dirty="0"/>
              <a:t>10,</a:t>
            </a:r>
            <a:r>
              <a:rPr lang="zh-TW" altLang="en-US" dirty="0"/>
              <a:t>  </a:t>
            </a:r>
            <a:r>
              <a:rPr lang="en-US" altLang="zh-TW" dirty="0"/>
              <a:t>20,</a:t>
            </a:r>
            <a:r>
              <a:rPr lang="zh-TW" altLang="en-US" dirty="0"/>
              <a:t>  </a:t>
            </a:r>
            <a:r>
              <a:rPr lang="en-US" altLang="zh-TW" dirty="0"/>
              <a:t>17,</a:t>
            </a:r>
            <a:r>
              <a:rPr lang="zh-TW" altLang="en-US" dirty="0"/>
              <a:t>  </a:t>
            </a:r>
            <a:r>
              <a:rPr lang="en-US" altLang="zh-TW" dirty="0"/>
              <a:t>23 )</a:t>
            </a:r>
            <a:br>
              <a:rPr lang="en-US" altLang="zh-TW" dirty="0"/>
            </a:br>
            <a:r>
              <a:rPr lang="en-US" altLang="zh-TW" dirty="0"/>
              <a:t>Z(S) =  6    1     4     1      2     1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943A88-F6C3-49E9-95CA-64625E2A4A6B}"/>
              </a:ext>
            </a:extLst>
          </p:cNvPr>
          <p:cNvSpPr/>
          <p:nvPr/>
        </p:nvSpPr>
        <p:spPr>
          <a:xfrm>
            <a:off x="1166326" y="2635169"/>
            <a:ext cx="9705805" cy="390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 </a:t>
            </a:r>
            <a:r>
              <a:rPr lang="en-US" altLang="zh-TW" sz="2800" dirty="0"/>
              <a:t>L</a:t>
            </a:r>
            <a:r>
              <a:rPr lang="zh-TW" altLang="en-US" sz="2800" dirty="0"/>
              <a:t>  </a:t>
            </a:r>
            <a:r>
              <a:rPr lang="en-US" altLang="zh-TW" sz="2800" dirty="0"/>
              <a:t>=</a:t>
            </a:r>
            <a:r>
              <a:rPr lang="zh-TW" altLang="en-US" sz="2800" dirty="0"/>
              <a:t>           </a:t>
            </a:r>
            <a:r>
              <a:rPr lang="en-US" altLang="zh-TW" sz="2800" dirty="0"/>
              <a:t>1</a:t>
            </a:r>
            <a:r>
              <a:rPr lang="zh-TW" altLang="en-US" sz="2800" dirty="0"/>
              <a:t>    </a:t>
            </a:r>
            <a:r>
              <a:rPr lang="en-US" altLang="zh-TW" sz="2800" dirty="0"/>
              <a:t>2</a:t>
            </a:r>
            <a:r>
              <a:rPr lang="zh-TW" altLang="en-US" sz="2800" dirty="0"/>
              <a:t>    </a:t>
            </a:r>
            <a:r>
              <a:rPr lang="en-US" altLang="zh-TW" sz="2800" dirty="0"/>
              <a:t>2</a:t>
            </a:r>
            <a:r>
              <a:rPr lang="zh-TW" altLang="en-US" sz="2800" dirty="0"/>
              <a:t>     </a:t>
            </a:r>
            <a:r>
              <a:rPr lang="en-US" altLang="zh-TW" sz="2800" dirty="0"/>
              <a:t>4</a:t>
            </a:r>
            <a:r>
              <a:rPr lang="zh-TW" altLang="en-US" sz="2800" dirty="0"/>
              <a:t>     </a:t>
            </a:r>
            <a:r>
              <a:rPr lang="en-US" altLang="zh-TW" sz="2800" dirty="0"/>
              <a:t>4</a:t>
            </a:r>
            <a:r>
              <a:rPr lang="zh-TW" altLang="en-US" sz="2800" dirty="0"/>
              <a:t>   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 </a:t>
            </a:r>
            <a:r>
              <a:rPr lang="en-US" altLang="zh-TW" sz="2800" kern="1300" dirty="0"/>
              <a:t>R</a:t>
            </a:r>
            <a:r>
              <a:rPr lang="zh-TW" altLang="en-US" sz="2800" kern="1300" dirty="0"/>
              <a:t>  </a:t>
            </a:r>
            <a:r>
              <a:rPr lang="en-US" altLang="zh-TW" sz="2800" kern="1300" dirty="0"/>
              <a:t>=</a:t>
            </a:r>
            <a:r>
              <a:rPr lang="zh-TW" altLang="en-US" sz="2800" dirty="0"/>
              <a:t>           </a:t>
            </a:r>
            <a:r>
              <a:rPr lang="en-US" altLang="zh-TW" sz="2800" dirty="0"/>
              <a:t>1</a:t>
            </a:r>
            <a:r>
              <a:rPr lang="zh-TW" altLang="en-US" sz="2800" dirty="0"/>
              <a:t>    </a:t>
            </a:r>
            <a:r>
              <a:rPr lang="en-US" altLang="zh-TW" sz="2800" dirty="0"/>
              <a:t>3</a:t>
            </a:r>
            <a:r>
              <a:rPr lang="zh-TW" altLang="en-US" sz="2800" dirty="0"/>
              <a:t>    </a:t>
            </a:r>
            <a:r>
              <a:rPr lang="en-US" altLang="zh-TW" sz="2800" dirty="0"/>
              <a:t>3</a:t>
            </a:r>
            <a:r>
              <a:rPr lang="zh-TW" altLang="en-US" sz="2800" dirty="0"/>
              <a:t>     </a:t>
            </a:r>
            <a:r>
              <a:rPr lang="en-US" altLang="zh-TW" sz="2800" dirty="0"/>
              <a:t>6</a:t>
            </a:r>
            <a:r>
              <a:rPr lang="zh-TW" altLang="en-US" sz="2800" dirty="0"/>
              <a:t>    </a:t>
            </a:r>
            <a:r>
              <a:rPr lang="en-US" altLang="zh-TW" sz="2800" dirty="0"/>
              <a:t>6</a:t>
            </a:r>
            <a:r>
              <a:rPr lang="zh-TW" altLang="en-US" sz="2800" dirty="0"/>
              <a:t>   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 </a:t>
            </a:r>
            <a:r>
              <a:rPr lang="en-US" altLang="zh-TW" sz="2800" dirty="0"/>
              <a:t>S</a:t>
            </a:r>
            <a:r>
              <a:rPr lang="zh-TW" altLang="en-US" sz="2800" dirty="0"/>
              <a:t>  </a:t>
            </a:r>
            <a:r>
              <a:rPr lang="en-US" altLang="zh-TW" sz="2800" dirty="0"/>
              <a:t>=  (</a:t>
            </a:r>
            <a:r>
              <a:rPr lang="zh-TW" altLang="en-US" sz="2800" dirty="0"/>
              <a:t> </a:t>
            </a:r>
            <a:r>
              <a:rPr lang="en-US" altLang="zh-TW" sz="2800" dirty="0"/>
              <a:t>11</a:t>
            </a:r>
            <a:r>
              <a:rPr lang="zh-TW" altLang="en-US" sz="2800" dirty="0"/>
              <a:t>  </a:t>
            </a:r>
            <a:r>
              <a:rPr lang="en-US" altLang="zh-TW" sz="2800" dirty="0"/>
              <a:t>18</a:t>
            </a:r>
            <a:r>
              <a:rPr lang="zh-TW" altLang="en-US" sz="2800" dirty="0"/>
              <a:t>  </a:t>
            </a:r>
            <a:r>
              <a:rPr lang="en-US" altLang="zh-TW" sz="2800" dirty="0"/>
              <a:t>24</a:t>
            </a:r>
            <a:r>
              <a:rPr lang="zh-TW" altLang="en-US" sz="2800" dirty="0"/>
              <a:t>  </a:t>
            </a:r>
            <a:r>
              <a:rPr lang="en-US" altLang="zh-TW" sz="2800" dirty="0"/>
              <a:t>20</a:t>
            </a:r>
            <a:r>
              <a:rPr lang="zh-TW" altLang="en-US" sz="2800" dirty="0"/>
              <a:t>  </a:t>
            </a:r>
            <a:r>
              <a:rPr lang="en-US" altLang="zh-TW" sz="2800" dirty="0"/>
              <a:t>25</a:t>
            </a:r>
            <a:r>
              <a:rPr lang="zh-TW" altLang="en-US" sz="2800" dirty="0"/>
              <a:t>  </a:t>
            </a:r>
            <a:r>
              <a:rPr lang="en-US" altLang="zh-TW" sz="2800" dirty="0"/>
              <a:t>29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Z(S) =</a:t>
            </a:r>
            <a:r>
              <a:rPr lang="zh-TW" altLang="en-US" sz="2800" dirty="0"/>
              <a:t>   </a:t>
            </a:r>
            <a:r>
              <a:rPr lang="en-US" altLang="zh-TW" sz="2800" dirty="0"/>
              <a:t>6</a:t>
            </a:r>
            <a:r>
              <a:rPr lang="zh-TW" altLang="en-US" sz="2800" dirty="0"/>
              <a:t>    </a:t>
            </a:r>
            <a:r>
              <a:rPr lang="en-US" altLang="zh-TW" sz="2800" dirty="0"/>
              <a:t>2</a:t>
            </a:r>
            <a:r>
              <a:rPr lang="zh-TW" altLang="en-US" sz="2800" dirty="0"/>
              <a:t>    </a:t>
            </a:r>
            <a:r>
              <a:rPr lang="en-US" altLang="zh-TW" sz="2800" dirty="0"/>
              <a:t>1</a:t>
            </a:r>
            <a:r>
              <a:rPr lang="zh-TW" altLang="en-US" sz="2800" dirty="0"/>
              <a:t>    </a:t>
            </a:r>
            <a:r>
              <a:rPr lang="en-US" altLang="zh-TW" sz="2800" dirty="0"/>
              <a:t>3</a:t>
            </a:r>
            <a:r>
              <a:rPr lang="zh-TW" altLang="en-US" sz="2800" dirty="0"/>
              <a:t>     </a:t>
            </a:r>
            <a:r>
              <a:rPr lang="en-US" altLang="zh-TW" sz="2800" dirty="0"/>
              <a:t>2</a:t>
            </a:r>
            <a:r>
              <a:rPr lang="zh-TW" altLang="en-US" sz="2800" dirty="0"/>
              <a:t>    </a:t>
            </a:r>
            <a:r>
              <a:rPr lang="en-US" altLang="zh-TW" sz="2800" dirty="0"/>
              <a:t>1</a:t>
            </a:r>
            <a:br>
              <a:rPr lang="en-US" altLang="zh-TW" sz="2800" dirty="0"/>
            </a:br>
            <a:br>
              <a:rPr lang="en-US" altLang="zh-TW" sz="2800" dirty="0"/>
            </a:br>
            <a:r>
              <a:rPr lang="en-US" altLang="zh-TW" sz="2800" dirty="0"/>
              <a:t>If  σ (S[L,R]) = σ (S[1, R-L+1]) =&gt; σ (S[</a:t>
            </a:r>
            <a:r>
              <a:rPr lang="en-US" altLang="zh-TW" sz="2800" dirty="0" err="1"/>
              <a:t>i,R</a:t>
            </a:r>
            <a:r>
              <a:rPr lang="en-US" altLang="zh-TW" sz="2800" dirty="0"/>
              <a:t>]) = σ (S[i-L+1, R-L+1]) 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2905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963D2A-5D27-4367-A712-DEFE0D76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Correctness of this 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D518E2-A3FE-4785-8822-71CFB1760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Lemma1</a:t>
            </a:r>
            <a:r>
              <a:rPr lang="zh-TW" altLang="en-US" dirty="0"/>
              <a:t>：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Let S and T be two strings such that σ (S) = σ (T). Now assume that s and t are any numbers. Then we must also have σ (Ss) = σ (Tt).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Lemma2</a:t>
            </a:r>
            <a:r>
              <a:rPr lang="zh-TW" altLang="en-US" dirty="0"/>
              <a:t>：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Let S and T are two strings such that |S| = |T| and σ (S) = σ (T). Now let U and V are any two strings. Then σ (SU) = σ (TV).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774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85F56-2E8A-42C7-A210-9497CCBA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063"/>
            <a:ext cx="10515600" cy="1325563"/>
          </a:xfrm>
        </p:spPr>
        <p:txBody>
          <a:bodyPr/>
          <a:lstStyle/>
          <a:p>
            <a:r>
              <a:rPr lang="en-US" altLang="zh-TW" dirty="0"/>
              <a:t>Improve Z-function construction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5192F1C-5723-416D-A36D-76F17CE28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8" y="1771418"/>
            <a:ext cx="6154009" cy="3315163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A346F06-7CFE-4B60-A677-3981F9134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910" y="1189834"/>
            <a:ext cx="6144482" cy="566816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22710D2-B0BB-4DF7-897C-A4574DAF0E3E}"/>
              </a:ext>
            </a:extLst>
          </p:cNvPr>
          <p:cNvSpPr/>
          <p:nvPr/>
        </p:nvSpPr>
        <p:spPr>
          <a:xfrm>
            <a:off x="6543675" y="2028825"/>
            <a:ext cx="2657475" cy="271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28E32E-FDE9-4A29-A259-89F03A3F6EAF}"/>
              </a:ext>
            </a:extLst>
          </p:cNvPr>
          <p:cNvSpPr/>
          <p:nvPr/>
        </p:nvSpPr>
        <p:spPr>
          <a:xfrm>
            <a:off x="6361043" y="4028661"/>
            <a:ext cx="5618922" cy="424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96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94A59A-0BD1-4A8F-B74A-06D561C5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Preprocess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267FC-B4E7-45AB-8286-85EEA00C0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Prev</a:t>
            </a:r>
            <a:r>
              <a:rPr lang="en-US" altLang="zh-TW" dirty="0"/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) is the unique j such that j &lt; </a:t>
            </a:r>
            <a:r>
              <a:rPr lang="en-US" altLang="zh-TW" dirty="0" err="1"/>
              <a:t>i</a:t>
            </a:r>
            <a:r>
              <a:rPr lang="en-US" altLang="zh-TW" dirty="0"/>
              <a:t> and S[j] is the largest value that is less than S[</a:t>
            </a:r>
            <a:r>
              <a:rPr lang="en-US" altLang="zh-TW" dirty="0" err="1"/>
              <a:t>i</a:t>
            </a:r>
            <a:r>
              <a:rPr lang="en-US" altLang="zh-TW" dirty="0"/>
              <a:t>]. </a:t>
            </a:r>
            <a:br>
              <a:rPr lang="en-US" altLang="zh-TW" dirty="0"/>
            </a:br>
            <a:endParaRPr lang="en-US" altLang="zh-TW" dirty="0"/>
          </a:p>
          <a:p>
            <a:r>
              <a:rPr lang="en-US" altLang="zh-TW" dirty="0"/>
              <a:t>Next(</a:t>
            </a:r>
            <a:r>
              <a:rPr lang="en-US" altLang="zh-TW" dirty="0" err="1"/>
              <a:t>i</a:t>
            </a:r>
            <a:r>
              <a:rPr lang="en-US" altLang="zh-TW" dirty="0"/>
              <a:t>) is the unique j such that j &lt; </a:t>
            </a:r>
            <a:r>
              <a:rPr lang="en-US" altLang="zh-TW" dirty="0" err="1"/>
              <a:t>i</a:t>
            </a:r>
            <a:r>
              <a:rPr lang="en-US" altLang="zh-TW" dirty="0"/>
              <a:t> and S[j] is the smallest value that is greater than S[</a:t>
            </a:r>
            <a:r>
              <a:rPr lang="en-US" altLang="zh-TW" dirty="0" err="1"/>
              <a:t>i</a:t>
            </a:r>
            <a:r>
              <a:rPr lang="en-US" altLang="zh-TW" dirty="0"/>
              <a:t>]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EX</a:t>
            </a:r>
            <a:r>
              <a:rPr lang="zh-TW" altLang="en-US" dirty="0"/>
              <a:t>： </a:t>
            </a:r>
            <a:r>
              <a:rPr lang="en-US" altLang="zh-TW" dirty="0"/>
              <a:t>S</a:t>
            </a:r>
            <a:r>
              <a:rPr lang="zh-TW" altLang="en-US" dirty="0"/>
              <a:t>  </a:t>
            </a:r>
            <a:r>
              <a:rPr lang="en-US" altLang="zh-TW" dirty="0"/>
              <a:t>=  (</a:t>
            </a:r>
            <a:r>
              <a:rPr lang="zh-TW" altLang="en-US" dirty="0"/>
              <a:t> </a:t>
            </a:r>
            <a:r>
              <a:rPr lang="en-US" altLang="zh-TW" dirty="0"/>
              <a:t>11</a:t>
            </a:r>
            <a:r>
              <a:rPr lang="zh-TW" altLang="en-US" dirty="0"/>
              <a:t>  </a:t>
            </a:r>
            <a:r>
              <a:rPr lang="en-US" altLang="zh-TW" dirty="0"/>
              <a:t>18</a:t>
            </a:r>
            <a:r>
              <a:rPr lang="zh-TW" altLang="en-US" dirty="0"/>
              <a:t>  </a:t>
            </a:r>
            <a:r>
              <a:rPr lang="en-US" altLang="zh-TW" dirty="0"/>
              <a:t>24</a:t>
            </a:r>
            <a:r>
              <a:rPr lang="zh-TW" altLang="en-US" dirty="0"/>
              <a:t>  </a:t>
            </a:r>
            <a:r>
              <a:rPr lang="en-US" altLang="zh-TW" dirty="0"/>
              <a:t>20</a:t>
            </a:r>
            <a:r>
              <a:rPr lang="zh-TW" altLang="en-US" dirty="0"/>
              <a:t>  </a:t>
            </a:r>
            <a:r>
              <a:rPr lang="en-US" altLang="zh-TW" dirty="0"/>
              <a:t>25</a:t>
            </a:r>
            <a:r>
              <a:rPr lang="zh-TW" altLang="en-US" dirty="0"/>
              <a:t>  </a:t>
            </a:r>
            <a:r>
              <a:rPr lang="en-US" altLang="zh-TW" dirty="0"/>
              <a:t>29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          </a:t>
            </a:r>
            <a:r>
              <a:rPr lang="en-US" altLang="zh-TW" dirty="0" err="1"/>
              <a:t>Prev</a:t>
            </a:r>
            <a:r>
              <a:rPr lang="en-US" altLang="zh-TW" dirty="0"/>
              <a:t>    </a:t>
            </a:r>
            <a:r>
              <a:rPr lang="zh-TW" altLang="en-US" dirty="0"/>
              <a:t>−∞</a:t>
            </a:r>
            <a:r>
              <a:rPr lang="en-US" altLang="zh-TW" dirty="0"/>
              <a:t>    1    2   2     3    5   </a:t>
            </a:r>
            <a:br>
              <a:rPr lang="en-US" altLang="zh-TW" dirty="0"/>
            </a:br>
            <a:r>
              <a:rPr lang="en-US" altLang="zh-TW" dirty="0"/>
              <a:t>          Next     </a:t>
            </a:r>
            <a:r>
              <a:rPr lang="zh-TW" altLang="en-US" dirty="0"/>
              <a:t>∞</a:t>
            </a:r>
            <a:r>
              <a:rPr lang="en-US" altLang="zh-TW" dirty="0"/>
              <a:t>   </a:t>
            </a:r>
            <a:r>
              <a:rPr lang="zh-TW" altLang="en-US" dirty="0"/>
              <a:t>∞   ∞   </a:t>
            </a:r>
            <a:r>
              <a:rPr lang="en-US" altLang="zh-TW" dirty="0"/>
              <a:t>3</a:t>
            </a:r>
            <a:r>
              <a:rPr lang="zh-TW" altLang="en-US" dirty="0"/>
              <a:t>    ∞</a:t>
            </a:r>
            <a:r>
              <a:rPr lang="en-US" altLang="zh-TW" dirty="0"/>
              <a:t>  </a:t>
            </a:r>
            <a:r>
              <a:rPr lang="zh-TW" alt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420465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F085E5-4B1C-4C5A-BC8E-132D9ED0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Improve Z-function construction</a:t>
            </a:r>
            <a:r>
              <a:rPr lang="zh-TW" altLang="en-US" dirty="0"/>
              <a:t>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943A88-F6C3-49E9-95CA-64625E2A4A6B}"/>
              </a:ext>
            </a:extLst>
          </p:cNvPr>
          <p:cNvSpPr/>
          <p:nvPr/>
        </p:nvSpPr>
        <p:spPr>
          <a:xfrm>
            <a:off x="1334105" y="1618346"/>
            <a:ext cx="9302891" cy="5611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 </a:t>
            </a:r>
            <a:r>
              <a:rPr lang="pl-PL" altLang="zh-TW" sz="2800" dirty="0"/>
              <a:t> S[Prev[Z(i)+ 1] + i − 1] &lt; </a:t>
            </a:r>
            <a:r>
              <a:rPr lang="en-US" altLang="zh-TW" sz="2800" dirty="0"/>
              <a:t> </a:t>
            </a:r>
            <a:r>
              <a:rPr lang="pl-PL" altLang="zh-TW" sz="2800" dirty="0"/>
              <a:t>S[i + Z(i)] </a:t>
            </a:r>
            <a:r>
              <a:rPr lang="en-US" altLang="zh-TW" sz="2800" dirty="0"/>
              <a:t> </a:t>
            </a:r>
            <a:r>
              <a:rPr lang="pl-PL" altLang="zh-TW" sz="2800" dirty="0"/>
              <a:t>&lt; S[Next[Z(i)+ 1] + i − 1]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sz="2800" dirty="0"/>
              <a:t>     L</a:t>
            </a:r>
            <a:r>
              <a:rPr lang="zh-TW" altLang="en-US" sz="2800" dirty="0"/>
              <a:t>  </a:t>
            </a:r>
            <a:r>
              <a:rPr lang="en-US" altLang="zh-TW" sz="2800" dirty="0"/>
              <a:t>=</a:t>
            </a:r>
            <a:r>
              <a:rPr lang="zh-TW" altLang="en-US" sz="2800" dirty="0"/>
              <a:t>           </a:t>
            </a:r>
            <a:r>
              <a:rPr lang="en-US" altLang="zh-TW" sz="2800" dirty="0"/>
              <a:t>1</a:t>
            </a:r>
            <a:r>
              <a:rPr lang="zh-TW" altLang="en-US" sz="2800" dirty="0"/>
              <a:t>    </a:t>
            </a:r>
            <a:r>
              <a:rPr lang="en-US" altLang="zh-TW" sz="2800" dirty="0"/>
              <a:t>2</a:t>
            </a:r>
            <a:r>
              <a:rPr lang="zh-TW" altLang="en-US" sz="2800" dirty="0"/>
              <a:t>    </a:t>
            </a:r>
            <a:r>
              <a:rPr lang="en-US" altLang="zh-TW" sz="2800" dirty="0"/>
              <a:t>2</a:t>
            </a:r>
            <a:r>
              <a:rPr lang="zh-TW" altLang="en-US" sz="2800" dirty="0"/>
              <a:t>     </a:t>
            </a:r>
            <a:r>
              <a:rPr lang="en-US" altLang="zh-TW" sz="2800" dirty="0"/>
              <a:t>4</a:t>
            </a:r>
            <a:r>
              <a:rPr lang="zh-TW" altLang="en-US" sz="2800" dirty="0"/>
              <a:t>     </a:t>
            </a:r>
            <a:r>
              <a:rPr lang="en-US" altLang="zh-TW" sz="2800" dirty="0"/>
              <a:t>4</a:t>
            </a:r>
            <a:r>
              <a:rPr lang="zh-TW" altLang="en-US" sz="2800" dirty="0"/>
              <a:t>   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     </a:t>
            </a:r>
            <a:r>
              <a:rPr lang="en-US" altLang="zh-TW" sz="2800" kern="1300" dirty="0"/>
              <a:t>R</a:t>
            </a:r>
            <a:r>
              <a:rPr lang="zh-TW" altLang="en-US" sz="2800" kern="1300" dirty="0"/>
              <a:t>  </a:t>
            </a:r>
            <a:r>
              <a:rPr lang="en-US" altLang="zh-TW" sz="2800" kern="1300" dirty="0"/>
              <a:t>=</a:t>
            </a:r>
            <a:r>
              <a:rPr lang="zh-TW" altLang="en-US" sz="2800" dirty="0"/>
              <a:t>           </a:t>
            </a:r>
            <a:r>
              <a:rPr lang="en-US" altLang="zh-TW" sz="2800" dirty="0"/>
              <a:t>1</a:t>
            </a:r>
            <a:r>
              <a:rPr lang="zh-TW" altLang="en-US" sz="2800" dirty="0"/>
              <a:t>    </a:t>
            </a:r>
            <a:r>
              <a:rPr lang="en-US" altLang="zh-TW" sz="2800" dirty="0"/>
              <a:t>3</a:t>
            </a:r>
            <a:r>
              <a:rPr lang="zh-TW" altLang="en-US" sz="2800" dirty="0"/>
              <a:t>    </a:t>
            </a:r>
            <a:r>
              <a:rPr lang="en-US" altLang="zh-TW" sz="2800" dirty="0"/>
              <a:t>3</a:t>
            </a:r>
            <a:r>
              <a:rPr lang="zh-TW" altLang="en-US" sz="2800" dirty="0"/>
              <a:t>     </a:t>
            </a:r>
            <a:r>
              <a:rPr lang="en-US" altLang="zh-TW" sz="2800" dirty="0"/>
              <a:t>6</a:t>
            </a:r>
            <a:r>
              <a:rPr lang="zh-TW" altLang="en-US" sz="2800" dirty="0"/>
              <a:t>    </a:t>
            </a:r>
            <a:r>
              <a:rPr lang="en-US" altLang="zh-TW" sz="2800" dirty="0"/>
              <a:t>6</a:t>
            </a:r>
            <a:r>
              <a:rPr lang="zh-TW" altLang="en-US" sz="2800" dirty="0"/>
              <a:t>   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     </a:t>
            </a:r>
            <a:r>
              <a:rPr lang="en-US" altLang="zh-TW" sz="2800" dirty="0"/>
              <a:t>S</a:t>
            </a:r>
            <a:r>
              <a:rPr lang="zh-TW" altLang="en-US" sz="2800" dirty="0"/>
              <a:t>  </a:t>
            </a:r>
            <a:r>
              <a:rPr lang="en-US" altLang="zh-TW" sz="2800" dirty="0"/>
              <a:t>=  (</a:t>
            </a:r>
            <a:r>
              <a:rPr lang="zh-TW" altLang="en-US" sz="2800" dirty="0"/>
              <a:t> </a:t>
            </a:r>
            <a:r>
              <a:rPr lang="en-US" altLang="zh-TW" sz="2800" dirty="0"/>
              <a:t>11</a:t>
            </a:r>
            <a:r>
              <a:rPr lang="zh-TW" altLang="en-US" sz="2800" dirty="0"/>
              <a:t>  </a:t>
            </a:r>
            <a:r>
              <a:rPr lang="en-US" altLang="zh-TW" sz="2800" dirty="0"/>
              <a:t>18</a:t>
            </a:r>
            <a:r>
              <a:rPr lang="zh-TW" altLang="en-US" sz="2800" dirty="0"/>
              <a:t>  </a:t>
            </a:r>
            <a:r>
              <a:rPr lang="en-US" altLang="zh-TW" sz="2800" dirty="0"/>
              <a:t>24</a:t>
            </a:r>
            <a:r>
              <a:rPr lang="zh-TW" altLang="en-US" sz="2800" dirty="0"/>
              <a:t>  </a:t>
            </a:r>
            <a:r>
              <a:rPr lang="en-US" altLang="zh-TW" sz="2800" dirty="0"/>
              <a:t>20</a:t>
            </a:r>
            <a:r>
              <a:rPr lang="zh-TW" altLang="en-US" sz="2800" dirty="0"/>
              <a:t>  </a:t>
            </a:r>
            <a:r>
              <a:rPr lang="en-US" altLang="zh-TW" sz="2800" dirty="0"/>
              <a:t>25</a:t>
            </a:r>
            <a:r>
              <a:rPr lang="zh-TW" altLang="en-US" sz="2800" dirty="0"/>
              <a:t>  </a:t>
            </a:r>
            <a:r>
              <a:rPr lang="en-US" altLang="zh-TW" sz="2800" dirty="0"/>
              <a:t>29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br>
              <a:rPr lang="en-US" altLang="zh-TW" sz="2800" dirty="0"/>
            </a:br>
            <a:r>
              <a:rPr lang="en-US" altLang="zh-TW" sz="2800" dirty="0"/>
              <a:t>    </a:t>
            </a:r>
            <a:r>
              <a:rPr lang="en-US" altLang="zh-TW" sz="2800" dirty="0" err="1"/>
              <a:t>Prev</a:t>
            </a:r>
            <a:r>
              <a:rPr lang="en-US" altLang="zh-TW" sz="2800" dirty="0"/>
              <a:t>  </a:t>
            </a:r>
            <a:r>
              <a:rPr lang="zh-TW" altLang="en-US" sz="2800" dirty="0"/>
              <a:t>−∞</a:t>
            </a:r>
            <a:r>
              <a:rPr lang="en-US" altLang="zh-TW" sz="2800" dirty="0"/>
              <a:t>   1    2    2     3    5 </a:t>
            </a:r>
            <a:br>
              <a:rPr lang="en-US" altLang="zh-TW" sz="2800" dirty="0"/>
            </a:br>
            <a:r>
              <a:rPr lang="en-US" altLang="zh-TW" sz="2800" dirty="0"/>
              <a:t>    Next    </a:t>
            </a:r>
            <a:r>
              <a:rPr lang="zh-TW" altLang="en-US" sz="2800" dirty="0"/>
              <a:t>∞</a:t>
            </a:r>
            <a:r>
              <a:rPr lang="en-US" altLang="zh-TW" sz="2800" dirty="0"/>
              <a:t>   </a:t>
            </a:r>
            <a:r>
              <a:rPr lang="zh-TW" altLang="en-US" sz="2800" dirty="0"/>
              <a:t>∞  ∞  </a:t>
            </a:r>
            <a:r>
              <a:rPr lang="en-US" altLang="zh-TW" sz="2800" dirty="0"/>
              <a:t> 3</a:t>
            </a:r>
            <a:r>
              <a:rPr lang="zh-TW" altLang="en-US" sz="2800" dirty="0"/>
              <a:t>    ∞</a:t>
            </a:r>
            <a:r>
              <a:rPr lang="en-US" altLang="zh-TW" sz="2800" dirty="0"/>
              <a:t>  </a:t>
            </a:r>
            <a:r>
              <a:rPr lang="zh-TW" altLang="en-US" sz="2800" dirty="0"/>
              <a:t>∞</a:t>
            </a:r>
            <a:r>
              <a:rPr lang="en-US" altLang="zh-TW" sz="2800" dirty="0"/>
              <a:t>                 </a:t>
            </a:r>
            <a:br>
              <a:rPr lang="en-US" altLang="zh-TW" sz="2800" dirty="0"/>
            </a:br>
            <a:r>
              <a:rPr lang="en-US" altLang="zh-TW" sz="2800" dirty="0"/>
              <a:t>    Z(S) =</a:t>
            </a:r>
            <a:r>
              <a:rPr lang="zh-TW" altLang="en-US" sz="2800" dirty="0"/>
              <a:t>   </a:t>
            </a:r>
            <a:r>
              <a:rPr lang="en-US" altLang="zh-TW" sz="2800" dirty="0"/>
              <a:t>6</a:t>
            </a:r>
            <a:r>
              <a:rPr lang="zh-TW" altLang="en-US" sz="2800" dirty="0"/>
              <a:t>    </a:t>
            </a:r>
            <a:r>
              <a:rPr lang="en-US" altLang="zh-TW" sz="2800" dirty="0"/>
              <a:t>2</a:t>
            </a:r>
            <a:r>
              <a:rPr lang="zh-TW" altLang="en-US" sz="2800" dirty="0"/>
              <a:t>    </a:t>
            </a:r>
            <a:r>
              <a:rPr lang="en-US" altLang="zh-TW" sz="2800" dirty="0"/>
              <a:t>1</a:t>
            </a:r>
            <a:r>
              <a:rPr lang="zh-TW" altLang="en-US" sz="2800" dirty="0"/>
              <a:t>    </a:t>
            </a:r>
            <a:r>
              <a:rPr lang="en-US" altLang="zh-TW" sz="2800" dirty="0"/>
              <a:t>3</a:t>
            </a:r>
            <a:r>
              <a:rPr lang="zh-TW" altLang="en-US" sz="2800" dirty="0"/>
              <a:t>     </a:t>
            </a:r>
            <a:r>
              <a:rPr lang="en-US" altLang="zh-TW" sz="2800" dirty="0"/>
              <a:t>2</a:t>
            </a:r>
            <a:r>
              <a:rPr lang="zh-TW" altLang="en-US" sz="2800" dirty="0"/>
              <a:t>    </a:t>
            </a:r>
            <a:r>
              <a:rPr lang="en-US" altLang="zh-TW" sz="2800" dirty="0"/>
              <a:t>1</a:t>
            </a:r>
            <a:br>
              <a:rPr lang="en-US" altLang="zh-TW" sz="2800" dirty="0"/>
            </a:b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27007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63AC8-5745-40C2-8491-EFB43EEC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44771A-A97F-47A5-9F01-61872928E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2742" y="1681163"/>
            <a:ext cx="4114833" cy="823912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Semi-synthetic data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E9AF2640-CDCD-459B-B439-857AA8A5A7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64375"/>
            <a:ext cx="5157787" cy="3565987"/>
          </a:xfr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0D732A1F-DC5F-40FC-94D1-89572691A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40554" y="1681163"/>
            <a:ext cx="4114833" cy="823912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Fully synthetic data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B8FE2D90-964B-4F48-99AE-B03AA65EFF9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354" y="2505075"/>
            <a:ext cx="5110879" cy="3684588"/>
          </a:xfrm>
        </p:spPr>
      </p:pic>
    </p:spTree>
    <p:extLst>
      <p:ext uri="{BB962C8B-B14F-4D97-AF65-F5344CB8AC3E}">
        <p14:creationId xmlns:p14="http://schemas.microsoft.com/office/powerpoint/2010/main" val="1850846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8A2CE0-BA41-42F2-B3E5-8A249653A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Experiments(</a:t>
            </a:r>
            <a:r>
              <a:rPr lang="en-US" altLang="zh-TW" dirty="0" err="1"/>
              <a:t>conti</a:t>
            </a:r>
            <a:r>
              <a:rPr lang="en-US" altLang="zh-TW" dirty="0"/>
              <a:t>.)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CF36AA4-53E1-4F39-871C-50E9627EAD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92181"/>
            <a:ext cx="5181600" cy="3218225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41A5CF4A-52D2-49E9-95D2-A104539126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31943"/>
            <a:ext cx="5181600" cy="3338702"/>
          </a:xfrm>
        </p:spPr>
      </p:pic>
    </p:spTree>
    <p:extLst>
      <p:ext uri="{BB962C8B-B14F-4D97-AF65-F5344CB8AC3E}">
        <p14:creationId xmlns:p14="http://schemas.microsoft.com/office/powerpoint/2010/main" val="304587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9D89844-8D9A-40FA-9702-77749E30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Experiments(</a:t>
            </a:r>
            <a:r>
              <a:rPr lang="en-US" altLang="zh-TW" dirty="0" err="1"/>
              <a:t>conti</a:t>
            </a:r>
            <a:r>
              <a:rPr lang="en-US" altLang="zh-TW" dirty="0"/>
              <a:t>.)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BA0DA43B-0E1F-4DDB-B72C-D1E4B16A8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337" y="2081738"/>
            <a:ext cx="6087325" cy="3839111"/>
          </a:xfrm>
        </p:spPr>
      </p:pic>
    </p:spTree>
    <p:extLst>
      <p:ext uri="{BB962C8B-B14F-4D97-AF65-F5344CB8AC3E}">
        <p14:creationId xmlns:p14="http://schemas.microsoft.com/office/powerpoint/2010/main" val="1197614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5C429-72D4-4456-BC30-755F9CD1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6A98B3-F0CD-42E5-A79E-973D253A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532" y="3017166"/>
            <a:ext cx="7805257" cy="347570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600" dirty="0"/>
              <a:t>Data &amp; Code</a:t>
            </a:r>
            <a:r>
              <a:rPr lang="zh-TW" altLang="en-US" sz="3600" dirty="0"/>
              <a:t>：</a:t>
            </a:r>
            <a:r>
              <a:rPr lang="en-US" altLang="zh-TW" sz="3600" dirty="0"/>
              <a:t>http://goo.gl/4L5WJA</a:t>
            </a:r>
            <a:endParaRPr lang="zh-TW" altLang="en-US" sz="36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561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329</Words>
  <Application>Microsoft Office PowerPoint</Application>
  <PresentationFormat>寬螢幕</PresentationFormat>
  <Paragraphs>51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Office 佈景主題</vt:lpstr>
      <vt:lpstr>Order preserving pattern matching revisited</vt:lpstr>
      <vt:lpstr>Abstract</vt:lpstr>
      <vt:lpstr>Text         T= 5,15,10,20,17,23,23,8,15,28,10,20 Pattern   P=30,28,35,35,20,25,37</vt:lpstr>
      <vt:lpstr>Preliminaries</vt:lpstr>
      <vt:lpstr>Modified Z-function</vt:lpstr>
      <vt:lpstr>Z-function construction</vt:lpstr>
      <vt:lpstr>Z-function construction：min( R-i+1, Z(i-L+1) )</vt:lpstr>
      <vt:lpstr>Correctness of this algorithm</vt:lpstr>
      <vt:lpstr>Improve Z-function construction</vt:lpstr>
      <vt:lpstr>Preprocess</vt:lpstr>
      <vt:lpstr>Improve Z-function construction：</vt:lpstr>
      <vt:lpstr>Experiments</vt:lpstr>
      <vt:lpstr>Experiments(conti.)</vt:lpstr>
      <vt:lpstr>Experiments(conti.)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preserving pattern matching revisited</dc:title>
  <dc:creator>冠霖</dc:creator>
  <cp:lastModifiedBy>冠霖</cp:lastModifiedBy>
  <cp:revision>33</cp:revision>
  <dcterms:created xsi:type="dcterms:W3CDTF">2018-09-21T09:13:27Z</dcterms:created>
  <dcterms:modified xsi:type="dcterms:W3CDTF">2018-09-26T09:36:19Z</dcterms:modified>
</cp:coreProperties>
</file>