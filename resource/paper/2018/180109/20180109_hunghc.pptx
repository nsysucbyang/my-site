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0" r:id="rId6"/>
    <p:sldId id="263" r:id="rId7"/>
    <p:sldId id="262" r:id="rId8"/>
    <p:sldId id="259" r:id="rId9"/>
    <p:sldId id="264" r:id="rId10"/>
    <p:sldId id="265" r:id="rId11"/>
    <p:sldId id="266" r:id="rId12"/>
    <p:sldId id="268" r:id="rId13"/>
    <p:sldId id="267" r:id="rId14"/>
    <p:sldId id="274" r:id="rId15"/>
    <p:sldId id="273" r:id="rId16"/>
    <p:sldId id="276" r:id="rId17"/>
    <p:sldId id="277" r:id="rId18"/>
    <p:sldId id="278" r:id="rId19"/>
    <p:sldId id="279" r:id="rId20"/>
    <p:sldId id="280" r:id="rId21"/>
    <p:sldId id="281" r:id="rId22"/>
    <p:sldId id="270" r:id="rId23"/>
    <p:sldId id="271"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4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D93EDEA-367B-43BB-802F-54FC32CDDFE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A0424C94-AC54-451E-816C-BBE765DA48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00E21816-31F0-4405-AD2C-5A77713538D7}"/>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5" name="頁尾版面配置區 4">
            <a:extLst>
              <a:ext uri="{FF2B5EF4-FFF2-40B4-BE49-F238E27FC236}">
                <a16:creationId xmlns:a16="http://schemas.microsoft.com/office/drawing/2014/main" xmlns="" id="{47164CD4-4AF0-46B7-B7EB-AB86ACA8094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192CC69B-FF3F-4197-ABEB-72AFFF0E8835}"/>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4199918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8C12F0A-6771-4A14-8A7C-06E2AA0348D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2381D3A4-142F-4B72-B742-4F1AADC3615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608129F2-9B1C-4027-9B46-06006BAF6898}"/>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5" name="頁尾版面配置區 4">
            <a:extLst>
              <a:ext uri="{FF2B5EF4-FFF2-40B4-BE49-F238E27FC236}">
                <a16:creationId xmlns:a16="http://schemas.microsoft.com/office/drawing/2014/main" xmlns="" id="{25B60C22-438B-4E3C-B72D-64CED30EBC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6828C7B-1469-4C72-8732-1780C64D0F9E}"/>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3007621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8220847-36C3-4009-B9C3-9E89ED71DC1E}"/>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473A844-855C-4717-AEE9-1478CDDD90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2F551E8C-4BE9-49B2-81C2-2FC2AB6B1BC4}"/>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5" name="頁尾版面配置區 4">
            <a:extLst>
              <a:ext uri="{FF2B5EF4-FFF2-40B4-BE49-F238E27FC236}">
                <a16:creationId xmlns:a16="http://schemas.microsoft.com/office/drawing/2014/main" xmlns="" id="{91575BB9-C7E6-4E55-AE77-AA0DB04EA85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156744B0-EAB4-4ADA-A3A6-9F79767DDCEC}"/>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2657991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6D763AE-2AAB-4A60-8031-B1D636BA2E3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9B2A162B-29F5-490B-AEB2-EEFDC565045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CCF05D9D-62D0-405D-B12B-C2463688207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0C2E1554-4194-4F53-B62E-9C6ACE7A6BB7}"/>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6" name="頁尾版面配置區 5">
            <a:extLst>
              <a:ext uri="{FF2B5EF4-FFF2-40B4-BE49-F238E27FC236}">
                <a16:creationId xmlns:a16="http://schemas.microsoft.com/office/drawing/2014/main" xmlns="" id="{F08048FA-B304-4BA5-A1A9-6D91D7162D9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187A053C-BF80-4258-BF10-F48F54C53245}"/>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3747809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BDFD997-CEDD-4AE8-B239-8A401992F8A4}"/>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DA85360C-D2FD-42E0-8318-3B90CF1F7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7747F4AB-59A0-4994-BC19-518E03D75E9D}"/>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6A833DEB-BEBA-481D-954E-2FB4A748A8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67CAC06-E673-44A4-91F0-F459DD0806F8}"/>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A6F90D9-964D-45CF-8C0D-6074D5997752}"/>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8" name="頁尾版面配置區 7">
            <a:extLst>
              <a:ext uri="{FF2B5EF4-FFF2-40B4-BE49-F238E27FC236}">
                <a16:creationId xmlns:a16="http://schemas.microsoft.com/office/drawing/2014/main" xmlns="" id="{CC44E716-102C-42B2-A95D-635414D1BAD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AD570E7-8367-420A-824D-F14E89B57CF3}"/>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1406934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C637278-700F-49E6-8C9C-81AE218B915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4C7E3F21-5B82-40CD-B264-07DF8878DD69}"/>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4" name="頁尾版面配置區 3">
            <a:extLst>
              <a:ext uri="{FF2B5EF4-FFF2-40B4-BE49-F238E27FC236}">
                <a16:creationId xmlns:a16="http://schemas.microsoft.com/office/drawing/2014/main" xmlns="" id="{8DF081BC-F060-4F16-A504-046DA4037D9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B5BBF030-0E4E-45C1-B592-8F0CA7A879B5}"/>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2418748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7EB287A0-5E3E-4757-89E5-1A133F6E2B2B}"/>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3" name="頁尾版面配置區 2">
            <a:extLst>
              <a:ext uri="{FF2B5EF4-FFF2-40B4-BE49-F238E27FC236}">
                <a16:creationId xmlns:a16="http://schemas.microsoft.com/office/drawing/2014/main" xmlns="" id="{7D4B3996-C7BD-4FE0-A4D3-48EA0E33D9B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9C84C199-A63D-4963-B58A-A78154059DCA}"/>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2306748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D48C207-5A5A-4300-865C-47C41C367E6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80F36C7-FE99-484B-A4C1-672B142F5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9A6F6CA9-2924-4292-83D5-0ACBF74755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9071EBBC-3AB1-4148-BA75-4432436BAE74}"/>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6" name="頁尾版面配置區 5">
            <a:extLst>
              <a:ext uri="{FF2B5EF4-FFF2-40B4-BE49-F238E27FC236}">
                <a16:creationId xmlns:a16="http://schemas.microsoft.com/office/drawing/2014/main" xmlns="" id="{6EA684C4-9A61-441B-8E0C-B550186E8F7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9C56337-F38C-493B-ADC4-8B247D240B30}"/>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63972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0C22244-1CF4-496C-9DCC-34CE443B0C5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62B58E16-8F57-4627-82A5-94941C1BA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67815042-B330-428E-B20E-FC13AAC41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EDC1AEC0-21FD-44CA-A585-C35340E59F0C}"/>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6" name="頁尾版面配置區 5">
            <a:extLst>
              <a:ext uri="{FF2B5EF4-FFF2-40B4-BE49-F238E27FC236}">
                <a16:creationId xmlns:a16="http://schemas.microsoft.com/office/drawing/2014/main" xmlns="" id="{11A5A8B0-293F-40CD-9431-A93177712EC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974DDA94-57B0-4CAC-BA71-F9965580523B}"/>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7185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511BFCA-0323-4D28-BA0C-4B285AF3FF7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54878AB3-3D6C-45B5-8925-28024806C7C3}"/>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2AC01E87-770D-4BEF-9CB2-B63E4E0BB7C1}"/>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5" name="頁尾版面配置區 4">
            <a:extLst>
              <a:ext uri="{FF2B5EF4-FFF2-40B4-BE49-F238E27FC236}">
                <a16:creationId xmlns:a16="http://schemas.microsoft.com/office/drawing/2014/main" xmlns="" id="{3AFAE48F-911C-4E18-A883-922DF5D5CF1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B2873C89-5324-4FC1-BFCE-141F07B3ACA7}"/>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1133101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5EA6AD88-ACE9-4C08-9BCE-3F5CDDCF0C8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3713C309-1791-40B2-874D-6B06237BAFB3}"/>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85833956-C556-45A2-AE7A-38A2222C46A5}"/>
              </a:ext>
            </a:extLst>
          </p:cNvPr>
          <p:cNvSpPr>
            <a:spLocks noGrp="1"/>
          </p:cNvSpPr>
          <p:nvPr>
            <p:ph type="dt" sz="half" idx="10"/>
          </p:nvPr>
        </p:nvSpPr>
        <p:spPr/>
        <p:txBody>
          <a:bodyPr/>
          <a:lstStyle/>
          <a:p>
            <a:fld id="{56B4DF18-0EC3-4A70-819D-EA9FA5B4EA80}" type="datetimeFigureOut">
              <a:rPr lang="zh-TW" altLang="en-US" smtClean="0"/>
              <a:t>2018/1/9</a:t>
            </a:fld>
            <a:endParaRPr lang="zh-TW" altLang="en-US"/>
          </a:p>
        </p:txBody>
      </p:sp>
      <p:sp>
        <p:nvSpPr>
          <p:cNvPr id="5" name="頁尾版面配置區 4">
            <a:extLst>
              <a:ext uri="{FF2B5EF4-FFF2-40B4-BE49-F238E27FC236}">
                <a16:creationId xmlns:a16="http://schemas.microsoft.com/office/drawing/2014/main" xmlns="" id="{7AC14EEC-CFA9-48A2-AB99-0EEA9790689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12C2A8E8-ABA8-41D4-BFCA-E0B6D6ACCBA5}"/>
              </a:ext>
            </a:extLst>
          </p:cNvPr>
          <p:cNvSpPr>
            <a:spLocks noGrp="1"/>
          </p:cNvSpPr>
          <p:nvPr>
            <p:ph type="sldNum" sz="quarter" idx="12"/>
          </p:nvPr>
        </p:nvSpPr>
        <p:spPr/>
        <p:txBody>
          <a:body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3260839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1AAE4584-075C-4CC1-82EE-13758A3C46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5460F73-26EF-4DD2-BC08-20C420B58B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3D87110-5A9F-4F74-8F7B-DB1E5DD65C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B4DF18-0EC3-4A70-819D-EA9FA5B4EA80}" type="datetimeFigureOut">
              <a:rPr lang="zh-TW" altLang="en-US" smtClean="0"/>
              <a:t>2018/1/9</a:t>
            </a:fld>
            <a:endParaRPr lang="zh-TW" altLang="en-US"/>
          </a:p>
        </p:txBody>
      </p:sp>
      <p:sp>
        <p:nvSpPr>
          <p:cNvPr id="5" name="頁尾版面配置區 4">
            <a:extLst>
              <a:ext uri="{FF2B5EF4-FFF2-40B4-BE49-F238E27FC236}">
                <a16:creationId xmlns:a16="http://schemas.microsoft.com/office/drawing/2014/main" xmlns="" id="{E089C8BE-0AD3-401D-89BA-2E85C983E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F758D23B-D863-44D9-AF14-F9FDD9C019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0D1419-E9DF-4D28-BB64-70C5263622B6}" type="slidenum">
              <a:rPr lang="zh-TW" altLang="en-US" smtClean="0"/>
              <a:t>‹#›</a:t>
            </a:fld>
            <a:endParaRPr lang="zh-TW" altLang="en-US"/>
          </a:p>
        </p:txBody>
      </p:sp>
    </p:spTree>
    <p:extLst>
      <p:ext uri="{BB962C8B-B14F-4D97-AF65-F5344CB8AC3E}">
        <p14:creationId xmlns:p14="http://schemas.microsoft.com/office/powerpoint/2010/main" val="4196888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073C8BD-EF67-4711-A7F4-7B02B5AED47E}"/>
              </a:ext>
            </a:extLst>
          </p:cNvPr>
          <p:cNvSpPr>
            <a:spLocks noGrp="1"/>
          </p:cNvSpPr>
          <p:nvPr>
            <p:ph type="ctrTitle"/>
          </p:nvPr>
        </p:nvSpPr>
        <p:spPr>
          <a:xfrm>
            <a:off x="1524000" y="727967"/>
            <a:ext cx="9144000" cy="1796573"/>
          </a:xfrm>
        </p:spPr>
        <p:txBody>
          <a:bodyPr>
            <a:normAutofit/>
          </a:bodyPr>
          <a:lstStyle/>
          <a:p>
            <a:r>
              <a:rPr lang="en-US" altLang="zh-TW" sz="4800" b="1" dirty="0"/>
              <a:t>Similar Subsequence Search in Time Series Databases</a:t>
            </a:r>
            <a:endParaRPr lang="zh-TW" altLang="en-US" sz="4800" dirty="0"/>
          </a:p>
        </p:txBody>
      </p:sp>
      <p:sp>
        <p:nvSpPr>
          <p:cNvPr id="3" name="副標題 2">
            <a:extLst>
              <a:ext uri="{FF2B5EF4-FFF2-40B4-BE49-F238E27FC236}">
                <a16:creationId xmlns:a16="http://schemas.microsoft.com/office/drawing/2014/main" xmlns="" id="{4E376717-EB67-48D3-8F0B-B38F1FA1E9B2}"/>
              </a:ext>
            </a:extLst>
          </p:cNvPr>
          <p:cNvSpPr>
            <a:spLocks noGrp="1"/>
          </p:cNvSpPr>
          <p:nvPr>
            <p:ph type="subTitle" idx="1"/>
          </p:nvPr>
        </p:nvSpPr>
        <p:spPr>
          <a:xfrm>
            <a:off x="1524000" y="3022857"/>
            <a:ext cx="9144000" cy="1875484"/>
          </a:xfrm>
        </p:spPr>
        <p:txBody>
          <a:bodyPr/>
          <a:lstStyle/>
          <a:p>
            <a:r>
              <a:rPr lang="en-US" altLang="zh-TW" dirty="0"/>
              <a:t>Shrikant Kashyap</a:t>
            </a:r>
          </a:p>
          <a:p>
            <a:r>
              <a:rPr lang="en-US" altLang="zh-TW" dirty="0" err="1"/>
              <a:t>Mong</a:t>
            </a:r>
            <a:r>
              <a:rPr lang="en-US" altLang="zh-TW" dirty="0"/>
              <a:t> Li Lee</a:t>
            </a:r>
          </a:p>
          <a:p>
            <a:r>
              <a:rPr lang="en-US" altLang="zh-TW" dirty="0"/>
              <a:t>Wynne Hsu</a:t>
            </a:r>
            <a:endParaRPr lang="zh-TW" altLang="en-US" dirty="0"/>
          </a:p>
        </p:txBody>
      </p:sp>
      <p:sp>
        <p:nvSpPr>
          <p:cNvPr id="4" name="文字方塊 3">
            <a:extLst>
              <a:ext uri="{FF2B5EF4-FFF2-40B4-BE49-F238E27FC236}">
                <a16:creationId xmlns:a16="http://schemas.microsoft.com/office/drawing/2014/main" xmlns="" id="{4D40A275-67B1-4872-A0E2-2C4C919656CD}"/>
              </a:ext>
            </a:extLst>
          </p:cNvPr>
          <p:cNvSpPr txBox="1"/>
          <p:nvPr/>
        </p:nvSpPr>
        <p:spPr>
          <a:xfrm flipH="1">
            <a:off x="4281182" y="5236859"/>
            <a:ext cx="3629636" cy="461665"/>
          </a:xfrm>
          <a:prstGeom prst="rect">
            <a:avLst/>
          </a:prstGeom>
          <a:noFill/>
        </p:spPr>
        <p:txBody>
          <a:bodyPr wrap="square" rtlCol="0">
            <a:spAutoFit/>
          </a:bodyPr>
          <a:lstStyle/>
          <a:p>
            <a:r>
              <a:rPr lang="en-US" altLang="zh-TW" sz="2400" dirty="0"/>
              <a:t>Presenter: Hsiu-</a:t>
            </a:r>
            <a:r>
              <a:rPr lang="en-US" altLang="zh-TW" sz="2400" dirty="0" err="1"/>
              <a:t>Chieh</a:t>
            </a:r>
            <a:r>
              <a:rPr lang="en-US" altLang="zh-TW" sz="2400" dirty="0"/>
              <a:t> Hung</a:t>
            </a:r>
            <a:endParaRPr lang="zh-TW" altLang="en-US" sz="2400" dirty="0"/>
          </a:p>
        </p:txBody>
      </p:sp>
      <p:sp>
        <p:nvSpPr>
          <p:cNvPr id="5" name="文字方塊 4">
            <a:extLst>
              <a:ext uri="{FF2B5EF4-FFF2-40B4-BE49-F238E27FC236}">
                <a16:creationId xmlns:a16="http://schemas.microsoft.com/office/drawing/2014/main" xmlns="" id="{65AD620F-6FC2-4072-88C5-BC34144D2644}"/>
              </a:ext>
            </a:extLst>
          </p:cNvPr>
          <p:cNvSpPr txBox="1"/>
          <p:nvPr/>
        </p:nvSpPr>
        <p:spPr>
          <a:xfrm>
            <a:off x="9641150" y="6241002"/>
            <a:ext cx="1622752" cy="369332"/>
          </a:xfrm>
          <a:prstGeom prst="rect">
            <a:avLst/>
          </a:prstGeom>
          <a:noFill/>
        </p:spPr>
        <p:txBody>
          <a:bodyPr wrap="none" rtlCol="0">
            <a:spAutoFit/>
          </a:bodyPr>
          <a:lstStyle/>
          <a:p>
            <a:r>
              <a:rPr lang="en-US" altLang="zh-TW" dirty="0"/>
              <a:t>Date: 2018/1/9</a:t>
            </a:r>
            <a:endParaRPr lang="zh-TW" altLang="en-US" dirty="0"/>
          </a:p>
        </p:txBody>
      </p:sp>
      <p:sp>
        <p:nvSpPr>
          <p:cNvPr id="6" name="文字方塊 5">
            <a:extLst>
              <a:ext uri="{FF2B5EF4-FFF2-40B4-BE49-F238E27FC236}">
                <a16:creationId xmlns:a16="http://schemas.microsoft.com/office/drawing/2014/main" xmlns="" id="{4FE8E9BC-1218-4D91-8CE5-B3A0F6249E29}"/>
              </a:ext>
            </a:extLst>
          </p:cNvPr>
          <p:cNvSpPr txBox="1"/>
          <p:nvPr/>
        </p:nvSpPr>
        <p:spPr>
          <a:xfrm>
            <a:off x="384693" y="4600175"/>
            <a:ext cx="10768589" cy="923330"/>
          </a:xfrm>
          <a:prstGeom prst="rect">
            <a:avLst/>
          </a:prstGeom>
          <a:noFill/>
        </p:spPr>
        <p:txBody>
          <a:bodyPr wrap="none" rtlCol="0">
            <a:spAutoFit/>
          </a:bodyPr>
          <a:lstStyle/>
          <a:p>
            <a:r>
              <a:rPr lang="en-US" altLang="zh-TW" dirty="0"/>
              <a:t> Proceedings of the 22 International Conference on Database and Expert Systems Applications, Toulouse, France, </a:t>
            </a:r>
            <a:endParaRPr lang="en-US" altLang="zh-TW" dirty="0" smtClean="0"/>
          </a:p>
          <a:p>
            <a:pPr algn="ctr"/>
            <a:r>
              <a:rPr lang="en-US" altLang="zh-TW" dirty="0" smtClean="0"/>
              <a:t>pp. 232-246, 2011</a:t>
            </a:r>
            <a:endParaRPr lang="en-US" altLang="zh-TW" dirty="0"/>
          </a:p>
          <a:p>
            <a:r>
              <a:rPr lang="en-US" altLang="zh-TW" dirty="0"/>
              <a:t> </a:t>
            </a:r>
            <a:endParaRPr lang="zh-TW" altLang="en-US" dirty="0"/>
          </a:p>
        </p:txBody>
      </p:sp>
    </p:spTree>
    <p:extLst>
      <p:ext uri="{BB962C8B-B14F-4D97-AF65-F5344CB8AC3E}">
        <p14:creationId xmlns:p14="http://schemas.microsoft.com/office/powerpoint/2010/main" val="1118041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9751D46-1665-467B-9C40-3DD00FB57FD0}"/>
              </a:ext>
            </a:extLst>
          </p:cNvPr>
          <p:cNvSpPr>
            <a:spLocks noGrp="1"/>
          </p:cNvSpPr>
          <p:nvPr>
            <p:ph type="title"/>
          </p:nvPr>
        </p:nvSpPr>
        <p:spPr/>
        <p:txBody>
          <a:bodyPr/>
          <a:lstStyle/>
          <a:p>
            <a:pPr algn="ctr"/>
            <a:r>
              <a:rPr lang="en-US" altLang="zh-TW" dirty="0"/>
              <a:t>Abstract</a:t>
            </a:r>
            <a:endParaRPr lang="zh-TW" altLang="en-US" dirty="0"/>
          </a:p>
        </p:txBody>
      </p:sp>
      <p:sp>
        <p:nvSpPr>
          <p:cNvPr id="3" name="內容版面配置區 2">
            <a:extLst>
              <a:ext uri="{FF2B5EF4-FFF2-40B4-BE49-F238E27FC236}">
                <a16:creationId xmlns:a16="http://schemas.microsoft.com/office/drawing/2014/main" xmlns="" id="{F3298A7D-08BB-4270-95EF-F7A9C4BFE46F}"/>
              </a:ext>
            </a:extLst>
          </p:cNvPr>
          <p:cNvSpPr>
            <a:spLocks noGrp="1"/>
          </p:cNvSpPr>
          <p:nvPr>
            <p:ph idx="1"/>
          </p:nvPr>
        </p:nvSpPr>
        <p:spPr/>
        <p:txBody>
          <a:bodyPr>
            <a:normAutofit fontScale="92500" lnSpcReduction="20000"/>
          </a:bodyPr>
          <a:lstStyle/>
          <a:p>
            <a:pPr marL="0" indent="0">
              <a:buNone/>
            </a:pPr>
            <a:r>
              <a:rPr lang="en-US" altLang="zh-TW" dirty="0">
                <a:latin typeface="Times New Roman" panose="02020603050405020304" pitchFamily="18" charset="0"/>
                <a:cs typeface="Times New Roman" panose="02020603050405020304" pitchFamily="18" charset="0"/>
              </a:rPr>
              <a:t>Finding matching subsequences in time series data is an important problem. The classical approach to search for matching subsequences has been on the principle of exhaustive search, where all possible candidates are generated and evaluated or all the terms of the time series in a data base are examined. As a result most of the subsequence search algorithms are cubic in nature with few algorithms of quadratic nature. Some approximate algorithms have been proposed, as a result, to speed up the search for matching subsequences. In this work, we propose a fast and efficient exact subsequence search algorithm which is </a:t>
            </a:r>
            <a:r>
              <a:rPr lang="en-US" altLang="zh-TW" dirty="0" err="1">
                <a:latin typeface="Times New Roman" panose="02020603050405020304" pitchFamily="18" charset="0"/>
                <a:cs typeface="Times New Roman" panose="02020603050405020304" pitchFamily="18" charset="0"/>
              </a:rPr>
              <a:t>subquadratic</a:t>
            </a:r>
            <a:r>
              <a:rPr lang="en-US" altLang="zh-TW" dirty="0">
                <a:latin typeface="Times New Roman" panose="02020603050405020304" pitchFamily="18" charset="0"/>
                <a:cs typeface="Times New Roman" panose="02020603050405020304" pitchFamily="18" charset="0"/>
              </a:rPr>
              <a:t> in nature. We introduce the notion of </a:t>
            </a:r>
            <a:r>
              <a:rPr lang="en-US" altLang="zh-TW" i="1" dirty="0" err="1">
                <a:latin typeface="Times New Roman" panose="02020603050405020304" pitchFamily="18" charset="0"/>
                <a:cs typeface="Times New Roman" panose="02020603050405020304" pitchFamily="18" charset="0"/>
              </a:rPr>
              <a:t>eHaar</a:t>
            </a:r>
            <a:r>
              <a:rPr lang="en-US" altLang="zh-TW" i="1" dirty="0">
                <a:latin typeface="Times New Roman" panose="02020603050405020304" pitchFamily="18" charset="0"/>
                <a:cs typeface="Times New Roman" panose="02020603050405020304" pitchFamily="18" charset="0"/>
              </a:rPr>
              <a:t> (envelope </a:t>
            </a:r>
            <a:r>
              <a:rPr lang="en-US" altLang="zh-TW" i="1" dirty="0" err="1">
                <a:latin typeface="Times New Roman" panose="02020603050405020304" pitchFamily="18" charset="0"/>
                <a:cs typeface="Times New Roman" panose="02020603050405020304" pitchFamily="18" charset="0"/>
              </a:rPr>
              <a:t>Haar</a:t>
            </a:r>
            <a:r>
              <a:rPr lang="en-US" altLang="zh-TW" i="1"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to prune parts of the time series data which will not contain subsequences that can match the query subsequence. This pruning phase dramatically reduces the search space, thus allowing dynamic time warping based subsequence search techniques to be applied on gigabyte-size time series databases. Experiment results demonstrate that the proposed approach outperforms existing state-of-the art techniques.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7150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10F2CE5-8999-450C-8041-8E0D3E985C0C}"/>
              </a:ext>
            </a:extLst>
          </p:cNvPr>
          <p:cNvSpPr>
            <a:spLocks noGrp="1"/>
          </p:cNvSpPr>
          <p:nvPr>
            <p:ph type="title"/>
          </p:nvPr>
        </p:nvSpPr>
        <p:spPr/>
        <p:txBody>
          <a:bodyPr/>
          <a:lstStyle/>
          <a:p>
            <a:pPr algn="ctr"/>
            <a:r>
              <a:rPr lang="en-US" altLang="zh-TW" dirty="0" err="1"/>
              <a:t>Haar</a:t>
            </a:r>
            <a:r>
              <a:rPr lang="en-US" altLang="zh-TW" dirty="0"/>
              <a:t> wavelet transform</a:t>
            </a:r>
            <a:endParaRPr lang="zh-TW" altLang="en-US" dirty="0"/>
          </a:p>
        </p:txBody>
      </p:sp>
      <p:graphicFrame>
        <p:nvGraphicFramePr>
          <p:cNvPr id="4" name="表格 3">
            <a:extLst>
              <a:ext uri="{FF2B5EF4-FFF2-40B4-BE49-F238E27FC236}">
                <a16:creationId xmlns:a16="http://schemas.microsoft.com/office/drawing/2014/main" xmlns="" id="{69A77A48-4230-4AA6-9D25-DB0167D1A335}"/>
              </a:ext>
            </a:extLst>
          </p:cNvPr>
          <p:cNvGraphicFramePr>
            <a:graphicFrameLocks noGrp="1"/>
          </p:cNvGraphicFramePr>
          <p:nvPr>
            <p:extLst>
              <p:ext uri="{D42A27DB-BD31-4B8C-83A1-F6EECF244321}">
                <p14:modId xmlns:p14="http://schemas.microsoft.com/office/powerpoint/2010/main" val="561193824"/>
              </p:ext>
            </p:extLst>
          </p:nvPr>
        </p:nvGraphicFramePr>
        <p:xfrm>
          <a:off x="1451015" y="2806793"/>
          <a:ext cx="9289969" cy="2980963"/>
        </p:xfrm>
        <a:graphic>
          <a:graphicData uri="http://schemas.openxmlformats.org/drawingml/2006/table">
            <a:tbl>
              <a:tblPr firstRow="1" bandRow="1">
                <a:tableStyleId>{5C22544A-7EE6-4342-B048-85BDC9FD1C3A}</a:tableStyleId>
              </a:tblPr>
              <a:tblGrid>
                <a:gridCol w="714613">
                  <a:extLst>
                    <a:ext uri="{9D8B030D-6E8A-4147-A177-3AD203B41FA5}">
                      <a16:colId xmlns:a16="http://schemas.microsoft.com/office/drawing/2014/main" xmlns="" val="997313306"/>
                    </a:ext>
                  </a:extLst>
                </a:gridCol>
                <a:gridCol w="714613">
                  <a:extLst>
                    <a:ext uri="{9D8B030D-6E8A-4147-A177-3AD203B41FA5}">
                      <a16:colId xmlns:a16="http://schemas.microsoft.com/office/drawing/2014/main" xmlns="" val="855733359"/>
                    </a:ext>
                  </a:extLst>
                </a:gridCol>
                <a:gridCol w="714613">
                  <a:extLst>
                    <a:ext uri="{9D8B030D-6E8A-4147-A177-3AD203B41FA5}">
                      <a16:colId xmlns:a16="http://schemas.microsoft.com/office/drawing/2014/main" xmlns="" val="886091636"/>
                    </a:ext>
                  </a:extLst>
                </a:gridCol>
                <a:gridCol w="714613">
                  <a:extLst>
                    <a:ext uri="{9D8B030D-6E8A-4147-A177-3AD203B41FA5}">
                      <a16:colId xmlns:a16="http://schemas.microsoft.com/office/drawing/2014/main" xmlns="" val="374101268"/>
                    </a:ext>
                  </a:extLst>
                </a:gridCol>
                <a:gridCol w="714613">
                  <a:extLst>
                    <a:ext uri="{9D8B030D-6E8A-4147-A177-3AD203B41FA5}">
                      <a16:colId xmlns:a16="http://schemas.microsoft.com/office/drawing/2014/main" xmlns="" val="649098189"/>
                    </a:ext>
                  </a:extLst>
                </a:gridCol>
                <a:gridCol w="714613">
                  <a:extLst>
                    <a:ext uri="{9D8B030D-6E8A-4147-A177-3AD203B41FA5}">
                      <a16:colId xmlns:a16="http://schemas.microsoft.com/office/drawing/2014/main" xmlns="" val="2736177325"/>
                    </a:ext>
                  </a:extLst>
                </a:gridCol>
                <a:gridCol w="714613">
                  <a:extLst>
                    <a:ext uri="{9D8B030D-6E8A-4147-A177-3AD203B41FA5}">
                      <a16:colId xmlns:a16="http://schemas.microsoft.com/office/drawing/2014/main" xmlns="" val="569405521"/>
                    </a:ext>
                  </a:extLst>
                </a:gridCol>
                <a:gridCol w="714613">
                  <a:extLst>
                    <a:ext uri="{9D8B030D-6E8A-4147-A177-3AD203B41FA5}">
                      <a16:colId xmlns:a16="http://schemas.microsoft.com/office/drawing/2014/main" xmlns="" val="279334422"/>
                    </a:ext>
                  </a:extLst>
                </a:gridCol>
                <a:gridCol w="714613">
                  <a:extLst>
                    <a:ext uri="{9D8B030D-6E8A-4147-A177-3AD203B41FA5}">
                      <a16:colId xmlns:a16="http://schemas.microsoft.com/office/drawing/2014/main" xmlns="" val="2864372"/>
                    </a:ext>
                  </a:extLst>
                </a:gridCol>
                <a:gridCol w="714613">
                  <a:extLst>
                    <a:ext uri="{9D8B030D-6E8A-4147-A177-3AD203B41FA5}">
                      <a16:colId xmlns:a16="http://schemas.microsoft.com/office/drawing/2014/main" xmlns="" val="2364014886"/>
                    </a:ext>
                  </a:extLst>
                </a:gridCol>
                <a:gridCol w="714613">
                  <a:extLst>
                    <a:ext uri="{9D8B030D-6E8A-4147-A177-3AD203B41FA5}">
                      <a16:colId xmlns:a16="http://schemas.microsoft.com/office/drawing/2014/main" xmlns="" val="497601611"/>
                    </a:ext>
                  </a:extLst>
                </a:gridCol>
                <a:gridCol w="714613">
                  <a:extLst>
                    <a:ext uri="{9D8B030D-6E8A-4147-A177-3AD203B41FA5}">
                      <a16:colId xmlns:a16="http://schemas.microsoft.com/office/drawing/2014/main" xmlns="" val="2375365208"/>
                    </a:ext>
                  </a:extLst>
                </a:gridCol>
                <a:gridCol w="714613">
                  <a:extLst>
                    <a:ext uri="{9D8B030D-6E8A-4147-A177-3AD203B41FA5}">
                      <a16:colId xmlns:a16="http://schemas.microsoft.com/office/drawing/2014/main" xmlns="" val="1964127131"/>
                    </a:ext>
                  </a:extLst>
                </a:gridCol>
              </a:tblGrid>
              <a:tr h="747800">
                <a:tc>
                  <a:txBody>
                    <a:bodyPr/>
                    <a:lstStyle/>
                    <a:p>
                      <a:pPr algn="ctr"/>
                      <a:r>
                        <a:rPr lang="en-US" altLang="zh-TW" sz="2400" b="0" dirty="0">
                          <a:solidFill>
                            <a:schemeClr val="tx1"/>
                          </a:solidFill>
                        </a:rPr>
                        <a:t>9</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7</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5</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3</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0</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2</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-4</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-6</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2400" b="0">
                          <a:solidFill>
                            <a:schemeClr val="tx1"/>
                          </a:solidFill>
                        </a:rPr>
                        <a:t>Coefficients</a:t>
                      </a: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741830509"/>
                  </a:ext>
                </a:extLst>
              </a:tr>
              <a:tr h="747800">
                <a:tc gridSpan="2">
                  <a:txBody>
                    <a:bodyPr/>
                    <a:lstStyle/>
                    <a:p>
                      <a:pPr algn="ctr"/>
                      <a:r>
                        <a:rPr lang="en-US" altLang="zh-TW" sz="2400" b="0" dirty="0">
                          <a:solidFill>
                            <a:schemeClr val="tx1"/>
                          </a:solidFill>
                        </a:rPr>
                        <a:t>8</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2400" b="0" dirty="0">
                          <a:solidFill>
                            <a:schemeClr val="tx1"/>
                          </a:solidFill>
                        </a:rPr>
                        <a:t>4</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2400" b="0" dirty="0">
                          <a:solidFill>
                            <a:schemeClr val="tx1"/>
                          </a:solidFill>
                        </a:rPr>
                        <a:t>1</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2400" b="0" dirty="0">
                          <a:solidFill>
                            <a:schemeClr val="tx1"/>
                          </a:solidFill>
                        </a:rPr>
                        <a:t>-5</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1</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1</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-1</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dirty="0">
                          <a:solidFill>
                            <a:schemeClr val="tx1"/>
                          </a:solidFill>
                        </a:rPr>
                        <a:t>1</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537561708"/>
                  </a:ext>
                </a:extLst>
              </a:tr>
              <a:tr h="747800">
                <a:tc gridSpan="4">
                  <a:txBody>
                    <a:bodyPr/>
                    <a:lstStyle/>
                    <a:p>
                      <a:pPr algn="ctr"/>
                      <a:r>
                        <a:rPr lang="en-US" altLang="zh-TW" sz="2400" b="0" dirty="0">
                          <a:solidFill>
                            <a:schemeClr val="tx1"/>
                          </a:solidFill>
                        </a:rPr>
                        <a:t>6</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2400" b="0" dirty="0">
                          <a:solidFill>
                            <a:schemeClr val="tx1"/>
                          </a:solidFill>
                        </a:rPr>
                        <a:t>-2</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2400" b="0" dirty="0">
                          <a:solidFill>
                            <a:schemeClr val="tx1"/>
                          </a:solidFill>
                        </a:rPr>
                        <a:t>2</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2400" b="0" dirty="0">
                          <a:solidFill>
                            <a:schemeClr val="tx1"/>
                          </a:solidFill>
                        </a:rPr>
                        <a:t>3</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878930801"/>
                  </a:ext>
                </a:extLst>
              </a:tr>
              <a:tr h="737563">
                <a:tc gridSpan="8">
                  <a:txBody>
                    <a:bodyPr/>
                    <a:lstStyle/>
                    <a:p>
                      <a:pPr algn="ctr"/>
                      <a:r>
                        <a:rPr lang="en-US" altLang="zh-TW" sz="2400" b="0" dirty="0">
                          <a:solidFill>
                            <a:schemeClr val="tx1"/>
                          </a:solidFill>
                        </a:rPr>
                        <a:t>2</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2400" b="0" dirty="0">
                          <a:solidFill>
                            <a:schemeClr val="tx1"/>
                          </a:solidFill>
                        </a:rPr>
                        <a:t>4</a:t>
                      </a:r>
                      <a:endParaRPr lang="zh-TW"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776334212"/>
                  </a:ext>
                </a:extLst>
              </a:tr>
            </a:tbl>
          </a:graphicData>
        </a:graphic>
      </p:graphicFrame>
      <p:sp>
        <p:nvSpPr>
          <p:cNvPr id="5" name="文字方塊 4">
            <a:extLst>
              <a:ext uri="{FF2B5EF4-FFF2-40B4-BE49-F238E27FC236}">
                <a16:creationId xmlns:a16="http://schemas.microsoft.com/office/drawing/2014/main" xmlns="" id="{1642DB20-B956-4F85-AB95-B90052211E92}"/>
              </a:ext>
            </a:extLst>
          </p:cNvPr>
          <p:cNvSpPr txBox="1"/>
          <p:nvPr/>
        </p:nvSpPr>
        <p:spPr>
          <a:xfrm>
            <a:off x="541537" y="1658770"/>
            <a:ext cx="2533066" cy="461665"/>
          </a:xfrm>
          <a:prstGeom prst="rect">
            <a:avLst/>
          </a:prstGeom>
          <a:noFill/>
        </p:spPr>
        <p:txBody>
          <a:bodyPr wrap="none" rtlCol="0">
            <a:spAutoFit/>
          </a:bodyPr>
          <a:lstStyle/>
          <a:p>
            <a:r>
              <a:rPr lang="en-US" altLang="zh-TW" sz="2400" dirty="0"/>
              <a:t>S = 9 7 5 3 0 2 -4 -6</a:t>
            </a:r>
            <a:endParaRPr lang="zh-TW" altLang="en-US" sz="2400" dirty="0"/>
          </a:p>
        </p:txBody>
      </p:sp>
      <p:sp>
        <p:nvSpPr>
          <p:cNvPr id="7" name="文字方塊 6">
            <a:extLst>
              <a:ext uri="{FF2B5EF4-FFF2-40B4-BE49-F238E27FC236}">
                <a16:creationId xmlns:a16="http://schemas.microsoft.com/office/drawing/2014/main" xmlns="" id="{1C8B1741-D905-4C41-9E7B-523FC3B96B92}"/>
              </a:ext>
            </a:extLst>
          </p:cNvPr>
          <p:cNvSpPr txBox="1"/>
          <p:nvPr/>
        </p:nvSpPr>
        <p:spPr>
          <a:xfrm>
            <a:off x="3657599" y="2146213"/>
            <a:ext cx="1311641" cy="461665"/>
          </a:xfrm>
          <a:prstGeom prst="rect">
            <a:avLst/>
          </a:prstGeom>
          <a:noFill/>
        </p:spPr>
        <p:txBody>
          <a:bodyPr wrap="none" rtlCol="0">
            <a:spAutoFit/>
          </a:bodyPr>
          <a:lstStyle/>
          <a:p>
            <a:r>
              <a:rPr lang="en-US" altLang="zh-TW" sz="2400" dirty="0"/>
              <a:t>Averages</a:t>
            </a:r>
            <a:endParaRPr lang="zh-TW" altLang="en-US" sz="2400" dirty="0"/>
          </a:p>
        </p:txBody>
      </p:sp>
    </p:spTree>
    <p:extLst>
      <p:ext uri="{BB962C8B-B14F-4D97-AF65-F5344CB8AC3E}">
        <p14:creationId xmlns:p14="http://schemas.microsoft.com/office/powerpoint/2010/main" val="4120634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xmlns="" id="{915F61A6-A6A7-43A8-A751-FE2FCE5729D1}"/>
              </a:ext>
            </a:extLst>
          </p:cNvPr>
          <p:cNvSpPr>
            <a:spLocks noGrp="1"/>
          </p:cNvSpPr>
          <p:nvPr>
            <p:ph type="title"/>
          </p:nvPr>
        </p:nvSpPr>
        <p:spPr>
          <a:xfrm>
            <a:off x="838200" y="365125"/>
            <a:ext cx="10515600" cy="1325563"/>
          </a:xfrm>
        </p:spPr>
        <p:txBody>
          <a:bodyPr/>
          <a:lstStyle/>
          <a:p>
            <a:pPr algn="ctr"/>
            <a:r>
              <a:rPr lang="en-US" altLang="zh-TW" dirty="0" err="1"/>
              <a:t>Haar</a:t>
            </a:r>
            <a:r>
              <a:rPr lang="en-US" altLang="zh-TW" dirty="0"/>
              <a:t> wavelet transform</a:t>
            </a:r>
            <a:endParaRPr lang="zh-TW" altLang="en-US" dirty="0"/>
          </a:p>
        </p:txBody>
      </p:sp>
      <p:pic>
        <p:nvPicPr>
          <p:cNvPr id="5" name="圖片 4">
            <a:extLst>
              <a:ext uri="{FF2B5EF4-FFF2-40B4-BE49-F238E27FC236}">
                <a16:creationId xmlns:a16="http://schemas.microsoft.com/office/drawing/2014/main" xmlns="" id="{B3762274-3D0E-413D-83B2-0B58FBF2E304}"/>
              </a:ext>
            </a:extLst>
          </p:cNvPr>
          <p:cNvPicPr>
            <a:picLocks noChangeAspect="1"/>
          </p:cNvPicPr>
          <p:nvPr/>
        </p:nvPicPr>
        <p:blipFill>
          <a:blip r:embed="rId2"/>
          <a:stretch>
            <a:fillRect/>
          </a:stretch>
        </p:blipFill>
        <p:spPr>
          <a:xfrm>
            <a:off x="3100996" y="1895752"/>
            <a:ext cx="5990008" cy="3830345"/>
          </a:xfrm>
          <a:prstGeom prst="rect">
            <a:avLst/>
          </a:prstGeom>
        </p:spPr>
      </p:pic>
      <p:sp>
        <p:nvSpPr>
          <p:cNvPr id="7" name="文字方塊 6">
            <a:extLst>
              <a:ext uri="{FF2B5EF4-FFF2-40B4-BE49-F238E27FC236}">
                <a16:creationId xmlns:a16="http://schemas.microsoft.com/office/drawing/2014/main" xmlns="" id="{F5D82E97-FBA7-415D-8F69-6DC42BEF730F}"/>
              </a:ext>
            </a:extLst>
          </p:cNvPr>
          <p:cNvSpPr txBox="1"/>
          <p:nvPr/>
        </p:nvSpPr>
        <p:spPr>
          <a:xfrm>
            <a:off x="541537" y="1658770"/>
            <a:ext cx="2533066" cy="461665"/>
          </a:xfrm>
          <a:prstGeom prst="rect">
            <a:avLst/>
          </a:prstGeom>
          <a:noFill/>
        </p:spPr>
        <p:txBody>
          <a:bodyPr wrap="none" rtlCol="0">
            <a:spAutoFit/>
          </a:bodyPr>
          <a:lstStyle/>
          <a:p>
            <a:r>
              <a:rPr lang="en-US" altLang="zh-TW" sz="2400" dirty="0"/>
              <a:t>S = 9 7 5 3 0 2 -4 -6</a:t>
            </a:r>
            <a:endParaRPr lang="zh-TW" altLang="en-US" sz="2400" dirty="0"/>
          </a:p>
        </p:txBody>
      </p:sp>
      <p:sp>
        <p:nvSpPr>
          <p:cNvPr id="9" name="文字方塊 8">
            <a:extLst>
              <a:ext uri="{FF2B5EF4-FFF2-40B4-BE49-F238E27FC236}">
                <a16:creationId xmlns:a16="http://schemas.microsoft.com/office/drawing/2014/main" xmlns="" id="{2304F622-1CD7-4FEA-9049-E05CBE53BBCE}"/>
              </a:ext>
            </a:extLst>
          </p:cNvPr>
          <p:cNvSpPr txBox="1"/>
          <p:nvPr/>
        </p:nvSpPr>
        <p:spPr>
          <a:xfrm>
            <a:off x="541537" y="2952415"/>
            <a:ext cx="2460930" cy="461665"/>
          </a:xfrm>
          <a:prstGeom prst="rect">
            <a:avLst/>
          </a:prstGeom>
          <a:noFill/>
        </p:spPr>
        <p:txBody>
          <a:bodyPr wrap="none" rtlCol="0">
            <a:spAutoFit/>
          </a:bodyPr>
          <a:lstStyle/>
          <a:p>
            <a:r>
              <a:rPr lang="en-US" altLang="zh-TW" sz="2400" dirty="0"/>
              <a:t>C = 2 4 2 3 1 1 -1 1</a:t>
            </a:r>
            <a:endParaRPr lang="zh-TW" altLang="en-US" sz="2400" dirty="0"/>
          </a:p>
        </p:txBody>
      </p:sp>
    </p:spTree>
    <p:extLst>
      <p:ext uri="{BB962C8B-B14F-4D97-AF65-F5344CB8AC3E}">
        <p14:creationId xmlns:p14="http://schemas.microsoft.com/office/powerpoint/2010/main" val="1704627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10F2CE5-8999-450C-8041-8E0D3E985C0C}"/>
              </a:ext>
            </a:extLst>
          </p:cNvPr>
          <p:cNvSpPr>
            <a:spLocks noGrp="1"/>
          </p:cNvSpPr>
          <p:nvPr>
            <p:ph type="title"/>
          </p:nvPr>
        </p:nvSpPr>
        <p:spPr/>
        <p:txBody>
          <a:bodyPr/>
          <a:lstStyle/>
          <a:p>
            <a:pPr algn="ctr"/>
            <a:r>
              <a:rPr lang="en-US" altLang="zh-TW" dirty="0" err="1"/>
              <a:t>Haar</a:t>
            </a:r>
            <a:r>
              <a:rPr lang="en-US" altLang="zh-TW" dirty="0"/>
              <a:t> wavelet transform</a:t>
            </a:r>
            <a:endParaRPr lang="zh-TW" altLang="en-US" dirty="0"/>
          </a:p>
        </p:txBody>
      </p:sp>
      <p:sp>
        <p:nvSpPr>
          <p:cNvPr id="5" name="文字方塊 4">
            <a:extLst>
              <a:ext uri="{FF2B5EF4-FFF2-40B4-BE49-F238E27FC236}">
                <a16:creationId xmlns:a16="http://schemas.microsoft.com/office/drawing/2014/main" xmlns="" id="{1642DB20-B956-4F85-AB95-B90052211E92}"/>
              </a:ext>
            </a:extLst>
          </p:cNvPr>
          <p:cNvSpPr txBox="1"/>
          <p:nvPr/>
        </p:nvSpPr>
        <p:spPr>
          <a:xfrm>
            <a:off x="550415" y="1556243"/>
            <a:ext cx="2533066" cy="461665"/>
          </a:xfrm>
          <a:prstGeom prst="rect">
            <a:avLst/>
          </a:prstGeom>
          <a:noFill/>
        </p:spPr>
        <p:txBody>
          <a:bodyPr wrap="none" rtlCol="0">
            <a:spAutoFit/>
          </a:bodyPr>
          <a:lstStyle/>
          <a:p>
            <a:r>
              <a:rPr lang="en-US" altLang="zh-TW" sz="2400" dirty="0"/>
              <a:t>S = 9 7 5 3 0 2 -4 -6</a:t>
            </a:r>
            <a:endParaRPr lang="zh-TW" altLang="en-US" sz="2400" dirty="0"/>
          </a:p>
        </p:txBody>
      </p:sp>
      <p:graphicFrame>
        <p:nvGraphicFramePr>
          <p:cNvPr id="8" name="表格 7">
            <a:extLst>
              <a:ext uri="{FF2B5EF4-FFF2-40B4-BE49-F238E27FC236}">
                <a16:creationId xmlns:a16="http://schemas.microsoft.com/office/drawing/2014/main" xmlns="" id="{B7605B6C-7892-4ACB-BE5F-2D42CF415E8B}"/>
              </a:ext>
            </a:extLst>
          </p:cNvPr>
          <p:cNvGraphicFramePr>
            <a:graphicFrameLocks noGrp="1"/>
          </p:cNvGraphicFramePr>
          <p:nvPr>
            <p:extLst>
              <p:ext uri="{D42A27DB-BD31-4B8C-83A1-F6EECF244321}">
                <p14:modId xmlns:p14="http://schemas.microsoft.com/office/powerpoint/2010/main" val="1329204963"/>
              </p:ext>
            </p:extLst>
          </p:nvPr>
        </p:nvGraphicFramePr>
        <p:xfrm>
          <a:off x="1451016" y="2806794"/>
          <a:ext cx="6325826" cy="2029829"/>
        </p:xfrm>
        <a:graphic>
          <a:graphicData uri="http://schemas.openxmlformats.org/drawingml/2006/table">
            <a:tbl>
              <a:tblPr firstRow="1" bandRow="1">
                <a:tableStyleId>{5C22544A-7EE6-4342-B048-85BDC9FD1C3A}</a:tableStyleId>
              </a:tblPr>
              <a:tblGrid>
                <a:gridCol w="486602">
                  <a:extLst>
                    <a:ext uri="{9D8B030D-6E8A-4147-A177-3AD203B41FA5}">
                      <a16:colId xmlns:a16="http://schemas.microsoft.com/office/drawing/2014/main" xmlns="" val="997313306"/>
                    </a:ext>
                  </a:extLst>
                </a:gridCol>
                <a:gridCol w="486602">
                  <a:extLst>
                    <a:ext uri="{9D8B030D-6E8A-4147-A177-3AD203B41FA5}">
                      <a16:colId xmlns:a16="http://schemas.microsoft.com/office/drawing/2014/main" xmlns="" val="855733359"/>
                    </a:ext>
                  </a:extLst>
                </a:gridCol>
                <a:gridCol w="486602">
                  <a:extLst>
                    <a:ext uri="{9D8B030D-6E8A-4147-A177-3AD203B41FA5}">
                      <a16:colId xmlns:a16="http://schemas.microsoft.com/office/drawing/2014/main" xmlns="" val="886091636"/>
                    </a:ext>
                  </a:extLst>
                </a:gridCol>
                <a:gridCol w="486602">
                  <a:extLst>
                    <a:ext uri="{9D8B030D-6E8A-4147-A177-3AD203B41FA5}">
                      <a16:colId xmlns:a16="http://schemas.microsoft.com/office/drawing/2014/main" xmlns="" val="374101268"/>
                    </a:ext>
                  </a:extLst>
                </a:gridCol>
                <a:gridCol w="486602">
                  <a:extLst>
                    <a:ext uri="{9D8B030D-6E8A-4147-A177-3AD203B41FA5}">
                      <a16:colId xmlns:a16="http://schemas.microsoft.com/office/drawing/2014/main" xmlns="" val="649098189"/>
                    </a:ext>
                  </a:extLst>
                </a:gridCol>
                <a:gridCol w="486602">
                  <a:extLst>
                    <a:ext uri="{9D8B030D-6E8A-4147-A177-3AD203B41FA5}">
                      <a16:colId xmlns:a16="http://schemas.microsoft.com/office/drawing/2014/main" xmlns="" val="2736177325"/>
                    </a:ext>
                  </a:extLst>
                </a:gridCol>
                <a:gridCol w="486602">
                  <a:extLst>
                    <a:ext uri="{9D8B030D-6E8A-4147-A177-3AD203B41FA5}">
                      <a16:colId xmlns:a16="http://schemas.microsoft.com/office/drawing/2014/main" xmlns="" val="569405521"/>
                    </a:ext>
                  </a:extLst>
                </a:gridCol>
                <a:gridCol w="486602">
                  <a:extLst>
                    <a:ext uri="{9D8B030D-6E8A-4147-A177-3AD203B41FA5}">
                      <a16:colId xmlns:a16="http://schemas.microsoft.com/office/drawing/2014/main" xmlns="" val="279334422"/>
                    </a:ext>
                  </a:extLst>
                </a:gridCol>
                <a:gridCol w="486602">
                  <a:extLst>
                    <a:ext uri="{9D8B030D-6E8A-4147-A177-3AD203B41FA5}">
                      <a16:colId xmlns:a16="http://schemas.microsoft.com/office/drawing/2014/main" xmlns="" val="2864372"/>
                    </a:ext>
                  </a:extLst>
                </a:gridCol>
                <a:gridCol w="486602">
                  <a:extLst>
                    <a:ext uri="{9D8B030D-6E8A-4147-A177-3AD203B41FA5}">
                      <a16:colId xmlns:a16="http://schemas.microsoft.com/office/drawing/2014/main" xmlns="" val="2364014886"/>
                    </a:ext>
                  </a:extLst>
                </a:gridCol>
                <a:gridCol w="486602">
                  <a:extLst>
                    <a:ext uri="{9D8B030D-6E8A-4147-A177-3AD203B41FA5}">
                      <a16:colId xmlns:a16="http://schemas.microsoft.com/office/drawing/2014/main" xmlns="" val="497601611"/>
                    </a:ext>
                  </a:extLst>
                </a:gridCol>
                <a:gridCol w="486602">
                  <a:extLst>
                    <a:ext uri="{9D8B030D-6E8A-4147-A177-3AD203B41FA5}">
                      <a16:colId xmlns:a16="http://schemas.microsoft.com/office/drawing/2014/main" xmlns="" val="2375365208"/>
                    </a:ext>
                  </a:extLst>
                </a:gridCol>
                <a:gridCol w="486602">
                  <a:extLst>
                    <a:ext uri="{9D8B030D-6E8A-4147-A177-3AD203B41FA5}">
                      <a16:colId xmlns:a16="http://schemas.microsoft.com/office/drawing/2014/main" xmlns="" val="1964127131"/>
                    </a:ext>
                  </a:extLst>
                </a:gridCol>
              </a:tblGrid>
              <a:tr h="509200">
                <a:tc>
                  <a:txBody>
                    <a:bodyPr/>
                    <a:lstStyle/>
                    <a:p>
                      <a:pPr algn="ctr"/>
                      <a:r>
                        <a:rPr lang="en-US" altLang="zh-TW" sz="1600" b="0" dirty="0">
                          <a:solidFill>
                            <a:schemeClr val="tx1"/>
                          </a:solidFill>
                        </a:rPr>
                        <a:t>9</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7</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5</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3</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2</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-4</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-6</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1600" b="0" dirty="0">
                          <a:solidFill>
                            <a:schemeClr val="tx1"/>
                          </a:solidFill>
                        </a:rPr>
                        <a:t>Coefficients</a:t>
                      </a:r>
                      <a:endParaRPr lang="zh-TW" altLang="en-US" sz="1600" b="0" dirty="0">
                        <a:solidFill>
                          <a:schemeClr val="tx1"/>
                        </a:solidFill>
                      </a:endParaRPr>
                    </a:p>
                  </a:txBody>
                  <a:tcPr marL="73827" marR="73827" marT="36913" marB="369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741830509"/>
                  </a:ext>
                </a:extLst>
              </a:tr>
              <a:tr h="509200">
                <a:tc gridSpan="2">
                  <a:txBody>
                    <a:bodyPr/>
                    <a:lstStyle/>
                    <a:p>
                      <a:pPr algn="ctr"/>
                      <a:r>
                        <a:rPr lang="en-US" altLang="zh-TW" sz="1600" b="0" dirty="0">
                          <a:solidFill>
                            <a:schemeClr val="tx1"/>
                          </a:solidFill>
                        </a:rPr>
                        <a:t>8</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4</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1</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-5</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537561708"/>
                  </a:ext>
                </a:extLst>
              </a:tr>
              <a:tr h="509200">
                <a:tc gridSpan="4">
                  <a:txBody>
                    <a:bodyPr/>
                    <a:lstStyle/>
                    <a:p>
                      <a:pPr algn="ctr"/>
                      <a:r>
                        <a:rPr lang="en-US" altLang="zh-TW" sz="1600" b="0" dirty="0">
                          <a:solidFill>
                            <a:schemeClr val="tx1"/>
                          </a:solidFill>
                        </a:rPr>
                        <a:t>6</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1600" b="0" dirty="0">
                          <a:solidFill>
                            <a:schemeClr val="tx1"/>
                          </a:solidFill>
                        </a:rPr>
                        <a:t>-2</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2</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3</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878930801"/>
                  </a:ext>
                </a:extLst>
              </a:tr>
              <a:tr h="502229">
                <a:tc gridSpan="8">
                  <a:txBody>
                    <a:bodyPr/>
                    <a:lstStyle/>
                    <a:p>
                      <a:pPr algn="ctr"/>
                      <a:r>
                        <a:rPr lang="en-US" altLang="zh-TW" sz="1600" b="0" dirty="0">
                          <a:solidFill>
                            <a:schemeClr val="tx1"/>
                          </a:solidFill>
                        </a:rPr>
                        <a:t>2</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1600" b="0" dirty="0">
                          <a:solidFill>
                            <a:schemeClr val="tx1"/>
                          </a:solidFill>
                        </a:rPr>
                        <a:t>4</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776334212"/>
                  </a:ext>
                </a:extLst>
              </a:tr>
            </a:tbl>
          </a:graphicData>
        </a:graphic>
      </p:graphicFrame>
      <p:sp>
        <p:nvSpPr>
          <p:cNvPr id="9" name="文字方塊 8">
            <a:extLst>
              <a:ext uri="{FF2B5EF4-FFF2-40B4-BE49-F238E27FC236}">
                <a16:creationId xmlns:a16="http://schemas.microsoft.com/office/drawing/2014/main" xmlns="" id="{271D74D4-697D-4D06-866F-A243248921D8}"/>
              </a:ext>
            </a:extLst>
          </p:cNvPr>
          <p:cNvSpPr txBox="1"/>
          <p:nvPr/>
        </p:nvSpPr>
        <p:spPr>
          <a:xfrm>
            <a:off x="2982895" y="2373028"/>
            <a:ext cx="1384917" cy="338554"/>
          </a:xfrm>
          <a:prstGeom prst="rect">
            <a:avLst/>
          </a:prstGeom>
          <a:noFill/>
        </p:spPr>
        <p:txBody>
          <a:bodyPr wrap="square" rtlCol="0">
            <a:spAutoFit/>
          </a:bodyPr>
          <a:lstStyle/>
          <a:p>
            <a:r>
              <a:rPr lang="en-US" altLang="zh-TW" sz="1600" dirty="0"/>
              <a:t>Averages</a:t>
            </a:r>
            <a:endParaRPr lang="zh-TW" altLang="en-US" sz="1600" dirty="0"/>
          </a:p>
        </p:txBody>
      </p:sp>
      <p:sp>
        <p:nvSpPr>
          <p:cNvPr id="10" name="文字方塊 9">
            <a:extLst>
              <a:ext uri="{FF2B5EF4-FFF2-40B4-BE49-F238E27FC236}">
                <a16:creationId xmlns:a16="http://schemas.microsoft.com/office/drawing/2014/main" xmlns="" id="{9E9B9EB0-EA9F-4B40-AC4E-123EF64C8C52}"/>
              </a:ext>
            </a:extLst>
          </p:cNvPr>
          <p:cNvSpPr txBox="1"/>
          <p:nvPr/>
        </p:nvSpPr>
        <p:spPr>
          <a:xfrm>
            <a:off x="8494802" y="3198167"/>
            <a:ext cx="3250356" cy="461665"/>
          </a:xfrm>
          <a:prstGeom prst="rect">
            <a:avLst/>
          </a:prstGeom>
          <a:noFill/>
        </p:spPr>
        <p:txBody>
          <a:bodyPr wrap="square" rtlCol="0">
            <a:spAutoFit/>
          </a:bodyPr>
          <a:lstStyle/>
          <a:p>
            <a:pPr algn="just"/>
            <a:r>
              <a:rPr lang="en-US" altLang="zh-TW" sz="2400" dirty="0"/>
              <a:t>C = C</a:t>
            </a:r>
            <a:r>
              <a:rPr lang="en-US" altLang="zh-TW" sz="2400" baseline="-25000" dirty="0"/>
              <a:t>1 </a:t>
            </a:r>
            <a:r>
              <a:rPr lang="en-US" altLang="zh-TW" sz="2400" dirty="0"/>
              <a:t>C</a:t>
            </a:r>
            <a:r>
              <a:rPr lang="en-US" altLang="zh-TW" sz="2400" baseline="-25000" dirty="0"/>
              <a:t>2 </a:t>
            </a:r>
            <a:r>
              <a:rPr lang="en-US" altLang="zh-TW" sz="2400" dirty="0"/>
              <a:t>C</a:t>
            </a:r>
            <a:r>
              <a:rPr lang="en-US" altLang="zh-TW" sz="2400" baseline="-25000" dirty="0"/>
              <a:t>3 </a:t>
            </a:r>
            <a:r>
              <a:rPr lang="en-US" altLang="zh-TW" sz="2400" dirty="0"/>
              <a:t>C</a:t>
            </a:r>
            <a:r>
              <a:rPr lang="en-US" altLang="zh-TW" sz="2400" baseline="-25000" dirty="0"/>
              <a:t>4 </a:t>
            </a:r>
            <a:r>
              <a:rPr lang="en-US" altLang="zh-TW" sz="2400" dirty="0"/>
              <a:t>…… C</a:t>
            </a:r>
            <a:r>
              <a:rPr lang="en-US" altLang="zh-TW" sz="2400" baseline="-25000" dirty="0"/>
              <a:t>N</a:t>
            </a:r>
            <a:endParaRPr lang="zh-TW" altLang="en-US" sz="2400" baseline="-25000" dirty="0"/>
          </a:p>
        </p:txBody>
      </p:sp>
      <p:sp>
        <p:nvSpPr>
          <p:cNvPr id="11" name="文字方塊 10">
            <a:extLst>
              <a:ext uri="{FF2B5EF4-FFF2-40B4-BE49-F238E27FC236}">
                <a16:creationId xmlns:a16="http://schemas.microsoft.com/office/drawing/2014/main" xmlns="" id="{4207B402-6EA4-47F8-B91A-67033277F4B4}"/>
              </a:ext>
            </a:extLst>
          </p:cNvPr>
          <p:cNvSpPr txBox="1"/>
          <p:nvPr/>
        </p:nvSpPr>
        <p:spPr>
          <a:xfrm>
            <a:off x="8494802" y="3937836"/>
            <a:ext cx="2460930" cy="461665"/>
          </a:xfrm>
          <a:prstGeom prst="rect">
            <a:avLst/>
          </a:prstGeom>
          <a:noFill/>
        </p:spPr>
        <p:txBody>
          <a:bodyPr wrap="none" rtlCol="0">
            <a:spAutoFit/>
          </a:bodyPr>
          <a:lstStyle/>
          <a:p>
            <a:r>
              <a:rPr lang="en-US" altLang="zh-TW" sz="2400" dirty="0"/>
              <a:t>C = 2 4 2 3 1 1 -1 1</a:t>
            </a:r>
            <a:endParaRPr lang="zh-TW" altLang="en-US" sz="2400" dirty="0"/>
          </a:p>
        </p:txBody>
      </p:sp>
    </p:spTree>
    <p:extLst>
      <p:ext uri="{BB962C8B-B14F-4D97-AF65-F5344CB8AC3E}">
        <p14:creationId xmlns:p14="http://schemas.microsoft.com/office/powerpoint/2010/main" val="190802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10F2CE5-8999-450C-8041-8E0D3E985C0C}"/>
              </a:ext>
            </a:extLst>
          </p:cNvPr>
          <p:cNvSpPr>
            <a:spLocks noGrp="1"/>
          </p:cNvSpPr>
          <p:nvPr>
            <p:ph type="title"/>
          </p:nvPr>
        </p:nvSpPr>
        <p:spPr/>
        <p:txBody>
          <a:bodyPr/>
          <a:lstStyle/>
          <a:p>
            <a:pPr algn="ctr"/>
            <a:r>
              <a:rPr lang="en-US" altLang="zh-TW" dirty="0" err="1"/>
              <a:t>Haar</a:t>
            </a:r>
            <a:r>
              <a:rPr lang="en-US" altLang="zh-TW" dirty="0"/>
              <a:t> wavelet transform</a:t>
            </a:r>
            <a:endParaRPr lang="zh-TW" altLang="en-US" dirty="0"/>
          </a:p>
        </p:txBody>
      </p:sp>
      <p:graphicFrame>
        <p:nvGraphicFramePr>
          <p:cNvPr id="4" name="表格 3">
            <a:extLst>
              <a:ext uri="{FF2B5EF4-FFF2-40B4-BE49-F238E27FC236}">
                <a16:creationId xmlns:a16="http://schemas.microsoft.com/office/drawing/2014/main" xmlns="" id="{69A77A48-4230-4AA6-9D25-DB0167D1A335}"/>
              </a:ext>
            </a:extLst>
          </p:cNvPr>
          <p:cNvGraphicFramePr>
            <a:graphicFrameLocks noGrp="1"/>
          </p:cNvGraphicFramePr>
          <p:nvPr>
            <p:extLst>
              <p:ext uri="{D42A27DB-BD31-4B8C-83A1-F6EECF244321}">
                <p14:modId xmlns:p14="http://schemas.microsoft.com/office/powerpoint/2010/main" val="3661244498"/>
              </p:ext>
            </p:extLst>
          </p:nvPr>
        </p:nvGraphicFramePr>
        <p:xfrm>
          <a:off x="1451016" y="2806794"/>
          <a:ext cx="6325826" cy="2029829"/>
        </p:xfrm>
        <a:graphic>
          <a:graphicData uri="http://schemas.openxmlformats.org/drawingml/2006/table">
            <a:tbl>
              <a:tblPr firstRow="1" bandRow="1">
                <a:tableStyleId>{5C22544A-7EE6-4342-B048-85BDC9FD1C3A}</a:tableStyleId>
              </a:tblPr>
              <a:tblGrid>
                <a:gridCol w="486602">
                  <a:extLst>
                    <a:ext uri="{9D8B030D-6E8A-4147-A177-3AD203B41FA5}">
                      <a16:colId xmlns:a16="http://schemas.microsoft.com/office/drawing/2014/main" xmlns="" val="997313306"/>
                    </a:ext>
                  </a:extLst>
                </a:gridCol>
                <a:gridCol w="486602">
                  <a:extLst>
                    <a:ext uri="{9D8B030D-6E8A-4147-A177-3AD203B41FA5}">
                      <a16:colId xmlns:a16="http://schemas.microsoft.com/office/drawing/2014/main" xmlns="" val="855733359"/>
                    </a:ext>
                  </a:extLst>
                </a:gridCol>
                <a:gridCol w="486602">
                  <a:extLst>
                    <a:ext uri="{9D8B030D-6E8A-4147-A177-3AD203B41FA5}">
                      <a16:colId xmlns:a16="http://schemas.microsoft.com/office/drawing/2014/main" xmlns="" val="886091636"/>
                    </a:ext>
                  </a:extLst>
                </a:gridCol>
                <a:gridCol w="486602">
                  <a:extLst>
                    <a:ext uri="{9D8B030D-6E8A-4147-A177-3AD203B41FA5}">
                      <a16:colId xmlns:a16="http://schemas.microsoft.com/office/drawing/2014/main" xmlns="" val="374101268"/>
                    </a:ext>
                  </a:extLst>
                </a:gridCol>
                <a:gridCol w="486602">
                  <a:extLst>
                    <a:ext uri="{9D8B030D-6E8A-4147-A177-3AD203B41FA5}">
                      <a16:colId xmlns:a16="http://schemas.microsoft.com/office/drawing/2014/main" xmlns="" val="649098189"/>
                    </a:ext>
                  </a:extLst>
                </a:gridCol>
                <a:gridCol w="486602">
                  <a:extLst>
                    <a:ext uri="{9D8B030D-6E8A-4147-A177-3AD203B41FA5}">
                      <a16:colId xmlns:a16="http://schemas.microsoft.com/office/drawing/2014/main" xmlns="" val="2736177325"/>
                    </a:ext>
                  </a:extLst>
                </a:gridCol>
                <a:gridCol w="486602">
                  <a:extLst>
                    <a:ext uri="{9D8B030D-6E8A-4147-A177-3AD203B41FA5}">
                      <a16:colId xmlns:a16="http://schemas.microsoft.com/office/drawing/2014/main" xmlns="" val="569405521"/>
                    </a:ext>
                  </a:extLst>
                </a:gridCol>
                <a:gridCol w="486602">
                  <a:extLst>
                    <a:ext uri="{9D8B030D-6E8A-4147-A177-3AD203B41FA5}">
                      <a16:colId xmlns:a16="http://schemas.microsoft.com/office/drawing/2014/main" xmlns="" val="279334422"/>
                    </a:ext>
                  </a:extLst>
                </a:gridCol>
                <a:gridCol w="486602">
                  <a:extLst>
                    <a:ext uri="{9D8B030D-6E8A-4147-A177-3AD203B41FA5}">
                      <a16:colId xmlns:a16="http://schemas.microsoft.com/office/drawing/2014/main" xmlns="" val="2864372"/>
                    </a:ext>
                  </a:extLst>
                </a:gridCol>
                <a:gridCol w="486602">
                  <a:extLst>
                    <a:ext uri="{9D8B030D-6E8A-4147-A177-3AD203B41FA5}">
                      <a16:colId xmlns:a16="http://schemas.microsoft.com/office/drawing/2014/main" xmlns="" val="2364014886"/>
                    </a:ext>
                  </a:extLst>
                </a:gridCol>
                <a:gridCol w="486602">
                  <a:extLst>
                    <a:ext uri="{9D8B030D-6E8A-4147-A177-3AD203B41FA5}">
                      <a16:colId xmlns:a16="http://schemas.microsoft.com/office/drawing/2014/main" xmlns="" val="497601611"/>
                    </a:ext>
                  </a:extLst>
                </a:gridCol>
                <a:gridCol w="486602">
                  <a:extLst>
                    <a:ext uri="{9D8B030D-6E8A-4147-A177-3AD203B41FA5}">
                      <a16:colId xmlns:a16="http://schemas.microsoft.com/office/drawing/2014/main" xmlns="" val="2375365208"/>
                    </a:ext>
                  </a:extLst>
                </a:gridCol>
                <a:gridCol w="486602">
                  <a:extLst>
                    <a:ext uri="{9D8B030D-6E8A-4147-A177-3AD203B41FA5}">
                      <a16:colId xmlns:a16="http://schemas.microsoft.com/office/drawing/2014/main" xmlns="" val="1964127131"/>
                    </a:ext>
                  </a:extLst>
                </a:gridCol>
              </a:tblGrid>
              <a:tr h="509200">
                <a:tc>
                  <a:txBody>
                    <a:bodyPr/>
                    <a:lstStyle/>
                    <a:p>
                      <a:pPr algn="ctr"/>
                      <a:r>
                        <a:rPr lang="en-US" altLang="zh-TW" sz="1600" b="0" dirty="0">
                          <a:solidFill>
                            <a:schemeClr val="tx1"/>
                          </a:solidFill>
                        </a:rPr>
                        <a:t>9</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7</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5</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3</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0</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2</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-4</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-6</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1600" b="0" dirty="0">
                          <a:solidFill>
                            <a:schemeClr val="tx1"/>
                          </a:solidFill>
                        </a:rPr>
                        <a:t>Coefficients</a:t>
                      </a:r>
                      <a:endParaRPr lang="zh-TW" altLang="en-US" sz="1600" b="0" dirty="0">
                        <a:solidFill>
                          <a:schemeClr val="tx1"/>
                        </a:solidFill>
                      </a:endParaRPr>
                    </a:p>
                  </a:txBody>
                  <a:tcPr marL="73827" marR="73827" marT="36913" marB="369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TW" altLang="en-US" sz="2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741830509"/>
                  </a:ext>
                </a:extLst>
              </a:tr>
              <a:tr h="509200">
                <a:tc gridSpan="2">
                  <a:txBody>
                    <a:bodyPr/>
                    <a:lstStyle/>
                    <a:p>
                      <a:pPr algn="ctr"/>
                      <a:r>
                        <a:rPr lang="en-US" altLang="zh-TW" sz="1600" b="0" dirty="0">
                          <a:solidFill>
                            <a:schemeClr val="tx1"/>
                          </a:solidFill>
                        </a:rPr>
                        <a:t>8</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4</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1</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-5</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b="0" dirty="0">
                          <a:solidFill>
                            <a:schemeClr val="tx1"/>
                          </a:solidFill>
                        </a:rPr>
                        <a:t>1</a:t>
                      </a: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537561708"/>
                  </a:ext>
                </a:extLst>
              </a:tr>
              <a:tr h="509200">
                <a:tc gridSpan="4">
                  <a:txBody>
                    <a:bodyPr/>
                    <a:lstStyle/>
                    <a:p>
                      <a:pPr algn="ctr"/>
                      <a:r>
                        <a:rPr lang="en-US" altLang="zh-TW" sz="1600" b="0" dirty="0">
                          <a:solidFill>
                            <a:schemeClr val="tx1"/>
                          </a:solidFill>
                        </a:rPr>
                        <a:t>6</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1600" b="0" dirty="0">
                          <a:solidFill>
                            <a:schemeClr val="tx1"/>
                          </a:solidFill>
                        </a:rPr>
                        <a:t>-2</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2</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altLang="zh-TW" sz="1600" b="0" dirty="0">
                          <a:solidFill>
                            <a:schemeClr val="tx1"/>
                          </a:solidFill>
                        </a:rPr>
                        <a:t>3</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878930801"/>
                  </a:ext>
                </a:extLst>
              </a:tr>
              <a:tr h="502229">
                <a:tc gridSpan="8">
                  <a:txBody>
                    <a:bodyPr/>
                    <a:lstStyle/>
                    <a:p>
                      <a:pPr algn="ctr"/>
                      <a:r>
                        <a:rPr lang="en-US" altLang="zh-TW" sz="1600" b="0" dirty="0">
                          <a:solidFill>
                            <a:schemeClr val="tx1"/>
                          </a:solidFill>
                        </a:rPr>
                        <a:t>2</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600" b="0" dirty="0">
                        <a:solidFill>
                          <a:schemeClr val="tx1"/>
                        </a:solidFill>
                      </a:endParaRPr>
                    </a:p>
                  </a:txBody>
                  <a:tcPr marL="62264" marR="62264" marT="31132" marB="311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altLang="zh-TW" sz="1600" b="0" dirty="0">
                          <a:solidFill>
                            <a:schemeClr val="tx1"/>
                          </a:solidFill>
                        </a:rPr>
                        <a:t>4</a:t>
                      </a:r>
                      <a:endParaRPr lang="zh-TW" altLang="en-US" sz="1600" b="0" dirty="0">
                        <a:solidFill>
                          <a:schemeClr val="tx1"/>
                        </a:solidFill>
                      </a:endParaRPr>
                    </a:p>
                  </a:txBody>
                  <a:tcPr marL="73827" marR="73827" marT="36913" marB="369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776334212"/>
                  </a:ext>
                </a:extLst>
              </a:tr>
            </a:tbl>
          </a:graphicData>
        </a:graphic>
      </p:graphicFrame>
      <p:sp>
        <p:nvSpPr>
          <p:cNvPr id="5" name="文字方塊 4">
            <a:extLst>
              <a:ext uri="{FF2B5EF4-FFF2-40B4-BE49-F238E27FC236}">
                <a16:creationId xmlns:a16="http://schemas.microsoft.com/office/drawing/2014/main" xmlns="" id="{1642DB20-B956-4F85-AB95-B90052211E92}"/>
              </a:ext>
            </a:extLst>
          </p:cNvPr>
          <p:cNvSpPr txBox="1"/>
          <p:nvPr/>
        </p:nvSpPr>
        <p:spPr>
          <a:xfrm>
            <a:off x="550415" y="1556243"/>
            <a:ext cx="2533066" cy="461665"/>
          </a:xfrm>
          <a:prstGeom prst="rect">
            <a:avLst/>
          </a:prstGeom>
          <a:noFill/>
        </p:spPr>
        <p:txBody>
          <a:bodyPr wrap="none" rtlCol="0">
            <a:spAutoFit/>
          </a:bodyPr>
          <a:lstStyle/>
          <a:p>
            <a:r>
              <a:rPr lang="en-US" altLang="zh-TW" sz="2400" dirty="0"/>
              <a:t>S = 9 7 5 3 0 2 -4 -6</a:t>
            </a:r>
            <a:endParaRPr lang="zh-TW" altLang="en-US" sz="2400" dirty="0"/>
          </a:p>
        </p:txBody>
      </p:sp>
      <p:sp>
        <p:nvSpPr>
          <p:cNvPr id="7" name="文字方塊 6">
            <a:extLst>
              <a:ext uri="{FF2B5EF4-FFF2-40B4-BE49-F238E27FC236}">
                <a16:creationId xmlns:a16="http://schemas.microsoft.com/office/drawing/2014/main" xmlns="" id="{1C8B1741-D905-4C41-9E7B-523FC3B96B92}"/>
              </a:ext>
            </a:extLst>
          </p:cNvPr>
          <p:cNvSpPr txBox="1"/>
          <p:nvPr/>
        </p:nvSpPr>
        <p:spPr>
          <a:xfrm>
            <a:off x="2982895" y="2373028"/>
            <a:ext cx="1384917" cy="338554"/>
          </a:xfrm>
          <a:prstGeom prst="rect">
            <a:avLst/>
          </a:prstGeom>
          <a:noFill/>
        </p:spPr>
        <p:txBody>
          <a:bodyPr wrap="square" rtlCol="0">
            <a:spAutoFit/>
          </a:bodyPr>
          <a:lstStyle/>
          <a:p>
            <a:r>
              <a:rPr lang="en-US" altLang="zh-TW" sz="1600" dirty="0"/>
              <a:t>Averages</a:t>
            </a:r>
            <a:endParaRPr lang="zh-TW" altLang="en-US" sz="1600" dirty="0"/>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xmlns="" id="{CCFFA855-9304-4A48-A80F-4C70128C2B26}"/>
                  </a:ext>
                </a:extLst>
              </p:cNvPr>
              <p:cNvSpPr txBox="1"/>
              <p:nvPr/>
            </p:nvSpPr>
            <p:spPr>
              <a:xfrm>
                <a:off x="2912886" y="5060272"/>
                <a:ext cx="4088170" cy="7630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nary>
                        <m:naryPr>
                          <m:chr m:val="∑"/>
                          <m:subHide m:val="on"/>
                          <m:supHide m:val="on"/>
                          <m:ctrlPr>
                            <a:rPr lang="en-US" altLang="zh-TW" b="0" i="1" smtClean="0">
                              <a:latin typeface="Cambria Math" panose="02040503050406030204" pitchFamily="18" charset="0"/>
                              <a:ea typeface="Cambria Math" panose="02040503050406030204" pitchFamily="18" charset="0"/>
                            </a:rPr>
                          </m:ctrlPr>
                        </m:naryPr>
                        <m:sub/>
                        <m:sup/>
                        <m:e>
                          <m:sSubSup>
                            <m:sSubSupPr>
                              <m:ctrlPr>
                                <a:rPr lang="en-US" altLang="zh-TW" b="0" i="1" smtClean="0">
                                  <a:latin typeface="Cambria Math" panose="02040503050406030204" pitchFamily="18" charset="0"/>
                                  <a:ea typeface="Cambria Math" panose="02040503050406030204" pitchFamily="18" charset="0"/>
                                </a:rPr>
                              </m:ctrlPr>
                            </m:sSubSup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up>
                              <m:r>
                                <a:rPr lang="en-US" altLang="zh-TW" b="0" i="1" smtClean="0">
                                  <a:latin typeface="Cambria Math" panose="02040503050406030204" pitchFamily="18" charset="0"/>
                                  <a:ea typeface="Cambria Math" panose="02040503050406030204" pitchFamily="18" charset="0"/>
                                </a:rPr>
                                <m:t>2</m:t>
                              </m:r>
                            </m:sup>
                          </m:sSubSup>
                        </m:e>
                      </m:nary>
                      <m:r>
                        <a:rPr lang="en-US" altLang="zh-TW" b="0" i="1" smtClean="0">
                          <a:latin typeface="Cambria Math" panose="02040503050406030204" pitchFamily="18" charset="0"/>
                          <a:ea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sSubSup>
                        <m:sSubSupPr>
                          <m:ctrlPr>
                            <a:rPr lang="en-US" altLang="zh-TW" b="0" i="1" smtClean="0">
                              <a:latin typeface="Cambria Math" panose="02040503050406030204" pitchFamily="18" charset="0"/>
                              <a:ea typeface="Cambria Math" panose="02040503050406030204" pitchFamily="18" charset="0"/>
                            </a:rPr>
                          </m:ctrlPr>
                        </m:sSubSup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𝑁</m:t>
                          </m:r>
                        </m:sub>
                        <m:sup>
                          <m:r>
                            <a:rPr lang="en-US" altLang="zh-TW" b="0" i="1" smtClean="0">
                              <a:latin typeface="Cambria Math" panose="02040503050406030204" pitchFamily="18" charset="0"/>
                              <a:ea typeface="Cambria Math" panose="02040503050406030204" pitchFamily="18" charset="0"/>
                            </a:rPr>
                            <m:t>2</m:t>
                          </m:r>
                        </m:sup>
                      </m:sSubSup>
                      <m:r>
                        <a:rPr lang="en-US" altLang="zh-TW" b="0" i="1" smtClean="0">
                          <a:latin typeface="Cambria Math" panose="02040503050406030204" pitchFamily="18" charset="0"/>
                          <a:ea typeface="Cambria Math" panose="02040503050406030204" pitchFamily="18" charset="0"/>
                        </a:rPr>
                        <m:t>=220</m:t>
                      </m:r>
                    </m:oMath>
                  </m:oMathPara>
                </a14:m>
                <a:endParaRPr lang="zh-TW" altLang="en-US" dirty="0"/>
              </a:p>
            </p:txBody>
          </p:sp>
        </mc:Choice>
        <mc:Fallback xmlns="">
          <p:sp>
            <p:nvSpPr>
              <p:cNvPr id="3" name="文字方塊 2">
                <a:extLst>
                  <a:ext uri="{FF2B5EF4-FFF2-40B4-BE49-F238E27FC236}">
                    <a16:creationId xmlns:a16="http://schemas.microsoft.com/office/drawing/2014/main" id="{CCFFA855-9304-4A48-A80F-4C70128C2B26}"/>
                  </a:ext>
                </a:extLst>
              </p:cNvPr>
              <p:cNvSpPr txBox="1">
                <a:spLocks noRot="1" noChangeAspect="1" noMove="1" noResize="1" noEditPoints="1" noAdjustHandles="1" noChangeArrowheads="1" noChangeShapeType="1" noTextEdit="1"/>
              </p:cNvSpPr>
              <p:nvPr/>
            </p:nvSpPr>
            <p:spPr>
              <a:xfrm>
                <a:off x="2912886" y="5060272"/>
                <a:ext cx="4088170" cy="763094"/>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B408465E-9C25-4561-8504-D3E250C447C0}"/>
                  </a:ext>
                </a:extLst>
              </p:cNvPr>
              <p:cNvSpPr txBox="1"/>
              <p:nvPr/>
            </p:nvSpPr>
            <p:spPr>
              <a:xfrm>
                <a:off x="1816948" y="5862349"/>
                <a:ext cx="74540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3</m:t>
                          </m:r>
                        </m:sup>
                      </m:sSup>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4</m:t>
                              </m:r>
                            </m:e>
                            <m:sup>
                              <m:r>
                                <a:rPr lang="en-US" altLang="zh-TW" b="0" i="1" smtClean="0">
                                  <a:latin typeface="Cambria Math" panose="02040503050406030204" pitchFamily="18" charset="0"/>
                                </a:rPr>
                                <m:t>2</m:t>
                              </m:r>
                            </m:sup>
                          </m:sSup>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3</m:t>
                              </m:r>
                            </m:e>
                            <m:sup>
                              <m:r>
                                <a:rPr lang="en-US" altLang="zh-TW" b="0" i="1" smtClean="0">
                                  <a:latin typeface="Cambria Math" panose="02040503050406030204" pitchFamily="18" charset="0"/>
                                </a:rPr>
                                <m:t>2</m:t>
                              </m:r>
                            </m:sup>
                          </m:sSup>
                        </m:e>
                      </m:d>
                      <m:r>
                        <a:rPr lang="en-US" altLang="zh-TW" b="0" i="1" smtClean="0">
                          <a:latin typeface="Cambria Math" panose="02040503050406030204" pitchFamily="18" charset="0"/>
                        </a:rPr>
                        <m:t>+2∗</m:t>
                      </m:r>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1</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1</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e>
                              </m:d>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1</m:t>
                              </m:r>
                            </m:e>
                            <m:sup>
                              <m:r>
                                <a:rPr lang="en-US" altLang="zh-TW" b="0" i="1" smtClean="0">
                                  <a:latin typeface="Cambria Math" panose="02040503050406030204" pitchFamily="18" charset="0"/>
                                </a:rPr>
                                <m:t>2</m:t>
                              </m:r>
                            </m:sup>
                          </m:sSup>
                        </m:e>
                      </m:d>
                      <m:r>
                        <a:rPr lang="en-US" altLang="zh-TW" b="0" i="1" smtClean="0">
                          <a:latin typeface="Cambria Math" panose="02040503050406030204" pitchFamily="18" charset="0"/>
                        </a:rPr>
                        <m:t>=220</m:t>
                      </m:r>
                    </m:oMath>
                  </m:oMathPara>
                </a14:m>
                <a:endParaRPr lang="zh-TW" altLang="en-US" dirty="0"/>
              </a:p>
            </p:txBody>
          </p:sp>
        </mc:Choice>
        <mc:Fallback xmlns="">
          <p:sp>
            <p:nvSpPr>
              <p:cNvPr id="8" name="文字方塊 7">
                <a:extLst>
                  <a:ext uri="{FF2B5EF4-FFF2-40B4-BE49-F238E27FC236}">
                    <a16:creationId xmlns:a16="http://schemas.microsoft.com/office/drawing/2014/main" id="{B408465E-9C25-4561-8504-D3E250C447C0}"/>
                  </a:ext>
                </a:extLst>
              </p:cNvPr>
              <p:cNvSpPr txBox="1">
                <a:spLocks noRot="1" noChangeAspect="1" noMove="1" noResize="1" noEditPoints="1" noAdjustHandles="1" noChangeArrowheads="1" noChangeShapeType="1" noTextEdit="1"/>
              </p:cNvSpPr>
              <p:nvPr/>
            </p:nvSpPr>
            <p:spPr>
              <a:xfrm>
                <a:off x="1816948" y="5862349"/>
                <a:ext cx="7454092" cy="369332"/>
              </a:xfrm>
              <a:prstGeom prst="rect">
                <a:avLst/>
              </a:prstGeom>
              <a:blipFill>
                <a:blip r:embed="rId3"/>
                <a:stretch>
                  <a:fillRect/>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xmlns="" id="{33F65C01-C5B2-4F6C-97B2-A717D1B21ABE}"/>
              </a:ext>
            </a:extLst>
          </p:cNvPr>
          <p:cNvSpPr txBox="1"/>
          <p:nvPr/>
        </p:nvSpPr>
        <p:spPr>
          <a:xfrm>
            <a:off x="8494802" y="3198167"/>
            <a:ext cx="3250356" cy="461665"/>
          </a:xfrm>
          <a:prstGeom prst="rect">
            <a:avLst/>
          </a:prstGeom>
          <a:noFill/>
        </p:spPr>
        <p:txBody>
          <a:bodyPr wrap="square" rtlCol="0">
            <a:spAutoFit/>
          </a:bodyPr>
          <a:lstStyle/>
          <a:p>
            <a:pPr algn="just"/>
            <a:r>
              <a:rPr lang="en-US" altLang="zh-TW" sz="2400" dirty="0"/>
              <a:t>C = C</a:t>
            </a:r>
            <a:r>
              <a:rPr lang="en-US" altLang="zh-TW" sz="2400" baseline="-25000" dirty="0"/>
              <a:t>1 </a:t>
            </a:r>
            <a:r>
              <a:rPr lang="en-US" altLang="zh-TW" sz="2400" dirty="0"/>
              <a:t>C</a:t>
            </a:r>
            <a:r>
              <a:rPr lang="en-US" altLang="zh-TW" sz="2400" baseline="-25000" dirty="0"/>
              <a:t>2 </a:t>
            </a:r>
            <a:r>
              <a:rPr lang="en-US" altLang="zh-TW" sz="2400" dirty="0"/>
              <a:t>C</a:t>
            </a:r>
            <a:r>
              <a:rPr lang="en-US" altLang="zh-TW" sz="2400" baseline="-25000" dirty="0"/>
              <a:t>3 </a:t>
            </a:r>
            <a:r>
              <a:rPr lang="en-US" altLang="zh-TW" sz="2400" dirty="0"/>
              <a:t>C</a:t>
            </a:r>
            <a:r>
              <a:rPr lang="en-US" altLang="zh-TW" sz="2400" baseline="-25000" dirty="0"/>
              <a:t>4 </a:t>
            </a:r>
            <a:r>
              <a:rPr lang="en-US" altLang="zh-TW" sz="2400" dirty="0"/>
              <a:t>…… C</a:t>
            </a:r>
            <a:r>
              <a:rPr lang="en-US" altLang="zh-TW" sz="2400" baseline="-25000" dirty="0"/>
              <a:t>N</a:t>
            </a:r>
            <a:endParaRPr lang="zh-TW" altLang="en-US" sz="2400" baseline="-25000" dirty="0"/>
          </a:p>
        </p:txBody>
      </p:sp>
      <p:sp>
        <p:nvSpPr>
          <p:cNvPr id="10" name="文字方塊 9">
            <a:extLst>
              <a:ext uri="{FF2B5EF4-FFF2-40B4-BE49-F238E27FC236}">
                <a16:creationId xmlns:a16="http://schemas.microsoft.com/office/drawing/2014/main" xmlns="" id="{4380AB9D-E409-419D-9CE9-0B270431593B}"/>
              </a:ext>
            </a:extLst>
          </p:cNvPr>
          <p:cNvSpPr txBox="1"/>
          <p:nvPr/>
        </p:nvSpPr>
        <p:spPr>
          <a:xfrm>
            <a:off x="8494802" y="3937836"/>
            <a:ext cx="2460930" cy="461665"/>
          </a:xfrm>
          <a:prstGeom prst="rect">
            <a:avLst/>
          </a:prstGeom>
          <a:noFill/>
        </p:spPr>
        <p:txBody>
          <a:bodyPr wrap="none" rtlCol="0">
            <a:spAutoFit/>
          </a:bodyPr>
          <a:lstStyle/>
          <a:p>
            <a:r>
              <a:rPr lang="en-US" altLang="zh-TW" sz="2400" dirty="0"/>
              <a:t>C = 2 4 2 3 1 1 -1 1</a:t>
            </a:r>
            <a:endParaRPr lang="zh-TW" altLang="en-US" sz="2400" dirty="0"/>
          </a:p>
        </p:txBody>
      </p:sp>
    </p:spTree>
    <p:extLst>
      <p:ext uri="{BB962C8B-B14F-4D97-AF65-F5344CB8AC3E}">
        <p14:creationId xmlns:p14="http://schemas.microsoft.com/office/powerpoint/2010/main" val="1018503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C40F7A-0214-4952-8D5E-30335836E10B}"/>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60444FF6-F1FD-4BCA-B6A4-96794DCF754E}"/>
                  </a:ext>
                </a:extLst>
              </p:cNvPr>
              <p:cNvSpPr txBox="1"/>
              <p:nvPr/>
            </p:nvSpPr>
            <p:spPr>
              <a:xfrm>
                <a:off x="432333" y="1896439"/>
                <a:ext cx="5663666" cy="369332"/>
              </a:xfrm>
              <a:prstGeom prst="rect">
                <a:avLst/>
              </a:prstGeom>
              <a:noFill/>
            </p:spPr>
            <p:txBody>
              <a:bodyPr wrap="none" rtlCol="0">
                <a:spAutoFit/>
              </a:bodyPr>
              <a:lstStyle/>
              <a:p>
                <a:r>
                  <a:rPr lang="en-US" altLang="zh-TW" dirty="0"/>
                  <a:t>Upper bound and lower bound</a:t>
                </a:r>
                <a:r>
                  <a:rPr lang="zh-TW" altLang="en-US" dirty="0"/>
                  <a:t>：</a:t>
                </a:r>
                <a14:m>
                  <m:oMath xmlns:m="http://schemas.openxmlformats.org/officeDocument/2006/math">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max</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𝑎𝑣</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𝑔</m:t>
                        </m:r>
                      </m:e>
                      <m:sub>
                        <m:r>
                          <a:rPr lang="en-US" altLang="zh-TW" b="0" i="1" smtClean="0">
                            <a:latin typeface="Cambria Math" panose="02040503050406030204" pitchFamily="18" charset="0"/>
                            <a:ea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文字方塊 3">
                <a:extLst>
                  <a:ext uri="{FF2B5EF4-FFF2-40B4-BE49-F238E27FC236}">
                    <a16:creationId xmlns:a16="http://schemas.microsoft.com/office/drawing/2014/main" id="{60444FF6-F1FD-4BCA-B6A4-96794DCF754E}"/>
                  </a:ext>
                </a:extLst>
              </p:cNvPr>
              <p:cNvSpPr txBox="1">
                <a:spLocks noRot="1" noChangeAspect="1" noMove="1" noResize="1" noEditPoints="1" noAdjustHandles="1" noChangeArrowheads="1" noChangeShapeType="1" noTextEdit="1"/>
              </p:cNvSpPr>
              <p:nvPr/>
            </p:nvSpPr>
            <p:spPr>
              <a:xfrm>
                <a:off x="432333" y="1896439"/>
                <a:ext cx="5663666" cy="369332"/>
              </a:xfrm>
              <a:prstGeom prst="rect">
                <a:avLst/>
              </a:prstGeom>
              <a:blipFill>
                <a:blip r:embed="rId2"/>
                <a:stretch>
                  <a:fillRect l="-96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08484022-635F-4E58-A4A6-0BF1E96B3B6D}"/>
                  </a:ext>
                </a:extLst>
              </p:cNvPr>
              <p:cNvSpPr txBox="1"/>
              <p:nvPr/>
            </p:nvSpPr>
            <p:spPr>
              <a:xfrm>
                <a:off x="3098306" y="2664432"/>
                <a:ext cx="6098960" cy="76456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US" altLang="zh-TW" b="0" i="1" smtClean="0">
                              <a:latin typeface="Cambria Math" panose="02040503050406030204" pitchFamily="18" charset="0"/>
                            </a:rPr>
                          </m:ctrlPr>
                        </m:sSupPr>
                        <m:e>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max</m:t>
                              </m:r>
                            </m:fName>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e>
                              </m:d>
                            </m:e>
                          </m:func>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ea typeface="Cambria Math" panose="02040503050406030204" pitchFamily="18" charset="0"/>
                        </a:rPr>
                        <m:t>≤</m:t>
                      </m:r>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𝑎𝑣</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𝑔</m:t>
                                      </m:r>
                                    </m:e>
                                    <m:sub>
                                      <m:r>
                                        <a:rPr lang="en-US" altLang="zh-TW" b="0" i="1" smtClean="0">
                                          <a:latin typeface="Cambria Math" panose="02040503050406030204" pitchFamily="18" charset="0"/>
                                          <a:ea typeface="Cambria Math" panose="02040503050406030204" pitchFamily="18" charset="0"/>
                                        </a:rPr>
                                        <m:t>𝑆</m:t>
                                      </m:r>
                                    </m:sub>
                                  </m:sSub>
                                </m:e>
                              </m:d>
                            </m:e>
                            <m:sup>
                              <m:r>
                                <a:rPr lang="en-US" altLang="zh-TW" b="0" i="1" smtClean="0">
                                  <a:latin typeface="Cambria Math" panose="02040503050406030204" pitchFamily="18" charset="0"/>
                                  <a:ea typeface="Cambria Math" panose="02040503050406030204" pitchFamily="18" charset="0"/>
                                </a:rPr>
                                <m:t>2</m:t>
                              </m:r>
                            </m:sup>
                          </m:sSup>
                        </m:e>
                      </m:nary>
                    </m:oMath>
                  </m:oMathPara>
                </a14:m>
                <a:endParaRPr lang="en-US" altLang="zh-TW" b="0" dirty="0">
                  <a:ea typeface="Cambria Math" panose="02040503050406030204" pitchFamily="18" charset="0"/>
                </a:endParaRPr>
              </a:p>
            </p:txBody>
          </p:sp>
        </mc:Choice>
        <mc:Fallback xmlns="">
          <p:sp>
            <p:nvSpPr>
              <p:cNvPr id="5" name="文字方塊 4">
                <a:extLst>
                  <a:ext uri="{FF2B5EF4-FFF2-40B4-BE49-F238E27FC236}">
                    <a16:creationId xmlns:a16="http://schemas.microsoft.com/office/drawing/2014/main" id="{08484022-635F-4E58-A4A6-0BF1E96B3B6D}"/>
                  </a:ext>
                </a:extLst>
              </p:cNvPr>
              <p:cNvSpPr txBox="1">
                <a:spLocks noRot="1" noChangeAspect="1" noMove="1" noResize="1" noEditPoints="1" noAdjustHandles="1" noChangeArrowheads="1" noChangeShapeType="1" noTextEdit="1"/>
              </p:cNvSpPr>
              <p:nvPr/>
            </p:nvSpPr>
            <p:spPr>
              <a:xfrm>
                <a:off x="3098306" y="2664432"/>
                <a:ext cx="6098960" cy="76456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BF419EAE-6CF2-4340-8B15-CA403825AD8C}"/>
                  </a:ext>
                </a:extLst>
              </p:cNvPr>
              <p:cNvSpPr txBox="1"/>
              <p:nvPr/>
            </p:nvSpPr>
            <p:spPr>
              <a:xfrm>
                <a:off x="4740675" y="3313590"/>
                <a:ext cx="4166718" cy="764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r>
                                    <a:rPr lang="en-US" altLang="zh-TW" b="0" i="1" smtClean="0">
                                      <a:latin typeface="Cambria Math" panose="02040503050406030204" pitchFamily="18" charset="0"/>
                                    </a:rPr>
                                    <m:t>2∗</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e>
                              </m:nary>
                            </m:e>
                          </m:nary>
                        </m:e>
                      </m:nary>
                    </m:oMath>
                  </m:oMathPara>
                </a14:m>
                <a:endParaRPr lang="zh-TW" altLang="en-US" dirty="0"/>
              </a:p>
            </p:txBody>
          </p:sp>
        </mc:Choice>
        <mc:Fallback xmlns="">
          <p:sp>
            <p:nvSpPr>
              <p:cNvPr id="6" name="文字方塊 5">
                <a:extLst>
                  <a:ext uri="{FF2B5EF4-FFF2-40B4-BE49-F238E27FC236}">
                    <a16:creationId xmlns:a16="http://schemas.microsoft.com/office/drawing/2014/main" id="{BF419EAE-6CF2-4340-8B15-CA403825AD8C}"/>
                  </a:ext>
                </a:extLst>
              </p:cNvPr>
              <p:cNvSpPr txBox="1">
                <a:spLocks noRot="1" noChangeAspect="1" noMove="1" noResize="1" noEditPoints="1" noAdjustHandles="1" noChangeArrowheads="1" noChangeShapeType="1" noTextEdit="1"/>
              </p:cNvSpPr>
              <p:nvPr/>
            </p:nvSpPr>
            <p:spPr>
              <a:xfrm>
                <a:off x="4740675" y="3313590"/>
                <a:ext cx="4166718" cy="76456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70DEEE37-5126-4AAB-9EF1-61BE1E756BCD}"/>
                  </a:ext>
                </a:extLst>
              </p:cNvPr>
              <p:cNvSpPr txBox="1"/>
              <p:nvPr/>
            </p:nvSpPr>
            <p:spPr>
              <a:xfrm>
                <a:off x="4811696" y="4078158"/>
                <a:ext cx="3402726" cy="3765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−2∗</m:t>
                      </m:r>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𝑁</m:t>
                      </m:r>
                    </m:oMath>
                  </m:oMathPara>
                </a14:m>
                <a:endParaRPr lang="zh-TW" altLang="en-US" dirty="0"/>
              </a:p>
            </p:txBody>
          </p:sp>
        </mc:Choice>
        <mc:Fallback xmlns="">
          <p:sp>
            <p:nvSpPr>
              <p:cNvPr id="7" name="文字方塊 6">
                <a:extLst>
                  <a:ext uri="{FF2B5EF4-FFF2-40B4-BE49-F238E27FC236}">
                    <a16:creationId xmlns:a16="http://schemas.microsoft.com/office/drawing/2014/main" id="{70DEEE37-5126-4AAB-9EF1-61BE1E756BCD}"/>
                  </a:ext>
                </a:extLst>
              </p:cNvPr>
              <p:cNvSpPr txBox="1">
                <a:spLocks noRot="1" noChangeAspect="1" noMove="1" noResize="1" noEditPoints="1" noAdjustHandles="1" noChangeArrowheads="1" noChangeShapeType="1" noTextEdit="1"/>
              </p:cNvSpPr>
              <p:nvPr/>
            </p:nvSpPr>
            <p:spPr>
              <a:xfrm>
                <a:off x="4811696" y="4078158"/>
                <a:ext cx="3402726" cy="376578"/>
              </a:xfrm>
              <a:prstGeom prst="rect">
                <a:avLst/>
              </a:prstGeom>
              <a:blipFill>
                <a:blip r:embed="rId5"/>
                <a:stretch>
                  <a:fillRect b="-64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EA95175B-3357-40E6-9CA8-68C2AE59CDDF}"/>
                  </a:ext>
                </a:extLst>
              </p:cNvPr>
              <p:cNvSpPr txBox="1"/>
              <p:nvPr/>
            </p:nvSpPr>
            <p:spPr>
              <a:xfrm>
                <a:off x="4811696" y="4547905"/>
                <a:ext cx="1882823" cy="3765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oMath>
                  </m:oMathPara>
                </a14:m>
                <a:endParaRPr lang="zh-TW" altLang="en-US" dirty="0"/>
              </a:p>
            </p:txBody>
          </p:sp>
        </mc:Choice>
        <mc:Fallback xmlns="">
          <p:sp>
            <p:nvSpPr>
              <p:cNvPr id="8" name="文字方塊 7">
                <a:extLst>
                  <a:ext uri="{FF2B5EF4-FFF2-40B4-BE49-F238E27FC236}">
                    <a16:creationId xmlns:a16="http://schemas.microsoft.com/office/drawing/2014/main" id="{EA95175B-3357-40E6-9CA8-68C2AE59CDDF}"/>
                  </a:ext>
                </a:extLst>
              </p:cNvPr>
              <p:cNvSpPr txBox="1">
                <a:spLocks noRot="1" noChangeAspect="1" noMove="1" noResize="1" noEditPoints="1" noAdjustHandles="1" noChangeArrowheads="1" noChangeShapeType="1" noTextEdit="1"/>
              </p:cNvSpPr>
              <p:nvPr/>
            </p:nvSpPr>
            <p:spPr>
              <a:xfrm>
                <a:off x="4811696" y="4547905"/>
                <a:ext cx="1882823" cy="376578"/>
              </a:xfrm>
              <a:prstGeom prst="rect">
                <a:avLst/>
              </a:prstGeom>
              <a:blipFill>
                <a:blip r:embed="rId6"/>
                <a:stretch>
                  <a:fillRect b="-80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xmlns="" id="{9AB85A01-FA9A-4BB4-B2C7-9F1DE15D791F}"/>
                  </a:ext>
                </a:extLst>
              </p:cNvPr>
              <p:cNvSpPr txBox="1"/>
              <p:nvPr/>
            </p:nvSpPr>
            <p:spPr>
              <a:xfrm>
                <a:off x="4811696" y="5017652"/>
                <a:ext cx="1629164" cy="3725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oMath>
                  </m:oMathPara>
                </a14:m>
                <a:endParaRPr lang="zh-TW" altLang="en-US" dirty="0"/>
              </a:p>
            </p:txBody>
          </p:sp>
        </mc:Choice>
        <mc:Fallback xmlns="">
          <p:sp>
            <p:nvSpPr>
              <p:cNvPr id="9" name="文字方塊 8">
                <a:extLst>
                  <a:ext uri="{FF2B5EF4-FFF2-40B4-BE49-F238E27FC236}">
                    <a16:creationId xmlns:a16="http://schemas.microsoft.com/office/drawing/2014/main" id="{9AB85A01-FA9A-4BB4-B2C7-9F1DE15D791F}"/>
                  </a:ext>
                </a:extLst>
              </p:cNvPr>
              <p:cNvSpPr txBox="1">
                <a:spLocks noRot="1" noChangeAspect="1" noMove="1" noResize="1" noEditPoints="1" noAdjustHandles="1" noChangeArrowheads="1" noChangeShapeType="1" noTextEdit="1"/>
              </p:cNvSpPr>
              <p:nvPr/>
            </p:nvSpPr>
            <p:spPr>
              <a:xfrm>
                <a:off x="4811696" y="5017652"/>
                <a:ext cx="1629164" cy="372538"/>
              </a:xfrm>
              <a:prstGeom prst="rect">
                <a:avLst/>
              </a:prstGeom>
              <a:blipFill>
                <a:blip r:embed="rId7"/>
                <a:stretch>
                  <a:fillRect b="-163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84776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4AE0181-F51A-496B-9F4A-499BC1E5F2C4}"/>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DD3F6A8E-A0C8-4C2B-AD59-DA375FF84AF7}"/>
                  </a:ext>
                </a:extLst>
              </p:cNvPr>
              <p:cNvSpPr txBox="1"/>
              <p:nvPr/>
            </p:nvSpPr>
            <p:spPr>
              <a:xfrm>
                <a:off x="432333" y="1896439"/>
                <a:ext cx="5663666" cy="369332"/>
              </a:xfrm>
              <a:prstGeom prst="rect">
                <a:avLst/>
              </a:prstGeom>
              <a:noFill/>
            </p:spPr>
            <p:txBody>
              <a:bodyPr wrap="none" rtlCol="0">
                <a:spAutoFit/>
              </a:bodyPr>
              <a:lstStyle/>
              <a:p>
                <a:r>
                  <a:rPr lang="en-US" altLang="zh-TW" dirty="0"/>
                  <a:t>Upper bound and lower bound</a:t>
                </a:r>
                <a:r>
                  <a:rPr lang="zh-TW" altLang="en-US" dirty="0"/>
                  <a:t>：</a:t>
                </a:r>
                <a14:m>
                  <m:oMath xmlns:m="http://schemas.openxmlformats.org/officeDocument/2006/math">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max</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𝑎𝑣</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𝑔</m:t>
                        </m:r>
                      </m:e>
                      <m:sub>
                        <m:r>
                          <a:rPr lang="en-US" altLang="zh-TW" b="0" i="1" smtClean="0">
                            <a:latin typeface="Cambria Math" panose="02040503050406030204" pitchFamily="18" charset="0"/>
                            <a:ea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文字方塊 3">
                <a:extLst>
                  <a:ext uri="{FF2B5EF4-FFF2-40B4-BE49-F238E27FC236}">
                    <a16:creationId xmlns:a16="http://schemas.microsoft.com/office/drawing/2014/main" id="{DD3F6A8E-A0C8-4C2B-AD59-DA375FF84AF7}"/>
                  </a:ext>
                </a:extLst>
              </p:cNvPr>
              <p:cNvSpPr txBox="1">
                <a:spLocks noRot="1" noChangeAspect="1" noMove="1" noResize="1" noEditPoints="1" noAdjustHandles="1" noChangeArrowheads="1" noChangeShapeType="1" noTextEdit="1"/>
              </p:cNvSpPr>
              <p:nvPr/>
            </p:nvSpPr>
            <p:spPr>
              <a:xfrm>
                <a:off x="432333" y="1896439"/>
                <a:ext cx="5663666" cy="369332"/>
              </a:xfrm>
              <a:prstGeom prst="rect">
                <a:avLst/>
              </a:prstGeom>
              <a:blipFill>
                <a:blip r:embed="rId2"/>
                <a:stretch>
                  <a:fillRect l="-96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F4864DB3-7727-4402-AA04-8515346D94EC}"/>
                  </a:ext>
                </a:extLst>
              </p:cNvPr>
              <p:cNvSpPr txBox="1"/>
              <p:nvPr/>
            </p:nvSpPr>
            <p:spPr>
              <a:xfrm>
                <a:off x="3098306" y="2664432"/>
                <a:ext cx="6098960" cy="76456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US" altLang="zh-TW" b="0" i="1" smtClean="0">
                              <a:latin typeface="Cambria Math" panose="02040503050406030204" pitchFamily="18" charset="0"/>
                            </a:rPr>
                          </m:ctrlPr>
                        </m:sSupPr>
                        <m:e>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max</m:t>
                              </m:r>
                            </m:fName>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e>
                              </m:d>
                            </m:e>
                          </m:func>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ea typeface="Cambria Math" panose="02040503050406030204" pitchFamily="18" charset="0"/>
                        </a:rPr>
                        <m:t>≤</m:t>
                      </m:r>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𝑎𝑣</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𝑔</m:t>
                                      </m:r>
                                    </m:e>
                                    <m:sub>
                                      <m:r>
                                        <a:rPr lang="en-US" altLang="zh-TW" b="0" i="1" smtClean="0">
                                          <a:latin typeface="Cambria Math" panose="02040503050406030204" pitchFamily="18" charset="0"/>
                                          <a:ea typeface="Cambria Math" panose="02040503050406030204" pitchFamily="18" charset="0"/>
                                        </a:rPr>
                                        <m:t>𝑆</m:t>
                                      </m:r>
                                    </m:sub>
                                  </m:sSub>
                                </m:e>
                              </m:d>
                            </m:e>
                            <m:sup>
                              <m:r>
                                <a:rPr lang="en-US" altLang="zh-TW" b="0" i="1" smtClean="0">
                                  <a:latin typeface="Cambria Math" panose="02040503050406030204" pitchFamily="18" charset="0"/>
                                  <a:ea typeface="Cambria Math" panose="02040503050406030204" pitchFamily="18" charset="0"/>
                                </a:rPr>
                                <m:t>2</m:t>
                              </m:r>
                            </m:sup>
                          </m:sSup>
                        </m:e>
                      </m:nary>
                    </m:oMath>
                  </m:oMathPara>
                </a14:m>
                <a:endParaRPr lang="en-US" altLang="zh-TW" b="0" dirty="0">
                  <a:ea typeface="Cambria Math" panose="02040503050406030204" pitchFamily="18" charset="0"/>
                </a:endParaRPr>
              </a:p>
            </p:txBody>
          </p:sp>
        </mc:Choice>
        <mc:Fallback xmlns="">
          <p:sp>
            <p:nvSpPr>
              <p:cNvPr id="5" name="文字方塊 4">
                <a:extLst>
                  <a:ext uri="{FF2B5EF4-FFF2-40B4-BE49-F238E27FC236}">
                    <a16:creationId xmlns:a16="http://schemas.microsoft.com/office/drawing/2014/main" id="{F4864DB3-7727-4402-AA04-8515346D94EC}"/>
                  </a:ext>
                </a:extLst>
              </p:cNvPr>
              <p:cNvSpPr txBox="1">
                <a:spLocks noRot="1" noChangeAspect="1" noMove="1" noResize="1" noEditPoints="1" noAdjustHandles="1" noChangeArrowheads="1" noChangeShapeType="1" noTextEdit="1"/>
              </p:cNvSpPr>
              <p:nvPr/>
            </p:nvSpPr>
            <p:spPr>
              <a:xfrm>
                <a:off x="3098306" y="2664432"/>
                <a:ext cx="6098960" cy="76456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1E0CBA52-C90D-4BE2-B294-7025CE25CDEF}"/>
                  </a:ext>
                </a:extLst>
              </p:cNvPr>
              <p:cNvSpPr txBox="1"/>
              <p:nvPr/>
            </p:nvSpPr>
            <p:spPr>
              <a:xfrm>
                <a:off x="4740675" y="3313590"/>
                <a:ext cx="4166718" cy="764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r>
                                    <a:rPr lang="en-US" altLang="zh-TW" b="0" i="1" smtClean="0">
                                      <a:latin typeface="Cambria Math" panose="02040503050406030204" pitchFamily="18" charset="0"/>
                                    </a:rPr>
                                    <m:t>2∗</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e>
                              </m:nary>
                            </m:e>
                          </m:nary>
                        </m:e>
                      </m:nary>
                    </m:oMath>
                  </m:oMathPara>
                </a14:m>
                <a:endParaRPr lang="zh-TW" altLang="en-US" dirty="0"/>
              </a:p>
            </p:txBody>
          </p:sp>
        </mc:Choice>
        <mc:Fallback xmlns="">
          <p:sp>
            <p:nvSpPr>
              <p:cNvPr id="6" name="文字方塊 5">
                <a:extLst>
                  <a:ext uri="{FF2B5EF4-FFF2-40B4-BE49-F238E27FC236}">
                    <a16:creationId xmlns:a16="http://schemas.microsoft.com/office/drawing/2014/main" id="{1E0CBA52-C90D-4BE2-B294-7025CE25CDEF}"/>
                  </a:ext>
                </a:extLst>
              </p:cNvPr>
              <p:cNvSpPr txBox="1">
                <a:spLocks noRot="1" noChangeAspect="1" noMove="1" noResize="1" noEditPoints="1" noAdjustHandles="1" noChangeArrowheads="1" noChangeShapeType="1" noTextEdit="1"/>
              </p:cNvSpPr>
              <p:nvPr/>
            </p:nvSpPr>
            <p:spPr>
              <a:xfrm>
                <a:off x="4740675" y="3313590"/>
                <a:ext cx="4166718" cy="76456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B33BD829-6317-480B-8810-1E4F4E742097}"/>
                  </a:ext>
                </a:extLst>
              </p:cNvPr>
              <p:cNvSpPr txBox="1"/>
              <p:nvPr/>
            </p:nvSpPr>
            <p:spPr>
              <a:xfrm>
                <a:off x="4811696" y="4078158"/>
                <a:ext cx="3402726" cy="3765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−2∗</m:t>
                      </m:r>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𝑁</m:t>
                      </m:r>
                    </m:oMath>
                  </m:oMathPara>
                </a14:m>
                <a:endParaRPr lang="zh-TW" altLang="en-US" dirty="0"/>
              </a:p>
            </p:txBody>
          </p:sp>
        </mc:Choice>
        <mc:Fallback xmlns="">
          <p:sp>
            <p:nvSpPr>
              <p:cNvPr id="7" name="文字方塊 6">
                <a:extLst>
                  <a:ext uri="{FF2B5EF4-FFF2-40B4-BE49-F238E27FC236}">
                    <a16:creationId xmlns:a16="http://schemas.microsoft.com/office/drawing/2014/main" id="{B33BD829-6317-480B-8810-1E4F4E742097}"/>
                  </a:ext>
                </a:extLst>
              </p:cNvPr>
              <p:cNvSpPr txBox="1">
                <a:spLocks noRot="1" noChangeAspect="1" noMove="1" noResize="1" noEditPoints="1" noAdjustHandles="1" noChangeArrowheads="1" noChangeShapeType="1" noTextEdit="1"/>
              </p:cNvSpPr>
              <p:nvPr/>
            </p:nvSpPr>
            <p:spPr>
              <a:xfrm>
                <a:off x="4811696" y="4078158"/>
                <a:ext cx="3402726" cy="376578"/>
              </a:xfrm>
              <a:prstGeom prst="rect">
                <a:avLst/>
              </a:prstGeom>
              <a:blipFill>
                <a:blip r:embed="rId5"/>
                <a:stretch>
                  <a:fillRect b="-64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9B3FE845-3DE4-40F9-9CB2-4D404700CB0A}"/>
                  </a:ext>
                </a:extLst>
              </p:cNvPr>
              <p:cNvSpPr txBox="1"/>
              <p:nvPr/>
            </p:nvSpPr>
            <p:spPr>
              <a:xfrm>
                <a:off x="4811696" y="4547905"/>
                <a:ext cx="1882823" cy="3765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up>
                          <m:r>
                            <a:rPr lang="en-US" altLang="zh-TW" b="0" i="1" smtClean="0">
                              <a:latin typeface="Cambria Math" panose="02040503050406030204" pitchFamily="18" charset="0"/>
                            </a:rPr>
                            <m:t>2</m:t>
                          </m:r>
                        </m:sup>
                      </m:sSubSup>
                    </m:oMath>
                  </m:oMathPara>
                </a14:m>
                <a:endParaRPr lang="zh-TW" altLang="en-US" dirty="0"/>
              </a:p>
            </p:txBody>
          </p:sp>
        </mc:Choice>
        <mc:Fallback xmlns="">
          <p:sp>
            <p:nvSpPr>
              <p:cNvPr id="8" name="文字方塊 7">
                <a:extLst>
                  <a:ext uri="{FF2B5EF4-FFF2-40B4-BE49-F238E27FC236}">
                    <a16:creationId xmlns:a16="http://schemas.microsoft.com/office/drawing/2014/main" id="{9B3FE845-3DE4-40F9-9CB2-4D404700CB0A}"/>
                  </a:ext>
                </a:extLst>
              </p:cNvPr>
              <p:cNvSpPr txBox="1">
                <a:spLocks noRot="1" noChangeAspect="1" noMove="1" noResize="1" noEditPoints="1" noAdjustHandles="1" noChangeArrowheads="1" noChangeShapeType="1" noTextEdit="1"/>
              </p:cNvSpPr>
              <p:nvPr/>
            </p:nvSpPr>
            <p:spPr>
              <a:xfrm>
                <a:off x="4811696" y="4547905"/>
                <a:ext cx="1882823" cy="376578"/>
              </a:xfrm>
              <a:prstGeom prst="rect">
                <a:avLst/>
              </a:prstGeom>
              <a:blipFill>
                <a:blip r:embed="rId6"/>
                <a:stretch>
                  <a:fillRect b="-80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xmlns="" id="{0CFB4E90-BFA6-4E15-996E-87374CBB8893}"/>
                  </a:ext>
                </a:extLst>
              </p:cNvPr>
              <p:cNvSpPr txBox="1"/>
              <p:nvPr/>
            </p:nvSpPr>
            <p:spPr>
              <a:xfrm>
                <a:off x="4811696" y="5017652"/>
                <a:ext cx="1629164" cy="3725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oMath>
                  </m:oMathPara>
                </a14:m>
                <a:endParaRPr lang="zh-TW" altLang="en-US" dirty="0"/>
              </a:p>
            </p:txBody>
          </p:sp>
        </mc:Choice>
        <mc:Fallback xmlns="">
          <p:sp>
            <p:nvSpPr>
              <p:cNvPr id="9" name="文字方塊 8">
                <a:extLst>
                  <a:ext uri="{FF2B5EF4-FFF2-40B4-BE49-F238E27FC236}">
                    <a16:creationId xmlns:a16="http://schemas.microsoft.com/office/drawing/2014/main" id="{0CFB4E90-BFA6-4E15-996E-87374CBB8893}"/>
                  </a:ext>
                </a:extLst>
              </p:cNvPr>
              <p:cNvSpPr txBox="1">
                <a:spLocks noRot="1" noChangeAspect="1" noMove="1" noResize="1" noEditPoints="1" noAdjustHandles="1" noChangeArrowheads="1" noChangeShapeType="1" noTextEdit="1"/>
              </p:cNvSpPr>
              <p:nvPr/>
            </p:nvSpPr>
            <p:spPr>
              <a:xfrm>
                <a:off x="4811696" y="5017652"/>
                <a:ext cx="1629164" cy="372538"/>
              </a:xfrm>
              <a:prstGeom prst="rect">
                <a:avLst/>
              </a:prstGeom>
              <a:blipFill>
                <a:blip r:embed="rId7"/>
                <a:stretch>
                  <a:fillRect b="-1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029C6287-9203-412C-84DC-092EACC480AF}"/>
                  </a:ext>
                </a:extLst>
              </p:cNvPr>
              <p:cNvSpPr txBox="1"/>
              <p:nvPr/>
            </p:nvSpPr>
            <p:spPr>
              <a:xfrm>
                <a:off x="3093725" y="5592932"/>
                <a:ext cx="3435941" cy="656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max</m:t>
                          </m:r>
                        </m:fName>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e>
                          </m:d>
                        </m:e>
                      </m:func>
                      <m:r>
                        <a:rPr lang="en-US" altLang="zh-TW" i="1">
                          <a:latin typeface="Cambria Math" panose="02040503050406030204" pitchFamily="18" charset="0"/>
                          <a:ea typeface="Cambria Math" panose="02040503050406030204" pitchFamily="18" charset="0"/>
                        </a:rPr>
                        <m:t>≤</m:t>
                      </m:r>
                      <m:rad>
                        <m:radPr>
                          <m:degHide m:val="on"/>
                          <m:ctrlPr>
                            <a:rPr lang="en-US" altLang="zh-TW" i="1" smtClean="0">
                              <a:latin typeface="Cambria Math" panose="02040503050406030204" pitchFamily="18" charset="0"/>
                              <a:ea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e>
                      </m:rad>
                    </m:oMath>
                  </m:oMathPara>
                </a14:m>
                <a:endParaRPr lang="zh-TW" altLang="en-US" dirty="0"/>
              </a:p>
            </p:txBody>
          </p:sp>
        </mc:Choice>
        <mc:Fallback xmlns="">
          <p:sp>
            <p:nvSpPr>
              <p:cNvPr id="10" name="文字方塊 9">
                <a:extLst>
                  <a:ext uri="{FF2B5EF4-FFF2-40B4-BE49-F238E27FC236}">
                    <a16:creationId xmlns:a16="http://schemas.microsoft.com/office/drawing/2014/main" id="{029C6287-9203-412C-84DC-092EACC480AF}"/>
                  </a:ext>
                </a:extLst>
              </p:cNvPr>
              <p:cNvSpPr txBox="1">
                <a:spLocks noRot="1" noChangeAspect="1" noMove="1" noResize="1" noEditPoints="1" noAdjustHandles="1" noChangeArrowheads="1" noChangeShapeType="1" noTextEdit="1"/>
              </p:cNvSpPr>
              <p:nvPr/>
            </p:nvSpPr>
            <p:spPr>
              <a:xfrm>
                <a:off x="3093725" y="5592932"/>
                <a:ext cx="3435941" cy="656013"/>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4276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DF32D84-98C3-4245-AF5C-ED1B241867E5}"/>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21FB9472-F1CA-44D5-B052-3B51FF0BA761}"/>
                  </a:ext>
                </a:extLst>
              </p:cNvPr>
              <p:cNvSpPr txBox="1"/>
              <p:nvPr/>
            </p:nvSpPr>
            <p:spPr>
              <a:xfrm>
                <a:off x="432333" y="1896439"/>
                <a:ext cx="5663666" cy="369332"/>
              </a:xfrm>
              <a:prstGeom prst="rect">
                <a:avLst/>
              </a:prstGeom>
              <a:noFill/>
            </p:spPr>
            <p:txBody>
              <a:bodyPr wrap="none" rtlCol="0">
                <a:spAutoFit/>
              </a:bodyPr>
              <a:lstStyle/>
              <a:p>
                <a:r>
                  <a:rPr lang="en-US" altLang="zh-TW" dirty="0"/>
                  <a:t>Upper bound and lower bound</a:t>
                </a:r>
                <a:r>
                  <a:rPr lang="zh-TW" altLang="en-US" dirty="0"/>
                  <a:t>：</a:t>
                </a:r>
                <a14:m>
                  <m:oMath xmlns:m="http://schemas.openxmlformats.org/officeDocument/2006/math">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max</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𝑎𝑣</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𝑔</m:t>
                        </m:r>
                      </m:e>
                      <m:sub>
                        <m:r>
                          <a:rPr lang="en-US" altLang="zh-TW" b="0" i="1" smtClean="0">
                            <a:latin typeface="Cambria Math" panose="02040503050406030204" pitchFamily="18" charset="0"/>
                            <a:ea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文字方塊 3">
                <a:extLst>
                  <a:ext uri="{FF2B5EF4-FFF2-40B4-BE49-F238E27FC236}">
                    <a16:creationId xmlns:a16="http://schemas.microsoft.com/office/drawing/2014/main" id="{21FB9472-F1CA-44D5-B052-3B51FF0BA761}"/>
                  </a:ext>
                </a:extLst>
              </p:cNvPr>
              <p:cNvSpPr txBox="1">
                <a:spLocks noRot="1" noChangeAspect="1" noMove="1" noResize="1" noEditPoints="1" noAdjustHandles="1" noChangeArrowheads="1" noChangeShapeType="1" noTextEdit="1"/>
              </p:cNvSpPr>
              <p:nvPr/>
            </p:nvSpPr>
            <p:spPr>
              <a:xfrm>
                <a:off x="432333" y="1896439"/>
                <a:ext cx="5663666" cy="369332"/>
              </a:xfrm>
              <a:prstGeom prst="rect">
                <a:avLst/>
              </a:prstGeom>
              <a:blipFill>
                <a:blip r:embed="rId2"/>
                <a:stretch>
                  <a:fillRect l="-96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2F5FF13F-8B0D-474C-B19C-AD22C58487D2}"/>
                  </a:ext>
                </a:extLst>
              </p:cNvPr>
              <p:cNvSpPr txBox="1"/>
              <p:nvPr/>
            </p:nvSpPr>
            <p:spPr>
              <a:xfrm>
                <a:off x="2947386" y="2974019"/>
                <a:ext cx="2685800" cy="656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𝑈𝐵</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ad>
                        <m:radPr>
                          <m:degHide m:val="on"/>
                          <m:ctrlPr>
                            <a:rPr lang="en-US" altLang="zh-TW" i="1" smtClean="0">
                              <a:latin typeface="Cambria Math" panose="02040503050406030204" pitchFamily="18" charset="0"/>
                              <a:ea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e>
                      </m:rad>
                    </m:oMath>
                  </m:oMathPara>
                </a14:m>
                <a:endParaRPr lang="zh-TW" altLang="en-US" dirty="0"/>
              </a:p>
            </p:txBody>
          </p:sp>
        </mc:Choice>
        <mc:Fallback xmlns="">
          <p:sp>
            <p:nvSpPr>
              <p:cNvPr id="7" name="文字方塊 6">
                <a:extLst>
                  <a:ext uri="{FF2B5EF4-FFF2-40B4-BE49-F238E27FC236}">
                    <a16:creationId xmlns:a16="http://schemas.microsoft.com/office/drawing/2014/main" id="{2F5FF13F-8B0D-474C-B19C-AD22C58487D2}"/>
                  </a:ext>
                </a:extLst>
              </p:cNvPr>
              <p:cNvSpPr txBox="1">
                <a:spLocks noRot="1" noChangeAspect="1" noMove="1" noResize="1" noEditPoints="1" noAdjustHandles="1" noChangeArrowheads="1" noChangeShapeType="1" noTextEdit="1"/>
              </p:cNvSpPr>
              <p:nvPr/>
            </p:nvSpPr>
            <p:spPr>
              <a:xfrm>
                <a:off x="2947386" y="2974019"/>
                <a:ext cx="2685800" cy="65601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82130C26-1D96-4CA8-B3DF-3E070B808253}"/>
                  </a:ext>
                </a:extLst>
              </p:cNvPr>
              <p:cNvSpPr txBox="1"/>
              <p:nvPr/>
            </p:nvSpPr>
            <p:spPr>
              <a:xfrm>
                <a:off x="2947386" y="3765611"/>
                <a:ext cx="2650534" cy="656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𝐿𝐵</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ad>
                        <m:radPr>
                          <m:degHide m:val="on"/>
                          <m:ctrlPr>
                            <a:rPr lang="en-US" altLang="zh-TW" i="1" smtClean="0">
                              <a:latin typeface="Cambria Math" panose="02040503050406030204" pitchFamily="18" charset="0"/>
                              <a:ea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e>
                      </m:rad>
                    </m:oMath>
                  </m:oMathPara>
                </a14:m>
                <a:endParaRPr lang="zh-TW" altLang="en-US" dirty="0"/>
              </a:p>
            </p:txBody>
          </p:sp>
        </mc:Choice>
        <mc:Fallback xmlns="">
          <p:sp>
            <p:nvSpPr>
              <p:cNvPr id="8" name="文字方塊 7">
                <a:extLst>
                  <a:ext uri="{FF2B5EF4-FFF2-40B4-BE49-F238E27FC236}">
                    <a16:creationId xmlns:a16="http://schemas.microsoft.com/office/drawing/2014/main" id="{82130C26-1D96-4CA8-B3DF-3E070B808253}"/>
                  </a:ext>
                </a:extLst>
              </p:cNvPr>
              <p:cNvSpPr txBox="1">
                <a:spLocks noRot="1" noChangeAspect="1" noMove="1" noResize="1" noEditPoints="1" noAdjustHandles="1" noChangeArrowheads="1" noChangeShapeType="1" noTextEdit="1"/>
              </p:cNvSpPr>
              <p:nvPr/>
            </p:nvSpPr>
            <p:spPr>
              <a:xfrm>
                <a:off x="2947386" y="3765611"/>
                <a:ext cx="2650534" cy="656013"/>
              </a:xfrm>
              <a:prstGeom prst="rect">
                <a:avLst/>
              </a:prstGeom>
              <a:blipFill>
                <a:blip r:embed="rId4"/>
                <a:stretch>
                  <a:fillRect/>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xmlns="" id="{4A00822A-28BD-4847-9F2E-8BA62436DA65}"/>
              </a:ext>
            </a:extLst>
          </p:cNvPr>
          <p:cNvSpPr txBox="1"/>
          <p:nvPr/>
        </p:nvSpPr>
        <p:spPr>
          <a:xfrm>
            <a:off x="1895175" y="2630724"/>
            <a:ext cx="1052211" cy="461665"/>
          </a:xfrm>
          <a:prstGeom prst="rect">
            <a:avLst/>
          </a:prstGeom>
          <a:noFill/>
        </p:spPr>
        <p:txBody>
          <a:bodyPr wrap="none" rtlCol="0">
            <a:spAutoFit/>
          </a:bodyPr>
          <a:lstStyle/>
          <a:p>
            <a:r>
              <a:rPr lang="en-US" altLang="zh-TW" sz="2400" dirty="0"/>
              <a:t>Level 0</a:t>
            </a:r>
            <a:endParaRPr lang="zh-TW" altLang="en-US" sz="2400" dirty="0"/>
          </a:p>
        </p:txBody>
      </p:sp>
    </p:spTree>
    <p:extLst>
      <p:ext uri="{BB962C8B-B14F-4D97-AF65-F5344CB8AC3E}">
        <p14:creationId xmlns:p14="http://schemas.microsoft.com/office/powerpoint/2010/main" val="429791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xmlns="" id="{B3762274-3D0E-413D-83B2-0B58FBF2E304}"/>
              </a:ext>
            </a:extLst>
          </p:cNvPr>
          <p:cNvPicPr>
            <a:picLocks noChangeAspect="1"/>
          </p:cNvPicPr>
          <p:nvPr/>
        </p:nvPicPr>
        <p:blipFill>
          <a:blip r:embed="rId2"/>
          <a:stretch>
            <a:fillRect/>
          </a:stretch>
        </p:blipFill>
        <p:spPr>
          <a:xfrm>
            <a:off x="3100996" y="1655870"/>
            <a:ext cx="5990008" cy="3830345"/>
          </a:xfrm>
          <a:prstGeom prst="rect">
            <a:avLst/>
          </a:prstGeom>
        </p:spPr>
      </p:pic>
      <p:sp>
        <p:nvSpPr>
          <p:cNvPr id="8" name="文字方塊 7">
            <a:extLst>
              <a:ext uri="{FF2B5EF4-FFF2-40B4-BE49-F238E27FC236}">
                <a16:creationId xmlns:a16="http://schemas.microsoft.com/office/drawing/2014/main" xmlns="" id="{4BF8CBCA-F627-4E10-8CE5-DE522E6AC473}"/>
              </a:ext>
            </a:extLst>
          </p:cNvPr>
          <p:cNvSpPr txBox="1"/>
          <p:nvPr/>
        </p:nvSpPr>
        <p:spPr>
          <a:xfrm>
            <a:off x="1293045" y="4234648"/>
            <a:ext cx="1052211" cy="461665"/>
          </a:xfrm>
          <a:prstGeom prst="rect">
            <a:avLst/>
          </a:prstGeom>
          <a:noFill/>
        </p:spPr>
        <p:txBody>
          <a:bodyPr wrap="none" rtlCol="0">
            <a:spAutoFit/>
          </a:bodyPr>
          <a:lstStyle/>
          <a:p>
            <a:r>
              <a:rPr lang="en-US" altLang="zh-TW" sz="2400" dirty="0"/>
              <a:t>Level 3</a:t>
            </a:r>
            <a:endParaRPr lang="zh-TW" altLang="en-US" sz="2400" dirty="0"/>
          </a:p>
        </p:txBody>
      </p:sp>
      <p:sp>
        <p:nvSpPr>
          <p:cNvPr id="10" name="文字方塊 9">
            <a:extLst>
              <a:ext uri="{FF2B5EF4-FFF2-40B4-BE49-F238E27FC236}">
                <a16:creationId xmlns:a16="http://schemas.microsoft.com/office/drawing/2014/main" xmlns="" id="{75FC520A-98FC-484D-8F8F-BDAF8EFF4118}"/>
              </a:ext>
            </a:extLst>
          </p:cNvPr>
          <p:cNvSpPr txBox="1"/>
          <p:nvPr/>
        </p:nvSpPr>
        <p:spPr>
          <a:xfrm>
            <a:off x="1293045" y="2797946"/>
            <a:ext cx="1052211" cy="461665"/>
          </a:xfrm>
          <a:prstGeom prst="rect">
            <a:avLst/>
          </a:prstGeom>
          <a:noFill/>
        </p:spPr>
        <p:txBody>
          <a:bodyPr wrap="none" rtlCol="0">
            <a:spAutoFit/>
          </a:bodyPr>
          <a:lstStyle/>
          <a:p>
            <a:r>
              <a:rPr lang="en-US" altLang="zh-TW" sz="2400" dirty="0"/>
              <a:t>Level 1</a:t>
            </a:r>
            <a:endParaRPr lang="zh-TW" altLang="en-US" sz="2400" dirty="0"/>
          </a:p>
        </p:txBody>
      </p:sp>
      <p:sp>
        <p:nvSpPr>
          <p:cNvPr id="11" name="文字方塊 10">
            <a:extLst>
              <a:ext uri="{FF2B5EF4-FFF2-40B4-BE49-F238E27FC236}">
                <a16:creationId xmlns:a16="http://schemas.microsoft.com/office/drawing/2014/main" xmlns="" id="{D4B1E255-014F-4918-97DE-0A438827D2BC}"/>
              </a:ext>
            </a:extLst>
          </p:cNvPr>
          <p:cNvSpPr txBox="1"/>
          <p:nvPr/>
        </p:nvSpPr>
        <p:spPr>
          <a:xfrm>
            <a:off x="1293045" y="3367557"/>
            <a:ext cx="1052211" cy="461665"/>
          </a:xfrm>
          <a:prstGeom prst="rect">
            <a:avLst/>
          </a:prstGeom>
          <a:noFill/>
        </p:spPr>
        <p:txBody>
          <a:bodyPr wrap="none" rtlCol="0">
            <a:spAutoFit/>
          </a:bodyPr>
          <a:lstStyle/>
          <a:p>
            <a:r>
              <a:rPr lang="en-US" altLang="zh-TW" sz="2400" dirty="0"/>
              <a:t>Level 2</a:t>
            </a:r>
            <a:endParaRPr lang="zh-TW" altLang="en-US" sz="2400" dirty="0"/>
          </a:p>
        </p:txBody>
      </p:sp>
      <p:sp>
        <p:nvSpPr>
          <p:cNvPr id="12" name="文字方塊 11">
            <a:extLst>
              <a:ext uri="{FF2B5EF4-FFF2-40B4-BE49-F238E27FC236}">
                <a16:creationId xmlns:a16="http://schemas.microsoft.com/office/drawing/2014/main" xmlns="" id="{2EE806F3-AF84-4371-80CD-5F3AE3AFF5B4}"/>
              </a:ext>
            </a:extLst>
          </p:cNvPr>
          <p:cNvSpPr txBox="1"/>
          <p:nvPr/>
        </p:nvSpPr>
        <p:spPr>
          <a:xfrm>
            <a:off x="1278384" y="1748901"/>
            <a:ext cx="1052211" cy="461665"/>
          </a:xfrm>
          <a:prstGeom prst="rect">
            <a:avLst/>
          </a:prstGeom>
          <a:noFill/>
        </p:spPr>
        <p:txBody>
          <a:bodyPr wrap="none" rtlCol="0">
            <a:spAutoFit/>
          </a:bodyPr>
          <a:lstStyle/>
          <a:p>
            <a:r>
              <a:rPr lang="en-US" altLang="zh-TW" sz="2400" dirty="0"/>
              <a:t>Level 0</a:t>
            </a:r>
            <a:endParaRPr lang="zh-TW" altLang="en-US" sz="2400" dirty="0"/>
          </a:p>
        </p:txBody>
      </p:sp>
      <p:sp>
        <p:nvSpPr>
          <p:cNvPr id="13" name="標題 1">
            <a:extLst>
              <a:ext uri="{FF2B5EF4-FFF2-40B4-BE49-F238E27FC236}">
                <a16:creationId xmlns:a16="http://schemas.microsoft.com/office/drawing/2014/main" xmlns="" id="{2861BF93-6E0B-46C9-A8E2-79D911DB0F77}"/>
              </a:ext>
            </a:extLst>
          </p:cNvPr>
          <p:cNvSpPr>
            <a:spLocks noGrp="1"/>
          </p:cNvSpPr>
          <p:nvPr>
            <p:ph type="title"/>
          </p:nvPr>
        </p:nvSpPr>
        <p:spPr>
          <a:xfrm>
            <a:off x="838200" y="365125"/>
            <a:ext cx="10515600" cy="1325563"/>
          </a:xfrm>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spTree>
    <p:extLst>
      <p:ext uri="{BB962C8B-B14F-4D97-AF65-F5344CB8AC3E}">
        <p14:creationId xmlns:p14="http://schemas.microsoft.com/office/powerpoint/2010/main" val="4223497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xmlns="" id="{41D8684C-548C-4D3D-9CE8-5736E2B84D6F}"/>
              </a:ext>
            </a:extLst>
          </p:cNvPr>
          <p:cNvSpPr>
            <a:spLocks noGrp="1"/>
          </p:cNvSpPr>
          <p:nvPr>
            <p:ph type="title"/>
          </p:nvPr>
        </p:nvSpPr>
        <p:spPr>
          <a:xfrm>
            <a:off x="838200" y="365125"/>
            <a:ext cx="10515600" cy="1325563"/>
          </a:xfrm>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01FF8A36-8B9B-44B5-B2A9-C06888249A32}"/>
                  </a:ext>
                </a:extLst>
              </p:cNvPr>
              <p:cNvSpPr txBox="1"/>
              <p:nvPr/>
            </p:nvSpPr>
            <p:spPr>
              <a:xfrm>
                <a:off x="432333" y="1896439"/>
                <a:ext cx="5663666" cy="369332"/>
              </a:xfrm>
              <a:prstGeom prst="rect">
                <a:avLst/>
              </a:prstGeom>
              <a:noFill/>
            </p:spPr>
            <p:txBody>
              <a:bodyPr wrap="none" rtlCol="0">
                <a:spAutoFit/>
              </a:bodyPr>
              <a:lstStyle/>
              <a:p>
                <a:r>
                  <a:rPr lang="en-US" altLang="zh-TW" dirty="0"/>
                  <a:t>Upper bound and lower bound</a:t>
                </a:r>
                <a:r>
                  <a:rPr lang="zh-TW" altLang="en-US" dirty="0"/>
                  <a:t>：</a:t>
                </a:r>
                <a14:m>
                  <m:oMath xmlns:m="http://schemas.openxmlformats.org/officeDocument/2006/math">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max</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𝑎𝑣</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𝑔</m:t>
                        </m:r>
                      </m:e>
                      <m:sub>
                        <m:r>
                          <a:rPr lang="en-US" altLang="zh-TW" b="0" i="1" smtClean="0">
                            <a:latin typeface="Cambria Math" panose="02040503050406030204" pitchFamily="18" charset="0"/>
                            <a:ea typeface="Cambria Math" panose="02040503050406030204" pitchFamily="18" charset="0"/>
                          </a:rPr>
                          <m:t>𝑆</m:t>
                        </m:r>
                      </m:sub>
                    </m:sSub>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5" name="文字方塊 4">
                <a:extLst>
                  <a:ext uri="{FF2B5EF4-FFF2-40B4-BE49-F238E27FC236}">
                    <a16:creationId xmlns:a16="http://schemas.microsoft.com/office/drawing/2014/main" id="{01FF8A36-8B9B-44B5-B2A9-C06888249A32}"/>
                  </a:ext>
                </a:extLst>
              </p:cNvPr>
              <p:cNvSpPr txBox="1">
                <a:spLocks noRot="1" noChangeAspect="1" noMove="1" noResize="1" noEditPoints="1" noAdjustHandles="1" noChangeArrowheads="1" noChangeShapeType="1" noTextEdit="1"/>
              </p:cNvSpPr>
              <p:nvPr/>
            </p:nvSpPr>
            <p:spPr>
              <a:xfrm>
                <a:off x="432333" y="1896439"/>
                <a:ext cx="5663666" cy="369332"/>
              </a:xfrm>
              <a:prstGeom prst="rect">
                <a:avLst/>
              </a:prstGeom>
              <a:blipFill>
                <a:blip r:embed="rId2"/>
                <a:stretch>
                  <a:fillRect l="-96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BD45912A-F825-4CF1-9A73-34B56447734B}"/>
                  </a:ext>
                </a:extLst>
              </p:cNvPr>
              <p:cNvSpPr txBox="1"/>
              <p:nvPr/>
            </p:nvSpPr>
            <p:spPr>
              <a:xfrm>
                <a:off x="2947386" y="2974019"/>
                <a:ext cx="4116383" cy="656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𝑈𝐵</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ad>
                        <m:radPr>
                          <m:degHide m:val="on"/>
                          <m:ctrlPr>
                            <a:rPr lang="en-US" altLang="zh-TW" i="1" smtClean="0">
                              <a:latin typeface="Cambria Math" panose="02040503050406030204" pitchFamily="18" charset="0"/>
                              <a:ea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2</m:t>
                              </m:r>
                            </m:sup>
                          </m:sSubSup>
                        </m:e>
                      </m:rad>
                    </m:oMath>
                  </m:oMathPara>
                </a14:m>
                <a:endParaRPr lang="zh-TW" altLang="en-US" dirty="0"/>
              </a:p>
            </p:txBody>
          </p:sp>
        </mc:Choice>
        <mc:Fallback xmlns="">
          <p:sp>
            <p:nvSpPr>
              <p:cNvPr id="6" name="文字方塊 5">
                <a:extLst>
                  <a:ext uri="{FF2B5EF4-FFF2-40B4-BE49-F238E27FC236}">
                    <a16:creationId xmlns:a16="http://schemas.microsoft.com/office/drawing/2014/main" id="{BD45912A-F825-4CF1-9A73-34B56447734B}"/>
                  </a:ext>
                </a:extLst>
              </p:cNvPr>
              <p:cNvSpPr txBox="1">
                <a:spLocks noRot="1" noChangeAspect="1" noMove="1" noResize="1" noEditPoints="1" noAdjustHandles="1" noChangeArrowheads="1" noChangeShapeType="1" noTextEdit="1"/>
              </p:cNvSpPr>
              <p:nvPr/>
            </p:nvSpPr>
            <p:spPr>
              <a:xfrm>
                <a:off x="2947386" y="2974019"/>
                <a:ext cx="4116383" cy="65601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7E71CD3D-0E2C-484F-A670-FF48103CACCA}"/>
                  </a:ext>
                </a:extLst>
              </p:cNvPr>
              <p:cNvSpPr txBox="1"/>
              <p:nvPr/>
            </p:nvSpPr>
            <p:spPr>
              <a:xfrm>
                <a:off x="2947386" y="3765611"/>
                <a:ext cx="4081117" cy="656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𝐿𝐵</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ad>
                        <m:radPr>
                          <m:degHide m:val="on"/>
                          <m:ctrlPr>
                            <a:rPr lang="en-US" altLang="zh-TW" i="1" smtClean="0">
                              <a:latin typeface="Cambria Math" panose="02040503050406030204" pitchFamily="18" charset="0"/>
                              <a:ea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2</m:t>
                              </m:r>
                            </m:sup>
                          </m:sSubSup>
                        </m:e>
                      </m:rad>
                    </m:oMath>
                  </m:oMathPara>
                </a14:m>
                <a:endParaRPr lang="zh-TW" altLang="en-US" dirty="0"/>
              </a:p>
            </p:txBody>
          </p:sp>
        </mc:Choice>
        <mc:Fallback xmlns="">
          <p:sp>
            <p:nvSpPr>
              <p:cNvPr id="7" name="文字方塊 6">
                <a:extLst>
                  <a:ext uri="{FF2B5EF4-FFF2-40B4-BE49-F238E27FC236}">
                    <a16:creationId xmlns:a16="http://schemas.microsoft.com/office/drawing/2014/main" id="{7E71CD3D-0E2C-484F-A670-FF48103CACCA}"/>
                  </a:ext>
                </a:extLst>
              </p:cNvPr>
              <p:cNvSpPr txBox="1">
                <a:spLocks noRot="1" noChangeAspect="1" noMove="1" noResize="1" noEditPoints="1" noAdjustHandles="1" noChangeArrowheads="1" noChangeShapeType="1" noTextEdit="1"/>
              </p:cNvSpPr>
              <p:nvPr/>
            </p:nvSpPr>
            <p:spPr>
              <a:xfrm>
                <a:off x="2947386" y="3765611"/>
                <a:ext cx="4081117" cy="656013"/>
              </a:xfrm>
              <a:prstGeom prst="rect">
                <a:avLst/>
              </a:prstGeom>
              <a:blipFill>
                <a:blip r:embed="rId4"/>
                <a:stretch>
                  <a:fillRect/>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xmlns="" id="{007C244B-1357-4093-9A40-9F4BAE3BD5D5}"/>
              </a:ext>
            </a:extLst>
          </p:cNvPr>
          <p:cNvSpPr txBox="1"/>
          <p:nvPr/>
        </p:nvSpPr>
        <p:spPr>
          <a:xfrm>
            <a:off x="1895175" y="2630724"/>
            <a:ext cx="1052211" cy="461665"/>
          </a:xfrm>
          <a:prstGeom prst="rect">
            <a:avLst/>
          </a:prstGeom>
          <a:noFill/>
        </p:spPr>
        <p:txBody>
          <a:bodyPr wrap="none" rtlCol="0">
            <a:spAutoFit/>
          </a:bodyPr>
          <a:lstStyle/>
          <a:p>
            <a:r>
              <a:rPr lang="en-US" altLang="zh-TW" sz="2400" dirty="0"/>
              <a:t>Level 1</a:t>
            </a:r>
            <a:endParaRPr lang="zh-TW" altLang="en-US" sz="2400" dirty="0"/>
          </a:p>
        </p:txBody>
      </p:sp>
      <p:sp>
        <p:nvSpPr>
          <p:cNvPr id="9" name="文字方塊 8">
            <a:extLst>
              <a:ext uri="{FF2B5EF4-FFF2-40B4-BE49-F238E27FC236}">
                <a16:creationId xmlns:a16="http://schemas.microsoft.com/office/drawing/2014/main" xmlns="" id="{885E480C-D39E-46F4-BFBD-7EAAE702A46B}"/>
              </a:ext>
            </a:extLst>
          </p:cNvPr>
          <p:cNvSpPr txBox="1"/>
          <p:nvPr/>
        </p:nvSpPr>
        <p:spPr>
          <a:xfrm>
            <a:off x="4829888" y="4540359"/>
            <a:ext cx="386644" cy="369332"/>
          </a:xfrm>
          <a:prstGeom prst="rect">
            <a:avLst/>
          </a:prstGeom>
          <a:noFill/>
        </p:spPr>
        <p:txBody>
          <a:bodyPr wrap="none" rtlCol="0">
            <a:spAutoFit/>
          </a:bodyPr>
          <a:lstStyle/>
          <a:p>
            <a:r>
              <a:rPr lang="en-US" altLang="zh-TW" dirty="0"/>
              <a:t>or</a:t>
            </a:r>
            <a:endParaRPr lang="zh-TW" altLang="en-US" dirty="0"/>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F3692E9D-4826-4577-8C77-86D87445438F}"/>
                  </a:ext>
                </a:extLst>
              </p:cNvPr>
              <p:cNvSpPr txBox="1"/>
              <p:nvPr/>
            </p:nvSpPr>
            <p:spPr>
              <a:xfrm>
                <a:off x="2982652" y="5045270"/>
                <a:ext cx="4116383" cy="656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𝑈𝐵</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ad>
                        <m:radPr>
                          <m:degHide m:val="on"/>
                          <m:ctrlPr>
                            <a:rPr lang="en-US" altLang="zh-TW" i="1" smtClean="0">
                              <a:latin typeface="Cambria Math" panose="02040503050406030204" pitchFamily="18" charset="0"/>
                              <a:ea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2</m:t>
                              </m:r>
                            </m:sup>
                          </m:sSubSup>
                        </m:e>
                      </m:rad>
                    </m:oMath>
                  </m:oMathPara>
                </a14:m>
                <a:endParaRPr lang="zh-TW" altLang="en-US" dirty="0"/>
              </a:p>
            </p:txBody>
          </p:sp>
        </mc:Choice>
        <mc:Fallback xmlns="">
          <p:sp>
            <p:nvSpPr>
              <p:cNvPr id="10" name="文字方塊 9">
                <a:extLst>
                  <a:ext uri="{FF2B5EF4-FFF2-40B4-BE49-F238E27FC236}">
                    <a16:creationId xmlns:a16="http://schemas.microsoft.com/office/drawing/2014/main" id="{F3692E9D-4826-4577-8C77-86D87445438F}"/>
                  </a:ext>
                </a:extLst>
              </p:cNvPr>
              <p:cNvSpPr txBox="1">
                <a:spLocks noRot="1" noChangeAspect="1" noMove="1" noResize="1" noEditPoints="1" noAdjustHandles="1" noChangeArrowheads="1" noChangeShapeType="1" noTextEdit="1"/>
              </p:cNvSpPr>
              <p:nvPr/>
            </p:nvSpPr>
            <p:spPr>
              <a:xfrm>
                <a:off x="2982652" y="5045270"/>
                <a:ext cx="4116383"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xmlns="" id="{41A1FC8F-2833-4E45-8427-DE1E37E5CFBA}"/>
                  </a:ext>
                </a:extLst>
              </p:cNvPr>
              <p:cNvSpPr txBox="1"/>
              <p:nvPr/>
            </p:nvSpPr>
            <p:spPr>
              <a:xfrm>
                <a:off x="2982652" y="5836862"/>
                <a:ext cx="4081117" cy="6560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𝐿𝐵</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ad>
                        <m:radPr>
                          <m:degHide m:val="on"/>
                          <m:ctrlPr>
                            <a:rPr lang="en-US" altLang="zh-TW" i="1" smtClean="0">
                              <a:latin typeface="Cambria Math" panose="02040503050406030204" pitchFamily="18" charset="0"/>
                              <a:ea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2</m:t>
                              </m:r>
                            </m:sup>
                          </m:sSubSup>
                        </m:e>
                      </m:rad>
                    </m:oMath>
                  </m:oMathPara>
                </a14:m>
                <a:endParaRPr lang="zh-TW" altLang="en-US" dirty="0"/>
              </a:p>
            </p:txBody>
          </p:sp>
        </mc:Choice>
        <mc:Fallback xmlns="">
          <p:sp>
            <p:nvSpPr>
              <p:cNvPr id="11" name="文字方塊 10">
                <a:extLst>
                  <a:ext uri="{FF2B5EF4-FFF2-40B4-BE49-F238E27FC236}">
                    <a16:creationId xmlns:a16="http://schemas.microsoft.com/office/drawing/2014/main" id="{41A1FC8F-2833-4E45-8427-DE1E37E5CFBA}"/>
                  </a:ext>
                </a:extLst>
              </p:cNvPr>
              <p:cNvSpPr txBox="1">
                <a:spLocks noRot="1" noChangeAspect="1" noMove="1" noResize="1" noEditPoints="1" noAdjustHandles="1" noChangeArrowheads="1" noChangeShapeType="1" noTextEdit="1"/>
              </p:cNvSpPr>
              <p:nvPr/>
            </p:nvSpPr>
            <p:spPr>
              <a:xfrm>
                <a:off x="2982652" y="5836862"/>
                <a:ext cx="4081117" cy="656013"/>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35833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xmlns="" id="{B34CA97E-EA5A-4C18-BE8E-7BC293DB1D49}"/>
              </a:ext>
            </a:extLst>
          </p:cNvPr>
          <p:cNvSpPr>
            <a:spLocks noGrp="1"/>
          </p:cNvSpPr>
          <p:nvPr>
            <p:ph type="title"/>
          </p:nvPr>
        </p:nvSpPr>
        <p:spPr>
          <a:xfrm>
            <a:off x="838200" y="365125"/>
            <a:ext cx="10515600" cy="1325563"/>
          </a:xfrm>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5" name="圖片 4">
            <a:extLst>
              <a:ext uri="{FF2B5EF4-FFF2-40B4-BE49-F238E27FC236}">
                <a16:creationId xmlns:a16="http://schemas.microsoft.com/office/drawing/2014/main" xmlns="" id="{88C9E6D8-6A3F-438B-A896-8E05E1CDFEFD}"/>
              </a:ext>
            </a:extLst>
          </p:cNvPr>
          <p:cNvPicPr>
            <a:picLocks noChangeAspect="1"/>
          </p:cNvPicPr>
          <p:nvPr/>
        </p:nvPicPr>
        <p:blipFill>
          <a:blip r:embed="rId2"/>
          <a:stretch>
            <a:fillRect/>
          </a:stretch>
        </p:blipFill>
        <p:spPr>
          <a:xfrm>
            <a:off x="1221364" y="2002006"/>
            <a:ext cx="9749272" cy="3706335"/>
          </a:xfrm>
          <a:prstGeom prst="rect">
            <a:avLst/>
          </a:prstGeom>
        </p:spPr>
      </p:pic>
    </p:spTree>
    <p:extLst>
      <p:ext uri="{BB962C8B-B14F-4D97-AF65-F5344CB8AC3E}">
        <p14:creationId xmlns:p14="http://schemas.microsoft.com/office/powerpoint/2010/main" val="1355879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CA43D4-B07F-4373-BE0B-3D5A52D27B04}"/>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5DC0F6F8-E7B6-4CFB-B566-CD7E14976D62}"/>
                  </a:ext>
                </a:extLst>
              </p:cNvPr>
              <p:cNvSpPr txBox="1"/>
              <p:nvPr/>
            </p:nvSpPr>
            <p:spPr>
              <a:xfrm>
                <a:off x="1305017" y="1837678"/>
                <a:ext cx="1834733" cy="646331"/>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𝑈𝐵</m:t>
                      </m:r>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 </m:t>
                      </m:r>
                    </m:oMath>
                  </m:oMathPara>
                </a14:m>
                <a:endParaRPr lang="en-US" altLang="zh-TW"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𝐿𝐵</m:t>
                      </m:r>
                      <m:r>
                        <a:rPr lang="en-US" altLang="zh-TW" b="0" i="1" smtClean="0">
                          <a:latin typeface="Cambria Math" panose="02040503050406030204" pitchFamily="18" charset="0"/>
                        </a:rPr>
                        <m:t>=</m:t>
                      </m:r>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oMath>
                  </m:oMathPara>
                </a14:m>
                <a:endParaRPr lang="zh-TW" altLang="en-US" dirty="0"/>
              </a:p>
            </p:txBody>
          </p:sp>
        </mc:Choice>
        <mc:Fallback xmlns="">
          <p:sp>
            <p:nvSpPr>
              <p:cNvPr id="4" name="文字方塊 3">
                <a:extLst>
                  <a:ext uri="{FF2B5EF4-FFF2-40B4-BE49-F238E27FC236}">
                    <a16:creationId xmlns:a16="http://schemas.microsoft.com/office/drawing/2014/main" id="{5DC0F6F8-E7B6-4CFB-B566-CD7E14976D62}"/>
                  </a:ext>
                </a:extLst>
              </p:cNvPr>
              <p:cNvSpPr txBox="1">
                <a:spLocks noRot="1" noChangeAspect="1" noMove="1" noResize="1" noEditPoints="1" noAdjustHandles="1" noChangeArrowheads="1" noChangeShapeType="1" noTextEdit="1"/>
              </p:cNvSpPr>
              <p:nvPr/>
            </p:nvSpPr>
            <p:spPr>
              <a:xfrm>
                <a:off x="1305017" y="1837678"/>
                <a:ext cx="1834733" cy="646331"/>
              </a:xfrm>
              <a:prstGeom prst="rect">
                <a:avLst/>
              </a:prstGeom>
              <a:blipFill>
                <a:blip r:embed="rId2"/>
                <a:stretch>
                  <a:fillRect b="-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F9D2B20E-8D5B-484F-BB28-4C2A331468CE}"/>
                  </a:ext>
                </a:extLst>
              </p:cNvPr>
              <p:cNvSpPr txBox="1"/>
              <p:nvPr/>
            </p:nvSpPr>
            <p:spPr>
              <a:xfrm>
                <a:off x="2222383" y="3016579"/>
                <a:ext cx="4000198" cy="8248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𝑎𝑣</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nary>
                        <m:naryPr>
                          <m:chr m:val="∑"/>
                          <m:limLoc m:val="subSup"/>
                          <m:ctrlPr>
                            <a:rPr lang="en-US" altLang="zh-TW" b="0" i="1" smtClean="0">
                              <a:latin typeface="Cambria Math" panose="02040503050406030204" pitchFamily="18" charset="0"/>
                            </a:rPr>
                          </m:ctrlPr>
                        </m:naryPr>
                        <m:sub>
                          <m:r>
                            <m:rPr>
                              <m:brk m:alnAt="25"/>
                            </m:rP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𝐿</m:t>
                          </m:r>
                        </m:sup>
                        <m:e>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e>
                              </m:d>
                            </m:e>
                            <m:sup>
                              <m:d>
                                <m:dPr>
                                  <m:begChr m:val="⌈"/>
                                  <m:endChr m:val="⌉"/>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𝑖</m:t>
                                      </m:r>
                                    </m:num>
                                    <m:den>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up>
                                      </m:sSup>
                                    </m:den>
                                  </m:f>
                                </m:e>
                              </m:d>
                            </m:sup>
                          </m:sSup>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d>
                                <m:dPr>
                                  <m:begChr m:val="⌈"/>
                                  <m:endChr m:val="⌉"/>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𝐿</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𝑖</m:t>
                                      </m:r>
                                    </m:num>
                                    <m:den>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𝑗</m:t>
                                          </m:r>
                                        </m:sup>
                                      </m:sSup>
                                    </m:den>
                                  </m:f>
                                </m:e>
                              </m:d>
                            </m:sub>
                          </m:sSub>
                        </m:e>
                      </m:nary>
                    </m:oMath>
                  </m:oMathPara>
                </a14:m>
                <a:endParaRPr lang="zh-TW" altLang="en-US" dirty="0"/>
              </a:p>
            </p:txBody>
          </p:sp>
        </mc:Choice>
        <mc:Fallback xmlns="">
          <p:sp>
            <p:nvSpPr>
              <p:cNvPr id="5" name="文字方塊 4">
                <a:extLst>
                  <a:ext uri="{FF2B5EF4-FFF2-40B4-BE49-F238E27FC236}">
                    <a16:creationId xmlns:a16="http://schemas.microsoft.com/office/drawing/2014/main" id="{F9D2B20E-8D5B-484F-BB28-4C2A331468CE}"/>
                  </a:ext>
                </a:extLst>
              </p:cNvPr>
              <p:cNvSpPr txBox="1">
                <a:spLocks noRot="1" noChangeAspect="1" noMove="1" noResize="1" noEditPoints="1" noAdjustHandles="1" noChangeArrowheads="1" noChangeShapeType="1" noTextEdit="1"/>
              </p:cNvSpPr>
              <p:nvPr/>
            </p:nvSpPr>
            <p:spPr>
              <a:xfrm>
                <a:off x="2222383" y="3016579"/>
                <a:ext cx="4000198" cy="82484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4C76D461-3415-41A9-A1CC-30A02B3FEC47}"/>
                  </a:ext>
                </a:extLst>
              </p:cNvPr>
              <p:cNvSpPr txBox="1"/>
              <p:nvPr/>
            </p:nvSpPr>
            <p:spPr>
              <a:xfrm>
                <a:off x="2222383" y="4092606"/>
                <a:ext cx="5342808" cy="9106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rPr>
                        <m:t>=</m:t>
                      </m:r>
                      <m:rad>
                        <m:radPr>
                          <m:degHide m:val="on"/>
                          <m:ctrlPr>
                            <a:rPr lang="en-US" altLang="zh-TW" b="0" i="1" smtClean="0">
                              <a:latin typeface="Cambria Math" panose="02040503050406030204" pitchFamily="18" charset="0"/>
                            </a:rPr>
                          </m:ctrlPr>
                        </m:radPr>
                        <m:deg/>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𝑆</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nary>
                            <m:naryPr>
                              <m:chr m:val="∑"/>
                              <m:limLoc m:val="subSup"/>
                              <m:ctrlPr>
                                <a:rPr lang="en-US" altLang="zh-TW" b="0" i="1" smtClean="0">
                                  <a:latin typeface="Cambria Math" panose="02040503050406030204" pitchFamily="18" charset="0"/>
                                </a:rPr>
                              </m:ctrlPr>
                            </m:naryPr>
                            <m:sub>
                              <m:r>
                                <m:rPr>
                                  <m:brk m:alnAt="25"/>
                                </m:rP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𝐿</m:t>
                              </m:r>
                              <m:r>
                                <a:rPr lang="en-US" altLang="zh-TW" b="0" i="1" smtClean="0">
                                  <a:latin typeface="Cambria Math" panose="02040503050406030204" pitchFamily="18" charset="0"/>
                                </a:rPr>
                                <m:t>−1</m:t>
                              </m:r>
                            </m:sub>
                            <m:sup>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r>
                                    <a:rPr lang="en-US" altLang="zh-TW" b="0" i="1" smtClean="0">
                                      <a:latin typeface="Cambria Math" panose="02040503050406030204" pitchFamily="18" charset="0"/>
                                    </a:rPr>
                                    <m:t>𝐿</m:t>
                                  </m:r>
                                </m:sup>
                              </m:sSup>
                              <m:r>
                                <a:rPr lang="en-US" altLang="zh-TW" b="0" i="1" smtClean="0">
                                  <a:latin typeface="Cambria Math" panose="02040503050406030204" pitchFamily="18" charset="0"/>
                                </a:rPr>
                                <m:t>−1</m:t>
                              </m:r>
                            </m:sup>
                            <m:e>
                              <m:nary>
                                <m:naryPr>
                                  <m:chr m:val="∑"/>
                                  <m:limLoc m:val="subSup"/>
                                  <m:ctrlPr>
                                    <a:rPr lang="en-US" altLang="zh-TW" b="0" i="1" smtClean="0">
                                      <a:latin typeface="Cambria Math" panose="02040503050406030204" pitchFamily="18" charset="0"/>
                                    </a:rPr>
                                  </m:ctrlPr>
                                </m:naryPr>
                                <m:sub>
                                  <m:r>
                                    <m:rPr>
                                      <m:brk m:alnAt="25"/>
                                    </m:rP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𝑗</m:t>
                                  </m:r>
                                </m:sup>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2</m:t>
                                      </m:r>
                                    </m:e>
                                    <m:sup>
                                      <m:func>
                                        <m:funcPr>
                                          <m:ctrlPr>
                                            <a:rPr lang="en-US" altLang="zh-TW" b="0" i="1" smtClean="0">
                                              <a:latin typeface="Cambria Math" panose="02040503050406030204" pitchFamily="18" charset="0"/>
                                            </a:rPr>
                                          </m:ctrlPr>
                                        </m:funcPr>
                                        <m:fName>
                                          <m:sSub>
                                            <m:sSubPr>
                                              <m:ctrlPr>
                                                <a:rPr lang="en-US" altLang="zh-TW" b="0" i="1" smtClean="0">
                                                  <a:latin typeface="Cambria Math" panose="02040503050406030204" pitchFamily="18" charset="0"/>
                                                </a:rPr>
                                              </m:ctrlPr>
                                            </m:sSubPr>
                                            <m:e>
                                              <m:r>
                                                <m:rPr>
                                                  <m:sty m:val="p"/>
                                                </m:rPr>
                                                <a:rPr lang="en-US" altLang="zh-TW" b="0" i="0" smtClean="0">
                                                  <a:latin typeface="Cambria Math" panose="02040503050406030204" pitchFamily="18" charset="0"/>
                                                </a:rPr>
                                                <m:t>log</m:t>
                                              </m:r>
                                            </m:e>
                                            <m:sub>
                                              <m:r>
                                                <a:rPr lang="en-US" altLang="zh-TW" b="0" i="1" smtClean="0">
                                                  <a:latin typeface="Cambria Math" panose="02040503050406030204" pitchFamily="18" charset="0"/>
                                                </a:rPr>
                                                <m:t>2</m:t>
                                              </m:r>
                                            </m:sub>
                                          </m:sSub>
                                        </m:fName>
                                        <m:e>
                                          <m:r>
                                            <a:rPr lang="en-US" altLang="zh-TW" b="0" i="1" smtClean="0">
                                              <a:latin typeface="Cambria Math" panose="02040503050406030204" pitchFamily="18" charset="0"/>
                                            </a:rPr>
                                            <m:t>𝑁</m:t>
                                          </m:r>
                                        </m:e>
                                      </m:func>
                                      <m:r>
                                        <a:rPr lang="en-US" altLang="zh-TW" b="0" i="1" smtClean="0">
                                          <a:latin typeface="Cambria Math" panose="02040503050406030204" pitchFamily="18" charset="0"/>
                                        </a:rPr>
                                        <m:t>−</m:t>
                                      </m:r>
                                      <m:r>
                                        <a:rPr lang="en-US" altLang="zh-TW" b="0" i="1" smtClean="0">
                                          <a:latin typeface="Cambria Math" panose="02040503050406030204" pitchFamily="18" charset="0"/>
                                        </a:rPr>
                                        <m:t>𝑘</m:t>
                                      </m:r>
                                    </m:sup>
                                  </m:sSup>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𝑘</m:t>
                                      </m:r>
                                    </m:sub>
                                    <m:sup>
                                      <m:r>
                                        <a:rPr lang="en-US" altLang="zh-TW" b="0" i="1" smtClean="0">
                                          <a:latin typeface="Cambria Math" panose="02040503050406030204" pitchFamily="18" charset="0"/>
                                        </a:rPr>
                                        <m:t>2</m:t>
                                      </m:r>
                                    </m:sup>
                                  </m:sSubSup>
                                </m:e>
                              </m:nary>
                            </m:e>
                          </m:nary>
                        </m:e>
                      </m:rad>
                    </m:oMath>
                  </m:oMathPara>
                </a14:m>
                <a:endParaRPr lang="zh-TW" altLang="en-US" dirty="0"/>
              </a:p>
            </p:txBody>
          </p:sp>
        </mc:Choice>
        <mc:Fallback xmlns="">
          <p:sp>
            <p:nvSpPr>
              <p:cNvPr id="6" name="文字方塊 5">
                <a:extLst>
                  <a:ext uri="{FF2B5EF4-FFF2-40B4-BE49-F238E27FC236}">
                    <a16:creationId xmlns:a16="http://schemas.microsoft.com/office/drawing/2014/main" id="{4C76D461-3415-41A9-A1CC-30A02B3FEC47}"/>
                  </a:ext>
                </a:extLst>
              </p:cNvPr>
              <p:cNvSpPr txBox="1">
                <a:spLocks noRot="1" noChangeAspect="1" noMove="1" noResize="1" noEditPoints="1" noAdjustHandles="1" noChangeArrowheads="1" noChangeShapeType="1" noTextEdit="1"/>
              </p:cNvSpPr>
              <p:nvPr/>
            </p:nvSpPr>
            <p:spPr>
              <a:xfrm>
                <a:off x="2222383" y="4092606"/>
                <a:ext cx="5342808" cy="910699"/>
              </a:xfrm>
              <a:prstGeom prst="rect">
                <a:avLst/>
              </a:prstGeom>
              <a:blipFill>
                <a:blip r:embed="rId4"/>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xmlns="" id="{3A10F397-7483-4A5F-9BA4-6970D88F870A}"/>
              </a:ext>
            </a:extLst>
          </p:cNvPr>
          <p:cNvSpPr txBox="1"/>
          <p:nvPr/>
        </p:nvSpPr>
        <p:spPr>
          <a:xfrm>
            <a:off x="7652552" y="3105833"/>
            <a:ext cx="3820020" cy="646331"/>
          </a:xfrm>
          <a:prstGeom prst="rect">
            <a:avLst/>
          </a:prstGeom>
          <a:noFill/>
        </p:spPr>
        <p:txBody>
          <a:bodyPr wrap="none" rtlCol="0">
            <a:spAutoFit/>
          </a:bodyPr>
          <a:lstStyle/>
          <a:p>
            <a:r>
              <a:rPr lang="en-US" altLang="zh-TW" dirty="0"/>
              <a:t>L: Level</a:t>
            </a:r>
          </a:p>
          <a:p>
            <a:r>
              <a:rPr lang="en-US" altLang="zh-TW" dirty="0"/>
              <a:t>i: sequence number for particular level</a:t>
            </a:r>
            <a:endParaRPr lang="zh-TW" altLang="en-US" dirty="0"/>
          </a:p>
        </p:txBody>
      </p:sp>
    </p:spTree>
    <p:extLst>
      <p:ext uri="{BB962C8B-B14F-4D97-AF65-F5344CB8AC3E}">
        <p14:creationId xmlns:p14="http://schemas.microsoft.com/office/powerpoint/2010/main" val="4163847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B6FAA05-1349-430D-AF56-0451A2810841}"/>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4" name="圖片 3">
            <a:extLst>
              <a:ext uri="{FF2B5EF4-FFF2-40B4-BE49-F238E27FC236}">
                <a16:creationId xmlns:a16="http://schemas.microsoft.com/office/drawing/2014/main" xmlns="" id="{FBCD09C8-166E-44A4-8B11-A07CC32C88C7}"/>
              </a:ext>
            </a:extLst>
          </p:cNvPr>
          <p:cNvPicPr>
            <a:picLocks noChangeAspect="1"/>
          </p:cNvPicPr>
          <p:nvPr/>
        </p:nvPicPr>
        <p:blipFill>
          <a:blip r:embed="rId2"/>
          <a:stretch>
            <a:fillRect/>
          </a:stretch>
        </p:blipFill>
        <p:spPr>
          <a:xfrm>
            <a:off x="2252662" y="1866807"/>
            <a:ext cx="7686675" cy="3390900"/>
          </a:xfrm>
          <a:prstGeom prst="rect">
            <a:avLst/>
          </a:prstGeom>
        </p:spPr>
      </p:pic>
      <p:sp>
        <p:nvSpPr>
          <p:cNvPr id="5" name="矩形 4">
            <a:extLst>
              <a:ext uri="{FF2B5EF4-FFF2-40B4-BE49-F238E27FC236}">
                <a16:creationId xmlns:a16="http://schemas.microsoft.com/office/drawing/2014/main" xmlns="" id="{2E73AFD5-6955-46CA-8DC5-E8C823484C87}"/>
              </a:ext>
            </a:extLst>
          </p:cNvPr>
          <p:cNvSpPr/>
          <p:nvPr/>
        </p:nvSpPr>
        <p:spPr>
          <a:xfrm>
            <a:off x="2610035" y="2743199"/>
            <a:ext cx="2654423" cy="5504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15215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EDEC1FB-211B-4608-A6E3-E6904B330B07}"/>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4" name="圖片 3">
            <a:extLst>
              <a:ext uri="{FF2B5EF4-FFF2-40B4-BE49-F238E27FC236}">
                <a16:creationId xmlns:a16="http://schemas.microsoft.com/office/drawing/2014/main" xmlns="" id="{0AAAA105-936D-43B2-87B2-20C353F49693}"/>
              </a:ext>
            </a:extLst>
          </p:cNvPr>
          <p:cNvPicPr>
            <a:picLocks noChangeAspect="1"/>
          </p:cNvPicPr>
          <p:nvPr/>
        </p:nvPicPr>
        <p:blipFill>
          <a:blip r:embed="rId2"/>
          <a:stretch>
            <a:fillRect/>
          </a:stretch>
        </p:blipFill>
        <p:spPr>
          <a:xfrm>
            <a:off x="2326774" y="1420427"/>
            <a:ext cx="7538451" cy="5300040"/>
          </a:xfrm>
          <a:prstGeom prst="rect">
            <a:avLst/>
          </a:prstGeom>
        </p:spPr>
      </p:pic>
      <p:sp>
        <p:nvSpPr>
          <p:cNvPr id="6" name="矩形 5">
            <a:extLst>
              <a:ext uri="{FF2B5EF4-FFF2-40B4-BE49-F238E27FC236}">
                <a16:creationId xmlns:a16="http://schemas.microsoft.com/office/drawing/2014/main" xmlns="" id="{3D5F21D7-665A-456F-B9EC-7921737742A9}"/>
              </a:ext>
            </a:extLst>
          </p:cNvPr>
          <p:cNvSpPr/>
          <p:nvPr/>
        </p:nvSpPr>
        <p:spPr>
          <a:xfrm>
            <a:off x="2698812" y="2272681"/>
            <a:ext cx="4065972" cy="10298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72265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EDEC1FB-211B-4608-A6E3-E6904B330B07}"/>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4" name="圖片 3">
            <a:extLst>
              <a:ext uri="{FF2B5EF4-FFF2-40B4-BE49-F238E27FC236}">
                <a16:creationId xmlns:a16="http://schemas.microsoft.com/office/drawing/2014/main" xmlns="" id="{0AAAA105-936D-43B2-87B2-20C353F49693}"/>
              </a:ext>
            </a:extLst>
          </p:cNvPr>
          <p:cNvPicPr>
            <a:picLocks noChangeAspect="1"/>
          </p:cNvPicPr>
          <p:nvPr/>
        </p:nvPicPr>
        <p:blipFill>
          <a:blip r:embed="rId2"/>
          <a:stretch>
            <a:fillRect/>
          </a:stretch>
        </p:blipFill>
        <p:spPr>
          <a:xfrm>
            <a:off x="2326774" y="1420427"/>
            <a:ext cx="7538451" cy="5300040"/>
          </a:xfrm>
          <a:prstGeom prst="rect">
            <a:avLst/>
          </a:prstGeom>
        </p:spPr>
      </p:pic>
      <p:sp>
        <p:nvSpPr>
          <p:cNvPr id="6" name="矩形 5">
            <a:extLst>
              <a:ext uri="{FF2B5EF4-FFF2-40B4-BE49-F238E27FC236}">
                <a16:creationId xmlns:a16="http://schemas.microsoft.com/office/drawing/2014/main" xmlns="" id="{3D5F21D7-665A-456F-B9EC-7921737742A9}"/>
              </a:ext>
            </a:extLst>
          </p:cNvPr>
          <p:cNvSpPr/>
          <p:nvPr/>
        </p:nvSpPr>
        <p:spPr>
          <a:xfrm>
            <a:off x="2911875" y="3555541"/>
            <a:ext cx="6953349" cy="20817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465931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EDEC1FB-211B-4608-A6E3-E6904B330B07}"/>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4" name="圖片 3">
            <a:extLst>
              <a:ext uri="{FF2B5EF4-FFF2-40B4-BE49-F238E27FC236}">
                <a16:creationId xmlns:a16="http://schemas.microsoft.com/office/drawing/2014/main" xmlns="" id="{0AAAA105-936D-43B2-87B2-20C353F49693}"/>
              </a:ext>
            </a:extLst>
          </p:cNvPr>
          <p:cNvPicPr>
            <a:picLocks noChangeAspect="1"/>
          </p:cNvPicPr>
          <p:nvPr/>
        </p:nvPicPr>
        <p:blipFill>
          <a:blip r:embed="rId2"/>
          <a:stretch>
            <a:fillRect/>
          </a:stretch>
        </p:blipFill>
        <p:spPr>
          <a:xfrm>
            <a:off x="2326774" y="1420427"/>
            <a:ext cx="7538451" cy="5300040"/>
          </a:xfrm>
          <a:prstGeom prst="rect">
            <a:avLst/>
          </a:prstGeom>
        </p:spPr>
      </p:pic>
      <p:sp>
        <p:nvSpPr>
          <p:cNvPr id="6" name="矩形 5">
            <a:extLst>
              <a:ext uri="{FF2B5EF4-FFF2-40B4-BE49-F238E27FC236}">
                <a16:creationId xmlns:a16="http://schemas.microsoft.com/office/drawing/2014/main" xmlns="" id="{3D5F21D7-665A-456F-B9EC-7921737742A9}"/>
              </a:ext>
            </a:extLst>
          </p:cNvPr>
          <p:cNvSpPr/>
          <p:nvPr/>
        </p:nvSpPr>
        <p:spPr>
          <a:xfrm>
            <a:off x="2876366" y="5605108"/>
            <a:ext cx="2246050" cy="5688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20723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B6FAA05-1349-430D-AF56-0451A2810841}"/>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4" name="圖片 3">
            <a:extLst>
              <a:ext uri="{FF2B5EF4-FFF2-40B4-BE49-F238E27FC236}">
                <a16:creationId xmlns:a16="http://schemas.microsoft.com/office/drawing/2014/main" xmlns="" id="{FBCD09C8-166E-44A4-8B11-A07CC32C88C7}"/>
              </a:ext>
            </a:extLst>
          </p:cNvPr>
          <p:cNvPicPr>
            <a:picLocks noChangeAspect="1"/>
          </p:cNvPicPr>
          <p:nvPr/>
        </p:nvPicPr>
        <p:blipFill>
          <a:blip r:embed="rId2"/>
          <a:stretch>
            <a:fillRect/>
          </a:stretch>
        </p:blipFill>
        <p:spPr>
          <a:xfrm>
            <a:off x="2252662" y="1866807"/>
            <a:ext cx="7686675" cy="3390900"/>
          </a:xfrm>
          <a:prstGeom prst="rect">
            <a:avLst/>
          </a:prstGeom>
        </p:spPr>
      </p:pic>
      <p:sp>
        <p:nvSpPr>
          <p:cNvPr id="5" name="矩形 4">
            <a:extLst>
              <a:ext uri="{FF2B5EF4-FFF2-40B4-BE49-F238E27FC236}">
                <a16:creationId xmlns:a16="http://schemas.microsoft.com/office/drawing/2014/main" xmlns="" id="{2E73AFD5-6955-46CA-8DC5-E8C823484C87}"/>
              </a:ext>
            </a:extLst>
          </p:cNvPr>
          <p:cNvSpPr/>
          <p:nvPr/>
        </p:nvSpPr>
        <p:spPr>
          <a:xfrm>
            <a:off x="2823099" y="3260879"/>
            <a:ext cx="3781887" cy="3362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xmlns="" id="{52AB6AFC-E84E-4FCC-855A-8860AA71CC83}"/>
                  </a:ext>
                </a:extLst>
              </p:cNvPr>
              <p:cNvSpPr txBox="1"/>
              <p:nvPr/>
            </p:nvSpPr>
            <p:spPr>
              <a:xfrm>
                <a:off x="226587" y="3198166"/>
                <a:ext cx="18207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4</m:t>
                          </m:r>
                        </m:sub>
                      </m:sSub>
                    </m:oMath>
                  </m:oMathPara>
                </a14:m>
                <a:endParaRPr lang="zh-TW" altLang="en-US" sz="2400" dirty="0"/>
              </a:p>
            </p:txBody>
          </p:sp>
        </mc:Choice>
        <mc:Fallback xmlns="">
          <p:sp>
            <p:nvSpPr>
              <p:cNvPr id="3" name="文字方塊 2">
                <a:extLst>
                  <a:ext uri="{FF2B5EF4-FFF2-40B4-BE49-F238E27FC236}">
                    <a16:creationId xmlns:a16="http://schemas.microsoft.com/office/drawing/2014/main" id="{52AB6AFC-E84E-4FCC-855A-8860AA71CC83}"/>
                  </a:ext>
                </a:extLst>
              </p:cNvPr>
              <p:cNvSpPr txBox="1">
                <a:spLocks noRot="1" noChangeAspect="1" noMove="1" noResize="1" noEditPoints="1" noAdjustHandles="1" noChangeArrowheads="1" noChangeShapeType="1" noTextEdit="1"/>
              </p:cNvSpPr>
              <p:nvPr/>
            </p:nvSpPr>
            <p:spPr>
              <a:xfrm>
                <a:off x="226587" y="3198166"/>
                <a:ext cx="1820755" cy="461665"/>
              </a:xfrm>
              <a:prstGeom prst="rect">
                <a:avLst/>
              </a:prstGeom>
              <a:blipFill>
                <a:blip r:embed="rId3"/>
                <a:stretch>
                  <a:fillRect b="-1333"/>
                </a:stretch>
              </a:blipFill>
            </p:spPr>
            <p:txBody>
              <a:bodyPr/>
              <a:lstStyle/>
              <a:p>
                <a:r>
                  <a:rPr lang="zh-TW" altLang="en-US">
                    <a:noFill/>
                  </a:rPr>
                  <a:t> </a:t>
                </a:r>
              </a:p>
            </p:txBody>
          </p:sp>
        </mc:Fallback>
      </mc:AlternateContent>
      <p:sp>
        <p:nvSpPr>
          <p:cNvPr id="9" name="加號 8">
            <a:extLst>
              <a:ext uri="{FF2B5EF4-FFF2-40B4-BE49-F238E27FC236}">
                <a16:creationId xmlns:a16="http://schemas.microsoft.com/office/drawing/2014/main" xmlns="" id="{91FE2E5D-FF92-41B8-B001-9F17F0904B92}"/>
              </a:ext>
            </a:extLst>
          </p:cNvPr>
          <p:cNvSpPr/>
          <p:nvPr/>
        </p:nvSpPr>
        <p:spPr>
          <a:xfrm rot="2700000">
            <a:off x="1053935" y="3603849"/>
            <a:ext cx="497028" cy="439545"/>
          </a:xfrm>
          <a:prstGeom prst="mathPl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02479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B6FAA05-1349-430D-AF56-0451A2810841}"/>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4" name="圖片 3">
            <a:extLst>
              <a:ext uri="{FF2B5EF4-FFF2-40B4-BE49-F238E27FC236}">
                <a16:creationId xmlns:a16="http://schemas.microsoft.com/office/drawing/2014/main" xmlns="" id="{FBCD09C8-166E-44A4-8B11-A07CC32C88C7}"/>
              </a:ext>
            </a:extLst>
          </p:cNvPr>
          <p:cNvPicPr>
            <a:picLocks noChangeAspect="1"/>
          </p:cNvPicPr>
          <p:nvPr/>
        </p:nvPicPr>
        <p:blipFill>
          <a:blip r:embed="rId2"/>
          <a:stretch>
            <a:fillRect/>
          </a:stretch>
        </p:blipFill>
        <p:spPr>
          <a:xfrm>
            <a:off x="2252662" y="1866807"/>
            <a:ext cx="7686675" cy="3390900"/>
          </a:xfrm>
          <a:prstGeom prst="rect">
            <a:avLst/>
          </a:prstGeom>
        </p:spPr>
      </p:pic>
      <p:sp>
        <p:nvSpPr>
          <p:cNvPr id="5" name="矩形 4">
            <a:extLst>
              <a:ext uri="{FF2B5EF4-FFF2-40B4-BE49-F238E27FC236}">
                <a16:creationId xmlns:a16="http://schemas.microsoft.com/office/drawing/2014/main" xmlns="" id="{2E73AFD5-6955-46CA-8DC5-E8C823484C87}"/>
              </a:ext>
            </a:extLst>
          </p:cNvPr>
          <p:cNvSpPr/>
          <p:nvPr/>
        </p:nvSpPr>
        <p:spPr>
          <a:xfrm>
            <a:off x="2814222" y="3562256"/>
            <a:ext cx="4989250" cy="7878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520983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B6FAA05-1349-430D-AF56-0451A2810841}"/>
              </a:ext>
            </a:extLst>
          </p:cNvPr>
          <p:cNvSpPr>
            <a:spLocks noGrp="1"/>
          </p:cNvSpPr>
          <p:nvPr>
            <p:ph type="title"/>
          </p:nvPr>
        </p:nvSpPr>
        <p:spPr/>
        <p:txBody>
          <a:bodyPr/>
          <a:lstStyle/>
          <a:p>
            <a:pPr algn="ctr"/>
            <a:r>
              <a:rPr lang="en-US" altLang="zh-TW" dirty="0"/>
              <a:t>Envelope </a:t>
            </a:r>
            <a:r>
              <a:rPr lang="en-US" altLang="zh-TW" dirty="0" err="1"/>
              <a:t>Haar</a:t>
            </a:r>
            <a:r>
              <a:rPr lang="en-US" altLang="zh-TW" dirty="0"/>
              <a:t>(</a:t>
            </a:r>
            <a:r>
              <a:rPr lang="en-US" altLang="zh-TW" dirty="0" err="1"/>
              <a:t>eHaar</a:t>
            </a:r>
            <a:r>
              <a:rPr lang="en-US" altLang="zh-TW" dirty="0"/>
              <a:t>)</a:t>
            </a:r>
            <a:endParaRPr lang="zh-TW" altLang="en-US" dirty="0"/>
          </a:p>
        </p:txBody>
      </p:sp>
      <p:pic>
        <p:nvPicPr>
          <p:cNvPr id="4" name="圖片 3">
            <a:extLst>
              <a:ext uri="{FF2B5EF4-FFF2-40B4-BE49-F238E27FC236}">
                <a16:creationId xmlns:a16="http://schemas.microsoft.com/office/drawing/2014/main" xmlns="" id="{FBCD09C8-166E-44A4-8B11-A07CC32C88C7}"/>
              </a:ext>
            </a:extLst>
          </p:cNvPr>
          <p:cNvPicPr>
            <a:picLocks noChangeAspect="1"/>
          </p:cNvPicPr>
          <p:nvPr/>
        </p:nvPicPr>
        <p:blipFill>
          <a:blip r:embed="rId2"/>
          <a:stretch>
            <a:fillRect/>
          </a:stretch>
        </p:blipFill>
        <p:spPr>
          <a:xfrm>
            <a:off x="2252662" y="1866807"/>
            <a:ext cx="7686675" cy="3390900"/>
          </a:xfrm>
          <a:prstGeom prst="rect">
            <a:avLst/>
          </a:prstGeom>
        </p:spPr>
      </p:pic>
      <p:sp>
        <p:nvSpPr>
          <p:cNvPr id="5" name="矩形 4">
            <a:extLst>
              <a:ext uri="{FF2B5EF4-FFF2-40B4-BE49-F238E27FC236}">
                <a16:creationId xmlns:a16="http://schemas.microsoft.com/office/drawing/2014/main" xmlns="" id="{2E73AFD5-6955-46CA-8DC5-E8C823484C87}"/>
              </a:ext>
            </a:extLst>
          </p:cNvPr>
          <p:cNvSpPr/>
          <p:nvPr/>
        </p:nvSpPr>
        <p:spPr>
          <a:xfrm>
            <a:off x="2636668" y="4820573"/>
            <a:ext cx="5113538" cy="3373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66443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5AECAFF-6130-4E27-98EF-780AAAF45EFC}"/>
              </a:ext>
            </a:extLst>
          </p:cNvPr>
          <p:cNvSpPr>
            <a:spLocks noGrp="1"/>
          </p:cNvSpPr>
          <p:nvPr>
            <p:ph type="title"/>
          </p:nvPr>
        </p:nvSpPr>
        <p:spPr/>
        <p:txBody>
          <a:bodyPr/>
          <a:lstStyle/>
          <a:p>
            <a:pPr algn="ctr"/>
            <a:r>
              <a:rPr lang="en-US" altLang="zh-TW" dirty="0"/>
              <a:t>Experiment</a:t>
            </a:r>
            <a:endParaRPr lang="zh-TW" altLang="en-US" dirty="0"/>
          </a:p>
        </p:txBody>
      </p:sp>
      <p:sp>
        <p:nvSpPr>
          <p:cNvPr id="3" name="內容版面配置區 2">
            <a:extLst>
              <a:ext uri="{FF2B5EF4-FFF2-40B4-BE49-F238E27FC236}">
                <a16:creationId xmlns:a16="http://schemas.microsoft.com/office/drawing/2014/main" xmlns="" id="{D2F737E7-6029-4012-A099-53FE5DE708D0}"/>
              </a:ext>
            </a:extLst>
          </p:cNvPr>
          <p:cNvSpPr>
            <a:spLocks noGrp="1"/>
          </p:cNvSpPr>
          <p:nvPr>
            <p:ph idx="1"/>
          </p:nvPr>
        </p:nvSpPr>
        <p:spPr/>
        <p:txBody>
          <a:bodyPr/>
          <a:lstStyle/>
          <a:p>
            <a:r>
              <a:rPr lang="en-US" altLang="zh-TW" dirty="0"/>
              <a:t>Stock dataset</a:t>
            </a:r>
            <a:r>
              <a:rPr lang="zh-TW" altLang="en-US" dirty="0"/>
              <a:t>：</a:t>
            </a:r>
            <a:r>
              <a:rPr lang="en-US" altLang="zh-TW" dirty="0"/>
              <a:t>500 time series of length 256</a:t>
            </a:r>
          </a:p>
          <a:p>
            <a:r>
              <a:rPr lang="en-US" altLang="zh-TW" dirty="0" err="1"/>
              <a:t>Arcene</a:t>
            </a:r>
            <a:r>
              <a:rPr lang="en-US" altLang="zh-TW" dirty="0"/>
              <a:t> dataset</a:t>
            </a:r>
            <a:r>
              <a:rPr lang="zh-TW" altLang="en-US" dirty="0"/>
              <a:t>：</a:t>
            </a:r>
            <a:r>
              <a:rPr lang="en-US" altLang="zh-TW" dirty="0"/>
              <a:t>800 time series of length 4096</a:t>
            </a:r>
          </a:p>
          <a:p>
            <a:r>
              <a:rPr lang="en-US" altLang="zh-TW" dirty="0"/>
              <a:t>Random Walk dataset</a:t>
            </a:r>
            <a:r>
              <a:rPr lang="zh-TW" altLang="en-US" dirty="0"/>
              <a:t>：</a:t>
            </a:r>
            <a:r>
              <a:rPr lang="en-US" altLang="zh-TW" dirty="0"/>
              <a:t>5GB dataset and length of each time series is 256 </a:t>
            </a:r>
          </a:p>
          <a:p>
            <a:endParaRPr lang="zh-TW" altLang="en-US" dirty="0"/>
          </a:p>
        </p:txBody>
      </p:sp>
    </p:spTree>
    <p:extLst>
      <p:ext uri="{BB962C8B-B14F-4D97-AF65-F5344CB8AC3E}">
        <p14:creationId xmlns:p14="http://schemas.microsoft.com/office/powerpoint/2010/main" val="1701844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4FE1BC3-D185-4513-B87F-4D3EE6AE4BB4}"/>
              </a:ext>
            </a:extLst>
          </p:cNvPr>
          <p:cNvSpPr>
            <a:spLocks noGrp="1"/>
          </p:cNvSpPr>
          <p:nvPr>
            <p:ph type="title"/>
          </p:nvPr>
        </p:nvSpPr>
        <p:spPr/>
        <p:txBody>
          <a:bodyPr/>
          <a:lstStyle/>
          <a:p>
            <a:pPr algn="ctr"/>
            <a:r>
              <a:rPr lang="en-US" altLang="zh-TW" dirty="0"/>
              <a:t>Experiment</a:t>
            </a:r>
            <a:endParaRPr lang="zh-TW" altLang="en-US" dirty="0"/>
          </a:p>
        </p:txBody>
      </p:sp>
      <p:pic>
        <p:nvPicPr>
          <p:cNvPr id="4" name="圖片 3">
            <a:extLst>
              <a:ext uri="{FF2B5EF4-FFF2-40B4-BE49-F238E27FC236}">
                <a16:creationId xmlns:a16="http://schemas.microsoft.com/office/drawing/2014/main" xmlns="" id="{244004E7-BA01-447D-9BBA-342620AA004B}"/>
              </a:ext>
            </a:extLst>
          </p:cNvPr>
          <p:cNvPicPr>
            <a:picLocks noChangeAspect="1"/>
          </p:cNvPicPr>
          <p:nvPr/>
        </p:nvPicPr>
        <p:blipFill>
          <a:blip r:embed="rId2"/>
          <a:stretch>
            <a:fillRect/>
          </a:stretch>
        </p:blipFill>
        <p:spPr>
          <a:xfrm>
            <a:off x="3822975" y="1382679"/>
            <a:ext cx="4546050" cy="4838213"/>
          </a:xfrm>
          <a:prstGeom prst="rect">
            <a:avLst/>
          </a:prstGeom>
        </p:spPr>
      </p:pic>
      <p:sp>
        <p:nvSpPr>
          <p:cNvPr id="5" name="文字方塊 4">
            <a:extLst>
              <a:ext uri="{FF2B5EF4-FFF2-40B4-BE49-F238E27FC236}">
                <a16:creationId xmlns:a16="http://schemas.microsoft.com/office/drawing/2014/main" xmlns="" id="{D02BC642-1981-4DC3-ADED-B3FE591DF572}"/>
              </a:ext>
            </a:extLst>
          </p:cNvPr>
          <p:cNvSpPr txBox="1"/>
          <p:nvPr/>
        </p:nvSpPr>
        <p:spPr>
          <a:xfrm>
            <a:off x="1274322" y="1690688"/>
            <a:ext cx="1853264" cy="461665"/>
          </a:xfrm>
          <a:prstGeom prst="rect">
            <a:avLst/>
          </a:prstGeom>
          <a:noFill/>
        </p:spPr>
        <p:txBody>
          <a:bodyPr wrap="none" rtlCol="0">
            <a:spAutoFit/>
          </a:bodyPr>
          <a:lstStyle/>
          <a:p>
            <a:r>
              <a:rPr lang="en-US" altLang="zh-TW" sz="2400" dirty="0"/>
              <a:t>Stock dataset</a:t>
            </a:r>
          </a:p>
        </p:txBody>
      </p:sp>
    </p:spTree>
    <p:extLst>
      <p:ext uri="{BB962C8B-B14F-4D97-AF65-F5344CB8AC3E}">
        <p14:creationId xmlns:p14="http://schemas.microsoft.com/office/powerpoint/2010/main" val="488715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48119BA-CBF1-4986-AB8C-499244FA93CA}"/>
              </a:ext>
            </a:extLst>
          </p:cNvPr>
          <p:cNvSpPr>
            <a:spLocks noGrp="1"/>
          </p:cNvSpPr>
          <p:nvPr>
            <p:ph type="title"/>
          </p:nvPr>
        </p:nvSpPr>
        <p:spPr/>
        <p:txBody>
          <a:bodyPr/>
          <a:lstStyle/>
          <a:p>
            <a:pPr algn="ctr"/>
            <a:r>
              <a:rPr lang="en-US" altLang="zh-TW" dirty="0"/>
              <a:t>Experiment</a:t>
            </a:r>
            <a:endParaRPr lang="zh-TW" altLang="en-US" dirty="0"/>
          </a:p>
        </p:txBody>
      </p:sp>
      <p:pic>
        <p:nvPicPr>
          <p:cNvPr id="4" name="圖片 3">
            <a:extLst>
              <a:ext uri="{FF2B5EF4-FFF2-40B4-BE49-F238E27FC236}">
                <a16:creationId xmlns:a16="http://schemas.microsoft.com/office/drawing/2014/main" xmlns="" id="{14D58160-9A29-468D-97EC-8F4F5A9B87F2}"/>
              </a:ext>
            </a:extLst>
          </p:cNvPr>
          <p:cNvPicPr>
            <a:picLocks noChangeAspect="1"/>
          </p:cNvPicPr>
          <p:nvPr/>
        </p:nvPicPr>
        <p:blipFill>
          <a:blip r:embed="rId2"/>
          <a:stretch>
            <a:fillRect/>
          </a:stretch>
        </p:blipFill>
        <p:spPr>
          <a:xfrm>
            <a:off x="1045600" y="1435613"/>
            <a:ext cx="5050400" cy="5165181"/>
          </a:xfrm>
          <a:prstGeom prst="rect">
            <a:avLst/>
          </a:prstGeom>
        </p:spPr>
      </p:pic>
      <p:sp>
        <p:nvSpPr>
          <p:cNvPr id="5" name="文字方塊 4">
            <a:extLst>
              <a:ext uri="{FF2B5EF4-FFF2-40B4-BE49-F238E27FC236}">
                <a16:creationId xmlns:a16="http://schemas.microsoft.com/office/drawing/2014/main" xmlns="" id="{8ABAA3C1-82D4-475A-9368-48F734A8EBED}"/>
              </a:ext>
            </a:extLst>
          </p:cNvPr>
          <p:cNvSpPr txBox="1"/>
          <p:nvPr/>
        </p:nvSpPr>
        <p:spPr>
          <a:xfrm>
            <a:off x="2526283" y="1229023"/>
            <a:ext cx="2061783" cy="461665"/>
          </a:xfrm>
          <a:prstGeom prst="rect">
            <a:avLst/>
          </a:prstGeom>
          <a:noFill/>
        </p:spPr>
        <p:txBody>
          <a:bodyPr wrap="none" rtlCol="0">
            <a:spAutoFit/>
          </a:bodyPr>
          <a:lstStyle/>
          <a:p>
            <a:r>
              <a:rPr lang="en-US" altLang="zh-TW" sz="2400" dirty="0" err="1"/>
              <a:t>Arcene</a:t>
            </a:r>
            <a:r>
              <a:rPr lang="en-US" altLang="zh-TW" sz="2400" dirty="0"/>
              <a:t> dataset</a:t>
            </a:r>
            <a:endParaRPr lang="zh-TW" altLang="en-US" sz="2400" dirty="0"/>
          </a:p>
        </p:txBody>
      </p:sp>
      <p:pic>
        <p:nvPicPr>
          <p:cNvPr id="6" name="圖片 5">
            <a:extLst>
              <a:ext uri="{FF2B5EF4-FFF2-40B4-BE49-F238E27FC236}">
                <a16:creationId xmlns:a16="http://schemas.microsoft.com/office/drawing/2014/main" xmlns="" id="{5915DB6A-7993-4AFD-9BFB-1C36F77DC942}"/>
              </a:ext>
            </a:extLst>
          </p:cNvPr>
          <p:cNvPicPr>
            <a:picLocks noChangeAspect="1"/>
          </p:cNvPicPr>
          <p:nvPr/>
        </p:nvPicPr>
        <p:blipFill>
          <a:blip r:embed="rId3"/>
          <a:stretch>
            <a:fillRect/>
          </a:stretch>
        </p:blipFill>
        <p:spPr>
          <a:xfrm>
            <a:off x="5891316" y="1435613"/>
            <a:ext cx="5120173" cy="5185481"/>
          </a:xfrm>
          <a:prstGeom prst="rect">
            <a:avLst/>
          </a:prstGeom>
        </p:spPr>
      </p:pic>
      <p:sp>
        <p:nvSpPr>
          <p:cNvPr id="7" name="文字方塊 6">
            <a:extLst>
              <a:ext uri="{FF2B5EF4-FFF2-40B4-BE49-F238E27FC236}">
                <a16:creationId xmlns:a16="http://schemas.microsoft.com/office/drawing/2014/main" xmlns="" id="{13203406-B69C-401A-AAD4-1129B8242EF2}"/>
              </a:ext>
            </a:extLst>
          </p:cNvPr>
          <p:cNvSpPr txBox="1"/>
          <p:nvPr/>
        </p:nvSpPr>
        <p:spPr>
          <a:xfrm>
            <a:off x="7372000" y="1229023"/>
            <a:ext cx="2916439" cy="461665"/>
          </a:xfrm>
          <a:prstGeom prst="rect">
            <a:avLst/>
          </a:prstGeom>
          <a:noFill/>
        </p:spPr>
        <p:txBody>
          <a:bodyPr wrap="none" rtlCol="0">
            <a:spAutoFit/>
          </a:bodyPr>
          <a:lstStyle/>
          <a:p>
            <a:r>
              <a:rPr lang="en-US" altLang="zh-TW" sz="2400" dirty="0"/>
              <a:t>Random Walk dataset</a:t>
            </a:r>
          </a:p>
        </p:txBody>
      </p:sp>
    </p:spTree>
    <p:extLst>
      <p:ext uri="{BB962C8B-B14F-4D97-AF65-F5344CB8AC3E}">
        <p14:creationId xmlns:p14="http://schemas.microsoft.com/office/powerpoint/2010/main" val="122261635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590</Words>
  <Application>Microsoft Office PowerPoint</Application>
  <PresentationFormat>寬螢幕</PresentationFormat>
  <Paragraphs>156</Paragraphs>
  <Slides>23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23</vt:i4>
      </vt:variant>
    </vt:vector>
  </HeadingPairs>
  <TitlesOfParts>
    <vt:vector size="30" baseType="lpstr">
      <vt:lpstr>新細明體</vt:lpstr>
      <vt:lpstr>Arial</vt:lpstr>
      <vt:lpstr>Calibri</vt:lpstr>
      <vt:lpstr>Calibri Light</vt:lpstr>
      <vt:lpstr>Cambria Math</vt:lpstr>
      <vt:lpstr>Times New Roman</vt:lpstr>
      <vt:lpstr>Office 佈景主題</vt:lpstr>
      <vt:lpstr>Similar Subsequence Search in Time Series Databases</vt:lpstr>
      <vt:lpstr>Abstract</vt:lpstr>
      <vt:lpstr>Haar wavelet transform</vt:lpstr>
      <vt:lpstr>Haar wavelet transform</vt:lpstr>
      <vt:lpstr>Haar wavelet transform</vt:lpstr>
      <vt:lpstr>Haar wavelet transform</vt:lpstr>
      <vt:lpstr>Envelope Haar(eHaar)</vt:lpstr>
      <vt:lpstr>Envelope Haar(eHaar)</vt:lpstr>
      <vt:lpstr>Envelope Haar(eHaar)</vt:lpstr>
      <vt:lpstr>Envelope Haar(eHaar)</vt:lpstr>
      <vt:lpstr>Envelope Haar(eHaar)</vt:lpstr>
      <vt:lpstr>Envelope Haar(eHaar)</vt:lpstr>
      <vt:lpstr>Envelope Haar(eHaar)</vt:lpstr>
      <vt:lpstr>Envelope Haar(eHaar)</vt:lpstr>
      <vt:lpstr>Envelope Haar(eHaar)</vt:lpstr>
      <vt:lpstr>Envelope Haar(eHaar)</vt:lpstr>
      <vt:lpstr>Envelope Haar(eHaar)</vt:lpstr>
      <vt:lpstr>Envelope Haar(eHaar)</vt:lpstr>
      <vt:lpstr>Envelope Haar(eHaar)</vt:lpstr>
      <vt:lpstr>Envelope Haar(eHaar)</vt:lpstr>
      <vt:lpstr>Experiment</vt:lpstr>
      <vt:lpstr>Experiment</vt:lpstr>
      <vt:lpstr>Experiment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Similar Subsequence Search in Time Series Databases</dc:title>
  <dc:creator>Caros</dc:creator>
  <cp:lastModifiedBy>pplab-class</cp:lastModifiedBy>
  <cp:revision>70</cp:revision>
  <dcterms:created xsi:type="dcterms:W3CDTF">2018-01-09T07:11:38Z</dcterms:created>
  <dcterms:modified xsi:type="dcterms:W3CDTF">2018-01-09T12:10:09Z</dcterms:modified>
</cp:coreProperties>
</file>