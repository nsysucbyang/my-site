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68" r:id="rId14"/>
  </p:sldIdLst>
  <p:sldSz cx="10080625" cy="7559675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fu" initials="w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5B9BD5"/>
          </a:solidFill>
        </a:fill>
      </a:tcStyle>
    </a:band1H>
    <a:band1V>
      <a:tcStyle>
        <a:tcBdr/>
        <a:fill>
          <a:solidFill>
            <a:srgbClr val="5B9BD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E8B1032C-EA38-4F05-BA0D-38AFFFC7BED3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70AD47"/>
          </a:solidFill>
        </a:fill>
      </a:tcStyle>
    </a:band1H>
    <a:band1V>
      <a:tcStyle>
        <a:tcBdr/>
        <a:fill>
          <a:solidFill>
            <a:srgbClr val="70AD47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EB344D84-9AFB-497E-A393-DC336BA19D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4" autoAdjust="0"/>
    <p:restoredTop sz="81305" autoAdjust="0"/>
  </p:normalViewPr>
  <p:slideViewPr>
    <p:cSldViewPr snapToGrid="0">
      <p:cViewPr varScale="1">
        <p:scale>
          <a:sx n="78" d="100"/>
          <a:sy n="78" d="100"/>
        </p:scale>
        <p:origin x="96" y="108"/>
      </p:cViewPr>
      <p:guideLst>
        <p:guide orient="horz" pos="2381"/>
        <p:guide pos="3175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227E8C-9554-460F-B633-51D5AD774E1F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513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備忘稿版面配置區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頁首版面配置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78A57073-AB8B-4F7A-BB5E-FAEF8A970D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3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微軟正黑體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466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78A57073-AB8B-4F7A-BB5E-FAEF8A970D70}" type="slidenum">
              <a:rPr lang="en-US" altLang="zh-TW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345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Principal component analysis (PCA)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78A57073-AB8B-4F7A-BB5E-FAEF8A970D70}" type="slidenum">
              <a:rPr lang="en-US" altLang="zh-TW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2683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副標題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zh-TW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6BFC27-068B-4B72-92F7-9C821F0A3E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842836-F473-4F88-8FC5-E6506225D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9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6D477E-DD58-4DE2-94A6-FBA23A9245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2D141D-6966-43C1-8EB1-BB4818DFA3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文字版面配置區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7" name="日期版面配置區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頁尾版面配置區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投影片編號版面配置區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382990-A4FF-4906-9C3D-CE47CFC3DC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3CCA10-4506-4689-B9C6-7A25C650BA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頁尾版面配置區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投影片編號版面配置區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413963-2284-408C-A1F3-BA9C90A14B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0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59FB30-6DA3-498A-B3E4-39789FBB38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DDE591-0FAF-4F51-A0C1-3BEDC4250A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523178-8C3C-4D5B-987E-9C6DE9B052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83D96B-BEA4-46BB-A345-50D7E40AC1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FA3188D1-A64F-4C0D-9118-94DC8B17CC6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zh-TW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4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0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576354" y="3722884"/>
            <a:ext cx="9071643" cy="1246495"/>
          </a:xfrm>
        </p:spPr>
        <p:txBody>
          <a:bodyPr>
            <a:spAutoFit/>
          </a:bodyPr>
          <a:lstStyle/>
          <a:p>
            <a:pPr lvl="0"/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IEEE Transactions on Pattern Analysis and Machine Intelligence, vol. 36, pp. 2199-2213, 2014, </a:t>
            </a:r>
            <a:b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 err="1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Xianbiao</a:t>
            </a: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 Qi</a:t>
            </a:r>
            <a:r>
              <a:rPr lang="pt-BR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, Rong Xiao, Jun Guo, and Lei Zhang</a:t>
            </a:r>
            <a:endParaRPr lang="en-US" sz="2700" b="1" dirty="0">
              <a:solidFill>
                <a:srgbClr val="898989"/>
              </a:solidFill>
              <a:latin typeface="Sitka Subheading" panose="02000505000000020004" pitchFamily="2" charset="0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206352" y="1774168"/>
            <a:ext cx="9811648" cy="1948716"/>
          </a:xfrm>
        </p:spPr>
        <p:txBody>
          <a:bodyPr anchorCtr="1"/>
          <a:lstStyle/>
          <a:p>
            <a:pPr algn="ctr"/>
            <a:r>
              <a:rPr lang="en-US" sz="4000" b="1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Pairwise Rotation Invariant Co-occurrence Local</a:t>
            </a:r>
            <a:r>
              <a:rPr lang="zh-TW" altLang="en-US" sz="4000" b="1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 </a:t>
            </a:r>
            <a:r>
              <a:rPr lang="en-US" sz="4000" b="1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Binary Pattern</a:t>
            </a:r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740006" y="6277059"/>
            <a:ext cx="9071643" cy="1159806"/>
          </a:xfrm>
        </p:spPr>
        <p:txBody>
          <a:bodyPr/>
          <a:lstStyle/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Wei-</a:t>
            </a:r>
            <a:r>
              <a:rPr lang="en-US" altLang="zh-TW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Hao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Fu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2018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/01/09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660183"/>
            <a:ext cx="9071643" cy="563939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In this work, we introduce a novel pairwise rotation invariant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co-occurrence local binary pattern (PRI-</a:t>
            </a:r>
            <a:r>
              <a:rPr lang="en-US" altLang="zh-TW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CoLBP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) feature which incorporates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two types of context - spatial co-occurrence and orientation cooccurrence.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Different from traditional rotation invariant local features,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pairwise rotation invariant co-occurrence features preserve relative angle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between the orientations of individual features. The relative angle depicts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the local curvature information, which is discriminative and rotation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invariant. 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20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 (2/2)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660183"/>
            <a:ext cx="9071643" cy="5639398"/>
          </a:xfrm>
        </p:spPr>
        <p:txBody>
          <a:bodyPr/>
          <a:lstStyle/>
          <a:p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Experimental results on the </a:t>
            </a:r>
            <a:r>
              <a:rPr lang="en-US" altLang="zh-TW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CUReT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r>
              <a:rPr lang="en-US" altLang="zh-TW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Brodatz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, KTH-TIPS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texture dataset, Flickr Material dataset, and Oxford 102 Flower dataset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further demonstrate the superior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performance of the proposed feature on</a:t>
            </a:r>
            <a:r>
              <a:rPr lang="zh-TW" alt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texture classification, material recognition and flower recognition tasks.</a:t>
            </a:r>
          </a:p>
          <a:p>
            <a:endParaRPr lang="en-US" altLang="zh-TW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45291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Local Binary Pattern (LBP)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282655"/>
              </p:ext>
            </p:extLst>
          </p:nvPr>
        </p:nvGraphicFramePr>
        <p:xfrm>
          <a:off x="714013" y="2788921"/>
          <a:ext cx="4028163" cy="2894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2721">
                  <a:extLst>
                    <a:ext uri="{9D8B030D-6E8A-4147-A177-3AD203B41FA5}">
                      <a16:colId xmlns:a16="http://schemas.microsoft.com/office/drawing/2014/main" val="3139488988"/>
                    </a:ext>
                  </a:extLst>
                </a:gridCol>
                <a:gridCol w="1342721">
                  <a:extLst>
                    <a:ext uri="{9D8B030D-6E8A-4147-A177-3AD203B41FA5}">
                      <a16:colId xmlns:a16="http://schemas.microsoft.com/office/drawing/2014/main" val="9924638"/>
                    </a:ext>
                  </a:extLst>
                </a:gridCol>
                <a:gridCol w="1342721">
                  <a:extLst>
                    <a:ext uri="{9D8B030D-6E8A-4147-A177-3AD203B41FA5}">
                      <a16:colId xmlns:a16="http://schemas.microsoft.com/office/drawing/2014/main" val="225294925"/>
                    </a:ext>
                  </a:extLst>
                </a:gridCol>
              </a:tblGrid>
              <a:tr h="9646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54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92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14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extLst>
                  <a:ext uri="{0D108BD9-81ED-4DB2-BD59-A6C34878D82A}">
                    <a16:rowId xmlns:a16="http://schemas.microsoft.com/office/drawing/2014/main" val="119890744"/>
                  </a:ext>
                </a:extLst>
              </a:tr>
              <a:tr h="9646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48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50</a:t>
                      </a:r>
                      <a:endParaRPr lang="zh-TW" altLang="en-US" sz="2500" dirty="0"/>
                    </a:p>
                  </a:txBody>
                  <a:tcPr marL="124761" marR="124761" marT="62381" marB="62381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8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extLst>
                  <a:ext uri="{0D108BD9-81ED-4DB2-BD59-A6C34878D82A}">
                    <a16:rowId xmlns:a16="http://schemas.microsoft.com/office/drawing/2014/main" val="1368300544"/>
                  </a:ext>
                </a:extLst>
              </a:tr>
              <a:tr h="9646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65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28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44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extLst>
                  <a:ext uri="{0D108BD9-81ED-4DB2-BD59-A6C34878D82A}">
                    <a16:rowId xmlns:a16="http://schemas.microsoft.com/office/drawing/2014/main" val="3751162380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726946"/>
              </p:ext>
            </p:extLst>
          </p:nvPr>
        </p:nvGraphicFramePr>
        <p:xfrm>
          <a:off x="5575597" y="2788921"/>
          <a:ext cx="4028163" cy="2894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2721">
                  <a:extLst>
                    <a:ext uri="{9D8B030D-6E8A-4147-A177-3AD203B41FA5}">
                      <a16:colId xmlns:a16="http://schemas.microsoft.com/office/drawing/2014/main" val="3139488988"/>
                    </a:ext>
                  </a:extLst>
                </a:gridCol>
                <a:gridCol w="1342721">
                  <a:extLst>
                    <a:ext uri="{9D8B030D-6E8A-4147-A177-3AD203B41FA5}">
                      <a16:colId xmlns:a16="http://schemas.microsoft.com/office/drawing/2014/main" val="9924638"/>
                    </a:ext>
                  </a:extLst>
                </a:gridCol>
                <a:gridCol w="1342721">
                  <a:extLst>
                    <a:ext uri="{9D8B030D-6E8A-4147-A177-3AD203B41FA5}">
                      <a16:colId xmlns:a16="http://schemas.microsoft.com/office/drawing/2014/main" val="225294925"/>
                    </a:ext>
                  </a:extLst>
                </a:gridCol>
              </a:tblGrid>
              <a:tr h="9646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1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1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0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extLst>
                  <a:ext uri="{0D108BD9-81ED-4DB2-BD59-A6C34878D82A}">
                    <a16:rowId xmlns:a16="http://schemas.microsoft.com/office/drawing/2014/main" val="119890744"/>
                  </a:ext>
                </a:extLst>
              </a:tr>
              <a:tr h="9646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0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50</a:t>
                      </a:r>
                      <a:endParaRPr lang="zh-TW" altLang="en-US" sz="2500" dirty="0"/>
                    </a:p>
                  </a:txBody>
                  <a:tcPr marL="124761" marR="124761" marT="62381" marB="62381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0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extLst>
                  <a:ext uri="{0D108BD9-81ED-4DB2-BD59-A6C34878D82A}">
                    <a16:rowId xmlns:a16="http://schemas.microsoft.com/office/drawing/2014/main" val="1368300544"/>
                  </a:ext>
                </a:extLst>
              </a:tr>
              <a:tr h="96467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1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0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dirty="0"/>
                        <a:t>0</a:t>
                      </a:r>
                      <a:endParaRPr lang="zh-TW" altLang="en-US" sz="2500" dirty="0"/>
                    </a:p>
                  </a:txBody>
                  <a:tcPr marL="124761" marR="124761" marT="62381" marB="62381" anchor="ctr"/>
                </a:tc>
                <a:extLst>
                  <a:ext uri="{0D108BD9-81ED-4DB2-BD59-A6C34878D82A}">
                    <a16:rowId xmlns:a16="http://schemas.microsoft.com/office/drawing/2014/main" val="3751162380"/>
                  </a:ext>
                </a:extLst>
              </a:tr>
            </a:tbl>
          </a:graphicData>
        </a:graphic>
      </p:graphicFrame>
      <p:cxnSp>
        <p:nvCxnSpPr>
          <p:cNvPr id="8" name="直線單箭頭接點 7"/>
          <p:cNvCxnSpPr>
            <a:cxnSpLocks/>
          </p:cNvCxnSpPr>
          <p:nvPr/>
        </p:nvCxnSpPr>
        <p:spPr>
          <a:xfrm>
            <a:off x="4742176" y="4235938"/>
            <a:ext cx="833421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954ECA2-4273-4963-A8CE-D108EF4BAC01}"/>
              </a:ext>
            </a:extLst>
          </p:cNvPr>
          <p:cNvSpPr txBox="1"/>
          <p:nvPr/>
        </p:nvSpPr>
        <p:spPr>
          <a:xfrm>
            <a:off x="6135594" y="5682955"/>
            <a:ext cx="2908168" cy="5847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R="0" lvl="0" indent="0" fontAlgn="auto" hangingPunct="0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None/>
              <a:tabLst/>
              <a:defRPr lang="zh-TW" sz="3200" b="0" i="0" u="none" strike="noStrike" cap="none" spc="0" baseline="0">
                <a:solidFill>
                  <a:srgbClr val="000000"/>
                </a:solidFill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Mangal" pitchFamily="2"/>
              </a:defRPr>
            </a:lvl1pPr>
            <a:lvl2pPr marL="685800" marR="0" lvl="1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2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2pPr>
            <a:lvl3pPr marL="1143000" marR="0" lvl="2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sz="20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3pPr>
            <a:lvl4pPr marL="1600200" marR="0" lvl="3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4pPr>
            <a:lvl5pPr marL="2057400" marR="0" lvl="4" indent="-228600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zh-TW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新細明體" pitchFamily="18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TW" dirty="0"/>
              <a:t>LBP: 11000010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661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D6270-CB42-4277-8FA7-FA5E538012B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Uniform-LBP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57CAB4-05E3-463B-AF1D-5C184C55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From 256 dimension to 59.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4B139D-A72C-4D22-94EC-0A542E46A85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5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D05C685-C34D-4544-97DE-7966EB277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302" y="2272666"/>
            <a:ext cx="5855034" cy="528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847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E012D90-EB19-426C-9262-0F483B9AD2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50"/>
          <a:stretch/>
        </p:blipFill>
        <p:spPr>
          <a:xfrm>
            <a:off x="4594802" y="1600151"/>
            <a:ext cx="5167044" cy="528700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7CD6270-CB42-4277-8FA7-FA5E538012B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Uniform Rotation Invariant LBP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57CAB4-05E3-463B-AF1D-5C184C552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999" y="1769043"/>
            <a:ext cx="3402814" cy="438443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From 59 dimension to 10.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Rotation invariant.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RU-LBP</a:t>
            </a:r>
            <a:endParaRPr lang="zh-TW" altLang="en-US" dirty="0">
              <a:latin typeface="Cambria Math" panose="02040503050406030204" pitchFamily="18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4B139D-A72C-4D22-94EC-0A542E46A85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6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58E787F-3B30-47C8-9BB9-0392D1C3B020}"/>
              </a:ext>
            </a:extLst>
          </p:cNvPr>
          <p:cNvSpPr txBox="1"/>
          <p:nvPr/>
        </p:nvSpPr>
        <p:spPr>
          <a:xfrm>
            <a:off x="4227394" y="169982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1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104DA09-564C-4F34-A298-7EC8735960FB}"/>
              </a:ext>
            </a:extLst>
          </p:cNvPr>
          <p:cNvSpPr txBox="1"/>
          <p:nvPr/>
        </p:nvSpPr>
        <p:spPr>
          <a:xfrm>
            <a:off x="4227394" y="2280195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2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A823D6-03D4-4326-84A7-038CF85AB42F}"/>
              </a:ext>
            </a:extLst>
          </p:cNvPr>
          <p:cNvSpPr/>
          <p:nvPr/>
        </p:nvSpPr>
        <p:spPr>
          <a:xfrm>
            <a:off x="6414448" y="1693005"/>
            <a:ext cx="975815" cy="251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1CC24C5-0C45-4006-8A65-C0AB1B9A8625}"/>
              </a:ext>
            </a:extLst>
          </p:cNvPr>
          <p:cNvSpPr txBox="1"/>
          <p:nvPr/>
        </p:nvSpPr>
        <p:spPr>
          <a:xfrm>
            <a:off x="4227394" y="286056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3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20527E-37F9-4011-B38E-F3DB84EFEA71}"/>
              </a:ext>
            </a:extLst>
          </p:cNvPr>
          <p:cNvSpPr txBox="1"/>
          <p:nvPr/>
        </p:nvSpPr>
        <p:spPr>
          <a:xfrm>
            <a:off x="4227394" y="3440927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4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6C77BC1-9661-43D1-961C-7BDE1320E9F3}"/>
              </a:ext>
            </a:extLst>
          </p:cNvPr>
          <p:cNvSpPr txBox="1"/>
          <p:nvPr/>
        </p:nvSpPr>
        <p:spPr>
          <a:xfrm>
            <a:off x="4227394" y="402129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5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69CD452-CDD7-498B-B3D6-A62FE2DFD490}"/>
              </a:ext>
            </a:extLst>
          </p:cNvPr>
          <p:cNvSpPr txBox="1"/>
          <p:nvPr/>
        </p:nvSpPr>
        <p:spPr>
          <a:xfrm>
            <a:off x="4227394" y="460165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6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86AEE54-265D-477D-BA08-677FA885F11D}"/>
              </a:ext>
            </a:extLst>
          </p:cNvPr>
          <p:cNvSpPr txBox="1"/>
          <p:nvPr/>
        </p:nvSpPr>
        <p:spPr>
          <a:xfrm>
            <a:off x="4227394" y="5182202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7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77F8F17-2D3B-4371-959F-603C12F9AE83}"/>
              </a:ext>
            </a:extLst>
          </p:cNvPr>
          <p:cNvSpPr txBox="1"/>
          <p:nvPr/>
        </p:nvSpPr>
        <p:spPr>
          <a:xfrm>
            <a:off x="4227394" y="576274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8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C3101CE-EFE3-4AB8-9F4F-6F5B7D87C518}"/>
              </a:ext>
            </a:extLst>
          </p:cNvPr>
          <p:cNvSpPr txBox="1"/>
          <p:nvPr/>
        </p:nvSpPr>
        <p:spPr>
          <a:xfrm>
            <a:off x="4227394" y="6339589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9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AC23A71-C30F-4946-A49C-86CFF9887003}"/>
              </a:ext>
            </a:extLst>
          </p:cNvPr>
          <p:cNvSpPr txBox="1"/>
          <p:nvPr/>
        </p:nvSpPr>
        <p:spPr>
          <a:xfrm>
            <a:off x="4136022" y="690339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rgbClr val="FF0000"/>
                </a:solidFill>
              </a:rPr>
              <a:t>10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262ECDB-A0D9-4EAB-BE2A-D78240F26B74}"/>
              </a:ext>
            </a:extLst>
          </p:cNvPr>
          <p:cNvSpPr txBox="1"/>
          <p:nvPr/>
        </p:nvSpPr>
        <p:spPr>
          <a:xfrm>
            <a:off x="4600518" y="6926071"/>
            <a:ext cx="1029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</a:rPr>
              <a:t>Others</a:t>
            </a:r>
            <a:endParaRPr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428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D6270-CB42-4277-8FA7-FA5E538012B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CoLBP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57CAB4-05E3-463B-AF1D-5C184C55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4B139D-A72C-4D22-94EC-0A542E46A85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0CF3D35-EB99-4B83-8046-3A6D337AD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3477"/>
            <a:ext cx="10080625" cy="524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0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D6270-CB42-4277-8FA7-FA5E538012B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UU-</a:t>
            </a:r>
            <a:r>
              <a:rPr lang="en-US" altLang="zh-TW" b="1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CoLBP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57CAB4-05E3-463B-AF1D-5C184C55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</a:rPr>
              <a:t>UU-</a:t>
            </a:r>
            <a:r>
              <a:rPr lang="en-US" altLang="zh-TW" dirty="0" err="1">
                <a:latin typeface="Cambria Math" panose="02040503050406030204" pitchFamily="18" charset="0"/>
              </a:rPr>
              <a:t>CoLBP</a:t>
            </a:r>
            <a:r>
              <a:rPr lang="en-US" altLang="zh-TW" dirty="0">
                <a:latin typeface="Cambria Math" panose="02040503050406030204" pitchFamily="18" charset="0"/>
              </a:rPr>
              <a:t> = [Uniform-LBP, Uniform-LBP]</a:t>
            </a:r>
            <a:r>
              <a:rPr lang="en-US" altLang="zh-TW" baseline="-25000" dirty="0">
                <a:latin typeface="Cambria Math" panose="02040503050406030204" pitchFamily="18" charset="0"/>
              </a:rPr>
              <a:t>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</a:rPr>
              <a:t>Two problems: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Cambria Math" panose="02040503050406030204" pitchFamily="18" charset="0"/>
              </a:rPr>
              <a:t>Dimension is too high: 59*59=3481</a:t>
            </a:r>
          </a:p>
          <a:p>
            <a:pPr marL="1143000" lvl="1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Cambria Math" panose="02040503050406030204" pitchFamily="18" charset="0"/>
              </a:rPr>
              <a:t>UU-</a:t>
            </a:r>
            <a:r>
              <a:rPr lang="en-US" altLang="zh-TW" sz="2800" dirty="0" err="1">
                <a:latin typeface="Cambria Math" panose="02040503050406030204" pitchFamily="18" charset="0"/>
              </a:rPr>
              <a:t>CoLBP</a:t>
            </a:r>
            <a:r>
              <a:rPr lang="en-US" altLang="zh-TW" sz="2800" dirty="0">
                <a:latin typeface="Cambria Math" panose="02040503050406030204" pitchFamily="18" charset="0"/>
              </a:rPr>
              <a:t> is not pairwise rotation invariant.</a:t>
            </a:r>
            <a:endParaRPr lang="zh-TW" altLang="en-US" sz="2800" dirty="0">
              <a:latin typeface="Cambria Math" panose="020405030504060302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4B139D-A72C-4D22-94EC-0A542E46A85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8</a:t>
            </a:fld>
            <a:endParaRPr lang="zh-TW" altLang="en-US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5837779F-616A-44EC-8BB7-999D485D9E6F}"/>
              </a:ext>
            </a:extLst>
          </p:cNvPr>
          <p:cNvGrpSpPr/>
          <p:nvPr/>
        </p:nvGrpSpPr>
        <p:grpSpPr>
          <a:xfrm>
            <a:off x="1885923" y="4514878"/>
            <a:ext cx="2779950" cy="2844048"/>
            <a:chOff x="1794510" y="5017944"/>
            <a:chExt cx="1306830" cy="1336962"/>
          </a:xfrm>
        </p:grpSpPr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A021C142-AA0E-4BA1-8595-24A4D4CA1555}"/>
                </a:ext>
              </a:extLst>
            </p:cNvPr>
            <p:cNvSpPr/>
            <p:nvPr/>
          </p:nvSpPr>
          <p:spPr>
            <a:xfrm>
              <a:off x="2308860" y="5532120"/>
              <a:ext cx="308610" cy="30861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E42585AD-1AFB-4FEA-9B7A-D5E9B9CA419A}"/>
                </a:ext>
              </a:extLst>
            </p:cNvPr>
            <p:cNvSpPr/>
            <p:nvPr/>
          </p:nvSpPr>
          <p:spPr>
            <a:xfrm>
              <a:off x="2308860" y="5017944"/>
              <a:ext cx="308610" cy="30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A79925FB-62F0-4AD7-BE13-28660421DD4C}"/>
                </a:ext>
              </a:extLst>
            </p:cNvPr>
            <p:cNvSpPr/>
            <p:nvPr/>
          </p:nvSpPr>
          <p:spPr>
            <a:xfrm>
              <a:off x="2792730" y="5532120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E638507B-4DBA-4128-BC05-1DD357496DA8}"/>
                </a:ext>
              </a:extLst>
            </p:cNvPr>
            <p:cNvSpPr/>
            <p:nvPr/>
          </p:nvSpPr>
          <p:spPr>
            <a:xfrm>
              <a:off x="2638425" y="5189481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FF627C0E-1D93-4D8A-95E1-5F4835B642FF}"/>
                </a:ext>
              </a:extLst>
            </p:cNvPr>
            <p:cNvSpPr/>
            <p:nvPr/>
          </p:nvSpPr>
          <p:spPr>
            <a:xfrm>
              <a:off x="1794510" y="5532120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A8DB8F1D-2D14-4F3F-8B5C-F462ED107B6A}"/>
                </a:ext>
              </a:extLst>
            </p:cNvPr>
            <p:cNvSpPr/>
            <p:nvPr/>
          </p:nvSpPr>
          <p:spPr>
            <a:xfrm>
              <a:off x="2308860" y="6046296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E51BF027-3A8B-4FE5-B4A8-E2B1EB38AB50}"/>
                </a:ext>
              </a:extLst>
            </p:cNvPr>
            <p:cNvSpPr/>
            <p:nvPr/>
          </p:nvSpPr>
          <p:spPr>
            <a:xfrm>
              <a:off x="2638425" y="5894471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33D63B78-9174-4577-814A-5FA09BBACC69}"/>
                </a:ext>
              </a:extLst>
            </p:cNvPr>
            <p:cNvSpPr/>
            <p:nvPr/>
          </p:nvSpPr>
          <p:spPr>
            <a:xfrm>
              <a:off x="1983105" y="5875169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E9F10DAE-5BC8-45A7-8EFA-832865606B9A}"/>
                </a:ext>
              </a:extLst>
            </p:cNvPr>
            <p:cNvSpPr/>
            <p:nvPr/>
          </p:nvSpPr>
          <p:spPr>
            <a:xfrm>
              <a:off x="1979295" y="5187237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6" name="群組 25">
            <a:extLst>
              <a:ext uri="{FF2B5EF4-FFF2-40B4-BE49-F238E27FC236}">
                <a16:creationId xmlns:a16="http://schemas.microsoft.com/office/drawing/2014/main" id="{F076566D-4D17-484C-B913-B88DBCAB402F}"/>
              </a:ext>
            </a:extLst>
          </p:cNvPr>
          <p:cNvGrpSpPr/>
          <p:nvPr/>
        </p:nvGrpSpPr>
        <p:grpSpPr>
          <a:xfrm>
            <a:off x="5640307" y="4514878"/>
            <a:ext cx="2779950" cy="2844048"/>
            <a:chOff x="1794510" y="5017944"/>
            <a:chExt cx="1306830" cy="1336962"/>
          </a:xfrm>
        </p:grpSpPr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AED3E4B8-55B7-43A3-B029-A3F465D823E8}"/>
                </a:ext>
              </a:extLst>
            </p:cNvPr>
            <p:cNvSpPr/>
            <p:nvPr/>
          </p:nvSpPr>
          <p:spPr>
            <a:xfrm>
              <a:off x="2308860" y="5532120"/>
              <a:ext cx="308610" cy="30861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EF131194-D80D-45F7-8DF1-5F834037E7CF}"/>
                </a:ext>
              </a:extLst>
            </p:cNvPr>
            <p:cNvSpPr/>
            <p:nvPr/>
          </p:nvSpPr>
          <p:spPr>
            <a:xfrm>
              <a:off x="2308860" y="5017944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A40C61BA-8851-4FB0-A4BF-52C87405F9AA}"/>
                </a:ext>
              </a:extLst>
            </p:cNvPr>
            <p:cNvSpPr/>
            <p:nvPr/>
          </p:nvSpPr>
          <p:spPr>
            <a:xfrm>
              <a:off x="2792730" y="5532120"/>
              <a:ext cx="308610" cy="30861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96230E11-E1E8-4EBD-BECF-902E6064946B}"/>
                </a:ext>
              </a:extLst>
            </p:cNvPr>
            <p:cNvSpPr/>
            <p:nvPr/>
          </p:nvSpPr>
          <p:spPr>
            <a:xfrm>
              <a:off x="2638425" y="5189481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65C81EF8-1DFA-4780-A9FB-2A7961C8A86A}"/>
                </a:ext>
              </a:extLst>
            </p:cNvPr>
            <p:cNvSpPr/>
            <p:nvPr/>
          </p:nvSpPr>
          <p:spPr>
            <a:xfrm>
              <a:off x="1794510" y="5532120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E712B6C3-DBD3-4145-8ED7-B357A03F0150}"/>
                </a:ext>
              </a:extLst>
            </p:cNvPr>
            <p:cNvSpPr/>
            <p:nvPr/>
          </p:nvSpPr>
          <p:spPr>
            <a:xfrm>
              <a:off x="2308860" y="6046296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FF030D82-3B03-4E2A-BD8D-6C020ADCC720}"/>
                </a:ext>
              </a:extLst>
            </p:cNvPr>
            <p:cNvSpPr/>
            <p:nvPr/>
          </p:nvSpPr>
          <p:spPr>
            <a:xfrm>
              <a:off x="2638425" y="5894471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FA086850-D07E-453F-AC86-84D95C9903C2}"/>
                </a:ext>
              </a:extLst>
            </p:cNvPr>
            <p:cNvSpPr/>
            <p:nvPr/>
          </p:nvSpPr>
          <p:spPr>
            <a:xfrm>
              <a:off x="1983105" y="5875169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83C8F199-987C-4550-A5E4-2FEF4D0502D0}"/>
                </a:ext>
              </a:extLst>
            </p:cNvPr>
            <p:cNvSpPr/>
            <p:nvPr/>
          </p:nvSpPr>
          <p:spPr>
            <a:xfrm>
              <a:off x="1979295" y="5187237"/>
              <a:ext cx="308610" cy="3086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6" name="箭號: 弧形下彎 35">
            <a:extLst>
              <a:ext uri="{FF2B5EF4-FFF2-40B4-BE49-F238E27FC236}">
                <a16:creationId xmlns:a16="http://schemas.microsoft.com/office/drawing/2014/main" id="{F6359AD9-797F-4FAE-A2B4-707B799C8E66}"/>
              </a:ext>
            </a:extLst>
          </p:cNvPr>
          <p:cNvSpPr/>
          <p:nvPr/>
        </p:nvSpPr>
        <p:spPr>
          <a:xfrm>
            <a:off x="4729653" y="4660243"/>
            <a:ext cx="974434" cy="365760"/>
          </a:xfrm>
          <a:prstGeom prst="curvedDownArrow">
            <a:avLst>
              <a:gd name="adj1" fmla="val 25000"/>
              <a:gd name="adj2" fmla="val 72050"/>
              <a:gd name="adj3" fmla="val 3437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006B1A38-932F-45B5-B3C6-9EB979EA7C21}"/>
              </a:ext>
            </a:extLst>
          </p:cNvPr>
          <p:cNvSpPr txBox="1"/>
          <p:nvPr/>
        </p:nvSpPr>
        <p:spPr>
          <a:xfrm>
            <a:off x="4931375" y="4309856"/>
            <a:ext cx="5709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90°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1978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D6270-CB42-4277-8FA7-FA5E538012B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RURU-</a:t>
            </a:r>
            <a:r>
              <a:rPr lang="en-US" altLang="zh-TW" b="1" dirty="0" err="1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CoLBP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57CAB4-05E3-463B-AF1D-5C184C55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</a:rPr>
              <a:t>RURU-</a:t>
            </a:r>
            <a:r>
              <a:rPr lang="en-US" altLang="zh-TW" dirty="0" err="1">
                <a:latin typeface="Cambria Math" panose="02040503050406030204" pitchFamily="18" charset="0"/>
              </a:rPr>
              <a:t>CoLBP</a:t>
            </a:r>
            <a:r>
              <a:rPr lang="en-US" altLang="zh-TW" dirty="0">
                <a:latin typeface="Cambria Math" panose="02040503050406030204" pitchFamily="18" charset="0"/>
              </a:rPr>
              <a:t> = [RU-LBP, RU-LBP]</a:t>
            </a:r>
            <a:r>
              <a:rPr lang="en-US" altLang="zh-TW" baseline="-25000" dirty="0">
                <a:latin typeface="Cambria Math" panose="02040503050406030204" pitchFamily="18" charset="0"/>
              </a:rPr>
              <a:t>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</a:rPr>
              <a:t>RURU-</a:t>
            </a:r>
            <a:r>
              <a:rPr lang="en-US" altLang="zh-TW" dirty="0" err="1">
                <a:latin typeface="Cambria Math" panose="02040503050406030204" pitchFamily="18" charset="0"/>
              </a:rPr>
              <a:t>CoLBP</a:t>
            </a:r>
            <a:r>
              <a:rPr lang="en-US" altLang="zh-TW" dirty="0">
                <a:latin typeface="Cambria Math" panose="02040503050406030204" pitchFamily="18" charset="0"/>
              </a:rPr>
              <a:t> discards the angle information.</a:t>
            </a: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4B139D-A72C-4D22-94EC-0A542E46A85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486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D6270-CB42-4277-8FA7-FA5E538012B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>
                <a:latin typeface="Ebrima" panose="02000000000000000000" pitchFamily="2" charset="0"/>
                <a:cs typeface="Ebrima" panose="02000000000000000000" pitchFamily="2" charset="0"/>
              </a:rPr>
              <a:t>Pairwise Rotation Invariant </a:t>
            </a:r>
            <a:r>
              <a:rPr lang="en-US" altLang="zh-TW" b="1" dirty="0" err="1">
                <a:latin typeface="Ebrima" panose="02000000000000000000" pitchFamily="2" charset="0"/>
                <a:cs typeface="Ebrima" panose="02000000000000000000" pitchFamily="2" charset="0"/>
              </a:rPr>
              <a:t>CoLBP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57CAB4-05E3-463B-AF1D-5C184C55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</a:rPr>
              <a:t>PRI-</a:t>
            </a:r>
            <a:r>
              <a:rPr lang="en-US" altLang="zh-TW" dirty="0" err="1">
                <a:latin typeface="Cambria Math" panose="02040503050406030204" pitchFamily="18" charset="0"/>
              </a:rPr>
              <a:t>CoLBP</a:t>
            </a:r>
            <a:r>
              <a:rPr lang="en-US" altLang="zh-TW" dirty="0">
                <a:latin typeface="Cambria Math" panose="02040503050406030204" pitchFamily="18" charset="0"/>
              </a:rPr>
              <a:t> = [RU-LBP, U-LBP]</a:t>
            </a:r>
            <a:r>
              <a:rPr lang="en-US" altLang="zh-TW" baseline="-25000" dirty="0">
                <a:latin typeface="Cambria Math" panose="02040503050406030204" pitchFamily="18" charset="0"/>
              </a:rPr>
              <a:t>co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4B139D-A72C-4D22-94EC-0A542E46A85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10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D33C82F-7A8A-4098-BD28-8A2394E19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419" y="2522116"/>
            <a:ext cx="8686800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363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113272A7-D1C1-48A9-B005-555C55F56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7778"/>
            <a:ext cx="10080625" cy="529250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7CD6270-CB42-4277-8FA7-FA5E538012B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>
                <a:latin typeface="Ebrima" panose="02000000000000000000" pitchFamily="2" charset="0"/>
                <a:cs typeface="Ebrima" panose="02000000000000000000" pitchFamily="2" charset="0"/>
              </a:rPr>
              <a:t>Multi-Scale and Multi-Orientation PRI-</a:t>
            </a:r>
            <a:r>
              <a:rPr lang="en-US" altLang="zh-TW" b="1" dirty="0" err="1">
                <a:latin typeface="Ebrima" panose="02000000000000000000" pitchFamily="2" charset="0"/>
                <a:cs typeface="Ebrima" panose="02000000000000000000" pitchFamily="2" charset="0"/>
              </a:rPr>
              <a:t>CoLBP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57CAB4-05E3-463B-AF1D-5C184C55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</a:rPr>
              <a:t>MSMO</a:t>
            </a:r>
            <a:r>
              <a:rPr lang="zh-TW" altLang="en-US" dirty="0">
                <a:latin typeface="Cambria Math" panose="02040503050406030204" pitchFamily="18" charset="0"/>
              </a:rPr>
              <a:t> </a:t>
            </a:r>
            <a:r>
              <a:rPr lang="en-US" altLang="zh-TW" dirty="0">
                <a:latin typeface="Cambria Math" panose="02040503050406030204" pitchFamily="18" charset="0"/>
              </a:rPr>
              <a:t>PRI-</a:t>
            </a:r>
            <a:r>
              <a:rPr lang="en-US" altLang="zh-TW" dirty="0" err="1">
                <a:latin typeface="Cambria Math" panose="02040503050406030204" pitchFamily="18" charset="0"/>
              </a:rPr>
              <a:t>CoLBP</a:t>
            </a:r>
            <a:endParaRPr lang="en-US" altLang="zh-TW" baseline="-25000" dirty="0">
              <a:latin typeface="Cambria Math" panose="020405030504060302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4B139D-A72C-4D22-94EC-0A542E46A85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859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D6270-CB42-4277-8FA7-FA5E538012B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Experimental result</a:t>
            </a:r>
            <a:r>
              <a:rPr lang="zh-TW" altLang="en-US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(1/2)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57CAB4-05E3-463B-AF1D-5C184C55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4B139D-A72C-4D22-94EC-0A542E46A85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12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8960E6-47A3-45F9-8C94-04AAD7C07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156" y="2151512"/>
            <a:ext cx="755332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083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CD6270-CB42-4277-8FA7-FA5E538012B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Experimental result</a:t>
            </a:r>
            <a:r>
              <a:rPr lang="zh-TW" altLang="en-US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(2/2)</a:t>
            </a:r>
            <a:endParaRPr lang="zh-TW" altLang="en-US" b="1" dirty="0">
              <a:latin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57CAB4-05E3-463B-AF1D-5C184C552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zh-TW" altLang="en-US" dirty="0">
              <a:latin typeface="Cambria Math" panose="020405030504060302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4B139D-A72C-4D22-94EC-0A542E46A852}"/>
              </a:ext>
            </a:extLst>
          </p:cNvPr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13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88F5D3E-80DC-40A9-8AF3-2735BB238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81" y="2161037"/>
            <a:ext cx="8982075" cy="3600450"/>
          </a:xfrm>
          <a:prstGeom prst="rect">
            <a:avLst/>
          </a:prstGeom>
        </p:spPr>
      </p:pic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F0D83F3-6B2E-42D9-8D84-200365A2F4D6}"/>
              </a:ext>
            </a:extLst>
          </p:cNvPr>
          <p:cNvCxnSpPr/>
          <p:nvPr/>
        </p:nvCxnSpPr>
        <p:spPr>
          <a:xfrm>
            <a:off x="4852416" y="4914531"/>
            <a:ext cx="4535424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EF7ACA0-F5E4-4541-BFDA-C5B5235F26ED}"/>
              </a:ext>
            </a:extLst>
          </p:cNvPr>
          <p:cNvCxnSpPr>
            <a:cxnSpLocks/>
          </p:cNvCxnSpPr>
          <p:nvPr/>
        </p:nvCxnSpPr>
        <p:spPr>
          <a:xfrm>
            <a:off x="861513" y="5561201"/>
            <a:ext cx="3883482" cy="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117155"/>
      </p:ext>
    </p:extLst>
  </p:cSld>
  <p:clrMapOvr>
    <a:masterClrMapping/>
  </p:clrMapOvr>
</p:sld>
</file>

<file path=ppt/theme/theme1.xml><?xml version="1.0" encoding="utf-8"?>
<a:theme xmlns:a="http://schemas.openxmlformats.org/drawingml/2006/main" name="預設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25843</TotalTime>
  <Words>303</Words>
  <Application>Microsoft Office PowerPoint</Application>
  <PresentationFormat>自訂</PresentationFormat>
  <Paragraphs>76</Paragraphs>
  <Slides>13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6" baseType="lpstr">
      <vt:lpstr>Liberation Sans</vt:lpstr>
      <vt:lpstr>Liberation Sans Narrow</vt:lpstr>
      <vt:lpstr>Liberation Serif</vt:lpstr>
      <vt:lpstr>Mangal</vt:lpstr>
      <vt:lpstr>微軟正黑體</vt:lpstr>
      <vt:lpstr>新細明體</vt:lpstr>
      <vt:lpstr>Arial</vt:lpstr>
      <vt:lpstr>Calibri</vt:lpstr>
      <vt:lpstr>Cambria Math</vt:lpstr>
      <vt:lpstr>Ebrima</vt:lpstr>
      <vt:lpstr>Sitka Subheading</vt:lpstr>
      <vt:lpstr>Tahoma</vt:lpstr>
      <vt:lpstr>預設</vt:lpstr>
      <vt:lpstr>IEEE Transactions on Pattern Analysis and Machine Intelligence, vol. 36, pp. 2199-2213, 2014,  Xianbiao Qi, Rong Xiao, Jun Guo, and Lei Zhang</vt:lpstr>
      <vt:lpstr>Abstract (1/2)</vt:lpstr>
      <vt:lpstr>Abstract (2/2)</vt:lpstr>
      <vt:lpstr>Local Binary Pattern (LBP)</vt:lpstr>
      <vt:lpstr>Uniform-LBP</vt:lpstr>
      <vt:lpstr>Uniform Rotation Invariant LBP</vt:lpstr>
      <vt:lpstr>CoLBP</vt:lpstr>
      <vt:lpstr>UU-CoLBP</vt:lpstr>
      <vt:lpstr>RURU-CoLBP</vt:lpstr>
      <vt:lpstr>Pairwise Rotation Invariant CoLBP</vt:lpstr>
      <vt:lpstr>Multi-Scale and Multi-Orientation PRI-CoLBP</vt:lpstr>
      <vt:lpstr>Experimental result (1/2)</vt:lpstr>
      <vt:lpstr>Experimental result (2/2)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of the ACM June 1975 Volume 18 Number 6 D.S. Hirschberg Princeton University</dc:title>
  <dc:creator>Shecil</dc:creator>
  <cp:lastModifiedBy>whfu</cp:lastModifiedBy>
  <cp:revision>361</cp:revision>
  <dcterms:created xsi:type="dcterms:W3CDTF">2015-10-08T13:19:19Z</dcterms:created>
  <dcterms:modified xsi:type="dcterms:W3CDTF">2018-01-08T20:53:25Z</dcterms:modified>
</cp:coreProperties>
</file>