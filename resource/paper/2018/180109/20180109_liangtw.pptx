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8" r:id="rId3"/>
    <p:sldId id="271" r:id="rId4"/>
    <p:sldId id="259" r:id="rId5"/>
    <p:sldId id="260" r:id="rId6"/>
    <p:sldId id="272" r:id="rId7"/>
    <p:sldId id="265" r:id="rId8"/>
    <p:sldId id="273" r:id="rId9"/>
    <p:sldId id="267" r:id="rId10"/>
    <p:sldId id="278" r:id="rId11"/>
    <p:sldId id="279" r:id="rId12"/>
    <p:sldId id="277" r:id="rId13"/>
    <p:sldId id="274" r:id="rId14"/>
    <p:sldId id="276" r:id="rId15"/>
    <p:sldId id="275" r:id="rId16"/>
    <p:sldId id="268" r:id="rId1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  <p:cmAuthor id="2" name="梁庭瑋" initials="梁庭瑋" lastIdx="3" clrIdx="1">
    <p:extLst>
      <p:ext uri="{19B8F6BF-5375-455C-9EA6-DF929625EA0E}">
        <p15:presenceInfo xmlns:p15="http://schemas.microsoft.com/office/powerpoint/2012/main" userId="604490dc3dbb167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88876" autoAdjust="0"/>
  </p:normalViewPr>
  <p:slideViewPr>
    <p:cSldViewPr snapToGrid="0">
      <p:cViewPr varScale="1">
        <p:scale>
          <a:sx n="113" d="100"/>
          <a:sy n="113" d="100"/>
        </p:scale>
        <p:origin x="1338" y="96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19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CB409-2DA1-4BCA-B435-C6D650D60C53}" type="datetimeFigureOut">
              <a:rPr lang="zh-TW" altLang="en-US" smtClean="0"/>
              <a:t>2018/1/9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F0565-5FB6-414C-A160-5E7695D65A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4234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DEB75-3589-4D32-B44A-E0772C0D15C5}" type="datetimeFigureOut">
              <a:rPr lang="zh-TW" altLang="en-US" smtClean="0"/>
              <a:t>2018/1/9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0D5DF-B2A2-41B1-A94F-55B40B4E12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7097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95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9558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92353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8791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6369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11314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00432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11689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92761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06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14621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94080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34345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22684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1533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5123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D7AD2-AD46-4F9C-9DB9-311BC9C511FB}" type="datetime1">
              <a:rPr lang="zh-TW" altLang="en-US" smtClean="0"/>
              <a:t>2018/1/9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00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F8EA7-3B33-4CFB-BDA8-CB4ED22BDFA6}" type="datetime1">
              <a:rPr lang="zh-TW" altLang="en-US" smtClean="0"/>
              <a:t>2018/1/9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23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9E7C-A5F4-4E44-A0D0-D8D823ED55EC}" type="datetime1">
              <a:rPr lang="zh-TW" altLang="en-US" smtClean="0"/>
              <a:t>2018/1/9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13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09CB-B913-4CE8-9656-48ED378732FA}" type="datetime1">
              <a:rPr lang="zh-TW" altLang="en-US" smtClean="0"/>
              <a:t>2018/1/9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12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74B2C-81A9-40B9-8191-4AFF6A362158}" type="datetime1">
              <a:rPr lang="zh-TW" altLang="en-US" smtClean="0"/>
              <a:t>2018/1/9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32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92B90-13AF-4EA9-8E1C-B6AB9BFE2FEA}" type="datetime1">
              <a:rPr lang="zh-TW" altLang="en-US" smtClean="0"/>
              <a:t>2018/1/9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3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651D-9550-4C8E-A2AF-E9628836D6AE}" type="datetime1">
              <a:rPr lang="zh-TW" altLang="en-US" smtClean="0"/>
              <a:t>2018/1/9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12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1AE1-4A31-4B16-8CF5-B0A0C6DC12AA}" type="datetime1">
              <a:rPr lang="zh-TW" altLang="en-US" smtClean="0"/>
              <a:t>2018/1/9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9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96643-C3C1-4791-B485-3954350756FB}" type="datetime1">
              <a:rPr lang="zh-TW" altLang="en-US" smtClean="0"/>
              <a:t>2018/1/9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64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A2DB6-053F-4534-9F02-C898C0154A73}" type="datetime1">
              <a:rPr lang="zh-TW" altLang="en-US" smtClean="0"/>
              <a:t>2018/1/9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41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D7D-FFB8-45BA-8DA5-BBC396FFB252}" type="datetime1">
              <a:rPr lang="zh-TW" altLang="en-US" smtClean="0"/>
              <a:t>2018/1/9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CBB84-2B8D-4741-B97A-9F882A8CC49B}" type="datetime1">
              <a:rPr lang="zh-TW" altLang="en-US" smtClean="0"/>
              <a:t>2018/1/9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55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903" y="224732"/>
            <a:ext cx="8905101" cy="1496976"/>
          </a:xfrm>
        </p:spPr>
        <p:txBody>
          <a:bodyPr>
            <a:no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substring inclusion constraint longest common subsequence problem can be solved in quadratic time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41752" y="2252502"/>
            <a:ext cx="8353402" cy="3573055"/>
          </a:xfrm>
        </p:spPr>
        <p:txBody>
          <a:bodyPr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Muhammad </a:t>
            </a:r>
            <a:r>
              <a:rPr lang="en-US" altLang="zh-TW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Rashed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Alam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M. </a:t>
            </a:r>
            <a:r>
              <a:rPr lang="en-US" altLang="zh-TW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Sohel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Rahman</a:t>
            </a:r>
          </a:p>
          <a:p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AƖEDA Group, Department of CSE, BUET, Dhaka-1000, Bangladesh </a:t>
            </a:r>
          </a:p>
          <a:p>
            <a:endParaRPr lang="en-US" altLang="zh-TW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Journal of Discrete Algorithms</a:t>
            </a:r>
            <a:r>
              <a:rPr lang="fr-FR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,Volume </a:t>
            </a:r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17</a:t>
            </a:r>
            <a:r>
              <a:rPr lang="zh-TW" alt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(2012)</a:t>
            </a:r>
            <a:r>
              <a:rPr lang="fr-FR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Pages </a:t>
            </a:r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67</a:t>
            </a:r>
            <a:r>
              <a:rPr lang="fr-FR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–</a:t>
            </a:r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73</a:t>
            </a:r>
            <a:endParaRPr lang="fr-FR" altLang="zh-TW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Presenter: Ting-Wei Liang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Date:2018/01/09</a:t>
            </a:r>
            <a:endParaRPr lang="zh-TW" alt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000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175345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230402"/>
            <a:ext cx="7886700" cy="435133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paper, we study some variants of the Constrained Longest Common Subsequence (CLCS) problem, namely, the substring inclusion CLCS (Substring-IC-CLCS) problem and a generalized version thereof. In the Substring-IC-CLCS problem, we are to find a longest common subsequence (LCS) of two given strings containing a third constraint string (given) as a substring. Previous solution to this problem runs in cubic time,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nmk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time, where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n,m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k are the length of the 3 input strings. In this paper, we present simple O(nm) time algorithms to solve the Substring-IC-CLCS problem.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506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175345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230402"/>
            <a:ext cx="7886700" cy="435133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We also study the Generalized Substring-IC-LCS problem where we are given two strings of length n and m respectively and an ordered list of p strings and the goal is to find an LCS containing each of them as a substring in the order they appear in the list. We present an O(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nmp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algorithm for this generalized version of the problem.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934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Substring-IC-CLCS Problem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=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x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zh-TW" sz="2400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TW" sz="2400" baseline="-25000" dirty="0" err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= </a:t>
            </a:r>
            <a:r>
              <a:rPr lang="en-US" altLang="zh-TW" sz="2400" dirty="0" err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2400" dirty="0" err="1">
                <a:latin typeface="Times New Roman" pitchFamily="18" charset="0"/>
                <a:cs typeface="Times New Roman" pitchFamily="18" charset="0"/>
              </a:rPr>
              <a:t>at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altLang="zh-TW" sz="2400" dirty="0" err="1">
                <a:latin typeface="Times New Roman" pitchFamily="18" charset="0"/>
                <a:cs typeface="Times New Roman" pitchFamily="18" charset="0"/>
              </a:rPr>
              <a:t>cc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ta</a:t>
            </a:r>
            <a:r>
              <a:rPr lang="en-US" altLang="zh-TW" sz="2400" dirty="0" err="1">
                <a:latin typeface="Times New Roman" pitchFamily="18" charset="0"/>
                <a:cs typeface="Times New Roman" pitchFamily="18" charset="0"/>
              </a:rPr>
              <a:t>gg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 </a:t>
            </a:r>
            <a:endParaRPr lang="en-US" altLang="zh-TW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Y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= y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zh-TW" sz="2400" dirty="0" err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TW" sz="2400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=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solidFill>
                  <a:schemeClr val="accent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</a:t>
            </a:r>
            <a:r>
              <a:rPr lang="en-US" altLang="zh-TW" sz="24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</a:t>
            </a:r>
            <a:r>
              <a:rPr lang="en-US" altLang="zh-TW" sz="24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</a:t>
            </a:r>
            <a:r>
              <a:rPr lang="en-US" altLang="zh-TW" sz="24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ctgg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ac</a:t>
            </a: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</a:t>
            </a:r>
            <a:r>
              <a:rPr lang="en-US" altLang="zh-TW" sz="2400" dirty="0" err="1">
                <a:latin typeface="Times New Roman" pitchFamily="18" charset="0"/>
                <a:cs typeface="Times New Roman" pitchFamily="18" charset="0"/>
              </a:rPr>
              <a:t>gtac</a:t>
            </a:r>
            <a:endParaRPr lang="en-US" altLang="zh-TW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altLang="zh-TW" sz="2400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altLang="zh-TW" sz="2400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altLang="zh-TW" sz="2400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Substring-IC-CLCS (X, Y)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agtac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98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Substring-IC-CLCS Problem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x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zh-TW" sz="2400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TW" sz="2400" baseline="-25000" dirty="0" err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fabc</a:t>
            </a:r>
            <a:r>
              <a:rPr lang="en-US" altLang="zh-TW" sz="2400" dirty="0" err="1">
                <a:latin typeface="Times New Roman" pitchFamily="18" charset="0"/>
                <a:cs typeface="Times New Roman" pitchFamily="18" charset="0"/>
              </a:rPr>
              <a:t>fg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bda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>
              <a:buNone/>
            </a:pPr>
            <a:endParaRPr lang="en-US" altLang="zh-TW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Y = y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zh-TW" sz="2400" dirty="0" err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TW" sz="2400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 =  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fab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cfb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</a:t>
            </a: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{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bda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sz="24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sz="24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bda</a:t>
            </a:r>
            <a:endParaRPr lang="en-US" altLang="zh-TW" sz="24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054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Substring-IC-CLCS Problem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x</a:t>
                </a:r>
                <a:r>
                  <a:rPr lang="en-US" altLang="zh-TW" sz="24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altLang="zh-TW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…</a:t>
                </a:r>
                <a:r>
                  <a:rPr lang="en-US" altLang="zh-TW" sz="2400" dirty="0" err="1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altLang="zh-TW" sz="2400" baseline="-25000" dirty="0" err="1">
                    <a:latin typeface="Times New Roman" pitchFamily="18" charset="0"/>
                    <a:cs typeface="Times New Roman" pitchFamily="18" charset="0"/>
                  </a:rPr>
                  <a:t>m</a:t>
                </a:r>
                <a:r>
                  <a:rPr lang="en-US" altLang="zh-TW" sz="2400" baseline="-250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 = 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dab</a:t>
                </a:r>
                <a:r>
                  <a:rPr lang="en-US" altLang="zh-TW" sz="2400" dirty="0" err="1">
                    <a:latin typeface="Times New Roman" pitchFamily="18" charset="0"/>
                    <a:cs typeface="Times New Roman" pitchFamily="18" charset="0"/>
                  </a:rPr>
                  <a:t>d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altLang="zh-TW" sz="2400" dirty="0" err="1">
                    <a:latin typeface="Times New Roman" pitchFamily="18" charset="0"/>
                    <a:cs typeface="Times New Roman" pitchFamily="18" charset="0"/>
                  </a:rPr>
                  <a:t>f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e</a:t>
                </a:r>
                <a:r>
                  <a:rPr lang="en-US" altLang="zh-TW" sz="2400" dirty="0" err="1">
                    <a:latin typeface="Times New Roman" pitchFamily="18" charset="0"/>
                    <a:cs typeface="Times New Roman" pitchFamily="18" charset="0"/>
                  </a:rPr>
                  <a:t>db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g</a:t>
                </a:r>
                <a:r>
                  <a:rPr lang="en-US" altLang="zh-TW" sz="2400" dirty="0" err="1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fe</a:t>
                </a:r>
                <a:endParaRPr lang="en-US" altLang="zh-TW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= y</a:t>
                </a:r>
                <a:r>
                  <a:rPr lang="en-US" altLang="zh-TW" sz="24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altLang="zh-TW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…</a:t>
                </a:r>
                <a:r>
                  <a:rPr lang="en-US" altLang="zh-TW" sz="2400" dirty="0" err="1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altLang="zh-TW" sz="2400" baseline="-25000" dirty="0" err="1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altLang="zh-TW" sz="2400" baseline="-25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  =  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dabc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egfe</a:t>
                </a:r>
                <a:endParaRPr lang="en-US" altLang="zh-TW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baseline="-25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= {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bce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},    Z = 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abce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=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abce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gfe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“abc” and “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bce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 is overlapped </a:t>
                </a:r>
              </a:p>
              <a:p>
                <a:pPr>
                  <a:buNone/>
                </a:pPr>
                <a:endParaRPr lang="en-US" altLang="zh-TW" sz="240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 rotWithShape="0">
                <a:blip r:embed="rId3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284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sz="2400" i="1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X</a:t>
                </a: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= DABEABC     ,      </a:t>
                </a:r>
                <a:r>
                  <a:rPr lang="en-US" altLang="zh-TW" sz="2400" i="1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S</a:t>
                </a: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= ABC</a:t>
                </a:r>
              </a:p>
              <a:p>
                <a:pPr>
                  <a:buNone/>
                </a:pPr>
                <a:endParaRPr lang="en-US" altLang="zh-TW" sz="2400" dirty="0">
                  <a:latin typeface="Times New Roman" pitchFamily="18" charset="0"/>
                  <a:ea typeface="+mj-ea"/>
                  <a:cs typeface="Times New Roman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When </a:t>
                </a:r>
                <a:r>
                  <a:rPr lang="en-US" altLang="zh-TW" sz="2400" i="1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S</a:t>
                </a: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occurs in the range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2…7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𝑎𝑛𝑑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5…7</m:t>
                        </m:r>
                      </m:sub>
                    </m:sSub>
                  </m:oMath>
                </a14:m>
                <a:endParaRPr lang="en-US" altLang="zh-TW" sz="2400" dirty="0">
                  <a:latin typeface="Times New Roman" pitchFamily="18" charset="0"/>
                  <a:ea typeface="+mj-ea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itchFamily="18" charset="0"/>
                  <a:ea typeface="+mj-ea"/>
                  <a:cs typeface="Times New Roman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We will have 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   </m:t>
                    </m:r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7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=5</m:t>
                    </m:r>
                  </m:oMath>
                </a14:m>
                <a:endParaRPr lang="en-US" altLang="zh-TW" sz="2400" b="0" dirty="0">
                  <a:latin typeface="Times New Roman" pitchFamily="18" charset="0"/>
                  <a:ea typeface="+mj-ea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itchFamily="18" charset="0"/>
                  <a:ea typeface="+mj-ea"/>
                  <a:cs typeface="Times New Roman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I</a:t>
                </a:r>
                <a:r>
                  <a:rPr lang="en-US" altLang="zh-TW" sz="2400" b="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𝐴𝐵𝐶</m:t>
                    </m:r>
                  </m:oMath>
                </a14:m>
                <a:r>
                  <a:rPr lang="en-US" altLang="zh-TW" sz="2400" b="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, we will have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𝑟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,7</m:t>
                        </m:r>
                      </m:e>
                    </m:d>
                    <m:r>
                      <a:rPr lang="en-US" altLang="zh-TW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=5</m:t>
                    </m:r>
                  </m:oMath>
                </a14:m>
                <a:endParaRPr lang="en-US" altLang="zh-TW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b="0" dirty="0">
                  <a:latin typeface="Times New Roman" pitchFamily="18" charset="0"/>
                  <a:ea typeface="+mj-ea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itchFamily="18" charset="0"/>
                  <a:ea typeface="+mj-ea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 rotWithShape="0">
                <a:blip r:embed="rId3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709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84085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If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1…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is an Substring-IC-CLCS of </a:t>
                </a:r>
                <a:r>
                  <a:rPr lang="en-US" altLang="zh-TW" sz="2400" i="1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X,Y </a:t>
                </a: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respect to </a:t>
                </a:r>
                <a:r>
                  <a:rPr lang="en-US" altLang="zh-TW" sz="2400" i="1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S,</a:t>
                </a:r>
              </a:p>
              <a:p>
                <a:pPr>
                  <a:buNone/>
                </a:pPr>
                <a:r>
                  <a:rPr lang="en-US" altLang="zh-TW" sz="2400" i="1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S</a:t>
                </a: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sSup>
                          <m:sSup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−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𝑘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+1…</m:t>
                        </m:r>
                        <m:sSup>
                          <m:sSup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endParaRPr lang="en-US" altLang="zh-TW" sz="2400" i="1" dirty="0">
                  <a:latin typeface="Times New Roman" pitchFamily="18" charset="0"/>
                  <a:ea typeface="+mj-ea"/>
                  <a:cs typeface="Times New Roman" pitchFamily="18" charset="0"/>
                </a:endParaRP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1…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zh-TW" sz="2400" b="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is a concatenation of the following two substrings,</a:t>
                </a:r>
              </a:p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0≤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𝑖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≤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𝑚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 , 0≤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𝑗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≤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𝑚</m:t>
                    </m:r>
                  </m:oMath>
                </a14:m>
                <a:endParaRPr lang="en-US" altLang="zh-TW" sz="2400" b="0" dirty="0">
                  <a:latin typeface="Times New Roman" pitchFamily="18" charset="0"/>
                  <a:ea typeface="+mj-ea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itchFamily="18" charset="0"/>
                  <a:ea typeface="+mj-ea"/>
                  <a:cs typeface="Times New Roman" pitchFamily="18" charset="0"/>
                </a:endParaRPr>
              </a:p>
              <a:p>
                <a:pPr>
                  <a:buNone/>
                </a:pPr>
                <a:r>
                  <a:rPr lang="en-US" altLang="zh-TW" sz="2400" b="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1.The prefix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…</m:t>
                        </m:r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altLang="zh-TW" sz="2400" b="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 :  LCS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…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400" b="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…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400" b="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including </a:t>
                </a:r>
                <a:r>
                  <a:rPr lang="en-US" altLang="zh-TW" sz="2400" b="0" i="1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S </a:t>
                </a: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as it’s suffix</a:t>
                </a:r>
                <a:endParaRPr lang="en-US" altLang="zh-TW" sz="2400" b="0" i="1" dirty="0">
                  <a:latin typeface="Times New Roman" pitchFamily="18" charset="0"/>
                  <a:ea typeface="+mj-ea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itchFamily="18" charset="0"/>
                  <a:ea typeface="+mj-ea"/>
                  <a:cs typeface="Times New Roman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2.The suffix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+1…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: LCS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+1…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𝑗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+1…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TW" sz="2400" dirty="0">
                  <a:latin typeface="Times New Roman" pitchFamily="18" charset="0"/>
                  <a:ea typeface="+mj-ea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84085"/>
                <a:ext cx="7886700" cy="4351338"/>
              </a:xfrm>
              <a:blipFill>
                <a:blip r:embed="rId3"/>
                <a:stretch>
                  <a:fillRect l="-1159" t="-1961" r="-10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xmlns="" id="{5FE61506-CF81-4DE9-9DC7-2597B4358F2E}"/>
              </a:ext>
            </a:extLst>
          </p:cNvPr>
          <p:cNvSpPr txBox="1"/>
          <p:nvPr/>
        </p:nvSpPr>
        <p:spPr>
          <a:xfrm>
            <a:off x="4114800" y="2973897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31965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algorithm for Substring-IC-LCS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xmlns="" id="{22C1C289-0142-4C6F-A83C-55662D1823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183" y="2225616"/>
            <a:ext cx="9101817" cy="325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108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algorithm for Substring-IC-LCS</a:t>
            </a:r>
            <a:endParaRPr lang="en-US" altLang="zh-TW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xmlns="" id="{98C738D6-89A8-4D1B-8A4B-8B62201CE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x</a:t>
            </a:r>
            <a:r>
              <a:rPr lang="en-US" altLang="zh-TW" sz="20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TW" sz="20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zh-TW" sz="2000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TW" sz="2000" baseline="-25000" dirty="0" err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2000" baseline="-25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 = BC</a:t>
            </a:r>
            <a:r>
              <a:rPr lang="en-US" altLang="zh-TW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GGTA</a:t>
            </a: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altLang="zh-TW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altLang="zh-TW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>
              <a:buNone/>
            </a:pP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Y = y</a:t>
            </a:r>
            <a:r>
              <a:rPr lang="en-US" altLang="zh-TW" sz="20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TW" sz="20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zh-TW" sz="2000" dirty="0" err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TW" sz="2000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2000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  =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GTAC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BBBA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GTAC</a:t>
            </a:r>
          </a:p>
          <a:p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xmlns="" id="{E4DD86BC-4CCC-445E-B9D2-9F7A9C2A21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0860118"/>
                  </p:ext>
                </p:extLst>
              </p:nvPr>
            </p:nvGraphicFramePr>
            <p:xfrm>
              <a:off x="1289108" y="335163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08000">
                      <a:extLst>
                        <a:ext uri="{9D8B030D-6E8A-4147-A177-3AD203B41FA5}">
                          <a16:colId xmlns:a16="http://schemas.microsoft.com/office/drawing/2014/main" xmlns="" val="177442856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3048769029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822851843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3652230541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1649262374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3069278865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3044196021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2215123988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2171589759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2905406032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1557849964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82907722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7974166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[]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137582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E4DD86BC-4CCC-445E-B9D2-9F7A9C2A21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0860118"/>
                  </p:ext>
                </p:extLst>
              </p:nvPr>
            </p:nvGraphicFramePr>
            <p:xfrm>
              <a:off x="1289108" y="335163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08000">
                      <a:extLst>
                        <a:ext uri="{9D8B030D-6E8A-4147-A177-3AD203B41FA5}">
                          <a16:colId xmlns:a16="http://schemas.microsoft.com/office/drawing/2014/main" val="177442856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val="3048769029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val="822851843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val="3652230541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val="1649262374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val="3069278865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val="3044196021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val="2215123988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val="2171589759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val="2905406032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val="1557849964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val="82907722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74166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5"/>
                          <a:stretch>
                            <a:fillRect l="-1205" t="-109836" r="-110843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375823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xmlns="" id="{65353E5E-110E-4686-9F5A-13A4AE095F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2822342"/>
                  </p:ext>
                </p:extLst>
              </p:nvPr>
            </p:nvGraphicFramePr>
            <p:xfrm>
              <a:off x="1289108" y="4764299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08000">
                      <a:extLst>
                        <a:ext uri="{9D8B030D-6E8A-4147-A177-3AD203B41FA5}">
                          <a16:colId xmlns:a16="http://schemas.microsoft.com/office/drawing/2014/main" xmlns="" val="177442856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3048769029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822851843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3652230541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1649262374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3069278865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3044196021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2215123988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2171589759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2905406032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1557849964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xmlns="" val="82907722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7974166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[]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137582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65353E5E-110E-4686-9F5A-13A4AE095F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2822342"/>
                  </p:ext>
                </p:extLst>
              </p:nvPr>
            </p:nvGraphicFramePr>
            <p:xfrm>
              <a:off x="1289108" y="4764299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08000">
                      <a:extLst>
                        <a:ext uri="{9D8B030D-6E8A-4147-A177-3AD203B41FA5}">
                          <a16:colId xmlns:a16="http://schemas.microsoft.com/office/drawing/2014/main" val="177442856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val="3048769029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val="822851843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val="3652230541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val="1649262374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val="3069278865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val="3044196021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val="2215123988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val="2171589759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val="2905406032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val="1557849964"/>
                        </a:ext>
                      </a:extLst>
                    </a:gridCol>
                    <a:gridCol w="508000">
                      <a:extLst>
                        <a:ext uri="{9D8B030D-6E8A-4147-A177-3AD203B41FA5}">
                          <a16:colId xmlns:a16="http://schemas.microsoft.com/office/drawing/2014/main" val="82907722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74166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6"/>
                          <a:stretch>
                            <a:fillRect l="-1205" t="-109836" r="-1108434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375823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71669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LCS[</a:t>
            </a:r>
            <a:r>
              <a:rPr lang="en-US" altLang="zh-TW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TW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內容版面配置區 12">
            <a:extLst>
              <a:ext uri="{FF2B5EF4-FFF2-40B4-BE49-F238E27FC236}">
                <a16:creationId xmlns:a16="http://schemas.microsoft.com/office/drawing/2014/main" xmlns="" id="{E021201C-890E-4C45-938E-D0B084B2DD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4519154"/>
              </p:ext>
            </p:extLst>
          </p:nvPr>
        </p:nvGraphicFramePr>
        <p:xfrm>
          <a:off x="1337000" y="1737994"/>
          <a:ext cx="6149650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3050">
                  <a:extLst>
                    <a:ext uri="{9D8B030D-6E8A-4147-A177-3AD203B41FA5}">
                      <a16:colId xmlns:a16="http://schemas.microsoft.com/office/drawing/2014/main" xmlns="" val="4055361524"/>
                    </a:ext>
                  </a:extLst>
                </a:gridCol>
                <a:gridCol w="473050">
                  <a:extLst>
                    <a:ext uri="{9D8B030D-6E8A-4147-A177-3AD203B41FA5}">
                      <a16:colId xmlns:a16="http://schemas.microsoft.com/office/drawing/2014/main" xmlns="" val="1274474361"/>
                    </a:ext>
                  </a:extLst>
                </a:gridCol>
                <a:gridCol w="473050">
                  <a:extLst>
                    <a:ext uri="{9D8B030D-6E8A-4147-A177-3AD203B41FA5}">
                      <a16:colId xmlns:a16="http://schemas.microsoft.com/office/drawing/2014/main" xmlns="" val="3117329889"/>
                    </a:ext>
                  </a:extLst>
                </a:gridCol>
                <a:gridCol w="473050">
                  <a:extLst>
                    <a:ext uri="{9D8B030D-6E8A-4147-A177-3AD203B41FA5}">
                      <a16:colId xmlns:a16="http://schemas.microsoft.com/office/drawing/2014/main" xmlns="" val="2483046772"/>
                    </a:ext>
                  </a:extLst>
                </a:gridCol>
                <a:gridCol w="473050">
                  <a:extLst>
                    <a:ext uri="{9D8B030D-6E8A-4147-A177-3AD203B41FA5}">
                      <a16:colId xmlns:a16="http://schemas.microsoft.com/office/drawing/2014/main" xmlns="" val="3405151601"/>
                    </a:ext>
                  </a:extLst>
                </a:gridCol>
                <a:gridCol w="473050">
                  <a:extLst>
                    <a:ext uri="{9D8B030D-6E8A-4147-A177-3AD203B41FA5}">
                      <a16:colId xmlns:a16="http://schemas.microsoft.com/office/drawing/2014/main" xmlns="" val="2159301578"/>
                    </a:ext>
                  </a:extLst>
                </a:gridCol>
                <a:gridCol w="473050">
                  <a:extLst>
                    <a:ext uri="{9D8B030D-6E8A-4147-A177-3AD203B41FA5}">
                      <a16:colId xmlns:a16="http://schemas.microsoft.com/office/drawing/2014/main" xmlns="" val="2152403462"/>
                    </a:ext>
                  </a:extLst>
                </a:gridCol>
                <a:gridCol w="473050">
                  <a:extLst>
                    <a:ext uri="{9D8B030D-6E8A-4147-A177-3AD203B41FA5}">
                      <a16:colId xmlns:a16="http://schemas.microsoft.com/office/drawing/2014/main" xmlns="" val="1576669148"/>
                    </a:ext>
                  </a:extLst>
                </a:gridCol>
                <a:gridCol w="473050">
                  <a:extLst>
                    <a:ext uri="{9D8B030D-6E8A-4147-A177-3AD203B41FA5}">
                      <a16:colId xmlns:a16="http://schemas.microsoft.com/office/drawing/2014/main" xmlns="" val="1062172132"/>
                    </a:ext>
                  </a:extLst>
                </a:gridCol>
                <a:gridCol w="473050">
                  <a:extLst>
                    <a:ext uri="{9D8B030D-6E8A-4147-A177-3AD203B41FA5}">
                      <a16:colId xmlns:a16="http://schemas.microsoft.com/office/drawing/2014/main" xmlns="" val="3314708546"/>
                    </a:ext>
                  </a:extLst>
                </a:gridCol>
                <a:gridCol w="473050">
                  <a:extLst>
                    <a:ext uri="{9D8B030D-6E8A-4147-A177-3AD203B41FA5}">
                      <a16:colId xmlns:a16="http://schemas.microsoft.com/office/drawing/2014/main" xmlns="" val="148141598"/>
                    </a:ext>
                  </a:extLst>
                </a:gridCol>
                <a:gridCol w="473050">
                  <a:extLst>
                    <a:ext uri="{9D8B030D-6E8A-4147-A177-3AD203B41FA5}">
                      <a16:colId xmlns:a16="http://schemas.microsoft.com/office/drawing/2014/main" xmlns="" val="2727892522"/>
                    </a:ext>
                  </a:extLst>
                </a:gridCol>
                <a:gridCol w="473050">
                  <a:extLst>
                    <a:ext uri="{9D8B030D-6E8A-4147-A177-3AD203B41FA5}">
                      <a16:colId xmlns:a16="http://schemas.microsoft.com/office/drawing/2014/main" xmlns="" val="3180858770"/>
                    </a:ext>
                  </a:extLst>
                </a:gridCol>
              </a:tblGrid>
              <a:tr h="294504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98005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83036661"/>
                  </a:ext>
                </a:extLst>
              </a:tr>
              <a:tr h="294504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65526932"/>
                  </a:ext>
                </a:extLst>
              </a:tr>
              <a:tr h="294504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99823712"/>
                  </a:ext>
                </a:extLst>
              </a:tr>
              <a:tr h="294504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96359171"/>
                  </a:ext>
                </a:extLst>
              </a:tr>
              <a:tr h="294504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71019792"/>
                  </a:ext>
                </a:extLst>
              </a:tr>
              <a:tr h="294504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32986367"/>
                  </a:ext>
                </a:extLst>
              </a:tr>
              <a:tr h="294504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85782821"/>
                  </a:ext>
                </a:extLst>
              </a:tr>
              <a:tr h="294504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31488209"/>
                  </a:ext>
                </a:extLst>
              </a:tr>
              <a:tr h="294504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90090826"/>
                  </a:ext>
                </a:extLst>
              </a:tr>
              <a:tr h="294504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14165826"/>
                  </a:ext>
                </a:extLst>
              </a:tr>
              <a:tr h="294504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03260776"/>
                  </a:ext>
                </a:extLst>
              </a:tr>
              <a:tr h="294504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8390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2372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TW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內容版面配置區 12">
                <a:extLst>
                  <a:ext uri="{FF2B5EF4-FFF2-40B4-BE49-F238E27FC236}">
                    <a16:creationId xmlns:a16="http://schemas.microsoft.com/office/drawing/2014/main" xmlns="" id="{E021201C-890E-4C45-938E-D0B084B2DD7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28319167"/>
                  </p:ext>
                </p:extLst>
              </p:nvPr>
            </p:nvGraphicFramePr>
            <p:xfrm>
              <a:off x="1337000" y="1737994"/>
              <a:ext cx="6149650" cy="47548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73050">
                      <a:extLst>
                        <a:ext uri="{9D8B030D-6E8A-4147-A177-3AD203B41FA5}">
                          <a16:colId xmlns:a16="http://schemas.microsoft.com/office/drawing/2014/main" xmlns="" val="4055361524"/>
                        </a:ext>
                      </a:extLst>
                    </a:gridCol>
                    <a:gridCol w="473050">
                      <a:extLst>
                        <a:ext uri="{9D8B030D-6E8A-4147-A177-3AD203B41FA5}">
                          <a16:colId xmlns:a16="http://schemas.microsoft.com/office/drawing/2014/main" xmlns="" val="1274474361"/>
                        </a:ext>
                      </a:extLst>
                    </a:gridCol>
                    <a:gridCol w="473050">
                      <a:extLst>
                        <a:ext uri="{9D8B030D-6E8A-4147-A177-3AD203B41FA5}">
                          <a16:colId xmlns:a16="http://schemas.microsoft.com/office/drawing/2014/main" xmlns="" val="3117329889"/>
                        </a:ext>
                      </a:extLst>
                    </a:gridCol>
                    <a:gridCol w="473050">
                      <a:extLst>
                        <a:ext uri="{9D8B030D-6E8A-4147-A177-3AD203B41FA5}">
                          <a16:colId xmlns:a16="http://schemas.microsoft.com/office/drawing/2014/main" xmlns="" val="2483046772"/>
                        </a:ext>
                      </a:extLst>
                    </a:gridCol>
                    <a:gridCol w="473050">
                      <a:extLst>
                        <a:ext uri="{9D8B030D-6E8A-4147-A177-3AD203B41FA5}">
                          <a16:colId xmlns:a16="http://schemas.microsoft.com/office/drawing/2014/main" xmlns="" val="3405151601"/>
                        </a:ext>
                      </a:extLst>
                    </a:gridCol>
                    <a:gridCol w="473050">
                      <a:extLst>
                        <a:ext uri="{9D8B030D-6E8A-4147-A177-3AD203B41FA5}">
                          <a16:colId xmlns:a16="http://schemas.microsoft.com/office/drawing/2014/main" xmlns="" val="2159301578"/>
                        </a:ext>
                      </a:extLst>
                    </a:gridCol>
                    <a:gridCol w="473050">
                      <a:extLst>
                        <a:ext uri="{9D8B030D-6E8A-4147-A177-3AD203B41FA5}">
                          <a16:colId xmlns:a16="http://schemas.microsoft.com/office/drawing/2014/main" xmlns="" val="2152403462"/>
                        </a:ext>
                      </a:extLst>
                    </a:gridCol>
                    <a:gridCol w="473050">
                      <a:extLst>
                        <a:ext uri="{9D8B030D-6E8A-4147-A177-3AD203B41FA5}">
                          <a16:colId xmlns:a16="http://schemas.microsoft.com/office/drawing/2014/main" xmlns="" val="1576669148"/>
                        </a:ext>
                      </a:extLst>
                    </a:gridCol>
                    <a:gridCol w="473050">
                      <a:extLst>
                        <a:ext uri="{9D8B030D-6E8A-4147-A177-3AD203B41FA5}">
                          <a16:colId xmlns:a16="http://schemas.microsoft.com/office/drawing/2014/main" xmlns="" val="1062172132"/>
                        </a:ext>
                      </a:extLst>
                    </a:gridCol>
                    <a:gridCol w="473050">
                      <a:extLst>
                        <a:ext uri="{9D8B030D-6E8A-4147-A177-3AD203B41FA5}">
                          <a16:colId xmlns:a16="http://schemas.microsoft.com/office/drawing/2014/main" xmlns="" val="3314708546"/>
                        </a:ext>
                      </a:extLst>
                    </a:gridCol>
                    <a:gridCol w="473050">
                      <a:extLst>
                        <a:ext uri="{9D8B030D-6E8A-4147-A177-3AD203B41FA5}">
                          <a16:colId xmlns:a16="http://schemas.microsoft.com/office/drawing/2014/main" xmlns="" val="148141598"/>
                        </a:ext>
                      </a:extLst>
                    </a:gridCol>
                    <a:gridCol w="473050">
                      <a:extLst>
                        <a:ext uri="{9D8B030D-6E8A-4147-A177-3AD203B41FA5}">
                          <a16:colId xmlns:a16="http://schemas.microsoft.com/office/drawing/2014/main" xmlns="" val="2727892522"/>
                        </a:ext>
                      </a:extLst>
                    </a:gridCol>
                    <a:gridCol w="473050">
                      <a:extLst>
                        <a:ext uri="{9D8B030D-6E8A-4147-A177-3AD203B41FA5}">
                          <a16:colId xmlns:a16="http://schemas.microsoft.com/office/drawing/2014/main" xmlns="" val="3180858770"/>
                        </a:ext>
                      </a:extLst>
                    </a:gridCol>
                  </a:tblGrid>
                  <a:tr h="294504"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>
                              <a:solidFill>
                                <a:srgbClr val="00B0F0"/>
                              </a:solidFill>
                            </a:rPr>
                            <a:t>G</a:t>
                          </a:r>
                          <a:endParaRPr lang="zh-TW" altLang="en-US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</a:rPr>
                            <a:t>C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</a:rPr>
                            <a:t>C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3980058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883036661"/>
                      </a:ext>
                    </a:extLst>
                  </a:tr>
                  <a:tr h="294504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865526932"/>
                      </a:ext>
                    </a:extLst>
                  </a:tr>
                  <a:tr h="294504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999823712"/>
                      </a:ext>
                    </a:extLst>
                  </a:tr>
                  <a:tr h="294504">
                    <a:tc>
                      <a:txBody>
                        <a:bodyPr/>
                        <a:lstStyle/>
                        <a:p>
                          <a:r>
                            <a:rPr lang="en-US" altLang="zh-TW" dirty="0">
                              <a:solidFill>
                                <a:srgbClr val="00B0F0"/>
                              </a:solidFill>
                            </a:rPr>
                            <a:t>G</a:t>
                          </a:r>
                          <a:endParaRPr lang="zh-TW" altLang="en-US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>
                              <a:ea typeface="Cambria Math" panose="02040503050406030204" pitchFamily="18" charset="0"/>
                            </a:rPr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096359171"/>
                      </a:ext>
                    </a:extLst>
                  </a:tr>
                  <a:tr h="294504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871019792"/>
                      </a:ext>
                    </a:extLst>
                  </a:tr>
                  <a:tr h="294504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32986367"/>
                      </a:ext>
                    </a:extLst>
                  </a:tr>
                  <a:tr h="294504">
                    <a:tc>
                      <a:txBody>
                        <a:bodyPr/>
                        <a:lstStyle/>
                        <a:p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</a:rPr>
                            <a:t>C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185782821"/>
                      </a:ext>
                    </a:extLst>
                  </a:tr>
                  <a:tr h="294504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4031488209"/>
                      </a:ext>
                    </a:extLst>
                  </a:tr>
                  <a:tr h="294504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890090826"/>
                      </a:ext>
                    </a:extLst>
                  </a:tr>
                  <a:tr h="294504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14165826"/>
                      </a:ext>
                    </a:extLst>
                  </a:tr>
                  <a:tr h="294504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703260776"/>
                      </a:ext>
                    </a:extLst>
                  </a:tr>
                  <a:tr h="294504">
                    <a:tc>
                      <a:txBody>
                        <a:bodyPr/>
                        <a:lstStyle/>
                        <a:p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</a:rPr>
                            <a:t>C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183906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內容版面配置區 12">
                <a:extLst>
                  <a:ext uri="{FF2B5EF4-FFF2-40B4-BE49-F238E27FC236}">
                    <a16:creationId xmlns:a16="http://schemas.microsoft.com/office/drawing/2014/main" id="{E021201C-890E-4C45-938E-D0B084B2DD7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28319167"/>
                  </p:ext>
                </p:extLst>
              </p:nvPr>
            </p:nvGraphicFramePr>
            <p:xfrm>
              <a:off x="1337000" y="1737994"/>
              <a:ext cx="6149650" cy="47548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73050">
                      <a:extLst>
                        <a:ext uri="{9D8B030D-6E8A-4147-A177-3AD203B41FA5}">
                          <a16:colId xmlns:a16="http://schemas.microsoft.com/office/drawing/2014/main" val="4055361524"/>
                        </a:ext>
                      </a:extLst>
                    </a:gridCol>
                    <a:gridCol w="473050">
                      <a:extLst>
                        <a:ext uri="{9D8B030D-6E8A-4147-A177-3AD203B41FA5}">
                          <a16:colId xmlns:a16="http://schemas.microsoft.com/office/drawing/2014/main" val="1274474361"/>
                        </a:ext>
                      </a:extLst>
                    </a:gridCol>
                    <a:gridCol w="473050">
                      <a:extLst>
                        <a:ext uri="{9D8B030D-6E8A-4147-A177-3AD203B41FA5}">
                          <a16:colId xmlns:a16="http://schemas.microsoft.com/office/drawing/2014/main" val="3117329889"/>
                        </a:ext>
                      </a:extLst>
                    </a:gridCol>
                    <a:gridCol w="473050">
                      <a:extLst>
                        <a:ext uri="{9D8B030D-6E8A-4147-A177-3AD203B41FA5}">
                          <a16:colId xmlns:a16="http://schemas.microsoft.com/office/drawing/2014/main" val="2483046772"/>
                        </a:ext>
                      </a:extLst>
                    </a:gridCol>
                    <a:gridCol w="473050">
                      <a:extLst>
                        <a:ext uri="{9D8B030D-6E8A-4147-A177-3AD203B41FA5}">
                          <a16:colId xmlns:a16="http://schemas.microsoft.com/office/drawing/2014/main" val="3405151601"/>
                        </a:ext>
                      </a:extLst>
                    </a:gridCol>
                    <a:gridCol w="473050">
                      <a:extLst>
                        <a:ext uri="{9D8B030D-6E8A-4147-A177-3AD203B41FA5}">
                          <a16:colId xmlns:a16="http://schemas.microsoft.com/office/drawing/2014/main" val="2159301578"/>
                        </a:ext>
                      </a:extLst>
                    </a:gridCol>
                    <a:gridCol w="473050">
                      <a:extLst>
                        <a:ext uri="{9D8B030D-6E8A-4147-A177-3AD203B41FA5}">
                          <a16:colId xmlns:a16="http://schemas.microsoft.com/office/drawing/2014/main" val="2152403462"/>
                        </a:ext>
                      </a:extLst>
                    </a:gridCol>
                    <a:gridCol w="473050">
                      <a:extLst>
                        <a:ext uri="{9D8B030D-6E8A-4147-A177-3AD203B41FA5}">
                          <a16:colId xmlns:a16="http://schemas.microsoft.com/office/drawing/2014/main" val="1576669148"/>
                        </a:ext>
                      </a:extLst>
                    </a:gridCol>
                    <a:gridCol w="473050">
                      <a:extLst>
                        <a:ext uri="{9D8B030D-6E8A-4147-A177-3AD203B41FA5}">
                          <a16:colId xmlns:a16="http://schemas.microsoft.com/office/drawing/2014/main" val="1062172132"/>
                        </a:ext>
                      </a:extLst>
                    </a:gridCol>
                    <a:gridCol w="473050">
                      <a:extLst>
                        <a:ext uri="{9D8B030D-6E8A-4147-A177-3AD203B41FA5}">
                          <a16:colId xmlns:a16="http://schemas.microsoft.com/office/drawing/2014/main" val="3314708546"/>
                        </a:ext>
                      </a:extLst>
                    </a:gridCol>
                    <a:gridCol w="473050">
                      <a:extLst>
                        <a:ext uri="{9D8B030D-6E8A-4147-A177-3AD203B41FA5}">
                          <a16:colId xmlns:a16="http://schemas.microsoft.com/office/drawing/2014/main" val="148141598"/>
                        </a:ext>
                      </a:extLst>
                    </a:gridCol>
                    <a:gridCol w="473050">
                      <a:extLst>
                        <a:ext uri="{9D8B030D-6E8A-4147-A177-3AD203B41FA5}">
                          <a16:colId xmlns:a16="http://schemas.microsoft.com/office/drawing/2014/main" val="2727892522"/>
                        </a:ext>
                      </a:extLst>
                    </a:gridCol>
                    <a:gridCol w="473050">
                      <a:extLst>
                        <a:ext uri="{9D8B030D-6E8A-4147-A177-3AD203B41FA5}">
                          <a16:colId xmlns:a16="http://schemas.microsoft.com/office/drawing/2014/main" val="318085877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>
                              <a:solidFill>
                                <a:srgbClr val="00B0F0"/>
                              </a:solidFill>
                            </a:rPr>
                            <a:t>G</a:t>
                          </a:r>
                          <a:endParaRPr lang="zh-TW" altLang="en-US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</a:rPr>
                            <a:t>C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</a:rPr>
                            <a:t>C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800582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102597" t="-108333" r="-1112987" b="-1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200000" t="-108333" r="-998718" b="-1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300000" t="-108333" r="-898718" b="-1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405195" t="-108333" r="-810390" b="-1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498718" t="-108333" r="-700000" b="-1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598718" t="-108333" r="-600000" b="-1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698718" t="-108333" r="-500000" b="-1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809091" t="-108333" r="-406494" b="-1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897436" t="-108333" r="-301282" b="-1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997436" t="-108333" r="-201282" b="-1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1111688" t="-108333" r="-103896" b="-1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1196154" t="-108333" r="-2564" b="-11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303666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102597" t="-208333" r="-1112987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200000" t="-208333" r="-998718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300000" t="-208333" r="-898718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405195" t="-208333" r="-810390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498718" t="-208333" r="-700000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598718" t="-208333" r="-600000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698718" t="-208333" r="-500000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809091" t="-208333" r="-406494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897436" t="-208333" r="-301282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997436" t="-208333" r="-201282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1111688" t="-208333" r="-103896" b="-10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1196154" t="-208333" r="-2564" b="-10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552693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102597" t="-308333" r="-1112987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200000" t="-308333" r="-998718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300000" t="-308333" r="-898718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405195" t="-308333" r="-810390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498718" t="-308333" r="-700000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598718" t="-308333" r="-600000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698718" t="-308333" r="-500000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809091" t="-308333" r="-406494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897436" t="-308333" r="-301282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997436" t="-308333" r="-201282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1111688" t="-308333" r="-103896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1196154" t="-308333" r="-2564" b="-9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982371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TW" dirty="0">
                              <a:solidFill>
                                <a:srgbClr val="00B0F0"/>
                              </a:solidFill>
                            </a:rPr>
                            <a:t>G</a:t>
                          </a:r>
                          <a:endParaRPr lang="zh-TW" altLang="en-US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102597" t="-408333" r="-1112987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200000" t="-408333" r="-998718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300000" t="-408333" r="-898718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405195" t="-408333" r="-810390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498718" t="-408333" r="-700000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598718" t="-408333" r="-600000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698718" t="-408333" r="-500000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809091" t="-408333" r="-406494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897436" t="-408333" r="-301282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997436" t="-408333" r="-201282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1111688" t="-408333" r="-103896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1196154" t="-408333" r="-2564" b="-8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9635917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102597" t="-508333" r="-1112987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200000" t="-508333" r="-998718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300000" t="-508333" r="-898718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405195" t="-508333" r="-810390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498718" t="-508333" r="-700000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598718" t="-508333" r="-600000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698718" t="-508333" r="-500000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809091" t="-508333" r="-406494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897436" t="-508333" r="-301282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997436" t="-508333" r="-201282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1111688" t="-508333" r="-103896" b="-7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1196154" t="-508333" r="-2564" b="-7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101979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102597" t="-598361" r="-1112987" b="-6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200000" t="-598361" r="-998718" b="-6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300000" t="-598361" r="-898718" b="-6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405195" t="-598361" r="-810390" b="-6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498718" t="-598361" r="-700000" b="-6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598718" t="-598361" r="-600000" b="-6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698718" t="-598361" r="-500000" b="-6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809091" t="-598361" r="-406494" b="-6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897436" t="-598361" r="-301282" b="-6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997436" t="-598361" r="-201282" b="-6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1111688" t="-598361" r="-103896" b="-6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1196154" t="-598361" r="-2564" b="-6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298636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</a:rPr>
                            <a:t>C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102597" t="-710000" r="-1112987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200000" t="-710000" r="-998718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300000" t="-710000" r="-898718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405195" t="-710000" r="-810390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498718" t="-710000" r="-700000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598718" t="-710000" r="-600000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698718" t="-710000" r="-500000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809091" t="-710000" r="-406494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578282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102597" t="-810000" r="-1112987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200000" t="-810000" r="-998718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300000" t="-810000" r="-898718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405195" t="-810000" r="-810390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498718" t="-810000" r="-700000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598718" t="-810000" r="-600000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698718" t="-810000" r="-500000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809091" t="-810000" r="-406494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3148820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102597" t="-910000" r="-1112987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200000" t="-910000" r="-998718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300000" t="-910000" r="-898718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405195" t="-910000" r="-810390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498718" t="-910000" r="-700000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598718" t="-910000" r="-600000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698718" t="-910000" r="-500000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809091" t="-910000" r="-406494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009082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102597" t="-1010000" r="-1112987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200000" t="-1010000" r="-998718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300000" t="-1010000" r="-898718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405195" t="-1010000" r="-810390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498718" t="-1010000" r="-700000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598718" t="-1010000" r="-600000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698718" t="-1010000" r="-500000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809091" t="-1010000" r="-406494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416582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102597" t="-1110000" r="-1112987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200000" t="-1110000" r="-998718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300000" t="-1110000" r="-898718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405195" t="-1110000" r="-810390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498718" t="-1110000" r="-700000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598718" t="-1110000" r="-600000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698718" t="-1110000" r="-500000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809091" t="-1110000" r="-406494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326077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</a:rPr>
                            <a:t>C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102597" t="-1210000" r="-1112987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200000" t="-1210000" r="-998718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300000" t="-1210000" r="-898718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405195" t="-1210000" r="-81039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498718" t="-1210000" r="-700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598718" t="-1210000" r="-600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698718" t="-1210000" r="-500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8"/>
                          <a:stretch>
                            <a:fillRect l="-809091" t="-1210000" r="-406494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39064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82794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algorithm for Generalized Substring-IC-LCS (no overlap)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xmlns="" id="{4B2F798B-C9FE-499E-91C8-78568BEC62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9910" y="2411782"/>
            <a:ext cx="8824180" cy="255450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xmlns="" id="{6A1BA8AD-DC01-4BE7-8448-832689C030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4966283"/>
            <a:ext cx="9184683" cy="86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116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= ABCD     ,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i="1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</a:t>
                </a: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= CDEFG</a:t>
                </a:r>
              </a:p>
              <a:p>
                <a:pPr>
                  <a:buNone/>
                </a:pPr>
                <a:endParaRPr lang="en-US" altLang="zh-TW" sz="2400" dirty="0">
                  <a:latin typeface="Times New Roman" pitchFamily="18" charset="0"/>
                  <a:ea typeface="+mj-ea"/>
                  <a:cs typeface="Times New Roman" pitchFamily="18" charset="0"/>
                </a:endParaRP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en-US" sz="2400" i="1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</a:t>
                </a:r>
                <a:r>
                  <a:rPr lang="en-US" altLang="zh-TW" sz="2400" i="1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=</a:t>
                </a:r>
                <a:r>
                  <a:rPr lang="zh-TW" altLang="en-US" sz="2400" i="1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</a:t>
                </a: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ABCDEFG</a:t>
                </a:r>
              </a:p>
              <a:p>
                <a:pPr>
                  <a:buNone/>
                </a:pPr>
                <a:endParaRPr lang="en-US" altLang="zh-TW" sz="2400" dirty="0">
                  <a:latin typeface="Times New Roman" pitchFamily="18" charset="0"/>
                  <a:ea typeface="+mj-ea"/>
                  <a:cs typeface="Times New Roman" pitchFamily="18" charset="0"/>
                </a:endParaRPr>
              </a:p>
              <a:p>
                <a:pPr>
                  <a:buNone/>
                </a:pPr>
                <a:r>
                  <a:rPr lang="en-US" altLang="zh-TW" sz="2400" b="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Non-overlapping pattern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𝑁𝑂𝑉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b="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= EFG</a:t>
                </a:r>
              </a:p>
              <a:p>
                <a:pPr>
                  <a:buNone/>
                </a:pPr>
                <a:r>
                  <a:rPr lang="en-US" altLang="zh-TW" sz="2400" b="0" dirty="0">
                    <a:ea typeface="+mj-ea"/>
                    <a:cs typeface="Times New Roman" pitchFamily="18" charset="0"/>
                  </a:rPr>
                  <a:t> 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𝑁𝑂𝑉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+mj-ea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+mj-ea"/>
                                <a:cs typeface="Times New Roman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+mj-ea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400" b="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= |EFG| = 3 </a:t>
                </a:r>
              </a:p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𝑁𝑂𝑉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𝑟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+mj-ea"/>
                            <a:cs typeface="Times New Roman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to keep track the occurrence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𝑁𝑂𝑉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:</a:t>
                </a:r>
              </a:p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If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+mj-ea"/>
                        <a:cs typeface="Times New Roman" pitchFamily="18" charset="0"/>
                      </a:rPr>
                      <m:t>𝑋</m:t>
                    </m:r>
                  </m:oMath>
                </a14:m>
                <a:r>
                  <a:rPr lang="en-US" altLang="zh-TW" sz="2400" dirty="0">
                    <a:latin typeface="Times New Roman" pitchFamily="18" charset="0"/>
                    <a:ea typeface="+mj-ea"/>
                    <a:cs typeface="Times New Roman" pitchFamily="18" charset="0"/>
                  </a:rPr>
                  <a:t> = ABCDEFG,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𝑁𝑂𝑉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4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2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7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=5</m:t>
                      </m:r>
                    </m:oMath>
                  </m:oMathPara>
                </a14:m>
                <a:endParaRPr lang="en-US" altLang="zh-TW" sz="2400" dirty="0">
                  <a:latin typeface="Times New Roman" pitchFamily="18" charset="0"/>
                  <a:ea typeface="+mj-ea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3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707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algorithm for Generalized Substring-IC-LCS (overlapped)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xmlns="" id="{5BBC6838-4ADD-45B7-B4CC-53739D47CE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2304854"/>
            <a:ext cx="9222041" cy="311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706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90689"/>
                <a:ext cx="86868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Substring-IC-CLCS:</a:t>
                </a:r>
              </a:p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		Chen and Chao’s method : O(</a:t>
                </a:r>
                <a:r>
                  <a:rPr lang="en-US" altLang="zh-TW" sz="2400" dirty="0" err="1">
                    <a:latin typeface="Times New Roman" pitchFamily="18" charset="0"/>
                    <a:cs typeface="Times New Roman" pitchFamily="18" charset="0"/>
                  </a:rPr>
                  <a:t>nmk</a:t>
                </a: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)</a:t>
                </a:r>
              </a:p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		Our method :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)</a:t>
                </a:r>
              </a:p>
              <a:p>
                <a:pPr>
                  <a:buNone/>
                </a:pPr>
                <a:endParaRPr lang="en-US" altLang="zh-TW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Generalized Substring-IC-CLCS:</a:t>
                </a:r>
              </a:p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		Chen and Chao’s method :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  <m:t>𝛱</m:t>
                        </m:r>
                      </m:e>
                      <m:sub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  <m:sSub>
                      <m:sSub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)</a:t>
                </a:r>
              </a:p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		Our method :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𝑝</m:t>
                    </m:r>
                  </m:oMath>
                </a14:m>
                <a:r>
                  <a:rPr lang="en-US" altLang="zh-TW" sz="2400" dirty="0" smtClean="0">
                    <a:latin typeface="Times New Roman" pitchFamily="18" charset="0"/>
                    <a:cs typeface="Times New Roman" pitchFamily="18" charset="0"/>
                  </a:rPr>
                  <a:t>)</a:t>
                </a:r>
                <a:endParaRPr lang="en-US" altLang="zh-TW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90689"/>
                <a:ext cx="8686800" cy="4351338"/>
              </a:xfrm>
              <a:blipFill>
                <a:blip r:embed="rId3"/>
                <a:stretch>
                  <a:fillRect l="-1123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228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34735</TotalTime>
  <Words>912</Words>
  <Application>Microsoft Office PowerPoint</Application>
  <PresentationFormat>如螢幕大小 (4:3)</PresentationFormat>
  <Paragraphs>493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3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The substring inclusion constraint longest common subsequence problem can be solved in quadratic time</vt:lpstr>
      <vt:lpstr>Abstract(1/2)</vt:lpstr>
      <vt:lpstr>Abstract(2/2)</vt:lpstr>
      <vt:lpstr>Substring-IC-CLCS Problem</vt:lpstr>
      <vt:lpstr>Generalized Substring-IC-CLCS Problem</vt:lpstr>
      <vt:lpstr>Generalized Substring-IC-CLCS Problem</vt:lpstr>
      <vt:lpstr>Preliminaries</vt:lpstr>
      <vt:lpstr>Property</vt:lpstr>
      <vt:lpstr>Dynamic programming algorithm for Substring-IC-LCS</vt:lpstr>
      <vt:lpstr>Dynamic programming algorithm for Substring-IC-LCS</vt:lpstr>
      <vt:lpstr>LCS[i,j] </vt:lpstr>
      <vt:lpstr>StrLCS[i,j] </vt:lpstr>
      <vt:lpstr>Dynamic programming algorithm for Generalized Substring-IC-LCS (no overlap)</vt:lpstr>
      <vt:lpstr>Preliminaries</vt:lpstr>
      <vt:lpstr>Dynamic programming algorithm for Generalized Substring-IC-LCS (overlapped)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Association Rules in Big Data for E-healthcare Information System</dc:title>
  <dc:creator>muchmuch</dc:creator>
  <cp:lastModifiedBy>Bebe</cp:lastModifiedBy>
  <cp:revision>427</cp:revision>
  <dcterms:created xsi:type="dcterms:W3CDTF">2016-04-23T07:31:56Z</dcterms:created>
  <dcterms:modified xsi:type="dcterms:W3CDTF">2018-01-09T10:20:07Z</dcterms:modified>
</cp:coreProperties>
</file>