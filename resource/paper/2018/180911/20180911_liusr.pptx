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76" r:id="rId3"/>
    <p:sldId id="277" r:id="rId4"/>
    <p:sldId id="278" r:id="rId5"/>
    <p:sldId id="279" r:id="rId6"/>
    <p:sldId id="280" r:id="rId7"/>
    <p:sldId id="281" r:id="rId8"/>
    <p:sldId id="291" r:id="rId9"/>
    <p:sldId id="292" r:id="rId10"/>
    <p:sldId id="282" r:id="rId11"/>
    <p:sldId id="289" r:id="rId12"/>
    <p:sldId id="290" r:id="rId13"/>
    <p:sldId id="283" r:id="rId14"/>
    <p:sldId id="285" r:id="rId15"/>
    <p:sldId id="286" r:id="rId16"/>
    <p:sldId id="287" r:id="rId17"/>
    <p:sldId id="288" r:id="rId1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淺色樣式 3 - 輔色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69" autoAdjust="0"/>
    <p:restoredTop sz="78307" autoAdjust="0"/>
  </p:normalViewPr>
  <p:slideViewPr>
    <p:cSldViewPr snapToGrid="0">
      <p:cViewPr varScale="1">
        <p:scale>
          <a:sx n="66" d="100"/>
          <a:sy n="66" d="100"/>
        </p:scale>
        <p:origin x="84" y="33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01CE27-751F-48D9-A3E6-37B85B410D4A}" type="datetimeFigureOut">
              <a:rPr lang="zh-TW" altLang="en-US" smtClean="0"/>
              <a:t>2018/9/11</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2EB79-9C15-4368-B725-BB8D0D1C7B15}" type="slidenum">
              <a:rPr lang="zh-TW" altLang="en-US" smtClean="0"/>
              <a:t>‹#›</a:t>
            </a:fld>
            <a:endParaRPr lang="zh-TW" altLang="en-US"/>
          </a:p>
        </p:txBody>
      </p:sp>
    </p:spTree>
    <p:extLst>
      <p:ext uri="{BB962C8B-B14F-4D97-AF65-F5344CB8AC3E}">
        <p14:creationId xmlns:p14="http://schemas.microsoft.com/office/powerpoint/2010/main" val="3552302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1</a:t>
            </a:fld>
            <a:endParaRPr lang="zh-TW" altLang="en-US"/>
          </a:p>
        </p:txBody>
      </p:sp>
    </p:spTree>
    <p:extLst>
      <p:ext uri="{BB962C8B-B14F-4D97-AF65-F5344CB8AC3E}">
        <p14:creationId xmlns:p14="http://schemas.microsoft.com/office/powerpoint/2010/main" val="1498478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FA826C-B827-48E7-923C-08C27A6D0205}"/>
              </a:ext>
            </a:extLst>
          </p:cNvPr>
          <p:cNvSpPr>
            <a:spLocks noGrp="1"/>
          </p:cNvSpPr>
          <p:nvPr>
            <p:ph type="ctrTitle"/>
          </p:nvPr>
        </p:nvSpPr>
        <p:spPr>
          <a:xfrm>
            <a:off x="1524000" y="1122363"/>
            <a:ext cx="9144000" cy="2387600"/>
          </a:xfrm>
        </p:spPr>
        <p:txBody>
          <a:bodyPr anchor="b"/>
          <a:lstStyle>
            <a:lvl1pPr algn="ctr">
              <a:defRPr sz="6000" b="1"/>
            </a:lvl1pPr>
          </a:lstStyle>
          <a:p>
            <a:r>
              <a:rPr lang="zh-TW" altLang="en-US" dirty="0"/>
              <a:t>按一下以編輯母片標題樣式</a:t>
            </a:r>
          </a:p>
        </p:txBody>
      </p:sp>
      <p:sp>
        <p:nvSpPr>
          <p:cNvPr id="3" name="副標題 2">
            <a:extLst>
              <a:ext uri="{FF2B5EF4-FFF2-40B4-BE49-F238E27FC236}">
                <a16:creationId xmlns:a16="http://schemas.microsoft.com/office/drawing/2014/main" id="{5EF732A0-EAAC-46F4-A2BD-7894166D673F}"/>
              </a:ext>
            </a:extLst>
          </p:cNvPr>
          <p:cNvSpPr>
            <a:spLocks noGrp="1"/>
          </p:cNvSpPr>
          <p:nvPr>
            <p:ph type="subTitle" idx="1"/>
          </p:nvPr>
        </p:nvSpPr>
        <p:spPr>
          <a:xfrm>
            <a:off x="1524000" y="3602038"/>
            <a:ext cx="9144000" cy="1655762"/>
          </a:xfrm>
        </p:spPr>
        <p:txBody>
          <a:bodyPr/>
          <a:lstStyle>
            <a:lvl1pPr marL="0" indent="0" algn="ctr">
              <a:buNone/>
              <a:defRPr sz="2400">
                <a:solidFill>
                  <a:schemeClr val="bg1">
                    <a:lumMod val="6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id="{50E00B3F-FCF3-43A8-BA3C-83E3D27FDB5E}"/>
              </a:ext>
            </a:extLst>
          </p:cNvPr>
          <p:cNvSpPr>
            <a:spLocks noGrp="1"/>
          </p:cNvSpPr>
          <p:nvPr>
            <p:ph type="dt" sz="half" idx="10"/>
          </p:nvPr>
        </p:nvSpPr>
        <p:spPr/>
        <p:txBody>
          <a:bodyPr/>
          <a:lstStyle/>
          <a:p>
            <a:fld id="{4B163CDD-1571-4D07-AD50-27DEDA2DAB08}" type="datetime1">
              <a:rPr lang="zh-TW" altLang="en-US" smtClean="0"/>
              <a:t>2018/9/11</a:t>
            </a:fld>
            <a:endParaRPr lang="zh-TW" altLang="en-US"/>
          </a:p>
        </p:txBody>
      </p:sp>
      <p:sp>
        <p:nvSpPr>
          <p:cNvPr id="5" name="頁尾版面配置區 4">
            <a:extLst>
              <a:ext uri="{FF2B5EF4-FFF2-40B4-BE49-F238E27FC236}">
                <a16:creationId xmlns:a16="http://schemas.microsoft.com/office/drawing/2014/main" id="{B7DEB773-BC7F-471F-AAA2-C6E648DF122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B0BCD83-5310-40C3-8583-4562F7663092}"/>
              </a:ext>
            </a:extLst>
          </p:cNvPr>
          <p:cNvSpPr>
            <a:spLocks noGrp="1"/>
          </p:cNvSpPr>
          <p:nvPr>
            <p:ph type="sldNum" sz="quarter" idx="12"/>
          </p:nvPr>
        </p:nvSpPr>
        <p:spPr/>
        <p:txBody>
          <a:body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2545978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8FC2AA-8240-4810-8FED-A3DD62B5345C}"/>
              </a:ext>
            </a:extLst>
          </p:cNvPr>
          <p:cNvSpPr>
            <a:spLocks noGrp="1"/>
          </p:cNvSpPr>
          <p:nvPr>
            <p:ph type="title"/>
          </p:nvPr>
        </p:nvSpPr>
        <p:spPr/>
        <p:txBody>
          <a:bodyPr/>
          <a:lstStyle>
            <a:lvl1pPr>
              <a:defRPr b="1"/>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654AF7A4-3700-4BCA-8788-5F4FBE9852E0}"/>
              </a:ext>
            </a:extLst>
          </p:cNvPr>
          <p:cNvSpPr>
            <a:spLocks noGrp="1"/>
          </p:cNvSpPr>
          <p:nvPr>
            <p:ph idx="1"/>
          </p:nvPr>
        </p:nvSpPr>
        <p:spPr/>
        <p:txBody>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84D63DA6-083D-4C87-B46F-4639F5BADD1D}"/>
              </a:ext>
            </a:extLst>
          </p:cNvPr>
          <p:cNvSpPr>
            <a:spLocks noGrp="1"/>
          </p:cNvSpPr>
          <p:nvPr>
            <p:ph type="dt" sz="half" idx="10"/>
          </p:nvPr>
        </p:nvSpPr>
        <p:spPr/>
        <p:txBody>
          <a:bodyPr/>
          <a:lstStyle/>
          <a:p>
            <a:fld id="{45E90CF3-7BCB-4E41-A4BC-7F7C7D47433D}" type="datetime1">
              <a:rPr lang="zh-TW" altLang="en-US" smtClean="0"/>
              <a:t>2018/9/11</a:t>
            </a:fld>
            <a:endParaRPr lang="zh-TW" altLang="en-US"/>
          </a:p>
        </p:txBody>
      </p:sp>
      <p:sp>
        <p:nvSpPr>
          <p:cNvPr id="5" name="頁尾版面配置區 4">
            <a:extLst>
              <a:ext uri="{FF2B5EF4-FFF2-40B4-BE49-F238E27FC236}">
                <a16:creationId xmlns:a16="http://schemas.microsoft.com/office/drawing/2014/main" id="{3FA96B28-A6B2-4CCD-A0A0-0FC8A9F244A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2F41030-E2A0-4DD7-A077-C86BB9D1F485}"/>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29509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59C8D0-3EEB-43FA-AB9E-D0910F9C8F7C}"/>
              </a:ext>
            </a:extLst>
          </p:cNvPr>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6C8DA04-C654-4A32-81E1-D1990594B0BF}"/>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F67C9000-9E5A-4894-8CE5-D814ED1F8837}"/>
              </a:ext>
            </a:extLst>
          </p:cNvPr>
          <p:cNvSpPr>
            <a:spLocks noGrp="1"/>
          </p:cNvSpPr>
          <p:nvPr>
            <p:ph type="dt" sz="half" idx="10"/>
          </p:nvPr>
        </p:nvSpPr>
        <p:spPr/>
        <p:txBody>
          <a:bodyPr/>
          <a:lstStyle/>
          <a:p>
            <a:fld id="{939863AD-E347-426A-B227-78A9B42781C3}" type="datetime1">
              <a:rPr lang="zh-TW" altLang="en-US" smtClean="0"/>
              <a:t>2018/9/11</a:t>
            </a:fld>
            <a:endParaRPr lang="zh-TW" altLang="en-US"/>
          </a:p>
        </p:txBody>
      </p:sp>
      <p:sp>
        <p:nvSpPr>
          <p:cNvPr id="5" name="頁尾版面配置區 4">
            <a:extLst>
              <a:ext uri="{FF2B5EF4-FFF2-40B4-BE49-F238E27FC236}">
                <a16:creationId xmlns:a16="http://schemas.microsoft.com/office/drawing/2014/main" id="{BB87D9EE-8E3C-41CA-841E-E125FA8770C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B02431B-5153-4936-B0EE-CABE36F7C2C4}"/>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158174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A66F51-D3F0-406D-AAC3-01300BB0D94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1FBDAEA-0EC9-4BFC-B4DC-9A02E134EEF0}"/>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30943015-4729-44AB-B601-E3BFA2BA7599}"/>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19E55BE4-DE58-4CB4-A138-82C7FA95E005}"/>
              </a:ext>
            </a:extLst>
          </p:cNvPr>
          <p:cNvSpPr>
            <a:spLocks noGrp="1"/>
          </p:cNvSpPr>
          <p:nvPr>
            <p:ph type="dt" sz="half" idx="10"/>
          </p:nvPr>
        </p:nvSpPr>
        <p:spPr/>
        <p:txBody>
          <a:bodyPr/>
          <a:lstStyle/>
          <a:p>
            <a:fld id="{98EE8F46-57F3-4B32-B3C0-034060244659}" type="datetime1">
              <a:rPr lang="zh-TW" altLang="en-US" smtClean="0"/>
              <a:t>2018/9/11</a:t>
            </a:fld>
            <a:endParaRPr lang="zh-TW" altLang="en-US"/>
          </a:p>
        </p:txBody>
      </p:sp>
      <p:sp>
        <p:nvSpPr>
          <p:cNvPr id="6" name="頁尾版面配置區 5">
            <a:extLst>
              <a:ext uri="{FF2B5EF4-FFF2-40B4-BE49-F238E27FC236}">
                <a16:creationId xmlns:a16="http://schemas.microsoft.com/office/drawing/2014/main" id="{2E94F790-01BB-4A74-B31E-9E0181378F8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11A38C2-FB38-4EF1-BEE9-C6127183E77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109885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B86871-0575-4B21-9333-0B96E286CBA3}"/>
              </a:ext>
            </a:extLst>
          </p:cNvPr>
          <p:cNvSpPr>
            <a:spLocks noGrp="1"/>
          </p:cNvSpPr>
          <p:nvPr>
            <p:ph type="title"/>
          </p:nvPr>
        </p:nvSpPr>
        <p:spPr>
          <a:xfrm>
            <a:off x="839788" y="365127"/>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5CE8BC1-3B30-4676-AAB2-794442C2DB64}"/>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DED19164-1E96-40EE-9246-AA1E6599974F}"/>
              </a:ext>
            </a:extLst>
          </p:cNvPr>
          <p:cNvSpPr>
            <a:spLocks noGrp="1"/>
          </p:cNvSpPr>
          <p:nvPr>
            <p:ph sz="half" idx="2"/>
          </p:nvPr>
        </p:nvSpPr>
        <p:spPr>
          <a:xfrm>
            <a:off x="839789"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A06F7C1-0AF6-46DF-8CF5-44E8DBBE2DD5}"/>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9F3B69BF-E2A2-49C3-B1F9-786966B06347}"/>
              </a:ext>
            </a:extLst>
          </p:cNvPr>
          <p:cNvSpPr>
            <a:spLocks noGrp="1"/>
          </p:cNvSpPr>
          <p:nvPr>
            <p:ph sz="quarter" idx="4"/>
          </p:nvPr>
        </p:nvSpPr>
        <p:spPr>
          <a:xfrm>
            <a:off x="6172201"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81164490-F37E-4BF2-B792-E41261B07B22}"/>
              </a:ext>
            </a:extLst>
          </p:cNvPr>
          <p:cNvSpPr>
            <a:spLocks noGrp="1"/>
          </p:cNvSpPr>
          <p:nvPr>
            <p:ph type="dt" sz="half" idx="10"/>
          </p:nvPr>
        </p:nvSpPr>
        <p:spPr/>
        <p:txBody>
          <a:bodyPr/>
          <a:lstStyle/>
          <a:p>
            <a:fld id="{25BE6354-929A-48E4-A569-5065F8787DBB}" type="datetime1">
              <a:rPr lang="zh-TW" altLang="en-US" smtClean="0"/>
              <a:t>2018/9/11</a:t>
            </a:fld>
            <a:endParaRPr lang="zh-TW" altLang="en-US"/>
          </a:p>
        </p:txBody>
      </p:sp>
      <p:sp>
        <p:nvSpPr>
          <p:cNvPr id="8" name="頁尾版面配置區 7">
            <a:extLst>
              <a:ext uri="{FF2B5EF4-FFF2-40B4-BE49-F238E27FC236}">
                <a16:creationId xmlns:a16="http://schemas.microsoft.com/office/drawing/2014/main" id="{2AD5587A-E829-42C8-831F-99414F4962B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29B54927-CA1D-4379-9562-EFDFDA5D89FA}"/>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22950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39C19A-DE44-4713-BF93-3D9F1FCBE75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067B964-A9EE-448C-A903-DF032F75B54E}"/>
              </a:ext>
            </a:extLst>
          </p:cNvPr>
          <p:cNvSpPr>
            <a:spLocks noGrp="1"/>
          </p:cNvSpPr>
          <p:nvPr>
            <p:ph type="dt" sz="half" idx="10"/>
          </p:nvPr>
        </p:nvSpPr>
        <p:spPr/>
        <p:txBody>
          <a:bodyPr/>
          <a:lstStyle/>
          <a:p>
            <a:fld id="{9347B07A-C303-4A11-829E-75A08D84F791}" type="datetime1">
              <a:rPr lang="zh-TW" altLang="en-US" smtClean="0"/>
              <a:t>2018/9/11</a:t>
            </a:fld>
            <a:endParaRPr lang="zh-TW" altLang="en-US"/>
          </a:p>
        </p:txBody>
      </p:sp>
      <p:sp>
        <p:nvSpPr>
          <p:cNvPr id="4" name="頁尾版面配置區 3">
            <a:extLst>
              <a:ext uri="{FF2B5EF4-FFF2-40B4-BE49-F238E27FC236}">
                <a16:creationId xmlns:a16="http://schemas.microsoft.com/office/drawing/2014/main" id="{89FBDCDA-948D-4D74-A9CB-BF0FDF2891D3}"/>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6BF2C7E3-47A7-4611-B686-B56505F1B32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56072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05DC494-3175-4D2C-8019-6DC804B304DE}"/>
              </a:ext>
            </a:extLst>
          </p:cNvPr>
          <p:cNvSpPr>
            <a:spLocks noGrp="1"/>
          </p:cNvSpPr>
          <p:nvPr>
            <p:ph type="dt" sz="half" idx="10"/>
          </p:nvPr>
        </p:nvSpPr>
        <p:spPr/>
        <p:txBody>
          <a:bodyPr/>
          <a:lstStyle/>
          <a:p>
            <a:fld id="{818C0FAA-EAB9-46FF-9B2E-6C03EFE0E627}" type="datetime1">
              <a:rPr lang="zh-TW" altLang="en-US" smtClean="0"/>
              <a:t>2018/9/11</a:t>
            </a:fld>
            <a:endParaRPr lang="zh-TW" altLang="en-US"/>
          </a:p>
        </p:txBody>
      </p:sp>
      <p:sp>
        <p:nvSpPr>
          <p:cNvPr id="3" name="頁尾版面配置區 2">
            <a:extLst>
              <a:ext uri="{FF2B5EF4-FFF2-40B4-BE49-F238E27FC236}">
                <a16:creationId xmlns:a16="http://schemas.microsoft.com/office/drawing/2014/main" id="{A61414F2-4AAB-4D3D-9B55-6D611E2C51B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D327B6FE-1D54-44CF-9B02-7D4B222A733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30140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A1337AC-5890-4658-9633-0789FDA9573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E22CC54-BC45-47EE-96B0-B43A1D1BC316}"/>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5C769566-CB0F-43CF-9358-EBC2CC4FB396}"/>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E19407D-C528-4858-9191-402D0B2E4E7A}"/>
              </a:ext>
            </a:extLst>
          </p:cNvPr>
          <p:cNvSpPr>
            <a:spLocks noGrp="1"/>
          </p:cNvSpPr>
          <p:nvPr>
            <p:ph type="dt" sz="half" idx="10"/>
          </p:nvPr>
        </p:nvSpPr>
        <p:spPr/>
        <p:txBody>
          <a:bodyPr/>
          <a:lstStyle/>
          <a:p>
            <a:fld id="{6F615960-3F62-4BA7-8DEF-58213E9FC750}" type="datetime1">
              <a:rPr lang="zh-TW" altLang="en-US" smtClean="0"/>
              <a:t>2018/9/11</a:t>
            </a:fld>
            <a:endParaRPr lang="zh-TW" altLang="en-US"/>
          </a:p>
        </p:txBody>
      </p:sp>
      <p:sp>
        <p:nvSpPr>
          <p:cNvPr id="6" name="頁尾版面配置區 5">
            <a:extLst>
              <a:ext uri="{FF2B5EF4-FFF2-40B4-BE49-F238E27FC236}">
                <a16:creationId xmlns:a16="http://schemas.microsoft.com/office/drawing/2014/main" id="{876CEE8D-E284-4A31-91E6-DED43608B81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E8B0B4B-C516-4AA2-BB4B-78EB6C78AB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330831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41F1C9-4A33-41F9-9A6C-C2CA32C4241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DE938834-CF9D-43C8-A12C-17090FA2F8B1}"/>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zh-TW" altLang="en-US"/>
          </a:p>
        </p:txBody>
      </p:sp>
      <p:sp>
        <p:nvSpPr>
          <p:cNvPr id="4" name="文字版面配置區 3">
            <a:extLst>
              <a:ext uri="{FF2B5EF4-FFF2-40B4-BE49-F238E27FC236}">
                <a16:creationId xmlns:a16="http://schemas.microsoft.com/office/drawing/2014/main" id="{5533F49C-9EA4-4A17-8CB9-8793107C0947}"/>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93917929-FFD5-45C6-AB7C-0A03F71D13FE}"/>
              </a:ext>
            </a:extLst>
          </p:cNvPr>
          <p:cNvSpPr>
            <a:spLocks noGrp="1"/>
          </p:cNvSpPr>
          <p:nvPr>
            <p:ph type="dt" sz="half" idx="10"/>
          </p:nvPr>
        </p:nvSpPr>
        <p:spPr/>
        <p:txBody>
          <a:bodyPr/>
          <a:lstStyle/>
          <a:p>
            <a:fld id="{BA495139-73A5-4D37-9F65-42DD6EFCB362}" type="datetime1">
              <a:rPr lang="zh-TW" altLang="en-US" smtClean="0"/>
              <a:t>2018/9/11</a:t>
            </a:fld>
            <a:endParaRPr lang="zh-TW" altLang="en-US"/>
          </a:p>
        </p:txBody>
      </p:sp>
      <p:sp>
        <p:nvSpPr>
          <p:cNvPr id="6" name="頁尾版面配置區 5">
            <a:extLst>
              <a:ext uri="{FF2B5EF4-FFF2-40B4-BE49-F238E27FC236}">
                <a16:creationId xmlns:a16="http://schemas.microsoft.com/office/drawing/2014/main" id="{7957C9B4-23F7-4ED4-B3ED-8BA7DAFFBCC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C8198A6-61AE-471E-87FA-7AAA5711C591}"/>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080696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0126FA-CD86-4406-B2A6-385B5925E9B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266ECCF-61AA-4623-A519-B8C19CE7C88A}"/>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EF64FCF-DA26-41B4-8919-89C752F28E4F}"/>
              </a:ext>
            </a:extLst>
          </p:cNvPr>
          <p:cNvSpPr>
            <a:spLocks noGrp="1"/>
          </p:cNvSpPr>
          <p:nvPr>
            <p:ph type="dt" sz="half" idx="10"/>
          </p:nvPr>
        </p:nvSpPr>
        <p:spPr/>
        <p:txBody>
          <a:bodyPr/>
          <a:lstStyle/>
          <a:p>
            <a:fld id="{F65DB9CA-F34A-4005-B66B-4638821FBB36}" type="datetime1">
              <a:rPr lang="zh-TW" altLang="en-US" smtClean="0"/>
              <a:t>2018/9/11</a:t>
            </a:fld>
            <a:endParaRPr lang="zh-TW" altLang="en-US"/>
          </a:p>
        </p:txBody>
      </p:sp>
      <p:sp>
        <p:nvSpPr>
          <p:cNvPr id="5" name="頁尾版面配置區 4">
            <a:extLst>
              <a:ext uri="{FF2B5EF4-FFF2-40B4-BE49-F238E27FC236}">
                <a16:creationId xmlns:a16="http://schemas.microsoft.com/office/drawing/2014/main" id="{0DB90C5E-07BB-4BDE-A6DE-837D4B32EE0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E20F850-672A-48DC-883D-8831666672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86706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8F3BBB3C-AD7C-461A-B4F6-E1D3B7F36C83}"/>
              </a:ext>
            </a:extLst>
          </p:cNvPr>
          <p:cNvSpPr>
            <a:spLocks noGrp="1"/>
          </p:cNvSpPr>
          <p:nvPr>
            <p:ph type="title" orient="vert"/>
          </p:nvPr>
        </p:nvSpPr>
        <p:spPr>
          <a:xfrm>
            <a:off x="8724901"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B38A6C4-FFF1-480E-A653-69B9EA56ABA4}"/>
              </a:ext>
            </a:extLst>
          </p:cNvPr>
          <p:cNvSpPr>
            <a:spLocks noGrp="1"/>
          </p:cNvSpPr>
          <p:nvPr>
            <p:ph type="body" orient="vert" idx="1"/>
          </p:nvPr>
        </p:nvSpPr>
        <p:spPr>
          <a:xfrm>
            <a:off x="838201"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253E183-339D-4996-9336-DF360AFA83CE}"/>
              </a:ext>
            </a:extLst>
          </p:cNvPr>
          <p:cNvSpPr>
            <a:spLocks noGrp="1"/>
          </p:cNvSpPr>
          <p:nvPr>
            <p:ph type="dt" sz="half" idx="10"/>
          </p:nvPr>
        </p:nvSpPr>
        <p:spPr/>
        <p:txBody>
          <a:bodyPr/>
          <a:lstStyle/>
          <a:p>
            <a:fld id="{9112FA3D-57A8-4A36-8AB7-98D4B7F81A6B}" type="datetime1">
              <a:rPr lang="zh-TW" altLang="en-US" smtClean="0"/>
              <a:t>2018/9/11</a:t>
            </a:fld>
            <a:endParaRPr lang="zh-TW" altLang="en-US"/>
          </a:p>
        </p:txBody>
      </p:sp>
      <p:sp>
        <p:nvSpPr>
          <p:cNvPr id="5" name="頁尾版面配置區 4">
            <a:extLst>
              <a:ext uri="{FF2B5EF4-FFF2-40B4-BE49-F238E27FC236}">
                <a16:creationId xmlns:a16="http://schemas.microsoft.com/office/drawing/2014/main" id="{BF8900FD-C0EE-4957-AD7C-2F848F09144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F7F8627-2565-4288-8ACC-D27B03944509}"/>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619511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278959-5364-4351-AC95-0854CBC4DE11}"/>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7FD0B26-27BA-4591-876F-81883746EF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2AEA749-A752-40EF-9A2F-1D5D321BDD0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ECB9FC-3C71-41FD-914C-6EDD2F45F0F9}" type="datetime1">
              <a:rPr lang="zh-TW" altLang="en-US" smtClean="0"/>
              <a:t>2018/9/11</a:t>
            </a:fld>
            <a:endParaRPr lang="zh-TW" altLang="en-US"/>
          </a:p>
        </p:txBody>
      </p:sp>
      <p:sp>
        <p:nvSpPr>
          <p:cNvPr id="5" name="頁尾版面配置區 4">
            <a:extLst>
              <a:ext uri="{FF2B5EF4-FFF2-40B4-BE49-F238E27FC236}">
                <a16:creationId xmlns:a16="http://schemas.microsoft.com/office/drawing/2014/main" id="{D0EBD8A3-AFAC-4E16-BF90-054E8ED749DC}"/>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9B23ABFF-0703-422A-93E4-68B89B878C29}"/>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1246122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zh.wikipedia.org/wiki/%E5%B7%B4%E5%A1%9E%E7%BD%97%E9%82%A3"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google.com.tw/maps/place/%E8%A5%BF%E7%8F%AD%E7%89%99%E5%B7%B4%E5%A1%9E%E9%9A%86%E7%B4%8D%E5%B7%B4%E5%A1%9E%E9%9A%86%E6%8B%BF/data=!4m2!3m1!1s0x12a49816718e30e5:0x44b0fb3d4f47660a?sa=X&amp;ved=2ahUKEwjFlNe2o7LdAhWH7GEKHZ0KAf8Q8gEwFXoECAoQCw"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600E22-8B2D-44A2-B529-2D5C521DF6EC}"/>
              </a:ext>
            </a:extLst>
          </p:cNvPr>
          <p:cNvSpPr>
            <a:spLocks noGrp="1"/>
          </p:cNvSpPr>
          <p:nvPr>
            <p:ph type="ctrTitle"/>
          </p:nvPr>
        </p:nvSpPr>
        <p:spPr>
          <a:xfrm>
            <a:off x="534441" y="542567"/>
            <a:ext cx="11123113" cy="1786671"/>
          </a:xfrm>
        </p:spPr>
        <p:txBody>
          <a:bodyPr>
            <a:noAutofit/>
          </a:bodyPr>
          <a:lstStyle/>
          <a:p>
            <a:r>
              <a:rPr lang="en-US" altLang="zh-TW" sz="4400" dirty="0" err="1"/>
              <a:t>AWarp</a:t>
            </a:r>
            <a:r>
              <a:rPr lang="en-US" altLang="zh-TW" sz="4400" dirty="0"/>
              <a:t>: Fast Warping Distance for Sparse</a:t>
            </a:r>
            <a:br>
              <a:rPr lang="en-US" altLang="zh-TW" sz="4400" dirty="0"/>
            </a:br>
            <a:r>
              <a:rPr lang="en-US" altLang="zh-TW" sz="4400" dirty="0"/>
              <a:t>Time Series</a:t>
            </a:r>
            <a:endParaRPr lang="zh-TW" altLang="en-US" sz="4400" dirty="0">
              <a:latin typeface="Tw Cen MT" panose="020B0602020104020603" pitchFamily="34" charset="0"/>
              <a:cs typeface="Times New Roman" panose="02020603050405020304" pitchFamily="18" charset="0"/>
            </a:endParaRPr>
          </a:p>
        </p:txBody>
      </p:sp>
      <p:sp>
        <p:nvSpPr>
          <p:cNvPr id="3" name="副標題 2">
            <a:extLst>
              <a:ext uri="{FF2B5EF4-FFF2-40B4-BE49-F238E27FC236}">
                <a16:creationId xmlns:a16="http://schemas.microsoft.com/office/drawing/2014/main" id="{E1F7DB53-5192-4070-9ADE-B5C85E35C2CC}"/>
              </a:ext>
            </a:extLst>
          </p:cNvPr>
          <p:cNvSpPr>
            <a:spLocks noGrp="1"/>
          </p:cNvSpPr>
          <p:nvPr>
            <p:ph type="subTitle" idx="1"/>
          </p:nvPr>
        </p:nvSpPr>
        <p:spPr>
          <a:xfrm>
            <a:off x="383332" y="2810596"/>
            <a:ext cx="11425330" cy="618404"/>
          </a:xfrm>
        </p:spPr>
        <p:txBody>
          <a:bodyPr>
            <a:noAutofit/>
          </a:bodyPr>
          <a:lstStyle/>
          <a:p>
            <a:r>
              <a:rPr lang="en-US" altLang="zh-TW" dirty="0"/>
              <a:t>Abdullah </a:t>
            </a:r>
            <a:r>
              <a:rPr lang="en-US" altLang="zh-TW" dirty="0" err="1"/>
              <a:t>Mueen</a:t>
            </a:r>
            <a:r>
              <a:rPr lang="en-US" altLang="zh-TW" dirty="0"/>
              <a:t>, </a:t>
            </a:r>
            <a:r>
              <a:rPr lang="en-US" altLang="zh-TW" dirty="0" err="1"/>
              <a:t>Nikan</a:t>
            </a:r>
            <a:r>
              <a:rPr lang="en-US" altLang="zh-TW" dirty="0"/>
              <a:t> </a:t>
            </a:r>
            <a:r>
              <a:rPr lang="en-US" altLang="zh-TW" dirty="0" err="1"/>
              <a:t>Chavoshi</a:t>
            </a:r>
            <a:r>
              <a:rPr lang="en-US" altLang="zh-TW" dirty="0"/>
              <a:t>, Noor Abu-El-Rub, Hossein </a:t>
            </a:r>
            <a:r>
              <a:rPr lang="en-US" altLang="zh-TW" dirty="0" err="1"/>
              <a:t>Hamooni</a:t>
            </a:r>
            <a:r>
              <a:rPr lang="en-US" altLang="zh-TW" dirty="0"/>
              <a:t>, Amanda </a:t>
            </a:r>
            <a:r>
              <a:rPr lang="en-US" altLang="zh-TW" dirty="0" err="1"/>
              <a:t>Minnich</a:t>
            </a:r>
            <a:endParaRPr lang="zh-TW" altLang="en-US" sz="2600" dirty="0"/>
          </a:p>
        </p:txBody>
      </p:sp>
      <p:sp>
        <p:nvSpPr>
          <p:cNvPr id="4" name="投影片編號版面配置區 3">
            <a:extLst>
              <a:ext uri="{FF2B5EF4-FFF2-40B4-BE49-F238E27FC236}">
                <a16:creationId xmlns:a16="http://schemas.microsoft.com/office/drawing/2014/main" id="{F20F7494-AC7E-43FC-B731-082CA109D2FA}"/>
              </a:ext>
            </a:extLst>
          </p:cNvPr>
          <p:cNvSpPr>
            <a:spLocks noGrp="1"/>
          </p:cNvSpPr>
          <p:nvPr>
            <p:ph type="sldNum" sz="quarter" idx="12"/>
          </p:nvPr>
        </p:nvSpPr>
        <p:spPr>
          <a:xfrm>
            <a:off x="8354568" y="6485003"/>
            <a:ext cx="2743200" cy="365125"/>
          </a:xfrm>
        </p:spPr>
        <p:txBody>
          <a:bodyPr/>
          <a:lstStyle/>
          <a:p>
            <a:fld id="{8DCCD063-7F18-423D-A692-CC9D343FD360}" type="slidenum">
              <a:rPr lang="zh-TW" altLang="en-US" smtClean="0"/>
              <a:t>1</a:t>
            </a:fld>
            <a:endParaRPr lang="zh-TW" altLang="en-US" dirty="0"/>
          </a:p>
        </p:txBody>
      </p:sp>
      <p:sp>
        <p:nvSpPr>
          <p:cNvPr id="5" name="副標題 2">
            <a:extLst>
              <a:ext uri="{FF2B5EF4-FFF2-40B4-BE49-F238E27FC236}">
                <a16:creationId xmlns:a16="http://schemas.microsoft.com/office/drawing/2014/main" id="{CC60B4B8-BDE3-427A-B56B-7314F1C4CCA4}"/>
              </a:ext>
            </a:extLst>
          </p:cNvPr>
          <p:cNvSpPr txBox="1">
            <a:spLocks/>
          </p:cNvSpPr>
          <p:nvPr/>
        </p:nvSpPr>
        <p:spPr>
          <a:xfrm>
            <a:off x="1048428" y="3891090"/>
            <a:ext cx="10095142" cy="9027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solidFill>
                  <a:schemeClr val="tx1"/>
                </a:solidFill>
              </a:rPr>
              <a:t>2016 IEEE 16th International Conference on Data Mining (ICDM)</a:t>
            </a:r>
          </a:p>
          <a:p>
            <a:r>
              <a:rPr lang="en-US" altLang="zh-TW" dirty="0">
                <a:solidFill>
                  <a:schemeClr val="tx1"/>
                </a:solidFill>
              </a:rPr>
              <a:t>12-15 Dec. 2016, Barcelona, Spain</a:t>
            </a:r>
          </a:p>
        </p:txBody>
      </p:sp>
      <p:sp>
        <p:nvSpPr>
          <p:cNvPr id="6" name="副標題 2">
            <a:extLst>
              <a:ext uri="{FF2B5EF4-FFF2-40B4-BE49-F238E27FC236}">
                <a16:creationId xmlns:a16="http://schemas.microsoft.com/office/drawing/2014/main" id="{F161951C-063C-40D4-A802-0FD8D23F3044}"/>
              </a:ext>
            </a:extLst>
          </p:cNvPr>
          <p:cNvSpPr txBox="1">
            <a:spLocks/>
          </p:cNvSpPr>
          <p:nvPr/>
        </p:nvSpPr>
        <p:spPr>
          <a:xfrm>
            <a:off x="1192823" y="5265553"/>
            <a:ext cx="9806355" cy="9027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solidFill>
                  <a:schemeClr val="tx1"/>
                </a:solidFill>
              </a:rPr>
              <a:t>Presenter: Shan-Ru Liu</a:t>
            </a:r>
          </a:p>
          <a:p>
            <a:r>
              <a:rPr lang="en-US" altLang="zh-TW" dirty="0">
                <a:solidFill>
                  <a:schemeClr val="tx1"/>
                </a:solidFill>
              </a:rPr>
              <a:t>Date: 2018/09/11</a:t>
            </a:r>
            <a:endParaRPr lang="zh-TW" altLang="en-US" dirty="0">
              <a:solidFill>
                <a:schemeClr val="tx1"/>
              </a:solidFill>
            </a:endParaRPr>
          </a:p>
        </p:txBody>
      </p:sp>
      <p:sp>
        <p:nvSpPr>
          <p:cNvPr id="7" name="橢圓 6">
            <a:hlinkClick r:id="rId3"/>
            <a:extLst>
              <a:ext uri="{FF2B5EF4-FFF2-40B4-BE49-F238E27FC236}">
                <a16:creationId xmlns:a16="http://schemas.microsoft.com/office/drawing/2014/main" id="{1CC1429E-AA28-4174-9F5C-C2E36B199D87}"/>
              </a:ext>
            </a:extLst>
          </p:cNvPr>
          <p:cNvSpPr/>
          <p:nvPr/>
        </p:nvSpPr>
        <p:spPr>
          <a:xfrm>
            <a:off x="190369" y="6386643"/>
            <a:ext cx="385925" cy="365125"/>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8" name="橢圓 7">
            <a:hlinkClick r:id="rId4"/>
            <a:extLst>
              <a:ext uri="{FF2B5EF4-FFF2-40B4-BE49-F238E27FC236}">
                <a16:creationId xmlns:a16="http://schemas.microsoft.com/office/drawing/2014/main" id="{320D8214-3FFD-4544-95D6-B8D5BC13A4A9}"/>
              </a:ext>
            </a:extLst>
          </p:cNvPr>
          <p:cNvSpPr/>
          <p:nvPr/>
        </p:nvSpPr>
        <p:spPr>
          <a:xfrm>
            <a:off x="703094" y="6386642"/>
            <a:ext cx="423566" cy="365125"/>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1428191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1E4FEA-D504-4984-8169-77A8B62C8DAA}"/>
              </a:ext>
            </a:extLst>
          </p:cNvPr>
          <p:cNvSpPr>
            <a:spLocks noGrp="1"/>
          </p:cNvSpPr>
          <p:nvPr>
            <p:ph type="title"/>
          </p:nvPr>
        </p:nvSpPr>
        <p:spPr/>
        <p:txBody>
          <a:bodyPr/>
          <a:lstStyle/>
          <a:p>
            <a:r>
              <a:rPr lang="en-US" altLang="zh-TW" dirty="0"/>
              <a:t>Abstract (1/2)</a:t>
            </a:r>
            <a:endParaRPr lang="zh-TW" altLang="en-US" dirty="0"/>
          </a:p>
        </p:txBody>
      </p:sp>
      <p:sp>
        <p:nvSpPr>
          <p:cNvPr id="3" name="內容版面配置區 2">
            <a:extLst>
              <a:ext uri="{FF2B5EF4-FFF2-40B4-BE49-F238E27FC236}">
                <a16:creationId xmlns:a16="http://schemas.microsoft.com/office/drawing/2014/main" id="{48A7BC5F-5DB6-4B6E-A263-D2C31A7AB884}"/>
              </a:ext>
            </a:extLst>
          </p:cNvPr>
          <p:cNvSpPr>
            <a:spLocks noGrp="1"/>
          </p:cNvSpPr>
          <p:nvPr>
            <p:ph idx="1"/>
          </p:nvPr>
        </p:nvSpPr>
        <p:spPr>
          <a:xfrm>
            <a:off x="838200" y="1520825"/>
            <a:ext cx="10294257" cy="4351338"/>
          </a:xfrm>
        </p:spPr>
        <p:txBody>
          <a:bodyPr>
            <a:noAutofit/>
          </a:bodyPr>
          <a:lstStyle/>
          <a:p>
            <a:pPr marL="0" indent="0">
              <a:buNone/>
            </a:pPr>
            <a:r>
              <a:rPr lang="en-US" altLang="zh-TW" dirty="0"/>
              <a:t>Dynamic Time Warping (DTW) distance has been effectively used in mining time series data in a multitude of domains. However, in its original formulation DTW is extremely inefficient in comparing long sparse time series, containing mostly zeros and some unevenly spaced non-zero observations. Original DTW distance does not take advantage of this sparsity, leading to redundant calculations and a prohibitively large computational cost for long time series. We derive a new time warping similarity measure (</a:t>
            </a:r>
            <a:r>
              <a:rPr lang="en-US" altLang="zh-TW" dirty="0" err="1"/>
              <a:t>AWarp</a:t>
            </a:r>
            <a:r>
              <a:rPr lang="en-US" altLang="zh-TW" dirty="0"/>
              <a:t>) for sparse time series that works on the run-length encoded representation of sparse time series. The complexity of </a:t>
            </a:r>
            <a:r>
              <a:rPr lang="en-US" altLang="zh-TW" dirty="0" err="1"/>
              <a:t>AWarp</a:t>
            </a:r>
            <a:r>
              <a:rPr lang="en-US" altLang="zh-TW" dirty="0"/>
              <a:t> is quadratic on the number of observations as opposed to the range of time of the time series. </a:t>
            </a:r>
            <a:endParaRPr lang="zh-TW" altLang="en-US" dirty="0"/>
          </a:p>
        </p:txBody>
      </p:sp>
      <p:sp>
        <p:nvSpPr>
          <p:cNvPr id="4" name="投影片編號版面配置區 3">
            <a:extLst>
              <a:ext uri="{FF2B5EF4-FFF2-40B4-BE49-F238E27FC236}">
                <a16:creationId xmlns:a16="http://schemas.microsoft.com/office/drawing/2014/main" id="{8A8B9C12-508D-4AC0-A402-645B6EC72699}"/>
              </a:ext>
            </a:extLst>
          </p:cNvPr>
          <p:cNvSpPr>
            <a:spLocks noGrp="1"/>
          </p:cNvSpPr>
          <p:nvPr>
            <p:ph type="sldNum" sz="quarter" idx="12"/>
          </p:nvPr>
        </p:nvSpPr>
        <p:spPr/>
        <p:txBody>
          <a:bodyPr/>
          <a:lstStyle/>
          <a:p>
            <a:fld id="{8DCCD063-7F18-423D-A692-CC9D343FD360}" type="slidenum">
              <a:rPr lang="zh-TW" altLang="en-US" smtClean="0"/>
              <a:t>2</a:t>
            </a:fld>
            <a:endParaRPr lang="zh-TW" altLang="en-US"/>
          </a:p>
        </p:txBody>
      </p:sp>
    </p:spTree>
    <p:extLst>
      <p:ext uri="{BB962C8B-B14F-4D97-AF65-F5344CB8AC3E}">
        <p14:creationId xmlns:p14="http://schemas.microsoft.com/office/powerpoint/2010/main" val="1679220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1E4FEA-D504-4984-8169-77A8B62C8DAA}"/>
              </a:ext>
            </a:extLst>
          </p:cNvPr>
          <p:cNvSpPr>
            <a:spLocks noGrp="1"/>
          </p:cNvSpPr>
          <p:nvPr>
            <p:ph type="title"/>
          </p:nvPr>
        </p:nvSpPr>
        <p:spPr/>
        <p:txBody>
          <a:bodyPr/>
          <a:lstStyle/>
          <a:p>
            <a:r>
              <a:rPr lang="en-US" altLang="zh-TW" dirty="0"/>
              <a:t>Abstract (2/2)</a:t>
            </a:r>
            <a:endParaRPr lang="zh-TW" altLang="en-US" dirty="0"/>
          </a:p>
        </p:txBody>
      </p:sp>
      <p:sp>
        <p:nvSpPr>
          <p:cNvPr id="3" name="內容版面配置區 2">
            <a:extLst>
              <a:ext uri="{FF2B5EF4-FFF2-40B4-BE49-F238E27FC236}">
                <a16:creationId xmlns:a16="http://schemas.microsoft.com/office/drawing/2014/main" id="{48A7BC5F-5DB6-4B6E-A263-D2C31A7AB884}"/>
              </a:ext>
            </a:extLst>
          </p:cNvPr>
          <p:cNvSpPr>
            <a:spLocks noGrp="1"/>
          </p:cNvSpPr>
          <p:nvPr>
            <p:ph idx="1"/>
          </p:nvPr>
        </p:nvSpPr>
        <p:spPr>
          <a:xfrm>
            <a:off x="838200" y="1460500"/>
            <a:ext cx="10062029" cy="5032373"/>
          </a:xfrm>
        </p:spPr>
        <p:txBody>
          <a:bodyPr>
            <a:normAutofit/>
          </a:bodyPr>
          <a:lstStyle/>
          <a:p>
            <a:pPr marL="0" indent="0">
              <a:buNone/>
            </a:pPr>
            <a:r>
              <a:rPr lang="en-US" altLang="zh-TW" dirty="0"/>
              <a:t>Therefore, </a:t>
            </a:r>
            <a:r>
              <a:rPr lang="en-US" altLang="zh-TW" dirty="0" err="1"/>
              <a:t>AWarp</a:t>
            </a:r>
            <a:r>
              <a:rPr lang="en-US" altLang="zh-TW" dirty="0"/>
              <a:t> can be several orders of magnitude faster than DTW on sparse time series. </a:t>
            </a:r>
            <a:r>
              <a:rPr lang="en-US" altLang="zh-TW" dirty="0" err="1"/>
              <a:t>AWarp</a:t>
            </a:r>
            <a:r>
              <a:rPr lang="en-US" altLang="zh-TW" dirty="0"/>
              <a:t> is exact for binary-valued time series and a close approximation of the original DTW distance for any-valued series. We discuss useful variants of </a:t>
            </a:r>
            <a:r>
              <a:rPr lang="en-US" altLang="zh-TW" dirty="0" err="1"/>
              <a:t>AWarp</a:t>
            </a:r>
            <a:r>
              <a:rPr lang="en-US" altLang="zh-TW" dirty="0"/>
              <a:t>: bounded (both upper and lower), constrained, and multidimensional. We show applications of </a:t>
            </a:r>
            <a:r>
              <a:rPr lang="en-US" altLang="zh-TW" dirty="0" err="1"/>
              <a:t>AWarp</a:t>
            </a:r>
            <a:r>
              <a:rPr lang="en-US" altLang="zh-TW" dirty="0"/>
              <a:t> to three data mining tasks including clustering, classification, and outlier detection, which are otherwise not feasible using classic DTW, while producing equivalent results. Potential areas of application include bot detection, human activity classification, and unusual review pattern mining.</a:t>
            </a:r>
            <a:endParaRPr lang="zh-TW" altLang="en-US" dirty="0"/>
          </a:p>
        </p:txBody>
      </p:sp>
      <p:sp>
        <p:nvSpPr>
          <p:cNvPr id="4" name="投影片編號版面配置區 3">
            <a:extLst>
              <a:ext uri="{FF2B5EF4-FFF2-40B4-BE49-F238E27FC236}">
                <a16:creationId xmlns:a16="http://schemas.microsoft.com/office/drawing/2014/main" id="{8A8B9C12-508D-4AC0-A402-645B6EC72699}"/>
              </a:ext>
            </a:extLst>
          </p:cNvPr>
          <p:cNvSpPr>
            <a:spLocks noGrp="1"/>
          </p:cNvSpPr>
          <p:nvPr>
            <p:ph type="sldNum" sz="quarter" idx="12"/>
          </p:nvPr>
        </p:nvSpPr>
        <p:spPr/>
        <p:txBody>
          <a:bodyPr/>
          <a:lstStyle/>
          <a:p>
            <a:fld id="{8DCCD063-7F18-423D-A692-CC9D343FD360}" type="slidenum">
              <a:rPr lang="zh-TW" altLang="en-US" smtClean="0"/>
              <a:t>3</a:t>
            </a:fld>
            <a:endParaRPr lang="zh-TW" altLang="en-US"/>
          </a:p>
        </p:txBody>
      </p:sp>
    </p:spTree>
    <p:extLst>
      <p:ext uri="{BB962C8B-B14F-4D97-AF65-F5344CB8AC3E}">
        <p14:creationId xmlns:p14="http://schemas.microsoft.com/office/powerpoint/2010/main" val="3113286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7BE2E1-0D81-476E-BCBE-E49CAFD0D037}"/>
              </a:ext>
            </a:extLst>
          </p:cNvPr>
          <p:cNvSpPr>
            <a:spLocks noGrp="1"/>
          </p:cNvSpPr>
          <p:nvPr>
            <p:ph type="title"/>
          </p:nvPr>
        </p:nvSpPr>
        <p:spPr/>
        <p:txBody>
          <a:bodyPr/>
          <a:lstStyle/>
          <a:p>
            <a:r>
              <a:rPr lang="en-US" altLang="zh-TW" dirty="0"/>
              <a:t>Sparse time series (Euclidean vs. Warping)</a:t>
            </a:r>
            <a:endParaRPr lang="zh-TW" altLang="en-US" dirty="0"/>
          </a:p>
        </p:txBody>
      </p:sp>
      <p:sp>
        <p:nvSpPr>
          <p:cNvPr id="4" name="投影片編號版面配置區 3">
            <a:extLst>
              <a:ext uri="{FF2B5EF4-FFF2-40B4-BE49-F238E27FC236}">
                <a16:creationId xmlns:a16="http://schemas.microsoft.com/office/drawing/2014/main" id="{300A4EE8-327D-49C3-8CC5-DBB66DD1EC89}"/>
              </a:ext>
            </a:extLst>
          </p:cNvPr>
          <p:cNvSpPr>
            <a:spLocks noGrp="1"/>
          </p:cNvSpPr>
          <p:nvPr>
            <p:ph type="sldNum" sz="quarter" idx="12"/>
          </p:nvPr>
        </p:nvSpPr>
        <p:spPr/>
        <p:txBody>
          <a:bodyPr/>
          <a:lstStyle/>
          <a:p>
            <a:fld id="{8DCCD063-7F18-423D-A692-CC9D343FD360}" type="slidenum">
              <a:rPr lang="zh-TW" altLang="en-US" smtClean="0"/>
              <a:t>4</a:t>
            </a:fld>
            <a:endParaRPr lang="zh-TW" altLang="en-US"/>
          </a:p>
        </p:txBody>
      </p:sp>
      <p:pic>
        <p:nvPicPr>
          <p:cNvPr id="8" name="內容版面配置區 7">
            <a:extLst>
              <a:ext uri="{FF2B5EF4-FFF2-40B4-BE49-F238E27FC236}">
                <a16:creationId xmlns:a16="http://schemas.microsoft.com/office/drawing/2014/main" id="{A13882FF-1A81-4B1B-8437-AADE2C25ADE7}"/>
              </a:ext>
            </a:extLst>
          </p:cNvPr>
          <p:cNvPicPr>
            <a:picLocks noGrp="1" noChangeAspect="1"/>
          </p:cNvPicPr>
          <p:nvPr>
            <p:ph idx="1"/>
          </p:nvPr>
        </p:nvPicPr>
        <p:blipFill>
          <a:blip r:embed="rId2"/>
          <a:stretch>
            <a:fillRect/>
          </a:stretch>
        </p:blipFill>
        <p:spPr>
          <a:xfrm>
            <a:off x="1719942" y="1426543"/>
            <a:ext cx="8752115" cy="5193956"/>
          </a:xfrm>
          <a:prstGeom prst="rect">
            <a:avLst/>
          </a:prstGeom>
        </p:spPr>
      </p:pic>
    </p:spTree>
    <p:extLst>
      <p:ext uri="{BB962C8B-B14F-4D97-AF65-F5344CB8AC3E}">
        <p14:creationId xmlns:p14="http://schemas.microsoft.com/office/powerpoint/2010/main" val="1691746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519728-4CD7-4351-BEAD-CCFEF0B0EAD8}"/>
              </a:ext>
            </a:extLst>
          </p:cNvPr>
          <p:cNvSpPr>
            <a:spLocks noGrp="1"/>
          </p:cNvSpPr>
          <p:nvPr>
            <p:ph type="title"/>
          </p:nvPr>
        </p:nvSpPr>
        <p:spPr/>
        <p:txBody>
          <a:bodyPr/>
          <a:lstStyle/>
          <a:p>
            <a:r>
              <a:rPr lang="en-US" altLang="zh-TW" dirty="0"/>
              <a:t>Representations</a:t>
            </a:r>
            <a:endParaRPr lang="zh-TW" altLang="en-US" dirty="0"/>
          </a:p>
        </p:txBody>
      </p:sp>
      <p:sp>
        <p:nvSpPr>
          <p:cNvPr id="3" name="內容版面配置區 2">
            <a:extLst>
              <a:ext uri="{FF2B5EF4-FFF2-40B4-BE49-F238E27FC236}">
                <a16:creationId xmlns:a16="http://schemas.microsoft.com/office/drawing/2014/main" id="{40902411-159B-467D-BC7C-5FD58A602D34}"/>
              </a:ext>
            </a:extLst>
          </p:cNvPr>
          <p:cNvSpPr>
            <a:spLocks noGrp="1"/>
          </p:cNvSpPr>
          <p:nvPr>
            <p:ph idx="1"/>
          </p:nvPr>
        </p:nvSpPr>
        <p:spPr/>
        <p:txBody>
          <a:bodyPr>
            <a:normAutofit/>
          </a:bodyPr>
          <a:lstStyle/>
          <a:p>
            <a:r>
              <a:rPr lang="en-US" altLang="zh-TW" sz="3400" i="1" dirty="0"/>
              <a:t>T </a:t>
            </a:r>
            <a:r>
              <a:rPr lang="en-US" altLang="zh-TW" sz="3400" dirty="0"/>
              <a:t>= </a:t>
            </a:r>
            <a:r>
              <a:rPr lang="en-US" altLang="zh-TW" sz="3400" i="1" dirty="0"/>
              <a:t>&lt; </a:t>
            </a:r>
            <a:r>
              <a:rPr lang="en-US" altLang="zh-TW" sz="3400" dirty="0"/>
              <a:t>7</a:t>
            </a:r>
            <a:r>
              <a:rPr lang="en-US" altLang="zh-TW" sz="3400" i="1" dirty="0"/>
              <a:t>, </a:t>
            </a:r>
            <a:r>
              <a:rPr lang="en-US" altLang="zh-TW" sz="3400" dirty="0"/>
              <a:t>0</a:t>
            </a:r>
            <a:r>
              <a:rPr lang="en-US" altLang="zh-TW" sz="3400" i="1" dirty="0"/>
              <a:t>, </a:t>
            </a:r>
            <a:r>
              <a:rPr lang="en-US" altLang="zh-TW" sz="3400" dirty="0"/>
              <a:t>0</a:t>
            </a:r>
            <a:r>
              <a:rPr lang="en-US" altLang="zh-TW" sz="3400" i="1" dirty="0"/>
              <a:t>, </a:t>
            </a:r>
            <a:r>
              <a:rPr lang="en-US" altLang="zh-TW" sz="3400" dirty="0"/>
              <a:t>9</a:t>
            </a:r>
            <a:r>
              <a:rPr lang="en-US" altLang="zh-TW" sz="3400" i="1" dirty="0"/>
              <a:t>, </a:t>
            </a:r>
            <a:r>
              <a:rPr lang="en-US" altLang="zh-TW" sz="3400" dirty="0"/>
              <a:t>6</a:t>
            </a:r>
            <a:r>
              <a:rPr lang="en-US" altLang="zh-TW" sz="3400" i="1" dirty="0"/>
              <a:t>, </a:t>
            </a:r>
            <a:r>
              <a:rPr lang="en-US" altLang="zh-TW" sz="3400" dirty="0"/>
              <a:t>0</a:t>
            </a:r>
            <a:r>
              <a:rPr lang="en-US" altLang="zh-TW" sz="3400" i="1" dirty="0"/>
              <a:t>, </a:t>
            </a:r>
            <a:r>
              <a:rPr lang="en-US" altLang="zh-TW" sz="3400" dirty="0"/>
              <a:t>0</a:t>
            </a:r>
            <a:r>
              <a:rPr lang="en-US" altLang="zh-TW" sz="3400" i="1" dirty="0"/>
              <a:t>, </a:t>
            </a:r>
            <a:r>
              <a:rPr lang="en-US" altLang="zh-TW" sz="3400" dirty="0"/>
              <a:t>0</a:t>
            </a:r>
            <a:r>
              <a:rPr lang="en-US" altLang="zh-TW" sz="3400" i="1" dirty="0"/>
              <a:t>, </a:t>
            </a:r>
            <a:r>
              <a:rPr lang="en-US" altLang="zh-TW" sz="3400" dirty="0"/>
              <a:t>1 </a:t>
            </a:r>
            <a:r>
              <a:rPr lang="en-US" altLang="zh-TW" sz="3400" i="1" dirty="0"/>
              <a:t>&gt;</a:t>
            </a:r>
          </a:p>
          <a:p>
            <a:endParaRPr lang="en-US" altLang="zh-TW" sz="3400" i="1" dirty="0"/>
          </a:p>
          <a:p>
            <a:r>
              <a:rPr lang="en-US" altLang="zh-TW" sz="3400" i="1" dirty="0"/>
              <a:t>Time-value Sequence: T</a:t>
            </a:r>
            <a:r>
              <a:rPr lang="en-US" altLang="zh-TW" sz="3400" i="1" baseline="-25000" dirty="0"/>
              <a:t>v</a:t>
            </a:r>
            <a:r>
              <a:rPr lang="en-US" altLang="zh-TW" sz="3400" i="1" dirty="0"/>
              <a:t> </a:t>
            </a:r>
            <a:r>
              <a:rPr lang="en-US" altLang="zh-TW" sz="3400" dirty="0"/>
              <a:t>= </a:t>
            </a:r>
            <a:r>
              <a:rPr lang="en-US" altLang="zh-TW" sz="3400" i="1" dirty="0"/>
              <a:t>{</a:t>
            </a:r>
            <a:r>
              <a:rPr lang="en-US" altLang="zh-TW" sz="3400" dirty="0"/>
              <a:t>(1</a:t>
            </a:r>
            <a:r>
              <a:rPr lang="en-US" altLang="zh-TW" sz="3400" i="1" dirty="0"/>
              <a:t>, </a:t>
            </a:r>
            <a:r>
              <a:rPr lang="en-US" altLang="zh-TW" sz="3400" dirty="0"/>
              <a:t>7)</a:t>
            </a:r>
            <a:r>
              <a:rPr lang="en-US" altLang="zh-TW" sz="3400" i="1" dirty="0"/>
              <a:t>, </a:t>
            </a:r>
            <a:r>
              <a:rPr lang="en-US" altLang="zh-TW" sz="3400" dirty="0"/>
              <a:t>(4</a:t>
            </a:r>
            <a:r>
              <a:rPr lang="en-US" altLang="zh-TW" sz="3400" i="1" dirty="0"/>
              <a:t>, </a:t>
            </a:r>
            <a:r>
              <a:rPr lang="en-US" altLang="zh-TW" sz="3400" dirty="0"/>
              <a:t>9)</a:t>
            </a:r>
            <a:r>
              <a:rPr lang="en-US" altLang="zh-TW" sz="3400" i="1" dirty="0"/>
              <a:t>, </a:t>
            </a:r>
            <a:r>
              <a:rPr lang="en-US" altLang="zh-TW" sz="3400" dirty="0"/>
              <a:t>(5</a:t>
            </a:r>
            <a:r>
              <a:rPr lang="en-US" altLang="zh-TW" sz="3400" i="1" dirty="0"/>
              <a:t>, </a:t>
            </a:r>
            <a:r>
              <a:rPr lang="en-US" altLang="zh-TW" sz="3400" dirty="0"/>
              <a:t>6)</a:t>
            </a:r>
            <a:r>
              <a:rPr lang="en-US" altLang="zh-TW" sz="3400" i="1" dirty="0"/>
              <a:t>, </a:t>
            </a:r>
            <a:r>
              <a:rPr lang="en-US" altLang="zh-TW" sz="3400" dirty="0"/>
              <a:t>(9</a:t>
            </a:r>
            <a:r>
              <a:rPr lang="en-US" altLang="zh-TW" sz="3400" i="1" dirty="0"/>
              <a:t>, </a:t>
            </a:r>
            <a:r>
              <a:rPr lang="en-US" altLang="zh-TW" sz="3400" dirty="0"/>
              <a:t>1)</a:t>
            </a:r>
            <a:r>
              <a:rPr lang="en-US" altLang="zh-TW" sz="3400" i="1" dirty="0"/>
              <a:t>}</a:t>
            </a:r>
          </a:p>
          <a:p>
            <a:endParaRPr lang="en-US" altLang="zh-TW" sz="3400" i="1" dirty="0"/>
          </a:p>
          <a:p>
            <a:r>
              <a:rPr lang="en-US" altLang="zh-TW" sz="3400" i="1" dirty="0"/>
              <a:t>Length-Encoded series</a:t>
            </a:r>
            <a:r>
              <a:rPr lang="en-US" altLang="zh-TW" sz="3400" dirty="0"/>
              <a:t>: </a:t>
            </a:r>
            <a:r>
              <a:rPr lang="nl-NL" altLang="zh-TW" sz="3400" i="1" dirty="0"/>
              <a:t>T</a:t>
            </a:r>
            <a:r>
              <a:rPr lang="nl-NL" altLang="zh-TW" sz="3400" i="1" baseline="-25000" dirty="0"/>
              <a:t>e</a:t>
            </a:r>
            <a:r>
              <a:rPr lang="nl-NL" altLang="zh-TW" sz="3400" i="1" dirty="0"/>
              <a:t> </a:t>
            </a:r>
            <a:r>
              <a:rPr lang="nl-NL" altLang="zh-TW" sz="3400" dirty="0"/>
              <a:t>= </a:t>
            </a:r>
            <a:r>
              <a:rPr lang="nl-NL" altLang="zh-TW" sz="3400" i="1" dirty="0"/>
              <a:t>&lt; </a:t>
            </a:r>
            <a:r>
              <a:rPr lang="nl-NL" altLang="zh-TW" sz="3400" dirty="0"/>
              <a:t>7</a:t>
            </a:r>
            <a:r>
              <a:rPr lang="nl-NL" altLang="zh-TW" sz="3400" i="1" dirty="0"/>
              <a:t>, </a:t>
            </a:r>
            <a:r>
              <a:rPr lang="nl-NL" altLang="zh-TW" sz="3400" dirty="0"/>
              <a:t>(2)</a:t>
            </a:r>
            <a:r>
              <a:rPr lang="nl-NL" altLang="zh-TW" sz="3400" i="1" dirty="0"/>
              <a:t>, </a:t>
            </a:r>
            <a:r>
              <a:rPr lang="nl-NL" altLang="zh-TW" sz="3400" dirty="0"/>
              <a:t>9</a:t>
            </a:r>
            <a:r>
              <a:rPr lang="nl-NL" altLang="zh-TW" sz="3400" i="1" dirty="0"/>
              <a:t>, </a:t>
            </a:r>
            <a:r>
              <a:rPr lang="nl-NL" altLang="zh-TW" sz="3400" dirty="0"/>
              <a:t>6</a:t>
            </a:r>
            <a:r>
              <a:rPr lang="nl-NL" altLang="zh-TW" sz="3400" i="1" dirty="0"/>
              <a:t>, </a:t>
            </a:r>
            <a:r>
              <a:rPr lang="nl-NL" altLang="zh-TW" sz="3400" dirty="0">
                <a:solidFill>
                  <a:srgbClr val="FF0000"/>
                </a:solidFill>
              </a:rPr>
              <a:t>(3)</a:t>
            </a:r>
            <a:r>
              <a:rPr lang="nl-NL" altLang="zh-TW" sz="3400" i="1" dirty="0"/>
              <a:t>, </a:t>
            </a:r>
            <a:r>
              <a:rPr lang="nl-NL" altLang="zh-TW" sz="3400" dirty="0"/>
              <a:t>1 </a:t>
            </a:r>
            <a:r>
              <a:rPr lang="nl-NL" altLang="zh-TW" sz="3400" i="1" dirty="0"/>
              <a:t>&gt;</a:t>
            </a:r>
          </a:p>
          <a:p>
            <a:endParaRPr lang="nl-NL" altLang="zh-TW" sz="3400" i="1" dirty="0"/>
          </a:p>
          <a:p>
            <a:r>
              <a:rPr lang="nl-NL" altLang="zh-TW" sz="3400" i="1" dirty="0"/>
              <a:t>Partially Encoded series: </a:t>
            </a:r>
            <a:r>
              <a:rPr lang="en-US" altLang="zh-TW" sz="3400" i="1" dirty="0" err="1"/>
              <a:t>T</a:t>
            </a:r>
            <a:r>
              <a:rPr lang="en-US" altLang="zh-TW" sz="3400" i="1" baseline="-25000" dirty="0" err="1"/>
              <a:t>pe</a:t>
            </a:r>
            <a:r>
              <a:rPr lang="en-US" altLang="zh-TW" sz="3400" i="1" dirty="0"/>
              <a:t> </a:t>
            </a:r>
            <a:r>
              <a:rPr lang="en-US" altLang="zh-TW" sz="3400" dirty="0"/>
              <a:t>= </a:t>
            </a:r>
            <a:r>
              <a:rPr lang="en-US" altLang="zh-TW" sz="3400" i="1" dirty="0"/>
              <a:t>&lt; </a:t>
            </a:r>
            <a:r>
              <a:rPr lang="en-US" altLang="zh-TW" sz="3400" dirty="0"/>
              <a:t>7</a:t>
            </a:r>
            <a:r>
              <a:rPr lang="en-US" altLang="zh-TW" sz="3400" i="1" dirty="0"/>
              <a:t>, </a:t>
            </a:r>
            <a:r>
              <a:rPr lang="en-US" altLang="zh-TW" sz="3400" dirty="0"/>
              <a:t>(2)</a:t>
            </a:r>
            <a:r>
              <a:rPr lang="en-US" altLang="zh-TW" sz="3400" i="1" dirty="0"/>
              <a:t>, </a:t>
            </a:r>
            <a:r>
              <a:rPr lang="en-US" altLang="zh-TW" sz="3400" dirty="0"/>
              <a:t>9</a:t>
            </a:r>
            <a:r>
              <a:rPr lang="en-US" altLang="zh-TW" sz="3400" i="1" dirty="0"/>
              <a:t>, </a:t>
            </a:r>
            <a:r>
              <a:rPr lang="en-US" altLang="zh-TW" sz="3400" dirty="0"/>
              <a:t>6</a:t>
            </a:r>
            <a:r>
              <a:rPr lang="en-US" altLang="zh-TW" sz="3400" i="1" dirty="0"/>
              <a:t>, </a:t>
            </a:r>
            <a:r>
              <a:rPr lang="en-US" altLang="zh-TW" sz="3400" dirty="0">
                <a:solidFill>
                  <a:srgbClr val="FF0000"/>
                </a:solidFill>
              </a:rPr>
              <a:t>(2)</a:t>
            </a:r>
            <a:r>
              <a:rPr lang="en-US" altLang="zh-TW" sz="3400" i="1" dirty="0"/>
              <a:t>, </a:t>
            </a:r>
            <a:r>
              <a:rPr lang="en-US" altLang="zh-TW" sz="3400" dirty="0">
                <a:solidFill>
                  <a:srgbClr val="FF0000"/>
                </a:solidFill>
              </a:rPr>
              <a:t>(1)</a:t>
            </a:r>
            <a:r>
              <a:rPr lang="en-US" altLang="zh-TW" sz="3400" i="1" dirty="0"/>
              <a:t>, </a:t>
            </a:r>
            <a:r>
              <a:rPr lang="en-US" altLang="zh-TW" sz="3400" dirty="0"/>
              <a:t>1 </a:t>
            </a:r>
            <a:r>
              <a:rPr lang="en-US" altLang="zh-TW" sz="3400" i="1" dirty="0"/>
              <a:t>&gt;</a:t>
            </a:r>
            <a:endParaRPr lang="zh-TW" altLang="en-US" sz="3400" dirty="0"/>
          </a:p>
        </p:txBody>
      </p:sp>
      <p:sp>
        <p:nvSpPr>
          <p:cNvPr id="4" name="投影片編號版面配置區 3">
            <a:extLst>
              <a:ext uri="{FF2B5EF4-FFF2-40B4-BE49-F238E27FC236}">
                <a16:creationId xmlns:a16="http://schemas.microsoft.com/office/drawing/2014/main" id="{44999535-0C6F-4CDD-84D8-F4B7058D2581}"/>
              </a:ext>
            </a:extLst>
          </p:cNvPr>
          <p:cNvSpPr>
            <a:spLocks noGrp="1"/>
          </p:cNvSpPr>
          <p:nvPr>
            <p:ph type="sldNum" sz="quarter" idx="12"/>
          </p:nvPr>
        </p:nvSpPr>
        <p:spPr/>
        <p:txBody>
          <a:bodyPr/>
          <a:lstStyle/>
          <a:p>
            <a:fld id="{8DCCD063-7F18-423D-A692-CC9D343FD360}" type="slidenum">
              <a:rPr lang="zh-TW" altLang="en-US" smtClean="0"/>
              <a:t>5</a:t>
            </a:fld>
            <a:endParaRPr lang="zh-TW" altLang="en-US"/>
          </a:p>
        </p:txBody>
      </p:sp>
    </p:spTree>
    <p:extLst>
      <p:ext uri="{BB962C8B-B14F-4D97-AF65-F5344CB8AC3E}">
        <p14:creationId xmlns:p14="http://schemas.microsoft.com/office/powerpoint/2010/main" val="1701620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DA7F88-2AEF-4D12-B20A-38CE8FE9819D}"/>
              </a:ext>
            </a:extLst>
          </p:cNvPr>
          <p:cNvSpPr>
            <a:spLocks noGrp="1"/>
          </p:cNvSpPr>
          <p:nvPr>
            <p:ph type="title"/>
          </p:nvPr>
        </p:nvSpPr>
        <p:spPr/>
        <p:txBody>
          <a:bodyPr/>
          <a:lstStyle/>
          <a:p>
            <a:r>
              <a:rPr lang="en-US" altLang="zh-TW" dirty="0"/>
              <a:t>DTW matrix vs.</a:t>
            </a:r>
            <a:r>
              <a:rPr lang="zh-TW" altLang="en-US" dirty="0"/>
              <a:t> </a:t>
            </a:r>
            <a:r>
              <a:rPr lang="en-US" altLang="zh-TW" dirty="0" err="1"/>
              <a:t>Awarp</a:t>
            </a:r>
            <a:r>
              <a:rPr lang="en-US" altLang="zh-TW" dirty="0"/>
              <a:t> matrix</a:t>
            </a:r>
            <a:endParaRPr lang="zh-TW" altLang="en-US" dirty="0"/>
          </a:p>
        </p:txBody>
      </p:sp>
      <p:pic>
        <p:nvPicPr>
          <p:cNvPr id="5" name="內容版面配置區 4">
            <a:extLst>
              <a:ext uri="{FF2B5EF4-FFF2-40B4-BE49-F238E27FC236}">
                <a16:creationId xmlns:a16="http://schemas.microsoft.com/office/drawing/2014/main" id="{17A8B13E-FC2C-496E-916D-031DE42EE014}"/>
              </a:ext>
            </a:extLst>
          </p:cNvPr>
          <p:cNvPicPr>
            <a:picLocks noGrp="1" noChangeAspect="1"/>
          </p:cNvPicPr>
          <p:nvPr>
            <p:ph idx="1"/>
          </p:nvPr>
        </p:nvPicPr>
        <p:blipFill>
          <a:blip r:embed="rId2"/>
          <a:stretch>
            <a:fillRect/>
          </a:stretch>
        </p:blipFill>
        <p:spPr>
          <a:xfrm>
            <a:off x="181975" y="2055815"/>
            <a:ext cx="11828050" cy="4159649"/>
          </a:xfrm>
          <a:prstGeom prst="rect">
            <a:avLst/>
          </a:prstGeom>
        </p:spPr>
      </p:pic>
      <p:sp>
        <p:nvSpPr>
          <p:cNvPr id="4" name="投影片編號版面配置區 3">
            <a:extLst>
              <a:ext uri="{FF2B5EF4-FFF2-40B4-BE49-F238E27FC236}">
                <a16:creationId xmlns:a16="http://schemas.microsoft.com/office/drawing/2014/main" id="{411DE9B8-4E2E-4A6D-9FD8-FBE655DAC3FE}"/>
              </a:ext>
            </a:extLst>
          </p:cNvPr>
          <p:cNvSpPr>
            <a:spLocks noGrp="1"/>
          </p:cNvSpPr>
          <p:nvPr>
            <p:ph type="sldNum" sz="quarter" idx="12"/>
          </p:nvPr>
        </p:nvSpPr>
        <p:spPr/>
        <p:txBody>
          <a:bodyPr/>
          <a:lstStyle/>
          <a:p>
            <a:fld id="{8DCCD063-7F18-423D-A692-CC9D343FD360}" type="slidenum">
              <a:rPr lang="zh-TW" altLang="en-US" smtClean="0"/>
              <a:t>6</a:t>
            </a:fld>
            <a:endParaRPr lang="zh-TW" altLang="en-US"/>
          </a:p>
        </p:txBody>
      </p:sp>
      <p:sp>
        <p:nvSpPr>
          <p:cNvPr id="6" name="文字方塊 5">
            <a:extLst>
              <a:ext uri="{FF2B5EF4-FFF2-40B4-BE49-F238E27FC236}">
                <a16:creationId xmlns:a16="http://schemas.microsoft.com/office/drawing/2014/main" id="{4838E96D-67FE-414F-8A89-53761D4C0EAF}"/>
              </a:ext>
            </a:extLst>
          </p:cNvPr>
          <p:cNvSpPr txBox="1"/>
          <p:nvPr/>
        </p:nvSpPr>
        <p:spPr>
          <a:xfrm>
            <a:off x="4252686" y="5544457"/>
            <a:ext cx="311304" cy="369332"/>
          </a:xfrm>
          <a:prstGeom prst="rect">
            <a:avLst/>
          </a:prstGeom>
          <a:noFill/>
        </p:spPr>
        <p:txBody>
          <a:bodyPr wrap="none" rtlCol="0">
            <a:spAutoFit/>
          </a:bodyPr>
          <a:lstStyle/>
          <a:p>
            <a:r>
              <a:rPr lang="en-US" altLang="zh-TW" b="1" dirty="0"/>
              <a:t>1</a:t>
            </a:r>
            <a:endParaRPr lang="zh-TW" altLang="en-US" b="1" dirty="0"/>
          </a:p>
        </p:txBody>
      </p:sp>
      <p:sp>
        <p:nvSpPr>
          <p:cNvPr id="7" name="文字方塊 6">
            <a:extLst>
              <a:ext uri="{FF2B5EF4-FFF2-40B4-BE49-F238E27FC236}">
                <a16:creationId xmlns:a16="http://schemas.microsoft.com/office/drawing/2014/main" id="{157277DD-1C8C-4037-B5CF-38909449F1A7}"/>
              </a:ext>
            </a:extLst>
          </p:cNvPr>
          <p:cNvSpPr txBox="1"/>
          <p:nvPr/>
        </p:nvSpPr>
        <p:spPr>
          <a:xfrm>
            <a:off x="1959429" y="6269897"/>
            <a:ext cx="1271502" cy="492443"/>
          </a:xfrm>
          <a:prstGeom prst="rect">
            <a:avLst/>
          </a:prstGeom>
          <a:noFill/>
        </p:spPr>
        <p:txBody>
          <a:bodyPr wrap="none" rtlCol="0">
            <a:spAutoFit/>
          </a:bodyPr>
          <a:lstStyle/>
          <a:p>
            <a:r>
              <a:rPr lang="en-US" altLang="zh-TW" sz="2600" dirty="0">
                <a:solidFill>
                  <a:srgbClr val="FF0000"/>
                </a:solidFill>
              </a:rPr>
              <a:t>14 x</a:t>
            </a:r>
            <a:r>
              <a:rPr lang="zh-TW" altLang="en-US" sz="2600" dirty="0">
                <a:solidFill>
                  <a:srgbClr val="FF0000"/>
                </a:solidFill>
              </a:rPr>
              <a:t> </a:t>
            </a:r>
            <a:r>
              <a:rPr lang="en-US" altLang="zh-TW" sz="2600" dirty="0">
                <a:solidFill>
                  <a:srgbClr val="FF0000"/>
                </a:solidFill>
              </a:rPr>
              <a:t>11</a:t>
            </a:r>
            <a:endParaRPr lang="zh-TW" altLang="en-US" sz="2600" dirty="0">
              <a:solidFill>
                <a:srgbClr val="FF0000"/>
              </a:solidFill>
            </a:endParaRPr>
          </a:p>
        </p:txBody>
      </p:sp>
      <p:sp>
        <p:nvSpPr>
          <p:cNvPr id="8" name="文字方塊 7">
            <a:extLst>
              <a:ext uri="{FF2B5EF4-FFF2-40B4-BE49-F238E27FC236}">
                <a16:creationId xmlns:a16="http://schemas.microsoft.com/office/drawing/2014/main" id="{8F7D12D0-1645-4A14-90B7-1854A95F1D7E}"/>
              </a:ext>
            </a:extLst>
          </p:cNvPr>
          <p:cNvSpPr txBox="1"/>
          <p:nvPr/>
        </p:nvSpPr>
        <p:spPr>
          <a:xfrm>
            <a:off x="6405491" y="6229034"/>
            <a:ext cx="902811" cy="492443"/>
          </a:xfrm>
          <a:prstGeom prst="rect">
            <a:avLst/>
          </a:prstGeom>
          <a:noFill/>
        </p:spPr>
        <p:txBody>
          <a:bodyPr wrap="none" rtlCol="0">
            <a:spAutoFit/>
          </a:bodyPr>
          <a:lstStyle/>
          <a:p>
            <a:r>
              <a:rPr lang="en-US" altLang="zh-TW" sz="2600" dirty="0">
                <a:solidFill>
                  <a:srgbClr val="FF0000"/>
                </a:solidFill>
              </a:rPr>
              <a:t>8 x</a:t>
            </a:r>
            <a:r>
              <a:rPr lang="zh-TW" altLang="en-US" sz="2600" dirty="0">
                <a:solidFill>
                  <a:srgbClr val="FF0000"/>
                </a:solidFill>
              </a:rPr>
              <a:t> </a:t>
            </a:r>
            <a:r>
              <a:rPr lang="en-US" altLang="zh-TW" sz="2600" dirty="0">
                <a:solidFill>
                  <a:srgbClr val="FF0000"/>
                </a:solidFill>
              </a:rPr>
              <a:t>5</a:t>
            </a:r>
            <a:endParaRPr lang="zh-TW" altLang="en-US" sz="2600" dirty="0">
              <a:solidFill>
                <a:srgbClr val="FF0000"/>
              </a:solidFill>
            </a:endParaRPr>
          </a:p>
        </p:txBody>
      </p:sp>
    </p:spTree>
    <p:extLst>
      <p:ext uri="{BB962C8B-B14F-4D97-AF65-F5344CB8AC3E}">
        <p14:creationId xmlns:p14="http://schemas.microsoft.com/office/powerpoint/2010/main" val="429784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D7F597-2455-4C7B-AB10-FAFDC88FBAD6}"/>
              </a:ext>
            </a:extLst>
          </p:cNvPr>
          <p:cNvSpPr>
            <a:spLocks noGrp="1"/>
          </p:cNvSpPr>
          <p:nvPr>
            <p:ph type="title"/>
          </p:nvPr>
        </p:nvSpPr>
        <p:spPr/>
        <p:txBody>
          <a:bodyPr/>
          <a:lstStyle/>
          <a:p>
            <a:r>
              <a:rPr lang="en-US" altLang="zh-TW" dirty="0" err="1"/>
              <a:t>Awarp</a:t>
            </a:r>
            <a:r>
              <a:rPr lang="en-US" altLang="zh-TW" dirty="0"/>
              <a:t> (Binary-valued Series) (1/3)</a:t>
            </a:r>
            <a:endParaRPr lang="zh-TW" altLang="en-US" dirty="0"/>
          </a:p>
        </p:txBody>
      </p:sp>
      <p:pic>
        <p:nvPicPr>
          <p:cNvPr id="5" name="內容版面配置區 4">
            <a:extLst>
              <a:ext uri="{FF2B5EF4-FFF2-40B4-BE49-F238E27FC236}">
                <a16:creationId xmlns:a16="http://schemas.microsoft.com/office/drawing/2014/main" id="{7DE3C3FC-0B66-4D0D-B292-A22DF3D814F7}"/>
              </a:ext>
            </a:extLst>
          </p:cNvPr>
          <p:cNvPicPr>
            <a:picLocks noGrp="1" noChangeAspect="1"/>
          </p:cNvPicPr>
          <p:nvPr>
            <p:ph idx="1"/>
          </p:nvPr>
        </p:nvPicPr>
        <p:blipFill>
          <a:blip r:embed="rId2"/>
          <a:stretch>
            <a:fillRect/>
          </a:stretch>
        </p:blipFill>
        <p:spPr>
          <a:xfrm>
            <a:off x="838200" y="1690690"/>
            <a:ext cx="8342539" cy="4607408"/>
          </a:xfrm>
          <a:prstGeom prst="rect">
            <a:avLst/>
          </a:prstGeom>
        </p:spPr>
      </p:pic>
      <p:sp>
        <p:nvSpPr>
          <p:cNvPr id="4" name="投影片編號版面配置區 3">
            <a:extLst>
              <a:ext uri="{FF2B5EF4-FFF2-40B4-BE49-F238E27FC236}">
                <a16:creationId xmlns:a16="http://schemas.microsoft.com/office/drawing/2014/main" id="{1C9AC384-8933-4CEB-9283-974E605EB9B8}"/>
              </a:ext>
            </a:extLst>
          </p:cNvPr>
          <p:cNvSpPr>
            <a:spLocks noGrp="1"/>
          </p:cNvSpPr>
          <p:nvPr>
            <p:ph type="sldNum" sz="quarter" idx="12"/>
          </p:nvPr>
        </p:nvSpPr>
        <p:spPr/>
        <p:txBody>
          <a:bodyPr/>
          <a:lstStyle/>
          <a:p>
            <a:fld id="{8DCCD063-7F18-423D-A692-CC9D343FD360}" type="slidenum">
              <a:rPr lang="zh-TW" altLang="en-US" smtClean="0"/>
              <a:t>7</a:t>
            </a:fld>
            <a:endParaRPr lang="zh-TW" altLang="en-US"/>
          </a:p>
        </p:txBody>
      </p:sp>
    </p:spTree>
    <p:extLst>
      <p:ext uri="{BB962C8B-B14F-4D97-AF65-F5344CB8AC3E}">
        <p14:creationId xmlns:p14="http://schemas.microsoft.com/office/powerpoint/2010/main" val="1976948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D7F597-2455-4C7B-AB10-FAFDC88FBAD6}"/>
              </a:ext>
            </a:extLst>
          </p:cNvPr>
          <p:cNvSpPr>
            <a:spLocks noGrp="1"/>
          </p:cNvSpPr>
          <p:nvPr>
            <p:ph type="title"/>
          </p:nvPr>
        </p:nvSpPr>
        <p:spPr/>
        <p:txBody>
          <a:bodyPr/>
          <a:lstStyle/>
          <a:p>
            <a:r>
              <a:rPr lang="en-US" altLang="zh-TW" dirty="0" err="1"/>
              <a:t>Awarp</a:t>
            </a:r>
            <a:r>
              <a:rPr lang="en-US" altLang="zh-TW" dirty="0"/>
              <a:t> (Binary-valued Series) (2/3)</a:t>
            </a:r>
            <a:endParaRPr lang="zh-TW" altLang="en-US" dirty="0"/>
          </a:p>
        </p:txBody>
      </p:sp>
      <p:sp>
        <p:nvSpPr>
          <p:cNvPr id="4" name="投影片編號版面配置區 3">
            <a:extLst>
              <a:ext uri="{FF2B5EF4-FFF2-40B4-BE49-F238E27FC236}">
                <a16:creationId xmlns:a16="http://schemas.microsoft.com/office/drawing/2014/main" id="{1C9AC384-8933-4CEB-9283-974E605EB9B8}"/>
              </a:ext>
            </a:extLst>
          </p:cNvPr>
          <p:cNvSpPr>
            <a:spLocks noGrp="1"/>
          </p:cNvSpPr>
          <p:nvPr>
            <p:ph type="sldNum" sz="quarter" idx="12"/>
          </p:nvPr>
        </p:nvSpPr>
        <p:spPr/>
        <p:txBody>
          <a:bodyPr/>
          <a:lstStyle/>
          <a:p>
            <a:fld id="{8DCCD063-7F18-423D-A692-CC9D343FD360}" type="slidenum">
              <a:rPr lang="zh-TW" altLang="en-US" smtClean="0"/>
              <a:t>8</a:t>
            </a:fld>
            <a:endParaRPr lang="zh-TW" altLang="en-US"/>
          </a:p>
        </p:txBody>
      </p:sp>
      <p:pic>
        <p:nvPicPr>
          <p:cNvPr id="7" name="內容版面配置區 6">
            <a:extLst>
              <a:ext uri="{FF2B5EF4-FFF2-40B4-BE49-F238E27FC236}">
                <a16:creationId xmlns:a16="http://schemas.microsoft.com/office/drawing/2014/main" id="{2AEF2FA8-6DCF-4220-84FE-CDF0DB26FD3C}"/>
              </a:ext>
            </a:extLst>
          </p:cNvPr>
          <p:cNvPicPr>
            <a:picLocks noGrp="1" noChangeAspect="1"/>
          </p:cNvPicPr>
          <p:nvPr>
            <p:ph idx="1"/>
          </p:nvPr>
        </p:nvPicPr>
        <p:blipFill>
          <a:blip r:embed="rId2"/>
          <a:stretch>
            <a:fillRect/>
          </a:stretch>
        </p:blipFill>
        <p:spPr>
          <a:xfrm>
            <a:off x="838200" y="1642042"/>
            <a:ext cx="8290324" cy="5079435"/>
          </a:xfrm>
          <a:prstGeom prst="rect">
            <a:avLst/>
          </a:prstGeom>
        </p:spPr>
      </p:pic>
    </p:spTree>
    <p:extLst>
      <p:ext uri="{BB962C8B-B14F-4D97-AF65-F5344CB8AC3E}">
        <p14:creationId xmlns:p14="http://schemas.microsoft.com/office/powerpoint/2010/main" val="209254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D7F597-2455-4C7B-AB10-FAFDC88FBAD6}"/>
              </a:ext>
            </a:extLst>
          </p:cNvPr>
          <p:cNvSpPr>
            <a:spLocks noGrp="1"/>
          </p:cNvSpPr>
          <p:nvPr>
            <p:ph type="title"/>
          </p:nvPr>
        </p:nvSpPr>
        <p:spPr/>
        <p:txBody>
          <a:bodyPr/>
          <a:lstStyle/>
          <a:p>
            <a:r>
              <a:rPr lang="en-US" altLang="zh-TW" dirty="0" err="1"/>
              <a:t>Awarp</a:t>
            </a:r>
            <a:r>
              <a:rPr lang="en-US" altLang="zh-TW" dirty="0"/>
              <a:t> (Binary-valued Series) (3/3)</a:t>
            </a:r>
            <a:endParaRPr lang="zh-TW" altLang="en-US" dirty="0"/>
          </a:p>
        </p:txBody>
      </p:sp>
      <p:sp>
        <p:nvSpPr>
          <p:cNvPr id="4" name="投影片編號版面配置區 3">
            <a:extLst>
              <a:ext uri="{FF2B5EF4-FFF2-40B4-BE49-F238E27FC236}">
                <a16:creationId xmlns:a16="http://schemas.microsoft.com/office/drawing/2014/main" id="{1C9AC384-8933-4CEB-9283-974E605EB9B8}"/>
              </a:ext>
            </a:extLst>
          </p:cNvPr>
          <p:cNvSpPr>
            <a:spLocks noGrp="1"/>
          </p:cNvSpPr>
          <p:nvPr>
            <p:ph type="sldNum" sz="quarter" idx="12"/>
          </p:nvPr>
        </p:nvSpPr>
        <p:spPr/>
        <p:txBody>
          <a:bodyPr/>
          <a:lstStyle/>
          <a:p>
            <a:fld id="{8DCCD063-7F18-423D-A692-CC9D343FD360}" type="slidenum">
              <a:rPr lang="zh-TW" altLang="en-US" smtClean="0"/>
              <a:t>9</a:t>
            </a:fld>
            <a:endParaRPr lang="zh-TW" altLang="en-US"/>
          </a:p>
        </p:txBody>
      </p:sp>
      <p:pic>
        <p:nvPicPr>
          <p:cNvPr id="6" name="內容版面配置區 5">
            <a:extLst>
              <a:ext uri="{FF2B5EF4-FFF2-40B4-BE49-F238E27FC236}">
                <a16:creationId xmlns:a16="http://schemas.microsoft.com/office/drawing/2014/main" id="{EF6ACC1D-5369-4B79-8933-F12F99254E04}"/>
              </a:ext>
            </a:extLst>
          </p:cNvPr>
          <p:cNvPicPr>
            <a:picLocks noGrp="1" noChangeAspect="1"/>
          </p:cNvPicPr>
          <p:nvPr>
            <p:ph idx="1"/>
          </p:nvPr>
        </p:nvPicPr>
        <p:blipFill>
          <a:blip r:embed="rId2"/>
          <a:stretch>
            <a:fillRect/>
          </a:stretch>
        </p:blipFill>
        <p:spPr>
          <a:xfrm>
            <a:off x="838200" y="1455839"/>
            <a:ext cx="7465547" cy="4900513"/>
          </a:xfrm>
          <a:prstGeom prst="rect">
            <a:avLst/>
          </a:prstGeom>
        </p:spPr>
      </p:pic>
    </p:spTree>
    <p:extLst>
      <p:ext uri="{BB962C8B-B14F-4D97-AF65-F5344CB8AC3E}">
        <p14:creationId xmlns:p14="http://schemas.microsoft.com/office/powerpoint/2010/main" val="3738702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D7F597-2455-4C7B-AB10-FAFDC88FBAD6}"/>
              </a:ext>
            </a:extLst>
          </p:cNvPr>
          <p:cNvSpPr>
            <a:spLocks noGrp="1"/>
          </p:cNvSpPr>
          <p:nvPr>
            <p:ph type="title"/>
          </p:nvPr>
        </p:nvSpPr>
        <p:spPr/>
        <p:txBody>
          <a:bodyPr/>
          <a:lstStyle/>
          <a:p>
            <a:r>
              <a:rPr lang="en-US" altLang="zh-TW" dirty="0" err="1"/>
              <a:t>Awarp</a:t>
            </a:r>
            <a:r>
              <a:rPr lang="en-US" altLang="zh-TW" dirty="0"/>
              <a:t> (Any-valued Series) (1/3)</a:t>
            </a:r>
            <a:endParaRPr lang="zh-TW" altLang="en-US" dirty="0"/>
          </a:p>
        </p:txBody>
      </p:sp>
      <p:pic>
        <p:nvPicPr>
          <p:cNvPr id="5" name="內容版面配置區 4">
            <a:extLst>
              <a:ext uri="{FF2B5EF4-FFF2-40B4-BE49-F238E27FC236}">
                <a16:creationId xmlns:a16="http://schemas.microsoft.com/office/drawing/2014/main" id="{630FDA4A-648B-46A9-83DA-467A6202B168}"/>
              </a:ext>
            </a:extLst>
          </p:cNvPr>
          <p:cNvPicPr>
            <a:picLocks noGrp="1" noChangeAspect="1"/>
          </p:cNvPicPr>
          <p:nvPr>
            <p:ph idx="1"/>
          </p:nvPr>
        </p:nvPicPr>
        <p:blipFill>
          <a:blip r:embed="rId2"/>
          <a:stretch>
            <a:fillRect/>
          </a:stretch>
        </p:blipFill>
        <p:spPr>
          <a:xfrm>
            <a:off x="838200" y="1640001"/>
            <a:ext cx="9521371" cy="4767041"/>
          </a:xfrm>
          <a:prstGeom prst="rect">
            <a:avLst/>
          </a:prstGeom>
        </p:spPr>
      </p:pic>
      <p:sp>
        <p:nvSpPr>
          <p:cNvPr id="4" name="投影片編號版面配置區 3">
            <a:extLst>
              <a:ext uri="{FF2B5EF4-FFF2-40B4-BE49-F238E27FC236}">
                <a16:creationId xmlns:a16="http://schemas.microsoft.com/office/drawing/2014/main" id="{1C9AC384-8933-4CEB-9283-974E605EB9B8}"/>
              </a:ext>
            </a:extLst>
          </p:cNvPr>
          <p:cNvSpPr>
            <a:spLocks noGrp="1"/>
          </p:cNvSpPr>
          <p:nvPr>
            <p:ph type="sldNum" sz="quarter" idx="12"/>
          </p:nvPr>
        </p:nvSpPr>
        <p:spPr/>
        <p:txBody>
          <a:bodyPr/>
          <a:lstStyle/>
          <a:p>
            <a:fld id="{8DCCD063-7F18-423D-A692-CC9D343FD360}" type="slidenum">
              <a:rPr lang="zh-TW" altLang="en-US" smtClean="0"/>
              <a:t>10</a:t>
            </a:fld>
            <a:endParaRPr lang="zh-TW" altLang="en-US"/>
          </a:p>
        </p:txBody>
      </p:sp>
    </p:spTree>
    <p:extLst>
      <p:ext uri="{BB962C8B-B14F-4D97-AF65-F5344CB8AC3E}">
        <p14:creationId xmlns:p14="http://schemas.microsoft.com/office/powerpoint/2010/main" val="1056228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D7F597-2455-4C7B-AB10-FAFDC88FBAD6}"/>
              </a:ext>
            </a:extLst>
          </p:cNvPr>
          <p:cNvSpPr>
            <a:spLocks noGrp="1"/>
          </p:cNvSpPr>
          <p:nvPr>
            <p:ph type="title"/>
          </p:nvPr>
        </p:nvSpPr>
        <p:spPr/>
        <p:txBody>
          <a:bodyPr/>
          <a:lstStyle/>
          <a:p>
            <a:r>
              <a:rPr lang="en-US" altLang="zh-TW" dirty="0" err="1"/>
              <a:t>Awarp</a:t>
            </a:r>
            <a:r>
              <a:rPr lang="en-US" altLang="zh-TW" dirty="0"/>
              <a:t> (Any-valued Series) (2/3)</a:t>
            </a:r>
            <a:endParaRPr lang="zh-TW" altLang="en-US" dirty="0"/>
          </a:p>
        </p:txBody>
      </p:sp>
      <p:sp>
        <p:nvSpPr>
          <p:cNvPr id="4" name="投影片編號版面配置區 3">
            <a:extLst>
              <a:ext uri="{FF2B5EF4-FFF2-40B4-BE49-F238E27FC236}">
                <a16:creationId xmlns:a16="http://schemas.microsoft.com/office/drawing/2014/main" id="{1C9AC384-8933-4CEB-9283-974E605EB9B8}"/>
              </a:ext>
            </a:extLst>
          </p:cNvPr>
          <p:cNvSpPr>
            <a:spLocks noGrp="1"/>
          </p:cNvSpPr>
          <p:nvPr>
            <p:ph type="sldNum" sz="quarter" idx="12"/>
          </p:nvPr>
        </p:nvSpPr>
        <p:spPr/>
        <p:txBody>
          <a:bodyPr/>
          <a:lstStyle/>
          <a:p>
            <a:fld id="{8DCCD063-7F18-423D-A692-CC9D343FD360}" type="slidenum">
              <a:rPr lang="zh-TW" altLang="en-US" smtClean="0"/>
              <a:t>11</a:t>
            </a:fld>
            <a:endParaRPr lang="zh-TW" altLang="en-US"/>
          </a:p>
        </p:txBody>
      </p:sp>
      <p:pic>
        <p:nvPicPr>
          <p:cNvPr id="7" name="內容版面配置區 6">
            <a:extLst>
              <a:ext uri="{FF2B5EF4-FFF2-40B4-BE49-F238E27FC236}">
                <a16:creationId xmlns:a16="http://schemas.microsoft.com/office/drawing/2014/main" id="{253F60DB-B180-4D36-A2F1-1D80CA06998C}"/>
              </a:ext>
            </a:extLst>
          </p:cNvPr>
          <p:cNvPicPr>
            <a:picLocks noGrp="1" noChangeAspect="1"/>
          </p:cNvPicPr>
          <p:nvPr>
            <p:ph idx="1"/>
          </p:nvPr>
        </p:nvPicPr>
        <p:blipFill>
          <a:blip r:embed="rId2"/>
          <a:stretch>
            <a:fillRect/>
          </a:stretch>
        </p:blipFill>
        <p:spPr>
          <a:xfrm>
            <a:off x="838200" y="1690690"/>
            <a:ext cx="8494486" cy="4575667"/>
          </a:xfrm>
          <a:prstGeom prst="rect">
            <a:avLst/>
          </a:prstGeom>
        </p:spPr>
      </p:pic>
    </p:spTree>
    <p:extLst>
      <p:ext uri="{BB962C8B-B14F-4D97-AF65-F5344CB8AC3E}">
        <p14:creationId xmlns:p14="http://schemas.microsoft.com/office/powerpoint/2010/main" val="230647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D7F597-2455-4C7B-AB10-FAFDC88FBAD6}"/>
              </a:ext>
            </a:extLst>
          </p:cNvPr>
          <p:cNvSpPr>
            <a:spLocks noGrp="1"/>
          </p:cNvSpPr>
          <p:nvPr>
            <p:ph type="title"/>
          </p:nvPr>
        </p:nvSpPr>
        <p:spPr/>
        <p:txBody>
          <a:bodyPr/>
          <a:lstStyle/>
          <a:p>
            <a:r>
              <a:rPr lang="en-US" altLang="zh-TW" dirty="0" err="1"/>
              <a:t>Awarp</a:t>
            </a:r>
            <a:r>
              <a:rPr lang="en-US" altLang="zh-TW" dirty="0"/>
              <a:t> (Any-valued Series) (3/3)</a:t>
            </a:r>
            <a:endParaRPr lang="zh-TW" altLang="en-US" dirty="0"/>
          </a:p>
        </p:txBody>
      </p:sp>
      <p:sp>
        <p:nvSpPr>
          <p:cNvPr id="4" name="投影片編號版面配置區 3">
            <a:extLst>
              <a:ext uri="{FF2B5EF4-FFF2-40B4-BE49-F238E27FC236}">
                <a16:creationId xmlns:a16="http://schemas.microsoft.com/office/drawing/2014/main" id="{1C9AC384-8933-4CEB-9283-974E605EB9B8}"/>
              </a:ext>
            </a:extLst>
          </p:cNvPr>
          <p:cNvSpPr>
            <a:spLocks noGrp="1"/>
          </p:cNvSpPr>
          <p:nvPr>
            <p:ph type="sldNum" sz="quarter" idx="12"/>
          </p:nvPr>
        </p:nvSpPr>
        <p:spPr/>
        <p:txBody>
          <a:bodyPr/>
          <a:lstStyle/>
          <a:p>
            <a:fld id="{8DCCD063-7F18-423D-A692-CC9D343FD360}" type="slidenum">
              <a:rPr lang="zh-TW" altLang="en-US" smtClean="0"/>
              <a:t>12</a:t>
            </a:fld>
            <a:endParaRPr lang="zh-TW" altLang="en-US"/>
          </a:p>
        </p:txBody>
      </p:sp>
      <p:pic>
        <p:nvPicPr>
          <p:cNvPr id="10" name="內容版面配置區 9">
            <a:extLst>
              <a:ext uri="{FF2B5EF4-FFF2-40B4-BE49-F238E27FC236}">
                <a16:creationId xmlns:a16="http://schemas.microsoft.com/office/drawing/2014/main" id="{C6DEEA13-32FB-47D4-B2B4-A12E67F60E85}"/>
              </a:ext>
            </a:extLst>
          </p:cNvPr>
          <p:cNvPicPr>
            <a:picLocks noGrp="1" noChangeAspect="1"/>
          </p:cNvPicPr>
          <p:nvPr>
            <p:ph idx="1"/>
          </p:nvPr>
        </p:nvPicPr>
        <p:blipFill>
          <a:blip r:embed="rId2"/>
          <a:stretch>
            <a:fillRect/>
          </a:stretch>
        </p:blipFill>
        <p:spPr>
          <a:xfrm>
            <a:off x="638628" y="1464785"/>
            <a:ext cx="6735692" cy="5256692"/>
          </a:xfrm>
          <a:prstGeom prst="rect">
            <a:avLst/>
          </a:prstGeom>
        </p:spPr>
      </p:pic>
    </p:spTree>
    <p:extLst>
      <p:ext uri="{BB962C8B-B14F-4D97-AF65-F5344CB8AC3E}">
        <p14:creationId xmlns:p14="http://schemas.microsoft.com/office/powerpoint/2010/main" val="2147028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D7F597-2455-4C7B-AB10-FAFDC88FBAD6}"/>
              </a:ext>
            </a:extLst>
          </p:cNvPr>
          <p:cNvSpPr>
            <a:spLocks noGrp="1"/>
          </p:cNvSpPr>
          <p:nvPr>
            <p:ph type="title"/>
          </p:nvPr>
        </p:nvSpPr>
        <p:spPr/>
        <p:txBody>
          <a:bodyPr/>
          <a:lstStyle/>
          <a:p>
            <a:r>
              <a:rPr lang="en-US" altLang="zh-TW" dirty="0" err="1"/>
              <a:t>Awarp</a:t>
            </a:r>
            <a:r>
              <a:rPr lang="en-US" altLang="zh-TW" dirty="0"/>
              <a:t> (Invariance to Partial Encoding)</a:t>
            </a:r>
            <a:endParaRPr lang="zh-TW" altLang="en-US" dirty="0"/>
          </a:p>
        </p:txBody>
      </p:sp>
      <p:sp>
        <p:nvSpPr>
          <p:cNvPr id="4" name="投影片編號版面配置區 3">
            <a:extLst>
              <a:ext uri="{FF2B5EF4-FFF2-40B4-BE49-F238E27FC236}">
                <a16:creationId xmlns:a16="http://schemas.microsoft.com/office/drawing/2014/main" id="{1C9AC384-8933-4CEB-9283-974E605EB9B8}"/>
              </a:ext>
            </a:extLst>
          </p:cNvPr>
          <p:cNvSpPr>
            <a:spLocks noGrp="1"/>
          </p:cNvSpPr>
          <p:nvPr>
            <p:ph type="sldNum" sz="quarter" idx="12"/>
          </p:nvPr>
        </p:nvSpPr>
        <p:spPr/>
        <p:txBody>
          <a:bodyPr/>
          <a:lstStyle/>
          <a:p>
            <a:fld id="{8DCCD063-7F18-423D-A692-CC9D343FD360}" type="slidenum">
              <a:rPr lang="zh-TW" altLang="en-US" smtClean="0"/>
              <a:t>13</a:t>
            </a:fld>
            <a:endParaRPr lang="zh-TW" altLang="en-US"/>
          </a:p>
        </p:txBody>
      </p:sp>
      <p:pic>
        <p:nvPicPr>
          <p:cNvPr id="8" name="內容版面配置區 7">
            <a:extLst>
              <a:ext uri="{FF2B5EF4-FFF2-40B4-BE49-F238E27FC236}">
                <a16:creationId xmlns:a16="http://schemas.microsoft.com/office/drawing/2014/main" id="{0A6FE04F-CE3B-4BB3-B9A5-7E4F305B0B15}"/>
              </a:ext>
            </a:extLst>
          </p:cNvPr>
          <p:cNvPicPr>
            <a:picLocks noGrp="1" noChangeAspect="1"/>
          </p:cNvPicPr>
          <p:nvPr>
            <p:ph idx="1"/>
          </p:nvPr>
        </p:nvPicPr>
        <p:blipFill>
          <a:blip r:embed="rId2"/>
          <a:stretch>
            <a:fillRect/>
          </a:stretch>
        </p:blipFill>
        <p:spPr>
          <a:xfrm>
            <a:off x="2670628" y="1690418"/>
            <a:ext cx="6157686" cy="4767241"/>
          </a:xfrm>
          <a:prstGeom prst="rect">
            <a:avLst/>
          </a:prstGeom>
        </p:spPr>
      </p:pic>
      <p:sp>
        <p:nvSpPr>
          <p:cNvPr id="9" name="矩形 8">
            <a:extLst>
              <a:ext uri="{FF2B5EF4-FFF2-40B4-BE49-F238E27FC236}">
                <a16:creationId xmlns:a16="http://schemas.microsoft.com/office/drawing/2014/main" id="{0616174F-08E6-478E-8657-78F5CE859AA6}"/>
              </a:ext>
            </a:extLst>
          </p:cNvPr>
          <p:cNvSpPr/>
          <p:nvPr/>
        </p:nvSpPr>
        <p:spPr>
          <a:xfrm>
            <a:off x="2423886" y="5820229"/>
            <a:ext cx="377371" cy="3483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358133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D7F597-2455-4C7B-AB10-FAFDC88FBAD6}"/>
              </a:ext>
            </a:extLst>
          </p:cNvPr>
          <p:cNvSpPr>
            <a:spLocks noGrp="1"/>
          </p:cNvSpPr>
          <p:nvPr>
            <p:ph type="title"/>
          </p:nvPr>
        </p:nvSpPr>
        <p:spPr/>
        <p:txBody>
          <a:bodyPr/>
          <a:lstStyle/>
          <a:p>
            <a:r>
              <a:rPr lang="en-US" altLang="zh-TW" dirty="0" err="1"/>
              <a:t>Awarp</a:t>
            </a:r>
            <a:r>
              <a:rPr lang="en-US" altLang="zh-TW" dirty="0"/>
              <a:t> (Constrained Warping)</a:t>
            </a:r>
            <a:endParaRPr lang="zh-TW" altLang="en-US" dirty="0"/>
          </a:p>
        </p:txBody>
      </p:sp>
      <p:pic>
        <p:nvPicPr>
          <p:cNvPr id="5" name="內容版面配置區 4">
            <a:extLst>
              <a:ext uri="{FF2B5EF4-FFF2-40B4-BE49-F238E27FC236}">
                <a16:creationId xmlns:a16="http://schemas.microsoft.com/office/drawing/2014/main" id="{7FEECF79-56A7-4388-9E71-61DF5EC4D46D}"/>
              </a:ext>
            </a:extLst>
          </p:cNvPr>
          <p:cNvPicPr>
            <a:picLocks noGrp="1" noChangeAspect="1"/>
          </p:cNvPicPr>
          <p:nvPr>
            <p:ph idx="1"/>
          </p:nvPr>
        </p:nvPicPr>
        <p:blipFill>
          <a:blip r:embed="rId2"/>
          <a:stretch>
            <a:fillRect/>
          </a:stretch>
        </p:blipFill>
        <p:spPr>
          <a:xfrm>
            <a:off x="838707" y="1402920"/>
            <a:ext cx="5257293" cy="5089953"/>
          </a:xfrm>
          <a:prstGeom prst="rect">
            <a:avLst/>
          </a:prstGeom>
        </p:spPr>
      </p:pic>
      <p:sp>
        <p:nvSpPr>
          <p:cNvPr id="4" name="投影片編號版面配置區 3">
            <a:extLst>
              <a:ext uri="{FF2B5EF4-FFF2-40B4-BE49-F238E27FC236}">
                <a16:creationId xmlns:a16="http://schemas.microsoft.com/office/drawing/2014/main" id="{1C9AC384-8933-4CEB-9283-974E605EB9B8}"/>
              </a:ext>
            </a:extLst>
          </p:cNvPr>
          <p:cNvSpPr>
            <a:spLocks noGrp="1"/>
          </p:cNvSpPr>
          <p:nvPr>
            <p:ph type="sldNum" sz="quarter" idx="12"/>
          </p:nvPr>
        </p:nvSpPr>
        <p:spPr/>
        <p:txBody>
          <a:bodyPr/>
          <a:lstStyle/>
          <a:p>
            <a:fld id="{8DCCD063-7F18-423D-A692-CC9D343FD360}" type="slidenum">
              <a:rPr lang="zh-TW" altLang="en-US" smtClean="0"/>
              <a:t>14</a:t>
            </a:fld>
            <a:endParaRPr lang="zh-TW" altLang="en-US"/>
          </a:p>
        </p:txBody>
      </p:sp>
      <p:sp>
        <p:nvSpPr>
          <p:cNvPr id="6" name="矩形 5">
            <a:extLst>
              <a:ext uri="{FF2B5EF4-FFF2-40B4-BE49-F238E27FC236}">
                <a16:creationId xmlns:a16="http://schemas.microsoft.com/office/drawing/2014/main" id="{DF3A0318-8961-4261-8769-8102AC15E938}"/>
              </a:ext>
            </a:extLst>
          </p:cNvPr>
          <p:cNvSpPr/>
          <p:nvPr/>
        </p:nvSpPr>
        <p:spPr>
          <a:xfrm>
            <a:off x="1611086" y="3947896"/>
            <a:ext cx="3947885" cy="94341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a:extLst>
              <a:ext uri="{FF2B5EF4-FFF2-40B4-BE49-F238E27FC236}">
                <a16:creationId xmlns:a16="http://schemas.microsoft.com/office/drawing/2014/main" id="{2048E61A-9907-4123-BE8A-310D00B8ACCC}"/>
              </a:ext>
            </a:extLst>
          </p:cNvPr>
          <p:cNvPicPr>
            <a:picLocks noChangeAspect="1"/>
          </p:cNvPicPr>
          <p:nvPr/>
        </p:nvPicPr>
        <p:blipFill>
          <a:blip r:embed="rId3"/>
          <a:stretch>
            <a:fillRect/>
          </a:stretch>
        </p:blipFill>
        <p:spPr>
          <a:xfrm>
            <a:off x="6476493" y="2001162"/>
            <a:ext cx="4876800" cy="3893467"/>
          </a:xfrm>
          <a:prstGeom prst="rect">
            <a:avLst/>
          </a:prstGeom>
        </p:spPr>
      </p:pic>
      <p:sp>
        <p:nvSpPr>
          <p:cNvPr id="8" name="矩形 7">
            <a:extLst>
              <a:ext uri="{FF2B5EF4-FFF2-40B4-BE49-F238E27FC236}">
                <a16:creationId xmlns:a16="http://schemas.microsoft.com/office/drawing/2014/main" id="{239082AD-44F4-42D6-9FFD-5777E198151D}"/>
              </a:ext>
            </a:extLst>
          </p:cNvPr>
          <p:cNvSpPr/>
          <p:nvPr/>
        </p:nvSpPr>
        <p:spPr>
          <a:xfrm>
            <a:off x="11295236" y="1899562"/>
            <a:ext cx="380493" cy="32384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069733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8D858C-6566-4C7D-B61D-CD0ADD518E73}"/>
              </a:ext>
            </a:extLst>
          </p:cNvPr>
          <p:cNvSpPr>
            <a:spLocks noGrp="1"/>
          </p:cNvSpPr>
          <p:nvPr>
            <p:ph type="title"/>
          </p:nvPr>
        </p:nvSpPr>
        <p:spPr/>
        <p:txBody>
          <a:bodyPr/>
          <a:lstStyle/>
          <a:p>
            <a:r>
              <a:rPr lang="en-US" altLang="zh-TW" dirty="0"/>
              <a:t>Experiments (Datasets)</a:t>
            </a:r>
            <a:endParaRPr lang="zh-TW" altLang="en-US" dirty="0"/>
          </a:p>
        </p:txBody>
      </p:sp>
      <p:sp>
        <p:nvSpPr>
          <p:cNvPr id="3" name="內容版面配置區 2">
            <a:extLst>
              <a:ext uri="{FF2B5EF4-FFF2-40B4-BE49-F238E27FC236}">
                <a16:creationId xmlns:a16="http://schemas.microsoft.com/office/drawing/2014/main" id="{D1CC1763-3A78-4185-9D6E-67C2B03B8675}"/>
              </a:ext>
            </a:extLst>
          </p:cNvPr>
          <p:cNvSpPr>
            <a:spLocks noGrp="1"/>
          </p:cNvSpPr>
          <p:nvPr>
            <p:ph idx="1"/>
          </p:nvPr>
        </p:nvSpPr>
        <p:spPr>
          <a:xfrm>
            <a:off x="937419" y="4313238"/>
            <a:ext cx="10515600" cy="2171019"/>
          </a:xfrm>
        </p:spPr>
        <p:txBody>
          <a:bodyPr>
            <a:normAutofit/>
          </a:bodyPr>
          <a:lstStyle/>
          <a:p>
            <a:r>
              <a:rPr lang="en-US" altLang="zh-TW" dirty="0"/>
              <a:t>TA: Twitter user activity time series</a:t>
            </a:r>
          </a:p>
          <a:p>
            <a:r>
              <a:rPr lang="en-US" altLang="zh-TW" dirty="0"/>
              <a:t>AR: app review time series</a:t>
            </a:r>
          </a:p>
          <a:p>
            <a:r>
              <a:rPr lang="en-US" altLang="zh-TW" dirty="0"/>
              <a:t>HA: human activity </a:t>
            </a:r>
            <a:r>
              <a:rPr lang="en-US" altLang="zh-TW" dirty="0" err="1"/>
              <a:t>tme</a:t>
            </a:r>
            <a:r>
              <a:rPr lang="en-US" altLang="zh-TW" dirty="0"/>
              <a:t> series</a:t>
            </a:r>
          </a:p>
          <a:p>
            <a:r>
              <a:rPr lang="en-US" altLang="zh-TW" dirty="0"/>
              <a:t>PW: power usage time series</a:t>
            </a:r>
            <a:endParaRPr lang="zh-TW" altLang="en-US" dirty="0"/>
          </a:p>
        </p:txBody>
      </p:sp>
      <p:sp>
        <p:nvSpPr>
          <p:cNvPr id="4" name="投影片編號版面配置區 3">
            <a:extLst>
              <a:ext uri="{FF2B5EF4-FFF2-40B4-BE49-F238E27FC236}">
                <a16:creationId xmlns:a16="http://schemas.microsoft.com/office/drawing/2014/main" id="{E1E461F8-AE8C-4E82-AC26-E20E072B6D5F}"/>
              </a:ext>
            </a:extLst>
          </p:cNvPr>
          <p:cNvSpPr>
            <a:spLocks noGrp="1"/>
          </p:cNvSpPr>
          <p:nvPr>
            <p:ph type="sldNum" sz="quarter" idx="12"/>
          </p:nvPr>
        </p:nvSpPr>
        <p:spPr/>
        <p:txBody>
          <a:bodyPr/>
          <a:lstStyle/>
          <a:p>
            <a:fld id="{8DCCD063-7F18-423D-A692-CC9D343FD360}" type="slidenum">
              <a:rPr lang="zh-TW" altLang="en-US" smtClean="0"/>
              <a:t>15</a:t>
            </a:fld>
            <a:endParaRPr lang="zh-TW" altLang="en-US"/>
          </a:p>
        </p:txBody>
      </p:sp>
      <p:pic>
        <p:nvPicPr>
          <p:cNvPr id="6" name="圖片 5">
            <a:extLst>
              <a:ext uri="{FF2B5EF4-FFF2-40B4-BE49-F238E27FC236}">
                <a16:creationId xmlns:a16="http://schemas.microsoft.com/office/drawing/2014/main" id="{E7181771-E52C-4AFB-A950-3C32E20926E1}"/>
              </a:ext>
            </a:extLst>
          </p:cNvPr>
          <p:cNvPicPr>
            <a:picLocks noChangeAspect="1"/>
          </p:cNvPicPr>
          <p:nvPr/>
        </p:nvPicPr>
        <p:blipFill>
          <a:blip r:embed="rId2"/>
          <a:stretch>
            <a:fillRect/>
          </a:stretch>
        </p:blipFill>
        <p:spPr>
          <a:xfrm>
            <a:off x="707571" y="1765413"/>
            <a:ext cx="8275638" cy="2331810"/>
          </a:xfrm>
          <a:prstGeom prst="rect">
            <a:avLst/>
          </a:prstGeom>
        </p:spPr>
      </p:pic>
    </p:spTree>
    <p:extLst>
      <p:ext uri="{BB962C8B-B14F-4D97-AF65-F5344CB8AC3E}">
        <p14:creationId xmlns:p14="http://schemas.microsoft.com/office/powerpoint/2010/main" val="1064153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8D858C-6566-4C7D-B61D-CD0ADD518E73}"/>
              </a:ext>
            </a:extLst>
          </p:cNvPr>
          <p:cNvSpPr>
            <a:spLocks noGrp="1"/>
          </p:cNvSpPr>
          <p:nvPr>
            <p:ph type="title"/>
          </p:nvPr>
        </p:nvSpPr>
        <p:spPr/>
        <p:txBody>
          <a:bodyPr/>
          <a:lstStyle/>
          <a:p>
            <a:r>
              <a:rPr lang="en-US" altLang="zh-TW" dirty="0"/>
              <a:t>Experiments (Result)</a:t>
            </a:r>
            <a:endParaRPr lang="zh-TW" altLang="en-US" dirty="0"/>
          </a:p>
        </p:txBody>
      </p:sp>
      <p:sp>
        <p:nvSpPr>
          <p:cNvPr id="4" name="投影片編號版面配置區 3">
            <a:extLst>
              <a:ext uri="{FF2B5EF4-FFF2-40B4-BE49-F238E27FC236}">
                <a16:creationId xmlns:a16="http://schemas.microsoft.com/office/drawing/2014/main" id="{E1E461F8-AE8C-4E82-AC26-E20E072B6D5F}"/>
              </a:ext>
            </a:extLst>
          </p:cNvPr>
          <p:cNvSpPr>
            <a:spLocks noGrp="1"/>
          </p:cNvSpPr>
          <p:nvPr>
            <p:ph type="sldNum" sz="quarter" idx="12"/>
          </p:nvPr>
        </p:nvSpPr>
        <p:spPr/>
        <p:txBody>
          <a:bodyPr/>
          <a:lstStyle/>
          <a:p>
            <a:fld id="{8DCCD063-7F18-423D-A692-CC9D343FD360}" type="slidenum">
              <a:rPr lang="zh-TW" altLang="en-US" smtClean="0"/>
              <a:t>16</a:t>
            </a:fld>
            <a:endParaRPr lang="zh-TW" altLang="en-US"/>
          </a:p>
        </p:txBody>
      </p:sp>
      <p:pic>
        <p:nvPicPr>
          <p:cNvPr id="11" name="內容版面配置區 10">
            <a:extLst>
              <a:ext uri="{FF2B5EF4-FFF2-40B4-BE49-F238E27FC236}">
                <a16:creationId xmlns:a16="http://schemas.microsoft.com/office/drawing/2014/main" id="{5BF75F7D-37E3-454A-A706-B51F02D7572A}"/>
              </a:ext>
            </a:extLst>
          </p:cNvPr>
          <p:cNvPicPr>
            <a:picLocks noGrp="1" noChangeAspect="1"/>
          </p:cNvPicPr>
          <p:nvPr>
            <p:ph idx="1"/>
          </p:nvPr>
        </p:nvPicPr>
        <p:blipFill>
          <a:blip r:embed="rId2"/>
          <a:stretch>
            <a:fillRect/>
          </a:stretch>
        </p:blipFill>
        <p:spPr>
          <a:xfrm>
            <a:off x="1146629" y="1549193"/>
            <a:ext cx="9753599" cy="4832291"/>
          </a:xfrm>
          <a:prstGeom prst="rect">
            <a:avLst/>
          </a:prstGeom>
        </p:spPr>
      </p:pic>
    </p:spTree>
    <p:extLst>
      <p:ext uri="{BB962C8B-B14F-4D97-AF65-F5344CB8AC3E}">
        <p14:creationId xmlns:p14="http://schemas.microsoft.com/office/powerpoint/2010/main" val="1835665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8D858C-6566-4C7D-B61D-CD0ADD518E73}"/>
              </a:ext>
            </a:extLst>
          </p:cNvPr>
          <p:cNvSpPr>
            <a:spLocks noGrp="1"/>
          </p:cNvSpPr>
          <p:nvPr>
            <p:ph type="title"/>
          </p:nvPr>
        </p:nvSpPr>
        <p:spPr/>
        <p:txBody>
          <a:bodyPr/>
          <a:lstStyle/>
          <a:p>
            <a:r>
              <a:rPr lang="en-US" altLang="zh-TW" dirty="0"/>
              <a:t>Experiments (Result)</a:t>
            </a:r>
            <a:endParaRPr lang="zh-TW" altLang="en-US" dirty="0"/>
          </a:p>
        </p:txBody>
      </p:sp>
      <p:sp>
        <p:nvSpPr>
          <p:cNvPr id="4" name="投影片編號版面配置區 3">
            <a:extLst>
              <a:ext uri="{FF2B5EF4-FFF2-40B4-BE49-F238E27FC236}">
                <a16:creationId xmlns:a16="http://schemas.microsoft.com/office/drawing/2014/main" id="{E1E461F8-AE8C-4E82-AC26-E20E072B6D5F}"/>
              </a:ext>
            </a:extLst>
          </p:cNvPr>
          <p:cNvSpPr>
            <a:spLocks noGrp="1"/>
          </p:cNvSpPr>
          <p:nvPr>
            <p:ph type="sldNum" sz="quarter" idx="12"/>
          </p:nvPr>
        </p:nvSpPr>
        <p:spPr/>
        <p:txBody>
          <a:bodyPr/>
          <a:lstStyle/>
          <a:p>
            <a:fld id="{8DCCD063-7F18-423D-A692-CC9D343FD360}" type="slidenum">
              <a:rPr lang="zh-TW" altLang="en-US" smtClean="0"/>
              <a:t>17</a:t>
            </a:fld>
            <a:endParaRPr lang="zh-TW" altLang="en-US"/>
          </a:p>
        </p:txBody>
      </p:sp>
      <p:pic>
        <p:nvPicPr>
          <p:cNvPr id="6" name="內容版面配置區 5">
            <a:extLst>
              <a:ext uri="{FF2B5EF4-FFF2-40B4-BE49-F238E27FC236}">
                <a16:creationId xmlns:a16="http://schemas.microsoft.com/office/drawing/2014/main" id="{AD556BD5-BD35-415D-8C95-C936B5A92A81}"/>
              </a:ext>
            </a:extLst>
          </p:cNvPr>
          <p:cNvPicPr>
            <a:picLocks noGrp="1" noChangeAspect="1"/>
          </p:cNvPicPr>
          <p:nvPr>
            <p:ph idx="1"/>
          </p:nvPr>
        </p:nvPicPr>
        <p:blipFill>
          <a:blip r:embed="rId2"/>
          <a:stretch>
            <a:fillRect/>
          </a:stretch>
        </p:blipFill>
        <p:spPr>
          <a:xfrm>
            <a:off x="655338" y="2191657"/>
            <a:ext cx="10215862" cy="3433665"/>
          </a:xfrm>
          <a:prstGeom prst="rect">
            <a:avLst/>
          </a:prstGeom>
        </p:spPr>
      </p:pic>
    </p:spTree>
    <p:extLst>
      <p:ext uri="{BB962C8B-B14F-4D97-AF65-F5344CB8AC3E}">
        <p14:creationId xmlns:p14="http://schemas.microsoft.com/office/powerpoint/2010/main" val="385625339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per">
      <a:majorFont>
        <a:latin typeface="Tw Cen MT"/>
        <a:ea typeface="微軟正黑體"/>
        <a:cs typeface=""/>
      </a:majorFont>
      <a:minorFont>
        <a:latin typeface="Tw Cen MT"/>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12315</TotalTime>
  <Words>515</Words>
  <Application>Microsoft Office PowerPoint</Application>
  <PresentationFormat>寬螢幕</PresentationFormat>
  <Paragraphs>56</Paragraphs>
  <Slides>17</Slides>
  <Notes>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17</vt:i4>
      </vt:variant>
    </vt:vector>
  </HeadingPairs>
  <TitlesOfParts>
    <vt:vector size="24" baseType="lpstr">
      <vt:lpstr>微軟正黑體</vt:lpstr>
      <vt:lpstr>新細明體</vt:lpstr>
      <vt:lpstr>Arial</vt:lpstr>
      <vt:lpstr>Calibri</vt:lpstr>
      <vt:lpstr>Times New Roman</vt:lpstr>
      <vt:lpstr>Tw Cen MT</vt:lpstr>
      <vt:lpstr>Office 佈景主題</vt:lpstr>
      <vt:lpstr>AWarp: Fast Warping Distance for Sparse Time Series</vt:lpstr>
      <vt:lpstr>Abstract (1/2)</vt:lpstr>
      <vt:lpstr>Abstract (2/2)</vt:lpstr>
      <vt:lpstr>Sparse time series (Euclidean vs. Warping)</vt:lpstr>
      <vt:lpstr>Representations</vt:lpstr>
      <vt:lpstr>DTW matrix vs. Awarp matrix</vt:lpstr>
      <vt:lpstr>Awarp (Binary-valued Series) (1/3)</vt:lpstr>
      <vt:lpstr>Awarp (Binary-valued Series) (2/3)</vt:lpstr>
      <vt:lpstr>Awarp (Binary-valued Series) (3/3)</vt:lpstr>
      <vt:lpstr>Awarp (Any-valued Series) (1/3)</vt:lpstr>
      <vt:lpstr>Awarp (Any-valued Series) (2/3)</vt:lpstr>
      <vt:lpstr>Awarp (Any-valued Series) (3/3)</vt:lpstr>
      <vt:lpstr>Awarp (Invariance to Partial Encoding)</vt:lpstr>
      <vt:lpstr>Awarp (Constrained Warping)</vt:lpstr>
      <vt:lpstr>Experiments (Datasets)</vt:lpstr>
      <vt:lpstr>Experiments (Result)</vt:lpstr>
      <vt:lpstr>Experiments (Result)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for blind biosignal classification model</dc:title>
  <dc:creator>喵owo</dc:creator>
  <cp:lastModifiedBy> </cp:lastModifiedBy>
  <cp:revision>416</cp:revision>
  <dcterms:created xsi:type="dcterms:W3CDTF">2017-10-09T09:38:00Z</dcterms:created>
  <dcterms:modified xsi:type="dcterms:W3CDTF">2018-09-11T09:34:24Z</dcterms:modified>
</cp:coreProperties>
</file>