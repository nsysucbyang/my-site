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307" r:id="rId4"/>
    <p:sldId id="330" r:id="rId5"/>
    <p:sldId id="332" r:id="rId6"/>
    <p:sldId id="333" r:id="rId7"/>
    <p:sldId id="334" r:id="rId8"/>
    <p:sldId id="335" r:id="rId9"/>
    <p:sldId id="336" r:id="rId10"/>
    <p:sldId id="338" r:id="rId11"/>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中等深淺樣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506" autoAdjust="0"/>
    <p:restoredTop sz="95048" autoAdjust="0"/>
  </p:normalViewPr>
  <p:slideViewPr>
    <p:cSldViewPr snapToGrid="0">
      <p:cViewPr varScale="1">
        <p:scale>
          <a:sx n="114" d="100"/>
          <a:sy n="114" d="100"/>
        </p:scale>
        <p:origin x="6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52D822E-287D-49A6-BB7D-CFD94BDB4C78}" type="datetimeFigureOut">
              <a:rPr lang="zh-TW" altLang="en-US" smtClean="0"/>
              <a:t>2018/9/11</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0C6E11E-5ACF-409F-8557-659632981D46}" type="slidenum">
              <a:rPr lang="zh-TW" altLang="en-US" smtClean="0"/>
              <a:t>‹#›</a:t>
            </a:fld>
            <a:endParaRPr lang="zh-TW" altLang="en-US"/>
          </a:p>
        </p:txBody>
      </p:sp>
    </p:spTree>
    <p:extLst>
      <p:ext uri="{BB962C8B-B14F-4D97-AF65-F5344CB8AC3E}">
        <p14:creationId xmlns:p14="http://schemas.microsoft.com/office/powerpoint/2010/main" val="31579778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70C6E11E-5ACF-409F-8557-659632981D46}" type="slidenum">
              <a:rPr lang="zh-TW" altLang="en-US" smtClean="0"/>
              <a:t>1</a:t>
            </a:fld>
            <a:endParaRPr lang="zh-TW" altLang="en-US"/>
          </a:p>
        </p:txBody>
      </p:sp>
    </p:spTree>
    <p:extLst>
      <p:ext uri="{BB962C8B-B14F-4D97-AF65-F5344CB8AC3E}">
        <p14:creationId xmlns:p14="http://schemas.microsoft.com/office/powerpoint/2010/main" val="19323796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4</a:t>
            </a:fld>
            <a:endParaRPr lang="zh-TW" altLang="en-US"/>
          </a:p>
        </p:txBody>
      </p:sp>
    </p:spTree>
    <p:extLst>
      <p:ext uri="{BB962C8B-B14F-4D97-AF65-F5344CB8AC3E}">
        <p14:creationId xmlns:p14="http://schemas.microsoft.com/office/powerpoint/2010/main" val="8272476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5</a:t>
            </a:fld>
            <a:endParaRPr lang="zh-TW" altLang="en-US"/>
          </a:p>
        </p:txBody>
      </p:sp>
    </p:spTree>
    <p:extLst>
      <p:ext uri="{BB962C8B-B14F-4D97-AF65-F5344CB8AC3E}">
        <p14:creationId xmlns:p14="http://schemas.microsoft.com/office/powerpoint/2010/main" val="145379562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6</a:t>
            </a:fld>
            <a:endParaRPr lang="zh-TW" altLang="en-US"/>
          </a:p>
        </p:txBody>
      </p:sp>
    </p:spTree>
    <p:extLst>
      <p:ext uri="{BB962C8B-B14F-4D97-AF65-F5344CB8AC3E}">
        <p14:creationId xmlns:p14="http://schemas.microsoft.com/office/powerpoint/2010/main" val="2810164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7</a:t>
            </a:fld>
            <a:endParaRPr lang="zh-TW" altLang="en-US"/>
          </a:p>
        </p:txBody>
      </p:sp>
    </p:spTree>
    <p:extLst>
      <p:ext uri="{BB962C8B-B14F-4D97-AF65-F5344CB8AC3E}">
        <p14:creationId xmlns:p14="http://schemas.microsoft.com/office/powerpoint/2010/main" val="17716238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8</a:t>
            </a:fld>
            <a:endParaRPr lang="zh-TW" altLang="en-US"/>
          </a:p>
        </p:txBody>
      </p:sp>
    </p:spTree>
    <p:extLst>
      <p:ext uri="{BB962C8B-B14F-4D97-AF65-F5344CB8AC3E}">
        <p14:creationId xmlns:p14="http://schemas.microsoft.com/office/powerpoint/2010/main" val="352659151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9</a:t>
            </a:fld>
            <a:endParaRPr lang="zh-TW" altLang="en-US"/>
          </a:p>
        </p:txBody>
      </p:sp>
    </p:spTree>
    <p:extLst>
      <p:ext uri="{BB962C8B-B14F-4D97-AF65-F5344CB8AC3E}">
        <p14:creationId xmlns:p14="http://schemas.microsoft.com/office/powerpoint/2010/main" val="27034111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備忘稿版面配置區 2"/>
              <p:cNvSpPr>
                <a:spLocks noGrp="1"/>
              </p:cNvSpPr>
              <p:nvPr>
                <p:ph type="body" idx="1"/>
              </p:nvPr>
            </p:nvSpPr>
            <p:spPr/>
            <p:txBody>
              <a:bodyPr/>
              <a:lstStyle/>
              <a:p>
                <a:endParaRPr lang="zh-TW" altLang="en-US" dirty="0"/>
              </a:p>
            </p:txBody>
          </p:sp>
        </mc:Choice>
        <mc:Fallback xmlns="">
          <p:sp>
            <p:nvSpPr>
              <p:cNvPr id="3" name="備忘稿版面配置區 2"/>
              <p:cNvSpPr>
                <a:spLocks noGrp="1"/>
              </p:cNvSpPr>
              <p:nvPr>
                <p:ph type="body" idx="1"/>
              </p:nvPr>
            </p:nvSpPr>
            <p:spPr/>
            <p:txBody>
              <a:bodyPr/>
              <a:lstStyle/>
              <a:p>
                <a:r>
                  <a:rPr lang="zh-TW" altLang="en-US" dirty="0"/>
                  <a:t>𝜇</a:t>
                </a:r>
                <a:r>
                  <a:rPr lang="en-US" altLang="zh-TW" dirty="0"/>
                  <a:t> : </a:t>
                </a:r>
                <a:r>
                  <a:rPr lang="zh-TW" altLang="en-US" dirty="0"/>
                  <a:t>股價點數，</a:t>
                </a:r>
                <a:r>
                  <a:rPr lang="zh-TW" altLang="en-US" b="0" i="0">
                    <a:latin typeface="Cambria Math" panose="02040503050406030204" pitchFamily="18" charset="0"/>
                    <a:ea typeface="Cambria Math" panose="02040503050406030204" pitchFamily="18" charset="0"/>
                    <a:cs typeface="Times New Roman" panose="02020603050405020304" pitchFamily="18" charset="0"/>
                  </a:rPr>
                  <a:t>𝛿</a:t>
                </a:r>
                <a:r>
                  <a:rPr lang="zh-TW" altLang="en-US" dirty="0"/>
                  <a:t> </a:t>
                </a:r>
                <a:r>
                  <a:rPr lang="en-US" altLang="zh-TW" dirty="0"/>
                  <a:t>:</a:t>
                </a:r>
                <a:r>
                  <a:rPr lang="zh-TW" altLang="en-US" dirty="0"/>
                  <a:t> </a:t>
                </a:r>
                <a:r>
                  <a:rPr lang="en-US" altLang="zh-TW" dirty="0"/>
                  <a:t>transaction</a:t>
                </a:r>
                <a:r>
                  <a:rPr lang="en-US" altLang="zh-TW" baseline="0" dirty="0"/>
                  <a:t> cost</a:t>
                </a:r>
                <a:r>
                  <a:rPr lang="zh-TW" altLang="en-US" baseline="0" dirty="0"/>
                  <a:t>，</a:t>
                </a:r>
                <a:r>
                  <a:rPr lang="en-US" altLang="zh-TW" baseline="0" dirty="0"/>
                  <a:t>M is time series we want to trade in</a:t>
                </a:r>
                <a:endParaRPr lang="zh-TW" altLang="en-US" dirty="0"/>
              </a:p>
            </p:txBody>
          </p:sp>
        </mc:Fallback>
      </mc:AlternateContent>
      <p:sp>
        <p:nvSpPr>
          <p:cNvPr id="4" name="投影片編號版面配置區 3"/>
          <p:cNvSpPr>
            <a:spLocks noGrp="1"/>
          </p:cNvSpPr>
          <p:nvPr>
            <p:ph type="sldNum" sz="quarter" idx="10"/>
          </p:nvPr>
        </p:nvSpPr>
        <p:spPr/>
        <p:txBody>
          <a:bodyPr/>
          <a:lstStyle/>
          <a:p>
            <a:fld id="{70C6E11E-5ACF-409F-8557-659632981D46}" type="slidenum">
              <a:rPr lang="zh-TW" altLang="en-US" smtClean="0"/>
              <a:t>10</a:t>
            </a:fld>
            <a:endParaRPr lang="zh-TW" altLang="en-US"/>
          </a:p>
        </p:txBody>
      </p:sp>
    </p:spTree>
    <p:extLst>
      <p:ext uri="{BB962C8B-B14F-4D97-AF65-F5344CB8AC3E}">
        <p14:creationId xmlns:p14="http://schemas.microsoft.com/office/powerpoint/2010/main" val="416173111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1524000" y="1122363"/>
            <a:ext cx="9144000" cy="2387600"/>
          </a:xfrm>
        </p:spPr>
        <p:txBody>
          <a:bodyPr anchor="b"/>
          <a:lstStyle>
            <a:lvl1pPr algn="ctr">
              <a:defRPr sz="6000"/>
            </a:lvl1pPr>
          </a:lstStyle>
          <a:p>
            <a:r>
              <a:rPr lang="zh-TW" altLang="en-US"/>
              <a:t>按一下以編輯母片標題樣式</a:t>
            </a:r>
          </a:p>
        </p:txBody>
      </p:sp>
      <p:sp>
        <p:nvSpPr>
          <p:cNvPr id="3" name="副標題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2018/9/11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922107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idx="1"/>
          </p:nvPr>
        </p:nvSpPr>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2018/9/11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49095755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標題 1"/>
          <p:cNvSpPr>
            <a:spLocks noGrp="1"/>
          </p:cNvSpPr>
          <p:nvPr>
            <p:ph type="title"/>
          </p:nvPr>
        </p:nvSpPr>
        <p:spPr>
          <a:xfrm>
            <a:off x="831850" y="1709738"/>
            <a:ext cx="10515600" cy="2852737"/>
          </a:xfrm>
        </p:spPr>
        <p:txBody>
          <a:bodyPr anchor="b"/>
          <a:lstStyle>
            <a:lvl1pPr>
              <a:defRPr sz="6000"/>
            </a:lvl1pPr>
          </a:lstStyle>
          <a:p>
            <a:r>
              <a:rPr lang="zh-TW" altLang="en-US"/>
              <a:t>按一下以編輯母片標題樣式</a:t>
            </a:r>
          </a:p>
        </p:txBody>
      </p:sp>
      <p:sp>
        <p:nvSpPr>
          <p:cNvPr id="3" name="文字版面配置區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按一下以編輯母片文字樣式</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2018/9/11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906110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內容版面配置區 2"/>
          <p:cNvSpPr>
            <a:spLocks noGrp="1"/>
          </p:cNvSpPr>
          <p:nvPr>
            <p:ph sz="half" idx="1"/>
          </p:nvPr>
        </p:nvSpPr>
        <p:spPr>
          <a:xfrm>
            <a:off x="838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內容版面配置區 3"/>
          <p:cNvSpPr>
            <a:spLocks noGrp="1"/>
          </p:cNvSpPr>
          <p:nvPr>
            <p:ph sz="half" idx="2"/>
          </p:nvPr>
        </p:nvSpPr>
        <p:spPr>
          <a:xfrm>
            <a:off x="6172200" y="1825625"/>
            <a:ext cx="5181600" cy="435133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2018/9/11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06913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a:xfrm>
            <a:off x="839788" y="365125"/>
            <a:ext cx="10515600" cy="1325563"/>
          </a:xfrm>
        </p:spPr>
        <p:txBody>
          <a:bodyPr/>
          <a:lstStyle/>
          <a:p>
            <a:r>
              <a:rPr lang="zh-TW" altLang="en-US"/>
              <a:t>按一下以編輯母片標題樣式</a:t>
            </a:r>
          </a:p>
        </p:txBody>
      </p:sp>
      <p:sp>
        <p:nvSpPr>
          <p:cNvPr id="3" name="文字版面配置區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4" name="內容版面配置區 3"/>
          <p:cNvSpPr>
            <a:spLocks noGrp="1"/>
          </p:cNvSpPr>
          <p:nvPr>
            <p:ph sz="half" idx="2"/>
          </p:nvPr>
        </p:nvSpPr>
        <p:spPr>
          <a:xfrm>
            <a:off x="839788" y="2505075"/>
            <a:ext cx="5157787"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5" name="文字版面配置區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按一下以編輯母片文字樣式</a:t>
            </a:r>
          </a:p>
        </p:txBody>
      </p:sp>
      <p:sp>
        <p:nvSpPr>
          <p:cNvPr id="6" name="內容版面配置區 5"/>
          <p:cNvSpPr>
            <a:spLocks noGrp="1"/>
          </p:cNvSpPr>
          <p:nvPr>
            <p:ph sz="quarter" idx="4"/>
          </p:nvPr>
        </p:nvSpPr>
        <p:spPr>
          <a:xfrm>
            <a:off x="6172200" y="2505075"/>
            <a:ext cx="5183188" cy="3684588"/>
          </a:xfrm>
        </p:spPr>
        <p:txBody>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7" name="日期版面配置區 6"/>
          <p:cNvSpPr>
            <a:spLocks noGrp="1"/>
          </p:cNvSpPr>
          <p:nvPr>
            <p:ph type="dt" sz="half" idx="10"/>
          </p:nvPr>
        </p:nvSpPr>
        <p:spPr/>
        <p:txBody>
          <a:bodyPr/>
          <a:lstStyle/>
          <a:p>
            <a:fld id="{5E5C1F2B-1D51-40D0-A135-9C9D0A35B8E2}" type="datetimeFigureOut">
              <a:rPr lang="zh-TW" altLang="en-US" smtClean="0"/>
              <a:t>2018/9/11</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33364730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日期版面配置區 2"/>
          <p:cNvSpPr>
            <a:spLocks noGrp="1"/>
          </p:cNvSpPr>
          <p:nvPr>
            <p:ph type="dt" sz="half" idx="10"/>
          </p:nvPr>
        </p:nvSpPr>
        <p:spPr/>
        <p:txBody>
          <a:bodyPr/>
          <a:lstStyle/>
          <a:p>
            <a:fld id="{5E5C1F2B-1D51-40D0-A135-9C9D0A35B8E2}" type="datetimeFigureOut">
              <a:rPr lang="zh-TW" altLang="en-US" smtClean="0"/>
              <a:t>2018/9/11</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7939764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E5C1F2B-1D51-40D0-A135-9C9D0A35B8E2}" type="datetimeFigureOut">
              <a:rPr lang="zh-TW" altLang="en-US" smtClean="0"/>
              <a:t>2018/9/11</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4010919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內容版面配置區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2018/9/11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62702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839788" y="457200"/>
            <a:ext cx="3932237" cy="1600200"/>
          </a:xfrm>
        </p:spPr>
        <p:txBody>
          <a:bodyPr anchor="b"/>
          <a:lstStyle>
            <a:lvl1pPr>
              <a:defRPr sz="3200"/>
            </a:lvl1pPr>
          </a:lstStyle>
          <a:p>
            <a:r>
              <a:rPr lang="zh-TW" altLang="en-US"/>
              <a:t>按一下以編輯母片標題樣式</a:t>
            </a:r>
          </a:p>
        </p:txBody>
      </p:sp>
      <p:sp>
        <p:nvSpPr>
          <p:cNvPr id="3" name="圖片版面配置區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按一下以編輯母片文字樣式</a:t>
            </a:r>
          </a:p>
        </p:txBody>
      </p:sp>
      <p:sp>
        <p:nvSpPr>
          <p:cNvPr id="5" name="日期版面配置區 4"/>
          <p:cNvSpPr>
            <a:spLocks noGrp="1"/>
          </p:cNvSpPr>
          <p:nvPr>
            <p:ph type="dt" sz="half" idx="10"/>
          </p:nvPr>
        </p:nvSpPr>
        <p:spPr/>
        <p:txBody>
          <a:bodyPr/>
          <a:lstStyle/>
          <a:p>
            <a:fld id="{5E5C1F2B-1D51-40D0-A135-9C9D0A35B8E2}" type="datetimeFigureOut">
              <a:rPr lang="zh-TW" altLang="en-US" smtClean="0"/>
              <a:t>2018/9/11</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37814167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a:t>按一下以編輯母片標題樣式</a:t>
            </a:r>
          </a:p>
        </p:txBody>
      </p:sp>
      <p:sp>
        <p:nvSpPr>
          <p:cNvPr id="3" name="直排文字版面配置區 2"/>
          <p:cNvSpPr>
            <a:spLocks noGrp="1"/>
          </p:cNvSpPr>
          <p:nvPr>
            <p:ph type="body" orient="vert" idx="1"/>
          </p:nvPr>
        </p:nvSpPr>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2018/9/11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17893882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8724900" y="365125"/>
            <a:ext cx="2628900" cy="5811838"/>
          </a:xfrm>
        </p:spPr>
        <p:txBody>
          <a:bodyPr vert="eaVert"/>
          <a:lstStyle/>
          <a:p>
            <a:r>
              <a:rPr lang="zh-TW" altLang="en-US"/>
              <a:t>按一下以編輯母片標題樣式</a:t>
            </a:r>
          </a:p>
        </p:txBody>
      </p:sp>
      <p:sp>
        <p:nvSpPr>
          <p:cNvPr id="3" name="直排文字版面配置區 2"/>
          <p:cNvSpPr>
            <a:spLocks noGrp="1"/>
          </p:cNvSpPr>
          <p:nvPr>
            <p:ph type="body" orient="vert" idx="1"/>
          </p:nvPr>
        </p:nvSpPr>
        <p:spPr>
          <a:xfrm>
            <a:off x="838200" y="365125"/>
            <a:ext cx="7734300" cy="5811838"/>
          </a:xfrm>
        </p:spPr>
        <p:txBody>
          <a:bodyPr vert="eaVert"/>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10"/>
          </p:nvPr>
        </p:nvSpPr>
        <p:spPr/>
        <p:txBody>
          <a:bodyPr/>
          <a:lstStyle/>
          <a:p>
            <a:fld id="{5E5C1F2B-1D51-40D0-A135-9C9D0A35B8E2}" type="datetimeFigureOut">
              <a:rPr lang="zh-TW" altLang="en-US" smtClean="0"/>
              <a:t>2018/9/11</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22334074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TW" altLang="en-US"/>
              <a:t>按一下以編輯母片標題樣式</a:t>
            </a:r>
          </a:p>
        </p:txBody>
      </p:sp>
      <p:sp>
        <p:nvSpPr>
          <p:cNvPr id="3" name="文字版面配置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4" name="日期版面配置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E5C1F2B-1D51-40D0-A135-9C9D0A35B8E2}" type="datetimeFigureOut">
              <a:rPr lang="zh-TW" altLang="en-US" smtClean="0"/>
              <a:t>2018/9/11</a:t>
            </a:fld>
            <a:endParaRPr lang="zh-TW" altLang="en-US"/>
          </a:p>
        </p:txBody>
      </p:sp>
      <p:sp>
        <p:nvSpPr>
          <p:cNvPr id="5" name="頁尾版面配置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D488090-0EBF-4484-8627-106C69134698}" type="slidenum">
              <a:rPr lang="zh-TW" altLang="en-US" smtClean="0"/>
              <a:t>‹#›</a:t>
            </a:fld>
            <a:endParaRPr lang="zh-TW" altLang="en-US"/>
          </a:p>
        </p:txBody>
      </p:sp>
    </p:spTree>
    <p:extLst>
      <p:ext uri="{BB962C8B-B14F-4D97-AF65-F5344CB8AC3E}">
        <p14:creationId xmlns:p14="http://schemas.microsoft.com/office/powerpoint/2010/main" val="40011100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a:xfrm>
            <a:off x="512780" y="339422"/>
            <a:ext cx="11166437" cy="2902356"/>
          </a:xfrm>
        </p:spPr>
        <p:txBody>
          <a:bodyPr>
            <a:noAutofit/>
          </a:bodyPr>
          <a:lstStyle/>
          <a:p>
            <a:r>
              <a:rPr lang="en-US" altLang="zh-TW" sz="4800" b="1" dirty="0">
                <a:latin typeface="Times New Roman" panose="02020603050405020304" pitchFamily="18" charset="0"/>
                <a:cs typeface="Times New Roman" panose="02020603050405020304" pitchFamily="18" charset="0"/>
              </a:rPr>
              <a:t>Financial Time-series Data Analysis using Deep Convolutional Neural Networks</a:t>
            </a:r>
            <a:endParaRPr lang="zh-TW" altLang="en-US" sz="4800" b="1" dirty="0">
              <a:latin typeface="Times New Roman" panose="02020603050405020304" pitchFamily="18" charset="0"/>
              <a:cs typeface="Times New Roman" panose="02020603050405020304" pitchFamily="18" charset="0"/>
            </a:endParaRPr>
          </a:p>
        </p:txBody>
      </p:sp>
      <p:sp>
        <p:nvSpPr>
          <p:cNvPr id="3" name="副標題 2"/>
          <p:cNvSpPr>
            <a:spLocks noGrp="1"/>
          </p:cNvSpPr>
          <p:nvPr>
            <p:ph type="subTitle" idx="1"/>
          </p:nvPr>
        </p:nvSpPr>
        <p:spPr>
          <a:xfrm>
            <a:off x="867248" y="3852626"/>
            <a:ext cx="10457502" cy="2719740"/>
          </a:xfrm>
        </p:spPr>
        <p:txBody>
          <a:bodyPr>
            <a:normAutofit/>
          </a:bodyPr>
          <a:lstStyle/>
          <a:p>
            <a:r>
              <a:rPr lang="en-US" altLang="zh-TW" dirty="0" err="1">
                <a:latin typeface="Times New Roman" panose="02020603050405020304" pitchFamily="18" charset="0"/>
                <a:cs typeface="Times New Roman" panose="02020603050405020304" pitchFamily="18" charset="0"/>
              </a:rPr>
              <a:t>Jou</a:t>
            </a:r>
            <a:r>
              <a:rPr lang="en-US" altLang="zh-TW" dirty="0">
                <a:latin typeface="Times New Roman" panose="02020603050405020304" pitchFamily="18" charset="0"/>
                <a:cs typeface="Times New Roman" panose="02020603050405020304" pitchFamily="18" charset="0"/>
              </a:rPr>
              <a:t>-Fan Chen(</a:t>
            </a:r>
            <a:r>
              <a:rPr lang="zh-TW" altLang="en-US" dirty="0">
                <a:latin typeface="Times New Roman" panose="02020603050405020304" pitchFamily="18" charset="0"/>
                <a:cs typeface="Times New Roman" panose="02020603050405020304" pitchFamily="18" charset="0"/>
              </a:rPr>
              <a:t>陳柔帆</a:t>
            </a:r>
            <a:r>
              <a:rPr lang="en-US" altLang="zh-TW" dirty="0">
                <a:latin typeface="Times New Roman" panose="02020603050405020304" pitchFamily="18" charset="0"/>
                <a:cs typeface="Times New Roman" panose="02020603050405020304" pitchFamily="18" charset="0"/>
              </a:rPr>
              <a:t>), Wei-</a:t>
            </a:r>
            <a:r>
              <a:rPr lang="en-US" altLang="zh-TW" dirty="0" err="1">
                <a:latin typeface="Times New Roman" panose="02020603050405020304" pitchFamily="18" charset="0"/>
                <a:cs typeface="Times New Roman" panose="02020603050405020304" pitchFamily="18" charset="0"/>
              </a:rPr>
              <a:t>Lun</a:t>
            </a:r>
            <a:r>
              <a:rPr lang="en-US" altLang="zh-TW" dirty="0">
                <a:latin typeface="Times New Roman" panose="02020603050405020304" pitchFamily="18" charset="0"/>
                <a:cs typeface="Times New Roman" panose="02020603050405020304" pitchFamily="18" charset="0"/>
              </a:rPr>
              <a:t> Chen(</a:t>
            </a:r>
            <a:r>
              <a:rPr lang="zh-TW" altLang="en-US" dirty="0">
                <a:latin typeface="Times New Roman" panose="02020603050405020304" pitchFamily="18" charset="0"/>
                <a:cs typeface="Times New Roman" panose="02020603050405020304" pitchFamily="18" charset="0"/>
              </a:rPr>
              <a:t>陳韋綸</a:t>
            </a:r>
            <a:r>
              <a:rPr lang="en-US" altLang="zh-TW" dirty="0">
                <a:latin typeface="Times New Roman" panose="02020603050405020304" pitchFamily="18" charset="0"/>
                <a:cs typeface="Times New Roman" panose="02020603050405020304" pitchFamily="18" charset="0"/>
              </a:rPr>
              <a:t>), Chun-Ping Huang(</a:t>
            </a:r>
            <a:r>
              <a:rPr lang="zh-TW" altLang="en-US" dirty="0">
                <a:latin typeface="Times New Roman" panose="02020603050405020304" pitchFamily="18" charset="0"/>
                <a:cs typeface="Times New Roman" panose="02020603050405020304" pitchFamily="18" charset="0"/>
              </a:rPr>
              <a:t>黃君平</a:t>
            </a:r>
            <a:r>
              <a:rPr lang="en-US" altLang="zh-TW" dirty="0">
                <a:latin typeface="Times New Roman" panose="02020603050405020304" pitchFamily="18" charset="0"/>
                <a:cs typeface="Times New Roman" panose="02020603050405020304" pitchFamily="18" charset="0"/>
              </a:rPr>
              <a:t>), </a:t>
            </a:r>
          </a:p>
          <a:p>
            <a:r>
              <a:rPr lang="en-US" altLang="zh-TW" dirty="0" err="1">
                <a:latin typeface="Times New Roman" panose="02020603050405020304" pitchFamily="18" charset="0"/>
                <a:cs typeface="Times New Roman" panose="02020603050405020304" pitchFamily="18" charset="0"/>
              </a:rPr>
              <a:t>Szu</a:t>
            </a:r>
            <a:r>
              <a:rPr lang="en-US" altLang="zh-TW" dirty="0">
                <a:latin typeface="Times New Roman" panose="02020603050405020304" pitchFamily="18" charset="0"/>
                <a:cs typeface="Times New Roman" panose="02020603050405020304" pitchFamily="18" charset="0"/>
              </a:rPr>
              <a:t>-Hao Huang(</a:t>
            </a:r>
            <a:r>
              <a:rPr lang="zh-TW" altLang="en-US" dirty="0"/>
              <a:t>黃思皓</a:t>
            </a:r>
            <a:r>
              <a:rPr lang="en-US" altLang="zh-TW" dirty="0">
                <a:latin typeface="Times New Roman" panose="02020603050405020304" pitchFamily="18" charset="0"/>
                <a:cs typeface="Times New Roman" panose="02020603050405020304" pitchFamily="18" charset="0"/>
              </a:rPr>
              <a:t>), and An-Pin Chen(</a:t>
            </a:r>
            <a:r>
              <a:rPr lang="zh-TW" altLang="en-US" dirty="0"/>
              <a:t>陳安斌</a:t>
            </a:r>
            <a:r>
              <a:rPr lang="en-US" altLang="zh-TW" dirty="0">
                <a:latin typeface="Times New Roman" panose="02020603050405020304" pitchFamily="18" charset="0"/>
                <a:cs typeface="Times New Roman" panose="02020603050405020304" pitchFamily="18" charset="0"/>
              </a:rPr>
              <a:t>)</a:t>
            </a:r>
          </a:p>
          <a:p>
            <a:r>
              <a:rPr lang="en-US" altLang="zh-TW" dirty="0">
                <a:latin typeface="Times New Roman" panose="02020603050405020304" pitchFamily="18" charset="0"/>
                <a:cs typeface="Times New Roman" panose="02020603050405020304" pitchFamily="18" charset="0"/>
              </a:rPr>
              <a:t>7th International Conference on Cloud Computing and Big Data,</a:t>
            </a:r>
          </a:p>
          <a:p>
            <a:r>
              <a:rPr lang="en-US" altLang="zh-TW" dirty="0">
                <a:latin typeface="Times New Roman" panose="02020603050405020304" pitchFamily="18" charset="0"/>
                <a:cs typeface="Times New Roman" panose="02020603050405020304" pitchFamily="18" charset="0"/>
              </a:rPr>
              <a:t> Macau, China,16-18 Nov. 2016</a:t>
            </a:r>
          </a:p>
          <a:p>
            <a:r>
              <a:rPr lang="en-US" altLang="zh-TW" dirty="0">
                <a:latin typeface="Times New Roman" panose="02020603050405020304" pitchFamily="18" charset="0"/>
                <a:cs typeface="Times New Roman" panose="02020603050405020304" pitchFamily="18" charset="0"/>
              </a:rPr>
              <a:t>Presenter: Cheng-Han Wu</a:t>
            </a:r>
          </a:p>
          <a:p>
            <a:r>
              <a:rPr lang="en-US" altLang="zh-TW" dirty="0">
                <a:latin typeface="Times New Roman" panose="02020603050405020304" pitchFamily="18" charset="0"/>
                <a:cs typeface="Times New Roman" panose="02020603050405020304" pitchFamily="18" charset="0"/>
              </a:rPr>
              <a:t>Date:2018/9/11</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556846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Abstract(1/2)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0515600" cy="4595054"/>
          </a:xfrm>
        </p:spPr>
        <p:txBody>
          <a:bodyPr>
            <a:normAutofit lnSpcReduction="10000"/>
          </a:bodyPr>
          <a:lstStyle/>
          <a:p>
            <a:pPr marL="0" indent="0">
              <a:buNone/>
            </a:pPr>
            <a:r>
              <a:rPr lang="en-US" altLang="zh-TW" dirty="0">
                <a:latin typeface="Times New Roman" panose="02020603050405020304" pitchFamily="18" charset="0"/>
                <a:cs typeface="Times New Roman" panose="02020603050405020304" pitchFamily="18" charset="0"/>
              </a:rPr>
              <a:t>A novel financial time-series analysis method based on deep learning technique is proposed in this paper. In recent years, the explosive growth of deep learning researches have led to several successful applications in various artificial intelligence and multimedia fields, such as visual recognition, robot vision, and natural language processing. In this paper, we focus on the time-series data processing and prediction in financial markets. Traditional feature extraction approaches in intelligent trading decision support system are used to applying several technical indicators and expert rules to extract numerical features. The major contribution of this paper is to improve the algorithmic trading framework with the proposed planar feature representation methods and deep convolutional neural networks (CNN).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0866669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Abstract(2/2)</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200" y="1825625"/>
            <a:ext cx="10515600" cy="4595054"/>
          </a:xfrm>
        </p:spPr>
        <p:txBody>
          <a:bodyPr>
            <a:normAutofit/>
          </a:bodyPr>
          <a:lstStyle/>
          <a:p>
            <a:pPr marL="0" indent="0">
              <a:buNone/>
            </a:pPr>
            <a:r>
              <a:rPr lang="en-US" altLang="zh-TW" dirty="0">
                <a:latin typeface="Times New Roman" panose="02020603050405020304" pitchFamily="18" charset="0"/>
                <a:cs typeface="Times New Roman" panose="02020603050405020304" pitchFamily="18" charset="0"/>
              </a:rPr>
              <a:t>The proposed system is implemented and benchmarked in the historical datasets of Taiwan Stock Index Futures. The experimental results show that the deep learning technique is effective in our trading simulation application, and may have greater potentialities to model the noisy financial data and complex social science problems. In the future, we expected that the proposed methods and deep learning framework could be applied to more innovative applications in the next financial technology (</a:t>
            </a:r>
            <a:r>
              <a:rPr lang="en-US" altLang="zh-TW" dirty="0" err="1">
                <a:latin typeface="Times New Roman" panose="02020603050405020304" pitchFamily="18" charset="0"/>
                <a:cs typeface="Times New Roman" panose="02020603050405020304" pitchFamily="18" charset="0"/>
              </a:rPr>
              <a:t>FinTech</a:t>
            </a:r>
            <a:r>
              <a:rPr lang="en-US" altLang="zh-TW" dirty="0">
                <a:latin typeface="Times New Roman" panose="02020603050405020304" pitchFamily="18" charset="0"/>
                <a:cs typeface="Times New Roman" panose="02020603050405020304" pitchFamily="18" charset="0"/>
              </a:rPr>
              <a:t>) generation.</a:t>
            </a:r>
            <a:endParaRPr lang="zh-TW"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047402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Financial Data</a:t>
            </a:r>
            <a:endParaRPr lang="zh-TW" altLang="en-US" dirty="0">
              <a:latin typeface="Times New Roman" panose="02020603050405020304" pitchFamily="18" charset="0"/>
              <a:cs typeface="Times New Roman" panose="02020603050405020304" pitchFamily="18" charset="0"/>
            </a:endParaRPr>
          </a:p>
        </p:txBody>
      </p:sp>
      <p:sp>
        <p:nvSpPr>
          <p:cNvPr id="3" name="內容版面配置區 2"/>
          <p:cNvSpPr>
            <a:spLocks noGrp="1"/>
          </p:cNvSpPr>
          <p:nvPr>
            <p:ph idx="1"/>
          </p:nvPr>
        </p:nvSpPr>
        <p:spPr>
          <a:xfrm>
            <a:off x="838199" y="1825625"/>
            <a:ext cx="10515599" cy="4595054"/>
          </a:xfrm>
        </p:spPr>
        <p:txBody>
          <a:bodyPr>
            <a:normAutofit/>
          </a:bodyPr>
          <a:lstStyle/>
          <a:p>
            <a:r>
              <a:rPr lang="en-US" altLang="zh-TW" dirty="0">
                <a:latin typeface="Times New Roman" panose="02020603050405020304" pitchFamily="18" charset="0"/>
                <a:cs typeface="Times New Roman" panose="02020603050405020304" pitchFamily="18" charset="0"/>
              </a:rPr>
              <a:t>TFX OHLC (2001/1/2~2015/4/24)</a:t>
            </a:r>
          </a:p>
          <a:p>
            <a:r>
              <a:rPr lang="en-US" altLang="zh-TW" dirty="0">
                <a:latin typeface="Times New Roman" panose="02020603050405020304" pitchFamily="18" charset="0"/>
                <a:cs typeface="Times New Roman" panose="02020603050405020304" pitchFamily="18" charset="0"/>
              </a:rPr>
              <a:t>Image Size : 20*20</a:t>
            </a:r>
          </a:p>
          <a:p>
            <a:r>
              <a:rPr lang="en-US" altLang="zh-TW" dirty="0">
                <a:latin typeface="Times New Roman" panose="02020603050405020304" pitchFamily="18" charset="0"/>
                <a:cs typeface="Times New Roman" panose="02020603050405020304" pitchFamily="18" charset="0"/>
              </a:rPr>
              <a:t>Prediction future time : 7 days</a:t>
            </a:r>
          </a:p>
          <a:p>
            <a:r>
              <a:rPr lang="en-US" altLang="zh-TW" dirty="0">
                <a:latin typeface="Times New Roman" panose="02020603050405020304" pitchFamily="18" charset="0"/>
                <a:cs typeface="Times New Roman" panose="02020603050405020304" pitchFamily="18" charset="0"/>
              </a:rPr>
              <a:t>Training period : 4-years data for training and 1-year data for testing</a:t>
            </a:r>
          </a:p>
          <a:p>
            <a:endParaRPr lang="en-US" altLang="zh-TW" dirty="0">
              <a:latin typeface="Times New Roman" panose="02020603050405020304" pitchFamily="18" charset="0"/>
              <a:cs typeface="Times New Roman" panose="02020603050405020304" pitchFamily="18" charset="0"/>
            </a:endParaRPr>
          </a:p>
        </p:txBody>
      </p:sp>
      <p:pic>
        <p:nvPicPr>
          <p:cNvPr id="4" name="圖片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619" y="4123152"/>
            <a:ext cx="4184960" cy="1871131"/>
          </a:xfrm>
          <a:prstGeom prst="rect">
            <a:avLst/>
          </a:prstGeom>
        </p:spPr>
      </p:pic>
      <p:pic>
        <p:nvPicPr>
          <p:cNvPr id="5" name="圖片 4">
            <a:extLst>
              <a:ext uri="{FF2B5EF4-FFF2-40B4-BE49-F238E27FC236}">
                <a16:creationId xmlns:a16="http://schemas.microsoft.com/office/drawing/2014/main" id="{BE99FF27-9C0A-4E92-90B2-7D8F324F364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00739" y="4150344"/>
            <a:ext cx="6794011" cy="1908979"/>
          </a:xfrm>
          <a:prstGeom prst="rect">
            <a:avLst/>
          </a:prstGeom>
        </p:spPr>
      </p:pic>
    </p:spTree>
    <p:extLst>
      <p:ext uri="{BB962C8B-B14F-4D97-AF65-F5344CB8AC3E}">
        <p14:creationId xmlns:p14="http://schemas.microsoft.com/office/powerpoint/2010/main" val="9293497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Data visualization</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838199" y="1825625"/>
                <a:ext cx="10515599" cy="4595054"/>
              </a:xfrm>
            </p:spPr>
            <p:txBody>
              <a:bodyPr>
                <a:normAutofit/>
              </a:bodyPr>
              <a:lstStyle/>
              <a:p>
                <a:r>
                  <a:rPr lang="en-US" altLang="zh-TW" dirty="0">
                    <a:latin typeface="Times New Roman" panose="02020603050405020304" pitchFamily="18" charset="0"/>
                    <a:cs typeface="Times New Roman" panose="02020603050405020304" pitchFamily="18" charset="0"/>
                  </a:rPr>
                  <a:t>Gramian Angular Field (GAF)</a:t>
                </a:r>
              </a:p>
              <a:p>
                <a:r>
                  <a:rPr lang="en-US" altLang="zh-TW" dirty="0">
                    <a:latin typeface="Times New Roman" panose="02020603050405020304" pitchFamily="18" charset="0"/>
                    <a:cs typeface="Times New Roman" panose="02020603050405020304" pitchFamily="18" charset="0"/>
                  </a:rPr>
                  <a:t>Moving Average Mapping (MAM)</a:t>
                </a:r>
              </a:p>
              <a:p>
                <a:r>
                  <a:rPr lang="en-US" altLang="zh-TW" dirty="0">
                    <a:latin typeface="Times New Roman" panose="02020603050405020304" pitchFamily="18" charset="0"/>
                    <a:cs typeface="Times New Roman" panose="02020603050405020304" pitchFamily="18" charset="0"/>
                  </a:rPr>
                  <a:t>Double Moving Average Mapping (DMAM)</a:t>
                </a: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pPr marL="0" indent="0">
                  <a:buNone/>
                </a:pPr>
                <a14:m>
                  <m:oMathPara xmlns:m="http://schemas.openxmlformats.org/officeDocument/2006/math">
                    <m:oMathParaPr>
                      <m:jc m:val="centerGroup"/>
                    </m:oMathParaPr>
                    <m:oMath xmlns:m="http://schemas.openxmlformats.org/officeDocument/2006/math">
                      <m:sSub>
                        <m:sSubPr>
                          <m:ctrlPr>
                            <a:rPr lang="en-US" altLang="zh-TW"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𝑋</m:t>
                          </m:r>
                        </m:e>
                        <m:sub>
                          <m:r>
                            <a:rPr lang="en-US" altLang="zh-TW" b="0" i="1" dirty="0" smtClean="0">
                              <a:latin typeface="Cambria Math" panose="02040503050406030204" pitchFamily="18" charset="0"/>
                              <a:cs typeface="Times New Roman" panose="02020603050405020304" pitchFamily="18" charset="0"/>
                            </a:rPr>
                            <m:t>𝑛𝑒𝑤</m:t>
                          </m:r>
                        </m:sub>
                      </m:sSub>
                      <m:r>
                        <a:rPr lang="en-US" altLang="zh-TW" b="0" i="1" dirty="0" smtClean="0">
                          <a:latin typeface="Cambria Math" panose="02040503050406030204" pitchFamily="18" charset="0"/>
                          <a:cs typeface="Times New Roman" panose="02020603050405020304" pitchFamily="18" charset="0"/>
                        </a:rPr>
                        <m:t>=</m:t>
                      </m:r>
                      <m:f>
                        <m:fPr>
                          <m:ctrlPr>
                            <a:rPr lang="en-US" altLang="zh-TW" b="0" i="1" dirty="0" smtClean="0">
                              <a:latin typeface="Cambria Math" panose="02040503050406030204" pitchFamily="18" charset="0"/>
                              <a:cs typeface="Times New Roman" panose="02020603050405020304" pitchFamily="18" charset="0"/>
                            </a:rPr>
                          </m:ctrlPr>
                        </m:fPr>
                        <m:num>
                          <m:r>
                            <a:rPr lang="en-US" altLang="zh-TW" b="0" i="1" dirty="0" smtClean="0">
                              <a:latin typeface="Cambria Math" panose="02040503050406030204" pitchFamily="18" charset="0"/>
                              <a:cs typeface="Times New Roman" panose="02020603050405020304" pitchFamily="18" charset="0"/>
                            </a:rPr>
                            <m:t>𝑥</m:t>
                          </m:r>
                          <m:r>
                            <a:rPr lang="en-US" altLang="zh-TW" b="0" i="1" dirty="0" smtClean="0">
                              <a:latin typeface="Cambria Math" panose="02040503050406030204" pitchFamily="18" charset="0"/>
                              <a:cs typeface="Times New Roman" panose="02020603050405020304" pitchFamily="18" charset="0"/>
                            </a:rPr>
                            <m:t>−</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𝑥</m:t>
                              </m:r>
                            </m:e>
                            <m:sub>
                              <m:r>
                                <a:rPr lang="en-US" altLang="zh-TW" b="0" i="1" dirty="0" smtClean="0">
                                  <a:latin typeface="Cambria Math" panose="02040503050406030204" pitchFamily="18" charset="0"/>
                                  <a:cs typeface="Times New Roman" panose="02020603050405020304" pitchFamily="18" charset="0"/>
                                </a:rPr>
                                <m:t>𝑚𝑖𝑛</m:t>
                              </m:r>
                            </m:sub>
                          </m:sSub>
                        </m:num>
                        <m:den>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𝑥</m:t>
                              </m:r>
                            </m:e>
                            <m:sub>
                              <m:r>
                                <a:rPr lang="en-US" altLang="zh-TW" b="0" i="1" dirty="0" smtClean="0">
                                  <a:latin typeface="Cambria Math" panose="02040503050406030204" pitchFamily="18" charset="0"/>
                                  <a:cs typeface="Times New Roman" panose="02020603050405020304" pitchFamily="18" charset="0"/>
                                </a:rPr>
                                <m:t>𝑚𝑎𝑥</m:t>
                              </m:r>
                            </m:sub>
                          </m:sSub>
                          <m:r>
                            <a:rPr lang="en-US" altLang="zh-TW" b="0" i="1" dirty="0" smtClean="0">
                              <a:latin typeface="Cambria Math" panose="02040503050406030204" pitchFamily="18" charset="0"/>
                              <a:cs typeface="Times New Roman" panose="02020603050405020304" pitchFamily="18" charset="0"/>
                            </a:rPr>
                            <m:t>−</m:t>
                          </m:r>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𝑥</m:t>
                              </m:r>
                            </m:e>
                            <m:sub>
                              <m:r>
                                <a:rPr lang="en-US" altLang="zh-TW" b="0" i="1" dirty="0" smtClean="0">
                                  <a:latin typeface="Cambria Math" panose="02040503050406030204" pitchFamily="18" charset="0"/>
                                  <a:cs typeface="Times New Roman" panose="02020603050405020304" pitchFamily="18" charset="0"/>
                                </a:rPr>
                                <m:t>𝑚𝑖𝑛</m:t>
                              </m:r>
                            </m:sub>
                          </m:sSub>
                        </m:den>
                      </m:f>
                    </m:oMath>
                  </m:oMathPara>
                </a14:m>
                <a:endParaRPr lang="en-US" altLang="zh-TW"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l="-986" t="-2255"/>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0925836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GAF</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838199" y="1825625"/>
                <a:ext cx="10515599" cy="4595054"/>
              </a:xfrm>
            </p:spPr>
            <p:txBody>
              <a:bodyPr>
                <a:normAutofit/>
              </a:bodyPr>
              <a:lstStyle/>
              <a:p>
                <a14:m>
                  <m:oMath xmlns:m="http://schemas.openxmlformats.org/officeDocument/2006/math">
                    <m:r>
                      <a:rPr lang="en-US" altLang="zh-TW" i="1" dirty="0" smtClean="0">
                        <a:latin typeface="Cambria Math" panose="02040503050406030204" pitchFamily="18" charset="0"/>
                        <a:cs typeface="Times New Roman" panose="02020603050405020304" pitchFamily="18" charset="0"/>
                      </a:rPr>
                      <m:t>𝐺</m:t>
                    </m:r>
                    <m:r>
                      <a:rPr lang="en-US" altLang="zh-TW" i="1" dirty="0" smtClean="0">
                        <a:latin typeface="Cambria Math" panose="02040503050406030204" pitchFamily="18" charset="0"/>
                        <a:cs typeface="Times New Roman" panose="02020603050405020304" pitchFamily="18" charset="0"/>
                      </a:rPr>
                      <m:t>=</m:t>
                    </m:r>
                    <m:d>
                      <m:dPr>
                        <m:begChr m:val="["/>
                        <m:endChr m:val="]"/>
                        <m:ctrlPr>
                          <a:rPr lang="en-US" altLang="zh-TW" i="1" dirty="0" smtClean="0">
                            <a:latin typeface="Cambria Math" panose="02040503050406030204" pitchFamily="18" charset="0"/>
                            <a:cs typeface="Times New Roman" panose="02020603050405020304" pitchFamily="18" charset="0"/>
                          </a:rPr>
                        </m:ctrlPr>
                      </m:dPr>
                      <m:e>
                        <m:m>
                          <m:mPr>
                            <m:mcs>
                              <m:mc>
                                <m:mcPr>
                                  <m:count m:val="3"/>
                                  <m:mcJc m:val="center"/>
                                </m:mcPr>
                              </m:mc>
                            </m:mcs>
                            <m:ctrlPr>
                              <a:rPr lang="en-US" altLang="zh-TW" i="1" dirty="0" smtClean="0">
                                <a:latin typeface="Cambria Math" panose="02040503050406030204" pitchFamily="18" charset="0"/>
                                <a:cs typeface="Times New Roman" panose="02020603050405020304" pitchFamily="18" charset="0"/>
                              </a:rPr>
                            </m:ctrlPr>
                          </m:mPr>
                          <m:mr>
                            <m:e>
                              <m:r>
                                <m:rPr>
                                  <m:brk m:alnAt="7"/>
                                </m:rPr>
                                <a:rPr lang="en-US" altLang="zh-TW" b="0" i="1" dirty="0" smtClean="0">
                                  <a:latin typeface="Cambria Math" panose="02040503050406030204" pitchFamily="18" charset="0"/>
                                  <a:cs typeface="Times New Roman" panose="02020603050405020304" pitchFamily="18" charset="0"/>
                                </a:rPr>
                                <m:t>&lt;</m:t>
                              </m:r>
                              <m:acc>
                                <m:accPr>
                                  <m:chr m:val="̃"/>
                                  <m:ctrlPr>
                                    <a:rPr lang="en-US" altLang="zh-TW" b="0" i="1" dirty="0" smtClean="0">
                                      <a:latin typeface="Cambria Math" panose="02040503050406030204" pitchFamily="18" charset="0"/>
                                      <a:cs typeface="Times New Roman" panose="02020603050405020304" pitchFamily="18" charset="0"/>
                                    </a:rPr>
                                  </m:ctrlPr>
                                </m:accPr>
                                <m:e>
                                  <m:sSub>
                                    <m:sSubPr>
                                      <m:ctrlPr>
                                        <a:rPr lang="en-US" altLang="zh-TW" i="1" dirty="0">
                                          <a:latin typeface="Cambria Math" panose="02040503050406030204" pitchFamily="18" charset="0"/>
                                          <a:cs typeface="Times New Roman" panose="02020603050405020304" pitchFamily="18" charset="0"/>
                                        </a:rPr>
                                      </m:ctrlPr>
                                    </m:sSubPr>
                                    <m:e>
                                      <m:r>
                                        <m:rPr>
                                          <m:brk m:alnAt="7"/>
                                        </m:rPr>
                                        <a:rPr lang="en-US" altLang="zh-TW" i="1" dirty="0">
                                          <a:latin typeface="Cambria Math" panose="02040503050406030204" pitchFamily="18" charset="0"/>
                                          <a:cs typeface="Times New Roman" panose="02020603050405020304" pitchFamily="18" charset="0"/>
                                        </a:rPr>
                                        <m:t>𝑥</m:t>
                                      </m:r>
                                    </m:e>
                                    <m:sub>
                                      <m:r>
                                        <m:rPr>
                                          <m:brk m:alnAt="7"/>
                                        </m:rPr>
                                        <a:rPr lang="en-US" altLang="zh-TW" i="1" dirty="0">
                                          <a:latin typeface="Cambria Math" panose="02040503050406030204" pitchFamily="18" charset="0"/>
                                          <a:cs typeface="Times New Roman" panose="02020603050405020304" pitchFamily="18" charset="0"/>
                                        </a:rPr>
                                        <m:t>1</m:t>
                                      </m:r>
                                    </m:sub>
                                  </m:sSub>
                                </m:e>
                              </m:acc>
                              <m:r>
                                <m:rPr>
                                  <m:brk m:alnAt="7"/>
                                </m:rPr>
                                <a:rPr lang="en-US" altLang="zh-TW" b="0" i="1" dirty="0" smtClean="0">
                                  <a:latin typeface="Cambria Math" panose="02040503050406030204" pitchFamily="18" charset="0"/>
                                  <a:cs typeface="Times New Roman" panose="02020603050405020304" pitchFamily="18" charset="0"/>
                                </a:rPr>
                                <m:t>,</m:t>
                              </m:r>
                              <m:acc>
                                <m:accPr>
                                  <m:chr m:val="̃"/>
                                  <m:ctrlPr>
                                    <a:rPr lang="en-US" altLang="zh-TW" b="0" i="1" dirty="0" smtClean="0">
                                      <a:latin typeface="Cambria Math" panose="02040503050406030204" pitchFamily="18" charset="0"/>
                                      <a:cs typeface="Times New Roman" panose="02020603050405020304" pitchFamily="18" charset="0"/>
                                    </a:rPr>
                                  </m:ctrlPr>
                                </m:accPr>
                                <m:e>
                                  <m:sSub>
                                    <m:sSubPr>
                                      <m:ctrlPr>
                                        <a:rPr lang="en-US" altLang="zh-TW" i="1" dirty="0">
                                          <a:latin typeface="Cambria Math" panose="02040503050406030204" pitchFamily="18" charset="0"/>
                                          <a:cs typeface="Times New Roman" panose="02020603050405020304" pitchFamily="18" charset="0"/>
                                        </a:rPr>
                                      </m:ctrlPr>
                                    </m:sSubPr>
                                    <m:e>
                                      <m:r>
                                        <m:rPr>
                                          <m:brk m:alnAt="7"/>
                                        </m:rPr>
                                        <a:rPr lang="en-US" altLang="zh-TW" i="1" dirty="0">
                                          <a:latin typeface="Cambria Math" panose="02040503050406030204" pitchFamily="18" charset="0"/>
                                          <a:cs typeface="Times New Roman" panose="02020603050405020304" pitchFamily="18" charset="0"/>
                                        </a:rPr>
                                        <m:t>𝑥</m:t>
                                      </m:r>
                                    </m:e>
                                    <m:sub>
                                      <m:r>
                                        <m:rPr>
                                          <m:brk m:alnAt="7"/>
                                        </m:rPr>
                                        <a:rPr lang="en-US" altLang="zh-TW" i="1" dirty="0">
                                          <a:latin typeface="Cambria Math" panose="02040503050406030204" pitchFamily="18" charset="0"/>
                                          <a:cs typeface="Times New Roman" panose="02020603050405020304" pitchFamily="18" charset="0"/>
                                        </a:rPr>
                                        <m:t>1</m:t>
                                      </m:r>
                                    </m:sub>
                                  </m:sSub>
                                </m:e>
                              </m:acc>
                              <m:r>
                                <m:rPr>
                                  <m:brk m:alnAt="7"/>
                                </m:rPr>
                                <a:rPr lang="en-US" altLang="zh-TW" b="0" i="1" dirty="0" smtClean="0">
                                  <a:latin typeface="Cambria Math" panose="02040503050406030204" pitchFamily="18" charset="0"/>
                                  <a:cs typeface="Times New Roman" panose="02020603050405020304" pitchFamily="18" charset="0"/>
                                </a:rPr>
                                <m:t>&gt;</m:t>
                              </m:r>
                            </m:e>
                            <m:e>
                              <m:r>
                                <a:rPr lang="en-US" altLang="zh-TW" i="1" dirty="0" smtClean="0">
                                  <a:latin typeface="Cambria Math" panose="02040503050406030204" pitchFamily="18" charset="0"/>
                                  <a:cs typeface="Times New Roman" panose="02020603050405020304" pitchFamily="18" charset="0"/>
                                </a:rPr>
                                <m:t>⋯</m:t>
                              </m:r>
                            </m:e>
                            <m:e>
                              <m:r>
                                <m:rPr>
                                  <m:brk m:alnAt="7"/>
                                </m:rPr>
                                <a:rPr lang="en-US" altLang="zh-TW" i="1" dirty="0">
                                  <a:latin typeface="Cambria Math" panose="02040503050406030204" pitchFamily="18" charset="0"/>
                                  <a:cs typeface="Times New Roman" panose="02020603050405020304" pitchFamily="18" charset="0"/>
                                </a:rPr>
                                <m:t>&lt;</m:t>
                              </m:r>
                              <m:acc>
                                <m:accPr>
                                  <m:chr m:val="̃"/>
                                  <m:ctrlPr>
                                    <a:rPr lang="en-US" altLang="zh-TW" i="1" dirty="0" smtClean="0">
                                      <a:latin typeface="Cambria Math" panose="02040503050406030204" pitchFamily="18" charset="0"/>
                                      <a:cs typeface="Times New Roman" panose="02020603050405020304" pitchFamily="18" charset="0"/>
                                    </a:rPr>
                                  </m:ctrlPr>
                                </m:accPr>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𝑥</m:t>
                                      </m:r>
                                    </m:e>
                                    <m:sub>
                                      <m:r>
                                        <a:rPr lang="en-US" altLang="zh-TW" b="0" i="1" dirty="0" smtClean="0">
                                          <a:latin typeface="Cambria Math" panose="02040503050406030204" pitchFamily="18" charset="0"/>
                                          <a:cs typeface="Times New Roman" panose="02020603050405020304" pitchFamily="18" charset="0"/>
                                        </a:rPr>
                                        <m:t>1</m:t>
                                      </m:r>
                                    </m:sub>
                                  </m:sSub>
                                </m:e>
                              </m:acc>
                              <m:r>
                                <m:rPr>
                                  <m:brk m:alnAt="7"/>
                                </m:rPr>
                                <a:rPr lang="en-US" altLang="zh-TW" i="1" dirty="0">
                                  <a:latin typeface="Cambria Math" panose="02040503050406030204" pitchFamily="18" charset="0"/>
                                  <a:cs typeface="Times New Roman" panose="02020603050405020304" pitchFamily="18" charset="0"/>
                                </a:rPr>
                                <m:t>,</m:t>
                              </m:r>
                              <m:acc>
                                <m:accPr>
                                  <m:chr m:val="̃"/>
                                  <m:ctrlPr>
                                    <a:rPr lang="en-US" altLang="zh-TW" i="1" dirty="0" smtClean="0">
                                      <a:latin typeface="Cambria Math" panose="02040503050406030204" pitchFamily="18" charset="0"/>
                                      <a:cs typeface="Times New Roman" panose="02020603050405020304" pitchFamily="18" charset="0"/>
                                    </a:rPr>
                                  </m:ctrlPr>
                                </m:accPr>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𝑥</m:t>
                                      </m:r>
                                    </m:e>
                                    <m:sub>
                                      <m:r>
                                        <a:rPr lang="en-US" altLang="zh-TW" b="0" i="1" dirty="0" smtClean="0">
                                          <a:latin typeface="Cambria Math" panose="02040503050406030204" pitchFamily="18" charset="0"/>
                                          <a:cs typeface="Times New Roman" panose="02020603050405020304" pitchFamily="18" charset="0"/>
                                        </a:rPr>
                                        <m:t>𝑛</m:t>
                                      </m:r>
                                    </m:sub>
                                  </m:sSub>
                                </m:e>
                              </m:acc>
                              <m:r>
                                <m:rPr>
                                  <m:brk m:alnAt="7"/>
                                </m:rPr>
                                <a:rPr lang="en-US" altLang="zh-TW" i="1" dirty="0" smtClean="0">
                                  <a:latin typeface="Cambria Math" panose="02040503050406030204" pitchFamily="18" charset="0"/>
                                  <a:cs typeface="Times New Roman" panose="02020603050405020304" pitchFamily="18" charset="0"/>
                                </a:rPr>
                                <m:t> </m:t>
                              </m:r>
                              <m:r>
                                <a:rPr lang="en-US" altLang="zh-TW" i="1" dirty="0">
                                  <a:latin typeface="Cambria Math" panose="02040503050406030204" pitchFamily="18" charset="0"/>
                                  <a:cs typeface="Times New Roman" panose="02020603050405020304" pitchFamily="18" charset="0"/>
                                </a:rPr>
                                <m:t>&gt;</m:t>
                              </m:r>
                            </m:e>
                          </m:mr>
                          <m:mr>
                            <m:e>
                              <m:r>
                                <a:rPr lang="en-US" altLang="zh-TW" i="1" dirty="0" smtClean="0">
                                  <a:latin typeface="Cambria Math" panose="02040503050406030204" pitchFamily="18" charset="0"/>
                                  <a:cs typeface="Times New Roman" panose="02020603050405020304" pitchFamily="18" charset="0"/>
                                </a:rPr>
                                <m:t>⋮</m:t>
                              </m:r>
                            </m:e>
                            <m:e>
                              <m:r>
                                <a:rPr lang="en-US" altLang="zh-TW" i="1" dirty="0" smtClean="0">
                                  <a:latin typeface="Cambria Math" panose="02040503050406030204" pitchFamily="18" charset="0"/>
                                  <a:cs typeface="Times New Roman" panose="02020603050405020304" pitchFamily="18" charset="0"/>
                                </a:rPr>
                                <m:t>⋱</m:t>
                              </m:r>
                            </m:e>
                            <m:e>
                              <m:r>
                                <a:rPr lang="en-US" altLang="zh-TW" i="1" dirty="0" smtClean="0">
                                  <a:latin typeface="Cambria Math" panose="02040503050406030204" pitchFamily="18" charset="0"/>
                                  <a:cs typeface="Times New Roman" panose="02020603050405020304" pitchFamily="18" charset="0"/>
                                </a:rPr>
                                <m:t>⋮</m:t>
                              </m:r>
                            </m:e>
                          </m:mr>
                          <m:mr>
                            <m:e>
                              <m:r>
                                <m:rPr>
                                  <m:brk m:alnAt="7"/>
                                </m:rPr>
                                <a:rPr lang="en-US" altLang="zh-TW" i="1" dirty="0">
                                  <a:latin typeface="Cambria Math" panose="02040503050406030204" pitchFamily="18" charset="0"/>
                                  <a:cs typeface="Times New Roman" panose="02020603050405020304" pitchFamily="18" charset="0"/>
                                </a:rPr>
                                <m:t>&lt;</m:t>
                              </m:r>
                              <m:acc>
                                <m:accPr>
                                  <m:chr m:val="̃"/>
                                  <m:ctrlPr>
                                    <a:rPr lang="en-US" altLang="zh-TW" i="1" dirty="0" smtClean="0">
                                      <a:latin typeface="Cambria Math" panose="02040503050406030204" pitchFamily="18" charset="0"/>
                                      <a:cs typeface="Times New Roman" panose="02020603050405020304" pitchFamily="18" charset="0"/>
                                    </a:rPr>
                                  </m:ctrlPr>
                                </m:accPr>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𝑥</m:t>
                                      </m:r>
                                    </m:e>
                                    <m:sub>
                                      <m:r>
                                        <a:rPr lang="en-US" altLang="zh-TW" b="0" i="1" dirty="0" smtClean="0">
                                          <a:latin typeface="Cambria Math" panose="02040503050406030204" pitchFamily="18" charset="0"/>
                                          <a:cs typeface="Times New Roman" panose="02020603050405020304" pitchFamily="18" charset="0"/>
                                        </a:rPr>
                                        <m:t>𝑛</m:t>
                                      </m:r>
                                    </m:sub>
                                  </m:sSub>
                                </m:e>
                              </m:acc>
                              <m:r>
                                <m:rPr>
                                  <m:brk m:alnAt="7"/>
                                </m:rPr>
                                <a:rPr lang="en-US" altLang="zh-TW" i="1" dirty="0">
                                  <a:latin typeface="Cambria Math" panose="02040503050406030204" pitchFamily="18" charset="0"/>
                                  <a:cs typeface="Times New Roman" panose="02020603050405020304" pitchFamily="18" charset="0"/>
                                </a:rPr>
                                <m:t>,</m:t>
                              </m:r>
                              <m:acc>
                                <m:accPr>
                                  <m:chr m:val="̃"/>
                                  <m:ctrlPr>
                                    <a:rPr lang="en-US" altLang="zh-TW" i="1" dirty="0" smtClean="0">
                                      <a:latin typeface="Cambria Math" panose="02040503050406030204" pitchFamily="18" charset="0"/>
                                      <a:cs typeface="Times New Roman" panose="02020603050405020304" pitchFamily="18" charset="0"/>
                                    </a:rPr>
                                  </m:ctrlPr>
                                </m:accPr>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𝑥</m:t>
                                      </m:r>
                                    </m:e>
                                    <m:sub>
                                      <m:r>
                                        <a:rPr lang="en-US" altLang="zh-TW" b="0" i="1" dirty="0" smtClean="0">
                                          <a:latin typeface="Cambria Math" panose="02040503050406030204" pitchFamily="18" charset="0"/>
                                          <a:cs typeface="Times New Roman" panose="02020603050405020304" pitchFamily="18" charset="0"/>
                                        </a:rPr>
                                        <m:t>1</m:t>
                                      </m:r>
                                    </m:sub>
                                  </m:sSub>
                                </m:e>
                              </m:acc>
                              <m:r>
                                <m:rPr>
                                  <m:brk m:alnAt="7"/>
                                </m:rPr>
                                <a:rPr lang="en-US" altLang="zh-TW" i="1" dirty="0" smtClean="0">
                                  <a:latin typeface="Cambria Math" panose="02040503050406030204" pitchFamily="18" charset="0"/>
                                  <a:cs typeface="Times New Roman" panose="02020603050405020304" pitchFamily="18" charset="0"/>
                                </a:rPr>
                                <m:t> </m:t>
                              </m:r>
                              <m:r>
                                <a:rPr lang="en-US" altLang="zh-TW" i="1" dirty="0">
                                  <a:latin typeface="Cambria Math" panose="02040503050406030204" pitchFamily="18" charset="0"/>
                                  <a:cs typeface="Times New Roman" panose="02020603050405020304" pitchFamily="18" charset="0"/>
                                </a:rPr>
                                <m:t>&gt;</m:t>
                              </m:r>
                            </m:e>
                            <m:e>
                              <m:r>
                                <a:rPr lang="en-US" altLang="zh-TW" i="1" dirty="0" smtClean="0">
                                  <a:latin typeface="Cambria Math" panose="02040503050406030204" pitchFamily="18" charset="0"/>
                                  <a:cs typeface="Times New Roman" panose="02020603050405020304" pitchFamily="18" charset="0"/>
                                </a:rPr>
                                <m:t>⋯</m:t>
                              </m:r>
                            </m:e>
                            <m:e>
                              <m:r>
                                <m:rPr>
                                  <m:brk m:alnAt="7"/>
                                </m:rPr>
                                <a:rPr lang="en-US" altLang="zh-TW" i="1" dirty="0">
                                  <a:latin typeface="Cambria Math" panose="02040503050406030204" pitchFamily="18" charset="0"/>
                                  <a:cs typeface="Times New Roman" panose="02020603050405020304" pitchFamily="18" charset="0"/>
                                </a:rPr>
                                <m:t>&lt;</m:t>
                              </m:r>
                              <m:acc>
                                <m:accPr>
                                  <m:chr m:val="̃"/>
                                  <m:ctrlPr>
                                    <a:rPr lang="en-US" altLang="zh-TW" i="1" dirty="0" smtClean="0">
                                      <a:latin typeface="Cambria Math" panose="02040503050406030204" pitchFamily="18" charset="0"/>
                                      <a:cs typeface="Times New Roman" panose="02020603050405020304" pitchFamily="18" charset="0"/>
                                    </a:rPr>
                                  </m:ctrlPr>
                                </m:accPr>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𝑥</m:t>
                                      </m:r>
                                    </m:e>
                                    <m:sub>
                                      <m:r>
                                        <a:rPr lang="en-US" altLang="zh-TW" b="0" i="1" dirty="0" smtClean="0">
                                          <a:latin typeface="Cambria Math" panose="02040503050406030204" pitchFamily="18" charset="0"/>
                                          <a:cs typeface="Times New Roman" panose="02020603050405020304" pitchFamily="18" charset="0"/>
                                        </a:rPr>
                                        <m:t>𝑛</m:t>
                                      </m:r>
                                    </m:sub>
                                  </m:sSub>
                                </m:e>
                              </m:acc>
                              <m:r>
                                <m:rPr>
                                  <m:brk m:alnAt="7"/>
                                </m:rPr>
                                <a:rPr lang="en-US" altLang="zh-TW" i="1" dirty="0">
                                  <a:latin typeface="Cambria Math" panose="02040503050406030204" pitchFamily="18" charset="0"/>
                                  <a:cs typeface="Times New Roman" panose="02020603050405020304" pitchFamily="18" charset="0"/>
                                </a:rPr>
                                <m:t>,</m:t>
                              </m:r>
                              <m:acc>
                                <m:accPr>
                                  <m:chr m:val="̃"/>
                                  <m:ctrlPr>
                                    <a:rPr lang="en-US" altLang="zh-TW" i="1" dirty="0" smtClean="0">
                                      <a:latin typeface="Cambria Math" panose="02040503050406030204" pitchFamily="18" charset="0"/>
                                      <a:cs typeface="Times New Roman" panose="02020603050405020304" pitchFamily="18" charset="0"/>
                                    </a:rPr>
                                  </m:ctrlPr>
                                </m:accPr>
                                <m:e>
                                  <m:sSub>
                                    <m:sSubPr>
                                      <m:ctrlPr>
                                        <a:rPr lang="en-US" altLang="zh-TW" b="0" i="1" dirty="0" smtClean="0">
                                          <a:latin typeface="Cambria Math" panose="02040503050406030204" pitchFamily="18" charset="0"/>
                                          <a:cs typeface="Times New Roman" panose="02020603050405020304" pitchFamily="18" charset="0"/>
                                        </a:rPr>
                                      </m:ctrlPr>
                                    </m:sSubPr>
                                    <m:e>
                                      <m:r>
                                        <a:rPr lang="en-US" altLang="zh-TW" b="0" i="1" dirty="0" smtClean="0">
                                          <a:latin typeface="Cambria Math" panose="02040503050406030204" pitchFamily="18" charset="0"/>
                                          <a:cs typeface="Times New Roman" panose="02020603050405020304" pitchFamily="18" charset="0"/>
                                        </a:rPr>
                                        <m:t>𝑥</m:t>
                                      </m:r>
                                    </m:e>
                                    <m:sub>
                                      <m:r>
                                        <a:rPr lang="en-US" altLang="zh-TW" b="0" i="1" dirty="0" smtClean="0">
                                          <a:latin typeface="Cambria Math" panose="02040503050406030204" pitchFamily="18" charset="0"/>
                                          <a:cs typeface="Times New Roman" panose="02020603050405020304" pitchFamily="18" charset="0"/>
                                        </a:rPr>
                                        <m:t>𝑛</m:t>
                                      </m:r>
                                    </m:sub>
                                  </m:sSub>
                                </m:e>
                              </m:acc>
                              <m:r>
                                <m:rPr>
                                  <m:brk m:alnAt="7"/>
                                </m:rPr>
                                <a:rPr lang="en-US" altLang="zh-TW" i="1" dirty="0" smtClean="0">
                                  <a:latin typeface="Cambria Math" panose="02040503050406030204" pitchFamily="18" charset="0"/>
                                  <a:cs typeface="Times New Roman" panose="02020603050405020304" pitchFamily="18" charset="0"/>
                                </a:rPr>
                                <m:t> </m:t>
                              </m:r>
                              <m:r>
                                <a:rPr lang="en-US" altLang="zh-TW" i="1" dirty="0">
                                  <a:latin typeface="Cambria Math" panose="02040503050406030204" pitchFamily="18" charset="0"/>
                                  <a:cs typeface="Times New Roman" panose="02020603050405020304" pitchFamily="18" charset="0"/>
                                </a:rPr>
                                <m:t>&gt;</m:t>
                              </m:r>
                            </m:e>
                          </m:mr>
                        </m:m>
                      </m:e>
                    </m:d>
                  </m:oMath>
                </a14:m>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r>
                      <m:rPr>
                        <m:brk m:alnAt="7"/>
                      </m:rPr>
                      <a:rPr lang="en-US" altLang="zh-TW" i="1" dirty="0">
                        <a:latin typeface="Cambria Math" panose="02040503050406030204" pitchFamily="18" charset="0"/>
                        <a:cs typeface="Times New Roman" panose="02020603050405020304" pitchFamily="18" charset="0"/>
                      </a:rPr>
                      <m:t>&lt;</m:t>
                    </m:r>
                    <m:r>
                      <a:rPr lang="en-US" altLang="zh-TW" b="0" i="1" dirty="0" smtClean="0">
                        <a:latin typeface="Cambria Math" panose="02040503050406030204" pitchFamily="18" charset="0"/>
                        <a:cs typeface="Times New Roman" panose="02020603050405020304" pitchFamily="18" charset="0"/>
                      </a:rPr>
                      <m:t>𝑥</m:t>
                    </m:r>
                    <m:r>
                      <m:rPr>
                        <m:brk m:alnAt="7"/>
                      </m:rPr>
                      <a:rPr lang="en-US" altLang="zh-TW" i="1" dirty="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𝑦</m:t>
                    </m:r>
                    <m:r>
                      <a:rPr lang="en-US" altLang="zh-TW" b="0" i="1" dirty="0" smtClean="0">
                        <a:latin typeface="Cambria Math" panose="02040503050406030204" pitchFamily="18" charset="0"/>
                        <a:cs typeface="Times New Roman" panose="02020603050405020304" pitchFamily="18" charset="0"/>
                      </a:rPr>
                      <m:t>&gt; =</m:t>
                    </m:r>
                    <m:r>
                      <a:rPr lang="en-US" altLang="zh-TW" b="0" i="1" dirty="0" smtClean="0">
                        <a:latin typeface="Cambria Math" panose="02040503050406030204" pitchFamily="18" charset="0"/>
                        <a:cs typeface="Times New Roman" panose="02020603050405020304" pitchFamily="18" charset="0"/>
                      </a:rPr>
                      <m:t>𝑥</m:t>
                    </m:r>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𝑦</m:t>
                    </m:r>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1−</m:t>
                        </m:r>
                        <m:sSup>
                          <m:sSupPr>
                            <m:ctrlP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𝑥</m:t>
                            </m:r>
                          </m:e>
                          <m:sup>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2</m:t>
                            </m:r>
                          </m:sup>
                        </m:sSup>
                      </m:e>
                    </m:rad>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n-US" altLang="zh-TW" i="1" dirty="0">
                            <a:latin typeface="Cambria Math" panose="02040503050406030204" pitchFamily="18" charset="0"/>
                            <a:ea typeface="Cambria Math" panose="02040503050406030204" pitchFamily="18" charset="0"/>
                            <a:cs typeface="Times New Roman" panose="02020603050405020304" pitchFamily="18" charset="0"/>
                          </a:rPr>
                        </m:ctrlPr>
                      </m:radPr>
                      <m:deg/>
                      <m:e>
                        <m:r>
                          <a:rPr lang="en-US" altLang="zh-TW" i="1" dirty="0">
                            <a:latin typeface="Cambria Math" panose="02040503050406030204" pitchFamily="18" charset="0"/>
                            <a:ea typeface="Cambria Math" panose="02040503050406030204" pitchFamily="18" charset="0"/>
                            <a:cs typeface="Times New Roman" panose="02020603050405020304" pitchFamily="18" charset="0"/>
                          </a:rPr>
                          <m:t>1−</m:t>
                        </m:r>
                        <m:sSup>
                          <m:sSupPr>
                            <m:ctrlPr>
                              <a:rPr lang="en-US" altLang="zh-TW" i="1" dirty="0">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TW" b="0" i="1" dirty="0" smtClean="0">
                                <a:latin typeface="Cambria Math" panose="02040503050406030204" pitchFamily="18" charset="0"/>
                                <a:ea typeface="Cambria Math" panose="02040503050406030204" pitchFamily="18" charset="0"/>
                                <a:cs typeface="Times New Roman" panose="02020603050405020304" pitchFamily="18" charset="0"/>
                              </a:rPr>
                              <m:t>𝑦</m:t>
                            </m:r>
                          </m:e>
                          <m:sup>
                            <m:r>
                              <a:rPr lang="en-US" altLang="zh-TW" i="1" dirty="0">
                                <a:latin typeface="Cambria Math" panose="02040503050406030204" pitchFamily="18" charset="0"/>
                                <a:ea typeface="Cambria Math" panose="02040503050406030204" pitchFamily="18" charset="0"/>
                                <a:cs typeface="Times New Roman" panose="02020603050405020304" pitchFamily="18" charset="0"/>
                              </a:rPr>
                              <m:t>2</m:t>
                            </m:r>
                          </m:sup>
                        </m:sSup>
                      </m:e>
                    </m:rad>
                  </m:oMath>
                </a14:m>
                <a:endParaRPr lang="en-US" altLang="zh-TW"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a:stretch>
              </a:blipFill>
            </p:spPr>
            <p:txBody>
              <a:bodyPr/>
              <a:lstStyle/>
              <a:p>
                <a:r>
                  <a:rPr lang="zh-TW" altLang="en-US">
                    <a:noFill/>
                  </a:rPr>
                  <a:t> </a:t>
                </a:r>
              </a:p>
            </p:txBody>
          </p:sp>
        </mc:Fallback>
      </mc:AlternateContent>
      <p:pic>
        <p:nvPicPr>
          <p:cNvPr id="7" name="圖片 6">
            <a:extLst>
              <a:ext uri="{FF2B5EF4-FFF2-40B4-BE49-F238E27FC236}">
                <a16:creationId xmlns:a16="http://schemas.microsoft.com/office/drawing/2014/main" id="{8D4468B8-4201-465D-BDE8-8D26F4B770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32513" y="3680470"/>
            <a:ext cx="9738654" cy="3077009"/>
          </a:xfrm>
          <a:prstGeom prst="rect">
            <a:avLst/>
          </a:prstGeom>
        </p:spPr>
      </p:pic>
      <p:sp>
        <p:nvSpPr>
          <p:cNvPr id="8" name="箭號: 向右 7">
            <a:extLst>
              <a:ext uri="{FF2B5EF4-FFF2-40B4-BE49-F238E27FC236}">
                <a16:creationId xmlns:a16="http://schemas.microsoft.com/office/drawing/2014/main" id="{99F3E13E-8D29-4462-AC28-686FE69EA503}"/>
              </a:ext>
            </a:extLst>
          </p:cNvPr>
          <p:cNvSpPr/>
          <p:nvPr/>
        </p:nvSpPr>
        <p:spPr>
          <a:xfrm>
            <a:off x="4353886" y="5343787"/>
            <a:ext cx="285226" cy="2097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9" name="箭號: 向右 8">
            <a:extLst>
              <a:ext uri="{FF2B5EF4-FFF2-40B4-BE49-F238E27FC236}">
                <a16:creationId xmlns:a16="http://schemas.microsoft.com/office/drawing/2014/main" id="{A0806D8E-5D83-4023-9C90-03F1FBA0D8AC}"/>
              </a:ext>
            </a:extLst>
          </p:cNvPr>
          <p:cNvSpPr/>
          <p:nvPr/>
        </p:nvSpPr>
        <p:spPr>
          <a:xfrm>
            <a:off x="7667538" y="5343787"/>
            <a:ext cx="285226" cy="209725"/>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p>
        </p:txBody>
      </p:sp>
    </p:spTree>
    <p:extLst>
      <p:ext uri="{BB962C8B-B14F-4D97-AF65-F5344CB8AC3E}">
        <p14:creationId xmlns:p14="http://schemas.microsoft.com/office/powerpoint/2010/main" val="20779067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GAF</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a:extLst>
              <a:ext uri="{FF2B5EF4-FFF2-40B4-BE49-F238E27FC236}">
                <a16:creationId xmlns:a16="http://schemas.microsoft.com/office/drawing/2014/main" id="{072BDA1B-CFAE-44DC-96DA-90029D77AB9A}"/>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838200" y="2076238"/>
            <a:ext cx="10515600" cy="3691917"/>
          </a:xfrm>
        </p:spPr>
      </p:pic>
    </p:spTree>
    <p:extLst>
      <p:ext uri="{BB962C8B-B14F-4D97-AF65-F5344CB8AC3E}">
        <p14:creationId xmlns:p14="http://schemas.microsoft.com/office/powerpoint/2010/main" val="2995500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MAM &amp; DMAM</a:t>
            </a:r>
            <a:endParaRPr lang="zh-TW" altLang="en-US"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內容版面配置區 2"/>
              <p:cNvSpPr>
                <a:spLocks noGrp="1"/>
              </p:cNvSpPr>
              <p:nvPr>
                <p:ph idx="1"/>
              </p:nvPr>
            </p:nvSpPr>
            <p:spPr>
              <a:xfrm>
                <a:off x="838199" y="1825625"/>
                <a:ext cx="10515599" cy="4595054"/>
              </a:xfrm>
            </p:spPr>
            <p:txBody>
              <a:bodyPr>
                <a:normAutofit/>
              </a:bodyPr>
              <a:lstStyle/>
              <a:p>
                <a14:m>
                  <m:oMath xmlns:m="http://schemas.openxmlformats.org/officeDocument/2006/math">
                    <m:r>
                      <a:rPr lang="en-US" altLang="zh-TW" b="0" i="1" dirty="0" smtClean="0">
                        <a:latin typeface="Cambria Math" panose="02040503050406030204" pitchFamily="18" charset="0"/>
                        <a:cs typeface="Times New Roman" panose="02020603050405020304" pitchFamily="18" charset="0"/>
                      </a:rPr>
                      <m:t>𝑀𝐴𝑀</m:t>
                    </m:r>
                    <m:r>
                      <a:rPr lang="en-US" altLang="zh-TW" i="1" dirty="0">
                        <a:latin typeface="Cambria Math" panose="02040503050406030204" pitchFamily="18" charset="0"/>
                        <a:cs typeface="Times New Roman" panose="02020603050405020304" pitchFamily="18" charset="0"/>
                      </a:rPr>
                      <m:t>=</m:t>
                    </m:r>
                    <m:d>
                      <m:dPr>
                        <m:begChr m:val="["/>
                        <m:endChr m:val="]"/>
                        <m:ctrlPr>
                          <a:rPr lang="en-US" altLang="zh-TW" i="1" dirty="0">
                            <a:latin typeface="Cambria Math" panose="02040503050406030204" pitchFamily="18" charset="0"/>
                            <a:cs typeface="Times New Roman" panose="02020603050405020304" pitchFamily="18" charset="0"/>
                          </a:rPr>
                        </m:ctrlPr>
                      </m:dPr>
                      <m:e>
                        <m:m>
                          <m:mPr>
                            <m:mcs>
                              <m:mc>
                                <m:mcPr>
                                  <m:count m:val="3"/>
                                  <m:mcJc m:val="center"/>
                                </m:mcPr>
                              </m:mc>
                            </m:mcs>
                            <m:ctrlPr>
                              <a:rPr lang="en-US" altLang="zh-TW" i="1" dirty="0">
                                <a:latin typeface="Cambria Math" panose="02040503050406030204" pitchFamily="18" charset="0"/>
                                <a:cs typeface="Times New Roman" panose="02020603050405020304" pitchFamily="18" charset="0"/>
                              </a:rPr>
                            </m:ctrlPr>
                          </m:mPr>
                          <m:mr>
                            <m:e>
                              <m:r>
                                <m:rPr>
                                  <m:brk m:alnAt="7"/>
                                </m:rPr>
                                <a:rPr lang="en-US" altLang="zh-TW" i="1" dirty="0">
                                  <a:latin typeface="Cambria Math" panose="02040503050406030204" pitchFamily="18" charset="0"/>
                                  <a:cs typeface="Times New Roman" panose="02020603050405020304" pitchFamily="18" charset="0"/>
                                </a:rPr>
                                <m:t>&lt;</m:t>
                              </m:r>
                              <m:r>
                                <a:rPr lang="en-US" altLang="zh-TW" b="0" i="1" dirty="0" smtClean="0">
                                  <a:latin typeface="Cambria Math" panose="02040503050406030204" pitchFamily="18" charset="0"/>
                                  <a:cs typeface="Times New Roman" panose="02020603050405020304" pitchFamily="18" charset="0"/>
                                </a:rPr>
                                <m:t>𝑀</m:t>
                              </m:r>
                              <m:sSub>
                                <m:sSubPr>
                                  <m:ctrlPr>
                                    <a:rPr lang="en-US" altLang="zh-TW" b="0" i="1" dirty="0" smtClean="0">
                                      <a:latin typeface="Cambria Math" panose="02040503050406030204" pitchFamily="18" charset="0"/>
                                      <a:cs typeface="Times New Roman" panose="02020603050405020304" pitchFamily="18" charset="0"/>
                                    </a:rPr>
                                  </m:ctrlPr>
                                </m:sSubPr>
                                <m:e>
                                  <m:r>
                                    <m:rPr>
                                      <m:brk m:alnAt="7"/>
                                    </m:rPr>
                                    <a:rPr lang="en-US" altLang="zh-TW" b="0" i="1" dirty="0" smtClean="0">
                                      <a:latin typeface="Cambria Math" panose="02040503050406030204" pitchFamily="18" charset="0"/>
                                      <a:cs typeface="Times New Roman" panose="02020603050405020304" pitchFamily="18" charset="0"/>
                                    </a:rPr>
                                    <m:t>𝐴</m:t>
                                  </m:r>
                                </m:e>
                                <m:sub>
                                  <m:r>
                                    <m:rPr>
                                      <m:brk m:alnAt="7"/>
                                    </m:rPr>
                                    <a:rPr lang="en-US" altLang="zh-TW" b="0" i="1" dirty="0" smtClean="0">
                                      <a:latin typeface="Cambria Math" panose="02040503050406030204" pitchFamily="18" charset="0"/>
                                      <a:cs typeface="Times New Roman" panose="02020603050405020304" pitchFamily="18" charset="0"/>
                                    </a:rPr>
                                    <m:t>𝑡</m:t>
                                  </m:r>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𝐷</m:t>
                                  </m:r>
                                  <m:r>
                                    <a:rPr lang="en-US" altLang="zh-TW" b="0" i="1" dirty="0" smtClean="0">
                                      <a:latin typeface="Cambria Math" panose="02040503050406030204" pitchFamily="18" charset="0"/>
                                      <a:cs typeface="Times New Roman" panose="02020603050405020304" pitchFamily="18" charset="0"/>
                                    </a:rPr>
                                    <m:t>+1,1</m:t>
                                  </m:r>
                                </m:sub>
                              </m:sSub>
                              <m:r>
                                <m:rPr>
                                  <m:brk m:alnAt="7"/>
                                </m:rPr>
                                <a:rPr lang="en-US" altLang="zh-TW" i="1" dirty="0">
                                  <a:latin typeface="Cambria Math" panose="02040503050406030204" pitchFamily="18" charset="0"/>
                                  <a:cs typeface="Times New Roman" panose="02020603050405020304" pitchFamily="18" charset="0"/>
                                </a:rPr>
                                <m:t>&gt;</m:t>
                              </m:r>
                            </m:e>
                            <m:e>
                              <m:r>
                                <a:rPr lang="en-US" altLang="zh-TW" i="1" dirty="0">
                                  <a:latin typeface="Cambria Math" panose="02040503050406030204" pitchFamily="18" charset="0"/>
                                  <a:cs typeface="Times New Roman" panose="02020603050405020304" pitchFamily="18" charset="0"/>
                                </a:rPr>
                                <m:t>⋯</m:t>
                              </m:r>
                            </m:e>
                            <m:e>
                              <m:r>
                                <m:rPr>
                                  <m:brk m:alnAt="7"/>
                                </m:rPr>
                                <a:rPr lang="en-US" altLang="zh-TW" i="1" dirty="0">
                                  <a:latin typeface="Cambria Math" panose="02040503050406030204" pitchFamily="18" charset="0"/>
                                  <a:cs typeface="Times New Roman" panose="02020603050405020304" pitchFamily="18" charset="0"/>
                                </a:rPr>
                                <m:t>&lt;</m:t>
                              </m:r>
                              <m:r>
                                <a:rPr lang="en-US" altLang="zh-TW" b="0" i="1" dirty="0" smtClean="0">
                                  <a:latin typeface="Cambria Math" panose="02040503050406030204" pitchFamily="18" charset="0"/>
                                  <a:cs typeface="Times New Roman" panose="02020603050405020304" pitchFamily="18" charset="0"/>
                                </a:rPr>
                                <m:t>𝑀</m:t>
                              </m:r>
                              <m:sSub>
                                <m:sSubPr>
                                  <m:ctrlPr>
                                    <a:rPr lang="en-US" altLang="zh-TW" b="0" i="1" dirty="0" smtClean="0">
                                      <a:latin typeface="Cambria Math" panose="02040503050406030204" pitchFamily="18" charset="0"/>
                                      <a:cs typeface="Times New Roman" panose="02020603050405020304" pitchFamily="18" charset="0"/>
                                    </a:rPr>
                                  </m:ctrlPr>
                                </m:sSubPr>
                                <m:e>
                                  <m:r>
                                    <m:rPr>
                                      <m:brk m:alnAt="7"/>
                                    </m:rPr>
                                    <a:rPr lang="en-US" altLang="zh-TW" b="0" i="1" dirty="0" smtClean="0">
                                      <a:latin typeface="Cambria Math" panose="02040503050406030204" pitchFamily="18" charset="0"/>
                                      <a:cs typeface="Times New Roman" panose="02020603050405020304" pitchFamily="18" charset="0"/>
                                    </a:rPr>
                                    <m:t>𝐴</m:t>
                                  </m:r>
                                </m:e>
                                <m:sub>
                                  <m:r>
                                    <m:rPr>
                                      <m:brk m:alnAt="7"/>
                                    </m:rPr>
                                    <a:rPr lang="en-US" altLang="zh-TW" b="0" i="1" dirty="0" smtClean="0">
                                      <a:latin typeface="Cambria Math" panose="02040503050406030204" pitchFamily="18" charset="0"/>
                                      <a:cs typeface="Times New Roman" panose="02020603050405020304" pitchFamily="18" charset="0"/>
                                    </a:rPr>
                                    <m:t>𝑡</m:t>
                                  </m:r>
                                  <m:r>
                                    <a:rPr lang="en-US" altLang="zh-TW" b="0" i="1" dirty="0" smtClean="0">
                                      <a:latin typeface="Cambria Math" panose="02040503050406030204" pitchFamily="18" charset="0"/>
                                      <a:cs typeface="Times New Roman" panose="02020603050405020304" pitchFamily="18" charset="0"/>
                                    </a:rPr>
                                    <m:t>,1</m:t>
                                  </m:r>
                                </m:sub>
                              </m:sSub>
                              <m:r>
                                <a:rPr lang="en-US" altLang="zh-TW" i="1" dirty="0">
                                  <a:latin typeface="Cambria Math" panose="02040503050406030204" pitchFamily="18" charset="0"/>
                                  <a:cs typeface="Times New Roman" panose="02020603050405020304" pitchFamily="18" charset="0"/>
                                </a:rPr>
                                <m:t>&gt;</m:t>
                              </m:r>
                            </m:e>
                          </m:mr>
                          <m:mr>
                            <m:e>
                              <m:r>
                                <a:rPr lang="en-US" altLang="zh-TW" i="1" dirty="0">
                                  <a:latin typeface="Cambria Math" panose="02040503050406030204" pitchFamily="18" charset="0"/>
                                  <a:cs typeface="Times New Roman" panose="02020603050405020304" pitchFamily="18" charset="0"/>
                                </a:rPr>
                                <m:t>⋮</m:t>
                              </m:r>
                            </m:e>
                            <m:e>
                              <m:r>
                                <a:rPr lang="en-US" altLang="zh-TW" i="1" dirty="0">
                                  <a:latin typeface="Cambria Math" panose="02040503050406030204" pitchFamily="18" charset="0"/>
                                  <a:cs typeface="Times New Roman" panose="02020603050405020304" pitchFamily="18" charset="0"/>
                                </a:rPr>
                                <m:t>⋱</m:t>
                              </m:r>
                            </m:e>
                            <m:e>
                              <m:r>
                                <a:rPr lang="en-US" altLang="zh-TW" i="1" dirty="0">
                                  <a:latin typeface="Cambria Math" panose="02040503050406030204" pitchFamily="18" charset="0"/>
                                  <a:cs typeface="Times New Roman" panose="02020603050405020304" pitchFamily="18" charset="0"/>
                                </a:rPr>
                                <m:t>⋮</m:t>
                              </m:r>
                            </m:e>
                          </m:mr>
                          <m:mr>
                            <m:e>
                              <m:r>
                                <m:rPr>
                                  <m:brk m:alnAt="7"/>
                                </m:rPr>
                                <a:rPr lang="en-US" altLang="zh-TW" i="1" dirty="0">
                                  <a:latin typeface="Cambria Math" panose="02040503050406030204" pitchFamily="18" charset="0"/>
                                  <a:cs typeface="Times New Roman" panose="02020603050405020304" pitchFamily="18" charset="0"/>
                                </a:rPr>
                                <m:t>&lt;</m:t>
                              </m:r>
                              <m:r>
                                <a:rPr lang="en-US" altLang="zh-TW" b="0" i="1" dirty="0" smtClean="0">
                                  <a:latin typeface="Cambria Math" panose="02040503050406030204" pitchFamily="18" charset="0"/>
                                  <a:cs typeface="Times New Roman" panose="02020603050405020304" pitchFamily="18" charset="0"/>
                                </a:rPr>
                                <m:t>𝑀</m:t>
                              </m:r>
                              <m:sSub>
                                <m:sSubPr>
                                  <m:ctrlPr>
                                    <a:rPr lang="en-US" altLang="zh-TW" b="0" i="1" dirty="0" smtClean="0">
                                      <a:latin typeface="Cambria Math" panose="02040503050406030204" pitchFamily="18" charset="0"/>
                                      <a:cs typeface="Times New Roman" panose="02020603050405020304" pitchFamily="18" charset="0"/>
                                    </a:rPr>
                                  </m:ctrlPr>
                                </m:sSubPr>
                                <m:e>
                                  <m:r>
                                    <m:rPr>
                                      <m:brk m:alnAt="7"/>
                                    </m:rPr>
                                    <a:rPr lang="en-US" altLang="zh-TW" b="0" i="1" dirty="0" smtClean="0">
                                      <a:latin typeface="Cambria Math" panose="02040503050406030204" pitchFamily="18" charset="0"/>
                                      <a:cs typeface="Times New Roman" panose="02020603050405020304" pitchFamily="18" charset="0"/>
                                    </a:rPr>
                                    <m:t>𝐴</m:t>
                                  </m:r>
                                </m:e>
                                <m:sub>
                                  <m:r>
                                    <m:rPr>
                                      <m:brk m:alnAt="7"/>
                                    </m:rPr>
                                    <a:rPr lang="en-US" altLang="zh-TW" b="0" i="1" dirty="0" smtClean="0">
                                      <a:latin typeface="Cambria Math" panose="02040503050406030204" pitchFamily="18" charset="0"/>
                                      <a:cs typeface="Times New Roman" panose="02020603050405020304" pitchFamily="18" charset="0"/>
                                    </a:rPr>
                                    <m:t>𝑡</m:t>
                                  </m:r>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𝐷</m:t>
                                  </m:r>
                                  <m:r>
                                    <a:rPr lang="en-US" altLang="zh-TW" b="0" i="1" dirty="0" smtClean="0">
                                      <a:latin typeface="Cambria Math" panose="02040503050406030204" pitchFamily="18" charset="0"/>
                                      <a:cs typeface="Times New Roman" panose="02020603050405020304" pitchFamily="18" charset="0"/>
                                    </a:rPr>
                                    <m:t>+1,</m:t>
                                  </m:r>
                                  <m:r>
                                    <a:rPr lang="en-US" altLang="zh-TW" b="0" i="1" dirty="0" smtClean="0">
                                      <a:latin typeface="Cambria Math" panose="02040503050406030204" pitchFamily="18" charset="0"/>
                                      <a:cs typeface="Times New Roman" panose="02020603050405020304" pitchFamily="18" charset="0"/>
                                    </a:rPr>
                                    <m:t>𝐷</m:t>
                                  </m:r>
                                </m:sub>
                              </m:sSub>
                              <m:r>
                                <a:rPr lang="en-US" altLang="zh-TW" i="1" dirty="0">
                                  <a:latin typeface="Cambria Math" panose="02040503050406030204" pitchFamily="18" charset="0"/>
                                  <a:cs typeface="Times New Roman" panose="02020603050405020304" pitchFamily="18" charset="0"/>
                                </a:rPr>
                                <m:t>&gt;</m:t>
                              </m:r>
                            </m:e>
                            <m:e>
                              <m:r>
                                <a:rPr lang="en-US" altLang="zh-TW" i="1" dirty="0">
                                  <a:latin typeface="Cambria Math" panose="02040503050406030204" pitchFamily="18" charset="0"/>
                                  <a:cs typeface="Times New Roman" panose="02020603050405020304" pitchFamily="18" charset="0"/>
                                </a:rPr>
                                <m:t>⋯</m:t>
                              </m:r>
                            </m:e>
                            <m:e>
                              <m:r>
                                <m:rPr>
                                  <m:brk m:alnAt="7"/>
                                </m:rPr>
                                <a:rPr lang="en-US" altLang="zh-TW" i="1" dirty="0">
                                  <a:latin typeface="Cambria Math" panose="02040503050406030204" pitchFamily="18" charset="0"/>
                                  <a:cs typeface="Times New Roman" panose="02020603050405020304" pitchFamily="18" charset="0"/>
                                </a:rPr>
                                <m:t>&lt;</m:t>
                              </m:r>
                              <m:r>
                                <a:rPr lang="en-US" altLang="zh-TW" b="0" i="1" dirty="0" smtClean="0">
                                  <a:latin typeface="Cambria Math" panose="02040503050406030204" pitchFamily="18" charset="0"/>
                                  <a:cs typeface="Times New Roman" panose="02020603050405020304" pitchFamily="18" charset="0"/>
                                </a:rPr>
                                <m:t>𝑀</m:t>
                              </m:r>
                              <m:sSub>
                                <m:sSubPr>
                                  <m:ctrlPr>
                                    <a:rPr lang="en-US" altLang="zh-TW" b="0" i="1" dirty="0" smtClean="0">
                                      <a:latin typeface="Cambria Math" panose="02040503050406030204" pitchFamily="18" charset="0"/>
                                      <a:cs typeface="Times New Roman" panose="02020603050405020304" pitchFamily="18" charset="0"/>
                                    </a:rPr>
                                  </m:ctrlPr>
                                </m:sSubPr>
                                <m:e>
                                  <m:r>
                                    <m:rPr>
                                      <m:brk m:alnAt="7"/>
                                    </m:rPr>
                                    <a:rPr lang="en-US" altLang="zh-TW" b="0" i="1" dirty="0" smtClean="0">
                                      <a:latin typeface="Cambria Math" panose="02040503050406030204" pitchFamily="18" charset="0"/>
                                      <a:cs typeface="Times New Roman" panose="02020603050405020304" pitchFamily="18" charset="0"/>
                                    </a:rPr>
                                    <m:t>𝐴</m:t>
                                  </m:r>
                                </m:e>
                                <m:sub>
                                  <m:r>
                                    <m:rPr>
                                      <m:brk m:alnAt="7"/>
                                    </m:rPr>
                                    <a:rPr lang="en-US" altLang="zh-TW" b="0" i="1" dirty="0" smtClean="0">
                                      <a:latin typeface="Cambria Math" panose="02040503050406030204" pitchFamily="18" charset="0"/>
                                      <a:cs typeface="Times New Roman" panose="02020603050405020304" pitchFamily="18" charset="0"/>
                                    </a:rPr>
                                    <m:t>𝑡</m:t>
                                  </m:r>
                                  <m:r>
                                    <a:rPr lang="en-US" altLang="zh-TW" b="0" i="1" dirty="0" smtClean="0">
                                      <a:latin typeface="Cambria Math" panose="02040503050406030204" pitchFamily="18" charset="0"/>
                                      <a:cs typeface="Times New Roman" panose="02020603050405020304" pitchFamily="18" charset="0"/>
                                    </a:rPr>
                                    <m:t>,</m:t>
                                  </m:r>
                                  <m:r>
                                    <a:rPr lang="en-US" altLang="zh-TW" b="0" i="1" dirty="0" smtClean="0">
                                      <a:latin typeface="Cambria Math" panose="02040503050406030204" pitchFamily="18" charset="0"/>
                                      <a:cs typeface="Times New Roman" panose="02020603050405020304" pitchFamily="18" charset="0"/>
                                    </a:rPr>
                                    <m:t>𝐷</m:t>
                                  </m:r>
                                </m:sub>
                              </m:sSub>
                              <m:r>
                                <a:rPr lang="en-US" altLang="zh-TW" i="1" dirty="0">
                                  <a:latin typeface="Cambria Math" panose="02040503050406030204" pitchFamily="18" charset="0"/>
                                  <a:cs typeface="Times New Roman" panose="02020603050405020304" pitchFamily="18" charset="0"/>
                                </a:rPr>
                                <m:t>&gt;</m:t>
                              </m:r>
                            </m:e>
                          </m:mr>
                        </m:m>
                      </m:e>
                    </m:d>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𝑀𝐴</m:t>
                    </m:r>
                    <m:r>
                      <a:rPr lang="en-US" altLang="zh-TW" i="1">
                        <a:latin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cs typeface="Times New Roman" panose="02020603050405020304" pitchFamily="18" charset="0"/>
                          </a:rPr>
                        </m:ctrlPr>
                      </m:fPr>
                      <m:num>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𝑝</m:t>
                            </m:r>
                          </m:e>
                          <m:sub>
                            <m:r>
                              <a:rPr lang="en-US" altLang="zh-TW" b="0" i="1" smtClean="0">
                                <a:latin typeface="Cambria Math" panose="02040503050406030204" pitchFamily="18" charset="0"/>
                                <a:cs typeface="Times New Roman" panose="02020603050405020304" pitchFamily="18" charset="0"/>
                              </a:rPr>
                              <m:t>1</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𝑝</m:t>
                            </m:r>
                          </m:e>
                          <m:sub>
                            <m:r>
                              <a:rPr lang="en-US" altLang="zh-TW" b="0" i="1" smtClean="0">
                                <a:latin typeface="Cambria Math" panose="02040503050406030204" pitchFamily="18" charset="0"/>
                                <a:cs typeface="Times New Roman" panose="02020603050405020304" pitchFamily="18" charset="0"/>
                              </a:rPr>
                              <m:t>2</m:t>
                            </m:r>
                          </m:sub>
                        </m:sSub>
                        <m:r>
                          <a:rPr lang="en-US" altLang="zh-TW" b="0" i="1" smtClean="0">
                            <a:latin typeface="Cambria Math" panose="02040503050406030204" pitchFamily="18" charset="0"/>
                            <a:cs typeface="Times New Roman" panose="02020603050405020304" pitchFamily="18" charset="0"/>
                          </a:rPr>
                          <m:t>+…+</m:t>
                        </m:r>
                        <m:sSub>
                          <m:sSubPr>
                            <m:ctrlPr>
                              <a:rPr lang="en-US" altLang="zh-TW" b="0" i="1" smtClean="0">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𝑝</m:t>
                            </m:r>
                          </m:e>
                          <m:sub>
                            <m:r>
                              <a:rPr lang="en-US" altLang="zh-TW" b="0" i="1" smtClean="0">
                                <a:latin typeface="Cambria Math" panose="02040503050406030204" pitchFamily="18" charset="0"/>
                                <a:cs typeface="Times New Roman" panose="02020603050405020304" pitchFamily="18" charset="0"/>
                              </a:rPr>
                              <m:t>𝑛</m:t>
                            </m:r>
                          </m:sub>
                        </m:sSub>
                      </m:num>
                      <m:den>
                        <m:r>
                          <a:rPr lang="en-US" altLang="zh-TW" b="0" i="1" smtClean="0">
                            <a:latin typeface="Cambria Math" panose="02040503050406030204" pitchFamily="18" charset="0"/>
                            <a:cs typeface="Times New Roman" panose="02020603050405020304" pitchFamily="18" charset="0"/>
                          </a:rPr>
                          <m:t>𝑛</m:t>
                        </m:r>
                      </m:den>
                    </m:f>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14:m>
                  <m:oMath xmlns:m="http://schemas.openxmlformats.org/officeDocument/2006/math">
                    <m:r>
                      <a:rPr lang="en-US" altLang="zh-TW" b="0" i="1" smtClean="0">
                        <a:latin typeface="Cambria Math" panose="02040503050406030204" pitchFamily="18" charset="0"/>
                        <a:cs typeface="Times New Roman" panose="02020603050405020304" pitchFamily="18" charset="0"/>
                      </a:rPr>
                      <m:t>𝐷</m:t>
                    </m:r>
                    <m:r>
                      <a:rPr lang="en-US" altLang="zh-TW" i="1">
                        <a:latin typeface="Cambria Math" panose="02040503050406030204" pitchFamily="18" charset="0"/>
                        <a:cs typeface="Times New Roman" panose="02020603050405020304" pitchFamily="18" charset="0"/>
                      </a:rPr>
                      <m:t>𝑀𝐴</m:t>
                    </m:r>
                    <m:r>
                      <a:rPr lang="en-US" altLang="zh-TW" i="1">
                        <a:latin typeface="Cambria Math" panose="02040503050406030204" pitchFamily="18" charset="0"/>
                        <a:cs typeface="Times New Roman" panose="02020603050405020304" pitchFamily="18" charset="0"/>
                      </a:rPr>
                      <m:t>=</m:t>
                    </m:r>
                    <m:f>
                      <m:fPr>
                        <m:ctrlPr>
                          <a:rPr lang="en-US" altLang="zh-TW" i="1">
                            <a:latin typeface="Cambria Math" panose="02040503050406030204" pitchFamily="18" charset="0"/>
                            <a:cs typeface="Times New Roman" panose="02020603050405020304" pitchFamily="18" charset="0"/>
                          </a:rPr>
                        </m:ctrlPr>
                      </m:fPr>
                      <m:num>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𝑞</m:t>
                            </m:r>
                          </m:e>
                          <m:sub>
                            <m:r>
                              <a:rPr lang="en-US" altLang="zh-TW" i="1">
                                <a:latin typeface="Cambria Math" panose="02040503050406030204" pitchFamily="18" charset="0"/>
                                <a:cs typeface="Times New Roman" panose="02020603050405020304" pitchFamily="18" charset="0"/>
                              </a:rPr>
                              <m:t>1</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𝑞</m:t>
                            </m:r>
                          </m:e>
                          <m:sub>
                            <m:r>
                              <a:rPr lang="en-US" altLang="zh-TW" i="1">
                                <a:latin typeface="Cambria Math" panose="02040503050406030204" pitchFamily="18" charset="0"/>
                                <a:cs typeface="Times New Roman" panose="02020603050405020304" pitchFamily="18" charset="0"/>
                              </a:rPr>
                              <m:t>2</m:t>
                            </m:r>
                          </m:sub>
                        </m:sSub>
                        <m:r>
                          <a:rPr lang="en-US" altLang="zh-TW" i="1">
                            <a:latin typeface="Cambria Math" panose="02040503050406030204" pitchFamily="18" charset="0"/>
                            <a:cs typeface="Times New Roman" panose="02020603050405020304" pitchFamily="18" charset="0"/>
                          </a:rPr>
                          <m:t>+…+</m:t>
                        </m:r>
                        <m:sSub>
                          <m:sSubPr>
                            <m:ctrlPr>
                              <a:rPr lang="en-US" altLang="zh-TW" i="1">
                                <a:latin typeface="Cambria Math" panose="02040503050406030204" pitchFamily="18" charset="0"/>
                                <a:cs typeface="Times New Roman" panose="02020603050405020304" pitchFamily="18" charset="0"/>
                              </a:rPr>
                            </m:ctrlPr>
                          </m:sSubPr>
                          <m:e>
                            <m:r>
                              <a:rPr lang="en-US" altLang="zh-TW" b="0" i="1" smtClean="0">
                                <a:latin typeface="Cambria Math" panose="02040503050406030204" pitchFamily="18" charset="0"/>
                                <a:cs typeface="Times New Roman" panose="02020603050405020304" pitchFamily="18" charset="0"/>
                              </a:rPr>
                              <m:t>𝑞</m:t>
                            </m:r>
                          </m:e>
                          <m:sub>
                            <m:r>
                              <a:rPr lang="en-US" altLang="zh-TW" i="1">
                                <a:latin typeface="Cambria Math" panose="02040503050406030204" pitchFamily="18" charset="0"/>
                                <a:cs typeface="Times New Roman" panose="02020603050405020304" pitchFamily="18" charset="0"/>
                              </a:rPr>
                              <m:t>𝑛</m:t>
                            </m:r>
                          </m:sub>
                        </m:sSub>
                      </m:num>
                      <m:den>
                        <m:r>
                          <a:rPr lang="en-US" altLang="zh-TW" i="1">
                            <a:latin typeface="Cambria Math" panose="02040503050406030204" pitchFamily="18" charset="0"/>
                            <a:cs typeface="Times New Roman" panose="02020603050405020304" pitchFamily="18" charset="0"/>
                          </a:rPr>
                          <m:t>𝑛</m:t>
                        </m:r>
                      </m:den>
                    </m:f>
                  </m:oMath>
                </a14:m>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pPr marL="0" indent="0">
                  <a:buNone/>
                </a:pPr>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a:p>
                <a:endParaRPr lang="en-US" altLang="zh-TW" dirty="0">
                  <a:latin typeface="Times New Roman" panose="02020603050405020304" pitchFamily="18" charset="0"/>
                  <a:cs typeface="Times New Roman" panose="02020603050405020304" pitchFamily="18" charset="0"/>
                </a:endParaRPr>
              </a:p>
            </p:txBody>
          </p:sp>
        </mc:Choice>
        <mc:Fallback>
          <p:sp>
            <p:nvSpPr>
              <p:cNvPr id="3" name="內容版面配置區 2"/>
              <p:cNvSpPr>
                <a:spLocks noGrp="1" noRot="1" noChangeAspect="1" noMove="1" noResize="1" noEditPoints="1" noAdjustHandles="1" noChangeArrowheads="1" noChangeShapeType="1" noTextEdit="1"/>
              </p:cNvSpPr>
              <p:nvPr>
                <p:ph idx="1"/>
              </p:nvPr>
            </p:nvSpPr>
            <p:spPr>
              <a:xfrm>
                <a:off x="838199" y="1825625"/>
                <a:ext cx="10515599" cy="4595054"/>
              </a:xfrm>
              <a:blipFill>
                <a:blip r:embed="rId3"/>
                <a:stretch>
                  <a:fillRect/>
                </a:stretch>
              </a:blipFill>
            </p:spPr>
            <p:txBody>
              <a:bodyPr/>
              <a:lstStyle/>
              <a:p>
                <a:r>
                  <a:rPr lang="zh-TW" altLang="en-US">
                    <a:noFill/>
                  </a:rPr>
                  <a:t> </a:t>
                </a:r>
              </a:p>
            </p:txBody>
          </p:sp>
        </mc:Fallback>
      </mc:AlternateContent>
    </p:spTree>
    <p:extLst>
      <p:ext uri="{BB962C8B-B14F-4D97-AF65-F5344CB8AC3E}">
        <p14:creationId xmlns:p14="http://schemas.microsoft.com/office/powerpoint/2010/main" val="17974404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Image</a:t>
            </a:r>
            <a:endParaRPr lang="zh-TW" altLang="en-US" dirty="0">
              <a:latin typeface="Times New Roman" panose="02020603050405020304" pitchFamily="18" charset="0"/>
              <a:cs typeface="Times New Roman" panose="02020603050405020304" pitchFamily="18" charset="0"/>
            </a:endParaRPr>
          </a:p>
        </p:txBody>
      </p:sp>
      <p:pic>
        <p:nvPicPr>
          <p:cNvPr id="4" name="內容版面配置區 3"/>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755114" y="2648961"/>
            <a:ext cx="10681771" cy="2719896"/>
          </a:xfrm>
        </p:spPr>
      </p:pic>
    </p:spTree>
    <p:extLst>
      <p:ext uri="{BB962C8B-B14F-4D97-AF65-F5344CB8AC3E}">
        <p14:creationId xmlns:p14="http://schemas.microsoft.com/office/powerpoint/2010/main" val="11592073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pPr algn="ctr"/>
            <a:r>
              <a:rPr lang="en-US" altLang="zh-TW" dirty="0">
                <a:latin typeface="Times New Roman" panose="02020603050405020304" pitchFamily="18" charset="0"/>
                <a:cs typeface="Times New Roman" panose="02020603050405020304" pitchFamily="18" charset="0"/>
              </a:rPr>
              <a:t>Result</a:t>
            </a:r>
            <a:endParaRPr lang="zh-TW" altLang="en-US" dirty="0">
              <a:latin typeface="Times New Roman" panose="02020603050405020304" pitchFamily="18" charset="0"/>
              <a:cs typeface="Times New Roman" panose="02020603050405020304" pitchFamily="18" charset="0"/>
            </a:endParaRPr>
          </a:p>
        </p:txBody>
      </p:sp>
      <p:pic>
        <p:nvPicPr>
          <p:cNvPr id="5" name="內容版面配置區 4"/>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165597" y="2022439"/>
            <a:ext cx="5930403" cy="3594836"/>
          </a:xfrm>
        </p:spPr>
      </p:pic>
      <p:pic>
        <p:nvPicPr>
          <p:cNvPr id="3" name="圖片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196405" y="1876497"/>
            <a:ext cx="5752624" cy="3740778"/>
          </a:xfrm>
          <a:prstGeom prst="rect">
            <a:avLst/>
          </a:prstGeom>
        </p:spPr>
      </p:pic>
    </p:spTree>
    <p:extLst>
      <p:ext uri="{BB962C8B-B14F-4D97-AF65-F5344CB8AC3E}">
        <p14:creationId xmlns:p14="http://schemas.microsoft.com/office/powerpoint/2010/main" val="1735831897"/>
      </p:ext>
    </p:extLst>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23771</TotalTime>
  <Words>375</Words>
  <Application>Microsoft Office PowerPoint</Application>
  <PresentationFormat>寬螢幕</PresentationFormat>
  <Paragraphs>46</Paragraphs>
  <Slides>10</Slides>
  <Notes>8</Notes>
  <HiddenSlides>0</HiddenSlides>
  <MMClips>0</MMClips>
  <ScaleCrop>false</ScaleCrop>
  <HeadingPairs>
    <vt:vector size="6" baseType="variant">
      <vt:variant>
        <vt:lpstr>使用字型</vt:lpstr>
      </vt:variant>
      <vt:variant>
        <vt:i4>6</vt:i4>
      </vt:variant>
      <vt:variant>
        <vt:lpstr>佈景主題</vt:lpstr>
      </vt:variant>
      <vt:variant>
        <vt:i4>1</vt:i4>
      </vt:variant>
      <vt:variant>
        <vt:lpstr>投影片標題</vt:lpstr>
      </vt:variant>
      <vt:variant>
        <vt:i4>10</vt:i4>
      </vt:variant>
    </vt:vector>
  </HeadingPairs>
  <TitlesOfParts>
    <vt:vector size="17" baseType="lpstr">
      <vt:lpstr>新細明體</vt:lpstr>
      <vt:lpstr>Arial</vt:lpstr>
      <vt:lpstr>Calibri</vt:lpstr>
      <vt:lpstr>Calibri Light</vt:lpstr>
      <vt:lpstr>Cambria Math</vt:lpstr>
      <vt:lpstr>Times New Roman</vt:lpstr>
      <vt:lpstr>Office 佈景主題</vt:lpstr>
      <vt:lpstr>Financial Time-series Data Analysis using Deep Convolutional Neural Networks</vt:lpstr>
      <vt:lpstr>Abstract(1/2)</vt:lpstr>
      <vt:lpstr>Abstract(2/2)</vt:lpstr>
      <vt:lpstr>Financial Data</vt:lpstr>
      <vt:lpstr>Data visualization</vt:lpstr>
      <vt:lpstr>GAF</vt:lpstr>
      <vt:lpstr>GAF</vt:lpstr>
      <vt:lpstr>MAM &amp; DMAM</vt:lpstr>
      <vt:lpstr>Image</vt:lpstr>
      <vt:lpstr>Result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Efficient Selectivity and Backup Operators in Monte-Carlo Tree Search</dc:title>
  <dc:creator>Trixie</dc:creator>
  <cp:lastModifiedBy>pplab</cp:lastModifiedBy>
  <cp:revision>691</cp:revision>
  <dcterms:created xsi:type="dcterms:W3CDTF">2017-09-07T05:36:32Z</dcterms:created>
  <dcterms:modified xsi:type="dcterms:W3CDTF">2018-09-11T09:51:07Z</dcterms:modified>
</cp:coreProperties>
</file>