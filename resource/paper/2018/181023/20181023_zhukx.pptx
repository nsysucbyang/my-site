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302" r:id="rId2"/>
    <p:sldId id="303" r:id="rId3"/>
    <p:sldId id="304" r:id="rId4"/>
    <p:sldId id="295" r:id="rId5"/>
    <p:sldId id="278" r:id="rId6"/>
    <p:sldId id="296" r:id="rId7"/>
    <p:sldId id="297" r:id="rId8"/>
    <p:sldId id="298" r:id="rId9"/>
    <p:sldId id="299" r:id="rId10"/>
    <p:sldId id="300" r:id="rId11"/>
    <p:sldId id="301" r:id="rId12"/>
    <p:sldId id="305" r:id="rId13"/>
    <p:sldId id="306" r:id="rId14"/>
    <p:sldId id="307" r:id="rId15"/>
    <p:sldId id="308" r:id="rId16"/>
    <p:sldId id="309" r:id="rId17"/>
    <p:sldId id="310" r:id="rId18"/>
    <p:sldId id="311" r:id="rId19"/>
    <p:sldId id="312" r:id="rId20"/>
    <p:sldId id="313" r:id="rId21"/>
    <p:sldId id="315" r:id="rId22"/>
    <p:sldId id="316" r:id="rId23"/>
    <p:sldId id="317" r:id="rId24"/>
    <p:sldId id="320" r:id="rId25"/>
    <p:sldId id="321" r:id="rId26"/>
    <p:sldId id="327" r:id="rId27"/>
    <p:sldId id="322" r:id="rId28"/>
    <p:sldId id="324" r:id="rId29"/>
    <p:sldId id="325" r:id="rId30"/>
    <p:sldId id="326" r:id="rId3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9933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9" autoAdjust="0"/>
    <p:restoredTop sz="78307" autoAdjust="0"/>
  </p:normalViewPr>
  <p:slideViewPr>
    <p:cSldViewPr snapToGrid="0">
      <p:cViewPr varScale="1">
        <p:scale>
          <a:sx n="75" d="100"/>
          <a:sy n="75" d="100"/>
        </p:scale>
        <p:origin x="504" y="60"/>
      </p:cViewPr>
      <p:guideLst>
        <p:guide orient="horz" pos="2159"/>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2018/10/23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260393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3829225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p:cNvSpPr>
            <a:spLocks noGrp="1"/>
          </p:cNvSpPr>
          <p:nvPr>
            <p:ph type="subTitle" idx="1" hasCustomPrompt="1"/>
          </p:nvPr>
        </p:nvSpPr>
        <p:spPr>
          <a:xfrm>
            <a:off x="1524000" y="3602038"/>
            <a:ext cx="9144000" cy="1655762"/>
          </a:xfrm>
        </p:spPr>
        <p:txBody>
          <a:bodyPr/>
          <a:lstStyle>
            <a:lvl1pPr marL="0" indent="0" algn="ctr">
              <a:buNone/>
              <a:defRPr sz="2400">
                <a:solidFill>
                  <a:schemeClr val="bg1">
                    <a:lumMod val="6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按一下以編輯母片子標題樣式</a:t>
            </a:r>
          </a:p>
        </p:txBody>
      </p:sp>
      <p:sp>
        <p:nvSpPr>
          <p:cNvPr id="4" name="日期版面配置區 3"/>
          <p:cNvSpPr>
            <a:spLocks noGrp="1"/>
          </p:cNvSpPr>
          <p:nvPr>
            <p:ph type="dt" sz="half" idx="10"/>
          </p:nvPr>
        </p:nvSpPr>
        <p:spPr/>
        <p:txBody>
          <a:bodyPr/>
          <a:lstStyle/>
          <a:p>
            <a:fld id="{4B163CDD-1571-4D07-AD50-27DEDA2DAB08}" type="datetime1">
              <a:rPr lang="zh-TW" altLang="en-US" smtClean="0"/>
              <a:t>2018/10/23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p:cNvSpPr>
            <a:spLocks noGrp="1"/>
          </p:cNvSpPr>
          <p:nvPr>
            <p:ph idx="1" hasCustomPrompt="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10"/>
          </p:nvPr>
        </p:nvSpPr>
        <p:spPr/>
        <p:txBody>
          <a:bodyPr/>
          <a:lstStyle/>
          <a:p>
            <a:fld id="{45E90CF3-7BCB-4E41-A4BC-7F7C7D47433D}" type="datetime1">
              <a:rPr lang="zh-TW" altLang="en-US" smtClean="0"/>
              <a:t>2018/10/23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DCCD063-7F18-423D-A692-CC9D343FD360}"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hasCustomPrompt="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939863AD-E347-426A-B227-78A9B42781C3}" type="datetime1">
              <a:rPr lang="zh-TW" altLang="en-US" smtClean="0"/>
              <a:t>2018/10/23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DCCD063-7F18-423D-A692-CC9D343FD360}"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hasCustomPrompt="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hasCustomPrompt="1"/>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98EE8F46-57F3-4B32-B3C0-034060244659}" type="datetime1">
              <a:rPr lang="zh-TW" altLang="en-US" smtClean="0"/>
              <a:t>2018/10/23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DCCD063-7F18-423D-A692-CC9D343FD360}"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p:cNvSpPr>
            <a:spLocks noGrp="1"/>
          </p:cNvSpPr>
          <p:nvPr>
            <p:ph type="body" idx="1" hasCustomPrompt="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hasCustomPrompt="1"/>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hasCustomPrompt="1"/>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hasCustomPrompt="1"/>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E6354-929A-48E4-A569-5065F8787DBB}" type="datetime1">
              <a:rPr lang="zh-TW" altLang="en-US" smtClean="0"/>
              <a:t>2018/10/23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8DCCD063-7F18-423D-A692-CC9D343FD360}"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9347B07A-C303-4A11-829E-75A08D84F791}" type="datetime1">
              <a:rPr lang="zh-TW" altLang="en-US" smtClean="0"/>
              <a:t>2018/10/23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8DCCD063-7F18-423D-A692-CC9D343FD360}"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18C0FAA-EAB9-46FF-9B2E-6C03EFE0E627}" type="datetime1">
              <a:rPr lang="zh-TW" altLang="en-US" smtClean="0"/>
              <a:t>2018/10/23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hasCustomPrompt="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6F615960-3F62-4BA7-8DEF-58213E9FC750}" type="datetime1">
              <a:rPr lang="zh-TW" altLang="en-US" smtClean="0"/>
              <a:t>2018/10/23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DCCD063-7F18-423D-A692-CC9D343FD360}"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BA495139-73A5-4D37-9F65-42DD6EFCB362}" type="datetime1">
              <a:rPr lang="zh-TW" altLang="en-US" smtClean="0"/>
              <a:t>2018/10/23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DCCD063-7F18-423D-A692-CC9D343FD360}"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hasCustomPrompt="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F65DB9CA-F34A-4005-B66B-4638821FBB36}" type="datetime1">
              <a:rPr lang="zh-TW" altLang="en-US" smtClean="0"/>
              <a:t>2018/10/23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DCCD063-7F18-423D-A692-CC9D343FD360}"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hasCustomPrompt="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112FA3D-57A8-4A36-8AB7-98D4B7F81A6B}" type="datetime1">
              <a:rPr lang="zh-TW" altLang="en-US" smtClean="0"/>
              <a:t>2018/10/23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DCCD063-7F18-423D-A692-CC9D343FD360}"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2018/10/23</a:t>
            </a:fld>
            <a:endParaRPr lang="zh-TW" altLang="en-US"/>
          </a:p>
        </p:txBody>
      </p:sp>
      <p:sp>
        <p:nvSpPr>
          <p:cNvPr id="5" name="頁尾版面配置區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376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415539" y="471285"/>
            <a:ext cx="9359651" cy="1356957"/>
          </a:xfrm>
        </p:spPr>
        <p:txBody>
          <a:bodyPr>
            <a:noAutofit/>
          </a:bodyPr>
          <a:lstStyle/>
          <a:p>
            <a:r>
              <a:rPr sz="3600" dirty="0"/>
              <a:t>Time Alignment Measurement for Time Series</a:t>
            </a:r>
          </a:p>
        </p:txBody>
      </p:sp>
      <p:sp>
        <p:nvSpPr>
          <p:cNvPr id="3" name="副標題 2"/>
          <p:cNvSpPr>
            <a:spLocks noGrp="1"/>
          </p:cNvSpPr>
          <p:nvPr>
            <p:ph type="subTitle" idx="1"/>
          </p:nvPr>
        </p:nvSpPr>
        <p:spPr>
          <a:xfrm>
            <a:off x="383540" y="2389505"/>
            <a:ext cx="11425555" cy="1039495"/>
          </a:xfrm>
        </p:spPr>
        <p:txBody>
          <a:bodyPr>
            <a:noAutofit/>
          </a:bodyPr>
          <a:lstStyle/>
          <a:p>
            <a:r>
              <a:rPr lang="en-US" altLang="zh-TW" sz="2800"/>
              <a:t>Duarte Folgado , Marília Barandas, Ricardo Matias, Rodrigo Martins,</a:t>
            </a:r>
          </a:p>
          <a:p>
            <a:r>
              <a:rPr lang="en-US" altLang="zh-TW" sz="2800"/>
              <a:t>Miguel  Carvalho,  Hugo Gamboa</a:t>
            </a:r>
            <a:r>
              <a:rPr lang="en-US" altLang="zh-TW" dirty="0"/>
              <a:t/>
            </a:r>
            <a:br>
              <a:rPr lang="en-US" altLang="zh-TW" dirty="0"/>
            </a:br>
            <a:endParaRPr lang="zh-TW" altLang="en-US" sz="2600" dirty="0"/>
          </a:p>
        </p:txBody>
      </p:sp>
      <p:sp>
        <p:nvSpPr>
          <p:cNvPr id="4" name="投影片編號版面配置區 3"/>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p:cNvSpPr txBox="1"/>
          <p:nvPr/>
        </p:nvSpPr>
        <p:spPr>
          <a:xfrm>
            <a:off x="1048428" y="3891090"/>
            <a:ext cx="10095142"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b="1" dirty="0">
                <a:solidFill>
                  <a:schemeClr val="tx1"/>
                </a:solidFill>
              </a:rPr>
              <a:t>Pattern Recognition </a:t>
            </a:r>
          </a:p>
          <a:p>
            <a:r>
              <a:rPr lang="en-US" altLang="zh-TW" sz="2800" b="1" dirty="0">
                <a:solidFill>
                  <a:schemeClr val="tx1"/>
                </a:solidFill>
              </a:rPr>
              <a:t>81 (2018) 268–279</a:t>
            </a:r>
          </a:p>
        </p:txBody>
      </p:sp>
      <p:sp>
        <p:nvSpPr>
          <p:cNvPr id="6" name="副標題 2"/>
          <p:cNvSpPr txBox="1"/>
          <p:nvPr/>
        </p:nvSpPr>
        <p:spPr>
          <a:xfrm>
            <a:off x="1192823" y="5265553"/>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dirty="0">
                <a:solidFill>
                  <a:schemeClr val="tx1"/>
                </a:solidFill>
              </a:rPr>
              <a:t>Presenter: Ke-Xin Zhu</a:t>
            </a:r>
          </a:p>
          <a:p>
            <a:r>
              <a:rPr lang="en-US" altLang="zh-TW" sz="2800" dirty="0">
                <a:solidFill>
                  <a:schemeClr val="tx1"/>
                </a:solidFill>
              </a:rPr>
              <a:t>Date: 2018/10/23</a:t>
            </a:r>
            <a:endParaRPr lang="zh-TW" altLang="en-US" sz="28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a:t>
            </a:r>
            <a:r>
              <a:rPr lang="zh-TW" altLang="en-US" dirty="0"/>
              <a:t> </a:t>
            </a:r>
            <a:r>
              <a:rPr lang="en-US" altLang="zh-TW" dirty="0"/>
              <a:t>(1/2)</a:t>
            </a:r>
            <a:endParaRPr lang="zh-TW" altLang="en-US" dirty="0"/>
          </a:p>
        </p:txBody>
      </p:sp>
      <p:sp>
        <p:nvSpPr>
          <p:cNvPr id="3" name="內容版面配置區 2"/>
          <p:cNvSpPr>
            <a:spLocks noGrp="1"/>
          </p:cNvSpPr>
          <p:nvPr>
            <p:ph idx="1"/>
          </p:nvPr>
        </p:nvSpPr>
        <p:spPr>
          <a:xfrm>
            <a:off x="838200" y="1568950"/>
            <a:ext cx="10109886" cy="4446839"/>
          </a:xfrm>
        </p:spPr>
        <p:txBody>
          <a:bodyPr>
            <a:noAutofit/>
          </a:bodyPr>
          <a:lstStyle/>
          <a:p>
            <a:pPr marL="0" indent="0" fontAlgn="auto" latinLnBrk="1">
              <a:buNone/>
            </a:pPr>
            <a:r>
              <a:rPr lang="en-US" altLang="zh-TW" dirty="0"/>
              <a:t>When a comparison between time series is required, measurement functions provide meaningful scores to characterize similarity between sequences. Quite often, time series appear warped in time, i.e, although they may exhibit amplitude and shape similarity, they appear dephased in time. The most common algorithm to overcome this challenge is the Dynamic Time Warping, which aligns each sequence prior establishing distance measurements. However, Dynamic Time Warping takes only into account amplitude similarity. </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a:t>
            </a:r>
            <a:r>
              <a:rPr lang="zh-TW" altLang="en-US" dirty="0"/>
              <a:t> </a:t>
            </a:r>
            <a:r>
              <a:rPr lang="en-US" altLang="zh-TW" dirty="0"/>
              <a:t>(2/2)</a:t>
            </a:r>
            <a:endParaRPr lang="zh-TW" altLang="en-US" dirty="0"/>
          </a:p>
        </p:txBody>
      </p:sp>
      <p:sp>
        <p:nvSpPr>
          <p:cNvPr id="3" name="內容版面配置區 2"/>
          <p:cNvSpPr>
            <a:spLocks noGrp="1"/>
          </p:cNvSpPr>
          <p:nvPr>
            <p:ph idx="1"/>
          </p:nvPr>
        </p:nvSpPr>
        <p:spPr>
          <a:xfrm>
            <a:off x="838200" y="1581650"/>
            <a:ext cx="10011032" cy="4446839"/>
          </a:xfrm>
        </p:spPr>
        <p:txBody>
          <a:bodyPr>
            <a:noAutofit/>
          </a:bodyPr>
          <a:lstStyle/>
          <a:p>
            <a:pPr marL="0" indent="0" fontAlgn="auto" latinLnBrk="1">
              <a:buNone/>
            </a:pPr>
            <a:r>
              <a:rPr lang="en-US" altLang="zh-TW"/>
              <a:t>A distance which characterizes the </a:t>
            </a:r>
            <a:r>
              <a:rPr lang="en-US" altLang="zh-TW" b="1"/>
              <a:t>degree of time warping</a:t>
            </a:r>
            <a:r>
              <a:rPr lang="en-US" altLang="zh-TW"/>
              <a:t> between two sequences can deliver new insights for applications where the timing factor is essential, such well-deﬁned movements during sports or rehabilitation exercises. We propose a novel measurement called</a:t>
            </a:r>
            <a:r>
              <a:rPr lang="en-US" altLang="zh-TW" b="1"/>
              <a:t> Time Alignment Measurement</a:t>
            </a:r>
            <a:r>
              <a:rPr lang="en-US" altLang="zh-TW"/>
              <a:t>, which delivers similarity information on the temporal domain. We demonstrate the potential of our approach in </a:t>
            </a:r>
            <a:r>
              <a:rPr lang="en-US" altLang="zh-TW" b="1"/>
              <a:t>measuring performance of time series alignment methodologies</a:t>
            </a:r>
            <a:r>
              <a:rPr lang="en-US" altLang="zh-TW"/>
              <a:t> and in the </a:t>
            </a:r>
            <a:r>
              <a:rPr lang="en-US" altLang="zh-TW" b="1"/>
              <a:t>characterization of synthetic and real time series data</a:t>
            </a:r>
            <a:r>
              <a:rPr lang="en-US" altLang="zh-TW"/>
              <a:t> acquired during human movement.</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t>Two relevant contributions in this paper</a:t>
            </a:r>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r>
              <a:rPr lang="en-US" altLang="zh-TW"/>
              <a:t>This paper presents two relevant contributions. </a:t>
            </a:r>
          </a:p>
          <a:p>
            <a:pPr marL="0" indent="0">
              <a:buNone/>
            </a:pPr>
            <a:r>
              <a:rPr lang="en-US" altLang="zh-TW"/>
              <a:t>One of our contributions was the development of a new local cost distance for the DTW algorithm. Using a window instead of an element-to-element approach potentially allows to prevent singularities by looking in a region which takes into account a weighting between the amplitude and the ﬁrst discrete derivative of both signals. </a:t>
            </a:r>
          </a:p>
          <a:p>
            <a:pPr marL="0" indent="0">
              <a:buNone/>
            </a:pPr>
            <a:r>
              <a:rPr lang="en-US" altLang="zh-TW"/>
              <a:t>The major contribution of our work is a comprehensive technique to characterize the degree of warping between time series. In this  paper we started by presenting a detailed analysis of DTW optimal warping path. </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Dynamic Time Warping </a:t>
            </a:r>
            <a:endParaRPr lang="zh-TW" altLang="en-US" dirty="0"/>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5</a:t>
            </a:fld>
            <a:endParaRPr lang="zh-TW" altLang="en-US"/>
          </a:p>
        </p:txBody>
      </p:sp>
      <p:pic>
        <p:nvPicPr>
          <p:cNvPr id="7" name="图片 6"/>
          <p:cNvPicPr>
            <a:picLocks noChangeAspect="1"/>
          </p:cNvPicPr>
          <p:nvPr/>
        </p:nvPicPr>
        <p:blipFill>
          <a:blip r:embed="rId2"/>
          <a:stretch>
            <a:fillRect/>
          </a:stretch>
        </p:blipFill>
        <p:spPr>
          <a:xfrm>
            <a:off x="838200" y="1691005"/>
            <a:ext cx="5490210" cy="2144395"/>
          </a:xfrm>
          <a:prstGeom prst="rect">
            <a:avLst/>
          </a:prstGeom>
        </p:spPr>
      </p:pic>
      <p:pic>
        <p:nvPicPr>
          <p:cNvPr id="15" name="图片 14"/>
          <p:cNvPicPr>
            <a:picLocks noChangeAspect="1"/>
          </p:cNvPicPr>
          <p:nvPr/>
        </p:nvPicPr>
        <p:blipFill>
          <a:blip r:embed="rId3"/>
          <a:stretch>
            <a:fillRect/>
          </a:stretch>
        </p:blipFill>
        <p:spPr>
          <a:xfrm>
            <a:off x="6407785" y="1374775"/>
            <a:ext cx="5238115" cy="5076190"/>
          </a:xfrm>
          <a:prstGeom prst="rect">
            <a:avLst/>
          </a:prstGeom>
        </p:spPr>
      </p:pic>
      <p:pic>
        <p:nvPicPr>
          <p:cNvPr id="16" name="图片 15"/>
          <p:cNvPicPr>
            <a:picLocks noChangeAspect="1"/>
          </p:cNvPicPr>
          <p:nvPr/>
        </p:nvPicPr>
        <p:blipFill>
          <a:blip r:embed="rId4"/>
          <a:stretch>
            <a:fillRect/>
          </a:stretch>
        </p:blipFill>
        <p:spPr>
          <a:xfrm>
            <a:off x="1061720" y="5775325"/>
            <a:ext cx="5266690" cy="5810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t>Signal  alignment challenges </a:t>
            </a:r>
            <a:r>
              <a:rPr lang="en-US" altLang="zh-TW" dirty="0">
                <a:sym typeface="+mn-ea"/>
              </a:rPr>
              <a:t>(1/3)</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r>
              <a:rPr lang="en-US" altLang="zh-TW" sz="2400"/>
              <a:t>Although DTW has been successfully used for many years, it still encounters some pairwise alignment challenges. E. Keogh reported unintuitive alignments when the algorithm tries to express amplitude variability in the Y-axis by improper warping the X-axis. This behaviour leads to situations deﬁned as “</a:t>
            </a:r>
            <a:r>
              <a:rPr lang="en-US" altLang="zh-TW" sz="2400" b="1"/>
              <a:t>singularities</a:t>
            </a:r>
            <a:r>
              <a:rPr lang="en-US" altLang="zh-TW" sz="2400"/>
              <a:t>”, where a single point of a particular signal maps a large subsection of another time series. </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6</a:t>
            </a:fld>
            <a:endParaRPr lang="zh-TW" altLang="en-US"/>
          </a:p>
        </p:txBody>
      </p:sp>
      <p:pic>
        <p:nvPicPr>
          <p:cNvPr id="6" name="图片 5"/>
          <p:cNvPicPr>
            <a:picLocks noChangeAspect="1"/>
          </p:cNvPicPr>
          <p:nvPr/>
        </p:nvPicPr>
        <p:blipFill>
          <a:blip r:embed="rId2"/>
          <a:stretch>
            <a:fillRect/>
          </a:stretch>
        </p:blipFill>
        <p:spPr>
          <a:xfrm>
            <a:off x="676910" y="3735705"/>
            <a:ext cx="10838180" cy="2266950"/>
          </a:xfrm>
          <a:prstGeom prst="rect">
            <a:avLst/>
          </a:prstGeom>
        </p:spPr>
      </p:pic>
      <p:sp>
        <p:nvSpPr>
          <p:cNvPr id="7" name="椭圆 6"/>
          <p:cNvSpPr/>
          <p:nvPr/>
        </p:nvSpPr>
        <p:spPr>
          <a:xfrm>
            <a:off x="4878070" y="4304030"/>
            <a:ext cx="289560" cy="354965"/>
          </a:xfrm>
          <a:prstGeom prst="ellipse">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8" name="椭圆 7"/>
          <p:cNvSpPr/>
          <p:nvPr/>
        </p:nvSpPr>
        <p:spPr>
          <a:xfrm>
            <a:off x="5167630" y="5010150"/>
            <a:ext cx="289560" cy="354965"/>
          </a:xfrm>
          <a:prstGeom prst="ellipse">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椭圆 8"/>
          <p:cNvSpPr/>
          <p:nvPr/>
        </p:nvSpPr>
        <p:spPr>
          <a:xfrm>
            <a:off x="5860415" y="4391660"/>
            <a:ext cx="289560" cy="354965"/>
          </a:xfrm>
          <a:prstGeom prst="ellipse">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0" name="椭圆 9"/>
          <p:cNvSpPr/>
          <p:nvPr/>
        </p:nvSpPr>
        <p:spPr>
          <a:xfrm>
            <a:off x="6329680" y="3735705"/>
            <a:ext cx="289560" cy="354965"/>
          </a:xfrm>
          <a:prstGeom prst="ellipse">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1" name="椭圆 10"/>
          <p:cNvSpPr/>
          <p:nvPr/>
        </p:nvSpPr>
        <p:spPr>
          <a:xfrm>
            <a:off x="7579995" y="4304030"/>
            <a:ext cx="289560" cy="354965"/>
          </a:xfrm>
          <a:prstGeom prst="ellipse">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2" name="椭圆 11"/>
          <p:cNvSpPr/>
          <p:nvPr/>
        </p:nvSpPr>
        <p:spPr>
          <a:xfrm>
            <a:off x="9120505" y="5010150"/>
            <a:ext cx="289560" cy="354965"/>
          </a:xfrm>
          <a:prstGeom prst="ellipse">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Signal  alignment challenges </a:t>
            </a:r>
            <a:r>
              <a:rPr lang="en-US" altLang="zh-TW" dirty="0">
                <a:sym typeface="+mn-ea"/>
              </a:rPr>
              <a:t>(2/3)</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r>
              <a:rPr lang="en-US" altLang="zh-TW"/>
              <a:t>In order to overcome the singularities challenge they presented the </a:t>
            </a:r>
            <a:r>
              <a:rPr lang="en-US" altLang="zh-TW" b="1"/>
              <a:t>Derivative Dynamic Time Warping (DDTW) approach</a:t>
            </a:r>
            <a:r>
              <a:rPr lang="en-US" altLang="zh-TW"/>
              <a:t>, which uses the square of the differences between the estimated signal derivatives as shown on Fig. 2. </a:t>
            </a:r>
          </a:p>
          <a:p>
            <a:pPr marL="0" indent="0">
              <a:buNone/>
            </a:pPr>
            <a:r>
              <a:rPr lang="en-US" altLang="zh-TW">
                <a:sym typeface="+mn-ea"/>
              </a:rPr>
              <a:t>E. Keogh</a:t>
            </a:r>
            <a:r>
              <a:rPr lang="en-US" altLang="zh-TW"/>
              <a:t> also introduced a DTW penalty based version called </a:t>
            </a:r>
            <a:r>
              <a:rPr lang="en-US" altLang="zh-TW" b="1"/>
              <a:t>Weighted Dynamic Time Warping (WDTW)</a:t>
            </a:r>
            <a:r>
              <a:rPr lang="en-US" altLang="zh-TW"/>
              <a:t>. In this approach, the cost matrix is modiﬁed in order to incorporate a modiﬁed logistic weight function that assigns additional weight as a function of the phase difference between the reference and test points. Thus, time instants with higher phase difference will be more penalized than instants near the reference.</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7</a:t>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t>Signal  alignment challenges (3/3)</a:t>
            </a:r>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r>
              <a:rPr lang="en-US" altLang="zh-TW"/>
              <a:t>Despite the attempts to improve the DTW alignment they are still dependent of the data’s nature. For instance, time series that do not comprise higher degree of information on the ﬁrst derivative are susceptible not to beneﬁt from an alignment solely based on the data’s shape. Therefore, an alignment which contemplates </a:t>
            </a:r>
            <a:r>
              <a:rPr lang="en-US" altLang="zh-TW" b="1"/>
              <a:t>a weighting between the amplitude and derivative domains</a:t>
            </a:r>
            <a:r>
              <a:rPr lang="en-US" altLang="zh-TW"/>
              <a:t> can constitute an added value towards a more versatile application.</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8</a:t>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t>Sliding Window Dynamic Time  Warping </a:t>
            </a:r>
            <a:r>
              <a:rPr lang="en-US" dirty="0">
                <a:sym typeface="+mn-ea"/>
              </a:rPr>
              <a:t>(1/3)</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endParaRPr lang="en-US" altLang="zh-TW"/>
          </a:p>
          <a:p>
            <a:pPr marL="0" indent="0">
              <a:buNone/>
            </a:pPr>
            <a:r>
              <a:rPr lang="en-US" altLang="zh-TW"/>
              <a:t>The approach is called </a:t>
            </a:r>
            <a:r>
              <a:rPr lang="en-US" altLang="zh-TW" b="1"/>
              <a:t>Sliding Window Dynamic Time Warping (SW-DTW)</a:t>
            </a:r>
            <a:r>
              <a:rPr lang="en-US" altLang="zh-TW"/>
              <a:t>. The cost measured used by DTW uses an element-to-element distance. In order to use a ”contextual” distance, which takes into account the neighbourhood surrounding each point, we modiﬁed the cost function to take into account the distance between well-deﬁned windows of the signals. </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9</a:t>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Sliding Window Dynamic Time  Warping (2/3)</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endParaRPr lang="en-US" altLang="zh-TW">
              <a:sym typeface="+mn-ea"/>
            </a:endParaRPr>
          </a:p>
          <a:p>
            <a:pPr marL="0" indent="0">
              <a:buNone/>
            </a:pPr>
            <a:r>
              <a:rPr lang="en-US" altLang="zh-TW">
                <a:sym typeface="+mn-ea"/>
              </a:rPr>
              <a:t>The modiﬁed local cost measure can be deﬁned as:</a:t>
            </a:r>
          </a:p>
          <a:p>
            <a:pPr marL="0" indent="0">
              <a:buNone/>
            </a:pPr>
            <a:endParaRPr lang="en-US" altLang="zh-TW"/>
          </a:p>
          <a:p>
            <a:pPr marL="0" indent="0">
              <a:buNone/>
            </a:pPr>
            <a:endParaRPr lang="en-US" altLang="zh-TW"/>
          </a:p>
          <a:p>
            <a:pPr marL="0" indent="0">
              <a:buNone/>
            </a:pPr>
            <a:endParaRPr lang="en-US" altLang="zh-TW"/>
          </a:p>
          <a:p>
            <a:pPr marL="0" indent="0">
              <a:buNone/>
            </a:pPr>
            <a:r>
              <a:rPr lang="en-US" altLang="zh-TW"/>
              <a:t>where w (δ) is a window function with width δ∈N , </a:t>
            </a:r>
            <a:r>
              <a:rPr lang="en-US" altLang="zh-TW">
                <a:latin typeface="Tw Cen MT" panose="020B0602020104020603" pitchFamily="34" charset="0"/>
                <a:cs typeface="Tw Cen MT" panose="020B0602020104020603" pitchFamily="34" charset="0"/>
              </a:rPr>
              <a:t>∆ </a:t>
            </a:r>
            <a:r>
              <a:rPr lang="en-US" altLang="zh-TW"/>
              <a:t>is the operator for the first discrete derivative, α∈ R</a:t>
            </a:r>
            <a:r>
              <a:rPr lang="en-US" altLang="zh-TW" baseline="-25000"/>
              <a:t>0</a:t>
            </a:r>
            <a:r>
              <a:rPr lang="en-US" altLang="zh-TW" baseline="30000"/>
              <a:t>+</a:t>
            </a:r>
            <a:r>
              <a:rPr lang="en-US" altLang="zh-TW"/>
              <a:t>∩ [0 : 1] is a constant that defines the weighting between the cost in amplitude and first order derivative, n and m are the indexes of the values of X and Y , respectively.</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10</a:t>
            </a:fld>
            <a:endParaRPr lang="zh-TW" altLang="en-US"/>
          </a:p>
        </p:txBody>
      </p:sp>
      <p:pic>
        <p:nvPicPr>
          <p:cNvPr id="5" name="图片 4"/>
          <p:cNvPicPr>
            <a:picLocks noChangeAspect="1"/>
          </p:cNvPicPr>
          <p:nvPr/>
        </p:nvPicPr>
        <p:blipFill>
          <a:blip r:embed="rId2"/>
          <a:stretch>
            <a:fillRect/>
          </a:stretch>
        </p:blipFill>
        <p:spPr>
          <a:xfrm>
            <a:off x="838200" y="2755900"/>
            <a:ext cx="6477000" cy="13468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Sliding Window Dynamic Time  Warping (3/3)</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r>
              <a:rPr lang="en-US" altLang="zh-TW"/>
              <a:t>Using a </a:t>
            </a:r>
            <a:r>
              <a:rPr lang="en-US" altLang="zh-TW" b="1"/>
              <a:t>Hanning window function</a:t>
            </a:r>
            <a:r>
              <a:rPr lang="en-US" altLang="zh-TW"/>
              <a:t> we can assure that points closer to the center of the window have more contribution to the local cost than points located near the window limits. The last elements of X and Y are discarded to guarantee that both time series have the same length. Additionally, signals are prepared by introducing reﬂected copies of the each signal (with the window size) in both ends. This procedures aims to minimize boundary errors on the ﬁrst and last elements of each signal. </a:t>
            </a:r>
          </a:p>
          <a:p>
            <a:pPr marL="0" indent="0">
              <a:buNone/>
            </a:pPr>
            <a:r>
              <a:rPr lang="en-US" altLang="zh-TW"/>
              <a:t>δ and α are </a:t>
            </a:r>
            <a:r>
              <a:rPr lang="en-US" altLang="zh-TW" b="1"/>
              <a:t>free parameters </a:t>
            </a:r>
            <a:r>
              <a:rPr lang="en-US" altLang="zh-TW"/>
              <a:t>and, consequently, must be tuned prior to applying the  algorithm. </a:t>
            </a:r>
            <a:r>
              <a:rPr lang="en-US" altLang="zh-TW" b="1"/>
              <a:t>Small windows</a:t>
            </a:r>
            <a:r>
              <a:rPr lang="en-US" altLang="zh-TW"/>
              <a:t> will tend to similar results compared with the point-to-point DTW distance and excessive </a:t>
            </a:r>
            <a:r>
              <a:rPr lang="en-US" altLang="zh-TW" b="1"/>
              <a:t>large window</a:t>
            </a:r>
            <a:r>
              <a:rPr lang="en-US" altLang="zh-TW"/>
              <a:t> size will tend to improper feature  alignment.</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t>Time Alignment Measurement </a:t>
            </a:r>
            <a:r>
              <a:rPr lang="en-US" dirty="0">
                <a:sym typeface="+mn-ea"/>
              </a:rPr>
              <a:t>(1/4)</a:t>
            </a:r>
            <a:endParaRPr lang="en-US" dirty="0"/>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12</a:t>
            </a:fld>
            <a:endParaRPr lang="zh-TW" altLang="en-US"/>
          </a:p>
        </p:txBody>
      </p:sp>
      <p:pic>
        <p:nvPicPr>
          <p:cNvPr id="5" name="图片 4"/>
          <p:cNvPicPr>
            <a:picLocks noChangeAspect="1"/>
          </p:cNvPicPr>
          <p:nvPr/>
        </p:nvPicPr>
        <p:blipFill>
          <a:blip r:embed="rId2"/>
          <a:stretch>
            <a:fillRect/>
          </a:stretch>
        </p:blipFill>
        <p:spPr>
          <a:xfrm>
            <a:off x="6106160" y="1542415"/>
            <a:ext cx="5247640" cy="5076190"/>
          </a:xfrm>
          <a:prstGeom prst="rect">
            <a:avLst/>
          </a:prstGeom>
        </p:spPr>
      </p:pic>
      <p:pic>
        <p:nvPicPr>
          <p:cNvPr id="7" name="图片 6"/>
          <p:cNvPicPr>
            <a:picLocks noChangeAspect="1"/>
          </p:cNvPicPr>
          <p:nvPr/>
        </p:nvPicPr>
        <p:blipFill>
          <a:blip r:embed="rId3"/>
          <a:stretch>
            <a:fillRect/>
          </a:stretch>
        </p:blipFill>
        <p:spPr>
          <a:xfrm>
            <a:off x="673100" y="1542415"/>
            <a:ext cx="5238115" cy="1400175"/>
          </a:xfrm>
          <a:prstGeom prst="rect">
            <a:avLst/>
          </a:prstGeom>
        </p:spPr>
      </p:pic>
      <p:pic>
        <p:nvPicPr>
          <p:cNvPr id="8" name="图片 7"/>
          <p:cNvPicPr>
            <a:picLocks noChangeAspect="1"/>
          </p:cNvPicPr>
          <p:nvPr/>
        </p:nvPicPr>
        <p:blipFill>
          <a:blip r:embed="rId4"/>
          <a:stretch>
            <a:fillRect/>
          </a:stretch>
        </p:blipFill>
        <p:spPr>
          <a:xfrm>
            <a:off x="692150" y="2942590"/>
            <a:ext cx="5219065" cy="1362075"/>
          </a:xfrm>
          <a:prstGeom prst="rect">
            <a:avLst/>
          </a:prstGeom>
        </p:spPr>
      </p:pic>
      <p:pic>
        <p:nvPicPr>
          <p:cNvPr id="9" name="图片 8"/>
          <p:cNvPicPr>
            <a:picLocks noChangeAspect="1"/>
          </p:cNvPicPr>
          <p:nvPr/>
        </p:nvPicPr>
        <p:blipFill>
          <a:blip r:embed="rId5"/>
          <a:stretch>
            <a:fillRect/>
          </a:stretch>
        </p:blipFill>
        <p:spPr>
          <a:xfrm>
            <a:off x="692150" y="4449445"/>
            <a:ext cx="5228590" cy="8763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Time Alignment Measurement (2/4)</a:t>
            </a:r>
            <a:endParaRPr lang="en-US" dirty="0"/>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13</a:t>
            </a:fld>
            <a:endParaRPr lang="zh-TW" altLang="en-US"/>
          </a:p>
        </p:txBody>
      </p:sp>
      <p:pic>
        <p:nvPicPr>
          <p:cNvPr id="6" name="图片 5"/>
          <p:cNvPicPr>
            <a:picLocks noChangeAspect="1"/>
          </p:cNvPicPr>
          <p:nvPr/>
        </p:nvPicPr>
        <p:blipFill>
          <a:blip r:embed="rId2"/>
          <a:stretch>
            <a:fillRect/>
          </a:stretch>
        </p:blipFill>
        <p:spPr>
          <a:xfrm>
            <a:off x="838200" y="1691005"/>
            <a:ext cx="5557520" cy="1688465"/>
          </a:xfrm>
          <a:prstGeom prst="rect">
            <a:avLst/>
          </a:prstGeom>
        </p:spPr>
      </p:pic>
      <p:pic>
        <p:nvPicPr>
          <p:cNvPr id="7" name="图片 6"/>
          <p:cNvPicPr>
            <a:picLocks noChangeAspect="1"/>
          </p:cNvPicPr>
          <p:nvPr/>
        </p:nvPicPr>
        <p:blipFill>
          <a:blip r:embed="rId3"/>
          <a:stretch>
            <a:fillRect/>
          </a:stretch>
        </p:blipFill>
        <p:spPr>
          <a:xfrm>
            <a:off x="838200" y="3379470"/>
            <a:ext cx="5556885" cy="1489710"/>
          </a:xfrm>
          <a:prstGeom prst="rect">
            <a:avLst/>
          </a:prstGeom>
        </p:spPr>
      </p:pic>
      <p:pic>
        <p:nvPicPr>
          <p:cNvPr id="8" name="图片 7"/>
          <p:cNvPicPr>
            <a:picLocks noChangeAspect="1"/>
          </p:cNvPicPr>
          <p:nvPr/>
        </p:nvPicPr>
        <p:blipFill>
          <a:blip r:embed="rId4"/>
          <a:stretch>
            <a:fillRect/>
          </a:stretch>
        </p:blipFill>
        <p:spPr>
          <a:xfrm>
            <a:off x="838200" y="4869180"/>
            <a:ext cx="5556250" cy="716915"/>
          </a:xfrm>
          <a:prstGeom prst="rect">
            <a:avLst/>
          </a:prstGeom>
        </p:spPr>
      </p:pic>
      <p:pic>
        <p:nvPicPr>
          <p:cNvPr id="10" name="图片 9"/>
          <p:cNvPicPr>
            <a:picLocks noChangeAspect="1"/>
          </p:cNvPicPr>
          <p:nvPr/>
        </p:nvPicPr>
        <p:blipFill>
          <a:blip r:embed="rId5"/>
          <a:stretch>
            <a:fillRect/>
          </a:stretch>
        </p:blipFill>
        <p:spPr>
          <a:xfrm>
            <a:off x="6394450" y="1691005"/>
            <a:ext cx="5361940" cy="25050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194312"/>
            <a:ext cx="10515600" cy="1325563"/>
          </a:xfrm>
        </p:spPr>
        <p:txBody>
          <a:bodyPr/>
          <a:lstStyle/>
          <a:p>
            <a:r>
              <a:rPr lang="en-US" dirty="0">
                <a:sym typeface="+mn-ea"/>
              </a:rPr>
              <a:t>Time Alignment Measurement (3/4)</a:t>
            </a:r>
            <a:endParaRPr lang="en-US" dirty="0"/>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14</a:t>
            </a:fld>
            <a:endParaRPr lang="zh-TW" altLang="en-US"/>
          </a:p>
        </p:txBody>
      </p:sp>
      <p:pic>
        <p:nvPicPr>
          <p:cNvPr id="6" name="图片 5"/>
          <p:cNvPicPr>
            <a:picLocks noChangeAspect="1"/>
          </p:cNvPicPr>
          <p:nvPr/>
        </p:nvPicPr>
        <p:blipFill>
          <a:blip r:embed="rId2"/>
          <a:stretch>
            <a:fillRect/>
          </a:stretch>
        </p:blipFill>
        <p:spPr>
          <a:xfrm>
            <a:off x="838200" y="1178560"/>
            <a:ext cx="5847715" cy="54375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Time Alignment Measurement (4/4)</a:t>
            </a:r>
            <a:endParaRPr lang="en-US" dirty="0"/>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15</a:t>
            </a:fld>
            <a:endParaRPr lang="zh-TW" altLang="en-US"/>
          </a:p>
        </p:txBody>
      </p:sp>
      <p:pic>
        <p:nvPicPr>
          <p:cNvPr id="7" name="图片 6"/>
          <p:cNvPicPr>
            <a:picLocks noChangeAspect="1"/>
          </p:cNvPicPr>
          <p:nvPr/>
        </p:nvPicPr>
        <p:blipFill>
          <a:blip r:embed="rId2"/>
          <a:stretch>
            <a:fillRect/>
          </a:stretch>
        </p:blipFill>
        <p:spPr>
          <a:xfrm>
            <a:off x="838200" y="1691005"/>
            <a:ext cx="4678680" cy="4363720"/>
          </a:xfrm>
          <a:prstGeom prst="rect">
            <a:avLst/>
          </a:prstGeom>
        </p:spPr>
      </p:pic>
      <p:pic>
        <p:nvPicPr>
          <p:cNvPr id="8" name="图片 7"/>
          <p:cNvPicPr>
            <a:picLocks noChangeAspect="1"/>
          </p:cNvPicPr>
          <p:nvPr/>
        </p:nvPicPr>
        <p:blipFill>
          <a:blip r:embed="rId3"/>
          <a:stretch>
            <a:fillRect/>
          </a:stretch>
        </p:blipFill>
        <p:spPr>
          <a:xfrm>
            <a:off x="5516880" y="1606550"/>
            <a:ext cx="4680034" cy="1794115"/>
          </a:xfrm>
          <a:prstGeom prst="rect">
            <a:avLst/>
          </a:prstGeom>
        </p:spPr>
      </p:pic>
      <p:pic>
        <p:nvPicPr>
          <p:cNvPr id="9" name="图片 8"/>
          <p:cNvPicPr>
            <a:picLocks noChangeAspect="1"/>
          </p:cNvPicPr>
          <p:nvPr/>
        </p:nvPicPr>
        <p:blipFill>
          <a:blip r:embed="rId4"/>
          <a:stretch>
            <a:fillRect/>
          </a:stretch>
        </p:blipFill>
        <p:spPr>
          <a:xfrm>
            <a:off x="5516880" y="3400425"/>
            <a:ext cx="4680034" cy="9218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32790" y="-8888"/>
            <a:ext cx="10515600" cy="1325563"/>
          </a:xfrm>
        </p:spPr>
        <p:txBody>
          <a:bodyPr/>
          <a:lstStyle/>
          <a:p>
            <a:r>
              <a:rPr lang="en-US" dirty="0"/>
              <a:t>Application </a:t>
            </a:r>
            <a:r>
              <a:rPr lang="en-US" dirty="0">
                <a:sym typeface="+mn-ea"/>
              </a:rPr>
              <a:t>(1/5)</a:t>
            </a:r>
            <a:endParaRPr lang="en-US" dirty="0"/>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16</a:t>
            </a:fld>
            <a:endParaRPr lang="zh-TW" altLang="en-US"/>
          </a:p>
        </p:txBody>
      </p:sp>
      <p:pic>
        <p:nvPicPr>
          <p:cNvPr id="5" name="图片 4"/>
          <p:cNvPicPr>
            <a:picLocks noChangeAspect="1"/>
          </p:cNvPicPr>
          <p:nvPr/>
        </p:nvPicPr>
        <p:blipFill>
          <a:blip r:embed="rId2"/>
          <a:stretch>
            <a:fillRect/>
          </a:stretch>
        </p:blipFill>
        <p:spPr>
          <a:xfrm>
            <a:off x="1038225" y="1028065"/>
            <a:ext cx="9904730" cy="56934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Application (2/5)</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r>
              <a:rPr lang="en-US" altLang="zh-TW"/>
              <a:t>Equal length time series.</a:t>
            </a:r>
          </a:p>
          <a:p>
            <a:pPr marL="0" indent="0">
              <a:buNone/>
            </a:pPr>
            <a:r>
              <a:rPr lang="en-US" altLang="zh-TW"/>
              <a:t>Fig. 4 represents an example where a set of four artificial signals was generated by distorting the first sequence. Although in this example </a:t>
            </a:r>
            <a:r>
              <a:rPr lang="en-US" altLang="zh-TW" b="1"/>
              <a:t>the Euclidean distance</a:t>
            </a:r>
            <a:r>
              <a:rPr lang="en-US" altLang="zh-TW"/>
              <a:t> increases with the increase of time distortion, it does not reflect a meaningful measurement. The </a:t>
            </a:r>
            <a:r>
              <a:rPr lang="en-US" altLang="zh-TW" b="1"/>
              <a:t>DTW</a:t>
            </a:r>
            <a:r>
              <a:rPr lang="en-US" altLang="zh-TW"/>
              <a:t> aligns each pair of signals prior computing the distance and thus produces equal scores for all examples. However, </a:t>
            </a:r>
            <a:r>
              <a:rPr lang="en-US" altLang="zh-TW" b="1"/>
              <a:t>TAM</a:t>
            </a:r>
            <a:r>
              <a:rPr lang="en-US" altLang="zh-TW"/>
              <a:t> produces a meaningful score, which reflects the cost to compress and dilate in time a specific signal. </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Application (3/5)</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r>
              <a:rPr lang="en-US" altLang="zh-TW"/>
              <a:t>In fact, the distance increases with the degree of time distortion present in each sequence. </a:t>
            </a:r>
          </a:p>
          <a:p>
            <a:pPr marL="0" indent="0">
              <a:buNone/>
            </a:pPr>
            <a:r>
              <a:rPr lang="en-US" altLang="zh-TW"/>
              <a:t>Signal A is identical to the reference signal. </a:t>
            </a:r>
          </a:p>
          <a:p>
            <a:pPr marL="0" indent="0">
              <a:buNone/>
            </a:pPr>
            <a:r>
              <a:rPr lang="en-US" altLang="zh-TW"/>
              <a:t>The plateau from signal B has </a:t>
            </a:r>
            <a:r>
              <a:rPr lang="en-US" altLang="zh-TW" b="1"/>
              <a:t>an advance of 10 seconds</a:t>
            </a:r>
            <a:r>
              <a:rPr lang="en-US" altLang="zh-TW"/>
              <a:t>. In order to finish at the same instant, the signal enters in delay at the last segment for another 10 seconds. </a:t>
            </a:r>
          </a:p>
          <a:p>
            <a:pPr marL="0" indent="0">
              <a:buNone/>
            </a:pPr>
            <a:r>
              <a:rPr lang="en-US" altLang="zh-TW"/>
              <a:t>Signal C is distorted half of its time as θ</a:t>
            </a:r>
            <a:r>
              <a:rPr lang="en-US" altLang="zh-TW" baseline="-25000"/>
              <a:t>xy</a:t>
            </a:r>
            <a:r>
              <a:rPr lang="en-US" altLang="zh-TW"/>
              <a:t>=15 ⇒ γ= 3*15/30. Signal D represents a significant advance of the plateau, which is represented as a single peak, followed by a significant delay until the end of the signal. </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18</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23497"/>
            <a:ext cx="10515600" cy="1325563"/>
          </a:xfrm>
        </p:spPr>
        <p:txBody>
          <a:bodyPr/>
          <a:lstStyle/>
          <a:p>
            <a:r>
              <a:rPr lang="en-US" dirty="0">
                <a:sym typeface="+mn-ea"/>
              </a:rPr>
              <a:t>Application (4/5)</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endParaRPr lang="en-US" altLang="zh-TW"/>
          </a:p>
          <a:p>
            <a:pPr marL="0" indent="0">
              <a:buNone/>
            </a:pPr>
            <a:endParaRPr lang="en-US" altLang="zh-TW"/>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19</a:t>
            </a:fld>
            <a:endParaRPr lang="zh-TW" altLang="en-US"/>
          </a:p>
        </p:txBody>
      </p:sp>
      <p:pic>
        <p:nvPicPr>
          <p:cNvPr id="5" name="图片 4"/>
          <p:cNvPicPr>
            <a:picLocks noChangeAspect="1"/>
          </p:cNvPicPr>
          <p:nvPr/>
        </p:nvPicPr>
        <p:blipFill>
          <a:blip r:embed="rId2"/>
          <a:stretch>
            <a:fillRect/>
          </a:stretch>
        </p:blipFill>
        <p:spPr>
          <a:xfrm>
            <a:off x="1280795" y="1151255"/>
            <a:ext cx="9630410" cy="55702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Application (5/5)</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r>
              <a:rPr lang="en-US" altLang="zh-TW"/>
              <a:t>Unequal length time series.</a:t>
            </a:r>
          </a:p>
          <a:p>
            <a:pPr marL="0" indent="0">
              <a:buNone/>
            </a:pPr>
            <a:r>
              <a:rPr lang="en-US" altLang="zh-TW"/>
              <a:t> Fig. 5 represents a group of four signals distorted in time. Signal A shares the same time representation with the reference signal. Signal B possess an initial delay of 10 seconds then enters in phase for the rest of its length. The TAM distance of 0.25 reflects this compression. A higher distance is observed for signal C since a more significant advance is present. Signal D reflects a linear delay lag since two instants in the signal are related to a single instant in signal A , producing a distance value of 0.5. </a:t>
            </a:r>
            <a:r>
              <a:rPr lang="en-US" altLang="zh-TW">
                <a:sym typeface="+mn-ea"/>
              </a:rPr>
              <a:t>The Euclidean distance was calculated by linear interpolating all signals to share the same length of the reference. Although signal D is different from the reference in time domain, the Euclidean distance is zero.</a:t>
            </a:r>
            <a:endParaRPr lang="en-US" altLang="zh-TW"/>
          </a:p>
          <a:p>
            <a:pPr marL="0" indent="0">
              <a:buNone/>
            </a:pPr>
            <a:endParaRPr lang="en-US" altLang="zh-TW"/>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10797"/>
            <a:ext cx="10515600" cy="1325563"/>
          </a:xfrm>
        </p:spPr>
        <p:txBody>
          <a:bodyPr/>
          <a:lstStyle/>
          <a:p>
            <a:r>
              <a:rPr lang="en-US" dirty="0">
                <a:sym typeface="+mn-ea"/>
              </a:rPr>
              <a:t>Simulated time series alignment (1/2)</a:t>
            </a:r>
            <a:endParaRPr lang="en-US" dirty="0"/>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21</a:t>
            </a:fld>
            <a:endParaRPr lang="zh-TW" altLang="en-US"/>
          </a:p>
        </p:txBody>
      </p:sp>
      <p:pic>
        <p:nvPicPr>
          <p:cNvPr id="6" name="图片 5"/>
          <p:cNvPicPr>
            <a:picLocks noChangeAspect="1"/>
          </p:cNvPicPr>
          <p:nvPr/>
        </p:nvPicPr>
        <p:blipFill>
          <a:blip r:embed="rId2"/>
          <a:stretch>
            <a:fillRect/>
          </a:stretch>
        </p:blipFill>
        <p:spPr>
          <a:xfrm>
            <a:off x="2755900" y="1009650"/>
            <a:ext cx="6679565" cy="57118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Simulated time series alignment (2/2)</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r>
              <a:rPr lang="en-US" altLang="zh-TW"/>
              <a:t>We used the UCR time series archive to test several DTW variations by randomly selecting 40 signals from 84  datasets, which resulted in 3360 different alignments per algorithm variation. </a:t>
            </a:r>
          </a:p>
          <a:p>
            <a:pPr marL="0" indent="0">
              <a:buNone/>
            </a:pPr>
            <a:r>
              <a:rPr lang="en-US" altLang="zh-TW"/>
              <a:t>The selected algorithms were the </a:t>
            </a:r>
            <a:r>
              <a:rPr lang="en-US" altLang="zh-TW" b="1"/>
              <a:t>DTW</a:t>
            </a:r>
            <a:r>
              <a:rPr lang="en-US" altLang="zh-TW"/>
              <a:t> (no warping window), the DTW with a 5% warping window of signal’s length (</a:t>
            </a:r>
            <a:r>
              <a:rPr lang="en-US" altLang="zh-TW" b="1"/>
              <a:t>DTW_R</a:t>
            </a:r>
            <a:r>
              <a:rPr lang="en-US" altLang="zh-TW"/>
              <a:t>), the </a:t>
            </a:r>
            <a:r>
              <a:rPr lang="en-US" altLang="zh-TW" b="1"/>
              <a:t>DDTW</a:t>
            </a:r>
            <a:r>
              <a:rPr lang="en-US" altLang="zh-TW"/>
              <a:t>, and the </a:t>
            </a:r>
            <a:r>
              <a:rPr lang="en-US" altLang="zh-TW" b="1"/>
              <a:t>SW-DTW</a:t>
            </a:r>
            <a:r>
              <a:rPr lang="en-US" altLang="zh-TW"/>
              <a:t> with empirical values of α= 0 . 5 and δ= 0.05 ×N. The scale vector, S , was normalized prior the multiplication in order to guarantee that S ∈ [0.5, 1.5]. The results are summarized in Table 1 .</a:t>
            </a:r>
          </a:p>
          <a:p>
            <a:pPr marL="0" indent="0">
              <a:buNone/>
            </a:pPr>
            <a:endParaRPr lang="en-US" altLang="zh-TW"/>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Repetitive upper limb motion (1/6)</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r>
              <a:rPr lang="en-US" altLang="zh-TW"/>
              <a:t>In this subsection, we will present an experiment based upon time series retrieved using inertial sensors during the execution of repetitive motion. </a:t>
            </a:r>
          </a:p>
          <a:p>
            <a:pPr marL="0" indent="0">
              <a:buNone/>
            </a:pPr>
            <a:r>
              <a:rPr lang="en-US" altLang="zh-TW"/>
              <a:t>We created a dataset with a total of 240 signals retrieved by six different subjects that executed ten repetitions of a well-deﬁned task under four distinct sets. </a:t>
            </a:r>
          </a:p>
          <a:p>
            <a:pPr marL="0" indent="0">
              <a:buNone/>
            </a:pPr>
            <a:r>
              <a:rPr lang="en-US" altLang="zh-TW"/>
              <a:t>The movements performed during each task consisted of: (1) grasping a solderless breadboard used to build electronic circuits; (2) placing the board on a deﬁned position and welding a single perforation in each repetition; (3) grasping the welded board and move it to a deﬁned position.</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Repetitive upper limb motion (2/6)</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r>
              <a:rPr lang="en-US" altLang="zh-TW"/>
              <a:t>The difference among each class is based on the temporal  criterion used by the subjects to perform the task as illustrated on Fig. 6.</a:t>
            </a:r>
          </a:p>
          <a:p>
            <a:pPr marL="0" indent="0">
              <a:buNone/>
            </a:pPr>
            <a:endParaRPr lang="en-US" altLang="zh-TW"/>
          </a:p>
          <a:p>
            <a:pPr marL="0" indent="0">
              <a:buNone/>
            </a:pPr>
            <a:endParaRPr lang="en-US" altLang="zh-TW"/>
          </a:p>
          <a:p>
            <a:pPr marL="0" indent="0">
              <a:buNone/>
            </a:pPr>
            <a:endParaRPr lang="en-US" altLang="zh-TW"/>
          </a:p>
          <a:p>
            <a:pPr marL="0" indent="0">
              <a:buNone/>
            </a:pPr>
            <a:r>
              <a:rPr lang="en-US" altLang="zh-TW"/>
              <a:t>We divided our study in two perspectives: (1) using one of the subjects as a reference to establish a comparison between a reference subject and the group of the remaining subjects. The objective was to produce a representative distance of how similar the movements were performed against the reference; (2) provide a time series classiﬁcation example, using TAM as a  feature.</a:t>
            </a:r>
          </a:p>
          <a:p>
            <a:pPr marL="0" indent="0">
              <a:buNone/>
            </a:pPr>
            <a:endParaRPr lang="en-US" altLang="zh-TW"/>
          </a:p>
          <a:p>
            <a:pPr marL="0" indent="0">
              <a:buNone/>
            </a:pPr>
            <a:endParaRPr lang="en-US" altLang="zh-TW"/>
          </a:p>
          <a:p>
            <a:pPr marL="0" indent="0">
              <a:buNone/>
            </a:pPr>
            <a:endParaRPr lang="en-US" altLang="zh-TW"/>
          </a:p>
          <a:p>
            <a:pPr marL="0" indent="0">
              <a:buNone/>
            </a:pPr>
            <a:endParaRPr lang="en-US" altLang="zh-TW"/>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24</a:t>
            </a:fld>
            <a:endParaRPr lang="zh-TW" altLang="en-US"/>
          </a:p>
        </p:txBody>
      </p:sp>
      <p:pic>
        <p:nvPicPr>
          <p:cNvPr id="5" name="图片 4"/>
          <p:cNvPicPr>
            <a:picLocks noChangeAspect="1"/>
          </p:cNvPicPr>
          <p:nvPr/>
        </p:nvPicPr>
        <p:blipFill>
          <a:blip r:embed="rId2"/>
          <a:stretch>
            <a:fillRect/>
          </a:stretch>
        </p:blipFill>
        <p:spPr>
          <a:xfrm>
            <a:off x="838200" y="2340610"/>
            <a:ext cx="5205095" cy="16230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Repetitive upper limb motion (3/6)</a:t>
            </a:r>
            <a:endParaRPr lang="en-US" dirty="0"/>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25</a:t>
            </a:fld>
            <a:endParaRPr lang="zh-TW" altLang="en-US"/>
          </a:p>
        </p:txBody>
      </p:sp>
      <p:pic>
        <p:nvPicPr>
          <p:cNvPr id="6" name="图片 5"/>
          <p:cNvPicPr>
            <a:picLocks noChangeAspect="1"/>
          </p:cNvPicPr>
          <p:nvPr/>
        </p:nvPicPr>
        <p:blipFill>
          <a:blip r:embed="rId2"/>
          <a:stretch>
            <a:fillRect/>
          </a:stretch>
        </p:blipFill>
        <p:spPr>
          <a:xfrm>
            <a:off x="664210" y="2059305"/>
            <a:ext cx="10863580" cy="353123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Repetitive upper limb motion (4/6)</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r>
              <a:rPr lang="en-US" altLang="zh-TW"/>
              <a:t>Fig. 7 illustrates an example of the alignment established by the SW-DTW, where the reference time series is compared  against a signal acquired from another subject executing the OverallSlow set. The visual comparison potentially suggests that the alignment produced by SW-DTW </a:t>
            </a:r>
            <a:r>
              <a:rPr lang="en-US" altLang="zh-TW" b="1"/>
              <a:t>reduces the singularity issues</a:t>
            </a:r>
            <a:r>
              <a:rPr lang="en-US" altLang="zh-TW"/>
              <a:t>. In fact, even in the segment which is prone to lead to singularities, such the plateau, the SW-DTW seems to </a:t>
            </a:r>
            <a:r>
              <a:rPr lang="en-US" altLang="zh-TW" b="1"/>
              <a:t>reasonably map the delay</a:t>
            </a:r>
            <a:r>
              <a:rPr lang="en-US" altLang="zh-TW"/>
              <a:t> among the two series, which is not observed in the DTW as both an advance and delay are present since two singularities occur.</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26</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Repetitive upper limb motion (5/6)</a:t>
            </a:r>
            <a:endParaRPr lang="en-US" dirty="0"/>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27</a:t>
            </a:fld>
            <a:endParaRPr lang="zh-TW" altLang="en-US"/>
          </a:p>
        </p:txBody>
      </p:sp>
      <p:pic>
        <p:nvPicPr>
          <p:cNvPr id="5" name="图片 4"/>
          <p:cNvPicPr>
            <a:picLocks noChangeAspect="1"/>
          </p:cNvPicPr>
          <p:nvPr/>
        </p:nvPicPr>
        <p:blipFill>
          <a:blip r:embed="rId2"/>
          <a:stretch>
            <a:fillRect/>
          </a:stretch>
        </p:blipFill>
        <p:spPr>
          <a:xfrm>
            <a:off x="859790" y="1691005"/>
            <a:ext cx="10471785" cy="38639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Repetitive upper limb motion (6/6)</a:t>
            </a:r>
            <a:endParaRPr lang="en-US" dirty="0"/>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28</a:t>
            </a:fld>
            <a:endParaRPr lang="zh-TW" altLang="en-US"/>
          </a:p>
        </p:txBody>
      </p:sp>
      <p:pic>
        <p:nvPicPr>
          <p:cNvPr id="6" name="图片 5"/>
          <p:cNvPicPr>
            <a:picLocks noChangeAspect="1"/>
          </p:cNvPicPr>
          <p:nvPr/>
        </p:nvPicPr>
        <p:blipFill>
          <a:blip r:embed="rId2"/>
          <a:stretch>
            <a:fillRect/>
          </a:stretch>
        </p:blipFill>
        <p:spPr>
          <a:xfrm>
            <a:off x="838200" y="1681480"/>
            <a:ext cx="6176010" cy="4674870"/>
          </a:xfrm>
          <a:prstGeom prst="rect">
            <a:avLst/>
          </a:prstGeom>
        </p:spPr>
      </p:pic>
      <p:pic>
        <p:nvPicPr>
          <p:cNvPr id="8" name="图片 7"/>
          <p:cNvPicPr>
            <a:picLocks noChangeAspect="1"/>
          </p:cNvPicPr>
          <p:nvPr/>
        </p:nvPicPr>
        <p:blipFill>
          <a:blip r:embed="rId3"/>
          <a:stretch>
            <a:fillRect/>
          </a:stretch>
        </p:blipFill>
        <p:spPr>
          <a:xfrm>
            <a:off x="6834505" y="1681480"/>
            <a:ext cx="4628515" cy="3285490"/>
          </a:xfrm>
          <a:prstGeom prst="rect">
            <a:avLst/>
          </a:prstGeom>
        </p:spPr>
      </p:pic>
      <p:pic>
        <p:nvPicPr>
          <p:cNvPr id="9" name="图片 8"/>
          <p:cNvPicPr>
            <a:picLocks noChangeAspect="1"/>
          </p:cNvPicPr>
          <p:nvPr/>
        </p:nvPicPr>
        <p:blipFill>
          <a:blip r:embed="rId4"/>
          <a:stretch>
            <a:fillRect/>
          </a:stretch>
        </p:blipFill>
        <p:spPr>
          <a:xfrm>
            <a:off x="6834505" y="4966970"/>
            <a:ext cx="4676140" cy="13620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Time series classiﬁcation (1/2)</a:t>
            </a:r>
            <a:endParaRPr lang="en-US" dirty="0"/>
          </a:p>
        </p:txBody>
      </p:sp>
      <p:sp>
        <p:nvSpPr>
          <p:cNvPr id="3" name="內容版面配置區 2"/>
          <p:cNvSpPr>
            <a:spLocks noGrp="1"/>
          </p:cNvSpPr>
          <p:nvPr>
            <p:ph idx="1"/>
          </p:nvPr>
        </p:nvSpPr>
        <p:spPr>
          <a:xfrm>
            <a:off x="838200" y="2947670"/>
            <a:ext cx="10010775" cy="3054985"/>
          </a:xfrm>
        </p:spPr>
        <p:txBody>
          <a:bodyPr>
            <a:noAutofit/>
          </a:bodyPr>
          <a:lstStyle/>
          <a:p>
            <a:pPr marL="0" indent="0">
              <a:buNone/>
            </a:pPr>
            <a:r>
              <a:rPr lang="en-US" altLang="zh-TW" sz="2400"/>
              <a:t>In this approach we merged the data from all subjects into 4 classes that correspond to each set (Normal, Short, Extended, and OverallSlow). We implemented a </a:t>
            </a:r>
            <a:r>
              <a:rPr lang="en-US" altLang="zh-TW" sz="2400" b="1"/>
              <a:t>1-NN classiﬁer</a:t>
            </a:r>
            <a:r>
              <a:rPr lang="en-US" altLang="zh-TW" sz="2400"/>
              <a:t> using the following distance functions: the </a:t>
            </a:r>
            <a:r>
              <a:rPr lang="en-US" altLang="zh-TW" sz="2400" b="1"/>
              <a:t>absolute distance</a:t>
            </a:r>
            <a:r>
              <a:rPr lang="en-US" altLang="zh-TW" sz="2400"/>
              <a:t> between the length of two series T; </a:t>
            </a:r>
            <a:r>
              <a:rPr lang="en-US" altLang="zh-TW" sz="2400" b="1"/>
              <a:t>Mean Square Error (MSE)</a:t>
            </a:r>
            <a:r>
              <a:rPr lang="en-US" altLang="zh-TW" sz="2400"/>
              <a:t>, which corresponds to the Euclidean distance after interpolating both sequences to the length of the longest sequence;</a:t>
            </a:r>
            <a:r>
              <a:rPr lang="en-US" altLang="zh-TW" sz="2400" b="1"/>
              <a:t> DTW</a:t>
            </a:r>
            <a:r>
              <a:rPr lang="en-US" altLang="zh-TW" sz="2400"/>
              <a:t>; </a:t>
            </a:r>
            <a:r>
              <a:rPr lang="en-US" altLang="zh-TW" sz="2400" b="1"/>
              <a:t>SW-DTW</a:t>
            </a:r>
            <a:r>
              <a:rPr lang="en-US" altLang="zh-TW" sz="2400"/>
              <a:t> with α = 0.25 and δ = 4s; </a:t>
            </a:r>
            <a:r>
              <a:rPr lang="en-US" altLang="zh-TW" sz="2400" b="1"/>
              <a:t>TAM(DTW)</a:t>
            </a:r>
            <a:r>
              <a:rPr lang="en-US" altLang="zh-TW" sz="2400"/>
              <a:t>, which corresponds to the TAM value calculated using the DTW alignment and </a:t>
            </a:r>
            <a:r>
              <a:rPr lang="en-US" altLang="zh-TW" sz="2400" b="1"/>
              <a:t>TAM(SW-DTW)</a:t>
            </a:r>
            <a:r>
              <a:rPr lang="en-US" altLang="zh-TW" sz="2400"/>
              <a:t>, which corresponds to the TAM value calculated using the SW-DTW alignment.</a:t>
            </a:r>
            <a:endParaRPr lang="en-US" altLang="zh-TW"/>
          </a:p>
          <a:p>
            <a:pPr marL="0" indent="0">
              <a:buNone/>
            </a:pPr>
            <a:endParaRPr lang="en-US" altLang="zh-TW"/>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29</a:t>
            </a:fld>
            <a:endParaRPr lang="zh-TW" altLang="en-US"/>
          </a:p>
        </p:txBody>
      </p:sp>
      <p:pic>
        <p:nvPicPr>
          <p:cNvPr id="5" name="图片 4"/>
          <p:cNvPicPr>
            <a:picLocks noChangeAspect="1"/>
          </p:cNvPicPr>
          <p:nvPr/>
        </p:nvPicPr>
        <p:blipFill>
          <a:blip r:embed="rId2"/>
          <a:stretch>
            <a:fillRect/>
          </a:stretch>
        </p:blipFill>
        <p:spPr>
          <a:xfrm>
            <a:off x="838200" y="1364615"/>
            <a:ext cx="8667115" cy="146494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sym typeface="+mn-ea"/>
              </a:rPr>
              <a:t>Time series classiﬁcation (2/2)</a:t>
            </a:r>
            <a:endParaRPr lang="en-US" dirty="0"/>
          </a:p>
        </p:txBody>
      </p:sp>
      <p:sp>
        <p:nvSpPr>
          <p:cNvPr id="3" name="內容版面配置區 2"/>
          <p:cNvSpPr>
            <a:spLocks noGrp="1"/>
          </p:cNvSpPr>
          <p:nvPr>
            <p:ph idx="1"/>
          </p:nvPr>
        </p:nvSpPr>
        <p:spPr>
          <a:xfrm>
            <a:off x="838200" y="1555615"/>
            <a:ext cx="10011032" cy="4446839"/>
          </a:xfrm>
        </p:spPr>
        <p:txBody>
          <a:bodyPr>
            <a:noAutofit/>
          </a:bodyPr>
          <a:lstStyle/>
          <a:p>
            <a:pPr marL="0" indent="0">
              <a:buNone/>
            </a:pPr>
            <a:r>
              <a:rPr lang="en-US" altLang="zh-TW" dirty="0"/>
              <a:t>We divided the subjects into training and testing sets with an equal number of elements and used a k-fold cross validation to cover the entire group of possibilities between the distribution of the subjects in the training and testing sets. The results are </a:t>
            </a:r>
            <a:r>
              <a:rPr lang="en-US" altLang="zh-TW" dirty="0" smtClean="0"/>
              <a:t>presented </a:t>
            </a:r>
            <a:r>
              <a:rPr lang="en-US" altLang="zh-TW" dirty="0"/>
              <a:t>in Table 2.</a:t>
            </a:r>
          </a:p>
          <a:p>
            <a:pPr marL="0" indent="0">
              <a:buNone/>
            </a:pPr>
            <a:r>
              <a:rPr lang="en-US" altLang="zh-TW" dirty="0"/>
              <a:t>The highest accuracy was achieved by the TAM </a:t>
            </a:r>
            <a:r>
              <a:rPr lang="en-US" altLang="zh-TW"/>
              <a:t>calculated </a:t>
            </a:r>
            <a:r>
              <a:rPr lang="en-US" altLang="zh-TW" smtClean="0"/>
              <a:t>using </a:t>
            </a:r>
            <a:r>
              <a:rPr lang="en-US" altLang="zh-TW" dirty="0"/>
              <a:t>the SW-DTW alignment. These results reinforce the fact  that  the  quality  of  the  previous  time  series  alignment is crucial to achieve representative performance when using our proposed measurement. </a:t>
            </a:r>
          </a:p>
        </p:txBody>
      </p:sp>
      <p:sp>
        <p:nvSpPr>
          <p:cNvPr id="4" name="投影片編號版面配置區 3"/>
          <p:cNvSpPr>
            <a:spLocks noGrp="1"/>
          </p:cNvSpPr>
          <p:nvPr>
            <p:ph type="sldNum" sz="quarter" idx="12"/>
          </p:nvPr>
        </p:nvSpPr>
        <p:spPr/>
        <p:txBody>
          <a:bodyPr/>
          <a:lstStyle/>
          <a:p>
            <a:fld id="{8DCCD063-7F18-423D-A692-CC9D343FD360}" type="slidenum">
              <a:rPr lang="zh-TW" altLang="en-US" smtClean="0"/>
              <a:t>30</a:t>
            </a:fld>
            <a:endParaRPr lang="zh-TW" altLang="en-US"/>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1986</Words>
  <Application>Microsoft Office PowerPoint</Application>
  <PresentationFormat>寬螢幕</PresentationFormat>
  <Paragraphs>110</Paragraphs>
  <Slides>30</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30</vt:i4>
      </vt:variant>
    </vt:vector>
  </HeadingPairs>
  <TitlesOfParts>
    <vt:vector size="36" baseType="lpstr">
      <vt:lpstr>微軟正黑體</vt:lpstr>
      <vt:lpstr>新細明體</vt:lpstr>
      <vt:lpstr>Arial</vt:lpstr>
      <vt:lpstr>Calibri</vt:lpstr>
      <vt:lpstr>Tw Cen MT</vt:lpstr>
      <vt:lpstr>Office 佈景主題</vt:lpstr>
      <vt:lpstr>Time Alignment Measurement for Time Series</vt:lpstr>
      <vt:lpstr>Abstract (1/2)</vt:lpstr>
      <vt:lpstr>Abstract (2/2)</vt:lpstr>
      <vt:lpstr>Two relevant contributions in this paper</vt:lpstr>
      <vt:lpstr>Dynamic Time Warping </vt:lpstr>
      <vt:lpstr>Signal  alignment challenges (1/3)</vt:lpstr>
      <vt:lpstr>Signal  alignment challenges (2/3)</vt:lpstr>
      <vt:lpstr>Signal  alignment challenges (3/3)</vt:lpstr>
      <vt:lpstr>Sliding Window Dynamic Time  Warping (1/3)</vt:lpstr>
      <vt:lpstr>Sliding Window Dynamic Time  Warping (2/3)</vt:lpstr>
      <vt:lpstr>Sliding Window Dynamic Time  Warping (3/3)</vt:lpstr>
      <vt:lpstr>Time Alignment Measurement (1/4)</vt:lpstr>
      <vt:lpstr>Time Alignment Measurement (2/4)</vt:lpstr>
      <vt:lpstr>Time Alignment Measurement (3/4)</vt:lpstr>
      <vt:lpstr>Time Alignment Measurement (4/4)</vt:lpstr>
      <vt:lpstr>Application (1/5)</vt:lpstr>
      <vt:lpstr>Application (2/5)</vt:lpstr>
      <vt:lpstr>Application (3/5)</vt:lpstr>
      <vt:lpstr>Application (4/5)</vt:lpstr>
      <vt:lpstr>Application (5/5)</vt:lpstr>
      <vt:lpstr>Simulated time series alignment (1/2)</vt:lpstr>
      <vt:lpstr>Simulated time series alignment (2/2)</vt:lpstr>
      <vt:lpstr>Repetitive upper limb motion (1/6)</vt:lpstr>
      <vt:lpstr>Repetitive upper limb motion (2/6)</vt:lpstr>
      <vt:lpstr>Repetitive upper limb motion (3/6)</vt:lpstr>
      <vt:lpstr>Repetitive upper limb motion (4/6)</vt:lpstr>
      <vt:lpstr>Repetitive upper limb motion (5/6)</vt:lpstr>
      <vt:lpstr>Repetitive upper limb motion (6/6)</vt:lpstr>
      <vt:lpstr>Time series classiﬁcation (1/2)</vt:lpstr>
      <vt:lpstr>Time series classiﬁcation (2/2)</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pplab-class</cp:lastModifiedBy>
  <cp:revision>478</cp:revision>
  <dcterms:created xsi:type="dcterms:W3CDTF">2017-10-09T09:38:00Z</dcterms:created>
  <dcterms:modified xsi:type="dcterms:W3CDTF">2018-10-23T12:28:32Z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