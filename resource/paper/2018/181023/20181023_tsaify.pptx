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86" r:id="rId4"/>
    <p:sldId id="307" r:id="rId5"/>
    <p:sldId id="318" r:id="rId6"/>
    <p:sldId id="308" r:id="rId7"/>
    <p:sldId id="309" r:id="rId8"/>
    <p:sldId id="311" r:id="rId9"/>
    <p:sldId id="313" r:id="rId10"/>
    <p:sldId id="314" r:id="rId11"/>
    <p:sldId id="331" r:id="rId12"/>
    <p:sldId id="334" r:id="rId13"/>
    <p:sldId id="324" r:id="rId14"/>
    <p:sldId id="325" r:id="rId15"/>
    <p:sldId id="326" r:id="rId16"/>
    <p:sldId id="333" r:id="rId17"/>
    <p:sldId id="332" r:id="rId18"/>
    <p:sldId id="321" r:id="rId19"/>
    <p:sldId id="319" r:id="rId20"/>
    <p:sldId id="327" r:id="rId21"/>
    <p:sldId id="328" r:id="rId22"/>
    <p:sldId id="329" r:id="rId23"/>
    <p:sldId id="330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8592" autoAdjust="0"/>
  </p:normalViewPr>
  <p:slideViewPr>
    <p:cSldViewPr snapToGrid="0">
      <p:cViewPr varScale="1">
        <p:scale>
          <a:sx n="66" d="100"/>
          <a:sy n="66" d="100"/>
        </p:scale>
        <p:origin x="1368" y="6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B1F98-CDCA-4E1F-B89C-7712647B005A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0A4FA-366C-40B7-9E40-EFBC7A72D8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6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https://www.google.com.tw/maps/place/%E7%BE%8E%E5%9B%A0%E8%8C%A8%E5%A4%A7%E5%AD%B8/@50.2582658,6.3022308,6.16z/data=!4m5!3m4!1s0x0:0xe9344ff3bb0044ab!8m2!3d49.9926403!4d8.2415552</a:t>
            </a:r>
          </a:p>
          <a:p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https://www.google.com.tw/maps/place/%E7%BE%8E%E5%9C%8B%E5%A5%A7%E5%8B%92%E5%B2%A1%E5%B7%9E%E5%B0%A4%E9%87%91/@43.9448743,-123.4698975,8.48z/data=!4m5!3m4!1s0x54c119b0ac501919:0x57ec61894a43894d!8m2!3d44.0520691!4d-123.0867536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215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4880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1363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/>
              <a:t>兩個解碼器在遇到同步點前 找出的</a:t>
            </a:r>
            <a:r>
              <a:rPr lang="en-US" altLang="zh-TW" dirty="0" smtClean="0"/>
              <a:t>symbol</a:t>
            </a:r>
            <a:r>
              <a:rPr lang="zh-TW" altLang="en-US" dirty="0" smtClean="0"/>
              <a:t>有可能是錯的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/>
              <a:t>而透過上述方法，就是下面字碼邊界與上面邊界對齊時就可以找到同步點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1419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88802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在階段</a:t>
            </a:r>
            <a:r>
              <a:rPr lang="en-US" altLang="zh-TW" dirty="0" smtClean="0"/>
              <a:t>1</a:t>
            </a:r>
            <a:r>
              <a:rPr lang="zh-TW" altLang="en-US" dirty="0" smtClean="0"/>
              <a:t>中，每個線程都會被分配到不同</a:t>
            </a:r>
            <a:r>
              <a:rPr lang="en-US" altLang="zh-TW" dirty="0" smtClean="0"/>
              <a:t>subsequence</a:t>
            </a:r>
            <a:r>
              <a:rPr lang="zh-TW" altLang="en-US" dirty="0" smtClean="0"/>
              <a:t>，</a:t>
            </a:r>
          </a:p>
          <a:p>
            <a:r>
              <a:rPr lang="zh-TW" altLang="en-US" dirty="0" smtClean="0"/>
              <a:t>一旦線程在最後的完整字碼處完成解碼，他將最後一個字碼的第一位置以及</a:t>
            </a:r>
          </a:p>
          <a:p>
            <a:r>
              <a:rPr lang="zh-TW" altLang="en-US" dirty="0" smtClean="0"/>
              <a:t>解碼符號的數量寫入相對應</a:t>
            </a:r>
            <a:r>
              <a:rPr lang="en-US" altLang="zh-TW" dirty="0" err="1" smtClean="0"/>
              <a:t>Sync_info</a:t>
            </a:r>
            <a:r>
              <a:rPr lang="en-US" altLang="zh-TW" dirty="0" smtClean="0"/>
              <a:t> array</a:t>
            </a:r>
            <a:r>
              <a:rPr lang="zh-TW" altLang="en-US" dirty="0" smtClean="0"/>
              <a:t>裡，為了防止數據爭用，</a:t>
            </a:r>
          </a:p>
          <a:p>
            <a:r>
              <a:rPr lang="zh-TW" altLang="en-US" dirty="0" smtClean="0"/>
              <a:t>完成線程必須在此等待，等所有</a:t>
            </a:r>
            <a:r>
              <a:rPr lang="en-US" altLang="zh-TW" dirty="0" smtClean="0"/>
              <a:t>thread</a:t>
            </a:r>
            <a:r>
              <a:rPr lang="zh-TW" altLang="en-US" dirty="0" smtClean="0"/>
              <a:t>都完成解碼所有的</a:t>
            </a:r>
            <a:r>
              <a:rPr lang="en-US" altLang="zh-TW" dirty="0" smtClean="0"/>
              <a:t>subsequence</a:t>
            </a:r>
            <a:r>
              <a:rPr lang="zh-TW" altLang="en-US" dirty="0" smtClean="0"/>
              <a:t>。</a:t>
            </a:r>
          </a:p>
          <a:p>
            <a:r>
              <a:rPr lang="en-US" altLang="zh-TW" dirty="0" smtClean="0"/>
              <a:t>thread 3 </a:t>
            </a:r>
            <a:r>
              <a:rPr lang="zh-TW" altLang="en-US" dirty="0" smtClean="0"/>
              <a:t>不包含任何的同步點，所以</a:t>
            </a:r>
            <a:r>
              <a:rPr lang="en-US" altLang="zh-TW" dirty="0" smtClean="0"/>
              <a:t>thread3</a:t>
            </a:r>
            <a:r>
              <a:rPr lang="zh-TW" altLang="en-US" dirty="0" smtClean="0"/>
              <a:t>解碼出來都是不正確的</a:t>
            </a:r>
          </a:p>
          <a:p>
            <a:r>
              <a:rPr lang="zh-TW" altLang="en-US" dirty="0" smtClean="0"/>
              <a:t>包括最後一個。</a:t>
            </a:r>
          </a:p>
          <a:p>
            <a:r>
              <a:rPr lang="zh-TW" altLang="en-US" dirty="0" smtClean="0"/>
              <a:t>而線程都找到同步點之後，從</a:t>
            </a:r>
            <a:r>
              <a:rPr lang="en-US" altLang="zh-TW" dirty="0" smtClean="0"/>
              <a:t>thread1</a:t>
            </a:r>
            <a:r>
              <a:rPr lang="zh-TW" altLang="en-US" dirty="0" smtClean="0"/>
              <a:t>開始的最後一個字碼開始</a:t>
            </a:r>
            <a:r>
              <a:rPr lang="en-US" altLang="zh-TW" dirty="0" smtClean="0"/>
              <a:t>overflow</a:t>
            </a:r>
            <a:r>
              <a:rPr lang="zh-TW" altLang="en-US" dirty="0" smtClean="0"/>
              <a:t>，</a:t>
            </a:r>
          </a:p>
          <a:p>
            <a:r>
              <a:rPr lang="zh-TW" altLang="en-US" dirty="0" smtClean="0"/>
              <a:t>這邊的</a:t>
            </a:r>
            <a:r>
              <a:rPr lang="en-US" altLang="zh-TW" dirty="0" smtClean="0"/>
              <a:t>overflow</a:t>
            </a:r>
            <a:r>
              <a:rPr lang="zh-TW" altLang="en-US" dirty="0" smtClean="0"/>
              <a:t>就是指在前一個</a:t>
            </a:r>
            <a:r>
              <a:rPr lang="en-US" altLang="zh-TW" dirty="0" smtClean="0"/>
              <a:t>subsequence</a:t>
            </a:r>
            <a:r>
              <a:rPr lang="zh-TW" altLang="en-US" dirty="0" smtClean="0"/>
              <a:t>中從最後一個完整字碼之後</a:t>
            </a:r>
          </a:p>
          <a:p>
            <a:r>
              <a:rPr lang="zh-TW" altLang="en-US" dirty="0" smtClean="0"/>
              <a:t>繼續解碼，而目前的線程檢測到的最後一個字碼的位置將與前一個線程</a:t>
            </a:r>
          </a:p>
          <a:p>
            <a:r>
              <a:rPr lang="zh-TW" altLang="en-US" dirty="0" smtClean="0"/>
              <a:t>檢測到的位置是否有匹配也就是利用</a:t>
            </a:r>
            <a:r>
              <a:rPr lang="en-US" altLang="zh-TW" dirty="0" err="1" smtClean="0"/>
              <a:t>Sync_info</a:t>
            </a:r>
            <a:r>
              <a:rPr lang="en-US" altLang="zh-TW" dirty="0" smtClean="0"/>
              <a:t> array</a:t>
            </a:r>
            <a:r>
              <a:rPr lang="zh-TW" altLang="en-US" dirty="0" smtClean="0"/>
              <a:t>來驗證，如果位置匹配，</a:t>
            </a:r>
          </a:p>
          <a:p>
            <a:r>
              <a:rPr lang="zh-TW" altLang="en-US" dirty="0" smtClean="0"/>
              <a:t>也就代表完成了，此時目前線程也必須等待，其他</a:t>
            </a:r>
            <a:r>
              <a:rPr lang="en-US" altLang="zh-TW" dirty="0" smtClean="0"/>
              <a:t>thread</a:t>
            </a:r>
            <a:r>
              <a:rPr lang="zh-TW" altLang="en-US" dirty="0" smtClean="0"/>
              <a:t>完成，</a:t>
            </a:r>
          </a:p>
          <a:p>
            <a:r>
              <a:rPr lang="zh-TW" altLang="en-US" dirty="0" smtClean="0"/>
              <a:t>而</a:t>
            </a:r>
            <a:r>
              <a:rPr lang="en-US" altLang="zh-TW" dirty="0" smtClean="0"/>
              <a:t>part2</a:t>
            </a:r>
            <a:r>
              <a:rPr lang="zh-TW" altLang="en-US" dirty="0" smtClean="0"/>
              <a:t>可以看到</a:t>
            </a:r>
            <a:r>
              <a:rPr lang="en-US" altLang="zh-TW" dirty="0" smtClean="0"/>
              <a:t>thread2</a:t>
            </a:r>
            <a:r>
              <a:rPr lang="zh-TW" altLang="en-US" dirty="0" smtClean="0"/>
              <a:t>校正了</a:t>
            </a:r>
            <a:r>
              <a:rPr lang="en-US" altLang="zh-TW" dirty="0" smtClean="0"/>
              <a:t>subsequeance3</a:t>
            </a:r>
            <a:r>
              <a:rPr lang="zh-TW" altLang="en-US" dirty="0" smtClean="0"/>
              <a:t>的最後一個字碼的位置</a:t>
            </a:r>
          </a:p>
          <a:p>
            <a:r>
              <a:rPr lang="zh-TW" altLang="en-US" dirty="0" smtClean="0"/>
              <a:t>但由於還是找不到同步點，因此還是保持啟用的狀態，而這過程需要重複</a:t>
            </a:r>
            <a:r>
              <a:rPr lang="en-US" altLang="zh-TW" dirty="0" smtClean="0"/>
              <a:t>B</a:t>
            </a:r>
            <a:r>
              <a:rPr lang="zh-TW" altLang="en-US" dirty="0" smtClean="0"/>
              <a:t>次</a:t>
            </a:r>
          </a:p>
          <a:p>
            <a:r>
              <a:rPr lang="zh-TW" altLang="en-US" dirty="0" smtClean="0"/>
              <a:t>使得第一個</a:t>
            </a:r>
            <a:r>
              <a:rPr lang="en-US" altLang="zh-TW" dirty="0" smtClean="0"/>
              <a:t>thread</a:t>
            </a:r>
            <a:r>
              <a:rPr lang="zh-TW" altLang="en-US" dirty="0" smtClean="0"/>
              <a:t>能夠到達最後一個</a:t>
            </a:r>
            <a:r>
              <a:rPr lang="en-US" altLang="zh-TW" dirty="0" err="1" smtClean="0"/>
              <a:t>subsequeance</a:t>
            </a:r>
            <a:r>
              <a:rPr lang="zh-TW" altLang="en-US" dirty="0" smtClean="0"/>
              <a:t>，</a:t>
            </a:r>
          </a:p>
          <a:p>
            <a:r>
              <a:rPr lang="zh-TW" altLang="en-US" dirty="0" smtClean="0"/>
              <a:t>第三部分就是第一次迭代後的結果，並且檢測</a:t>
            </a:r>
            <a:r>
              <a:rPr lang="en-US" altLang="zh-TW" dirty="0" smtClean="0"/>
              <a:t>subsequeance4</a:t>
            </a:r>
            <a:r>
              <a:rPr lang="zh-TW" altLang="en-US" dirty="0" smtClean="0"/>
              <a:t>的同步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692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84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94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43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6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2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5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1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83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3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4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EFCFE-425C-4696-9D05-22E06C3112FC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62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B447A32-0D96-4B57-86B2-82EC84E8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22" y="1064304"/>
            <a:ext cx="8366235" cy="1605324"/>
          </a:xfrm>
        </p:spPr>
        <p:txBody>
          <a:bodyPr>
            <a:no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Massively Parallel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Huffman 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Decoding on GPUs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61456E59-5D91-4093-B1A4-6F308EA9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0202" y="3451415"/>
            <a:ext cx="8526955" cy="433133"/>
          </a:xfrm>
        </p:spPr>
        <p:txBody>
          <a:bodyPr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André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Weißenberger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Bertil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Schmidt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xmlns="" id="{A64E0364-4674-4930-835E-A413D880DCDB}"/>
              </a:ext>
            </a:extLst>
          </p:cNvPr>
          <p:cNvSpPr txBox="1">
            <a:spLocks/>
          </p:cNvSpPr>
          <p:nvPr/>
        </p:nvSpPr>
        <p:spPr>
          <a:xfrm>
            <a:off x="4785516" y="5485626"/>
            <a:ext cx="3264031" cy="85647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en-US" altLang="zh-TW" sz="1800" dirty="0"/>
              <a:t> </a:t>
            </a:r>
            <a:r>
              <a:rPr lang="en-US" altLang="zh-TW" sz="1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Feng-Yang</a:t>
            </a:r>
            <a:r>
              <a:rPr lang="en-US" altLang="zh-TW" sz="1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Tsai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Date: </a:t>
            </a:r>
            <a:r>
              <a:rPr lang="en-US" altLang="zh-TW" sz="1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2018.10.23</a:t>
            </a: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776243CF-D414-4295-8B1E-9BF6541E940C}"/>
              </a:ext>
            </a:extLst>
          </p:cNvPr>
          <p:cNvSpPr/>
          <p:nvPr/>
        </p:nvSpPr>
        <p:spPr>
          <a:xfrm>
            <a:off x="578066" y="3987310"/>
            <a:ext cx="80719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47th International Conference on Parallel</a:t>
            </a:r>
          </a:p>
          <a:p>
            <a:pPr algn="ctr"/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Processing, August 13–16, 2018,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Oregon</a:t>
            </a:r>
          </a:p>
          <a:p>
            <a:pPr algn="ctr"/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Eugene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OR, USA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7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19"/>
    </mc:Choice>
    <mc:Fallback xmlns="">
      <p:transition spd="slow" advTm="2519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906" y="644700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Abstract(1/3)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165" y="1311642"/>
            <a:ext cx="8335931" cy="513163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70000"/>
              </a:lnSpc>
              <a:spcBef>
                <a:spcPts val="0"/>
              </a:spcBef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Data compression is a fundamental building block in a wide range</a:t>
            </a:r>
          </a:p>
          <a:p>
            <a:pPr marL="0" indent="0" algn="just">
              <a:lnSpc>
                <a:spcPct val="170000"/>
              </a:lnSpc>
              <a:spcBef>
                <a:spcPts val="0"/>
              </a:spcBef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of applications. Besides its intended purpose to save valuable storage on hard disks, compression can be utilized to increase the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effective bandwidth to attached storage as realized by state-of-the-art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file systems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 In the foreseeing future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on-the-fly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compression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and decompression will gain utmost importance for the processing of data-intensive applications such as streamed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78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0253" y="1310619"/>
            <a:ext cx="8268229" cy="435133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70000"/>
              </a:lnSpc>
              <a:spcBef>
                <a:spcPts val="0"/>
              </a:spcBef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Deep Learning tasks or Next Generation Sequencing pipelines, which establishes the need for fast parallel implementations.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Huffman coding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is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an integral part of a number of compression methods.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However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efficient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parallel implementation of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Huffman decompression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is difficult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due to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inherent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data dependencies (i.e. the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location of a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decoded symbol depends on its predecessors). In this paper,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we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present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first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massively parallel decoder implementation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that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is compatible with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Huffman’s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original 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xmlns="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906" y="644700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Abstract(2/3)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923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36331" y="1334814"/>
            <a:ext cx="8408275" cy="436918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70000"/>
              </a:lnSpc>
              <a:spcBef>
                <a:spcPts val="0"/>
              </a:spcBef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method by taking advantage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of the self-synchronization property of Huffman codes. Our performance evaluation on three 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different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CUDA-enabled GPUs (TITAN V, TITAN XP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GTX 1080)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demonstrates speedups of over one order-of-magnitude compared to the state-of-art CPU-based 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Zstandard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Huffman decoder.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xmlns="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906" y="644700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Abstract(3/3)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540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560786" y="5976927"/>
            <a:ext cx="6858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https://www.videocardbenchmark.net/high_end_gpus.html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406869" y="1240221"/>
            <a:ext cx="903890" cy="2207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4827"/>
            <a:ext cx="9144000" cy="473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16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77664" y="689683"/>
            <a:ext cx="47874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rovides necessary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information on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Huffman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and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reviews related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work.</a:t>
            </a:r>
          </a:p>
        </p:txBody>
      </p:sp>
      <p:sp>
        <p:nvSpPr>
          <p:cNvPr id="5" name="矩形 4"/>
          <p:cNvSpPr/>
          <p:nvPr/>
        </p:nvSpPr>
        <p:spPr>
          <a:xfrm>
            <a:off x="2401615" y="2113166"/>
            <a:ext cx="5344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self-synchronizing property of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Huffman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codes</a:t>
            </a:r>
          </a:p>
        </p:txBody>
      </p:sp>
      <p:sp>
        <p:nvSpPr>
          <p:cNvPr id="6" name="矩形 5"/>
          <p:cNvSpPr/>
          <p:nvPr/>
        </p:nvSpPr>
        <p:spPr>
          <a:xfrm>
            <a:off x="2601312" y="3121628"/>
            <a:ext cx="494511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resents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GPU-based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decoder and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practical implementation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algorithm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CUDA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282729" y="4548118"/>
            <a:ext cx="2955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resents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</a:p>
        </p:txBody>
      </p:sp>
      <p:sp>
        <p:nvSpPr>
          <p:cNvPr id="8" name="矩形 7"/>
          <p:cNvSpPr/>
          <p:nvPr/>
        </p:nvSpPr>
        <p:spPr>
          <a:xfrm>
            <a:off x="4184964" y="5771156"/>
            <a:ext cx="1151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oncludes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向下箭號 1"/>
          <p:cNvSpPr/>
          <p:nvPr/>
        </p:nvSpPr>
        <p:spPr>
          <a:xfrm>
            <a:off x="4549811" y="1513490"/>
            <a:ext cx="421584" cy="6194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向下箭號 8"/>
          <p:cNvSpPr/>
          <p:nvPr/>
        </p:nvSpPr>
        <p:spPr>
          <a:xfrm>
            <a:off x="4549811" y="2540944"/>
            <a:ext cx="421584" cy="6194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向下箭號 9"/>
          <p:cNvSpPr/>
          <p:nvPr/>
        </p:nvSpPr>
        <p:spPr>
          <a:xfrm>
            <a:off x="4549811" y="3871889"/>
            <a:ext cx="421584" cy="6194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向下箭號 10"/>
          <p:cNvSpPr/>
          <p:nvPr/>
        </p:nvSpPr>
        <p:spPr>
          <a:xfrm>
            <a:off x="4549811" y="4974277"/>
            <a:ext cx="421584" cy="6194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2154621" y="811239"/>
            <a:ext cx="346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154620" y="2113166"/>
            <a:ext cx="346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154619" y="3125483"/>
            <a:ext cx="346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848298" y="4548118"/>
            <a:ext cx="346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741678" y="5771156"/>
            <a:ext cx="346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449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2" grpId="0" animBg="1"/>
      <p:bldP spid="9" grpId="0" animBg="1"/>
      <p:bldP spid="10" grpId="0" animBg="1"/>
      <p:bldP spid="11" grpId="0" animBg="1"/>
      <p:bldP spid="3" grpId="0"/>
      <p:bldP spid="12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022" y="2391527"/>
            <a:ext cx="5220225" cy="224306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88151" y="658789"/>
            <a:ext cx="29610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TW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Huffman </a:t>
            </a:r>
            <a:r>
              <a:rPr lang="zh-TW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868" y="1313794"/>
            <a:ext cx="5784532" cy="395451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433144" y="5573111"/>
            <a:ext cx="52604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message ABAEECDA is encoded as</a:t>
            </a:r>
          </a:p>
          <a:p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001000111101001100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660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88151" y="658789"/>
            <a:ext cx="29626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2.Synchronization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14248" y="1632824"/>
            <a:ext cx="71522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Huffman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which possesses the 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synchronizing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is called self-synchronizing.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572" y="2603845"/>
            <a:ext cx="7820366" cy="216241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71902" y="5090945"/>
            <a:ext cx="683698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 smtClean="0"/>
              <a:t>bit </a:t>
            </a:r>
            <a:r>
              <a:rPr lang="zh-TW" altLang="en-US" dirty="0"/>
              <a:t>7 is referred to as a </a:t>
            </a:r>
            <a:r>
              <a:rPr lang="zh-TW" altLang="en-US" dirty="0" smtClean="0"/>
              <a:t>synchronization point, </a:t>
            </a:r>
            <a:r>
              <a:rPr lang="zh-TW" altLang="en-US" dirty="0"/>
              <a:t>as both decoders </a:t>
            </a:r>
            <a:r>
              <a:rPr lang="zh-TW" altLang="en-US" dirty="0" smtClean="0"/>
              <a:t>became synchronous.</a:t>
            </a:r>
            <a:r>
              <a:rPr lang="en-US" altLang="zh-TW" dirty="0"/>
              <a:t> After a synchronization point has been encountered, </a:t>
            </a:r>
            <a:r>
              <a:rPr lang="en-US" altLang="zh-TW" dirty="0" smtClean="0"/>
              <a:t>decoders will </a:t>
            </a:r>
            <a:r>
              <a:rPr lang="en-US" altLang="zh-TW" dirty="0"/>
              <a:t>always generate the correct output. This property can be </a:t>
            </a:r>
            <a:r>
              <a:rPr lang="en-US" altLang="zh-TW" dirty="0" smtClean="0"/>
              <a:t>used to </a:t>
            </a:r>
            <a:r>
              <a:rPr lang="en-US" altLang="zh-TW" dirty="0"/>
              <a:t>construct a multi-threaded decoder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01480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63" y="2918702"/>
            <a:ext cx="7933340" cy="212379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949543" y="5423421"/>
            <a:ext cx="71312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If this is the case, there is a synchronization point after the last bit of z . In the example of Table 2, x equals 001, y equals 00 and z equals 011.</a:t>
            </a:r>
          </a:p>
        </p:txBody>
      </p:sp>
      <p:sp>
        <p:nvSpPr>
          <p:cNvPr id="8" name="矩形 7"/>
          <p:cNvSpPr/>
          <p:nvPr/>
        </p:nvSpPr>
        <p:spPr>
          <a:xfrm>
            <a:off x="623722" y="348767"/>
            <a:ext cx="724852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 of 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Huffman 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codes posses the self-</a:t>
            </a:r>
          </a:p>
          <a:p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synchronizing 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property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49542" y="1441374"/>
            <a:ext cx="677556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Let x denote the </a:t>
            </a:r>
            <a:r>
              <a:rPr lang="zh-TW" altLang="en-US" dirty="0" smtClean="0"/>
              <a:t>sequence preceding </a:t>
            </a:r>
            <a:r>
              <a:rPr lang="zh-TW" altLang="en-US" dirty="0"/>
              <a:t>the cut point. </a:t>
            </a:r>
            <a:r>
              <a:rPr lang="zh-TW" altLang="en-US" dirty="0" smtClean="0"/>
              <a:t>z </a:t>
            </a:r>
            <a:r>
              <a:rPr lang="zh-TW" altLang="en-US" dirty="0"/>
              <a:t>is referred to as a synchronizing </a:t>
            </a:r>
            <a:r>
              <a:rPr lang="zh-TW" altLang="en-US" dirty="0" smtClean="0"/>
              <a:t>sequence for </a:t>
            </a:r>
            <a:r>
              <a:rPr lang="zh-TW" altLang="en-US" dirty="0"/>
              <a:t>x and y if the concatenations yz and xyz both are sequences </a:t>
            </a:r>
            <a:r>
              <a:rPr lang="zh-TW" altLang="en-US" dirty="0" smtClean="0"/>
              <a:t>of complete </a:t>
            </a:r>
            <a:r>
              <a:rPr lang="zh-TW" altLang="en-US" dirty="0"/>
              <a:t>codewords</a:t>
            </a:r>
            <a:r>
              <a:rPr lang="zh-TW" altLang="en-US" dirty="0" smtClean="0"/>
              <a:t>.</a:t>
            </a:r>
            <a:endParaRPr lang="en-US" altLang="zh-TW" dirty="0" smtClean="0"/>
          </a:p>
          <a:p>
            <a:r>
              <a:rPr lang="zh-TW" altLang="en-US" dirty="0" smtClean="0"/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3328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49974" y="511832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expected number of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bits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to be processed before a synchronization point is reached?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592" y="2461381"/>
            <a:ext cx="1670764" cy="120786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38184" y="1807511"/>
            <a:ext cx="52919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 They evaluated the expected </a:t>
            </a:r>
            <a:r>
              <a:rPr lang="zh-TW" altLang="en-US" dirty="0" smtClean="0"/>
              <a:t>number of </a:t>
            </a:r>
            <a:r>
              <a:rPr lang="zh-TW" altLang="en-US" dirty="0"/>
              <a:t>bits E by</a:t>
            </a:r>
          </a:p>
        </p:txBody>
      </p:sp>
      <p:sp>
        <p:nvSpPr>
          <p:cNvPr id="7" name="矩形 6"/>
          <p:cNvSpPr/>
          <p:nvPr/>
        </p:nvSpPr>
        <p:spPr>
          <a:xfrm>
            <a:off x="995839" y="3697686"/>
            <a:ext cx="4300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W is the weighted average codeword length</a:t>
            </a:r>
          </a:p>
        </p:txBody>
      </p:sp>
      <p:sp>
        <p:nvSpPr>
          <p:cNvPr id="8" name="矩形 7"/>
          <p:cNvSpPr/>
          <p:nvPr/>
        </p:nvSpPr>
        <p:spPr>
          <a:xfrm>
            <a:off x="995839" y="4359108"/>
            <a:ext cx="73408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P ( S ) </a:t>
            </a:r>
            <a:r>
              <a:rPr lang="zh-TW" altLang="en-US" dirty="0" smtClean="0"/>
              <a:t>represents </a:t>
            </a:r>
            <a:r>
              <a:rPr lang="zh-TW" altLang="en-US" dirty="0"/>
              <a:t>the probability of the </a:t>
            </a:r>
            <a:r>
              <a:rPr lang="zh-TW" altLang="en-US" dirty="0" smtClean="0"/>
              <a:t>synchronization point </a:t>
            </a:r>
            <a:r>
              <a:rPr lang="zh-TW" altLang="en-US" dirty="0"/>
              <a:t>being </a:t>
            </a:r>
            <a:r>
              <a:rPr lang="zh-TW" altLang="en-US" dirty="0" smtClean="0"/>
              <a:t>directly at </a:t>
            </a:r>
            <a:r>
              <a:rPr lang="zh-TW" altLang="en-US" dirty="0"/>
              <a:t>the end of the codeword that was cut by the </a:t>
            </a:r>
            <a:r>
              <a:rPr lang="zh-TW" altLang="en-US" dirty="0" smtClean="0"/>
              <a:t>block boundary</a:t>
            </a:r>
            <a:r>
              <a:rPr lang="zh-TW" altLang="en-US" dirty="0"/>
              <a:t>.</a:t>
            </a:r>
          </a:p>
        </p:txBody>
      </p:sp>
      <p:sp>
        <p:nvSpPr>
          <p:cNvPr id="2" name="矩形 1"/>
          <p:cNvSpPr/>
          <p:nvPr/>
        </p:nvSpPr>
        <p:spPr>
          <a:xfrm>
            <a:off x="1005708" y="5389836"/>
            <a:ext cx="733096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In practical tests, this estimation proved to approximate the measured number of bits well. Synchronization was achieved after less than </a:t>
            </a:r>
            <a:r>
              <a:rPr lang="zh-TW" altLang="en-US" sz="2000" b="1" dirty="0"/>
              <a:t>73 bits </a:t>
            </a:r>
            <a:r>
              <a:rPr lang="zh-TW" altLang="en-US" dirty="0"/>
              <a:t>on average for the </a:t>
            </a:r>
            <a:r>
              <a:rPr lang="zh-TW" altLang="en-US" b="1" dirty="0"/>
              <a:t>nine tested plain text </a:t>
            </a:r>
            <a:r>
              <a:rPr lang="zh-TW" altLang="en-US" dirty="0"/>
              <a:t>and </a:t>
            </a:r>
            <a:r>
              <a:rPr lang="zh-TW" altLang="en-US" b="1" dirty="0"/>
              <a:t>binary files</a:t>
            </a:r>
            <a:r>
              <a:rPr lang="zh-TW" alt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23960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51" y="1607549"/>
            <a:ext cx="6536183" cy="434626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88151" y="658789"/>
            <a:ext cx="44416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TW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</a:t>
            </a:r>
            <a:r>
              <a:rPr lang="zh-TW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Design</a:t>
            </a:r>
          </a:p>
        </p:txBody>
      </p:sp>
    </p:spTree>
    <p:extLst>
      <p:ext uri="{BB962C8B-B14F-4D97-AF65-F5344CB8AC3E}">
        <p14:creationId xmlns:p14="http://schemas.microsoft.com/office/powerpoint/2010/main" val="3029305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33517" y="567558"/>
            <a:ext cx="39425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multi-threaded 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decoder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315" y="1029223"/>
            <a:ext cx="6571422" cy="2930609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605737" y="4149109"/>
            <a:ext cx="53784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/>
              <a:t>B</a:t>
            </a:r>
            <a:r>
              <a:rPr lang="en-US" altLang="zh-TW" dirty="0"/>
              <a:t> adjacent subsequences are grouped into a sequence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605737" y="4606163"/>
                <a:ext cx="5575737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TW" altLang="en-US" dirty="0" smtClean="0"/>
                  <a:t>Each subsequence </a:t>
                </a:r>
                <a:r>
                  <a:rPr lang="zh-TW" altLang="en-US" dirty="0"/>
                  <a:t>is further split into </a:t>
                </a:r>
                <a14:m>
                  <m:oMath xmlns:m="http://schemas.openxmlformats.org/officeDocument/2006/math">
                    <m:r>
                      <a:rPr lang="zh-TW" altLang="en-US" sz="2400" i="1" dirty="0" smtClean="0">
                        <a:latin typeface="Cambria Math" panose="02040503050406030204" pitchFamily="18" charset="0"/>
                      </a:rPr>
                      <m:t>𝑁𝑢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zh-TW" altLang="en-US" dirty="0"/>
                  <a:t>smaller chunks, referred to </a:t>
                </a:r>
                <a:r>
                  <a:rPr lang="zh-TW" altLang="en-US" dirty="0" smtClean="0"/>
                  <a:t>as units</a:t>
                </a:r>
                <a:r>
                  <a:rPr lang="en-US" altLang="zh-TW" dirty="0" smtClean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737" y="4606163"/>
                <a:ext cx="5575737" cy="738664"/>
              </a:xfrm>
              <a:prstGeom prst="rect">
                <a:avLst/>
              </a:prstGeom>
              <a:blipFill>
                <a:blip r:embed="rId4"/>
                <a:stretch>
                  <a:fillRect l="-874" r="-2842" b="-123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>
          <a:xfrm>
            <a:off x="1605737" y="5414203"/>
            <a:ext cx="65685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 smtClean="0"/>
              <a:t>If N is </a:t>
            </a:r>
            <a:r>
              <a:rPr lang="zh-TW" altLang="en-US" dirty="0"/>
              <a:t>not a multiple of B , the last sequence will contain less than </a:t>
            </a:r>
            <a:r>
              <a:rPr lang="zh-TW" altLang="en-US" dirty="0" smtClean="0"/>
              <a:t>B subsequences</a:t>
            </a:r>
            <a:r>
              <a:rPr lang="zh-TW" altLang="en-US" dirty="0"/>
              <a:t>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1605737" y="6060534"/>
                <a:ext cx="6858000" cy="4531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dirty="0"/>
                  <a:t>the number of sequences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TW" dirty="0" smtClean="0"/>
                  <a:t> equals⌈ </a:t>
                </a:r>
                <a:r>
                  <a:rPr lang="en-US" altLang="zh-TW" dirty="0"/>
                  <a:t>N / B ⌉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737" y="6060534"/>
                <a:ext cx="6858000" cy="453137"/>
              </a:xfrm>
              <a:prstGeom prst="rect">
                <a:avLst/>
              </a:prstGeom>
              <a:blipFill>
                <a:blip r:embed="rId5"/>
                <a:stretch>
                  <a:fillRect l="-711" b="-18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3580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855" y="1364688"/>
            <a:ext cx="6461655" cy="495113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855" y="1481592"/>
            <a:ext cx="6830155" cy="4629193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108" y="1481592"/>
            <a:ext cx="6639648" cy="483423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32189" y="636426"/>
            <a:ext cx="42204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Design</a:t>
            </a:r>
          </a:p>
        </p:txBody>
      </p:sp>
    </p:spTree>
    <p:extLst>
      <p:ext uri="{BB962C8B-B14F-4D97-AF65-F5344CB8AC3E}">
        <p14:creationId xmlns:p14="http://schemas.microsoft.com/office/powerpoint/2010/main" val="244600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27526" y="753382"/>
            <a:ext cx="50312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zh-TW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</a:t>
            </a:r>
            <a:r>
              <a:rPr lang="zh-TW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7" name="矩形 6"/>
          <p:cNvSpPr/>
          <p:nvPr/>
        </p:nvSpPr>
        <p:spPr>
          <a:xfrm>
            <a:off x="1361973" y="1799925"/>
            <a:ext cx="672324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enwik9: [19] Excerpt of the English Wikipedia, consisting </a:t>
            </a:r>
            <a:r>
              <a:rPr lang="zh-TW" altLang="en-US" dirty="0" smtClean="0"/>
              <a:t>of U</a:t>
            </a:r>
            <a:r>
              <a:rPr lang="zh-TW" altLang="en-US" dirty="0"/>
              <a:t>TF8-coded XML </a:t>
            </a:r>
            <a:r>
              <a:rPr lang="zh-TW" altLang="en-US" dirty="0" smtClean="0"/>
              <a:t>data</a:t>
            </a:r>
            <a:r>
              <a:rPr lang="en-US" altLang="zh-TW" dirty="0" smtClean="0"/>
              <a:t>.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flan</a:t>
            </a:r>
            <a:r>
              <a:rPr lang="zh-TW" altLang="en-US" dirty="0"/>
              <a:t>_1565: [5] Sparse matrix from the SuiteSparse Matrix </a:t>
            </a:r>
            <a:r>
              <a:rPr lang="zh-TW" altLang="en-US" dirty="0" smtClean="0"/>
              <a:t>Collection</a:t>
            </a:r>
            <a:r>
              <a:rPr lang="en-US" altLang="zh-TW" dirty="0" smtClean="0"/>
              <a:t>.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mozilla</a:t>
            </a:r>
            <a:r>
              <a:rPr lang="zh-TW" altLang="en-US" dirty="0"/>
              <a:t>: [6] tar-compressed archive of Mozilla 1.0 </a:t>
            </a:r>
            <a:r>
              <a:rPr lang="en-US" altLang="zh-TW" dirty="0" smtClean="0"/>
              <a:t>.</a:t>
            </a:r>
          </a:p>
          <a:p>
            <a:endParaRPr lang="en-US" altLang="zh-TW" dirty="0" smtClean="0"/>
          </a:p>
          <a:p>
            <a:r>
              <a:rPr lang="zh-TW" altLang="en-US" dirty="0" smtClean="0"/>
              <a:t>webster</a:t>
            </a:r>
            <a:r>
              <a:rPr lang="zh-TW" altLang="en-US" dirty="0"/>
              <a:t>: [6] 1913 Webster Unabridged Dictionary in </a:t>
            </a:r>
            <a:r>
              <a:rPr lang="zh-TW" altLang="en-US" dirty="0" smtClean="0"/>
              <a:t>HTML</a:t>
            </a:r>
            <a:endParaRPr lang="zh-TW" altLang="en-US" dirty="0"/>
          </a:p>
          <a:p>
            <a:r>
              <a:rPr lang="en-US" altLang="zh-TW" dirty="0" smtClean="0"/>
              <a:t>F</a:t>
            </a:r>
            <a:r>
              <a:rPr lang="zh-TW" altLang="en-US" dirty="0" smtClean="0"/>
              <a:t>ormat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88" y="1498266"/>
            <a:ext cx="7252637" cy="441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950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31" y="1165827"/>
            <a:ext cx="7587502" cy="451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099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41016" y="2708307"/>
            <a:ext cx="23503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oncludes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029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6960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697" y="31936"/>
            <a:ext cx="4906642" cy="682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901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743" y="162319"/>
            <a:ext cx="5430040" cy="655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234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51" y="1618060"/>
            <a:ext cx="6536183" cy="434626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88151" y="658789"/>
            <a:ext cx="42204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TW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Design</a:t>
            </a:r>
          </a:p>
        </p:txBody>
      </p:sp>
    </p:spTree>
    <p:extLst>
      <p:ext uri="{BB962C8B-B14F-4D97-AF65-F5344CB8AC3E}">
        <p14:creationId xmlns:p14="http://schemas.microsoft.com/office/powerpoint/2010/main" val="1414872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60518" y="873705"/>
            <a:ext cx="70537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The decoder allocates simple arrays for input and output, </a:t>
            </a:r>
            <a:r>
              <a:rPr lang="zh-TW" altLang="en-US" dirty="0" smtClean="0"/>
              <a:t>as well </a:t>
            </a:r>
            <a:r>
              <a:rPr lang="zh-TW" altLang="en-US" dirty="0"/>
              <a:t>as an auxiliary array of size N used to detect </a:t>
            </a:r>
            <a:r>
              <a:rPr lang="zh-TW" altLang="en-US" dirty="0" smtClean="0"/>
              <a:t>synchronization</a:t>
            </a:r>
            <a:r>
              <a:rPr lang="en-US" altLang="zh-TW" dirty="0"/>
              <a:t> </a:t>
            </a:r>
            <a:r>
              <a:rPr lang="zh-TW" altLang="en-US" dirty="0" smtClean="0"/>
              <a:t>points, </a:t>
            </a:r>
            <a:r>
              <a:rPr lang="zh-TW" altLang="en-US" dirty="0"/>
              <a:t>in the following referred to as sync_info.</a:t>
            </a:r>
          </a:p>
        </p:txBody>
      </p:sp>
      <p:sp>
        <p:nvSpPr>
          <p:cNvPr id="6" name="矩形 5"/>
          <p:cNvSpPr/>
          <p:nvPr/>
        </p:nvSpPr>
        <p:spPr>
          <a:xfrm>
            <a:off x="860518" y="2349770"/>
            <a:ext cx="41148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b="1" dirty="0"/>
              <a:t>sync_info </a:t>
            </a:r>
            <a:r>
              <a:rPr lang="zh-TW" altLang="en-US" dirty="0"/>
              <a:t>are structures, consisting of three integers: </a:t>
            </a:r>
            <a:r>
              <a:rPr lang="zh-TW" altLang="en-US" dirty="0" smtClean="0"/>
              <a:t>(unit,bit, </a:t>
            </a:r>
            <a:r>
              <a:rPr lang="zh-TW" altLang="en-US" dirty="0"/>
              <a:t>num_symbols).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860518" y="3749212"/>
                <a:ext cx="7709338" cy="12926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TW" altLang="en-US" dirty="0"/>
                  <a:t>A second auxiliary array is required to record in which </a:t>
                </a:r>
                <a:r>
                  <a:rPr lang="zh-TW" altLang="en-US" dirty="0" smtClean="0"/>
                  <a:t>sequences synchronization </a:t>
                </a:r>
                <a:r>
                  <a:rPr lang="zh-TW" altLang="en-US" dirty="0"/>
                  <a:t>has been achieved. Corresponding to the </a:t>
                </a:r>
                <a:r>
                  <a:rPr lang="zh-TW" altLang="en-US" dirty="0" smtClean="0"/>
                  <a:t>number </a:t>
                </a:r>
                <a:r>
                  <a:rPr lang="zh-TW" altLang="en-US" dirty="0"/>
                  <a:t>of sequences, its size equals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zh-TW" alt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zh-TW" altLang="en-US" dirty="0"/>
                  <a:t> and the elements it </a:t>
                </a:r>
                <a:r>
                  <a:rPr lang="zh-TW" altLang="en-US" dirty="0" smtClean="0"/>
                  <a:t>contains are </a:t>
                </a:r>
                <a:r>
                  <a:rPr lang="zh-TW" altLang="en-US" dirty="0"/>
                  <a:t>Boolean. In the following, this array will be referred to </a:t>
                </a:r>
                <a:r>
                  <a:rPr lang="zh-TW" altLang="en-US" dirty="0" smtClean="0"/>
                  <a:t>as</a:t>
                </a:r>
                <a:r>
                  <a:rPr lang="en-US" altLang="zh-TW" dirty="0"/>
                  <a:t> </a:t>
                </a:r>
                <a:r>
                  <a:rPr lang="en-US" altLang="zh-TW" sz="2400" b="1" dirty="0" err="1"/>
                  <a:t>sequence_synced</a:t>
                </a:r>
                <a:endParaRPr lang="zh-TW" altLang="en-US" sz="2400" b="1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518" y="3749212"/>
                <a:ext cx="7709338" cy="1292662"/>
              </a:xfrm>
              <a:prstGeom prst="rect">
                <a:avLst/>
              </a:prstGeom>
              <a:blipFill>
                <a:blip r:embed="rId2"/>
                <a:stretch>
                  <a:fillRect l="-632" t="-2358" r="-1186" b="-99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8792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82" y="607115"/>
            <a:ext cx="6708590" cy="491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994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46" y="95455"/>
            <a:ext cx="6900899" cy="628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33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29845</TotalTime>
  <Words>1132</Words>
  <Application>Microsoft Office PowerPoint</Application>
  <PresentationFormat>如螢幕大小 (4:3)</PresentationFormat>
  <Paragraphs>89</Paragraphs>
  <Slides>23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1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Massively Parallel Huffman Decoding on GPUs</vt:lpstr>
      <vt:lpstr>Abstract(1/3)</vt:lpstr>
      <vt:lpstr>Abstract(2/3)</vt:lpstr>
      <vt:lpstr>Abstract(3/3)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computing a longest common increasing subsequence</dc:title>
  <dc:creator>GaryC</dc:creator>
  <cp:lastModifiedBy>pplab-class</cp:lastModifiedBy>
  <cp:revision>253</cp:revision>
  <dcterms:created xsi:type="dcterms:W3CDTF">2017-09-25T08:45:50Z</dcterms:created>
  <dcterms:modified xsi:type="dcterms:W3CDTF">2018-10-23T11:38:46Z</dcterms:modified>
</cp:coreProperties>
</file>