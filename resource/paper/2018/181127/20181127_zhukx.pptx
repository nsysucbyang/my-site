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02" r:id="rId2"/>
    <p:sldId id="303" r:id="rId3"/>
    <p:sldId id="304" r:id="rId4"/>
    <p:sldId id="295" r:id="rId5"/>
    <p:sldId id="278" r:id="rId6"/>
    <p:sldId id="296" r:id="rId7"/>
    <p:sldId id="315" r:id="rId8"/>
    <p:sldId id="297" r:id="rId9"/>
    <p:sldId id="298" r:id="rId10"/>
    <p:sldId id="299" r:id="rId11"/>
    <p:sldId id="300" r:id="rId12"/>
    <p:sldId id="301" r:id="rId13"/>
    <p:sldId id="305" r:id="rId14"/>
    <p:sldId id="306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9933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69" autoAdjust="0"/>
    <p:restoredTop sz="78307" autoAdjust="0"/>
  </p:normalViewPr>
  <p:slideViewPr>
    <p:cSldViewPr snapToGrid="0">
      <p:cViewPr varScale="1">
        <p:scale>
          <a:sx n="75" d="100"/>
          <a:sy n="75" d="100"/>
        </p:scale>
        <p:origin x="50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1CE27-751F-48D9-A3E6-37B85B410D4A}" type="datetimeFigureOut">
              <a:rPr lang="zh-TW" altLang="en-US" smtClean="0"/>
              <a:t>2018/11/27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2EB79-9C15-4368-B725-BB8D0D1C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8450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22EB79-9C15-4368-B725-BB8D0D1C7B1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6262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Calibri" panose="020F050202020403020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  <a:latin typeface="Calibri" panose="020F050202020403020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63CDD-1571-4D07-AD50-27DEDA2DAB08}" type="datetime1">
              <a:rPr lang="zh-TW" altLang="en-US" smtClean="0"/>
              <a:t>2018/11/27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Calibri" panose="020F050202020403020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Calibri" panose="020F0502020204030204" charset="0"/>
              </a:defRPr>
            </a:lvl1pPr>
            <a:lvl2pPr>
              <a:defRPr>
                <a:latin typeface="Calibri" panose="020F0502020204030204" charset="0"/>
              </a:defRPr>
            </a:lvl2pPr>
            <a:lvl3pPr>
              <a:defRPr>
                <a:latin typeface="Calibri" panose="020F0502020204030204" charset="0"/>
              </a:defRPr>
            </a:lvl3pPr>
            <a:lvl4pPr>
              <a:defRPr>
                <a:latin typeface="Calibri" panose="020F0502020204030204" charset="0"/>
              </a:defRPr>
            </a:lvl4pPr>
            <a:lvl5pPr>
              <a:defRPr>
                <a:latin typeface="Calibri" panose="020F0502020204030204" charset="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0CF3-7BCB-4E41-A4BC-7F7C7D47433D}" type="datetime1">
              <a:rPr lang="zh-TW" altLang="en-US" smtClean="0"/>
              <a:t>2018/11/27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863AD-E347-426A-B227-78A9B42781C3}" type="datetime1">
              <a:rPr lang="zh-TW" altLang="en-US" smtClean="0"/>
              <a:t>2018/11/27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F46-57F3-4B32-B3C0-034060244659}" type="datetime1">
              <a:rPr lang="zh-TW" altLang="en-US" smtClean="0"/>
              <a:t>2018/11/27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E6354-929A-48E4-A569-5065F8787DBB}" type="datetime1">
              <a:rPr lang="zh-TW" altLang="en-US" smtClean="0"/>
              <a:t>2018/11/27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B07A-C303-4A11-829E-75A08D84F791}" type="datetime1">
              <a:rPr lang="zh-TW" altLang="en-US" smtClean="0"/>
              <a:t>2018/11/27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0FAA-EAB9-46FF-9B2E-6C03EFE0E627}" type="datetime1">
              <a:rPr lang="zh-TW" altLang="en-US" smtClean="0"/>
              <a:t>2018/11/27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5960-3F62-4BA7-8DEF-58213E9FC750}" type="datetime1">
              <a:rPr lang="zh-TW" altLang="en-US" smtClean="0"/>
              <a:t>2018/11/27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95139-73A5-4D37-9F65-42DD6EFCB362}" type="datetime1">
              <a:rPr lang="zh-TW" altLang="en-US" smtClean="0"/>
              <a:t>2018/11/27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B9CA-F34A-4005-B66B-4638821FBB36}" type="datetime1">
              <a:rPr lang="zh-TW" altLang="en-US" smtClean="0"/>
              <a:t>2018/11/27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FA3D-57A8-4A36-8AB7-98D4B7F81A6B}" type="datetime1">
              <a:rPr lang="zh-TW" altLang="en-US" smtClean="0"/>
              <a:t>2018/11/27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CB9FC-3C71-41FD-914C-6EDD2F45F0F9}" type="datetime1">
              <a:rPr lang="zh-TW" altLang="en-US" smtClean="0"/>
              <a:t>2018/11/27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CD063-7F18-423D-A692-CC9D343FD360}" type="slidenum">
              <a:rPr lang="zh-TW" altLang="en-US" smtClean="0"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charset="0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charset="0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charset="0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15539" y="471285"/>
            <a:ext cx="9359651" cy="1356957"/>
          </a:xfrm>
        </p:spPr>
        <p:txBody>
          <a:bodyPr>
            <a:noAutofit/>
          </a:bodyPr>
          <a:lstStyle/>
          <a:p>
            <a:r>
              <a:rPr sz="3600" dirty="0"/>
              <a:t>A Neural Probabilistic Language Model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83540" y="2389505"/>
            <a:ext cx="11425555" cy="1039495"/>
          </a:xfrm>
        </p:spPr>
        <p:txBody>
          <a:bodyPr>
            <a:noAutofit/>
          </a:bodyPr>
          <a:lstStyle/>
          <a:p>
            <a:r>
              <a:rPr lang="en-US" altLang="zh-TW" sz="2800"/>
              <a:t>Yoshua Bengio , Réjean Ducharme, Pascal Vincent, Christian Jauvin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sz="2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354568" y="6485003"/>
            <a:ext cx="2743200" cy="365125"/>
          </a:xfrm>
        </p:spPr>
        <p:txBody>
          <a:bodyPr/>
          <a:lstStyle/>
          <a:p>
            <a:fld id="{8DCCD063-7F18-423D-A692-CC9D343FD360}" type="slidenum">
              <a:rPr lang="zh-TW" altLang="en-US" smtClean="0"/>
              <a:t>1</a:t>
            </a:fld>
            <a:endParaRPr lang="zh-TW" altLang="en-US" dirty="0"/>
          </a:p>
        </p:txBody>
      </p:sp>
      <p:sp>
        <p:nvSpPr>
          <p:cNvPr id="5" name="副標題 2"/>
          <p:cNvSpPr txBox="1"/>
          <p:nvPr/>
        </p:nvSpPr>
        <p:spPr>
          <a:xfrm>
            <a:off x="1048428" y="3891090"/>
            <a:ext cx="10095142" cy="9027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Journal of Machine Learning Research </a:t>
            </a:r>
          </a:p>
          <a:p>
            <a:r>
              <a:rPr lang="en-US" altLang="zh-TW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3 (2003) 1137–1155</a:t>
            </a:r>
          </a:p>
        </p:txBody>
      </p:sp>
      <p:sp>
        <p:nvSpPr>
          <p:cNvPr id="6" name="副標題 2"/>
          <p:cNvSpPr txBox="1"/>
          <p:nvPr/>
        </p:nvSpPr>
        <p:spPr>
          <a:xfrm>
            <a:off x="1192823" y="5265553"/>
            <a:ext cx="9806355" cy="9027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Presenter: Ke-Xin Zhu</a:t>
            </a:r>
          </a:p>
          <a:p>
            <a:r>
              <a:rPr lang="en-US" altLang="zh-TW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Date: 2018/11/20</a:t>
            </a:r>
            <a:endParaRPr lang="zh-TW" altLang="en-US" sz="2800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r>
              <a:rPr lang="zh-TW" altLang="en-US" dirty="0"/>
              <a:t>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559425"/>
            <a:ext cx="10109886" cy="4446839"/>
          </a:xfrm>
        </p:spPr>
        <p:txBody>
          <a:bodyPr>
            <a:noAutofit/>
          </a:bodyPr>
          <a:lstStyle/>
          <a:p>
            <a:pPr marL="0" indent="0" fontAlgn="auto">
              <a:buNone/>
            </a:pPr>
            <a:r>
              <a:rPr lang="en-US" altLang="zh-TW" sz="2400" dirty="0"/>
              <a:t>A goal of statistical language modeling is to learn the joint probability function of sequences of words in a language. This is intrinsically difficult because of the </a:t>
            </a:r>
            <a:r>
              <a:rPr lang="en-US" altLang="zh-TW" sz="2400" b="1" dirty="0"/>
              <a:t>curse of dimensionality</a:t>
            </a:r>
            <a:r>
              <a:rPr lang="en-US" altLang="zh-TW" sz="2400" dirty="0"/>
              <a:t>: a word sequence on which </a:t>
            </a:r>
            <a:r>
              <a:rPr lang="en-US" altLang="zh-TW" sz="2400" dirty="0" smtClean="0"/>
              <a:t>the model will </a:t>
            </a:r>
            <a:r>
              <a:rPr lang="en-US" altLang="zh-TW" sz="2400" dirty="0"/>
              <a:t>be tested is likely to be different from all the word sequences seen during training. Traditional but very successful approaches based on n-grams obtain generalization by concatenating very short overlapping sequences seen in the training set. We propose to fight the curse of dimensionality by </a:t>
            </a:r>
            <a:r>
              <a:rPr lang="en-US" altLang="zh-TW" sz="2400" b="1" dirty="0"/>
              <a:t>learning a distributed representation for words</a:t>
            </a:r>
            <a:r>
              <a:rPr lang="en-US" altLang="zh-TW" sz="2400" dirty="0"/>
              <a:t> which allows each training sentence to inform the model about an exponential number of semantically neighboring sentences. The model learns simultaneously (1) a distributed representation for each word along with (2) the probability function for word sequences, expressed in terms of these representations.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r>
              <a:rPr lang="zh-TW" altLang="en-US" dirty="0"/>
              <a:t>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581650"/>
            <a:ext cx="10011032" cy="4446839"/>
          </a:xfrm>
        </p:spPr>
        <p:txBody>
          <a:bodyPr>
            <a:noAutofit/>
          </a:bodyPr>
          <a:lstStyle/>
          <a:p>
            <a:pPr marL="0" indent="0" fontAlgn="auto">
              <a:buNone/>
            </a:pPr>
            <a:r>
              <a:rPr lang="en-US" altLang="zh-TW" sz="2400" dirty="0"/>
              <a:t>Generalization is obtained because a sequence of words that has never been seen before gets high probability if it is made of words that are similar (in the sense of having a nearby representation) to words forming an already seen sentence. Training such large models (with millions of parameters) within a reasonable time is itself a significant challenge. We report on experiments using neural networks for the probability function, showing on two text corpora that the proposed approach significantly improves on state-of-the-art n-gram models, and that the proposed approach allows to take advantage of longer contexts.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model of language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555615"/>
            <a:ext cx="10011032" cy="44468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/>
              <a:t>A statistical model of language can be represented by the conditional probability of the next word given all the previous ones, since:</a:t>
            </a:r>
          </a:p>
          <a:p>
            <a:pPr marL="0" indent="0">
              <a:buNone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65" y="2856230"/>
            <a:ext cx="3825240" cy="11455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315" y="4097655"/>
            <a:ext cx="3475990" cy="4572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315" y="4946650"/>
            <a:ext cx="3485515" cy="3238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4315" y="5457825"/>
            <a:ext cx="4828540" cy="285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n-gram models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4981" t="3000" r="33842" b="66724"/>
          <a:stretch>
            <a:fillRect/>
          </a:stretch>
        </p:blipFill>
        <p:spPr>
          <a:xfrm>
            <a:off x="4286250" y="4189095"/>
            <a:ext cx="7230110" cy="20129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8200" y="1496060"/>
            <a:ext cx="907415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TW" sz="2800">
                <a:latin typeface="Calibri" panose="020F0502020204030204" charset="0"/>
              </a:rPr>
              <a:t>The n-gram models construct tables of conditional probabilities for the next word, for each one of a large number of contexts, i.e.combinations of the last n−1 words: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79725"/>
            <a:ext cx="4258945" cy="810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Fighting the Curse of Dimensionality with Distributed Representations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10" y="1859280"/>
            <a:ext cx="8270240" cy="29483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05205" y="4972685"/>
            <a:ext cx="1077722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TW" sz="2800">
                <a:latin typeface="Calibri" panose="020F0502020204030204" charset="0"/>
              </a:rPr>
              <a:t>1. 為在詞表中的每一個詞分配一個分佈式的詞特徵向量</a:t>
            </a:r>
            <a:r>
              <a:rPr lang="zh-CN" altLang="en-US" sz="2800">
                <a:latin typeface="Calibri" panose="020F0502020204030204" charset="0"/>
                <a:ea typeface="SimSun" panose="02010600030101010101" pitchFamily="2" charset="-122"/>
              </a:rPr>
              <a:t>；</a:t>
            </a:r>
          </a:p>
          <a:p>
            <a:r>
              <a:rPr lang="en-US" altLang="zh-TW" sz="2800">
                <a:latin typeface="Calibri" panose="020F0502020204030204" charset="0"/>
              </a:rPr>
              <a:t>2. 詞序列中出現的詞的特徵向量表示的詞序列的聯合概率函數</a:t>
            </a:r>
            <a:r>
              <a:rPr lang="zh-CN" altLang="en-US" sz="2800">
                <a:latin typeface="Calibri" panose="020F0502020204030204" charset="0"/>
                <a:ea typeface="SimSun" panose="02010600030101010101" pitchFamily="2" charset="-122"/>
              </a:rPr>
              <a:t>；</a:t>
            </a:r>
            <a:endParaRPr lang="en-US" altLang="zh-TW" sz="2800">
              <a:latin typeface="Calibri" panose="020F0502020204030204" charset="0"/>
            </a:endParaRPr>
          </a:p>
          <a:p>
            <a:r>
              <a:rPr lang="en-US" altLang="zh-TW" sz="2800">
                <a:latin typeface="Calibri" panose="020F0502020204030204" charset="0"/>
              </a:rPr>
              <a:t>3. 學習詞特徵向量和概率函數的參數</a:t>
            </a:r>
            <a:r>
              <a:rPr lang="zh-CN" altLang="en-US" sz="2800">
                <a:latin typeface="Calibri" panose="020F0502020204030204" charset="0"/>
                <a:ea typeface="SimSun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using neural networks to model high-dimensional discrete distributions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1587" b="10958"/>
          <a:stretch>
            <a:fillRect/>
          </a:stretch>
        </p:blipFill>
        <p:spPr>
          <a:xfrm>
            <a:off x="1415415" y="2225040"/>
            <a:ext cx="9213215" cy="7378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885" y="3162300"/>
            <a:ext cx="3676015" cy="533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5885" y="4006850"/>
            <a:ext cx="6247765" cy="4762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5415" y="4832350"/>
            <a:ext cx="6904990" cy="6191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07390" y="1894840"/>
            <a:ext cx="10777220" cy="4461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TW" sz="2000">
                <a:latin typeface="Calibri" panose="020F0502020204030204" charset="0"/>
              </a:rPr>
              <a:t>1. </a:t>
            </a:r>
            <a:r>
              <a:rPr lang="zh-CN" altLang="en-US" sz="2000">
                <a:latin typeface="Calibri" panose="020F0502020204030204" charset="0"/>
                <a:ea typeface="SimSun" panose="02010600030101010101" pitchFamily="2" charset="-122"/>
              </a:rPr>
              <a:t>使用神經網絡對高維離散分佈建模：</a:t>
            </a:r>
          </a:p>
          <a:p>
            <a:endParaRPr lang="zh-CN" altLang="en-US" sz="2000">
              <a:latin typeface="Calibri" panose="020F0502020204030204" charset="0"/>
              <a:ea typeface="SimSun" panose="02010600030101010101" pitchFamily="2" charset="-122"/>
            </a:endParaRPr>
          </a:p>
          <a:p>
            <a:endParaRPr lang="zh-CN" altLang="en-US" sz="2000">
              <a:latin typeface="Calibri" panose="020F0502020204030204" charset="0"/>
              <a:ea typeface="SimSun" panose="02010600030101010101" pitchFamily="2" charset="-122"/>
            </a:endParaRPr>
          </a:p>
          <a:p>
            <a:r>
              <a:rPr lang="en-US" altLang="zh-CN" sz="2000">
                <a:latin typeface="Calibri" panose="020F0502020204030204" charset="0"/>
                <a:ea typeface="SimSun" panose="02010600030101010101" pitchFamily="2" charset="-122"/>
              </a:rPr>
              <a:t>2.</a:t>
            </a:r>
            <a:r>
              <a:rPr lang="zh-CN" altLang="en-US" sz="2000">
                <a:latin typeface="Calibri" panose="020F0502020204030204" charset="0"/>
                <a:ea typeface="SimSun" panose="02010600030101010101" pitchFamily="2" charset="-122"/>
              </a:rPr>
              <a:t>條件概率函數：</a:t>
            </a:r>
          </a:p>
          <a:p>
            <a:endParaRPr lang="zh-CN" altLang="en-US" sz="2000">
              <a:latin typeface="Calibri" panose="020F0502020204030204" charset="0"/>
              <a:ea typeface="SimSun" panose="02010600030101010101" pitchFamily="2" charset="-122"/>
            </a:endParaRPr>
          </a:p>
          <a:p>
            <a:endParaRPr lang="zh-CN" altLang="en-US" sz="2000">
              <a:latin typeface="Calibri" panose="020F0502020204030204" charset="0"/>
              <a:ea typeface="SimSun" panose="02010600030101010101" pitchFamily="2" charset="-122"/>
            </a:endParaRPr>
          </a:p>
          <a:p>
            <a:r>
              <a:rPr lang="en-US" altLang="zh-CN" sz="2000">
                <a:latin typeface="Calibri" panose="020F0502020204030204" charset="0"/>
                <a:ea typeface="SimSun" panose="02010600030101010101" pitchFamily="2" charset="-122"/>
              </a:rPr>
              <a:t>3.</a:t>
            </a:r>
            <a:r>
              <a:rPr lang="zh-CN" altLang="en-US" sz="2000">
                <a:latin typeface="Calibri" panose="020F0502020204030204" charset="0"/>
                <a:ea typeface="SimSun" panose="02010600030101010101" pitchFamily="2" charset="-122"/>
              </a:rPr>
              <a:t>基於詞向量的概率函數：</a:t>
            </a:r>
          </a:p>
          <a:p>
            <a:endParaRPr lang="zh-CN" altLang="en-US" sz="2000">
              <a:latin typeface="Calibri" panose="020F0502020204030204" charset="0"/>
              <a:ea typeface="SimSun" panose="02010600030101010101" pitchFamily="2" charset="-122"/>
            </a:endParaRPr>
          </a:p>
          <a:p>
            <a:endParaRPr lang="en-US" altLang="zh-CN" sz="2000">
              <a:latin typeface="Calibri" panose="020F0502020204030204" charset="0"/>
              <a:ea typeface="SimSun" panose="02010600030101010101" pitchFamily="2" charset="-122"/>
            </a:endParaRPr>
          </a:p>
          <a:p>
            <a:r>
              <a:rPr lang="en-US" altLang="zh-CN" sz="2000">
                <a:latin typeface="Calibri" panose="020F0502020204030204" charset="0"/>
                <a:ea typeface="SimSun" panose="02010600030101010101" pitchFamily="2" charset="-122"/>
              </a:rPr>
              <a:t>4.</a:t>
            </a:r>
            <a:r>
              <a:rPr lang="zh-CN" altLang="en-US" sz="2000">
                <a:latin typeface="Calibri" panose="020F0502020204030204" charset="0"/>
                <a:ea typeface="SimSun" panose="02010600030101010101" pitchFamily="2" charset="-122"/>
              </a:rPr>
              <a:t>訓練目標</a:t>
            </a:r>
            <a:r>
              <a:rPr lang="en-US" altLang="zh-CN" sz="2000">
                <a:latin typeface="Calibri" panose="020F0502020204030204" charset="0"/>
                <a:ea typeface="SimSun" panose="02010600030101010101" pitchFamily="2" charset="-122"/>
              </a:rPr>
              <a:t>-</a:t>
            </a:r>
            <a:r>
              <a:rPr lang="zh-CN" altLang="en-US" sz="2000">
                <a:latin typeface="Calibri" panose="020F0502020204030204" charset="0"/>
                <a:ea typeface="SimSun" panose="02010600030101010101" pitchFamily="2" charset="-122"/>
              </a:rPr>
              <a:t>最大似然化：</a:t>
            </a:r>
            <a:endParaRPr lang="zh-CN" altLang="en-US" sz="2800">
              <a:latin typeface="Calibri" panose="020F0502020204030204" charset="0"/>
              <a:ea typeface="SimSun" panose="02010600030101010101" pitchFamily="2" charset="-122"/>
            </a:endParaRPr>
          </a:p>
          <a:p>
            <a:endParaRPr lang="zh-CN" altLang="en-US" sz="2800">
              <a:latin typeface="Calibri" panose="020F0502020204030204" charset="0"/>
              <a:ea typeface="SimSun" panose="02010600030101010101" pitchFamily="2" charset="-122"/>
            </a:endParaRPr>
          </a:p>
          <a:p>
            <a:endParaRPr lang="zh-CN" altLang="en-US" sz="2800">
              <a:latin typeface="Calibri" panose="020F0502020204030204" charset="0"/>
              <a:ea typeface="SimSun" panose="02010600030101010101" pitchFamily="2" charset="-122"/>
            </a:endParaRPr>
          </a:p>
          <a:p>
            <a:endParaRPr lang="zh-CN" altLang="en-US" sz="2800">
              <a:latin typeface="Calibri" panose="020F050202020403020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+mn-ea"/>
              </a:rPr>
              <a:t>A Neural Model (1/2)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1549400"/>
            <a:ext cx="7734935" cy="5060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A Neural Model (2/2)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>
                <a:ea typeface="SimSun" panose="02010600030101010101" pitchFamily="2" charset="-122"/>
              </a:rPr>
              <a:t>詞的概率：</a:t>
            </a:r>
          </a:p>
          <a:p>
            <a:endParaRPr lang="zh-CN" altLang="en-US">
              <a:ea typeface="SimSun" panose="02010600030101010101" pitchFamily="2" charset="-122"/>
            </a:endParaRPr>
          </a:p>
          <a:p>
            <a:r>
              <a:rPr lang="zh-CN">
                <a:ea typeface="SimSun" panose="02010600030101010101" pitchFamily="2" charset="-122"/>
              </a:rPr>
              <a:t>隱含層</a:t>
            </a:r>
            <a:r>
              <a:rPr lang="zh-CN" altLang="en-US">
                <a:ea typeface="SimSun" panose="02010600030101010101" pitchFamily="2" charset="-122"/>
              </a:rPr>
              <a:t>：</a:t>
            </a:r>
          </a:p>
          <a:p>
            <a:endParaRPr lang="zh-CN" altLang="en-US">
              <a:ea typeface="SimSun" panose="02010600030101010101" pitchFamily="2" charset="-122"/>
            </a:endParaRPr>
          </a:p>
          <a:p>
            <a:r>
              <a:rPr lang="zh-CN" altLang="en-US">
                <a:ea typeface="SimSun" panose="02010600030101010101" pitchFamily="2" charset="-122"/>
              </a:rPr>
              <a:t>詞向量：</a:t>
            </a:r>
          </a:p>
          <a:p>
            <a:endParaRPr lang="zh-CN" altLang="en-US">
              <a:ea typeface="SimSun" panose="02010600030101010101" pitchFamily="2" charset="-122"/>
            </a:endParaRPr>
          </a:p>
          <a:p>
            <a:r>
              <a:rPr lang="zh-CN" altLang="en-US">
                <a:ea typeface="SimSun" panose="02010600030101010101" pitchFamily="2" charset="-122"/>
              </a:rPr>
              <a:t>自由參數：</a:t>
            </a:r>
          </a:p>
          <a:p>
            <a:endParaRPr lang="zh-CN" altLang="en-US">
              <a:ea typeface="SimSun" panose="02010600030101010101" pitchFamily="2" charset="-122"/>
            </a:endParaRPr>
          </a:p>
          <a:p>
            <a:r>
              <a:rPr lang="zh-CN" altLang="en-US">
                <a:ea typeface="SimSun" panose="02010600030101010101" pitchFamily="2" charset="-122"/>
              </a:rPr>
              <a:t>隨機梯度上升：</a:t>
            </a:r>
          </a:p>
          <a:p>
            <a:endParaRPr lang="zh-CN" altLang="en-US">
              <a:ea typeface="SimSun" panose="02010600030101010101" pitchFamily="2" charset="-122"/>
            </a:endParaRPr>
          </a:p>
          <a:p>
            <a:endParaRPr lang="zh-CN" altLang="en-US">
              <a:ea typeface="SimSun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895" y="1691005"/>
            <a:ext cx="3295015" cy="6572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640" y="2866390"/>
            <a:ext cx="3056890" cy="3524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930" y="3825240"/>
            <a:ext cx="3914140" cy="3524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920" y="4657725"/>
            <a:ext cx="2295525" cy="4191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8930" y="5510530"/>
            <a:ext cx="3923665" cy="6667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rcRect l="2752" t="4646"/>
          <a:stretch>
            <a:fillRect/>
          </a:stretch>
        </p:blipFill>
        <p:spPr>
          <a:xfrm>
            <a:off x="8773795" y="2880995"/>
            <a:ext cx="2019300" cy="2997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3795" y="3357880"/>
            <a:ext cx="1981200" cy="2952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3795" y="3825240"/>
            <a:ext cx="752475" cy="2952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8170" y="3825240"/>
            <a:ext cx="1266825" cy="33337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3795" y="4324350"/>
            <a:ext cx="2837815" cy="33337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74430" y="4855845"/>
            <a:ext cx="2694940" cy="3048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21420" y="5359400"/>
            <a:ext cx="1971675" cy="295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Implementation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555615"/>
            <a:ext cx="10011032" cy="444683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zh-TW"/>
          </a:p>
          <a:p>
            <a:pPr marL="0" indent="0">
              <a:buNone/>
            </a:pPr>
            <a:r>
              <a:rPr lang="en-US" altLang="zh-TW"/>
              <a:t>1. Data-Parallel Processing</a:t>
            </a:r>
            <a:r>
              <a:rPr lang="zh-CN" altLang="en-US">
                <a:ea typeface="SimSun" panose="02010600030101010101" pitchFamily="2" charset="-122"/>
              </a:rPr>
              <a:t>：</a:t>
            </a:r>
            <a:r>
              <a:rPr lang="zh-CN" altLang="en-US" b="1">
                <a:ea typeface="SimSun" panose="02010600030101010101" pitchFamily="2" charset="-122"/>
              </a:rPr>
              <a:t>each processor works on a different subset of the data</a:t>
            </a:r>
            <a:r>
              <a:rPr lang="en-US" altLang="zh-CN" b="1">
                <a:ea typeface="SimSun" panose="02010600030101010101" pitchFamily="2" charset="-122"/>
              </a:rPr>
              <a:t>.</a:t>
            </a:r>
          </a:p>
          <a:p>
            <a:pPr marL="0" indent="0">
              <a:buNone/>
            </a:pPr>
            <a:endParaRPr lang="en-US" altLang="zh-CN" b="1"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>
                <a:ea typeface="SimSun" panose="02010600030101010101" pitchFamily="2" charset="-122"/>
              </a:rPr>
              <a:t>2. Parameter-Parallel Processing: </a:t>
            </a:r>
            <a:r>
              <a:rPr lang="en-US" altLang="zh-CN" b="1">
                <a:ea typeface="SimSun" panose="02010600030101010101" pitchFamily="2" charset="-122"/>
              </a:rPr>
              <a:t>parallelize across the parameters</a:t>
            </a:r>
            <a:r>
              <a:rPr lang="en-US" altLang="zh-CN">
                <a:ea typeface="SimSun" panose="02010600030101010101" pitchFamily="2" charset="-122"/>
              </a:rPr>
              <a:t>, in particular the parameters of the output units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505" y="4686935"/>
            <a:ext cx="5380990" cy="828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52402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ym typeface="+mn-ea"/>
              </a:rPr>
              <a:t>The implementation of this strategy (1/3)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790" y="1236345"/>
            <a:ext cx="7424420" cy="54851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The implementation of this strategy (1/2)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575" y="1478915"/>
            <a:ext cx="5400040" cy="96073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740" y="2439670"/>
            <a:ext cx="5400040" cy="42388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</a:t>
            </a:r>
            <a:r>
              <a:rPr lang="en-US" dirty="0">
                <a:sym typeface="+mn-ea"/>
              </a:rPr>
              <a:t>(1/2)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225" y="669925"/>
            <a:ext cx="5895340" cy="5993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>
                <a:sym typeface="+mn-ea"/>
              </a:rPr>
              <a:t>Results(2/2)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0" y="1884045"/>
            <a:ext cx="8037830" cy="2305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240" y="4466590"/>
            <a:ext cx="4704715" cy="70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">
      <a:majorFont>
        <a:latin typeface="Tw Cen MT"/>
        <a:ea typeface="微軟正黑體"/>
        <a:cs typeface=""/>
      </a:majorFont>
      <a:minorFont>
        <a:latin typeface="Tw Cen M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522</Words>
  <Application>Microsoft Office PowerPoint</Application>
  <PresentationFormat>寬螢幕</PresentationFormat>
  <Paragraphs>65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SimSun</vt:lpstr>
      <vt:lpstr>微軟正黑體</vt:lpstr>
      <vt:lpstr>新細明體</vt:lpstr>
      <vt:lpstr>Arial</vt:lpstr>
      <vt:lpstr>Calibri</vt:lpstr>
      <vt:lpstr>Tw Cen MT</vt:lpstr>
      <vt:lpstr>Office 佈景主題</vt:lpstr>
      <vt:lpstr>A Neural Probabilistic Language Model</vt:lpstr>
      <vt:lpstr>Abstract (1/2)</vt:lpstr>
      <vt:lpstr>Abstract (2/2)</vt:lpstr>
      <vt:lpstr>Statistical model of language</vt:lpstr>
      <vt:lpstr>n-gram models</vt:lpstr>
      <vt:lpstr>Fighting the Curse of Dimensionality with Distributed Representations</vt:lpstr>
      <vt:lpstr>using neural networks to model high-dimensional discrete distributions</vt:lpstr>
      <vt:lpstr>A Neural Model (1/2)</vt:lpstr>
      <vt:lpstr>A Neural Model (2/2)</vt:lpstr>
      <vt:lpstr>Parallel Implementation</vt:lpstr>
      <vt:lpstr>The implementation of this strategy (1/3)</vt:lpstr>
      <vt:lpstr>The implementation of this strategy (1/2)</vt:lpstr>
      <vt:lpstr>Results(1/2)</vt:lpstr>
      <vt:lpstr>Results(2/2)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for blind biosignal classification model</dc:title>
  <dc:creator>喵owo</dc:creator>
  <cp:lastModifiedBy>pplab-class</cp:lastModifiedBy>
  <cp:revision>492</cp:revision>
  <dcterms:created xsi:type="dcterms:W3CDTF">2017-10-09T09:38:00Z</dcterms:created>
  <dcterms:modified xsi:type="dcterms:W3CDTF">2018-11-27T11:37:02Z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2052-10.1.0.7668</vt:lpwstr>
  </property>
</Properties>
</file>