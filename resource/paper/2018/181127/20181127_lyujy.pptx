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73" r:id="rId3"/>
    <p:sldId id="257" r:id="rId4"/>
    <p:sldId id="283" r:id="rId5"/>
    <p:sldId id="287" r:id="rId6"/>
    <p:sldId id="289" r:id="rId7"/>
    <p:sldId id="284" r:id="rId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75" d="100"/>
          <a:sy n="75" d="100"/>
        </p:scale>
        <p:origin x="24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2018/11/27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389693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4153909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850308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2E469C4C-F457-4167-B363-FB6DD59DC296}"/>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5" name="頁尾版面配置區 4">
            <a:extLst>
              <a:ext uri="{FF2B5EF4-FFF2-40B4-BE49-F238E27FC236}">
                <a16:creationId xmlns:a16="http://schemas.microsoft.com/office/drawing/2014/main" xmlns=""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88E6861-BAD9-4B1E-B7CC-ED4F8B71DB22}"/>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5" name="頁尾版面配置區 4">
            <a:extLst>
              <a:ext uri="{FF2B5EF4-FFF2-40B4-BE49-F238E27FC236}">
                <a16:creationId xmlns:a16="http://schemas.microsoft.com/office/drawing/2014/main" xmlns=""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DBCE3ACB-7971-48F1-9875-489AE8943338}"/>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5" name="頁尾版面配置區 4">
            <a:extLst>
              <a:ext uri="{FF2B5EF4-FFF2-40B4-BE49-F238E27FC236}">
                <a16:creationId xmlns:a16="http://schemas.microsoft.com/office/drawing/2014/main" xmlns=""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2DDA930-81B0-4724-B815-F2EBD1DC4556}"/>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6" name="頁尾版面配置區 5">
            <a:extLst>
              <a:ext uri="{FF2B5EF4-FFF2-40B4-BE49-F238E27FC236}">
                <a16:creationId xmlns:a16="http://schemas.microsoft.com/office/drawing/2014/main" xmlns=""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B161ED9B-DFA5-480A-AD88-6DFF046FCB53}"/>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8" name="頁尾版面配置區 7">
            <a:extLst>
              <a:ext uri="{FF2B5EF4-FFF2-40B4-BE49-F238E27FC236}">
                <a16:creationId xmlns:a16="http://schemas.microsoft.com/office/drawing/2014/main" xmlns=""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D2DA7D75-DCEA-4D5F-817A-1F76017002B1}"/>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4" name="頁尾版面配置區 3">
            <a:extLst>
              <a:ext uri="{FF2B5EF4-FFF2-40B4-BE49-F238E27FC236}">
                <a16:creationId xmlns:a16="http://schemas.microsoft.com/office/drawing/2014/main" xmlns=""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AA5AFE-F983-4BD0-A86F-D18589BB081B}"/>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3" name="頁尾版面配置區 2">
            <a:extLst>
              <a:ext uri="{FF2B5EF4-FFF2-40B4-BE49-F238E27FC236}">
                <a16:creationId xmlns:a16="http://schemas.microsoft.com/office/drawing/2014/main" xmlns=""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189A80C-0898-442B-A9DB-6CE747D9C7F0}"/>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6" name="頁尾版面配置區 5">
            <a:extLst>
              <a:ext uri="{FF2B5EF4-FFF2-40B4-BE49-F238E27FC236}">
                <a16:creationId xmlns:a16="http://schemas.microsoft.com/office/drawing/2014/main" xmlns=""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14D3864F-50D1-4DBD-A5B6-1645AA45EA59}"/>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6" name="頁尾版面配置區 5">
            <a:extLst>
              <a:ext uri="{FF2B5EF4-FFF2-40B4-BE49-F238E27FC236}">
                <a16:creationId xmlns:a16="http://schemas.microsoft.com/office/drawing/2014/main" xmlns=""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1A2253F-98FC-4AD8-AB1E-608801808E4B}"/>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5" name="頁尾版面配置區 4">
            <a:extLst>
              <a:ext uri="{FF2B5EF4-FFF2-40B4-BE49-F238E27FC236}">
                <a16:creationId xmlns:a16="http://schemas.microsoft.com/office/drawing/2014/main" xmlns=""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1DB4D53-3EC7-453D-BD90-F21F29EA365F}"/>
              </a:ext>
            </a:extLst>
          </p:cNvPr>
          <p:cNvSpPr>
            <a:spLocks noGrp="1"/>
          </p:cNvSpPr>
          <p:nvPr>
            <p:ph type="dt" sz="half" idx="10"/>
          </p:nvPr>
        </p:nvSpPr>
        <p:spPr/>
        <p:txBody>
          <a:bodyPr/>
          <a:lstStyle/>
          <a:p>
            <a:fld id="{289B6366-6E92-4855-9B33-10136FFB9F55}" type="datetimeFigureOut">
              <a:rPr lang="zh-TW" altLang="en-US" smtClean="0"/>
              <a:t>2018/11/27</a:t>
            </a:fld>
            <a:endParaRPr lang="zh-TW" altLang="en-US"/>
          </a:p>
        </p:txBody>
      </p:sp>
      <p:sp>
        <p:nvSpPr>
          <p:cNvPr id="5" name="頁尾版面配置區 4">
            <a:extLst>
              <a:ext uri="{FF2B5EF4-FFF2-40B4-BE49-F238E27FC236}">
                <a16:creationId xmlns:a16="http://schemas.microsoft.com/office/drawing/2014/main" xmlns=""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2018/11/27</a:t>
            </a:fld>
            <a:endParaRPr lang="zh-TW" altLang="en-US"/>
          </a:p>
        </p:txBody>
      </p:sp>
      <p:sp>
        <p:nvSpPr>
          <p:cNvPr id="5" name="頁尾版面配置區 4">
            <a:extLst>
              <a:ext uri="{FF2B5EF4-FFF2-40B4-BE49-F238E27FC236}">
                <a16:creationId xmlns:a16="http://schemas.microsoft.com/office/drawing/2014/main" xmlns=""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ABD277-3DCF-4084-9E03-BF06B086F7E6}"/>
              </a:ext>
            </a:extLst>
          </p:cNvPr>
          <p:cNvSpPr>
            <a:spLocks noGrp="1"/>
          </p:cNvSpPr>
          <p:nvPr>
            <p:ph type="ctrTitle"/>
          </p:nvPr>
        </p:nvSpPr>
        <p:spPr>
          <a:xfrm>
            <a:off x="1054248" y="535049"/>
            <a:ext cx="9613751" cy="1775011"/>
          </a:xfrm>
        </p:spPr>
        <p:txBody>
          <a:bodyPr>
            <a:normAutofit/>
          </a:bodyPr>
          <a:lstStyle/>
          <a:p>
            <a:r>
              <a:rPr lang="en-US" altLang="zh-TW" sz="4000" b="1" dirty="0">
                <a:latin typeface="Times New Roman" panose="02020603050405020304" pitchFamily="18" charset="0"/>
                <a:cs typeface="Times New Roman" panose="02020603050405020304" pitchFamily="18" charset="0"/>
              </a:rPr>
              <a:t>Learning Optimal Warping Window Size of DTW for Time Series Classification</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2FF96485-B26C-4B59-B13D-880AA0BD68EA}"/>
              </a:ext>
            </a:extLst>
          </p:cNvPr>
          <p:cNvSpPr>
            <a:spLocks noGrp="1"/>
          </p:cNvSpPr>
          <p:nvPr>
            <p:ph type="subTitle" idx="1"/>
          </p:nvPr>
        </p:nvSpPr>
        <p:spPr>
          <a:xfrm>
            <a:off x="897775" y="2312454"/>
            <a:ext cx="9770224" cy="1729274"/>
          </a:xfrm>
        </p:spPr>
        <p:txBody>
          <a:bodyPr>
            <a:normAutofit/>
          </a:bodyPr>
          <a:lstStyle/>
          <a:p>
            <a:endParaRPr lang="en-US" altLang="zh-TW" dirty="0"/>
          </a:p>
          <a:p>
            <a:r>
              <a:rPr lang="en-US" altLang="zh-TW" sz="2800" dirty="0">
                <a:latin typeface="Times New Roman" panose="02020603050405020304" pitchFamily="18" charset="0"/>
                <a:cs typeface="Times New Roman" panose="02020603050405020304" pitchFamily="18" charset="0"/>
              </a:rPr>
              <a:t>Qian Chen, </a:t>
            </a:r>
            <a:r>
              <a:rPr lang="en-US" altLang="zh-TW" sz="2800" dirty="0" err="1">
                <a:latin typeface="Times New Roman" panose="02020603050405020304" pitchFamily="18" charset="0"/>
                <a:cs typeface="Times New Roman" panose="02020603050405020304" pitchFamily="18" charset="0"/>
              </a:rPr>
              <a:t>Guyu</a:t>
            </a:r>
            <a:r>
              <a:rPr lang="en-US" altLang="zh-TW" sz="2800" dirty="0">
                <a:latin typeface="Times New Roman" panose="02020603050405020304" pitchFamily="18" charset="0"/>
                <a:cs typeface="Times New Roman" panose="02020603050405020304" pitchFamily="18" charset="0"/>
              </a:rPr>
              <a:t> Hu, </a:t>
            </a:r>
            <a:r>
              <a:rPr lang="en-US" altLang="zh-TW" sz="2800" dirty="0" err="1">
                <a:latin typeface="Times New Roman" panose="02020603050405020304" pitchFamily="18" charset="0"/>
                <a:cs typeface="Times New Roman" panose="02020603050405020304" pitchFamily="18" charset="0"/>
              </a:rPr>
              <a:t>Fanglin</a:t>
            </a:r>
            <a:r>
              <a:rPr lang="en-US" altLang="zh-TW" sz="2800" dirty="0">
                <a:latin typeface="Times New Roman" panose="02020603050405020304" pitchFamily="18" charset="0"/>
                <a:cs typeface="Times New Roman" panose="02020603050405020304" pitchFamily="18" charset="0"/>
              </a:rPr>
              <a:t> Gu, Peng Xiang</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64AE8193-1DE0-47D4-9DBB-4734B89CA666}"/>
              </a:ext>
            </a:extLst>
          </p:cNvPr>
          <p:cNvSpPr txBox="1">
            <a:spLocks/>
          </p:cNvSpPr>
          <p:nvPr/>
        </p:nvSpPr>
        <p:spPr>
          <a:xfrm>
            <a:off x="1367525" y="3883844"/>
            <a:ext cx="9613750" cy="134221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11th International Conference on Information Science, Signal Processing and </a:t>
            </a:r>
            <a:r>
              <a:rPr lang="en-US" altLang="zh-TW" dirty="0" smtClean="0">
                <a:latin typeface="Times New Roman" panose="02020603050405020304" pitchFamily="18" charset="0"/>
                <a:cs typeface="Times New Roman" panose="02020603050405020304" pitchFamily="18" charset="0"/>
              </a:rPr>
              <a:t>their </a:t>
            </a:r>
            <a:r>
              <a:rPr lang="en-US" altLang="zh-TW" dirty="0">
                <a:latin typeface="Times New Roman" panose="02020603050405020304" pitchFamily="18" charset="0"/>
                <a:cs typeface="Times New Roman" panose="02020603050405020304" pitchFamily="18" charset="0"/>
              </a:rPr>
              <a:t>Applications (ISSPA</a:t>
            </a:r>
            <a:r>
              <a:rPr lang="en-US" altLang="zh-TW" dirty="0" smtClean="0">
                <a:latin typeface="Times New Roman" panose="02020603050405020304" pitchFamily="18" charset="0"/>
                <a:cs typeface="Times New Roman" panose="02020603050405020304" pitchFamily="18" charset="0"/>
              </a:rPr>
              <a:t>), 2012</a:t>
            </a: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pages </a:t>
            </a:r>
            <a:r>
              <a:rPr lang="en-US" altLang="zh-TW" dirty="0">
                <a:latin typeface="Times New Roman" panose="02020603050405020304" pitchFamily="18" charset="0"/>
                <a:cs typeface="Times New Roman" panose="02020603050405020304" pitchFamily="18" charset="0"/>
              </a:rPr>
              <a:t>1272 – 1277, Montreal, Canada</a:t>
            </a:r>
          </a:p>
        </p:txBody>
      </p:sp>
      <p:sp>
        <p:nvSpPr>
          <p:cNvPr id="5" name="副標題 2">
            <a:extLst>
              <a:ext uri="{FF2B5EF4-FFF2-40B4-BE49-F238E27FC236}">
                <a16:creationId xmlns:a16="http://schemas.microsoft.com/office/drawing/2014/main" xmlns=""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2018.11.27</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713148"/>
            <a:ext cx="8155484" cy="5825764"/>
          </a:xfrm>
        </p:spPr>
        <p:txBody>
          <a:bodyPr>
            <a:noAutofit/>
          </a:bodyPr>
          <a:lstStyle/>
          <a:p>
            <a:pPr marL="0" indent="0" algn="just">
              <a:lnSpc>
                <a:spcPct val="150000"/>
              </a:lnSpc>
              <a:buNone/>
            </a:pPr>
            <a:r>
              <a:rPr lang="en-US" altLang="zh-TW" sz="2400" dirty="0">
                <a:latin typeface="Times New Roman" panose="02020603050405020304" pitchFamily="18" charset="0"/>
                <a:cs typeface="Times New Roman" panose="02020603050405020304" pitchFamily="18" charset="0"/>
              </a:rPr>
              <a:t>The dynamic time warping (DTW) is a classic similarity measure which can handle the time warping issue in similarity computation of time series. And the DTW with constrained warping window is the most common and practical form of DTW. In this paper, the traditional learning method for optimal warping window of DTW is systematically analyzed. Then the time distance to measure the time deviation between two time series is introduced. Finally a new learning method for optimal warping window size based on DTW and time distance is proposed which can improve DTW classification accuracy with little additional computation.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400" dirty="0">
                <a:latin typeface="Times New Roman" panose="02020603050405020304" pitchFamily="18" charset="0"/>
                <a:cs typeface="Times New Roman" panose="02020603050405020304" pitchFamily="18" charset="0"/>
              </a:rPr>
              <a:t>Experimental data show that the optimal DTW with best warping window get better classification accuracy when the new learning method is employed. Additionally, the classification accuracy is better than that of ERP and LCSS, and is close to that of TWED.</a:t>
            </a:r>
            <a:endParaRPr lang="en-US" altLang="zh-TW" sz="2400" dirty="0">
              <a:latin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Traditional Learning Method</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p:txBody>
          <a:bodyPr>
            <a:normAutofit/>
          </a:bodyPr>
          <a:lstStyle/>
          <a:p>
            <a:r>
              <a:rPr lang="en-US" altLang="zh-TW" sz="2700" dirty="0"/>
              <a:t>To learn the best size of warping window, all the possible classification error rates will be iterated in traditional methods, and then select the best value which minimizes the classification errors estimated for the training data.</a:t>
            </a:r>
            <a:endParaRPr lang="zh-TW" altLang="en-US" sz="2700" dirty="0"/>
          </a:p>
        </p:txBody>
      </p:sp>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圖片 13">
            <a:extLst>
              <a:ext uri="{FF2B5EF4-FFF2-40B4-BE49-F238E27FC236}">
                <a16:creationId xmlns:a16="http://schemas.microsoft.com/office/drawing/2014/main" xmlns="" id="{77DFFD5F-ECFA-4F52-A48D-EF2184AB19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905161"/>
            <a:ext cx="6001588" cy="4763165"/>
          </a:xfrm>
          <a:prstGeom prst="rect">
            <a:avLst/>
          </a:prstGeom>
        </p:spPr>
      </p:pic>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Time Distance between the Time Series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dirty="0"/>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p:txBody>
          <a:bodyPr>
            <a:normAutofit/>
          </a:bodyPr>
          <a:lstStyle/>
          <a:p>
            <a:endParaRPr lang="zh-TW" altLang="en-US" sz="2700" dirty="0"/>
          </a:p>
        </p:txBody>
      </p:sp>
      <p:pic>
        <p:nvPicPr>
          <p:cNvPr id="12" name="圖片 11">
            <a:extLst>
              <a:ext uri="{FF2B5EF4-FFF2-40B4-BE49-F238E27FC236}">
                <a16:creationId xmlns:a16="http://schemas.microsoft.com/office/drawing/2014/main" xmlns="" id="{CCE70437-36AC-44ED-941B-FDA8557E7C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700" y="1547923"/>
            <a:ext cx="5820587" cy="714475"/>
          </a:xfrm>
          <a:prstGeom prst="rect">
            <a:avLst/>
          </a:prstGeom>
        </p:spPr>
      </p:pic>
      <p:pic>
        <p:nvPicPr>
          <p:cNvPr id="8" name="圖片 7">
            <a:extLst>
              <a:ext uri="{FF2B5EF4-FFF2-40B4-BE49-F238E27FC236}">
                <a16:creationId xmlns:a16="http://schemas.microsoft.com/office/drawing/2014/main" xmlns="" id="{504BADD8-6185-44FC-9B64-62EF2BA235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9287" y="2052021"/>
            <a:ext cx="5550628" cy="3379616"/>
          </a:xfrm>
          <a:prstGeom prst="rect">
            <a:avLst/>
          </a:prstGeom>
        </p:spPr>
      </p:pic>
    </p:spTree>
    <p:extLst>
      <p:ext uri="{BB962C8B-B14F-4D97-AF65-F5344CB8AC3E}">
        <p14:creationId xmlns:p14="http://schemas.microsoft.com/office/powerpoint/2010/main" val="2929209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New Learning Method based on both Distances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pic>
        <p:nvPicPr>
          <p:cNvPr id="5" name="圖片 4">
            <a:extLst>
              <a:ext uri="{FF2B5EF4-FFF2-40B4-BE49-F238E27FC236}">
                <a16:creationId xmlns:a16="http://schemas.microsoft.com/office/drawing/2014/main" xmlns="" id="{6C9A3B80-FF28-49EB-B699-6849F3F1CB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5159" y="1403494"/>
            <a:ext cx="5658640" cy="2762636"/>
          </a:xfrm>
          <a:prstGeom prst="rect">
            <a:avLst/>
          </a:prstGeom>
        </p:spPr>
      </p:pic>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p:txBody>
          <a:bodyPr>
            <a:normAutofit/>
          </a:bodyPr>
          <a:lstStyle/>
          <a:p>
            <a:r>
              <a:rPr lang="en-US" altLang="zh-TW" sz="2700" dirty="0" err="1"/>
              <a:t>E</a:t>
            </a:r>
            <a:r>
              <a:rPr lang="en-US" altLang="zh-TW" sz="2700" baseline="-5000" dirty="0" err="1"/>
              <a:t>v</a:t>
            </a:r>
            <a:r>
              <a:rPr lang="en-US" altLang="zh-TW" sz="2700" dirty="0"/>
              <a:t> (the results of DTW distance)</a:t>
            </a:r>
          </a:p>
          <a:p>
            <a:r>
              <a:rPr lang="en-US" altLang="zh-TW" sz="2700" dirty="0"/>
              <a:t>E</a:t>
            </a:r>
            <a:r>
              <a:rPr lang="en-US" altLang="zh-TW" sz="2700" baseline="-5000" dirty="0"/>
              <a:t>t</a:t>
            </a:r>
            <a:r>
              <a:rPr lang="en-US" altLang="zh-TW" sz="2700" dirty="0"/>
              <a:t> (the results of time distance)</a:t>
            </a:r>
          </a:p>
          <a:p>
            <a:r>
              <a:rPr lang="en-US" altLang="zh-TW" sz="2700" dirty="0" err="1"/>
              <a:t>E</a:t>
            </a:r>
            <a:r>
              <a:rPr lang="en-US" altLang="zh-TW" sz="2700" baseline="-5000" dirty="0" err="1"/>
              <a:t>sum</a:t>
            </a:r>
            <a:r>
              <a:rPr lang="en-US" altLang="zh-TW" sz="2700" dirty="0"/>
              <a:t> is the sum of </a:t>
            </a:r>
            <a:r>
              <a:rPr lang="en-US" altLang="zh-TW" sz="2700" dirty="0" err="1"/>
              <a:t>E</a:t>
            </a:r>
            <a:r>
              <a:rPr lang="en-US" altLang="zh-TW" sz="2700" baseline="-5000" dirty="0" err="1"/>
              <a:t>v</a:t>
            </a:r>
            <a:r>
              <a:rPr lang="en-US" altLang="zh-TW" sz="2700" dirty="0"/>
              <a:t> and E</a:t>
            </a:r>
            <a:r>
              <a:rPr lang="en-US" altLang="zh-TW" sz="2700" baseline="-5000" dirty="0"/>
              <a:t>t</a:t>
            </a:r>
            <a:r>
              <a:rPr lang="en-US" altLang="zh-TW" sz="2700" dirty="0"/>
              <a:t>.</a:t>
            </a:r>
          </a:p>
          <a:p>
            <a:r>
              <a:rPr lang="en-US" altLang="zh-TW" sz="2700" dirty="0"/>
              <a:t>r=the size of warping window</a:t>
            </a:r>
          </a:p>
        </p:txBody>
      </p:sp>
      <p:pic>
        <p:nvPicPr>
          <p:cNvPr id="14" name="圖片 13">
            <a:extLst>
              <a:ext uri="{FF2B5EF4-FFF2-40B4-BE49-F238E27FC236}">
                <a16:creationId xmlns:a16="http://schemas.microsoft.com/office/drawing/2014/main" xmlns="" id="{7431101B-C450-4571-9303-4C8C6180D8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042" y="3941248"/>
            <a:ext cx="5068007" cy="2657846"/>
          </a:xfrm>
          <a:prstGeom prst="rect">
            <a:avLst/>
          </a:prstGeom>
        </p:spPr>
      </p:pic>
    </p:spTree>
    <p:extLst>
      <p:ext uri="{BB962C8B-B14F-4D97-AF65-F5344CB8AC3E}">
        <p14:creationId xmlns:p14="http://schemas.microsoft.com/office/powerpoint/2010/main" val="2250146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365125"/>
            <a:ext cx="10515600" cy="1325563"/>
          </a:xfrm>
        </p:spPr>
        <p:txBody>
          <a:bodyPr>
            <a:normAutofit/>
          </a:bodyPr>
          <a:lstStyle/>
          <a:p>
            <a:r>
              <a:rPr lang="en-US" altLang="zh-TW">
                <a:latin typeface="Times New Roman" panose="02020603050405020304" pitchFamily="18" charset="0"/>
                <a:cs typeface="Times New Roman" panose="02020603050405020304" pitchFamily="18" charset="0"/>
              </a:rPr>
              <a:t>Experiment and Results</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10">
            <a:extLst>
              <a:ext uri="{FF2B5EF4-FFF2-40B4-BE49-F238E27FC236}">
                <a16:creationId xmlns:a16="http://schemas.microsoft.com/office/drawing/2014/main" xmlns="" id="{650212D9-9F50-46B3-8507-D984FD9BF0BB}"/>
              </a:ext>
            </a:extLst>
          </p:cNvPr>
          <p:cNvSpPr>
            <a:spLocks noGrp="1"/>
          </p:cNvSpPr>
          <p:nvPr>
            <p:ph idx="1"/>
          </p:nvPr>
        </p:nvSpPr>
        <p:spPr>
          <a:xfrm>
            <a:off x="838200" y="1825625"/>
            <a:ext cx="5015484" cy="4351338"/>
          </a:xfrm>
        </p:spPr>
        <p:txBody>
          <a:bodyPr>
            <a:normAutofit/>
          </a:bodyPr>
          <a:lstStyle/>
          <a:p>
            <a:r>
              <a:rPr lang="en-US" altLang="zh-TW" sz="2400" dirty="0"/>
              <a:t>a</a:t>
            </a:r>
            <a:endParaRPr lang="zh-TW" altLang="en-US" sz="2400" dirty="0"/>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normAutofit/>
          </a:bodyPr>
          <a:lstStyle/>
          <a:p>
            <a:pPr>
              <a:spcAft>
                <a:spcPts val="600"/>
              </a:spcAft>
            </a:pPr>
            <a:fld id="{872633CA-77E0-4863-94F8-E28139DFB2B4}" type="slidenum">
              <a:rPr lang="zh-TW" altLang="en-US" smtClean="0"/>
              <a:pPr>
                <a:spcAft>
                  <a:spcPts val="600"/>
                </a:spcAft>
              </a:pPr>
              <a:t>7</a:t>
            </a:fld>
            <a:endParaRPr lang="zh-TW" altLang="en-US"/>
          </a:p>
        </p:txBody>
      </p:sp>
      <p:pic>
        <p:nvPicPr>
          <p:cNvPr id="5" name="圖片 4">
            <a:extLst>
              <a:ext uri="{FF2B5EF4-FFF2-40B4-BE49-F238E27FC236}">
                <a16:creationId xmlns:a16="http://schemas.microsoft.com/office/drawing/2014/main" xmlns="" id="{C7D4E1A3-FA25-44A4-99FE-BEFC4C03F2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549013"/>
            <a:ext cx="3429479" cy="2991267"/>
          </a:xfrm>
          <a:prstGeom prst="rect">
            <a:avLst/>
          </a:prstGeom>
        </p:spPr>
      </p:pic>
      <p:pic>
        <p:nvPicPr>
          <p:cNvPr id="9" name="圖片 8">
            <a:extLst>
              <a:ext uri="{FF2B5EF4-FFF2-40B4-BE49-F238E27FC236}">
                <a16:creationId xmlns:a16="http://schemas.microsoft.com/office/drawing/2014/main" xmlns="" id="{52C54282-17B9-4202-A885-96560A6498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0474" y="281676"/>
            <a:ext cx="4382112" cy="6439799"/>
          </a:xfrm>
          <a:prstGeom prst="rect">
            <a:avLst/>
          </a:prstGeom>
        </p:spPr>
      </p:pic>
      <p:pic>
        <p:nvPicPr>
          <p:cNvPr id="19" name="圖片 18">
            <a:extLst>
              <a:ext uri="{FF2B5EF4-FFF2-40B4-BE49-F238E27FC236}">
                <a16:creationId xmlns:a16="http://schemas.microsoft.com/office/drawing/2014/main" xmlns="" id="{CE4BDA0D-8A41-49F6-8E13-37CA77E800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9414" y="4492346"/>
            <a:ext cx="4620270" cy="2000529"/>
          </a:xfrm>
          <a:prstGeom prst="rect">
            <a:avLst/>
          </a:prstGeom>
        </p:spPr>
      </p:pic>
    </p:spTree>
    <p:extLst>
      <p:ext uri="{BB962C8B-B14F-4D97-AF65-F5344CB8AC3E}">
        <p14:creationId xmlns:p14="http://schemas.microsoft.com/office/powerpoint/2010/main" val="308754875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314</Words>
  <Application>Microsoft Office PowerPoint</Application>
  <PresentationFormat>寬螢幕</PresentationFormat>
  <Paragraphs>32</Paragraphs>
  <Slides>7</Slides>
  <Notes>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7</vt:i4>
      </vt:variant>
    </vt:vector>
  </HeadingPairs>
  <TitlesOfParts>
    <vt:vector size="14" baseType="lpstr">
      <vt:lpstr>新細明體</vt:lpstr>
      <vt:lpstr>標楷體</vt:lpstr>
      <vt:lpstr>Arial</vt:lpstr>
      <vt:lpstr>Calibri</vt:lpstr>
      <vt:lpstr>Calibri Light</vt:lpstr>
      <vt:lpstr>Times New Roman</vt:lpstr>
      <vt:lpstr>Office 佈景主題</vt:lpstr>
      <vt:lpstr>Learning Optimal Warping Window Size of DTW for Time Series Classification</vt:lpstr>
      <vt:lpstr>Abstract (1/2)</vt:lpstr>
      <vt:lpstr>Abstract (2/2)</vt:lpstr>
      <vt:lpstr>Traditional Learning Method</vt:lpstr>
      <vt:lpstr>Time Distance between the Time Series</vt:lpstr>
      <vt:lpstr>New Learning Method based on both Distances</vt:lpstr>
      <vt:lpstr>Experiment and Results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pplab-class</cp:lastModifiedBy>
  <cp:revision>212</cp:revision>
  <dcterms:created xsi:type="dcterms:W3CDTF">2018-10-30T09:09:31Z</dcterms:created>
  <dcterms:modified xsi:type="dcterms:W3CDTF">2018-11-27T11:50:47Z</dcterms:modified>
</cp:coreProperties>
</file>