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269" r:id="rId3"/>
    <p:sldId id="273" r:id="rId4"/>
    <p:sldId id="257" r:id="rId5"/>
    <p:sldId id="258" r:id="rId6"/>
    <p:sldId id="275" r:id="rId7"/>
    <p:sldId id="274" r:id="rId8"/>
    <p:sldId id="276" r:id="rId9"/>
    <p:sldId id="277" r:id="rId10"/>
    <p:sldId id="278" r:id="rId11"/>
    <p:sldId id="279" r:id="rId12"/>
    <p:sldId id="285" r:id="rId13"/>
    <p:sldId id="280" r:id="rId14"/>
    <p:sldId id="281" r:id="rId15"/>
    <p:sldId id="282" r:id="rId16"/>
    <p:sldId id="283" r:id="rId17"/>
    <p:sldId id="28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69"/>
            <p14:sldId id="273"/>
            <p14:sldId id="257"/>
            <p14:sldId id="258"/>
            <p14:sldId id="275"/>
            <p14:sldId id="274"/>
            <p14:sldId id="276"/>
            <p14:sldId id="277"/>
            <p14:sldId id="278"/>
            <p14:sldId id="279"/>
            <p14:sldId id="285"/>
            <p14:sldId id="280"/>
            <p14:sldId id="281"/>
            <p14:sldId id="282"/>
            <p14:sldId id="283"/>
            <p14:sldId id="284"/>
          </p14:sldIdLst>
        </p14:section>
        <p14:section name="test" id="{5A0672B8-76E0-491A-93E0-1923641389C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50" autoAdjust="0"/>
    <p:restoredTop sz="71194" autoAdjust="0"/>
  </p:normalViewPr>
  <p:slideViewPr>
    <p:cSldViewPr snapToGrid="0">
      <p:cViewPr>
        <p:scale>
          <a:sx n="75" d="100"/>
          <a:sy n="75" d="100"/>
        </p:scale>
        <p:origin x="102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2018/7/31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香港</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27816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99494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RSH: Unsigned Permutations by Reversals and Transpositions /</a:t>
            </a:r>
            <a:r>
              <a:rPr lang="en-US" altLang="zh-TW" sz="1200" b="0" i="1" u="none" strike="noStrike" kern="1200" baseline="0" dirty="0">
                <a:solidFill>
                  <a:schemeClr val="tx1"/>
                </a:solidFill>
                <a:latin typeface="+mn-lt"/>
                <a:ea typeface="+mn-ea"/>
                <a:cs typeface="+mn-cs"/>
              </a:rPr>
              <a:t>k </a:t>
            </a:r>
            <a:r>
              <a:rPr lang="en-US" altLang="zh-TW" sz="1200" b="0" i="0" u="none" strike="noStrike" kern="1200" baseline="0" dirty="0">
                <a:solidFill>
                  <a:schemeClr val="tx1"/>
                </a:solidFill>
                <a:latin typeface="+mn-lt"/>
                <a:ea typeface="+mn-ea"/>
                <a:cs typeface="+mn-cs"/>
              </a:rPr>
              <a:t>is the approximation of the algorithm that decomposes </a:t>
            </a:r>
            <a:r>
              <a:rPr lang="en-US" altLang="zh-TW" sz="1200" b="0" i="1" u="none" strike="noStrike" kern="1200" baseline="0" dirty="0">
                <a:solidFill>
                  <a:schemeClr val="tx1"/>
                </a:solidFill>
                <a:latin typeface="+mn-lt"/>
                <a:ea typeface="+mn-ea"/>
                <a:cs typeface="+mn-cs"/>
              </a:rPr>
              <a:t>π </a:t>
            </a:r>
            <a:r>
              <a:rPr lang="en-US" altLang="zh-TW" sz="1200" b="0" i="0" u="none" strike="noStrike" kern="1200" baseline="0" dirty="0">
                <a:solidFill>
                  <a:schemeClr val="tx1"/>
                </a:solidFill>
                <a:latin typeface="+mn-lt"/>
                <a:ea typeface="+mn-ea"/>
                <a:cs typeface="+mn-cs"/>
              </a:rPr>
              <a:t>in cycles</a:t>
            </a:r>
          </a:p>
          <a:p>
            <a:endParaRPr lang="en-US" altLang="zh-TW" sz="1200" b="0" i="0"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WDM: Signed Permutations by Reversals and Transpositions </a:t>
            </a:r>
          </a:p>
          <a:p>
            <a:endParaRPr lang="en-US" altLang="zh-TW" sz="1200" b="0" i="0"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BRPT: Signed Permutations by Reversals and Transpositions /In case of ties between reversals and transpositions, a transposition is chosen.</a:t>
            </a:r>
          </a:p>
          <a:p>
            <a:endParaRPr lang="en-US" altLang="zh-TW" sz="1200" b="0" i="0"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BRPR: A variation of BRPT /(reversals)</a:t>
            </a:r>
          </a:p>
          <a:p>
            <a:endParaRPr lang="en-US" altLang="zh-TW" sz="1200" b="0" i="0"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HPB: Signed Permutations by Reversals</a:t>
            </a:r>
          </a:p>
          <a:p>
            <a:endParaRPr lang="en-US" altLang="zh-TW" sz="1200" b="0" i="1"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BP: Unsigned Permutations by Transpositions /first reverse all negative strips /</a:t>
            </a:r>
            <a:r>
              <a:rPr lang="zh-TW" altLang="en-US" sz="1200" b="0" i="0" u="none" strike="noStrike" kern="1200" baseline="0" dirty="0">
                <a:solidFill>
                  <a:schemeClr val="tx1"/>
                </a:solidFill>
                <a:latin typeface="+mn-lt"/>
                <a:ea typeface="+mn-ea"/>
                <a:cs typeface="+mn-cs"/>
              </a:rPr>
              <a:t> 最後序列由反轉</a:t>
            </a:r>
            <a:r>
              <a:rPr lang="en-US" altLang="zh-TW" sz="1200" b="0" i="0" u="none" strike="noStrike" kern="1200" baseline="0" dirty="0">
                <a:solidFill>
                  <a:schemeClr val="tx1"/>
                </a:solidFill>
                <a:latin typeface="+mn-lt"/>
                <a:ea typeface="+mn-ea"/>
                <a:cs typeface="+mn-cs"/>
              </a:rPr>
              <a:t>+</a:t>
            </a:r>
            <a:r>
              <a:rPr lang="zh-TW" altLang="en-US" sz="1200" b="0" i="0" u="none" strike="noStrike" kern="1200" baseline="0" dirty="0">
                <a:solidFill>
                  <a:schemeClr val="tx1"/>
                </a:solidFill>
                <a:latin typeface="+mn-lt"/>
                <a:ea typeface="+mn-ea"/>
                <a:cs typeface="+mn-cs"/>
              </a:rPr>
              <a:t>後續動作組成</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25880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2018/7/31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2018/7/31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2018/7/31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2018/7/31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10.png"/><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510.png"/><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8.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41.png"/><Relationship Id="rId3" Type="http://schemas.openxmlformats.org/officeDocument/2006/relationships/image" Target="../media/image45.png"/><Relationship Id="rId7" Type="http://schemas.openxmlformats.org/officeDocument/2006/relationships/image" Target="../media/image51.png"/><Relationship Id="rId12" Type="http://schemas.openxmlformats.org/officeDocument/2006/relationships/image" Target="../media/image40.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1.png"/><Relationship Id="rId5" Type="http://schemas.openxmlformats.org/officeDocument/2006/relationships/image" Target="../media/image47.png"/><Relationship Id="rId10" Type="http://schemas.openxmlformats.org/officeDocument/2006/relationships/image" Target="../media/image60.png"/><Relationship Id="rId4" Type="http://schemas.openxmlformats.org/officeDocument/2006/relationships/image" Target="../media/image57.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6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14.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30.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8.png"/><Relationship Id="rId4" Type="http://schemas.openxmlformats.org/officeDocument/2006/relationships/image" Target="../media/image70.png"/></Relationships>
</file>

<file path=ppt/slides/_rels/slide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156734" y="942146"/>
            <a:ext cx="6813552" cy="1639565"/>
          </a:xfrm>
        </p:spPr>
        <p:txBody>
          <a:bodyPr>
            <a:normAutofit/>
          </a:bodyPr>
          <a:lstStyle/>
          <a:p>
            <a:r>
              <a:rPr lang="en-US" altLang="zh-TW" sz="3600" b="1" dirty="0">
                <a:latin typeface="Times New Roman" panose="02020603050405020304" pitchFamily="18" charset="0"/>
                <a:cs typeface="Times New Roman" panose="02020603050405020304" pitchFamily="18" charset="0"/>
              </a:rPr>
              <a:t> Heuristics for the Sorting Signed Permutations by Reversals and Transpositions Problem</a:t>
            </a:r>
            <a:endParaRPr lang="zh-TW" altLang="en-US" sz="36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1743418" y="3104651"/>
            <a:ext cx="6130581" cy="839397"/>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 </a:t>
            </a:r>
            <a:r>
              <a:rPr lang="pt-BR" altLang="zh-TW" dirty="0">
                <a:latin typeface="Times New Roman" panose="02020603050405020304" pitchFamily="18" charset="0"/>
                <a:ea typeface="+mj-ea"/>
                <a:cs typeface="Times New Roman" panose="02020603050405020304" pitchFamily="18" charset="0"/>
              </a:rPr>
              <a:t>Klairton Lima Brito, Andre Rodrigues Oliveira, Ulisses Dias and Zanoni Dias</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89688" y="5365903"/>
            <a:ext cx="2715491" cy="830998"/>
          </a:xfrm>
          <a:prstGeom prst="rect">
            <a:avLst/>
          </a:prstGeom>
        </p:spPr>
        <p:txBody>
          <a:bodyPr vert="horz" lIns="68580" tIns="34290" rIns="68580" bIns="3429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2018.07.31</a:t>
            </a:r>
          </a:p>
        </p:txBody>
      </p:sp>
      <p:sp>
        <p:nvSpPr>
          <p:cNvPr id="6" name="矩形 5">
            <a:extLst>
              <a:ext uri="{FF2B5EF4-FFF2-40B4-BE49-F238E27FC236}">
                <a16:creationId xmlns:a16="http://schemas.microsoft.com/office/drawing/2014/main" id="{ADEB69C1-BEBB-4D8A-BCF3-51571A635FE9}"/>
              </a:ext>
            </a:extLst>
          </p:cNvPr>
          <p:cNvSpPr/>
          <p:nvPr/>
        </p:nvSpPr>
        <p:spPr>
          <a:xfrm flipH="1">
            <a:off x="1162393" y="4201945"/>
            <a:ext cx="6807893" cy="707886"/>
          </a:xfrm>
          <a:prstGeom prst="rect">
            <a:avLst/>
          </a:prstGeom>
        </p:spPr>
        <p:txBody>
          <a:bodyPr wrap="square">
            <a:spAutoFit/>
          </a:bodyPr>
          <a:lstStyle/>
          <a:p>
            <a:pPr algn="ctr"/>
            <a:r>
              <a:rPr lang="en-US" altLang="zh-TW" sz="2000" dirty="0">
                <a:latin typeface="Times New Roman" panose="02020603050405020304" pitchFamily="18" charset="0"/>
                <a:ea typeface="+mj-ea"/>
                <a:cs typeface="Times New Roman" panose="02020603050405020304" pitchFamily="18" charset="0"/>
              </a:rPr>
              <a:t>5th International Conference on </a:t>
            </a:r>
            <a:r>
              <a:rPr lang="en-US" altLang="zh-TW" sz="2000" dirty="0">
                <a:solidFill>
                  <a:srgbClr val="0070C0"/>
                </a:solidFill>
                <a:latin typeface="Times New Roman" panose="02020603050405020304" pitchFamily="18" charset="0"/>
                <a:ea typeface="+mj-ea"/>
                <a:cs typeface="Times New Roman" panose="02020603050405020304" pitchFamily="18" charset="0"/>
              </a:rPr>
              <a:t>Al</a:t>
            </a:r>
            <a:r>
              <a:rPr lang="en-US" altLang="zh-TW" sz="2000" dirty="0">
                <a:latin typeface="Times New Roman" panose="02020603050405020304" pitchFamily="18" charset="0"/>
                <a:ea typeface="+mj-ea"/>
                <a:cs typeface="Times New Roman" panose="02020603050405020304" pitchFamily="18" charset="0"/>
              </a:rPr>
              <a:t>gorithms for </a:t>
            </a:r>
            <a:r>
              <a:rPr lang="en-US" altLang="zh-TW" sz="2000" dirty="0">
                <a:solidFill>
                  <a:srgbClr val="0070C0"/>
                </a:solidFill>
                <a:latin typeface="Times New Roman" panose="02020603050405020304" pitchFamily="18" charset="0"/>
                <a:ea typeface="+mj-ea"/>
                <a:cs typeface="Times New Roman" panose="02020603050405020304" pitchFamily="18" charset="0"/>
              </a:rPr>
              <a:t>Co</a:t>
            </a:r>
            <a:r>
              <a:rPr lang="en-US" altLang="zh-TW" sz="2000" dirty="0">
                <a:latin typeface="Times New Roman" panose="02020603050405020304" pitchFamily="18" charset="0"/>
                <a:ea typeface="+mj-ea"/>
                <a:cs typeface="Times New Roman" panose="02020603050405020304" pitchFamily="18" charset="0"/>
              </a:rPr>
              <a:t>mputational </a:t>
            </a:r>
            <a:r>
              <a:rPr lang="en-US" altLang="zh-TW" sz="2000" dirty="0">
                <a:solidFill>
                  <a:srgbClr val="0070C0"/>
                </a:solidFill>
                <a:latin typeface="Times New Roman" panose="02020603050405020304" pitchFamily="18" charset="0"/>
                <a:ea typeface="+mj-ea"/>
                <a:cs typeface="Times New Roman" panose="02020603050405020304" pitchFamily="18" charset="0"/>
              </a:rPr>
              <a:t>B</a:t>
            </a:r>
            <a:r>
              <a:rPr lang="en-US" altLang="zh-TW" sz="2000" dirty="0">
                <a:latin typeface="Times New Roman" panose="02020603050405020304" pitchFamily="18" charset="0"/>
                <a:ea typeface="+mj-ea"/>
                <a:cs typeface="Times New Roman" panose="02020603050405020304" pitchFamily="18" charset="0"/>
              </a:rPr>
              <a:t>iology (</a:t>
            </a:r>
            <a:r>
              <a:rPr lang="en-US" altLang="zh-TW" sz="2000" dirty="0" err="1">
                <a:latin typeface="Times New Roman" panose="02020603050405020304" pitchFamily="18" charset="0"/>
                <a:ea typeface="+mj-ea"/>
                <a:cs typeface="Times New Roman" panose="02020603050405020304" pitchFamily="18" charset="0"/>
              </a:rPr>
              <a:t>AlCoB</a:t>
            </a:r>
            <a:r>
              <a:rPr lang="en-US" altLang="zh-TW" sz="2000" dirty="0">
                <a:latin typeface="Times New Roman" panose="02020603050405020304" pitchFamily="18" charset="0"/>
                <a:ea typeface="+mj-ea"/>
                <a:cs typeface="Times New Roman" panose="02020603050405020304" pitchFamily="18" charset="0"/>
              </a:rPr>
              <a:t>), Hong Kong, China, June 25 ~ June 26, 2018</a:t>
            </a:r>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166DB040-D48A-4CA7-AD77-EC817AFF2DDF}"/>
              </a:ext>
            </a:extLst>
          </p:cNvPr>
          <p:cNvPicPr>
            <a:picLocks noChangeAspect="1"/>
          </p:cNvPicPr>
          <p:nvPr/>
        </p:nvPicPr>
        <p:blipFill>
          <a:blip r:embed="rId3"/>
          <a:stretch>
            <a:fillRect/>
          </a:stretch>
        </p:blipFill>
        <p:spPr>
          <a:xfrm>
            <a:off x="0" y="631077"/>
            <a:ext cx="9144000" cy="5595846"/>
          </a:xfrm>
          <a:prstGeom prst="rect">
            <a:avLst/>
          </a:prstGeom>
        </p:spPr>
      </p:pic>
    </p:spTree>
    <p:extLst>
      <p:ext uri="{BB962C8B-B14F-4D97-AF65-F5344CB8AC3E}">
        <p14:creationId xmlns:p14="http://schemas.microsoft.com/office/powerpoint/2010/main" val="1473862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85081"/>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(1/2)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251916" y="895712"/>
            <a:ext cx="8155484" cy="5172495"/>
          </a:xfrm>
        </p:spPr>
        <p:txBody>
          <a:bodyPr>
            <a:noAutofit/>
          </a:bodyPr>
          <a:lstStyle/>
          <a:p>
            <a:pPr marL="0" indent="0">
              <a:lnSpc>
                <a:spcPct val="150000"/>
              </a:lnSpc>
              <a:buNone/>
            </a:pPr>
            <a:r>
              <a:rPr lang="en-US" altLang="zh-TW" dirty="0">
                <a:latin typeface="Times New Roman" panose="02020603050405020304" pitchFamily="18" charset="0"/>
              </a:rPr>
              <a:t>We present two heuristics, </a:t>
            </a:r>
            <a:r>
              <a:rPr lang="en-US" altLang="zh-TW" i="1" dirty="0">
                <a:latin typeface="Times New Roman" panose="02020603050405020304" pitchFamily="18" charset="0"/>
              </a:rPr>
              <a:t>Sliding Window </a:t>
            </a:r>
            <a:r>
              <a:rPr lang="en-US" altLang="zh-TW" dirty="0">
                <a:latin typeface="Times New Roman" panose="02020603050405020304" pitchFamily="18" charset="0"/>
              </a:rPr>
              <a:t>and </a:t>
            </a:r>
            <a:r>
              <a:rPr lang="en-US" altLang="zh-TW" i="1" dirty="0">
                <a:latin typeface="Times New Roman" panose="02020603050405020304" pitchFamily="18" charset="0"/>
              </a:rPr>
              <a:t>Look Ahead</a:t>
            </a:r>
            <a:r>
              <a:rPr lang="en-US" altLang="zh-TW" dirty="0">
                <a:latin typeface="Times New Roman" panose="02020603050405020304" pitchFamily="18" charset="0"/>
              </a:rPr>
              <a:t>, to improve solutions for the Sorting Signed Permutations by Reversals and Transpositions Problem. To assess the heuristics, we implemented algorithms described in the literature to provide initial solutions. Despite the fact that we addressed a specific problem, both heuristics can be applied to many others within the area of genome rearrangement. </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06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85081"/>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(2/2)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mc:AlternateContent xmlns:mc="http://schemas.openxmlformats.org/markup-compatibility/2006">
        <mc:Choice xmlns:a14="http://schemas.microsoft.com/office/drawing/2010/main"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251916" y="895712"/>
                <a:ext cx="8489852" cy="5445183"/>
              </a:xfrm>
            </p:spPr>
            <p:txBody>
              <a:bodyPr vert="horz" lIns="91440" tIns="45720" rIns="91440" bIns="45720" rtlCol="0">
                <a:noAutofit/>
              </a:bodyPr>
              <a:lstStyle/>
              <a:p>
                <a:pPr marL="0" indent="0">
                  <a:lnSpc>
                    <a:spcPct val="150000"/>
                  </a:lnSpc>
                  <a:spcBef>
                    <a:spcPts val="0"/>
                  </a:spcBef>
                  <a:buNone/>
                </a:pPr>
                <a:r>
                  <a:rPr lang="en-US" altLang="zh-TW" sz="2700" dirty="0">
                    <a:latin typeface="Times New Roman" panose="02020603050405020304" pitchFamily="18" charset="0"/>
                  </a:rPr>
                  <a:t>When time is a crucial factor, </a:t>
                </a:r>
                <a:r>
                  <a:rPr lang="en-US" altLang="zh-TW" sz="2700" i="1" dirty="0">
                    <a:latin typeface="Times New Roman" panose="02020603050405020304" pitchFamily="18" charset="0"/>
                  </a:rPr>
                  <a:t>Sliding Window</a:t>
                </a:r>
                <a:r>
                  <a:rPr lang="en-US" altLang="zh-TW" sz="2700" dirty="0">
                    <a:latin typeface="Times New Roman" panose="02020603050405020304" pitchFamily="18" charset="0"/>
                  </a:rPr>
                  <a:t> is a better choice because it runs in linear time and improves the initial solutions in 76.4% of cases. If the quality of the solution is a priority, </a:t>
                </a:r>
                <a:r>
                  <a:rPr lang="en-US" altLang="zh-TW" sz="2700" i="1" dirty="0">
                    <a:latin typeface="Times New Roman" panose="02020603050405020304" pitchFamily="18" charset="0"/>
                  </a:rPr>
                  <a:t>Look Ahead </a:t>
                </a:r>
                <a:r>
                  <a:rPr lang="en-US" altLang="zh-TW" sz="2700" dirty="0">
                    <a:latin typeface="Times New Roman" panose="02020603050405020304" pitchFamily="18" charset="0"/>
                  </a:rPr>
                  <a:t>should be preferred because it improves the initial solutions in 97.6% of cases, but it runs in</a:t>
                </a:r>
                <a:r>
                  <a:rPr lang="zh-TW" altLang="en-US" sz="2700" dirty="0">
                    <a:latin typeface="Times New Roman" panose="02020603050405020304" pitchFamily="18" charset="0"/>
                  </a:rPr>
                  <a:t> </a:t>
                </a:r>
                <a14:m>
                  <m:oMath xmlns:m="http://schemas.openxmlformats.org/officeDocument/2006/math">
                    <m:r>
                      <a:rPr lang="en-US" altLang="zh-TW" sz="2700" i="1" dirty="0" smtClean="0">
                        <a:latin typeface="Cambria Math" panose="02040503050406030204" pitchFamily="18" charset="0"/>
                      </a:rPr>
                      <m:t>𝑂</m:t>
                    </m:r>
                    <m:r>
                      <a:rPr lang="en-US" altLang="zh-TW" sz="2700" i="1" dirty="0" smtClean="0">
                        <a:latin typeface="Cambria Math" panose="02040503050406030204" pitchFamily="18" charset="0"/>
                      </a:rPr>
                      <m:t>(</m:t>
                    </m:r>
                    <m:sSup>
                      <m:sSupPr>
                        <m:ctrlPr>
                          <a:rPr lang="en-US" altLang="zh-TW" sz="2700" i="1" dirty="0" smtClean="0">
                            <a:latin typeface="Cambria Math" panose="02040503050406030204" pitchFamily="18" charset="0"/>
                          </a:rPr>
                        </m:ctrlPr>
                      </m:sSupPr>
                      <m:e>
                        <m:r>
                          <a:rPr lang="en-US" altLang="zh-TW" sz="2700" i="1" dirty="0" smtClean="0">
                            <a:latin typeface="Cambria Math" panose="02040503050406030204" pitchFamily="18" charset="0"/>
                          </a:rPr>
                          <m:t>𝑛</m:t>
                        </m:r>
                      </m:e>
                      <m:sup>
                        <m:r>
                          <a:rPr lang="en-US" altLang="zh-TW" sz="2700" i="1" dirty="0" smtClean="0">
                            <a:latin typeface="Cambria Math" panose="02040503050406030204" pitchFamily="18" charset="0"/>
                          </a:rPr>
                          <m:t>3</m:t>
                        </m:r>
                      </m:sup>
                    </m:sSup>
                    <m:r>
                      <a:rPr lang="en-US" altLang="zh-TW" sz="2700" i="1" dirty="0" smtClean="0">
                        <a:latin typeface="Cambria Math" panose="02040503050406030204" pitchFamily="18" charset="0"/>
                      </a:rPr>
                      <m:t>×</m:t>
                    </m:r>
                    <m:r>
                      <a:rPr lang="en-US" altLang="zh-TW" sz="2700" i="1" dirty="0" smtClean="0">
                        <a:latin typeface="Cambria Math" panose="02040503050406030204" pitchFamily="18" charset="0"/>
                      </a:rPr>
                      <m:t>𝑎𝑙𝑔</m:t>
                    </m:r>
                    <m:r>
                      <a:rPr lang="en-US" altLang="zh-TW" sz="2700" i="1" dirty="0" smtClean="0">
                        <a:latin typeface="Cambria Math" panose="02040503050406030204" pitchFamily="18" charset="0"/>
                      </a:rPr>
                      <m:t>(</m:t>
                    </m:r>
                    <m:r>
                      <a:rPr lang="en-US" altLang="zh-TW" sz="2700" i="1" dirty="0" smtClean="0">
                        <a:latin typeface="Cambria Math" panose="02040503050406030204" pitchFamily="18" charset="0"/>
                      </a:rPr>
                      <m:t>𝑛</m:t>
                    </m:r>
                    <m:r>
                      <a:rPr lang="en-US" altLang="zh-TW" sz="2700" i="1" dirty="0" smtClean="0">
                        <a:latin typeface="Cambria Math" panose="02040503050406030204" pitchFamily="18" charset="0"/>
                      </a:rPr>
                      <m:t>)) </m:t>
                    </m:r>
                  </m:oMath>
                </a14:m>
                <a:r>
                  <a:rPr lang="en-US" altLang="zh-TW" sz="2700" dirty="0">
                    <a:latin typeface="Times New Roman" panose="02020603050405020304" pitchFamily="18" charset="0"/>
                  </a:rPr>
                  <a:t>, where </a:t>
                </a:r>
                <a14:m>
                  <m:oMath xmlns:m="http://schemas.openxmlformats.org/officeDocument/2006/math">
                    <m:r>
                      <a:rPr lang="en-US" altLang="zh-TW" sz="2700" i="1" dirty="0" smtClean="0">
                        <a:latin typeface="Cambria Math" panose="02040503050406030204" pitchFamily="18" charset="0"/>
                      </a:rPr>
                      <m:t>𝑎𝑙𝑔</m:t>
                    </m:r>
                    <m:r>
                      <a:rPr lang="en-US" altLang="zh-TW" sz="2700" i="1" dirty="0" smtClean="0">
                        <a:latin typeface="Cambria Math" panose="02040503050406030204" pitchFamily="18" charset="0"/>
                      </a:rPr>
                      <m:t>(</m:t>
                    </m:r>
                    <m:r>
                      <a:rPr lang="en-US" altLang="zh-TW" sz="2700" i="1" dirty="0" smtClean="0">
                        <a:latin typeface="Cambria Math" panose="02040503050406030204" pitchFamily="18" charset="0"/>
                      </a:rPr>
                      <m:t>𝑛</m:t>
                    </m:r>
                    <m:r>
                      <a:rPr lang="en-US" altLang="zh-TW" sz="2700" i="1" dirty="0" smtClean="0">
                        <a:latin typeface="Cambria Math" panose="02040503050406030204" pitchFamily="18" charset="0"/>
                      </a:rPr>
                      <m:t>)</m:t>
                    </m:r>
                  </m:oMath>
                </a14:m>
                <a:r>
                  <a:rPr lang="en-US" altLang="zh-TW" sz="2700" dirty="0">
                    <a:latin typeface="Times New Roman" panose="02020603050405020304" pitchFamily="18" charset="0"/>
                  </a:rPr>
                  <a:t> is the complexity of the algorithm given as input. By using these heuristics one may find a good tradeoff between running time and solution improvement.</a:t>
                </a:r>
              </a:p>
            </p:txBody>
          </p:sp>
        </mc:Choice>
        <mc:Fallback>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251916" y="895712"/>
                <a:ext cx="8489852" cy="5445183"/>
              </a:xfrm>
              <a:blipFill>
                <a:blip r:embed="rId3"/>
                <a:stretch>
                  <a:fillRect l="-1364" r="-2369" b="-52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2360633"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標題 1">
                <a:extLst>
                  <a:ext uri="{FF2B5EF4-FFF2-40B4-BE49-F238E27FC236}">
                    <a16:creationId xmlns:a16="http://schemas.microsoft.com/office/drawing/2014/main" id="{0F3C0B7C-940A-432F-87F9-1764B2F5AAB7}"/>
                  </a:ext>
                </a:extLst>
              </p:cNvPr>
              <p:cNvSpPr txBox="1">
                <a:spLocks/>
              </p:cNvSpPr>
              <p:nvPr/>
            </p:nvSpPr>
            <p:spPr>
              <a:xfrm>
                <a:off x="532923" y="3186304"/>
                <a:ext cx="3128368"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Signed permutation </a:t>
                </a:r>
                <a14:m>
                  <m:oMath xmlns:m="http://schemas.openxmlformats.org/officeDocument/2006/math">
                    <m:r>
                      <a:rPr lang="en-US" altLang="zh-TW" sz="2400" i="1" smtClean="0">
                        <a:latin typeface="Cambria Math" panose="02040503050406030204" pitchFamily="18" charset="0"/>
                        <a:cs typeface="Times New Roman" panose="02020603050405020304" pitchFamily="18" charset="0"/>
                      </a:rPr>
                      <m:t>𝜋</m:t>
                    </m:r>
                  </m:oMath>
                </a14:m>
                <a:endParaRPr lang="en-US" altLang="zh-TW" sz="2400" dirty="0">
                  <a:latin typeface="Times New Roman" panose="02020603050405020304" pitchFamily="18" charset="0"/>
                  <a:cs typeface="Times New Roman" panose="02020603050405020304" pitchFamily="18" charset="0"/>
                </a:endParaRPr>
              </a:p>
            </p:txBody>
          </p:sp>
        </mc:Choice>
        <mc:Fallback>
          <p:sp>
            <p:nvSpPr>
              <p:cNvPr id="6" name="標題 1">
                <a:extLst>
                  <a:ext uri="{FF2B5EF4-FFF2-40B4-BE49-F238E27FC236}">
                    <a16:creationId xmlns:a16="http://schemas.microsoft.com/office/drawing/2014/main" id="{0F3C0B7C-940A-432F-87F9-1764B2F5AAB7}"/>
                  </a:ext>
                </a:extLst>
              </p:cNvPr>
              <p:cNvSpPr txBox="1">
                <a:spLocks noRot="1" noChangeAspect="1" noMove="1" noResize="1" noEditPoints="1" noAdjustHandles="1" noChangeArrowheads="1" noChangeShapeType="1" noTextEdit="1"/>
              </p:cNvSpPr>
              <p:nvPr/>
            </p:nvSpPr>
            <p:spPr>
              <a:xfrm>
                <a:off x="532923" y="3186304"/>
                <a:ext cx="3128368" cy="583367"/>
              </a:xfrm>
              <a:prstGeom prst="rect">
                <a:avLst/>
              </a:prstGeom>
              <a:blipFill>
                <a:blip r:embed="rId2"/>
                <a:stretch>
                  <a:fillRect l="-2918" t="-1053" b="-1052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標題 1">
                <a:extLst>
                  <a:ext uri="{FF2B5EF4-FFF2-40B4-BE49-F238E27FC236}">
                    <a16:creationId xmlns:a16="http://schemas.microsoft.com/office/drawing/2014/main" id="{181DB44C-FC0A-4741-A15E-B3713572DF93}"/>
                  </a:ext>
                </a:extLst>
              </p:cNvPr>
              <p:cNvSpPr txBox="1">
                <a:spLocks/>
              </p:cNvSpPr>
              <p:nvPr/>
            </p:nvSpPr>
            <p:spPr>
              <a:xfrm>
                <a:off x="532923" y="1194477"/>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endParaRPr lang="en-US" altLang="zh-TW" sz="2400" dirty="0">
                  <a:latin typeface="Times New Roman" panose="02020603050405020304" pitchFamily="18" charset="0"/>
                  <a:cs typeface="Times New Roman" panose="02020603050405020304" pitchFamily="18" charset="0"/>
                </a:endParaRPr>
              </a:p>
            </p:txBody>
          </p:sp>
        </mc:Choice>
        <mc:Fallback>
          <p:sp>
            <p:nvSpPr>
              <p:cNvPr id="28" name="標題 1">
                <a:extLst>
                  <a:ext uri="{FF2B5EF4-FFF2-40B4-BE49-F238E27FC236}">
                    <a16:creationId xmlns:a16="http://schemas.microsoft.com/office/drawing/2014/main" id="{181DB44C-FC0A-4741-A15E-B3713572DF93}"/>
                  </a:ext>
                </a:extLst>
              </p:cNvPr>
              <p:cNvSpPr txBox="1">
                <a:spLocks noRot="1" noChangeAspect="1" noMove="1" noResize="1" noEditPoints="1" noAdjustHandles="1" noChangeArrowheads="1" noChangeShapeType="1" noTextEdit="1"/>
              </p:cNvSpPr>
              <p:nvPr/>
            </p:nvSpPr>
            <p:spPr>
              <a:xfrm>
                <a:off x="532923" y="1194477"/>
                <a:ext cx="2174089" cy="583367"/>
              </a:xfrm>
              <a:prstGeom prst="rect">
                <a:avLst/>
              </a:prstGeom>
              <a:blipFill>
                <a:blip r:embed="rId3"/>
                <a:stretch>
                  <a:fillRect l="-4202" t="-1042" b="-9375"/>
                </a:stretch>
              </a:blipFill>
            </p:spPr>
            <p:txBody>
              <a:bodyPr/>
              <a:lstStyle/>
              <a:p>
                <a:r>
                  <a:rPr lang="zh-TW" altLang="en-US">
                    <a:noFill/>
                  </a:rPr>
                  <a:t> </a:t>
                </a:r>
              </a:p>
            </p:txBody>
          </p:sp>
        </mc:Fallback>
      </mc:AlternateContent>
      <p:sp>
        <p:nvSpPr>
          <p:cNvPr id="32" name="標題 1">
            <a:extLst>
              <a:ext uri="{FF2B5EF4-FFF2-40B4-BE49-F238E27FC236}">
                <a16:creationId xmlns:a16="http://schemas.microsoft.com/office/drawing/2014/main" id="{E7891C1D-30EE-4A86-A9B9-9D6E8C9C73DE}"/>
              </a:ext>
            </a:extLst>
          </p:cNvPr>
          <p:cNvSpPr txBox="1">
            <a:spLocks/>
          </p:cNvSpPr>
          <p:nvPr/>
        </p:nvSpPr>
        <p:spPr>
          <a:xfrm>
            <a:off x="3276055" y="1103056"/>
            <a:ext cx="3032426" cy="17286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Arial Black" panose="020B0A04020102020204" pitchFamily="34" charset="0"/>
                <a:cs typeface="Times New Roman" panose="02020603050405020304" pitchFamily="18" charset="0"/>
              </a:rPr>
              <a:t>&lt; 1, 2, 3, 4, 5, 6 &gt;</a:t>
            </a:r>
          </a:p>
          <a:p>
            <a:pPr>
              <a:lnSpc>
                <a:spcPct val="150000"/>
              </a:lnSpc>
            </a:pPr>
            <a:r>
              <a:rPr lang="en-US" altLang="zh-TW" sz="2400" dirty="0">
                <a:latin typeface="Arial Black" panose="020B0A04020102020204" pitchFamily="34" charset="0"/>
                <a:cs typeface="Times New Roman" panose="02020603050405020304" pitchFamily="18" charset="0"/>
              </a:rPr>
              <a:t>&lt; 2, 1, 3, 4, 5, 6 &gt; </a:t>
            </a:r>
          </a:p>
          <a:p>
            <a:pPr>
              <a:lnSpc>
                <a:spcPct val="150000"/>
              </a:lnSpc>
            </a:pPr>
            <a:r>
              <a:rPr lang="en-US" altLang="zh-TW" sz="2400" dirty="0">
                <a:latin typeface="Arial Black" panose="020B0A04020102020204" pitchFamily="34" charset="0"/>
                <a:cs typeface="Times New Roman" panose="02020603050405020304" pitchFamily="18" charset="0"/>
              </a:rPr>
              <a:t>&lt; 5, 1, 6, 2, 4, 3 &gt;</a:t>
            </a:r>
          </a:p>
        </p:txBody>
      </p:sp>
      <mc:AlternateContent xmlns:mc="http://schemas.openxmlformats.org/markup-compatibility/2006">
        <mc:Choice xmlns:a14="http://schemas.microsoft.com/office/drawing/2010/main" Requires="a14">
          <p:sp>
            <p:nvSpPr>
              <p:cNvPr id="23" name="標題 1">
                <a:extLst>
                  <a:ext uri="{FF2B5EF4-FFF2-40B4-BE49-F238E27FC236}">
                    <a16:creationId xmlns:a16="http://schemas.microsoft.com/office/drawing/2014/main" id="{0B2B6E23-6063-4D97-A335-3FEBBEF85D4E}"/>
                  </a:ext>
                </a:extLst>
              </p:cNvPr>
              <p:cNvSpPr txBox="1">
                <a:spLocks/>
              </p:cNvSpPr>
              <p:nvPr/>
            </p:nvSpPr>
            <p:spPr>
              <a:xfrm>
                <a:off x="2568491" y="4240150"/>
                <a:ext cx="5033398" cy="583367"/>
              </a:xfrm>
              <a:prstGeom prst="rect">
                <a:avLst/>
              </a:prstGeom>
            </p:spPr>
            <p:txBody>
              <a:bodyPr vert="horz" lIns="91440" tIns="45720" rIns="91440" bIns="45720" rtlCol="0" anchor="ctr">
                <a:noAutofit/>
              </a:bodyPr>
              <a:lstStyle>
                <a:defPPr>
                  <a:defRPr lang="en-US"/>
                </a:defPPr>
                <a:lvl1pPr defTabSz="914400">
                  <a:lnSpc>
                    <a:spcPct val="150000"/>
                  </a:lnSpc>
                  <a:spcBef>
                    <a:spcPct val="0"/>
                  </a:spcBef>
                  <a:buNone/>
                  <a:defRPr sz="2000" b="1">
                    <a:latin typeface="Arial Black" panose="020B0A04020102020204" pitchFamily="34" charset="0"/>
                    <a:ea typeface="+mj-ea"/>
                    <a:cs typeface="Times New Roman" panose="02020603050405020304" pitchFamily="18" charset="0"/>
                  </a:defRPr>
                </a:lvl1pPr>
              </a:lstStyle>
              <a:p>
                <a14:m>
                  <m:oMath xmlns:m="http://schemas.openxmlformats.org/officeDocument/2006/math">
                    <m:r>
                      <a:rPr lang="en-US" altLang="zh-TW" sz="2400" i="0" smtClean="0">
                        <a:latin typeface="Cambria Math" panose="02040503050406030204" pitchFamily="18" charset="0"/>
                      </a:rPr>
                      <m:t>𝛑</m:t>
                    </m:r>
                    <m:r>
                      <a:rPr lang="en-US" altLang="zh-TW" sz="2400" b="1" i="0" smtClean="0">
                        <a:latin typeface="Cambria Math" panose="02040503050406030204" pitchFamily="18" charset="0"/>
                      </a:rPr>
                      <m:t> </m:t>
                    </m:r>
                    <m:r>
                      <a:rPr lang="en-US" altLang="zh-TW" sz="2400" i="0">
                        <a:latin typeface="Cambria Math" panose="02040503050406030204" pitchFamily="18" charset="0"/>
                      </a:rPr>
                      <m:t>=</m:t>
                    </m:r>
                    <m:r>
                      <a:rPr lang="en-US" altLang="zh-TW" sz="2400" b="1" i="0" smtClean="0">
                        <a:latin typeface="Cambria Math" panose="02040503050406030204" pitchFamily="18" charset="0"/>
                      </a:rPr>
                      <m:t> </m:t>
                    </m:r>
                  </m:oMath>
                </a14:m>
                <a:r>
                  <a:rPr lang="en-US" altLang="zh-TW" sz="2400" dirty="0"/>
                  <a:t>&lt; +2, -1, +5, +3, -4, +6 &gt;</a:t>
                </a:r>
              </a:p>
            </p:txBody>
          </p:sp>
        </mc:Choice>
        <mc:Fallback>
          <p:sp>
            <p:nvSpPr>
              <p:cNvPr id="23" name="標題 1">
                <a:extLst>
                  <a:ext uri="{FF2B5EF4-FFF2-40B4-BE49-F238E27FC236}">
                    <a16:creationId xmlns:a16="http://schemas.microsoft.com/office/drawing/2014/main" id="{0B2B6E23-6063-4D97-A335-3FEBBEF85D4E}"/>
                  </a:ext>
                </a:extLst>
              </p:cNvPr>
              <p:cNvSpPr txBox="1">
                <a:spLocks noRot="1" noChangeAspect="1" noMove="1" noResize="1" noEditPoints="1" noAdjustHandles="1" noChangeArrowheads="1" noChangeShapeType="1" noTextEdit="1"/>
              </p:cNvSpPr>
              <p:nvPr/>
            </p:nvSpPr>
            <p:spPr>
              <a:xfrm>
                <a:off x="2568491" y="4240150"/>
                <a:ext cx="5033398" cy="583367"/>
              </a:xfrm>
              <a:prstGeom prst="rect">
                <a:avLst/>
              </a:prstGeom>
              <a:blipFill>
                <a:blip r:embed="rId4"/>
                <a:stretch>
                  <a:fillRect b="-25263"/>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F4592393-E1D5-4378-9D65-1032BA2B38BF}"/>
              </a:ext>
            </a:extLst>
          </p:cNvPr>
          <p:cNvSpPr/>
          <p:nvPr/>
        </p:nvSpPr>
        <p:spPr>
          <a:xfrm>
            <a:off x="532923" y="3719662"/>
            <a:ext cx="4328332" cy="400110"/>
          </a:xfrm>
          <a:prstGeom prst="rect">
            <a:avLst/>
          </a:prstGeom>
        </p:spPr>
        <p:txBody>
          <a:bodyPr wrap="square">
            <a:spAutoFit/>
          </a:bodyPr>
          <a:lstStyle/>
          <a:p>
            <a:pPr/>
            <a:r>
              <a:rPr lang="en-US" altLang="zh-TW" sz="2000" dirty="0">
                <a:solidFill>
                  <a:srgbClr val="0070C0"/>
                </a:solidFill>
                <a:latin typeface="Times New Roman" panose="02020603050405020304" pitchFamily="18" charset="0"/>
                <a:cs typeface="Times New Roman" panose="02020603050405020304" pitchFamily="18" charset="0"/>
              </a:rPr>
              <a:t>(as the relative orientation of the genes)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E366ED72-E7AE-4EF1-A6E6-C0E7904D3C10}"/>
              </a:ext>
            </a:extLst>
          </p:cNvPr>
          <p:cNvSpPr/>
          <p:nvPr/>
        </p:nvSpPr>
        <p:spPr>
          <a:xfrm>
            <a:off x="532923" y="1619121"/>
            <a:ext cx="2630155" cy="400110"/>
          </a:xfrm>
          <a:prstGeom prst="rect">
            <a:avLst/>
          </a:prstGeom>
        </p:spPr>
        <p:txBody>
          <a:bodyPr wrap="square">
            <a:spAutoFit/>
          </a:bodyPr>
          <a:lstStyle/>
          <a:p>
            <a:pPr/>
            <a:r>
              <a:rPr lang="en-US" altLang="zh-TW" sz="2000" dirty="0">
                <a:solidFill>
                  <a:srgbClr val="0070C0"/>
                </a:solidFill>
                <a:latin typeface="Times New Roman" panose="02020603050405020304" pitchFamily="18" charset="0"/>
                <a:cs typeface="Times New Roman" panose="02020603050405020304" pitchFamily="18" charset="0"/>
              </a:rPr>
              <a:t>(unsigned permutation)</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88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Composition (1/2)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a:xfrm>
            <a:off x="6457950" y="6356351"/>
            <a:ext cx="2057400" cy="365125"/>
          </a:xfrm>
        </p:spPr>
        <p:txBody>
          <a:bodyPr/>
          <a:lstStyle/>
          <a:p>
            <a:fld id="{872633CA-77E0-4863-94F8-E28139DFB2B4}" type="slidenum">
              <a:rPr lang="zh-TW" altLang="en-US" smtClean="0"/>
              <a:t>6</a:t>
            </a:fld>
            <a:endParaRPr lang="zh-TW" altLang="en-US"/>
          </a:p>
        </p:txBody>
      </p:sp>
      <p:sp>
        <p:nvSpPr>
          <p:cNvPr id="6" name="標題 1">
            <a:extLst>
              <a:ext uri="{FF2B5EF4-FFF2-40B4-BE49-F238E27FC236}">
                <a16:creationId xmlns:a16="http://schemas.microsoft.com/office/drawing/2014/main" id="{0F3C0B7C-940A-432F-87F9-1764B2F5AAB7}"/>
              </a:ext>
            </a:extLst>
          </p:cNvPr>
          <p:cNvSpPr txBox="1">
            <a:spLocks/>
          </p:cNvSpPr>
          <p:nvPr/>
        </p:nvSpPr>
        <p:spPr>
          <a:xfrm>
            <a:off x="402232" y="1947850"/>
            <a:ext cx="8741768" cy="528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cs typeface="Times New Roman" panose="02020603050405020304" pitchFamily="18" charset="0"/>
              </a:rPr>
              <a:t>Composition:</a:t>
            </a:r>
          </a:p>
        </p:txBody>
      </p:sp>
      <mc:AlternateContent xmlns:mc="http://schemas.openxmlformats.org/markup-compatibility/2006" xmlns:a14="http://schemas.microsoft.com/office/drawing/2010/main">
        <mc:Choice Requires="a14">
          <p:sp>
            <p:nvSpPr>
              <p:cNvPr id="28" name="標題 1">
                <a:extLst>
                  <a:ext uri="{FF2B5EF4-FFF2-40B4-BE49-F238E27FC236}">
                    <a16:creationId xmlns:a16="http://schemas.microsoft.com/office/drawing/2014/main" id="{181DB44C-FC0A-4741-A15E-B3713572DF93}"/>
                  </a:ext>
                </a:extLst>
              </p:cNvPr>
              <p:cNvSpPr txBox="1">
                <a:spLocks/>
              </p:cNvSpPr>
              <p:nvPr/>
            </p:nvSpPr>
            <p:spPr>
              <a:xfrm>
                <a:off x="402232" y="966329"/>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8" name="標題 1">
                <a:extLst>
                  <a:ext uri="{FF2B5EF4-FFF2-40B4-BE49-F238E27FC236}">
                    <a16:creationId xmlns:a16="http://schemas.microsoft.com/office/drawing/2014/main" id="{181DB44C-FC0A-4741-A15E-B3713572DF93}"/>
                  </a:ext>
                </a:extLst>
              </p:cNvPr>
              <p:cNvSpPr txBox="1">
                <a:spLocks noRot="1" noChangeAspect="1" noMove="1" noResize="1" noEditPoints="1" noAdjustHandles="1" noChangeArrowheads="1" noChangeShapeType="1" noTextEdit="1"/>
              </p:cNvSpPr>
              <p:nvPr/>
            </p:nvSpPr>
            <p:spPr>
              <a:xfrm>
                <a:off x="402232" y="966329"/>
                <a:ext cx="2174089" cy="583367"/>
              </a:xfrm>
              <a:prstGeom prst="rect">
                <a:avLst/>
              </a:prstGeom>
              <a:blipFill>
                <a:blip r:embed="rId2"/>
                <a:stretch>
                  <a:fillRect l="-4482"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標題 1">
                <a:extLst>
                  <a:ext uri="{FF2B5EF4-FFF2-40B4-BE49-F238E27FC236}">
                    <a16:creationId xmlns:a16="http://schemas.microsoft.com/office/drawing/2014/main" id="{E7891C1D-30EE-4A86-A9B9-9D6E8C9C73DE}"/>
                  </a:ext>
                </a:extLst>
              </p:cNvPr>
              <p:cNvSpPr txBox="1">
                <a:spLocks/>
              </p:cNvSpPr>
              <p:nvPr/>
            </p:nvSpPr>
            <p:spPr>
              <a:xfrm>
                <a:off x="2576321" y="997251"/>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dirty="0" smtClean="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32" name="標題 1">
                <a:extLst>
                  <a:ext uri="{FF2B5EF4-FFF2-40B4-BE49-F238E27FC236}">
                    <a16:creationId xmlns:a16="http://schemas.microsoft.com/office/drawing/2014/main" id="{E7891C1D-30EE-4A86-A9B9-9D6E8C9C73DE}"/>
                  </a:ext>
                </a:extLst>
              </p:cNvPr>
              <p:cNvSpPr txBox="1">
                <a:spLocks noRot="1" noChangeAspect="1" noMove="1" noResize="1" noEditPoints="1" noAdjustHandles="1" noChangeArrowheads="1" noChangeShapeType="1" noTextEdit="1"/>
              </p:cNvSpPr>
              <p:nvPr/>
            </p:nvSpPr>
            <p:spPr>
              <a:xfrm>
                <a:off x="2576321" y="997251"/>
                <a:ext cx="2554446" cy="510001"/>
              </a:xfrm>
              <a:prstGeom prst="rect">
                <a:avLst/>
              </a:prstGeom>
              <a:blipFill>
                <a:blip r:embed="rId3"/>
                <a:stretch>
                  <a:fillRect l="-2625" b="-204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9B8446D0-D760-472E-A004-3EE653D494AE}"/>
                  </a:ext>
                </a:extLst>
              </p:cNvPr>
              <p:cNvSpPr txBox="1">
                <a:spLocks/>
              </p:cNvSpPr>
              <p:nvPr/>
            </p:nvSpPr>
            <p:spPr>
              <a:xfrm>
                <a:off x="402232" y="1430507"/>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𝜎</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9B8446D0-D760-472E-A004-3EE653D494AE}"/>
                  </a:ext>
                </a:extLst>
              </p:cNvPr>
              <p:cNvSpPr txBox="1">
                <a:spLocks noRot="1" noChangeAspect="1" noMove="1" noResize="1" noEditPoints="1" noAdjustHandles="1" noChangeArrowheads="1" noChangeShapeType="1" noTextEdit="1"/>
              </p:cNvSpPr>
              <p:nvPr/>
            </p:nvSpPr>
            <p:spPr>
              <a:xfrm>
                <a:off x="402232" y="1430507"/>
                <a:ext cx="2174089" cy="583367"/>
              </a:xfrm>
              <a:prstGeom prst="rect">
                <a:avLst/>
              </a:prstGeom>
              <a:blipFill>
                <a:blip r:embed="rId4"/>
                <a:stretch>
                  <a:fillRect l="-4482"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1E309D24-391C-41CB-BAD1-8FA1161030DB}"/>
                  </a:ext>
                </a:extLst>
              </p:cNvPr>
              <p:cNvSpPr txBox="1">
                <a:spLocks/>
              </p:cNvSpPr>
              <p:nvPr/>
            </p:nvSpPr>
            <p:spPr>
              <a:xfrm>
                <a:off x="2576321" y="1430507"/>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10" name="標題 1">
                <a:extLst>
                  <a:ext uri="{FF2B5EF4-FFF2-40B4-BE49-F238E27FC236}">
                    <a16:creationId xmlns:a16="http://schemas.microsoft.com/office/drawing/2014/main" id="{1E309D24-391C-41CB-BAD1-8FA1161030DB}"/>
                  </a:ext>
                </a:extLst>
              </p:cNvPr>
              <p:cNvSpPr txBox="1">
                <a:spLocks noRot="1" noChangeAspect="1" noMove="1" noResize="1" noEditPoints="1" noAdjustHandles="1" noChangeArrowheads="1" noChangeShapeType="1" noTextEdit="1"/>
              </p:cNvSpPr>
              <p:nvPr/>
            </p:nvSpPr>
            <p:spPr>
              <a:xfrm>
                <a:off x="2576321" y="1430507"/>
                <a:ext cx="2554446" cy="510001"/>
              </a:xfrm>
              <a:prstGeom prst="rect">
                <a:avLst/>
              </a:prstGeom>
              <a:blipFill>
                <a:blip r:embed="rId5"/>
                <a:stretch>
                  <a:fillRect l="-2625" b="-204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標題 1">
                <a:extLst>
                  <a:ext uri="{FF2B5EF4-FFF2-40B4-BE49-F238E27FC236}">
                    <a16:creationId xmlns:a16="http://schemas.microsoft.com/office/drawing/2014/main" id="{34029723-FD5C-4C5F-9426-CE76B2DB5DA6}"/>
                  </a:ext>
                </a:extLst>
              </p:cNvPr>
              <p:cNvSpPr txBox="1">
                <a:spLocks/>
              </p:cNvSpPr>
              <p:nvPr/>
            </p:nvSpPr>
            <p:spPr>
              <a:xfrm>
                <a:off x="1649119" y="4118804"/>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3" name="標題 1">
                <a:extLst>
                  <a:ext uri="{FF2B5EF4-FFF2-40B4-BE49-F238E27FC236}">
                    <a16:creationId xmlns:a16="http://schemas.microsoft.com/office/drawing/2014/main" id="{34029723-FD5C-4C5F-9426-CE76B2DB5DA6}"/>
                  </a:ext>
                </a:extLst>
              </p:cNvPr>
              <p:cNvSpPr txBox="1">
                <a:spLocks noRot="1" noChangeAspect="1" noMove="1" noResize="1" noEditPoints="1" noAdjustHandles="1" noChangeArrowheads="1" noChangeShapeType="1" noTextEdit="1"/>
              </p:cNvSpPr>
              <p:nvPr/>
            </p:nvSpPr>
            <p:spPr>
              <a:xfrm>
                <a:off x="1649119" y="4118804"/>
                <a:ext cx="5096135" cy="51000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B0F1D3D-5D41-4824-8A38-70CB141E6186}"/>
                  </a:ext>
                </a:extLst>
              </p:cNvPr>
              <p:cNvSpPr/>
              <p:nvPr/>
            </p:nvSpPr>
            <p:spPr>
              <a:xfrm>
                <a:off x="2157528" y="2414439"/>
                <a:ext cx="5096135"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𝛼</m:t>
                      </m:r>
                      <m:r>
                        <a:rPr lang="en-US" altLang="zh-TW" sz="2800" b="0" i="1" smtClean="0">
                          <a:solidFill>
                            <a:srgbClr val="0070C0"/>
                          </a:solidFill>
                          <a:latin typeface="Cambria Math" panose="02040503050406030204" pitchFamily="18" charset="0"/>
                          <a:cs typeface="Times New Roman" panose="02020603050405020304" pitchFamily="18" charset="0"/>
                        </a:rPr>
                        <m:t>= </m:t>
                      </m:r>
                      <m:r>
                        <a:rPr lang="en-US" altLang="zh-TW" sz="2800" i="1" smtClean="0">
                          <a:solidFill>
                            <a:srgbClr val="0070C0"/>
                          </a:solidFill>
                          <a:latin typeface="Cambria Math" panose="02040503050406030204" pitchFamily="18" charset="0"/>
                          <a:cs typeface="Times New Roman" panose="02020603050405020304" pitchFamily="18" charset="0"/>
                        </a:rPr>
                        <m:t>𝜋</m:t>
                      </m:r>
                      <m:r>
                        <a:rPr lang="en-US" altLang="zh-TW" sz="2800" i="1" smtClean="0">
                          <a:solidFill>
                            <a:srgbClr val="0070C0"/>
                          </a:solidFill>
                          <a:latin typeface="Cambria Math" panose="02040503050406030204" pitchFamily="18" charset="0"/>
                          <a:cs typeface="Times New Roman" panose="02020603050405020304" pitchFamily="18" charset="0"/>
                        </a:rPr>
                        <m:t>∘</m:t>
                      </m:r>
                      <m:r>
                        <a:rPr lang="en-US" altLang="zh-TW" sz="2800" i="1" smtClean="0">
                          <a:solidFill>
                            <a:srgbClr val="0070C0"/>
                          </a:solidFill>
                          <a:latin typeface="Cambria Math" panose="02040503050406030204" pitchFamily="18" charset="0"/>
                          <a:cs typeface="Times New Roman" panose="02020603050405020304" pitchFamily="18" charset="0"/>
                        </a:rPr>
                        <m:t>𝜎</m:t>
                      </m:r>
                      <m:r>
                        <a:rPr lang="en-US" altLang="zh-TW" sz="2800" i="1" smtClean="0">
                          <a:solidFill>
                            <a:srgbClr val="0070C0"/>
                          </a:solidFill>
                          <a:latin typeface="Cambria Math" panose="02040503050406030204" pitchFamily="18" charset="0"/>
                          <a:cs typeface="Times New Roman" panose="02020603050405020304" pitchFamily="18" charset="0"/>
                        </a:rPr>
                        <m:t>=</m:t>
                      </m:r>
                      <m:d>
                        <m:dPr>
                          <m:ctrlPr>
                            <a:rPr lang="en-US" altLang="zh-TW" sz="2800" i="1">
                              <a:solidFill>
                                <a:srgbClr val="0070C0"/>
                              </a:solidFill>
                              <a:latin typeface="Cambria Math" panose="02040503050406030204" pitchFamily="18" charset="0"/>
                              <a:cs typeface="Times New Roman" panose="02020603050405020304" pitchFamily="18" charset="0"/>
                            </a:rPr>
                          </m:ctrlPr>
                        </m:dPr>
                        <m:e>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1</m:t>
                              </m:r>
                            </m:sub>
                          </m:sSub>
                          <m:r>
                            <a:rPr lang="en-US" altLang="zh-TW" sz="2800" i="1">
                              <a:solidFill>
                                <a:srgbClr val="0070C0"/>
                              </a:solidFill>
                              <a:latin typeface="Cambria Math" panose="02040503050406030204" pitchFamily="18" charset="0"/>
                              <a:cs typeface="Times New Roman" panose="02020603050405020304" pitchFamily="18" charset="0"/>
                            </a:rPr>
                            <m:t>,</m:t>
                          </m:r>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2</m:t>
                              </m:r>
                            </m:sub>
                          </m:sSub>
                          <m:r>
                            <a:rPr lang="en-US" altLang="zh-TW" sz="2800" i="1">
                              <a:solidFill>
                                <a:srgbClr val="0070C0"/>
                              </a:solidFill>
                              <a:latin typeface="Cambria Math" panose="02040503050406030204" pitchFamily="18" charset="0"/>
                              <a:cs typeface="Times New Roman" panose="02020603050405020304" pitchFamily="18" charset="0"/>
                            </a:rPr>
                            <m:t>, …, </m:t>
                          </m:r>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𝑛</m:t>
                              </m:r>
                            </m:sub>
                          </m:sSub>
                        </m:e>
                      </m:d>
                    </m:oMath>
                  </m:oMathPara>
                </a14:m>
                <a:endParaRPr lang="en-US" altLang="zh-TW"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B0F1D3D-5D41-4824-8A38-70CB141E6186}"/>
                  </a:ext>
                </a:extLst>
              </p:cNvPr>
              <p:cNvSpPr>
                <a:spLocks noRot="1" noChangeAspect="1" noMove="1" noResize="1" noEditPoints="1" noAdjustHandles="1" noChangeArrowheads="1" noChangeShapeType="1" noTextEdit="1"/>
              </p:cNvSpPr>
              <p:nvPr/>
            </p:nvSpPr>
            <p:spPr>
              <a:xfrm>
                <a:off x="2157528" y="2414439"/>
                <a:ext cx="5096135" cy="52322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DBF70D5-B4B4-47FD-9CD0-ED3D2AF7EC42}"/>
                  </a:ext>
                </a:extLst>
              </p:cNvPr>
              <p:cNvSpPr/>
              <p:nvPr/>
            </p:nvSpPr>
            <p:spPr>
              <a:xfrm>
                <a:off x="5130767" y="3061540"/>
                <a:ext cx="3228975" cy="903068"/>
              </a:xfrm>
              <a:prstGeom prst="rect">
                <a:avLst/>
              </a:prstGeom>
            </p:spPr>
            <p:txBody>
              <a:bodyPr wrap="square">
                <a:spAutoFit/>
              </a:bodyPr>
              <a:lstStyle/>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&lt;0</m:t>
                    </m:r>
                    <m:r>
                      <a:rPr lang="en-US" altLang="zh-TW" sz="2400">
                        <a:solidFill>
                          <a:srgbClr val="0070C0"/>
                        </a:solidFill>
                        <a:latin typeface="Cambria Math" panose="02040503050406030204" pitchFamily="18" charset="0"/>
                        <a:cs typeface="Times New Roman" panose="02020603050405020304" pitchFamily="18" charset="0"/>
                      </a:rPr>
                      <m:t>,    </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𝛼</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𝜋</m:t>
                        </m:r>
                      </m:e>
                      <m:sub>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e>
                        </m:d>
                      </m:sub>
                    </m:sSub>
                  </m:oMath>
                </a14:m>
                <a:endParaRPr lang="en-US" altLang="zh-TW" sz="2400" dirty="0">
                  <a:solidFill>
                    <a:srgbClr val="0070C0"/>
                  </a:solidFill>
                  <a:latin typeface="Times New Roman" panose="02020603050405020304" pitchFamily="18" charset="0"/>
                  <a:cs typeface="Times New Roman" panose="02020603050405020304" pitchFamily="18" charset="0"/>
                </a:endParaRPr>
              </a:p>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else, 	 	 </a:t>
                </a:r>
                <a14:m>
                  <m:oMath xmlns:m="http://schemas.openxmlformats.org/officeDocument/2006/math">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𝛼</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𝜋</m:t>
                        </m:r>
                      </m:e>
                      <m:sub>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sub>
                    </m:sSub>
                  </m:oMath>
                </a14:m>
                <a:endParaRPr lang="zh-TW" altLang="en-US" sz="2400" dirty="0"/>
              </a:p>
            </p:txBody>
          </p:sp>
        </mc:Choice>
        <mc:Fallback xmlns="">
          <p:sp>
            <p:nvSpPr>
              <p:cNvPr id="11" name="矩形 10">
                <a:extLst>
                  <a:ext uri="{FF2B5EF4-FFF2-40B4-BE49-F238E27FC236}">
                    <a16:creationId xmlns:a16="http://schemas.microsoft.com/office/drawing/2014/main" id="{6DBF70D5-B4B4-47FD-9CD0-ED3D2AF7EC42}"/>
                  </a:ext>
                </a:extLst>
              </p:cNvPr>
              <p:cNvSpPr>
                <a:spLocks noRot="1" noChangeAspect="1" noMove="1" noResize="1" noEditPoints="1" noAdjustHandles="1" noChangeArrowheads="1" noChangeShapeType="1" noTextEdit="1"/>
              </p:cNvSpPr>
              <p:nvPr/>
            </p:nvSpPr>
            <p:spPr>
              <a:xfrm>
                <a:off x="5130767" y="3061540"/>
                <a:ext cx="3228975" cy="903068"/>
              </a:xfrm>
              <a:prstGeom prst="rect">
                <a:avLst/>
              </a:prstGeom>
              <a:blipFill>
                <a:blip r:embed="rId8"/>
                <a:stretch>
                  <a:fillRect l="-3025" t="-5405" b="-108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標題 1">
                <a:extLst>
                  <a:ext uri="{FF2B5EF4-FFF2-40B4-BE49-F238E27FC236}">
                    <a16:creationId xmlns:a16="http://schemas.microsoft.com/office/drawing/2014/main" id="{9C11CD2B-FCF4-4E4B-A1A8-4431958ABDF9}"/>
                  </a:ext>
                </a:extLst>
              </p:cNvPr>
              <p:cNvSpPr txBox="1">
                <a:spLocks/>
              </p:cNvSpPr>
              <p:nvPr/>
            </p:nvSpPr>
            <p:spPr>
              <a:xfrm>
                <a:off x="1649118" y="4640522"/>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𝝈</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7" name="標題 1">
                <a:extLst>
                  <a:ext uri="{FF2B5EF4-FFF2-40B4-BE49-F238E27FC236}">
                    <a16:creationId xmlns:a16="http://schemas.microsoft.com/office/drawing/2014/main" id="{9C11CD2B-FCF4-4E4B-A1A8-4431958ABDF9}"/>
                  </a:ext>
                </a:extLst>
              </p:cNvPr>
              <p:cNvSpPr txBox="1">
                <a:spLocks noRot="1" noChangeAspect="1" noMove="1" noResize="1" noEditPoints="1" noAdjustHandles="1" noChangeArrowheads="1" noChangeShapeType="1" noTextEdit="1"/>
              </p:cNvSpPr>
              <p:nvPr/>
            </p:nvSpPr>
            <p:spPr>
              <a:xfrm>
                <a:off x="1649118" y="4640522"/>
                <a:ext cx="5096135" cy="510001"/>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標題 1">
                <a:extLst>
                  <a:ext uri="{FF2B5EF4-FFF2-40B4-BE49-F238E27FC236}">
                    <a16:creationId xmlns:a16="http://schemas.microsoft.com/office/drawing/2014/main" id="{06015119-7D11-4D8D-B279-DB72DB1A6927}"/>
                  </a:ext>
                </a:extLst>
              </p:cNvPr>
              <p:cNvSpPr txBox="1">
                <a:spLocks/>
              </p:cNvSpPr>
              <p:nvPr/>
            </p:nvSpPr>
            <p:spPr>
              <a:xfrm>
                <a:off x="1649119" y="5612750"/>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solidFill>
                            <a:schemeClr val="bg1"/>
                          </a:solidFill>
                          <a:latin typeface="Cambria Math" panose="02040503050406030204" pitchFamily="18" charset="0"/>
                          <a:cs typeface="Times New Roman" panose="02020603050405020304" pitchFamily="18" charset="0"/>
                        </a:rPr>
                        <m:t>𝜶</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8" name="標題 1">
                <a:extLst>
                  <a:ext uri="{FF2B5EF4-FFF2-40B4-BE49-F238E27FC236}">
                    <a16:creationId xmlns:a16="http://schemas.microsoft.com/office/drawing/2014/main" id="{06015119-7D11-4D8D-B279-DB72DB1A6927}"/>
                  </a:ext>
                </a:extLst>
              </p:cNvPr>
              <p:cNvSpPr txBox="1">
                <a:spLocks noRot="1" noChangeAspect="1" noMove="1" noResize="1" noEditPoints="1" noAdjustHandles="1" noChangeArrowheads="1" noChangeShapeType="1" noTextEdit="1"/>
              </p:cNvSpPr>
              <p:nvPr/>
            </p:nvSpPr>
            <p:spPr>
              <a:xfrm>
                <a:off x="1649119" y="5612750"/>
                <a:ext cx="5096135" cy="51000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B967847-009E-4CFB-8E07-77126D1C5E92}"/>
                  </a:ext>
                </a:extLst>
              </p:cNvPr>
              <p:cNvSpPr/>
              <p:nvPr/>
            </p:nvSpPr>
            <p:spPr>
              <a:xfrm>
                <a:off x="2586056" y="5661086"/>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𝟏</m:t>
                      </m:r>
                    </m:oMath>
                  </m:oMathPara>
                </a14:m>
                <a:endParaRPr lang="zh-TW" altLang="en-US" sz="2300" dirty="0"/>
              </a:p>
            </p:txBody>
          </p:sp>
        </mc:Choice>
        <mc:Fallback xmlns="">
          <p:sp>
            <p:nvSpPr>
              <p:cNvPr id="12" name="矩形 11">
                <a:extLst>
                  <a:ext uri="{FF2B5EF4-FFF2-40B4-BE49-F238E27FC236}">
                    <a16:creationId xmlns:a16="http://schemas.microsoft.com/office/drawing/2014/main" id="{EB967847-009E-4CFB-8E07-77126D1C5E92}"/>
                  </a:ext>
                </a:extLst>
              </p:cNvPr>
              <p:cNvSpPr>
                <a:spLocks noRot="1" noChangeAspect="1" noMove="1" noResize="1" noEditPoints="1" noAdjustHandles="1" noChangeArrowheads="1" noChangeShapeType="1" noTextEdit="1"/>
              </p:cNvSpPr>
              <p:nvPr/>
            </p:nvSpPr>
            <p:spPr>
              <a:xfrm>
                <a:off x="2586056" y="5661086"/>
                <a:ext cx="406088" cy="461665"/>
              </a:xfrm>
              <a:prstGeom prst="rect">
                <a:avLst/>
              </a:prstGeom>
              <a:blipFill>
                <a:blip r:embed="rId11"/>
                <a:stretch>
                  <a:fillRect r="-447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4403AD4A-079B-4AE4-8FE2-361FE079959F}"/>
                  </a:ext>
                </a:extLst>
              </p:cNvPr>
              <p:cNvSpPr/>
              <p:nvPr/>
            </p:nvSpPr>
            <p:spPr>
              <a:xfrm>
                <a:off x="3104216" y="5661085"/>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𝟒</m:t>
                      </m:r>
                    </m:oMath>
                  </m:oMathPara>
                </a14:m>
                <a:endParaRPr lang="zh-TW" altLang="en-US" sz="2300" dirty="0"/>
              </a:p>
            </p:txBody>
          </p:sp>
        </mc:Choice>
        <mc:Fallback xmlns="">
          <p:sp>
            <p:nvSpPr>
              <p:cNvPr id="21" name="矩形 20">
                <a:extLst>
                  <a:ext uri="{FF2B5EF4-FFF2-40B4-BE49-F238E27FC236}">
                    <a16:creationId xmlns:a16="http://schemas.microsoft.com/office/drawing/2014/main" id="{4403AD4A-079B-4AE4-8FE2-361FE079959F}"/>
                  </a:ext>
                </a:extLst>
              </p:cNvPr>
              <p:cNvSpPr>
                <a:spLocks noRot="1" noChangeAspect="1" noMove="1" noResize="1" noEditPoints="1" noAdjustHandles="1" noChangeArrowheads="1" noChangeShapeType="1" noTextEdit="1"/>
              </p:cNvSpPr>
              <p:nvPr/>
            </p:nvSpPr>
            <p:spPr>
              <a:xfrm>
                <a:off x="3104216" y="5661085"/>
                <a:ext cx="406088" cy="461665"/>
              </a:xfrm>
              <a:prstGeom prst="rect">
                <a:avLst/>
              </a:prstGeom>
              <a:blipFill>
                <a:blip r:embed="rId12"/>
                <a:stretch>
                  <a:fillRect l="-1493" r="-447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C4300DE4-CC41-4347-975E-638208A013BF}"/>
                  </a:ext>
                </a:extLst>
              </p:cNvPr>
              <p:cNvSpPr/>
              <p:nvPr/>
            </p:nvSpPr>
            <p:spPr>
              <a:xfrm>
                <a:off x="3622376" y="5661085"/>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𝟔</m:t>
                      </m:r>
                    </m:oMath>
                  </m:oMathPara>
                </a14:m>
                <a:endParaRPr lang="zh-TW" altLang="en-US" sz="2300" dirty="0"/>
              </a:p>
            </p:txBody>
          </p:sp>
        </mc:Choice>
        <mc:Fallback xmlns="">
          <p:sp>
            <p:nvSpPr>
              <p:cNvPr id="22" name="矩形 21">
                <a:extLst>
                  <a:ext uri="{FF2B5EF4-FFF2-40B4-BE49-F238E27FC236}">
                    <a16:creationId xmlns:a16="http://schemas.microsoft.com/office/drawing/2014/main" id="{C4300DE4-CC41-4347-975E-638208A013BF}"/>
                  </a:ext>
                </a:extLst>
              </p:cNvPr>
              <p:cNvSpPr>
                <a:spLocks noRot="1" noChangeAspect="1" noMove="1" noResize="1" noEditPoints="1" noAdjustHandles="1" noChangeArrowheads="1" noChangeShapeType="1" noTextEdit="1"/>
              </p:cNvSpPr>
              <p:nvPr/>
            </p:nvSpPr>
            <p:spPr>
              <a:xfrm>
                <a:off x="3622376" y="5661085"/>
                <a:ext cx="406088" cy="461665"/>
              </a:xfrm>
              <a:prstGeom prst="rect">
                <a:avLst/>
              </a:prstGeom>
              <a:blipFill>
                <a:blip r:embed="rId13"/>
                <a:stretch>
                  <a:fillRect r="-447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49D753A-CB6D-498C-BC87-4B25844B08BD}"/>
                  </a:ext>
                </a:extLst>
              </p:cNvPr>
              <p:cNvSpPr/>
              <p:nvPr/>
            </p:nvSpPr>
            <p:spPr>
              <a:xfrm>
                <a:off x="4140536" y="5661085"/>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𝟐</m:t>
                      </m:r>
                    </m:oMath>
                  </m:oMathPara>
                </a14:m>
                <a:endParaRPr lang="zh-TW" altLang="en-US" sz="2300" dirty="0"/>
              </a:p>
            </p:txBody>
          </p:sp>
        </mc:Choice>
        <mc:Fallback xmlns="">
          <p:sp>
            <p:nvSpPr>
              <p:cNvPr id="24" name="矩形 23">
                <a:extLst>
                  <a:ext uri="{FF2B5EF4-FFF2-40B4-BE49-F238E27FC236}">
                    <a16:creationId xmlns:a16="http://schemas.microsoft.com/office/drawing/2014/main" id="{C49D753A-CB6D-498C-BC87-4B25844B08BD}"/>
                  </a:ext>
                </a:extLst>
              </p:cNvPr>
              <p:cNvSpPr>
                <a:spLocks noRot="1" noChangeAspect="1" noMove="1" noResize="1" noEditPoints="1" noAdjustHandles="1" noChangeArrowheads="1" noChangeShapeType="1" noTextEdit="1"/>
              </p:cNvSpPr>
              <p:nvPr/>
            </p:nvSpPr>
            <p:spPr>
              <a:xfrm>
                <a:off x="4140536" y="5661085"/>
                <a:ext cx="406088" cy="461665"/>
              </a:xfrm>
              <a:prstGeom prst="rect">
                <a:avLst/>
              </a:prstGeom>
              <a:blipFill>
                <a:blip r:embed="rId14"/>
                <a:stretch>
                  <a:fillRect l="-1493" r="-447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BEB89731-0AC5-4936-AD75-3A84529FF72B}"/>
                  </a:ext>
                </a:extLst>
              </p:cNvPr>
              <p:cNvSpPr/>
              <p:nvPr/>
            </p:nvSpPr>
            <p:spPr>
              <a:xfrm>
                <a:off x="4634755" y="5661085"/>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𝟑</m:t>
                      </m:r>
                    </m:oMath>
                  </m:oMathPara>
                </a14:m>
                <a:endParaRPr lang="zh-TW" altLang="en-US" sz="2300" dirty="0"/>
              </a:p>
            </p:txBody>
          </p:sp>
        </mc:Choice>
        <mc:Fallback xmlns="">
          <p:sp>
            <p:nvSpPr>
              <p:cNvPr id="25" name="矩形 24">
                <a:extLst>
                  <a:ext uri="{FF2B5EF4-FFF2-40B4-BE49-F238E27FC236}">
                    <a16:creationId xmlns:a16="http://schemas.microsoft.com/office/drawing/2014/main" id="{BEB89731-0AC5-4936-AD75-3A84529FF72B}"/>
                  </a:ext>
                </a:extLst>
              </p:cNvPr>
              <p:cNvSpPr>
                <a:spLocks noRot="1" noChangeAspect="1" noMove="1" noResize="1" noEditPoints="1" noAdjustHandles="1" noChangeArrowheads="1" noChangeShapeType="1" noTextEdit="1"/>
              </p:cNvSpPr>
              <p:nvPr/>
            </p:nvSpPr>
            <p:spPr>
              <a:xfrm>
                <a:off x="4634755" y="5661085"/>
                <a:ext cx="406088" cy="461665"/>
              </a:xfrm>
              <a:prstGeom prst="rect">
                <a:avLst/>
              </a:prstGeom>
              <a:blipFill>
                <a:blip r:embed="rId15"/>
                <a:stretch>
                  <a:fillRect l="-1493" r="-447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40F4196-0B05-473B-8255-7E60D1F8F53F}"/>
                  </a:ext>
                </a:extLst>
              </p:cNvPr>
              <p:cNvSpPr/>
              <p:nvPr/>
            </p:nvSpPr>
            <p:spPr>
              <a:xfrm>
                <a:off x="5180545" y="5661085"/>
                <a:ext cx="406088"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300" b="1" i="1" smtClean="0">
                          <a:latin typeface="Cambria Math" panose="02040503050406030204" pitchFamily="18" charset="0"/>
                          <a:cs typeface="Times New Roman" panose="02020603050405020304" pitchFamily="18" charset="0"/>
                        </a:rPr>
                        <m:t>−</m:t>
                      </m:r>
                      <m:r>
                        <a:rPr lang="en-US" altLang="zh-TW" sz="2300" b="1" i="1" smtClean="0">
                          <a:latin typeface="Cambria Math" panose="02040503050406030204" pitchFamily="18" charset="0"/>
                          <a:cs typeface="Times New Roman" panose="02020603050405020304" pitchFamily="18" charset="0"/>
                        </a:rPr>
                        <m:t>𝟓</m:t>
                      </m:r>
                    </m:oMath>
                  </m:oMathPara>
                </a14:m>
                <a:endParaRPr lang="zh-TW" altLang="en-US" sz="2300" dirty="0"/>
              </a:p>
            </p:txBody>
          </p:sp>
        </mc:Choice>
        <mc:Fallback xmlns="">
          <p:sp>
            <p:nvSpPr>
              <p:cNvPr id="26" name="矩形 25">
                <a:extLst>
                  <a:ext uri="{FF2B5EF4-FFF2-40B4-BE49-F238E27FC236}">
                    <a16:creationId xmlns:a16="http://schemas.microsoft.com/office/drawing/2014/main" id="{040F4196-0B05-473B-8255-7E60D1F8F53F}"/>
                  </a:ext>
                </a:extLst>
              </p:cNvPr>
              <p:cNvSpPr>
                <a:spLocks noRot="1" noChangeAspect="1" noMove="1" noResize="1" noEditPoints="1" noAdjustHandles="1" noChangeArrowheads="1" noChangeShapeType="1" noTextEdit="1"/>
              </p:cNvSpPr>
              <p:nvPr/>
            </p:nvSpPr>
            <p:spPr>
              <a:xfrm>
                <a:off x="5180545" y="5661085"/>
                <a:ext cx="406088" cy="461665"/>
              </a:xfrm>
              <a:prstGeom prst="rect">
                <a:avLst/>
              </a:prstGeom>
              <a:blipFill>
                <a:blip r:embed="rId16"/>
                <a:stretch>
                  <a:fillRect r="-469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標題 1">
                <a:extLst>
                  <a:ext uri="{FF2B5EF4-FFF2-40B4-BE49-F238E27FC236}">
                    <a16:creationId xmlns:a16="http://schemas.microsoft.com/office/drawing/2014/main" id="{07A9A8AB-8BA7-437F-94DA-FF7948B4D5EA}"/>
                  </a:ext>
                </a:extLst>
              </p:cNvPr>
              <p:cNvSpPr txBox="1">
                <a:spLocks/>
              </p:cNvSpPr>
              <p:nvPr/>
            </p:nvSpPr>
            <p:spPr>
              <a:xfrm>
                <a:off x="1649119" y="5176166"/>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a:latin typeface="Cambria Math" panose="02040503050406030204" pitchFamily="18" charset="0"/>
                          <a:cs typeface="Times New Roman" panose="02020603050405020304" pitchFamily="18" charset="0"/>
                        </a:rPr>
                        <m:t>𝜶</m:t>
                      </m:r>
                      <m:r>
                        <a:rPr lang="en-US" altLang="zh-TW" sz="2400" b="1" i="1">
                          <a:latin typeface="Cambria Math" panose="02040503050406030204" pitchFamily="18" charset="0"/>
                          <a:cs typeface="Times New Roman" panose="02020603050405020304" pitchFamily="18" charset="0"/>
                        </a:rPr>
                        <m:t>=</m:t>
                      </m:r>
                      <m:r>
                        <a:rPr lang="en-US" altLang="zh-TW" sz="2400" b="1" i="1">
                          <a:latin typeface="Cambria Math" panose="02040503050406030204" pitchFamily="18" charset="0"/>
                          <a:cs typeface="Times New Roman" panose="02020603050405020304" pitchFamily="18" charset="0"/>
                        </a:rPr>
                        <m:t>𝝅</m:t>
                      </m:r>
                      <m:r>
                        <a:rPr lang="en-US" altLang="zh-TW" sz="2400" b="1" i="1">
                          <a:latin typeface="Cambria Math" panose="02040503050406030204" pitchFamily="18" charset="0"/>
                          <a:cs typeface="Times New Roman" panose="02020603050405020304" pitchFamily="18" charset="0"/>
                        </a:rPr>
                        <m:t>∘</m:t>
                      </m:r>
                      <m:r>
                        <a:rPr lang="en-US" altLang="zh-TW" sz="2400" b="1" i="1">
                          <a:latin typeface="Cambria Math" panose="02040503050406030204" pitchFamily="18" charset="0"/>
                          <a:cs typeface="Times New Roman" panose="02020603050405020304" pitchFamily="18" charset="0"/>
                        </a:rPr>
                        <m:t>𝝈</m:t>
                      </m:r>
                    </m:oMath>
                  </m:oMathPara>
                </a14:m>
                <a:endParaRPr lang="en-US" altLang="zh-TW" sz="2400" b="1" i="1" dirty="0">
                  <a:latin typeface="Cambria Math" panose="02040503050406030204" pitchFamily="18" charset="0"/>
                  <a:cs typeface="Times New Roman" panose="02020603050405020304" pitchFamily="18" charset="0"/>
                </a:endParaRPr>
              </a:p>
            </p:txBody>
          </p:sp>
        </mc:Choice>
        <mc:Fallback xmlns="">
          <p:sp>
            <p:nvSpPr>
              <p:cNvPr id="23" name="標題 1">
                <a:extLst>
                  <a:ext uri="{FF2B5EF4-FFF2-40B4-BE49-F238E27FC236}">
                    <a16:creationId xmlns:a16="http://schemas.microsoft.com/office/drawing/2014/main" id="{07A9A8AB-8BA7-437F-94DA-FF7948B4D5EA}"/>
                  </a:ext>
                </a:extLst>
              </p:cNvPr>
              <p:cNvSpPr txBox="1">
                <a:spLocks noRot="1" noChangeAspect="1" noMove="1" noResize="1" noEditPoints="1" noAdjustHandles="1" noChangeArrowheads="1" noChangeShapeType="1" noTextEdit="1"/>
              </p:cNvSpPr>
              <p:nvPr/>
            </p:nvSpPr>
            <p:spPr>
              <a:xfrm>
                <a:off x="1649119" y="5176166"/>
                <a:ext cx="5096135" cy="510001"/>
              </a:xfrm>
              <a:prstGeom prst="rect">
                <a:avLst/>
              </a:prstGeom>
              <a:blipFill>
                <a:blip r:embed="rId1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792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animBg="1"/>
      <p:bldP spid="22"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Composition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6" name="標題 1">
            <a:extLst>
              <a:ext uri="{FF2B5EF4-FFF2-40B4-BE49-F238E27FC236}">
                <a16:creationId xmlns:a16="http://schemas.microsoft.com/office/drawing/2014/main" id="{0F3C0B7C-940A-432F-87F9-1764B2F5AAB7}"/>
              </a:ext>
            </a:extLst>
          </p:cNvPr>
          <p:cNvSpPr txBox="1">
            <a:spLocks/>
          </p:cNvSpPr>
          <p:nvPr/>
        </p:nvSpPr>
        <p:spPr>
          <a:xfrm>
            <a:off x="402232" y="1947850"/>
            <a:ext cx="8741768" cy="528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cs typeface="Times New Roman" panose="02020603050405020304" pitchFamily="18" charset="0"/>
              </a:rPr>
              <a:t>Composition:</a:t>
            </a:r>
          </a:p>
        </p:txBody>
      </p:sp>
      <mc:AlternateContent xmlns:mc="http://schemas.openxmlformats.org/markup-compatibility/2006" xmlns:a14="http://schemas.microsoft.com/office/drawing/2010/main">
        <mc:Choice Requires="a14">
          <p:sp>
            <p:nvSpPr>
              <p:cNvPr id="28" name="標題 1">
                <a:extLst>
                  <a:ext uri="{FF2B5EF4-FFF2-40B4-BE49-F238E27FC236}">
                    <a16:creationId xmlns:a16="http://schemas.microsoft.com/office/drawing/2014/main" id="{181DB44C-FC0A-4741-A15E-B3713572DF93}"/>
                  </a:ext>
                </a:extLst>
              </p:cNvPr>
              <p:cNvSpPr txBox="1">
                <a:spLocks/>
              </p:cNvSpPr>
              <p:nvPr/>
            </p:nvSpPr>
            <p:spPr>
              <a:xfrm>
                <a:off x="402232" y="966329"/>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8" name="標題 1">
                <a:extLst>
                  <a:ext uri="{FF2B5EF4-FFF2-40B4-BE49-F238E27FC236}">
                    <a16:creationId xmlns:a16="http://schemas.microsoft.com/office/drawing/2014/main" id="{181DB44C-FC0A-4741-A15E-B3713572DF93}"/>
                  </a:ext>
                </a:extLst>
              </p:cNvPr>
              <p:cNvSpPr txBox="1">
                <a:spLocks noRot="1" noChangeAspect="1" noMove="1" noResize="1" noEditPoints="1" noAdjustHandles="1" noChangeArrowheads="1" noChangeShapeType="1" noTextEdit="1"/>
              </p:cNvSpPr>
              <p:nvPr/>
            </p:nvSpPr>
            <p:spPr>
              <a:xfrm>
                <a:off x="402232" y="966329"/>
                <a:ext cx="2174089" cy="583367"/>
              </a:xfrm>
              <a:prstGeom prst="rect">
                <a:avLst/>
              </a:prstGeom>
              <a:blipFill>
                <a:blip r:embed="rId2"/>
                <a:stretch>
                  <a:fillRect l="-4482"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標題 1">
                <a:extLst>
                  <a:ext uri="{FF2B5EF4-FFF2-40B4-BE49-F238E27FC236}">
                    <a16:creationId xmlns:a16="http://schemas.microsoft.com/office/drawing/2014/main" id="{E7891C1D-30EE-4A86-A9B9-9D6E8C9C73DE}"/>
                  </a:ext>
                </a:extLst>
              </p:cNvPr>
              <p:cNvSpPr txBox="1">
                <a:spLocks/>
              </p:cNvSpPr>
              <p:nvPr/>
            </p:nvSpPr>
            <p:spPr>
              <a:xfrm>
                <a:off x="2576321" y="997251"/>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dirty="0" smtClean="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32" name="標題 1">
                <a:extLst>
                  <a:ext uri="{FF2B5EF4-FFF2-40B4-BE49-F238E27FC236}">
                    <a16:creationId xmlns:a16="http://schemas.microsoft.com/office/drawing/2014/main" id="{E7891C1D-30EE-4A86-A9B9-9D6E8C9C73DE}"/>
                  </a:ext>
                </a:extLst>
              </p:cNvPr>
              <p:cNvSpPr txBox="1">
                <a:spLocks noRot="1" noChangeAspect="1" noMove="1" noResize="1" noEditPoints="1" noAdjustHandles="1" noChangeArrowheads="1" noChangeShapeType="1" noTextEdit="1"/>
              </p:cNvSpPr>
              <p:nvPr/>
            </p:nvSpPr>
            <p:spPr>
              <a:xfrm>
                <a:off x="2576321" y="997251"/>
                <a:ext cx="2554446" cy="510001"/>
              </a:xfrm>
              <a:prstGeom prst="rect">
                <a:avLst/>
              </a:prstGeom>
              <a:blipFill>
                <a:blip r:embed="rId3"/>
                <a:stretch>
                  <a:fillRect l="-2625" b="-204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9B8446D0-D760-472E-A004-3EE653D494AE}"/>
                  </a:ext>
                </a:extLst>
              </p:cNvPr>
              <p:cNvSpPr txBox="1">
                <a:spLocks/>
              </p:cNvSpPr>
              <p:nvPr/>
            </p:nvSpPr>
            <p:spPr>
              <a:xfrm>
                <a:off x="402232" y="1430507"/>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𝜎</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9B8446D0-D760-472E-A004-3EE653D494AE}"/>
                  </a:ext>
                </a:extLst>
              </p:cNvPr>
              <p:cNvSpPr txBox="1">
                <a:spLocks noRot="1" noChangeAspect="1" noMove="1" noResize="1" noEditPoints="1" noAdjustHandles="1" noChangeArrowheads="1" noChangeShapeType="1" noTextEdit="1"/>
              </p:cNvSpPr>
              <p:nvPr/>
            </p:nvSpPr>
            <p:spPr>
              <a:xfrm>
                <a:off x="402232" y="1430507"/>
                <a:ext cx="2174089" cy="583367"/>
              </a:xfrm>
              <a:prstGeom prst="rect">
                <a:avLst/>
              </a:prstGeom>
              <a:blipFill>
                <a:blip r:embed="rId4"/>
                <a:stretch>
                  <a:fillRect l="-4482"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1E309D24-391C-41CB-BAD1-8FA1161030DB}"/>
                  </a:ext>
                </a:extLst>
              </p:cNvPr>
              <p:cNvSpPr txBox="1">
                <a:spLocks/>
              </p:cNvSpPr>
              <p:nvPr/>
            </p:nvSpPr>
            <p:spPr>
              <a:xfrm>
                <a:off x="2576321" y="1430507"/>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10" name="標題 1">
                <a:extLst>
                  <a:ext uri="{FF2B5EF4-FFF2-40B4-BE49-F238E27FC236}">
                    <a16:creationId xmlns:a16="http://schemas.microsoft.com/office/drawing/2014/main" id="{1E309D24-391C-41CB-BAD1-8FA1161030DB}"/>
                  </a:ext>
                </a:extLst>
              </p:cNvPr>
              <p:cNvSpPr txBox="1">
                <a:spLocks noRot="1" noChangeAspect="1" noMove="1" noResize="1" noEditPoints="1" noAdjustHandles="1" noChangeArrowheads="1" noChangeShapeType="1" noTextEdit="1"/>
              </p:cNvSpPr>
              <p:nvPr/>
            </p:nvSpPr>
            <p:spPr>
              <a:xfrm>
                <a:off x="2576321" y="1430507"/>
                <a:ext cx="2554446" cy="510001"/>
              </a:xfrm>
              <a:prstGeom prst="rect">
                <a:avLst/>
              </a:prstGeom>
              <a:blipFill>
                <a:blip r:embed="rId5"/>
                <a:stretch>
                  <a:fillRect l="-2625" b="-204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標題 1">
                <a:extLst>
                  <a:ext uri="{FF2B5EF4-FFF2-40B4-BE49-F238E27FC236}">
                    <a16:creationId xmlns:a16="http://schemas.microsoft.com/office/drawing/2014/main" id="{34029723-FD5C-4C5F-9426-CE76B2DB5DA6}"/>
                  </a:ext>
                </a:extLst>
              </p:cNvPr>
              <p:cNvSpPr txBox="1">
                <a:spLocks/>
              </p:cNvSpPr>
              <p:nvPr/>
            </p:nvSpPr>
            <p:spPr>
              <a:xfrm>
                <a:off x="1649119" y="4118804"/>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3" name="標題 1">
                <a:extLst>
                  <a:ext uri="{FF2B5EF4-FFF2-40B4-BE49-F238E27FC236}">
                    <a16:creationId xmlns:a16="http://schemas.microsoft.com/office/drawing/2014/main" id="{34029723-FD5C-4C5F-9426-CE76B2DB5DA6}"/>
                  </a:ext>
                </a:extLst>
              </p:cNvPr>
              <p:cNvSpPr txBox="1">
                <a:spLocks noRot="1" noChangeAspect="1" noMove="1" noResize="1" noEditPoints="1" noAdjustHandles="1" noChangeArrowheads="1" noChangeShapeType="1" noTextEdit="1"/>
              </p:cNvSpPr>
              <p:nvPr/>
            </p:nvSpPr>
            <p:spPr>
              <a:xfrm>
                <a:off x="1649119" y="4118804"/>
                <a:ext cx="5096135" cy="51000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B0F1D3D-5D41-4824-8A38-70CB141E6186}"/>
                  </a:ext>
                </a:extLst>
              </p:cNvPr>
              <p:cNvSpPr/>
              <p:nvPr/>
            </p:nvSpPr>
            <p:spPr>
              <a:xfrm>
                <a:off x="2157528" y="2414439"/>
                <a:ext cx="5096135"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𝛼</m:t>
                      </m:r>
                      <m:r>
                        <a:rPr lang="en-US" altLang="zh-TW" sz="2800" b="0" i="1" smtClean="0">
                          <a:solidFill>
                            <a:srgbClr val="0070C0"/>
                          </a:solidFill>
                          <a:latin typeface="Cambria Math" panose="02040503050406030204" pitchFamily="18" charset="0"/>
                          <a:cs typeface="Times New Roman" panose="02020603050405020304" pitchFamily="18" charset="0"/>
                        </a:rPr>
                        <m:t>= </m:t>
                      </m:r>
                      <m:r>
                        <a:rPr lang="en-US" altLang="zh-TW" sz="2800" i="1" smtClean="0">
                          <a:solidFill>
                            <a:srgbClr val="0070C0"/>
                          </a:solidFill>
                          <a:latin typeface="Cambria Math" panose="02040503050406030204" pitchFamily="18" charset="0"/>
                          <a:cs typeface="Times New Roman" panose="02020603050405020304" pitchFamily="18" charset="0"/>
                        </a:rPr>
                        <m:t>𝜋</m:t>
                      </m:r>
                      <m:r>
                        <a:rPr lang="en-US" altLang="zh-TW" sz="2800" i="1" smtClean="0">
                          <a:solidFill>
                            <a:srgbClr val="0070C0"/>
                          </a:solidFill>
                          <a:latin typeface="Cambria Math" panose="02040503050406030204" pitchFamily="18" charset="0"/>
                          <a:cs typeface="Times New Roman" panose="02020603050405020304" pitchFamily="18" charset="0"/>
                        </a:rPr>
                        <m:t>∘</m:t>
                      </m:r>
                      <m:r>
                        <a:rPr lang="en-US" altLang="zh-TW" sz="2800" i="1" smtClean="0">
                          <a:solidFill>
                            <a:srgbClr val="0070C0"/>
                          </a:solidFill>
                          <a:latin typeface="Cambria Math" panose="02040503050406030204" pitchFamily="18" charset="0"/>
                          <a:cs typeface="Times New Roman" panose="02020603050405020304" pitchFamily="18" charset="0"/>
                        </a:rPr>
                        <m:t>𝜎</m:t>
                      </m:r>
                      <m:r>
                        <a:rPr lang="en-US" altLang="zh-TW" sz="2800" i="1" smtClean="0">
                          <a:solidFill>
                            <a:srgbClr val="0070C0"/>
                          </a:solidFill>
                          <a:latin typeface="Cambria Math" panose="02040503050406030204" pitchFamily="18" charset="0"/>
                          <a:cs typeface="Times New Roman" panose="02020603050405020304" pitchFamily="18" charset="0"/>
                        </a:rPr>
                        <m:t>=</m:t>
                      </m:r>
                      <m:d>
                        <m:dPr>
                          <m:ctrlPr>
                            <a:rPr lang="en-US" altLang="zh-TW" sz="2800" i="1">
                              <a:solidFill>
                                <a:srgbClr val="0070C0"/>
                              </a:solidFill>
                              <a:latin typeface="Cambria Math" panose="02040503050406030204" pitchFamily="18" charset="0"/>
                              <a:cs typeface="Times New Roman" panose="02020603050405020304" pitchFamily="18" charset="0"/>
                            </a:rPr>
                          </m:ctrlPr>
                        </m:dPr>
                        <m:e>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1</m:t>
                              </m:r>
                            </m:sub>
                          </m:sSub>
                          <m:r>
                            <a:rPr lang="en-US" altLang="zh-TW" sz="2800" i="1">
                              <a:solidFill>
                                <a:srgbClr val="0070C0"/>
                              </a:solidFill>
                              <a:latin typeface="Cambria Math" panose="02040503050406030204" pitchFamily="18" charset="0"/>
                              <a:cs typeface="Times New Roman" panose="02020603050405020304" pitchFamily="18" charset="0"/>
                            </a:rPr>
                            <m:t>,</m:t>
                          </m:r>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2</m:t>
                              </m:r>
                            </m:sub>
                          </m:sSub>
                          <m:r>
                            <a:rPr lang="en-US" altLang="zh-TW" sz="2800" i="1">
                              <a:solidFill>
                                <a:srgbClr val="0070C0"/>
                              </a:solidFill>
                              <a:latin typeface="Cambria Math" panose="02040503050406030204" pitchFamily="18" charset="0"/>
                              <a:cs typeface="Times New Roman" panose="02020603050405020304" pitchFamily="18" charset="0"/>
                            </a:rPr>
                            <m:t>, …, </m:t>
                          </m:r>
                          <m:sSub>
                            <m:sSubPr>
                              <m:ctrlPr>
                                <a:rPr lang="en-US" altLang="zh-TW" sz="2800" i="1">
                                  <a:solidFill>
                                    <a:srgbClr val="0070C0"/>
                                  </a:solidFill>
                                  <a:latin typeface="Cambria Math" panose="02040503050406030204" pitchFamily="18" charset="0"/>
                                  <a:cs typeface="Times New Roman" panose="02020603050405020304" pitchFamily="18" charset="0"/>
                                </a:rPr>
                              </m:ctrlPr>
                            </m:sSubPr>
                            <m:e>
                              <m:r>
                                <a:rPr lang="en-US" altLang="zh-TW" sz="2800" i="1">
                                  <a:solidFill>
                                    <a:srgbClr val="0070C0"/>
                                  </a:solidFill>
                                  <a:latin typeface="Cambria Math" panose="02040503050406030204" pitchFamily="18" charset="0"/>
                                  <a:cs typeface="Times New Roman" panose="02020603050405020304" pitchFamily="18" charset="0"/>
                                </a:rPr>
                                <m:t>𝜋</m:t>
                              </m:r>
                            </m:e>
                            <m:sub>
                              <m:r>
                                <a:rPr lang="en-US" altLang="zh-TW" sz="2800" i="1">
                                  <a:solidFill>
                                    <a:srgbClr val="0070C0"/>
                                  </a:solidFill>
                                  <a:latin typeface="Cambria Math" panose="02040503050406030204" pitchFamily="18" charset="0"/>
                                  <a:cs typeface="Times New Roman" panose="02020603050405020304" pitchFamily="18" charset="0"/>
                                </a:rPr>
                                <m:t>𝜎</m:t>
                              </m:r>
                              <m:r>
                                <a:rPr lang="en-US" altLang="zh-TW" sz="2800" i="1">
                                  <a:solidFill>
                                    <a:srgbClr val="0070C0"/>
                                  </a:solidFill>
                                  <a:latin typeface="Cambria Math" panose="02040503050406030204" pitchFamily="18" charset="0"/>
                                  <a:cs typeface="Times New Roman" panose="02020603050405020304" pitchFamily="18" charset="0"/>
                                </a:rPr>
                                <m:t>𝑛</m:t>
                              </m:r>
                            </m:sub>
                          </m:sSub>
                        </m:e>
                      </m:d>
                    </m:oMath>
                  </m:oMathPara>
                </a14:m>
                <a:endParaRPr lang="en-US" altLang="zh-TW"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B0F1D3D-5D41-4824-8A38-70CB141E6186}"/>
                  </a:ext>
                </a:extLst>
              </p:cNvPr>
              <p:cNvSpPr>
                <a:spLocks noRot="1" noChangeAspect="1" noMove="1" noResize="1" noEditPoints="1" noAdjustHandles="1" noChangeArrowheads="1" noChangeShapeType="1" noTextEdit="1"/>
              </p:cNvSpPr>
              <p:nvPr/>
            </p:nvSpPr>
            <p:spPr>
              <a:xfrm>
                <a:off x="2157528" y="2414439"/>
                <a:ext cx="5096135" cy="52322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DBF70D5-B4B4-47FD-9CD0-ED3D2AF7EC42}"/>
                  </a:ext>
                </a:extLst>
              </p:cNvPr>
              <p:cNvSpPr/>
              <p:nvPr/>
            </p:nvSpPr>
            <p:spPr>
              <a:xfrm>
                <a:off x="5130767" y="3061540"/>
                <a:ext cx="3228975" cy="903068"/>
              </a:xfrm>
              <a:prstGeom prst="rect">
                <a:avLst/>
              </a:prstGeom>
            </p:spPr>
            <p:txBody>
              <a:bodyPr wrap="square">
                <a:spAutoFit/>
              </a:bodyPr>
              <a:lstStyle/>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&lt;0</m:t>
                    </m:r>
                    <m:r>
                      <a:rPr lang="en-US" altLang="zh-TW" sz="2400">
                        <a:solidFill>
                          <a:srgbClr val="0070C0"/>
                        </a:solidFill>
                        <a:latin typeface="Cambria Math" panose="02040503050406030204" pitchFamily="18" charset="0"/>
                        <a:cs typeface="Times New Roman" panose="02020603050405020304" pitchFamily="18" charset="0"/>
                      </a:rPr>
                      <m:t>,    </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𝛼</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𝜋</m:t>
                        </m:r>
                      </m:e>
                      <m:sub>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e>
                        </m:d>
                      </m:sub>
                    </m:sSub>
                  </m:oMath>
                </a14:m>
                <a:endParaRPr lang="en-US" altLang="zh-TW" sz="2400" dirty="0">
                  <a:solidFill>
                    <a:srgbClr val="0070C0"/>
                  </a:solidFill>
                  <a:latin typeface="Times New Roman" panose="02020603050405020304" pitchFamily="18" charset="0"/>
                  <a:cs typeface="Times New Roman" panose="02020603050405020304" pitchFamily="18" charset="0"/>
                </a:endParaRPr>
              </a:p>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else, 	 	 </a:t>
                </a:r>
                <a14:m>
                  <m:oMath xmlns:m="http://schemas.openxmlformats.org/officeDocument/2006/math">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𝛼</m:t>
                        </m:r>
                      </m:e>
                      <m:sub>
                        <m:r>
                          <a:rPr lang="en-US" altLang="zh-TW" sz="2400" i="1">
                            <a:solidFill>
                              <a:srgbClr val="0070C0"/>
                            </a:solidFill>
                            <a:latin typeface="Cambria Math" panose="02040503050406030204" pitchFamily="18" charset="0"/>
                            <a:cs typeface="Times New Roman" panose="02020603050405020304" pitchFamily="18" charset="0"/>
                          </a:rPr>
                          <m:t>𝑖</m:t>
                        </m:r>
                      </m:sub>
                    </m:sSub>
                    <m:r>
                      <a:rPr lang="en-US" altLang="zh-TW" sz="2400" i="1">
                        <a:solidFill>
                          <a:srgbClr val="0070C0"/>
                        </a:solidFill>
                        <a:latin typeface="Cambria Math" panose="02040503050406030204" pitchFamily="18" charset="0"/>
                        <a:cs typeface="Times New Roman" panose="02020603050405020304" pitchFamily="18" charset="0"/>
                      </a:rPr>
                      <m:t>=</m:t>
                    </m:r>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𝜋</m:t>
                        </m:r>
                      </m:e>
                      <m:sub>
                        <m:sSub>
                          <m:sSubPr>
                            <m:ctrlPr>
                              <a:rPr lang="en-US" altLang="zh-TW" sz="2400" i="1">
                                <a:solidFill>
                                  <a:srgbClr val="0070C0"/>
                                </a:solidFill>
                                <a:latin typeface="Cambria Math" panose="02040503050406030204" pitchFamily="18" charset="0"/>
                                <a:cs typeface="Times New Roman" panose="02020603050405020304" pitchFamily="18" charset="0"/>
                              </a:rPr>
                            </m:ctrlPr>
                          </m:sSubPr>
                          <m:e>
                            <m:r>
                              <a:rPr lang="en-US" altLang="zh-TW" sz="2400" i="1">
                                <a:solidFill>
                                  <a:srgbClr val="0070C0"/>
                                </a:solidFill>
                                <a:latin typeface="Cambria Math" panose="02040503050406030204" pitchFamily="18" charset="0"/>
                                <a:cs typeface="Times New Roman" panose="02020603050405020304" pitchFamily="18" charset="0"/>
                              </a:rPr>
                              <m:t>𝜎</m:t>
                            </m:r>
                          </m:e>
                          <m:sub>
                            <m:r>
                              <a:rPr lang="en-US" altLang="zh-TW" sz="2400" i="1">
                                <a:solidFill>
                                  <a:srgbClr val="0070C0"/>
                                </a:solidFill>
                                <a:latin typeface="Cambria Math" panose="02040503050406030204" pitchFamily="18" charset="0"/>
                                <a:cs typeface="Times New Roman" panose="02020603050405020304" pitchFamily="18" charset="0"/>
                              </a:rPr>
                              <m:t>𝑖</m:t>
                            </m:r>
                          </m:sub>
                        </m:sSub>
                      </m:sub>
                    </m:sSub>
                  </m:oMath>
                </a14:m>
                <a:endParaRPr lang="zh-TW" altLang="en-US" sz="2400" dirty="0"/>
              </a:p>
            </p:txBody>
          </p:sp>
        </mc:Choice>
        <mc:Fallback xmlns="">
          <p:sp>
            <p:nvSpPr>
              <p:cNvPr id="11" name="矩形 10">
                <a:extLst>
                  <a:ext uri="{FF2B5EF4-FFF2-40B4-BE49-F238E27FC236}">
                    <a16:creationId xmlns:a16="http://schemas.microsoft.com/office/drawing/2014/main" id="{6DBF70D5-B4B4-47FD-9CD0-ED3D2AF7EC42}"/>
                  </a:ext>
                </a:extLst>
              </p:cNvPr>
              <p:cNvSpPr>
                <a:spLocks noRot="1" noChangeAspect="1" noMove="1" noResize="1" noEditPoints="1" noAdjustHandles="1" noChangeArrowheads="1" noChangeShapeType="1" noTextEdit="1"/>
              </p:cNvSpPr>
              <p:nvPr/>
            </p:nvSpPr>
            <p:spPr>
              <a:xfrm>
                <a:off x="5130767" y="3061540"/>
                <a:ext cx="3228975" cy="903068"/>
              </a:xfrm>
              <a:prstGeom prst="rect">
                <a:avLst/>
              </a:prstGeom>
              <a:blipFill>
                <a:blip r:embed="rId8"/>
                <a:stretch>
                  <a:fillRect l="-3025" t="-5405" b="-108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標題 1">
                <a:extLst>
                  <a:ext uri="{FF2B5EF4-FFF2-40B4-BE49-F238E27FC236}">
                    <a16:creationId xmlns:a16="http://schemas.microsoft.com/office/drawing/2014/main" id="{9C11CD2B-FCF4-4E4B-A1A8-4431958ABDF9}"/>
                  </a:ext>
                </a:extLst>
              </p:cNvPr>
              <p:cNvSpPr txBox="1">
                <a:spLocks/>
              </p:cNvSpPr>
              <p:nvPr/>
            </p:nvSpPr>
            <p:spPr>
              <a:xfrm>
                <a:off x="1939846" y="5692052"/>
                <a:ext cx="418306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solidFill>
                            <a:srgbClr val="002060"/>
                          </a:solidFill>
                          <a:latin typeface="Cambria Math" panose="02040503050406030204" pitchFamily="18" charset="0"/>
                          <a:cs typeface="Times New Roman" panose="02020603050405020304" pitchFamily="18" charset="0"/>
                        </a:rPr>
                        <m:t>= &lt;+</m:t>
                      </m:r>
                      <m:r>
                        <a:rPr lang="en-US" altLang="zh-TW" sz="2400" b="1" i="1" smtClean="0">
                          <a:solidFill>
                            <a:srgbClr val="002060"/>
                          </a:solidFill>
                          <a:latin typeface="Cambria Math" panose="02040503050406030204" pitchFamily="18" charset="0"/>
                          <a:cs typeface="Times New Roman" panose="02020603050405020304" pitchFamily="18" charset="0"/>
                        </a:rPr>
                        <m:t>𝟏</m:t>
                      </m:r>
                      <m:r>
                        <a:rPr lang="en-US" altLang="zh-TW" sz="2400" b="1" i="1" smtClean="0">
                          <a:solidFill>
                            <a:srgbClr val="002060"/>
                          </a:solidFill>
                          <a:latin typeface="Cambria Math" panose="02040503050406030204" pitchFamily="18" charset="0"/>
                          <a:cs typeface="Times New Roman" panose="02020603050405020304" pitchFamily="18" charset="0"/>
                        </a:rPr>
                        <m:t>, +</m:t>
                      </m:r>
                      <m:r>
                        <a:rPr lang="en-US" altLang="zh-TW" sz="2400" b="1" i="1" smtClean="0">
                          <a:solidFill>
                            <a:srgbClr val="002060"/>
                          </a:solidFill>
                          <a:latin typeface="Cambria Math" panose="02040503050406030204" pitchFamily="18" charset="0"/>
                          <a:cs typeface="Times New Roman" panose="02020603050405020304" pitchFamily="18" charset="0"/>
                        </a:rPr>
                        <m:t>𝟐</m:t>
                      </m:r>
                      <m:r>
                        <a:rPr lang="en-US" altLang="zh-TW" sz="2400" b="1" i="1" smtClean="0">
                          <a:solidFill>
                            <a:srgbClr val="002060"/>
                          </a:solidFill>
                          <a:latin typeface="Cambria Math" panose="02040503050406030204" pitchFamily="18" charset="0"/>
                          <a:cs typeface="Times New Roman" panose="02020603050405020304" pitchFamily="18" charset="0"/>
                        </a:rPr>
                        <m:t>, +</m:t>
                      </m:r>
                      <m:r>
                        <a:rPr lang="en-US" altLang="zh-TW" sz="2400" b="1" i="1" smtClean="0">
                          <a:solidFill>
                            <a:srgbClr val="002060"/>
                          </a:solidFill>
                          <a:latin typeface="Cambria Math" panose="02040503050406030204" pitchFamily="18" charset="0"/>
                          <a:cs typeface="Times New Roman" panose="02020603050405020304" pitchFamily="18" charset="0"/>
                        </a:rPr>
                        <m:t>𝟑</m:t>
                      </m:r>
                      <m:r>
                        <a:rPr lang="en-US" altLang="zh-TW" sz="2400" b="1" i="1" smtClean="0">
                          <a:solidFill>
                            <a:srgbClr val="002060"/>
                          </a:solidFill>
                          <a:latin typeface="Cambria Math" panose="02040503050406030204" pitchFamily="18" charset="0"/>
                          <a:cs typeface="Times New Roman" panose="02020603050405020304" pitchFamily="18" charset="0"/>
                        </a:rPr>
                        <m:t>, +</m:t>
                      </m:r>
                      <m:r>
                        <a:rPr lang="en-US" altLang="zh-TW" sz="2400" b="1" i="1" smtClean="0">
                          <a:solidFill>
                            <a:srgbClr val="002060"/>
                          </a:solidFill>
                          <a:latin typeface="Cambria Math" panose="02040503050406030204" pitchFamily="18" charset="0"/>
                          <a:cs typeface="Times New Roman" panose="02020603050405020304" pitchFamily="18" charset="0"/>
                        </a:rPr>
                        <m:t>𝟒</m:t>
                      </m:r>
                      <m:r>
                        <a:rPr lang="en-US" altLang="zh-TW" sz="2400" b="1" i="1" smtClean="0">
                          <a:solidFill>
                            <a:srgbClr val="002060"/>
                          </a:solidFill>
                          <a:latin typeface="Cambria Math" panose="02040503050406030204" pitchFamily="18" charset="0"/>
                          <a:cs typeface="Times New Roman" panose="02020603050405020304" pitchFamily="18" charset="0"/>
                        </a:rPr>
                        <m:t>, +</m:t>
                      </m:r>
                      <m:r>
                        <a:rPr lang="en-US" altLang="zh-TW" sz="2400" b="1" i="1" smtClean="0">
                          <a:solidFill>
                            <a:srgbClr val="002060"/>
                          </a:solidFill>
                          <a:latin typeface="Cambria Math" panose="02040503050406030204" pitchFamily="18" charset="0"/>
                          <a:cs typeface="Times New Roman" panose="02020603050405020304" pitchFamily="18" charset="0"/>
                        </a:rPr>
                        <m:t>𝟓</m:t>
                      </m:r>
                      <m:r>
                        <a:rPr lang="en-US" altLang="zh-TW" sz="2400" b="1" i="1" smtClean="0">
                          <a:solidFill>
                            <a:srgbClr val="002060"/>
                          </a:solidFill>
                          <a:latin typeface="Cambria Math" panose="02040503050406030204" pitchFamily="18" charset="0"/>
                          <a:cs typeface="Times New Roman" panose="02020603050405020304" pitchFamily="18" charset="0"/>
                        </a:rPr>
                        <m:t>, +</m:t>
                      </m:r>
                      <m:r>
                        <a:rPr lang="en-US" altLang="zh-TW" sz="2400" b="1" i="1" smtClean="0">
                          <a:solidFill>
                            <a:srgbClr val="002060"/>
                          </a:solidFill>
                          <a:latin typeface="Cambria Math" panose="02040503050406030204" pitchFamily="18" charset="0"/>
                          <a:cs typeface="Times New Roman" panose="02020603050405020304" pitchFamily="18" charset="0"/>
                        </a:rPr>
                        <m:t>𝟔</m:t>
                      </m:r>
                      <m:r>
                        <a:rPr lang="en-US" altLang="zh-TW" sz="2400" b="1" i="1" smtClean="0">
                          <a:solidFill>
                            <a:srgbClr val="002060"/>
                          </a:solidFill>
                          <a:latin typeface="Cambria Math" panose="02040503050406030204" pitchFamily="18" charset="0"/>
                          <a:cs typeface="Times New Roman" panose="02020603050405020304" pitchFamily="18" charset="0"/>
                        </a:rPr>
                        <m:t>&gt;</m:t>
                      </m:r>
                    </m:oMath>
                  </m:oMathPara>
                </a14:m>
                <a:endParaRPr lang="en-US" altLang="zh-TW" sz="2400" b="1" dirty="0">
                  <a:solidFill>
                    <a:srgbClr val="002060"/>
                  </a:solidFill>
                  <a:latin typeface="Arial Black" panose="020B0A04020102020204" pitchFamily="34" charset="0"/>
                  <a:cs typeface="Times New Roman" panose="02020603050405020304" pitchFamily="18" charset="0"/>
                </a:endParaRPr>
              </a:p>
            </p:txBody>
          </p:sp>
        </mc:Choice>
        <mc:Fallback xmlns="">
          <p:sp>
            <p:nvSpPr>
              <p:cNvPr id="17" name="標題 1">
                <a:extLst>
                  <a:ext uri="{FF2B5EF4-FFF2-40B4-BE49-F238E27FC236}">
                    <a16:creationId xmlns:a16="http://schemas.microsoft.com/office/drawing/2014/main" id="{9C11CD2B-FCF4-4E4B-A1A8-4431958ABDF9}"/>
                  </a:ext>
                </a:extLst>
              </p:cNvPr>
              <p:cNvSpPr txBox="1">
                <a:spLocks noRot="1" noChangeAspect="1" noMove="1" noResize="1" noEditPoints="1" noAdjustHandles="1" noChangeArrowheads="1" noChangeShapeType="1" noTextEdit="1"/>
              </p:cNvSpPr>
              <p:nvPr/>
            </p:nvSpPr>
            <p:spPr>
              <a:xfrm>
                <a:off x="1939846" y="5692052"/>
                <a:ext cx="4183065" cy="510001"/>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標題 1">
                <a:extLst>
                  <a:ext uri="{FF2B5EF4-FFF2-40B4-BE49-F238E27FC236}">
                    <a16:creationId xmlns:a16="http://schemas.microsoft.com/office/drawing/2014/main" id="{06015119-7D11-4D8D-B279-DB72DB1A6927}"/>
                  </a:ext>
                </a:extLst>
              </p:cNvPr>
              <p:cNvSpPr txBox="1">
                <a:spLocks/>
              </p:cNvSpPr>
              <p:nvPr/>
            </p:nvSpPr>
            <p:spPr>
              <a:xfrm>
                <a:off x="1354151" y="4635419"/>
                <a:ext cx="4859470"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sSup>
                        <m:sSupPr>
                          <m:ctrlPr>
                            <a:rPr lang="en-US" altLang="zh-TW" sz="2400" b="1" i="1" smtClean="0">
                              <a:latin typeface="Cambria Math" panose="02040503050406030204" pitchFamily="18" charset="0"/>
                              <a:cs typeface="Times New Roman" panose="02020603050405020304" pitchFamily="18" charset="0"/>
                            </a:rPr>
                          </m:ctrlPr>
                        </m:sSupPr>
                        <m:e>
                          <m:r>
                            <a:rPr lang="en-US" altLang="zh-TW" sz="2400" b="1" i="1" smtClean="0">
                              <a:latin typeface="Cambria Math" panose="02040503050406030204" pitchFamily="18" charset="0"/>
                              <a:cs typeface="Times New Roman" panose="02020603050405020304" pitchFamily="18" charset="0"/>
                            </a:rPr>
                            <m:t>𝝅</m:t>
                          </m:r>
                        </m:e>
                        <m:sup>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𝟏</m:t>
                          </m:r>
                        </m:sup>
                      </m:sSup>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bg1"/>
                          </a:solidFill>
                          <a:latin typeface="Cambria Math" panose="02040503050406030204" pitchFamily="18" charset="0"/>
                          <a:cs typeface="Times New Roman" panose="02020603050405020304" pitchFamily="18" charset="0"/>
                        </a:rPr>
                        <m:t>−</m:t>
                      </m:r>
                      <m:r>
                        <a:rPr lang="en-US" altLang="zh-TW" sz="2400" b="1" i="1" smtClean="0">
                          <a:solidFill>
                            <a:schemeClr val="bg1"/>
                          </a:solidFill>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8" name="標題 1">
                <a:extLst>
                  <a:ext uri="{FF2B5EF4-FFF2-40B4-BE49-F238E27FC236}">
                    <a16:creationId xmlns:a16="http://schemas.microsoft.com/office/drawing/2014/main" id="{06015119-7D11-4D8D-B279-DB72DB1A6927}"/>
                  </a:ext>
                </a:extLst>
              </p:cNvPr>
              <p:cNvSpPr txBox="1">
                <a:spLocks noRot="1" noChangeAspect="1" noMove="1" noResize="1" noEditPoints="1" noAdjustHandles="1" noChangeArrowheads="1" noChangeShapeType="1" noTextEdit="1"/>
              </p:cNvSpPr>
              <p:nvPr/>
            </p:nvSpPr>
            <p:spPr>
              <a:xfrm>
                <a:off x="1354151" y="4635419"/>
                <a:ext cx="4859470" cy="51000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B967847-009E-4CFB-8E07-77126D1C5E92}"/>
                  </a:ext>
                </a:extLst>
              </p:cNvPr>
              <p:cNvSpPr/>
              <p:nvPr/>
            </p:nvSpPr>
            <p:spPr>
              <a:xfrm>
                <a:off x="2616536" y="4712693"/>
                <a:ext cx="406088"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𝟑</m:t>
                      </m:r>
                    </m:oMath>
                  </m:oMathPara>
                </a14:m>
                <a:endParaRPr lang="zh-TW" altLang="en-US" sz="2200" dirty="0">
                  <a:solidFill>
                    <a:schemeClr val="accent2">
                      <a:lumMod val="75000"/>
                    </a:schemeClr>
                  </a:solidFill>
                </a:endParaRPr>
              </a:p>
            </p:txBody>
          </p:sp>
        </mc:Choice>
        <mc:Fallback xmlns="">
          <p:sp>
            <p:nvSpPr>
              <p:cNvPr id="12" name="矩形 11">
                <a:extLst>
                  <a:ext uri="{FF2B5EF4-FFF2-40B4-BE49-F238E27FC236}">
                    <a16:creationId xmlns:a16="http://schemas.microsoft.com/office/drawing/2014/main" id="{EB967847-009E-4CFB-8E07-77126D1C5E92}"/>
                  </a:ext>
                </a:extLst>
              </p:cNvPr>
              <p:cNvSpPr>
                <a:spLocks noRot="1" noChangeAspect="1" noMove="1" noResize="1" noEditPoints="1" noAdjustHandles="1" noChangeArrowheads="1" noChangeShapeType="1" noTextEdit="1"/>
              </p:cNvSpPr>
              <p:nvPr/>
            </p:nvSpPr>
            <p:spPr>
              <a:xfrm>
                <a:off x="2616536" y="4712693"/>
                <a:ext cx="406088" cy="430887"/>
              </a:xfrm>
              <a:prstGeom prst="rect">
                <a:avLst/>
              </a:prstGeom>
              <a:blipFill>
                <a:blip r:embed="rId11"/>
                <a:stretch>
                  <a:fillRect r="-388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4403AD4A-079B-4AE4-8FE2-361FE079959F}"/>
                  </a:ext>
                </a:extLst>
              </p:cNvPr>
              <p:cNvSpPr/>
              <p:nvPr/>
            </p:nvSpPr>
            <p:spPr>
              <a:xfrm>
                <a:off x="3134696" y="4712692"/>
                <a:ext cx="406088"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𝟏</m:t>
                      </m:r>
                    </m:oMath>
                  </m:oMathPara>
                </a14:m>
                <a:endParaRPr lang="zh-TW" altLang="en-US" sz="2200" dirty="0">
                  <a:solidFill>
                    <a:schemeClr val="accent2">
                      <a:lumMod val="75000"/>
                    </a:schemeClr>
                  </a:solidFill>
                </a:endParaRPr>
              </a:p>
            </p:txBody>
          </p:sp>
        </mc:Choice>
        <mc:Fallback xmlns="">
          <p:sp>
            <p:nvSpPr>
              <p:cNvPr id="21" name="矩形 20">
                <a:extLst>
                  <a:ext uri="{FF2B5EF4-FFF2-40B4-BE49-F238E27FC236}">
                    <a16:creationId xmlns:a16="http://schemas.microsoft.com/office/drawing/2014/main" id="{4403AD4A-079B-4AE4-8FE2-361FE079959F}"/>
                  </a:ext>
                </a:extLst>
              </p:cNvPr>
              <p:cNvSpPr>
                <a:spLocks noRot="1" noChangeAspect="1" noMove="1" noResize="1" noEditPoints="1" noAdjustHandles="1" noChangeArrowheads="1" noChangeShapeType="1" noTextEdit="1"/>
              </p:cNvSpPr>
              <p:nvPr/>
            </p:nvSpPr>
            <p:spPr>
              <a:xfrm>
                <a:off x="3134696" y="4712692"/>
                <a:ext cx="406088" cy="430887"/>
              </a:xfrm>
              <a:prstGeom prst="rect">
                <a:avLst/>
              </a:prstGeom>
              <a:blipFill>
                <a:blip r:embed="rId12"/>
                <a:stretch>
                  <a:fillRect r="-388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C4300DE4-CC41-4347-975E-638208A013BF}"/>
                  </a:ext>
                </a:extLst>
              </p:cNvPr>
              <p:cNvSpPr/>
              <p:nvPr/>
            </p:nvSpPr>
            <p:spPr>
              <a:xfrm>
                <a:off x="3634568" y="4712692"/>
                <a:ext cx="406088"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𝟔</m:t>
                      </m:r>
                    </m:oMath>
                  </m:oMathPara>
                </a14:m>
                <a:endParaRPr lang="zh-TW" altLang="en-US" sz="2200" dirty="0">
                  <a:solidFill>
                    <a:schemeClr val="accent2">
                      <a:lumMod val="75000"/>
                    </a:schemeClr>
                  </a:solidFill>
                </a:endParaRPr>
              </a:p>
            </p:txBody>
          </p:sp>
        </mc:Choice>
        <mc:Fallback xmlns="">
          <p:sp>
            <p:nvSpPr>
              <p:cNvPr id="22" name="矩形 21">
                <a:extLst>
                  <a:ext uri="{FF2B5EF4-FFF2-40B4-BE49-F238E27FC236}">
                    <a16:creationId xmlns:a16="http://schemas.microsoft.com/office/drawing/2014/main" id="{C4300DE4-CC41-4347-975E-638208A013BF}"/>
                  </a:ext>
                </a:extLst>
              </p:cNvPr>
              <p:cNvSpPr>
                <a:spLocks noRot="1" noChangeAspect="1" noMove="1" noResize="1" noEditPoints="1" noAdjustHandles="1" noChangeArrowheads="1" noChangeShapeType="1" noTextEdit="1"/>
              </p:cNvSpPr>
              <p:nvPr/>
            </p:nvSpPr>
            <p:spPr>
              <a:xfrm>
                <a:off x="3634568" y="4712692"/>
                <a:ext cx="406088" cy="430887"/>
              </a:xfrm>
              <a:prstGeom prst="rect">
                <a:avLst/>
              </a:prstGeom>
              <a:blipFill>
                <a:blip r:embed="rId13"/>
                <a:stretch>
                  <a:fillRect r="-388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49D753A-CB6D-498C-BC87-4B25844B08BD}"/>
                  </a:ext>
                </a:extLst>
              </p:cNvPr>
              <p:cNvSpPr/>
              <p:nvPr/>
            </p:nvSpPr>
            <p:spPr>
              <a:xfrm>
                <a:off x="4160661" y="4712692"/>
                <a:ext cx="406088"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𝟓</m:t>
                      </m:r>
                    </m:oMath>
                  </m:oMathPara>
                </a14:m>
                <a:endParaRPr lang="zh-TW" altLang="en-US" sz="2200" dirty="0">
                  <a:solidFill>
                    <a:schemeClr val="accent2">
                      <a:lumMod val="75000"/>
                    </a:schemeClr>
                  </a:solidFill>
                </a:endParaRPr>
              </a:p>
            </p:txBody>
          </p:sp>
        </mc:Choice>
        <mc:Fallback xmlns="">
          <p:sp>
            <p:nvSpPr>
              <p:cNvPr id="24" name="矩形 23">
                <a:extLst>
                  <a:ext uri="{FF2B5EF4-FFF2-40B4-BE49-F238E27FC236}">
                    <a16:creationId xmlns:a16="http://schemas.microsoft.com/office/drawing/2014/main" id="{C49D753A-CB6D-498C-BC87-4B25844B08BD}"/>
                  </a:ext>
                </a:extLst>
              </p:cNvPr>
              <p:cNvSpPr>
                <a:spLocks noRot="1" noChangeAspect="1" noMove="1" noResize="1" noEditPoints="1" noAdjustHandles="1" noChangeArrowheads="1" noChangeShapeType="1" noTextEdit="1"/>
              </p:cNvSpPr>
              <p:nvPr/>
            </p:nvSpPr>
            <p:spPr>
              <a:xfrm>
                <a:off x="4160661" y="4712692"/>
                <a:ext cx="406088" cy="430887"/>
              </a:xfrm>
              <a:prstGeom prst="rect">
                <a:avLst/>
              </a:prstGeom>
              <a:blipFill>
                <a:blip r:embed="rId14"/>
                <a:stretch>
                  <a:fillRect r="-4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BEB89731-0AC5-4936-AD75-3A84529FF72B}"/>
                  </a:ext>
                </a:extLst>
              </p:cNvPr>
              <p:cNvSpPr/>
              <p:nvPr/>
            </p:nvSpPr>
            <p:spPr>
              <a:xfrm>
                <a:off x="4683179" y="4712692"/>
                <a:ext cx="418723"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𝟒</m:t>
                      </m:r>
                    </m:oMath>
                  </m:oMathPara>
                </a14:m>
                <a:endParaRPr lang="zh-TW" altLang="en-US" sz="2200" dirty="0">
                  <a:solidFill>
                    <a:schemeClr val="accent2">
                      <a:lumMod val="75000"/>
                    </a:schemeClr>
                  </a:solidFill>
                </a:endParaRPr>
              </a:p>
            </p:txBody>
          </p:sp>
        </mc:Choice>
        <mc:Fallback xmlns="">
          <p:sp>
            <p:nvSpPr>
              <p:cNvPr id="25" name="矩形 24">
                <a:extLst>
                  <a:ext uri="{FF2B5EF4-FFF2-40B4-BE49-F238E27FC236}">
                    <a16:creationId xmlns:a16="http://schemas.microsoft.com/office/drawing/2014/main" id="{BEB89731-0AC5-4936-AD75-3A84529FF72B}"/>
                  </a:ext>
                </a:extLst>
              </p:cNvPr>
              <p:cNvSpPr>
                <a:spLocks noRot="1" noChangeAspect="1" noMove="1" noResize="1" noEditPoints="1" noAdjustHandles="1" noChangeArrowheads="1" noChangeShapeType="1" noTextEdit="1"/>
              </p:cNvSpPr>
              <p:nvPr/>
            </p:nvSpPr>
            <p:spPr>
              <a:xfrm>
                <a:off x="4683179" y="4712692"/>
                <a:ext cx="418723" cy="430887"/>
              </a:xfrm>
              <a:prstGeom prst="rect">
                <a:avLst/>
              </a:prstGeom>
              <a:blipFill>
                <a:blip r:embed="rId15"/>
                <a:stretch>
                  <a:fillRect r="-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40F4196-0B05-473B-8255-7E60D1F8F53F}"/>
                  </a:ext>
                </a:extLst>
              </p:cNvPr>
              <p:cNvSpPr/>
              <p:nvPr/>
            </p:nvSpPr>
            <p:spPr>
              <a:xfrm>
                <a:off x="5226265" y="4712692"/>
                <a:ext cx="406088" cy="43088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200" b="1" i="1" smtClean="0">
                          <a:solidFill>
                            <a:schemeClr val="accent2">
                              <a:lumMod val="75000"/>
                            </a:schemeClr>
                          </a:solidFill>
                          <a:latin typeface="Cambria Math" panose="02040503050406030204" pitchFamily="18" charset="0"/>
                          <a:cs typeface="Times New Roman" panose="02020603050405020304" pitchFamily="18" charset="0"/>
                        </a:rPr>
                        <m:t>𝟐</m:t>
                      </m:r>
                    </m:oMath>
                  </m:oMathPara>
                </a14:m>
                <a:endParaRPr lang="zh-TW" altLang="en-US" sz="2200" dirty="0">
                  <a:solidFill>
                    <a:schemeClr val="accent2">
                      <a:lumMod val="75000"/>
                    </a:schemeClr>
                  </a:solidFill>
                </a:endParaRPr>
              </a:p>
            </p:txBody>
          </p:sp>
        </mc:Choice>
        <mc:Fallback xmlns="">
          <p:sp>
            <p:nvSpPr>
              <p:cNvPr id="26" name="矩形 25">
                <a:extLst>
                  <a:ext uri="{FF2B5EF4-FFF2-40B4-BE49-F238E27FC236}">
                    <a16:creationId xmlns:a16="http://schemas.microsoft.com/office/drawing/2014/main" id="{040F4196-0B05-473B-8255-7E60D1F8F53F}"/>
                  </a:ext>
                </a:extLst>
              </p:cNvPr>
              <p:cNvSpPr>
                <a:spLocks noRot="1" noChangeAspect="1" noMove="1" noResize="1" noEditPoints="1" noAdjustHandles="1" noChangeArrowheads="1" noChangeShapeType="1" noTextEdit="1"/>
              </p:cNvSpPr>
              <p:nvPr/>
            </p:nvSpPr>
            <p:spPr>
              <a:xfrm>
                <a:off x="5226265" y="4712692"/>
                <a:ext cx="406088" cy="430887"/>
              </a:xfrm>
              <a:prstGeom prst="rect">
                <a:avLst/>
              </a:prstGeom>
              <a:blipFill>
                <a:blip r:embed="rId16"/>
                <a:stretch>
                  <a:fillRect r="-388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245A5A7E-2B16-4B50-8BF5-A0534A5D6BC9}"/>
                  </a:ext>
                </a:extLst>
              </p:cNvPr>
              <p:cNvSpPr/>
              <p:nvPr/>
            </p:nvSpPr>
            <p:spPr>
              <a:xfrm>
                <a:off x="6122911" y="4727813"/>
                <a:ext cx="1826141" cy="369332"/>
              </a:xfrm>
              <a:prstGeom prst="rect">
                <a:avLst/>
              </a:prstGeom>
            </p:spPr>
            <p:txBody>
              <a:bodyPr wrap="none">
                <a:spAutoFit/>
              </a:bodyPr>
              <a:lstStyle/>
              <a:p>
                <a:r>
                  <a:rPr lang="en-US" altLang="zh-TW" b="1" i="0" dirty="0">
                    <a:solidFill>
                      <a:schemeClr val="accent2">
                        <a:lumMod val="75000"/>
                      </a:schemeClr>
                    </a:solidFill>
                    <a:latin typeface="Times New Roman" panose="02020603050405020304" pitchFamily="18" charset="0"/>
                    <a:cs typeface="Times New Roman" panose="02020603050405020304" pitchFamily="18" charset="0"/>
                  </a:rPr>
                  <a:t>position of </a:t>
                </a:r>
                <a14:m>
                  <m:oMath xmlns:m="http://schemas.openxmlformats.org/officeDocument/2006/math">
                    <m:r>
                      <a:rPr lang="en-US" altLang="zh-TW" b="1" i="1" dirty="0" smtClean="0">
                        <a:solidFill>
                          <a:schemeClr val="accent2">
                            <a:lumMod val="75000"/>
                          </a:schemeClr>
                        </a:solidFill>
                        <a:latin typeface="Cambria Math" panose="02040503050406030204" pitchFamily="18" charset="0"/>
                        <a:cs typeface="Times New Roman" panose="02020603050405020304" pitchFamily="18" charset="0"/>
                      </a:rPr>
                      <m:t>𝒊</m:t>
                    </m:r>
                  </m:oMath>
                </a14:m>
                <a:r>
                  <a:rPr lang="en-US" altLang="zh-TW" b="1" i="0" dirty="0">
                    <a:solidFill>
                      <a:schemeClr val="accent2">
                        <a:lumMod val="75000"/>
                      </a:schemeClr>
                    </a:solidFill>
                    <a:latin typeface="Times New Roman" panose="02020603050405020304" pitchFamily="18" charset="0"/>
                    <a:cs typeface="Times New Roman" panose="02020603050405020304" pitchFamily="18" charset="0"/>
                  </a:rPr>
                  <a:t> in </a:t>
                </a:r>
                <a14:m>
                  <m:oMath xmlns:m="http://schemas.openxmlformats.org/officeDocument/2006/math">
                    <m:r>
                      <a:rPr lang="en-US" altLang="zh-TW" b="1" i="1">
                        <a:solidFill>
                          <a:schemeClr val="accent2">
                            <a:lumMod val="75000"/>
                          </a:schemeClr>
                        </a:solidFill>
                        <a:latin typeface="Cambria Math" panose="02040503050406030204" pitchFamily="18" charset="0"/>
                        <a:cs typeface="Times New Roman" panose="02020603050405020304" pitchFamily="18" charset="0"/>
                      </a:rPr>
                      <m:t>𝝅</m:t>
                    </m:r>
                  </m:oMath>
                </a14:m>
                <a:endParaRPr lang="zh-TW" altLang="en-US"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245A5A7E-2B16-4B50-8BF5-A0534A5D6BC9}"/>
                  </a:ext>
                </a:extLst>
              </p:cNvPr>
              <p:cNvSpPr>
                <a:spLocks noRot="1" noChangeAspect="1" noMove="1" noResize="1" noEditPoints="1" noAdjustHandles="1" noChangeArrowheads="1" noChangeShapeType="1" noTextEdit="1"/>
              </p:cNvSpPr>
              <p:nvPr/>
            </p:nvSpPr>
            <p:spPr>
              <a:xfrm>
                <a:off x="6122911" y="4727813"/>
                <a:ext cx="1826141" cy="369332"/>
              </a:xfrm>
              <a:prstGeom prst="rect">
                <a:avLst/>
              </a:prstGeom>
              <a:blipFill>
                <a:blip r:embed="rId17"/>
                <a:stretch>
                  <a:fillRect l="-2667"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220D63B2-2941-4FD6-AB9F-445A5DC219B0}"/>
                  </a:ext>
                </a:extLst>
              </p:cNvPr>
              <p:cNvSpPr/>
              <p:nvPr/>
            </p:nvSpPr>
            <p:spPr>
              <a:xfrm>
                <a:off x="1604076" y="5222052"/>
                <a:ext cx="3288464" cy="470000"/>
              </a:xfrm>
              <a:prstGeom prst="rect">
                <a:avLst/>
              </a:prstGeom>
            </p:spPr>
            <p:txBody>
              <a:bodyPr wrap="none">
                <a:spAutoFit/>
              </a:bodyPr>
              <a:lstStyle/>
              <a:p>
                <a14:m>
                  <m:oMath xmlns:m="http://schemas.openxmlformats.org/officeDocument/2006/math">
                    <m:sSub>
                      <m:sSubPr>
                        <m:ctrlPr>
                          <a:rPr lang="en-US" altLang="zh-TW" sz="2400" b="1" i="1" smtClean="0">
                            <a:solidFill>
                              <a:srgbClr val="002060"/>
                            </a:solidFill>
                            <a:latin typeface="Cambria Math" panose="02040503050406030204" pitchFamily="18" charset="0"/>
                            <a:cs typeface="Times New Roman" panose="02020603050405020304" pitchFamily="18" charset="0"/>
                          </a:rPr>
                        </m:ctrlPr>
                      </m:sSubPr>
                      <m:e>
                        <m:r>
                          <a:rPr lang="en-US" altLang="zh-TW" sz="2400" b="1" i="1">
                            <a:solidFill>
                              <a:srgbClr val="002060"/>
                            </a:solidFill>
                            <a:latin typeface="Cambria Math" panose="02040503050406030204" pitchFamily="18" charset="0"/>
                            <a:cs typeface="Times New Roman" panose="02020603050405020304" pitchFamily="18" charset="0"/>
                          </a:rPr>
                          <m:t>𝜾</m:t>
                        </m:r>
                      </m:e>
                      <m:sub>
                        <m:r>
                          <a:rPr lang="en-US" altLang="zh-TW" sz="2400" b="1" i="1">
                            <a:solidFill>
                              <a:srgbClr val="002060"/>
                            </a:solidFill>
                            <a:latin typeface="Cambria Math" panose="02040503050406030204" pitchFamily="18" charset="0"/>
                            <a:cs typeface="Times New Roman" panose="02020603050405020304" pitchFamily="18" charset="0"/>
                          </a:rPr>
                          <m:t>𝒏</m:t>
                        </m:r>
                      </m:sub>
                    </m:sSub>
                    <m:r>
                      <a:rPr lang="en-US" altLang="zh-TW" sz="2400" b="1" i="1" smtClean="0">
                        <a:solidFill>
                          <a:srgbClr val="002060"/>
                        </a:solidFill>
                        <a:latin typeface="Cambria Math" panose="02040503050406030204" pitchFamily="18" charset="0"/>
                        <a:cs typeface="Times New Roman" panose="02020603050405020304" pitchFamily="18" charset="0"/>
                      </a:rPr>
                      <m:t>=</m:t>
                    </m:r>
                    <m:r>
                      <a:rPr lang="en-US" altLang="zh-TW" sz="2400" b="1" i="1">
                        <a:latin typeface="Cambria Math" panose="02040503050406030204" pitchFamily="18" charset="0"/>
                        <a:ea typeface="+mj-ea"/>
                        <a:cs typeface="Times New Roman" panose="02020603050405020304" pitchFamily="18" charset="0"/>
                      </a:rPr>
                      <m:t>𝝅</m:t>
                    </m:r>
                    <m:r>
                      <a:rPr lang="en-US" altLang="zh-TW" sz="2400" b="1" i="1">
                        <a:latin typeface="Cambria Math" panose="02040503050406030204" pitchFamily="18" charset="0"/>
                        <a:ea typeface="+mj-ea"/>
                        <a:cs typeface="Times New Roman" panose="02020603050405020304" pitchFamily="18" charset="0"/>
                      </a:rPr>
                      <m:t>∘</m:t>
                    </m:r>
                    <m:sSup>
                      <m:sSupPr>
                        <m:ctrlPr>
                          <a:rPr lang="en-US" altLang="zh-TW" sz="2400" b="1" i="1">
                            <a:latin typeface="Cambria Math" panose="02040503050406030204" pitchFamily="18" charset="0"/>
                            <a:cs typeface="Times New Roman" panose="02020603050405020304" pitchFamily="18" charset="0"/>
                          </a:rPr>
                        </m:ctrlPr>
                      </m:sSupPr>
                      <m:e>
                        <m:r>
                          <a:rPr lang="en-US" altLang="zh-TW" sz="2400" b="1" i="1">
                            <a:latin typeface="Cambria Math" panose="02040503050406030204" pitchFamily="18" charset="0"/>
                            <a:cs typeface="Times New Roman" panose="02020603050405020304" pitchFamily="18" charset="0"/>
                          </a:rPr>
                          <m:t>𝝅</m:t>
                        </m:r>
                      </m:e>
                      <m:sup>
                        <m:r>
                          <a:rPr lang="en-US" altLang="zh-TW" sz="2400" b="1" i="1">
                            <a:latin typeface="Cambria Math" panose="02040503050406030204" pitchFamily="18" charset="0"/>
                            <a:cs typeface="Times New Roman" panose="02020603050405020304" pitchFamily="18" charset="0"/>
                          </a:rPr>
                          <m:t>−</m:t>
                        </m:r>
                        <m:r>
                          <a:rPr lang="en-US" altLang="zh-TW" sz="2400" b="1" i="1">
                            <a:latin typeface="Cambria Math" panose="02040503050406030204" pitchFamily="18" charset="0"/>
                            <a:cs typeface="Times New Roman" panose="02020603050405020304" pitchFamily="18" charset="0"/>
                          </a:rPr>
                          <m:t>𝟏</m:t>
                        </m:r>
                      </m:sup>
                    </m:sSup>
                  </m:oMath>
                </a14:m>
                <a:r>
                  <a:rPr lang="en-US" altLang="zh-TW" sz="2400" b="1" dirty="0">
                    <a:latin typeface="Cambria Math" panose="02040503050406030204" pitchFamily="18" charset="0"/>
                    <a:ea typeface="+mj-ea"/>
                    <a:cs typeface="Times New Roman" panose="02020603050405020304" pitchFamily="18" charset="0"/>
                  </a:rPr>
                  <a:t> =</a:t>
                </a:r>
                <a14:m>
                  <m:oMath xmlns:m="http://schemas.openxmlformats.org/officeDocument/2006/math">
                    <m:r>
                      <a:rPr lang="en-US" altLang="zh-TW" sz="2400" b="1" i="0" smtClean="0">
                        <a:latin typeface="Cambria Math" panose="02040503050406030204" pitchFamily="18" charset="0"/>
                        <a:ea typeface="+mj-ea"/>
                        <a:cs typeface="Times New Roman" panose="02020603050405020304" pitchFamily="18" charset="0"/>
                      </a:rPr>
                      <m:t> </m:t>
                    </m:r>
                    <m:r>
                      <a:rPr lang="en-US" altLang="zh-TW" sz="2400" b="1" i="1" smtClean="0">
                        <a:latin typeface="Cambria Math" panose="02040503050406030204" pitchFamily="18" charset="0"/>
                        <a:ea typeface="+mj-ea"/>
                        <a:cs typeface="Times New Roman" panose="02020603050405020304" pitchFamily="18" charset="0"/>
                      </a:rPr>
                      <m:t> </m:t>
                    </m:r>
                    <m:sSup>
                      <m:sSupPr>
                        <m:ctrlPr>
                          <a:rPr lang="en-US" altLang="zh-TW" sz="2400" b="1" i="1" smtClean="0">
                            <a:latin typeface="Cambria Math" panose="02040503050406030204" pitchFamily="18" charset="0"/>
                            <a:ea typeface="+mj-ea"/>
                            <a:cs typeface="Times New Roman" panose="02020603050405020304" pitchFamily="18" charset="0"/>
                          </a:rPr>
                        </m:ctrlPr>
                      </m:sSupPr>
                      <m:e>
                        <m:r>
                          <a:rPr lang="en-US" altLang="zh-TW" sz="2400" b="1" i="1" smtClean="0">
                            <a:latin typeface="Cambria Math" panose="02040503050406030204" pitchFamily="18" charset="0"/>
                            <a:ea typeface="+mj-ea"/>
                            <a:cs typeface="Times New Roman" panose="02020603050405020304" pitchFamily="18" charset="0"/>
                          </a:rPr>
                          <m:t>𝝅</m:t>
                        </m:r>
                      </m:e>
                      <m:sup>
                        <m:r>
                          <a:rPr lang="en-US" altLang="zh-TW" sz="2400" b="1" i="1" smtClean="0">
                            <a:latin typeface="Cambria Math" panose="02040503050406030204" pitchFamily="18" charset="0"/>
                            <a:ea typeface="+mj-ea"/>
                            <a:cs typeface="Times New Roman" panose="02020603050405020304" pitchFamily="18" charset="0"/>
                          </a:rPr>
                          <m:t>−</m:t>
                        </m:r>
                        <m:r>
                          <a:rPr lang="en-US" altLang="zh-TW" sz="2400" b="1" i="1" smtClean="0">
                            <a:latin typeface="Cambria Math" panose="02040503050406030204" pitchFamily="18" charset="0"/>
                            <a:ea typeface="+mj-ea"/>
                            <a:cs typeface="Times New Roman" panose="02020603050405020304" pitchFamily="18" charset="0"/>
                          </a:rPr>
                          <m:t>𝟏</m:t>
                        </m:r>
                      </m:sup>
                    </m:sSup>
                    <m:r>
                      <a:rPr lang="en-US" altLang="zh-TW" sz="2400" b="1" i="1" smtClean="0">
                        <a:latin typeface="Cambria Math" panose="02040503050406030204" pitchFamily="18" charset="0"/>
                        <a:ea typeface="+mj-ea"/>
                        <a:cs typeface="Times New Roman" panose="02020603050405020304" pitchFamily="18" charset="0"/>
                      </a:rPr>
                      <m:t>∘</m:t>
                    </m:r>
                    <m:r>
                      <a:rPr lang="en-US" altLang="zh-TW" sz="2400" b="1" i="1" smtClean="0">
                        <a:latin typeface="Cambria Math" panose="02040503050406030204" pitchFamily="18" charset="0"/>
                        <a:ea typeface="+mj-ea"/>
                        <a:cs typeface="Times New Roman" panose="02020603050405020304" pitchFamily="18" charset="0"/>
                      </a:rPr>
                      <m:t>𝝅</m:t>
                    </m:r>
                  </m:oMath>
                </a14:m>
                <a:endParaRPr lang="zh-TW" altLang="en-US" sz="2400" b="1" i="1" dirty="0">
                  <a:latin typeface="Cambria Math" panose="02040503050406030204" pitchFamily="18" charset="0"/>
                  <a:ea typeface="+mj-ea"/>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220D63B2-2941-4FD6-AB9F-445A5DC219B0}"/>
                  </a:ext>
                </a:extLst>
              </p:cNvPr>
              <p:cNvSpPr>
                <a:spLocks noRot="1" noChangeAspect="1" noMove="1" noResize="1" noEditPoints="1" noAdjustHandles="1" noChangeArrowheads="1" noChangeShapeType="1" noTextEdit="1"/>
              </p:cNvSpPr>
              <p:nvPr/>
            </p:nvSpPr>
            <p:spPr>
              <a:xfrm>
                <a:off x="1604076" y="5222052"/>
                <a:ext cx="3288464" cy="470000"/>
              </a:xfrm>
              <a:prstGeom prst="rect">
                <a:avLst/>
              </a:prstGeom>
              <a:blipFill>
                <a:blip r:embed="rId18"/>
                <a:stretch>
                  <a:fillRect t="-9091" b="-28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8792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 grpId="0" animBg="1"/>
      <p:bldP spid="21" grpId="0" animBg="1"/>
      <p:bldP spid="22" grpId="0" animBg="1"/>
      <p:bldP spid="24" grpId="0" animBg="1"/>
      <p:bldP spid="25" grpId="0" animBg="1"/>
      <p:bldP spid="26" grpId="0" animBg="1"/>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The sorting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28" name="標題 1">
                <a:extLst>
                  <a:ext uri="{FF2B5EF4-FFF2-40B4-BE49-F238E27FC236}">
                    <a16:creationId xmlns:a16="http://schemas.microsoft.com/office/drawing/2014/main" id="{181DB44C-FC0A-4741-A15E-B3713572DF93}"/>
                  </a:ext>
                </a:extLst>
              </p:cNvPr>
              <p:cNvSpPr txBox="1">
                <a:spLocks/>
              </p:cNvSpPr>
              <p:nvPr/>
            </p:nvSpPr>
            <p:spPr>
              <a:xfrm>
                <a:off x="533152" y="1819493"/>
                <a:ext cx="3412684"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Given two permutations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8" name="標題 1">
                <a:extLst>
                  <a:ext uri="{FF2B5EF4-FFF2-40B4-BE49-F238E27FC236}">
                    <a16:creationId xmlns:a16="http://schemas.microsoft.com/office/drawing/2014/main" id="{181DB44C-FC0A-4741-A15E-B3713572DF93}"/>
                  </a:ext>
                </a:extLst>
              </p:cNvPr>
              <p:cNvSpPr txBox="1">
                <a:spLocks noRot="1" noChangeAspect="1" noMove="1" noResize="1" noEditPoints="1" noAdjustHandles="1" noChangeArrowheads="1" noChangeShapeType="1" noTextEdit="1"/>
              </p:cNvSpPr>
              <p:nvPr/>
            </p:nvSpPr>
            <p:spPr>
              <a:xfrm>
                <a:off x="533152" y="1819493"/>
                <a:ext cx="3412684" cy="583367"/>
              </a:xfrm>
              <a:prstGeom prst="rect">
                <a:avLst/>
              </a:prstGeom>
              <a:blipFill>
                <a:blip r:embed="rId2"/>
                <a:stretch>
                  <a:fillRect l="-2679" b="-104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標題 1">
                <a:extLst>
                  <a:ext uri="{FF2B5EF4-FFF2-40B4-BE49-F238E27FC236}">
                    <a16:creationId xmlns:a16="http://schemas.microsoft.com/office/drawing/2014/main" id="{E7891C1D-30EE-4A86-A9B9-9D6E8C9C73DE}"/>
                  </a:ext>
                </a:extLst>
              </p:cNvPr>
              <p:cNvSpPr txBox="1">
                <a:spLocks/>
              </p:cNvSpPr>
              <p:nvPr/>
            </p:nvSpPr>
            <p:spPr>
              <a:xfrm>
                <a:off x="3920943" y="1819493"/>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dirty="0" smtClean="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dirty="0">
                            <a:latin typeface="Cambria Math" panose="02040503050406030204" pitchFamily="18" charset="0"/>
                            <a:cs typeface="Times New Roman" panose="02020603050405020304" pitchFamily="18" charset="0"/>
                          </a:rPr>
                          <m:t>𝝅</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32" name="標題 1">
                <a:extLst>
                  <a:ext uri="{FF2B5EF4-FFF2-40B4-BE49-F238E27FC236}">
                    <a16:creationId xmlns:a16="http://schemas.microsoft.com/office/drawing/2014/main" id="{E7891C1D-30EE-4A86-A9B9-9D6E8C9C73DE}"/>
                  </a:ext>
                </a:extLst>
              </p:cNvPr>
              <p:cNvSpPr txBox="1">
                <a:spLocks noRot="1" noChangeAspect="1" noMove="1" noResize="1" noEditPoints="1" noAdjustHandles="1" noChangeArrowheads="1" noChangeShapeType="1" noTextEdit="1"/>
              </p:cNvSpPr>
              <p:nvPr/>
            </p:nvSpPr>
            <p:spPr>
              <a:xfrm>
                <a:off x="3920943" y="1819493"/>
                <a:ext cx="2554446" cy="510001"/>
              </a:xfrm>
              <a:prstGeom prst="rect">
                <a:avLst/>
              </a:prstGeom>
              <a:blipFill>
                <a:blip r:embed="rId3"/>
                <a:stretch>
                  <a:fillRect l="-2387" r="-239" b="-202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9B8446D0-D760-472E-A004-3EE653D494AE}"/>
                  </a:ext>
                </a:extLst>
              </p:cNvPr>
              <p:cNvSpPr txBox="1">
                <a:spLocks/>
              </p:cNvSpPr>
              <p:nvPr/>
            </p:nvSpPr>
            <p:spPr>
              <a:xfrm>
                <a:off x="3036523" y="2312473"/>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𝜎</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9B8446D0-D760-472E-A004-3EE653D494AE}"/>
                  </a:ext>
                </a:extLst>
              </p:cNvPr>
              <p:cNvSpPr txBox="1">
                <a:spLocks noRot="1" noChangeAspect="1" noMove="1" noResize="1" noEditPoints="1" noAdjustHandles="1" noChangeArrowheads="1" noChangeShapeType="1" noTextEdit="1"/>
              </p:cNvSpPr>
              <p:nvPr/>
            </p:nvSpPr>
            <p:spPr>
              <a:xfrm>
                <a:off x="3036523" y="2312473"/>
                <a:ext cx="2174089" cy="583367"/>
              </a:xfrm>
              <a:prstGeom prst="rect">
                <a:avLst/>
              </a:prstGeom>
              <a:blipFill>
                <a:blip r:embed="rId4"/>
                <a:stretch>
                  <a:fillRect l="-4202" b="-104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1E309D24-391C-41CB-BAD1-8FA1161030DB}"/>
                  </a:ext>
                </a:extLst>
              </p:cNvPr>
              <p:cNvSpPr txBox="1">
                <a:spLocks/>
              </p:cNvSpPr>
              <p:nvPr/>
            </p:nvSpPr>
            <p:spPr>
              <a:xfrm>
                <a:off x="3920943" y="2321553"/>
                <a:ext cx="2554446" cy="510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b="1" dirty="0">
                    <a:latin typeface="Arial Black" panose="020B0A04020102020204" pitchFamily="34" charset="0"/>
                    <a:cs typeface="Times New Roman" panose="02020603050405020304" pitchFamily="18" charset="0"/>
                  </a:rPr>
                  <a:t>&lt; </a:t>
                </a:r>
                <a14:m>
                  <m:oMath xmlns:m="http://schemas.openxmlformats.org/officeDocument/2006/math">
                    <m:sSub>
                      <m:sSubPr>
                        <m:ctrlPr>
                          <a:rPr lang="en-US" altLang="zh-TW" sz="2000" b="1" i="1" dirty="0" smtClean="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𝟏</m:t>
                        </m:r>
                      </m:sub>
                    </m:sSub>
                    <m:r>
                      <a:rPr lang="en-US" altLang="zh-TW" sz="2000" b="1" i="1" dirty="0" smtClean="0">
                        <a:latin typeface="Cambria Math" panose="02040503050406030204" pitchFamily="18" charset="0"/>
                        <a:cs typeface="Times New Roman" panose="02020603050405020304" pitchFamily="18" charset="0"/>
                      </a:rPr>
                      <m:t>,</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𝟐</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𝟑</m:t>
                        </m:r>
                      </m:sub>
                    </m:sSub>
                    <m:r>
                      <a:rPr lang="en-US" altLang="zh-TW" sz="2000" b="1" i="1" dirty="0" smtClean="0">
                        <a:latin typeface="Cambria Math" panose="02040503050406030204" pitchFamily="18" charset="0"/>
                        <a:cs typeface="Times New Roman" panose="02020603050405020304" pitchFamily="18" charset="0"/>
                      </a:rPr>
                      <m:t>,  …,</m:t>
                    </m:r>
                    <m:sSub>
                      <m:sSubPr>
                        <m:ctrlPr>
                          <a:rPr lang="en-US" altLang="zh-TW" sz="2000" b="1" i="1" dirty="0">
                            <a:latin typeface="Cambria Math" panose="02040503050406030204" pitchFamily="18" charset="0"/>
                            <a:cs typeface="Times New Roman" panose="02020603050405020304" pitchFamily="18" charset="0"/>
                          </a:rPr>
                        </m:ctrlPr>
                      </m:sSubPr>
                      <m:e>
                        <m:r>
                          <a:rPr lang="en-US" altLang="zh-TW" sz="2000" b="1" i="1">
                            <a:latin typeface="Cambria Math" panose="02040503050406030204" pitchFamily="18" charset="0"/>
                            <a:cs typeface="Times New Roman" panose="02020603050405020304" pitchFamily="18" charset="0"/>
                          </a:rPr>
                          <m:t>𝝈</m:t>
                        </m:r>
                      </m:e>
                      <m:sub>
                        <m:r>
                          <a:rPr lang="en-US" altLang="zh-TW" sz="2000" b="1" i="1" dirty="0" smtClean="0">
                            <a:latin typeface="Cambria Math" panose="02040503050406030204" pitchFamily="18" charset="0"/>
                            <a:cs typeface="Times New Roman" panose="02020603050405020304" pitchFamily="18" charset="0"/>
                          </a:rPr>
                          <m:t>𝒏</m:t>
                        </m:r>
                      </m:sub>
                    </m:sSub>
                  </m:oMath>
                </a14:m>
                <a:r>
                  <a:rPr lang="en-US" altLang="zh-TW" sz="2000" b="1" dirty="0">
                    <a:latin typeface="Arial Black" panose="020B0A04020102020204" pitchFamily="34" charset="0"/>
                    <a:cs typeface="Times New Roman" panose="02020603050405020304" pitchFamily="18" charset="0"/>
                  </a:rPr>
                  <a:t> &gt;</a:t>
                </a:r>
              </a:p>
            </p:txBody>
          </p:sp>
        </mc:Choice>
        <mc:Fallback xmlns="">
          <p:sp>
            <p:nvSpPr>
              <p:cNvPr id="10" name="標題 1">
                <a:extLst>
                  <a:ext uri="{FF2B5EF4-FFF2-40B4-BE49-F238E27FC236}">
                    <a16:creationId xmlns:a16="http://schemas.microsoft.com/office/drawing/2014/main" id="{1E309D24-391C-41CB-BAD1-8FA1161030DB}"/>
                  </a:ext>
                </a:extLst>
              </p:cNvPr>
              <p:cNvSpPr txBox="1">
                <a:spLocks noRot="1" noChangeAspect="1" noMove="1" noResize="1" noEditPoints="1" noAdjustHandles="1" noChangeArrowheads="1" noChangeShapeType="1" noTextEdit="1"/>
              </p:cNvSpPr>
              <p:nvPr/>
            </p:nvSpPr>
            <p:spPr>
              <a:xfrm>
                <a:off x="3920943" y="2321553"/>
                <a:ext cx="2554446" cy="510001"/>
              </a:xfrm>
              <a:prstGeom prst="rect">
                <a:avLst/>
              </a:prstGeom>
              <a:blipFill>
                <a:blip r:embed="rId5"/>
                <a:stretch>
                  <a:fillRect l="-2387" r="-1432" b="-21687"/>
                </a:stretch>
              </a:blipFill>
            </p:spPr>
            <p:txBody>
              <a:bodyPr/>
              <a:lstStyle/>
              <a:p>
                <a:r>
                  <a:rPr lang="zh-TW" altLang="en-US">
                    <a:noFill/>
                  </a:rPr>
                  <a:t> </a:t>
                </a:r>
              </a:p>
            </p:txBody>
          </p:sp>
        </mc:Fallback>
      </mc:AlternateContent>
      <p:grpSp>
        <p:nvGrpSpPr>
          <p:cNvPr id="2" name="群組 1">
            <a:extLst>
              <a:ext uri="{FF2B5EF4-FFF2-40B4-BE49-F238E27FC236}">
                <a16:creationId xmlns:a16="http://schemas.microsoft.com/office/drawing/2014/main" id="{1FC83AAC-DE00-4677-B894-4315D0AF4721}"/>
              </a:ext>
            </a:extLst>
          </p:cNvPr>
          <p:cNvGrpSpPr/>
          <p:nvPr/>
        </p:nvGrpSpPr>
        <p:grpSpPr>
          <a:xfrm>
            <a:off x="402232" y="4830705"/>
            <a:ext cx="7650386" cy="1206301"/>
            <a:chOff x="402232" y="4281257"/>
            <a:chExt cx="7650386" cy="1206301"/>
          </a:xfrm>
        </p:grpSpPr>
        <mc:AlternateContent xmlns:mc="http://schemas.openxmlformats.org/markup-compatibility/2006" xmlns:a14="http://schemas.microsoft.com/office/drawing/2010/main">
          <mc:Choice Requires="a14">
            <p:sp>
              <p:nvSpPr>
                <p:cNvPr id="23" name="標題 1">
                  <a:extLst>
                    <a:ext uri="{FF2B5EF4-FFF2-40B4-BE49-F238E27FC236}">
                      <a16:creationId xmlns:a16="http://schemas.microsoft.com/office/drawing/2014/main" id="{6EFB64DB-0F1E-42D3-B47E-8117BD360938}"/>
                    </a:ext>
                  </a:extLst>
                </p:cNvPr>
                <p:cNvSpPr txBox="1">
                  <a:spLocks/>
                </p:cNvSpPr>
                <p:nvPr/>
              </p:nvSpPr>
              <p:spPr>
                <a:xfrm>
                  <a:off x="402232" y="4684174"/>
                  <a:ext cx="6657330" cy="8033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finding the minimum distance between an arbitrary permutation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𝛼</m:t>
                      </m:r>
                    </m:oMath>
                  </a14:m>
                  <a:r>
                    <a:rPr lang="en-US" altLang="zh-TW" sz="2400" dirty="0">
                      <a:latin typeface="Times New Roman" panose="02020603050405020304" pitchFamily="18" charset="0"/>
                      <a:cs typeface="Times New Roman" panose="02020603050405020304" pitchFamily="18" charset="0"/>
                    </a:rPr>
                    <a:t> and</a:t>
                  </a:r>
                  <a14:m>
                    <m:oMath xmlns:m="http://schemas.openxmlformats.org/officeDocument/2006/math">
                      <m:r>
                        <a:rPr lang="en-US" altLang="zh-TW" sz="2400" b="0" i="0" smtClean="0">
                          <a:latin typeface="Cambria Math" panose="02040503050406030204" pitchFamily="18" charset="0"/>
                          <a:cs typeface="Times New Roman" panose="02020603050405020304" pitchFamily="18" charset="0"/>
                        </a:rPr>
                        <m:t> </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𝜄</m:t>
                          </m:r>
                        </m:e>
                        <m:sub>
                          <m:r>
                            <a:rPr lang="en-US" altLang="zh-TW" sz="2400" b="0" i="1" smtClean="0">
                              <a:latin typeface="Cambria Math" panose="02040503050406030204" pitchFamily="18" charset="0"/>
                              <a:cs typeface="Times New Roman" panose="02020603050405020304" pitchFamily="18" charset="0"/>
                            </a:rPr>
                            <m:t>𝑛</m:t>
                          </m:r>
                        </m:sub>
                      </m:sSub>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3" name="標題 1">
                  <a:extLst>
                    <a:ext uri="{FF2B5EF4-FFF2-40B4-BE49-F238E27FC236}">
                      <a16:creationId xmlns:a16="http://schemas.microsoft.com/office/drawing/2014/main" id="{6EFB64DB-0F1E-42D3-B47E-8117BD360938}"/>
                    </a:ext>
                  </a:extLst>
                </p:cNvPr>
                <p:cNvSpPr txBox="1">
                  <a:spLocks noRot="1" noChangeAspect="1" noMove="1" noResize="1" noEditPoints="1" noAdjustHandles="1" noChangeArrowheads="1" noChangeShapeType="1" noTextEdit="1"/>
                </p:cNvSpPr>
                <p:nvPr/>
              </p:nvSpPr>
              <p:spPr>
                <a:xfrm>
                  <a:off x="402232" y="4684174"/>
                  <a:ext cx="6657330" cy="803384"/>
                </a:xfrm>
                <a:prstGeom prst="rect">
                  <a:avLst/>
                </a:prstGeom>
                <a:blipFill>
                  <a:blip r:embed="rId6"/>
                  <a:stretch>
                    <a:fillRect l="-1465" t="-7634" b="-145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C1D6108D-00A9-4C24-B881-11702FC26BC6}"/>
                    </a:ext>
                  </a:extLst>
                </p:cNvPr>
                <p:cNvSpPr/>
                <p:nvPr/>
              </p:nvSpPr>
              <p:spPr>
                <a:xfrm>
                  <a:off x="6684091" y="4281257"/>
                  <a:ext cx="1368527"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𝑑</m:t>
                        </m:r>
                        <m:r>
                          <a:rPr lang="en-US" altLang="zh-TW" sz="2800" b="0" i="1" smtClean="0">
                            <a:solidFill>
                              <a:srgbClr val="0070C0"/>
                            </a:solidFill>
                            <a:latin typeface="Cambria Math" panose="02040503050406030204" pitchFamily="18" charset="0"/>
                            <a:cs typeface="Times New Roman" panose="02020603050405020304" pitchFamily="18" charset="0"/>
                          </a:rPr>
                          <m:t>(</m:t>
                        </m:r>
                        <m:r>
                          <a:rPr lang="en-US" altLang="zh-TW" sz="2800" b="0" i="1" smtClean="0">
                            <a:solidFill>
                              <a:srgbClr val="0070C0"/>
                            </a:solidFill>
                            <a:latin typeface="Cambria Math" panose="02040503050406030204" pitchFamily="18" charset="0"/>
                            <a:cs typeface="Times New Roman" panose="02020603050405020304" pitchFamily="18" charset="0"/>
                          </a:rPr>
                          <m:t>𝛼</m:t>
                        </m:r>
                        <m:r>
                          <a:rPr lang="en-US" altLang="zh-TW" sz="2800" b="0" i="1" smtClean="0">
                            <a:solidFill>
                              <a:srgbClr val="0070C0"/>
                            </a:solidFill>
                            <a:latin typeface="Cambria Math" panose="02040503050406030204" pitchFamily="18" charset="0"/>
                            <a:cs typeface="Times New Roman" panose="02020603050405020304" pitchFamily="18" charset="0"/>
                          </a:rPr>
                          <m:t>, </m:t>
                        </m:r>
                        <m:sSub>
                          <m:sSubPr>
                            <m:ctrlPr>
                              <a:rPr lang="en-US" altLang="zh-TW" sz="2800" b="0" i="1" smtClean="0">
                                <a:solidFill>
                                  <a:srgbClr val="0070C0"/>
                                </a:solidFill>
                                <a:latin typeface="Cambria Math" panose="02040503050406030204" pitchFamily="18" charset="0"/>
                                <a:cs typeface="Times New Roman" panose="02020603050405020304" pitchFamily="18" charset="0"/>
                              </a:rPr>
                            </m:ctrlPr>
                          </m:sSubPr>
                          <m:e>
                            <m:r>
                              <a:rPr lang="en-US" altLang="zh-TW" sz="2800" b="0" i="1" smtClean="0">
                                <a:solidFill>
                                  <a:srgbClr val="0070C0"/>
                                </a:solidFill>
                                <a:latin typeface="Cambria Math" panose="02040503050406030204" pitchFamily="18" charset="0"/>
                                <a:cs typeface="Times New Roman" panose="02020603050405020304" pitchFamily="18" charset="0"/>
                              </a:rPr>
                              <m:t>𝜄</m:t>
                            </m:r>
                          </m:e>
                          <m:sub>
                            <m:r>
                              <a:rPr lang="en-US" altLang="zh-TW" sz="2800" b="0" i="1" smtClean="0">
                                <a:solidFill>
                                  <a:srgbClr val="0070C0"/>
                                </a:solidFill>
                                <a:latin typeface="Cambria Math" panose="02040503050406030204" pitchFamily="18" charset="0"/>
                                <a:cs typeface="Times New Roman" panose="02020603050405020304" pitchFamily="18" charset="0"/>
                              </a:rPr>
                              <m:t>𝑛</m:t>
                            </m:r>
                          </m:sub>
                        </m:sSub>
                        <m:r>
                          <a:rPr lang="en-US" altLang="zh-TW" sz="2800" b="0" i="1" smtClean="0">
                            <a:solidFill>
                              <a:srgbClr val="0070C0"/>
                            </a:solidFill>
                            <a:latin typeface="Cambria Math" panose="02040503050406030204" pitchFamily="18" charset="0"/>
                            <a:cs typeface="Times New Roman" panose="02020603050405020304" pitchFamily="18" charset="0"/>
                          </a:rPr>
                          <m:t>)</m:t>
                        </m:r>
                      </m:oMath>
                    </m:oMathPara>
                  </a14:m>
                  <a:endParaRPr lang="en-US" altLang="zh-TW"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27" name="矩形 26">
                  <a:extLst>
                    <a:ext uri="{FF2B5EF4-FFF2-40B4-BE49-F238E27FC236}">
                      <a16:creationId xmlns:a16="http://schemas.microsoft.com/office/drawing/2014/main" id="{C1D6108D-00A9-4C24-B881-11702FC26BC6}"/>
                    </a:ext>
                  </a:extLst>
                </p:cNvPr>
                <p:cNvSpPr>
                  <a:spLocks noRot="1" noChangeAspect="1" noMove="1" noResize="1" noEditPoints="1" noAdjustHandles="1" noChangeArrowheads="1" noChangeShapeType="1" noTextEdit="1"/>
                </p:cNvSpPr>
                <p:nvPr/>
              </p:nvSpPr>
              <p:spPr>
                <a:xfrm>
                  <a:off x="6684091" y="4281257"/>
                  <a:ext cx="1368527" cy="523220"/>
                </a:xfrm>
                <a:prstGeom prst="rect">
                  <a:avLst/>
                </a:prstGeom>
                <a:blipFill>
                  <a:blip r:embed="rId7"/>
                  <a:stretch>
                    <a:fillRect/>
                  </a:stretch>
                </a:blipFill>
              </p:spPr>
              <p:txBody>
                <a:bodyPr/>
                <a:lstStyle/>
                <a:p>
                  <a:r>
                    <a:rPr lang="zh-TW" altLang="en-US">
                      <a:noFill/>
                    </a:rPr>
                    <a:t> </a:t>
                  </a:r>
                </a:p>
              </p:txBody>
            </p:sp>
          </mc:Fallback>
        </mc:AlternateContent>
      </p:grpSp>
      <p:sp>
        <p:nvSpPr>
          <p:cNvPr id="29" name="標題 1">
            <a:extLst>
              <a:ext uri="{FF2B5EF4-FFF2-40B4-BE49-F238E27FC236}">
                <a16:creationId xmlns:a16="http://schemas.microsoft.com/office/drawing/2014/main" id="{7B021BC1-67D4-4EDF-8C55-00F61951352C}"/>
              </a:ext>
            </a:extLst>
          </p:cNvPr>
          <p:cNvSpPr txBox="1">
            <a:spLocks/>
          </p:cNvSpPr>
          <p:nvPr/>
        </p:nvSpPr>
        <p:spPr>
          <a:xfrm>
            <a:off x="402232" y="1182854"/>
            <a:ext cx="4328388"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Times New Roman" panose="02020603050405020304" pitchFamily="18" charset="0"/>
                <a:cs typeface="Times New Roman" panose="02020603050405020304" pitchFamily="18" charset="0"/>
              </a:rPr>
              <a:t>Rearrangement-distance problem:</a:t>
            </a:r>
          </a:p>
        </p:txBody>
      </p:sp>
      <mc:AlternateContent xmlns:mc="http://schemas.openxmlformats.org/markup-compatibility/2006" xmlns:a14="http://schemas.microsoft.com/office/drawing/2010/main">
        <mc:Choice Requires="a14">
          <p:sp>
            <p:nvSpPr>
              <p:cNvPr id="30" name="標題 1">
                <a:extLst>
                  <a:ext uri="{FF2B5EF4-FFF2-40B4-BE49-F238E27FC236}">
                    <a16:creationId xmlns:a16="http://schemas.microsoft.com/office/drawing/2014/main" id="{450C0C73-DE30-4F9B-8D1A-D3FC35A5EB22}"/>
                  </a:ext>
                </a:extLst>
              </p:cNvPr>
              <p:cNvSpPr txBox="1">
                <a:spLocks/>
              </p:cNvSpPr>
              <p:nvPr/>
            </p:nvSpPr>
            <p:spPr>
              <a:xfrm>
                <a:off x="533152" y="2861802"/>
                <a:ext cx="713600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find the minimum distance to transform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r>
                  <a:rPr lang="en-US" altLang="zh-TW" sz="2400" dirty="0">
                    <a:latin typeface="Times New Roman" panose="02020603050405020304" pitchFamily="18" charset="0"/>
                    <a:cs typeface="Times New Roman" panose="02020603050405020304" pitchFamily="18" charset="0"/>
                  </a:rPr>
                  <a:t> into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𝜎</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30" name="標題 1">
                <a:extLst>
                  <a:ext uri="{FF2B5EF4-FFF2-40B4-BE49-F238E27FC236}">
                    <a16:creationId xmlns:a16="http://schemas.microsoft.com/office/drawing/2014/main" id="{450C0C73-DE30-4F9B-8D1A-D3FC35A5EB22}"/>
                  </a:ext>
                </a:extLst>
              </p:cNvPr>
              <p:cNvSpPr txBox="1">
                <a:spLocks noRot="1" noChangeAspect="1" noMove="1" noResize="1" noEditPoints="1" noAdjustHandles="1" noChangeArrowheads="1" noChangeShapeType="1" noTextEdit="1"/>
              </p:cNvSpPr>
              <p:nvPr/>
            </p:nvSpPr>
            <p:spPr>
              <a:xfrm>
                <a:off x="533152" y="2861802"/>
                <a:ext cx="7136009" cy="583367"/>
              </a:xfrm>
              <a:prstGeom prst="rect">
                <a:avLst/>
              </a:prstGeom>
              <a:blipFill>
                <a:blip r:embed="rId8"/>
                <a:stretch>
                  <a:fillRect l="-1281" b="-104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547EE5C8-CAF8-4D8F-A848-CAD4A796F152}"/>
                  </a:ext>
                </a:extLst>
              </p:cNvPr>
              <p:cNvSpPr/>
              <p:nvPr/>
            </p:nvSpPr>
            <p:spPr>
              <a:xfrm>
                <a:off x="6475389" y="2490113"/>
                <a:ext cx="1368527"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𝑑</m:t>
                      </m:r>
                      <m:r>
                        <a:rPr lang="en-US" altLang="zh-TW" sz="2800" b="0" i="1" smtClean="0">
                          <a:solidFill>
                            <a:srgbClr val="0070C0"/>
                          </a:solidFill>
                          <a:latin typeface="Cambria Math" panose="02040503050406030204" pitchFamily="18" charset="0"/>
                          <a:cs typeface="Times New Roman" panose="02020603050405020304" pitchFamily="18" charset="0"/>
                        </a:rPr>
                        <m:t>(</m:t>
                      </m:r>
                      <m:r>
                        <a:rPr lang="en-US" altLang="zh-TW" sz="2800" b="0" i="1" smtClean="0">
                          <a:solidFill>
                            <a:srgbClr val="0070C0"/>
                          </a:solidFill>
                          <a:latin typeface="Cambria Math" panose="02040503050406030204" pitchFamily="18" charset="0"/>
                          <a:cs typeface="Times New Roman" panose="02020603050405020304" pitchFamily="18" charset="0"/>
                        </a:rPr>
                        <m:t>𝜋</m:t>
                      </m:r>
                      <m:r>
                        <a:rPr lang="en-US" altLang="zh-TW" sz="2800" b="0" i="1" smtClean="0">
                          <a:solidFill>
                            <a:srgbClr val="0070C0"/>
                          </a:solidFill>
                          <a:latin typeface="Cambria Math" panose="02040503050406030204" pitchFamily="18" charset="0"/>
                          <a:cs typeface="Times New Roman" panose="02020603050405020304" pitchFamily="18" charset="0"/>
                        </a:rPr>
                        <m:t>,</m:t>
                      </m:r>
                      <m:r>
                        <a:rPr lang="en-US" altLang="zh-TW" sz="2800" b="0" i="1" smtClean="0">
                          <a:solidFill>
                            <a:srgbClr val="0070C0"/>
                          </a:solidFill>
                          <a:latin typeface="Cambria Math" panose="02040503050406030204" pitchFamily="18" charset="0"/>
                          <a:cs typeface="Times New Roman" panose="02020603050405020304" pitchFamily="18" charset="0"/>
                        </a:rPr>
                        <m:t>𝜎</m:t>
                      </m:r>
                      <m:r>
                        <a:rPr lang="en-US" altLang="zh-TW" sz="2800" b="0" i="1" smtClean="0">
                          <a:solidFill>
                            <a:srgbClr val="0070C0"/>
                          </a:solidFill>
                          <a:latin typeface="Cambria Math" panose="02040503050406030204" pitchFamily="18" charset="0"/>
                          <a:cs typeface="Times New Roman" panose="02020603050405020304" pitchFamily="18" charset="0"/>
                        </a:rPr>
                        <m:t>)</m:t>
                      </m:r>
                    </m:oMath>
                  </m:oMathPara>
                </a14:m>
                <a:endParaRPr lang="en-US" altLang="zh-TW"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31" name="矩形 30">
                <a:extLst>
                  <a:ext uri="{FF2B5EF4-FFF2-40B4-BE49-F238E27FC236}">
                    <a16:creationId xmlns:a16="http://schemas.microsoft.com/office/drawing/2014/main" id="{547EE5C8-CAF8-4D8F-A848-CAD4A796F152}"/>
                  </a:ext>
                </a:extLst>
              </p:cNvPr>
              <p:cNvSpPr>
                <a:spLocks noRot="1" noChangeAspect="1" noMove="1" noResize="1" noEditPoints="1" noAdjustHandles="1" noChangeArrowheads="1" noChangeShapeType="1" noTextEdit="1"/>
              </p:cNvSpPr>
              <p:nvPr/>
            </p:nvSpPr>
            <p:spPr>
              <a:xfrm>
                <a:off x="6475389" y="2490113"/>
                <a:ext cx="1368527" cy="523220"/>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E30D0058-3A3E-4498-AFBA-40197EADB1FE}"/>
                  </a:ext>
                </a:extLst>
              </p:cNvPr>
              <p:cNvSpPr/>
              <p:nvPr/>
            </p:nvSpPr>
            <p:spPr>
              <a:xfrm>
                <a:off x="402231" y="3786839"/>
                <a:ext cx="7719214"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smtClean="0">
                          <a:solidFill>
                            <a:srgbClr val="7030A0"/>
                          </a:solidFill>
                          <a:latin typeface="Cambria Math" panose="02040503050406030204" pitchFamily="18" charset="0"/>
                          <a:cs typeface="Times New Roman" panose="02020603050405020304" pitchFamily="18" charset="0"/>
                        </a:rPr>
                        <m:t>𝑑</m:t>
                      </m:r>
                      <m:d>
                        <m:dPr>
                          <m:ctrlPr>
                            <a:rPr lang="en-US" altLang="zh-TW" sz="2800" b="0" i="1" smtClean="0">
                              <a:solidFill>
                                <a:srgbClr val="7030A0"/>
                              </a:solidFill>
                              <a:latin typeface="Cambria Math" panose="02040503050406030204" pitchFamily="18" charset="0"/>
                              <a:cs typeface="Times New Roman" panose="02020603050405020304" pitchFamily="18" charset="0"/>
                            </a:rPr>
                          </m:ctrlPr>
                        </m:dPr>
                        <m:e>
                          <m:r>
                            <a:rPr lang="en-US" altLang="zh-TW" sz="2800" b="0" i="1" smtClean="0">
                              <a:solidFill>
                                <a:srgbClr val="7030A0"/>
                              </a:solidFill>
                              <a:latin typeface="Cambria Math" panose="02040503050406030204" pitchFamily="18" charset="0"/>
                              <a:cs typeface="Times New Roman" panose="02020603050405020304" pitchFamily="18" charset="0"/>
                            </a:rPr>
                            <m:t>𝜋</m:t>
                          </m:r>
                          <m:r>
                            <a:rPr lang="en-US" altLang="zh-TW" sz="2800" b="0" i="1" smtClean="0">
                              <a:solidFill>
                                <a:srgbClr val="7030A0"/>
                              </a:solidFill>
                              <a:latin typeface="Cambria Math" panose="02040503050406030204" pitchFamily="18" charset="0"/>
                              <a:cs typeface="Times New Roman" panose="02020603050405020304" pitchFamily="18" charset="0"/>
                            </a:rPr>
                            <m:t>,</m:t>
                          </m:r>
                          <m:r>
                            <a:rPr lang="en-US" altLang="zh-TW" sz="2800" b="0" i="1" smtClean="0">
                              <a:solidFill>
                                <a:srgbClr val="7030A0"/>
                              </a:solidFill>
                              <a:latin typeface="Cambria Math" panose="02040503050406030204" pitchFamily="18" charset="0"/>
                              <a:cs typeface="Times New Roman" panose="02020603050405020304" pitchFamily="18" charset="0"/>
                            </a:rPr>
                            <m:t>𝜎</m:t>
                          </m:r>
                        </m:e>
                      </m:d>
                      <m:r>
                        <a:rPr lang="en-US" altLang="zh-TW" sz="2800" b="0" i="1" smtClean="0">
                          <a:solidFill>
                            <a:srgbClr val="7030A0"/>
                          </a:solidFill>
                          <a:latin typeface="Cambria Math" panose="02040503050406030204" pitchFamily="18" charset="0"/>
                          <a:cs typeface="Times New Roman" panose="02020603050405020304" pitchFamily="18" charset="0"/>
                        </a:rPr>
                        <m:t>=</m:t>
                      </m:r>
                      <m:r>
                        <a:rPr lang="en-US" altLang="zh-TW" sz="2800" b="0" i="1" smtClean="0">
                          <a:solidFill>
                            <a:srgbClr val="7030A0"/>
                          </a:solidFill>
                          <a:latin typeface="Cambria Math" panose="02040503050406030204" pitchFamily="18" charset="0"/>
                          <a:cs typeface="Times New Roman" panose="02020603050405020304" pitchFamily="18" charset="0"/>
                        </a:rPr>
                        <m:t>𝑑</m:t>
                      </m:r>
                      <m:d>
                        <m:dPr>
                          <m:ctrlPr>
                            <a:rPr lang="en-US" altLang="zh-TW" sz="2800" b="0" i="1" smtClean="0">
                              <a:solidFill>
                                <a:srgbClr val="7030A0"/>
                              </a:solidFill>
                              <a:latin typeface="Cambria Math" panose="02040503050406030204" pitchFamily="18" charset="0"/>
                              <a:cs typeface="Times New Roman" panose="02020603050405020304" pitchFamily="18" charset="0"/>
                            </a:rPr>
                          </m:ctrlPr>
                        </m:dPr>
                        <m:e>
                          <m:r>
                            <a:rPr lang="en-US" altLang="zh-TW" sz="2800" i="1">
                              <a:solidFill>
                                <a:srgbClr val="7030A0"/>
                              </a:solidFill>
                              <a:latin typeface="Cambria Math" panose="02040503050406030204" pitchFamily="18" charset="0"/>
                              <a:cs typeface="Times New Roman" panose="02020603050405020304" pitchFamily="18" charset="0"/>
                            </a:rPr>
                            <m:t>𝜋</m:t>
                          </m:r>
                          <m:r>
                            <a:rPr lang="en-US" altLang="zh-TW" sz="2800" b="0" i="1" smtClean="0">
                              <a:solidFill>
                                <a:srgbClr val="7030A0"/>
                              </a:solidFill>
                              <a:latin typeface="Cambria Math" panose="02040503050406030204" pitchFamily="18" charset="0"/>
                              <a:cs typeface="Times New Roman" panose="02020603050405020304" pitchFamily="18" charset="0"/>
                            </a:rPr>
                            <m:t>∘</m:t>
                          </m:r>
                          <m:sSup>
                            <m:sSupPr>
                              <m:ctrlPr>
                                <a:rPr lang="en-US" altLang="zh-TW" sz="2800" b="0" i="1" smtClean="0">
                                  <a:solidFill>
                                    <a:srgbClr val="7030A0"/>
                                  </a:solidFill>
                                  <a:latin typeface="Cambria Math" panose="02040503050406030204" pitchFamily="18" charset="0"/>
                                  <a:cs typeface="Times New Roman" panose="02020603050405020304" pitchFamily="18" charset="0"/>
                                </a:rPr>
                              </m:ctrlPr>
                            </m:sSupPr>
                            <m:e>
                              <m:r>
                                <a:rPr lang="en-US" altLang="zh-TW" sz="2800" b="0" i="1" smtClean="0">
                                  <a:solidFill>
                                    <a:srgbClr val="7030A0"/>
                                  </a:solidFill>
                                  <a:latin typeface="Cambria Math" panose="02040503050406030204" pitchFamily="18" charset="0"/>
                                  <a:cs typeface="Times New Roman" panose="02020603050405020304" pitchFamily="18" charset="0"/>
                                </a:rPr>
                                <m:t>𝜎</m:t>
                              </m:r>
                            </m:e>
                            <m:sup>
                              <m:r>
                                <a:rPr lang="en-US" altLang="zh-TW" sz="2800" b="0" i="1" smtClean="0">
                                  <a:solidFill>
                                    <a:srgbClr val="7030A0"/>
                                  </a:solidFill>
                                  <a:latin typeface="Cambria Math" panose="02040503050406030204" pitchFamily="18" charset="0"/>
                                  <a:cs typeface="Times New Roman" panose="02020603050405020304" pitchFamily="18" charset="0"/>
                                </a:rPr>
                                <m:t>−1</m:t>
                              </m:r>
                            </m:sup>
                          </m:sSup>
                          <m:r>
                            <a:rPr lang="en-US" altLang="zh-TW" sz="2800" b="0" i="1" smtClean="0">
                              <a:solidFill>
                                <a:srgbClr val="7030A0"/>
                              </a:solidFill>
                              <a:latin typeface="Cambria Math" panose="02040503050406030204" pitchFamily="18" charset="0"/>
                              <a:cs typeface="Times New Roman" panose="02020603050405020304" pitchFamily="18" charset="0"/>
                            </a:rPr>
                            <m:t>, </m:t>
                          </m:r>
                          <m:r>
                            <a:rPr lang="en-US" altLang="zh-TW" sz="2800" b="0" i="1" smtClean="0">
                              <a:solidFill>
                                <a:srgbClr val="7030A0"/>
                              </a:solidFill>
                              <a:latin typeface="Cambria Math" panose="02040503050406030204" pitchFamily="18" charset="0"/>
                              <a:cs typeface="Times New Roman" panose="02020603050405020304" pitchFamily="18" charset="0"/>
                            </a:rPr>
                            <m:t>𝜎</m:t>
                          </m:r>
                          <m:r>
                            <a:rPr lang="en-US" altLang="zh-TW" sz="2800" b="0" i="1" smtClean="0">
                              <a:solidFill>
                                <a:srgbClr val="7030A0"/>
                              </a:solidFill>
                              <a:latin typeface="Cambria Math" panose="02040503050406030204" pitchFamily="18" charset="0"/>
                              <a:cs typeface="Times New Roman" panose="02020603050405020304" pitchFamily="18" charset="0"/>
                            </a:rPr>
                            <m:t>∘</m:t>
                          </m:r>
                          <m:sSup>
                            <m:sSupPr>
                              <m:ctrlPr>
                                <a:rPr lang="en-US" altLang="zh-TW" sz="2800" b="0" i="1" smtClean="0">
                                  <a:solidFill>
                                    <a:srgbClr val="7030A0"/>
                                  </a:solidFill>
                                  <a:latin typeface="Cambria Math" panose="02040503050406030204" pitchFamily="18" charset="0"/>
                                  <a:cs typeface="Times New Roman" panose="02020603050405020304" pitchFamily="18" charset="0"/>
                                </a:rPr>
                              </m:ctrlPr>
                            </m:sSupPr>
                            <m:e>
                              <m:r>
                                <a:rPr lang="en-US" altLang="zh-TW" sz="2800" b="0" i="1" smtClean="0">
                                  <a:solidFill>
                                    <a:srgbClr val="7030A0"/>
                                  </a:solidFill>
                                  <a:latin typeface="Cambria Math" panose="02040503050406030204" pitchFamily="18" charset="0"/>
                                  <a:cs typeface="Times New Roman" panose="02020603050405020304" pitchFamily="18" charset="0"/>
                                </a:rPr>
                                <m:t>𝜎</m:t>
                              </m:r>
                            </m:e>
                            <m:sup>
                              <m:r>
                                <a:rPr lang="en-US" altLang="zh-TW" sz="2800" b="0" i="1" smtClean="0">
                                  <a:solidFill>
                                    <a:srgbClr val="7030A0"/>
                                  </a:solidFill>
                                  <a:latin typeface="Cambria Math" panose="02040503050406030204" pitchFamily="18" charset="0"/>
                                  <a:cs typeface="Times New Roman" panose="02020603050405020304" pitchFamily="18" charset="0"/>
                                </a:rPr>
                                <m:t>−1</m:t>
                              </m:r>
                            </m:sup>
                          </m:sSup>
                        </m:e>
                      </m:d>
                      <m:r>
                        <a:rPr lang="en-US" altLang="zh-TW" sz="2800" b="0" i="1" smtClean="0">
                          <a:solidFill>
                            <a:srgbClr val="7030A0"/>
                          </a:solidFill>
                          <a:latin typeface="Cambria Math" panose="02040503050406030204" pitchFamily="18" charset="0"/>
                          <a:cs typeface="Times New Roman" panose="02020603050405020304" pitchFamily="18" charset="0"/>
                        </a:rPr>
                        <m:t>=</m:t>
                      </m:r>
                      <m:r>
                        <a:rPr lang="en-US" altLang="zh-TW" sz="2800" b="0" i="1" smtClean="0">
                          <a:solidFill>
                            <a:srgbClr val="7030A0"/>
                          </a:solidFill>
                          <a:latin typeface="Cambria Math" panose="02040503050406030204" pitchFamily="18" charset="0"/>
                          <a:cs typeface="Times New Roman" panose="02020603050405020304" pitchFamily="18" charset="0"/>
                        </a:rPr>
                        <m:t>𝑑</m:t>
                      </m:r>
                      <m:r>
                        <a:rPr lang="en-US" altLang="zh-TW" sz="2800" b="0" i="1" smtClean="0">
                          <a:solidFill>
                            <a:srgbClr val="7030A0"/>
                          </a:solidFill>
                          <a:latin typeface="Cambria Math" panose="02040503050406030204" pitchFamily="18" charset="0"/>
                          <a:cs typeface="Times New Roman" panose="02020603050405020304" pitchFamily="18" charset="0"/>
                        </a:rPr>
                        <m:t>(</m:t>
                      </m:r>
                      <m:r>
                        <a:rPr lang="en-US" altLang="zh-TW" sz="2800" b="0" i="1" smtClean="0">
                          <a:solidFill>
                            <a:srgbClr val="7030A0"/>
                          </a:solidFill>
                          <a:latin typeface="Cambria Math" panose="02040503050406030204" pitchFamily="18" charset="0"/>
                          <a:cs typeface="Times New Roman" panose="02020603050405020304" pitchFamily="18" charset="0"/>
                        </a:rPr>
                        <m:t>𝛼</m:t>
                      </m:r>
                      <m:r>
                        <a:rPr lang="en-US" altLang="zh-TW" sz="2800" b="0" i="1" smtClean="0">
                          <a:solidFill>
                            <a:srgbClr val="7030A0"/>
                          </a:solidFill>
                          <a:latin typeface="Cambria Math" panose="02040503050406030204" pitchFamily="18" charset="0"/>
                          <a:cs typeface="Times New Roman" panose="02020603050405020304" pitchFamily="18" charset="0"/>
                        </a:rPr>
                        <m:t>, </m:t>
                      </m:r>
                      <m:sSub>
                        <m:sSubPr>
                          <m:ctrlPr>
                            <a:rPr lang="en-US" altLang="zh-TW" sz="2800" b="0" i="1" smtClean="0">
                              <a:solidFill>
                                <a:srgbClr val="7030A0"/>
                              </a:solidFill>
                              <a:latin typeface="Cambria Math" panose="02040503050406030204" pitchFamily="18" charset="0"/>
                              <a:cs typeface="Times New Roman" panose="02020603050405020304" pitchFamily="18" charset="0"/>
                            </a:rPr>
                          </m:ctrlPr>
                        </m:sSubPr>
                        <m:e>
                          <m:r>
                            <a:rPr lang="en-US" altLang="zh-TW" sz="2800" b="0" i="1" smtClean="0">
                              <a:solidFill>
                                <a:srgbClr val="7030A0"/>
                              </a:solidFill>
                              <a:latin typeface="Cambria Math" panose="02040503050406030204" pitchFamily="18" charset="0"/>
                              <a:cs typeface="Times New Roman" panose="02020603050405020304" pitchFamily="18" charset="0"/>
                            </a:rPr>
                            <m:t>𝜄</m:t>
                          </m:r>
                        </m:e>
                        <m:sub>
                          <m:r>
                            <a:rPr lang="en-US" altLang="zh-TW" sz="2800" b="0" i="1" smtClean="0">
                              <a:solidFill>
                                <a:srgbClr val="7030A0"/>
                              </a:solidFill>
                              <a:latin typeface="Cambria Math" panose="02040503050406030204" pitchFamily="18" charset="0"/>
                              <a:cs typeface="Times New Roman" panose="02020603050405020304" pitchFamily="18" charset="0"/>
                            </a:rPr>
                            <m:t>𝑛</m:t>
                          </m:r>
                        </m:sub>
                      </m:sSub>
                      <m:r>
                        <a:rPr lang="en-US" altLang="zh-TW" sz="2800" b="0" i="1" smtClean="0">
                          <a:solidFill>
                            <a:srgbClr val="7030A0"/>
                          </a:solidFill>
                          <a:latin typeface="Cambria Math" panose="02040503050406030204" pitchFamily="18" charset="0"/>
                          <a:cs typeface="Times New Roman" panose="02020603050405020304" pitchFamily="18" charset="0"/>
                        </a:rPr>
                        <m:t>) </m:t>
                      </m:r>
                    </m:oMath>
                  </m:oMathPara>
                </a14:m>
                <a:endParaRPr lang="en-US" altLang="zh-TW" sz="2800"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33" name="矩形 32">
                <a:extLst>
                  <a:ext uri="{FF2B5EF4-FFF2-40B4-BE49-F238E27FC236}">
                    <a16:creationId xmlns:a16="http://schemas.microsoft.com/office/drawing/2014/main" id="{E30D0058-3A3E-4498-AFBA-40197EADB1FE}"/>
                  </a:ext>
                </a:extLst>
              </p:cNvPr>
              <p:cNvSpPr>
                <a:spLocks noRot="1" noChangeAspect="1" noMove="1" noResize="1" noEditPoints="1" noAdjustHandles="1" noChangeArrowheads="1" noChangeShapeType="1" noTextEdit="1"/>
              </p:cNvSpPr>
              <p:nvPr/>
            </p:nvSpPr>
            <p:spPr>
              <a:xfrm>
                <a:off x="402231" y="3786839"/>
                <a:ext cx="7719214" cy="523220"/>
              </a:xfrm>
              <a:prstGeom prst="rect">
                <a:avLst/>
              </a:prstGeom>
              <a:blipFill>
                <a:blip r:embed="rId10"/>
                <a:stretch>
                  <a:fillRect/>
                </a:stretch>
              </a:blipFill>
            </p:spPr>
            <p:txBody>
              <a:bodyPr/>
              <a:lstStyle/>
              <a:p>
                <a:r>
                  <a:rPr lang="zh-TW" altLang="en-US">
                    <a:noFill/>
                  </a:rPr>
                  <a:t> </a:t>
                </a:r>
              </a:p>
            </p:txBody>
          </p:sp>
        </mc:Fallback>
      </mc:AlternateContent>
      <p:sp>
        <p:nvSpPr>
          <p:cNvPr id="35" name="標題 1">
            <a:extLst>
              <a:ext uri="{FF2B5EF4-FFF2-40B4-BE49-F238E27FC236}">
                <a16:creationId xmlns:a16="http://schemas.microsoft.com/office/drawing/2014/main" id="{AEAF5816-C71D-48A7-A284-54477CB58688}"/>
              </a:ext>
            </a:extLst>
          </p:cNvPr>
          <p:cNvSpPr txBox="1">
            <a:spLocks/>
          </p:cNvSpPr>
          <p:nvPr/>
        </p:nvSpPr>
        <p:spPr>
          <a:xfrm>
            <a:off x="402232" y="4718330"/>
            <a:ext cx="3412684"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Times New Roman" panose="02020603050405020304" pitchFamily="18" charset="0"/>
                <a:cs typeface="Times New Roman" panose="02020603050405020304" pitchFamily="18" charset="0"/>
              </a:rPr>
              <a:t>Sorting problem:</a:t>
            </a:r>
          </a:p>
        </p:txBody>
      </p:sp>
    </p:spTree>
    <p:extLst>
      <p:ext uri="{BB962C8B-B14F-4D97-AF65-F5344CB8AC3E}">
        <p14:creationId xmlns:p14="http://schemas.microsoft.com/office/powerpoint/2010/main" val="121030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An example for the sorting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mc:AlternateContent xmlns:mc="http://schemas.openxmlformats.org/markup-compatibility/2006" xmlns:a14="http://schemas.microsoft.com/office/drawing/2010/main">
        <mc:Choice Requires="a14">
          <p:sp>
            <p:nvSpPr>
              <p:cNvPr id="16" name="標題 1">
                <a:extLst>
                  <a:ext uri="{FF2B5EF4-FFF2-40B4-BE49-F238E27FC236}">
                    <a16:creationId xmlns:a16="http://schemas.microsoft.com/office/drawing/2014/main" id="{D17E0FE5-EAA1-4D77-98F9-B926B94085A7}"/>
                  </a:ext>
                </a:extLst>
              </p:cNvPr>
              <p:cNvSpPr txBox="1">
                <a:spLocks/>
              </p:cNvSpPr>
              <p:nvPr/>
            </p:nvSpPr>
            <p:spPr>
              <a:xfrm>
                <a:off x="1088681" y="1009608"/>
                <a:ext cx="4466546"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6" name="標題 1">
                <a:extLst>
                  <a:ext uri="{FF2B5EF4-FFF2-40B4-BE49-F238E27FC236}">
                    <a16:creationId xmlns:a16="http://schemas.microsoft.com/office/drawing/2014/main" id="{D17E0FE5-EAA1-4D77-98F9-B926B94085A7}"/>
                  </a:ext>
                </a:extLst>
              </p:cNvPr>
              <p:cNvSpPr txBox="1">
                <a:spLocks noRot="1" noChangeAspect="1" noMove="1" noResize="1" noEditPoints="1" noAdjustHandles="1" noChangeArrowheads="1" noChangeShapeType="1" noTextEdit="1"/>
              </p:cNvSpPr>
              <p:nvPr/>
            </p:nvSpPr>
            <p:spPr>
              <a:xfrm>
                <a:off x="1088681" y="1009608"/>
                <a:ext cx="4466546" cy="510001"/>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標題 1">
                <a:extLst>
                  <a:ext uri="{FF2B5EF4-FFF2-40B4-BE49-F238E27FC236}">
                    <a16:creationId xmlns:a16="http://schemas.microsoft.com/office/drawing/2014/main" id="{BFCEA12B-010C-4E99-9D37-0B8002429DF1}"/>
                  </a:ext>
                </a:extLst>
              </p:cNvPr>
              <p:cNvSpPr txBox="1">
                <a:spLocks/>
              </p:cNvSpPr>
              <p:nvPr/>
            </p:nvSpPr>
            <p:spPr>
              <a:xfrm>
                <a:off x="1088679" y="2100253"/>
                <a:ext cx="4466547"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𝝈</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17" name="標題 1">
                <a:extLst>
                  <a:ext uri="{FF2B5EF4-FFF2-40B4-BE49-F238E27FC236}">
                    <a16:creationId xmlns:a16="http://schemas.microsoft.com/office/drawing/2014/main" id="{BFCEA12B-010C-4E99-9D37-0B8002429DF1}"/>
                  </a:ext>
                </a:extLst>
              </p:cNvPr>
              <p:cNvSpPr txBox="1">
                <a:spLocks noRot="1" noChangeAspect="1" noMove="1" noResize="1" noEditPoints="1" noAdjustHandles="1" noChangeArrowheads="1" noChangeShapeType="1" noTextEdit="1"/>
              </p:cNvSpPr>
              <p:nvPr/>
            </p:nvSpPr>
            <p:spPr>
              <a:xfrm>
                <a:off x="1088679" y="2100253"/>
                <a:ext cx="4466547" cy="51000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標題 1">
                <a:extLst>
                  <a:ext uri="{FF2B5EF4-FFF2-40B4-BE49-F238E27FC236}">
                    <a16:creationId xmlns:a16="http://schemas.microsoft.com/office/drawing/2014/main" id="{3CF174C4-B4F6-4904-859A-9D7EF3160476}"/>
                  </a:ext>
                </a:extLst>
              </p:cNvPr>
              <p:cNvSpPr txBox="1">
                <a:spLocks/>
              </p:cNvSpPr>
              <p:nvPr/>
            </p:nvSpPr>
            <p:spPr>
              <a:xfrm>
                <a:off x="793710" y="3096524"/>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sSup>
                        <m:sSupPr>
                          <m:ctrlPr>
                            <a:rPr lang="en-US" altLang="zh-TW" sz="2400" b="1" i="1" smtClean="0">
                              <a:solidFill>
                                <a:srgbClr val="0070C0"/>
                              </a:solidFill>
                              <a:latin typeface="Cambria Math" panose="02040503050406030204" pitchFamily="18" charset="0"/>
                              <a:cs typeface="Times New Roman" panose="02020603050405020304" pitchFamily="18" charset="0"/>
                            </a:rPr>
                          </m:ctrlPr>
                        </m:sSupPr>
                        <m:e>
                          <m:r>
                            <a:rPr lang="en-US" altLang="zh-TW" sz="2400" b="1" i="1" smtClean="0">
                              <a:solidFill>
                                <a:srgbClr val="0070C0"/>
                              </a:solidFill>
                              <a:latin typeface="Cambria Math" panose="02040503050406030204" pitchFamily="18" charset="0"/>
                              <a:cs typeface="Times New Roman" panose="02020603050405020304" pitchFamily="18" charset="0"/>
                            </a:rPr>
                            <m:t>𝝈</m:t>
                          </m:r>
                        </m:e>
                        <m:sup>
                          <m:r>
                            <a:rPr lang="en-US" altLang="zh-TW" sz="2400" b="1" i="1" smtClean="0">
                              <a:solidFill>
                                <a:srgbClr val="0070C0"/>
                              </a:solidFill>
                              <a:latin typeface="Cambria Math" panose="02040503050406030204" pitchFamily="18" charset="0"/>
                              <a:cs typeface="Times New Roman" panose="02020603050405020304" pitchFamily="18" charset="0"/>
                            </a:rPr>
                            <m:t>−</m:t>
                          </m:r>
                          <m:r>
                            <a:rPr lang="en-US" altLang="zh-TW" sz="2400" b="1" i="1" smtClean="0">
                              <a:solidFill>
                                <a:srgbClr val="0070C0"/>
                              </a:solidFill>
                              <a:latin typeface="Cambria Math" panose="02040503050406030204" pitchFamily="18" charset="0"/>
                              <a:cs typeface="Times New Roman" panose="02020603050405020304" pitchFamily="18" charset="0"/>
                            </a:rPr>
                            <m:t>𝟏</m:t>
                          </m:r>
                        </m:sup>
                      </m:sSup>
                      <m:r>
                        <a:rPr lang="en-US" altLang="zh-TW" sz="2400" b="1" i="1" smtClean="0">
                          <a:solidFill>
                            <a:srgbClr val="0070C0"/>
                          </a:solidFill>
                          <a:latin typeface="Cambria Math" panose="02040503050406030204" pitchFamily="18" charset="0"/>
                          <a:cs typeface="Times New Roman" panose="02020603050405020304" pitchFamily="18" charset="0"/>
                        </a:rPr>
                        <m:t>= &lt;−</m:t>
                      </m:r>
                      <m:r>
                        <a:rPr lang="en-US" altLang="zh-TW" sz="2400" b="1" i="1" smtClean="0">
                          <a:solidFill>
                            <a:srgbClr val="0070C0"/>
                          </a:solidFill>
                          <a:latin typeface="Cambria Math" panose="02040503050406030204" pitchFamily="18" charset="0"/>
                          <a:cs typeface="Times New Roman" panose="02020603050405020304" pitchFamily="18" charset="0"/>
                        </a:rPr>
                        <m:t>𝟐</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𝟏</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𝟓</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𝟑</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𝟒</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𝟔</m:t>
                      </m:r>
                      <m:r>
                        <a:rPr lang="en-US" altLang="zh-TW" sz="24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4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18" name="標題 1">
                <a:extLst>
                  <a:ext uri="{FF2B5EF4-FFF2-40B4-BE49-F238E27FC236}">
                    <a16:creationId xmlns:a16="http://schemas.microsoft.com/office/drawing/2014/main" id="{3CF174C4-B4F6-4904-859A-9D7EF3160476}"/>
                  </a:ext>
                </a:extLst>
              </p:cNvPr>
              <p:cNvSpPr txBox="1">
                <a:spLocks noRot="1" noChangeAspect="1" noMove="1" noResize="1" noEditPoints="1" noAdjustHandles="1" noChangeArrowheads="1" noChangeShapeType="1" noTextEdit="1"/>
              </p:cNvSpPr>
              <p:nvPr/>
            </p:nvSpPr>
            <p:spPr>
              <a:xfrm>
                <a:off x="793710" y="3096524"/>
                <a:ext cx="5096135" cy="510001"/>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標題 1">
                <a:extLst>
                  <a:ext uri="{FF2B5EF4-FFF2-40B4-BE49-F238E27FC236}">
                    <a16:creationId xmlns:a16="http://schemas.microsoft.com/office/drawing/2014/main" id="{DB8A09FD-563A-4716-9BB3-C7F17AD05C95}"/>
                  </a:ext>
                </a:extLst>
              </p:cNvPr>
              <p:cNvSpPr txBox="1">
                <a:spLocks/>
              </p:cNvSpPr>
              <p:nvPr/>
            </p:nvSpPr>
            <p:spPr>
              <a:xfrm>
                <a:off x="1088679" y="3539686"/>
                <a:ext cx="5096135" cy="12769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solidFill>
                            <a:srgbClr val="0070C0"/>
                          </a:solidFill>
                          <a:latin typeface="Cambria Math" panose="02040503050406030204" pitchFamily="18" charset="0"/>
                          <a:cs typeface="Times New Roman" panose="02020603050405020304" pitchFamily="18" charset="0"/>
                        </a:rPr>
                        <m:t>𝜶</m:t>
                      </m:r>
                      <m:r>
                        <a:rPr lang="en-US" altLang="zh-TW" sz="2400" b="1" i="1" smtClean="0">
                          <a:solidFill>
                            <a:srgbClr val="0070C0"/>
                          </a:solidFill>
                          <a:latin typeface="Cambria Math" panose="02040503050406030204" pitchFamily="18" charset="0"/>
                          <a:cs typeface="Times New Roman" panose="02020603050405020304" pitchFamily="18" charset="0"/>
                        </a:rPr>
                        <m:t>=</m:t>
                      </m:r>
                      <m:sSup>
                        <m:sSupPr>
                          <m:ctrlPr>
                            <a:rPr lang="en-US" altLang="zh-TW" sz="2400" b="1" i="1" smtClean="0">
                              <a:solidFill>
                                <a:srgbClr val="0070C0"/>
                              </a:solidFill>
                              <a:latin typeface="Cambria Math" panose="02040503050406030204" pitchFamily="18" charset="0"/>
                              <a:cs typeface="Times New Roman" panose="02020603050405020304" pitchFamily="18" charset="0"/>
                            </a:rPr>
                          </m:ctrlPr>
                        </m:sSupPr>
                        <m:e>
                          <m:r>
                            <a:rPr lang="en-US" altLang="zh-TW" sz="2400" b="1" i="1" smtClean="0">
                              <a:solidFill>
                                <a:srgbClr val="0070C0"/>
                              </a:solidFill>
                              <a:latin typeface="Cambria Math" panose="02040503050406030204" pitchFamily="18" charset="0"/>
                              <a:cs typeface="Times New Roman" panose="02020603050405020304" pitchFamily="18" charset="0"/>
                            </a:rPr>
                            <m:t>𝝈</m:t>
                          </m:r>
                        </m:e>
                        <m:sup>
                          <m:r>
                            <a:rPr lang="en-US" altLang="zh-TW" sz="2400" b="1" i="1" smtClean="0">
                              <a:solidFill>
                                <a:srgbClr val="0070C0"/>
                              </a:solidFill>
                              <a:latin typeface="Cambria Math" panose="02040503050406030204" pitchFamily="18" charset="0"/>
                              <a:cs typeface="Times New Roman" panose="02020603050405020304" pitchFamily="18" charset="0"/>
                            </a:rPr>
                            <m:t>−</m:t>
                          </m:r>
                          <m:r>
                            <a:rPr lang="en-US" altLang="zh-TW" sz="2400" b="1" i="1" smtClean="0">
                              <a:solidFill>
                                <a:srgbClr val="0070C0"/>
                              </a:solidFill>
                              <a:latin typeface="Cambria Math" panose="02040503050406030204" pitchFamily="18" charset="0"/>
                              <a:cs typeface="Times New Roman" panose="02020603050405020304" pitchFamily="18" charset="0"/>
                            </a:rPr>
                            <m:t>𝟏</m:t>
                          </m:r>
                        </m:sup>
                      </m:sSup>
                      <m:r>
                        <a:rPr lang="en-US" altLang="zh-TW" sz="2400" b="1" i="1" smtClean="0">
                          <a:solidFill>
                            <a:srgbClr val="0070C0"/>
                          </a:solidFill>
                          <a:latin typeface="Cambria Math" panose="02040503050406030204" pitchFamily="18" charset="0"/>
                          <a:cs typeface="Times New Roman" panose="02020603050405020304" pitchFamily="18" charset="0"/>
                        </a:rPr>
                        <m:t>∘</m:t>
                      </m:r>
                      <m:r>
                        <a:rPr lang="en-US" altLang="zh-TW" sz="2400" b="1" i="1" smtClean="0">
                          <a:solidFill>
                            <a:srgbClr val="0070C0"/>
                          </a:solidFill>
                          <a:latin typeface="Cambria Math" panose="02040503050406030204" pitchFamily="18" charset="0"/>
                          <a:cs typeface="Times New Roman" panose="02020603050405020304" pitchFamily="18" charset="0"/>
                        </a:rPr>
                        <m:t>𝝅</m:t>
                      </m:r>
                      <m:r>
                        <a:rPr lang="en-US" altLang="zh-TW" sz="2400" b="1" i="1" smtClean="0">
                          <a:solidFill>
                            <a:srgbClr val="0070C0"/>
                          </a:solidFill>
                          <a:latin typeface="Cambria Math" panose="02040503050406030204" pitchFamily="18" charset="0"/>
                          <a:cs typeface="Times New Roman" panose="02020603050405020304" pitchFamily="18" charset="0"/>
                        </a:rPr>
                        <m:t>  </m:t>
                      </m:r>
                    </m:oMath>
                  </m:oMathPara>
                </a14:m>
                <a:endParaRPr lang="en-US" altLang="zh-TW" sz="2400" b="1" i="1" dirty="0">
                  <a:solidFill>
                    <a:srgbClr val="0070C0"/>
                  </a:solidFill>
                  <a:latin typeface="Cambria Math" panose="02040503050406030204" pitchFamily="18" charset="0"/>
                  <a:cs typeface="Times New Roman" panose="02020603050405020304" pitchFamily="18" charset="0"/>
                </a:endParaRPr>
              </a:p>
              <a:p>
                <a:pPr>
                  <a:lnSpc>
                    <a:spcPct val="150000"/>
                  </a:lnSpc>
                </a:pPr>
                <a:r>
                  <a:rPr lang="en-US" altLang="zh-TW" sz="2400" b="1" dirty="0">
                    <a:solidFill>
                      <a:srgbClr val="0070C0"/>
                    </a:solidFill>
                    <a:cs typeface="Times New Roman" panose="02020603050405020304" pitchFamily="18" charset="0"/>
                  </a:rPr>
                  <a:t>    </a:t>
                </a:r>
                <a14:m>
                  <m:oMath xmlns:m="http://schemas.openxmlformats.org/officeDocument/2006/math">
                    <m:r>
                      <a:rPr lang="en-US" altLang="zh-TW" sz="2400" b="1" i="0" smtClean="0">
                        <a:solidFill>
                          <a:srgbClr val="0070C0"/>
                        </a:solidFill>
                        <a:latin typeface="Cambria Math" panose="02040503050406030204" pitchFamily="18" charset="0"/>
                        <a:cs typeface="Times New Roman" panose="02020603050405020304" pitchFamily="18" charset="0"/>
                      </a:rPr>
                      <m:t>=</m:t>
                    </m:r>
                    <m:r>
                      <a:rPr lang="en-US" altLang="zh-TW" sz="2400" b="1" i="1" smtClean="0">
                        <a:solidFill>
                          <a:srgbClr val="0070C0"/>
                        </a:solidFill>
                        <a:latin typeface="Cambria Math" panose="02040503050406030204" pitchFamily="18" charset="0"/>
                        <a:cs typeface="Times New Roman" panose="02020603050405020304" pitchFamily="18" charset="0"/>
                      </a:rPr>
                      <m:t>  &lt;+</m:t>
                    </m:r>
                    <m:r>
                      <a:rPr lang="en-US" altLang="zh-TW" sz="2400" b="1" i="1" smtClean="0">
                        <a:solidFill>
                          <a:srgbClr val="0070C0"/>
                        </a:solidFill>
                        <a:latin typeface="Cambria Math" panose="02040503050406030204" pitchFamily="18" charset="0"/>
                        <a:cs typeface="Times New Roman" panose="02020603050405020304" pitchFamily="18" charset="0"/>
                      </a:rPr>
                      <m:t>𝟔</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𝟒</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𝟐</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𝟏</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𝟑</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𝟓</m:t>
                    </m:r>
                    <m:r>
                      <a:rPr lang="en-US" altLang="zh-TW" sz="2400" b="1" i="1" smtClean="0">
                        <a:solidFill>
                          <a:srgbClr val="0070C0"/>
                        </a:solidFill>
                        <a:latin typeface="Cambria Math" panose="02040503050406030204" pitchFamily="18" charset="0"/>
                        <a:cs typeface="Times New Roman" panose="02020603050405020304" pitchFamily="18" charset="0"/>
                      </a:rPr>
                      <m:t>&gt;</m:t>
                    </m:r>
                  </m:oMath>
                </a14:m>
                <a:endParaRPr lang="en-US" altLang="zh-TW" sz="24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19" name="標題 1">
                <a:extLst>
                  <a:ext uri="{FF2B5EF4-FFF2-40B4-BE49-F238E27FC236}">
                    <a16:creationId xmlns:a16="http://schemas.microsoft.com/office/drawing/2014/main" id="{DB8A09FD-563A-4716-9BB3-C7F17AD05C95}"/>
                  </a:ext>
                </a:extLst>
              </p:cNvPr>
              <p:cNvSpPr txBox="1">
                <a:spLocks noRot="1" noChangeAspect="1" noMove="1" noResize="1" noEditPoints="1" noAdjustHandles="1" noChangeArrowheads="1" noChangeShapeType="1" noTextEdit="1"/>
              </p:cNvSpPr>
              <p:nvPr/>
            </p:nvSpPr>
            <p:spPr>
              <a:xfrm>
                <a:off x="1088679" y="3539686"/>
                <a:ext cx="5096135" cy="1276988"/>
              </a:xfrm>
              <a:prstGeom prst="rect">
                <a:avLst/>
              </a:prstGeom>
              <a:blipFill>
                <a:blip r:embed="rId5"/>
                <a:stretch>
                  <a:fillRect/>
                </a:stretch>
              </a:blipFill>
            </p:spPr>
            <p:txBody>
              <a:bodyPr/>
              <a:lstStyle/>
              <a:p>
                <a:r>
                  <a:rPr lang="zh-TW" altLang="en-US">
                    <a:noFill/>
                  </a:rPr>
                  <a:t> </a:t>
                </a:r>
              </a:p>
            </p:txBody>
          </p:sp>
        </mc:Fallback>
      </mc:AlternateContent>
      <p:sp>
        <p:nvSpPr>
          <p:cNvPr id="11" name="箭號: 向下 10">
            <a:extLst>
              <a:ext uri="{FF2B5EF4-FFF2-40B4-BE49-F238E27FC236}">
                <a16:creationId xmlns:a16="http://schemas.microsoft.com/office/drawing/2014/main" id="{DF3360B2-270D-4B39-8DA9-192EFF028554}"/>
              </a:ext>
            </a:extLst>
          </p:cNvPr>
          <p:cNvSpPr/>
          <p:nvPr/>
        </p:nvSpPr>
        <p:spPr>
          <a:xfrm>
            <a:off x="2909159" y="1642012"/>
            <a:ext cx="432619" cy="510001"/>
          </a:xfrm>
          <a:prstGeom prst="downArrow">
            <a:avLst>
              <a:gd name="adj1" fmla="val 3181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00971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An example for the sorting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mc:AlternateContent xmlns:mc="http://schemas.openxmlformats.org/markup-compatibility/2006" xmlns:a14="http://schemas.microsoft.com/office/drawing/2010/main">
        <mc:Choice Requires="a14">
          <p:sp>
            <p:nvSpPr>
              <p:cNvPr id="19" name="標題 1">
                <a:extLst>
                  <a:ext uri="{FF2B5EF4-FFF2-40B4-BE49-F238E27FC236}">
                    <a16:creationId xmlns:a16="http://schemas.microsoft.com/office/drawing/2014/main" id="{DB8A09FD-563A-4716-9BB3-C7F17AD05C95}"/>
                  </a:ext>
                </a:extLst>
              </p:cNvPr>
              <p:cNvSpPr txBox="1">
                <a:spLocks/>
              </p:cNvSpPr>
              <p:nvPr/>
            </p:nvSpPr>
            <p:spPr>
              <a:xfrm>
                <a:off x="518409" y="2799923"/>
                <a:ext cx="3906108" cy="484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70C0"/>
                        </a:solidFill>
                        <a:latin typeface="Cambria Math" panose="02040503050406030204" pitchFamily="18" charset="0"/>
                        <a:cs typeface="Times New Roman" panose="02020603050405020304" pitchFamily="18" charset="0"/>
                      </a:rPr>
                      <m:t>𝜶</m:t>
                    </m:r>
                  </m:oMath>
                </a14:m>
                <a:r>
                  <a:rPr lang="en-US" altLang="zh-TW" sz="2000" b="1" dirty="0">
                    <a:solidFill>
                      <a:srgbClr val="0070C0"/>
                    </a:solidFill>
                    <a:cs typeface="Times New Roman" panose="02020603050405020304" pitchFamily="18" charset="0"/>
                  </a:rPr>
                  <a:t>  </a:t>
                </a:r>
                <a14:m>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&gt;</m:t>
                    </m:r>
                  </m:oMath>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19" name="標題 1">
                <a:extLst>
                  <a:ext uri="{FF2B5EF4-FFF2-40B4-BE49-F238E27FC236}">
                    <a16:creationId xmlns:a16="http://schemas.microsoft.com/office/drawing/2014/main" id="{DB8A09FD-563A-4716-9BB3-C7F17AD05C95}"/>
                  </a:ext>
                </a:extLst>
              </p:cNvPr>
              <p:cNvSpPr txBox="1">
                <a:spLocks noRot="1" noChangeAspect="1" noMove="1" noResize="1" noEditPoints="1" noAdjustHandles="1" noChangeArrowheads="1" noChangeShapeType="1" noTextEdit="1"/>
              </p:cNvSpPr>
              <p:nvPr/>
            </p:nvSpPr>
            <p:spPr>
              <a:xfrm>
                <a:off x="518409" y="2799923"/>
                <a:ext cx="3906108" cy="484762"/>
              </a:xfrm>
              <a:prstGeom prst="rect">
                <a:avLst/>
              </a:prstGeom>
              <a:blipFill>
                <a:blip r:embed="rId2"/>
                <a:stretch>
                  <a:fillRect/>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CF7A49E9-F68A-4351-91E0-42399FDFCF59}"/>
              </a:ext>
            </a:extLst>
          </p:cNvPr>
          <p:cNvGrpSpPr/>
          <p:nvPr/>
        </p:nvGrpSpPr>
        <p:grpSpPr>
          <a:xfrm>
            <a:off x="1288417" y="3303118"/>
            <a:ext cx="2802194" cy="575188"/>
            <a:chOff x="1563329" y="3927986"/>
            <a:chExt cx="2802194" cy="575188"/>
          </a:xfrm>
        </p:grpSpPr>
        <p:cxnSp>
          <p:nvCxnSpPr>
            <p:cNvPr id="6" name="直線單箭頭接點 5">
              <a:extLst>
                <a:ext uri="{FF2B5EF4-FFF2-40B4-BE49-F238E27FC236}">
                  <a16:creationId xmlns:a16="http://schemas.microsoft.com/office/drawing/2014/main" id="{5559AF99-25A9-43F5-A575-0D49B7EA5ED7}"/>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標題 1">
                  <a:extLst>
                    <a:ext uri="{FF2B5EF4-FFF2-40B4-BE49-F238E27FC236}">
                      <a16:creationId xmlns:a16="http://schemas.microsoft.com/office/drawing/2014/main" id="{7A188EDB-607B-468E-A6E9-4C935FDBA37F}"/>
                    </a:ext>
                  </a:extLst>
                </p:cNvPr>
                <p:cNvSpPr txBox="1">
                  <a:spLocks/>
                </p:cNvSpPr>
                <p:nvPr/>
              </p:nvSpPr>
              <p:spPr>
                <a:xfrm>
                  <a:off x="1708113" y="3927986"/>
                  <a:ext cx="2657410"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𝝆</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𝟒</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Reversal</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24" name="標題 1">
                  <a:extLst>
                    <a:ext uri="{FF2B5EF4-FFF2-40B4-BE49-F238E27FC236}">
                      <a16:creationId xmlns:a16="http://schemas.microsoft.com/office/drawing/2014/main" id="{7A188EDB-607B-468E-A6E9-4C935FDBA37F}"/>
                    </a:ext>
                  </a:extLst>
                </p:cNvPr>
                <p:cNvSpPr txBox="1">
                  <a:spLocks noRot="1" noChangeAspect="1" noMove="1" noResize="1" noEditPoints="1" noAdjustHandles="1" noChangeArrowheads="1" noChangeShapeType="1" noTextEdit="1"/>
                </p:cNvSpPr>
                <p:nvPr/>
              </p:nvSpPr>
              <p:spPr>
                <a:xfrm>
                  <a:off x="1708113" y="3927986"/>
                  <a:ext cx="2657410" cy="575188"/>
                </a:xfrm>
                <a:prstGeom prst="rect">
                  <a:avLst/>
                </a:prstGeom>
                <a:blipFill>
                  <a:blip r:embed="rId3"/>
                  <a:stretch>
                    <a:fillRect b="-12766"/>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25" name="標題 1">
                <a:extLst>
                  <a:ext uri="{FF2B5EF4-FFF2-40B4-BE49-F238E27FC236}">
                    <a16:creationId xmlns:a16="http://schemas.microsoft.com/office/drawing/2014/main" id="{5A4599AC-B7F1-417B-A098-C0B0E315936B}"/>
                  </a:ext>
                </a:extLst>
              </p:cNvPr>
              <p:cNvSpPr txBox="1">
                <a:spLocks/>
              </p:cNvSpPr>
              <p:nvPr/>
            </p:nvSpPr>
            <p:spPr>
              <a:xfrm>
                <a:off x="791546" y="3915864"/>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p:sp>
            <p:nvSpPr>
              <p:cNvPr id="25" name="標題 1">
                <a:extLst>
                  <a:ext uri="{FF2B5EF4-FFF2-40B4-BE49-F238E27FC236}">
                    <a16:creationId xmlns:a16="http://schemas.microsoft.com/office/drawing/2014/main" id="{5A4599AC-B7F1-417B-A098-C0B0E315936B}"/>
                  </a:ext>
                </a:extLst>
              </p:cNvPr>
              <p:cNvSpPr txBox="1">
                <a:spLocks noRot="1" noChangeAspect="1" noMove="1" noResize="1" noEditPoints="1" noAdjustHandles="1" noChangeArrowheads="1" noChangeShapeType="1" noTextEdit="1"/>
              </p:cNvSpPr>
              <p:nvPr/>
            </p:nvSpPr>
            <p:spPr>
              <a:xfrm>
                <a:off x="791546" y="3915864"/>
                <a:ext cx="3632972" cy="517446"/>
              </a:xfrm>
              <a:prstGeom prst="rect">
                <a:avLst/>
              </a:prstGeom>
              <a:blipFill>
                <a:blip r:embed="rId4"/>
                <a:stretch>
                  <a:fillRect/>
                </a:stretch>
              </a:blipFill>
            </p:spPr>
            <p:txBody>
              <a:bodyPr/>
              <a:lstStyle/>
              <a:p>
                <a:r>
                  <a:rPr lang="zh-TW" altLang="en-US">
                    <a:noFill/>
                  </a:rPr>
                  <a:t> </a:t>
                </a:r>
              </a:p>
            </p:txBody>
          </p:sp>
        </mc:Fallback>
      </mc:AlternateContent>
      <p:grpSp>
        <p:nvGrpSpPr>
          <p:cNvPr id="26" name="群組 25">
            <a:extLst>
              <a:ext uri="{FF2B5EF4-FFF2-40B4-BE49-F238E27FC236}">
                <a16:creationId xmlns:a16="http://schemas.microsoft.com/office/drawing/2014/main" id="{41BFF940-146E-4B0D-9EAF-841DBC55F1C7}"/>
              </a:ext>
            </a:extLst>
          </p:cNvPr>
          <p:cNvGrpSpPr/>
          <p:nvPr/>
        </p:nvGrpSpPr>
        <p:grpSpPr>
          <a:xfrm>
            <a:off x="1288417" y="4459307"/>
            <a:ext cx="3067273" cy="575188"/>
            <a:chOff x="1563329" y="3927986"/>
            <a:chExt cx="2650698" cy="575188"/>
          </a:xfrm>
        </p:grpSpPr>
        <p:cxnSp>
          <p:nvCxnSpPr>
            <p:cNvPr id="34" name="直線單箭頭接點 33">
              <a:extLst>
                <a:ext uri="{FF2B5EF4-FFF2-40B4-BE49-F238E27FC236}">
                  <a16:creationId xmlns:a16="http://schemas.microsoft.com/office/drawing/2014/main" id="{E8AAB200-DB2D-4AD0-9C42-7A9F680C0978}"/>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標題 1">
                  <a:extLst>
                    <a:ext uri="{FF2B5EF4-FFF2-40B4-BE49-F238E27FC236}">
                      <a16:creationId xmlns:a16="http://schemas.microsoft.com/office/drawing/2014/main" id="{3AD33882-AD89-4720-B8C3-D1E04972C30A}"/>
                    </a:ext>
                  </a:extLst>
                </p:cNvPr>
                <p:cNvSpPr txBox="1">
                  <a:spLocks/>
                </p:cNvSpPr>
                <p:nvPr/>
              </p:nvSpPr>
              <p:spPr>
                <a:xfrm>
                  <a:off x="1708114" y="3927986"/>
                  <a:ext cx="2505913"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𝝉</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𝟒</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𝟓</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𝟔</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Transposition</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6" name="標題 1">
                  <a:extLst>
                    <a:ext uri="{FF2B5EF4-FFF2-40B4-BE49-F238E27FC236}">
                      <a16:creationId xmlns:a16="http://schemas.microsoft.com/office/drawing/2014/main" id="{3AD33882-AD89-4720-B8C3-D1E04972C30A}"/>
                    </a:ext>
                  </a:extLst>
                </p:cNvPr>
                <p:cNvSpPr txBox="1">
                  <a:spLocks noRot="1" noChangeAspect="1" noMove="1" noResize="1" noEditPoints="1" noAdjustHandles="1" noChangeArrowheads="1" noChangeShapeType="1" noTextEdit="1"/>
                </p:cNvSpPr>
                <p:nvPr/>
              </p:nvSpPr>
              <p:spPr>
                <a:xfrm>
                  <a:off x="1708114" y="3927986"/>
                  <a:ext cx="2505913" cy="575188"/>
                </a:xfrm>
                <a:prstGeom prst="rect">
                  <a:avLst/>
                </a:prstGeom>
                <a:blipFill>
                  <a:blip r:embed="rId5"/>
                  <a:stretch>
                    <a:fillRect r="-420" b="-11702"/>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7" name="標題 1">
                <a:extLst>
                  <a:ext uri="{FF2B5EF4-FFF2-40B4-BE49-F238E27FC236}">
                    <a16:creationId xmlns:a16="http://schemas.microsoft.com/office/drawing/2014/main" id="{94D7E436-EC94-438B-BB36-4943E5966B56}"/>
                  </a:ext>
                </a:extLst>
              </p:cNvPr>
              <p:cNvSpPr txBox="1">
                <a:spLocks/>
              </p:cNvSpPr>
              <p:nvPr/>
            </p:nvSpPr>
            <p:spPr>
              <a:xfrm>
                <a:off x="791545" y="5004250"/>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FF000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m:t>
                      </m:r>
                      <m:r>
                        <a:rPr lang="en-US" altLang="zh-TW" sz="2000" b="1" i="1" smtClean="0">
                          <a:solidFill>
                            <a:srgbClr val="00B05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37" name="標題 1">
                <a:extLst>
                  <a:ext uri="{FF2B5EF4-FFF2-40B4-BE49-F238E27FC236}">
                    <a16:creationId xmlns:a16="http://schemas.microsoft.com/office/drawing/2014/main" id="{94D7E436-EC94-438B-BB36-4943E5966B56}"/>
                  </a:ext>
                </a:extLst>
              </p:cNvPr>
              <p:cNvSpPr txBox="1">
                <a:spLocks noRot="1" noChangeAspect="1" noMove="1" noResize="1" noEditPoints="1" noAdjustHandles="1" noChangeArrowheads="1" noChangeShapeType="1" noTextEdit="1"/>
              </p:cNvSpPr>
              <p:nvPr/>
            </p:nvSpPr>
            <p:spPr>
              <a:xfrm>
                <a:off x="791545" y="5004250"/>
                <a:ext cx="3632972" cy="51744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標題 1">
                <a:extLst>
                  <a:ext uri="{FF2B5EF4-FFF2-40B4-BE49-F238E27FC236}">
                    <a16:creationId xmlns:a16="http://schemas.microsoft.com/office/drawing/2014/main" id="{B4BF1CDB-CF93-4017-A28C-284E69AFB2DF}"/>
                  </a:ext>
                </a:extLst>
              </p:cNvPr>
              <p:cNvSpPr txBox="1">
                <a:spLocks/>
              </p:cNvSpPr>
              <p:nvPr/>
            </p:nvSpPr>
            <p:spPr>
              <a:xfrm>
                <a:off x="1088680" y="1009608"/>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𝜶</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chemeClr val="tx1"/>
                          </a:solidFill>
                          <a:latin typeface="Cambria Math" panose="02040503050406030204" pitchFamily="18" charset="0"/>
                          <a:cs typeface="Times New Roman" panose="02020603050405020304" pitchFamily="18" charset="0"/>
                        </a:rPr>
                        <m:t>𝟔</m:t>
                      </m:r>
                      <m:r>
                        <a:rPr lang="en-US" altLang="zh-TW" sz="2400" b="1" i="1" smtClean="0">
                          <a:solidFill>
                            <a:schemeClr val="tx1"/>
                          </a:solidFill>
                          <a:latin typeface="Cambria Math" panose="02040503050406030204" pitchFamily="18" charset="0"/>
                          <a:cs typeface="Times New Roman" panose="02020603050405020304" pitchFamily="18" charset="0"/>
                        </a:rPr>
                        <m:t>, −</m:t>
                      </m:r>
                      <m:r>
                        <a:rPr lang="en-US" altLang="zh-TW" sz="2400" b="1" i="1" smtClean="0">
                          <a:solidFill>
                            <a:schemeClr val="tx1"/>
                          </a:solidFill>
                          <a:latin typeface="Cambria Math" panose="02040503050406030204" pitchFamily="18" charset="0"/>
                          <a:cs typeface="Times New Roman" panose="02020603050405020304" pitchFamily="18" charset="0"/>
                        </a:rPr>
                        <m:t>𝟒</m:t>
                      </m:r>
                      <m:r>
                        <a:rPr lang="en-US" altLang="zh-TW" sz="2400" b="1" i="1" smtClean="0">
                          <a:solidFill>
                            <a:schemeClr val="tx1"/>
                          </a:solidFill>
                          <a:latin typeface="Cambria Math" panose="02040503050406030204" pitchFamily="18" charset="0"/>
                          <a:cs typeface="Times New Roman" panose="02020603050405020304" pitchFamily="18" charset="0"/>
                        </a:rPr>
                        <m:t>, −</m:t>
                      </m:r>
                      <m:r>
                        <a:rPr lang="en-US" altLang="zh-TW" sz="2400" b="1" i="1" smtClean="0">
                          <a:solidFill>
                            <a:schemeClr val="tx1"/>
                          </a:solidFill>
                          <a:latin typeface="Cambria Math" panose="02040503050406030204" pitchFamily="18" charset="0"/>
                          <a:cs typeface="Times New Roman" panose="02020603050405020304" pitchFamily="18" charset="0"/>
                        </a:rPr>
                        <m:t>𝟐</m:t>
                      </m:r>
                      <m:r>
                        <a:rPr lang="en-US" altLang="zh-TW" sz="2400" b="1" i="1" smtClean="0">
                          <a:solidFill>
                            <a:schemeClr val="tx1"/>
                          </a:solidFill>
                          <a:latin typeface="Cambria Math" panose="02040503050406030204" pitchFamily="18" charset="0"/>
                          <a:cs typeface="Times New Roman" panose="02020603050405020304" pitchFamily="18" charset="0"/>
                        </a:rPr>
                        <m:t>, +</m:t>
                      </m:r>
                      <m:r>
                        <a:rPr lang="en-US" altLang="zh-TW" sz="2400" b="1" i="1" smtClean="0">
                          <a:solidFill>
                            <a:schemeClr val="tx1"/>
                          </a:solidFill>
                          <a:latin typeface="Cambria Math" panose="02040503050406030204" pitchFamily="18" charset="0"/>
                          <a:cs typeface="Times New Roman" panose="02020603050405020304" pitchFamily="18" charset="0"/>
                        </a:rPr>
                        <m:t>𝟏</m:t>
                      </m:r>
                      <m:r>
                        <a:rPr lang="en-US" altLang="zh-TW" sz="2400" b="1" i="1" smtClean="0">
                          <a:solidFill>
                            <a:schemeClr val="tx1"/>
                          </a:solidFill>
                          <a:latin typeface="Cambria Math" panose="02040503050406030204" pitchFamily="18" charset="0"/>
                          <a:cs typeface="Times New Roman" panose="02020603050405020304" pitchFamily="18" charset="0"/>
                        </a:rPr>
                        <m:t>, +</m:t>
                      </m:r>
                      <m:r>
                        <a:rPr lang="en-US" altLang="zh-TW" sz="2400" b="1" i="1" smtClean="0">
                          <a:solidFill>
                            <a:schemeClr val="tx1"/>
                          </a:solidFill>
                          <a:latin typeface="Cambria Math" panose="02040503050406030204" pitchFamily="18" charset="0"/>
                          <a:cs typeface="Times New Roman" panose="02020603050405020304" pitchFamily="18" charset="0"/>
                        </a:rPr>
                        <m:t>𝟑</m:t>
                      </m:r>
                      <m:r>
                        <a:rPr lang="en-US" altLang="zh-TW" sz="2400" b="1" i="1" smtClean="0">
                          <a:solidFill>
                            <a:schemeClr val="tx1"/>
                          </a:solidFill>
                          <a:latin typeface="Cambria Math" panose="02040503050406030204" pitchFamily="18" charset="0"/>
                          <a:cs typeface="Times New Roman" panose="02020603050405020304" pitchFamily="18" charset="0"/>
                        </a:rPr>
                        <m:t>, +</m:t>
                      </m:r>
                      <m:r>
                        <a:rPr lang="en-US" altLang="zh-TW" sz="2400" b="1" i="1" smtClean="0">
                          <a:solidFill>
                            <a:schemeClr val="tx1"/>
                          </a:solidFill>
                          <a:latin typeface="Cambria Math" panose="02040503050406030204" pitchFamily="18" charset="0"/>
                          <a:cs typeface="Times New Roman" panose="02020603050405020304" pitchFamily="18" charset="0"/>
                        </a:rPr>
                        <m:t>𝟓</m:t>
                      </m:r>
                      <m:r>
                        <a:rPr lang="en-US" altLang="zh-TW" sz="2400" b="1" i="1" smtClean="0">
                          <a:solidFill>
                            <a:schemeClr val="tx1"/>
                          </a:solidFill>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20" name="標題 1">
                <a:extLst>
                  <a:ext uri="{FF2B5EF4-FFF2-40B4-BE49-F238E27FC236}">
                    <a16:creationId xmlns:a16="http://schemas.microsoft.com/office/drawing/2014/main" id="{B4BF1CDB-CF93-4017-A28C-284E69AFB2DF}"/>
                  </a:ext>
                </a:extLst>
              </p:cNvPr>
              <p:cNvSpPr txBox="1">
                <a:spLocks noRot="1" noChangeAspect="1" noMove="1" noResize="1" noEditPoints="1" noAdjustHandles="1" noChangeArrowheads="1" noChangeShapeType="1" noTextEdit="1"/>
              </p:cNvSpPr>
              <p:nvPr/>
            </p:nvSpPr>
            <p:spPr>
              <a:xfrm>
                <a:off x="1088680" y="1009608"/>
                <a:ext cx="5096135" cy="51000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標題 1">
                <a:extLst>
                  <a:ext uri="{FF2B5EF4-FFF2-40B4-BE49-F238E27FC236}">
                    <a16:creationId xmlns:a16="http://schemas.microsoft.com/office/drawing/2014/main" id="{B60CE317-2C8D-41CD-A334-E164389DCE28}"/>
                  </a:ext>
                </a:extLst>
              </p:cNvPr>
              <p:cNvSpPr txBox="1">
                <a:spLocks/>
              </p:cNvSpPr>
              <p:nvPr/>
            </p:nvSpPr>
            <p:spPr>
              <a:xfrm>
                <a:off x="1088679" y="2100253"/>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TW" sz="2400" b="1" i="1" smtClean="0">
                              <a:latin typeface="Cambria Math" panose="02040503050406030204" pitchFamily="18" charset="0"/>
                              <a:cs typeface="Times New Roman" panose="02020603050405020304" pitchFamily="18" charset="0"/>
                            </a:rPr>
                          </m:ctrlPr>
                        </m:sSubPr>
                        <m:e>
                          <m:r>
                            <a:rPr lang="en-US" altLang="zh-TW" sz="2400" b="1" i="1" smtClean="0">
                              <a:latin typeface="Cambria Math" panose="02040503050406030204" pitchFamily="18" charset="0"/>
                              <a:cs typeface="Times New Roman" panose="02020603050405020304" pitchFamily="18" charset="0"/>
                            </a:rPr>
                            <m:t>𝜾</m:t>
                          </m:r>
                        </m:e>
                        <m:sub>
                          <m:r>
                            <a:rPr lang="en-US" altLang="zh-TW" sz="2400" b="1" i="1" smtClean="0">
                              <a:latin typeface="Cambria Math" panose="02040503050406030204" pitchFamily="18" charset="0"/>
                              <a:cs typeface="Times New Roman" panose="02020603050405020304" pitchFamily="18" charset="0"/>
                            </a:rPr>
                            <m:t>𝟔</m:t>
                          </m:r>
                        </m:sub>
                      </m:sSub>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21" name="標題 1">
                <a:extLst>
                  <a:ext uri="{FF2B5EF4-FFF2-40B4-BE49-F238E27FC236}">
                    <a16:creationId xmlns:a16="http://schemas.microsoft.com/office/drawing/2014/main" id="{B60CE317-2C8D-41CD-A334-E164389DCE28}"/>
                  </a:ext>
                </a:extLst>
              </p:cNvPr>
              <p:cNvSpPr txBox="1">
                <a:spLocks noRot="1" noChangeAspect="1" noMove="1" noResize="1" noEditPoints="1" noAdjustHandles="1" noChangeArrowheads="1" noChangeShapeType="1" noTextEdit="1"/>
              </p:cNvSpPr>
              <p:nvPr/>
            </p:nvSpPr>
            <p:spPr>
              <a:xfrm>
                <a:off x="1088679" y="2100253"/>
                <a:ext cx="5096135" cy="510001"/>
              </a:xfrm>
              <a:prstGeom prst="rect">
                <a:avLst/>
              </a:prstGeom>
              <a:blipFill>
                <a:blip r:embed="rId8"/>
                <a:stretch>
                  <a:fillRect/>
                </a:stretch>
              </a:blipFill>
            </p:spPr>
            <p:txBody>
              <a:bodyPr/>
              <a:lstStyle/>
              <a:p>
                <a:r>
                  <a:rPr lang="zh-TW" altLang="en-US">
                    <a:noFill/>
                  </a:rPr>
                  <a:t> </a:t>
                </a:r>
              </a:p>
            </p:txBody>
          </p:sp>
        </mc:Fallback>
      </mc:AlternateContent>
      <p:sp>
        <p:nvSpPr>
          <p:cNvPr id="22" name="箭號: 向下 21">
            <a:extLst>
              <a:ext uri="{FF2B5EF4-FFF2-40B4-BE49-F238E27FC236}">
                <a16:creationId xmlns:a16="http://schemas.microsoft.com/office/drawing/2014/main" id="{412EC574-AA35-4798-8D84-210D8E997525}"/>
              </a:ext>
            </a:extLst>
          </p:cNvPr>
          <p:cNvSpPr/>
          <p:nvPr/>
        </p:nvSpPr>
        <p:spPr>
          <a:xfrm>
            <a:off x="2909159" y="1642012"/>
            <a:ext cx="432619" cy="510001"/>
          </a:xfrm>
          <a:prstGeom prst="downArrow">
            <a:avLst>
              <a:gd name="adj1" fmla="val 3181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0" name="群組 29">
            <a:extLst>
              <a:ext uri="{FF2B5EF4-FFF2-40B4-BE49-F238E27FC236}">
                <a16:creationId xmlns:a16="http://schemas.microsoft.com/office/drawing/2014/main" id="{BF4BC0D5-DA7F-4660-832D-AF5F3632E91A}"/>
              </a:ext>
            </a:extLst>
          </p:cNvPr>
          <p:cNvGrpSpPr/>
          <p:nvPr/>
        </p:nvGrpSpPr>
        <p:grpSpPr>
          <a:xfrm>
            <a:off x="5531377" y="3370171"/>
            <a:ext cx="3062018" cy="575188"/>
            <a:chOff x="1563329" y="3927986"/>
            <a:chExt cx="2643271" cy="575188"/>
          </a:xfrm>
        </p:grpSpPr>
        <p:cxnSp>
          <p:nvCxnSpPr>
            <p:cNvPr id="31" name="直線單箭頭接點 30">
              <a:extLst>
                <a:ext uri="{FF2B5EF4-FFF2-40B4-BE49-F238E27FC236}">
                  <a16:creationId xmlns:a16="http://schemas.microsoft.com/office/drawing/2014/main" id="{7E060170-CA3B-4564-ACED-2A53CF851BEA}"/>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標題 1">
                  <a:extLst>
                    <a:ext uri="{FF2B5EF4-FFF2-40B4-BE49-F238E27FC236}">
                      <a16:creationId xmlns:a16="http://schemas.microsoft.com/office/drawing/2014/main" id="{B49C3679-07E7-4A7C-9E35-EAF5D4F40058}"/>
                    </a:ext>
                  </a:extLst>
                </p:cNvPr>
                <p:cNvSpPr txBox="1">
                  <a:spLocks/>
                </p:cNvSpPr>
                <p:nvPr/>
              </p:nvSpPr>
              <p:spPr>
                <a:xfrm>
                  <a:off x="1708114" y="3927986"/>
                  <a:ext cx="2498486"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𝝉</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𝟕</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Transposition</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2" name="標題 1">
                  <a:extLst>
                    <a:ext uri="{FF2B5EF4-FFF2-40B4-BE49-F238E27FC236}">
                      <a16:creationId xmlns:a16="http://schemas.microsoft.com/office/drawing/2014/main" id="{B49C3679-07E7-4A7C-9E35-EAF5D4F40058}"/>
                    </a:ext>
                  </a:extLst>
                </p:cNvPr>
                <p:cNvSpPr txBox="1">
                  <a:spLocks noRot="1" noChangeAspect="1" noMove="1" noResize="1" noEditPoints="1" noAdjustHandles="1" noChangeArrowheads="1" noChangeShapeType="1" noTextEdit="1"/>
                </p:cNvSpPr>
                <p:nvPr/>
              </p:nvSpPr>
              <p:spPr>
                <a:xfrm>
                  <a:off x="1708114" y="3927986"/>
                  <a:ext cx="2498486" cy="575188"/>
                </a:xfrm>
                <a:prstGeom prst="rect">
                  <a:avLst/>
                </a:prstGeom>
                <a:blipFill>
                  <a:blip r:embed="rId9"/>
                  <a:stretch>
                    <a:fillRect r="-632" b="-1276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3" name="標題 1">
                <a:extLst>
                  <a:ext uri="{FF2B5EF4-FFF2-40B4-BE49-F238E27FC236}">
                    <a16:creationId xmlns:a16="http://schemas.microsoft.com/office/drawing/2014/main" id="{754E382F-BD62-4210-93A4-C3424764562E}"/>
                  </a:ext>
                </a:extLst>
              </p:cNvPr>
              <p:cNvSpPr txBox="1">
                <a:spLocks/>
              </p:cNvSpPr>
              <p:nvPr/>
            </p:nvSpPr>
            <p:spPr>
              <a:xfrm>
                <a:off x="5034505" y="3915114"/>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FF0000"/>
                          </a:solidFill>
                          <a:latin typeface="Cambria Math" panose="02040503050406030204" pitchFamily="18" charset="0"/>
                          <a:cs typeface="Times New Roman" panose="02020603050405020304" pitchFamily="18" charset="0"/>
                        </a:rPr>
                        <m:t>−</m:t>
                      </m:r>
                      <m:r>
                        <a:rPr lang="en-US" altLang="zh-TW" sz="2000" b="1" i="1" smtClean="0">
                          <a:solidFill>
                            <a:srgbClr val="FF000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m:t>
                      </m:r>
                      <m:r>
                        <a:rPr lang="en-US" altLang="zh-TW" sz="2000" b="1" i="1" smtClean="0">
                          <a:solidFill>
                            <a:srgbClr val="00B050"/>
                          </a:solidFill>
                          <a:latin typeface="Cambria Math" panose="02040503050406030204" pitchFamily="18" charset="0"/>
                          <a:cs typeface="Times New Roman" panose="02020603050405020304" pitchFamily="18" charset="0"/>
                        </a:rPr>
                        <m:t>𝟐</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𝟑</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𝟒</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𝟓</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33" name="標題 1">
                <a:extLst>
                  <a:ext uri="{FF2B5EF4-FFF2-40B4-BE49-F238E27FC236}">
                    <a16:creationId xmlns:a16="http://schemas.microsoft.com/office/drawing/2014/main" id="{754E382F-BD62-4210-93A4-C3424764562E}"/>
                  </a:ext>
                </a:extLst>
              </p:cNvPr>
              <p:cNvSpPr txBox="1">
                <a:spLocks noRot="1" noChangeAspect="1" noMove="1" noResize="1" noEditPoints="1" noAdjustHandles="1" noChangeArrowheads="1" noChangeShapeType="1" noTextEdit="1"/>
              </p:cNvSpPr>
              <p:nvPr/>
            </p:nvSpPr>
            <p:spPr>
              <a:xfrm>
                <a:off x="5034505" y="3915114"/>
                <a:ext cx="3632972" cy="517446"/>
              </a:xfrm>
              <a:prstGeom prst="rect">
                <a:avLst/>
              </a:prstGeom>
              <a:blipFill>
                <a:blip r:embed="rId10"/>
                <a:stretch>
                  <a:fillRect/>
                </a:stretch>
              </a:blipFill>
            </p:spPr>
            <p:txBody>
              <a:bodyPr/>
              <a:lstStyle/>
              <a:p>
                <a:r>
                  <a:rPr lang="zh-TW" altLang="en-US">
                    <a:noFill/>
                  </a:rPr>
                  <a:t> </a:t>
                </a:r>
              </a:p>
            </p:txBody>
          </p:sp>
        </mc:Fallback>
      </mc:AlternateContent>
      <p:grpSp>
        <p:nvGrpSpPr>
          <p:cNvPr id="35" name="群組 34">
            <a:extLst>
              <a:ext uri="{FF2B5EF4-FFF2-40B4-BE49-F238E27FC236}">
                <a16:creationId xmlns:a16="http://schemas.microsoft.com/office/drawing/2014/main" id="{D08FE571-20B4-4D4D-95B4-8638390E68E7}"/>
              </a:ext>
            </a:extLst>
          </p:cNvPr>
          <p:cNvGrpSpPr/>
          <p:nvPr/>
        </p:nvGrpSpPr>
        <p:grpSpPr>
          <a:xfrm>
            <a:off x="5531377" y="4421689"/>
            <a:ext cx="3062018" cy="575188"/>
            <a:chOff x="1563329" y="3927986"/>
            <a:chExt cx="2643271" cy="575188"/>
          </a:xfrm>
        </p:grpSpPr>
        <p:cxnSp>
          <p:nvCxnSpPr>
            <p:cNvPr id="38" name="直線單箭頭接點 37">
              <a:extLst>
                <a:ext uri="{FF2B5EF4-FFF2-40B4-BE49-F238E27FC236}">
                  <a16:creationId xmlns:a16="http://schemas.microsoft.com/office/drawing/2014/main" id="{A352F848-EA0B-425F-87E5-D93695DB9934}"/>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標題 1">
                  <a:extLst>
                    <a:ext uri="{FF2B5EF4-FFF2-40B4-BE49-F238E27FC236}">
                      <a16:creationId xmlns:a16="http://schemas.microsoft.com/office/drawing/2014/main" id="{111E6F76-FCA1-4C0E-872E-67359526A54C}"/>
                    </a:ext>
                  </a:extLst>
                </p:cNvPr>
                <p:cNvSpPr txBox="1">
                  <a:spLocks/>
                </p:cNvSpPr>
                <p:nvPr/>
              </p:nvSpPr>
              <p:spPr>
                <a:xfrm>
                  <a:off x="1708114" y="3927986"/>
                  <a:ext cx="2498486"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𝝆</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𝟏</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Reversal</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9" name="標題 1">
                  <a:extLst>
                    <a:ext uri="{FF2B5EF4-FFF2-40B4-BE49-F238E27FC236}">
                      <a16:creationId xmlns:a16="http://schemas.microsoft.com/office/drawing/2014/main" id="{111E6F76-FCA1-4C0E-872E-67359526A54C}"/>
                    </a:ext>
                  </a:extLst>
                </p:cNvPr>
                <p:cNvSpPr txBox="1">
                  <a:spLocks noRot="1" noChangeAspect="1" noMove="1" noResize="1" noEditPoints="1" noAdjustHandles="1" noChangeArrowheads="1" noChangeShapeType="1" noTextEdit="1"/>
                </p:cNvSpPr>
                <p:nvPr/>
              </p:nvSpPr>
              <p:spPr>
                <a:xfrm>
                  <a:off x="1708114" y="3927986"/>
                  <a:ext cx="2498486" cy="575188"/>
                </a:xfrm>
                <a:prstGeom prst="rect">
                  <a:avLst/>
                </a:prstGeom>
                <a:blipFill>
                  <a:blip r:embed="rId11"/>
                  <a:stretch>
                    <a:fillRect l="-211" b="-1157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0" name="標題 1">
                <a:extLst>
                  <a:ext uri="{FF2B5EF4-FFF2-40B4-BE49-F238E27FC236}">
                    <a16:creationId xmlns:a16="http://schemas.microsoft.com/office/drawing/2014/main" id="{73C9AEA2-B717-44AF-B5DE-8DDB149C1672}"/>
                  </a:ext>
                </a:extLst>
              </p:cNvPr>
              <p:cNvSpPr txBox="1">
                <a:spLocks/>
              </p:cNvSpPr>
              <p:nvPr/>
            </p:nvSpPr>
            <p:spPr>
              <a:xfrm>
                <a:off x="5034505" y="4966632"/>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40" name="標題 1">
                <a:extLst>
                  <a:ext uri="{FF2B5EF4-FFF2-40B4-BE49-F238E27FC236}">
                    <a16:creationId xmlns:a16="http://schemas.microsoft.com/office/drawing/2014/main" id="{73C9AEA2-B717-44AF-B5DE-8DDB149C1672}"/>
                  </a:ext>
                </a:extLst>
              </p:cNvPr>
              <p:cNvSpPr txBox="1">
                <a:spLocks noRot="1" noChangeAspect="1" noMove="1" noResize="1" noEditPoints="1" noAdjustHandles="1" noChangeArrowheads="1" noChangeShapeType="1" noTextEdit="1"/>
              </p:cNvSpPr>
              <p:nvPr/>
            </p:nvSpPr>
            <p:spPr>
              <a:xfrm>
                <a:off x="5034505" y="4966632"/>
                <a:ext cx="3632972" cy="517446"/>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標題 1">
                <a:extLst>
                  <a:ext uri="{FF2B5EF4-FFF2-40B4-BE49-F238E27FC236}">
                    <a16:creationId xmlns:a16="http://schemas.microsoft.com/office/drawing/2014/main" id="{2431F0BE-C39A-4159-8BEE-803BC093622F}"/>
                  </a:ext>
                </a:extLst>
              </p:cNvPr>
              <p:cNvSpPr txBox="1">
                <a:spLocks/>
              </p:cNvSpPr>
              <p:nvPr/>
            </p:nvSpPr>
            <p:spPr>
              <a:xfrm>
                <a:off x="1087720" y="5728868"/>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𝒅</m:t>
                      </m:r>
                      <m:d>
                        <m:dPr>
                          <m:ctrlPr>
                            <a:rPr lang="en-US" altLang="zh-TW" sz="2400" b="1" i="1" smtClean="0">
                              <a:latin typeface="Cambria Math" panose="02040503050406030204" pitchFamily="18" charset="0"/>
                              <a:cs typeface="Times New Roman" panose="02020603050405020304" pitchFamily="18" charset="0"/>
                            </a:rPr>
                          </m:ctrlPr>
                        </m:dPr>
                        <m:e>
                          <m:r>
                            <a:rPr lang="en-US" altLang="zh-TW" sz="2400" b="1" i="1" smtClean="0">
                              <a:latin typeface="Cambria Math" panose="02040503050406030204" pitchFamily="18" charset="0"/>
                              <a:cs typeface="Times New Roman" panose="02020603050405020304" pitchFamily="18" charset="0"/>
                            </a:rPr>
                            <m:t>𝜶</m:t>
                          </m:r>
                          <m:r>
                            <a:rPr lang="en-US" altLang="zh-TW" sz="2400" b="1" i="1" smtClean="0">
                              <a:latin typeface="Cambria Math" panose="02040503050406030204" pitchFamily="18" charset="0"/>
                              <a:cs typeface="Times New Roman" panose="02020603050405020304" pitchFamily="18" charset="0"/>
                            </a:rPr>
                            <m:t>, </m:t>
                          </m:r>
                          <m:sSub>
                            <m:sSubPr>
                              <m:ctrlPr>
                                <a:rPr lang="en-US" altLang="zh-TW" sz="2400" b="1" i="1" smtClean="0">
                                  <a:latin typeface="Cambria Math" panose="02040503050406030204" pitchFamily="18" charset="0"/>
                                  <a:cs typeface="Times New Roman" panose="02020603050405020304" pitchFamily="18" charset="0"/>
                                </a:rPr>
                              </m:ctrlPr>
                            </m:sSubPr>
                            <m:e>
                              <m:r>
                                <a:rPr lang="en-US" altLang="zh-TW" sz="2400" b="1" i="1" smtClean="0">
                                  <a:latin typeface="Cambria Math" panose="02040503050406030204" pitchFamily="18" charset="0"/>
                                  <a:cs typeface="Times New Roman" panose="02020603050405020304" pitchFamily="18" charset="0"/>
                                </a:rPr>
                                <m:t>𝜾</m:t>
                              </m:r>
                            </m:e>
                            <m:sub>
                              <m:r>
                                <a:rPr lang="en-US" altLang="zh-TW" sz="2400" b="1" i="1" smtClean="0">
                                  <a:latin typeface="Cambria Math" panose="02040503050406030204" pitchFamily="18" charset="0"/>
                                  <a:cs typeface="Times New Roman" panose="02020603050405020304" pitchFamily="18" charset="0"/>
                                </a:rPr>
                                <m:t>𝟔</m:t>
                              </m:r>
                            </m:sub>
                          </m:sSub>
                        </m:e>
                      </m:d>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𝟒</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41" name="標題 1">
                <a:extLst>
                  <a:ext uri="{FF2B5EF4-FFF2-40B4-BE49-F238E27FC236}">
                    <a16:creationId xmlns:a16="http://schemas.microsoft.com/office/drawing/2014/main" id="{2431F0BE-C39A-4159-8BEE-803BC093622F}"/>
                  </a:ext>
                </a:extLst>
              </p:cNvPr>
              <p:cNvSpPr txBox="1">
                <a:spLocks noRot="1" noChangeAspect="1" noMove="1" noResize="1" noEditPoints="1" noAdjustHandles="1" noChangeArrowheads="1" noChangeShapeType="1" noTextEdit="1"/>
              </p:cNvSpPr>
              <p:nvPr/>
            </p:nvSpPr>
            <p:spPr>
              <a:xfrm>
                <a:off x="1087720" y="5728868"/>
                <a:ext cx="5096135" cy="510001"/>
              </a:xfrm>
              <a:prstGeom prst="rect">
                <a:avLst/>
              </a:prstGeom>
              <a:blipFill>
                <a:blip r:embed="rId1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9676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5" grpId="0"/>
      <p:bldP spid="37" grpId="0"/>
      <p:bldP spid="33" grpId="0"/>
      <p:bldP spid="40" grpId="0"/>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An example for the sorting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mc:AlternateContent xmlns:mc="http://schemas.openxmlformats.org/markup-compatibility/2006" xmlns:a14="http://schemas.microsoft.com/office/drawing/2010/main">
        <mc:Choice Requires="a14">
          <p:sp>
            <p:nvSpPr>
              <p:cNvPr id="19" name="標題 1">
                <a:extLst>
                  <a:ext uri="{FF2B5EF4-FFF2-40B4-BE49-F238E27FC236}">
                    <a16:creationId xmlns:a16="http://schemas.microsoft.com/office/drawing/2014/main" id="{DB8A09FD-563A-4716-9BB3-C7F17AD05C95}"/>
                  </a:ext>
                </a:extLst>
              </p:cNvPr>
              <p:cNvSpPr txBox="1">
                <a:spLocks/>
              </p:cNvSpPr>
              <p:nvPr/>
            </p:nvSpPr>
            <p:spPr>
              <a:xfrm>
                <a:off x="518409" y="2799923"/>
                <a:ext cx="3906108" cy="484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70C0"/>
                        </a:solidFill>
                        <a:latin typeface="Cambria Math" panose="02040503050406030204" pitchFamily="18" charset="0"/>
                        <a:cs typeface="Times New Roman" panose="02020603050405020304" pitchFamily="18" charset="0"/>
                      </a:rPr>
                      <m:t>𝝅</m:t>
                    </m:r>
                  </m:oMath>
                </a14:m>
                <a:r>
                  <a:rPr lang="en-US" altLang="zh-TW" sz="2000" b="1" dirty="0">
                    <a:solidFill>
                      <a:srgbClr val="0070C0"/>
                    </a:solidFill>
                    <a:cs typeface="Times New Roman" panose="02020603050405020304" pitchFamily="18" charset="0"/>
                  </a:rPr>
                  <a:t>  </a:t>
                </a:r>
                <a14:m>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&gt;</m:t>
                    </m:r>
                  </m:oMath>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19" name="標題 1">
                <a:extLst>
                  <a:ext uri="{FF2B5EF4-FFF2-40B4-BE49-F238E27FC236}">
                    <a16:creationId xmlns:a16="http://schemas.microsoft.com/office/drawing/2014/main" id="{DB8A09FD-563A-4716-9BB3-C7F17AD05C95}"/>
                  </a:ext>
                </a:extLst>
              </p:cNvPr>
              <p:cNvSpPr txBox="1">
                <a:spLocks noRot="1" noChangeAspect="1" noMove="1" noResize="1" noEditPoints="1" noAdjustHandles="1" noChangeArrowheads="1" noChangeShapeType="1" noTextEdit="1"/>
              </p:cNvSpPr>
              <p:nvPr/>
            </p:nvSpPr>
            <p:spPr>
              <a:xfrm>
                <a:off x="518409" y="2799923"/>
                <a:ext cx="3906108" cy="484762"/>
              </a:xfrm>
              <a:prstGeom prst="rect">
                <a:avLst/>
              </a:prstGeom>
              <a:blipFill>
                <a:blip r:embed="rId2"/>
                <a:stretch>
                  <a:fillRect/>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CF7A49E9-F68A-4351-91E0-42399FDFCF59}"/>
              </a:ext>
            </a:extLst>
          </p:cNvPr>
          <p:cNvGrpSpPr/>
          <p:nvPr/>
        </p:nvGrpSpPr>
        <p:grpSpPr>
          <a:xfrm>
            <a:off x="1288417" y="3303118"/>
            <a:ext cx="2802194" cy="575188"/>
            <a:chOff x="1563329" y="3927986"/>
            <a:chExt cx="2802194" cy="575188"/>
          </a:xfrm>
        </p:grpSpPr>
        <p:cxnSp>
          <p:nvCxnSpPr>
            <p:cNvPr id="6" name="直線單箭頭接點 5">
              <a:extLst>
                <a:ext uri="{FF2B5EF4-FFF2-40B4-BE49-F238E27FC236}">
                  <a16:creationId xmlns:a16="http://schemas.microsoft.com/office/drawing/2014/main" id="{5559AF99-25A9-43F5-A575-0D49B7EA5ED7}"/>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標題 1">
                  <a:extLst>
                    <a:ext uri="{FF2B5EF4-FFF2-40B4-BE49-F238E27FC236}">
                      <a16:creationId xmlns:a16="http://schemas.microsoft.com/office/drawing/2014/main" id="{7A188EDB-607B-468E-A6E9-4C935FDBA37F}"/>
                    </a:ext>
                  </a:extLst>
                </p:cNvPr>
                <p:cNvSpPr txBox="1">
                  <a:spLocks/>
                </p:cNvSpPr>
                <p:nvPr/>
              </p:nvSpPr>
              <p:spPr>
                <a:xfrm>
                  <a:off x="1708113" y="3927986"/>
                  <a:ext cx="2657410"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𝝆</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𝟒</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Reversal</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24" name="標題 1">
                  <a:extLst>
                    <a:ext uri="{FF2B5EF4-FFF2-40B4-BE49-F238E27FC236}">
                      <a16:creationId xmlns:a16="http://schemas.microsoft.com/office/drawing/2014/main" id="{7A188EDB-607B-468E-A6E9-4C935FDBA37F}"/>
                    </a:ext>
                  </a:extLst>
                </p:cNvPr>
                <p:cNvSpPr txBox="1">
                  <a:spLocks noRot="1" noChangeAspect="1" noMove="1" noResize="1" noEditPoints="1" noAdjustHandles="1" noChangeArrowheads="1" noChangeShapeType="1" noTextEdit="1"/>
                </p:cNvSpPr>
                <p:nvPr/>
              </p:nvSpPr>
              <p:spPr>
                <a:xfrm>
                  <a:off x="1708113" y="3927986"/>
                  <a:ext cx="2657410" cy="575188"/>
                </a:xfrm>
                <a:prstGeom prst="rect">
                  <a:avLst/>
                </a:prstGeom>
                <a:blipFill>
                  <a:blip r:embed="rId3"/>
                  <a:stretch>
                    <a:fillRect b="-1276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5" name="標題 1">
                <a:extLst>
                  <a:ext uri="{FF2B5EF4-FFF2-40B4-BE49-F238E27FC236}">
                    <a16:creationId xmlns:a16="http://schemas.microsoft.com/office/drawing/2014/main" id="{5A4599AC-B7F1-417B-A098-C0B0E315936B}"/>
                  </a:ext>
                </a:extLst>
              </p:cNvPr>
              <p:cNvSpPr txBox="1">
                <a:spLocks/>
              </p:cNvSpPr>
              <p:nvPr/>
            </p:nvSpPr>
            <p:spPr>
              <a:xfrm>
                <a:off x="791546" y="3915864"/>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 −</m:t>
                      </m:r>
                      <m:r>
                        <a:rPr lang="en-US" altLang="zh-TW" sz="2000" b="1" i="1" smtClean="0">
                          <a:solidFill>
                            <a:srgbClr val="00206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25" name="標題 1">
                <a:extLst>
                  <a:ext uri="{FF2B5EF4-FFF2-40B4-BE49-F238E27FC236}">
                    <a16:creationId xmlns:a16="http://schemas.microsoft.com/office/drawing/2014/main" id="{5A4599AC-B7F1-417B-A098-C0B0E315936B}"/>
                  </a:ext>
                </a:extLst>
              </p:cNvPr>
              <p:cNvSpPr txBox="1">
                <a:spLocks noRot="1" noChangeAspect="1" noMove="1" noResize="1" noEditPoints="1" noAdjustHandles="1" noChangeArrowheads="1" noChangeShapeType="1" noTextEdit="1"/>
              </p:cNvSpPr>
              <p:nvPr/>
            </p:nvSpPr>
            <p:spPr>
              <a:xfrm>
                <a:off x="791546" y="3915864"/>
                <a:ext cx="3632972" cy="517446"/>
              </a:xfrm>
              <a:prstGeom prst="rect">
                <a:avLst/>
              </a:prstGeom>
              <a:blipFill>
                <a:blip r:embed="rId4"/>
                <a:stretch>
                  <a:fillRect/>
                </a:stretch>
              </a:blipFill>
            </p:spPr>
            <p:txBody>
              <a:bodyPr/>
              <a:lstStyle/>
              <a:p>
                <a:r>
                  <a:rPr lang="zh-TW" altLang="en-US">
                    <a:noFill/>
                  </a:rPr>
                  <a:t> </a:t>
                </a:r>
              </a:p>
            </p:txBody>
          </p:sp>
        </mc:Fallback>
      </mc:AlternateContent>
      <p:grpSp>
        <p:nvGrpSpPr>
          <p:cNvPr id="26" name="群組 25">
            <a:extLst>
              <a:ext uri="{FF2B5EF4-FFF2-40B4-BE49-F238E27FC236}">
                <a16:creationId xmlns:a16="http://schemas.microsoft.com/office/drawing/2014/main" id="{41BFF940-146E-4B0D-9EAF-841DBC55F1C7}"/>
              </a:ext>
            </a:extLst>
          </p:cNvPr>
          <p:cNvGrpSpPr/>
          <p:nvPr/>
        </p:nvGrpSpPr>
        <p:grpSpPr>
          <a:xfrm>
            <a:off x="1288417" y="4459307"/>
            <a:ext cx="3067273" cy="575188"/>
            <a:chOff x="1563329" y="3927986"/>
            <a:chExt cx="2650698" cy="575188"/>
          </a:xfrm>
        </p:grpSpPr>
        <p:cxnSp>
          <p:nvCxnSpPr>
            <p:cNvPr id="34" name="直線單箭頭接點 33">
              <a:extLst>
                <a:ext uri="{FF2B5EF4-FFF2-40B4-BE49-F238E27FC236}">
                  <a16:creationId xmlns:a16="http://schemas.microsoft.com/office/drawing/2014/main" id="{E8AAB200-DB2D-4AD0-9C42-7A9F680C0978}"/>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標題 1">
                  <a:extLst>
                    <a:ext uri="{FF2B5EF4-FFF2-40B4-BE49-F238E27FC236}">
                      <a16:creationId xmlns:a16="http://schemas.microsoft.com/office/drawing/2014/main" id="{3AD33882-AD89-4720-B8C3-D1E04972C30A}"/>
                    </a:ext>
                  </a:extLst>
                </p:cNvPr>
                <p:cNvSpPr txBox="1">
                  <a:spLocks/>
                </p:cNvSpPr>
                <p:nvPr/>
              </p:nvSpPr>
              <p:spPr>
                <a:xfrm>
                  <a:off x="1708114" y="3927986"/>
                  <a:ext cx="2505913"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𝝉</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𝟒</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𝟓</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𝟔</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Transposition</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6" name="標題 1">
                  <a:extLst>
                    <a:ext uri="{FF2B5EF4-FFF2-40B4-BE49-F238E27FC236}">
                      <a16:creationId xmlns:a16="http://schemas.microsoft.com/office/drawing/2014/main" id="{3AD33882-AD89-4720-B8C3-D1E04972C30A}"/>
                    </a:ext>
                  </a:extLst>
                </p:cNvPr>
                <p:cNvSpPr txBox="1">
                  <a:spLocks noRot="1" noChangeAspect="1" noMove="1" noResize="1" noEditPoints="1" noAdjustHandles="1" noChangeArrowheads="1" noChangeShapeType="1" noTextEdit="1"/>
                </p:cNvSpPr>
                <p:nvPr/>
              </p:nvSpPr>
              <p:spPr>
                <a:xfrm>
                  <a:off x="1708114" y="3927986"/>
                  <a:ext cx="2505913" cy="575188"/>
                </a:xfrm>
                <a:prstGeom prst="rect">
                  <a:avLst/>
                </a:prstGeom>
                <a:blipFill>
                  <a:blip r:embed="rId5"/>
                  <a:stretch>
                    <a:fillRect r="-420" b="-11702"/>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7" name="標題 1">
                <a:extLst>
                  <a:ext uri="{FF2B5EF4-FFF2-40B4-BE49-F238E27FC236}">
                    <a16:creationId xmlns:a16="http://schemas.microsoft.com/office/drawing/2014/main" id="{94D7E436-EC94-438B-BB36-4943E5966B56}"/>
                  </a:ext>
                </a:extLst>
              </p:cNvPr>
              <p:cNvSpPr txBox="1">
                <a:spLocks/>
              </p:cNvSpPr>
              <p:nvPr/>
            </p:nvSpPr>
            <p:spPr>
              <a:xfrm>
                <a:off x="791545" y="5004250"/>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FF000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m:t>
                      </m:r>
                      <m:r>
                        <a:rPr lang="en-US" altLang="zh-TW" sz="2000" b="1" i="1" smtClean="0">
                          <a:solidFill>
                            <a:srgbClr val="00B05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37" name="標題 1">
                <a:extLst>
                  <a:ext uri="{FF2B5EF4-FFF2-40B4-BE49-F238E27FC236}">
                    <a16:creationId xmlns:a16="http://schemas.microsoft.com/office/drawing/2014/main" id="{94D7E436-EC94-438B-BB36-4943E5966B56}"/>
                  </a:ext>
                </a:extLst>
              </p:cNvPr>
              <p:cNvSpPr txBox="1">
                <a:spLocks noRot="1" noChangeAspect="1" noMove="1" noResize="1" noEditPoints="1" noAdjustHandles="1" noChangeArrowheads="1" noChangeShapeType="1" noTextEdit="1"/>
              </p:cNvSpPr>
              <p:nvPr/>
            </p:nvSpPr>
            <p:spPr>
              <a:xfrm>
                <a:off x="791545" y="5004250"/>
                <a:ext cx="3632972" cy="517446"/>
              </a:xfrm>
              <a:prstGeom prst="rect">
                <a:avLst/>
              </a:prstGeom>
              <a:blipFill>
                <a:blip r:embed="rId6"/>
                <a:stretch>
                  <a:fillRect/>
                </a:stretch>
              </a:blipFill>
            </p:spPr>
            <p:txBody>
              <a:bodyPr/>
              <a:lstStyle/>
              <a:p>
                <a:r>
                  <a:rPr lang="zh-TW" altLang="en-US">
                    <a:noFill/>
                  </a:rPr>
                  <a:t> </a:t>
                </a:r>
              </a:p>
            </p:txBody>
          </p:sp>
        </mc:Fallback>
      </mc:AlternateContent>
      <p:sp>
        <p:nvSpPr>
          <p:cNvPr id="22" name="箭號: 向下 21">
            <a:extLst>
              <a:ext uri="{FF2B5EF4-FFF2-40B4-BE49-F238E27FC236}">
                <a16:creationId xmlns:a16="http://schemas.microsoft.com/office/drawing/2014/main" id="{412EC574-AA35-4798-8D84-210D8E997525}"/>
              </a:ext>
            </a:extLst>
          </p:cNvPr>
          <p:cNvSpPr/>
          <p:nvPr/>
        </p:nvSpPr>
        <p:spPr>
          <a:xfrm>
            <a:off x="2909159" y="1642012"/>
            <a:ext cx="432619" cy="510001"/>
          </a:xfrm>
          <a:prstGeom prst="downArrow">
            <a:avLst>
              <a:gd name="adj1" fmla="val 3181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0" name="群組 29">
            <a:extLst>
              <a:ext uri="{FF2B5EF4-FFF2-40B4-BE49-F238E27FC236}">
                <a16:creationId xmlns:a16="http://schemas.microsoft.com/office/drawing/2014/main" id="{BF4BC0D5-DA7F-4660-832D-AF5F3632E91A}"/>
              </a:ext>
            </a:extLst>
          </p:cNvPr>
          <p:cNvGrpSpPr/>
          <p:nvPr/>
        </p:nvGrpSpPr>
        <p:grpSpPr>
          <a:xfrm>
            <a:off x="5531377" y="3370171"/>
            <a:ext cx="3062018" cy="575188"/>
            <a:chOff x="1563329" y="3927986"/>
            <a:chExt cx="2643271" cy="575188"/>
          </a:xfrm>
        </p:grpSpPr>
        <p:cxnSp>
          <p:nvCxnSpPr>
            <p:cNvPr id="31" name="直線單箭頭接點 30">
              <a:extLst>
                <a:ext uri="{FF2B5EF4-FFF2-40B4-BE49-F238E27FC236}">
                  <a16:creationId xmlns:a16="http://schemas.microsoft.com/office/drawing/2014/main" id="{7E060170-CA3B-4564-ACED-2A53CF851BEA}"/>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標題 1">
                  <a:extLst>
                    <a:ext uri="{FF2B5EF4-FFF2-40B4-BE49-F238E27FC236}">
                      <a16:creationId xmlns:a16="http://schemas.microsoft.com/office/drawing/2014/main" id="{B49C3679-07E7-4A7C-9E35-EAF5D4F40058}"/>
                    </a:ext>
                  </a:extLst>
                </p:cNvPr>
                <p:cNvSpPr txBox="1">
                  <a:spLocks/>
                </p:cNvSpPr>
                <p:nvPr/>
              </p:nvSpPr>
              <p:spPr>
                <a:xfrm>
                  <a:off x="1708114" y="3927986"/>
                  <a:ext cx="2498486"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𝝉</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𝟕</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Transposition</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2" name="標題 1">
                  <a:extLst>
                    <a:ext uri="{FF2B5EF4-FFF2-40B4-BE49-F238E27FC236}">
                      <a16:creationId xmlns:a16="http://schemas.microsoft.com/office/drawing/2014/main" id="{B49C3679-07E7-4A7C-9E35-EAF5D4F40058}"/>
                    </a:ext>
                  </a:extLst>
                </p:cNvPr>
                <p:cNvSpPr txBox="1">
                  <a:spLocks noRot="1" noChangeAspect="1" noMove="1" noResize="1" noEditPoints="1" noAdjustHandles="1" noChangeArrowheads="1" noChangeShapeType="1" noTextEdit="1"/>
                </p:cNvSpPr>
                <p:nvPr/>
              </p:nvSpPr>
              <p:spPr>
                <a:xfrm>
                  <a:off x="1708114" y="3927986"/>
                  <a:ext cx="2498486" cy="575188"/>
                </a:xfrm>
                <a:prstGeom prst="rect">
                  <a:avLst/>
                </a:prstGeom>
                <a:blipFill>
                  <a:blip r:embed="rId7"/>
                  <a:stretch>
                    <a:fillRect r="-632" b="-1276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3" name="標題 1">
                <a:extLst>
                  <a:ext uri="{FF2B5EF4-FFF2-40B4-BE49-F238E27FC236}">
                    <a16:creationId xmlns:a16="http://schemas.microsoft.com/office/drawing/2014/main" id="{754E382F-BD62-4210-93A4-C3424764562E}"/>
                  </a:ext>
                </a:extLst>
              </p:cNvPr>
              <p:cNvSpPr txBox="1">
                <a:spLocks/>
              </p:cNvSpPr>
              <p:nvPr/>
            </p:nvSpPr>
            <p:spPr>
              <a:xfrm>
                <a:off x="5034505" y="3915114"/>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FF0000"/>
                          </a:solidFill>
                          <a:latin typeface="Cambria Math" panose="02040503050406030204" pitchFamily="18" charset="0"/>
                          <a:cs typeface="Times New Roman" panose="02020603050405020304" pitchFamily="18" charset="0"/>
                        </a:rPr>
                        <m:t>−</m:t>
                      </m:r>
                      <m:r>
                        <a:rPr lang="en-US" altLang="zh-TW" sz="2000" b="1" i="1" smtClean="0">
                          <a:solidFill>
                            <a:srgbClr val="FF000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m:t>
                      </m:r>
                      <m:r>
                        <a:rPr lang="en-US" altLang="zh-TW" sz="2000" b="1" i="1" smtClean="0">
                          <a:solidFill>
                            <a:srgbClr val="00B050"/>
                          </a:solidFill>
                          <a:latin typeface="Cambria Math" panose="02040503050406030204" pitchFamily="18" charset="0"/>
                          <a:cs typeface="Times New Roman" panose="02020603050405020304" pitchFamily="18" charset="0"/>
                        </a:rPr>
                        <m:t>𝟏</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𝟒</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𝟓</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𝟑</m:t>
                      </m:r>
                      <m:r>
                        <a:rPr lang="en-US" altLang="zh-TW" sz="2000" b="1" i="1" smtClean="0">
                          <a:solidFill>
                            <a:srgbClr val="00B050"/>
                          </a:solidFill>
                          <a:latin typeface="Cambria Math" panose="02040503050406030204" pitchFamily="18" charset="0"/>
                          <a:cs typeface="Times New Roman" panose="02020603050405020304" pitchFamily="18" charset="0"/>
                        </a:rPr>
                        <m:t>, +</m:t>
                      </m:r>
                      <m:r>
                        <a:rPr lang="en-US" altLang="zh-TW" sz="2000" b="1" i="1" smtClean="0">
                          <a:solidFill>
                            <a:srgbClr val="00B05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33" name="標題 1">
                <a:extLst>
                  <a:ext uri="{FF2B5EF4-FFF2-40B4-BE49-F238E27FC236}">
                    <a16:creationId xmlns:a16="http://schemas.microsoft.com/office/drawing/2014/main" id="{754E382F-BD62-4210-93A4-C3424764562E}"/>
                  </a:ext>
                </a:extLst>
              </p:cNvPr>
              <p:cNvSpPr txBox="1">
                <a:spLocks noRot="1" noChangeAspect="1" noMove="1" noResize="1" noEditPoints="1" noAdjustHandles="1" noChangeArrowheads="1" noChangeShapeType="1" noTextEdit="1"/>
              </p:cNvSpPr>
              <p:nvPr/>
            </p:nvSpPr>
            <p:spPr>
              <a:xfrm>
                <a:off x="5034505" y="3915114"/>
                <a:ext cx="3632972" cy="517446"/>
              </a:xfrm>
              <a:prstGeom prst="rect">
                <a:avLst/>
              </a:prstGeom>
              <a:blipFill>
                <a:blip r:embed="rId8"/>
                <a:stretch>
                  <a:fillRect/>
                </a:stretch>
              </a:blipFill>
            </p:spPr>
            <p:txBody>
              <a:bodyPr/>
              <a:lstStyle/>
              <a:p>
                <a:r>
                  <a:rPr lang="zh-TW" altLang="en-US">
                    <a:noFill/>
                  </a:rPr>
                  <a:t> </a:t>
                </a:r>
              </a:p>
            </p:txBody>
          </p:sp>
        </mc:Fallback>
      </mc:AlternateContent>
      <p:grpSp>
        <p:nvGrpSpPr>
          <p:cNvPr id="35" name="群組 34">
            <a:extLst>
              <a:ext uri="{FF2B5EF4-FFF2-40B4-BE49-F238E27FC236}">
                <a16:creationId xmlns:a16="http://schemas.microsoft.com/office/drawing/2014/main" id="{D08FE571-20B4-4D4D-95B4-8638390E68E7}"/>
              </a:ext>
            </a:extLst>
          </p:cNvPr>
          <p:cNvGrpSpPr/>
          <p:nvPr/>
        </p:nvGrpSpPr>
        <p:grpSpPr>
          <a:xfrm>
            <a:off x="5531377" y="4421689"/>
            <a:ext cx="3062018" cy="575188"/>
            <a:chOff x="1563329" y="3927986"/>
            <a:chExt cx="2643271" cy="575188"/>
          </a:xfrm>
        </p:grpSpPr>
        <p:cxnSp>
          <p:nvCxnSpPr>
            <p:cNvPr id="38" name="直線單箭頭接點 37">
              <a:extLst>
                <a:ext uri="{FF2B5EF4-FFF2-40B4-BE49-F238E27FC236}">
                  <a16:creationId xmlns:a16="http://schemas.microsoft.com/office/drawing/2014/main" id="{A352F848-EA0B-425F-87E5-D93695DB9934}"/>
                </a:ext>
              </a:extLst>
            </p:cNvPr>
            <p:cNvCxnSpPr>
              <a:cxnSpLocks/>
            </p:cNvCxnSpPr>
            <p:nvPr/>
          </p:nvCxnSpPr>
          <p:spPr>
            <a:xfrm>
              <a:off x="1563329" y="4080387"/>
              <a:ext cx="0" cy="42278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標題 1">
                  <a:extLst>
                    <a:ext uri="{FF2B5EF4-FFF2-40B4-BE49-F238E27FC236}">
                      <a16:creationId xmlns:a16="http://schemas.microsoft.com/office/drawing/2014/main" id="{111E6F76-FCA1-4C0E-872E-67359526A54C}"/>
                    </a:ext>
                  </a:extLst>
                </p:cNvPr>
                <p:cNvSpPr txBox="1">
                  <a:spLocks/>
                </p:cNvSpPr>
                <p:nvPr/>
              </p:nvSpPr>
              <p:spPr>
                <a:xfrm>
                  <a:off x="1708114" y="3927986"/>
                  <a:ext cx="2498486" cy="575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b="1" i="1" smtClean="0">
                          <a:solidFill>
                            <a:srgbClr val="002060"/>
                          </a:solidFill>
                          <a:latin typeface="Cambria Math" panose="02040503050406030204" pitchFamily="18" charset="0"/>
                          <a:cs typeface="Times New Roman" panose="02020603050405020304" pitchFamily="18" charset="0"/>
                        </a:rPr>
                        <m:t>𝝆</m:t>
                      </m:r>
                      <m:d>
                        <m:dPr>
                          <m:ctrlPr>
                            <a:rPr lang="en-US" altLang="zh-TW" sz="2000" b="1" i="1" smtClean="0">
                              <a:solidFill>
                                <a:srgbClr val="002060"/>
                              </a:solidFill>
                              <a:latin typeface="Cambria Math" panose="02040503050406030204" pitchFamily="18" charset="0"/>
                              <a:cs typeface="Times New Roman" panose="02020603050405020304" pitchFamily="18" charset="0"/>
                            </a:rPr>
                          </m:ctrlPr>
                        </m:dPr>
                        <m:e>
                          <m:r>
                            <a:rPr lang="en-US" altLang="zh-TW" sz="2000" b="1" i="1" smtClean="0">
                              <a:solidFill>
                                <a:srgbClr val="002060"/>
                              </a:solidFill>
                              <a:latin typeface="Cambria Math" panose="02040503050406030204" pitchFamily="18" charset="0"/>
                              <a:cs typeface="Times New Roman" panose="02020603050405020304" pitchFamily="18" charset="0"/>
                            </a:rPr>
                            <m:t>𝟏</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𝟏</m:t>
                          </m:r>
                        </m:e>
                      </m:d>
                      <m:r>
                        <a:rPr lang="en-US" altLang="zh-TW" sz="2000" b="1" i="1" smtClean="0">
                          <a:solidFill>
                            <a:srgbClr val="002060"/>
                          </a:solidFill>
                          <a:latin typeface="Cambria Math" panose="02040503050406030204" pitchFamily="18" charset="0"/>
                          <a:cs typeface="Times New Roman" panose="02020603050405020304" pitchFamily="18" charset="0"/>
                        </a:rPr>
                        <m:t> </m:t>
                      </m:r>
                    </m:oMath>
                  </a14:m>
                  <a:r>
                    <a:rPr lang="en-US" altLang="zh-TW" sz="2000" b="1" i="0" dirty="0">
                      <a:solidFill>
                        <a:srgbClr val="002060"/>
                      </a:solidFill>
                      <a:latin typeface="Times New Roman" panose="02020603050405020304" pitchFamily="18" charset="0"/>
                      <a:cs typeface="Times New Roman" panose="02020603050405020304" pitchFamily="18" charset="0"/>
                    </a:rPr>
                    <a:t>- Reversal</a:t>
                  </a:r>
                  <a:endParaRPr lang="en-US" altLang="zh-TW"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9" name="標題 1">
                  <a:extLst>
                    <a:ext uri="{FF2B5EF4-FFF2-40B4-BE49-F238E27FC236}">
                      <a16:creationId xmlns:a16="http://schemas.microsoft.com/office/drawing/2014/main" id="{111E6F76-FCA1-4C0E-872E-67359526A54C}"/>
                    </a:ext>
                  </a:extLst>
                </p:cNvPr>
                <p:cNvSpPr txBox="1">
                  <a:spLocks noRot="1" noChangeAspect="1" noMove="1" noResize="1" noEditPoints="1" noAdjustHandles="1" noChangeArrowheads="1" noChangeShapeType="1" noTextEdit="1"/>
                </p:cNvSpPr>
                <p:nvPr/>
              </p:nvSpPr>
              <p:spPr>
                <a:xfrm>
                  <a:off x="1708114" y="3927986"/>
                  <a:ext cx="2498486" cy="575188"/>
                </a:xfrm>
                <a:prstGeom prst="rect">
                  <a:avLst/>
                </a:prstGeom>
                <a:blipFill>
                  <a:blip r:embed="rId9"/>
                  <a:stretch>
                    <a:fillRect l="-211" b="-1157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0" name="標題 1">
                <a:extLst>
                  <a:ext uri="{FF2B5EF4-FFF2-40B4-BE49-F238E27FC236}">
                    <a16:creationId xmlns:a16="http://schemas.microsoft.com/office/drawing/2014/main" id="{73C9AEA2-B717-44AF-B5DE-8DDB149C1672}"/>
                  </a:ext>
                </a:extLst>
              </p:cNvPr>
              <p:cNvSpPr txBox="1">
                <a:spLocks/>
              </p:cNvSpPr>
              <p:nvPr/>
            </p:nvSpPr>
            <p:spPr>
              <a:xfrm>
                <a:off x="5034505" y="4966632"/>
                <a:ext cx="3632972" cy="517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1" i="0" smtClean="0">
                          <a:solidFill>
                            <a:srgbClr val="0070C0"/>
                          </a:solidFill>
                          <a:latin typeface="Cambria Math" panose="02040503050406030204" pitchFamily="18" charset="0"/>
                          <a:cs typeface="Times New Roman" panose="02020603050405020304" pitchFamily="18" charset="0"/>
                        </a:rPr>
                        <m:t>=</m:t>
                      </m:r>
                      <m:r>
                        <a:rPr lang="en-US" altLang="zh-TW" sz="2000" b="1" i="1" smtClean="0">
                          <a:solidFill>
                            <a:srgbClr val="0070C0"/>
                          </a:solidFill>
                          <a:latin typeface="Cambria Math" panose="02040503050406030204" pitchFamily="18" charset="0"/>
                          <a:cs typeface="Times New Roman" panose="02020603050405020304" pitchFamily="18" charset="0"/>
                        </a:rPr>
                        <m:t>  &lt;</m:t>
                      </m:r>
                      <m:r>
                        <a:rPr lang="en-US" altLang="zh-TW" sz="2000" b="1" i="1" smtClean="0">
                          <a:solidFill>
                            <a:srgbClr val="002060"/>
                          </a:solidFill>
                          <a:latin typeface="Cambria Math" panose="02040503050406030204" pitchFamily="18" charset="0"/>
                          <a:cs typeface="Times New Roman" panose="02020603050405020304" pitchFamily="18" charset="0"/>
                        </a:rPr>
                        <m:t>+</m:t>
                      </m:r>
                      <m:r>
                        <a:rPr lang="en-US" altLang="zh-TW" sz="2000" b="1" i="1" smtClean="0">
                          <a:solidFill>
                            <a:srgbClr val="002060"/>
                          </a:solidFill>
                          <a:latin typeface="Cambria Math" panose="02040503050406030204" pitchFamily="18" charset="0"/>
                          <a:cs typeface="Times New Roman" panose="02020603050405020304" pitchFamily="18" charset="0"/>
                        </a:rPr>
                        <m:t>𝟐</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𝟏</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𝟒</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𝟓</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𝟑</m:t>
                      </m:r>
                      <m:r>
                        <a:rPr lang="en-US" altLang="zh-TW" sz="2000" b="1" i="1" smtClean="0">
                          <a:solidFill>
                            <a:srgbClr val="0070C0"/>
                          </a:solidFill>
                          <a:latin typeface="Cambria Math" panose="02040503050406030204" pitchFamily="18" charset="0"/>
                          <a:cs typeface="Times New Roman" panose="02020603050405020304" pitchFamily="18" charset="0"/>
                        </a:rPr>
                        <m:t>, +</m:t>
                      </m:r>
                      <m:r>
                        <a:rPr lang="en-US" altLang="zh-TW" sz="2000" b="1" i="1" smtClean="0">
                          <a:solidFill>
                            <a:srgbClr val="0070C0"/>
                          </a:solidFill>
                          <a:latin typeface="Cambria Math" panose="02040503050406030204" pitchFamily="18" charset="0"/>
                          <a:cs typeface="Times New Roman" panose="02020603050405020304" pitchFamily="18" charset="0"/>
                        </a:rPr>
                        <m:t>𝟔</m:t>
                      </m:r>
                      <m:r>
                        <a:rPr lang="en-US" altLang="zh-TW" sz="2000" b="1" i="1" smtClean="0">
                          <a:solidFill>
                            <a:srgbClr val="0070C0"/>
                          </a:solidFill>
                          <a:latin typeface="Cambria Math" panose="02040503050406030204" pitchFamily="18" charset="0"/>
                          <a:cs typeface="Times New Roman" panose="02020603050405020304" pitchFamily="18" charset="0"/>
                        </a:rPr>
                        <m:t>&gt;</m:t>
                      </m:r>
                    </m:oMath>
                  </m:oMathPara>
                </a14:m>
                <a:endParaRPr lang="en-US" altLang="zh-TW" sz="2000" b="1" dirty="0">
                  <a:solidFill>
                    <a:srgbClr val="0070C0"/>
                  </a:solidFill>
                  <a:latin typeface="Arial Black" panose="020B0A04020102020204" pitchFamily="34" charset="0"/>
                  <a:cs typeface="Times New Roman" panose="02020603050405020304" pitchFamily="18" charset="0"/>
                </a:endParaRPr>
              </a:p>
            </p:txBody>
          </p:sp>
        </mc:Choice>
        <mc:Fallback xmlns="">
          <p:sp>
            <p:nvSpPr>
              <p:cNvPr id="40" name="標題 1">
                <a:extLst>
                  <a:ext uri="{FF2B5EF4-FFF2-40B4-BE49-F238E27FC236}">
                    <a16:creationId xmlns:a16="http://schemas.microsoft.com/office/drawing/2014/main" id="{73C9AEA2-B717-44AF-B5DE-8DDB149C1672}"/>
                  </a:ext>
                </a:extLst>
              </p:cNvPr>
              <p:cNvSpPr txBox="1">
                <a:spLocks noRot="1" noChangeAspect="1" noMove="1" noResize="1" noEditPoints="1" noAdjustHandles="1" noChangeArrowheads="1" noChangeShapeType="1" noTextEdit="1"/>
              </p:cNvSpPr>
              <p:nvPr/>
            </p:nvSpPr>
            <p:spPr>
              <a:xfrm>
                <a:off x="5034505" y="4966632"/>
                <a:ext cx="3632972" cy="517446"/>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標題 1">
                <a:extLst>
                  <a:ext uri="{FF2B5EF4-FFF2-40B4-BE49-F238E27FC236}">
                    <a16:creationId xmlns:a16="http://schemas.microsoft.com/office/drawing/2014/main" id="{2431F0BE-C39A-4159-8BEE-803BC093622F}"/>
                  </a:ext>
                </a:extLst>
              </p:cNvPr>
              <p:cNvSpPr txBox="1">
                <a:spLocks/>
              </p:cNvSpPr>
              <p:nvPr/>
            </p:nvSpPr>
            <p:spPr>
              <a:xfrm>
                <a:off x="1087720" y="5728868"/>
                <a:ext cx="5096135"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𝒅</m:t>
                      </m:r>
                      <m:d>
                        <m:dPr>
                          <m:ctrlPr>
                            <a:rPr lang="en-US" altLang="zh-TW" sz="2400" b="1" i="1" smtClean="0">
                              <a:latin typeface="Cambria Math" panose="02040503050406030204" pitchFamily="18" charset="0"/>
                              <a:cs typeface="Times New Roman" panose="02020603050405020304" pitchFamily="18" charset="0"/>
                            </a:rPr>
                          </m:ctrlPr>
                        </m:dPr>
                        <m:e>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𝝈</m:t>
                          </m:r>
                        </m:e>
                      </m:d>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𝒅</m:t>
                      </m:r>
                      <m:d>
                        <m:dPr>
                          <m:ctrlPr>
                            <a:rPr lang="en-US" altLang="zh-TW" sz="2400" b="1" i="1" smtClean="0">
                              <a:latin typeface="Cambria Math" panose="02040503050406030204" pitchFamily="18" charset="0"/>
                              <a:cs typeface="Times New Roman" panose="02020603050405020304" pitchFamily="18" charset="0"/>
                            </a:rPr>
                          </m:ctrlPr>
                        </m:dPr>
                        <m:e>
                          <m:r>
                            <a:rPr lang="en-US" altLang="zh-TW" sz="2400" b="1" i="1" smtClean="0">
                              <a:latin typeface="Cambria Math" panose="02040503050406030204" pitchFamily="18" charset="0"/>
                              <a:cs typeface="Times New Roman" panose="02020603050405020304" pitchFamily="18" charset="0"/>
                            </a:rPr>
                            <m:t>𝜶</m:t>
                          </m:r>
                          <m:r>
                            <a:rPr lang="en-US" altLang="zh-TW" sz="2400" b="1" i="1" smtClean="0">
                              <a:latin typeface="Cambria Math" panose="02040503050406030204" pitchFamily="18" charset="0"/>
                              <a:cs typeface="Times New Roman" panose="02020603050405020304" pitchFamily="18" charset="0"/>
                            </a:rPr>
                            <m:t>, </m:t>
                          </m:r>
                          <m:sSub>
                            <m:sSubPr>
                              <m:ctrlPr>
                                <a:rPr lang="en-US" altLang="zh-TW" sz="2400" b="1" i="1" smtClean="0">
                                  <a:latin typeface="Cambria Math" panose="02040503050406030204" pitchFamily="18" charset="0"/>
                                  <a:cs typeface="Times New Roman" panose="02020603050405020304" pitchFamily="18" charset="0"/>
                                </a:rPr>
                              </m:ctrlPr>
                            </m:sSubPr>
                            <m:e>
                              <m:r>
                                <a:rPr lang="en-US" altLang="zh-TW" sz="2400" b="1" i="1" smtClean="0">
                                  <a:latin typeface="Cambria Math" panose="02040503050406030204" pitchFamily="18" charset="0"/>
                                  <a:cs typeface="Times New Roman" panose="02020603050405020304" pitchFamily="18" charset="0"/>
                                </a:rPr>
                                <m:t>𝜾</m:t>
                              </m:r>
                            </m:e>
                            <m:sub>
                              <m:r>
                                <a:rPr lang="en-US" altLang="zh-TW" sz="2400" b="1" i="1" smtClean="0">
                                  <a:latin typeface="Cambria Math" panose="02040503050406030204" pitchFamily="18" charset="0"/>
                                  <a:cs typeface="Times New Roman" panose="02020603050405020304" pitchFamily="18" charset="0"/>
                                </a:rPr>
                                <m:t>𝟔</m:t>
                              </m:r>
                            </m:sub>
                          </m:sSub>
                        </m:e>
                      </m:d>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𝟒</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41" name="標題 1">
                <a:extLst>
                  <a:ext uri="{FF2B5EF4-FFF2-40B4-BE49-F238E27FC236}">
                    <a16:creationId xmlns:a16="http://schemas.microsoft.com/office/drawing/2014/main" id="{2431F0BE-C39A-4159-8BEE-803BC093622F}"/>
                  </a:ext>
                </a:extLst>
              </p:cNvPr>
              <p:cNvSpPr txBox="1">
                <a:spLocks noRot="1" noChangeAspect="1" noMove="1" noResize="1" noEditPoints="1" noAdjustHandles="1" noChangeArrowheads="1" noChangeShapeType="1" noTextEdit="1"/>
              </p:cNvSpPr>
              <p:nvPr/>
            </p:nvSpPr>
            <p:spPr>
              <a:xfrm>
                <a:off x="1087720" y="5728868"/>
                <a:ext cx="5096135" cy="51000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標題 1">
                <a:extLst>
                  <a:ext uri="{FF2B5EF4-FFF2-40B4-BE49-F238E27FC236}">
                    <a16:creationId xmlns:a16="http://schemas.microsoft.com/office/drawing/2014/main" id="{69EEA31F-4BF1-45D0-9617-B58752EDF95F}"/>
                  </a:ext>
                </a:extLst>
              </p:cNvPr>
              <p:cNvSpPr txBox="1">
                <a:spLocks/>
              </p:cNvSpPr>
              <p:nvPr/>
            </p:nvSpPr>
            <p:spPr>
              <a:xfrm>
                <a:off x="1088681" y="1009608"/>
                <a:ext cx="4466546"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27" name="標題 1">
                <a:extLst>
                  <a:ext uri="{FF2B5EF4-FFF2-40B4-BE49-F238E27FC236}">
                    <a16:creationId xmlns:a16="http://schemas.microsoft.com/office/drawing/2014/main" id="{69EEA31F-4BF1-45D0-9617-B58752EDF95F}"/>
                  </a:ext>
                </a:extLst>
              </p:cNvPr>
              <p:cNvSpPr txBox="1">
                <a:spLocks noRot="1" noChangeAspect="1" noMove="1" noResize="1" noEditPoints="1" noAdjustHandles="1" noChangeArrowheads="1" noChangeShapeType="1" noTextEdit="1"/>
              </p:cNvSpPr>
              <p:nvPr/>
            </p:nvSpPr>
            <p:spPr>
              <a:xfrm>
                <a:off x="1088681" y="1009608"/>
                <a:ext cx="4466546" cy="510001"/>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標題 1">
                <a:extLst>
                  <a:ext uri="{FF2B5EF4-FFF2-40B4-BE49-F238E27FC236}">
                    <a16:creationId xmlns:a16="http://schemas.microsoft.com/office/drawing/2014/main" id="{66A0771E-A1A4-4BA4-B7C1-8800005EAF47}"/>
                  </a:ext>
                </a:extLst>
              </p:cNvPr>
              <p:cNvSpPr txBox="1">
                <a:spLocks/>
              </p:cNvSpPr>
              <p:nvPr/>
            </p:nvSpPr>
            <p:spPr>
              <a:xfrm>
                <a:off x="1088679" y="2100253"/>
                <a:ext cx="4466547"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𝝈</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xmlns="">
          <p:sp>
            <p:nvSpPr>
              <p:cNvPr id="28" name="標題 1">
                <a:extLst>
                  <a:ext uri="{FF2B5EF4-FFF2-40B4-BE49-F238E27FC236}">
                    <a16:creationId xmlns:a16="http://schemas.microsoft.com/office/drawing/2014/main" id="{66A0771E-A1A4-4BA4-B7C1-8800005EAF47}"/>
                  </a:ext>
                </a:extLst>
              </p:cNvPr>
              <p:cNvSpPr txBox="1">
                <a:spLocks noRot="1" noChangeAspect="1" noMove="1" noResize="1" noEditPoints="1" noAdjustHandles="1" noChangeArrowheads="1" noChangeShapeType="1" noTextEdit="1"/>
              </p:cNvSpPr>
              <p:nvPr/>
            </p:nvSpPr>
            <p:spPr>
              <a:xfrm>
                <a:off x="1088679" y="2100253"/>
                <a:ext cx="4466547" cy="510001"/>
              </a:xfrm>
              <a:prstGeom prst="rect">
                <a:avLst/>
              </a:prstGeom>
              <a:blipFill>
                <a:blip r:embed="rId1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0931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7" grpId="0"/>
      <p:bldP spid="33"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Reduced permutation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mc:AlternateContent xmlns:mc="http://schemas.openxmlformats.org/markup-compatibility/2006">
        <mc:Choice xmlns:a14="http://schemas.microsoft.com/office/drawing/2010/main" Requires="a14">
          <p:sp>
            <p:nvSpPr>
              <p:cNvPr id="27" name="標題 1">
                <a:extLst>
                  <a:ext uri="{FF2B5EF4-FFF2-40B4-BE49-F238E27FC236}">
                    <a16:creationId xmlns:a16="http://schemas.microsoft.com/office/drawing/2014/main" id="{69EEA31F-4BF1-45D0-9617-B58752EDF95F}"/>
                  </a:ext>
                </a:extLst>
              </p:cNvPr>
              <p:cNvSpPr txBox="1">
                <a:spLocks/>
              </p:cNvSpPr>
              <p:nvPr/>
            </p:nvSpPr>
            <p:spPr>
              <a:xfrm>
                <a:off x="1088680" y="1009608"/>
                <a:ext cx="613321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𝟐</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𝟗</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m:t>
                      </m:r>
                      <m:r>
                        <a:rPr lang="en-US" altLang="zh-TW" sz="2400" b="1" i="1" smtClean="0">
                          <a:latin typeface="Cambria Math" panose="02040503050406030204" pitchFamily="18" charset="0"/>
                          <a:cs typeface="Times New Roman" panose="02020603050405020304" pitchFamily="18" charset="0"/>
                        </a:rPr>
                        <m:t>𝟖</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𝟓</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𝟔</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𝟕</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p:sp>
            <p:nvSpPr>
              <p:cNvPr id="27" name="標題 1">
                <a:extLst>
                  <a:ext uri="{FF2B5EF4-FFF2-40B4-BE49-F238E27FC236}">
                    <a16:creationId xmlns:a16="http://schemas.microsoft.com/office/drawing/2014/main" id="{69EEA31F-4BF1-45D0-9617-B58752EDF95F}"/>
                  </a:ext>
                </a:extLst>
              </p:cNvPr>
              <p:cNvSpPr txBox="1">
                <a:spLocks noRot="1" noChangeAspect="1" noMove="1" noResize="1" noEditPoints="1" noAdjustHandles="1" noChangeArrowheads="1" noChangeShapeType="1" noTextEdit="1"/>
              </p:cNvSpPr>
              <p:nvPr/>
            </p:nvSpPr>
            <p:spPr>
              <a:xfrm>
                <a:off x="1088680" y="1009608"/>
                <a:ext cx="6133213" cy="510001"/>
              </a:xfrm>
              <a:prstGeom prst="rect">
                <a:avLst/>
              </a:prstGeom>
              <a:blipFill>
                <a:blip r:embed="rId2"/>
                <a:stretch>
                  <a:fillRect/>
                </a:stretch>
              </a:blipFill>
            </p:spPr>
            <p:txBody>
              <a:bodyPr/>
              <a:lstStyle/>
              <a:p>
                <a:r>
                  <a:rPr lang="zh-TW" altLang="en-US">
                    <a:noFill/>
                  </a:rPr>
                  <a:t> </a:t>
                </a:r>
              </a:p>
            </p:txBody>
          </p:sp>
        </mc:Fallback>
      </mc:AlternateContent>
      <p:sp>
        <p:nvSpPr>
          <p:cNvPr id="2" name="橢圓 1">
            <a:extLst>
              <a:ext uri="{FF2B5EF4-FFF2-40B4-BE49-F238E27FC236}">
                <a16:creationId xmlns:a16="http://schemas.microsoft.com/office/drawing/2014/main" id="{24692C10-BD05-4DE8-8841-AA562031C43F}"/>
              </a:ext>
            </a:extLst>
          </p:cNvPr>
          <p:cNvSpPr/>
          <p:nvPr/>
        </p:nvSpPr>
        <p:spPr>
          <a:xfrm>
            <a:off x="2985796" y="1351922"/>
            <a:ext cx="163070" cy="1442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橢圓 28">
            <a:extLst>
              <a:ext uri="{FF2B5EF4-FFF2-40B4-BE49-F238E27FC236}">
                <a16:creationId xmlns:a16="http://schemas.microsoft.com/office/drawing/2014/main" id="{D3A4C272-9550-4106-9B9F-A4EAC98A25D3}"/>
              </a:ext>
            </a:extLst>
          </p:cNvPr>
          <p:cNvSpPr/>
          <p:nvPr/>
        </p:nvSpPr>
        <p:spPr>
          <a:xfrm>
            <a:off x="4009076" y="1351922"/>
            <a:ext cx="163070" cy="1442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 name="橢圓 41">
            <a:extLst>
              <a:ext uri="{FF2B5EF4-FFF2-40B4-BE49-F238E27FC236}">
                <a16:creationId xmlns:a16="http://schemas.microsoft.com/office/drawing/2014/main" id="{8D14DAC3-0F3D-448F-BD2C-99BF04BFAEA1}"/>
              </a:ext>
            </a:extLst>
          </p:cNvPr>
          <p:cNvSpPr/>
          <p:nvPr/>
        </p:nvSpPr>
        <p:spPr>
          <a:xfrm>
            <a:off x="5615484" y="1351922"/>
            <a:ext cx="163070" cy="1442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43" name="標題 1">
                <a:extLst>
                  <a:ext uri="{FF2B5EF4-FFF2-40B4-BE49-F238E27FC236}">
                    <a16:creationId xmlns:a16="http://schemas.microsoft.com/office/drawing/2014/main" id="{F8745175-9703-424D-84B7-99AE371F4213}"/>
                  </a:ext>
                </a:extLst>
              </p:cNvPr>
              <p:cNvSpPr txBox="1">
                <a:spLocks/>
              </p:cNvSpPr>
              <p:nvPr/>
            </p:nvSpPr>
            <p:spPr>
              <a:xfrm>
                <a:off x="5796265" y="547444"/>
                <a:ext cx="1690385" cy="3188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breakpoint</m:t>
                      </m:r>
                    </m:oMath>
                  </m:oMathPara>
                </a14:m>
                <a:endParaRPr lang="en-US" altLang="zh-TW" sz="2000" dirty="0">
                  <a:solidFill>
                    <a:srgbClr val="FF0000"/>
                  </a:solidFill>
                  <a:latin typeface="Times New Roman" panose="02020603050405020304" pitchFamily="18" charset="0"/>
                  <a:cs typeface="Times New Roman" panose="02020603050405020304" pitchFamily="18" charset="0"/>
                </a:endParaRPr>
              </a:p>
            </p:txBody>
          </p:sp>
        </mc:Choice>
        <mc:Fallback>
          <p:sp>
            <p:nvSpPr>
              <p:cNvPr id="43" name="標題 1">
                <a:extLst>
                  <a:ext uri="{FF2B5EF4-FFF2-40B4-BE49-F238E27FC236}">
                    <a16:creationId xmlns:a16="http://schemas.microsoft.com/office/drawing/2014/main" id="{F8745175-9703-424D-84B7-99AE371F4213}"/>
                  </a:ext>
                </a:extLst>
              </p:cNvPr>
              <p:cNvSpPr txBox="1">
                <a:spLocks noRot="1" noChangeAspect="1" noMove="1" noResize="1" noEditPoints="1" noAdjustHandles="1" noChangeArrowheads="1" noChangeShapeType="1" noTextEdit="1"/>
              </p:cNvSpPr>
              <p:nvPr/>
            </p:nvSpPr>
            <p:spPr>
              <a:xfrm>
                <a:off x="5796265" y="547444"/>
                <a:ext cx="1690385" cy="318869"/>
              </a:xfrm>
              <a:prstGeom prst="rect">
                <a:avLst/>
              </a:prstGeom>
              <a:blipFill>
                <a:blip r:embed="rId3"/>
                <a:stretch>
                  <a:fillRect b="-3846"/>
                </a:stretch>
              </a:blipFill>
            </p:spPr>
            <p:txBody>
              <a:bodyPr/>
              <a:lstStyle/>
              <a:p>
                <a:r>
                  <a:rPr lang="zh-TW" altLang="en-US">
                    <a:noFill/>
                  </a:rPr>
                  <a:t> </a:t>
                </a:r>
              </a:p>
            </p:txBody>
          </p:sp>
        </mc:Fallback>
      </mc:AlternateContent>
      <p:sp>
        <p:nvSpPr>
          <p:cNvPr id="3" name="橢圓 2">
            <a:extLst>
              <a:ext uri="{FF2B5EF4-FFF2-40B4-BE49-F238E27FC236}">
                <a16:creationId xmlns:a16="http://schemas.microsoft.com/office/drawing/2014/main" id="{C364876B-3ADF-4803-B7AA-BBA70B9EFB7E}"/>
              </a:ext>
            </a:extLst>
          </p:cNvPr>
          <p:cNvSpPr/>
          <p:nvPr/>
        </p:nvSpPr>
        <p:spPr>
          <a:xfrm>
            <a:off x="1996751" y="1009608"/>
            <a:ext cx="1054359" cy="58336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4" name="橢圓 43">
            <a:extLst>
              <a:ext uri="{FF2B5EF4-FFF2-40B4-BE49-F238E27FC236}">
                <a16:creationId xmlns:a16="http://schemas.microsoft.com/office/drawing/2014/main" id="{0C1195AF-BD86-4ABF-83EE-0BA2552500EF}"/>
              </a:ext>
            </a:extLst>
          </p:cNvPr>
          <p:cNvSpPr/>
          <p:nvPr/>
        </p:nvSpPr>
        <p:spPr>
          <a:xfrm>
            <a:off x="3117786" y="1009608"/>
            <a:ext cx="1054359" cy="58336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橢圓 44">
            <a:extLst>
              <a:ext uri="{FF2B5EF4-FFF2-40B4-BE49-F238E27FC236}">
                <a16:creationId xmlns:a16="http://schemas.microsoft.com/office/drawing/2014/main" id="{820271CB-92B4-4769-AB30-3A04051704C2}"/>
              </a:ext>
            </a:extLst>
          </p:cNvPr>
          <p:cNvSpPr/>
          <p:nvPr/>
        </p:nvSpPr>
        <p:spPr>
          <a:xfrm>
            <a:off x="4209933" y="1009608"/>
            <a:ext cx="1445097" cy="58336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橢圓 45">
            <a:extLst>
              <a:ext uri="{FF2B5EF4-FFF2-40B4-BE49-F238E27FC236}">
                <a16:creationId xmlns:a16="http://schemas.microsoft.com/office/drawing/2014/main" id="{112DDA97-1B13-4767-B19B-26C4DF5CDF70}"/>
              </a:ext>
            </a:extLst>
          </p:cNvPr>
          <p:cNvSpPr/>
          <p:nvPr/>
        </p:nvSpPr>
        <p:spPr>
          <a:xfrm>
            <a:off x="5734732" y="1009608"/>
            <a:ext cx="1054359" cy="58336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47" name="標題 1">
                <a:extLst>
                  <a:ext uri="{FF2B5EF4-FFF2-40B4-BE49-F238E27FC236}">
                    <a16:creationId xmlns:a16="http://schemas.microsoft.com/office/drawing/2014/main" id="{EE0214DF-98ED-4772-8903-ACF30063FA2E}"/>
                  </a:ext>
                </a:extLst>
              </p:cNvPr>
              <p:cNvSpPr txBox="1">
                <a:spLocks/>
              </p:cNvSpPr>
              <p:nvPr/>
            </p:nvSpPr>
            <p:spPr>
              <a:xfrm>
                <a:off x="6302056" y="1561636"/>
                <a:ext cx="845193" cy="3188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m:rPr>
                          <m:sty m:val="p"/>
                        </m:rPr>
                        <a:rPr lang="en-US" altLang="zh-TW" sz="2000" b="0" i="0" smtClean="0">
                          <a:solidFill>
                            <a:srgbClr val="002060"/>
                          </a:solidFill>
                          <a:latin typeface="Cambria Math" panose="02040503050406030204" pitchFamily="18" charset="0"/>
                          <a:cs typeface="Times New Roman" panose="02020603050405020304" pitchFamily="18" charset="0"/>
                        </a:rPr>
                        <m:t>strip</m:t>
                      </m:r>
                    </m:oMath>
                  </m:oMathPara>
                </a14:m>
                <a:endParaRPr lang="en-US" altLang="zh-TW" sz="2000" dirty="0">
                  <a:solidFill>
                    <a:srgbClr val="002060"/>
                  </a:solidFill>
                  <a:latin typeface="Times New Roman" panose="02020603050405020304" pitchFamily="18" charset="0"/>
                  <a:cs typeface="Times New Roman" panose="02020603050405020304" pitchFamily="18" charset="0"/>
                </a:endParaRPr>
              </a:p>
            </p:txBody>
          </p:sp>
        </mc:Choice>
        <mc:Fallback>
          <p:sp>
            <p:nvSpPr>
              <p:cNvPr id="47" name="標題 1">
                <a:extLst>
                  <a:ext uri="{FF2B5EF4-FFF2-40B4-BE49-F238E27FC236}">
                    <a16:creationId xmlns:a16="http://schemas.microsoft.com/office/drawing/2014/main" id="{EE0214DF-98ED-4772-8903-ACF30063FA2E}"/>
                  </a:ext>
                </a:extLst>
              </p:cNvPr>
              <p:cNvSpPr txBox="1">
                <a:spLocks noRot="1" noChangeAspect="1" noMove="1" noResize="1" noEditPoints="1" noAdjustHandles="1" noChangeArrowheads="1" noChangeShapeType="1" noTextEdit="1"/>
              </p:cNvSpPr>
              <p:nvPr/>
            </p:nvSpPr>
            <p:spPr>
              <a:xfrm>
                <a:off x="6302056" y="1561636"/>
                <a:ext cx="845193" cy="318869"/>
              </a:xfrm>
              <a:prstGeom prst="rect">
                <a:avLst/>
              </a:prstGeom>
              <a:blipFill>
                <a:blip r:embed="rId4"/>
                <a:stretch>
                  <a:fillRect b="-3846"/>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739229C6-44E9-4903-A6FD-53C4F4E5228E}"/>
              </a:ext>
            </a:extLst>
          </p:cNvPr>
          <p:cNvSpPr/>
          <p:nvPr/>
        </p:nvSpPr>
        <p:spPr>
          <a:xfrm>
            <a:off x="1060774" y="4546627"/>
            <a:ext cx="7022452" cy="400110"/>
          </a:xfrm>
          <a:prstGeom prst="rect">
            <a:avLst/>
          </a:prstGeom>
        </p:spPr>
        <p:txBody>
          <a:bodyPr wrap="squar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(I)(II). Remove the </a:t>
            </a:r>
            <a:r>
              <a:rPr lang="en-US" altLang="zh-TW" sz="2000" dirty="0">
                <a:solidFill>
                  <a:srgbClr val="FF0000"/>
                </a:solidFill>
                <a:latin typeface="Times New Roman" panose="02020603050405020304" pitchFamily="18" charset="0"/>
                <a:cs typeface="Times New Roman" panose="02020603050405020304" pitchFamily="18" charset="0"/>
              </a:rPr>
              <a:t>first</a:t>
            </a:r>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2060"/>
                </a:solidFill>
                <a:latin typeface="Times New Roman" panose="02020603050405020304" pitchFamily="18" charset="0"/>
                <a:cs typeface="Times New Roman" panose="02020603050405020304" pitchFamily="18" charset="0"/>
              </a:rPr>
              <a:t>last strip </a:t>
            </a:r>
            <a:r>
              <a:rPr lang="en-US" altLang="zh-TW" sz="2000" dirty="0">
                <a:solidFill>
                  <a:srgbClr val="0070C0"/>
                </a:solidFill>
                <a:latin typeface="Times New Roman" panose="02020603050405020304" pitchFamily="18" charset="0"/>
                <a:cs typeface="Times New Roman" panose="02020603050405020304" pitchFamily="18" charset="0"/>
              </a:rPr>
              <a:t>if it </a:t>
            </a:r>
            <a:r>
              <a:rPr lang="en-US" altLang="zh-TW" sz="2000" dirty="0">
                <a:solidFill>
                  <a:srgbClr val="FF0000"/>
                </a:solidFill>
                <a:latin typeface="Times New Roman" panose="02020603050405020304" pitchFamily="18" charset="0"/>
                <a:cs typeface="Times New Roman" panose="02020603050405020304" pitchFamily="18" charset="0"/>
              </a:rPr>
              <a:t>starts with +1</a:t>
            </a:r>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2060"/>
                </a:solidFill>
                <a:latin typeface="Times New Roman" panose="02020603050405020304" pitchFamily="18" charset="0"/>
                <a:cs typeface="Times New Roman" panose="02020603050405020304" pitchFamily="18" charset="0"/>
              </a:rPr>
              <a:t>ends with +</a:t>
            </a:r>
            <a:r>
              <a:rPr lang="en-US" altLang="zh-TW" sz="2000" i="1" dirty="0">
                <a:solidFill>
                  <a:srgbClr val="002060"/>
                </a:solidFill>
                <a:latin typeface="Times New Roman" panose="02020603050405020304" pitchFamily="18" charset="0"/>
                <a:cs typeface="Times New Roman" panose="02020603050405020304" pitchFamily="18" charset="0"/>
              </a:rPr>
              <a:t>n</a:t>
            </a:r>
            <a:endParaRPr lang="zh-TW" altLang="en-US" sz="2000" dirty="0">
              <a:solidFill>
                <a:srgbClr val="002060"/>
              </a:solidFill>
              <a:latin typeface="Times New Roman" panose="02020603050405020304" pitchFamily="18" charset="0"/>
              <a:cs typeface="Times New Roman" panose="02020603050405020304" pitchFamily="18" charset="0"/>
            </a:endParaRPr>
          </a:p>
        </p:txBody>
      </p:sp>
      <p:cxnSp>
        <p:nvCxnSpPr>
          <p:cNvPr id="10" name="直線接點 9">
            <a:extLst>
              <a:ext uri="{FF2B5EF4-FFF2-40B4-BE49-F238E27FC236}">
                <a16:creationId xmlns:a16="http://schemas.microsoft.com/office/drawing/2014/main" id="{B104984B-6586-496D-A304-AE94FAEAB8C2}"/>
              </a:ext>
            </a:extLst>
          </p:cNvPr>
          <p:cNvCxnSpPr>
            <a:stCxn id="43" idx="1"/>
            <a:endCxn id="42" idx="0"/>
          </p:cNvCxnSpPr>
          <p:nvPr/>
        </p:nvCxnSpPr>
        <p:spPr>
          <a:xfrm flipH="1">
            <a:off x="5697019" y="706879"/>
            <a:ext cx="99246" cy="645043"/>
          </a:xfrm>
          <a:prstGeom prst="line">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2" name="直線接點 11">
            <a:extLst>
              <a:ext uri="{FF2B5EF4-FFF2-40B4-BE49-F238E27FC236}">
                <a16:creationId xmlns:a16="http://schemas.microsoft.com/office/drawing/2014/main" id="{01C48A14-B1C6-4B00-B1A8-5323226C74EB}"/>
              </a:ext>
            </a:extLst>
          </p:cNvPr>
          <p:cNvCxnSpPr/>
          <p:nvPr/>
        </p:nvCxnSpPr>
        <p:spPr>
          <a:xfrm>
            <a:off x="2099388" y="936242"/>
            <a:ext cx="886408" cy="75799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686057E4-8E8F-4FB5-98C2-46E3AA07E2A9}"/>
              </a:ext>
            </a:extLst>
          </p:cNvPr>
          <p:cNvCxnSpPr>
            <a:cxnSpLocks/>
          </p:cNvCxnSpPr>
          <p:nvPr/>
        </p:nvCxnSpPr>
        <p:spPr>
          <a:xfrm>
            <a:off x="1540913" y="1721070"/>
            <a:ext cx="0" cy="2562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8" name="標題 1">
                <a:extLst>
                  <a:ext uri="{FF2B5EF4-FFF2-40B4-BE49-F238E27FC236}">
                    <a16:creationId xmlns:a16="http://schemas.microsoft.com/office/drawing/2014/main" id="{7430D76F-DF02-4E12-812A-542287791BE9}"/>
                  </a:ext>
                </a:extLst>
              </p:cNvPr>
              <p:cNvSpPr txBox="1">
                <a:spLocks/>
              </p:cNvSpPr>
              <p:nvPr/>
            </p:nvSpPr>
            <p:spPr>
              <a:xfrm>
                <a:off x="1088680" y="1946260"/>
                <a:ext cx="613321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rgbClr val="7030A0"/>
                          </a:solidFill>
                          <a:latin typeface="Cambria Math" panose="02040503050406030204" pitchFamily="18" charset="0"/>
                          <a:cs typeface="Times New Roman" panose="02020603050405020304" pitchFamily="18" charset="0"/>
                        </a:rPr>
                        <m:t>𝟗</m:t>
                      </m:r>
                      <m:r>
                        <a:rPr lang="en-US" altLang="zh-TW" sz="2400" b="1" i="1" smtClean="0">
                          <a:solidFill>
                            <a:srgbClr val="7030A0"/>
                          </a:solidFill>
                          <a:latin typeface="Cambria Math" panose="02040503050406030204" pitchFamily="18" charset="0"/>
                          <a:cs typeface="Times New Roman" panose="02020603050405020304" pitchFamily="18" charset="0"/>
                        </a:rPr>
                        <m:t>, </m:t>
                      </m:r>
                      <m:r>
                        <a:rPr lang="en-US" altLang="zh-TW" sz="2400" b="1" i="1" smtClean="0">
                          <a:solidFill>
                            <a:srgbClr val="7030A0"/>
                          </a:solidFill>
                          <a:latin typeface="Cambria Math" panose="02040503050406030204" pitchFamily="18" charset="0"/>
                          <a:cs typeface="Times New Roman" panose="02020603050405020304" pitchFamily="18" charset="0"/>
                        </a:rPr>
                        <m:t>−</m:t>
                      </m:r>
                      <m:r>
                        <a:rPr lang="en-US" altLang="zh-TW" sz="2400" b="1" i="1" smtClean="0">
                          <a:solidFill>
                            <a:srgbClr val="7030A0"/>
                          </a:solidFill>
                          <a:latin typeface="Cambria Math" panose="02040503050406030204" pitchFamily="18" charset="0"/>
                          <a:cs typeface="Times New Roman" panose="02020603050405020304" pitchFamily="18" charset="0"/>
                        </a:rPr>
                        <m:t>𝟖</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rgbClr val="00B050"/>
                          </a:solidFill>
                          <a:latin typeface="Cambria Math" panose="02040503050406030204" pitchFamily="18" charset="0"/>
                          <a:cs typeface="Times New Roman" panose="02020603050405020304" pitchFamily="18" charset="0"/>
                        </a:rPr>
                        <m:t>+</m:t>
                      </m:r>
                      <m:r>
                        <a:rPr lang="en-US" altLang="zh-TW" sz="2400" b="1" i="1" smtClean="0">
                          <a:solidFill>
                            <a:srgbClr val="00B050"/>
                          </a:solidFill>
                          <a:latin typeface="Cambria Math" panose="02040503050406030204" pitchFamily="18" charset="0"/>
                          <a:cs typeface="Times New Roman" panose="02020603050405020304" pitchFamily="18" charset="0"/>
                        </a:rPr>
                        <m:t>𝟓</m:t>
                      </m:r>
                      <m:r>
                        <a:rPr lang="en-US" altLang="zh-TW" sz="2400" b="1" i="1" smtClean="0">
                          <a:solidFill>
                            <a:srgbClr val="00B050"/>
                          </a:solidFill>
                          <a:latin typeface="Cambria Math" panose="02040503050406030204" pitchFamily="18" charset="0"/>
                          <a:cs typeface="Times New Roman" panose="02020603050405020304" pitchFamily="18" charset="0"/>
                        </a:rPr>
                        <m:t>, +</m:t>
                      </m:r>
                      <m:r>
                        <a:rPr lang="en-US" altLang="zh-TW" sz="2400" b="1" i="1" smtClean="0">
                          <a:solidFill>
                            <a:srgbClr val="00B050"/>
                          </a:solidFill>
                          <a:latin typeface="Cambria Math" panose="02040503050406030204" pitchFamily="18" charset="0"/>
                          <a:cs typeface="Times New Roman" panose="02020603050405020304" pitchFamily="18" charset="0"/>
                        </a:rPr>
                        <m:t>𝟔</m:t>
                      </m:r>
                      <m:r>
                        <a:rPr lang="en-US" altLang="zh-TW" sz="2400" b="1" i="1" smtClean="0">
                          <a:solidFill>
                            <a:srgbClr val="00B050"/>
                          </a:solidFill>
                          <a:latin typeface="Cambria Math" panose="02040503050406030204" pitchFamily="18" charset="0"/>
                          <a:cs typeface="Times New Roman" panose="02020603050405020304" pitchFamily="18" charset="0"/>
                        </a:rPr>
                        <m:t>, +</m:t>
                      </m:r>
                      <m:r>
                        <a:rPr lang="en-US" altLang="zh-TW" sz="2400" b="1" i="1" smtClean="0">
                          <a:solidFill>
                            <a:srgbClr val="00B050"/>
                          </a:solidFill>
                          <a:latin typeface="Cambria Math" panose="02040503050406030204" pitchFamily="18" charset="0"/>
                          <a:cs typeface="Times New Roman" panose="02020603050405020304" pitchFamily="18" charset="0"/>
                        </a:rPr>
                        <m:t>𝟕</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𝟑</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 +</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𝟒</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p:sp>
            <p:nvSpPr>
              <p:cNvPr id="48" name="標題 1">
                <a:extLst>
                  <a:ext uri="{FF2B5EF4-FFF2-40B4-BE49-F238E27FC236}">
                    <a16:creationId xmlns:a16="http://schemas.microsoft.com/office/drawing/2014/main" id="{7430D76F-DF02-4E12-812A-542287791BE9}"/>
                  </a:ext>
                </a:extLst>
              </p:cNvPr>
              <p:cNvSpPr txBox="1">
                <a:spLocks noRot="1" noChangeAspect="1" noMove="1" noResize="1" noEditPoints="1" noAdjustHandles="1" noChangeArrowheads="1" noChangeShapeType="1" noTextEdit="1"/>
              </p:cNvSpPr>
              <p:nvPr/>
            </p:nvSpPr>
            <p:spPr>
              <a:xfrm>
                <a:off x="1088680" y="1946260"/>
                <a:ext cx="6133213" cy="510001"/>
              </a:xfrm>
              <a:prstGeom prst="rect">
                <a:avLst/>
              </a:prstGeom>
              <a:blipFill>
                <a:blip r:embed="rId5"/>
                <a:stretch>
                  <a:fillRect/>
                </a:stretch>
              </a:blipFill>
            </p:spPr>
            <p:txBody>
              <a:bodyPr/>
              <a:lstStyle/>
              <a:p>
                <a:r>
                  <a:rPr lang="zh-TW" altLang="en-US">
                    <a:noFill/>
                  </a:rPr>
                  <a:t> </a:t>
                </a:r>
              </a:p>
            </p:txBody>
          </p:sp>
        </mc:Fallback>
      </mc:AlternateContent>
      <p:sp>
        <p:nvSpPr>
          <p:cNvPr id="49" name="矩形 48">
            <a:extLst>
              <a:ext uri="{FF2B5EF4-FFF2-40B4-BE49-F238E27FC236}">
                <a16:creationId xmlns:a16="http://schemas.microsoft.com/office/drawing/2014/main" id="{C7067A47-4777-430D-B0D1-A5A98645B1A6}"/>
              </a:ext>
            </a:extLst>
          </p:cNvPr>
          <p:cNvSpPr/>
          <p:nvPr/>
        </p:nvSpPr>
        <p:spPr>
          <a:xfrm>
            <a:off x="1060774" y="4971966"/>
            <a:ext cx="7022452" cy="400110"/>
          </a:xfrm>
          <a:prstGeom prst="rect">
            <a:avLst/>
          </a:prstGeom>
        </p:spPr>
        <p:txBody>
          <a:bodyPr wrap="squar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(III). Replace each strip with the smallest element in it</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cxnSp>
        <p:nvCxnSpPr>
          <p:cNvPr id="50" name="直線單箭頭接點 49">
            <a:extLst>
              <a:ext uri="{FF2B5EF4-FFF2-40B4-BE49-F238E27FC236}">
                <a16:creationId xmlns:a16="http://schemas.microsoft.com/office/drawing/2014/main" id="{EAF2BB41-2E16-48AA-B705-5C9B085C66A1}"/>
              </a:ext>
            </a:extLst>
          </p:cNvPr>
          <p:cNvCxnSpPr>
            <a:cxnSpLocks/>
          </p:cNvCxnSpPr>
          <p:nvPr/>
        </p:nvCxnSpPr>
        <p:spPr>
          <a:xfrm>
            <a:off x="1540913" y="2483095"/>
            <a:ext cx="0" cy="2562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 name="標題 1">
                <a:extLst>
                  <a:ext uri="{FF2B5EF4-FFF2-40B4-BE49-F238E27FC236}">
                    <a16:creationId xmlns:a16="http://schemas.microsoft.com/office/drawing/2014/main" id="{CDCD367B-4C31-4DEF-8CB3-8B7146572833}"/>
                  </a:ext>
                </a:extLst>
              </p:cNvPr>
              <p:cNvSpPr txBox="1">
                <a:spLocks/>
              </p:cNvSpPr>
              <p:nvPr/>
            </p:nvSpPr>
            <p:spPr>
              <a:xfrm>
                <a:off x="1088680" y="2708285"/>
                <a:ext cx="613321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rgbClr val="7030A0"/>
                          </a:solidFill>
                          <a:latin typeface="Cambria Math" panose="02040503050406030204" pitchFamily="18" charset="0"/>
                          <a:cs typeface="Times New Roman" panose="02020603050405020304" pitchFamily="18" charset="0"/>
                        </a:rPr>
                        <m:t>𝟗</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rgbClr val="00B050"/>
                          </a:solidFill>
                          <a:latin typeface="Cambria Math" panose="02040503050406030204" pitchFamily="18" charset="0"/>
                          <a:cs typeface="Times New Roman" panose="02020603050405020304" pitchFamily="18" charset="0"/>
                        </a:rPr>
                        <m:t>+</m:t>
                      </m:r>
                      <m:r>
                        <a:rPr lang="en-US" altLang="zh-TW" sz="2400" b="1" i="1" smtClean="0">
                          <a:solidFill>
                            <a:srgbClr val="00B050"/>
                          </a:solidFill>
                          <a:latin typeface="Cambria Math" panose="02040503050406030204" pitchFamily="18" charset="0"/>
                          <a:cs typeface="Times New Roman" panose="02020603050405020304" pitchFamily="18" charset="0"/>
                        </a:rPr>
                        <m:t>𝟓</m:t>
                      </m:r>
                      <m:r>
                        <a:rPr lang="en-US" altLang="zh-TW" sz="2400" b="1" i="1" smtClean="0">
                          <a:solidFill>
                            <a:srgbClr val="00B050"/>
                          </a:solidFill>
                          <a:latin typeface="Cambria Math" panose="02040503050406030204" pitchFamily="18" charset="0"/>
                          <a:cs typeface="Times New Roman" panose="02020603050405020304" pitchFamily="18" charset="0"/>
                        </a:rPr>
                        <m:t>, </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p:sp>
            <p:nvSpPr>
              <p:cNvPr id="51" name="標題 1">
                <a:extLst>
                  <a:ext uri="{FF2B5EF4-FFF2-40B4-BE49-F238E27FC236}">
                    <a16:creationId xmlns:a16="http://schemas.microsoft.com/office/drawing/2014/main" id="{CDCD367B-4C31-4DEF-8CB3-8B7146572833}"/>
                  </a:ext>
                </a:extLst>
              </p:cNvPr>
              <p:cNvSpPr txBox="1">
                <a:spLocks noRot="1" noChangeAspect="1" noMove="1" noResize="1" noEditPoints="1" noAdjustHandles="1" noChangeArrowheads="1" noChangeShapeType="1" noTextEdit="1"/>
              </p:cNvSpPr>
              <p:nvPr/>
            </p:nvSpPr>
            <p:spPr>
              <a:xfrm>
                <a:off x="1088680" y="2708285"/>
                <a:ext cx="6133213" cy="510001"/>
              </a:xfrm>
              <a:prstGeom prst="rect">
                <a:avLst/>
              </a:prstGeom>
              <a:blipFill>
                <a:blip r:embed="rId6"/>
                <a:stretch>
                  <a:fillRect/>
                </a:stretch>
              </a:blipFill>
            </p:spPr>
            <p:txBody>
              <a:bodyPr/>
              <a:lstStyle/>
              <a:p>
                <a:r>
                  <a:rPr lang="zh-TW" altLang="en-US">
                    <a:noFill/>
                  </a:rPr>
                  <a:t> </a:t>
                </a:r>
              </a:p>
            </p:txBody>
          </p:sp>
        </mc:Fallback>
      </mc:AlternateContent>
      <p:cxnSp>
        <p:nvCxnSpPr>
          <p:cNvPr id="52" name="直線單箭頭接點 51">
            <a:extLst>
              <a:ext uri="{FF2B5EF4-FFF2-40B4-BE49-F238E27FC236}">
                <a16:creationId xmlns:a16="http://schemas.microsoft.com/office/drawing/2014/main" id="{27FD7FDF-40CA-4CA0-867C-597DED40377B}"/>
              </a:ext>
            </a:extLst>
          </p:cNvPr>
          <p:cNvCxnSpPr>
            <a:cxnSpLocks/>
          </p:cNvCxnSpPr>
          <p:nvPr/>
        </p:nvCxnSpPr>
        <p:spPr>
          <a:xfrm>
            <a:off x="1540913" y="3215346"/>
            <a:ext cx="0" cy="2562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3" name="標題 1">
                <a:extLst>
                  <a:ext uri="{FF2B5EF4-FFF2-40B4-BE49-F238E27FC236}">
                    <a16:creationId xmlns:a16="http://schemas.microsoft.com/office/drawing/2014/main" id="{E51D71B3-543A-43B7-A08F-675C84A96FCF}"/>
                  </a:ext>
                </a:extLst>
              </p:cNvPr>
              <p:cNvSpPr txBox="1">
                <a:spLocks/>
              </p:cNvSpPr>
              <p:nvPr/>
            </p:nvSpPr>
            <p:spPr>
              <a:xfrm>
                <a:off x="1088680" y="3440536"/>
                <a:ext cx="613321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𝝅</m:t>
                      </m:r>
                      <m:r>
                        <a:rPr lang="en-US" altLang="zh-TW" sz="2400" b="1" i="1" smtClean="0">
                          <a:latin typeface="Cambria Math" panose="02040503050406030204" pitchFamily="18" charset="0"/>
                          <a:cs typeface="Times New Roman" panose="02020603050405020304" pitchFamily="18" charset="0"/>
                        </a:rPr>
                        <m:t>= &lt;−</m:t>
                      </m:r>
                      <m:r>
                        <a:rPr lang="en-US" altLang="zh-TW" sz="2400" b="1" i="1" smtClean="0">
                          <a:solidFill>
                            <a:srgbClr val="7030A0"/>
                          </a:solidFill>
                          <a:latin typeface="Cambria Math" panose="02040503050406030204" pitchFamily="18" charset="0"/>
                          <a:cs typeface="Times New Roman" panose="02020603050405020304" pitchFamily="18" charset="0"/>
                        </a:rPr>
                        <m:t>𝟑</m:t>
                      </m:r>
                      <m:r>
                        <a:rPr lang="en-US" altLang="zh-TW" sz="2400" b="1" i="1" smtClean="0">
                          <a:latin typeface="Cambria Math" panose="02040503050406030204" pitchFamily="18" charset="0"/>
                          <a:cs typeface="Times New Roman" panose="02020603050405020304" pitchFamily="18" charset="0"/>
                        </a:rPr>
                        <m:t>, </m:t>
                      </m:r>
                      <m:r>
                        <a:rPr lang="en-US" altLang="zh-TW" sz="2400" b="1" i="1" smtClean="0">
                          <a:solidFill>
                            <a:srgbClr val="00B050"/>
                          </a:solidFill>
                          <a:latin typeface="Cambria Math" panose="02040503050406030204" pitchFamily="18" charset="0"/>
                          <a:cs typeface="Times New Roman" panose="02020603050405020304" pitchFamily="18" charset="0"/>
                        </a:rPr>
                        <m:t>+</m:t>
                      </m:r>
                      <m:r>
                        <a:rPr lang="en-US" altLang="zh-TW" sz="2400" b="1" i="1" smtClean="0">
                          <a:solidFill>
                            <a:srgbClr val="00B050"/>
                          </a:solidFill>
                          <a:latin typeface="Cambria Math" panose="02040503050406030204" pitchFamily="18" charset="0"/>
                          <a:cs typeface="Times New Roman" panose="02020603050405020304" pitchFamily="18" charset="0"/>
                        </a:rPr>
                        <m:t>𝟐</m:t>
                      </m:r>
                      <m:r>
                        <a:rPr lang="en-US" altLang="zh-TW" sz="2400" b="1" i="1" smtClean="0">
                          <a:solidFill>
                            <a:srgbClr val="00B050"/>
                          </a:solidFill>
                          <a:latin typeface="Cambria Math" panose="02040503050406030204" pitchFamily="18" charset="0"/>
                          <a:cs typeface="Times New Roman" panose="02020603050405020304" pitchFamily="18" charset="0"/>
                        </a:rPr>
                        <m:t>, </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altLang="zh-TW" sz="2400" b="1" i="1" smtClean="0">
                          <a:solidFill>
                            <a:schemeClr val="accent2">
                              <a:lumMod val="75000"/>
                            </a:schemeClr>
                          </a:solidFill>
                          <a:latin typeface="Cambria Math" panose="02040503050406030204" pitchFamily="18" charset="0"/>
                          <a:cs typeface="Times New Roman" panose="02020603050405020304" pitchFamily="18" charset="0"/>
                        </a:rPr>
                        <m:t>𝟏</m:t>
                      </m:r>
                      <m:r>
                        <a:rPr lang="en-US" altLang="zh-TW" sz="2400" b="1" i="1" smtClean="0">
                          <a:latin typeface="Cambria Math" panose="02040503050406030204" pitchFamily="18" charset="0"/>
                          <a:cs typeface="Times New Roman" panose="02020603050405020304" pitchFamily="18" charset="0"/>
                        </a:rPr>
                        <m:t>&gt;</m:t>
                      </m:r>
                    </m:oMath>
                  </m:oMathPara>
                </a14:m>
                <a:endParaRPr lang="en-US" altLang="zh-TW" sz="2400" b="1" dirty="0">
                  <a:latin typeface="Arial Black" panose="020B0A04020102020204" pitchFamily="34" charset="0"/>
                  <a:cs typeface="Times New Roman" panose="02020603050405020304" pitchFamily="18" charset="0"/>
                </a:endParaRPr>
              </a:p>
            </p:txBody>
          </p:sp>
        </mc:Choice>
        <mc:Fallback>
          <p:sp>
            <p:nvSpPr>
              <p:cNvPr id="53" name="標題 1">
                <a:extLst>
                  <a:ext uri="{FF2B5EF4-FFF2-40B4-BE49-F238E27FC236}">
                    <a16:creationId xmlns:a16="http://schemas.microsoft.com/office/drawing/2014/main" id="{E51D71B3-543A-43B7-A08F-675C84A96FCF}"/>
                  </a:ext>
                </a:extLst>
              </p:cNvPr>
              <p:cNvSpPr txBox="1">
                <a:spLocks noRot="1" noChangeAspect="1" noMove="1" noResize="1" noEditPoints="1" noAdjustHandles="1" noChangeArrowheads="1" noChangeShapeType="1" noTextEdit="1"/>
              </p:cNvSpPr>
              <p:nvPr/>
            </p:nvSpPr>
            <p:spPr>
              <a:xfrm>
                <a:off x="1088680" y="3440536"/>
                <a:ext cx="6133213" cy="510001"/>
              </a:xfrm>
              <a:prstGeom prst="rect">
                <a:avLst/>
              </a:prstGeom>
              <a:blipFill>
                <a:blip r:embed="rId7"/>
                <a:stretch>
                  <a:fillRect/>
                </a:stretch>
              </a:blipFill>
            </p:spPr>
            <p:txBody>
              <a:bodyPr/>
              <a:lstStyle/>
              <a:p>
                <a:r>
                  <a:rPr lang="zh-TW" altLang="en-US">
                    <a:noFill/>
                  </a:rPr>
                  <a:t> </a:t>
                </a:r>
              </a:p>
            </p:txBody>
          </p:sp>
        </mc:Fallback>
      </mc:AlternateContent>
      <p:sp>
        <p:nvSpPr>
          <p:cNvPr id="54" name="矩形 53">
            <a:extLst>
              <a:ext uri="{FF2B5EF4-FFF2-40B4-BE49-F238E27FC236}">
                <a16:creationId xmlns:a16="http://schemas.microsoft.com/office/drawing/2014/main" id="{F86A14FF-0344-4CAD-BDC4-77FCDA56D5B7}"/>
              </a:ext>
            </a:extLst>
          </p:cNvPr>
          <p:cNvSpPr/>
          <p:nvPr/>
        </p:nvSpPr>
        <p:spPr>
          <a:xfrm>
            <a:off x="1060774" y="5397305"/>
            <a:ext cx="7022452" cy="400110"/>
          </a:xfrm>
          <a:prstGeom prst="rect">
            <a:avLst/>
          </a:prstGeom>
        </p:spPr>
        <p:txBody>
          <a:bodyPr wrap="squar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(IV). Renumber the sequence to obtain a valid permutation</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18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500"/>
                                        <p:tgtEl>
                                          <p:spTgt spid="2"/>
                                        </p:tgtEl>
                                      </p:cBhvr>
                                    </p:animEffect>
                                  </p:childTnLst>
                                </p:cTn>
                              </p:par>
                              <p:par>
                                <p:cTn id="8" presetID="6" presetClass="entr" presetSubtype="32"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circle(out)">
                                      <p:cBhvr>
                                        <p:cTn id="10" dur="500"/>
                                        <p:tgtEl>
                                          <p:spTgt spid="29"/>
                                        </p:tgtEl>
                                      </p:cBhvr>
                                    </p:animEffect>
                                  </p:childTnLst>
                                </p:cTn>
                              </p:par>
                              <p:par>
                                <p:cTn id="11" presetID="6" presetClass="entr" presetSubtype="32"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circle(out)">
                                      <p:cBhvr>
                                        <p:cTn id="13" dur="500"/>
                                        <p:tgtEl>
                                          <p:spTgt spid="42"/>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1)">
                                      <p:cBhvr>
                                        <p:cTn id="25" dur="500"/>
                                        <p:tgtEl>
                                          <p:spTgt spid="3"/>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heel(1)">
                                      <p:cBhvr>
                                        <p:cTn id="28" dur="500"/>
                                        <p:tgtEl>
                                          <p:spTgt spid="44"/>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heel(1)">
                                      <p:cBhvr>
                                        <p:cTn id="31" dur="500"/>
                                        <p:tgtEl>
                                          <p:spTgt spid="45"/>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heel(1)">
                                      <p:cBhvr>
                                        <p:cTn id="34" dur="500"/>
                                        <p:tgtEl>
                                          <p:spTgt spid="46"/>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500"/>
                                        <p:tgtEl>
                                          <p:spTgt spid="4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2"/>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9"/>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42"/>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0"/>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3"/>
                                        </p:tgtEl>
                                        <p:attrNameLst>
                                          <p:attrName>style.visibility</p:attrName>
                                        </p:attrNameLst>
                                      </p:cBhvr>
                                      <p:to>
                                        <p:strVal val="hidden"/>
                                      </p:to>
                                    </p:set>
                                  </p:childTnLst>
                                </p:cTn>
                              </p:par>
                              <p:par>
                                <p:cTn id="51" presetID="2" presetClass="entr" presetSubtype="4"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additive="base">
                                        <p:cTn id="53" dur="500" fill="hold"/>
                                        <p:tgtEl>
                                          <p:spTgt spid="7"/>
                                        </p:tgtEl>
                                        <p:attrNameLst>
                                          <p:attrName>ppt_x</p:attrName>
                                        </p:attrNameLst>
                                      </p:cBhvr>
                                      <p:tavLst>
                                        <p:tav tm="0">
                                          <p:val>
                                            <p:strVal val="#ppt_x"/>
                                          </p:val>
                                        </p:tav>
                                        <p:tav tm="100000">
                                          <p:val>
                                            <p:strVal val="#ppt_x"/>
                                          </p:val>
                                        </p:tav>
                                      </p:tavLst>
                                    </p:anim>
                                    <p:anim calcmode="lin" valueType="num">
                                      <p:cBhvr additive="base">
                                        <p:cTn id="5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fill="hold"/>
                                        <p:tgtEl>
                                          <p:spTgt spid="49"/>
                                        </p:tgtEl>
                                        <p:attrNameLst>
                                          <p:attrName>ppt_x</p:attrName>
                                        </p:attrNameLst>
                                      </p:cBhvr>
                                      <p:tavLst>
                                        <p:tav tm="0">
                                          <p:val>
                                            <p:strVal val="#ppt_x"/>
                                          </p:val>
                                        </p:tav>
                                        <p:tav tm="100000">
                                          <p:val>
                                            <p:strVal val="#ppt_x"/>
                                          </p:val>
                                        </p:tav>
                                      </p:tavLst>
                                    </p:anim>
                                    <p:anim calcmode="lin" valueType="num">
                                      <p:cBhvr additive="base">
                                        <p:cTn id="72" dur="500" fill="hold"/>
                                        <p:tgtEl>
                                          <p:spTgt spid="49"/>
                                        </p:tgtEl>
                                        <p:attrNameLst>
                                          <p:attrName>ppt_y</p:attrName>
                                        </p:attrNameLst>
                                      </p:cBhvr>
                                      <p:tavLst>
                                        <p:tav tm="0">
                                          <p:val>
                                            <p:strVal val="1+#ppt_h/2"/>
                                          </p:val>
                                        </p:tav>
                                        <p:tav tm="100000">
                                          <p:val>
                                            <p:strVal val="#ppt_y"/>
                                          </p:val>
                                        </p:tav>
                                      </p:tavLst>
                                    </p:anim>
                                  </p:childTnLst>
                                </p:cTn>
                              </p:par>
                            </p:childTnLst>
                          </p:cTn>
                        </p:par>
                        <p:par>
                          <p:cTn id="73" fill="hold">
                            <p:stCondLst>
                              <p:cond delay="500"/>
                            </p:stCondLst>
                            <p:childTnLst>
                              <p:par>
                                <p:cTn id="74" presetID="10" presetClass="entr" presetSubtype="0" fill="hold" nodeType="afterEffect">
                                  <p:stCondLst>
                                    <p:cond delay="0"/>
                                  </p:stCondLst>
                                  <p:childTnLst>
                                    <p:set>
                                      <p:cBhvr>
                                        <p:cTn id="75" dur="1" fill="hold">
                                          <p:stCondLst>
                                            <p:cond delay="0"/>
                                          </p:stCondLst>
                                        </p:cTn>
                                        <p:tgtEl>
                                          <p:spTgt spid="50"/>
                                        </p:tgtEl>
                                        <p:attrNameLst>
                                          <p:attrName>style.visibility</p:attrName>
                                        </p:attrNameLst>
                                      </p:cBhvr>
                                      <p:to>
                                        <p:strVal val="visible"/>
                                      </p:to>
                                    </p:set>
                                    <p:animEffect transition="in" filter="fade">
                                      <p:cBhvr>
                                        <p:cTn id="76" dur="500"/>
                                        <p:tgtEl>
                                          <p:spTgt spid="5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500"/>
                                        <p:tgtEl>
                                          <p:spTgt spid="51"/>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54"/>
                                        </p:tgtEl>
                                        <p:attrNameLst>
                                          <p:attrName>style.visibility</p:attrName>
                                        </p:attrNameLst>
                                      </p:cBhvr>
                                      <p:to>
                                        <p:strVal val="visible"/>
                                      </p:to>
                                    </p:set>
                                    <p:anim calcmode="lin" valueType="num">
                                      <p:cBhvr additive="base">
                                        <p:cTn id="84" dur="500" fill="hold"/>
                                        <p:tgtEl>
                                          <p:spTgt spid="54"/>
                                        </p:tgtEl>
                                        <p:attrNameLst>
                                          <p:attrName>ppt_x</p:attrName>
                                        </p:attrNameLst>
                                      </p:cBhvr>
                                      <p:tavLst>
                                        <p:tav tm="0">
                                          <p:val>
                                            <p:strVal val="#ppt_x"/>
                                          </p:val>
                                        </p:tav>
                                        <p:tav tm="100000">
                                          <p:val>
                                            <p:strVal val="#ppt_x"/>
                                          </p:val>
                                        </p:tav>
                                      </p:tavLst>
                                    </p:anim>
                                    <p:anim calcmode="lin" valueType="num">
                                      <p:cBhvr additive="base">
                                        <p:cTn id="85" dur="500" fill="hold"/>
                                        <p:tgtEl>
                                          <p:spTgt spid="54"/>
                                        </p:tgtEl>
                                        <p:attrNameLst>
                                          <p:attrName>ppt_y</p:attrName>
                                        </p:attrNameLst>
                                      </p:cBhvr>
                                      <p:tavLst>
                                        <p:tav tm="0">
                                          <p:val>
                                            <p:strVal val="1+#ppt_h/2"/>
                                          </p:val>
                                        </p:tav>
                                        <p:tav tm="100000">
                                          <p:val>
                                            <p:strVal val="#ppt_y"/>
                                          </p:val>
                                        </p:tav>
                                      </p:tavLst>
                                    </p:anim>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52"/>
                                        </p:tgtEl>
                                        <p:attrNameLst>
                                          <p:attrName>style.visibility</p:attrName>
                                        </p:attrNameLst>
                                      </p:cBhvr>
                                      <p:to>
                                        <p:strVal val="visible"/>
                                      </p:to>
                                    </p:set>
                                    <p:animEffect transition="in" filter="fade">
                                      <p:cBhvr>
                                        <p:cTn id="89" dur="500"/>
                                        <p:tgtEl>
                                          <p:spTgt spid="5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9" grpId="0" animBg="1"/>
      <p:bldP spid="29" grpId="1" animBg="1"/>
      <p:bldP spid="42" grpId="0" animBg="1"/>
      <p:bldP spid="42" grpId="1" animBg="1"/>
      <p:bldP spid="43" grpId="0"/>
      <p:bldP spid="43" grpId="1"/>
      <p:bldP spid="3" grpId="0" animBg="1"/>
      <p:bldP spid="44" grpId="0" animBg="1"/>
      <p:bldP spid="45" grpId="0" animBg="1"/>
      <p:bldP spid="46" grpId="0" animBg="1"/>
      <p:bldP spid="47" grpId="0"/>
      <p:bldP spid="7" grpId="0"/>
      <p:bldP spid="48" grpId="0"/>
      <p:bldP spid="49" grpId="0"/>
      <p:bldP spid="51" grpId="0"/>
      <p:bldP spid="53" grpId="0"/>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1A4797-B2A7-497D-8EC0-DE6C7B454E02}"/>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5" name="標題 1">
            <a:extLst>
              <a:ext uri="{FF2B5EF4-FFF2-40B4-BE49-F238E27FC236}">
                <a16:creationId xmlns:a16="http://schemas.microsoft.com/office/drawing/2014/main" id="{937938C5-35E6-422E-B136-7B958FA680F8}"/>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Heuristic – Sliding Window</a:t>
            </a:r>
            <a:endParaRPr lang="zh-TW" altLang="en-US" sz="3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524C8B19-FA98-444D-BA30-A0631284216D}"/>
              </a:ext>
            </a:extLst>
          </p:cNvPr>
          <p:cNvPicPr>
            <a:picLocks noChangeAspect="1"/>
          </p:cNvPicPr>
          <p:nvPr/>
        </p:nvPicPr>
        <p:blipFill>
          <a:blip r:embed="rId3"/>
          <a:stretch>
            <a:fillRect/>
          </a:stretch>
        </p:blipFill>
        <p:spPr>
          <a:xfrm>
            <a:off x="303101" y="2544170"/>
            <a:ext cx="8084962" cy="3349190"/>
          </a:xfrm>
          <a:prstGeom prst="rect">
            <a:avLst/>
          </a:prstGeom>
        </p:spPr>
      </p:pic>
      <p:sp>
        <p:nvSpPr>
          <p:cNvPr id="7" name="矩形 6">
            <a:extLst>
              <a:ext uri="{FF2B5EF4-FFF2-40B4-BE49-F238E27FC236}">
                <a16:creationId xmlns:a16="http://schemas.microsoft.com/office/drawing/2014/main" id="{7E11EDCC-7D1A-43D3-8C00-E01D2C7F7B41}"/>
              </a:ext>
            </a:extLst>
          </p:cNvPr>
          <p:cNvSpPr/>
          <p:nvPr/>
        </p:nvSpPr>
        <p:spPr>
          <a:xfrm>
            <a:off x="3732189" y="5863246"/>
            <a:ext cx="1596895" cy="523220"/>
          </a:xfrm>
          <a:prstGeom prst="rect">
            <a:avLst/>
          </a:prstGeom>
        </p:spPr>
        <p:txBody>
          <a:bodyPr wrap="square">
            <a:spAutoFit/>
          </a:bodyPr>
          <a:lstStyle/>
          <a:p>
            <a:pPr>
              <a:lnSpc>
                <a:spcPct val="100000"/>
              </a:lnSpc>
            </a:pPr>
            <a:r>
              <a:rPr lang="en-US" altLang="zh-TW" sz="2800" dirty="0">
                <a:solidFill>
                  <a:srgbClr val="0070C0"/>
                </a:solidFill>
                <a:latin typeface="Times New Roman" panose="02020603050405020304" pitchFamily="18" charset="0"/>
                <a:cs typeface="Times New Roman" panose="02020603050405020304" pitchFamily="18" charset="0"/>
              </a:rPr>
              <a:t>database</a:t>
            </a:r>
          </a:p>
        </p:txBody>
      </p:sp>
      <mc:AlternateContent xmlns:mc="http://schemas.openxmlformats.org/markup-compatibility/2006" xmlns:a14="http://schemas.microsoft.com/office/drawing/2010/main">
        <mc:Choice Requires="a14">
          <p:sp>
            <p:nvSpPr>
              <p:cNvPr id="8" name="標題 1">
                <a:extLst>
                  <a:ext uri="{FF2B5EF4-FFF2-40B4-BE49-F238E27FC236}">
                    <a16:creationId xmlns:a16="http://schemas.microsoft.com/office/drawing/2014/main" id="{42E050D3-7CCC-4137-9EE9-D985834B2DB2}"/>
                  </a:ext>
                </a:extLst>
              </p:cNvPr>
              <p:cNvSpPr txBox="1">
                <a:spLocks/>
              </p:cNvSpPr>
              <p:nvPr/>
            </p:nvSpPr>
            <p:spPr>
              <a:xfrm>
                <a:off x="589045" y="1014167"/>
                <a:ext cx="641333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𝑖𝑛𝑝𝑢𝑡</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a:latin typeface="Cambria Math" panose="02040503050406030204" pitchFamily="18" charset="0"/>
                        <a:cs typeface="Times New Roman" panose="02020603050405020304" pitchFamily="18" charset="0"/>
                      </a:rPr>
                      <m:t>𝜋</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algorithm </a:t>
                </a:r>
                <a14:m>
                  <m:oMath xmlns:m="http://schemas.openxmlformats.org/officeDocument/2006/math">
                    <m:r>
                      <a:rPr lang="en-US" altLang="zh-TW" sz="2400" i="1" dirty="0" smtClean="0">
                        <a:solidFill>
                          <a:srgbClr val="002060"/>
                        </a:solidFill>
                        <a:latin typeface="Cambria Math" panose="02040503050406030204" pitchFamily="18" charset="0"/>
                        <a:cs typeface="Times New Roman" panose="02020603050405020304" pitchFamily="18" charset="0"/>
                      </a:rPr>
                      <m:t>𝑎𝑙𝑔</m:t>
                    </m:r>
                  </m:oMath>
                </a14:m>
                <a:endParaRPr lang="en-US" altLang="zh-TW" sz="2400" dirty="0">
                  <a:solidFill>
                    <a:srgbClr val="002060"/>
                  </a:solidFill>
                  <a:latin typeface="Arial Black" panose="020B0A04020102020204" pitchFamily="34" charset="0"/>
                  <a:cs typeface="Times New Roman" panose="02020603050405020304" pitchFamily="18" charset="0"/>
                </a:endParaRPr>
              </a:p>
            </p:txBody>
          </p:sp>
        </mc:Choice>
        <mc:Fallback xmlns="">
          <p:sp>
            <p:nvSpPr>
              <p:cNvPr id="8" name="標題 1">
                <a:extLst>
                  <a:ext uri="{FF2B5EF4-FFF2-40B4-BE49-F238E27FC236}">
                    <a16:creationId xmlns:a16="http://schemas.microsoft.com/office/drawing/2014/main" id="{42E050D3-7CCC-4137-9EE9-D985834B2DB2}"/>
                  </a:ext>
                </a:extLst>
              </p:cNvPr>
              <p:cNvSpPr txBox="1">
                <a:spLocks noRot="1" noChangeAspect="1" noMove="1" noResize="1" noEditPoints="1" noAdjustHandles="1" noChangeArrowheads="1" noChangeShapeType="1" noTextEdit="1"/>
              </p:cNvSpPr>
              <p:nvPr/>
            </p:nvSpPr>
            <p:spPr>
              <a:xfrm>
                <a:off x="589045" y="1014167"/>
                <a:ext cx="6413333" cy="510001"/>
              </a:xfrm>
              <a:prstGeom prst="rect">
                <a:avLst/>
              </a:prstGeom>
              <a:blipFill>
                <a:blip r:embed="rId4"/>
                <a:stretch>
                  <a:fillRect l="-760" b="-34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D895A62A-AFCD-40E2-BC47-254BC787FB1E}"/>
                  </a:ext>
                </a:extLst>
              </p:cNvPr>
              <p:cNvSpPr txBox="1">
                <a:spLocks/>
              </p:cNvSpPr>
              <p:nvPr/>
            </p:nvSpPr>
            <p:spPr>
              <a:xfrm>
                <a:off x="402233" y="1524168"/>
                <a:ext cx="5733096"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𝑜𝑢𝑡𝑝𝑢𝑡</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 sequence of rearrangement events</a:t>
                </a:r>
                <a:endParaRPr lang="en-US" altLang="zh-TW" sz="2400" dirty="0">
                  <a:solidFill>
                    <a:srgbClr val="002060"/>
                  </a:solidFill>
                  <a:latin typeface="Arial Black" panose="020B0A04020102020204" pitchFamily="34"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D895A62A-AFCD-40E2-BC47-254BC787FB1E}"/>
                  </a:ext>
                </a:extLst>
              </p:cNvPr>
              <p:cNvSpPr txBox="1">
                <a:spLocks noRot="1" noChangeAspect="1" noMove="1" noResize="1" noEditPoints="1" noAdjustHandles="1" noChangeArrowheads="1" noChangeShapeType="1" noTextEdit="1"/>
              </p:cNvSpPr>
              <p:nvPr/>
            </p:nvSpPr>
            <p:spPr>
              <a:xfrm>
                <a:off x="402233" y="1524168"/>
                <a:ext cx="5733096" cy="510001"/>
              </a:xfrm>
              <a:prstGeom prst="rect">
                <a:avLst/>
              </a:prstGeom>
              <a:blipFill>
                <a:blip r:embed="rId5"/>
                <a:stretch>
                  <a:fillRect l="-638" b="-3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EB6F4442-54E6-4ED4-A535-072BE3DB98AE}"/>
                  </a:ext>
                </a:extLst>
              </p:cNvPr>
              <p:cNvSpPr/>
              <p:nvPr/>
            </p:nvSpPr>
            <p:spPr>
              <a:xfrm>
                <a:off x="6132236" y="1576662"/>
                <a:ext cx="2708828" cy="40011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sSup>
                        <m:sSupPr>
                          <m:ctrlPr>
                            <a:rPr lang="en-US" altLang="zh-TW" sz="2000" b="0" i="1" dirty="0" smtClean="0">
                              <a:solidFill>
                                <a:srgbClr val="0070C0"/>
                              </a:solidFill>
                              <a:latin typeface="Cambria Math" panose="02040503050406030204" pitchFamily="18" charset="0"/>
                              <a:cs typeface="Times New Roman" panose="02020603050405020304" pitchFamily="18" charset="0"/>
                            </a:rPr>
                          </m:ctrlPr>
                        </m:sSupPr>
                        <m:e>
                          <m:r>
                            <a:rPr lang="en-US" altLang="zh-TW" sz="2000" b="0" i="1" dirty="0" smtClean="0">
                              <a:solidFill>
                                <a:srgbClr val="0070C0"/>
                              </a:solidFill>
                              <a:latin typeface="Cambria Math" panose="02040503050406030204" pitchFamily="18" charset="0"/>
                              <a:cs typeface="Times New Roman" panose="02020603050405020304" pitchFamily="18" charset="0"/>
                            </a:rPr>
                            <m:t>𝑆</m:t>
                          </m:r>
                        </m:e>
                        <m:sup>
                          <m:r>
                            <a:rPr lang="en-US" altLang="zh-TW" sz="2000" b="0" i="1" dirty="0" smtClean="0">
                              <a:solidFill>
                                <a:srgbClr val="0070C0"/>
                              </a:solidFill>
                              <a:latin typeface="Cambria Math" panose="02040503050406030204" pitchFamily="18" charset="0"/>
                              <a:cs typeface="Times New Roman" panose="02020603050405020304" pitchFamily="18" charset="0"/>
                            </a:rPr>
                            <m:t>𝑊</m:t>
                          </m:r>
                          <m:r>
                            <a:rPr lang="en-US" altLang="zh-TW" sz="2000" b="0" i="1" dirty="0" smtClean="0">
                              <a:solidFill>
                                <a:srgbClr val="0070C0"/>
                              </a:solidFill>
                              <a:latin typeface="Cambria Math" panose="02040503050406030204" pitchFamily="18" charset="0"/>
                              <a:cs typeface="Times New Roman" panose="02020603050405020304" pitchFamily="18" charset="0"/>
                            </a:rPr>
                            <m:t>′</m:t>
                          </m:r>
                        </m:sup>
                      </m:sSup>
                      <m:r>
                        <a:rPr lang="en-US" altLang="zh-TW" sz="2000" b="0" i="0" dirty="0" smtClean="0">
                          <a:solidFill>
                            <a:srgbClr val="0070C0"/>
                          </a:solidFill>
                          <a:latin typeface="Cambria Math" panose="02040503050406030204" pitchFamily="18" charset="0"/>
                          <a:cs typeface="Times New Roman" panose="02020603050405020304" pitchFamily="18" charset="0"/>
                        </a:rPr>
                        <m:t>=[</m:t>
                      </m:r>
                      <m:sSup>
                        <m:sSupPr>
                          <m:ctrlPr>
                            <a:rPr lang="en-US" altLang="zh-TW" sz="2000" b="0" i="1" dirty="0" smtClean="0">
                              <a:solidFill>
                                <a:srgbClr val="0070C0"/>
                              </a:solidFill>
                              <a:latin typeface="Cambria Math" panose="02040503050406030204" pitchFamily="18" charset="0"/>
                              <a:cs typeface="Times New Roman" panose="02020603050405020304" pitchFamily="18" charset="0"/>
                            </a:rPr>
                          </m:ctrlPr>
                        </m:sSupPr>
                        <m:e>
                          <m:r>
                            <a:rPr lang="en-US" altLang="zh-TW" sz="2000" b="0" i="1" dirty="0" smtClean="0">
                              <a:solidFill>
                                <a:srgbClr val="0070C0"/>
                              </a:solidFill>
                              <a:latin typeface="Cambria Math" panose="02040503050406030204" pitchFamily="18" charset="0"/>
                              <a:cs typeface="Times New Roman" panose="02020603050405020304" pitchFamily="18" charset="0"/>
                            </a:rPr>
                            <m:t>𝜋</m:t>
                          </m:r>
                        </m:e>
                        <m:sup>
                          <m:r>
                            <a:rPr lang="en-US" altLang="zh-TW" sz="2000" b="0" i="1" dirty="0" smtClean="0">
                              <a:solidFill>
                                <a:srgbClr val="0070C0"/>
                              </a:solidFill>
                              <a:latin typeface="Cambria Math" panose="02040503050406030204" pitchFamily="18" charset="0"/>
                              <a:cs typeface="Times New Roman" panose="02020603050405020304" pitchFamily="18" charset="0"/>
                            </a:rPr>
                            <m:t>0</m:t>
                          </m:r>
                        </m:sup>
                      </m:sSup>
                      <m:r>
                        <a:rPr lang="en-US" altLang="zh-TW" sz="2000" b="0" i="1" dirty="0" smtClean="0">
                          <a:solidFill>
                            <a:srgbClr val="0070C0"/>
                          </a:solidFill>
                          <a:latin typeface="Cambria Math" panose="02040503050406030204" pitchFamily="18" charset="0"/>
                          <a:cs typeface="Times New Roman" panose="02020603050405020304" pitchFamily="18" charset="0"/>
                        </a:rPr>
                        <m:t>,</m:t>
                      </m:r>
                      <m:sSup>
                        <m:sSupPr>
                          <m:ctrlPr>
                            <a:rPr lang="en-US" altLang="zh-TW" sz="2000" b="0" i="1" dirty="0" smtClean="0">
                              <a:solidFill>
                                <a:srgbClr val="0070C0"/>
                              </a:solidFill>
                              <a:latin typeface="Cambria Math" panose="02040503050406030204" pitchFamily="18" charset="0"/>
                              <a:cs typeface="Times New Roman" panose="02020603050405020304" pitchFamily="18" charset="0"/>
                            </a:rPr>
                          </m:ctrlPr>
                        </m:sSupPr>
                        <m:e>
                          <m:r>
                            <a:rPr lang="en-US" altLang="zh-TW" sz="2000" b="0" i="1" dirty="0" smtClean="0">
                              <a:solidFill>
                                <a:srgbClr val="0070C0"/>
                              </a:solidFill>
                              <a:latin typeface="Cambria Math" panose="02040503050406030204" pitchFamily="18" charset="0"/>
                              <a:cs typeface="Times New Roman" panose="02020603050405020304" pitchFamily="18" charset="0"/>
                            </a:rPr>
                            <m:t>𝜋</m:t>
                          </m:r>
                        </m:e>
                        <m:sup>
                          <m:r>
                            <a:rPr lang="en-US" altLang="zh-TW" sz="2000" b="0" i="1" dirty="0" smtClean="0">
                              <a:solidFill>
                                <a:srgbClr val="0070C0"/>
                              </a:solidFill>
                              <a:latin typeface="Cambria Math" panose="02040503050406030204" pitchFamily="18" charset="0"/>
                              <a:cs typeface="Times New Roman" panose="02020603050405020304" pitchFamily="18" charset="0"/>
                            </a:rPr>
                            <m:t>1</m:t>
                          </m:r>
                        </m:sup>
                      </m:sSup>
                      <m:r>
                        <a:rPr lang="en-US" altLang="zh-TW" sz="2000" b="0" i="1" dirty="0" smtClean="0">
                          <a:solidFill>
                            <a:srgbClr val="0070C0"/>
                          </a:solidFill>
                          <a:latin typeface="Cambria Math" panose="02040503050406030204" pitchFamily="18" charset="0"/>
                          <a:cs typeface="Times New Roman" panose="02020603050405020304" pitchFamily="18" charset="0"/>
                        </a:rPr>
                        <m:t>,…,</m:t>
                      </m:r>
                      <m:sSup>
                        <m:sSupPr>
                          <m:ctrlPr>
                            <a:rPr lang="en-US" altLang="zh-TW" sz="2000" b="0" i="1" dirty="0" smtClean="0">
                              <a:solidFill>
                                <a:srgbClr val="0070C0"/>
                              </a:solidFill>
                              <a:latin typeface="Cambria Math" panose="02040503050406030204" pitchFamily="18" charset="0"/>
                              <a:cs typeface="Times New Roman" panose="02020603050405020304" pitchFamily="18" charset="0"/>
                            </a:rPr>
                          </m:ctrlPr>
                        </m:sSupPr>
                        <m:e>
                          <m:r>
                            <a:rPr lang="en-US" altLang="zh-TW" sz="2000" b="0" i="1" dirty="0" smtClean="0">
                              <a:solidFill>
                                <a:srgbClr val="0070C0"/>
                              </a:solidFill>
                              <a:latin typeface="Cambria Math" panose="02040503050406030204" pitchFamily="18" charset="0"/>
                              <a:cs typeface="Times New Roman" panose="02020603050405020304" pitchFamily="18" charset="0"/>
                            </a:rPr>
                            <m:t>𝜋</m:t>
                          </m:r>
                        </m:e>
                        <m:sup>
                          <m:r>
                            <a:rPr lang="en-US" altLang="zh-TW" sz="2000" b="0" i="1" dirty="0" smtClean="0">
                              <a:solidFill>
                                <a:srgbClr val="0070C0"/>
                              </a:solidFill>
                              <a:latin typeface="Cambria Math" panose="02040503050406030204" pitchFamily="18" charset="0"/>
                              <a:cs typeface="Times New Roman" panose="02020603050405020304" pitchFamily="18" charset="0"/>
                            </a:rPr>
                            <m:t>𝑦</m:t>
                          </m:r>
                        </m:sup>
                      </m:sSup>
                      <m:r>
                        <a:rPr lang="en-US" altLang="zh-TW" sz="2000" b="0" i="0" dirty="0" smtClean="0">
                          <a:solidFill>
                            <a:srgbClr val="0070C0"/>
                          </a:solidFill>
                          <a:latin typeface="Cambria Math" panose="02040503050406030204" pitchFamily="18" charset="0"/>
                          <a:cs typeface="Times New Roman" panose="02020603050405020304" pitchFamily="18" charset="0"/>
                        </a:rPr>
                        <m:t>]</m:t>
                      </m:r>
                    </m:oMath>
                  </m:oMathPara>
                </a14:m>
                <a:endParaRPr lang="en-US" altLang="zh-TW"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EB6F4442-54E6-4ED4-A535-072BE3DB98AE}"/>
                  </a:ext>
                </a:extLst>
              </p:cNvPr>
              <p:cNvSpPr>
                <a:spLocks noRot="1" noChangeAspect="1" noMove="1" noResize="1" noEditPoints="1" noAdjustHandles="1" noChangeArrowheads="1" noChangeShapeType="1" noTextEdit="1"/>
              </p:cNvSpPr>
              <p:nvPr/>
            </p:nvSpPr>
            <p:spPr>
              <a:xfrm>
                <a:off x="6132236" y="1576662"/>
                <a:ext cx="2708828" cy="400110"/>
              </a:xfrm>
              <a:prstGeom prst="rect">
                <a:avLst/>
              </a:prstGeom>
              <a:blipFill>
                <a:blip r:embed="rId6"/>
                <a:stretch>
                  <a:fillRect b="-16923"/>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3C989B0F-1C2D-4B2F-A48F-0B87877E32FE}"/>
              </a:ext>
            </a:extLst>
          </p:cNvPr>
          <p:cNvSpPr/>
          <p:nvPr/>
        </p:nvSpPr>
        <p:spPr>
          <a:xfrm>
            <a:off x="2881658" y="3886547"/>
            <a:ext cx="1011916" cy="400110"/>
          </a:xfrm>
          <a:prstGeom prst="rect">
            <a:avLst/>
          </a:prstGeom>
        </p:spPr>
        <p:txBody>
          <a:bodyPr wrap="square">
            <a:spAutoFit/>
          </a:bodyPr>
          <a:lstStyle/>
          <a:p>
            <a:pPr>
              <a:lnSpc>
                <a:spcPct val="100000"/>
              </a:lnSpc>
            </a:pPr>
            <a:r>
              <a:rPr lang="en-US" altLang="zh-TW" sz="2000" dirty="0">
                <a:solidFill>
                  <a:srgbClr val="0070C0"/>
                </a:solidFill>
                <a:latin typeface="Times New Roman" panose="02020603050405020304" pitchFamily="18" charset="0"/>
                <a:cs typeface="Times New Roman" panose="02020603050405020304" pitchFamily="18" charset="0"/>
              </a:rPr>
              <a:t>window</a:t>
            </a:r>
          </a:p>
        </p:txBody>
      </p:sp>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2C9A9D45-1DBE-4268-8696-597118457D5C}"/>
                  </a:ext>
                </a:extLst>
              </p:cNvPr>
              <p:cNvSpPr/>
              <p:nvPr/>
            </p:nvSpPr>
            <p:spPr>
              <a:xfrm>
                <a:off x="6435172" y="446769"/>
                <a:ext cx="1853760" cy="40011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000" b="0" i="1" dirty="0" smtClean="0">
                          <a:solidFill>
                            <a:srgbClr val="002060"/>
                          </a:solidFill>
                          <a:latin typeface="Cambria Math" panose="02040503050406030204" pitchFamily="18" charset="0"/>
                          <a:cs typeface="Times New Roman" panose="02020603050405020304" pitchFamily="18" charset="0"/>
                        </a:rPr>
                        <m:t>𝑂</m:t>
                      </m:r>
                      <m:r>
                        <a:rPr lang="en-US" altLang="zh-TW" sz="2000" b="0" i="1" dirty="0" smtClean="0">
                          <a:solidFill>
                            <a:srgbClr val="002060"/>
                          </a:solidFill>
                          <a:latin typeface="Cambria Math" panose="02040503050406030204" pitchFamily="18" charset="0"/>
                          <a:cs typeface="Times New Roman" panose="02020603050405020304" pitchFamily="18" charset="0"/>
                        </a:rPr>
                        <m:t>(</m:t>
                      </m:r>
                      <m:r>
                        <a:rPr lang="en-US" altLang="zh-TW" sz="2000" b="0" i="1" dirty="0" smtClean="0">
                          <a:solidFill>
                            <a:srgbClr val="002060"/>
                          </a:solidFill>
                          <a:latin typeface="Cambria Math" panose="02040503050406030204" pitchFamily="18" charset="0"/>
                          <a:cs typeface="Times New Roman" panose="02020603050405020304" pitchFamily="18" charset="0"/>
                        </a:rPr>
                        <m:t>𝑛</m:t>
                      </m:r>
                      <m:r>
                        <a:rPr lang="en-US" altLang="zh-TW" sz="2000" b="0" i="1" dirty="0" smtClean="0">
                          <a:solidFill>
                            <a:srgbClr val="002060"/>
                          </a:solidFill>
                          <a:latin typeface="Cambria Math" panose="02040503050406030204" pitchFamily="18" charset="0"/>
                          <a:cs typeface="Times New Roman" panose="02020603050405020304" pitchFamily="18" charset="0"/>
                        </a:rPr>
                        <m:t>+</m:t>
                      </m:r>
                      <m:r>
                        <a:rPr lang="en-US" altLang="zh-TW" sz="2000" b="0" i="1" dirty="0" smtClean="0">
                          <a:solidFill>
                            <a:srgbClr val="002060"/>
                          </a:solidFill>
                          <a:latin typeface="Cambria Math" panose="02040503050406030204" pitchFamily="18" charset="0"/>
                          <a:cs typeface="Times New Roman" panose="02020603050405020304" pitchFamily="18" charset="0"/>
                        </a:rPr>
                        <m:t>𝑎𝑙𝑔</m:t>
                      </m:r>
                      <m:r>
                        <a:rPr lang="en-US" altLang="zh-TW" sz="2000" b="0" i="1" dirty="0" smtClean="0">
                          <a:solidFill>
                            <a:srgbClr val="002060"/>
                          </a:solidFill>
                          <a:latin typeface="Cambria Math" panose="02040503050406030204" pitchFamily="18" charset="0"/>
                          <a:cs typeface="Times New Roman" panose="02020603050405020304" pitchFamily="18" charset="0"/>
                        </a:rPr>
                        <m:t>(</m:t>
                      </m:r>
                      <m:r>
                        <a:rPr lang="en-US" altLang="zh-TW" sz="2000" b="0" i="1" dirty="0" smtClean="0">
                          <a:solidFill>
                            <a:srgbClr val="002060"/>
                          </a:solidFill>
                          <a:latin typeface="Cambria Math" panose="02040503050406030204" pitchFamily="18" charset="0"/>
                          <a:cs typeface="Times New Roman" panose="02020603050405020304" pitchFamily="18" charset="0"/>
                        </a:rPr>
                        <m:t>𝑛</m:t>
                      </m:r>
                      <m:r>
                        <a:rPr lang="en-US" altLang="zh-TW" sz="2000" b="0" i="1" dirty="0" smtClean="0">
                          <a:solidFill>
                            <a:srgbClr val="002060"/>
                          </a:solidFill>
                          <a:latin typeface="Cambria Math" panose="02040503050406030204" pitchFamily="18" charset="0"/>
                          <a:cs typeface="Times New Roman" panose="02020603050405020304" pitchFamily="18" charset="0"/>
                        </a:rPr>
                        <m:t>))</m:t>
                      </m:r>
                    </m:oMath>
                  </m:oMathPara>
                </a14:m>
                <a:endParaRPr lang="en-US" altLang="zh-TW" sz="2000" dirty="0">
                  <a:solidFill>
                    <a:srgbClr val="002060"/>
                  </a:solidFill>
                  <a:latin typeface="Times New Roman" panose="02020603050405020304" pitchFamily="18" charset="0"/>
                  <a:cs typeface="Times New Roman" panose="02020603050405020304" pitchFamily="18" charset="0"/>
                </a:endParaRPr>
              </a:p>
            </p:txBody>
          </p:sp>
        </mc:Choice>
        <mc:Fallback>
          <p:sp>
            <p:nvSpPr>
              <p:cNvPr id="12" name="矩形 11">
                <a:extLst>
                  <a:ext uri="{FF2B5EF4-FFF2-40B4-BE49-F238E27FC236}">
                    <a16:creationId xmlns:a16="http://schemas.microsoft.com/office/drawing/2014/main" id="{2C9A9D45-1DBE-4268-8696-597118457D5C}"/>
                  </a:ext>
                </a:extLst>
              </p:cNvPr>
              <p:cNvSpPr>
                <a:spLocks noRot="1" noChangeAspect="1" noMove="1" noResize="1" noEditPoints="1" noAdjustHandles="1" noChangeArrowheads="1" noChangeShapeType="1" noTextEdit="1"/>
              </p:cNvSpPr>
              <p:nvPr/>
            </p:nvSpPr>
            <p:spPr>
              <a:xfrm>
                <a:off x="6435172" y="446769"/>
                <a:ext cx="1853760" cy="400110"/>
              </a:xfrm>
              <a:prstGeom prst="rect">
                <a:avLst/>
              </a:prstGeom>
              <a:blipFill>
                <a:blip r:embed="rId7"/>
                <a:stretch>
                  <a:fillRect b="-16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51479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1A4797-B2A7-497D-8EC0-DE6C7B454E02}"/>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5" name="標題 1">
            <a:extLst>
              <a:ext uri="{FF2B5EF4-FFF2-40B4-BE49-F238E27FC236}">
                <a16:creationId xmlns:a16="http://schemas.microsoft.com/office/drawing/2014/main" id="{937938C5-35E6-422E-B136-7B958FA680F8}"/>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Heuristic – Look Ahead</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標題 1">
                <a:extLst>
                  <a:ext uri="{FF2B5EF4-FFF2-40B4-BE49-F238E27FC236}">
                    <a16:creationId xmlns:a16="http://schemas.microsoft.com/office/drawing/2014/main" id="{42E050D3-7CCC-4137-9EE9-D985834B2DB2}"/>
                  </a:ext>
                </a:extLst>
              </p:cNvPr>
              <p:cNvSpPr txBox="1">
                <a:spLocks/>
              </p:cNvSpPr>
              <p:nvPr/>
            </p:nvSpPr>
            <p:spPr>
              <a:xfrm>
                <a:off x="589045" y="1014167"/>
                <a:ext cx="6413333"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𝑖𝑛𝑝𝑢𝑡</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permutation </a:t>
                </a:r>
                <a14:m>
                  <m:oMath xmlns:m="http://schemas.openxmlformats.org/officeDocument/2006/math">
                    <m:r>
                      <a:rPr lang="en-US" altLang="zh-TW" sz="2400" b="0" i="1">
                        <a:latin typeface="Cambria Math" panose="02040503050406030204" pitchFamily="18" charset="0"/>
                        <a:cs typeface="Times New Roman" panose="02020603050405020304" pitchFamily="18" charset="0"/>
                      </a:rPr>
                      <m:t>𝜋</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algorithm </a:t>
                </a:r>
                <a14:m>
                  <m:oMath xmlns:m="http://schemas.openxmlformats.org/officeDocument/2006/math">
                    <m:r>
                      <a:rPr lang="en-US" altLang="zh-TW" sz="2400" i="1" dirty="0" smtClean="0">
                        <a:solidFill>
                          <a:srgbClr val="002060"/>
                        </a:solidFill>
                        <a:latin typeface="Cambria Math" panose="02040503050406030204" pitchFamily="18" charset="0"/>
                        <a:cs typeface="Times New Roman" panose="02020603050405020304" pitchFamily="18" charset="0"/>
                      </a:rPr>
                      <m:t>𝑎𝑙𝑔</m:t>
                    </m:r>
                  </m:oMath>
                </a14:m>
                <a:endParaRPr lang="en-US" altLang="zh-TW" sz="2400" dirty="0">
                  <a:solidFill>
                    <a:srgbClr val="002060"/>
                  </a:solidFill>
                  <a:latin typeface="Arial Black" panose="020B0A04020102020204" pitchFamily="34" charset="0"/>
                  <a:cs typeface="Times New Roman" panose="02020603050405020304" pitchFamily="18" charset="0"/>
                </a:endParaRPr>
              </a:p>
            </p:txBody>
          </p:sp>
        </mc:Choice>
        <mc:Fallback xmlns="">
          <p:sp>
            <p:nvSpPr>
              <p:cNvPr id="8" name="標題 1">
                <a:extLst>
                  <a:ext uri="{FF2B5EF4-FFF2-40B4-BE49-F238E27FC236}">
                    <a16:creationId xmlns:a16="http://schemas.microsoft.com/office/drawing/2014/main" id="{42E050D3-7CCC-4137-9EE9-D985834B2DB2}"/>
                  </a:ext>
                </a:extLst>
              </p:cNvPr>
              <p:cNvSpPr txBox="1">
                <a:spLocks noRot="1" noChangeAspect="1" noMove="1" noResize="1" noEditPoints="1" noAdjustHandles="1" noChangeArrowheads="1" noChangeShapeType="1" noTextEdit="1"/>
              </p:cNvSpPr>
              <p:nvPr/>
            </p:nvSpPr>
            <p:spPr>
              <a:xfrm>
                <a:off x="589045" y="1014167"/>
                <a:ext cx="6413333" cy="510001"/>
              </a:xfrm>
              <a:prstGeom prst="rect">
                <a:avLst/>
              </a:prstGeom>
              <a:blipFill>
                <a:blip r:embed="rId2"/>
                <a:stretch>
                  <a:fillRect l="-760" b="-34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D895A62A-AFCD-40E2-BC47-254BC787FB1E}"/>
                  </a:ext>
                </a:extLst>
              </p:cNvPr>
              <p:cNvSpPr txBox="1">
                <a:spLocks/>
              </p:cNvSpPr>
              <p:nvPr/>
            </p:nvSpPr>
            <p:spPr>
              <a:xfrm>
                <a:off x="402233" y="1524168"/>
                <a:ext cx="5733096" cy="5100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𝑜𝑢𝑡𝑝𝑢𝑡</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Arial Black" panose="020B0A04020102020204" pitchFamily="34"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 sequence of events that sort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𝜋</m:t>
                    </m:r>
                  </m:oMath>
                </a14:m>
                <a:endParaRPr lang="en-US" altLang="zh-TW" sz="2400" dirty="0">
                  <a:solidFill>
                    <a:srgbClr val="002060"/>
                  </a:solidFill>
                  <a:latin typeface="Arial Black" panose="020B0A04020102020204" pitchFamily="34"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D895A62A-AFCD-40E2-BC47-254BC787FB1E}"/>
                  </a:ext>
                </a:extLst>
              </p:cNvPr>
              <p:cNvSpPr txBox="1">
                <a:spLocks noRot="1" noChangeAspect="1" noMove="1" noResize="1" noEditPoints="1" noAdjustHandles="1" noChangeArrowheads="1" noChangeShapeType="1" noTextEdit="1"/>
              </p:cNvSpPr>
              <p:nvPr/>
            </p:nvSpPr>
            <p:spPr>
              <a:xfrm>
                <a:off x="402233" y="1524168"/>
                <a:ext cx="5733096" cy="510001"/>
              </a:xfrm>
              <a:prstGeom prst="rect">
                <a:avLst/>
              </a:prstGeom>
              <a:blipFill>
                <a:blip r:embed="rId3"/>
                <a:stretch>
                  <a:fillRect l="-638" b="-33333"/>
                </a:stretch>
              </a:blipFill>
            </p:spPr>
            <p:txBody>
              <a:bodyPr/>
              <a:lstStyle/>
              <a:p>
                <a:r>
                  <a:rPr lang="zh-TW" altLang="en-US">
                    <a:noFill/>
                  </a:rPr>
                  <a:t> </a:t>
                </a:r>
              </a:p>
            </p:txBody>
          </p:sp>
        </mc:Fallback>
      </mc:AlternateContent>
      <p:pic>
        <p:nvPicPr>
          <p:cNvPr id="2" name="圖片 1">
            <a:extLst>
              <a:ext uri="{FF2B5EF4-FFF2-40B4-BE49-F238E27FC236}">
                <a16:creationId xmlns:a16="http://schemas.microsoft.com/office/drawing/2014/main" id="{8744058A-C15B-416D-B19C-5C5F40663108}"/>
              </a:ext>
            </a:extLst>
          </p:cNvPr>
          <p:cNvPicPr>
            <a:picLocks noChangeAspect="1"/>
          </p:cNvPicPr>
          <p:nvPr/>
        </p:nvPicPr>
        <p:blipFill>
          <a:blip r:embed="rId4"/>
          <a:stretch>
            <a:fillRect/>
          </a:stretch>
        </p:blipFill>
        <p:spPr>
          <a:xfrm>
            <a:off x="506085" y="2291600"/>
            <a:ext cx="7678994" cy="3953231"/>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64880CB-DA5F-4F94-B761-4CADDF7D7376}"/>
                  </a:ext>
                </a:extLst>
              </p:cNvPr>
              <p:cNvSpPr/>
              <p:nvPr/>
            </p:nvSpPr>
            <p:spPr>
              <a:xfrm>
                <a:off x="6809686" y="1732523"/>
                <a:ext cx="1596895" cy="52322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800" b="0" i="1" dirty="0" smtClean="0">
                          <a:solidFill>
                            <a:srgbClr val="0070C0"/>
                          </a:solidFill>
                          <a:latin typeface="Cambria Math" panose="02040503050406030204" pitchFamily="18" charset="0"/>
                          <a:cs typeface="Times New Roman" panose="02020603050405020304" pitchFamily="18" charset="0"/>
                        </a:rPr>
                        <m:t>𝑏𝑓𝑠</m:t>
                      </m:r>
                      <m:r>
                        <a:rPr lang="en-US" altLang="zh-TW" sz="2800" b="0" i="1" dirty="0" smtClean="0">
                          <a:solidFill>
                            <a:srgbClr val="0070C0"/>
                          </a:solidFill>
                          <a:latin typeface="Cambria Math" panose="02040503050406030204" pitchFamily="18" charset="0"/>
                          <a:cs typeface="Times New Roman" panose="02020603050405020304" pitchFamily="18" charset="0"/>
                        </a:rPr>
                        <m:t>?</m:t>
                      </m:r>
                    </m:oMath>
                  </m:oMathPara>
                </a14:m>
                <a:endParaRPr lang="en-US" altLang="zh-TW"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364880CB-DA5F-4F94-B761-4CADDF7D7376}"/>
                  </a:ext>
                </a:extLst>
              </p:cNvPr>
              <p:cNvSpPr>
                <a:spLocks noRot="1" noChangeAspect="1" noMove="1" noResize="1" noEditPoints="1" noAdjustHandles="1" noChangeArrowheads="1" noChangeShapeType="1" noTextEdit="1"/>
              </p:cNvSpPr>
              <p:nvPr/>
            </p:nvSpPr>
            <p:spPr>
              <a:xfrm>
                <a:off x="6809686" y="1732523"/>
                <a:ext cx="1596895" cy="52322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74055222-376F-4D89-A3C1-44BEEB3227D7}"/>
                  </a:ext>
                </a:extLst>
              </p:cNvPr>
              <p:cNvSpPr/>
              <p:nvPr/>
            </p:nvSpPr>
            <p:spPr>
              <a:xfrm>
                <a:off x="6435172" y="446769"/>
                <a:ext cx="1971409" cy="400110"/>
              </a:xfrm>
              <a:prstGeom prst="rect">
                <a:avLst/>
              </a:prstGeom>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a:rPr lang="en-US" altLang="zh-TW" sz="2000" b="0" i="1" dirty="0" smtClean="0">
                          <a:solidFill>
                            <a:srgbClr val="002060"/>
                          </a:solidFill>
                          <a:latin typeface="Cambria Math" panose="02040503050406030204" pitchFamily="18" charset="0"/>
                          <a:cs typeface="Times New Roman" panose="02020603050405020304" pitchFamily="18" charset="0"/>
                        </a:rPr>
                        <m:t>𝑂</m:t>
                      </m:r>
                      <m:r>
                        <a:rPr lang="en-US" altLang="zh-TW" sz="2000" b="0" i="1" dirty="0" smtClean="0">
                          <a:solidFill>
                            <a:srgbClr val="002060"/>
                          </a:solidFill>
                          <a:latin typeface="Cambria Math" panose="02040503050406030204" pitchFamily="18" charset="0"/>
                          <a:cs typeface="Times New Roman" panose="02020603050405020304" pitchFamily="18" charset="0"/>
                        </a:rPr>
                        <m:t>(</m:t>
                      </m:r>
                      <m:sSup>
                        <m:sSupPr>
                          <m:ctrlPr>
                            <a:rPr lang="en-US" altLang="zh-TW" sz="2000" b="0" i="1" dirty="0" smtClean="0">
                              <a:solidFill>
                                <a:srgbClr val="002060"/>
                              </a:solidFill>
                              <a:latin typeface="Cambria Math" panose="02040503050406030204" pitchFamily="18" charset="0"/>
                              <a:cs typeface="Times New Roman" panose="02020603050405020304" pitchFamily="18" charset="0"/>
                            </a:rPr>
                          </m:ctrlPr>
                        </m:sSupPr>
                        <m:e>
                          <m:r>
                            <a:rPr lang="en-US" altLang="zh-TW" sz="2000" b="0" i="1" dirty="0" smtClean="0">
                              <a:solidFill>
                                <a:srgbClr val="002060"/>
                              </a:solidFill>
                              <a:latin typeface="Cambria Math" panose="02040503050406030204" pitchFamily="18" charset="0"/>
                              <a:cs typeface="Times New Roman" panose="02020603050405020304" pitchFamily="18" charset="0"/>
                            </a:rPr>
                            <m:t>𝑛</m:t>
                          </m:r>
                        </m:e>
                        <m:sup>
                          <m:r>
                            <a:rPr lang="en-US" altLang="zh-TW" sz="2000" b="0" i="1" dirty="0" smtClean="0">
                              <a:solidFill>
                                <a:srgbClr val="002060"/>
                              </a:solidFill>
                              <a:latin typeface="Cambria Math" panose="02040503050406030204" pitchFamily="18" charset="0"/>
                              <a:cs typeface="Times New Roman" panose="02020603050405020304" pitchFamily="18" charset="0"/>
                            </a:rPr>
                            <m:t>3</m:t>
                          </m:r>
                        </m:sup>
                      </m:sSup>
                      <m:r>
                        <a:rPr lang="en-US" altLang="zh-TW" sz="2000" b="0" i="1" dirty="0" smtClean="0">
                          <a:solidFill>
                            <a:srgbClr val="002060"/>
                          </a:solidFill>
                          <a:latin typeface="Cambria Math" panose="02040503050406030204" pitchFamily="18" charset="0"/>
                          <a:cs typeface="Times New Roman" panose="02020603050405020304" pitchFamily="18" charset="0"/>
                        </a:rPr>
                        <m:t>+</m:t>
                      </m:r>
                      <m:r>
                        <a:rPr lang="en-US" altLang="zh-TW" sz="2000" b="0" i="1" dirty="0" smtClean="0">
                          <a:solidFill>
                            <a:srgbClr val="002060"/>
                          </a:solidFill>
                          <a:latin typeface="Cambria Math" panose="02040503050406030204" pitchFamily="18" charset="0"/>
                          <a:cs typeface="Times New Roman" panose="02020603050405020304" pitchFamily="18" charset="0"/>
                        </a:rPr>
                        <m:t>𝑎𝑙𝑔</m:t>
                      </m:r>
                      <m:r>
                        <a:rPr lang="en-US" altLang="zh-TW" sz="2000" b="0" i="1" dirty="0" smtClean="0">
                          <a:solidFill>
                            <a:srgbClr val="002060"/>
                          </a:solidFill>
                          <a:latin typeface="Cambria Math" panose="02040503050406030204" pitchFamily="18" charset="0"/>
                          <a:cs typeface="Times New Roman" panose="02020603050405020304" pitchFamily="18" charset="0"/>
                        </a:rPr>
                        <m:t>(</m:t>
                      </m:r>
                      <m:r>
                        <a:rPr lang="en-US" altLang="zh-TW" sz="2000" b="0" i="1" dirty="0" smtClean="0">
                          <a:solidFill>
                            <a:srgbClr val="002060"/>
                          </a:solidFill>
                          <a:latin typeface="Cambria Math" panose="02040503050406030204" pitchFamily="18" charset="0"/>
                          <a:cs typeface="Times New Roman" panose="02020603050405020304" pitchFamily="18" charset="0"/>
                        </a:rPr>
                        <m:t>𝑛</m:t>
                      </m:r>
                      <m:r>
                        <a:rPr lang="en-US" altLang="zh-TW" sz="2000" b="0" i="1" dirty="0" smtClean="0">
                          <a:solidFill>
                            <a:srgbClr val="002060"/>
                          </a:solidFill>
                          <a:latin typeface="Cambria Math" panose="02040503050406030204" pitchFamily="18" charset="0"/>
                          <a:cs typeface="Times New Roman" panose="02020603050405020304" pitchFamily="18" charset="0"/>
                        </a:rPr>
                        <m:t>))</m:t>
                      </m:r>
                    </m:oMath>
                  </m:oMathPara>
                </a14:m>
                <a:endParaRPr lang="en-US" altLang="zh-TW" sz="2000" dirty="0">
                  <a:solidFill>
                    <a:srgbClr val="002060"/>
                  </a:solidFill>
                  <a:latin typeface="Times New Roman" panose="02020603050405020304" pitchFamily="18" charset="0"/>
                  <a:cs typeface="Times New Roman" panose="02020603050405020304" pitchFamily="18" charset="0"/>
                </a:endParaRPr>
              </a:p>
            </p:txBody>
          </p:sp>
        </mc:Choice>
        <mc:Fallback>
          <p:sp>
            <p:nvSpPr>
              <p:cNvPr id="10" name="矩形 9">
                <a:extLst>
                  <a:ext uri="{FF2B5EF4-FFF2-40B4-BE49-F238E27FC236}">
                    <a16:creationId xmlns:a16="http://schemas.microsoft.com/office/drawing/2014/main" id="{74055222-376F-4D89-A3C1-44BEEB3227D7}"/>
                  </a:ext>
                </a:extLst>
              </p:cNvPr>
              <p:cNvSpPr>
                <a:spLocks noRot="1" noChangeAspect="1" noMove="1" noResize="1" noEditPoints="1" noAdjustHandles="1" noChangeArrowheads="1" noChangeShapeType="1" noTextEdit="1"/>
              </p:cNvSpPr>
              <p:nvPr/>
            </p:nvSpPr>
            <p:spPr>
              <a:xfrm>
                <a:off x="6435172" y="446769"/>
                <a:ext cx="1971409" cy="400110"/>
              </a:xfrm>
              <a:prstGeom prst="rect">
                <a:avLst/>
              </a:prstGeom>
              <a:blipFill>
                <a:blip r:embed="rId6"/>
                <a:stretch>
                  <a:fillRect b="-16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1363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1A4797-B2A7-497D-8EC0-DE6C7B454E02}"/>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5" name="標題 1">
            <a:extLst>
              <a:ext uri="{FF2B5EF4-FFF2-40B4-BE49-F238E27FC236}">
                <a16:creationId xmlns:a16="http://schemas.microsoft.com/office/drawing/2014/main" id="{937938C5-35E6-422E-B136-7B958FA680F8}"/>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Implemented Algorithms</a:t>
            </a:r>
            <a:endParaRPr lang="zh-TW" altLang="en-US" sz="36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56703727-6917-487F-96F3-BFFA83F7D1ED}"/>
              </a:ext>
            </a:extLst>
          </p:cNvPr>
          <p:cNvPicPr>
            <a:picLocks noChangeAspect="1"/>
          </p:cNvPicPr>
          <p:nvPr/>
        </p:nvPicPr>
        <p:blipFill>
          <a:blip r:embed="rId3"/>
          <a:stretch>
            <a:fillRect/>
          </a:stretch>
        </p:blipFill>
        <p:spPr>
          <a:xfrm>
            <a:off x="714989" y="1390650"/>
            <a:ext cx="7714021" cy="2504552"/>
          </a:xfrm>
          <a:prstGeom prst="rect">
            <a:avLst/>
          </a:prstGeom>
        </p:spPr>
      </p:pic>
      <p:sp>
        <p:nvSpPr>
          <p:cNvPr id="12" name="矩形 11">
            <a:extLst>
              <a:ext uri="{FF2B5EF4-FFF2-40B4-BE49-F238E27FC236}">
                <a16:creationId xmlns:a16="http://schemas.microsoft.com/office/drawing/2014/main" id="{B0BEAFF9-A9D8-432A-8C4F-8AE08F6E2EAB}"/>
              </a:ext>
            </a:extLst>
          </p:cNvPr>
          <p:cNvSpPr/>
          <p:nvPr/>
        </p:nvSpPr>
        <p:spPr>
          <a:xfrm>
            <a:off x="8515350" y="1699480"/>
            <a:ext cx="307567" cy="400110"/>
          </a:xfrm>
          <a:prstGeom prst="rect">
            <a:avLst/>
          </a:prstGeom>
        </p:spPr>
        <p:txBody>
          <a:bodyPr wrap="square">
            <a:spAutoFit/>
          </a:bodyPr>
          <a:lstStyle/>
          <a:p>
            <a:pPr>
              <a:lnSpc>
                <a:spcPct val="100000"/>
              </a:lnSpc>
            </a:pPr>
            <a:r>
              <a:rPr lang="en-US" altLang="zh-TW" sz="2000" dirty="0">
                <a:solidFill>
                  <a:srgbClr val="0070C0"/>
                </a:solidFill>
                <a:latin typeface="Times New Roman" panose="02020603050405020304" pitchFamily="18" charset="0"/>
                <a:cs typeface="Times New Roman" panose="02020603050405020304" pitchFamily="18" charset="0"/>
              </a:rPr>
              <a:t>U</a:t>
            </a:r>
          </a:p>
        </p:txBody>
      </p:sp>
      <p:sp>
        <p:nvSpPr>
          <p:cNvPr id="13" name="矩形 12">
            <a:extLst>
              <a:ext uri="{FF2B5EF4-FFF2-40B4-BE49-F238E27FC236}">
                <a16:creationId xmlns:a16="http://schemas.microsoft.com/office/drawing/2014/main" id="{93D513C0-459B-4F65-BBFB-FCAFB26A89DB}"/>
              </a:ext>
            </a:extLst>
          </p:cNvPr>
          <p:cNvSpPr/>
          <p:nvPr/>
        </p:nvSpPr>
        <p:spPr>
          <a:xfrm>
            <a:off x="8515350" y="3495092"/>
            <a:ext cx="307567" cy="400110"/>
          </a:xfrm>
          <a:prstGeom prst="rect">
            <a:avLst/>
          </a:prstGeom>
        </p:spPr>
        <p:txBody>
          <a:bodyPr wrap="square">
            <a:spAutoFit/>
          </a:bodyPr>
          <a:lstStyle/>
          <a:p>
            <a:pPr>
              <a:lnSpc>
                <a:spcPct val="100000"/>
              </a:lnSpc>
            </a:pPr>
            <a:r>
              <a:rPr lang="en-US" altLang="zh-TW" sz="2000" dirty="0">
                <a:solidFill>
                  <a:srgbClr val="0070C0"/>
                </a:solidFill>
                <a:latin typeface="Times New Roman" panose="02020603050405020304" pitchFamily="18" charset="0"/>
                <a:cs typeface="Times New Roman" panose="02020603050405020304" pitchFamily="18" charset="0"/>
              </a:rPr>
              <a:t>U</a:t>
            </a:r>
          </a:p>
        </p:txBody>
      </p:sp>
      <p:sp>
        <p:nvSpPr>
          <p:cNvPr id="14" name="矩形 13">
            <a:extLst>
              <a:ext uri="{FF2B5EF4-FFF2-40B4-BE49-F238E27FC236}">
                <a16:creationId xmlns:a16="http://schemas.microsoft.com/office/drawing/2014/main" id="{4AF7AF57-2448-4D3E-9D4A-2A7F1CE143DB}"/>
              </a:ext>
            </a:extLst>
          </p:cNvPr>
          <p:cNvSpPr/>
          <p:nvPr/>
        </p:nvSpPr>
        <p:spPr>
          <a:xfrm>
            <a:off x="714989" y="4118216"/>
            <a:ext cx="7573943" cy="1687963"/>
          </a:xfrm>
          <a:prstGeom prst="rect">
            <a:avLst/>
          </a:prstGeom>
        </p:spPr>
        <p:txBody>
          <a:bodyPr wrap="square">
            <a:spAutoFit/>
          </a:bodyPr>
          <a:lstStyle/>
          <a:p>
            <a:pPr>
              <a:lnSpc>
                <a:spcPct val="150000"/>
              </a:lnSpc>
            </a:pPr>
            <a:r>
              <a:rPr lang="en-US" altLang="zh-TW" sz="2400" dirty="0">
                <a:solidFill>
                  <a:srgbClr val="0070C0"/>
                </a:solidFill>
                <a:latin typeface="Times New Roman" panose="02020603050405020304" pitchFamily="18" charset="0"/>
                <a:cs typeface="Times New Roman" panose="02020603050405020304" pitchFamily="18" charset="0"/>
              </a:rPr>
              <a:t>BRPT: </a:t>
            </a:r>
            <a:r>
              <a:rPr lang="en-US" altLang="zh-TW" sz="2400" dirty="0"/>
              <a:t>greedily removes the largest number of breakpoints</a:t>
            </a:r>
          </a:p>
          <a:p>
            <a:pPr>
              <a:lnSpc>
                <a:spcPct val="150000"/>
              </a:lnSpc>
            </a:pPr>
            <a:r>
              <a:rPr lang="en-US" altLang="zh-TW" sz="2400" dirty="0">
                <a:solidFill>
                  <a:srgbClr val="0070C0"/>
                </a:solidFill>
                <a:latin typeface="Times New Roman" panose="02020603050405020304" pitchFamily="18" charset="0"/>
                <a:cs typeface="Times New Roman" panose="02020603050405020304" pitchFamily="18" charset="0"/>
              </a:rPr>
              <a:t>BRPR: </a:t>
            </a:r>
            <a:r>
              <a:rPr lang="en-US" altLang="zh-TW" sz="2400" dirty="0"/>
              <a:t>A variation of BRPT (only reversals)</a:t>
            </a:r>
          </a:p>
          <a:p>
            <a:pPr>
              <a:lnSpc>
                <a:spcPct val="150000"/>
              </a:lnSpc>
            </a:pPr>
            <a:r>
              <a:rPr lang="en-US" altLang="zh-TW" sz="2400" dirty="0">
                <a:solidFill>
                  <a:srgbClr val="0070C0"/>
                </a:solidFill>
                <a:latin typeface="Times New Roman" panose="02020603050405020304" pitchFamily="18" charset="0"/>
                <a:cs typeface="Times New Roman" panose="02020603050405020304" pitchFamily="18" charset="0"/>
              </a:rPr>
              <a:t>BP:</a:t>
            </a:r>
            <a:r>
              <a:rPr lang="zh-TW" altLang="en-US" sz="2400" dirty="0">
                <a:solidFill>
                  <a:srgbClr val="0070C0"/>
                </a:solidFill>
                <a:latin typeface="Times New Roman" panose="02020603050405020304" pitchFamily="18" charset="0"/>
                <a:cs typeface="Times New Roman" panose="02020603050405020304" pitchFamily="18" charset="0"/>
              </a:rPr>
              <a:t> </a:t>
            </a:r>
            <a:r>
              <a:rPr lang="en-US" altLang="zh-TW" sz="2400" dirty="0"/>
              <a:t>first reverse all negative strips</a:t>
            </a:r>
          </a:p>
        </p:txBody>
      </p:sp>
    </p:spTree>
    <p:extLst>
      <p:ext uri="{BB962C8B-B14F-4D97-AF65-F5344CB8AC3E}">
        <p14:creationId xmlns:p14="http://schemas.microsoft.com/office/powerpoint/2010/main" val="2281130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1A4797-B2A7-497D-8EC0-DE6C7B454E02}"/>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5" name="標題 1">
            <a:extLst>
              <a:ext uri="{FF2B5EF4-FFF2-40B4-BE49-F238E27FC236}">
                <a16:creationId xmlns:a16="http://schemas.microsoft.com/office/drawing/2014/main" id="{937938C5-35E6-422E-B136-7B958FA680F8}"/>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Result</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53CA364E-4D32-4CE0-863F-A5238A0D8FB4}"/>
              </a:ext>
            </a:extLst>
          </p:cNvPr>
          <p:cNvPicPr>
            <a:picLocks noChangeAspect="1"/>
          </p:cNvPicPr>
          <p:nvPr/>
        </p:nvPicPr>
        <p:blipFill>
          <a:blip r:embed="rId2"/>
          <a:stretch>
            <a:fillRect/>
          </a:stretch>
        </p:blipFill>
        <p:spPr>
          <a:xfrm>
            <a:off x="1379450" y="1067079"/>
            <a:ext cx="6385100" cy="2661593"/>
          </a:xfrm>
          <a:prstGeom prst="rect">
            <a:avLst/>
          </a:prstGeom>
          <a:ln>
            <a:solidFill>
              <a:srgbClr val="002060"/>
            </a:solidFill>
          </a:ln>
        </p:spPr>
      </p:pic>
      <p:pic>
        <p:nvPicPr>
          <p:cNvPr id="3" name="圖片 2">
            <a:extLst>
              <a:ext uri="{FF2B5EF4-FFF2-40B4-BE49-F238E27FC236}">
                <a16:creationId xmlns:a16="http://schemas.microsoft.com/office/drawing/2014/main" id="{2979E9DE-8836-4A9A-94A5-B5A6F79BCADA}"/>
              </a:ext>
            </a:extLst>
          </p:cNvPr>
          <p:cNvPicPr>
            <a:picLocks noChangeAspect="1"/>
          </p:cNvPicPr>
          <p:nvPr/>
        </p:nvPicPr>
        <p:blipFill>
          <a:blip r:embed="rId3"/>
          <a:stretch>
            <a:fillRect/>
          </a:stretch>
        </p:blipFill>
        <p:spPr>
          <a:xfrm>
            <a:off x="1379450" y="3854931"/>
            <a:ext cx="6385100" cy="2612706"/>
          </a:xfrm>
          <a:prstGeom prst="rect">
            <a:avLst/>
          </a:prstGeom>
          <a:ln>
            <a:solidFill>
              <a:srgbClr val="002060"/>
            </a:solidFill>
          </a:ln>
        </p:spPr>
      </p:pic>
      <p:pic>
        <p:nvPicPr>
          <p:cNvPr id="6" name="圖片 5">
            <a:extLst>
              <a:ext uri="{FF2B5EF4-FFF2-40B4-BE49-F238E27FC236}">
                <a16:creationId xmlns:a16="http://schemas.microsoft.com/office/drawing/2014/main" id="{F6BF1953-2425-4241-8114-A28F9FB54D99}"/>
              </a:ext>
            </a:extLst>
          </p:cNvPr>
          <p:cNvPicPr>
            <a:picLocks noChangeAspect="1"/>
          </p:cNvPicPr>
          <p:nvPr/>
        </p:nvPicPr>
        <p:blipFill>
          <a:blip r:embed="rId4"/>
          <a:stretch>
            <a:fillRect/>
          </a:stretch>
        </p:blipFill>
        <p:spPr>
          <a:xfrm>
            <a:off x="3588436" y="483712"/>
            <a:ext cx="4799371" cy="372583"/>
          </a:xfrm>
          <a:prstGeom prst="rect">
            <a:avLst/>
          </a:prstGeom>
        </p:spPr>
      </p:pic>
    </p:spTree>
    <p:extLst>
      <p:ext uri="{BB962C8B-B14F-4D97-AF65-F5344CB8AC3E}">
        <p14:creationId xmlns:p14="http://schemas.microsoft.com/office/powerpoint/2010/main" val="2657834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1A4797-B2A7-497D-8EC0-DE6C7B454E02}"/>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p:sp>
        <p:nvSpPr>
          <p:cNvPr id="5" name="標題 1">
            <a:extLst>
              <a:ext uri="{FF2B5EF4-FFF2-40B4-BE49-F238E27FC236}">
                <a16:creationId xmlns:a16="http://schemas.microsoft.com/office/drawing/2014/main" id="{937938C5-35E6-422E-B136-7B958FA680F8}"/>
              </a:ext>
            </a:extLst>
          </p:cNvPr>
          <p:cNvSpPr txBox="1">
            <a:spLocks/>
          </p:cNvSpPr>
          <p:nvPr/>
        </p:nvSpPr>
        <p:spPr>
          <a:xfrm>
            <a:off x="402232" y="384214"/>
            <a:ext cx="7886700"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Result</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53CA364E-4D32-4CE0-863F-A5238A0D8FB4}"/>
              </a:ext>
            </a:extLst>
          </p:cNvPr>
          <p:cNvPicPr>
            <a:picLocks noChangeAspect="1"/>
          </p:cNvPicPr>
          <p:nvPr/>
        </p:nvPicPr>
        <p:blipFill>
          <a:blip r:embed="rId2"/>
          <a:stretch>
            <a:fillRect/>
          </a:stretch>
        </p:blipFill>
        <p:spPr>
          <a:xfrm>
            <a:off x="1379450" y="1067079"/>
            <a:ext cx="6385100" cy="2661593"/>
          </a:xfrm>
          <a:prstGeom prst="rect">
            <a:avLst/>
          </a:prstGeom>
          <a:ln>
            <a:solidFill>
              <a:srgbClr val="002060"/>
            </a:solidFill>
          </a:ln>
        </p:spPr>
      </p:pic>
      <p:pic>
        <p:nvPicPr>
          <p:cNvPr id="6" name="圖片 5">
            <a:extLst>
              <a:ext uri="{FF2B5EF4-FFF2-40B4-BE49-F238E27FC236}">
                <a16:creationId xmlns:a16="http://schemas.microsoft.com/office/drawing/2014/main" id="{F6BF1953-2425-4241-8114-A28F9FB54D99}"/>
              </a:ext>
            </a:extLst>
          </p:cNvPr>
          <p:cNvPicPr>
            <a:picLocks noChangeAspect="1"/>
          </p:cNvPicPr>
          <p:nvPr/>
        </p:nvPicPr>
        <p:blipFill>
          <a:blip r:embed="rId3"/>
          <a:stretch>
            <a:fillRect/>
          </a:stretch>
        </p:blipFill>
        <p:spPr>
          <a:xfrm>
            <a:off x="3588436" y="483712"/>
            <a:ext cx="4799371" cy="372583"/>
          </a:xfrm>
          <a:prstGeom prst="rect">
            <a:avLst/>
          </a:prstGeom>
        </p:spPr>
      </p:pic>
      <p:pic>
        <p:nvPicPr>
          <p:cNvPr id="7" name="圖片 6">
            <a:extLst>
              <a:ext uri="{FF2B5EF4-FFF2-40B4-BE49-F238E27FC236}">
                <a16:creationId xmlns:a16="http://schemas.microsoft.com/office/drawing/2014/main" id="{E7A950DC-1E75-4EE9-8139-28155B745FA5}"/>
              </a:ext>
            </a:extLst>
          </p:cNvPr>
          <p:cNvPicPr>
            <a:picLocks noChangeAspect="1"/>
          </p:cNvPicPr>
          <p:nvPr/>
        </p:nvPicPr>
        <p:blipFill>
          <a:blip r:embed="rId4"/>
          <a:stretch>
            <a:fillRect/>
          </a:stretch>
        </p:blipFill>
        <p:spPr>
          <a:xfrm>
            <a:off x="1379450" y="3875800"/>
            <a:ext cx="6385100" cy="2591837"/>
          </a:xfrm>
          <a:prstGeom prst="rect">
            <a:avLst/>
          </a:prstGeom>
          <a:ln>
            <a:solidFill>
              <a:srgbClr val="002060"/>
            </a:solidFill>
          </a:ln>
        </p:spPr>
      </p:pic>
      <p:sp>
        <p:nvSpPr>
          <p:cNvPr id="8" name="矩形 7">
            <a:extLst>
              <a:ext uri="{FF2B5EF4-FFF2-40B4-BE49-F238E27FC236}">
                <a16:creationId xmlns:a16="http://schemas.microsoft.com/office/drawing/2014/main" id="{D47662C6-2AF1-4F7C-97A4-FB6E378196E3}"/>
              </a:ext>
            </a:extLst>
          </p:cNvPr>
          <p:cNvSpPr/>
          <p:nvPr/>
        </p:nvSpPr>
        <p:spPr>
          <a:xfrm>
            <a:off x="1602658" y="1327355"/>
            <a:ext cx="1573161" cy="21925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81420535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51150</TotalTime>
  <Words>1385</Words>
  <Application>Microsoft Office PowerPoint</Application>
  <PresentationFormat>如螢幕大小 (4:3)</PresentationFormat>
  <Paragraphs>164</Paragraphs>
  <Slides>17</Slides>
  <Notes>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17</vt:i4>
      </vt:variant>
    </vt:vector>
  </HeadingPairs>
  <TitlesOfParts>
    <vt:vector size="26" baseType="lpstr">
      <vt:lpstr>新細明體</vt:lpstr>
      <vt:lpstr>標楷體</vt:lpstr>
      <vt:lpstr>Arial</vt:lpstr>
      <vt:lpstr>Arial Black</vt:lpstr>
      <vt:lpstr>Calibri</vt:lpstr>
      <vt:lpstr>Calibri Light</vt:lpstr>
      <vt:lpstr>Cambria Math</vt:lpstr>
      <vt:lpstr>Times New Roman</vt:lpstr>
      <vt:lpstr>Office 佈景主題</vt:lpstr>
      <vt:lpstr> Heuristics for the Sorting Signed Permutations by Reversals and Transpositions Problem</vt:lpstr>
      <vt:lpstr>PowerPoint 簡報</vt:lpstr>
      <vt:lpstr>Abstract (1/2)</vt:lpstr>
      <vt:lpstr>Abstract (2/2)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538</cp:revision>
  <dcterms:created xsi:type="dcterms:W3CDTF">2017-09-25T08:45:50Z</dcterms:created>
  <dcterms:modified xsi:type="dcterms:W3CDTF">2018-07-31T10:27:27Z</dcterms:modified>
</cp:coreProperties>
</file>