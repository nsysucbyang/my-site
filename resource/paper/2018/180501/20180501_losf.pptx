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handoutMasterIdLst>
    <p:handoutMasterId r:id="rId21"/>
  </p:handoutMasterIdLst>
  <p:sldIdLst>
    <p:sldId id="256" r:id="rId2"/>
    <p:sldId id="260" r:id="rId3"/>
    <p:sldId id="261" r:id="rId4"/>
    <p:sldId id="262" r:id="rId5"/>
    <p:sldId id="263" r:id="rId6"/>
    <p:sldId id="265" r:id="rId7"/>
    <p:sldId id="264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50" autoAdjust="0"/>
    <p:restoredTop sz="84357" autoAdjust="0"/>
  </p:normalViewPr>
  <p:slideViewPr>
    <p:cSldViewPr snapToGrid="0">
      <p:cViewPr varScale="1">
        <p:scale>
          <a:sx n="98" d="100"/>
          <a:sy n="98" d="100"/>
        </p:scale>
        <p:origin x="1878" y="120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-193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CB409-2DA1-4BCA-B435-C6D650D60C53}" type="datetimeFigureOut">
              <a:rPr lang="zh-TW" altLang="en-US" smtClean="0"/>
              <a:t>2018/4/24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6F0565-5FB6-414C-A160-5E7695D65A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542347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CDEB75-3589-4D32-B44A-E0772C0D15C5}" type="datetimeFigureOut">
              <a:rPr lang="zh-TW" altLang="en-US" smtClean="0"/>
              <a:t>2018/4/24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F0D5DF-B2A2-41B1-A94F-55B40B4E12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570971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9795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60742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22419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2847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1470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16220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TW" dirty="0" smtClean="0"/>
                  <a:t>ﬁnd the largest index t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TW" dirty="0" smtClean="0"/>
                  <a:t> (1 ≤ t ≤ k) has a</a:t>
                </a:r>
                <a:r>
                  <a:rPr lang="en-US" altLang="zh-TW" baseline="0" dirty="0" smtClean="0"/>
                  <a:t> </a:t>
                </a:r>
                <a:r>
                  <a:rPr lang="en-US" altLang="zh-TW" dirty="0" smtClean="0"/>
                  <a:t>couple weaker than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 smtClean="0"/>
                  <a:t>), then insert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 smtClean="0"/>
                  <a:t>) into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TW" dirty="0" smtClean="0"/>
                  <a:t> +1 and remove couples that are</a:t>
                </a:r>
                <a:r>
                  <a:rPr lang="en-US" altLang="zh-TW" baseline="0" dirty="0" smtClean="0"/>
                  <a:t> </a:t>
                </a:r>
                <a:r>
                  <a:rPr lang="en-US" altLang="zh-TW" dirty="0" smtClean="0"/>
                  <a:t>no longer smallest ending couples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12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TW" dirty="0" smtClean="0"/>
                  <a:t> +1 in the loop.</a:t>
                </a:r>
                <a:endParaRPr lang="zh-TW" altLang="en-US" dirty="0"/>
              </a:p>
              <a:p>
                <a:endParaRPr lang="zh-TW" altLang="en-US" dirty="0"/>
              </a:p>
            </p:txBody>
          </p:sp>
        </mc:Choice>
        <mc:Fallback>
          <p:sp>
            <p:nvSpPr>
              <p:cNvPr id="3" name="備忘稿版面配置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TW" dirty="0" smtClean="0"/>
                  <a:t>ﬁnd the largest index t such that </a:t>
                </a:r>
                <a:r>
                  <a:rPr lang="en-US" altLang="zh-TW" sz="1200" i="0" smtClean="0">
                    <a:latin typeface="Cambria Math" panose="02040503050406030204" pitchFamily="18" charset="0"/>
                  </a:rPr>
                  <a:t>〖</a:t>
                </a:r>
                <a:r>
                  <a:rPr lang="en-US" altLang="zh-TW" sz="1200" i="0">
                    <a:latin typeface="Cambria Math" panose="02040503050406030204" pitchFamily="18" charset="0"/>
                  </a:rPr>
                  <a:t> 𝑇</a:t>
                </a:r>
                <a:r>
                  <a:rPr lang="en-US" altLang="zh-TW" sz="1200" i="0" smtClean="0">
                    <a:latin typeface="Cambria Math" panose="02040503050406030204" pitchFamily="18" charset="0"/>
                  </a:rPr>
                  <a:t>〗_</a:t>
                </a:r>
                <a:r>
                  <a:rPr lang="en-US" altLang="zh-TW" sz="1200" b="0" i="0" smtClean="0">
                    <a:latin typeface="Cambria Math" panose="02040503050406030204" pitchFamily="18" charset="0"/>
                  </a:rPr>
                  <a:t>𝑡</a:t>
                </a:r>
                <a:r>
                  <a:rPr lang="en-US" altLang="zh-TW" dirty="0" smtClean="0"/>
                  <a:t> (1 ≤ t ≤ k) has a</a:t>
                </a:r>
                <a:r>
                  <a:rPr lang="en-US" altLang="zh-TW" baseline="0" dirty="0" smtClean="0"/>
                  <a:t> </a:t>
                </a:r>
                <a:r>
                  <a:rPr lang="en-US" altLang="zh-TW" dirty="0" smtClean="0"/>
                  <a:t>couple weaker than (</a:t>
                </a:r>
                <a:r>
                  <a:rPr lang="en-US" altLang="zh-TW" sz="1200" i="0">
                    <a:latin typeface="Cambria Math" panose="02040503050406030204" pitchFamily="18" charset="0"/>
                  </a:rPr>
                  <a:t>𝑎</a:t>
                </a:r>
                <a:r>
                  <a:rPr lang="en-US" altLang="zh-TW" sz="1200" i="0" smtClean="0">
                    <a:latin typeface="Cambria Math" panose="02040503050406030204" pitchFamily="18" charset="0"/>
                  </a:rPr>
                  <a:t>_</a:t>
                </a:r>
                <a:r>
                  <a:rPr lang="en-US" altLang="zh-TW" sz="1200" i="0">
                    <a:latin typeface="Cambria Math" panose="02040503050406030204" pitchFamily="18" charset="0"/>
                  </a:rPr>
                  <a:t>𝑖</a:t>
                </a:r>
                <a:r>
                  <a:rPr lang="en-US" altLang="zh-TW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</a:t>
                </a:r>
                <a:r>
                  <a:rPr lang="en-US" altLang="zh-TW" sz="1200" b="0" i="0" smtClean="0">
                    <a:latin typeface="Cambria Math" panose="02040503050406030204" pitchFamily="18" charset="0"/>
                  </a:rPr>
                  <a:t>𝑏</a:t>
                </a:r>
                <a:r>
                  <a:rPr lang="en-US" altLang="zh-TW" sz="1200" b="0" i="0">
                    <a:latin typeface="Cambria Math" panose="02040503050406030204" pitchFamily="18" charset="0"/>
                  </a:rPr>
                  <a:t>_</a:t>
                </a:r>
                <a:r>
                  <a:rPr lang="en-US" altLang="zh-TW" sz="1200" i="0">
                    <a:latin typeface="Cambria Math" panose="02040503050406030204" pitchFamily="18" charset="0"/>
                  </a:rPr>
                  <a:t>𝑖</a:t>
                </a:r>
                <a:r>
                  <a:rPr lang="en-US" altLang="zh-TW" dirty="0" smtClean="0"/>
                  <a:t>), then insert (</a:t>
                </a:r>
                <a:r>
                  <a:rPr lang="en-US" altLang="zh-TW" sz="1200" i="0">
                    <a:latin typeface="Cambria Math" panose="02040503050406030204" pitchFamily="18" charset="0"/>
                  </a:rPr>
                  <a:t>𝑎</a:t>
                </a:r>
                <a:r>
                  <a:rPr lang="en-US" altLang="zh-TW" sz="1200" i="0" smtClean="0">
                    <a:latin typeface="Cambria Math" panose="02040503050406030204" pitchFamily="18" charset="0"/>
                  </a:rPr>
                  <a:t>_</a:t>
                </a:r>
                <a:r>
                  <a:rPr lang="en-US" altLang="zh-TW" sz="1200" i="0">
                    <a:latin typeface="Cambria Math" panose="02040503050406030204" pitchFamily="18" charset="0"/>
                  </a:rPr>
                  <a:t>𝑖</a:t>
                </a:r>
                <a:r>
                  <a:rPr lang="en-US" altLang="zh-TW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</a:t>
                </a:r>
                <a:r>
                  <a:rPr lang="en-US" altLang="zh-TW" sz="1200" b="0" i="0" smtClean="0">
                    <a:latin typeface="Cambria Math" panose="02040503050406030204" pitchFamily="18" charset="0"/>
                  </a:rPr>
                  <a:t>𝑏</a:t>
                </a:r>
                <a:r>
                  <a:rPr lang="en-US" altLang="zh-TW" sz="1200" b="0" i="0">
                    <a:latin typeface="Cambria Math" panose="02040503050406030204" pitchFamily="18" charset="0"/>
                  </a:rPr>
                  <a:t>_</a:t>
                </a:r>
                <a:r>
                  <a:rPr lang="en-US" altLang="zh-TW" sz="1200" i="0">
                    <a:latin typeface="Cambria Math" panose="02040503050406030204" pitchFamily="18" charset="0"/>
                  </a:rPr>
                  <a:t>𝑖</a:t>
                </a:r>
                <a:r>
                  <a:rPr lang="en-US" altLang="zh-TW" dirty="0" smtClean="0"/>
                  <a:t>) into </a:t>
                </a:r>
                <a:r>
                  <a:rPr lang="en-US" altLang="zh-TW" sz="1200" i="0" smtClean="0">
                    <a:latin typeface="Cambria Math" panose="02040503050406030204" pitchFamily="18" charset="0"/>
                  </a:rPr>
                  <a:t>〖</a:t>
                </a:r>
                <a:r>
                  <a:rPr lang="en-US" altLang="zh-TW" sz="1200" i="0">
                    <a:latin typeface="Cambria Math" panose="02040503050406030204" pitchFamily="18" charset="0"/>
                  </a:rPr>
                  <a:t> 𝑇</a:t>
                </a:r>
                <a:r>
                  <a:rPr lang="en-US" altLang="zh-TW" sz="1200" i="0" smtClean="0">
                    <a:latin typeface="Cambria Math" panose="02040503050406030204" pitchFamily="18" charset="0"/>
                  </a:rPr>
                  <a:t>〗_</a:t>
                </a:r>
                <a:r>
                  <a:rPr lang="en-US" altLang="zh-TW" sz="1200" b="0" i="0" smtClean="0">
                    <a:latin typeface="Cambria Math" panose="02040503050406030204" pitchFamily="18" charset="0"/>
                  </a:rPr>
                  <a:t>𝑡</a:t>
                </a:r>
                <a:r>
                  <a:rPr lang="en-US" altLang="zh-TW" dirty="0" smtClean="0"/>
                  <a:t> +1 and remove couples that are</a:t>
                </a:r>
                <a:r>
                  <a:rPr lang="en-US" altLang="zh-TW" baseline="0" dirty="0" smtClean="0"/>
                  <a:t> </a:t>
                </a:r>
                <a:r>
                  <a:rPr lang="en-US" altLang="zh-TW" dirty="0" smtClean="0"/>
                  <a:t>no longer smallest ending couples from </a:t>
                </a:r>
                <a:r>
                  <a:rPr lang="en-US" altLang="zh-TW" sz="1200" i="0" smtClean="0">
                    <a:latin typeface="Cambria Math" panose="02040503050406030204" pitchFamily="18" charset="0"/>
                  </a:rPr>
                  <a:t>〖</a:t>
                </a:r>
                <a:r>
                  <a:rPr lang="en-US" altLang="zh-TW" sz="1200" i="0">
                    <a:latin typeface="Cambria Math" panose="02040503050406030204" pitchFamily="18" charset="0"/>
                  </a:rPr>
                  <a:t> 𝑇</a:t>
                </a:r>
                <a:r>
                  <a:rPr lang="en-US" altLang="zh-TW" sz="1200" i="0" smtClean="0">
                    <a:latin typeface="Cambria Math" panose="02040503050406030204" pitchFamily="18" charset="0"/>
                  </a:rPr>
                  <a:t>〗_</a:t>
                </a:r>
                <a:r>
                  <a:rPr lang="en-US" altLang="zh-TW" sz="1200" b="0" i="0" smtClean="0">
                    <a:latin typeface="Cambria Math" panose="02040503050406030204" pitchFamily="18" charset="0"/>
                  </a:rPr>
                  <a:t>𝑡</a:t>
                </a:r>
                <a:r>
                  <a:rPr lang="en-US" altLang="zh-TW" dirty="0" smtClean="0"/>
                  <a:t> +1 in the loop.</a:t>
                </a:r>
                <a:endParaRPr lang="zh-TW" altLang="en-US" dirty="0"/>
              </a:p>
              <a:p>
                <a:endParaRPr lang="zh-TW" altLang="en-US" dirty="0"/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25427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86026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88543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03438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29805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64712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45891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62873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65942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55658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26960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59027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F874B-C395-47F4-9570-4C8CF7D45370}" type="datetime1">
              <a:rPr lang="zh-TW" altLang="en-US" smtClean="0"/>
              <a:t>2018/4/24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9006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2DEDB-5F5E-44FA-B831-E90F058DB6F4}" type="datetime1">
              <a:rPr lang="zh-TW" altLang="en-US" smtClean="0"/>
              <a:t>2018/4/24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5238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81630-F4D6-4EBF-9C74-8617157AD5D6}" type="datetime1">
              <a:rPr lang="zh-TW" altLang="en-US" smtClean="0"/>
              <a:t>2018/4/24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7132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7D3DE-8CFB-4129-96E2-08988034C732}" type="datetime1">
              <a:rPr lang="zh-TW" altLang="en-US" smtClean="0"/>
              <a:t>2018/4/24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4120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BCE5E-A50E-4314-8E1B-4CDA583A915B}" type="datetime1">
              <a:rPr lang="zh-TW" altLang="en-US" smtClean="0"/>
              <a:t>2018/4/24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3329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3D8EC-D88C-48B5-B26B-F86C173BA82F}" type="datetime1">
              <a:rPr lang="zh-TW" altLang="en-US" smtClean="0"/>
              <a:t>2018/4/24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534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2FB5D-05F3-4856-AB9D-B8A7C57C895A}" type="datetime1">
              <a:rPr lang="zh-TW" altLang="en-US" smtClean="0"/>
              <a:t>2018/4/24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5121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A97A6-071E-4A76-B85B-D424C755E7DF}" type="datetime1">
              <a:rPr lang="zh-TW" altLang="en-US" smtClean="0"/>
              <a:t>2018/4/24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895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F83EC-5F79-4973-9855-BCC29F5B863A}" type="datetime1">
              <a:rPr lang="zh-TW" altLang="en-US" smtClean="0"/>
              <a:t>2018/4/24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5642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63B9F-CBD6-4321-983D-C2EF11BDF098}" type="datetime1">
              <a:rPr lang="zh-TW" altLang="en-US" smtClean="0"/>
              <a:t>2018/4/24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4415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04472-345F-406F-9172-EFF7C92DEB6F}" type="datetime1">
              <a:rPr lang="zh-TW" altLang="en-US" smtClean="0"/>
              <a:t>2018/4/24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95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CA1D2B-8465-443F-AA03-EF1EA2D4A471}" type="datetime1">
              <a:rPr lang="zh-TW" altLang="en-US" smtClean="0"/>
              <a:t>2018/4/24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3555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5903" y="224732"/>
            <a:ext cx="8905101" cy="1496976"/>
          </a:xfrm>
        </p:spPr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longest commonly positioned increasing</a:t>
            </a:r>
            <a:b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subsequences problem</a:t>
            </a: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19895" y="2060448"/>
            <a:ext cx="8353402" cy="4111751"/>
          </a:xfrm>
        </p:spPr>
        <p:txBody>
          <a:bodyPr>
            <a:noAutofit/>
          </a:bodyPr>
          <a:lstStyle/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Xiaozhou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 and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Yinfeng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Xu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Combinatorial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February 2018, Volume 35, Issue 2,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pp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331–340</a:t>
            </a:r>
          </a:p>
          <a:p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Presenter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 </a:t>
            </a:r>
            <a:r>
              <a:rPr lang="en-US" altLang="zh-TW" dirty="0" err="1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Shou</a:t>
            </a:r>
            <a:r>
              <a:rPr lang="en-US" altLang="zh-TW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-Fu 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Lo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Date: 2018/5/1</a:t>
            </a:r>
            <a:endParaRPr lang="zh-TW" altLang="en-US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2000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-101639"/>
            <a:ext cx="7886700" cy="1325563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223924"/>
                <a:ext cx="7886700" cy="4351338"/>
              </a:xfrm>
            </p:spPr>
            <p:txBody>
              <a:bodyPr>
                <a:noAutofit/>
              </a:bodyPr>
              <a:lstStyle/>
              <a:p>
                <a:pPr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Based on the well-known longest increasing subsequence </a:t>
                </a:r>
              </a:p>
              <a:p>
                <a:pPr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problem and longest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common increasing subsequence (LCIS) </a:t>
                </a: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problem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we propose the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longest commonly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positioned </a:t>
                </a: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increasing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subsequences (LCPIS) problem. Let A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</a:p>
              <a:p>
                <a:pPr>
                  <a:buNone/>
                </a:pP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sz="24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4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TW" sz="24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4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TW" sz="24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…,</m:t>
                        </m:r>
                        <m:sSub>
                          <m:sSubPr>
                            <m:ctrlPr>
                              <a:rPr lang="en-US" altLang="zh-TW" sz="24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TW" sz="24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B =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4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TW" sz="24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4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TW" sz="24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…,</m:t>
                        </m:r>
                        <m:sSub>
                          <m:sSubPr>
                            <m:ctrlPr>
                              <a:rPr lang="en-US" altLang="zh-TW" sz="24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TW" sz="24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two input sequences. </a:t>
                </a: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</a:t>
                </a:r>
                <a:r>
                  <a:rPr lang="en-US" altLang="zh-TW" sz="24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Asub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4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TW" sz="24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b="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zh-TW" sz="24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  <m:r>
                          <a:rPr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4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TW" sz="24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zh-TW" sz="2400" b="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  <m:r>
                          <a:rPr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…,</m:t>
                        </m:r>
                        <m:sSub>
                          <m:sSubPr>
                            <m:ctrlPr>
                              <a:rPr lang="en-US" altLang="zh-TW" sz="24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TW" sz="24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sub>
                            </m:sSub>
                          </m:sub>
                        </m:sSub>
                      </m:e>
                    </m:d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subsequence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A and </a:t>
                </a: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US" altLang="zh-TW" sz="2400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Bsub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4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TW" sz="24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b="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</m:e>
                              <m:sub>
                                <m:r>
                                  <a:rPr lang="en-US" altLang="zh-TW" sz="24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  <m:r>
                          <a:rPr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TW" sz="24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TW" sz="24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</m:e>
                              <m:sub>
                                <m:r>
                                  <a:rPr lang="en-US" altLang="zh-TW" sz="2400" b="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  <m:r>
                          <a:rPr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…,</m:t>
                        </m:r>
                        <m:sSub>
                          <m:sSubPr>
                            <m:ctrlPr>
                              <a:rPr lang="en-US" altLang="zh-TW" sz="24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zh-TW" sz="24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𝑗</m:t>
                                </m:r>
                              </m:e>
                              <m:sub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ℓ</m:t>
                                </m:r>
                              </m:sub>
                            </m:sSub>
                          </m:sub>
                        </m:sSub>
                      </m:e>
                    </m:d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subsequence of B such that</a:t>
                </a:r>
              </a:p>
              <a:p>
                <a:pPr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sSub>
                          <m:sSubPr>
                            <m:ctrlPr>
                              <a:rPr lang="en-US" altLang="zh-TW" sz="24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TW" sz="24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≤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sSub>
                          <m:sSubPr>
                            <m:ctrlPr>
                              <a:rPr lang="en-US" altLang="zh-TW" sz="24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TW" sz="24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  <m:r>
                              <a:rPr lang="en-US" altLang="zh-TW" sz="24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sSub>
                          <m:sSubPr>
                            <m:ctrlPr>
                              <a:rPr lang="en-US" altLang="zh-TW" sz="24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e>
                          <m:sub>
                            <m:r>
                              <a:rPr lang="en-US" altLang="zh-TW" sz="24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≤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sSub>
                          <m:sSubPr>
                            <m:ctrlPr>
                              <a:rPr lang="en-US" altLang="zh-TW" sz="24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e>
                          <m:sub>
                            <m:r>
                              <a:rPr lang="en-US" altLang="zh-TW" sz="24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  <m:r>
                              <a:rPr lang="en-US" altLang="zh-TW" sz="24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+1</m:t>
                            </m:r>
                          </m:sub>
                        </m:sSub>
                      </m:sub>
                    </m:sSub>
                    <m:r>
                      <a:rPr lang="en-US" altLang="zh-TW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 ≤ k &lt; </a:t>
                </a:r>
                <a14:m>
                  <m:oMath xmlns:m="http://schemas.openxmlformats.org/officeDocument/2006/math">
                    <m:r>
                      <a:rPr lang="en-US" altLang="zh-TW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ℓ</m:t>
                    </m:r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sSub>
                          <m:sSubPr>
                            <m:ctrlPr>
                              <a:rPr lang="en-US" altLang="zh-TW" sz="24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TW" sz="24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sSub>
                          <m:sSubPr>
                            <m:ctrlPr>
                              <a:rPr lang="en-US" altLang="zh-TW" sz="24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𝑗</m:t>
                            </m:r>
                          </m:e>
                          <m:sub>
                            <m:r>
                              <a:rPr lang="en-US" altLang="zh-TW" sz="24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sub>
                        </m:sSub>
                      </m:sub>
                    </m:sSub>
                    <m:r>
                      <a:rPr lang="en-US" altLang="zh-TW" sz="24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 ≤ k </a:t>
                </a: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≤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ℓ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) are commonly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positioned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(have the same index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e>
                      <m:sub>
                        <m:r>
                          <a:rPr lang="en-US" altLang="zh-TW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) </a:t>
                </a: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A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B respectively but these two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elements do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not need to </a:t>
                </a: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 equal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223924"/>
                <a:ext cx="7886700" cy="4351338"/>
              </a:xfrm>
              <a:blipFill rotWithShape="0">
                <a:blip r:embed="rId3"/>
                <a:stretch>
                  <a:fillRect l="-1159" t="-1961" r="-1159" b="-2086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917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-101639"/>
            <a:ext cx="7886700" cy="1325563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223924"/>
                <a:ext cx="7886700" cy="4351338"/>
              </a:xfrm>
            </p:spPr>
            <p:txBody>
              <a:bodyPr>
                <a:noAutofit/>
              </a:bodyPr>
              <a:lstStyle/>
              <a:p>
                <a:pPr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LCPIS problem aims at ﬁnding a pair of subsequences</a:t>
                </a:r>
              </a:p>
              <a:p>
                <a:pPr>
                  <a:buNone/>
                </a:pP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Asub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Bsub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as long as possible. When all the elements of </a:t>
                </a: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two input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sequences are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positive integers, this paper </a:t>
                </a: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presents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 algorithm with O (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func>
                      <m:func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240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</m:func>
                    <m:func>
                      <m:func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log</m:t>
                        </m:r>
                      </m:fName>
                      <m:e>
                        <m:func>
                          <m:funcPr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sz="24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𝑀</m:t>
                            </m:r>
                          </m:e>
                        </m:func>
                      </m:e>
                    </m:func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time to </a:t>
                </a:r>
              </a:p>
              <a:p>
                <a:pPr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compute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LCPIS, where M = min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max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1≤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i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≤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</a:p>
              <a:p>
                <a:pPr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max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1≤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j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≤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n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sz="24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}. And we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also show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dual relationship </a:t>
                </a: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between the LCPIS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problem and the LCIS problem.</a:t>
                </a: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223924"/>
                <a:ext cx="7886700" cy="4351338"/>
              </a:xfrm>
              <a:blipFill rotWithShape="0">
                <a:blip r:embed="rId3"/>
                <a:stretch>
                  <a:fillRect l="-1159" t="-19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5109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-101639"/>
            <a:ext cx="7886700" cy="1325563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LCPIS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223924"/>
                <a:ext cx="7886700" cy="4351338"/>
              </a:xfrm>
            </p:spPr>
            <p:txBody>
              <a:bodyPr>
                <a:noAutofit/>
              </a:bodyPr>
              <a:lstStyle/>
              <a:p>
                <a:pPr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=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zh-TW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6, </m:t>
                        </m:r>
                        <m:r>
                          <a:rPr lang="en-US" altLang="zh-TW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5, 2, 5, 9, </m:t>
                        </m:r>
                        <m:r>
                          <a:rPr lang="en-US" altLang="zh-TW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7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zh-TW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8</m:t>
                        </m:r>
                      </m:e>
                    </m:d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B =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zh-TW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3, </m:t>
                        </m:r>
                        <m:r>
                          <a:rPr lang="en-US" altLang="zh-TW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3, 7, 2, 1, </m:t>
                        </m:r>
                        <m:r>
                          <a:rPr lang="en-US" altLang="zh-TW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zh-TW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8</m:t>
                        </m:r>
                      </m:e>
                    </m:d>
                  </m:oMath>
                </a14:m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Asub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TW" sz="2400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, 3, 4, 7, 8</m:t>
                        </m:r>
                      </m:e>
                    </m:d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</a:t>
                </a: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Bsub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2, 4, 5, 6, 8</m:t>
                        </m:r>
                      </m:e>
                    </m:d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are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pair of LCPIS of A and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B.</a:t>
                </a:r>
              </a:p>
              <a:p>
                <a:pPr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LCIS =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TW" sz="2400" b="0" i="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5, 7, 8</m:t>
                        </m:r>
                      </m:e>
                    </m:d>
                  </m:oMath>
                </a14:m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223924"/>
                <a:ext cx="7886700" cy="4351338"/>
              </a:xfrm>
              <a:blipFill rotWithShape="0">
                <a:blip r:embed="rId3"/>
                <a:stretch>
                  <a:fillRect l="-1159" t="-19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5499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-101639"/>
            <a:ext cx="7886700" cy="1325563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LCPIS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223924"/>
                <a:ext cx="7886700" cy="4351338"/>
              </a:xfrm>
            </p:spPr>
            <p:txBody>
              <a:bodyPr>
                <a:noAutofit/>
              </a:bodyPr>
              <a:lstStyle/>
              <a:p>
                <a:pPr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=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6, 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5, 2, 5, 9, 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7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8</m:t>
                        </m:r>
                      </m:e>
                    </m:d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B =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3, 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3, 7, 2, 1, 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8</m:t>
                        </m:r>
                      </m:e>
                    </m:d>
                  </m:oMath>
                </a14:m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223924"/>
                <a:ext cx="7886700" cy="4351338"/>
              </a:xfrm>
              <a:blipFill rotWithShape="0">
                <a:blip r:embed="rId3"/>
                <a:stretch>
                  <a:fillRect l="-1159" t="-19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18850136"/>
                  </p:ext>
                </p:extLst>
              </p:nvPr>
            </p:nvGraphicFramePr>
            <p:xfrm>
              <a:off x="785620" y="1883093"/>
              <a:ext cx="7729730" cy="9859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</a:tblGrid>
                  <a:tr h="49297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</a:tr>
                  <a:tr h="49297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US" altLang="zh-TW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1, 2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18850136"/>
                  </p:ext>
                </p:extLst>
              </p:nvPr>
            </p:nvGraphicFramePr>
            <p:xfrm>
              <a:off x="785620" y="1883093"/>
              <a:ext cx="7729730" cy="9859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</a:tblGrid>
                  <a:tr h="49297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787" t="-1220" r="-900787" b="-1012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100787" t="-1220" r="-800787" b="-1012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200787" t="-1220" r="-700787" b="-1012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300787" t="-1220" r="-600787" b="-1012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400787" t="-1220" r="-500787" b="-1012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504762" t="-1220" r="-404762" b="-1012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600000" t="-1220" r="-301575" b="-1012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700000" t="-1220" r="-201575" b="-1012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800000" t="-1220" r="-101575" b="-1012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900000" t="-1220" r="-1575" b="-101220"/>
                          </a:stretch>
                        </a:blipFill>
                      </a:tcPr>
                    </a:tc>
                  </a:tr>
                  <a:tr h="49297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787" t="-102469" r="-900787" b="-2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字方塊 5"/>
              <p:cNvSpPr txBox="1"/>
              <p:nvPr/>
            </p:nvSpPr>
            <p:spPr>
              <a:xfrm>
                <a:off x="409194" y="2955989"/>
                <a:ext cx="8760796" cy="37856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can construct 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vEB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trees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. . .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store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</a:p>
              <a:p>
                <a:r>
                  <a:rPr lang="en-US" altLang="zh-TW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smallest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ending couples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Thus, in each tree we index the</a:t>
                </a: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smallest ending couples by their ﬁrst numbers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insert (x) which adds x to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O (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log</m:t>
                        </m:r>
                      </m:fName>
                      <m:e>
                        <m:func>
                          <m:func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sz="24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</m:func>
                      </m:e>
                    </m:func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time.</a:t>
                </a: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delete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(x) which removes x from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O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log</m:t>
                        </m:r>
                      </m:fName>
                      <m:e>
                        <m:func>
                          <m:func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sz="24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</m:func>
                      </m:e>
                    </m:func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predecessor (x) which returns the largest number of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less than x </a:t>
                </a:r>
              </a:p>
              <a:p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 (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log</m:t>
                        </m:r>
                      </m:fName>
                      <m:e>
                        <m:func>
                          <m:func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sz="24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</m:func>
                      </m:e>
                    </m:func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time.</a:t>
                </a: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successor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(x) which returns the smallest number of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greater than </a:t>
                </a: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 in O (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TW" sz="24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log</m:t>
                        </m:r>
                      </m:fName>
                      <m:e>
                        <m:func>
                          <m:funcPr>
                            <m:ctrlP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sz="24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</m:func>
                      </m:e>
                    </m:func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time.</a:t>
                </a:r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194" y="2955989"/>
                <a:ext cx="8760796" cy="3785652"/>
              </a:xfrm>
              <a:prstGeom prst="rect">
                <a:avLst/>
              </a:prstGeom>
              <a:blipFill rotWithShape="0">
                <a:blip r:embed="rId5"/>
                <a:stretch>
                  <a:fillRect l="-1044" t="-1288" b="-273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6489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-101639"/>
            <a:ext cx="7886700" cy="1325563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LCPIS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223924"/>
                <a:ext cx="7886700" cy="4351338"/>
              </a:xfrm>
            </p:spPr>
            <p:txBody>
              <a:bodyPr>
                <a:noAutofit/>
              </a:bodyPr>
              <a:lstStyle/>
              <a:p>
                <a:pPr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=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1,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zh-TW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5, 2, 5, 9, 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7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8</m:t>
                        </m:r>
                      </m:e>
                    </m:d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B =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zh-TW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3, 7, 2, 1, 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8</m:t>
                        </m:r>
                      </m:e>
                    </m:d>
                  </m:oMath>
                </a14:m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223924"/>
                <a:ext cx="7886700" cy="4351338"/>
              </a:xfrm>
              <a:blipFill rotWithShape="0">
                <a:blip r:embed="rId3"/>
                <a:stretch>
                  <a:fillRect l="-1159" t="-19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6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283405" y="2005013"/>
            <a:ext cx="877272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Lemma </a:t>
            </a:r>
            <a:r>
              <a:rPr lang="en-US" altLang="zh-TW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 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sort the couples in any set with their ﬁrst numbers, </a:t>
            </a:r>
            <a:endParaRPr lang="en-US" altLang="zh-TW" sz="24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then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second numbers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these couples are in the descending order.</a:t>
            </a:r>
            <a:endParaRPr lang="zh-TW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表格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66550335"/>
                  </p:ext>
                </p:extLst>
              </p:nvPr>
            </p:nvGraphicFramePr>
            <p:xfrm>
              <a:off x="490669" y="3370542"/>
              <a:ext cx="7729730" cy="22047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</a:tblGrid>
                  <a:tr h="52933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</a:tr>
                  <a:tr h="1675384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US" altLang="zh-TW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1, 2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US" altLang="zh-TW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TW" altLang="en-US" dirty="0"/>
                        </a:p>
                        <a:p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7" name="表格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66550335"/>
                  </p:ext>
                </p:extLst>
              </p:nvPr>
            </p:nvGraphicFramePr>
            <p:xfrm>
              <a:off x="490669" y="3370542"/>
              <a:ext cx="7729730" cy="22047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</a:tblGrid>
                  <a:tr h="529336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787" t="-1149" r="-900787" b="-3195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100787" t="-1149" r="-800787" b="-3195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200787" t="-1149" r="-700787" b="-3195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300787" t="-1149" r="-600787" b="-3195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400787" t="-1149" r="-500787" b="-3195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504762" t="-1149" r="-404762" b="-3195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600000" t="-1149" r="-301575" b="-3195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700000" t="-1149" r="-201575" b="-3195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800000" t="-1149" r="-101575" b="-3195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900000" t="-1149" r="-1575" b="-319540"/>
                          </a:stretch>
                        </a:blipFill>
                      </a:tcPr>
                    </a:tc>
                  </a:tr>
                  <a:tr h="1675384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787" t="-31884" r="-900787" b="-7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100787" t="-31884" r="-800787" b="-7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078692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-101639"/>
            <a:ext cx="7886700" cy="1325563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LCPIS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223924"/>
                <a:ext cx="7886700" cy="4351338"/>
              </a:xfrm>
            </p:spPr>
            <p:txBody>
              <a:bodyPr>
                <a:noAutofit/>
              </a:bodyPr>
              <a:lstStyle/>
              <a:p>
                <a:pPr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=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1,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zh-TW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5, 2, 5, 9, 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7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8</m:t>
                        </m:r>
                      </m:e>
                    </m:d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B =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zh-TW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3, 7, 2, 1, 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8</m:t>
                        </m:r>
                      </m:e>
                    </m:d>
                  </m:oMath>
                </a14:m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223924"/>
                <a:ext cx="7886700" cy="4351338"/>
              </a:xfrm>
              <a:blipFill rotWithShape="0">
                <a:blip r:embed="rId3"/>
                <a:stretch>
                  <a:fillRect l="-1159" t="-19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7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表格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21488901"/>
                  </p:ext>
                </p:extLst>
              </p:nvPr>
            </p:nvGraphicFramePr>
            <p:xfrm>
              <a:off x="518922" y="4359656"/>
              <a:ext cx="7729730" cy="22047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</a:tblGrid>
                  <a:tr h="52933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</a:tr>
                  <a:tr h="1675384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US" altLang="zh-TW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1, 2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US" altLang="zh-TW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3, 4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altLang="zh-TW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US" altLang="zh-TW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6, 3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altLang="zh-TW" dirty="0" smtClean="0"/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TW" altLang="en-US" dirty="0"/>
                        </a:p>
                        <a:p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8" name="表格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21488901"/>
                  </p:ext>
                </p:extLst>
              </p:nvPr>
            </p:nvGraphicFramePr>
            <p:xfrm>
              <a:off x="518922" y="4359656"/>
              <a:ext cx="7729730" cy="22047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</a:tblGrid>
                  <a:tr h="529336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787" t="-1149" r="-900787" b="-318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100787" t="-1149" r="-800787" b="-318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200787" t="-1149" r="-700787" b="-318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300787" t="-1149" r="-600787" b="-318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400787" t="-1149" r="-500787" b="-318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504762" t="-1149" r="-404762" b="-318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600000" t="-1149" r="-301575" b="-318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700000" t="-1149" r="-201575" b="-318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800000" t="-1149" r="-101575" b="-318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900000" t="-1149" r="-1575" b="-318391"/>
                          </a:stretch>
                        </a:blipFill>
                      </a:tcPr>
                    </a:tc>
                  </a:tr>
                  <a:tr h="1675384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787" t="-32000" r="-900787" b="-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100787" t="-32000" r="-800787" b="-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字方塊 8"/>
              <p:cNvSpPr txBox="1"/>
              <p:nvPr/>
            </p:nvSpPr>
            <p:spPr>
              <a:xfrm>
                <a:off x="189738" y="2005013"/>
                <a:ext cx="8912120" cy="20227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can apply </a:t>
                </a:r>
                <a:r>
                  <a:rPr lang="en-US" altLang="zh-TW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binary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search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. . .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Firstly,</a:t>
                </a:r>
                <a14:m>
                  <m:oMath xmlns:m="http://schemas.openxmlformats.org/officeDocument/2006/math">
                    <m:r>
                      <a:rPr lang="en-US" altLang="zh-TW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</m:t>
                    </m:r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[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k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/2]</m:t>
                        </m:r>
                      </m:sub>
                    </m:sSub>
                    <m:r>
                      <a:rPr lang="en-US" altLang="zh-TW" sz="24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</a:t>
                </a:r>
              </a:p>
              <a:p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vEB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tree and the smallest ending couples in it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sorted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 their </a:t>
                </a: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ﬁrst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numbers, we can use operation </a:t>
                </a:r>
                <a:r>
                  <a:rPr lang="en-US" altLang="zh-TW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predecessor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)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 these couples</a:t>
                </a: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ﬁnd the couple with the </a:t>
                </a:r>
                <a:r>
                  <a:rPr lang="en-US" altLang="zh-TW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largest ﬁrst number which is not greater </a:t>
                </a:r>
              </a:p>
              <a:p>
                <a:r>
                  <a:rPr lang="en-US" altLang="zh-TW" sz="2400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and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assume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couple to be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). </a:t>
                </a:r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738" y="2005013"/>
                <a:ext cx="8912120" cy="2022798"/>
              </a:xfrm>
              <a:prstGeom prst="rect">
                <a:avLst/>
              </a:prstGeom>
              <a:blipFill rotWithShape="0">
                <a:blip r:embed="rId5"/>
                <a:stretch>
                  <a:fillRect l="-1026" t="-2410" b="-602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線接點 9"/>
          <p:cNvCxnSpPr/>
          <p:nvPr/>
        </p:nvCxnSpPr>
        <p:spPr>
          <a:xfrm>
            <a:off x="5900928" y="499872"/>
            <a:ext cx="288950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 flipH="1">
            <a:off x="5900928" y="384359"/>
            <a:ext cx="6096" cy="17678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 flipH="1">
            <a:off x="7352157" y="390144"/>
            <a:ext cx="6096" cy="17678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 flipH="1">
            <a:off x="8772525" y="384360"/>
            <a:ext cx="6096" cy="17678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字方塊 13"/>
              <p:cNvSpPr txBox="1"/>
              <p:nvPr/>
            </p:nvSpPr>
            <p:spPr>
              <a:xfrm>
                <a:off x="5752773" y="63485"/>
                <a:ext cx="5039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4" name="文字方塊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2773" y="63485"/>
                <a:ext cx="503921" cy="36933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字方塊 14"/>
              <p:cNvSpPr txBox="1"/>
              <p:nvPr/>
            </p:nvSpPr>
            <p:spPr>
              <a:xfrm>
                <a:off x="8538471" y="72784"/>
                <a:ext cx="5189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8471" y="72784"/>
                <a:ext cx="518988" cy="36933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字方塊 15"/>
              <p:cNvSpPr txBox="1"/>
              <p:nvPr/>
            </p:nvSpPr>
            <p:spPr>
              <a:xfrm>
                <a:off x="6943465" y="-41384"/>
                <a:ext cx="885114" cy="4322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[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k</m:t>
                          </m:r>
                          <m:r>
                            <m:rPr>
                              <m:nor/>
                            </m:rPr>
                            <a:rPr lang="en-US" altLang="zh-TW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/2]</m:t>
                          </m:r>
                        </m:sub>
                      </m:sSub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16" name="文字方塊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3465" y="-41384"/>
                <a:ext cx="885114" cy="432234"/>
              </a:xfrm>
              <a:prstGeom prst="rect">
                <a:avLst/>
              </a:prstGeom>
              <a:blipFill rotWithShape="0">
                <a:blip r:embed="rId8"/>
                <a:stretch>
                  <a:fillRect b="-1549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8270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-101639"/>
            <a:ext cx="7886700" cy="1325563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LCPIS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223924"/>
                <a:ext cx="7886700" cy="4351338"/>
              </a:xfrm>
            </p:spPr>
            <p:txBody>
              <a:bodyPr>
                <a:noAutofit/>
              </a:bodyPr>
              <a:lstStyle/>
              <a:p>
                <a:pPr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=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1,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6, </m:t>
                        </m:r>
                        <m:r>
                          <a:rPr lang="en-US" altLang="zh-TW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5, 2, 5, 9, 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7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8</m:t>
                        </m:r>
                      </m:e>
                    </m:d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B =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3, </m:t>
                        </m:r>
                        <m:r>
                          <a:rPr lang="en-US" altLang="zh-TW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3, 7, 2, 1, 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8</m:t>
                        </m:r>
                      </m:e>
                    </m:d>
                  </m:oMath>
                </a14:m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223924"/>
                <a:ext cx="7886700" cy="4351338"/>
              </a:xfrm>
              <a:blipFill rotWithShape="0">
                <a:blip r:embed="rId3"/>
                <a:stretch>
                  <a:fillRect l="-1159" t="-19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11321751"/>
                  </p:ext>
                </p:extLst>
              </p:nvPr>
            </p:nvGraphicFramePr>
            <p:xfrm>
              <a:off x="470154" y="4262120"/>
              <a:ext cx="7729730" cy="22047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</a:tblGrid>
                  <a:tr h="52933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</a:tr>
                  <a:tr h="1675384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US" altLang="zh-TW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1, 2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US" altLang="zh-TW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3, 4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altLang="zh-TW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US" altLang="zh-TW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6, 3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altLang="zh-TW" dirty="0" smtClean="0"/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TW" altLang="en-US" dirty="0"/>
                        </a:p>
                        <a:p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US" altLang="zh-TW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4, 5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11321751"/>
                  </p:ext>
                </p:extLst>
              </p:nvPr>
            </p:nvGraphicFramePr>
            <p:xfrm>
              <a:off x="470154" y="4262120"/>
              <a:ext cx="7729730" cy="22047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</a:tblGrid>
                  <a:tr h="529336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787" t="-1149" r="-900787" b="-318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100787" t="-1149" r="-800787" b="-318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200787" t="-1149" r="-700787" b="-318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300787" t="-1149" r="-600787" b="-318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400787" t="-1149" r="-500787" b="-318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504762" t="-1149" r="-404762" b="-318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600000" t="-1149" r="-301575" b="-318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700000" t="-1149" r="-201575" b="-318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800000" t="-1149" r="-101575" b="-318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900000" t="-1149" r="-1575" b="-318391"/>
                          </a:stretch>
                        </a:blipFill>
                      </a:tcPr>
                    </a:tc>
                  </a:tr>
                  <a:tr h="1675384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787" t="-32000" r="-900787" b="-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100787" t="-32000" r="-800787" b="-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200787" t="-32000" r="-700787" b="-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字方塊 19"/>
              <p:cNvSpPr txBox="1"/>
              <p:nvPr/>
            </p:nvSpPr>
            <p:spPr>
              <a:xfrm>
                <a:off x="177546" y="1822133"/>
                <a:ext cx="9210278" cy="2450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24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Lemma 3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US" altLang="zh-TW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each loop, for any couple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) and any two non-empty </a:t>
                </a:r>
                <a:endParaRPr lang="en-US" altLang="zh-TW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trees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en-US" altLang="zh-TW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(1 ≤ p &lt; q ≤ n):</a:t>
                </a:r>
              </a:p>
              <a:p>
                <a:pPr marL="514350" indent="-514350">
                  <a:buAutoNum type="romanLcParenBoth"/>
                </a:pPr>
                <a:r>
                  <a:rPr lang="en-US" altLang="zh-TW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there is a couple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weaker than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), then there is a </a:t>
                </a:r>
                <a:endParaRPr lang="en-US" altLang="zh-TW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altLang="zh-TW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ouple in 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each </a:t>
                </a:r>
                <a:r>
                  <a:rPr lang="en-US" altLang="zh-TW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tree among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. . .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weaker than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  <a:endParaRPr lang="en-US" altLang="zh-TW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(ii) </a:t>
                </a:r>
                <a:r>
                  <a:rPr lang="en-US" altLang="zh-TW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If 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there is no couple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weaker than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), then there is no </a:t>
                </a:r>
                <a:endParaRPr lang="en-US" altLang="zh-TW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couple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en-US" altLang="zh-TW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. . .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weaker than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).</a:t>
                </a:r>
                <a:endParaRPr lang="zh-TW" altLang="en-US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0" name="文字方塊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546" y="1822133"/>
                <a:ext cx="9210278" cy="2450992"/>
              </a:xfrm>
              <a:prstGeom prst="rect">
                <a:avLst/>
              </a:prstGeom>
              <a:blipFill rotWithShape="0">
                <a:blip r:embed="rId5"/>
                <a:stretch>
                  <a:fillRect l="-993" t="-1990" b="-348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4706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-101639"/>
            <a:ext cx="7886700" cy="1325563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LCPIS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223924"/>
                <a:ext cx="7886700" cy="4351338"/>
              </a:xfrm>
            </p:spPr>
            <p:txBody>
              <a:bodyPr>
                <a:noAutofit/>
              </a:bodyPr>
              <a:lstStyle/>
              <a:p>
                <a:pPr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=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1,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6, 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zh-TW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2, 5, 9, 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7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8</m:t>
                        </m:r>
                      </m:e>
                    </m:d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B =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3,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5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zh-TW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7, 2, 1, 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8</m:t>
                        </m:r>
                      </m:e>
                    </m:d>
                  </m:oMath>
                </a14:m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223924"/>
                <a:ext cx="7886700" cy="4351338"/>
              </a:xfrm>
              <a:blipFill rotWithShape="0">
                <a:blip r:embed="rId3"/>
                <a:stretch>
                  <a:fillRect l="-1159" t="-19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28824401"/>
                  </p:ext>
                </p:extLst>
              </p:nvPr>
            </p:nvGraphicFramePr>
            <p:xfrm>
              <a:off x="531114" y="2750312"/>
              <a:ext cx="7729730" cy="22047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</a:tblGrid>
                  <a:tr h="52933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</a:tr>
                  <a:tr h="1675384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US" altLang="zh-TW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1, 2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US" altLang="zh-TW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3, 4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altLang="zh-TW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US" altLang="zh-TW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5, 3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altLang="zh-TW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US" altLang="zh-TW" i="1" strike="sngStrik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b="0" i="1" strike="sngStrik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6, 3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altLang="zh-TW" strike="sngStrike" dirty="0" smtClean="0"/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TW" altLang="en-US" dirty="0"/>
                        </a:p>
                        <a:p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US" altLang="zh-TW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4, 5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28824401"/>
                  </p:ext>
                </p:extLst>
              </p:nvPr>
            </p:nvGraphicFramePr>
            <p:xfrm>
              <a:off x="531114" y="2750312"/>
              <a:ext cx="7729730" cy="22047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</a:tblGrid>
                  <a:tr h="529336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787" t="-1149" r="-900787" b="-318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100787" t="-1149" r="-800787" b="-318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200787" t="-1149" r="-700787" b="-318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300787" t="-1149" r="-600787" b="-318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400787" t="-1149" r="-500787" b="-318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504762" t="-1149" r="-404762" b="-318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600000" t="-1149" r="-301575" b="-318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700000" t="-1149" r="-201575" b="-318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800000" t="-1149" r="-101575" b="-318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900000" t="-1149" r="-1575" b="-318391"/>
                          </a:stretch>
                        </a:blipFill>
                      </a:tcPr>
                    </a:tc>
                  </a:tr>
                  <a:tr h="1675384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787" t="-32000" r="-900787" b="-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100787" t="-32000" r="-800787" b="-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200787" t="-32000" r="-700787" b="-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82188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-101639"/>
            <a:ext cx="7886700" cy="1325563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LCPIS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223924"/>
                <a:ext cx="7886700" cy="4351338"/>
              </a:xfrm>
            </p:spPr>
            <p:txBody>
              <a:bodyPr>
                <a:noAutofit/>
              </a:bodyPr>
              <a:lstStyle/>
              <a:p>
                <a:pPr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=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1,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6, 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zh-TW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5, 9, 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7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8</m:t>
                        </m:r>
                      </m:e>
                    </m:d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B =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3,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5, 3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zh-TW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7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2, 1, 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8</m:t>
                        </m:r>
                      </m:e>
                    </m:d>
                  </m:oMath>
                </a14:m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223924"/>
                <a:ext cx="7886700" cy="4351338"/>
              </a:xfrm>
              <a:blipFill rotWithShape="0">
                <a:blip r:embed="rId3"/>
                <a:stretch>
                  <a:fillRect l="-1159" t="-19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10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83239809"/>
                  </p:ext>
                </p:extLst>
              </p:nvPr>
            </p:nvGraphicFramePr>
            <p:xfrm>
              <a:off x="531114" y="2750312"/>
              <a:ext cx="7729730" cy="22047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</a:tblGrid>
                  <a:tr h="52933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</a:tr>
                  <a:tr h="1675384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US" altLang="zh-TW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1, 2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US" altLang="zh-TW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2, 7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altLang="zh-TW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US" altLang="zh-TW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3, 4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altLang="zh-TW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US" altLang="zh-TW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5, 3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altLang="zh-TW" dirty="0" smtClean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US" altLang="zh-TW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4, 5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83239809"/>
                  </p:ext>
                </p:extLst>
              </p:nvPr>
            </p:nvGraphicFramePr>
            <p:xfrm>
              <a:off x="531114" y="2750312"/>
              <a:ext cx="7729730" cy="22047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</a:tblGrid>
                  <a:tr h="529336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787" t="-1149" r="-900787" b="-318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100787" t="-1149" r="-800787" b="-318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200787" t="-1149" r="-700787" b="-318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300787" t="-1149" r="-600787" b="-318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400787" t="-1149" r="-500787" b="-318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504762" t="-1149" r="-404762" b="-318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600000" t="-1149" r="-301575" b="-318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700000" t="-1149" r="-201575" b="-318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800000" t="-1149" r="-101575" b="-318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900000" t="-1149" r="-1575" b="-318391"/>
                          </a:stretch>
                        </a:blipFill>
                      </a:tcPr>
                    </a:tc>
                  </a:tr>
                  <a:tr h="1675384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787" t="-32000" r="-900787" b="-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100787" t="-32000" r="-800787" b="-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200787" t="-32000" r="-700787" b="-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41357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-101639"/>
            <a:ext cx="7886700" cy="1325563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LCPIS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223924"/>
                <a:ext cx="7886700" cy="4351338"/>
              </a:xfrm>
            </p:spPr>
            <p:txBody>
              <a:bodyPr>
                <a:noAutofit/>
              </a:bodyPr>
              <a:lstStyle/>
              <a:p>
                <a:pPr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=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1,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6, 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zh-TW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9, 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7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8</m:t>
                        </m:r>
                      </m:e>
                    </m:d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B =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3,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5, 3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7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zh-TW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1, 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8</m:t>
                        </m:r>
                      </m:e>
                    </m:d>
                  </m:oMath>
                </a14:m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223924"/>
                <a:ext cx="7886700" cy="4351338"/>
              </a:xfrm>
              <a:blipFill rotWithShape="0">
                <a:blip r:embed="rId3"/>
                <a:stretch>
                  <a:fillRect l="-1159" t="-19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11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25865179"/>
                  </p:ext>
                </p:extLst>
              </p:nvPr>
            </p:nvGraphicFramePr>
            <p:xfrm>
              <a:off x="531114" y="2750312"/>
              <a:ext cx="7729730" cy="226669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</a:tblGrid>
                  <a:tr h="52933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</a:tr>
                  <a:tr h="1675384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US" altLang="zh-TW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1, 2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US" altLang="zh-TW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2, 7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altLang="zh-TW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US" altLang="zh-TW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3, 4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altLang="zh-TW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US" altLang="zh-TW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5, 2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altLang="zh-TW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US" altLang="zh-TW" i="1" strike="sngStrik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b="0" i="1" strike="sngStrike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5, 3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altLang="zh-TW" strike="sngStrike" dirty="0" smtClean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US" altLang="zh-TW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4, 5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25865179"/>
                  </p:ext>
                </p:extLst>
              </p:nvPr>
            </p:nvGraphicFramePr>
            <p:xfrm>
              <a:off x="531114" y="2750312"/>
              <a:ext cx="7729730" cy="226669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</a:tblGrid>
                  <a:tr h="529336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787" t="-1149" r="-900787" b="-3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100787" t="-1149" r="-800787" b="-3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200787" t="-1149" r="-700787" b="-3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300787" t="-1149" r="-600787" b="-3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400787" t="-1149" r="-500787" b="-3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504762" t="-1149" r="-404762" b="-3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600000" t="-1149" r="-301575" b="-3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700000" t="-1149" r="-201575" b="-3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800000" t="-1149" r="-101575" b="-3310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900000" t="-1149" r="-1575" b="-331034"/>
                          </a:stretch>
                        </a:blipFill>
                      </a:tcPr>
                    </a:tc>
                  </a:tr>
                  <a:tr h="1737360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787" t="-30877" r="-900787" b="-10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100787" t="-30877" r="-800787" b="-10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200787" t="-30877" r="-700787" b="-10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73021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-101639"/>
            <a:ext cx="7886700" cy="1325563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LCPIS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223924"/>
                <a:ext cx="7886700" cy="4351338"/>
              </a:xfrm>
            </p:spPr>
            <p:txBody>
              <a:bodyPr>
                <a:noAutofit/>
              </a:bodyPr>
              <a:lstStyle/>
              <a:p>
                <a:pPr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=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1,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6, 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zh-TW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9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7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8</m:t>
                        </m:r>
                      </m:e>
                    </m:d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B =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3,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5, 3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7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2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zh-TW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8</m:t>
                        </m:r>
                      </m:e>
                    </m:d>
                  </m:oMath>
                </a14:m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223924"/>
                <a:ext cx="7886700" cy="4351338"/>
              </a:xfrm>
              <a:blipFill rotWithShape="0">
                <a:blip r:embed="rId3"/>
                <a:stretch>
                  <a:fillRect l="-1159" t="-19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12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49944407"/>
                  </p:ext>
                </p:extLst>
              </p:nvPr>
            </p:nvGraphicFramePr>
            <p:xfrm>
              <a:off x="531114" y="2750312"/>
              <a:ext cx="7729730" cy="22047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</a:tblGrid>
                  <a:tr h="52933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</a:tr>
                  <a:tr h="1675384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US" altLang="zh-TW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1, 2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altLang="zh-TW" i="1" dirty="0" smtClean="0">
                            <a:latin typeface="Cambria Math" panose="02040503050406030204" pitchFamily="18" charset="0"/>
                          </a:endParaRPr>
                        </a:p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US" altLang="zh-TW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US" altLang="zh-TW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2, 7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altLang="zh-TW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US" altLang="zh-TW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3, 4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altLang="zh-TW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US" altLang="zh-TW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5, 2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altLang="zh-TW" dirty="0" smtClean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US" altLang="zh-TW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4, 5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49944407"/>
                  </p:ext>
                </p:extLst>
              </p:nvPr>
            </p:nvGraphicFramePr>
            <p:xfrm>
              <a:off x="531114" y="2750312"/>
              <a:ext cx="7729730" cy="22047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</a:tblGrid>
                  <a:tr h="529336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787" t="-1149" r="-900787" b="-318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100787" t="-1149" r="-800787" b="-318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200787" t="-1149" r="-700787" b="-318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300787" t="-1149" r="-600787" b="-318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400787" t="-1149" r="-500787" b="-318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504762" t="-1149" r="-404762" b="-318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600000" t="-1149" r="-301575" b="-318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700000" t="-1149" r="-201575" b="-318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800000" t="-1149" r="-101575" b="-318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900000" t="-1149" r="-1575" b="-318391"/>
                          </a:stretch>
                        </a:blipFill>
                      </a:tcPr>
                    </a:tc>
                  </a:tr>
                  <a:tr h="1675384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787" t="-32000" r="-900787" b="-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100787" t="-32000" r="-800787" b="-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200787" t="-32000" r="-700787" b="-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88466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-101639"/>
            <a:ext cx="7886700" cy="1325563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LCPIS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223924"/>
                <a:ext cx="7886700" cy="4351338"/>
              </a:xfrm>
            </p:spPr>
            <p:txBody>
              <a:bodyPr>
                <a:noAutofit/>
              </a:bodyPr>
              <a:lstStyle/>
              <a:p>
                <a:pPr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=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1,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6, 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9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zh-TW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7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8</m:t>
                        </m:r>
                      </m:e>
                    </m:d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B =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3,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5, 3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7, 2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zh-TW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8</m:t>
                        </m:r>
                      </m:e>
                    </m:d>
                  </m:oMath>
                </a14:m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223924"/>
                <a:ext cx="7886700" cy="4351338"/>
              </a:xfrm>
              <a:blipFill rotWithShape="0">
                <a:blip r:embed="rId3"/>
                <a:stretch>
                  <a:fillRect l="-1159" t="-19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13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86650936"/>
                  </p:ext>
                </p:extLst>
              </p:nvPr>
            </p:nvGraphicFramePr>
            <p:xfrm>
              <a:off x="531114" y="2750312"/>
              <a:ext cx="7729730" cy="22047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</a:tblGrid>
                  <a:tr h="52933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</a:tr>
                  <a:tr h="1675384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US" altLang="zh-TW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1, 2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altLang="zh-TW" i="1" dirty="0" smtClean="0">
                            <a:latin typeface="Cambria Math" panose="02040503050406030204" pitchFamily="18" charset="0"/>
                          </a:endParaRPr>
                        </a:p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US" altLang="zh-TW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US" altLang="zh-TW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2, 7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altLang="zh-TW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US" altLang="zh-TW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3, 4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altLang="zh-TW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US" altLang="zh-TW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5, 2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altLang="zh-TW" dirty="0" smtClean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US" altLang="zh-TW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4, 5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US" altLang="zh-TW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86650936"/>
                  </p:ext>
                </p:extLst>
              </p:nvPr>
            </p:nvGraphicFramePr>
            <p:xfrm>
              <a:off x="531114" y="2750312"/>
              <a:ext cx="7729730" cy="22047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</a:tblGrid>
                  <a:tr h="529336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787" t="-1149" r="-900787" b="-318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100787" t="-1149" r="-800787" b="-318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200787" t="-1149" r="-700787" b="-318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300787" t="-1149" r="-600787" b="-318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400787" t="-1149" r="-500787" b="-318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504762" t="-1149" r="-404762" b="-318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600000" t="-1149" r="-301575" b="-318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700000" t="-1149" r="-201575" b="-318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800000" t="-1149" r="-101575" b="-318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900000" t="-1149" r="-1575" b="-318391"/>
                          </a:stretch>
                        </a:blipFill>
                      </a:tcPr>
                    </a:tc>
                  </a:tr>
                  <a:tr h="1675384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787" t="-32000" r="-900787" b="-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100787" t="-32000" r="-800787" b="-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200787" t="-32000" r="-700787" b="-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300787" t="-32000" r="-600787" b="-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140239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-101639"/>
            <a:ext cx="7886700" cy="1325563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LCPIS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223924"/>
                <a:ext cx="7886700" cy="4351338"/>
              </a:xfrm>
            </p:spPr>
            <p:txBody>
              <a:bodyPr>
                <a:noAutofit/>
              </a:bodyPr>
              <a:lstStyle/>
              <a:p>
                <a:pPr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=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1,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6, 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5, 9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7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zh-TW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8</m:t>
                        </m:r>
                      </m:e>
                    </m:d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B =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3,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5, 3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7, 2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altLang="zh-TW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zh-TW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8</m:t>
                        </m:r>
                      </m:e>
                    </m:d>
                  </m:oMath>
                </a14:m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US" altLang="zh-TW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Asub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1, 3, 4, 7, 8</m:t>
                        </m:r>
                      </m:e>
                    </m:d>
                    <m:r>
                      <m:rPr>
                        <m:nor/>
                      </m:rPr>
                      <a:rPr lang="en-US" altLang="zh-TW" sz="24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  </m:t>
                    </m:r>
                    <m:r>
                      <m:rPr>
                        <m:nor/>
                      </m:rPr>
                      <a:rPr lang="en-US" altLang="zh-TW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B</m:t>
                    </m:r>
                    <m:r>
                      <m:rPr>
                        <m:nor/>
                      </m:rPr>
                      <a:rPr lang="en-US" altLang="zh-TW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sub</m:t>
                    </m:r>
                    <m:r>
                      <m:rPr>
                        <m:nor/>
                      </m:rPr>
                      <a:rPr lang="en-US" altLang="zh-TW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= </m:t>
                    </m:r>
                    <m:d>
                      <m:dPr>
                        <m:begChr m:val="⟨"/>
                        <m:endChr m:val="⟩"/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2, 4, 5, 6, 8</m:t>
                        </m:r>
                      </m:e>
                    </m:d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LCPIS = 5</a:t>
                </a: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223924"/>
                <a:ext cx="7886700" cy="4351338"/>
              </a:xfrm>
              <a:blipFill rotWithShape="0">
                <a:blip r:embed="rId3"/>
                <a:stretch>
                  <a:fillRect l="-1159" t="-1961" b="-728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14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33469172"/>
                  </p:ext>
                </p:extLst>
              </p:nvPr>
            </p:nvGraphicFramePr>
            <p:xfrm>
              <a:off x="531114" y="2750312"/>
              <a:ext cx="7729730" cy="22047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</a:tblGrid>
                  <a:tr h="529336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TW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zh-TW" sz="1800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</a:tr>
                  <a:tr h="1675384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US" altLang="zh-TW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1, 2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altLang="zh-TW" i="1" dirty="0" smtClean="0">
                            <a:latin typeface="Cambria Math" panose="02040503050406030204" pitchFamily="18" charset="0"/>
                          </a:endParaRPr>
                        </a:p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US" altLang="zh-TW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US" altLang="zh-TW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2, 7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altLang="zh-TW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US" altLang="zh-TW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3, 4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altLang="zh-TW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endParaRP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US" altLang="zh-TW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5, 2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altLang="zh-TW" dirty="0" smtClean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zh-TW" altLang="en-US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US" altLang="zh-TW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4, 5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US" altLang="zh-TW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⟨"/>
                                    <m:endChr m:val="⟩"/>
                                    <m:ctrlPr>
                                      <a:rPr lang="en-US" altLang="zh-TW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TW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TW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33469172"/>
                  </p:ext>
                </p:extLst>
              </p:nvPr>
            </p:nvGraphicFramePr>
            <p:xfrm>
              <a:off x="531114" y="2750312"/>
              <a:ext cx="7729730" cy="220472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  <a:gridCol w="772973"/>
                  </a:tblGrid>
                  <a:tr h="529336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787" t="-1149" r="-900787" b="-318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100787" t="-1149" r="-800787" b="-318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200787" t="-1149" r="-700787" b="-318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300787" t="-1149" r="-600787" b="-318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400787" t="-1149" r="-500787" b="-318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504762" t="-1149" r="-404762" b="-318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600000" t="-1149" r="-301575" b="-318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700000" t="-1149" r="-201575" b="-318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800000" t="-1149" r="-101575" b="-318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900000" t="-1149" r="-1575" b="-318391"/>
                          </a:stretch>
                        </a:blipFill>
                      </a:tcPr>
                    </a:tc>
                  </a:tr>
                  <a:tr h="1675384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787" t="-32000" r="-900787" b="-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100787" t="-32000" r="-800787" b="-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200787" t="-32000" r="-700787" b="-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300787" t="-32000" r="-600787" b="-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>
                        <a:blipFill rotWithShape="0">
                          <a:blip r:embed="rId4"/>
                          <a:stretch>
                            <a:fillRect l="-400787" t="-32000" r="-500787" b="-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TW" alt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41716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-101639"/>
            <a:ext cx="7886700" cy="1325563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LCPIS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>
          <a:xfrm>
            <a:off x="6393180" y="6356351"/>
            <a:ext cx="2057400" cy="365125"/>
          </a:xfrm>
        </p:spPr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15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" y="1223924"/>
            <a:ext cx="9067800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279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93433"/>
            <a:ext cx="788670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dual relationship between the LCPIS and LCIS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955444"/>
                <a:ext cx="7886700" cy="4351338"/>
              </a:xfrm>
            </p:spPr>
            <p:txBody>
              <a:bodyPr>
                <a:noAutofit/>
              </a:bodyPr>
              <a:lstStyle/>
              <a:p>
                <a:pPr>
                  <a:buNone/>
                </a:pP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US" altLang="zh-TW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Asub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3, 5, 7, 8</m:t>
                        </m:r>
                      </m:e>
                    </m:d>
                  </m:oMath>
                </a14:m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Index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sequence A :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2, 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, 9, 10</m:t>
                        </m:r>
                      </m:e>
                    </m:d>
                  </m:oMath>
                </a14:m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Sort A =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2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3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4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5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5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6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7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8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9</m:t>
                        </m:r>
                      </m:e>
                    </m:d>
                  </m:oMath>
                </a14:m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Dual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sequence A :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6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2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4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5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7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3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9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10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8</m:t>
                        </m:r>
                      </m:e>
                    </m:d>
                  </m:oMath>
                </a14:m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US" altLang="zh-TW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Lemma </a:t>
                </a:r>
                <a:r>
                  <a:rPr lang="en-US" altLang="zh-TW" sz="2400" b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r>
                  <a:rPr lang="en-US" altLang="zh-TW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US" altLang="zh-TW" sz="24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4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Asub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(resp. </a:t>
                </a:r>
                <a:r>
                  <a:rPr lang="en-US" altLang="zh-TW" sz="24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altLang="zh-TW" sz="2400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Bsub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is an increasing subsequence of </a:t>
                </a:r>
                <a:endParaRPr lang="en-US" altLang="zh-TW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US" altLang="zh-TW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altLang="zh-TW" sz="2400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sz="24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(resp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D</a:t>
                </a:r>
                <a:r>
                  <a:rPr lang="en-US" altLang="zh-TW" sz="24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TW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).</a:t>
                </a:r>
                <a:endParaRPr lang="en-US" altLang="zh-TW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955444"/>
                <a:ext cx="7886700" cy="4351338"/>
              </a:xfrm>
              <a:blipFill rotWithShape="0">
                <a:blip r:embed="rId3"/>
                <a:stretch>
                  <a:fillRect l="-1159" b="-728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16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7099845"/>
              </p:ext>
            </p:extLst>
          </p:nvPr>
        </p:nvGraphicFramePr>
        <p:xfrm>
          <a:off x="323850" y="1589684"/>
          <a:ext cx="4174995" cy="1005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9545"/>
                <a:gridCol w="379545"/>
                <a:gridCol w="379545"/>
                <a:gridCol w="379545"/>
                <a:gridCol w="379545"/>
                <a:gridCol w="379545"/>
                <a:gridCol w="379545"/>
                <a:gridCol w="379545"/>
                <a:gridCol w="379545"/>
                <a:gridCol w="379545"/>
                <a:gridCol w="379545"/>
              </a:tblGrid>
              <a:tr h="320726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/>
                </a:tc>
              </a:tr>
              <a:tr h="320726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8863914"/>
              </p:ext>
            </p:extLst>
          </p:nvPr>
        </p:nvGraphicFramePr>
        <p:xfrm>
          <a:off x="4834890" y="1589684"/>
          <a:ext cx="4174995" cy="1005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9545"/>
                <a:gridCol w="379545"/>
                <a:gridCol w="379545"/>
                <a:gridCol w="379545"/>
                <a:gridCol w="379545"/>
                <a:gridCol w="379545"/>
                <a:gridCol w="379545"/>
                <a:gridCol w="379545"/>
                <a:gridCol w="379545"/>
                <a:gridCol w="379545"/>
                <a:gridCol w="379545"/>
              </a:tblGrid>
              <a:tr h="357302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/>
                </a:tc>
              </a:tr>
              <a:tr h="357302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5988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93433"/>
            <a:ext cx="788670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dual relationship between the LCPIS and LCIS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955444"/>
                <a:ext cx="7886700" cy="4351338"/>
              </a:xfrm>
            </p:spPr>
            <p:txBody>
              <a:bodyPr>
                <a:noAutofit/>
              </a:bodyPr>
              <a:lstStyle/>
              <a:p>
                <a:pPr>
                  <a:buNone/>
                </a:pP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</a:t>
                </a:r>
                <a:r>
                  <a:rPr lang="en-US" altLang="zh-TW" sz="2400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Sort </a:t>
                </a:r>
                <a:r>
                  <a:rPr lang="en-US" altLang="zh-TW" sz="2400" dirty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A =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TW" sz="2400" dirty="0">
                            <a:solidFill>
                              <a:srgbClr val="0070C0"/>
                            </a:solidFill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solidFill>
                              <a:srgbClr val="0070C0"/>
                            </a:solidFill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 2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solidFill>
                              <a:srgbClr val="0070C0"/>
                            </a:solidFill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3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solidFill>
                              <a:srgbClr val="0070C0"/>
                            </a:solidFill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solidFill>
                              <a:srgbClr val="0070C0"/>
                            </a:solidFill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 4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solidFill>
                              <a:srgbClr val="0070C0"/>
                            </a:solidFill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 5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 5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 6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solidFill>
                              <a:srgbClr val="0070C0"/>
                            </a:solidFill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7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solidFill>
                              <a:srgbClr val="0070C0"/>
                            </a:solidFill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solidFill>
                              <a:srgbClr val="0070C0"/>
                            </a:solidFill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solidFill>
                              <a:srgbClr val="0070C0"/>
                            </a:solidFill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solidFill>
                              <a:srgbClr val="0070C0"/>
                            </a:solidFill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8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solidFill>
                              <a:srgbClr val="0070C0"/>
                            </a:solidFill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 9</m:t>
                        </m:r>
                      </m:e>
                    </m:d>
                  </m:oMath>
                </a14:m>
                <a:endParaRPr lang="en-US" altLang="zh-TW" sz="2400" dirty="0">
                  <a:latin typeface="標楷體" panose="03000509000000000000" pitchFamily="65" charset="-12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US" altLang="zh-TW" sz="2400" dirty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Dual sequence </a:t>
                </a:r>
                <a:r>
                  <a:rPr lang="en-US" altLang="zh-TW" sz="2400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A =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TW" sz="2400" dirty="0">
                            <a:solidFill>
                              <a:srgbClr val="FF0000"/>
                            </a:solidFill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solidFill>
                              <a:srgbClr val="FF0000"/>
                            </a:solidFill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 6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solidFill>
                              <a:srgbClr val="FF0000"/>
                            </a:solidFill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solidFill>
                              <a:srgbClr val="FF0000"/>
                            </a:solidFill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solidFill>
                              <a:srgbClr val="FF0000"/>
                            </a:solidFill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4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solidFill>
                              <a:srgbClr val="FF0000"/>
                            </a:solidFill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 5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 7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 3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solidFill>
                              <a:srgbClr val="FF0000"/>
                            </a:solidFill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9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solidFill>
                              <a:srgbClr val="FF0000"/>
                            </a:solidFill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TW" sz="2400" dirty="0" smtClean="0">
                            <a:solidFill>
                              <a:srgbClr val="FF0000"/>
                            </a:solidFill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solidFill>
                              <a:srgbClr val="FF0000"/>
                            </a:solidFill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10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solidFill>
                              <a:srgbClr val="FF0000"/>
                            </a:solidFill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solidFill>
                              <a:srgbClr val="FF0000"/>
                            </a:solidFill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8</m:t>
                        </m:r>
                      </m:e>
                    </m:d>
                  </m:oMath>
                </a14:m>
                <a:endParaRPr lang="en-US" altLang="zh-TW" sz="2400" dirty="0">
                  <a:latin typeface="標楷體" panose="03000509000000000000" pitchFamily="65" charset="-12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US" altLang="zh-TW" sz="2400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        Sort B </a:t>
                </a:r>
                <a:r>
                  <a:rPr lang="en-US" altLang="zh-TW" sz="2400" dirty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TW" sz="2400" dirty="0"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solidFill>
                              <a:srgbClr val="0070C0"/>
                            </a:solidFill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solidFill>
                              <a:srgbClr val="0070C0"/>
                            </a:solidFill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 2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 3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 3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solidFill>
                              <a:srgbClr val="0070C0"/>
                            </a:solidFill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4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solidFill>
                              <a:srgbClr val="0070C0"/>
                            </a:solidFill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solidFill>
                              <a:srgbClr val="0070C0"/>
                            </a:solidFill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 5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solidFill>
                              <a:srgbClr val="0070C0"/>
                            </a:solidFill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solidFill>
                              <a:srgbClr val="0070C0"/>
                            </a:solidFill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 6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solidFill>
                              <a:srgbClr val="0070C0"/>
                            </a:solidFill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solidFill>
                              <a:srgbClr val="0070C0"/>
                            </a:solidFill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7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solidFill>
                              <a:srgbClr val="0070C0"/>
                            </a:solidFill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8</m:t>
                        </m:r>
                      </m:e>
                    </m:d>
                  </m:oMath>
                </a14:m>
                <a:endParaRPr lang="en-US" altLang="zh-TW" sz="2400" dirty="0">
                  <a:latin typeface="標楷體" panose="03000509000000000000" pitchFamily="65" charset="-12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US" altLang="zh-TW" sz="2400" dirty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Dual sequence </a:t>
                </a:r>
                <a:r>
                  <a:rPr lang="en-US" altLang="zh-TW" sz="2400" dirty="0" smtClean="0">
                    <a:latin typeface="標楷體" panose="03000509000000000000" pitchFamily="65" charset="-12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B =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TW" sz="2400" dirty="0"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8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solidFill>
                              <a:srgbClr val="FF0000"/>
                            </a:solidFill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solidFill>
                              <a:srgbClr val="FF0000"/>
                            </a:solidFill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 7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 3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 5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solidFill>
                              <a:srgbClr val="FF0000"/>
                            </a:solidFill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solidFill>
                              <a:srgbClr val="FF0000"/>
                            </a:solidFill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solidFill>
                              <a:srgbClr val="FF0000"/>
                            </a:solidFill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 4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solidFill>
                              <a:srgbClr val="FF0000"/>
                            </a:solidFill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solidFill>
                              <a:srgbClr val="FF0000"/>
                            </a:solidFill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 9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solidFill>
                              <a:srgbClr val="FF0000"/>
                            </a:solidFill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solidFill>
                              <a:srgbClr val="FF0000"/>
                            </a:solidFill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6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solidFill>
                              <a:srgbClr val="FF0000"/>
                            </a:solidFill>
                            <a:latin typeface="標楷體" panose="03000509000000000000" pitchFamily="65" charset="-12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10</m:t>
                        </m:r>
                      </m:e>
                    </m:d>
                  </m:oMath>
                </a14:m>
                <a:endParaRPr lang="en-US" altLang="zh-TW" sz="2400" dirty="0">
                  <a:solidFill>
                    <a:srgbClr val="FF0000"/>
                  </a:solidFill>
                  <a:latin typeface="標楷體" panose="03000509000000000000" pitchFamily="65" charset="-12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LCIS of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altLang="zh-TW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D</a:t>
                </a:r>
                <a:r>
                  <a:rPr lang="en-US" altLang="zh-TW" sz="24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 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2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4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9</m:t>
                        </m:r>
                        <m:r>
                          <m:rPr>
                            <m:nor/>
                          </m:rPr>
                          <a:rPr lang="en-US" altLang="zh-TW" sz="2400" b="0" i="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TW" sz="2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10</m:t>
                        </m:r>
                      </m:e>
                    </m:d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LCPIS of A and B</a:t>
                </a: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955444"/>
                <a:ext cx="7886700" cy="4351338"/>
              </a:xfrm>
              <a:blipFill rotWithShape="0">
                <a:blip r:embed="rId3"/>
                <a:stretch>
                  <a:fillRect l="-115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17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323850" y="1589684"/>
          <a:ext cx="4174995" cy="1005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9545"/>
                <a:gridCol w="379545"/>
                <a:gridCol w="379545"/>
                <a:gridCol w="379545"/>
                <a:gridCol w="379545"/>
                <a:gridCol w="379545"/>
                <a:gridCol w="379545"/>
                <a:gridCol w="379545"/>
                <a:gridCol w="379545"/>
                <a:gridCol w="379545"/>
                <a:gridCol w="379545"/>
              </a:tblGrid>
              <a:tr h="320726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/>
                </a:tc>
              </a:tr>
              <a:tr h="320726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4834890" y="1589684"/>
          <a:ext cx="4174995" cy="1005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9545"/>
                <a:gridCol w="379545"/>
                <a:gridCol w="379545"/>
                <a:gridCol w="379545"/>
                <a:gridCol w="379545"/>
                <a:gridCol w="379545"/>
                <a:gridCol w="379545"/>
                <a:gridCol w="379545"/>
                <a:gridCol w="379545"/>
                <a:gridCol w="379545"/>
                <a:gridCol w="379545"/>
              </a:tblGrid>
              <a:tr h="357302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10</a:t>
                      </a:r>
                      <a:endParaRPr lang="zh-TW" altLang="en-US" dirty="0"/>
                    </a:p>
                  </a:txBody>
                  <a:tcPr/>
                </a:tc>
              </a:tr>
              <a:tr h="357302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4657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93433"/>
            <a:ext cx="788670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dual relationship between the LCPIS and LCIS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28650" y="1955444"/>
            <a:ext cx="7886700" cy="435133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TW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Theorem 2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TW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two given sequences A and B, we have:</a:t>
            </a:r>
          </a:p>
          <a:p>
            <a:pPr marL="514350" indent="-514350">
              <a:buAutoNum type="romanLcParenBoth"/>
            </a:pP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LCPIS of A and B have the same length with 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</a:p>
          <a:p>
            <a:pPr marL="0" indent="0">
              <a:buNone/>
            </a:pP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LCIS of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 dual 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sequences.</a:t>
            </a:r>
            <a:endParaRPr lang="en-US" altLang="zh-TW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romanLcParenBoth" startAt="2"/>
            </a:pP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and B are two permutations of {1, 2, . . . , n}, the </a:t>
            </a:r>
          </a:p>
          <a:p>
            <a:pPr marL="0" indent="0">
              <a:buNone/>
            </a:pP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LCIS of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and B have 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same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 with the LCPIS of their </a:t>
            </a:r>
            <a:endParaRPr lang="en-US" altLang="zh-TW" sz="24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dual sequences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18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9542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101442</TotalTime>
  <Words>423</Words>
  <Application>Microsoft Office PowerPoint</Application>
  <PresentationFormat>如螢幕大小 (4:3)</PresentationFormat>
  <Paragraphs>387</Paragraphs>
  <Slides>18</Slides>
  <Notes>18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6" baseType="lpstr">
      <vt:lpstr>新細明體</vt:lpstr>
      <vt:lpstr>標楷體</vt:lpstr>
      <vt:lpstr>Arial</vt:lpstr>
      <vt:lpstr>Calibri</vt:lpstr>
      <vt:lpstr>Calibri Light</vt:lpstr>
      <vt:lpstr>Cambria Math</vt:lpstr>
      <vt:lpstr>Times New Roman</vt:lpstr>
      <vt:lpstr>Office 佈景主題</vt:lpstr>
      <vt:lpstr>The longest commonly positioned increasing subsequences problem</vt:lpstr>
      <vt:lpstr>Abstract</vt:lpstr>
      <vt:lpstr>Abstract</vt:lpstr>
      <vt:lpstr>LCPIS</vt:lpstr>
      <vt:lpstr>LCPIS</vt:lpstr>
      <vt:lpstr>LCPIS</vt:lpstr>
      <vt:lpstr>LCPIS</vt:lpstr>
      <vt:lpstr>LCPIS</vt:lpstr>
      <vt:lpstr>LCPIS</vt:lpstr>
      <vt:lpstr>LCPIS</vt:lpstr>
      <vt:lpstr>LCPIS</vt:lpstr>
      <vt:lpstr>LCPIS</vt:lpstr>
      <vt:lpstr>LCPIS</vt:lpstr>
      <vt:lpstr>LCPIS</vt:lpstr>
      <vt:lpstr>LCPIS</vt:lpstr>
      <vt:lpstr>The dual relationship between the LCPIS and LCIS</vt:lpstr>
      <vt:lpstr>The dual relationship between the LCPIS and LCIS</vt:lpstr>
      <vt:lpstr>The dual relationship between the LCPIS and LCIS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Mining Association Rules in Big Data for E-healthcare Information System</dc:title>
  <dc:creator>muchmuch</dc:creator>
  <cp:lastModifiedBy>much</cp:lastModifiedBy>
  <cp:revision>756</cp:revision>
  <dcterms:created xsi:type="dcterms:W3CDTF">2016-04-23T07:31:56Z</dcterms:created>
  <dcterms:modified xsi:type="dcterms:W3CDTF">2018-05-01T10:08:26Z</dcterms:modified>
</cp:coreProperties>
</file>