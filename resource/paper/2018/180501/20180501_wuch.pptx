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307" r:id="rId4"/>
    <p:sldId id="312" r:id="rId5"/>
    <p:sldId id="321" r:id="rId6"/>
    <p:sldId id="322" r:id="rId7"/>
    <p:sldId id="314" r:id="rId8"/>
    <p:sldId id="311" r:id="rId9"/>
    <p:sldId id="315" r:id="rId10"/>
    <p:sldId id="316" r:id="rId11"/>
    <p:sldId id="319" r:id="rId12"/>
    <p:sldId id="317" r:id="rId13"/>
    <p:sldId id="318" r:id="rId14"/>
    <p:sldId id="326" r:id="rId15"/>
    <p:sldId id="327" r:id="rId16"/>
    <p:sldId id="328" r:id="rId17"/>
    <p:sldId id="331" r:id="rId18"/>
    <p:sldId id="329" r:id="rId19"/>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47" autoAdjust="0"/>
    <p:restoredTop sz="95048" autoAdjust="0"/>
  </p:normalViewPr>
  <p:slideViewPr>
    <p:cSldViewPr snapToGrid="0">
      <p:cViewPr varScale="1">
        <p:scale>
          <a:sx n="114" d="100"/>
          <a:sy n="114" d="100"/>
        </p:scale>
        <p:origin x="18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2D822E-287D-49A6-BB7D-CFD94BDB4C78}" type="datetimeFigureOut">
              <a:rPr lang="zh-TW" altLang="en-US" smtClean="0"/>
              <a:t>2018/5/1</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C6E11E-5ACF-409F-8557-659632981D46}" type="slidenum">
              <a:rPr lang="zh-TW" altLang="en-US" smtClean="0"/>
              <a:t>‹#›</a:t>
            </a:fld>
            <a:endParaRPr lang="zh-TW" altLang="en-US"/>
          </a:p>
        </p:txBody>
      </p:sp>
    </p:spTree>
    <p:extLst>
      <p:ext uri="{BB962C8B-B14F-4D97-AF65-F5344CB8AC3E}">
        <p14:creationId xmlns:p14="http://schemas.microsoft.com/office/powerpoint/2010/main" val="3157977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0C6E11E-5ACF-409F-8557-659632981D46}" type="slidenum">
              <a:rPr lang="zh-TW" altLang="en-US" smtClean="0"/>
              <a:t>1</a:t>
            </a:fld>
            <a:endParaRPr lang="zh-TW" altLang="en-US"/>
          </a:p>
        </p:txBody>
      </p:sp>
    </p:spTree>
    <p:extLst>
      <p:ext uri="{BB962C8B-B14F-4D97-AF65-F5344CB8AC3E}">
        <p14:creationId xmlns:p14="http://schemas.microsoft.com/office/powerpoint/2010/main" val="1932379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14:m>
                  <m:oMath xmlns:m="http://schemas.openxmlformats.org/officeDocument/2006/math">
                    <m:r>
                      <a:rPr lang="zh-TW" altLang="en-US" b="0" i="1" smtClean="0">
                        <a:latin typeface="Cambria Math" panose="02040503050406030204" pitchFamily="18" charset="0"/>
                        <a:ea typeface="Cambria Math" panose="02040503050406030204" pitchFamily="18" charset="0"/>
                        <a:cs typeface="Times New Roman" panose="02020603050405020304" pitchFamily="18" charset="0"/>
                      </a:rPr>
                      <m:t>𝛿</m:t>
                    </m:r>
                  </m:oMath>
                </a14:m>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4</a:t>
            </a:fld>
            <a:endParaRPr lang="zh-TW" altLang="en-US"/>
          </a:p>
        </p:txBody>
      </p:sp>
    </p:spTree>
    <p:extLst>
      <p:ext uri="{BB962C8B-B14F-4D97-AF65-F5344CB8AC3E}">
        <p14:creationId xmlns:p14="http://schemas.microsoft.com/office/powerpoint/2010/main" val="33531506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ST=2% means </a:t>
            </a:r>
            <a:r>
              <a:rPr lang="zh-TW" altLang="en-US" dirty="0"/>
              <a:t>每多增加</a:t>
            </a:r>
            <a:r>
              <a:rPr lang="en-US" altLang="zh-TW" dirty="0"/>
              <a:t>1%</a:t>
            </a:r>
            <a:r>
              <a:rPr lang="zh-TW" altLang="en-US" dirty="0"/>
              <a:t>風險可以換來</a:t>
            </a:r>
            <a:r>
              <a:rPr lang="en-US" altLang="zh-TW" dirty="0"/>
              <a:t>2%</a:t>
            </a:r>
            <a:r>
              <a:rPr lang="zh-TW" altLang="en-US" dirty="0"/>
              <a:t>收益</a:t>
            </a:r>
          </a:p>
        </p:txBody>
      </p:sp>
      <p:sp>
        <p:nvSpPr>
          <p:cNvPr id="4" name="投影片編號版面配置區 3"/>
          <p:cNvSpPr>
            <a:spLocks noGrp="1"/>
          </p:cNvSpPr>
          <p:nvPr>
            <p:ph type="sldNum" sz="quarter" idx="10"/>
          </p:nvPr>
        </p:nvSpPr>
        <p:spPr/>
        <p:txBody>
          <a:bodyPr/>
          <a:lstStyle/>
          <a:p>
            <a:fld id="{70C6E11E-5ACF-409F-8557-659632981D46}" type="slidenum">
              <a:rPr lang="zh-TW" altLang="en-US" smtClean="0"/>
              <a:t>5</a:t>
            </a:fld>
            <a:endParaRPr lang="zh-TW" altLang="en-US"/>
          </a:p>
        </p:txBody>
      </p:sp>
    </p:spTree>
    <p:extLst>
      <p:ext uri="{BB962C8B-B14F-4D97-AF65-F5344CB8AC3E}">
        <p14:creationId xmlns:p14="http://schemas.microsoft.com/office/powerpoint/2010/main" val="33290815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CT</a:t>
            </a:r>
            <a:r>
              <a:rPr lang="zh-TW" altLang="en-US" dirty="0"/>
              <a:t> 的 </a:t>
            </a:r>
            <a:r>
              <a:rPr lang="en-US" altLang="zh-TW" dirty="0"/>
              <a:t>E(MDD)</a:t>
            </a:r>
            <a:r>
              <a:rPr lang="zh-TW" altLang="zh-TW" dirty="0"/>
              <a:t>度量從峰值到最低谷值的最大累積損失</a:t>
            </a:r>
            <a:r>
              <a:rPr lang="en-US" altLang="zh-TW" dirty="0"/>
              <a:t>, r means of return</a:t>
            </a:r>
            <a:endParaRPr lang="zh-TW" altLang="en-US" dirty="0"/>
          </a:p>
        </p:txBody>
      </p:sp>
      <p:sp>
        <p:nvSpPr>
          <p:cNvPr id="4" name="投影片編號版面配置區 3"/>
          <p:cNvSpPr>
            <a:spLocks noGrp="1"/>
          </p:cNvSpPr>
          <p:nvPr>
            <p:ph type="sldNum" sz="quarter" idx="10"/>
          </p:nvPr>
        </p:nvSpPr>
        <p:spPr/>
        <p:txBody>
          <a:bodyPr/>
          <a:lstStyle/>
          <a:p>
            <a:fld id="{70C6E11E-5ACF-409F-8557-659632981D46}" type="slidenum">
              <a:rPr lang="zh-TW" altLang="en-US" smtClean="0"/>
              <a:t>6</a:t>
            </a:fld>
            <a:endParaRPr lang="zh-TW" altLang="en-US"/>
          </a:p>
        </p:txBody>
      </p:sp>
    </p:spTree>
    <p:extLst>
      <p:ext uri="{BB962C8B-B14F-4D97-AF65-F5344CB8AC3E}">
        <p14:creationId xmlns:p14="http://schemas.microsoft.com/office/powerpoint/2010/main" val="42062474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fit is the action on asset </a:t>
            </a:r>
            <a:r>
              <a:rPr lang="en-US" altLang="zh-TW" dirty="0" err="1"/>
              <a:t>i</a:t>
            </a:r>
            <a:r>
              <a:rPr lang="en-US" altLang="zh-TW" dirty="0"/>
              <a:t> at time t , n is the number of assets in the portfolio </a:t>
            </a:r>
          </a:p>
          <a:p>
            <a:r>
              <a:rPr lang="en-US" altLang="zh-TW" dirty="0"/>
              <a:t>Long </a:t>
            </a:r>
            <a:r>
              <a:rPr lang="en-US" altLang="zh-TW"/>
              <a:t>portfolio : Softmax </a:t>
            </a:r>
            <a:r>
              <a:rPr lang="en-US" altLang="zh-TW" dirty="0"/>
              <a:t>is applied to all assets decision at time t, </a:t>
            </a:r>
            <a:r>
              <a:rPr lang="zh-TW" altLang="en-US" dirty="0"/>
              <a:t>分配給每個</a:t>
            </a:r>
            <a:r>
              <a:rPr lang="en-US" altLang="zh-TW" dirty="0"/>
              <a:t>asset</a:t>
            </a:r>
            <a:r>
              <a:rPr lang="zh-TW" altLang="en-US" dirty="0"/>
              <a:t> </a:t>
            </a:r>
            <a:r>
              <a:rPr lang="en-US" altLang="zh-TW" dirty="0"/>
              <a:t>w</a:t>
            </a:r>
            <a:endParaRPr lang="zh-TW" altLang="en-US" dirty="0"/>
          </a:p>
        </p:txBody>
      </p:sp>
      <p:sp>
        <p:nvSpPr>
          <p:cNvPr id="4" name="投影片編號版面配置區 3"/>
          <p:cNvSpPr>
            <a:spLocks noGrp="1"/>
          </p:cNvSpPr>
          <p:nvPr>
            <p:ph type="sldNum" sz="quarter" idx="10"/>
          </p:nvPr>
        </p:nvSpPr>
        <p:spPr/>
        <p:txBody>
          <a:bodyPr/>
          <a:lstStyle/>
          <a:p>
            <a:fld id="{70C6E11E-5ACF-409F-8557-659632981D46}" type="slidenum">
              <a:rPr lang="zh-TW" altLang="en-US" smtClean="0"/>
              <a:t>7</a:t>
            </a:fld>
            <a:endParaRPr lang="zh-TW" altLang="en-US"/>
          </a:p>
        </p:txBody>
      </p:sp>
    </p:spTree>
    <p:extLst>
      <p:ext uri="{BB962C8B-B14F-4D97-AF65-F5344CB8AC3E}">
        <p14:creationId xmlns:p14="http://schemas.microsoft.com/office/powerpoint/2010/main" val="17832573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iShares</a:t>
            </a:r>
            <a:r>
              <a:rPr lang="zh-TW" altLang="en-US" dirty="0"/>
              <a:t>羅素</a:t>
            </a:r>
            <a:r>
              <a:rPr lang="en-US" altLang="zh-TW" dirty="0"/>
              <a:t>1000</a:t>
            </a:r>
            <a:r>
              <a:rPr lang="zh-TW" altLang="zh-TW" dirty="0"/>
              <a:t>中大型美國股票的股票基金</a:t>
            </a:r>
            <a:r>
              <a:rPr lang="zh-TW" altLang="en-US" dirty="0"/>
              <a:t>，</a:t>
            </a:r>
            <a:r>
              <a:rPr lang="en-US" altLang="zh-TW" dirty="0"/>
              <a:t>iShares</a:t>
            </a:r>
            <a:r>
              <a:rPr lang="zh-TW" altLang="en-US" dirty="0"/>
              <a:t>微型股</a:t>
            </a:r>
            <a:r>
              <a:rPr lang="en-US" altLang="zh-TW" dirty="0"/>
              <a:t>ETF</a:t>
            </a:r>
          </a:p>
          <a:p>
            <a:r>
              <a:rPr lang="en-US" altLang="zh-TW" dirty="0"/>
              <a:t>ETF</a:t>
            </a:r>
            <a:r>
              <a:rPr lang="zh-TW" altLang="en-US" dirty="0"/>
              <a:t>交易所買賣基金</a:t>
            </a:r>
            <a:r>
              <a:rPr lang="en-US" altLang="zh-TW" dirty="0"/>
              <a:t>:</a:t>
            </a:r>
            <a:r>
              <a:rPr lang="zh-TW" altLang="en-US" dirty="0"/>
              <a:t>在證券交易所交易，提供投資人參與指數表現的指數基金</a:t>
            </a:r>
          </a:p>
        </p:txBody>
      </p:sp>
      <p:sp>
        <p:nvSpPr>
          <p:cNvPr id="4" name="投影片編號版面配置區 3"/>
          <p:cNvSpPr>
            <a:spLocks noGrp="1"/>
          </p:cNvSpPr>
          <p:nvPr>
            <p:ph type="sldNum" sz="quarter" idx="10"/>
          </p:nvPr>
        </p:nvSpPr>
        <p:spPr/>
        <p:txBody>
          <a:bodyPr/>
          <a:lstStyle/>
          <a:p>
            <a:fld id="{70C6E11E-5ACF-409F-8557-659632981D46}" type="slidenum">
              <a:rPr lang="zh-TW" altLang="en-US" smtClean="0"/>
              <a:t>8</a:t>
            </a:fld>
            <a:endParaRPr lang="zh-TW" altLang="en-US"/>
          </a:p>
        </p:txBody>
      </p:sp>
    </p:spTree>
    <p:extLst>
      <p:ext uri="{BB962C8B-B14F-4D97-AF65-F5344CB8AC3E}">
        <p14:creationId xmlns:p14="http://schemas.microsoft.com/office/powerpoint/2010/main" val="25665677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0C6E11E-5ACF-409F-8557-659632981D46}" type="slidenum">
              <a:rPr lang="zh-TW" altLang="en-US" smtClean="0"/>
              <a:t>9</a:t>
            </a:fld>
            <a:endParaRPr lang="zh-TW" altLang="en-US"/>
          </a:p>
        </p:txBody>
      </p:sp>
    </p:spTree>
    <p:extLst>
      <p:ext uri="{BB962C8B-B14F-4D97-AF65-F5344CB8AC3E}">
        <p14:creationId xmlns:p14="http://schemas.microsoft.com/office/powerpoint/2010/main" val="7633795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0C6E11E-5ACF-409F-8557-659632981D46}" type="slidenum">
              <a:rPr lang="zh-TW" altLang="en-US" smtClean="0"/>
              <a:t>10</a:t>
            </a:fld>
            <a:endParaRPr lang="zh-TW" altLang="en-US"/>
          </a:p>
        </p:txBody>
      </p:sp>
    </p:spTree>
    <p:extLst>
      <p:ext uri="{BB962C8B-B14F-4D97-AF65-F5344CB8AC3E}">
        <p14:creationId xmlns:p14="http://schemas.microsoft.com/office/powerpoint/2010/main" val="30941649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0C6E11E-5ACF-409F-8557-659632981D46}" type="slidenum">
              <a:rPr lang="zh-TW" altLang="en-US" smtClean="0"/>
              <a:t>11</a:t>
            </a:fld>
            <a:endParaRPr lang="zh-TW" altLang="en-US"/>
          </a:p>
        </p:txBody>
      </p:sp>
    </p:spTree>
    <p:extLst>
      <p:ext uri="{BB962C8B-B14F-4D97-AF65-F5344CB8AC3E}">
        <p14:creationId xmlns:p14="http://schemas.microsoft.com/office/powerpoint/2010/main" val="13802280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0C6E11E-5ACF-409F-8557-659632981D46}" type="slidenum">
              <a:rPr lang="zh-TW" altLang="en-US" smtClean="0"/>
              <a:t>12</a:t>
            </a:fld>
            <a:endParaRPr lang="zh-TW" altLang="en-US"/>
          </a:p>
        </p:txBody>
      </p:sp>
    </p:spTree>
    <p:extLst>
      <p:ext uri="{BB962C8B-B14F-4D97-AF65-F5344CB8AC3E}">
        <p14:creationId xmlns:p14="http://schemas.microsoft.com/office/powerpoint/2010/main" val="31343252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SR rebalancing no signal more frequently</a:t>
            </a:r>
            <a:r>
              <a:rPr lang="zh-TW" altLang="en-US" dirty="0"/>
              <a:t>，</a:t>
            </a:r>
            <a:r>
              <a:rPr lang="en-US" altLang="zh-TW" dirty="0"/>
              <a:t>CR</a:t>
            </a:r>
            <a:r>
              <a:rPr lang="zh-TW" altLang="en-US" dirty="0"/>
              <a:t> </a:t>
            </a:r>
            <a:r>
              <a:rPr lang="en-US" altLang="zh-TW" dirty="0"/>
              <a:t>is</a:t>
            </a:r>
            <a:r>
              <a:rPr lang="zh-TW" altLang="en-US" dirty="0"/>
              <a:t> </a:t>
            </a:r>
            <a:r>
              <a:rPr lang="en-US" altLang="zh-TW" dirty="0"/>
              <a:t>more</a:t>
            </a:r>
            <a:r>
              <a:rPr lang="zh-TW" altLang="en-US" dirty="0"/>
              <a:t> </a:t>
            </a:r>
            <a:r>
              <a:rPr lang="en-US" altLang="zh-TW" dirty="0"/>
              <a:t>sensitive</a:t>
            </a:r>
            <a:r>
              <a:rPr lang="zh-TW" altLang="en-US" dirty="0"/>
              <a:t> </a:t>
            </a:r>
            <a:r>
              <a:rPr lang="en-US" altLang="zh-TW" dirty="0"/>
              <a:t>to</a:t>
            </a:r>
            <a:r>
              <a:rPr lang="zh-TW" altLang="en-US" dirty="0"/>
              <a:t> </a:t>
            </a:r>
            <a:r>
              <a:rPr lang="en-US" altLang="zh-TW" dirty="0"/>
              <a:t>large</a:t>
            </a:r>
            <a:r>
              <a:rPr lang="zh-TW" altLang="en-US" dirty="0"/>
              <a:t> </a:t>
            </a:r>
            <a:r>
              <a:rPr lang="en-US" altLang="zh-TW" dirty="0"/>
              <a:t>loss</a:t>
            </a:r>
            <a:endParaRPr lang="zh-TW" altLang="en-US" dirty="0"/>
          </a:p>
        </p:txBody>
      </p:sp>
      <p:sp>
        <p:nvSpPr>
          <p:cNvPr id="4" name="投影片編號版面配置區 3"/>
          <p:cNvSpPr>
            <a:spLocks noGrp="1"/>
          </p:cNvSpPr>
          <p:nvPr>
            <p:ph type="sldNum" sz="quarter" idx="10"/>
          </p:nvPr>
        </p:nvSpPr>
        <p:spPr/>
        <p:txBody>
          <a:bodyPr/>
          <a:lstStyle/>
          <a:p>
            <a:fld id="{70C6E11E-5ACF-409F-8557-659632981D46}" type="slidenum">
              <a:rPr lang="zh-TW" altLang="en-US" smtClean="0"/>
              <a:t>13</a:t>
            </a:fld>
            <a:endParaRPr lang="zh-TW" altLang="en-US"/>
          </a:p>
        </p:txBody>
      </p:sp>
    </p:spTree>
    <p:extLst>
      <p:ext uri="{BB962C8B-B14F-4D97-AF65-F5344CB8AC3E}">
        <p14:creationId xmlns:p14="http://schemas.microsoft.com/office/powerpoint/2010/main" val="1640361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0C6E11E-5ACF-409F-8557-659632981D46}" type="slidenum">
              <a:rPr lang="zh-TW" altLang="en-US" smtClean="0"/>
              <a:t>14</a:t>
            </a:fld>
            <a:endParaRPr lang="zh-TW" altLang="en-US"/>
          </a:p>
        </p:txBody>
      </p:sp>
    </p:spTree>
    <p:extLst>
      <p:ext uri="{BB962C8B-B14F-4D97-AF65-F5344CB8AC3E}">
        <p14:creationId xmlns:p14="http://schemas.microsoft.com/office/powerpoint/2010/main" val="16947830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0C6E11E-5ACF-409F-8557-659632981D46}" type="slidenum">
              <a:rPr lang="zh-TW" altLang="en-US" smtClean="0"/>
              <a:t>15</a:t>
            </a:fld>
            <a:endParaRPr lang="zh-TW" altLang="en-US"/>
          </a:p>
        </p:txBody>
      </p:sp>
    </p:spTree>
    <p:extLst>
      <p:ext uri="{BB962C8B-B14F-4D97-AF65-F5344CB8AC3E}">
        <p14:creationId xmlns:p14="http://schemas.microsoft.com/office/powerpoint/2010/main" val="10896522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0C6E11E-5ACF-409F-8557-659632981D46}" type="slidenum">
              <a:rPr lang="zh-TW" altLang="en-US" smtClean="0"/>
              <a:t>16</a:t>
            </a:fld>
            <a:endParaRPr lang="zh-TW" altLang="en-US"/>
          </a:p>
        </p:txBody>
      </p:sp>
    </p:spTree>
    <p:extLst>
      <p:ext uri="{BB962C8B-B14F-4D97-AF65-F5344CB8AC3E}">
        <p14:creationId xmlns:p14="http://schemas.microsoft.com/office/powerpoint/2010/main" val="22852848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0C6E11E-5ACF-409F-8557-659632981D46}" type="slidenum">
              <a:rPr lang="zh-TW" altLang="en-US" smtClean="0"/>
              <a:t>17</a:t>
            </a:fld>
            <a:endParaRPr lang="zh-TW" altLang="en-US"/>
          </a:p>
        </p:txBody>
      </p:sp>
    </p:spTree>
    <p:extLst>
      <p:ext uri="{BB962C8B-B14F-4D97-AF65-F5344CB8AC3E}">
        <p14:creationId xmlns:p14="http://schemas.microsoft.com/office/powerpoint/2010/main" val="8384308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0C6E11E-5ACF-409F-8557-659632981D46}" type="slidenum">
              <a:rPr lang="zh-TW" altLang="en-US" smtClean="0"/>
              <a:t>18</a:t>
            </a:fld>
            <a:endParaRPr lang="zh-TW" altLang="en-US"/>
          </a:p>
        </p:txBody>
      </p:sp>
    </p:spTree>
    <p:extLst>
      <p:ext uri="{BB962C8B-B14F-4D97-AF65-F5344CB8AC3E}">
        <p14:creationId xmlns:p14="http://schemas.microsoft.com/office/powerpoint/2010/main" val="31309283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2018/5/1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922107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2018/5/1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3490957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2018/5/1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290611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5E5C1F2B-1D51-40D0-A135-9C9D0A35B8E2}" type="datetimeFigureOut">
              <a:rPr lang="zh-TW" altLang="en-US" smtClean="0"/>
              <a:t>2018/5/1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3306913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5E5C1F2B-1D51-40D0-A135-9C9D0A35B8E2}" type="datetimeFigureOut">
              <a:rPr lang="zh-TW" altLang="en-US" smtClean="0"/>
              <a:t>2018/5/1</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33364730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5E5C1F2B-1D51-40D0-A135-9C9D0A35B8E2}" type="datetimeFigureOut">
              <a:rPr lang="zh-TW" altLang="en-US" smtClean="0"/>
              <a:t>2018/5/1</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793976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5E5C1F2B-1D51-40D0-A135-9C9D0A35B8E2}" type="datetimeFigureOut">
              <a:rPr lang="zh-TW" altLang="en-US" smtClean="0"/>
              <a:t>2018/5/1</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1401091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5E5C1F2B-1D51-40D0-A135-9C9D0A35B8E2}" type="datetimeFigureOut">
              <a:rPr lang="zh-TW" altLang="en-US" smtClean="0"/>
              <a:t>2018/5/1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406270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5E5C1F2B-1D51-40D0-A135-9C9D0A35B8E2}" type="datetimeFigureOut">
              <a:rPr lang="zh-TW" altLang="en-US" smtClean="0"/>
              <a:t>2018/5/1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378141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2018/5/1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1789388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2018/5/1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233407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5C1F2B-1D51-40D0-A135-9C9D0A35B8E2}" type="datetimeFigureOut">
              <a:rPr lang="zh-TW" altLang="en-US" smtClean="0"/>
              <a:t>2018/5/1</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40011100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53623" y="268941"/>
            <a:ext cx="12299245" cy="2902356"/>
          </a:xfrm>
        </p:spPr>
        <p:txBody>
          <a:bodyPr>
            <a:noAutofit/>
          </a:bodyPr>
          <a:lstStyle/>
          <a:p>
            <a:r>
              <a:rPr lang="en-US" altLang="zh-TW" sz="4800" b="1" dirty="0">
                <a:latin typeface="Times New Roman" panose="02020603050405020304" pitchFamily="18" charset="0"/>
                <a:cs typeface="Times New Roman" panose="02020603050405020304" pitchFamily="18" charset="0"/>
              </a:rPr>
              <a:t>An adaptive portfolio trading system: </a:t>
            </a:r>
            <a:br>
              <a:rPr lang="en-US" altLang="zh-TW" sz="4800" b="1" dirty="0">
                <a:latin typeface="Times New Roman" panose="02020603050405020304" pitchFamily="18" charset="0"/>
                <a:cs typeface="Times New Roman" panose="02020603050405020304" pitchFamily="18" charset="0"/>
              </a:rPr>
            </a:br>
            <a:r>
              <a:rPr lang="en-US" altLang="zh-TW" sz="4800" b="1" dirty="0">
                <a:latin typeface="Times New Roman" panose="02020603050405020304" pitchFamily="18" charset="0"/>
                <a:cs typeface="Times New Roman" panose="02020603050405020304" pitchFamily="18" charset="0"/>
              </a:rPr>
              <a:t>A risk-return portfolio optimization using recurrent reinforcement learning with expected maximum drawdown</a:t>
            </a:r>
            <a:endParaRPr lang="zh-TW" altLang="en-US" sz="4800" b="1" dirty="0">
              <a:latin typeface="Times New Roman" panose="02020603050405020304" pitchFamily="18" charset="0"/>
              <a:cs typeface="Times New Roman" panose="02020603050405020304" pitchFamily="18" charset="0"/>
            </a:endParaRPr>
          </a:p>
        </p:txBody>
      </p:sp>
      <p:sp>
        <p:nvSpPr>
          <p:cNvPr id="3" name="副標題 2"/>
          <p:cNvSpPr>
            <a:spLocks noGrp="1"/>
          </p:cNvSpPr>
          <p:nvPr>
            <p:ph type="subTitle" idx="1"/>
          </p:nvPr>
        </p:nvSpPr>
        <p:spPr>
          <a:xfrm>
            <a:off x="1871132" y="3669771"/>
            <a:ext cx="8449734" cy="2719740"/>
          </a:xfrm>
        </p:spPr>
        <p:txBody>
          <a:bodyPr>
            <a:normAutofit lnSpcReduction="10000"/>
          </a:bodyPr>
          <a:lstStyle/>
          <a:p>
            <a:r>
              <a:rPr lang="en-US" altLang="zh-TW" dirty="0">
                <a:latin typeface="Times New Roman" panose="02020603050405020304" pitchFamily="18" charset="0"/>
                <a:cs typeface="Times New Roman" panose="02020603050405020304" pitchFamily="18" charset="0"/>
              </a:rPr>
              <a:t> Saud </a:t>
            </a:r>
            <a:r>
              <a:rPr lang="en-US" altLang="zh-TW" dirty="0" err="1">
                <a:latin typeface="Times New Roman" panose="02020603050405020304" pitchFamily="18" charset="0"/>
                <a:cs typeface="Times New Roman" panose="02020603050405020304" pitchFamily="18" charset="0"/>
              </a:rPr>
              <a:t>Almahdi</a:t>
            </a:r>
            <a:r>
              <a:rPr lang="en-US" altLang="zh-TW" dirty="0">
                <a:latin typeface="Times New Roman" panose="02020603050405020304" pitchFamily="18" charset="0"/>
                <a:cs typeface="Times New Roman" panose="02020603050405020304" pitchFamily="18" charset="0"/>
              </a:rPr>
              <a:t>, Steve Y. Yang</a:t>
            </a:r>
          </a:p>
          <a:p>
            <a:r>
              <a:rPr lang="en-US" altLang="zh-TW" dirty="0">
                <a:latin typeface="Times New Roman" panose="02020603050405020304" pitchFamily="18" charset="0"/>
                <a:cs typeface="Times New Roman" panose="02020603050405020304" pitchFamily="18" charset="0"/>
              </a:rPr>
              <a:t>Financial Engineering Program, School of Business, Stevens Institute of Technology, 1 Castle Point on Hudson, Hoboken, NJ 07030, USA</a:t>
            </a:r>
          </a:p>
          <a:p>
            <a:r>
              <a:rPr lang="en-US" altLang="zh-TW" dirty="0">
                <a:latin typeface="Times New Roman" panose="02020603050405020304" pitchFamily="18" charset="0"/>
                <a:cs typeface="Times New Roman" panose="02020603050405020304" pitchFamily="18" charset="0"/>
              </a:rPr>
              <a:t>Expert Systems With Applications 87 (2017) 267–279</a:t>
            </a:r>
          </a:p>
          <a:p>
            <a:r>
              <a:rPr lang="en-US" altLang="zh-TW" dirty="0">
                <a:latin typeface="Times New Roman" panose="02020603050405020304" pitchFamily="18" charset="0"/>
                <a:cs typeface="Times New Roman" panose="02020603050405020304" pitchFamily="18" charset="0"/>
              </a:rPr>
              <a:t>Presenter: Cheng-Han Wu</a:t>
            </a:r>
          </a:p>
          <a:p>
            <a:r>
              <a:rPr lang="en-US" altLang="zh-TW" dirty="0">
                <a:latin typeface="Times New Roman" panose="02020603050405020304" pitchFamily="18" charset="0"/>
                <a:cs typeface="Times New Roman" panose="02020603050405020304" pitchFamily="18" charset="0"/>
              </a:rPr>
              <a:t>Date:2018/5/1</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56846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Abstract(1/2)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0" y="1825625"/>
            <a:ext cx="11071578" cy="4595054"/>
          </a:xfrm>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rPr>
              <a:t>Dynamic control theory has long been used in solving optimal asset allocation problems, and a number of trading decision systems based on reinforcement learning methods have been applied in asset allocation and portfolio rebalancing. In this paper, we extend the existing work in recurrent reinforcement learning (RRL) and build an optimal variable weight portfolio allocation under a coherent downside risk measure, the expected maximum drawdown, E(MDD). In particular, we propose a recurrent reinforcement learning method, with a coherent risk adjusted performance objective function, the Calmar ratio, to obtain both buy and sell signals and asset allocation weights. </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8666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Abstract(2/2)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0" y="1825625"/>
            <a:ext cx="11071578" cy="4595054"/>
          </a:xfrm>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rPr>
              <a:t>Using a portfolio consisting of the most frequently traded exchange-traded funds, we show that the expected maximum drawdown risk based objective function yields superior return performance compared to previously proposed RRL objective functions (i.e. the Sharpe ratio and the Sterling ratio), and that variable weight RRL long/short portfolios outperform equal weight RRL long/short portfolios under different transaction cost scenarios. We further propose an adaptive E(MDD) risk based RRL portfolio</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rebalancing decision system with a transaction cost and market condition stop-loss retraining mechanism, and we show that the proposed portfolio trading system responds to transaction cost effects better and outperforms hedge fund benchmarks consistently.</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47402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Recurrent reinforcement learning</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199" y="1825625"/>
                <a:ext cx="10515599" cy="4595054"/>
              </a:xfrm>
            </p:spPr>
            <p:txBody>
              <a:bodyPr>
                <a:normAutofit/>
              </a:bodyPr>
              <a:lstStyle/>
              <a:p>
                <a14:m>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𝑥</m:t>
                        </m:r>
                      </m:e>
                      <m:sub>
                        <m:r>
                          <a:rPr lang="en-US" altLang="zh-TW" i="1">
                            <a:latin typeface="Cambria Math" panose="02040503050406030204" pitchFamily="18" charset="0"/>
                            <a:cs typeface="Times New Roman" panose="02020603050405020304" pitchFamily="18" charset="0"/>
                          </a:rPr>
                          <m:t>𝑡</m:t>
                        </m:r>
                      </m:sub>
                    </m:sSub>
                    <m:r>
                      <a:rPr lang="en-US" altLang="zh-TW" i="1">
                        <a:latin typeface="Cambria Math" panose="02040503050406030204" pitchFamily="18" charset="0"/>
                        <a:cs typeface="Times New Roman" panose="02020603050405020304" pitchFamily="18" charset="0"/>
                      </a:rPr>
                      <m:t>=[1;</m:t>
                    </m:r>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𝑟</m:t>
                        </m:r>
                      </m:e>
                      <m:sub>
                        <m:r>
                          <a:rPr lang="en-US" altLang="zh-TW" i="1">
                            <a:latin typeface="Cambria Math" panose="02040503050406030204" pitchFamily="18" charset="0"/>
                            <a:cs typeface="Times New Roman" panose="02020603050405020304" pitchFamily="18" charset="0"/>
                          </a:rPr>
                          <m:t>𝑡</m:t>
                        </m:r>
                      </m:sub>
                    </m:sSub>
                    <m:r>
                      <a:rPr lang="en-US" altLang="zh-TW" i="1">
                        <a:latin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𝑟</m:t>
                        </m:r>
                      </m:e>
                      <m:sub>
                        <m:r>
                          <a:rPr lang="en-US" altLang="zh-TW" i="1">
                            <a:latin typeface="Cambria Math" panose="02040503050406030204" pitchFamily="18" charset="0"/>
                            <a:cs typeface="Times New Roman" panose="02020603050405020304" pitchFamily="18" charset="0"/>
                          </a:rPr>
                          <m:t>𝑡</m:t>
                        </m:r>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𝑀</m:t>
                        </m:r>
                      </m:sub>
                    </m:sSub>
                    <m:r>
                      <a:rPr lang="en-US" altLang="zh-TW" i="1">
                        <a:latin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𝐹</m:t>
                        </m:r>
                      </m:e>
                      <m:sub>
                        <m:r>
                          <a:rPr lang="en-US" altLang="zh-TW" i="1">
                            <a:latin typeface="Cambria Math" panose="02040503050406030204" pitchFamily="18" charset="0"/>
                            <a:cs typeface="Times New Roman" panose="02020603050405020304" pitchFamily="18" charset="0"/>
                          </a:rPr>
                          <m:t>𝑡</m:t>
                        </m:r>
                        <m:r>
                          <a:rPr lang="en-US" altLang="zh-TW" i="1">
                            <a:latin typeface="Cambria Math" panose="02040503050406030204" pitchFamily="18" charset="0"/>
                            <a:cs typeface="Times New Roman" panose="02020603050405020304" pitchFamily="18" charset="0"/>
                          </a:rPr>
                          <m:t>−1</m:t>
                        </m:r>
                      </m:sub>
                    </m:sSub>
                    <m:r>
                      <a:rPr lang="en-US" altLang="zh-TW" i="1">
                        <a:latin typeface="Cambria Math" panose="02040503050406030204" pitchFamily="18" charset="0"/>
                        <a:cs typeface="Times New Roman" panose="02020603050405020304" pitchFamily="18" charset="0"/>
                      </a:rPr>
                      <m:t>] </m:t>
                    </m:r>
                  </m:oMath>
                </a14:m>
                <a:r>
                  <a:rPr lang="en-US" altLang="zh-TW"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TW" i="1">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𝑟</m:t>
                        </m:r>
                      </m:e>
                      <m:sub>
                        <m:r>
                          <a:rPr lang="en-US" altLang="zh-TW" i="1">
                            <a:latin typeface="Cambria Math" panose="02040503050406030204" pitchFamily="18" charset="0"/>
                            <a:cs typeface="Times New Roman" panose="02020603050405020304" pitchFamily="18" charset="0"/>
                          </a:rPr>
                          <m:t>𝑡</m:t>
                        </m:r>
                      </m:sub>
                    </m:sSub>
                    <m:r>
                      <a:rPr lang="en-US" altLang="zh-TW" b="0" i="1" smtClean="0">
                        <a:latin typeface="Cambria Math" panose="02040503050406030204" pitchFamily="18" charset="0"/>
                        <a:cs typeface="Times New Roman" panose="02020603050405020304" pitchFamily="18" charset="0"/>
                      </a:rPr>
                      <m:t>=</m:t>
                    </m:r>
                    <m:func>
                      <m:funcPr>
                        <m:ctrlPr>
                          <a:rPr lang="en-US" altLang="zh-TW" b="0" i="1" smtClean="0">
                            <a:latin typeface="Cambria Math" panose="02040503050406030204" pitchFamily="18" charset="0"/>
                            <a:cs typeface="Times New Roman" panose="02020603050405020304" pitchFamily="18" charset="0"/>
                          </a:rPr>
                        </m:ctrlPr>
                      </m:funcPr>
                      <m:fName>
                        <m:r>
                          <m:rPr>
                            <m:sty m:val="p"/>
                          </m:rPr>
                          <a:rPr lang="en-US" altLang="zh-TW" b="0" i="0" smtClean="0">
                            <a:latin typeface="Cambria Math" panose="02040503050406030204" pitchFamily="18" charset="0"/>
                            <a:cs typeface="Times New Roman" panose="02020603050405020304" pitchFamily="18" charset="0"/>
                          </a:rPr>
                          <m:t>log</m:t>
                        </m:r>
                      </m:fName>
                      <m:e>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𝑝𝑟𝑖𝑐</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𝑒</m:t>
                                </m:r>
                              </m:e>
                              <m:sub>
                                <m:r>
                                  <a:rPr lang="en-US" altLang="zh-TW" b="0" i="1" smtClean="0">
                                    <a:latin typeface="Cambria Math" panose="02040503050406030204" pitchFamily="18" charset="0"/>
                                    <a:cs typeface="Times New Roman" panose="02020603050405020304" pitchFamily="18" charset="0"/>
                                  </a:rPr>
                                  <m:t>𝑡</m:t>
                                </m:r>
                              </m:sub>
                            </m:sSub>
                          </m:e>
                        </m:d>
                      </m:e>
                    </m:func>
                    <m:r>
                      <a:rPr lang="en-US" altLang="zh-TW" b="0" i="1" smtClean="0">
                        <a:latin typeface="Cambria Math" panose="02040503050406030204" pitchFamily="18" charset="0"/>
                        <a:cs typeface="Times New Roman" panose="02020603050405020304" pitchFamily="18" charset="0"/>
                      </a:rPr>
                      <m:t>−</m:t>
                    </m:r>
                    <m:func>
                      <m:funcPr>
                        <m:ctrlPr>
                          <a:rPr lang="en-US" altLang="zh-TW" b="0" i="1" smtClean="0">
                            <a:latin typeface="Cambria Math" panose="02040503050406030204" pitchFamily="18" charset="0"/>
                            <a:cs typeface="Times New Roman" panose="02020603050405020304" pitchFamily="18" charset="0"/>
                          </a:rPr>
                        </m:ctrlPr>
                      </m:funcPr>
                      <m:fName>
                        <m:r>
                          <m:rPr>
                            <m:sty m:val="p"/>
                          </m:rPr>
                          <a:rPr lang="en-US" altLang="zh-TW" b="0" i="0" smtClean="0">
                            <a:latin typeface="Cambria Math" panose="02040503050406030204" pitchFamily="18" charset="0"/>
                            <a:cs typeface="Times New Roman" panose="02020603050405020304" pitchFamily="18" charset="0"/>
                          </a:rPr>
                          <m:t>log</m:t>
                        </m:r>
                      </m:fName>
                      <m:e>
                        <m:d>
                          <m:dPr>
                            <m:ctrlPr>
                              <a:rPr lang="en-US" altLang="zh-TW" b="0" i="1" smtClean="0">
                                <a:latin typeface="Cambria Math" panose="02040503050406030204" pitchFamily="18" charset="0"/>
                                <a:cs typeface="Times New Roman" panose="02020603050405020304" pitchFamily="18" charset="0"/>
                              </a:rPr>
                            </m:ctrlPr>
                          </m:dPr>
                          <m:e>
                            <m:r>
                              <a:rPr lang="en-US" altLang="zh-TW" b="0" i="1" smtClean="0">
                                <a:latin typeface="Cambria Math" panose="02040503050406030204" pitchFamily="18" charset="0"/>
                                <a:cs typeface="Times New Roman" panose="02020603050405020304" pitchFamily="18" charset="0"/>
                              </a:rPr>
                              <m:t>𝑝𝑟𝑖𝑐</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𝑒</m:t>
                                </m:r>
                              </m:e>
                              <m:sub>
                                <m:r>
                                  <a:rPr lang="en-US" altLang="zh-TW" b="0" i="1" smtClean="0">
                                    <a:latin typeface="Cambria Math" panose="02040503050406030204" pitchFamily="18" charset="0"/>
                                    <a:cs typeface="Times New Roman" panose="02020603050405020304" pitchFamily="18" charset="0"/>
                                  </a:rPr>
                                  <m:t>𝑡</m:t>
                                </m:r>
                                <m:r>
                                  <a:rPr lang="en-US" altLang="zh-TW" b="0" i="1" smtClean="0">
                                    <a:latin typeface="Cambria Math" panose="02040503050406030204" pitchFamily="18" charset="0"/>
                                    <a:cs typeface="Times New Roman" panose="02020603050405020304" pitchFamily="18" charset="0"/>
                                  </a:rPr>
                                  <m:t>−1</m:t>
                                </m:r>
                              </m:sub>
                            </m:sSub>
                          </m:e>
                        </m:d>
                      </m:e>
                    </m:func>
                  </m:oMath>
                </a14:m>
                <a:r>
                  <a:rPr lang="en-US" altLang="zh-TW" b="0" i="1" dirty="0">
                    <a:latin typeface="Cambria Math" panose="02040503050406030204" pitchFamily="18" charset="0"/>
                    <a:cs typeface="Times New Roman" panose="02020603050405020304" pitchFamily="18" charset="0"/>
                  </a:rPr>
                  <a:t>, </a:t>
                </a:r>
              </a:p>
              <a:p>
                <a14:m>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𝐹</m:t>
                        </m:r>
                      </m:e>
                      <m:sub>
                        <m:r>
                          <a:rPr lang="en-US" altLang="zh-TW" b="0" i="1" smtClean="0">
                            <a:latin typeface="Cambria Math" panose="02040503050406030204" pitchFamily="18" charset="0"/>
                            <a:cs typeface="Times New Roman" panose="02020603050405020304" pitchFamily="18" charset="0"/>
                          </a:rPr>
                          <m:t>𝑡</m:t>
                        </m:r>
                      </m:sub>
                    </m:sSub>
                    <m:r>
                      <a:rPr lang="en-US" altLang="zh-TW" b="0" i="1" smtClean="0">
                        <a:latin typeface="Cambria Math" panose="02040503050406030204" pitchFamily="18" charset="0"/>
                        <a:cs typeface="Times New Roman" panose="02020603050405020304" pitchFamily="18" charset="0"/>
                      </a:rPr>
                      <m:t>=</m:t>
                    </m:r>
                    <m:r>
                      <m:rPr>
                        <m:sty m:val="p"/>
                      </m:rPr>
                      <a:rPr lang="en-US" altLang="zh-TW" b="0" i="0" smtClean="0">
                        <a:latin typeface="Cambria Math" panose="02040503050406030204" pitchFamily="18" charset="0"/>
                        <a:cs typeface="Times New Roman" panose="02020603050405020304" pitchFamily="18" charset="0"/>
                      </a:rPr>
                      <m:t>tanh</m:t>
                    </m:r>
                    <m:r>
                      <a:rPr lang="en-US" altLang="zh-TW" b="0" i="1" smtClean="0">
                        <a:latin typeface="Cambria Math" panose="02040503050406030204" pitchFamily="18" charset="0"/>
                        <a:cs typeface="Times New Roman" panose="02020603050405020304" pitchFamily="18" charset="0"/>
                      </a:rPr>
                      <m:t>⁡(</m:t>
                    </m:r>
                    <m:sSubSup>
                      <m:sSubSupPr>
                        <m:ctrlPr>
                          <a:rPr lang="en-US" altLang="zh-TW" b="0" i="1" smtClean="0">
                            <a:latin typeface="Cambria Math" panose="02040503050406030204" pitchFamily="18" charset="0"/>
                            <a:cs typeface="Times New Roman" panose="02020603050405020304" pitchFamily="18" charset="0"/>
                          </a:rPr>
                        </m:ctrlPr>
                      </m:sSubSupPr>
                      <m:e>
                        <m:r>
                          <a:rPr lang="en-US" altLang="zh-TW" b="0" i="1" smtClean="0">
                            <a:latin typeface="Cambria Math" panose="02040503050406030204" pitchFamily="18" charset="0"/>
                            <a:cs typeface="Times New Roman" panose="02020603050405020304" pitchFamily="18" charset="0"/>
                          </a:rPr>
                          <m:t>𝑥</m:t>
                        </m:r>
                      </m:e>
                      <m:sub>
                        <m:r>
                          <a:rPr lang="en-US" altLang="zh-TW" b="0" i="1" smtClean="0">
                            <a:latin typeface="Cambria Math" panose="02040503050406030204" pitchFamily="18" charset="0"/>
                            <a:cs typeface="Times New Roman" panose="02020603050405020304" pitchFamily="18" charset="0"/>
                          </a:rPr>
                          <m:t>𝑡</m:t>
                        </m:r>
                      </m:sub>
                      <m:sup>
                        <m:r>
                          <a:rPr lang="en-US" altLang="zh-TW" b="0" i="1" smtClean="0">
                            <a:latin typeface="Cambria Math" panose="02040503050406030204" pitchFamily="18" charset="0"/>
                            <a:cs typeface="Times New Roman" panose="02020603050405020304" pitchFamily="18" charset="0"/>
                          </a:rPr>
                          <m:t>′</m:t>
                        </m:r>
                      </m:sup>
                    </m:sSubSup>
                    <m:r>
                      <a:rPr lang="zh-TW" altLang="en-US" b="0" i="1" smtClean="0">
                        <a:latin typeface="Cambria Math" panose="02040503050406030204" pitchFamily="18" charset="0"/>
                        <a:cs typeface="Times New Roman" panose="02020603050405020304" pitchFamily="18" charset="0"/>
                      </a:rPr>
                      <m:t>𝜃</m:t>
                    </m:r>
                    <m:r>
                      <a:rPr lang="en-US" altLang="zh-TW" b="0" i="1" smtClean="0">
                        <a:latin typeface="Cambria Math" panose="02040503050406030204" pitchFamily="18" charset="0"/>
                        <a:cs typeface="Times New Roman" panose="02020603050405020304" pitchFamily="18" charset="0"/>
                      </a:rPr>
                      <m:t>)</m:t>
                    </m:r>
                  </m:oMath>
                </a14:m>
                <a:r>
                  <a:rPr lang="en-US" altLang="zh-TW"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𝐹</m:t>
                        </m:r>
                      </m:e>
                      <m:sub>
                        <m:r>
                          <a:rPr lang="en-US" altLang="zh-TW" i="1">
                            <a:latin typeface="Cambria Math" panose="02040503050406030204" pitchFamily="18" charset="0"/>
                            <a:cs typeface="Times New Roman" panose="02020603050405020304" pitchFamily="18" charset="0"/>
                          </a:rPr>
                          <m:t>𝑡</m:t>
                        </m:r>
                      </m:sub>
                    </m:sSub>
                    <m:r>
                      <a:rPr lang="en-US" altLang="zh-TW" b="0" i="1" smtClean="0">
                        <a:latin typeface="Cambria Math" panose="02040503050406030204" pitchFamily="18" charset="0"/>
                        <a:cs typeface="Times New Roman" panose="02020603050405020304" pitchFamily="18" charset="0"/>
                      </a:rPr>
                      <m:t> </m:t>
                    </m:r>
                    <m:r>
                      <a:rPr lang="zh-TW" altLang="en-US" i="1" smtClean="0">
                        <a:latin typeface="Cambria Math" panose="02040503050406030204" pitchFamily="18" charset="0"/>
                        <a:cs typeface="Times New Roman" panose="02020603050405020304" pitchFamily="18" charset="0"/>
                      </a:rPr>
                      <m:t>𝜖</m:t>
                    </m:r>
                    <m:r>
                      <a:rPr lang="en-US" altLang="zh-TW" b="0" i="1" smtClean="0">
                        <a:latin typeface="Cambria Math" panose="02040503050406030204" pitchFamily="18" charset="0"/>
                        <a:cs typeface="Times New Roman" panose="02020603050405020304" pitchFamily="18" charset="0"/>
                      </a:rPr>
                      <m:t> {−1, 1}</m:t>
                    </m:r>
                  </m:oMath>
                </a14:m>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𝐹</m:t>
                        </m:r>
                      </m:e>
                      <m:sub>
                        <m:r>
                          <a:rPr lang="en-US" altLang="zh-TW" i="1">
                            <a:latin typeface="Cambria Math" panose="02040503050406030204" pitchFamily="18" charset="0"/>
                            <a:cs typeface="Times New Roman" panose="02020603050405020304" pitchFamily="18" charset="0"/>
                          </a:rPr>
                          <m:t>𝑡</m:t>
                        </m:r>
                      </m:sub>
                    </m:sSub>
                    <m:r>
                      <a:rPr lang="en-US" altLang="zh-TW" b="0" i="1" smtClean="0">
                        <a:latin typeface="Cambria Math" panose="02040503050406030204" pitchFamily="18" charset="0"/>
                        <a:cs typeface="Times New Roman" panose="02020603050405020304" pitchFamily="18" charset="0"/>
                      </a:rPr>
                      <m:t>&gt;0</m:t>
                    </m:r>
                  </m:oMath>
                </a14:m>
                <a:r>
                  <a:rPr lang="en-US" altLang="zh-TW" dirty="0">
                    <a:latin typeface="Times New Roman" panose="02020603050405020304" pitchFamily="18" charset="0"/>
                    <a:cs typeface="Times New Roman" panose="02020603050405020304" pitchFamily="18" charset="0"/>
                  </a:rPr>
                  <a:t> : take a long position</a:t>
                </a:r>
              </a:p>
              <a:p>
                <a:pPr marL="0" indent="0">
                  <a:buNone/>
                </a:pPr>
                <a:r>
                  <a:rPr lang="en-US" altLang="zh-TW"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𝐹</m:t>
                        </m:r>
                      </m:e>
                      <m:sub>
                        <m:r>
                          <a:rPr lang="en-US" altLang="zh-TW" i="1">
                            <a:latin typeface="Cambria Math" panose="02040503050406030204" pitchFamily="18" charset="0"/>
                            <a:cs typeface="Times New Roman" panose="02020603050405020304" pitchFamily="18" charset="0"/>
                          </a:rPr>
                          <m:t>𝑡</m:t>
                        </m:r>
                      </m:sub>
                    </m:sSub>
                    <m:r>
                      <a:rPr lang="en-US" altLang="zh-TW" b="0" i="1" smtClean="0">
                        <a:latin typeface="Cambria Math" panose="02040503050406030204" pitchFamily="18" charset="0"/>
                        <a:cs typeface="Times New Roman" panose="02020603050405020304" pitchFamily="18" charset="0"/>
                      </a:rPr>
                      <m:t>&lt;0</m:t>
                    </m:r>
                  </m:oMath>
                </a14:m>
                <a:r>
                  <a:rPr lang="en-US" altLang="zh-TW" dirty="0">
                    <a:latin typeface="Times New Roman" panose="02020603050405020304" pitchFamily="18" charset="0"/>
                    <a:cs typeface="Times New Roman" panose="02020603050405020304" pitchFamily="18" charset="0"/>
                  </a:rPr>
                  <a:t> : take a short position</a:t>
                </a:r>
              </a:p>
              <a:p>
                <a14:m>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𝑅</m:t>
                        </m:r>
                      </m:e>
                      <m:sub>
                        <m:r>
                          <a:rPr lang="en-US" altLang="zh-TW" i="1">
                            <a:latin typeface="Cambria Math" panose="02040503050406030204" pitchFamily="18" charset="0"/>
                            <a:cs typeface="Times New Roman" panose="02020603050405020304" pitchFamily="18" charset="0"/>
                          </a:rPr>
                          <m:t>𝑡</m:t>
                        </m:r>
                      </m:sub>
                    </m:sSub>
                    <m:r>
                      <a:rPr lang="en-US" altLang="zh-TW" i="1">
                        <a:latin typeface="Cambria Math" panose="02040503050406030204" pitchFamily="18" charset="0"/>
                        <a:cs typeface="Times New Roman" panose="02020603050405020304" pitchFamily="18" charset="0"/>
                      </a:rPr>
                      <m:t>=</m:t>
                    </m:r>
                    <m:r>
                      <a:rPr lang="zh-TW" altLang="en-US" i="1" smtClean="0">
                        <a:latin typeface="Cambria Math" panose="02040503050406030204" pitchFamily="18" charset="0"/>
                        <a:cs typeface="Times New Roman" panose="02020603050405020304" pitchFamily="18" charset="0"/>
                      </a:rPr>
                      <m:t>𝜇</m:t>
                    </m:r>
                    <m:r>
                      <a:rPr lang="en-US" altLang="zh-TW" b="0" i="1" smtClean="0">
                        <a:latin typeface="Cambria Math" panose="02040503050406030204" pitchFamily="18" charset="0"/>
                        <a:cs typeface="Times New Roman" panose="02020603050405020304" pitchFamily="18" charset="0"/>
                      </a:rPr>
                      <m:t>∗</m:t>
                    </m:r>
                    <m:d>
                      <m:dPr>
                        <m:begChr m:val="["/>
                        <m:endChr m:val="]"/>
                        <m:ctrlPr>
                          <a:rPr lang="en-US" altLang="zh-TW" b="0" i="1" smtClean="0">
                            <a:latin typeface="Cambria Math" panose="02040503050406030204" pitchFamily="18" charset="0"/>
                            <a:cs typeface="Times New Roman" panose="02020603050405020304" pitchFamily="18" charset="0"/>
                          </a:rPr>
                        </m:ctrlPr>
                      </m:dPr>
                      <m:e>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𝐹</m:t>
                            </m:r>
                          </m:e>
                          <m:sub>
                            <m:r>
                              <a:rPr lang="en-US" altLang="zh-TW" b="0" i="1" smtClean="0">
                                <a:latin typeface="Cambria Math" panose="02040503050406030204" pitchFamily="18" charset="0"/>
                                <a:cs typeface="Times New Roman" panose="02020603050405020304" pitchFamily="18" charset="0"/>
                              </a:rPr>
                              <m:t>𝑡</m:t>
                            </m:r>
                            <m:r>
                              <a:rPr lang="en-US" altLang="zh-TW" b="0" i="1" smtClean="0">
                                <a:latin typeface="Cambria Math" panose="02040503050406030204" pitchFamily="18" charset="0"/>
                                <a:cs typeface="Times New Roman" panose="02020603050405020304" pitchFamily="18" charset="0"/>
                              </a:rPr>
                              <m:t>−1</m:t>
                            </m:r>
                          </m:sub>
                        </m:s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𝑟</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𝑡</m:t>
                            </m:r>
                          </m:sub>
                        </m:s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lang="zh-TW" altLang="en-US" b="0" i="1" smtClean="0">
                            <a:latin typeface="Cambria Math" panose="02040503050406030204" pitchFamily="18" charset="0"/>
                            <a:ea typeface="Cambria Math" panose="02040503050406030204" pitchFamily="18" charset="0"/>
                            <a:cs typeface="Times New Roman" panose="02020603050405020304" pitchFamily="18" charset="0"/>
                          </a:rPr>
                          <m:t>𝛿</m:t>
                        </m:r>
                        <m:d>
                          <m:dPr>
                            <m:begChr m:val="|"/>
                            <m:endChr m:val="|"/>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𝐹</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𝑡</m:t>
                                </m:r>
                              </m:sub>
                            </m:s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𝐹</m:t>
                                </m:r>
                              </m:e>
                              <m:sub>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𝑡</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−1</m:t>
                                </m:r>
                              </m:sub>
                            </m:sSub>
                          </m:e>
                        </m:d>
                      </m:e>
                    </m:d>
                  </m:oMath>
                </a14:m>
                <a:r>
                  <a:rPr lang="en-US" altLang="zh-TW" dirty="0">
                    <a:latin typeface="Times New Roman" panose="02020603050405020304" pitchFamily="18" charset="0"/>
                    <a:cs typeface="Times New Roman" panose="02020603050405020304" pitchFamily="18" charset="0"/>
                  </a:rPr>
                  <a:t>	</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199" y="1825625"/>
                <a:ext cx="10515599" cy="4595054"/>
              </a:xfrm>
              <a:blipFill>
                <a:blip r:embed="rId3"/>
                <a:stretch>
                  <a:fillRect t="-2387"/>
                </a:stretch>
              </a:blipFill>
            </p:spPr>
            <p:txBody>
              <a:bodyPr/>
              <a:lstStyle/>
              <a:p>
                <a:r>
                  <a:rPr lang="zh-TW" altLang="en-US">
                    <a:noFill/>
                  </a:rPr>
                  <a:t> </a:t>
                </a:r>
              </a:p>
            </p:txBody>
          </p:sp>
        </mc:Fallback>
      </mc:AlternateContent>
      <p:pic>
        <p:nvPicPr>
          <p:cNvPr id="6" name="圖片 5">
            <a:extLst>
              <a:ext uri="{FF2B5EF4-FFF2-40B4-BE49-F238E27FC236}">
                <a16:creationId xmlns:a16="http://schemas.microsoft.com/office/drawing/2014/main" id="{4BB680A5-4B2B-44C0-AA06-EFC1007086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76982" y="2604998"/>
            <a:ext cx="5388800" cy="3638473"/>
          </a:xfrm>
          <a:prstGeom prst="rect">
            <a:avLst/>
          </a:prstGeom>
        </p:spPr>
      </p:pic>
    </p:spTree>
    <p:extLst>
      <p:ext uri="{BB962C8B-B14F-4D97-AF65-F5344CB8AC3E}">
        <p14:creationId xmlns:p14="http://schemas.microsoft.com/office/powerpoint/2010/main" val="1754175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Sharpe ratio (SR)</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199" y="1825625"/>
                <a:ext cx="10515599" cy="4595054"/>
              </a:xfrm>
            </p:spPr>
            <p:txBody>
              <a:bodyPr>
                <a:normAutofit/>
              </a:bodyPr>
              <a:lstStyle/>
              <a:p>
                <a14:m>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𝑆</m:t>
                        </m:r>
                      </m:e>
                      <m:sub>
                        <m:r>
                          <a:rPr lang="en-US" altLang="zh-TW" i="1">
                            <a:latin typeface="Cambria Math" panose="02040503050406030204" pitchFamily="18" charset="0"/>
                            <a:cs typeface="Times New Roman" panose="02020603050405020304" pitchFamily="18" charset="0"/>
                          </a:rPr>
                          <m:t>𝑇</m:t>
                        </m:r>
                      </m:sub>
                    </m:sSub>
                    <m:func>
                      <m:funcPr>
                        <m:ctrlPr>
                          <a:rPr lang="en-US" altLang="zh-TW" i="1">
                            <a:latin typeface="Cambria Math" panose="02040503050406030204" pitchFamily="18" charset="0"/>
                            <a:cs typeface="Times New Roman" panose="02020603050405020304" pitchFamily="18" charset="0"/>
                          </a:rPr>
                        </m:ctrlPr>
                      </m:funcPr>
                      <m:fName>
                        <m:r>
                          <a:rPr lang="en-US" altLang="zh-TW" i="1">
                            <a:latin typeface="Cambria Math" panose="02040503050406030204" pitchFamily="18" charset="0"/>
                            <a:cs typeface="Times New Roman" panose="02020603050405020304" pitchFamily="18" charset="0"/>
                          </a:rPr>
                          <m:t>=</m:t>
                        </m:r>
                      </m:fName>
                      <m:e>
                        <m:f>
                          <m:fPr>
                            <m:ctrlPr>
                              <a:rPr lang="en-US" altLang="zh-TW" i="1">
                                <a:latin typeface="Cambria Math" panose="02040503050406030204" pitchFamily="18" charset="0"/>
                                <a:cs typeface="Times New Roman" panose="02020603050405020304" pitchFamily="18" charset="0"/>
                              </a:rPr>
                            </m:ctrlPr>
                          </m:fPr>
                          <m:num>
                            <m:r>
                              <a:rPr lang="en-US" altLang="zh-TW" i="1">
                                <a:latin typeface="Cambria Math" panose="02040503050406030204" pitchFamily="18" charset="0"/>
                                <a:cs typeface="Times New Roman" panose="02020603050405020304" pitchFamily="18" charset="0"/>
                              </a:rPr>
                              <m:t>𝐸</m:t>
                            </m:r>
                            <m:d>
                              <m:dPr>
                                <m:begChr m:val="["/>
                                <m:endChr m:val="]"/>
                                <m:ctrlPr>
                                  <a:rPr lang="en-US" altLang="zh-TW" i="1">
                                    <a:latin typeface="Cambria Math" panose="02040503050406030204" pitchFamily="18" charset="0"/>
                                    <a:cs typeface="Times New Roman" panose="02020603050405020304" pitchFamily="18" charset="0"/>
                                  </a:rPr>
                                </m:ctrlPr>
                              </m:dPr>
                              <m:e>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𝑅</m:t>
                                    </m:r>
                                  </m:e>
                                  <m:sub>
                                    <m:r>
                                      <a:rPr lang="en-US" altLang="zh-TW" i="1">
                                        <a:latin typeface="Cambria Math" panose="02040503050406030204" pitchFamily="18" charset="0"/>
                                        <a:cs typeface="Times New Roman" panose="02020603050405020304" pitchFamily="18" charset="0"/>
                                      </a:rPr>
                                      <m:t>𝑡</m:t>
                                    </m:r>
                                  </m:sub>
                                </m:sSub>
                              </m:e>
                            </m:d>
                          </m:num>
                          <m:den>
                            <m:r>
                              <a:rPr lang="zh-TW" altLang="en-US" i="1">
                                <a:latin typeface="Cambria Math" panose="02040503050406030204" pitchFamily="18" charset="0"/>
                                <a:cs typeface="Times New Roman" panose="02020603050405020304" pitchFamily="18" charset="0"/>
                              </a:rPr>
                              <m:t>𝜎</m:t>
                            </m:r>
                          </m:den>
                        </m:f>
                      </m:e>
                    </m:func>
                  </m:oMath>
                </a14:m>
                <a:r>
                  <a:rPr lang="en-US" altLang="zh-TW" i="1" dirty="0">
                    <a:latin typeface="Times New Roman" panose="02020603050405020304" pitchFamily="18" charset="0"/>
                    <a:cs typeface="Times New Roman" panose="02020603050405020304" pitchFamily="18" charset="0"/>
                  </a:rPr>
                  <a:t>, </a:t>
                </a:r>
                <a14:m>
                  <m:oMath xmlns:m="http://schemas.openxmlformats.org/officeDocument/2006/math">
                    <m:r>
                      <a:rPr lang="en-US" altLang="zh-TW" i="1">
                        <a:latin typeface="Cambria Math" panose="02040503050406030204" pitchFamily="18" charset="0"/>
                        <a:cs typeface="Times New Roman" panose="02020603050405020304" pitchFamily="18" charset="0"/>
                      </a:rPr>
                      <m:t>𝐸</m:t>
                    </m:r>
                    <m:d>
                      <m:dPr>
                        <m:begChr m:val="["/>
                        <m:endChr m:val="]"/>
                        <m:ctrlPr>
                          <a:rPr lang="en-US" altLang="zh-TW" i="1">
                            <a:latin typeface="Cambria Math" panose="02040503050406030204" pitchFamily="18" charset="0"/>
                            <a:cs typeface="Times New Roman" panose="02020603050405020304" pitchFamily="18" charset="0"/>
                          </a:rPr>
                        </m:ctrlPr>
                      </m:dPr>
                      <m:e>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𝑅</m:t>
                            </m:r>
                          </m:e>
                          <m:sub>
                            <m:r>
                              <a:rPr lang="en-US" altLang="zh-TW" i="1">
                                <a:latin typeface="Cambria Math" panose="02040503050406030204" pitchFamily="18" charset="0"/>
                                <a:cs typeface="Times New Roman" panose="02020603050405020304" pitchFamily="18" charset="0"/>
                              </a:rPr>
                              <m:t>𝑡</m:t>
                            </m:r>
                          </m:sub>
                        </m:sSub>
                      </m:e>
                    </m:d>
                  </m:oMath>
                </a14:m>
                <a:r>
                  <a:rPr lang="en-US" altLang="zh-TW" dirty="0">
                    <a:latin typeface="Times New Roman" panose="02020603050405020304" pitchFamily="18" charset="0"/>
                    <a:cs typeface="Times New Roman" panose="02020603050405020304" pitchFamily="18" charset="0"/>
                  </a:rPr>
                  <a:t> : mean of return</a:t>
                </a:r>
              </a:p>
              <a:p>
                <a14:m>
                  <m:oMath xmlns:m="http://schemas.openxmlformats.org/officeDocument/2006/math">
                    <m:f>
                      <m:fPr>
                        <m:ctrlPr>
                          <a:rPr lang="en-US" altLang="zh-TW" i="1">
                            <a:latin typeface="Cambria Math" panose="02040503050406030204" pitchFamily="18" charset="0"/>
                            <a:cs typeface="Times New Roman" panose="02020603050405020304" pitchFamily="18" charset="0"/>
                          </a:rPr>
                        </m:ctrlPr>
                      </m:fPr>
                      <m:num>
                        <m:r>
                          <a:rPr lang="en-US" altLang="zh-TW" i="1">
                            <a:latin typeface="Cambria Math" panose="02040503050406030204" pitchFamily="18" charset="0"/>
                            <a:cs typeface="Times New Roman" panose="02020603050405020304" pitchFamily="18" charset="0"/>
                          </a:rPr>
                          <m:t>𝑑</m:t>
                        </m:r>
                        <m:sSub>
                          <m:sSubPr>
                            <m:ctrlPr>
                              <a:rPr lang="en-US" altLang="zh-TW" i="1">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𝑆</m:t>
                            </m:r>
                          </m:e>
                          <m:sub>
                            <m:r>
                              <a:rPr lang="en-US" altLang="zh-TW" i="1">
                                <a:latin typeface="Cambria Math" panose="02040503050406030204" pitchFamily="18" charset="0"/>
                                <a:cs typeface="Times New Roman" panose="02020603050405020304" pitchFamily="18" charset="0"/>
                              </a:rPr>
                              <m:t>𝑡</m:t>
                            </m:r>
                          </m:sub>
                        </m:sSub>
                      </m:num>
                      <m:den>
                        <m:r>
                          <a:rPr lang="en-US" altLang="zh-TW" i="1">
                            <a:latin typeface="Cambria Math" panose="02040503050406030204" pitchFamily="18" charset="0"/>
                            <a:cs typeface="Times New Roman" panose="02020603050405020304" pitchFamily="18" charset="0"/>
                          </a:rPr>
                          <m:t>𝑑</m:t>
                        </m:r>
                        <m:r>
                          <a:rPr lang="zh-TW" altLang="en-US" i="1">
                            <a:latin typeface="Cambria Math" panose="02040503050406030204" pitchFamily="18" charset="0"/>
                            <a:cs typeface="Times New Roman" panose="02020603050405020304" pitchFamily="18" charset="0"/>
                          </a:rPr>
                          <m:t>𝜃</m:t>
                        </m:r>
                      </m:den>
                    </m:f>
                    <m:r>
                      <a:rPr lang="en-US" altLang="zh-TW" b="0" i="1" smtClean="0">
                        <a:latin typeface="Cambria Math" panose="02040503050406030204" pitchFamily="18" charset="0"/>
                        <a:cs typeface="Times New Roman" panose="02020603050405020304" pitchFamily="18" charset="0"/>
                      </a:rPr>
                      <m:t>=</m:t>
                    </m:r>
                    <m:nary>
                      <m:naryPr>
                        <m:chr m:val="∑"/>
                        <m:ctrlPr>
                          <a:rPr lang="en-US" altLang="zh-TW" b="0" i="1" smtClean="0">
                            <a:latin typeface="Cambria Math" panose="02040503050406030204" pitchFamily="18" charset="0"/>
                            <a:cs typeface="Times New Roman" panose="02020603050405020304" pitchFamily="18" charset="0"/>
                          </a:rPr>
                        </m:ctrlPr>
                      </m:naryPr>
                      <m:sub>
                        <m:r>
                          <m:rPr>
                            <m:brk m:alnAt="23"/>
                          </m:rPr>
                          <a:rPr lang="en-US" altLang="zh-TW" b="0" i="1" smtClean="0">
                            <a:latin typeface="Cambria Math" panose="02040503050406030204" pitchFamily="18" charset="0"/>
                            <a:cs typeface="Times New Roman" panose="02020603050405020304" pitchFamily="18" charset="0"/>
                          </a:rPr>
                          <m:t>𝑡</m:t>
                        </m:r>
                        <m:r>
                          <a:rPr lang="en-US" altLang="zh-TW" b="0" i="1" smtClean="0">
                            <a:latin typeface="Cambria Math" panose="02040503050406030204" pitchFamily="18" charset="0"/>
                            <a:cs typeface="Times New Roman" panose="02020603050405020304" pitchFamily="18" charset="0"/>
                          </a:rPr>
                          <m:t>=1</m:t>
                        </m:r>
                      </m:sub>
                      <m:sup>
                        <m:r>
                          <a:rPr lang="en-US" altLang="zh-TW" b="0" i="1" smtClean="0">
                            <a:latin typeface="Cambria Math" panose="02040503050406030204" pitchFamily="18" charset="0"/>
                            <a:cs typeface="Times New Roman" panose="02020603050405020304" pitchFamily="18" charset="0"/>
                          </a:rPr>
                          <m:t>𝑇</m:t>
                        </m:r>
                      </m:sup>
                      <m:e>
                        <m:r>
                          <a:rPr lang="en-US" altLang="zh-TW" b="0" i="1" smtClean="0">
                            <a:latin typeface="Cambria Math" panose="02040503050406030204" pitchFamily="18" charset="0"/>
                            <a:cs typeface="Times New Roman" panose="02020603050405020304" pitchFamily="18" charset="0"/>
                          </a:rPr>
                          <m:t>{</m:t>
                        </m:r>
                        <m:f>
                          <m:fPr>
                            <m:ctrlPr>
                              <a:rPr lang="en-US" altLang="zh-TW" i="1">
                                <a:latin typeface="Cambria Math" panose="02040503050406030204" pitchFamily="18" charset="0"/>
                                <a:cs typeface="Times New Roman" panose="02020603050405020304" pitchFamily="18" charset="0"/>
                              </a:rPr>
                            </m:ctrlPr>
                          </m:fPr>
                          <m:num>
                            <m:r>
                              <a:rPr lang="en-US" altLang="zh-TW" i="1">
                                <a:latin typeface="Cambria Math" panose="02040503050406030204" pitchFamily="18" charset="0"/>
                                <a:cs typeface="Times New Roman" panose="02020603050405020304" pitchFamily="18" charset="0"/>
                              </a:rPr>
                              <m:t>𝑑</m:t>
                            </m:r>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𝑆</m:t>
                                </m:r>
                              </m:e>
                              <m:sub>
                                <m:r>
                                  <a:rPr lang="en-US" altLang="zh-TW" i="1">
                                    <a:latin typeface="Cambria Math" panose="02040503050406030204" pitchFamily="18" charset="0"/>
                                    <a:cs typeface="Times New Roman" panose="02020603050405020304" pitchFamily="18" charset="0"/>
                                  </a:rPr>
                                  <m:t>𝑡</m:t>
                                </m:r>
                              </m:sub>
                            </m:sSub>
                          </m:num>
                          <m:den>
                            <m:r>
                              <a:rPr lang="en-US" altLang="zh-TW" i="1">
                                <a:latin typeface="Cambria Math" panose="02040503050406030204" pitchFamily="18" charset="0"/>
                                <a:cs typeface="Times New Roman" panose="02020603050405020304" pitchFamily="18" charset="0"/>
                              </a:rPr>
                              <m:t>𝑑</m:t>
                            </m:r>
                            <m:r>
                              <a:rPr lang="en-US" altLang="zh-TW" b="0" i="1" smtClean="0">
                                <a:latin typeface="Cambria Math" panose="02040503050406030204" pitchFamily="18" charset="0"/>
                                <a:cs typeface="Times New Roman" panose="02020603050405020304" pitchFamily="18" charset="0"/>
                              </a:rPr>
                              <m:t>𝐴</m:t>
                            </m:r>
                          </m:den>
                        </m:f>
                        <m:f>
                          <m:fPr>
                            <m:ctrlPr>
                              <a:rPr lang="en-US" altLang="zh-TW" i="1">
                                <a:latin typeface="Cambria Math" panose="02040503050406030204" pitchFamily="18" charset="0"/>
                                <a:cs typeface="Times New Roman" panose="02020603050405020304" pitchFamily="18" charset="0"/>
                              </a:rPr>
                            </m:ctrlPr>
                          </m:fPr>
                          <m:num>
                            <m:r>
                              <a:rPr lang="en-US" altLang="zh-TW" i="1">
                                <a:latin typeface="Cambria Math" panose="02040503050406030204" pitchFamily="18" charset="0"/>
                                <a:cs typeface="Times New Roman" panose="02020603050405020304" pitchFamily="18" charset="0"/>
                              </a:rPr>
                              <m:t>𝑑</m:t>
                            </m:r>
                            <m:r>
                              <a:rPr lang="en-US" altLang="zh-TW" b="0" i="1" smtClean="0">
                                <a:latin typeface="Cambria Math" panose="02040503050406030204" pitchFamily="18" charset="0"/>
                                <a:cs typeface="Times New Roman" panose="02020603050405020304" pitchFamily="18" charset="0"/>
                              </a:rPr>
                              <m:t>𝐴</m:t>
                            </m:r>
                          </m:num>
                          <m:den>
                            <m:r>
                              <a:rPr lang="en-US" altLang="zh-TW" i="1">
                                <a:latin typeface="Cambria Math" panose="02040503050406030204" pitchFamily="18" charset="0"/>
                                <a:cs typeface="Times New Roman" panose="02020603050405020304" pitchFamily="18" charset="0"/>
                              </a:rPr>
                              <m:t>𝑑</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𝑅</m:t>
                                </m:r>
                              </m:e>
                              <m:sub>
                                <m:r>
                                  <a:rPr lang="en-US" altLang="zh-TW" b="0" i="1" smtClean="0">
                                    <a:latin typeface="Cambria Math" panose="02040503050406030204" pitchFamily="18" charset="0"/>
                                    <a:cs typeface="Times New Roman" panose="02020603050405020304" pitchFamily="18" charset="0"/>
                                  </a:rPr>
                                  <m:t>𝑡</m:t>
                                </m:r>
                              </m:sub>
                            </m:sSub>
                          </m:den>
                        </m:f>
                        <m:r>
                          <a:rPr lang="en-US" altLang="zh-TW" b="0" i="1" smtClean="0">
                            <a:latin typeface="Cambria Math" panose="02040503050406030204" pitchFamily="18" charset="0"/>
                            <a:cs typeface="Times New Roman" panose="02020603050405020304" pitchFamily="18" charset="0"/>
                          </a:rPr>
                          <m:t>+</m:t>
                        </m:r>
                        <m:f>
                          <m:fPr>
                            <m:ctrlPr>
                              <a:rPr lang="en-US" altLang="zh-TW" i="1">
                                <a:latin typeface="Cambria Math" panose="02040503050406030204" pitchFamily="18" charset="0"/>
                                <a:cs typeface="Times New Roman" panose="02020603050405020304" pitchFamily="18" charset="0"/>
                              </a:rPr>
                            </m:ctrlPr>
                          </m:fPr>
                          <m:num>
                            <m:r>
                              <a:rPr lang="en-US" altLang="zh-TW" i="1">
                                <a:latin typeface="Cambria Math" panose="02040503050406030204" pitchFamily="18" charset="0"/>
                                <a:cs typeface="Times New Roman" panose="02020603050405020304" pitchFamily="18" charset="0"/>
                              </a:rPr>
                              <m:t>𝑑</m:t>
                            </m:r>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𝑆</m:t>
                                </m:r>
                              </m:e>
                              <m:sub>
                                <m:r>
                                  <a:rPr lang="en-US" altLang="zh-TW" i="1">
                                    <a:latin typeface="Cambria Math" panose="02040503050406030204" pitchFamily="18" charset="0"/>
                                    <a:cs typeface="Times New Roman" panose="02020603050405020304" pitchFamily="18" charset="0"/>
                                  </a:rPr>
                                  <m:t>𝑡</m:t>
                                </m:r>
                              </m:sub>
                            </m:sSub>
                          </m:num>
                          <m:den>
                            <m:r>
                              <a:rPr lang="en-US" altLang="zh-TW" i="1">
                                <a:latin typeface="Cambria Math" panose="02040503050406030204" pitchFamily="18" charset="0"/>
                                <a:cs typeface="Times New Roman" panose="02020603050405020304" pitchFamily="18" charset="0"/>
                              </a:rPr>
                              <m:t>𝑑</m:t>
                            </m:r>
                            <m:r>
                              <a:rPr lang="en-US" altLang="zh-TW" b="0" i="1" smtClean="0">
                                <a:latin typeface="Cambria Math" panose="02040503050406030204" pitchFamily="18" charset="0"/>
                                <a:cs typeface="Times New Roman" panose="02020603050405020304" pitchFamily="18" charset="0"/>
                              </a:rPr>
                              <m:t>𝐵</m:t>
                            </m:r>
                          </m:den>
                        </m:f>
                        <m:f>
                          <m:fPr>
                            <m:ctrlPr>
                              <a:rPr lang="en-US" altLang="zh-TW" i="1">
                                <a:latin typeface="Cambria Math" panose="02040503050406030204" pitchFamily="18" charset="0"/>
                                <a:cs typeface="Times New Roman" panose="02020603050405020304" pitchFamily="18" charset="0"/>
                              </a:rPr>
                            </m:ctrlPr>
                          </m:fPr>
                          <m:num>
                            <m:r>
                              <a:rPr lang="en-US" altLang="zh-TW" i="1">
                                <a:latin typeface="Cambria Math" panose="02040503050406030204" pitchFamily="18" charset="0"/>
                                <a:cs typeface="Times New Roman" panose="02020603050405020304" pitchFamily="18" charset="0"/>
                              </a:rPr>
                              <m:t>𝑑</m:t>
                            </m:r>
                            <m:r>
                              <a:rPr lang="en-US" altLang="zh-TW" b="0" i="1" smtClean="0">
                                <a:latin typeface="Cambria Math" panose="02040503050406030204" pitchFamily="18" charset="0"/>
                                <a:cs typeface="Times New Roman" panose="02020603050405020304" pitchFamily="18" charset="0"/>
                              </a:rPr>
                              <m:t>𝐵</m:t>
                            </m:r>
                          </m:num>
                          <m:den>
                            <m:r>
                              <a:rPr lang="en-US" altLang="zh-TW" i="1">
                                <a:latin typeface="Cambria Math" panose="02040503050406030204" pitchFamily="18" charset="0"/>
                                <a:cs typeface="Times New Roman" panose="02020603050405020304" pitchFamily="18" charset="0"/>
                              </a:rPr>
                              <m:t>𝑑</m:t>
                            </m:r>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𝑅</m:t>
                                </m:r>
                              </m:e>
                              <m:sub>
                                <m:r>
                                  <a:rPr lang="en-US" altLang="zh-TW" i="1">
                                    <a:latin typeface="Cambria Math" panose="02040503050406030204" pitchFamily="18" charset="0"/>
                                    <a:cs typeface="Times New Roman" panose="02020603050405020304" pitchFamily="18" charset="0"/>
                                  </a:rPr>
                                  <m:t>𝑡</m:t>
                                </m:r>
                              </m:sub>
                            </m:sSub>
                          </m:den>
                        </m:f>
                        <m:r>
                          <a:rPr lang="en-US" altLang="zh-TW" b="0" i="1" smtClean="0">
                            <a:latin typeface="Cambria Math" panose="02040503050406030204" pitchFamily="18" charset="0"/>
                            <a:cs typeface="Times New Roman" panose="02020603050405020304" pitchFamily="18" charset="0"/>
                          </a:rPr>
                          <m:t>}</m:t>
                        </m:r>
                      </m:e>
                    </m:nary>
                    <m:r>
                      <a:rPr lang="en-US" altLang="zh-TW" i="1">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altLang="zh-TW" i="1">
                            <a:latin typeface="Cambria Math" panose="02040503050406030204" pitchFamily="18" charset="0"/>
                            <a:cs typeface="Times New Roman" panose="02020603050405020304" pitchFamily="18" charset="0"/>
                          </a:rPr>
                        </m:ctrlPr>
                      </m:fPr>
                      <m:num>
                        <m:r>
                          <a:rPr lang="en-US" altLang="zh-TW" i="1">
                            <a:latin typeface="Cambria Math" panose="02040503050406030204" pitchFamily="18" charset="0"/>
                            <a:cs typeface="Times New Roman" panose="02020603050405020304" pitchFamily="18" charset="0"/>
                          </a:rPr>
                          <m:t>𝑑</m:t>
                        </m:r>
                        <m:sSub>
                          <m:sSubPr>
                            <m:ctrlPr>
                              <a:rPr lang="en-US" altLang="zh-TW" i="1">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𝑅</m:t>
                            </m:r>
                          </m:e>
                          <m:sub>
                            <m:r>
                              <a:rPr lang="en-US" altLang="zh-TW" i="1">
                                <a:latin typeface="Cambria Math" panose="02040503050406030204" pitchFamily="18" charset="0"/>
                                <a:cs typeface="Times New Roman" panose="02020603050405020304" pitchFamily="18" charset="0"/>
                              </a:rPr>
                              <m:t>𝑡</m:t>
                            </m:r>
                          </m:sub>
                        </m:sSub>
                      </m:num>
                      <m:den>
                        <m:r>
                          <a:rPr lang="en-US" altLang="zh-TW" i="1">
                            <a:latin typeface="Cambria Math" panose="02040503050406030204" pitchFamily="18" charset="0"/>
                            <a:cs typeface="Times New Roman" panose="02020603050405020304" pitchFamily="18" charset="0"/>
                          </a:rPr>
                          <m:t>𝑑</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𝐹</m:t>
                            </m:r>
                          </m:e>
                          <m:sub>
                            <m:r>
                              <a:rPr lang="en-US" altLang="zh-TW" b="0" i="1" smtClean="0">
                                <a:latin typeface="Cambria Math" panose="02040503050406030204" pitchFamily="18" charset="0"/>
                                <a:cs typeface="Times New Roman" panose="02020603050405020304" pitchFamily="18" charset="0"/>
                              </a:rPr>
                              <m:t>𝑡</m:t>
                            </m:r>
                          </m:sub>
                        </m:sSub>
                      </m:den>
                    </m:f>
                    <m:f>
                      <m:fPr>
                        <m:ctrlPr>
                          <a:rPr lang="en-US" altLang="zh-TW" i="1">
                            <a:latin typeface="Cambria Math" panose="02040503050406030204" pitchFamily="18" charset="0"/>
                            <a:cs typeface="Times New Roman" panose="02020603050405020304" pitchFamily="18" charset="0"/>
                          </a:rPr>
                        </m:ctrlPr>
                      </m:fPr>
                      <m:num>
                        <m:r>
                          <a:rPr lang="en-US" altLang="zh-TW" i="1">
                            <a:latin typeface="Cambria Math" panose="02040503050406030204" pitchFamily="18" charset="0"/>
                            <a:cs typeface="Times New Roman" panose="02020603050405020304" pitchFamily="18" charset="0"/>
                          </a:rPr>
                          <m:t>𝑑</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𝐹</m:t>
                            </m:r>
                          </m:e>
                          <m:sub>
                            <m:r>
                              <a:rPr lang="en-US" altLang="zh-TW" b="0" i="1" smtClean="0">
                                <a:latin typeface="Cambria Math" panose="02040503050406030204" pitchFamily="18" charset="0"/>
                                <a:cs typeface="Times New Roman" panose="02020603050405020304" pitchFamily="18" charset="0"/>
                              </a:rPr>
                              <m:t>𝑡</m:t>
                            </m:r>
                          </m:sub>
                        </m:sSub>
                      </m:num>
                      <m:den>
                        <m:r>
                          <a:rPr lang="en-US" altLang="zh-TW" i="1">
                            <a:latin typeface="Cambria Math" panose="02040503050406030204" pitchFamily="18" charset="0"/>
                            <a:cs typeface="Times New Roman" panose="02020603050405020304" pitchFamily="18" charset="0"/>
                          </a:rPr>
                          <m:t>𝑑</m:t>
                        </m:r>
                        <m:r>
                          <a:rPr lang="zh-TW" altLang="en-US" i="1" smtClean="0">
                            <a:latin typeface="Cambria Math" panose="02040503050406030204" pitchFamily="18" charset="0"/>
                            <a:cs typeface="Times New Roman" panose="02020603050405020304" pitchFamily="18" charset="0"/>
                          </a:rPr>
                          <m:t>𝜃</m:t>
                        </m:r>
                      </m:den>
                    </m:f>
                    <m:r>
                      <a:rPr lang="en-US" altLang="zh-TW" i="1">
                        <a:latin typeface="Cambria Math" panose="02040503050406030204" pitchFamily="18" charset="0"/>
                        <a:cs typeface="Times New Roman" panose="02020603050405020304" pitchFamily="18" charset="0"/>
                      </a:rPr>
                      <m:t>+</m:t>
                    </m:r>
                    <m:f>
                      <m:fPr>
                        <m:ctrlPr>
                          <a:rPr lang="en-US" altLang="zh-TW" i="1">
                            <a:latin typeface="Cambria Math" panose="02040503050406030204" pitchFamily="18" charset="0"/>
                            <a:cs typeface="Times New Roman" panose="02020603050405020304" pitchFamily="18" charset="0"/>
                          </a:rPr>
                        </m:ctrlPr>
                      </m:fPr>
                      <m:num>
                        <m:r>
                          <a:rPr lang="en-US" altLang="zh-TW" i="1">
                            <a:latin typeface="Cambria Math" panose="02040503050406030204" pitchFamily="18" charset="0"/>
                            <a:cs typeface="Times New Roman" panose="02020603050405020304" pitchFamily="18" charset="0"/>
                          </a:rPr>
                          <m:t>𝑑</m:t>
                        </m:r>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𝑅</m:t>
                            </m:r>
                          </m:e>
                          <m:sub>
                            <m:r>
                              <a:rPr lang="en-US" altLang="zh-TW" i="1">
                                <a:latin typeface="Cambria Math" panose="02040503050406030204" pitchFamily="18" charset="0"/>
                                <a:cs typeface="Times New Roman" panose="02020603050405020304" pitchFamily="18" charset="0"/>
                              </a:rPr>
                              <m:t>𝑡</m:t>
                            </m:r>
                          </m:sub>
                        </m:sSub>
                      </m:num>
                      <m:den>
                        <m:r>
                          <a:rPr lang="en-US" altLang="zh-TW" i="1">
                            <a:latin typeface="Cambria Math" panose="02040503050406030204" pitchFamily="18" charset="0"/>
                            <a:cs typeface="Times New Roman" panose="02020603050405020304" pitchFamily="18" charset="0"/>
                          </a:rPr>
                          <m:t>𝑑</m:t>
                        </m:r>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𝐹</m:t>
                            </m:r>
                          </m:e>
                          <m:sub>
                            <m:r>
                              <a:rPr lang="en-US" altLang="zh-TW" i="1">
                                <a:latin typeface="Cambria Math" panose="02040503050406030204" pitchFamily="18" charset="0"/>
                                <a:cs typeface="Times New Roman" panose="02020603050405020304" pitchFamily="18" charset="0"/>
                              </a:rPr>
                              <m:t>𝑡</m:t>
                            </m:r>
                            <m:r>
                              <a:rPr lang="en-US" altLang="zh-TW" b="0" i="1" smtClean="0">
                                <a:latin typeface="Cambria Math" panose="02040503050406030204" pitchFamily="18" charset="0"/>
                                <a:cs typeface="Times New Roman" panose="02020603050405020304" pitchFamily="18" charset="0"/>
                              </a:rPr>
                              <m:t>−1</m:t>
                            </m:r>
                          </m:sub>
                        </m:sSub>
                      </m:den>
                    </m:f>
                    <m:f>
                      <m:fPr>
                        <m:ctrlPr>
                          <a:rPr lang="en-US" altLang="zh-TW" i="1">
                            <a:latin typeface="Cambria Math" panose="02040503050406030204" pitchFamily="18" charset="0"/>
                            <a:cs typeface="Times New Roman" panose="02020603050405020304" pitchFamily="18" charset="0"/>
                          </a:rPr>
                        </m:ctrlPr>
                      </m:fPr>
                      <m:num>
                        <m:r>
                          <a:rPr lang="en-US" altLang="zh-TW" i="1">
                            <a:latin typeface="Cambria Math" panose="02040503050406030204" pitchFamily="18" charset="0"/>
                            <a:cs typeface="Times New Roman" panose="02020603050405020304" pitchFamily="18" charset="0"/>
                          </a:rPr>
                          <m:t>𝑑</m:t>
                        </m:r>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𝐹</m:t>
                            </m:r>
                          </m:e>
                          <m:sub>
                            <m:r>
                              <a:rPr lang="en-US" altLang="zh-TW" i="1">
                                <a:latin typeface="Cambria Math" panose="02040503050406030204" pitchFamily="18" charset="0"/>
                                <a:cs typeface="Times New Roman" panose="02020603050405020304" pitchFamily="18" charset="0"/>
                              </a:rPr>
                              <m:t>𝑡</m:t>
                            </m:r>
                            <m:r>
                              <a:rPr lang="en-US" altLang="zh-TW" b="0" i="1" smtClean="0">
                                <a:latin typeface="Cambria Math" panose="02040503050406030204" pitchFamily="18" charset="0"/>
                                <a:cs typeface="Times New Roman" panose="02020603050405020304" pitchFamily="18" charset="0"/>
                              </a:rPr>
                              <m:t>−1</m:t>
                            </m:r>
                          </m:sub>
                        </m:sSub>
                      </m:num>
                      <m:den>
                        <m:r>
                          <a:rPr lang="en-US" altLang="zh-TW" i="1">
                            <a:latin typeface="Cambria Math" panose="02040503050406030204" pitchFamily="18" charset="0"/>
                            <a:cs typeface="Times New Roman" panose="02020603050405020304" pitchFamily="18" charset="0"/>
                          </a:rPr>
                          <m:t>𝑑</m:t>
                        </m:r>
                        <m:r>
                          <a:rPr lang="zh-TW" altLang="en-US" i="1">
                            <a:latin typeface="Cambria Math" panose="02040503050406030204" pitchFamily="18" charset="0"/>
                            <a:cs typeface="Times New Roman" panose="02020603050405020304" pitchFamily="18" charset="0"/>
                          </a:rPr>
                          <m:t>𝜃</m:t>
                        </m:r>
                      </m:den>
                    </m:f>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oMath>
                </a14:m>
                <a:endParaRPr lang="en-US" altLang="zh-TW" dirty="0">
                  <a:latin typeface="Times New Roman" panose="02020603050405020304" pitchFamily="18" charset="0"/>
                  <a:cs typeface="Times New Roman" panose="02020603050405020304" pitchFamily="18" charset="0"/>
                </a:endParaRPr>
              </a:p>
              <a:p>
                <a:pPr lvl="1"/>
                <a14:m>
                  <m:oMath xmlns:m="http://schemas.openxmlformats.org/officeDocument/2006/math">
                    <m:r>
                      <a:rPr lang="en-US" altLang="zh-TW" i="1">
                        <a:latin typeface="Cambria Math" panose="02040503050406030204" pitchFamily="18" charset="0"/>
                        <a:cs typeface="Times New Roman" panose="02020603050405020304" pitchFamily="18" charset="0"/>
                      </a:rPr>
                      <m:t>𝐴</m:t>
                    </m:r>
                    <m:r>
                      <a:rPr lang="en-US" altLang="zh-TW" i="1">
                        <a:latin typeface="Cambria Math" panose="02040503050406030204" pitchFamily="18" charset="0"/>
                        <a:cs typeface="Times New Roman" panose="02020603050405020304" pitchFamily="18" charset="0"/>
                      </a:rPr>
                      <m:t>=</m:t>
                    </m:r>
                    <m:f>
                      <m:fPr>
                        <m:ctrlPr>
                          <a:rPr lang="en-US" altLang="zh-TW" i="1">
                            <a:latin typeface="Cambria Math" panose="02040503050406030204" pitchFamily="18" charset="0"/>
                            <a:cs typeface="Times New Roman" panose="02020603050405020304" pitchFamily="18" charset="0"/>
                          </a:rPr>
                        </m:ctrlPr>
                      </m:fPr>
                      <m:num>
                        <m:r>
                          <a:rPr lang="en-US" altLang="zh-TW" i="1">
                            <a:latin typeface="Cambria Math" panose="02040503050406030204" pitchFamily="18" charset="0"/>
                            <a:cs typeface="Times New Roman" panose="02020603050405020304" pitchFamily="18" charset="0"/>
                          </a:rPr>
                          <m:t>1</m:t>
                        </m:r>
                      </m:num>
                      <m:den>
                        <m:r>
                          <a:rPr lang="en-US" altLang="zh-TW" i="1">
                            <a:latin typeface="Cambria Math" panose="02040503050406030204" pitchFamily="18" charset="0"/>
                            <a:cs typeface="Times New Roman" panose="02020603050405020304" pitchFamily="18" charset="0"/>
                          </a:rPr>
                          <m:t>𝑇</m:t>
                        </m:r>
                      </m:den>
                    </m:f>
                    <m:nary>
                      <m:naryPr>
                        <m:chr m:val="∑"/>
                        <m:ctrlPr>
                          <a:rPr lang="en-US" altLang="zh-TW" i="1">
                            <a:latin typeface="Cambria Math" panose="02040503050406030204" pitchFamily="18" charset="0"/>
                            <a:cs typeface="Times New Roman" panose="02020603050405020304" pitchFamily="18" charset="0"/>
                          </a:rPr>
                        </m:ctrlPr>
                      </m:naryPr>
                      <m:sub>
                        <m:r>
                          <m:rPr>
                            <m:brk m:alnAt="23"/>
                          </m:rPr>
                          <a:rPr lang="en-US" altLang="zh-TW" i="1">
                            <a:latin typeface="Cambria Math" panose="02040503050406030204" pitchFamily="18" charset="0"/>
                            <a:cs typeface="Times New Roman" panose="02020603050405020304" pitchFamily="18" charset="0"/>
                          </a:rPr>
                          <m:t>𝑡</m:t>
                        </m:r>
                        <m:r>
                          <a:rPr lang="en-US" altLang="zh-TW" i="1">
                            <a:latin typeface="Cambria Math" panose="02040503050406030204" pitchFamily="18" charset="0"/>
                            <a:cs typeface="Times New Roman" panose="02020603050405020304" pitchFamily="18" charset="0"/>
                          </a:rPr>
                          <m:t>=1</m:t>
                        </m:r>
                      </m:sub>
                      <m:sup>
                        <m:r>
                          <a:rPr lang="en-US" altLang="zh-TW" i="1">
                            <a:latin typeface="Cambria Math" panose="02040503050406030204" pitchFamily="18" charset="0"/>
                            <a:cs typeface="Times New Roman" panose="02020603050405020304" pitchFamily="18" charset="0"/>
                          </a:rPr>
                          <m:t>𝑇</m:t>
                        </m:r>
                      </m:sup>
                      <m:e>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𝑅</m:t>
                            </m:r>
                          </m:e>
                          <m:sub>
                            <m:r>
                              <a:rPr lang="en-US" altLang="zh-TW" i="1">
                                <a:latin typeface="Cambria Math" panose="02040503050406030204" pitchFamily="18" charset="0"/>
                                <a:cs typeface="Times New Roman" panose="02020603050405020304" pitchFamily="18" charset="0"/>
                              </a:rPr>
                              <m:t>𝑡</m:t>
                            </m:r>
                          </m:sub>
                        </m:sSub>
                      </m:e>
                    </m:nary>
                  </m:oMath>
                </a14:m>
                <a:endParaRPr lang="en-US" altLang="zh-TW" i="1" dirty="0">
                  <a:latin typeface="Cambria Math" panose="02040503050406030204" pitchFamily="18" charset="0"/>
                  <a:cs typeface="Times New Roman" panose="02020603050405020304" pitchFamily="18" charset="0"/>
                </a:endParaRPr>
              </a:p>
              <a:p>
                <a:pPr lvl="1"/>
                <a14:m>
                  <m:oMath xmlns:m="http://schemas.openxmlformats.org/officeDocument/2006/math">
                    <m:r>
                      <m:rPr>
                        <m:sty m:val="p"/>
                      </m:rPr>
                      <a:rPr lang="en-US" altLang="zh-TW">
                        <a:latin typeface="Cambria Math" panose="02040503050406030204" pitchFamily="18" charset="0"/>
                        <a:cs typeface="Times New Roman" panose="02020603050405020304" pitchFamily="18" charset="0"/>
                      </a:rPr>
                      <m:t>B</m:t>
                    </m:r>
                    <m:r>
                      <a:rPr lang="en-US" altLang="zh-TW" i="1">
                        <a:latin typeface="Cambria Math" panose="02040503050406030204" pitchFamily="18" charset="0"/>
                        <a:cs typeface="Times New Roman" panose="02020603050405020304" pitchFamily="18" charset="0"/>
                      </a:rPr>
                      <m:t>=</m:t>
                    </m:r>
                    <m:f>
                      <m:fPr>
                        <m:ctrlPr>
                          <a:rPr lang="en-US" altLang="zh-TW" i="1">
                            <a:latin typeface="Cambria Math" panose="02040503050406030204" pitchFamily="18" charset="0"/>
                            <a:cs typeface="Times New Roman" panose="02020603050405020304" pitchFamily="18" charset="0"/>
                          </a:rPr>
                        </m:ctrlPr>
                      </m:fPr>
                      <m:num>
                        <m:r>
                          <a:rPr lang="en-US" altLang="zh-TW" i="1">
                            <a:latin typeface="Cambria Math" panose="02040503050406030204" pitchFamily="18" charset="0"/>
                            <a:cs typeface="Times New Roman" panose="02020603050405020304" pitchFamily="18" charset="0"/>
                          </a:rPr>
                          <m:t>1</m:t>
                        </m:r>
                      </m:num>
                      <m:den>
                        <m:r>
                          <a:rPr lang="en-US" altLang="zh-TW" i="1">
                            <a:latin typeface="Cambria Math" panose="02040503050406030204" pitchFamily="18" charset="0"/>
                            <a:cs typeface="Times New Roman" panose="02020603050405020304" pitchFamily="18" charset="0"/>
                          </a:rPr>
                          <m:t>𝑇</m:t>
                        </m:r>
                      </m:den>
                    </m:f>
                    <m:nary>
                      <m:naryPr>
                        <m:chr m:val="∑"/>
                        <m:ctrlPr>
                          <a:rPr lang="en-US" altLang="zh-TW" i="1">
                            <a:latin typeface="Cambria Math" panose="02040503050406030204" pitchFamily="18" charset="0"/>
                            <a:cs typeface="Times New Roman" panose="02020603050405020304" pitchFamily="18" charset="0"/>
                          </a:rPr>
                        </m:ctrlPr>
                      </m:naryPr>
                      <m:sub>
                        <m:r>
                          <m:rPr>
                            <m:brk m:alnAt="23"/>
                          </m:rPr>
                          <a:rPr lang="en-US" altLang="zh-TW" i="1">
                            <a:latin typeface="Cambria Math" panose="02040503050406030204" pitchFamily="18" charset="0"/>
                            <a:cs typeface="Times New Roman" panose="02020603050405020304" pitchFamily="18" charset="0"/>
                          </a:rPr>
                          <m:t>𝑡</m:t>
                        </m:r>
                        <m:r>
                          <a:rPr lang="en-US" altLang="zh-TW" i="1">
                            <a:latin typeface="Cambria Math" panose="02040503050406030204" pitchFamily="18" charset="0"/>
                            <a:cs typeface="Times New Roman" panose="02020603050405020304" pitchFamily="18" charset="0"/>
                          </a:rPr>
                          <m:t>=1</m:t>
                        </m:r>
                      </m:sub>
                      <m:sup>
                        <m:r>
                          <a:rPr lang="en-US" altLang="zh-TW" i="1">
                            <a:latin typeface="Cambria Math" panose="02040503050406030204" pitchFamily="18" charset="0"/>
                            <a:cs typeface="Times New Roman" panose="02020603050405020304" pitchFamily="18" charset="0"/>
                          </a:rPr>
                          <m:t>𝑇</m:t>
                        </m:r>
                      </m:sup>
                      <m:e>
                        <m:sSubSup>
                          <m:sSubSupPr>
                            <m:ctrlPr>
                              <a:rPr lang="en-US" altLang="zh-TW" i="1">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𝑅</m:t>
                            </m:r>
                          </m:e>
                          <m:sub>
                            <m:r>
                              <a:rPr lang="en-US" altLang="zh-TW" i="1">
                                <a:latin typeface="Cambria Math" panose="02040503050406030204" pitchFamily="18" charset="0"/>
                                <a:cs typeface="Times New Roman" panose="02020603050405020304" pitchFamily="18" charset="0"/>
                              </a:rPr>
                              <m:t>𝑡</m:t>
                            </m:r>
                          </m:sub>
                          <m:sup>
                            <m:r>
                              <a:rPr lang="en-US" altLang="zh-TW" i="1">
                                <a:latin typeface="Cambria Math" panose="02040503050406030204" pitchFamily="18" charset="0"/>
                                <a:cs typeface="Times New Roman" panose="02020603050405020304" pitchFamily="18" charset="0"/>
                              </a:rPr>
                              <m:t>2</m:t>
                            </m:r>
                          </m:sup>
                        </m:sSubSup>
                      </m:e>
                    </m:nary>
                  </m:oMath>
                </a14:m>
                <a:endParaRPr lang="en-US" altLang="zh-TW" dirty="0">
                  <a:latin typeface="Times New Roman" panose="02020603050405020304" pitchFamily="18" charset="0"/>
                  <a:cs typeface="Times New Roman" panose="02020603050405020304" pitchFamily="18" charset="0"/>
                </a:endParaRPr>
              </a:p>
              <a:p>
                <a:pPr lvl="1"/>
                <a14:m>
                  <m:oMath xmlns:m="http://schemas.openxmlformats.org/officeDocument/2006/math">
                    <m:f>
                      <m:fPr>
                        <m:ctrlPr>
                          <a:rPr lang="en-US" altLang="zh-TW" i="1">
                            <a:latin typeface="Cambria Math" panose="02040503050406030204" pitchFamily="18" charset="0"/>
                            <a:cs typeface="Times New Roman" panose="02020603050405020304" pitchFamily="18" charset="0"/>
                          </a:rPr>
                        </m:ctrlPr>
                      </m:fPr>
                      <m:num>
                        <m:r>
                          <a:rPr lang="en-US" altLang="zh-TW" i="1">
                            <a:latin typeface="Cambria Math" panose="02040503050406030204" pitchFamily="18" charset="0"/>
                            <a:cs typeface="Times New Roman" panose="02020603050405020304" pitchFamily="18" charset="0"/>
                          </a:rPr>
                          <m:t>𝑑</m:t>
                        </m:r>
                        <m:sSub>
                          <m:sSubPr>
                            <m:ctrlPr>
                              <a:rPr lang="en-US" altLang="zh-TW" i="1">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𝑅</m:t>
                            </m:r>
                          </m:e>
                          <m:sub>
                            <m:r>
                              <a:rPr lang="en-US" altLang="zh-TW" i="1">
                                <a:latin typeface="Cambria Math" panose="02040503050406030204" pitchFamily="18" charset="0"/>
                                <a:cs typeface="Times New Roman" panose="02020603050405020304" pitchFamily="18" charset="0"/>
                              </a:rPr>
                              <m:t>𝑡</m:t>
                            </m:r>
                          </m:sub>
                        </m:sSub>
                      </m:num>
                      <m:den>
                        <m:r>
                          <a:rPr lang="en-US" altLang="zh-TW" i="1">
                            <a:latin typeface="Cambria Math" panose="02040503050406030204" pitchFamily="18" charset="0"/>
                            <a:cs typeface="Times New Roman" panose="02020603050405020304" pitchFamily="18" charset="0"/>
                          </a:rPr>
                          <m:t>𝑑</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𝐹</m:t>
                            </m:r>
                          </m:e>
                          <m:sub>
                            <m:r>
                              <a:rPr lang="en-US" altLang="zh-TW" b="0" i="1" smtClean="0">
                                <a:latin typeface="Cambria Math" panose="02040503050406030204" pitchFamily="18" charset="0"/>
                                <a:cs typeface="Times New Roman" panose="02020603050405020304" pitchFamily="18" charset="0"/>
                              </a:rPr>
                              <m:t>𝑡</m:t>
                            </m:r>
                          </m:sub>
                        </m:sSub>
                      </m:den>
                    </m:f>
                    <m:r>
                      <a:rPr lang="en-US" altLang="zh-TW" b="0" i="1" smtClean="0">
                        <a:latin typeface="Cambria Math" panose="02040503050406030204" pitchFamily="18" charset="0"/>
                        <a:cs typeface="Times New Roman" panose="02020603050405020304" pitchFamily="18" charset="0"/>
                      </a:rPr>
                      <m:t>=−</m:t>
                    </m:r>
                    <m:r>
                      <a:rPr lang="zh-TW" altLang="en-US" i="1">
                        <a:latin typeface="Cambria Math" panose="02040503050406030204" pitchFamily="18" charset="0"/>
                        <a:cs typeface="Times New Roman" panose="02020603050405020304" pitchFamily="18" charset="0"/>
                      </a:rPr>
                      <m:t>𝜇</m:t>
                    </m:r>
                    <m:r>
                      <a:rPr lang="zh-TW" altLang="en-US" i="1" smtClean="0">
                        <a:latin typeface="Cambria Math" panose="02040503050406030204" pitchFamily="18" charset="0"/>
                        <a:cs typeface="Times New Roman" panose="02020603050405020304" pitchFamily="18" charset="0"/>
                      </a:rPr>
                      <m:t>𝛿</m:t>
                    </m:r>
                    <m:r>
                      <a:rPr lang="en-US" altLang="zh-TW" b="0" i="1" smtClean="0">
                        <a:latin typeface="Cambria Math" panose="02040503050406030204" pitchFamily="18" charset="0"/>
                        <a:cs typeface="Times New Roman" panose="02020603050405020304" pitchFamily="18" charset="0"/>
                      </a:rPr>
                      <m:t>.</m:t>
                    </m:r>
                    <m:func>
                      <m:funcPr>
                        <m:ctrlPr>
                          <a:rPr lang="en-US" altLang="zh-TW" b="0" i="1" smtClean="0">
                            <a:latin typeface="Cambria Math" panose="02040503050406030204" pitchFamily="18" charset="0"/>
                            <a:cs typeface="Times New Roman" panose="02020603050405020304" pitchFamily="18" charset="0"/>
                          </a:rPr>
                        </m:ctrlPr>
                      </m:funcPr>
                      <m:fName>
                        <m:r>
                          <m:rPr>
                            <m:sty m:val="p"/>
                          </m:rPr>
                          <a:rPr lang="en-US" altLang="zh-TW" b="0" i="0" smtClean="0">
                            <a:latin typeface="Cambria Math" panose="02040503050406030204" pitchFamily="18" charset="0"/>
                            <a:cs typeface="Times New Roman" panose="02020603050405020304" pitchFamily="18" charset="0"/>
                          </a:rPr>
                          <m:t>sgn</m:t>
                        </m:r>
                      </m:fName>
                      <m:e>
                        <m:d>
                          <m:dPr>
                            <m:ctrlPr>
                              <a:rPr lang="en-US" altLang="zh-TW" b="0" i="1" smtClean="0">
                                <a:latin typeface="Cambria Math" panose="02040503050406030204" pitchFamily="18" charset="0"/>
                                <a:cs typeface="Times New Roman" panose="02020603050405020304" pitchFamily="18" charset="0"/>
                              </a:rPr>
                            </m:ctrlPr>
                          </m:dPr>
                          <m:e>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𝐹</m:t>
                                </m:r>
                              </m:e>
                              <m:sub>
                                <m:r>
                                  <a:rPr lang="en-US" altLang="zh-TW" b="0" i="1" smtClean="0">
                                    <a:latin typeface="Cambria Math" panose="02040503050406030204" pitchFamily="18" charset="0"/>
                                    <a:cs typeface="Times New Roman" panose="02020603050405020304" pitchFamily="18" charset="0"/>
                                  </a:rPr>
                                  <m:t>𝑡</m:t>
                                </m:r>
                              </m:sub>
                            </m:sSub>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𝐹</m:t>
                                </m:r>
                              </m:e>
                              <m:sub>
                                <m:r>
                                  <a:rPr lang="en-US" altLang="zh-TW" b="0" i="1" smtClean="0">
                                    <a:latin typeface="Cambria Math" panose="02040503050406030204" pitchFamily="18" charset="0"/>
                                    <a:cs typeface="Times New Roman" panose="02020603050405020304" pitchFamily="18" charset="0"/>
                                  </a:rPr>
                                  <m:t>𝑡</m:t>
                                </m:r>
                                <m:r>
                                  <a:rPr lang="en-US" altLang="zh-TW" b="0" i="1" smtClean="0">
                                    <a:latin typeface="Cambria Math" panose="02040503050406030204" pitchFamily="18" charset="0"/>
                                    <a:cs typeface="Times New Roman" panose="02020603050405020304" pitchFamily="18" charset="0"/>
                                  </a:rPr>
                                  <m:t>−1</m:t>
                                </m:r>
                              </m:sub>
                            </m:sSub>
                          </m:e>
                        </m:d>
                      </m:e>
                    </m:func>
                  </m:oMath>
                </a14:m>
                <a:endParaRPr lang="en-US" altLang="zh-TW" b="0" dirty="0">
                  <a:latin typeface="Times New Roman" panose="02020603050405020304" pitchFamily="18" charset="0"/>
                  <a:cs typeface="Times New Roman" panose="02020603050405020304" pitchFamily="18" charset="0"/>
                </a:endParaRPr>
              </a:p>
              <a:p>
                <a:pPr lvl="1"/>
                <a14:m>
                  <m:oMath xmlns:m="http://schemas.openxmlformats.org/officeDocument/2006/math">
                    <m:f>
                      <m:fPr>
                        <m:ctrlPr>
                          <a:rPr lang="en-US" altLang="zh-TW" i="1">
                            <a:latin typeface="Cambria Math" panose="02040503050406030204" pitchFamily="18" charset="0"/>
                            <a:cs typeface="Times New Roman" panose="02020603050405020304" pitchFamily="18" charset="0"/>
                          </a:rPr>
                        </m:ctrlPr>
                      </m:fPr>
                      <m:num>
                        <m:r>
                          <a:rPr lang="en-US" altLang="zh-TW" i="1">
                            <a:latin typeface="Cambria Math" panose="02040503050406030204" pitchFamily="18" charset="0"/>
                            <a:cs typeface="Times New Roman" panose="02020603050405020304" pitchFamily="18" charset="0"/>
                          </a:rPr>
                          <m:t>𝑑</m:t>
                        </m:r>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𝑅</m:t>
                            </m:r>
                          </m:e>
                          <m:sub>
                            <m:r>
                              <a:rPr lang="en-US" altLang="zh-TW" i="1">
                                <a:latin typeface="Cambria Math" panose="02040503050406030204" pitchFamily="18" charset="0"/>
                                <a:cs typeface="Times New Roman" panose="02020603050405020304" pitchFamily="18" charset="0"/>
                              </a:rPr>
                              <m:t>𝑡</m:t>
                            </m:r>
                          </m:sub>
                        </m:sSub>
                      </m:num>
                      <m:den>
                        <m:r>
                          <a:rPr lang="en-US" altLang="zh-TW" i="1">
                            <a:latin typeface="Cambria Math" panose="02040503050406030204" pitchFamily="18" charset="0"/>
                            <a:cs typeface="Times New Roman" panose="02020603050405020304" pitchFamily="18" charset="0"/>
                          </a:rPr>
                          <m:t>𝑑</m:t>
                        </m:r>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𝐹</m:t>
                            </m:r>
                          </m:e>
                          <m:sub>
                            <m:r>
                              <a:rPr lang="en-US" altLang="zh-TW" i="1">
                                <a:latin typeface="Cambria Math" panose="02040503050406030204" pitchFamily="18" charset="0"/>
                                <a:cs typeface="Times New Roman" panose="02020603050405020304" pitchFamily="18" charset="0"/>
                              </a:rPr>
                              <m:t>𝑡</m:t>
                            </m:r>
                            <m:r>
                              <a:rPr lang="en-US" altLang="zh-TW" b="0" i="1" smtClean="0">
                                <a:latin typeface="Cambria Math" panose="02040503050406030204" pitchFamily="18" charset="0"/>
                                <a:cs typeface="Times New Roman" panose="02020603050405020304" pitchFamily="18" charset="0"/>
                              </a:rPr>
                              <m:t>−1</m:t>
                            </m:r>
                          </m:sub>
                        </m:sSub>
                      </m:den>
                    </m:f>
                    <m:r>
                      <a:rPr lang="en-US" altLang="zh-TW" i="1">
                        <a:latin typeface="Cambria Math" panose="02040503050406030204" pitchFamily="18" charset="0"/>
                        <a:cs typeface="Times New Roman" panose="02020603050405020304" pitchFamily="18" charset="0"/>
                      </a:rPr>
                      <m:t>=−</m:t>
                    </m:r>
                    <m:r>
                      <a:rPr lang="zh-TW" altLang="en-US" i="1">
                        <a:latin typeface="Cambria Math" panose="02040503050406030204" pitchFamily="18" charset="0"/>
                        <a:cs typeface="Times New Roman" panose="02020603050405020304" pitchFamily="18" charset="0"/>
                      </a:rPr>
                      <m:t>𝜇</m:t>
                    </m:r>
                    <m:r>
                      <a:rPr lang="en-US" altLang="zh-TW"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ea typeface="Cambria Math" panose="02040503050406030204" pitchFamily="18" charset="0"/>
                            <a:cs typeface="Times New Roman" panose="02020603050405020304" pitchFamily="18" charset="0"/>
                          </a:rPr>
                          <m:t>𝑟</m:t>
                        </m:r>
                      </m:e>
                      <m:sub>
                        <m:r>
                          <a:rPr lang="en-US" altLang="zh-TW" i="1">
                            <a:latin typeface="Cambria Math" panose="02040503050406030204" pitchFamily="18" charset="0"/>
                            <a:ea typeface="Cambria Math" panose="02040503050406030204" pitchFamily="18" charset="0"/>
                            <a:cs typeface="Times New Roman" panose="02020603050405020304" pitchFamily="18" charset="0"/>
                          </a:rPr>
                          <m:t>𝑡</m:t>
                        </m:r>
                      </m:sub>
                    </m:sSub>
                    <m:r>
                      <a:rPr lang="en-US" altLang="zh-TW" i="1">
                        <a:latin typeface="Cambria Math" panose="02040503050406030204" pitchFamily="18" charset="0"/>
                        <a:ea typeface="Cambria Math" panose="02040503050406030204" pitchFamily="18" charset="0"/>
                        <a:cs typeface="Times New Roman" panose="02020603050405020304" pitchFamily="18" charset="0"/>
                      </a:rPr>
                      <m:t>+</m:t>
                    </m:r>
                    <m:r>
                      <a:rPr lang="zh-TW" altLang="en-US" i="1">
                        <a:latin typeface="Cambria Math" panose="02040503050406030204" pitchFamily="18" charset="0"/>
                        <a:cs typeface="Times New Roman" panose="02020603050405020304" pitchFamily="18" charset="0"/>
                      </a:rPr>
                      <m:t>𝜇𝛿</m:t>
                    </m:r>
                    <m:r>
                      <a:rPr lang="en-US" altLang="zh-TW" i="1">
                        <a:latin typeface="Cambria Math" panose="02040503050406030204" pitchFamily="18" charset="0"/>
                        <a:cs typeface="Times New Roman" panose="02020603050405020304" pitchFamily="18" charset="0"/>
                      </a:rPr>
                      <m:t>.</m:t>
                    </m:r>
                    <m:func>
                      <m:funcPr>
                        <m:ctrlPr>
                          <a:rPr lang="en-US" altLang="zh-TW" i="1">
                            <a:latin typeface="Cambria Math" panose="02040503050406030204" pitchFamily="18" charset="0"/>
                            <a:cs typeface="Times New Roman" panose="02020603050405020304" pitchFamily="18" charset="0"/>
                          </a:rPr>
                        </m:ctrlPr>
                      </m:funcPr>
                      <m:fName>
                        <m:r>
                          <m:rPr>
                            <m:sty m:val="p"/>
                          </m:rPr>
                          <a:rPr lang="en-US" altLang="zh-TW">
                            <a:latin typeface="Cambria Math" panose="02040503050406030204" pitchFamily="18" charset="0"/>
                            <a:cs typeface="Times New Roman" panose="02020603050405020304" pitchFamily="18" charset="0"/>
                          </a:rPr>
                          <m:t>sgn</m:t>
                        </m:r>
                      </m:fName>
                      <m:e>
                        <m:d>
                          <m:dPr>
                            <m:ctrlPr>
                              <a:rPr lang="en-US" altLang="zh-TW" i="1">
                                <a:latin typeface="Cambria Math" panose="02040503050406030204" pitchFamily="18" charset="0"/>
                                <a:cs typeface="Times New Roman" panose="02020603050405020304" pitchFamily="18" charset="0"/>
                              </a:rPr>
                            </m:ctrlPr>
                          </m:dPr>
                          <m:e>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𝐹</m:t>
                                </m:r>
                              </m:e>
                              <m:sub>
                                <m:r>
                                  <a:rPr lang="en-US" altLang="zh-TW" i="1">
                                    <a:latin typeface="Cambria Math" panose="02040503050406030204" pitchFamily="18" charset="0"/>
                                    <a:cs typeface="Times New Roman" panose="02020603050405020304" pitchFamily="18" charset="0"/>
                                  </a:rPr>
                                  <m:t>𝑡</m:t>
                                </m:r>
                              </m:sub>
                            </m:sSub>
                            <m:r>
                              <a:rPr lang="en-US" altLang="zh-TW" i="1">
                                <a:latin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𝐹</m:t>
                                </m:r>
                              </m:e>
                              <m:sub>
                                <m:r>
                                  <a:rPr lang="en-US" altLang="zh-TW" i="1">
                                    <a:latin typeface="Cambria Math" panose="02040503050406030204" pitchFamily="18" charset="0"/>
                                    <a:cs typeface="Times New Roman" panose="02020603050405020304" pitchFamily="18" charset="0"/>
                                  </a:rPr>
                                  <m:t>𝑡</m:t>
                                </m:r>
                                <m:r>
                                  <a:rPr lang="en-US" altLang="zh-TW" i="1">
                                    <a:latin typeface="Cambria Math" panose="02040503050406030204" pitchFamily="18" charset="0"/>
                                    <a:cs typeface="Times New Roman" panose="02020603050405020304" pitchFamily="18" charset="0"/>
                                  </a:rPr>
                                  <m:t>−1</m:t>
                                </m:r>
                              </m:sub>
                            </m:sSub>
                          </m:e>
                        </m:d>
                      </m:e>
                    </m:func>
                  </m:oMath>
                </a14:m>
                <a:endParaRPr lang="en-US" altLang="zh-TW" dirty="0">
                  <a:latin typeface="Times New Roman" panose="02020603050405020304" pitchFamily="18" charset="0"/>
                  <a:cs typeface="Times New Roman" panose="02020603050405020304" pitchFamily="18" charset="0"/>
                </a:endParaRPr>
              </a:p>
              <a:p>
                <a:pPr lvl="1"/>
                <a14:m>
                  <m:oMath xmlns:m="http://schemas.openxmlformats.org/officeDocument/2006/math">
                    <m:f>
                      <m:fPr>
                        <m:ctrlPr>
                          <a:rPr lang="en-US" altLang="zh-TW" i="1">
                            <a:latin typeface="Cambria Math" panose="02040503050406030204" pitchFamily="18" charset="0"/>
                            <a:cs typeface="Times New Roman" panose="02020603050405020304" pitchFamily="18" charset="0"/>
                          </a:rPr>
                        </m:ctrlPr>
                      </m:fPr>
                      <m:num>
                        <m:r>
                          <a:rPr lang="en-US" altLang="zh-TW" i="1">
                            <a:latin typeface="Cambria Math" panose="02040503050406030204" pitchFamily="18" charset="0"/>
                            <a:cs typeface="Times New Roman" panose="02020603050405020304" pitchFamily="18" charset="0"/>
                          </a:rPr>
                          <m:t>𝑑</m:t>
                        </m:r>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𝐹</m:t>
                            </m:r>
                          </m:e>
                          <m:sub>
                            <m:r>
                              <a:rPr lang="en-US" altLang="zh-TW" i="1">
                                <a:latin typeface="Cambria Math" panose="02040503050406030204" pitchFamily="18" charset="0"/>
                                <a:cs typeface="Times New Roman" panose="02020603050405020304" pitchFamily="18" charset="0"/>
                              </a:rPr>
                              <m:t>𝑡</m:t>
                            </m:r>
                          </m:sub>
                        </m:sSub>
                      </m:num>
                      <m:den>
                        <m:r>
                          <a:rPr lang="en-US" altLang="zh-TW" i="1">
                            <a:latin typeface="Cambria Math" panose="02040503050406030204" pitchFamily="18" charset="0"/>
                            <a:cs typeface="Times New Roman" panose="02020603050405020304" pitchFamily="18" charset="0"/>
                          </a:rPr>
                          <m:t>𝑑</m:t>
                        </m:r>
                        <m:r>
                          <a:rPr lang="zh-TW" altLang="en-US" i="1">
                            <a:latin typeface="Cambria Math" panose="02040503050406030204" pitchFamily="18" charset="0"/>
                            <a:cs typeface="Times New Roman" panose="02020603050405020304" pitchFamily="18" charset="0"/>
                          </a:rPr>
                          <m:t>𝜃</m:t>
                        </m:r>
                      </m:den>
                    </m:f>
                    <m:r>
                      <a:rPr lang="en-US" altLang="zh-TW" i="1">
                        <a:latin typeface="Cambria Math" panose="02040503050406030204" pitchFamily="18" charset="0"/>
                        <a:cs typeface="Times New Roman" panose="02020603050405020304" pitchFamily="18" charset="0"/>
                      </a:rPr>
                      <m:t>=</m:t>
                    </m:r>
                    <m:sSup>
                      <m:sSupPr>
                        <m:ctrlPr>
                          <a:rPr lang="en-US" altLang="zh-TW" i="1">
                            <a:latin typeface="Cambria Math" panose="02040503050406030204" pitchFamily="18" charset="0"/>
                            <a:cs typeface="Times New Roman" panose="02020603050405020304" pitchFamily="18" charset="0"/>
                          </a:rPr>
                        </m:ctrlPr>
                      </m:sSupPr>
                      <m:e>
                        <m:d>
                          <m:dPr>
                            <m:ctrlPr>
                              <a:rPr lang="en-US" altLang="zh-TW" i="1">
                                <a:latin typeface="Cambria Math" panose="02040503050406030204" pitchFamily="18" charset="0"/>
                                <a:cs typeface="Times New Roman" panose="02020603050405020304" pitchFamily="18" charset="0"/>
                              </a:rPr>
                            </m:ctrlPr>
                          </m:dPr>
                          <m:e>
                            <m:r>
                              <a:rPr lang="en-US" altLang="zh-TW">
                                <a:latin typeface="Cambria Math" panose="02040503050406030204" pitchFamily="18" charset="0"/>
                                <a:cs typeface="Times New Roman" panose="02020603050405020304" pitchFamily="18" charset="0"/>
                              </a:rPr>
                              <m:t>1−</m:t>
                            </m:r>
                            <m:func>
                              <m:funcPr>
                                <m:ctrlPr>
                                  <a:rPr lang="en-US" altLang="zh-TW" i="1">
                                    <a:latin typeface="Cambria Math" panose="02040503050406030204" pitchFamily="18" charset="0"/>
                                    <a:cs typeface="Times New Roman" panose="02020603050405020304" pitchFamily="18" charset="0"/>
                                  </a:rPr>
                                </m:ctrlPr>
                              </m:funcPr>
                              <m:fName>
                                <m:r>
                                  <m:rPr>
                                    <m:sty m:val="p"/>
                                  </m:rPr>
                                  <a:rPr lang="en-US" altLang="zh-TW">
                                    <a:latin typeface="Cambria Math" panose="02040503050406030204" pitchFamily="18" charset="0"/>
                                    <a:cs typeface="Times New Roman" panose="02020603050405020304" pitchFamily="18" charset="0"/>
                                  </a:rPr>
                                  <m:t>tanh</m:t>
                                </m:r>
                              </m:fName>
                              <m:e>
                                <m:d>
                                  <m:dPr>
                                    <m:ctrlPr>
                                      <a:rPr lang="en-US" altLang="zh-TW" i="1">
                                        <a:latin typeface="Cambria Math" panose="02040503050406030204" pitchFamily="18" charset="0"/>
                                        <a:cs typeface="Times New Roman" panose="02020603050405020304" pitchFamily="18" charset="0"/>
                                      </a:rPr>
                                    </m:ctrlPr>
                                  </m:dPr>
                                  <m:e>
                                    <m:sSubSup>
                                      <m:sSubSupPr>
                                        <m:ctrlPr>
                                          <a:rPr lang="en-US" altLang="zh-TW" i="1">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𝑥</m:t>
                                        </m:r>
                                      </m:e>
                                      <m:sub>
                                        <m:r>
                                          <a:rPr lang="en-US" altLang="zh-TW" i="1">
                                            <a:latin typeface="Cambria Math" panose="02040503050406030204" pitchFamily="18" charset="0"/>
                                            <a:cs typeface="Times New Roman" panose="02020603050405020304" pitchFamily="18" charset="0"/>
                                          </a:rPr>
                                          <m:t>𝑡</m:t>
                                        </m:r>
                                      </m:sub>
                                      <m:sup>
                                        <m:r>
                                          <a:rPr lang="en-US" altLang="zh-TW" i="1">
                                            <a:latin typeface="Cambria Math" panose="02040503050406030204" pitchFamily="18" charset="0"/>
                                            <a:cs typeface="Times New Roman" panose="02020603050405020304" pitchFamily="18" charset="0"/>
                                          </a:rPr>
                                          <m:t>′</m:t>
                                        </m:r>
                                      </m:sup>
                                    </m:sSubSup>
                                    <m:r>
                                      <a:rPr lang="zh-TW" altLang="en-US" i="1">
                                        <a:latin typeface="Cambria Math" panose="02040503050406030204" pitchFamily="18" charset="0"/>
                                        <a:cs typeface="Times New Roman" panose="02020603050405020304" pitchFamily="18" charset="0"/>
                                      </a:rPr>
                                      <m:t>𝜃</m:t>
                                    </m:r>
                                  </m:e>
                                </m:d>
                              </m:e>
                            </m:func>
                          </m:e>
                        </m:d>
                      </m:e>
                      <m:sup>
                        <m:r>
                          <a:rPr lang="en-US" altLang="zh-TW" i="1">
                            <a:latin typeface="Cambria Math" panose="02040503050406030204" pitchFamily="18" charset="0"/>
                            <a:cs typeface="Times New Roman" panose="02020603050405020304" pitchFamily="18" charset="0"/>
                          </a:rPr>
                          <m:t>2</m:t>
                        </m:r>
                      </m:sup>
                    </m:sSup>
                    <m:r>
                      <a:rPr lang="en-US" altLang="zh-TW"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ea typeface="Cambria Math" panose="02040503050406030204" pitchFamily="18" charset="0"/>
                            <a:cs typeface="Times New Roman" panose="02020603050405020304" pitchFamily="18" charset="0"/>
                          </a:rPr>
                          <m:t>𝑥</m:t>
                        </m:r>
                      </m:e>
                      <m:sub>
                        <m:r>
                          <a:rPr lang="en-US" altLang="zh-TW" i="1">
                            <a:latin typeface="Cambria Math" panose="02040503050406030204" pitchFamily="18" charset="0"/>
                            <a:ea typeface="Cambria Math" panose="02040503050406030204" pitchFamily="18" charset="0"/>
                            <a:cs typeface="Times New Roman" panose="02020603050405020304" pitchFamily="18" charset="0"/>
                          </a:rPr>
                          <m:t>𝑡</m:t>
                        </m:r>
                      </m:sub>
                    </m:sSub>
                    <m:r>
                      <a:rPr lang="en-US" altLang="zh-TW"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zh-TW" altLang="en-US" i="1">
                            <a:latin typeface="Cambria Math" panose="02040503050406030204" pitchFamily="18" charset="0"/>
                            <a:ea typeface="Cambria Math" panose="02040503050406030204" pitchFamily="18" charset="0"/>
                            <a:cs typeface="Times New Roman" panose="02020603050405020304" pitchFamily="18" charset="0"/>
                          </a:rPr>
                          <m:t>𝜃</m:t>
                        </m:r>
                      </m:e>
                      <m:sub>
                        <m:r>
                          <a:rPr lang="en-US" altLang="zh-TW" i="1">
                            <a:latin typeface="Cambria Math" panose="02040503050406030204" pitchFamily="18" charset="0"/>
                            <a:ea typeface="Cambria Math" panose="02040503050406030204" pitchFamily="18" charset="0"/>
                            <a:cs typeface="Times New Roman" panose="02020603050405020304" pitchFamily="18" charset="0"/>
                          </a:rPr>
                          <m:t>𝑀</m:t>
                        </m:r>
                        <m:r>
                          <a:rPr lang="en-US" altLang="zh-TW" i="1">
                            <a:latin typeface="Cambria Math" panose="02040503050406030204" pitchFamily="18" charset="0"/>
                            <a:ea typeface="Cambria Math" panose="02040503050406030204" pitchFamily="18" charset="0"/>
                            <a:cs typeface="Times New Roman" panose="02020603050405020304" pitchFamily="18" charset="0"/>
                          </a:rPr>
                          <m:t>+2</m:t>
                        </m:r>
                      </m:sub>
                    </m:sSub>
                    <m:f>
                      <m:f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i="1">
                            <a:latin typeface="Cambria Math" panose="02040503050406030204" pitchFamily="18" charset="0"/>
                            <a:ea typeface="Cambria Math" panose="02040503050406030204" pitchFamily="18" charset="0"/>
                            <a:cs typeface="Times New Roman" panose="02020603050405020304" pitchFamily="18" charset="0"/>
                          </a:rPr>
                          <m:t>𝑑</m:t>
                        </m:r>
                        <m:sSub>
                          <m:sSubPr>
                            <m:ctrlPr>
                              <a:rPr lang="en-US" altLang="zh-TW"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ea typeface="Cambria Math" panose="02040503050406030204" pitchFamily="18" charset="0"/>
                                <a:cs typeface="Times New Roman" panose="02020603050405020304" pitchFamily="18" charset="0"/>
                              </a:rPr>
                              <m:t>𝐹</m:t>
                            </m:r>
                          </m:e>
                          <m:sub>
                            <m:r>
                              <a:rPr lang="en-US" altLang="zh-TW" i="1">
                                <a:latin typeface="Cambria Math" panose="02040503050406030204" pitchFamily="18" charset="0"/>
                                <a:ea typeface="Cambria Math" panose="02040503050406030204" pitchFamily="18" charset="0"/>
                                <a:cs typeface="Times New Roman" panose="02020603050405020304" pitchFamily="18" charset="0"/>
                              </a:rPr>
                              <m:t>𝑡</m:t>
                            </m:r>
                            <m:r>
                              <a:rPr lang="en-US" altLang="zh-TW" i="1">
                                <a:latin typeface="Cambria Math" panose="02040503050406030204" pitchFamily="18" charset="0"/>
                                <a:ea typeface="Cambria Math" panose="02040503050406030204" pitchFamily="18" charset="0"/>
                                <a:cs typeface="Times New Roman" panose="02020603050405020304" pitchFamily="18" charset="0"/>
                              </a:rPr>
                              <m:t>−1</m:t>
                            </m:r>
                          </m:sub>
                        </m:sSub>
                      </m:num>
                      <m:den>
                        <m:r>
                          <a:rPr lang="en-US" altLang="zh-TW" i="1">
                            <a:latin typeface="Cambria Math" panose="02040503050406030204" pitchFamily="18" charset="0"/>
                            <a:ea typeface="Cambria Math" panose="02040503050406030204" pitchFamily="18" charset="0"/>
                            <a:cs typeface="Times New Roman" panose="02020603050405020304" pitchFamily="18" charset="0"/>
                          </a:rPr>
                          <m:t>𝑑</m:t>
                        </m:r>
                        <m:r>
                          <a:rPr lang="zh-TW" altLang="en-US" i="1">
                            <a:latin typeface="Cambria Math" panose="02040503050406030204" pitchFamily="18" charset="0"/>
                            <a:ea typeface="Cambria Math" panose="02040503050406030204" pitchFamily="18" charset="0"/>
                            <a:cs typeface="Times New Roman" panose="02020603050405020304" pitchFamily="18" charset="0"/>
                          </a:rPr>
                          <m:t>𝜃</m:t>
                        </m:r>
                      </m:den>
                    </m:f>
                    <m:r>
                      <a:rPr lang="en-US" altLang="zh-TW" i="1">
                        <a:latin typeface="Cambria Math" panose="02040503050406030204" pitchFamily="18" charset="0"/>
                        <a:ea typeface="Cambria Math" panose="02040503050406030204" pitchFamily="18" charset="0"/>
                        <a:cs typeface="Times New Roman" panose="02020603050405020304" pitchFamily="18" charset="0"/>
                      </a:rPr>
                      <m:t>)</m:t>
                    </m:r>
                  </m:oMath>
                </a14:m>
                <a:endParaRPr lang="en-US" altLang="zh-TW" dirty="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199" y="1825625"/>
                <a:ext cx="10515599" cy="4595054"/>
              </a:xfrm>
              <a:blipFill>
                <a:blip r:embed="rId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687920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Calmar ratio (CR)</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199" y="1825625"/>
                <a:ext cx="10515599" cy="4595054"/>
              </a:xfrm>
            </p:spPr>
            <p:txBody>
              <a:bodyPr>
                <a:normAutofit/>
              </a:bodyPr>
              <a:lstStyle/>
              <a:p>
                <a:pPr marL="0" indent="0">
                  <a:buNone/>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𝐶</m:t>
                          </m:r>
                        </m:e>
                        <m:sub>
                          <m:r>
                            <a:rPr lang="en-US" altLang="zh-TW" i="1">
                              <a:latin typeface="Cambria Math" panose="02040503050406030204" pitchFamily="18" charset="0"/>
                              <a:cs typeface="Times New Roman" panose="02020603050405020304" pitchFamily="18" charset="0"/>
                            </a:rPr>
                            <m:t>𝑇</m:t>
                          </m:r>
                        </m:sub>
                      </m:sSub>
                      <m:func>
                        <m:funcPr>
                          <m:ctrlPr>
                            <a:rPr lang="en-US" altLang="zh-TW" i="1">
                              <a:latin typeface="Cambria Math" panose="02040503050406030204" pitchFamily="18" charset="0"/>
                              <a:cs typeface="Times New Roman" panose="02020603050405020304" pitchFamily="18" charset="0"/>
                            </a:rPr>
                          </m:ctrlPr>
                        </m:funcPr>
                        <m:fName>
                          <m:r>
                            <a:rPr lang="en-US" altLang="zh-TW" i="1">
                              <a:latin typeface="Cambria Math" panose="02040503050406030204" pitchFamily="18" charset="0"/>
                              <a:cs typeface="Times New Roman" panose="02020603050405020304" pitchFamily="18" charset="0"/>
                            </a:rPr>
                            <m:t>=</m:t>
                          </m:r>
                        </m:fName>
                        <m:e>
                          <m:f>
                            <m:fPr>
                              <m:ctrlPr>
                                <a:rPr lang="en-US" altLang="zh-TW" i="1">
                                  <a:latin typeface="Cambria Math" panose="02040503050406030204" pitchFamily="18" charset="0"/>
                                  <a:cs typeface="Times New Roman" panose="02020603050405020304" pitchFamily="18" charset="0"/>
                                </a:rPr>
                              </m:ctrlPr>
                            </m:fPr>
                            <m:num>
                              <m:sSub>
                                <m:sSubPr>
                                  <m:ctrlPr>
                                    <a:rPr lang="en-US" altLang="zh-TW" b="0" i="1" smtClean="0">
                                      <a:latin typeface="Cambria Math" panose="02040503050406030204" pitchFamily="18" charset="0"/>
                                      <a:cs typeface="Times New Roman" panose="02020603050405020304" pitchFamily="18" charset="0"/>
                                    </a:rPr>
                                  </m:ctrlPr>
                                </m:sSubPr>
                                <m:e>
                                  <m:r>
                                    <a:rPr lang="zh-TW" altLang="en-US" i="1" smtClean="0">
                                      <a:latin typeface="Cambria Math" panose="02040503050406030204" pitchFamily="18" charset="0"/>
                                      <a:cs typeface="Times New Roman" panose="02020603050405020304" pitchFamily="18" charset="0"/>
                                    </a:rPr>
                                    <m:t>𝛾</m:t>
                                  </m:r>
                                </m:e>
                                <m:sub>
                                  <m:r>
                                    <a:rPr lang="en-US" altLang="zh-TW" b="0" i="1" smtClean="0">
                                      <a:latin typeface="Cambria Math" panose="02040503050406030204" pitchFamily="18" charset="0"/>
                                      <a:cs typeface="Times New Roman" panose="02020603050405020304" pitchFamily="18" charset="0"/>
                                    </a:rPr>
                                    <m:t>𝑇</m:t>
                                  </m:r>
                                </m:sub>
                              </m:sSub>
                            </m:num>
                            <m:den>
                              <m:r>
                                <a:rPr lang="en-US" altLang="zh-TW" b="0" i="1" smtClean="0">
                                  <a:latin typeface="Cambria Math" panose="02040503050406030204" pitchFamily="18" charset="0"/>
                                  <a:cs typeface="Times New Roman" panose="02020603050405020304" pitchFamily="18" charset="0"/>
                                </a:rPr>
                                <m:t>𝐸</m:t>
                              </m:r>
                              <m:r>
                                <a:rPr lang="en-US" altLang="zh-TW" b="0" i="1" smtClean="0">
                                  <a:latin typeface="Cambria Math" panose="02040503050406030204" pitchFamily="18" charset="0"/>
                                  <a:cs typeface="Times New Roman" panose="02020603050405020304" pitchFamily="18" charset="0"/>
                                </a:rPr>
                                <m:t>(</m:t>
                              </m:r>
                              <m:r>
                                <m:rPr>
                                  <m:sty m:val="p"/>
                                </m:rPr>
                                <a:rPr lang="en-US" altLang="zh-TW" i="1">
                                  <a:latin typeface="Cambria Math" panose="02040503050406030204" pitchFamily="18" charset="0"/>
                                  <a:cs typeface="Times New Roman" panose="02020603050405020304" pitchFamily="18" charset="0"/>
                                </a:rPr>
                                <m:t>M</m:t>
                              </m:r>
                              <m:r>
                                <m:rPr>
                                  <m:sty m:val="p"/>
                                </m:rPr>
                                <a:rPr lang="en-US" altLang="zh-TW" i="1" smtClean="0">
                                  <a:latin typeface="Cambria Math" panose="02040503050406030204" pitchFamily="18" charset="0"/>
                                  <a:cs typeface="Times New Roman" panose="02020603050405020304" pitchFamily="18" charset="0"/>
                                </a:rPr>
                                <m:t>D</m:t>
                              </m:r>
                              <m:r>
                                <m:rPr>
                                  <m:sty m:val="p"/>
                                </m:rPr>
                                <a:rPr lang="en-US" altLang="zh-TW" i="1">
                                  <a:latin typeface="Cambria Math" panose="02040503050406030204" pitchFamily="18" charset="0"/>
                                  <a:cs typeface="Times New Roman" panose="02020603050405020304" pitchFamily="18" charset="0"/>
                                </a:rPr>
                                <m:t>D</m:t>
                              </m:r>
                              <m:r>
                                <a:rPr lang="en-US" altLang="zh-TW" b="0" i="1" smtClean="0">
                                  <a:latin typeface="Cambria Math" panose="02040503050406030204" pitchFamily="18" charset="0"/>
                                  <a:cs typeface="Times New Roman" panose="02020603050405020304" pitchFamily="18" charset="0"/>
                                </a:rPr>
                                <m:t>)</m:t>
                              </m:r>
                            </m:den>
                          </m:f>
                        </m:e>
                      </m:func>
                    </m:oMath>
                  </m:oMathPara>
                </a14:m>
                <a:endParaRPr lang="en-US" altLang="zh-TW"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func>
                        <m:funcPr>
                          <m:ctrlPr>
                            <a:rPr lang="en-US" altLang="zh-TW" i="1">
                              <a:latin typeface="Cambria Math" panose="02040503050406030204" pitchFamily="18" charset="0"/>
                              <a:cs typeface="Times New Roman" panose="02020603050405020304" pitchFamily="18" charset="0"/>
                            </a:rPr>
                          </m:ctrlPr>
                        </m:funcPr>
                        <m:fName>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𝐶</m:t>
                              </m:r>
                            </m:e>
                            <m:sub>
                              <m:r>
                                <a:rPr lang="en-US" altLang="zh-TW" i="1">
                                  <a:latin typeface="Cambria Math" panose="02040503050406030204" pitchFamily="18" charset="0"/>
                                  <a:cs typeface="Times New Roman" panose="02020603050405020304" pitchFamily="18" charset="0"/>
                                </a:rPr>
                                <m:t>𝑇</m:t>
                              </m:r>
                            </m:sub>
                          </m:sSub>
                          <m:r>
                            <a:rPr lang="en-US" altLang="zh-TW" i="1">
                              <a:latin typeface="Cambria Math" panose="02040503050406030204" pitchFamily="18" charset="0"/>
                              <a:cs typeface="Times New Roman" panose="02020603050405020304" pitchFamily="18" charset="0"/>
                            </a:rPr>
                            <m:t>=</m:t>
                          </m:r>
                        </m:fName>
                        <m:e>
                          <m:f>
                            <m:fPr>
                              <m:ctrlPr>
                                <a:rPr lang="en-US" altLang="zh-TW" i="1">
                                  <a:latin typeface="Cambria Math" panose="02040503050406030204" pitchFamily="18" charset="0"/>
                                  <a:cs typeface="Times New Roman" panose="02020603050405020304" pitchFamily="18" charset="0"/>
                                </a:rPr>
                              </m:ctrlPr>
                            </m:fPr>
                            <m:num>
                              <m:r>
                                <a:rPr lang="en-US" altLang="zh-TW" b="0" i="1" smtClean="0">
                                  <a:latin typeface="Cambria Math" panose="02040503050406030204" pitchFamily="18" charset="0"/>
                                  <a:cs typeface="Times New Roman" panose="02020603050405020304" pitchFamily="18" charset="0"/>
                                </a:rPr>
                                <m:t>𝑇𝑆h𝑟</m:t>
                              </m:r>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𝑝</m:t>
                                  </m:r>
                                </m:e>
                                <m:sup>
                                  <m:r>
                                    <a:rPr lang="en-US" altLang="zh-TW" b="0" i="1" smtClean="0">
                                      <a:latin typeface="Cambria Math" panose="02040503050406030204" pitchFamily="18" charset="0"/>
                                      <a:cs typeface="Times New Roman" panose="02020603050405020304" pitchFamily="18" charset="0"/>
                                    </a:rPr>
                                    <m:t>2</m:t>
                                  </m:r>
                                </m:sup>
                              </m:sSup>
                            </m:num>
                            <m:den>
                              <m:r>
                                <a:rPr lang="en-US" altLang="zh-TW" b="0" i="1" smtClean="0">
                                  <a:latin typeface="Cambria Math" panose="02040503050406030204" pitchFamily="18" charset="0"/>
                                  <a:cs typeface="Times New Roman" panose="02020603050405020304" pitchFamily="18" charset="0"/>
                                </a:rPr>
                                <m:t>0.63519+0.5</m:t>
                              </m:r>
                              <m:r>
                                <a:rPr lang="en-US" altLang="zh-TW" b="0" i="1" smtClean="0">
                                  <a:latin typeface="Cambria Math" panose="02040503050406030204" pitchFamily="18" charset="0"/>
                                  <a:cs typeface="Times New Roman" panose="02020603050405020304" pitchFamily="18" charset="0"/>
                                </a:rPr>
                                <m:t>𝑙𝑜𝑔𝑇</m:t>
                              </m:r>
                              <m:r>
                                <a:rPr lang="en-US" altLang="zh-TW" b="0" i="1" smtClean="0">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𝑙𝑜𝑔𝑆h𝑟𝑝</m:t>
                              </m:r>
                            </m:den>
                          </m:f>
                        </m:e>
                      </m:func>
                    </m:oMath>
                  </m:oMathPara>
                </a14:m>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lgn="ctr">
                  <a:buNone/>
                </a:pPr>
                <a14:m>
                  <m:oMath xmlns:m="http://schemas.openxmlformats.org/officeDocument/2006/math">
                    <m:r>
                      <a:rPr lang="en-US" altLang="zh-TW" i="1">
                        <a:latin typeface="Cambria Math" panose="02040503050406030204" pitchFamily="18" charset="0"/>
                        <a:cs typeface="Times New Roman" panose="02020603050405020304" pitchFamily="18" charset="0"/>
                      </a:rPr>
                      <m:t>𝑆h𝑟𝑝</m:t>
                    </m:r>
                    <m:r>
                      <a:rPr lang="en-US" altLang="zh-TW" b="0" i="0" smtClean="0">
                        <a:latin typeface="Cambria Math" panose="02040503050406030204" pitchFamily="18" charset="0"/>
                        <a:cs typeface="Times New Roman" panose="02020603050405020304" pitchFamily="18" charset="0"/>
                      </a:rPr>
                      <m:t>=</m:t>
                    </m:r>
                    <m:f>
                      <m:fPr>
                        <m:ctrlPr>
                          <a:rPr lang="en-US" altLang="zh-TW" i="1">
                            <a:latin typeface="Cambria Math" panose="02040503050406030204" pitchFamily="18" charset="0"/>
                            <a:cs typeface="Times New Roman" panose="02020603050405020304" pitchFamily="18" charset="0"/>
                          </a:rPr>
                        </m:ctrlPr>
                      </m:fPr>
                      <m:num>
                        <m:r>
                          <a:rPr lang="zh-TW" altLang="en-US" i="1" smtClean="0">
                            <a:latin typeface="Cambria Math" panose="02040503050406030204" pitchFamily="18" charset="0"/>
                            <a:cs typeface="Times New Roman" panose="02020603050405020304" pitchFamily="18" charset="0"/>
                          </a:rPr>
                          <m:t>𝛾</m:t>
                        </m:r>
                      </m:num>
                      <m:den>
                        <m:r>
                          <a:rPr lang="zh-TW" altLang="en-US" i="1" smtClean="0">
                            <a:latin typeface="Cambria Math" panose="02040503050406030204" pitchFamily="18" charset="0"/>
                            <a:cs typeface="Times New Roman" panose="02020603050405020304" pitchFamily="18" charset="0"/>
                          </a:rPr>
                          <m:t>𝜎</m:t>
                        </m:r>
                      </m:den>
                    </m:f>
                  </m:oMath>
                </a14:m>
                <a:r>
                  <a:rPr lang="en-US" altLang="zh-TW" dirty="0">
                    <a:latin typeface="Times New Roman" panose="02020603050405020304" pitchFamily="18" charset="0"/>
                    <a:cs typeface="Times New Roman" panose="02020603050405020304" pitchFamily="18" charset="0"/>
                  </a:rPr>
                  <a:t> </a:t>
                </a: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199" y="1825625"/>
                <a:ext cx="10515599" cy="4595054"/>
              </a:xfrm>
              <a:blipFill>
                <a:blip r:embed="rId3"/>
                <a:stretch>
                  <a:fillRect/>
                </a:stretch>
              </a:blipFill>
            </p:spPr>
            <p:txBody>
              <a:bodyPr/>
              <a:lstStyle/>
              <a:p>
                <a:r>
                  <a:rPr lang="zh-TW" altLang="en-US">
                    <a:noFill/>
                  </a:rPr>
                  <a:t> </a:t>
                </a:r>
              </a:p>
            </p:txBody>
          </p:sp>
        </mc:Fallback>
      </mc:AlternateContent>
      <p:pic>
        <p:nvPicPr>
          <p:cNvPr id="5" name="圖片 4">
            <a:extLst>
              <a:ext uri="{FF2B5EF4-FFF2-40B4-BE49-F238E27FC236}">
                <a16:creationId xmlns:a16="http://schemas.microsoft.com/office/drawing/2014/main" id="{6D487317-1350-437B-AFBC-D1F2C124067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38232" y="3633568"/>
            <a:ext cx="3632432" cy="3018293"/>
          </a:xfrm>
          <a:prstGeom prst="rect">
            <a:avLst/>
          </a:prstGeom>
        </p:spPr>
      </p:pic>
    </p:spTree>
    <p:extLst>
      <p:ext uri="{BB962C8B-B14F-4D97-AF65-F5344CB8AC3E}">
        <p14:creationId xmlns:p14="http://schemas.microsoft.com/office/powerpoint/2010/main" val="1831850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199" y="1825625"/>
                <a:ext cx="10515599" cy="4595054"/>
              </a:xfrm>
            </p:spPr>
            <p:txBody>
              <a:bodyPr>
                <a:normAutofit/>
              </a:bodyPr>
              <a:lstStyle/>
              <a:p>
                <a:pPr marL="0" indent="0">
                  <a:buNone/>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𝑓</m:t>
                          </m:r>
                        </m:e>
                        <m:sub>
                          <m:r>
                            <a:rPr lang="en-US" altLang="zh-TW" i="1">
                              <a:latin typeface="Cambria Math" panose="02040503050406030204" pitchFamily="18" charset="0"/>
                              <a:cs typeface="Times New Roman" panose="02020603050405020304" pitchFamily="18" charset="0"/>
                            </a:rPr>
                            <m:t>𝑖𝑡</m:t>
                          </m:r>
                        </m:sub>
                      </m:sSub>
                      <m:r>
                        <a:rPr lang="en-US" altLang="zh-TW" i="1">
                          <a:latin typeface="Cambria Math" panose="02040503050406030204" pitchFamily="18" charset="0"/>
                          <a:cs typeface="Times New Roman" panose="02020603050405020304" pitchFamily="18" charset="0"/>
                        </a:rPr>
                        <m:t>=</m:t>
                      </m:r>
                      <m:r>
                        <m:rPr>
                          <m:sty m:val="p"/>
                        </m:rPr>
                        <a:rPr lang="en-US" altLang="zh-TW">
                          <a:latin typeface="Cambria Math" panose="02040503050406030204" pitchFamily="18" charset="0"/>
                          <a:cs typeface="Times New Roman" panose="02020603050405020304" pitchFamily="18" charset="0"/>
                        </a:rPr>
                        <m:t>logsig</m:t>
                      </m:r>
                      <m:r>
                        <a:rPr lang="en-US" altLang="zh-TW" i="1">
                          <a:latin typeface="Cambria Math" panose="02040503050406030204" pitchFamily="18" charset="0"/>
                          <a:cs typeface="Times New Roman" panose="02020603050405020304" pitchFamily="18" charset="0"/>
                        </a:rPr>
                        <m:t>⁡(</m:t>
                      </m:r>
                      <m:sSubSup>
                        <m:sSubSupPr>
                          <m:ctrlPr>
                            <a:rPr lang="en-US" altLang="zh-TW" i="1">
                              <a:latin typeface="Cambria Math" panose="02040503050406030204" pitchFamily="18" charset="0"/>
                              <a:cs typeface="Times New Roman" panose="02020603050405020304" pitchFamily="18" charset="0"/>
                            </a:rPr>
                          </m:ctrlPr>
                        </m:sSubSupPr>
                        <m:e>
                          <m:r>
                            <a:rPr lang="en-US" altLang="zh-TW" i="1">
                              <a:latin typeface="Cambria Math" panose="02040503050406030204" pitchFamily="18" charset="0"/>
                              <a:cs typeface="Times New Roman" panose="02020603050405020304" pitchFamily="18" charset="0"/>
                            </a:rPr>
                            <m:t>𝑥</m:t>
                          </m:r>
                        </m:e>
                        <m:sub>
                          <m:r>
                            <a:rPr lang="en-US" altLang="zh-TW" i="1">
                              <a:latin typeface="Cambria Math" panose="02040503050406030204" pitchFamily="18" charset="0"/>
                              <a:cs typeface="Times New Roman" panose="02020603050405020304" pitchFamily="18" charset="0"/>
                            </a:rPr>
                            <m:t>𝑖𝑡</m:t>
                          </m:r>
                        </m:sub>
                        <m:sup>
                          <m:r>
                            <a:rPr lang="en-US" altLang="zh-TW" i="1">
                              <a:latin typeface="Cambria Math" panose="02040503050406030204" pitchFamily="18" charset="0"/>
                              <a:cs typeface="Times New Roman" panose="02020603050405020304" pitchFamily="18" charset="0"/>
                            </a:rPr>
                            <m:t>′</m:t>
                          </m:r>
                        </m:sup>
                      </m:sSubSup>
                      <m:sSub>
                        <m:sSubPr>
                          <m:ctrlPr>
                            <a:rPr lang="en-US" altLang="zh-TW" i="1">
                              <a:latin typeface="Cambria Math" panose="02040503050406030204" pitchFamily="18" charset="0"/>
                              <a:cs typeface="Times New Roman" panose="02020603050405020304" pitchFamily="18" charset="0"/>
                            </a:rPr>
                          </m:ctrlPr>
                        </m:sSubPr>
                        <m:e>
                          <m:r>
                            <a:rPr lang="zh-TW" altLang="en-US" i="1">
                              <a:latin typeface="Cambria Math" panose="02040503050406030204" pitchFamily="18" charset="0"/>
                              <a:cs typeface="Times New Roman" panose="02020603050405020304" pitchFamily="18" charset="0"/>
                            </a:rPr>
                            <m:t>𝜃</m:t>
                          </m:r>
                        </m:e>
                        <m:sub>
                          <m:r>
                            <a:rPr lang="en-US" altLang="zh-TW" i="1">
                              <a:latin typeface="Cambria Math" panose="02040503050406030204" pitchFamily="18" charset="0"/>
                              <a:cs typeface="Times New Roman" panose="02020603050405020304" pitchFamily="18" charset="0"/>
                            </a:rPr>
                            <m:t>𝑖</m:t>
                          </m:r>
                        </m:sub>
                      </m:sSub>
                      <m:r>
                        <a:rPr lang="en-US" altLang="zh-TW" i="1">
                          <a:latin typeface="Cambria Math" panose="02040503050406030204" pitchFamily="18" charset="0"/>
                          <a:cs typeface="Times New Roman" panose="02020603050405020304" pitchFamily="18" charset="0"/>
                        </a:rPr>
                        <m:t>)</m:t>
                      </m:r>
                    </m:oMath>
                  </m:oMathPara>
                </a14:m>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𝐹</m:t>
                          </m:r>
                        </m:e>
                        <m:sub>
                          <m:r>
                            <a:rPr lang="en-US" altLang="zh-TW" b="0" i="1" smtClean="0">
                              <a:latin typeface="Cambria Math" panose="02040503050406030204" pitchFamily="18" charset="0"/>
                              <a:cs typeface="Times New Roman" panose="02020603050405020304" pitchFamily="18" charset="0"/>
                            </a:rPr>
                            <m:t>𝑖</m:t>
                          </m:r>
                          <m:r>
                            <a:rPr lang="en-US" altLang="zh-TW" i="1">
                              <a:latin typeface="Cambria Math" panose="02040503050406030204" pitchFamily="18" charset="0"/>
                              <a:cs typeface="Times New Roman" panose="02020603050405020304" pitchFamily="18" charset="0"/>
                            </a:rPr>
                            <m:t>𝑡</m:t>
                          </m:r>
                        </m:sub>
                      </m:sSub>
                      <m:r>
                        <a:rPr lang="en-US" altLang="zh-TW" i="1">
                          <a:latin typeface="Cambria Math" panose="02040503050406030204" pitchFamily="18" charset="0"/>
                          <a:cs typeface="Times New Roman" panose="02020603050405020304" pitchFamily="18" charset="0"/>
                        </a:rPr>
                        <m:t>=</m:t>
                      </m:r>
                      <m:r>
                        <m:rPr>
                          <m:sty m:val="p"/>
                        </m:rPr>
                        <a:rPr lang="en-US" altLang="zh-TW" b="0" i="0" smtClean="0">
                          <a:latin typeface="Cambria Math" panose="02040503050406030204" pitchFamily="18" charset="0"/>
                          <a:cs typeface="Times New Roman" panose="02020603050405020304" pitchFamily="18" charset="0"/>
                        </a:rPr>
                        <m:t>softmax</m:t>
                      </m:r>
                      <m:r>
                        <a:rPr lang="en-US" altLang="zh-TW" i="1">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𝑓</m:t>
                          </m:r>
                        </m:e>
                        <m:sub>
                          <m:r>
                            <a:rPr lang="en-US" altLang="zh-TW" b="0" i="1" smtClean="0">
                              <a:latin typeface="Cambria Math" panose="02040503050406030204" pitchFamily="18" charset="0"/>
                              <a:cs typeface="Times New Roman" panose="02020603050405020304" pitchFamily="18" charset="0"/>
                            </a:rPr>
                            <m:t>𝑖𝑡</m:t>
                          </m:r>
                        </m:sub>
                      </m:sSub>
                      <m:r>
                        <a:rPr lang="en-US" altLang="zh-TW" i="1">
                          <a:latin typeface="Cambria Math" panose="02040503050406030204" pitchFamily="18" charset="0"/>
                          <a:cs typeface="Times New Roman" panose="02020603050405020304" pitchFamily="18" charset="0"/>
                        </a:rPr>
                        <m:t>)</m:t>
                      </m:r>
                    </m:oMath>
                  </m:oMathPara>
                </a14:m>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nary>
                        <m:naryPr>
                          <m:chr m:val="∑"/>
                          <m:ctrlPr>
                            <a:rPr lang="en-US" altLang="zh-TW" i="1" smtClean="0">
                              <a:latin typeface="Cambria Math" panose="02040503050406030204" pitchFamily="18" charset="0"/>
                              <a:cs typeface="Times New Roman" panose="02020603050405020304" pitchFamily="18" charset="0"/>
                            </a:rPr>
                          </m:ctrlPr>
                        </m:naryPr>
                        <m:sub>
                          <m:r>
                            <m:rPr>
                              <m:brk m:alnAt="23"/>
                            </m:rPr>
                            <a:rPr lang="en-US" altLang="zh-TW" b="0" i="1" smtClean="0">
                              <a:latin typeface="Cambria Math" panose="02040503050406030204" pitchFamily="18" charset="0"/>
                              <a:cs typeface="Times New Roman" panose="02020603050405020304" pitchFamily="18" charset="0"/>
                            </a:rPr>
                            <m:t>𝑖</m:t>
                          </m:r>
                        </m:sub>
                        <m:sup>
                          <m:r>
                            <a:rPr lang="en-US" altLang="zh-TW" b="0" i="1" smtClean="0">
                              <a:latin typeface="Cambria Math" panose="02040503050406030204" pitchFamily="18" charset="0"/>
                              <a:cs typeface="Times New Roman" panose="02020603050405020304" pitchFamily="18" charset="0"/>
                            </a:rPr>
                            <m:t>𝑛</m:t>
                          </m:r>
                        </m:sup>
                        <m:e>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𝐹</m:t>
                              </m:r>
                            </m:e>
                            <m:sub>
                              <m:r>
                                <a:rPr lang="en-US" altLang="zh-TW" b="0" i="1" smtClean="0">
                                  <a:latin typeface="Cambria Math" panose="02040503050406030204" pitchFamily="18" charset="0"/>
                                  <a:cs typeface="Times New Roman" panose="02020603050405020304" pitchFamily="18" charset="0"/>
                                </a:rPr>
                                <m:t>𝑖𝑡</m:t>
                              </m:r>
                            </m:sub>
                          </m:sSub>
                        </m:e>
                      </m:nary>
                      <m:r>
                        <a:rPr lang="en-US" altLang="zh-TW" i="1">
                          <a:latin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cs typeface="Times New Roman" panose="02020603050405020304" pitchFamily="18" charset="0"/>
                        </a:rPr>
                        <m:t>1</m:t>
                      </m:r>
                    </m:oMath>
                  </m:oMathPara>
                </a14:m>
                <a:endParaRPr lang="en-US" altLang="zh-TW" dirty="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199" y="1825625"/>
                <a:ext cx="10515599" cy="4595054"/>
              </a:xfrm>
              <a:blipFill>
                <a:blip r:embed="rId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896687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Data collection</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199" y="1825625"/>
            <a:ext cx="10515599" cy="4595054"/>
          </a:xfrm>
        </p:spPr>
        <p:txBody>
          <a:bodyPr>
            <a:normAutofit/>
          </a:bodyPr>
          <a:lstStyle/>
          <a:p>
            <a:r>
              <a:rPr lang="en-US" altLang="zh-TW" dirty="0">
                <a:latin typeface="Times New Roman" panose="02020603050405020304" pitchFamily="18" charset="0"/>
                <a:cs typeface="Times New Roman" panose="02020603050405020304" pitchFamily="18" charset="0"/>
              </a:rPr>
              <a:t>IWD : </a:t>
            </a:r>
            <a:r>
              <a:rPr lang="en-US" altLang="zh-TW" dirty="0" err="1">
                <a:latin typeface="Times New Roman" panose="02020603050405020304" pitchFamily="18" charset="0"/>
                <a:cs typeface="Times New Roman" panose="02020603050405020304" pitchFamily="18" charset="0"/>
              </a:rPr>
              <a:t>iShare</a:t>
            </a:r>
            <a:r>
              <a:rPr lang="en-US" altLang="zh-TW" dirty="0">
                <a:latin typeface="Times New Roman" panose="02020603050405020304" pitchFamily="18" charset="0"/>
                <a:cs typeface="Times New Roman" panose="02020603050405020304" pitchFamily="18" charset="0"/>
              </a:rPr>
              <a:t> Russell 1000 value</a:t>
            </a:r>
          </a:p>
          <a:p>
            <a:r>
              <a:rPr lang="en-US" altLang="zh-TW" dirty="0">
                <a:latin typeface="Times New Roman" panose="02020603050405020304" pitchFamily="18" charset="0"/>
                <a:cs typeface="Times New Roman" panose="02020603050405020304" pitchFamily="18" charset="0"/>
              </a:rPr>
              <a:t>IWC : </a:t>
            </a:r>
            <a:r>
              <a:rPr lang="en-US" altLang="zh-TW" dirty="0" err="1">
                <a:latin typeface="Times New Roman" panose="02020603050405020304" pitchFamily="18" charset="0"/>
                <a:cs typeface="Times New Roman" panose="02020603050405020304" pitchFamily="18" charset="0"/>
              </a:rPr>
              <a:t>iShare</a:t>
            </a:r>
            <a:r>
              <a:rPr lang="en-US" altLang="zh-TW" dirty="0">
                <a:latin typeface="Times New Roman" panose="02020603050405020304" pitchFamily="18" charset="0"/>
                <a:cs typeface="Times New Roman" panose="02020603050405020304" pitchFamily="18" charset="0"/>
              </a:rPr>
              <a:t> Micro-Cap</a:t>
            </a:r>
          </a:p>
          <a:p>
            <a:r>
              <a:rPr lang="en-US" altLang="zh-TW" dirty="0">
                <a:latin typeface="Times New Roman" panose="02020603050405020304" pitchFamily="18" charset="0"/>
                <a:cs typeface="Times New Roman" panose="02020603050405020304" pitchFamily="18" charset="0"/>
              </a:rPr>
              <a:t>SPY : SPDR S&amp;P 500 ETF</a:t>
            </a:r>
          </a:p>
          <a:p>
            <a:r>
              <a:rPr lang="en-US" altLang="zh-TW" dirty="0">
                <a:latin typeface="Times New Roman" panose="02020603050405020304" pitchFamily="18" charset="0"/>
                <a:cs typeface="Times New Roman" panose="02020603050405020304" pitchFamily="18" charset="0"/>
              </a:rPr>
              <a:t>DEM : </a:t>
            </a:r>
            <a:r>
              <a:rPr lang="en-US" altLang="zh-TW" dirty="0" err="1">
                <a:latin typeface="Times New Roman" panose="02020603050405020304" pitchFamily="18" charset="0"/>
                <a:cs typeface="Times New Roman" panose="02020603050405020304" pitchFamily="18" charset="0"/>
              </a:rPr>
              <a:t>WisdomTree</a:t>
            </a:r>
            <a:r>
              <a:rPr lang="en-US" altLang="zh-TW" dirty="0">
                <a:latin typeface="Times New Roman" panose="02020603050405020304" pitchFamily="18" charset="0"/>
                <a:cs typeface="Times New Roman" panose="02020603050405020304" pitchFamily="18" charset="0"/>
              </a:rPr>
              <a:t> Emerging Markets High Dividend</a:t>
            </a:r>
          </a:p>
          <a:p>
            <a:r>
              <a:rPr lang="en-US" altLang="zh-TW" dirty="0">
                <a:latin typeface="Times New Roman" panose="02020603050405020304" pitchFamily="18" charset="0"/>
                <a:cs typeface="Times New Roman" panose="02020603050405020304" pitchFamily="18" charset="0"/>
              </a:rPr>
              <a:t>CLY : </a:t>
            </a:r>
            <a:r>
              <a:rPr lang="en-US" altLang="zh-TW" dirty="0" err="1">
                <a:latin typeface="Times New Roman" panose="02020603050405020304" pitchFamily="18" charset="0"/>
                <a:cs typeface="Times New Roman" panose="02020603050405020304" pitchFamily="18" charset="0"/>
              </a:rPr>
              <a:t>iShare</a:t>
            </a:r>
            <a:r>
              <a:rPr lang="en-US" altLang="zh-TW" dirty="0">
                <a:latin typeface="Times New Roman" panose="02020603050405020304" pitchFamily="18" charset="0"/>
                <a:cs typeface="Times New Roman" panose="02020603050405020304" pitchFamily="18" charset="0"/>
              </a:rPr>
              <a:t> 10+ Year Credit Bond</a:t>
            </a:r>
          </a:p>
          <a:p>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From 2011/1/1~2015/12/31</a:t>
            </a:r>
          </a:p>
          <a:p>
            <a:pPr marL="0" indent="0">
              <a:buNone/>
            </a:pPr>
            <a:r>
              <a:rPr lang="en-US" altLang="zh-TW" dirty="0">
                <a:latin typeface="Times New Roman" panose="02020603050405020304" pitchFamily="18" charset="0"/>
                <a:cs typeface="Times New Roman" panose="02020603050405020304" pitchFamily="18" charset="0"/>
              </a:rPr>
              <a:t>3 years training, 2 years testing</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(104</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weeks)</a:t>
            </a:r>
          </a:p>
        </p:txBody>
      </p:sp>
    </p:spTree>
    <p:extLst>
      <p:ext uri="{BB962C8B-B14F-4D97-AF65-F5344CB8AC3E}">
        <p14:creationId xmlns:p14="http://schemas.microsoft.com/office/powerpoint/2010/main" val="3110607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Portfolio performance RRL with SR</a:t>
            </a:r>
            <a:endParaRPr lang="zh-TW" altLang="en-US" dirty="0">
              <a:latin typeface="Times New Roman" panose="02020603050405020304" pitchFamily="18" charset="0"/>
              <a:cs typeface="Times New Roman" panose="02020603050405020304" pitchFamily="18" charset="0"/>
            </a:endParaRPr>
          </a:p>
        </p:txBody>
      </p:sp>
      <p:pic>
        <p:nvPicPr>
          <p:cNvPr id="7" name="圖片 6">
            <a:extLst>
              <a:ext uri="{FF2B5EF4-FFF2-40B4-BE49-F238E27FC236}">
                <a16:creationId xmlns:a16="http://schemas.microsoft.com/office/drawing/2014/main" id="{71438954-A19A-452B-BD36-C24D248951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3381" y="1570646"/>
            <a:ext cx="9805238" cy="4922229"/>
          </a:xfrm>
          <a:prstGeom prst="rect">
            <a:avLst/>
          </a:prstGeom>
        </p:spPr>
      </p:pic>
    </p:spTree>
    <p:extLst>
      <p:ext uri="{BB962C8B-B14F-4D97-AF65-F5344CB8AC3E}">
        <p14:creationId xmlns:p14="http://schemas.microsoft.com/office/powerpoint/2010/main" val="6256804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Portfolio performance RRL with Sterling Ratio (TR)</a:t>
            </a:r>
            <a:endParaRPr lang="zh-TW" altLang="en-US"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F4C691F5-C060-4993-AFEC-E78FD57F60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4497" y="1690688"/>
            <a:ext cx="9503006" cy="5008083"/>
          </a:xfrm>
          <a:prstGeom prst="rect">
            <a:avLst/>
          </a:prstGeom>
        </p:spPr>
      </p:pic>
    </p:spTree>
    <p:extLst>
      <p:ext uri="{BB962C8B-B14F-4D97-AF65-F5344CB8AC3E}">
        <p14:creationId xmlns:p14="http://schemas.microsoft.com/office/powerpoint/2010/main" val="1155890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Portfolio performance RRL with CR</a:t>
            </a:r>
            <a:endParaRPr lang="zh-TW" altLang="en-US" dirty="0">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DD5CA761-C98E-4D9C-830F-CEFA479EFF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9398" y="1473385"/>
            <a:ext cx="10193200" cy="5116985"/>
          </a:xfrm>
          <a:prstGeom prst="rect">
            <a:avLst/>
          </a:prstGeom>
        </p:spPr>
      </p:pic>
    </p:spTree>
    <p:extLst>
      <p:ext uri="{BB962C8B-B14F-4D97-AF65-F5344CB8AC3E}">
        <p14:creationId xmlns:p14="http://schemas.microsoft.com/office/powerpoint/2010/main" val="17726059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Comparison</a:t>
            </a:r>
            <a:endParaRPr lang="zh-TW" altLang="en-US"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544A228A-2B0A-4BD1-B5B8-AEDB0B5C415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75866" y="1531756"/>
            <a:ext cx="7440267" cy="5151241"/>
          </a:xfrm>
          <a:prstGeom prst="rect">
            <a:avLst/>
          </a:prstGeom>
        </p:spPr>
      </p:pic>
    </p:spTree>
    <p:extLst>
      <p:ext uri="{BB962C8B-B14F-4D97-AF65-F5344CB8AC3E}">
        <p14:creationId xmlns:p14="http://schemas.microsoft.com/office/powerpoint/2010/main" val="27735502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CLY RTF Signal generated</a:t>
            </a:r>
            <a:endParaRPr lang="zh-TW" altLang="en-US" dirty="0">
              <a:latin typeface="Times New Roman" panose="02020603050405020304" pitchFamily="18" charset="0"/>
              <a:cs typeface="Times New Roman" panose="02020603050405020304" pitchFamily="18" charset="0"/>
            </a:endParaRPr>
          </a:p>
        </p:txBody>
      </p:sp>
      <p:pic>
        <p:nvPicPr>
          <p:cNvPr id="6" name="內容版面配置區 5">
            <a:extLst>
              <a:ext uri="{FF2B5EF4-FFF2-40B4-BE49-F238E27FC236}">
                <a16:creationId xmlns:a16="http://schemas.microsoft.com/office/drawing/2014/main" id="{1B4671D0-7D2D-46A7-BD18-D4729E87E0C1}"/>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605136" y="1919942"/>
            <a:ext cx="5487447" cy="4406420"/>
          </a:xfrm>
        </p:spPr>
      </p:pic>
      <p:pic>
        <p:nvPicPr>
          <p:cNvPr id="4" name="圖片 3">
            <a:extLst>
              <a:ext uri="{FF2B5EF4-FFF2-40B4-BE49-F238E27FC236}">
                <a16:creationId xmlns:a16="http://schemas.microsoft.com/office/drawing/2014/main" id="{F2B3B075-B3F2-4FDF-9209-3387E770B75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95998" y="1919942"/>
            <a:ext cx="5490866" cy="4406420"/>
          </a:xfrm>
          <a:prstGeom prst="rect">
            <a:avLst/>
          </a:prstGeom>
        </p:spPr>
      </p:pic>
    </p:spTree>
    <p:extLst>
      <p:ext uri="{BB962C8B-B14F-4D97-AF65-F5344CB8AC3E}">
        <p14:creationId xmlns:p14="http://schemas.microsoft.com/office/powerpoint/2010/main" val="23899629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Comparison at different </a:t>
                </a:r>
                <a14:m>
                  <m:oMath xmlns:m="http://schemas.openxmlformats.org/officeDocument/2006/math">
                    <m:r>
                      <a:rPr lang="zh-TW" altLang="en-US" i="1">
                        <a:latin typeface="Cambria Math" panose="02040503050406030204" pitchFamily="18" charset="0"/>
                        <a:ea typeface="Cambria Math" panose="02040503050406030204" pitchFamily="18" charset="0"/>
                        <a:cs typeface="Times New Roman" panose="02020603050405020304" pitchFamily="18" charset="0"/>
                      </a:rPr>
                      <m:t>𝛿</m:t>
                    </m:r>
                  </m:oMath>
                </a14:m>
                <a:endParaRPr lang="zh-TW" altLang="en-US" dirty="0">
                  <a:latin typeface="Times New Roman" panose="02020603050405020304" pitchFamily="18" charset="0"/>
                  <a:cs typeface="Times New Roman" panose="02020603050405020304" pitchFamily="18" charset="0"/>
                </a:endParaRPr>
              </a:p>
            </p:txBody>
          </p:sp>
        </mc:Choice>
        <mc:Fallback xmlns="">
          <p:sp>
            <p:nvSpPr>
              <p:cNvPr id="2" name="標題 1"/>
              <p:cNvSpPr>
                <a:spLocks noGrp="1" noRot="1" noChangeAspect="1" noMove="1" noResize="1" noEditPoints="1" noAdjustHandles="1" noChangeArrowheads="1" noChangeShapeType="1" noTextEdit="1"/>
              </p:cNvSpPr>
              <p:nvPr>
                <p:ph type="title"/>
              </p:nvPr>
            </p:nvSpPr>
            <p:spPr>
              <a:blipFill>
                <a:blip r:embed="rId3"/>
                <a:stretch>
                  <a:fillRect/>
                </a:stretch>
              </a:blipFill>
            </p:spPr>
            <p:txBody>
              <a:bodyPr/>
              <a:lstStyle/>
              <a:p>
                <a:r>
                  <a:rPr lang="zh-TW" altLang="en-US">
                    <a:noFill/>
                  </a:rPr>
                  <a:t> </a:t>
                </a:r>
              </a:p>
            </p:txBody>
          </p:sp>
        </mc:Fallback>
      </mc:AlternateContent>
      <p:pic>
        <p:nvPicPr>
          <p:cNvPr id="8" name="內容版面配置區 7">
            <a:extLst>
              <a:ext uri="{FF2B5EF4-FFF2-40B4-BE49-F238E27FC236}">
                <a16:creationId xmlns:a16="http://schemas.microsoft.com/office/drawing/2014/main" id="{F4C6BED6-DAF3-416D-BFA8-D3B94C686C15}"/>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2188214" y="1574689"/>
            <a:ext cx="7815570" cy="2401332"/>
          </a:xfrm>
        </p:spPr>
      </p:pic>
      <p:pic>
        <p:nvPicPr>
          <p:cNvPr id="10" name="圖片 9">
            <a:extLst>
              <a:ext uri="{FF2B5EF4-FFF2-40B4-BE49-F238E27FC236}">
                <a16:creationId xmlns:a16="http://schemas.microsoft.com/office/drawing/2014/main" id="{41F70A6B-1AC4-460A-AFA2-460463B6776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78562" y="4082645"/>
            <a:ext cx="7834875" cy="2401010"/>
          </a:xfrm>
          <a:prstGeom prst="rect">
            <a:avLst/>
          </a:prstGeom>
        </p:spPr>
      </p:pic>
    </p:spTree>
    <p:extLst>
      <p:ext uri="{BB962C8B-B14F-4D97-AF65-F5344CB8AC3E}">
        <p14:creationId xmlns:p14="http://schemas.microsoft.com/office/powerpoint/2010/main" val="17975097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Comparison at different </a:t>
                </a:r>
                <a14:m>
                  <m:oMath xmlns:m="http://schemas.openxmlformats.org/officeDocument/2006/math">
                    <m:r>
                      <a:rPr lang="zh-TW" altLang="en-US" i="1">
                        <a:latin typeface="Cambria Math" panose="02040503050406030204" pitchFamily="18" charset="0"/>
                        <a:ea typeface="Cambria Math" panose="02040503050406030204" pitchFamily="18" charset="0"/>
                        <a:cs typeface="Times New Roman" panose="02020603050405020304" pitchFamily="18" charset="0"/>
                      </a:rPr>
                      <m:t>𝛿</m:t>
                    </m:r>
                  </m:oMath>
                </a14:m>
                <a:endParaRPr lang="zh-TW" altLang="en-US" dirty="0">
                  <a:latin typeface="Times New Roman" panose="02020603050405020304" pitchFamily="18" charset="0"/>
                  <a:cs typeface="Times New Roman" panose="02020603050405020304" pitchFamily="18" charset="0"/>
                </a:endParaRPr>
              </a:p>
            </p:txBody>
          </p:sp>
        </mc:Choice>
        <mc:Fallback xmlns="">
          <p:sp>
            <p:nvSpPr>
              <p:cNvPr id="2" name="標題 1"/>
              <p:cNvSpPr>
                <a:spLocks noGrp="1" noRot="1" noChangeAspect="1" noMove="1" noResize="1" noEditPoints="1" noAdjustHandles="1" noChangeArrowheads="1" noChangeShapeType="1" noTextEdit="1"/>
              </p:cNvSpPr>
              <p:nvPr>
                <p:ph type="title"/>
              </p:nvPr>
            </p:nvSpPr>
            <p:spPr>
              <a:blipFill>
                <a:blip r:embed="rId3"/>
                <a:stretch>
                  <a:fillRect/>
                </a:stretch>
              </a:blipFill>
            </p:spPr>
            <p:txBody>
              <a:bodyPr/>
              <a:lstStyle/>
              <a:p>
                <a:r>
                  <a:rPr lang="zh-TW" altLang="en-US">
                    <a:noFill/>
                  </a:rPr>
                  <a:t> </a:t>
                </a:r>
              </a:p>
            </p:txBody>
          </p:sp>
        </mc:Fallback>
      </mc:AlternateContent>
      <p:pic>
        <p:nvPicPr>
          <p:cNvPr id="4" name="圖片 3">
            <a:extLst>
              <a:ext uri="{FF2B5EF4-FFF2-40B4-BE49-F238E27FC236}">
                <a16:creationId xmlns:a16="http://schemas.microsoft.com/office/drawing/2014/main" id="{7010A6D3-2006-45CA-B8BA-E968EA788B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83250" y="1582826"/>
            <a:ext cx="7830187" cy="2385057"/>
          </a:xfrm>
          <a:prstGeom prst="rect">
            <a:avLst/>
          </a:prstGeom>
        </p:spPr>
      </p:pic>
      <p:pic>
        <p:nvPicPr>
          <p:cNvPr id="9" name="圖片 8">
            <a:extLst>
              <a:ext uri="{FF2B5EF4-FFF2-40B4-BE49-F238E27FC236}">
                <a16:creationId xmlns:a16="http://schemas.microsoft.com/office/drawing/2014/main" id="{4A063DA0-C47B-4EA0-9802-AA3B2C1337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80906" y="4035869"/>
            <a:ext cx="7830188" cy="2361485"/>
          </a:xfrm>
          <a:prstGeom prst="rect">
            <a:avLst/>
          </a:prstGeom>
        </p:spPr>
      </p:pic>
    </p:spTree>
    <p:extLst>
      <p:ext uri="{BB962C8B-B14F-4D97-AF65-F5344CB8AC3E}">
        <p14:creationId xmlns:p14="http://schemas.microsoft.com/office/powerpoint/2010/main" val="23747539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RRL based trading decision system</a:t>
            </a:r>
            <a:endParaRPr lang="zh-TW" altLang="en-US"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0C43ED0F-4A39-4932-8154-D90C65938DD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5782" y="1791355"/>
            <a:ext cx="10260435" cy="4450489"/>
          </a:xfrm>
          <a:prstGeom prst="rect">
            <a:avLst/>
          </a:prstGeom>
        </p:spPr>
      </p:pic>
    </p:spTree>
    <p:extLst>
      <p:ext uri="{BB962C8B-B14F-4D97-AF65-F5344CB8AC3E}">
        <p14:creationId xmlns:p14="http://schemas.microsoft.com/office/powerpoint/2010/main" val="5530533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Dynamic stop-loss strategy</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199" y="1825625"/>
                <a:ext cx="10515599" cy="4595054"/>
              </a:xfrm>
            </p:spPr>
            <p:txBody>
              <a:bodyPr>
                <a:normAutofit/>
              </a:bodyPr>
              <a:lstStyle/>
              <a:p>
                <a14:m>
                  <m:oMath xmlns:m="http://schemas.openxmlformats.org/officeDocument/2006/math">
                    <m:f>
                      <m:fPr>
                        <m:ctrlPr>
                          <a:rPr lang="en-US" altLang="zh-TW" i="1" smtClean="0">
                            <a:latin typeface="Cambria Math" panose="02040503050406030204" pitchFamily="18" charset="0"/>
                            <a:cs typeface="Times New Roman" panose="02020603050405020304" pitchFamily="18" charset="0"/>
                          </a:rPr>
                        </m:ctrlPr>
                      </m:fPr>
                      <m:num>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𝑟</m:t>
                            </m:r>
                          </m:e>
                          <m:sub>
                            <m:r>
                              <a:rPr lang="en-US" altLang="zh-TW" b="0" i="1" smtClean="0">
                                <a:latin typeface="Cambria Math" panose="02040503050406030204" pitchFamily="18" charset="0"/>
                                <a:cs typeface="Times New Roman" panose="02020603050405020304" pitchFamily="18" charset="0"/>
                              </a:rPr>
                              <m:t>𝑡</m:t>
                            </m:r>
                            <m:r>
                              <a:rPr lang="en-US" altLang="zh-TW" b="0" i="1" smtClean="0">
                                <a:latin typeface="Cambria Math" panose="02040503050406030204" pitchFamily="18" charset="0"/>
                                <a:cs typeface="Times New Roman" panose="02020603050405020304" pitchFamily="18" charset="0"/>
                              </a:rPr>
                              <m:t>−1</m:t>
                            </m:r>
                          </m:sub>
                        </m:sSub>
                      </m:num>
                      <m:den>
                        <m:sSub>
                          <m:sSubPr>
                            <m:ctrlPr>
                              <a:rPr lang="en-US" altLang="zh-TW" b="0" i="1" smtClean="0">
                                <a:latin typeface="Cambria Math" panose="02040503050406030204" pitchFamily="18" charset="0"/>
                                <a:cs typeface="Times New Roman" panose="02020603050405020304" pitchFamily="18" charset="0"/>
                              </a:rPr>
                            </m:ctrlPr>
                          </m:sSubPr>
                          <m:e>
                            <m:r>
                              <a:rPr lang="zh-TW" altLang="en-US" i="1" smtClean="0">
                                <a:latin typeface="Cambria Math" panose="02040503050406030204" pitchFamily="18" charset="0"/>
                                <a:cs typeface="Times New Roman" panose="02020603050405020304" pitchFamily="18" charset="0"/>
                              </a:rPr>
                              <m:t>𝜎</m:t>
                            </m:r>
                          </m:e>
                          <m:sub>
                            <m:r>
                              <a:rPr lang="en-US" altLang="zh-TW" b="0" i="1" smtClean="0">
                                <a:latin typeface="Cambria Math" panose="02040503050406030204" pitchFamily="18" charset="0"/>
                                <a:cs typeface="Times New Roman" panose="02020603050405020304" pitchFamily="18" charset="0"/>
                              </a:rPr>
                              <m:t>𝑡</m:t>
                            </m:r>
                            <m:r>
                              <a:rPr lang="en-US" altLang="zh-TW" b="0" i="1" smtClean="0">
                                <a:latin typeface="Cambria Math" panose="02040503050406030204" pitchFamily="18" charset="0"/>
                                <a:cs typeface="Times New Roman" panose="02020603050405020304" pitchFamily="18" charset="0"/>
                              </a:rPr>
                              <m:t>−1</m:t>
                            </m:r>
                          </m:sub>
                        </m:sSub>
                      </m:den>
                    </m:f>
                    <m:r>
                      <a:rPr lang="en-US" altLang="zh-TW"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smtClean="0">
                        <a:latin typeface="Cambria Math" panose="02040503050406030204" pitchFamily="18" charset="0"/>
                        <a:ea typeface="Cambria Math" panose="02040503050406030204" pitchFamily="18" charset="0"/>
                        <a:cs typeface="Times New Roman" panose="02020603050405020304" pitchFamily="18" charset="0"/>
                      </a:rPr>
                      <m:t>𝑛</m:t>
                    </m:r>
                  </m:oMath>
                </a14:m>
                <a:endParaRPr lang="en-US" altLang="zh-TW" dirty="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199" y="1825625"/>
                <a:ext cx="10515599" cy="4595054"/>
              </a:xfrm>
              <a:blipFill>
                <a:blip r:embed="rId3"/>
                <a:stretch>
                  <a:fillRect/>
                </a:stretch>
              </a:blipFill>
            </p:spPr>
            <p:txBody>
              <a:bodyPr/>
              <a:lstStyle/>
              <a:p>
                <a:r>
                  <a:rPr lang="zh-TW" altLang="en-US">
                    <a:noFill/>
                  </a:rPr>
                  <a:t> </a:t>
                </a:r>
              </a:p>
            </p:txBody>
          </p:sp>
        </mc:Fallback>
      </mc:AlternateContent>
      <p:pic>
        <p:nvPicPr>
          <p:cNvPr id="5" name="圖片 4">
            <a:extLst>
              <a:ext uri="{FF2B5EF4-FFF2-40B4-BE49-F238E27FC236}">
                <a16:creationId xmlns:a16="http://schemas.microsoft.com/office/drawing/2014/main" id="{0B10C0DF-9879-4571-B84E-8E6FF7D745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04664" y="1823528"/>
            <a:ext cx="4944599" cy="4595054"/>
          </a:xfrm>
          <a:prstGeom prst="rect">
            <a:avLst/>
          </a:prstGeom>
        </p:spPr>
      </p:pic>
      <p:pic>
        <p:nvPicPr>
          <p:cNvPr id="6" name="圖片 5">
            <a:extLst>
              <a:ext uri="{FF2B5EF4-FFF2-40B4-BE49-F238E27FC236}">
                <a16:creationId xmlns:a16="http://schemas.microsoft.com/office/drawing/2014/main" id="{1F370DE8-8656-4F3D-9F22-0820DBAC37E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8132" y="3425994"/>
            <a:ext cx="5608996" cy="2992588"/>
          </a:xfrm>
          <a:prstGeom prst="rect">
            <a:avLst/>
          </a:prstGeom>
        </p:spPr>
      </p:pic>
      <p:sp>
        <p:nvSpPr>
          <p:cNvPr id="4" name="矩形 3">
            <a:extLst>
              <a:ext uri="{FF2B5EF4-FFF2-40B4-BE49-F238E27FC236}">
                <a16:creationId xmlns:a16="http://schemas.microsoft.com/office/drawing/2014/main" id="{EC72803F-475E-4CD0-9066-7372D320977C}"/>
              </a:ext>
            </a:extLst>
          </p:cNvPr>
          <p:cNvSpPr/>
          <p:nvPr/>
        </p:nvSpPr>
        <p:spPr>
          <a:xfrm>
            <a:off x="7885651" y="5268286"/>
            <a:ext cx="1040235" cy="21072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253586BE-574E-4914-81EE-1ABCCFDA7E5D}"/>
              </a:ext>
            </a:extLst>
          </p:cNvPr>
          <p:cNvSpPr/>
          <p:nvPr/>
        </p:nvSpPr>
        <p:spPr>
          <a:xfrm>
            <a:off x="7952763" y="6207853"/>
            <a:ext cx="1040235" cy="21072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9977575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Comparison with others</a:t>
            </a:r>
            <a:endParaRPr lang="zh-TW" altLang="en-US"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01D5797D-F366-41A1-BE8D-190037C138F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8205" y="1690688"/>
            <a:ext cx="6954484" cy="3918852"/>
          </a:xfrm>
          <a:prstGeom prst="rect">
            <a:avLst/>
          </a:prstGeom>
        </p:spPr>
      </p:pic>
      <p:pic>
        <p:nvPicPr>
          <p:cNvPr id="7" name="圖片 6">
            <a:extLst>
              <a:ext uri="{FF2B5EF4-FFF2-40B4-BE49-F238E27FC236}">
                <a16:creationId xmlns:a16="http://schemas.microsoft.com/office/drawing/2014/main" id="{57FC1497-608F-42D2-AB01-FF1AF3CE74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32879" y="3018210"/>
            <a:ext cx="4088033" cy="1263808"/>
          </a:xfrm>
          <a:prstGeom prst="rect">
            <a:avLst/>
          </a:prstGeom>
        </p:spPr>
      </p:pic>
    </p:spTree>
    <p:extLst>
      <p:ext uri="{BB962C8B-B14F-4D97-AF65-F5344CB8AC3E}">
        <p14:creationId xmlns:p14="http://schemas.microsoft.com/office/powerpoint/2010/main" val="1511640412"/>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14448</TotalTime>
  <Words>679</Words>
  <Application>Microsoft Office PowerPoint</Application>
  <PresentationFormat>寬螢幕</PresentationFormat>
  <Paragraphs>79</Paragraphs>
  <Slides>18</Slides>
  <Notes>16</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18</vt:i4>
      </vt:variant>
    </vt:vector>
  </HeadingPairs>
  <TitlesOfParts>
    <vt:vector size="25" baseType="lpstr">
      <vt:lpstr>新細明體</vt:lpstr>
      <vt:lpstr>Arial</vt:lpstr>
      <vt:lpstr>Calibri</vt:lpstr>
      <vt:lpstr>Calibri Light</vt:lpstr>
      <vt:lpstr>Cambria Math</vt:lpstr>
      <vt:lpstr>Times New Roman</vt:lpstr>
      <vt:lpstr>Office 佈景主題</vt:lpstr>
      <vt:lpstr>An adaptive portfolio trading system:  A risk-return portfolio optimization using recurrent reinforcement learning with expected maximum drawdown</vt:lpstr>
      <vt:lpstr>Abstract(1/2)</vt:lpstr>
      <vt:lpstr>Abstract(2/2)</vt:lpstr>
      <vt:lpstr>Recurrent reinforcement learning</vt:lpstr>
      <vt:lpstr>Sharpe ratio (SR)</vt:lpstr>
      <vt:lpstr>Calmar ratio (CR)</vt:lpstr>
      <vt:lpstr>PowerPoint 簡報</vt:lpstr>
      <vt:lpstr>Data collection</vt:lpstr>
      <vt:lpstr>Portfolio performance RRL with SR</vt:lpstr>
      <vt:lpstr>Portfolio performance RRL with Sterling Ratio (TR)</vt:lpstr>
      <vt:lpstr>Portfolio performance RRL with CR</vt:lpstr>
      <vt:lpstr>Comparison</vt:lpstr>
      <vt:lpstr>CLY RTF Signal generated</vt:lpstr>
      <vt:lpstr>Comparison at different δ</vt:lpstr>
      <vt:lpstr>Comparison at different δ</vt:lpstr>
      <vt:lpstr>RRL based trading decision system</vt:lpstr>
      <vt:lpstr>Dynamic stop-loss strategy</vt:lpstr>
      <vt:lpstr>Comparison with others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Efficient Selectivity and Backup Operators in Monte-Carlo Tree Search</dc:title>
  <dc:creator>Trixie</dc:creator>
  <cp:lastModifiedBy>pplab</cp:lastModifiedBy>
  <cp:revision>522</cp:revision>
  <dcterms:created xsi:type="dcterms:W3CDTF">2017-09-07T05:36:32Z</dcterms:created>
  <dcterms:modified xsi:type="dcterms:W3CDTF">2018-05-01T08:12:27Z</dcterms:modified>
</cp:coreProperties>
</file>