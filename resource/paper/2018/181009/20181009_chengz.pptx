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9"/>
  </p:notesMasterIdLst>
  <p:sldIdLst>
    <p:sldId id="256" r:id="rId2"/>
    <p:sldId id="273" r:id="rId3"/>
    <p:sldId id="257" r:id="rId4"/>
    <p:sldId id="277" r:id="rId5"/>
    <p:sldId id="279" r:id="rId6"/>
    <p:sldId id="281" r:id="rId7"/>
    <p:sldId id="282" r:id="rId8"/>
    <p:sldId id="283" r:id="rId9"/>
    <p:sldId id="284" r:id="rId10"/>
    <p:sldId id="285" r:id="rId11"/>
    <p:sldId id="288" r:id="rId12"/>
    <p:sldId id="286" r:id="rId13"/>
    <p:sldId id="287" r:id="rId14"/>
    <p:sldId id="289" r:id="rId15"/>
    <p:sldId id="291" r:id="rId16"/>
    <p:sldId id="292" r:id="rId17"/>
    <p:sldId id="290"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B5FBEBF5-6C27-43DA-9D2C-B1537964028B}">
          <p14:sldIdLst>
            <p14:sldId id="256"/>
            <p14:sldId id="273"/>
            <p14:sldId id="257"/>
            <p14:sldId id="277"/>
            <p14:sldId id="279"/>
            <p14:sldId id="281"/>
            <p14:sldId id="282"/>
            <p14:sldId id="283"/>
            <p14:sldId id="284"/>
            <p14:sldId id="285"/>
            <p14:sldId id="288"/>
            <p14:sldId id="286"/>
            <p14:sldId id="287"/>
            <p14:sldId id="289"/>
            <p14:sldId id="291"/>
            <p14:sldId id="292"/>
          </p14:sldIdLst>
        </p14:section>
        <p14:section name="test" id="{5A0672B8-76E0-491A-93E0-1923641389C1}">
          <p14:sldIdLst>
            <p14:sldId id="29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BF7"/>
    <a:srgbClr val="4472C4"/>
    <a:srgbClr val="855151"/>
    <a:srgbClr val="FF33CC"/>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50" autoAdjust="0"/>
    <p:restoredTop sz="85059" autoAdjust="0"/>
  </p:normalViewPr>
  <p:slideViewPr>
    <p:cSldViewPr snapToGrid="0">
      <p:cViewPr>
        <p:scale>
          <a:sx n="100" d="100"/>
          <a:sy n="100" d="100"/>
        </p:scale>
        <p:origin x="120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2018/10/7</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200" b="0" i="0" u="none" strike="noStrike" kern="1200" baseline="0" dirty="0">
                <a:solidFill>
                  <a:schemeClr val="tx1"/>
                </a:solidFill>
                <a:latin typeface="+mn-lt"/>
                <a:ea typeface="+mn-ea"/>
                <a:cs typeface="+mn-cs"/>
              </a:rPr>
              <a:t>Brooklyn College of the City University of New York</a:t>
            </a:r>
            <a:r>
              <a:rPr lang="zh-TW" altLang="en-US" sz="1200" b="0" i="0" u="none" strike="noStrike" kern="1200" baseline="0" dirty="0">
                <a:solidFill>
                  <a:schemeClr val="tx1"/>
                </a:solidFill>
                <a:latin typeface="+mn-lt"/>
                <a:ea typeface="+mn-ea"/>
                <a:cs typeface="+mn-cs"/>
              </a:rPr>
              <a:t> </a:t>
            </a:r>
            <a:r>
              <a:rPr lang="zh-TW" altLang="en-US" sz="1200" b="0" i="0" kern="1200" dirty="0">
                <a:solidFill>
                  <a:schemeClr val="tx1"/>
                </a:solidFill>
                <a:effectLst/>
                <a:latin typeface="+mn-lt"/>
                <a:ea typeface="+mn-ea"/>
                <a:cs typeface="+mn-cs"/>
              </a:rPr>
              <a:t>紐約市立大學布魯克林學院</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The Graduate Center of the City University of New York</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461596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3224565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565182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918054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043017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1205304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7956057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4265001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3793374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3683129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2490465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2303524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16</a:t>
            </a:fld>
            <a:endParaRPr lang="zh-TW" altLang="en-US"/>
          </a:p>
        </p:txBody>
      </p:sp>
    </p:spTree>
    <p:extLst>
      <p:ext uri="{BB962C8B-B14F-4D97-AF65-F5344CB8AC3E}">
        <p14:creationId xmlns:p14="http://schemas.microsoft.com/office/powerpoint/2010/main" val="2674803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17</a:t>
            </a:fld>
            <a:endParaRPr lang="zh-TW" altLang="en-US"/>
          </a:p>
        </p:txBody>
      </p:sp>
    </p:spTree>
    <p:extLst>
      <p:ext uri="{BB962C8B-B14F-4D97-AF65-F5344CB8AC3E}">
        <p14:creationId xmlns:p14="http://schemas.microsoft.com/office/powerpoint/2010/main" val="135146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2018/10/7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2018/10/7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2018/10/7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2018/10/7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2018/10/7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2018/10/7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2018/10/7</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2018/10/7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2018/10/7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2018/10/7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2018/10/7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2018/10/7</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469408" y="564900"/>
            <a:ext cx="8205179" cy="1639565"/>
          </a:xfrm>
        </p:spPr>
        <p:txBody>
          <a:bodyPr>
            <a:normAutofit/>
          </a:bodyPr>
          <a:lstStyle/>
          <a:p>
            <a:r>
              <a:rPr lang="en-US" altLang="zh-TW" sz="4000" b="1" dirty="0">
                <a:latin typeface="Times New Roman" panose="02020603050405020304" pitchFamily="18" charset="0"/>
                <a:cs typeface="Times New Roman" panose="02020603050405020304" pitchFamily="18" charset="0"/>
              </a:rPr>
              <a:t> Speeding up the detection of tandem repeats over the</a:t>
            </a:r>
            <a:r>
              <a:rPr lang="zh-TW" altLang="en-US" sz="4000" b="1" dirty="0">
                <a:latin typeface="Times New Roman" panose="02020603050405020304" pitchFamily="18" charset="0"/>
                <a:cs typeface="Times New Roman" panose="02020603050405020304" pitchFamily="18" charset="0"/>
              </a:rPr>
              <a:t> </a:t>
            </a:r>
            <a:r>
              <a:rPr lang="en-US" altLang="zh-TW" sz="4000" b="1" dirty="0">
                <a:latin typeface="Times New Roman" panose="02020603050405020304" pitchFamily="18" charset="0"/>
                <a:cs typeface="Times New Roman" panose="02020603050405020304" pitchFamily="18" charset="0"/>
              </a:rPr>
              <a:t>edit distance</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1506706" y="3024004"/>
            <a:ext cx="6130581" cy="707886"/>
          </a:xfrm>
        </p:spPr>
        <p:txBody>
          <a:bodyPr>
            <a:normAutofit/>
          </a:bodyPr>
          <a:lstStyle/>
          <a:p>
            <a:r>
              <a:rPr lang="en-US" altLang="zh-TW" sz="2800" dirty="0">
                <a:latin typeface="Times New Roman" panose="02020603050405020304" pitchFamily="18" charset="0"/>
                <a:ea typeface="+mj-ea"/>
                <a:cs typeface="Times New Roman" panose="02020603050405020304" pitchFamily="18" charset="0"/>
              </a:rPr>
              <a:t> Dina Sokol, Justin </a:t>
            </a:r>
            <a:r>
              <a:rPr lang="en-US" altLang="zh-TW" sz="2800" dirty="0" err="1">
                <a:latin typeface="Times New Roman" panose="02020603050405020304" pitchFamily="18" charset="0"/>
                <a:ea typeface="+mj-ea"/>
                <a:cs typeface="Times New Roman" panose="02020603050405020304" pitchFamily="18" charset="0"/>
              </a:rPr>
              <a:t>Tojeira</a:t>
            </a:r>
            <a:endParaRPr lang="zh-TW" altLang="en-US" sz="2800"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489688" y="5357855"/>
            <a:ext cx="2715491"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Guan-</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Zhi</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Chen</a:t>
            </a: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2018.10.09</a:t>
            </a:r>
          </a:p>
        </p:txBody>
      </p:sp>
      <p:sp>
        <p:nvSpPr>
          <p:cNvPr id="6" name="矩形 5">
            <a:extLst>
              <a:ext uri="{FF2B5EF4-FFF2-40B4-BE49-F238E27FC236}">
                <a16:creationId xmlns:a16="http://schemas.microsoft.com/office/drawing/2014/main" id="{ADEB69C1-BEBB-4D8A-BCF3-51571A635FE9}"/>
              </a:ext>
            </a:extLst>
          </p:cNvPr>
          <p:cNvSpPr/>
          <p:nvPr/>
        </p:nvSpPr>
        <p:spPr>
          <a:xfrm flipH="1">
            <a:off x="970460" y="4129374"/>
            <a:ext cx="7203076" cy="461665"/>
          </a:xfrm>
          <a:prstGeom prst="rect">
            <a:avLst/>
          </a:prstGeom>
        </p:spPr>
        <p:txBody>
          <a:bodyPr wrap="square">
            <a:spAutoFit/>
          </a:bodyPr>
          <a:lstStyle/>
          <a:p>
            <a:pPr algn="ctr"/>
            <a:r>
              <a:rPr lang="en-US" altLang="zh-TW" sz="2400" dirty="0">
                <a:latin typeface="Times New Roman" panose="02020603050405020304" pitchFamily="18" charset="0"/>
                <a:ea typeface="+mj-ea"/>
                <a:cs typeface="Times New Roman" panose="02020603050405020304" pitchFamily="18" charset="0"/>
              </a:rPr>
              <a:t>Theoretical Computer Science 525 (2014) 103–110</a:t>
            </a:r>
          </a:p>
        </p:txBody>
      </p:sp>
    </p:spTree>
    <p:extLst>
      <p:ext uri="{BB962C8B-B14F-4D97-AF65-F5344CB8AC3E}">
        <p14:creationId xmlns:p14="http://schemas.microsoft.com/office/powerpoint/2010/main" val="261172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02232" y="30535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251916" y="895712"/>
            <a:ext cx="8155484" cy="5460639"/>
          </a:xfrm>
        </p:spPr>
        <p:txBody>
          <a:bodyPr>
            <a:noAutofit/>
          </a:bodyPr>
          <a:lstStyle/>
          <a:p>
            <a:pPr marL="0" indent="0">
              <a:lnSpc>
                <a:spcPct val="150000"/>
              </a:lnSpc>
              <a:buNone/>
            </a:pPr>
            <a:r>
              <a:rPr lang="en-US" altLang="zh-TW" dirty="0">
                <a:latin typeface="Times New Roman" panose="02020603050405020304" pitchFamily="18" charset="0"/>
              </a:rPr>
              <a:t>A tandem repeat in a string is a sequence of two or more contiguous, approximate copies of a pattern. Finding an efficient, deterministic algorithm to perform an exhaustive search for tandem repeats in a string is an important and practical problem, due to the relevance of tandem repeats in several areas, including human identity testing, disease diagnosis, sequence homology, and population studies.</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02232" y="30535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mc:AlternateContent xmlns:mc="http://schemas.openxmlformats.org/markup-compatibility/2006">
        <mc:Choice xmlns:a14="http://schemas.microsoft.com/office/drawing/2010/main" Requires="a14">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251916" y="895712"/>
                <a:ext cx="8489852" cy="5445183"/>
              </a:xfrm>
            </p:spPr>
            <p:txBody>
              <a:bodyPr vert="horz" lIns="91440" tIns="45720" rIns="91440" bIns="45720" rtlCol="0">
                <a:noAutofit/>
              </a:bodyPr>
              <a:lstStyle/>
              <a:p>
                <a:pPr marL="0" indent="0">
                  <a:lnSpc>
                    <a:spcPct val="150000"/>
                  </a:lnSpc>
                  <a:spcBef>
                    <a:spcPts val="0"/>
                  </a:spcBef>
                  <a:buNone/>
                </a:pPr>
                <a:r>
                  <a:rPr lang="en-US" altLang="zh-TW" sz="2400" dirty="0">
                    <a:latin typeface="Times New Roman" panose="02020603050405020304" pitchFamily="18" charset="0"/>
                  </a:rPr>
                  <a:t>In this paper, we present an </a:t>
                </a:r>
                <a14:m>
                  <m:oMath xmlns:m="http://schemas.openxmlformats.org/officeDocument/2006/math">
                    <m:r>
                      <a:rPr lang="en-US" altLang="zh-TW" sz="2400" i="1" dirty="0" smtClean="0">
                        <a:latin typeface="Cambria Math" panose="02040503050406030204" pitchFamily="18" charset="0"/>
                      </a:rPr>
                      <m:t>𝑂</m:t>
                    </m:r>
                    <m:r>
                      <a:rPr lang="en-US" altLang="zh-TW" sz="2400" i="1" dirty="0" smtClean="0">
                        <a:latin typeface="Cambria Math" panose="02040503050406030204" pitchFamily="18" charset="0"/>
                      </a:rPr>
                      <m:t>(</m:t>
                    </m:r>
                    <m:r>
                      <a:rPr lang="en-US" altLang="zh-TW" sz="2400" i="1" dirty="0" smtClean="0">
                        <a:latin typeface="Cambria Math" panose="02040503050406030204" pitchFamily="18" charset="0"/>
                      </a:rPr>
                      <m:t>𝑛𝑘</m:t>
                    </m:r>
                    <m:r>
                      <a:rPr lang="en-US" altLang="zh-TW" sz="2400" i="1" dirty="0" smtClean="0">
                        <a:latin typeface="Cambria Math" panose="02040503050406030204" pitchFamily="18" charset="0"/>
                      </a:rPr>
                      <m:t> </m:t>
                    </m:r>
                    <m:sSup>
                      <m:sSupPr>
                        <m:ctrlPr>
                          <a:rPr lang="en-US" altLang="zh-TW" sz="2400" b="0" i="1" dirty="0" smtClean="0">
                            <a:latin typeface="Cambria Math" panose="02040503050406030204" pitchFamily="18" charset="0"/>
                          </a:rPr>
                        </m:ctrlPr>
                      </m:sSupPr>
                      <m:e>
                        <m:r>
                          <m:rPr>
                            <m:sty m:val="p"/>
                          </m:rPr>
                          <a:rPr lang="en-US" altLang="zh-TW" sz="2400" i="0" dirty="0" smtClean="0">
                            <a:latin typeface="Cambria Math" panose="02040503050406030204" pitchFamily="18" charset="0"/>
                          </a:rPr>
                          <m:t>log</m:t>
                        </m:r>
                      </m:e>
                      <m:sup>
                        <m:r>
                          <a:rPr lang="en-US" altLang="zh-TW" sz="2400" b="0" i="1" dirty="0" smtClean="0">
                            <a:latin typeface="Cambria Math" panose="02040503050406030204" pitchFamily="18" charset="0"/>
                          </a:rPr>
                          <m:t>2</m:t>
                        </m:r>
                      </m:sup>
                    </m:sSup>
                    <m:r>
                      <a:rPr lang="en-US" altLang="zh-TW" sz="2400" i="1" dirty="0" smtClean="0">
                        <a:latin typeface="Cambria Math" panose="02040503050406030204" pitchFamily="18" charset="0"/>
                      </a:rPr>
                      <m:t> </m:t>
                    </m:r>
                    <m:r>
                      <a:rPr lang="en-US" altLang="zh-TW" sz="2400" i="1" dirty="0" smtClean="0">
                        <a:latin typeface="Cambria Math" panose="02040503050406030204" pitchFamily="18" charset="0"/>
                      </a:rPr>
                      <m:t>𝑘</m:t>
                    </m:r>
                    <m:r>
                      <a:rPr lang="en-US" altLang="zh-TW" sz="2400" i="1" dirty="0" smtClean="0">
                        <a:latin typeface="Cambria Math" panose="02040503050406030204" pitchFamily="18" charset="0"/>
                      </a:rPr>
                      <m:t>+</m:t>
                    </m:r>
                    <m:r>
                      <a:rPr lang="en-US" altLang="zh-TW" sz="2400" i="1" dirty="0" smtClean="0">
                        <a:latin typeface="Cambria Math" panose="02040503050406030204" pitchFamily="18" charset="0"/>
                      </a:rPr>
                      <m:t>𝑂𝑐𝑐</m:t>
                    </m:r>
                    <m:r>
                      <a:rPr lang="en-US" altLang="zh-TW" sz="2400" i="1" dirty="0" smtClean="0">
                        <a:latin typeface="Cambria Math" panose="02040503050406030204" pitchFamily="18" charset="0"/>
                      </a:rPr>
                      <m:t>) </m:t>
                    </m:r>
                  </m:oMath>
                </a14:m>
                <a:r>
                  <a:rPr lang="en-US" altLang="zh-TW" sz="2400" dirty="0">
                    <a:latin typeface="Times New Roman" panose="02020603050405020304" pitchFamily="18" charset="0"/>
                  </a:rPr>
                  <a:t>algorithm to find all approximate tandem repeats within a sequence of length n, allowing at most k insertions, deletions and mismatches in each repeat. Our algorithm utilizes the Lempel–</a:t>
                </a:r>
                <a:r>
                  <a:rPr lang="en-US" altLang="zh-TW" sz="2400" dirty="0" err="1">
                    <a:latin typeface="Times New Roman" panose="02020603050405020304" pitchFamily="18" charset="0"/>
                  </a:rPr>
                  <a:t>Ziv</a:t>
                </a:r>
                <a:r>
                  <a:rPr lang="en-US" altLang="zh-TW" sz="2400" dirty="0">
                    <a:latin typeface="Times New Roman" panose="02020603050405020304" pitchFamily="18" charset="0"/>
                  </a:rPr>
                  <a:t> factorization which was previously used in algorithms that locate exact tandem repeats, and algorithms that locate tandem repeats with only mismatches. The LZ framework is combined with speedups for calculating the edit distance, achieving a new and efficient exhaustive search for finding tandem repeats in a string.</a:t>
                </a:r>
              </a:p>
            </p:txBody>
          </p:sp>
        </mc:Choice>
        <mc:Fallback>
          <p:sp>
            <p:nvSpPr>
              <p:cNvPr id="7" name="內容版面配置區 6">
                <a:extLst>
                  <a:ext uri="{FF2B5EF4-FFF2-40B4-BE49-F238E27FC236}">
                    <a16:creationId xmlns:a16="http://schemas.microsoft.com/office/drawing/2014/main" id="{878CA31B-C758-4215-B281-353CA02EC37A}"/>
                  </a:ext>
                </a:extLst>
              </p:cNvPr>
              <p:cNvSpPr>
                <a:spLocks noGrp="1" noRot="1" noChangeAspect="1" noMove="1" noResize="1" noEditPoints="1" noAdjustHandles="1" noChangeArrowheads="1" noChangeShapeType="1" noTextEdit="1"/>
              </p:cNvSpPr>
              <p:nvPr>
                <p:ph idx="1"/>
              </p:nvPr>
            </p:nvSpPr>
            <p:spPr>
              <a:xfrm>
                <a:off x="251916" y="895712"/>
                <a:ext cx="8489852" cy="5445183"/>
              </a:xfrm>
              <a:blipFill>
                <a:blip r:embed="rId3"/>
                <a:stretch>
                  <a:fillRect l="-1077" r="-7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p:sp>
        <p:nvSpPr>
          <p:cNvPr id="16" name="標題 1">
            <a:extLst>
              <a:ext uri="{FF2B5EF4-FFF2-40B4-BE49-F238E27FC236}">
                <a16:creationId xmlns:a16="http://schemas.microsoft.com/office/drawing/2014/main" id="{44AAEA94-82BE-4FD8-9313-818F6FE7B07E}"/>
              </a:ext>
            </a:extLst>
          </p:cNvPr>
          <p:cNvSpPr txBox="1">
            <a:spLocks/>
          </p:cNvSpPr>
          <p:nvPr/>
        </p:nvSpPr>
        <p:spPr>
          <a:xfrm>
            <a:off x="402232" y="385081"/>
            <a:ext cx="6592334"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Definition</a:t>
            </a:r>
            <a:endParaRPr lang="zh-TW" altLang="en-US" sz="3600" dirty="0">
              <a:latin typeface="Times New Roman" panose="02020603050405020304" pitchFamily="18" charset="0"/>
              <a:cs typeface="Times New Roman" panose="02020603050405020304" pitchFamily="18" charset="0"/>
            </a:endParaRPr>
          </a:p>
        </p:txBody>
      </p:sp>
      <p:sp>
        <p:nvSpPr>
          <p:cNvPr id="6" name="標題 1">
            <a:extLst>
              <a:ext uri="{FF2B5EF4-FFF2-40B4-BE49-F238E27FC236}">
                <a16:creationId xmlns:a16="http://schemas.microsoft.com/office/drawing/2014/main" id="{65A2D5AD-0FB7-4AE5-9D67-E1EF78F7D7CD}"/>
              </a:ext>
            </a:extLst>
          </p:cNvPr>
          <p:cNvSpPr txBox="1">
            <a:spLocks/>
          </p:cNvSpPr>
          <p:nvPr/>
        </p:nvSpPr>
        <p:spPr>
          <a:xfrm>
            <a:off x="785143" y="1714378"/>
            <a:ext cx="541377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ACT </a:t>
            </a:r>
            <a:r>
              <a:rPr lang="en-US" altLang="zh-TW" sz="2400" spc="600" dirty="0" err="1">
                <a:solidFill>
                  <a:srgbClr val="0070C0"/>
                </a:solidFill>
                <a:latin typeface="Courier New" panose="02070309020205020404" pitchFamily="49" charset="0"/>
                <a:ea typeface="BatangChe" panose="02030609000101010101" pitchFamily="49" charset="-127"/>
                <a:cs typeface="Courier New" panose="02070309020205020404" pitchFamily="49" charset="0"/>
              </a:rPr>
              <a:t>ACT</a:t>
            </a:r>
            <a:r>
              <a:rPr lang="en-US" altLang="zh-TW" sz="2400"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 GCG </a:t>
            </a:r>
            <a:r>
              <a:rPr lang="en-US" altLang="zh-TW" sz="2400" spc="600" dirty="0" err="1">
                <a:solidFill>
                  <a:srgbClr val="0070C0"/>
                </a:solidFill>
                <a:latin typeface="Courier New" panose="02070309020205020404" pitchFamily="49" charset="0"/>
                <a:ea typeface="BatangChe" panose="02030609000101010101" pitchFamily="49" charset="-127"/>
                <a:cs typeface="Courier New" panose="02070309020205020404" pitchFamily="49" charset="0"/>
              </a:rPr>
              <a:t>GCG</a:t>
            </a:r>
            <a:endParaRPr lang="en-US" altLang="zh-TW" sz="2400" spc="600" dirty="0">
              <a:solidFill>
                <a:schemeClr val="accent2">
                  <a:lumMod val="75000"/>
                </a:schemeClr>
              </a:solidFill>
              <a:latin typeface="Courier New" panose="02070309020205020404" pitchFamily="49" charset="0"/>
              <a:ea typeface="BatangChe" panose="02030609000101010101" pitchFamily="49" charset="-127"/>
              <a:cs typeface="Courier New" panose="02070309020205020404" pitchFamily="49" charset="0"/>
            </a:endParaRPr>
          </a:p>
        </p:txBody>
      </p:sp>
      <p:sp>
        <p:nvSpPr>
          <p:cNvPr id="35" name="標題 1">
            <a:extLst>
              <a:ext uri="{FF2B5EF4-FFF2-40B4-BE49-F238E27FC236}">
                <a16:creationId xmlns:a16="http://schemas.microsoft.com/office/drawing/2014/main" id="{FABD00EA-C336-4524-8002-2EBFB5A650F5}"/>
              </a:ext>
            </a:extLst>
          </p:cNvPr>
          <p:cNvSpPr txBox="1">
            <a:spLocks/>
          </p:cNvSpPr>
          <p:nvPr/>
        </p:nvSpPr>
        <p:spPr>
          <a:xfrm>
            <a:off x="402232" y="1135140"/>
            <a:ext cx="6212324"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b="1" dirty="0">
                <a:latin typeface="Times New Roman" panose="02020603050405020304" pitchFamily="18" charset="0"/>
                <a:ea typeface="BatangChe" panose="02030609000101010101" pitchFamily="49" charset="-127"/>
                <a:cs typeface="Times New Roman" panose="02020603050405020304" pitchFamily="18" charset="0"/>
              </a:rPr>
              <a:t>Tandem repeat</a:t>
            </a: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two or more adjacent copies</a:t>
            </a:r>
          </a:p>
        </p:txBody>
      </p:sp>
      <p:sp>
        <p:nvSpPr>
          <p:cNvPr id="40" name="標題 1">
            <a:extLst>
              <a:ext uri="{FF2B5EF4-FFF2-40B4-BE49-F238E27FC236}">
                <a16:creationId xmlns:a16="http://schemas.microsoft.com/office/drawing/2014/main" id="{51EF017B-A2AC-43D1-A255-7142F6EC2A34}"/>
              </a:ext>
            </a:extLst>
          </p:cNvPr>
          <p:cNvSpPr txBox="1">
            <a:spLocks/>
          </p:cNvSpPr>
          <p:nvPr/>
        </p:nvSpPr>
        <p:spPr>
          <a:xfrm>
            <a:off x="402232" y="2385473"/>
            <a:ext cx="600754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b="1" dirty="0">
                <a:latin typeface="Times New Roman" panose="02020603050405020304" pitchFamily="18" charset="0"/>
                <a:ea typeface="BatangChe" panose="02030609000101010101" pitchFamily="49" charset="-127"/>
                <a:cs typeface="Times New Roman" panose="02020603050405020304" pitchFamily="18" charset="0"/>
              </a:rPr>
              <a:t>Exact tandem repeat</a:t>
            </a: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identical copies</a:t>
            </a:r>
          </a:p>
        </p:txBody>
      </p:sp>
      <p:sp>
        <p:nvSpPr>
          <p:cNvPr id="41" name="標題 1">
            <a:extLst>
              <a:ext uri="{FF2B5EF4-FFF2-40B4-BE49-F238E27FC236}">
                <a16:creationId xmlns:a16="http://schemas.microsoft.com/office/drawing/2014/main" id="{DB22B3E1-CCF1-466D-B601-B0A2E5C90EF0}"/>
              </a:ext>
            </a:extLst>
          </p:cNvPr>
          <p:cNvSpPr txBox="1">
            <a:spLocks/>
          </p:cNvSpPr>
          <p:nvPr/>
        </p:nvSpPr>
        <p:spPr>
          <a:xfrm>
            <a:off x="785143" y="2962740"/>
            <a:ext cx="4535002"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CAG </a:t>
            </a:r>
            <a:r>
              <a:rPr lang="en-US" altLang="zh-TW" sz="2400" spc="600" dirty="0" err="1">
                <a:solidFill>
                  <a:srgbClr val="0070C0"/>
                </a:solidFill>
                <a:latin typeface="Courier New" panose="02070309020205020404" pitchFamily="49" charset="0"/>
                <a:ea typeface="BatangChe" panose="02030609000101010101" pitchFamily="49" charset="-127"/>
                <a:cs typeface="Courier New" panose="02070309020205020404" pitchFamily="49" charset="0"/>
              </a:rPr>
              <a:t>CAG</a:t>
            </a:r>
            <a:r>
              <a:rPr lang="en-US" altLang="zh-TW" sz="2400"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spc="600" dirty="0" err="1">
                <a:solidFill>
                  <a:srgbClr val="0070C0"/>
                </a:solidFill>
                <a:latin typeface="Courier New" panose="02070309020205020404" pitchFamily="49" charset="0"/>
                <a:ea typeface="BatangChe" panose="02030609000101010101" pitchFamily="49" charset="-127"/>
                <a:cs typeface="Courier New" panose="02070309020205020404" pitchFamily="49" charset="0"/>
              </a:rPr>
              <a:t>CAG</a:t>
            </a:r>
            <a:r>
              <a:rPr lang="en-US" altLang="zh-TW" sz="2400"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spc="600" dirty="0" err="1">
                <a:solidFill>
                  <a:srgbClr val="0070C0"/>
                </a:solidFill>
                <a:latin typeface="Courier New" panose="02070309020205020404" pitchFamily="49" charset="0"/>
                <a:ea typeface="BatangChe" panose="02030609000101010101" pitchFamily="49" charset="-127"/>
                <a:cs typeface="Courier New" panose="02070309020205020404" pitchFamily="49" charset="0"/>
              </a:rPr>
              <a:t>CAG</a:t>
            </a:r>
            <a:endParaRPr lang="en-US" altLang="zh-TW" sz="2400" spc="600" dirty="0">
              <a:solidFill>
                <a:schemeClr val="accent2">
                  <a:lumMod val="75000"/>
                </a:schemeClr>
              </a:solidFill>
              <a:latin typeface="Courier New" panose="02070309020205020404" pitchFamily="49" charset="0"/>
              <a:ea typeface="BatangChe" panose="02030609000101010101" pitchFamily="49" charset="-127"/>
              <a:cs typeface="Courier New" panose="02070309020205020404" pitchFamily="49" charset="0"/>
            </a:endParaRPr>
          </a:p>
        </p:txBody>
      </p:sp>
      <p:sp>
        <p:nvSpPr>
          <p:cNvPr id="42" name="標題 1">
            <a:extLst>
              <a:ext uri="{FF2B5EF4-FFF2-40B4-BE49-F238E27FC236}">
                <a16:creationId xmlns:a16="http://schemas.microsoft.com/office/drawing/2014/main" id="{CDF71D39-14A4-4367-91A3-AB239CE8FB39}"/>
              </a:ext>
            </a:extLst>
          </p:cNvPr>
          <p:cNvSpPr txBox="1">
            <a:spLocks/>
          </p:cNvSpPr>
          <p:nvPr/>
        </p:nvSpPr>
        <p:spPr>
          <a:xfrm>
            <a:off x="402231" y="3690640"/>
            <a:ext cx="8587389" cy="583367"/>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4000" b="1" dirty="0">
                <a:latin typeface="Times New Roman" panose="02020603050405020304" pitchFamily="18" charset="0"/>
                <a:ea typeface="BatangChe" panose="02030609000101010101" pitchFamily="49" charset="-127"/>
                <a:cs typeface="Times New Roman" panose="02020603050405020304" pitchFamily="18" charset="0"/>
              </a:rPr>
              <a:t>Approximate tandem repeat</a:t>
            </a:r>
            <a:r>
              <a:rPr lang="en-US" altLang="zh-TW" sz="4500" b="1" dirty="0">
                <a:latin typeface="Times New Roman" panose="02020603050405020304" pitchFamily="18" charset="0"/>
                <a:ea typeface="BatangChe" panose="02030609000101010101" pitchFamily="49" charset="-127"/>
                <a:cs typeface="Times New Roman" panose="02020603050405020304" pitchFamily="18" charset="0"/>
              </a:rPr>
              <a:t>:</a:t>
            </a:r>
            <a:r>
              <a:rPr lang="en-US" altLang="zh-TW" sz="2400" b="1" dirty="0">
                <a:latin typeface="Times New Roman" panose="02020603050405020304" pitchFamily="18" charset="0"/>
                <a:ea typeface="BatangChe" panose="02030609000101010101" pitchFamily="49" charset="-127"/>
                <a:cs typeface="Times New Roman" panose="02020603050405020304" pitchFamily="18" charset="0"/>
              </a:rPr>
              <a:t> </a:t>
            </a:r>
            <a:r>
              <a:rPr lang="en-US" altLang="zh-TW" sz="3400" dirty="0">
                <a:latin typeface="Times New Roman" panose="02020603050405020304" pitchFamily="18" charset="0"/>
                <a:ea typeface="BatangChe" panose="02030609000101010101" pitchFamily="49" charset="-127"/>
                <a:cs typeface="Times New Roman" panose="02020603050405020304" pitchFamily="18" charset="0"/>
              </a:rPr>
              <a:t>have some degree of deviation</a:t>
            </a:r>
            <a:endParaRPr lang="en-US" altLang="zh-TW" sz="2400" dirty="0">
              <a:latin typeface="Times New Roman" panose="02020603050405020304" pitchFamily="18" charset="0"/>
              <a:ea typeface="BatangChe" panose="02030609000101010101" pitchFamily="49" charset="-127"/>
              <a:cs typeface="Times New Roman" panose="02020603050405020304" pitchFamily="18" charset="0"/>
            </a:endParaRPr>
          </a:p>
        </p:txBody>
      </p:sp>
      <p:sp>
        <p:nvSpPr>
          <p:cNvPr id="43" name="標題 1">
            <a:extLst>
              <a:ext uri="{FF2B5EF4-FFF2-40B4-BE49-F238E27FC236}">
                <a16:creationId xmlns:a16="http://schemas.microsoft.com/office/drawing/2014/main" id="{E3D8440E-E044-4BF3-9111-662E01796214}"/>
              </a:ext>
            </a:extLst>
          </p:cNvPr>
          <p:cNvSpPr txBox="1">
            <a:spLocks/>
          </p:cNvSpPr>
          <p:nvPr/>
        </p:nvSpPr>
        <p:spPr>
          <a:xfrm>
            <a:off x="785143" y="4267907"/>
            <a:ext cx="4190618"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CAG </a:t>
            </a:r>
            <a:r>
              <a:rPr lang="en-US" altLang="zh-TW" sz="2400" spc="600" dirty="0">
                <a:solidFill>
                  <a:srgbClr val="FF0000"/>
                </a:solidFill>
                <a:latin typeface="Courier New" panose="02070309020205020404" pitchFamily="49" charset="0"/>
                <a:ea typeface="BatangChe" panose="02030609000101010101" pitchFamily="49" charset="-127"/>
                <a:cs typeface="Courier New" panose="02070309020205020404" pitchFamily="49" charset="0"/>
              </a:rPr>
              <a:t>G</a:t>
            </a:r>
            <a:r>
              <a:rPr lang="en-US" altLang="zh-TW" sz="2400"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AG CA</a:t>
            </a:r>
            <a:r>
              <a:rPr lang="en-US" altLang="zh-TW" sz="2400" spc="600" dirty="0">
                <a:solidFill>
                  <a:srgbClr val="FF0000"/>
                </a:solidFill>
                <a:latin typeface="Courier New" panose="02070309020205020404" pitchFamily="49" charset="0"/>
                <a:ea typeface="BatangChe" panose="02030609000101010101" pitchFamily="49" charset="-127"/>
                <a:cs typeface="Courier New" panose="02070309020205020404" pitchFamily="49" charset="0"/>
              </a:rPr>
              <a:t>C</a:t>
            </a:r>
            <a:r>
              <a:rPr lang="en-US" altLang="zh-TW" sz="2400" spc="600" dirty="0">
                <a:solidFill>
                  <a:srgbClr val="00206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CAG</a:t>
            </a:r>
            <a:endParaRPr lang="en-US" altLang="zh-TW" sz="2400" spc="600" dirty="0">
              <a:solidFill>
                <a:schemeClr val="accent2">
                  <a:lumMod val="75000"/>
                </a:schemeClr>
              </a:solidFill>
              <a:latin typeface="Courier New" panose="02070309020205020404" pitchFamily="49" charset="0"/>
              <a:ea typeface="BatangChe" panose="02030609000101010101" pitchFamily="49" charset="-127"/>
              <a:cs typeface="Courier New" panose="02070309020205020404" pitchFamily="49" charset="0"/>
            </a:endParaRPr>
          </a:p>
        </p:txBody>
      </p:sp>
    </p:spTree>
    <p:extLst>
      <p:ext uri="{BB962C8B-B14F-4D97-AF65-F5344CB8AC3E}">
        <p14:creationId xmlns:p14="http://schemas.microsoft.com/office/powerpoint/2010/main" val="1898463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sp>
        <p:nvSpPr>
          <p:cNvPr id="16" name="標題 1">
            <a:extLst>
              <a:ext uri="{FF2B5EF4-FFF2-40B4-BE49-F238E27FC236}">
                <a16:creationId xmlns:a16="http://schemas.microsoft.com/office/drawing/2014/main" id="{44AAEA94-82BE-4FD8-9313-818F6FE7B07E}"/>
              </a:ext>
            </a:extLst>
          </p:cNvPr>
          <p:cNvSpPr txBox="1">
            <a:spLocks/>
          </p:cNvSpPr>
          <p:nvPr/>
        </p:nvSpPr>
        <p:spPr>
          <a:xfrm>
            <a:off x="402232" y="385081"/>
            <a:ext cx="6592334"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Definition (Edit distance)</a:t>
            </a:r>
            <a:endParaRPr lang="zh-TW" altLang="en-US" sz="3600" dirty="0">
              <a:latin typeface="Times New Roman" panose="02020603050405020304" pitchFamily="18" charset="0"/>
              <a:cs typeface="Times New Roman" panose="02020603050405020304" pitchFamily="18" charset="0"/>
            </a:endParaRPr>
          </a:p>
        </p:txBody>
      </p:sp>
      <p:sp>
        <p:nvSpPr>
          <p:cNvPr id="35" name="標題 1">
            <a:extLst>
              <a:ext uri="{FF2B5EF4-FFF2-40B4-BE49-F238E27FC236}">
                <a16:creationId xmlns:a16="http://schemas.microsoft.com/office/drawing/2014/main" id="{FABD00EA-C336-4524-8002-2EBFB5A650F5}"/>
              </a:ext>
            </a:extLst>
          </p:cNvPr>
          <p:cNvSpPr txBox="1">
            <a:spLocks/>
          </p:cNvSpPr>
          <p:nvPr/>
        </p:nvSpPr>
        <p:spPr>
          <a:xfrm>
            <a:off x="402232" y="1069605"/>
            <a:ext cx="7898620" cy="10142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b="1" dirty="0">
                <a:latin typeface="Times New Roman" panose="02020603050405020304" pitchFamily="18" charset="0"/>
                <a:ea typeface="BatangChe" panose="02030609000101010101" pitchFamily="49" charset="-127"/>
                <a:cs typeface="Times New Roman" panose="02020603050405020304" pitchFamily="18" charset="0"/>
              </a:rPr>
              <a:t>Edit distance </a:t>
            </a: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a:t>
            </a:r>
          </a:p>
          <a:p>
            <a:r>
              <a:rPr lang="en-US" altLang="zh-TW" sz="2400" dirty="0">
                <a:latin typeface="Times New Roman" panose="02020603050405020304" pitchFamily="18" charset="0"/>
                <a:cs typeface="Times New Roman" panose="02020603050405020304" pitchFamily="18" charset="0"/>
              </a:rPr>
              <a:t>the minimum number of </a:t>
            </a:r>
            <a:r>
              <a:rPr lang="en-US" altLang="zh-TW" sz="2400" dirty="0">
                <a:solidFill>
                  <a:srgbClr val="0070C0"/>
                </a:solidFill>
                <a:latin typeface="Times New Roman" panose="02020603050405020304" pitchFamily="18" charset="0"/>
                <a:cs typeface="Times New Roman" panose="02020603050405020304" pitchFamily="18" charset="0"/>
              </a:rPr>
              <a:t>edit operations </a:t>
            </a:r>
            <a:r>
              <a:rPr lang="en-US" altLang="zh-TW" sz="2400" dirty="0">
                <a:latin typeface="Times New Roman" panose="02020603050405020304" pitchFamily="18" charset="0"/>
                <a:cs typeface="Times New Roman" panose="02020603050405020304" pitchFamily="18" charset="0"/>
              </a:rPr>
              <a:t>between two strings</a:t>
            </a:r>
            <a:endParaRPr lang="en-US" altLang="zh-TW" sz="2400" dirty="0">
              <a:latin typeface="Times New Roman" panose="02020603050405020304" pitchFamily="18" charset="0"/>
              <a:ea typeface="BatangChe" panose="02030609000101010101" pitchFamily="49" charset="-127"/>
              <a:cs typeface="Times New Roman" panose="02020603050405020304" pitchFamily="18" charset="0"/>
            </a:endParaRPr>
          </a:p>
        </p:txBody>
      </p:sp>
      <p:sp>
        <p:nvSpPr>
          <p:cNvPr id="10" name="標題 1">
            <a:extLst>
              <a:ext uri="{FF2B5EF4-FFF2-40B4-BE49-F238E27FC236}">
                <a16:creationId xmlns:a16="http://schemas.microsoft.com/office/drawing/2014/main" id="{766EDF5A-F71B-4807-8350-A7643848E501}"/>
              </a:ext>
            </a:extLst>
          </p:cNvPr>
          <p:cNvSpPr txBox="1">
            <a:spLocks/>
          </p:cNvSpPr>
          <p:nvPr/>
        </p:nvSpPr>
        <p:spPr>
          <a:xfrm>
            <a:off x="402232" y="2080555"/>
            <a:ext cx="7898620" cy="10142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b="1" dirty="0">
                <a:latin typeface="Times New Roman" panose="02020603050405020304" pitchFamily="18" charset="0"/>
                <a:ea typeface="BatangChe" panose="02030609000101010101" pitchFamily="49" charset="-127"/>
                <a:cs typeface="Times New Roman" panose="02020603050405020304" pitchFamily="18" charset="0"/>
              </a:rPr>
              <a:t>Edit operations (each cost = 1) </a:t>
            </a: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a:t>
            </a:r>
          </a:p>
          <a:p>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insertion, deletion, substitution</a:t>
            </a:r>
          </a:p>
        </p:txBody>
      </p:sp>
      <mc:AlternateContent xmlns:mc="http://schemas.openxmlformats.org/markup-compatibility/2006">
        <mc:Choice xmlns:a14="http://schemas.microsoft.com/office/drawing/2010/main" Requires="a14">
          <p:sp>
            <p:nvSpPr>
              <p:cNvPr id="2" name="矩形 1">
                <a:extLst>
                  <a:ext uri="{FF2B5EF4-FFF2-40B4-BE49-F238E27FC236}">
                    <a16:creationId xmlns:a16="http://schemas.microsoft.com/office/drawing/2014/main" id="{622BE4D0-A8CA-499E-A585-9A86ADBD5A68}"/>
                  </a:ext>
                </a:extLst>
              </p:cNvPr>
              <p:cNvSpPr/>
              <p:nvPr/>
            </p:nvSpPr>
            <p:spPr>
              <a:xfrm>
                <a:off x="4814681" y="1290350"/>
                <a:ext cx="1183529"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TW" b="0" i="1" smtClean="0">
                          <a:solidFill>
                            <a:srgbClr val="0070C0"/>
                          </a:solidFill>
                          <a:latin typeface="Cambria Math" panose="02040503050406030204" pitchFamily="18" charset="0"/>
                        </a:rPr>
                        <m:t>𝑒𝑑</m:t>
                      </m:r>
                      <m:r>
                        <a:rPr lang="en-US" altLang="zh-TW" b="0" i="1" smtClean="0">
                          <a:solidFill>
                            <a:srgbClr val="0070C0"/>
                          </a:solidFill>
                          <a:latin typeface="Cambria Math" panose="02040503050406030204" pitchFamily="18" charset="0"/>
                        </a:rPr>
                        <m:t>(</m:t>
                      </m:r>
                      <m:sSub>
                        <m:sSubPr>
                          <m:ctrlPr>
                            <a:rPr lang="en-US" altLang="zh-TW" b="0" i="1" smtClean="0">
                              <a:solidFill>
                                <a:srgbClr val="0070C0"/>
                              </a:solidFill>
                              <a:latin typeface="Cambria Math" panose="02040503050406030204" pitchFamily="18" charset="0"/>
                            </a:rPr>
                          </m:ctrlPr>
                        </m:sSubPr>
                        <m:e>
                          <m:r>
                            <a:rPr lang="en-US" altLang="zh-TW" b="0" i="1" smtClean="0">
                              <a:solidFill>
                                <a:srgbClr val="0070C0"/>
                              </a:solidFill>
                              <a:latin typeface="Cambria Math" panose="02040503050406030204" pitchFamily="18" charset="0"/>
                            </a:rPr>
                            <m:t>𝑠</m:t>
                          </m:r>
                        </m:e>
                        <m:sub>
                          <m:r>
                            <a:rPr lang="en-US" altLang="zh-TW" b="0" i="1" smtClean="0">
                              <a:solidFill>
                                <a:srgbClr val="0070C0"/>
                              </a:solidFill>
                              <a:latin typeface="Cambria Math" panose="02040503050406030204" pitchFamily="18" charset="0"/>
                            </a:rPr>
                            <m:t>1</m:t>
                          </m:r>
                        </m:sub>
                      </m:sSub>
                      <m:r>
                        <a:rPr lang="en-US" altLang="zh-TW" b="0" i="1" smtClean="0">
                          <a:solidFill>
                            <a:srgbClr val="0070C0"/>
                          </a:solidFill>
                          <a:latin typeface="Cambria Math" panose="02040503050406030204" pitchFamily="18" charset="0"/>
                        </a:rPr>
                        <m:t>,</m:t>
                      </m:r>
                      <m:sSub>
                        <m:sSubPr>
                          <m:ctrlPr>
                            <a:rPr lang="en-US" altLang="zh-TW" b="0" i="1" smtClean="0">
                              <a:solidFill>
                                <a:srgbClr val="0070C0"/>
                              </a:solidFill>
                              <a:latin typeface="Cambria Math" panose="02040503050406030204" pitchFamily="18" charset="0"/>
                            </a:rPr>
                          </m:ctrlPr>
                        </m:sSubPr>
                        <m:e>
                          <m:r>
                            <a:rPr lang="en-US" altLang="zh-TW" b="0" i="1" smtClean="0">
                              <a:solidFill>
                                <a:srgbClr val="0070C0"/>
                              </a:solidFill>
                              <a:latin typeface="Cambria Math" panose="02040503050406030204" pitchFamily="18" charset="0"/>
                            </a:rPr>
                            <m:t>𝑠</m:t>
                          </m:r>
                        </m:e>
                        <m:sub>
                          <m:r>
                            <a:rPr lang="en-US" altLang="zh-TW" b="0" i="1" smtClean="0">
                              <a:solidFill>
                                <a:srgbClr val="0070C0"/>
                              </a:solidFill>
                              <a:latin typeface="Cambria Math" panose="02040503050406030204" pitchFamily="18" charset="0"/>
                            </a:rPr>
                            <m:t>2</m:t>
                          </m:r>
                        </m:sub>
                      </m:sSub>
                      <m:r>
                        <a:rPr lang="en-US" altLang="zh-TW" b="0" i="1" smtClean="0">
                          <a:solidFill>
                            <a:srgbClr val="0070C0"/>
                          </a:solidFill>
                          <a:latin typeface="Cambria Math" panose="02040503050406030204" pitchFamily="18" charset="0"/>
                        </a:rPr>
                        <m:t>)</m:t>
                      </m:r>
                    </m:oMath>
                  </m:oMathPara>
                </a14:m>
                <a:endParaRPr lang="zh-TW" altLang="en-US" dirty="0">
                  <a:solidFill>
                    <a:srgbClr val="0070C0"/>
                  </a:solidFill>
                </a:endParaRPr>
              </a:p>
            </p:txBody>
          </p:sp>
        </mc:Choice>
        <mc:Fallback>
          <p:sp>
            <p:nvSpPr>
              <p:cNvPr id="2" name="矩形 1">
                <a:extLst>
                  <a:ext uri="{FF2B5EF4-FFF2-40B4-BE49-F238E27FC236}">
                    <a16:creationId xmlns:a16="http://schemas.microsoft.com/office/drawing/2014/main" id="{622BE4D0-A8CA-499E-A585-9A86ADBD5A68}"/>
                  </a:ext>
                </a:extLst>
              </p:cNvPr>
              <p:cNvSpPr>
                <a:spLocks noRot="1" noChangeAspect="1" noMove="1" noResize="1" noEditPoints="1" noAdjustHandles="1" noChangeArrowheads="1" noChangeShapeType="1" noTextEdit="1"/>
              </p:cNvSpPr>
              <p:nvPr/>
            </p:nvSpPr>
            <p:spPr>
              <a:xfrm>
                <a:off x="4814681" y="1290350"/>
                <a:ext cx="1183529" cy="369332"/>
              </a:xfrm>
              <a:prstGeom prst="rect">
                <a:avLst/>
              </a:prstGeom>
              <a:blipFill>
                <a:blip r:embed="rId3"/>
                <a:stretch>
                  <a:fillRect b="-13333"/>
                </a:stretch>
              </a:blipFill>
            </p:spPr>
            <p:txBody>
              <a:bodyPr/>
              <a:lstStyle/>
              <a:p>
                <a:r>
                  <a:rPr lang="zh-TW" altLang="en-US">
                    <a:noFill/>
                  </a:rPr>
                  <a:t> </a:t>
                </a:r>
              </a:p>
            </p:txBody>
          </p:sp>
        </mc:Fallback>
      </mc:AlternateContent>
      <p:grpSp>
        <p:nvGrpSpPr>
          <p:cNvPr id="19" name="群組 18">
            <a:extLst>
              <a:ext uri="{FF2B5EF4-FFF2-40B4-BE49-F238E27FC236}">
                <a16:creationId xmlns:a16="http://schemas.microsoft.com/office/drawing/2014/main" id="{B72DE20E-D659-427D-9B68-9BECDC801F68}"/>
              </a:ext>
            </a:extLst>
          </p:cNvPr>
          <p:cNvGrpSpPr/>
          <p:nvPr/>
        </p:nvGrpSpPr>
        <p:grpSpPr>
          <a:xfrm>
            <a:off x="2349796" y="3249223"/>
            <a:ext cx="4644770" cy="1166734"/>
            <a:chOff x="1674368" y="1312053"/>
            <a:chExt cx="4644770" cy="1166734"/>
          </a:xfrm>
        </p:grpSpPr>
        <p:sp>
          <p:nvSpPr>
            <p:cNvPr id="20" name="標題 1">
              <a:extLst>
                <a:ext uri="{FF2B5EF4-FFF2-40B4-BE49-F238E27FC236}">
                  <a16:creationId xmlns:a16="http://schemas.microsoft.com/office/drawing/2014/main" id="{DD57FE72-65BB-42EC-9693-663530B4180C}"/>
                </a:ext>
              </a:extLst>
            </p:cNvPr>
            <p:cNvSpPr txBox="1">
              <a:spLocks/>
            </p:cNvSpPr>
            <p:nvPr/>
          </p:nvSpPr>
          <p:spPr>
            <a:xfrm>
              <a:off x="2207390" y="1312053"/>
              <a:ext cx="391138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A</a:t>
              </a:r>
              <a:r>
                <a:rPr lang="zh-TW" altLang="en-US"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a:t>
              </a:r>
              <a:r>
                <a:rPr lang="zh-TW" altLang="en-US"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A</a:t>
              </a:r>
              <a:r>
                <a:rPr lang="zh-TW" altLang="en-US"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B</a:t>
              </a:r>
              <a:r>
                <a:rPr lang="zh-TW" altLang="en-US"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A</a:t>
              </a:r>
              <a:r>
                <a:rPr lang="zh-TW" altLang="en-US"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A</a:t>
              </a:r>
              <a:r>
                <a:rPr lang="zh-TW" altLang="en-US"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A</a:t>
              </a:r>
              <a:r>
                <a:rPr lang="zh-TW" altLang="en-US"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A</a:t>
              </a:r>
            </a:p>
          </p:txBody>
        </p:sp>
        <p:sp>
          <p:nvSpPr>
            <p:cNvPr id="21" name="標題 1">
              <a:extLst>
                <a:ext uri="{FF2B5EF4-FFF2-40B4-BE49-F238E27FC236}">
                  <a16:creationId xmlns:a16="http://schemas.microsoft.com/office/drawing/2014/main" id="{FB7C215C-FFDF-47B9-A729-59766C99B071}"/>
                </a:ext>
              </a:extLst>
            </p:cNvPr>
            <p:cNvSpPr txBox="1">
              <a:spLocks/>
            </p:cNvSpPr>
            <p:nvPr/>
          </p:nvSpPr>
          <p:spPr>
            <a:xfrm>
              <a:off x="2207390" y="1895420"/>
              <a:ext cx="4111748"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A</a:t>
              </a:r>
              <a:r>
                <a:rPr lang="zh-TW" altLang="en-US"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B</a:t>
              </a:r>
              <a:r>
                <a:rPr lang="zh-TW" altLang="en-US"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A</a:t>
              </a:r>
              <a:r>
                <a:rPr lang="zh-TW" altLang="en-US"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a:t>
              </a:r>
              <a:r>
                <a:rPr lang="zh-TW" altLang="en-US"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A</a:t>
              </a:r>
              <a:r>
                <a:rPr lang="zh-TW" altLang="en-US"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A</a:t>
              </a:r>
              <a:r>
                <a:rPr lang="zh-TW" altLang="en-US"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C</a:t>
              </a:r>
              <a:r>
                <a:rPr lang="zh-TW" altLang="en-US"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　</a:t>
              </a:r>
              <a:r>
                <a:rPr lang="en-US" altLang="zh-TW"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A</a:t>
              </a:r>
              <a:r>
                <a:rPr lang="zh-TW" altLang="en-US"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rPr>
                <a:t>　　</a:t>
              </a:r>
              <a:endParaRPr lang="en-US" altLang="zh-TW" sz="2400" dirty="0">
                <a:solidFill>
                  <a:srgbClr val="7030A0"/>
                </a:solidFill>
                <a:latin typeface="Courier New" panose="02070309020205020404" pitchFamily="49" charset="0"/>
                <a:ea typeface="BatangChe" panose="02030609000101010101" pitchFamily="49" charset="-127"/>
                <a:cs typeface="Courier New" panose="02070309020205020404" pitchFamily="49" charset="0"/>
              </a:endParaRPr>
            </a:p>
          </p:txBody>
        </p:sp>
        <p:sp>
          <p:nvSpPr>
            <p:cNvPr id="22" name="標題 1">
              <a:extLst>
                <a:ext uri="{FF2B5EF4-FFF2-40B4-BE49-F238E27FC236}">
                  <a16:creationId xmlns:a16="http://schemas.microsoft.com/office/drawing/2014/main" id="{CD3ACADC-718F-47C5-99D6-532AFC6A4E6D}"/>
                </a:ext>
              </a:extLst>
            </p:cNvPr>
            <p:cNvSpPr txBox="1">
              <a:spLocks/>
            </p:cNvSpPr>
            <p:nvPr/>
          </p:nvSpPr>
          <p:spPr>
            <a:xfrm>
              <a:off x="1674369" y="1312053"/>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S:</a:t>
              </a:r>
            </a:p>
          </p:txBody>
        </p:sp>
        <p:sp>
          <p:nvSpPr>
            <p:cNvPr id="23" name="標題 1">
              <a:extLst>
                <a:ext uri="{FF2B5EF4-FFF2-40B4-BE49-F238E27FC236}">
                  <a16:creationId xmlns:a16="http://schemas.microsoft.com/office/drawing/2014/main" id="{2581F6A1-6005-40D0-BF4A-B47C346FE4B5}"/>
                </a:ext>
              </a:extLst>
            </p:cNvPr>
            <p:cNvSpPr txBox="1">
              <a:spLocks/>
            </p:cNvSpPr>
            <p:nvPr/>
          </p:nvSpPr>
          <p:spPr>
            <a:xfrm>
              <a:off x="1674368" y="1895419"/>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solidFill>
                    <a:srgbClr val="7030A0"/>
                  </a:solidFill>
                  <a:latin typeface="BatangChe" panose="02030609000101010101" pitchFamily="49" charset="-127"/>
                  <a:ea typeface="BatangChe" panose="02030609000101010101" pitchFamily="49" charset="-127"/>
                  <a:cs typeface="Times New Roman" panose="02020603050405020304" pitchFamily="18" charset="0"/>
                </a:rPr>
                <a:t>T:</a:t>
              </a:r>
            </a:p>
          </p:txBody>
        </p:sp>
      </p:grpSp>
      <p:sp>
        <p:nvSpPr>
          <p:cNvPr id="25" name="矩形 24">
            <a:extLst>
              <a:ext uri="{FF2B5EF4-FFF2-40B4-BE49-F238E27FC236}">
                <a16:creationId xmlns:a16="http://schemas.microsoft.com/office/drawing/2014/main" id="{B976AC57-B243-450B-81FC-E8BA73A407F6}"/>
              </a:ext>
            </a:extLst>
          </p:cNvPr>
          <p:cNvSpPr/>
          <p:nvPr/>
        </p:nvSpPr>
        <p:spPr>
          <a:xfrm>
            <a:off x="2794429" y="4966431"/>
            <a:ext cx="1093569" cy="400110"/>
          </a:xfrm>
          <a:prstGeom prst="rect">
            <a:avLst/>
          </a:prstGeom>
        </p:spPr>
        <p:txBody>
          <a:bodyPr wrap="none">
            <a:spAutoFit/>
          </a:bodyPr>
          <a:lstStyle/>
          <a:p>
            <a:r>
              <a:rPr lang="en-US" altLang="zh-TW" sz="2000" dirty="0">
                <a:latin typeface="Times New Roman" panose="02020603050405020304" pitchFamily="18" charset="0"/>
                <a:cs typeface="Times New Roman" panose="02020603050405020304" pitchFamily="18" charset="0"/>
              </a:rPr>
              <a:t>Insertion</a:t>
            </a:r>
            <a:endParaRPr lang="zh-TW" altLang="en-US" sz="2000" dirty="0"/>
          </a:p>
        </p:txBody>
      </p:sp>
      <p:cxnSp>
        <p:nvCxnSpPr>
          <p:cNvPr id="26" name="直線單箭頭接點 25">
            <a:extLst>
              <a:ext uri="{FF2B5EF4-FFF2-40B4-BE49-F238E27FC236}">
                <a16:creationId xmlns:a16="http://schemas.microsoft.com/office/drawing/2014/main" id="{7507C409-B95F-4625-8D48-438BB31CA368}"/>
              </a:ext>
            </a:extLst>
          </p:cNvPr>
          <p:cNvCxnSpPr>
            <a:cxnSpLocks/>
          </p:cNvCxnSpPr>
          <p:nvPr/>
        </p:nvCxnSpPr>
        <p:spPr>
          <a:xfrm>
            <a:off x="4526052" y="4482016"/>
            <a:ext cx="0" cy="8845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2D3BB400-F8CD-43A4-AD32-646157407331}"/>
              </a:ext>
            </a:extLst>
          </p:cNvPr>
          <p:cNvSpPr/>
          <p:nvPr/>
        </p:nvSpPr>
        <p:spPr>
          <a:xfrm>
            <a:off x="3992893" y="5432600"/>
            <a:ext cx="1066318" cy="400110"/>
          </a:xfrm>
          <a:prstGeom prst="rect">
            <a:avLst/>
          </a:prstGeom>
        </p:spPr>
        <p:txBody>
          <a:bodyPr wrap="none">
            <a:spAutoFit/>
          </a:bodyPr>
          <a:lstStyle/>
          <a:p>
            <a:r>
              <a:rPr lang="en-US" altLang="zh-TW" sz="2000" dirty="0">
                <a:latin typeface="Times New Roman" panose="02020603050405020304" pitchFamily="18" charset="0"/>
                <a:cs typeface="Times New Roman" panose="02020603050405020304" pitchFamily="18" charset="0"/>
              </a:rPr>
              <a:t>Deletion</a:t>
            </a:r>
            <a:endParaRPr lang="zh-TW" altLang="en-US" sz="2000" dirty="0"/>
          </a:p>
        </p:txBody>
      </p:sp>
      <p:cxnSp>
        <p:nvCxnSpPr>
          <p:cNvPr id="28" name="直線單箭頭接點 27">
            <a:extLst>
              <a:ext uri="{FF2B5EF4-FFF2-40B4-BE49-F238E27FC236}">
                <a16:creationId xmlns:a16="http://schemas.microsoft.com/office/drawing/2014/main" id="{8276DB51-BA47-4824-8914-F0017F965863}"/>
              </a:ext>
            </a:extLst>
          </p:cNvPr>
          <p:cNvCxnSpPr>
            <a:cxnSpLocks/>
          </p:cNvCxnSpPr>
          <p:nvPr/>
        </p:nvCxnSpPr>
        <p:spPr>
          <a:xfrm>
            <a:off x="5998210" y="4482016"/>
            <a:ext cx="0" cy="4581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005C221F-2AE7-43F8-BE89-7946D841567E}"/>
              </a:ext>
            </a:extLst>
          </p:cNvPr>
          <p:cNvSpPr/>
          <p:nvPr/>
        </p:nvSpPr>
        <p:spPr>
          <a:xfrm>
            <a:off x="5287919" y="4966431"/>
            <a:ext cx="2584362" cy="400110"/>
          </a:xfrm>
          <a:prstGeom prst="rect">
            <a:avLst/>
          </a:prstGeom>
        </p:spPr>
        <p:txBody>
          <a:bodyPr wrap="none">
            <a:spAutoFit/>
          </a:bodyPr>
          <a:lstStyle/>
          <a:p>
            <a:r>
              <a:rPr lang="en-US" altLang="zh-TW" sz="2000" dirty="0">
                <a:latin typeface="Times New Roman" panose="02020603050405020304" pitchFamily="18" charset="0"/>
                <a:cs typeface="Times New Roman" panose="02020603050405020304" pitchFamily="18" charset="0"/>
              </a:rPr>
              <a:t>Substitution(mismatch)</a:t>
            </a:r>
            <a:endParaRPr lang="zh-TW" altLang="en-US" sz="2000" dirty="0"/>
          </a:p>
        </p:txBody>
      </p:sp>
      <p:cxnSp>
        <p:nvCxnSpPr>
          <p:cNvPr id="37" name="直線單箭頭接點 36">
            <a:extLst>
              <a:ext uri="{FF2B5EF4-FFF2-40B4-BE49-F238E27FC236}">
                <a16:creationId xmlns:a16="http://schemas.microsoft.com/office/drawing/2014/main" id="{9302D5C1-49DD-414E-BFD5-4EB9AAAA9185}"/>
              </a:ext>
            </a:extLst>
          </p:cNvPr>
          <p:cNvCxnSpPr>
            <a:cxnSpLocks/>
          </p:cNvCxnSpPr>
          <p:nvPr/>
        </p:nvCxnSpPr>
        <p:spPr>
          <a:xfrm>
            <a:off x="3536477" y="4482016"/>
            <a:ext cx="0" cy="4581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AD25DC9A-A2CF-4073-AD1F-B2C3995388E5}"/>
              </a:ext>
            </a:extLst>
          </p:cNvPr>
          <p:cNvSpPr/>
          <p:nvPr/>
        </p:nvSpPr>
        <p:spPr>
          <a:xfrm>
            <a:off x="3341214" y="3249223"/>
            <a:ext cx="390525" cy="11667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6" name="矩形 45">
            <a:extLst>
              <a:ext uri="{FF2B5EF4-FFF2-40B4-BE49-F238E27FC236}">
                <a16:creationId xmlns:a16="http://schemas.microsoft.com/office/drawing/2014/main" id="{3E2A188C-14C6-4915-8470-060FECD97A1A}"/>
              </a:ext>
            </a:extLst>
          </p:cNvPr>
          <p:cNvSpPr/>
          <p:nvPr/>
        </p:nvSpPr>
        <p:spPr>
          <a:xfrm>
            <a:off x="5802947" y="3249223"/>
            <a:ext cx="390525" cy="11667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mc:Choice xmlns:a14="http://schemas.microsoft.com/office/drawing/2010/main" Requires="a14">
          <p:sp>
            <p:nvSpPr>
              <p:cNvPr id="47" name="矩形 46">
                <a:extLst>
                  <a:ext uri="{FF2B5EF4-FFF2-40B4-BE49-F238E27FC236}">
                    <a16:creationId xmlns:a16="http://schemas.microsoft.com/office/drawing/2014/main" id="{D0A26B09-AAB8-49F6-90F2-8A92312D8737}"/>
                  </a:ext>
                </a:extLst>
              </p:cNvPr>
              <p:cNvSpPr/>
              <p:nvPr/>
            </p:nvSpPr>
            <p:spPr>
              <a:xfrm>
                <a:off x="7181350" y="3607289"/>
                <a:ext cx="1468735"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TW" b="0" i="1" smtClean="0">
                          <a:solidFill>
                            <a:srgbClr val="0070C0"/>
                          </a:solidFill>
                          <a:latin typeface="Cambria Math" panose="02040503050406030204" pitchFamily="18" charset="0"/>
                        </a:rPr>
                        <m:t>𝑒𝑑</m:t>
                      </m:r>
                      <m:d>
                        <m:dPr>
                          <m:ctrlPr>
                            <a:rPr lang="en-US" altLang="zh-TW" b="0" i="1" smtClean="0">
                              <a:solidFill>
                                <a:srgbClr val="0070C0"/>
                              </a:solidFill>
                              <a:latin typeface="Cambria Math" panose="02040503050406030204" pitchFamily="18" charset="0"/>
                            </a:rPr>
                          </m:ctrlPr>
                        </m:dPr>
                        <m:e>
                          <m:r>
                            <a:rPr lang="en-US" altLang="zh-TW" b="0" i="1" smtClean="0">
                              <a:solidFill>
                                <a:srgbClr val="0070C0"/>
                              </a:solidFill>
                              <a:latin typeface="Cambria Math" panose="02040503050406030204" pitchFamily="18" charset="0"/>
                            </a:rPr>
                            <m:t>𝑆</m:t>
                          </m:r>
                          <m:r>
                            <a:rPr lang="en-US" altLang="zh-TW" b="0" i="1" smtClean="0">
                              <a:solidFill>
                                <a:srgbClr val="0070C0"/>
                              </a:solidFill>
                              <a:latin typeface="Cambria Math" panose="02040503050406030204" pitchFamily="18" charset="0"/>
                            </a:rPr>
                            <m:t>,</m:t>
                          </m:r>
                          <m:r>
                            <a:rPr lang="en-US" altLang="zh-TW" b="0" i="1" smtClean="0">
                              <a:solidFill>
                                <a:srgbClr val="0070C0"/>
                              </a:solidFill>
                              <a:latin typeface="Cambria Math" panose="02040503050406030204" pitchFamily="18" charset="0"/>
                            </a:rPr>
                            <m:t>𝑇</m:t>
                          </m:r>
                        </m:e>
                      </m:d>
                      <m:r>
                        <a:rPr lang="en-US" altLang="zh-TW" b="0" i="1" smtClean="0">
                          <a:solidFill>
                            <a:srgbClr val="0070C0"/>
                          </a:solidFill>
                          <a:latin typeface="Cambria Math" panose="02040503050406030204" pitchFamily="18" charset="0"/>
                        </a:rPr>
                        <m:t>=3</m:t>
                      </m:r>
                    </m:oMath>
                  </m:oMathPara>
                </a14:m>
                <a:endParaRPr lang="zh-TW" altLang="en-US" dirty="0">
                  <a:solidFill>
                    <a:srgbClr val="0070C0"/>
                  </a:solidFill>
                </a:endParaRPr>
              </a:p>
            </p:txBody>
          </p:sp>
        </mc:Choice>
        <mc:Fallback>
          <p:sp>
            <p:nvSpPr>
              <p:cNvPr id="47" name="矩形 46">
                <a:extLst>
                  <a:ext uri="{FF2B5EF4-FFF2-40B4-BE49-F238E27FC236}">
                    <a16:creationId xmlns:a16="http://schemas.microsoft.com/office/drawing/2014/main" id="{D0A26B09-AAB8-49F6-90F2-8A92312D8737}"/>
                  </a:ext>
                </a:extLst>
              </p:cNvPr>
              <p:cNvSpPr>
                <a:spLocks noRot="1" noChangeAspect="1" noMove="1" noResize="1" noEditPoints="1" noAdjustHandles="1" noChangeArrowheads="1" noChangeShapeType="1" noTextEdit="1"/>
              </p:cNvSpPr>
              <p:nvPr/>
            </p:nvSpPr>
            <p:spPr>
              <a:xfrm>
                <a:off x="7181350" y="3607289"/>
                <a:ext cx="1468735" cy="369332"/>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30880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6</a:t>
            </a:fld>
            <a:endParaRPr lang="zh-TW" altLang="en-US"/>
          </a:p>
        </p:txBody>
      </p:sp>
      <p:sp>
        <p:nvSpPr>
          <p:cNvPr id="16" name="標題 1">
            <a:extLst>
              <a:ext uri="{FF2B5EF4-FFF2-40B4-BE49-F238E27FC236}">
                <a16:creationId xmlns:a16="http://schemas.microsoft.com/office/drawing/2014/main" id="{44AAEA94-82BE-4FD8-9313-818F6FE7B07E}"/>
              </a:ext>
            </a:extLst>
          </p:cNvPr>
          <p:cNvSpPr txBox="1">
            <a:spLocks/>
          </p:cNvSpPr>
          <p:nvPr/>
        </p:nvSpPr>
        <p:spPr>
          <a:xfrm>
            <a:off x="402232" y="385081"/>
            <a:ext cx="6592334"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The k-edit repeat (1/3) </a:t>
            </a:r>
            <a:endParaRPr lang="zh-TW" altLang="en-US" sz="3600" dirty="0">
              <a:latin typeface="Times New Roman" panose="02020603050405020304" pitchFamily="18" charset="0"/>
              <a:cs typeface="Times New Roman" panose="02020603050405020304" pitchFamily="18" charset="0"/>
            </a:endParaRPr>
          </a:p>
        </p:txBody>
      </p:sp>
      <p:sp>
        <p:nvSpPr>
          <p:cNvPr id="35" name="標題 1">
            <a:extLst>
              <a:ext uri="{FF2B5EF4-FFF2-40B4-BE49-F238E27FC236}">
                <a16:creationId xmlns:a16="http://schemas.microsoft.com/office/drawing/2014/main" id="{FABD00EA-C336-4524-8002-2EBFB5A650F5}"/>
              </a:ext>
            </a:extLst>
          </p:cNvPr>
          <p:cNvSpPr txBox="1">
            <a:spLocks/>
          </p:cNvSpPr>
          <p:nvPr/>
        </p:nvSpPr>
        <p:spPr>
          <a:xfrm>
            <a:off x="402232" y="3207600"/>
            <a:ext cx="8563638" cy="1309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An evolutive tandem repeat, there are at most k edit operations, </a:t>
            </a:r>
            <a:r>
              <a:rPr lang="en-US" altLang="zh-TW" sz="2400" dirty="0">
                <a:solidFill>
                  <a:srgbClr val="0070C0"/>
                </a:solidFill>
                <a:latin typeface="Times New Roman" panose="02020603050405020304" pitchFamily="18" charset="0"/>
                <a:ea typeface="BatangChe" panose="02030609000101010101" pitchFamily="49" charset="-127"/>
                <a:cs typeface="Times New Roman" panose="02020603050405020304" pitchFamily="18" charset="0"/>
              </a:rPr>
              <a:t>overall</a:t>
            </a: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between all consecutive copies of the repeat.</a:t>
            </a:r>
          </a:p>
        </p:txBody>
      </p:sp>
      <p:sp>
        <p:nvSpPr>
          <p:cNvPr id="14" name="標題 1">
            <a:extLst>
              <a:ext uri="{FF2B5EF4-FFF2-40B4-BE49-F238E27FC236}">
                <a16:creationId xmlns:a16="http://schemas.microsoft.com/office/drawing/2014/main" id="{8E8A1E89-9B9C-4BE6-BBB3-CB5C4637BF0B}"/>
              </a:ext>
            </a:extLst>
          </p:cNvPr>
          <p:cNvSpPr txBox="1">
            <a:spLocks/>
          </p:cNvSpPr>
          <p:nvPr/>
        </p:nvSpPr>
        <p:spPr>
          <a:xfrm>
            <a:off x="402232" y="2818747"/>
            <a:ext cx="789862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b="1" dirty="0">
                <a:latin typeface="Times New Roman" panose="02020603050405020304" pitchFamily="18" charset="0"/>
                <a:ea typeface="BatangChe" panose="02030609000101010101" pitchFamily="49" charset="-127"/>
                <a:cs typeface="Times New Roman" panose="02020603050405020304" pitchFamily="18" charset="0"/>
              </a:rPr>
              <a:t>K-edit repeat:</a:t>
            </a:r>
            <a:endParaRPr lang="en-US" altLang="zh-TW" sz="2800" dirty="0">
              <a:latin typeface="Times New Roman" panose="02020603050405020304" pitchFamily="18" charset="0"/>
              <a:ea typeface="BatangChe" panose="02030609000101010101" pitchFamily="49" charset="-127"/>
              <a:cs typeface="Times New Roman" panose="02020603050405020304" pitchFamily="18" charset="0"/>
            </a:endParaRPr>
          </a:p>
        </p:txBody>
      </p:sp>
      <p:sp>
        <p:nvSpPr>
          <p:cNvPr id="9" name="標題 1">
            <a:extLst>
              <a:ext uri="{FF2B5EF4-FFF2-40B4-BE49-F238E27FC236}">
                <a16:creationId xmlns:a16="http://schemas.microsoft.com/office/drawing/2014/main" id="{6AFEE2AA-70FB-4F11-86F6-3D8F757F0326}"/>
              </a:ext>
            </a:extLst>
          </p:cNvPr>
          <p:cNvSpPr txBox="1">
            <a:spLocks/>
          </p:cNvSpPr>
          <p:nvPr/>
        </p:nvSpPr>
        <p:spPr>
          <a:xfrm>
            <a:off x="402232" y="1119930"/>
            <a:ext cx="789862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800" b="1" dirty="0">
                <a:latin typeface="Times New Roman" panose="02020603050405020304" pitchFamily="18" charset="0"/>
                <a:ea typeface="BatangChe" panose="02030609000101010101" pitchFamily="49" charset="-127"/>
                <a:cs typeface="Times New Roman" panose="02020603050405020304" pitchFamily="18" charset="0"/>
              </a:rPr>
              <a:t>Evolutive tandem repeat:</a:t>
            </a:r>
            <a:endParaRPr lang="en-US" altLang="zh-TW" sz="2800" dirty="0">
              <a:latin typeface="Times New Roman" panose="02020603050405020304" pitchFamily="18" charset="0"/>
              <a:ea typeface="BatangChe" panose="02030609000101010101" pitchFamily="49" charset="-127"/>
              <a:cs typeface="Times New Roman" panose="02020603050405020304" pitchFamily="18" charset="0"/>
            </a:endParaRPr>
          </a:p>
        </p:txBody>
      </p:sp>
      <p:sp>
        <p:nvSpPr>
          <p:cNvPr id="13" name="Rectangle 7">
            <a:extLst>
              <a:ext uri="{FF2B5EF4-FFF2-40B4-BE49-F238E27FC236}">
                <a16:creationId xmlns:a16="http://schemas.microsoft.com/office/drawing/2014/main" id="{181B74FD-C002-4B61-A9F1-8DECE4071559}"/>
              </a:ext>
            </a:extLst>
          </p:cNvPr>
          <p:cNvSpPr>
            <a:spLocks noChangeArrowheads="1"/>
          </p:cNvSpPr>
          <p:nvPr/>
        </p:nvSpPr>
        <p:spPr bwMode="auto">
          <a:xfrm>
            <a:off x="718465" y="1734868"/>
            <a:ext cx="7463509"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dirty="0">
                <a:latin typeface="Courier New" panose="02070309020205020404" pitchFamily="49" charset="0"/>
              </a:rPr>
              <a:t>GTCC GT</a:t>
            </a:r>
            <a:r>
              <a:rPr lang="en-US" altLang="zh-TW" sz="2800" u="sng" dirty="0">
                <a:solidFill>
                  <a:srgbClr val="0070C0"/>
                </a:solidFill>
                <a:latin typeface="Courier New" panose="02070309020205020404" pitchFamily="49" charset="0"/>
              </a:rPr>
              <a:t>T</a:t>
            </a:r>
            <a:r>
              <a:rPr lang="en-US" altLang="zh-TW" sz="2800" dirty="0">
                <a:latin typeface="Courier New" panose="02070309020205020404" pitchFamily="49" charset="0"/>
              </a:rPr>
              <a:t>C GTT</a:t>
            </a:r>
            <a:r>
              <a:rPr lang="en-US" altLang="zh-TW" sz="2800" u="sng" dirty="0">
                <a:solidFill>
                  <a:srgbClr val="0070C0"/>
                </a:solidFill>
                <a:latin typeface="Courier New" panose="02070309020205020404" pitchFamily="49" charset="0"/>
              </a:rPr>
              <a:t>A</a:t>
            </a:r>
            <a:r>
              <a:rPr lang="en-US" altLang="zh-TW" sz="2800" dirty="0">
                <a:latin typeface="Courier New" panose="02070309020205020404" pitchFamily="49" charset="0"/>
              </a:rPr>
              <a:t> </a:t>
            </a:r>
            <a:r>
              <a:rPr lang="en-US" altLang="zh-TW" sz="2800" u="sng" dirty="0">
                <a:solidFill>
                  <a:srgbClr val="0070C0"/>
                </a:solidFill>
                <a:latin typeface="Courier New" panose="02070309020205020404" pitchFamily="49" charset="0"/>
              </a:rPr>
              <a:t>C</a:t>
            </a:r>
            <a:r>
              <a:rPr lang="en-US" altLang="zh-TW" sz="2800" dirty="0">
                <a:latin typeface="Courier New" panose="02070309020205020404" pitchFamily="49" charset="0"/>
              </a:rPr>
              <a:t>TTA C</a:t>
            </a:r>
            <a:r>
              <a:rPr lang="en-US" altLang="zh-TW" sz="2800" u="sng" dirty="0">
                <a:solidFill>
                  <a:srgbClr val="0070C0"/>
                </a:solidFill>
                <a:latin typeface="Courier New" panose="02070309020205020404" pitchFamily="49" charset="0"/>
              </a:rPr>
              <a:t>A</a:t>
            </a:r>
            <a:r>
              <a:rPr lang="en-US" altLang="zh-TW" sz="2800" dirty="0">
                <a:latin typeface="Courier New" panose="02070309020205020404" pitchFamily="49" charset="0"/>
              </a:rPr>
              <a:t>TA</a:t>
            </a:r>
            <a:endParaRPr lang="en-US" altLang="zh-TW" sz="2800" u="sng" dirty="0">
              <a:solidFill>
                <a:schemeClr val="accent2"/>
              </a:solidFill>
              <a:latin typeface="Courier New" panose="02070309020205020404" pitchFamily="49" charset="0"/>
            </a:endParaRPr>
          </a:p>
        </p:txBody>
      </p:sp>
    </p:spTree>
    <p:extLst>
      <p:ext uri="{BB962C8B-B14F-4D97-AF65-F5344CB8AC3E}">
        <p14:creationId xmlns:p14="http://schemas.microsoft.com/office/powerpoint/2010/main" val="2724247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7</a:t>
            </a:fld>
            <a:endParaRPr lang="zh-TW" altLang="en-US" dirty="0"/>
          </a:p>
        </p:txBody>
      </p:sp>
      <p:sp>
        <p:nvSpPr>
          <p:cNvPr id="16" name="標題 1">
            <a:extLst>
              <a:ext uri="{FF2B5EF4-FFF2-40B4-BE49-F238E27FC236}">
                <a16:creationId xmlns:a16="http://schemas.microsoft.com/office/drawing/2014/main" id="{44AAEA94-82BE-4FD8-9313-818F6FE7B07E}"/>
              </a:ext>
            </a:extLst>
          </p:cNvPr>
          <p:cNvSpPr txBox="1">
            <a:spLocks/>
          </p:cNvSpPr>
          <p:nvPr/>
        </p:nvSpPr>
        <p:spPr>
          <a:xfrm>
            <a:off x="402232" y="385081"/>
            <a:ext cx="6592334"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The k-edit repeat (2/3)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標題 1">
                <a:extLst>
                  <a:ext uri="{FF2B5EF4-FFF2-40B4-BE49-F238E27FC236}">
                    <a16:creationId xmlns:a16="http://schemas.microsoft.com/office/drawing/2014/main" id="{4E2E316B-EE35-4805-98A4-B798596888AF}"/>
                  </a:ext>
                </a:extLst>
              </p:cNvPr>
              <p:cNvSpPr txBox="1">
                <a:spLocks/>
              </p:cNvSpPr>
              <p:nvPr/>
            </p:nvSpPr>
            <p:spPr>
              <a:xfrm>
                <a:off x="825336" y="1631547"/>
                <a:ext cx="7493328" cy="11834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𝑅</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Sup>
                        <m:sSup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p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up>
                      </m:sSup>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1</m:t>
                          </m:r>
                        </m:sub>
                      </m:sSub>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2</m:t>
                          </m:r>
                        </m:sub>
                      </m:s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𝑙</m:t>
                          </m:r>
                        </m:sub>
                      </m:sSub>
                      <m:sSup>
                        <m:sSup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p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up>
                      </m:s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𝑙</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≥2,</m:t>
                      </m:r>
                    </m:oMath>
                  </m:oMathPara>
                </a14:m>
                <a:endParaRPr lang="en-US" altLang="zh-TW" sz="2400" b="0" i="1" dirty="0">
                  <a:latin typeface="Cambria Math" panose="02040503050406030204" pitchFamily="18" charset="0"/>
                  <a:ea typeface="BatangChe" panose="02030609000101010101" pitchFamily="49" charset="-127"/>
                  <a:cs typeface="Times New Roman" panose="02020603050405020304" pitchFamily="18" charset="0"/>
                </a:endParaRPr>
              </a:p>
              <a:p>
                <a:pPr algn="r">
                  <a:lnSpc>
                    <a:spcPct val="150000"/>
                  </a:lnSpc>
                </a:pPr>
                <a14:m>
                  <m:oMath xmlns:m="http://schemas.openxmlformats.org/officeDocument/2006/math">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 </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𝑒𝑑</m:t>
                    </m:r>
                    <m:d>
                      <m:d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dPr>
                      <m:e>
                        <m:sSup>
                          <m:sSup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p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up>
                        </m:s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SubSup>
                          <m:sSubSup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Sup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1</m:t>
                            </m:r>
                          </m:sub>
                          <m: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up>
                        </m:sSubSup>
                      </m:e>
                    </m:d>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SubSup>
                      <m:sSubSup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SupPr>
                      <m:e>
                        <m:r>
                          <m:rPr>
                            <m:sty m:val="p"/>
                          </m:rPr>
                          <a:rPr lang="en-US" altLang="zh-TW" sz="2400" b="0" i="0" smtClean="0">
                            <a:latin typeface="Cambria Math" panose="02040503050406030204" pitchFamily="18" charset="0"/>
                            <a:ea typeface="BatangChe" panose="02030609000101010101" pitchFamily="49" charset="-127"/>
                            <a:cs typeface="Times New Roman" panose="02020603050405020304" pitchFamily="18" charset="0"/>
                          </a:rPr>
                          <m:t>Σ</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𝑖</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=1</m:t>
                        </m:r>
                      </m:sub>
                      <m: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𝑙</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−1</m:t>
                        </m:r>
                      </m:sup>
                    </m:sSub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𝑒𝑑</m:t>
                    </m:r>
                    <m:d>
                      <m:d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dPr>
                      <m:e>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𝑖</m:t>
                            </m:r>
                          </m:sub>
                        </m:s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𝑖</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+1</m:t>
                            </m:r>
                          </m:sub>
                        </m:sSub>
                      </m:e>
                    </m:d>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𝑒𝑑</m:t>
                    </m:r>
                    <m:d>
                      <m:d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dPr>
                      <m:e>
                        <m:sSubSup>
                          <m:sSubSup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Sup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𝑙</m:t>
                            </m:r>
                          </m:sub>
                          <m: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up>
                        </m:sSub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Sup>
                          <m:sSup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p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up>
                        </m:sSup>
                      </m:e>
                    </m:d>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𝑘</m:t>
                    </m:r>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a:t>
                </a:r>
              </a:p>
            </p:txBody>
          </p:sp>
        </mc:Choice>
        <mc:Fallback>
          <p:sp>
            <p:nvSpPr>
              <p:cNvPr id="8" name="標題 1">
                <a:extLst>
                  <a:ext uri="{FF2B5EF4-FFF2-40B4-BE49-F238E27FC236}">
                    <a16:creationId xmlns:a16="http://schemas.microsoft.com/office/drawing/2014/main" id="{4E2E316B-EE35-4805-98A4-B798596888AF}"/>
                  </a:ext>
                </a:extLst>
              </p:cNvPr>
              <p:cNvSpPr txBox="1">
                <a:spLocks noRot="1" noChangeAspect="1" noMove="1" noResize="1" noEditPoints="1" noAdjustHandles="1" noChangeArrowheads="1" noChangeShapeType="1" noTextEdit="1"/>
              </p:cNvSpPr>
              <p:nvPr/>
            </p:nvSpPr>
            <p:spPr>
              <a:xfrm>
                <a:off x="825336" y="1631547"/>
                <a:ext cx="7493328" cy="1183411"/>
              </a:xfrm>
              <a:prstGeom prst="rect">
                <a:avLst/>
              </a:prstGeom>
              <a:blipFill>
                <a:blip r:embed="rId3"/>
                <a:stretch>
                  <a:fillRect/>
                </a:stretch>
              </a:blipFill>
            </p:spPr>
            <p:txBody>
              <a:bodyPr/>
              <a:lstStyle/>
              <a:p>
                <a:r>
                  <a:rPr lang="zh-TW" altLang="en-US">
                    <a:noFill/>
                  </a:rPr>
                  <a:t> </a:t>
                </a:r>
              </a:p>
            </p:txBody>
          </p:sp>
        </mc:Fallback>
      </mc:AlternateContent>
      <p:sp>
        <p:nvSpPr>
          <p:cNvPr id="10" name="標題 1">
            <a:extLst>
              <a:ext uri="{FF2B5EF4-FFF2-40B4-BE49-F238E27FC236}">
                <a16:creationId xmlns:a16="http://schemas.microsoft.com/office/drawing/2014/main" id="{B8D73A81-778D-4577-B367-9D2F05D87D6A}"/>
              </a:ext>
            </a:extLst>
          </p:cNvPr>
          <p:cNvSpPr txBox="1">
            <a:spLocks/>
          </p:cNvSpPr>
          <p:nvPr/>
        </p:nvSpPr>
        <p:spPr>
          <a:xfrm>
            <a:off x="402231" y="1120076"/>
            <a:ext cx="8872397"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1. A string R is a k-edit repeat if </a:t>
            </a:r>
            <a:r>
              <a:rPr lang="zh-TW" altLang="en-US" sz="2400" dirty="0">
                <a:latin typeface="Times New Roman" panose="02020603050405020304" pitchFamily="18" charset="0"/>
                <a:ea typeface="BatangChe" panose="02030609000101010101" pitchFamily="49" charset="-127"/>
                <a:cs typeface="Times New Roman" panose="02020603050405020304" pitchFamily="18" charset="0"/>
              </a:rPr>
              <a:t>可以被切成連續子字串，滿足</a:t>
            </a: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a:t>
            </a:r>
          </a:p>
        </p:txBody>
      </p:sp>
      <p:sp>
        <p:nvSpPr>
          <p:cNvPr id="12" name="標題 1">
            <a:extLst>
              <a:ext uri="{FF2B5EF4-FFF2-40B4-BE49-F238E27FC236}">
                <a16:creationId xmlns:a16="http://schemas.microsoft.com/office/drawing/2014/main" id="{938569B1-B244-46FB-905C-F1A5AA3FA76E}"/>
              </a:ext>
            </a:extLst>
          </p:cNvPr>
          <p:cNvSpPr txBox="1">
            <a:spLocks/>
          </p:cNvSpPr>
          <p:nvPr/>
        </p:nvSpPr>
        <p:spPr>
          <a:xfrm>
            <a:off x="586639" y="3782991"/>
            <a:ext cx="6311733" cy="19713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800" b="1"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CAAGCT</a:t>
            </a:r>
          </a:p>
          <a:p>
            <a:pPr>
              <a:lnSpc>
                <a:spcPct val="150000"/>
              </a:lnSpc>
            </a:pPr>
            <a:r>
              <a:rPr lang="en-US" altLang="zh-TW" sz="2800" b="1"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C</a:t>
            </a:r>
            <a:r>
              <a:rPr lang="en-US" altLang="zh-TW" sz="2800" b="1" spc="600" dirty="0">
                <a:solidFill>
                  <a:srgbClr val="FF0000"/>
                </a:solidFill>
                <a:latin typeface="Courier New" panose="02070309020205020404" pitchFamily="49" charset="0"/>
                <a:ea typeface="BatangChe" panose="02030609000101010101" pitchFamily="49" charset="-127"/>
                <a:cs typeface="Courier New" panose="02070309020205020404" pitchFamily="49" charset="0"/>
              </a:rPr>
              <a:t>C</a:t>
            </a:r>
            <a:r>
              <a:rPr lang="en-US" altLang="zh-TW" sz="2800" b="1"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AGCT</a:t>
            </a:r>
          </a:p>
          <a:p>
            <a:pPr>
              <a:lnSpc>
                <a:spcPct val="150000"/>
              </a:lnSpc>
            </a:pPr>
            <a:r>
              <a:rPr lang="en-US" altLang="zh-TW" sz="2800" b="1"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CC</a:t>
            </a:r>
            <a:r>
              <a:rPr lang="en-US" altLang="zh-TW" sz="2800" b="1" spc="600" dirty="0">
                <a:solidFill>
                  <a:srgbClr val="FF0000"/>
                </a:solidFill>
                <a:latin typeface="Courier New" panose="02070309020205020404" pitchFamily="49" charset="0"/>
                <a:ea typeface="BatangChe" panose="02030609000101010101" pitchFamily="49" charset="-127"/>
                <a:cs typeface="Courier New" panose="02070309020205020404" pitchFamily="49" charset="0"/>
              </a:rPr>
              <a:t>-</a:t>
            </a:r>
            <a:r>
              <a:rPr lang="en-US" altLang="zh-TW" sz="2800" b="1" spc="600" dirty="0">
                <a:solidFill>
                  <a:srgbClr val="0070C0"/>
                </a:solidFill>
                <a:latin typeface="Courier New" panose="02070309020205020404" pitchFamily="49" charset="0"/>
                <a:ea typeface="BatangChe" panose="02030609000101010101" pitchFamily="49" charset="-127"/>
                <a:cs typeface="Courier New" panose="02070309020205020404" pitchFamily="49" charset="0"/>
              </a:rPr>
              <a:t>GC</a:t>
            </a:r>
          </a:p>
        </p:txBody>
      </p:sp>
      <p:sp>
        <p:nvSpPr>
          <p:cNvPr id="13" name="標題 1">
            <a:extLst>
              <a:ext uri="{FF2B5EF4-FFF2-40B4-BE49-F238E27FC236}">
                <a16:creationId xmlns:a16="http://schemas.microsoft.com/office/drawing/2014/main" id="{B93BAD80-B1E1-4C7A-BB70-EC942ACD868C}"/>
              </a:ext>
            </a:extLst>
          </p:cNvPr>
          <p:cNvSpPr txBox="1">
            <a:spLocks/>
          </p:cNvSpPr>
          <p:nvPr/>
        </p:nvSpPr>
        <p:spPr>
          <a:xfrm>
            <a:off x="402232" y="3003218"/>
            <a:ext cx="6734836" cy="6252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b="1" dirty="0">
                <a:latin typeface="BatangChe" panose="02030609000101010101" pitchFamily="49" charset="-127"/>
                <a:ea typeface="BatangChe" panose="02030609000101010101" pitchFamily="49" charset="-127"/>
                <a:cs typeface="Times New Roman" panose="02020603050405020304" pitchFamily="18" charset="0"/>
              </a:rPr>
              <a:t>for</a:t>
            </a:r>
            <a:r>
              <a:rPr lang="en-US" altLang="zh-TW" sz="2400" b="1" spc="600" dirty="0">
                <a:latin typeface="BatangChe" panose="02030609000101010101" pitchFamily="49" charset="-127"/>
                <a:ea typeface="BatangChe" panose="02030609000101010101" pitchFamily="49" charset="-127"/>
                <a:cs typeface="Times New Roman" panose="02020603050405020304" pitchFamily="18" charset="0"/>
              </a:rPr>
              <a:t> R=</a:t>
            </a:r>
            <a:r>
              <a:rPr lang="en-US" altLang="zh-TW" sz="2400" spc="600" dirty="0">
                <a:latin typeface="Courier New" panose="02070309020205020404" pitchFamily="49" charset="0"/>
                <a:ea typeface="BatangChe" panose="02030609000101010101" pitchFamily="49" charset="-127"/>
                <a:cs typeface="Courier New" panose="02070309020205020404" pitchFamily="49" charset="0"/>
              </a:rPr>
              <a:t>CAAGCTCCAGCTCCGC</a:t>
            </a:r>
            <a:r>
              <a:rPr lang="en-US" altLang="zh-TW" sz="2400" b="1" dirty="0">
                <a:latin typeface="BatangChe" panose="02030609000101010101" pitchFamily="49" charset="-127"/>
                <a:ea typeface="BatangChe" panose="02030609000101010101" pitchFamily="49" charset="-127"/>
                <a:cs typeface="Times New Roman" panose="02020603050405020304" pitchFamily="18" charset="0"/>
              </a:rPr>
              <a:t>:</a:t>
            </a:r>
          </a:p>
        </p:txBody>
      </p:sp>
      <mc:AlternateContent xmlns:mc="http://schemas.openxmlformats.org/markup-compatibility/2006">
        <mc:Choice xmlns:a14="http://schemas.microsoft.com/office/drawing/2010/main" Requires="a14">
          <p:sp>
            <p:nvSpPr>
              <p:cNvPr id="17" name="標題 1">
                <a:extLst>
                  <a:ext uri="{FF2B5EF4-FFF2-40B4-BE49-F238E27FC236}">
                    <a16:creationId xmlns:a16="http://schemas.microsoft.com/office/drawing/2014/main" id="{85B8CF0C-6D81-488B-9DD8-1B60E51A7BCB}"/>
                  </a:ext>
                </a:extLst>
              </p:cNvPr>
              <p:cNvSpPr txBox="1">
                <a:spLocks/>
              </p:cNvSpPr>
              <p:nvPr/>
            </p:nvSpPr>
            <p:spPr>
              <a:xfrm>
                <a:off x="2789171" y="4149637"/>
                <a:ext cx="1537854" cy="5403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𝑒𝑑</m:t>
                      </m:r>
                      <m:d>
                        <m:d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d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 </m:t>
                          </m:r>
                        </m:e>
                      </m:d>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=1</m:t>
                      </m:r>
                    </m:oMath>
                  </m:oMathPara>
                </a14:m>
                <a:endParaRPr lang="en-US" altLang="zh-TW" sz="2400" dirty="0">
                  <a:latin typeface="Times New Roman" panose="02020603050405020304" pitchFamily="18" charset="0"/>
                  <a:ea typeface="BatangChe" panose="02030609000101010101" pitchFamily="49" charset="-127"/>
                  <a:cs typeface="Times New Roman" panose="02020603050405020304" pitchFamily="18" charset="0"/>
                </a:endParaRPr>
              </a:p>
            </p:txBody>
          </p:sp>
        </mc:Choice>
        <mc:Fallback>
          <p:sp>
            <p:nvSpPr>
              <p:cNvPr id="17" name="標題 1">
                <a:extLst>
                  <a:ext uri="{FF2B5EF4-FFF2-40B4-BE49-F238E27FC236}">
                    <a16:creationId xmlns:a16="http://schemas.microsoft.com/office/drawing/2014/main" id="{85B8CF0C-6D81-488B-9DD8-1B60E51A7BCB}"/>
                  </a:ext>
                </a:extLst>
              </p:cNvPr>
              <p:cNvSpPr txBox="1">
                <a:spLocks noRot="1" noChangeAspect="1" noMove="1" noResize="1" noEditPoints="1" noAdjustHandles="1" noChangeArrowheads="1" noChangeShapeType="1" noTextEdit="1"/>
              </p:cNvSpPr>
              <p:nvPr/>
            </p:nvSpPr>
            <p:spPr>
              <a:xfrm>
                <a:off x="2789171" y="4149637"/>
                <a:ext cx="1537854" cy="540394"/>
              </a:xfrm>
              <a:prstGeom prst="rect">
                <a:avLst/>
              </a:prstGeom>
              <a:blipFill>
                <a:blip r:embed="rId4"/>
                <a:stretch>
                  <a:fillRect/>
                </a:stretch>
              </a:blipFill>
            </p:spPr>
            <p:txBody>
              <a:bodyPr/>
              <a:lstStyle/>
              <a:p>
                <a:r>
                  <a:rPr lang="zh-TW" altLang="en-US">
                    <a:noFill/>
                  </a:rPr>
                  <a:t> </a:t>
                </a:r>
              </a:p>
            </p:txBody>
          </p:sp>
        </mc:Fallback>
      </mc:AlternateContent>
      <p:sp>
        <p:nvSpPr>
          <p:cNvPr id="2" name="右中括弧 1">
            <a:extLst>
              <a:ext uri="{FF2B5EF4-FFF2-40B4-BE49-F238E27FC236}">
                <a16:creationId xmlns:a16="http://schemas.microsoft.com/office/drawing/2014/main" id="{97F981FB-6561-4C54-865E-1BEB2DB832D6}"/>
              </a:ext>
            </a:extLst>
          </p:cNvPr>
          <p:cNvSpPr/>
          <p:nvPr/>
        </p:nvSpPr>
        <p:spPr>
          <a:xfrm>
            <a:off x="2489761" y="4187737"/>
            <a:ext cx="131519" cy="620483"/>
          </a:xfrm>
          <a:prstGeom prst="rightBracket">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0" name="右中括弧 19">
            <a:extLst>
              <a:ext uri="{FF2B5EF4-FFF2-40B4-BE49-F238E27FC236}">
                <a16:creationId xmlns:a16="http://schemas.microsoft.com/office/drawing/2014/main" id="{FB0AC2F7-9F45-49B9-9804-735297F12095}"/>
              </a:ext>
            </a:extLst>
          </p:cNvPr>
          <p:cNvSpPr/>
          <p:nvPr/>
        </p:nvSpPr>
        <p:spPr>
          <a:xfrm>
            <a:off x="2489761" y="4910870"/>
            <a:ext cx="131519" cy="620483"/>
          </a:xfrm>
          <a:prstGeom prst="rightBracket">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21" name="標題 1">
                <a:extLst>
                  <a:ext uri="{FF2B5EF4-FFF2-40B4-BE49-F238E27FC236}">
                    <a16:creationId xmlns:a16="http://schemas.microsoft.com/office/drawing/2014/main" id="{17502EA6-89F0-4EBE-8451-0E40E7073CF4}"/>
                  </a:ext>
                </a:extLst>
              </p:cNvPr>
              <p:cNvSpPr txBox="1">
                <a:spLocks/>
              </p:cNvSpPr>
              <p:nvPr/>
            </p:nvSpPr>
            <p:spPr>
              <a:xfrm>
                <a:off x="2789171" y="4906981"/>
                <a:ext cx="1537854" cy="5403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𝑒𝑑</m:t>
                      </m:r>
                      <m:d>
                        <m:d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d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 </m:t>
                          </m:r>
                        </m:e>
                      </m:d>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=1</m:t>
                      </m:r>
                    </m:oMath>
                  </m:oMathPara>
                </a14:m>
                <a:endParaRPr lang="en-US" altLang="zh-TW" sz="2400" dirty="0">
                  <a:latin typeface="Times New Roman" panose="02020603050405020304" pitchFamily="18" charset="0"/>
                  <a:ea typeface="BatangChe" panose="02030609000101010101" pitchFamily="49" charset="-127"/>
                  <a:cs typeface="Times New Roman" panose="02020603050405020304" pitchFamily="18" charset="0"/>
                </a:endParaRPr>
              </a:p>
            </p:txBody>
          </p:sp>
        </mc:Choice>
        <mc:Fallback>
          <p:sp>
            <p:nvSpPr>
              <p:cNvPr id="21" name="標題 1">
                <a:extLst>
                  <a:ext uri="{FF2B5EF4-FFF2-40B4-BE49-F238E27FC236}">
                    <a16:creationId xmlns:a16="http://schemas.microsoft.com/office/drawing/2014/main" id="{17502EA6-89F0-4EBE-8451-0E40E7073CF4}"/>
                  </a:ext>
                </a:extLst>
              </p:cNvPr>
              <p:cNvSpPr txBox="1">
                <a:spLocks noRot="1" noChangeAspect="1" noMove="1" noResize="1" noEditPoints="1" noAdjustHandles="1" noChangeArrowheads="1" noChangeShapeType="1" noTextEdit="1"/>
              </p:cNvSpPr>
              <p:nvPr/>
            </p:nvSpPr>
            <p:spPr>
              <a:xfrm>
                <a:off x="2789171" y="4906981"/>
                <a:ext cx="1537854" cy="54039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2" name="標題 1">
                <a:extLst>
                  <a:ext uri="{FF2B5EF4-FFF2-40B4-BE49-F238E27FC236}">
                    <a16:creationId xmlns:a16="http://schemas.microsoft.com/office/drawing/2014/main" id="{73925E74-904F-494E-AF39-F1AFDA39375E}"/>
                  </a:ext>
                </a:extLst>
              </p:cNvPr>
              <p:cNvSpPr txBox="1">
                <a:spLocks/>
              </p:cNvSpPr>
              <p:nvPr/>
            </p:nvSpPr>
            <p:spPr>
              <a:xfrm>
                <a:off x="5059930" y="4427155"/>
                <a:ext cx="2915669" cy="5403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𝑅</m:t>
                    </m:r>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is a 2-edit repeat</a:t>
                </a:r>
              </a:p>
            </p:txBody>
          </p:sp>
        </mc:Choice>
        <mc:Fallback>
          <p:sp>
            <p:nvSpPr>
              <p:cNvPr id="22" name="標題 1">
                <a:extLst>
                  <a:ext uri="{FF2B5EF4-FFF2-40B4-BE49-F238E27FC236}">
                    <a16:creationId xmlns:a16="http://schemas.microsoft.com/office/drawing/2014/main" id="{73925E74-904F-494E-AF39-F1AFDA39375E}"/>
                  </a:ext>
                </a:extLst>
              </p:cNvPr>
              <p:cNvSpPr txBox="1">
                <a:spLocks noRot="1" noChangeAspect="1" noMove="1" noResize="1" noEditPoints="1" noAdjustHandles="1" noChangeArrowheads="1" noChangeShapeType="1" noTextEdit="1"/>
              </p:cNvSpPr>
              <p:nvPr/>
            </p:nvSpPr>
            <p:spPr>
              <a:xfrm>
                <a:off x="5059930" y="4427155"/>
                <a:ext cx="2915669" cy="540394"/>
              </a:xfrm>
              <a:prstGeom prst="rect">
                <a:avLst/>
              </a:prstGeom>
              <a:blipFill>
                <a:blip r:embed="rId6"/>
                <a:stretch>
                  <a:fillRect l="-418" b="-2921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3" name="標題 1">
                <a:extLst>
                  <a:ext uri="{FF2B5EF4-FFF2-40B4-BE49-F238E27FC236}">
                    <a16:creationId xmlns:a16="http://schemas.microsoft.com/office/drawing/2014/main" id="{A052818F-CCEC-4C02-89D6-1A621568D5E0}"/>
                  </a:ext>
                </a:extLst>
              </p:cNvPr>
              <p:cNvSpPr txBox="1">
                <a:spLocks/>
              </p:cNvSpPr>
              <p:nvPr/>
            </p:nvSpPr>
            <p:spPr>
              <a:xfrm>
                <a:off x="5256130" y="5002453"/>
                <a:ext cx="2915669" cy="5403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r>
                        <m:rPr>
                          <m:sty m:val="p"/>
                        </m:rPr>
                        <a:rPr lang="en-US" altLang="zh-TW" sz="2000" b="0" i="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Σ</m:t>
                      </m:r>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𝑒𝑑</m:t>
                      </m:r>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=2≤</m:t>
                      </m:r>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𝑘</m:t>
                      </m:r>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oMath>
                  </m:oMathPara>
                </a14:m>
                <a:endParaRPr lang="en-US" altLang="zh-TW" sz="2000" dirty="0">
                  <a:solidFill>
                    <a:srgbClr val="0070C0"/>
                  </a:solidFill>
                  <a:latin typeface="Times New Roman" panose="02020603050405020304" pitchFamily="18" charset="0"/>
                  <a:ea typeface="BatangChe" panose="02030609000101010101" pitchFamily="49" charset="-127"/>
                  <a:cs typeface="Times New Roman" panose="02020603050405020304" pitchFamily="18" charset="0"/>
                </a:endParaRPr>
              </a:p>
            </p:txBody>
          </p:sp>
        </mc:Choice>
        <mc:Fallback>
          <p:sp>
            <p:nvSpPr>
              <p:cNvPr id="23" name="標題 1">
                <a:extLst>
                  <a:ext uri="{FF2B5EF4-FFF2-40B4-BE49-F238E27FC236}">
                    <a16:creationId xmlns:a16="http://schemas.microsoft.com/office/drawing/2014/main" id="{A052818F-CCEC-4C02-89D6-1A621568D5E0}"/>
                  </a:ext>
                </a:extLst>
              </p:cNvPr>
              <p:cNvSpPr txBox="1">
                <a:spLocks noRot="1" noChangeAspect="1" noMove="1" noResize="1" noEditPoints="1" noAdjustHandles="1" noChangeArrowheads="1" noChangeShapeType="1" noTextEdit="1"/>
              </p:cNvSpPr>
              <p:nvPr/>
            </p:nvSpPr>
            <p:spPr>
              <a:xfrm>
                <a:off x="5256130" y="5002453"/>
                <a:ext cx="2915669" cy="540394"/>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4" name="標題 1">
                <a:extLst>
                  <a:ext uri="{FF2B5EF4-FFF2-40B4-BE49-F238E27FC236}">
                    <a16:creationId xmlns:a16="http://schemas.microsoft.com/office/drawing/2014/main" id="{C651E013-0539-44C1-9710-62D587F988DA}"/>
                  </a:ext>
                </a:extLst>
              </p:cNvPr>
              <p:cNvSpPr txBox="1">
                <a:spLocks/>
              </p:cNvSpPr>
              <p:nvPr/>
            </p:nvSpPr>
            <p:spPr>
              <a:xfrm>
                <a:off x="825335" y="1631547"/>
                <a:ext cx="7493328" cy="1183411"/>
              </a:xfrm>
              <a:prstGeom prst="rect">
                <a:avLst/>
              </a:prstGeom>
              <a:solidFill>
                <a:schemeClr val="bg1"/>
              </a:solidFill>
              <a:ln>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𝑅</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𝑟</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1</m:t>
                        </m:r>
                      </m:sub>
                    </m:s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 </m:t>
                    </m:r>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𝑟</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2</m:t>
                        </m:r>
                      </m:sub>
                    </m:s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𝑟</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𝑙</m:t>
                        </m:r>
                      </m:sub>
                    </m:sSub>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such that </a:t>
                </a:r>
                <a14:m>
                  <m:oMath xmlns:m="http://schemas.openxmlformats.org/officeDocument/2006/math">
                    <m:sSubSup>
                      <m:sSubSup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SupPr>
                      <m:e>
                        <m:r>
                          <m:rPr>
                            <m:sty m:val="p"/>
                          </m:rPr>
                          <a:rPr lang="en-US" altLang="zh-TW" sz="2400" b="0" i="0" smtClean="0">
                            <a:latin typeface="Cambria Math" panose="02040503050406030204" pitchFamily="18" charset="0"/>
                            <a:ea typeface="BatangChe" panose="02030609000101010101" pitchFamily="49" charset="-127"/>
                            <a:cs typeface="Times New Roman" panose="02020603050405020304" pitchFamily="18" charset="0"/>
                          </a:rPr>
                          <m:t>Σ</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𝑖</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=1</m:t>
                        </m:r>
                      </m:sub>
                      <m: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𝑛</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−1</m:t>
                        </m:r>
                      </m:sup>
                    </m:sSubSup>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𝑒𝑑</m:t>
                    </m:r>
                    <m:d>
                      <m:d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dPr>
                      <m:e>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𝑟</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𝑖</m:t>
                            </m:r>
                          </m:sub>
                        </m:s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 </m:t>
                        </m:r>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𝑟</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𝑖</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+1</m:t>
                            </m:r>
                          </m:sub>
                        </m:sSub>
                      </m:e>
                    </m:d>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𝑘</m:t>
                    </m:r>
                  </m:oMath>
                </a14:m>
                <a:endParaRPr lang="en-US" altLang="zh-TW" sz="2400" dirty="0">
                  <a:latin typeface="Times New Roman" panose="02020603050405020304" pitchFamily="18" charset="0"/>
                  <a:ea typeface="BatangChe" panose="02030609000101010101" pitchFamily="49" charset="-127"/>
                  <a:cs typeface="Times New Roman" panose="02020603050405020304" pitchFamily="18" charset="0"/>
                </a:endParaRPr>
              </a:p>
            </p:txBody>
          </p:sp>
        </mc:Choice>
        <mc:Fallback>
          <p:sp>
            <p:nvSpPr>
              <p:cNvPr id="24" name="標題 1">
                <a:extLst>
                  <a:ext uri="{FF2B5EF4-FFF2-40B4-BE49-F238E27FC236}">
                    <a16:creationId xmlns:a16="http://schemas.microsoft.com/office/drawing/2014/main" id="{C651E013-0539-44C1-9710-62D587F988DA}"/>
                  </a:ext>
                </a:extLst>
              </p:cNvPr>
              <p:cNvSpPr txBox="1">
                <a:spLocks noRot="1" noChangeAspect="1" noMove="1" noResize="1" noEditPoints="1" noAdjustHandles="1" noChangeArrowheads="1" noChangeShapeType="1" noTextEdit="1"/>
              </p:cNvSpPr>
              <p:nvPr/>
            </p:nvSpPr>
            <p:spPr>
              <a:xfrm>
                <a:off x="825335" y="1631547"/>
                <a:ext cx="7493328" cy="1183411"/>
              </a:xfrm>
              <a:prstGeom prst="rect">
                <a:avLst/>
              </a:prstGeom>
              <a:blipFill>
                <a:blip r:embed="rId8"/>
                <a:stretch>
                  <a:fillRect/>
                </a:stretch>
              </a:blipFill>
              <a:ln>
                <a:solidFill>
                  <a:schemeClr val="tx1"/>
                </a:solidFill>
              </a:ln>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BF00CEE3-9A51-4FDE-8D31-DF56458B1136}"/>
              </a:ext>
            </a:extLst>
          </p:cNvPr>
          <p:cNvSpPr/>
          <p:nvPr/>
        </p:nvSpPr>
        <p:spPr>
          <a:xfrm>
            <a:off x="-2" y="6398459"/>
            <a:ext cx="7524751" cy="276999"/>
          </a:xfrm>
          <a:prstGeom prst="rect">
            <a:avLst/>
          </a:prstGeom>
        </p:spPr>
        <p:txBody>
          <a:bodyPr wrap="square">
            <a:spAutoFit/>
          </a:bodyPr>
          <a:lstStyle/>
          <a:p>
            <a:r>
              <a:rPr lang="en-US" altLang="zh-TW" sz="1200" i="1" dirty="0">
                <a:latin typeface="t1-gul-regular"/>
              </a:rPr>
              <a:t>Dina Sokol, Gary Benson, Justin </a:t>
            </a:r>
            <a:r>
              <a:rPr lang="en-US" altLang="zh-TW" sz="1200" i="1" dirty="0" err="1">
                <a:latin typeface="t1-gul-regular"/>
              </a:rPr>
              <a:t>Tojeira</a:t>
            </a:r>
            <a:r>
              <a:rPr lang="en-US" altLang="zh-TW" sz="1200" i="1" dirty="0">
                <a:latin typeface="t1-gul-regular"/>
              </a:rPr>
              <a:t>, Tandem repeats over the edit distance, Bioinformatics 23 (2) (2007) e30–e35</a:t>
            </a:r>
            <a:endParaRPr lang="zh-TW" altLang="en-US" sz="1200" i="1" dirty="0">
              <a:latin typeface="t1-gul-regular"/>
            </a:endParaRPr>
          </a:p>
        </p:txBody>
      </p:sp>
    </p:spTree>
    <p:extLst>
      <p:ext uri="{BB962C8B-B14F-4D97-AF65-F5344CB8AC3E}">
        <p14:creationId xmlns:p14="http://schemas.microsoft.com/office/powerpoint/2010/main" val="295811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6" name="表格 5">
                <a:extLst>
                  <a:ext uri="{FF2B5EF4-FFF2-40B4-BE49-F238E27FC236}">
                    <a16:creationId xmlns:a16="http://schemas.microsoft.com/office/drawing/2014/main" id="{CDB60D0B-16D0-4E9E-BB1F-C3C6CFD18984}"/>
                  </a:ext>
                </a:extLst>
              </p:cNvPr>
              <p:cNvGraphicFramePr>
                <a:graphicFrameLocks noGrp="1"/>
              </p:cNvGraphicFramePr>
              <p:nvPr>
                <p:extLst>
                  <p:ext uri="{D42A27DB-BD31-4B8C-83A1-F6EECF244321}">
                    <p14:modId xmlns:p14="http://schemas.microsoft.com/office/powerpoint/2010/main" val="2711560102"/>
                  </p:ext>
                </p:extLst>
              </p:nvPr>
            </p:nvGraphicFramePr>
            <p:xfrm>
              <a:off x="359893" y="4117463"/>
              <a:ext cx="8381875" cy="14833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509011320"/>
                        </a:ext>
                      </a:extLst>
                    </a:gridCol>
                    <a:gridCol w="267936">
                      <a:extLst>
                        <a:ext uri="{9D8B030D-6E8A-4147-A177-3AD203B41FA5}">
                          <a16:colId xmlns:a16="http://schemas.microsoft.com/office/drawing/2014/main" val="2930700058"/>
                        </a:ext>
                      </a:extLst>
                    </a:gridCol>
                    <a:gridCol w="267936">
                      <a:extLst>
                        <a:ext uri="{9D8B030D-6E8A-4147-A177-3AD203B41FA5}">
                          <a16:colId xmlns:a16="http://schemas.microsoft.com/office/drawing/2014/main" val="88161990"/>
                        </a:ext>
                      </a:extLst>
                    </a:gridCol>
                    <a:gridCol w="267936">
                      <a:extLst>
                        <a:ext uri="{9D8B030D-6E8A-4147-A177-3AD203B41FA5}">
                          <a16:colId xmlns:a16="http://schemas.microsoft.com/office/drawing/2014/main" val="1494678601"/>
                        </a:ext>
                      </a:extLst>
                    </a:gridCol>
                    <a:gridCol w="267936">
                      <a:extLst>
                        <a:ext uri="{9D8B030D-6E8A-4147-A177-3AD203B41FA5}">
                          <a16:colId xmlns:a16="http://schemas.microsoft.com/office/drawing/2014/main" val="2906885473"/>
                        </a:ext>
                      </a:extLst>
                    </a:gridCol>
                    <a:gridCol w="267936">
                      <a:extLst>
                        <a:ext uri="{9D8B030D-6E8A-4147-A177-3AD203B41FA5}">
                          <a16:colId xmlns:a16="http://schemas.microsoft.com/office/drawing/2014/main" val="1209441022"/>
                        </a:ext>
                      </a:extLst>
                    </a:gridCol>
                    <a:gridCol w="267936">
                      <a:extLst>
                        <a:ext uri="{9D8B030D-6E8A-4147-A177-3AD203B41FA5}">
                          <a16:colId xmlns:a16="http://schemas.microsoft.com/office/drawing/2014/main" val="1593471082"/>
                        </a:ext>
                      </a:extLst>
                    </a:gridCol>
                    <a:gridCol w="267936">
                      <a:extLst>
                        <a:ext uri="{9D8B030D-6E8A-4147-A177-3AD203B41FA5}">
                          <a16:colId xmlns:a16="http://schemas.microsoft.com/office/drawing/2014/main" val="273692249"/>
                        </a:ext>
                      </a:extLst>
                    </a:gridCol>
                    <a:gridCol w="267936">
                      <a:extLst>
                        <a:ext uri="{9D8B030D-6E8A-4147-A177-3AD203B41FA5}">
                          <a16:colId xmlns:a16="http://schemas.microsoft.com/office/drawing/2014/main" val="1244215878"/>
                        </a:ext>
                      </a:extLst>
                    </a:gridCol>
                    <a:gridCol w="267936">
                      <a:extLst>
                        <a:ext uri="{9D8B030D-6E8A-4147-A177-3AD203B41FA5}">
                          <a16:colId xmlns:a16="http://schemas.microsoft.com/office/drawing/2014/main" val="3628713908"/>
                        </a:ext>
                      </a:extLst>
                    </a:gridCol>
                    <a:gridCol w="417727">
                      <a:extLst>
                        <a:ext uri="{9D8B030D-6E8A-4147-A177-3AD203B41FA5}">
                          <a16:colId xmlns:a16="http://schemas.microsoft.com/office/drawing/2014/main" val="2213704594"/>
                        </a:ext>
                      </a:extLst>
                    </a:gridCol>
                    <a:gridCol w="417727">
                      <a:extLst>
                        <a:ext uri="{9D8B030D-6E8A-4147-A177-3AD203B41FA5}">
                          <a16:colId xmlns:a16="http://schemas.microsoft.com/office/drawing/2014/main" val="3188443477"/>
                        </a:ext>
                      </a:extLst>
                    </a:gridCol>
                    <a:gridCol w="417727">
                      <a:extLst>
                        <a:ext uri="{9D8B030D-6E8A-4147-A177-3AD203B41FA5}">
                          <a16:colId xmlns:a16="http://schemas.microsoft.com/office/drawing/2014/main" val="1291580665"/>
                        </a:ext>
                      </a:extLst>
                    </a:gridCol>
                    <a:gridCol w="417727">
                      <a:extLst>
                        <a:ext uri="{9D8B030D-6E8A-4147-A177-3AD203B41FA5}">
                          <a16:colId xmlns:a16="http://schemas.microsoft.com/office/drawing/2014/main" val="3257194646"/>
                        </a:ext>
                      </a:extLst>
                    </a:gridCol>
                    <a:gridCol w="417727">
                      <a:extLst>
                        <a:ext uri="{9D8B030D-6E8A-4147-A177-3AD203B41FA5}">
                          <a16:colId xmlns:a16="http://schemas.microsoft.com/office/drawing/2014/main" val="3576934460"/>
                        </a:ext>
                      </a:extLst>
                    </a:gridCol>
                    <a:gridCol w="417727">
                      <a:extLst>
                        <a:ext uri="{9D8B030D-6E8A-4147-A177-3AD203B41FA5}">
                          <a16:colId xmlns:a16="http://schemas.microsoft.com/office/drawing/2014/main" val="697855539"/>
                        </a:ext>
                      </a:extLst>
                    </a:gridCol>
                    <a:gridCol w="417727">
                      <a:extLst>
                        <a:ext uri="{9D8B030D-6E8A-4147-A177-3AD203B41FA5}">
                          <a16:colId xmlns:a16="http://schemas.microsoft.com/office/drawing/2014/main" val="3824505860"/>
                        </a:ext>
                      </a:extLst>
                    </a:gridCol>
                    <a:gridCol w="417727">
                      <a:extLst>
                        <a:ext uri="{9D8B030D-6E8A-4147-A177-3AD203B41FA5}">
                          <a16:colId xmlns:a16="http://schemas.microsoft.com/office/drawing/2014/main" val="1351405945"/>
                        </a:ext>
                      </a:extLst>
                    </a:gridCol>
                    <a:gridCol w="417727">
                      <a:extLst>
                        <a:ext uri="{9D8B030D-6E8A-4147-A177-3AD203B41FA5}">
                          <a16:colId xmlns:a16="http://schemas.microsoft.com/office/drawing/2014/main" val="4246047670"/>
                        </a:ext>
                      </a:extLst>
                    </a:gridCol>
                    <a:gridCol w="417727">
                      <a:extLst>
                        <a:ext uri="{9D8B030D-6E8A-4147-A177-3AD203B41FA5}">
                          <a16:colId xmlns:a16="http://schemas.microsoft.com/office/drawing/2014/main" val="3374063067"/>
                        </a:ext>
                      </a:extLst>
                    </a:gridCol>
                    <a:gridCol w="417727">
                      <a:extLst>
                        <a:ext uri="{9D8B030D-6E8A-4147-A177-3AD203B41FA5}">
                          <a16:colId xmlns:a16="http://schemas.microsoft.com/office/drawing/2014/main" val="2584135267"/>
                        </a:ext>
                      </a:extLst>
                    </a:gridCol>
                    <a:gridCol w="417727">
                      <a:extLst>
                        <a:ext uri="{9D8B030D-6E8A-4147-A177-3AD203B41FA5}">
                          <a16:colId xmlns:a16="http://schemas.microsoft.com/office/drawing/2014/main" val="4163682459"/>
                        </a:ext>
                      </a:extLst>
                    </a:gridCol>
                    <a:gridCol w="417727">
                      <a:extLst>
                        <a:ext uri="{9D8B030D-6E8A-4147-A177-3AD203B41FA5}">
                          <a16:colId xmlns:a16="http://schemas.microsoft.com/office/drawing/2014/main" val="650426766"/>
                        </a:ext>
                      </a:extLst>
                    </a:gridCol>
                  </a:tblGrid>
                  <a:tr h="370840">
                    <a:tc>
                      <a:txBody>
                        <a:bodyPr/>
                        <a:lstStyle/>
                        <a:p>
                          <a:pPr algn="l"/>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extLst>
                      <a:ext uri="{0D108BD9-81ED-4DB2-BD59-A6C34878D82A}">
                        <a16:rowId xmlns:a16="http://schemas.microsoft.com/office/drawing/2014/main" val="3191058923"/>
                      </a:ext>
                    </a:extLst>
                  </a:tr>
                  <a:tr h="370840">
                    <a:tc>
                      <a:txBody>
                        <a:bodyPr/>
                        <a:lstStyle/>
                        <a:p>
                          <a:pPr algn="l"/>
                          <a14:m>
                            <m:oMathPara xmlns:m="http://schemas.openxmlformats.org/officeDocument/2006/math">
                              <m:oMathParaPr>
                                <m:jc m:val="left"/>
                              </m:oMathParaPr>
                              <m:oMath xmlns:m="http://schemas.openxmlformats.org/officeDocument/2006/math">
                                <m:sSub>
                                  <m:sSubPr>
                                    <m:ctrlPr>
                                      <a:rPr lang="en-US" altLang="zh-TW" sz="140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1400" i="1" dirty="0">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1400" i="1" dirty="0">
                                        <a:latin typeface="Cambria Math" panose="02040503050406030204" pitchFamily="18" charset="0"/>
                                        <a:ea typeface="BatangChe" panose="02030609000101010101" pitchFamily="49" charset="-127"/>
                                        <a:cs typeface="Times New Roman" panose="02020603050405020304" pitchFamily="18" charset="0"/>
                                      </a:rPr>
                                      <m:t>𝑝𝑟𝑒</m:t>
                                    </m:r>
                                  </m:sub>
                                </m:sSub>
                                <m:r>
                                  <a:rPr lang="en-US" altLang="zh-TW" sz="1400" i="1" dirty="0">
                                    <a:latin typeface="Cambria Math" panose="02040503050406030204" pitchFamily="18" charset="0"/>
                                    <a:ea typeface="BatangChe" panose="02030609000101010101" pitchFamily="49" charset="-127"/>
                                    <a:cs typeface="Times New Roman" panose="02020603050405020304" pitchFamily="18" charset="0"/>
                                  </a:rPr>
                                  <m:t> </m:t>
                                </m:r>
                              </m:oMath>
                            </m:oMathPara>
                          </a14:m>
                          <a:endParaRPr lang="zh-TW" altLang="en-US" sz="1400"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solidFill>
                                <a:schemeClr val="bg1">
                                  <a:lumMod val="65000"/>
                                </a:schemeClr>
                              </a:solidFill>
                            </a:rPr>
                            <a:t>T</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C</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C</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G</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C</a:t>
                          </a:r>
                          <a:endParaRPr lang="zh-TW" altLang="en-US" dirty="0">
                            <a:solidFill>
                              <a:schemeClr val="bg1">
                                <a:lumMod val="65000"/>
                              </a:schemeClr>
                            </a:solidFill>
                          </a:endParaRPr>
                        </a:p>
                      </a:txBody>
                      <a:tcPr/>
                    </a:tc>
                    <a:extLst>
                      <a:ext uri="{0D108BD9-81ED-4DB2-BD59-A6C34878D82A}">
                        <a16:rowId xmlns:a16="http://schemas.microsoft.com/office/drawing/2014/main" val="1854348548"/>
                      </a:ext>
                    </a:extLst>
                  </a:tr>
                  <a:tr h="370840">
                    <a:tc>
                      <a:txBody>
                        <a:bodyPr/>
                        <a:lstStyle/>
                        <a:p>
                          <a:pPr algn="l"/>
                          <a14:m>
                            <m:oMathPara xmlns:m="http://schemas.openxmlformats.org/officeDocument/2006/math">
                              <m:oMathParaPr>
                                <m:jc m:val="left"/>
                              </m:oMathParaPr>
                              <m:oMath xmlns:m="http://schemas.openxmlformats.org/officeDocument/2006/math">
                                <m:sSub>
                                  <m:sSubPr>
                                    <m:ctrlPr>
                                      <a:rPr lang="en-US" altLang="zh-TW" sz="140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1400" i="1" dirty="0">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1400" i="1" dirty="0">
                                        <a:latin typeface="Cambria Math" panose="02040503050406030204" pitchFamily="18" charset="0"/>
                                        <a:ea typeface="BatangChe" panose="02030609000101010101" pitchFamily="49" charset="-127"/>
                                        <a:cs typeface="Times New Roman" panose="02020603050405020304" pitchFamily="18" charset="0"/>
                                      </a:rPr>
                                      <m:t>𝑠𝑢𝑓𝑓</m:t>
                                    </m:r>
                                  </m:sub>
                                </m:sSub>
                              </m:oMath>
                            </m:oMathPara>
                          </a14:m>
                          <a:endParaRPr lang="zh-TW" altLang="en-US" sz="1400" dirty="0"/>
                        </a:p>
                      </a:txBody>
                      <a:tcPr/>
                    </a:tc>
                    <a:tc>
                      <a:txBody>
                        <a:bodyPr/>
                        <a:lstStyle/>
                        <a:p>
                          <a:pPr algn="ctr"/>
                          <a:r>
                            <a:rPr lang="en-US" altLang="zh-TW" dirty="0">
                              <a:solidFill>
                                <a:schemeClr val="bg1">
                                  <a:lumMod val="65000"/>
                                </a:schemeClr>
                              </a:solidFill>
                            </a:rPr>
                            <a:t>C</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A</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A</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G</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C</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T</a:t>
                          </a:r>
                          <a:endParaRPr lang="zh-TW" altLang="en-US" dirty="0">
                            <a:solidFill>
                              <a:schemeClr val="bg1">
                                <a:lumMod val="65000"/>
                              </a:schemeClr>
                            </a:solidFill>
                          </a:endParaRPr>
                        </a:p>
                      </a:txBody>
                      <a:tcPr/>
                    </a:tc>
                    <a:tc>
                      <a:txBody>
                        <a:bodyPr/>
                        <a:lstStyle/>
                        <a:p>
                          <a:pPr algn="ctr"/>
                          <a:r>
                            <a:rPr lang="en-US" altLang="zh-TW" dirty="0"/>
                            <a:t>C</a:t>
                          </a:r>
                          <a:endParaRPr lang="zh-TW" altLang="en-US" dirty="0"/>
                        </a:p>
                      </a:txBody>
                      <a:tcPr/>
                    </a:tc>
                    <a:tc>
                      <a:txBody>
                        <a:bodyPr/>
                        <a:lstStyle/>
                        <a:p>
                          <a:pPr algn="ctr"/>
                          <a:r>
                            <a:rPr lang="en-US" altLang="zh-TW" dirty="0">
                              <a:solidFill>
                                <a:srgbClr val="FF0000"/>
                              </a:solidFill>
                            </a:rPr>
                            <a:t>C</a:t>
                          </a:r>
                          <a:endParaRPr lang="zh-TW" altLang="en-US" dirty="0">
                            <a:solidFill>
                              <a:srgbClr val="FF0000"/>
                            </a:solidFill>
                          </a:endParaRPr>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solidFill>
                                <a:srgbClr val="FF0000"/>
                              </a:solidFill>
                            </a:rPr>
                            <a:t>-</a:t>
                          </a:r>
                          <a:endParaRPr lang="zh-TW" altLang="en-US" dirty="0">
                            <a:solidFill>
                              <a:srgbClr val="FF0000"/>
                            </a:solidFill>
                          </a:endParaRPr>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extLst>
                      <a:ext uri="{0D108BD9-81ED-4DB2-BD59-A6C34878D82A}">
                        <a16:rowId xmlns:a16="http://schemas.microsoft.com/office/drawing/2014/main" val="2160933260"/>
                      </a:ext>
                    </a:extLst>
                  </a:tr>
                  <a:tr h="370840">
                    <a:tc>
                      <a:txBody>
                        <a:bodyPr/>
                        <a:lstStyle/>
                        <a:p>
                          <a:pPr algn="l"/>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2739556656"/>
                      </a:ext>
                    </a:extLst>
                  </a:tr>
                </a:tbl>
              </a:graphicData>
            </a:graphic>
          </p:graphicFrame>
        </mc:Choice>
        <mc:Fallback>
          <p:graphicFrame>
            <p:nvGraphicFramePr>
              <p:cNvPr id="6" name="表格 5">
                <a:extLst>
                  <a:ext uri="{FF2B5EF4-FFF2-40B4-BE49-F238E27FC236}">
                    <a16:creationId xmlns:a16="http://schemas.microsoft.com/office/drawing/2014/main" id="{CDB60D0B-16D0-4E9E-BB1F-C3C6CFD18984}"/>
                  </a:ext>
                </a:extLst>
              </p:cNvPr>
              <p:cNvGraphicFramePr>
                <a:graphicFrameLocks noGrp="1"/>
              </p:cNvGraphicFramePr>
              <p:nvPr>
                <p:extLst>
                  <p:ext uri="{D42A27DB-BD31-4B8C-83A1-F6EECF244321}">
                    <p14:modId xmlns:p14="http://schemas.microsoft.com/office/powerpoint/2010/main" val="2711560102"/>
                  </p:ext>
                </p:extLst>
              </p:nvPr>
            </p:nvGraphicFramePr>
            <p:xfrm>
              <a:off x="359893" y="4117463"/>
              <a:ext cx="8381875" cy="14833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509011320"/>
                        </a:ext>
                      </a:extLst>
                    </a:gridCol>
                    <a:gridCol w="267936">
                      <a:extLst>
                        <a:ext uri="{9D8B030D-6E8A-4147-A177-3AD203B41FA5}">
                          <a16:colId xmlns:a16="http://schemas.microsoft.com/office/drawing/2014/main" val="2930700058"/>
                        </a:ext>
                      </a:extLst>
                    </a:gridCol>
                    <a:gridCol w="267936">
                      <a:extLst>
                        <a:ext uri="{9D8B030D-6E8A-4147-A177-3AD203B41FA5}">
                          <a16:colId xmlns:a16="http://schemas.microsoft.com/office/drawing/2014/main" val="88161990"/>
                        </a:ext>
                      </a:extLst>
                    </a:gridCol>
                    <a:gridCol w="267936">
                      <a:extLst>
                        <a:ext uri="{9D8B030D-6E8A-4147-A177-3AD203B41FA5}">
                          <a16:colId xmlns:a16="http://schemas.microsoft.com/office/drawing/2014/main" val="1494678601"/>
                        </a:ext>
                      </a:extLst>
                    </a:gridCol>
                    <a:gridCol w="267936">
                      <a:extLst>
                        <a:ext uri="{9D8B030D-6E8A-4147-A177-3AD203B41FA5}">
                          <a16:colId xmlns:a16="http://schemas.microsoft.com/office/drawing/2014/main" val="2906885473"/>
                        </a:ext>
                      </a:extLst>
                    </a:gridCol>
                    <a:gridCol w="267936">
                      <a:extLst>
                        <a:ext uri="{9D8B030D-6E8A-4147-A177-3AD203B41FA5}">
                          <a16:colId xmlns:a16="http://schemas.microsoft.com/office/drawing/2014/main" val="1209441022"/>
                        </a:ext>
                      </a:extLst>
                    </a:gridCol>
                    <a:gridCol w="267936">
                      <a:extLst>
                        <a:ext uri="{9D8B030D-6E8A-4147-A177-3AD203B41FA5}">
                          <a16:colId xmlns:a16="http://schemas.microsoft.com/office/drawing/2014/main" val="1593471082"/>
                        </a:ext>
                      </a:extLst>
                    </a:gridCol>
                    <a:gridCol w="267936">
                      <a:extLst>
                        <a:ext uri="{9D8B030D-6E8A-4147-A177-3AD203B41FA5}">
                          <a16:colId xmlns:a16="http://schemas.microsoft.com/office/drawing/2014/main" val="273692249"/>
                        </a:ext>
                      </a:extLst>
                    </a:gridCol>
                    <a:gridCol w="267936">
                      <a:extLst>
                        <a:ext uri="{9D8B030D-6E8A-4147-A177-3AD203B41FA5}">
                          <a16:colId xmlns:a16="http://schemas.microsoft.com/office/drawing/2014/main" val="1244215878"/>
                        </a:ext>
                      </a:extLst>
                    </a:gridCol>
                    <a:gridCol w="267936">
                      <a:extLst>
                        <a:ext uri="{9D8B030D-6E8A-4147-A177-3AD203B41FA5}">
                          <a16:colId xmlns:a16="http://schemas.microsoft.com/office/drawing/2014/main" val="3628713908"/>
                        </a:ext>
                      </a:extLst>
                    </a:gridCol>
                    <a:gridCol w="417727">
                      <a:extLst>
                        <a:ext uri="{9D8B030D-6E8A-4147-A177-3AD203B41FA5}">
                          <a16:colId xmlns:a16="http://schemas.microsoft.com/office/drawing/2014/main" val="2213704594"/>
                        </a:ext>
                      </a:extLst>
                    </a:gridCol>
                    <a:gridCol w="417727">
                      <a:extLst>
                        <a:ext uri="{9D8B030D-6E8A-4147-A177-3AD203B41FA5}">
                          <a16:colId xmlns:a16="http://schemas.microsoft.com/office/drawing/2014/main" val="3188443477"/>
                        </a:ext>
                      </a:extLst>
                    </a:gridCol>
                    <a:gridCol w="417727">
                      <a:extLst>
                        <a:ext uri="{9D8B030D-6E8A-4147-A177-3AD203B41FA5}">
                          <a16:colId xmlns:a16="http://schemas.microsoft.com/office/drawing/2014/main" val="1291580665"/>
                        </a:ext>
                      </a:extLst>
                    </a:gridCol>
                    <a:gridCol w="417727">
                      <a:extLst>
                        <a:ext uri="{9D8B030D-6E8A-4147-A177-3AD203B41FA5}">
                          <a16:colId xmlns:a16="http://schemas.microsoft.com/office/drawing/2014/main" val="3257194646"/>
                        </a:ext>
                      </a:extLst>
                    </a:gridCol>
                    <a:gridCol w="417727">
                      <a:extLst>
                        <a:ext uri="{9D8B030D-6E8A-4147-A177-3AD203B41FA5}">
                          <a16:colId xmlns:a16="http://schemas.microsoft.com/office/drawing/2014/main" val="3576934460"/>
                        </a:ext>
                      </a:extLst>
                    </a:gridCol>
                    <a:gridCol w="417727">
                      <a:extLst>
                        <a:ext uri="{9D8B030D-6E8A-4147-A177-3AD203B41FA5}">
                          <a16:colId xmlns:a16="http://schemas.microsoft.com/office/drawing/2014/main" val="697855539"/>
                        </a:ext>
                      </a:extLst>
                    </a:gridCol>
                    <a:gridCol w="417727">
                      <a:extLst>
                        <a:ext uri="{9D8B030D-6E8A-4147-A177-3AD203B41FA5}">
                          <a16:colId xmlns:a16="http://schemas.microsoft.com/office/drawing/2014/main" val="3824505860"/>
                        </a:ext>
                      </a:extLst>
                    </a:gridCol>
                    <a:gridCol w="417727">
                      <a:extLst>
                        <a:ext uri="{9D8B030D-6E8A-4147-A177-3AD203B41FA5}">
                          <a16:colId xmlns:a16="http://schemas.microsoft.com/office/drawing/2014/main" val="1351405945"/>
                        </a:ext>
                      </a:extLst>
                    </a:gridCol>
                    <a:gridCol w="417727">
                      <a:extLst>
                        <a:ext uri="{9D8B030D-6E8A-4147-A177-3AD203B41FA5}">
                          <a16:colId xmlns:a16="http://schemas.microsoft.com/office/drawing/2014/main" val="4246047670"/>
                        </a:ext>
                      </a:extLst>
                    </a:gridCol>
                    <a:gridCol w="417727">
                      <a:extLst>
                        <a:ext uri="{9D8B030D-6E8A-4147-A177-3AD203B41FA5}">
                          <a16:colId xmlns:a16="http://schemas.microsoft.com/office/drawing/2014/main" val="3374063067"/>
                        </a:ext>
                      </a:extLst>
                    </a:gridCol>
                    <a:gridCol w="417727">
                      <a:extLst>
                        <a:ext uri="{9D8B030D-6E8A-4147-A177-3AD203B41FA5}">
                          <a16:colId xmlns:a16="http://schemas.microsoft.com/office/drawing/2014/main" val="2584135267"/>
                        </a:ext>
                      </a:extLst>
                    </a:gridCol>
                    <a:gridCol w="417727">
                      <a:extLst>
                        <a:ext uri="{9D8B030D-6E8A-4147-A177-3AD203B41FA5}">
                          <a16:colId xmlns:a16="http://schemas.microsoft.com/office/drawing/2014/main" val="4163682459"/>
                        </a:ext>
                      </a:extLst>
                    </a:gridCol>
                    <a:gridCol w="417727">
                      <a:extLst>
                        <a:ext uri="{9D8B030D-6E8A-4147-A177-3AD203B41FA5}">
                          <a16:colId xmlns:a16="http://schemas.microsoft.com/office/drawing/2014/main" val="650426766"/>
                        </a:ext>
                      </a:extLst>
                    </a:gridCol>
                  </a:tblGrid>
                  <a:tr h="370840">
                    <a:tc>
                      <a:txBody>
                        <a:bodyPr/>
                        <a:lstStyle/>
                        <a:p>
                          <a:pPr algn="l"/>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extLst>
                      <a:ext uri="{0D108BD9-81ED-4DB2-BD59-A6C34878D82A}">
                        <a16:rowId xmlns:a16="http://schemas.microsoft.com/office/drawing/2014/main" val="3191058923"/>
                      </a:ext>
                    </a:extLst>
                  </a:tr>
                  <a:tr h="370840">
                    <a:tc>
                      <a:txBody>
                        <a:bodyPr/>
                        <a:lstStyle/>
                        <a:p>
                          <a:endParaRPr lang="zh-TW"/>
                        </a:p>
                      </a:txBody>
                      <a:tcPr>
                        <a:blipFill>
                          <a:blip r:embed="rId3"/>
                          <a:stretch>
                            <a:fillRect l="-2247" t="-108197" r="-1448315" b="-224590"/>
                          </a:stretch>
                        </a:blip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solidFill>
                                <a:schemeClr val="bg1">
                                  <a:lumMod val="65000"/>
                                </a:schemeClr>
                              </a:solidFill>
                            </a:rPr>
                            <a:t>T</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C</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C</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G</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C</a:t>
                          </a:r>
                          <a:endParaRPr lang="zh-TW" altLang="en-US" dirty="0">
                            <a:solidFill>
                              <a:schemeClr val="bg1">
                                <a:lumMod val="65000"/>
                              </a:schemeClr>
                            </a:solidFill>
                          </a:endParaRPr>
                        </a:p>
                      </a:txBody>
                      <a:tcPr/>
                    </a:tc>
                    <a:extLst>
                      <a:ext uri="{0D108BD9-81ED-4DB2-BD59-A6C34878D82A}">
                        <a16:rowId xmlns:a16="http://schemas.microsoft.com/office/drawing/2014/main" val="1854348548"/>
                      </a:ext>
                    </a:extLst>
                  </a:tr>
                  <a:tr h="370840">
                    <a:tc>
                      <a:txBody>
                        <a:bodyPr/>
                        <a:lstStyle/>
                        <a:p>
                          <a:endParaRPr lang="zh-TW"/>
                        </a:p>
                      </a:txBody>
                      <a:tcPr>
                        <a:blipFill>
                          <a:blip r:embed="rId3"/>
                          <a:stretch>
                            <a:fillRect l="-2247" t="-208197" r="-1448315" b="-124590"/>
                          </a:stretch>
                        </a:blipFill>
                      </a:tcPr>
                    </a:tc>
                    <a:tc>
                      <a:txBody>
                        <a:bodyPr/>
                        <a:lstStyle/>
                        <a:p>
                          <a:pPr algn="ctr"/>
                          <a:r>
                            <a:rPr lang="en-US" altLang="zh-TW" dirty="0">
                              <a:solidFill>
                                <a:schemeClr val="bg1">
                                  <a:lumMod val="65000"/>
                                </a:schemeClr>
                              </a:solidFill>
                            </a:rPr>
                            <a:t>C</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A</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A</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G</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C</a:t>
                          </a:r>
                          <a:endParaRPr lang="zh-TW" altLang="en-US" dirty="0">
                            <a:solidFill>
                              <a:schemeClr val="bg1">
                                <a:lumMod val="65000"/>
                              </a:schemeClr>
                            </a:solidFill>
                          </a:endParaRPr>
                        </a:p>
                      </a:txBody>
                      <a:tcPr/>
                    </a:tc>
                    <a:tc>
                      <a:txBody>
                        <a:bodyPr/>
                        <a:lstStyle/>
                        <a:p>
                          <a:pPr algn="ctr"/>
                          <a:r>
                            <a:rPr lang="en-US" altLang="zh-TW" dirty="0">
                              <a:solidFill>
                                <a:schemeClr val="bg1">
                                  <a:lumMod val="65000"/>
                                </a:schemeClr>
                              </a:solidFill>
                            </a:rPr>
                            <a:t>T</a:t>
                          </a:r>
                          <a:endParaRPr lang="zh-TW" altLang="en-US" dirty="0">
                            <a:solidFill>
                              <a:schemeClr val="bg1">
                                <a:lumMod val="65000"/>
                              </a:schemeClr>
                            </a:solidFill>
                          </a:endParaRPr>
                        </a:p>
                      </a:txBody>
                      <a:tcPr/>
                    </a:tc>
                    <a:tc>
                      <a:txBody>
                        <a:bodyPr/>
                        <a:lstStyle/>
                        <a:p>
                          <a:pPr algn="ctr"/>
                          <a:r>
                            <a:rPr lang="en-US" altLang="zh-TW" dirty="0"/>
                            <a:t>C</a:t>
                          </a:r>
                          <a:endParaRPr lang="zh-TW" altLang="en-US" dirty="0"/>
                        </a:p>
                      </a:txBody>
                      <a:tcPr/>
                    </a:tc>
                    <a:tc>
                      <a:txBody>
                        <a:bodyPr/>
                        <a:lstStyle/>
                        <a:p>
                          <a:pPr algn="ctr"/>
                          <a:r>
                            <a:rPr lang="en-US" altLang="zh-TW" dirty="0">
                              <a:solidFill>
                                <a:srgbClr val="FF0000"/>
                              </a:solidFill>
                            </a:rPr>
                            <a:t>C</a:t>
                          </a:r>
                          <a:endParaRPr lang="zh-TW" altLang="en-US" dirty="0">
                            <a:solidFill>
                              <a:srgbClr val="FF0000"/>
                            </a:solidFill>
                          </a:endParaRPr>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solidFill>
                                <a:srgbClr val="FF0000"/>
                              </a:solidFill>
                            </a:rPr>
                            <a:t>-</a:t>
                          </a:r>
                          <a:endParaRPr lang="zh-TW" altLang="en-US" dirty="0">
                            <a:solidFill>
                              <a:srgbClr val="FF0000"/>
                            </a:solidFill>
                          </a:endParaRPr>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extLst>
                      <a:ext uri="{0D108BD9-81ED-4DB2-BD59-A6C34878D82A}">
                        <a16:rowId xmlns:a16="http://schemas.microsoft.com/office/drawing/2014/main" val="2160933260"/>
                      </a:ext>
                    </a:extLst>
                  </a:tr>
                  <a:tr h="370840">
                    <a:tc>
                      <a:txBody>
                        <a:bodyPr/>
                        <a:lstStyle/>
                        <a:p>
                          <a:pPr algn="l"/>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2739556656"/>
                      </a:ext>
                    </a:extLst>
                  </a:tr>
                </a:tbl>
              </a:graphicData>
            </a:graphic>
          </p:graphicFrame>
        </mc:Fallback>
      </mc:AlternateContent>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8</a:t>
            </a:fld>
            <a:endParaRPr lang="zh-TW" altLang="en-US" dirty="0"/>
          </a:p>
        </p:txBody>
      </p:sp>
      <p:sp>
        <p:nvSpPr>
          <p:cNvPr id="16" name="標題 1">
            <a:extLst>
              <a:ext uri="{FF2B5EF4-FFF2-40B4-BE49-F238E27FC236}">
                <a16:creationId xmlns:a16="http://schemas.microsoft.com/office/drawing/2014/main" id="{44AAEA94-82BE-4FD8-9313-818F6FE7B07E}"/>
              </a:ext>
            </a:extLst>
          </p:cNvPr>
          <p:cNvSpPr txBox="1">
            <a:spLocks/>
          </p:cNvSpPr>
          <p:nvPr/>
        </p:nvSpPr>
        <p:spPr>
          <a:xfrm>
            <a:off x="402232" y="385081"/>
            <a:ext cx="6592334"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The k-edit repeat (3/3) </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標題 1">
                <a:extLst>
                  <a:ext uri="{FF2B5EF4-FFF2-40B4-BE49-F238E27FC236}">
                    <a16:creationId xmlns:a16="http://schemas.microsoft.com/office/drawing/2014/main" id="{4E2E316B-EE35-4805-98A4-B798596888AF}"/>
                  </a:ext>
                </a:extLst>
              </p:cNvPr>
              <p:cNvSpPr txBox="1">
                <a:spLocks/>
              </p:cNvSpPr>
              <p:nvPr/>
            </p:nvSpPr>
            <p:spPr>
              <a:xfrm>
                <a:off x="825336" y="1631547"/>
                <a:ext cx="7493328" cy="1183411"/>
              </a:xfrm>
              <a:prstGeom prst="rect">
                <a:avLst/>
              </a:prstGeom>
              <a:ln>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𝑝𝑟𝑒</m:t>
                        </m:r>
                      </m:sub>
                    </m:s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 </m:t>
                    </m:r>
                  </m:oMath>
                </a14:m>
                <a:r>
                  <a:rPr lang="en-US" altLang="zh-TW" sz="2400" b="0" dirty="0">
                    <a:latin typeface="Cambria Math" panose="02040503050406030204" pitchFamily="18" charset="0"/>
                    <a:ea typeface="BatangChe" panose="02030609000101010101" pitchFamily="49" charset="-127"/>
                    <a:cs typeface="Times New Roman" panose="02020603050405020304" pitchFamily="18" charset="0"/>
                  </a:rPr>
                  <a:t>prefix of R,   </a:t>
                </a:r>
                <a14:m>
                  <m:oMath xmlns:m="http://schemas.openxmlformats.org/officeDocument/2006/math">
                    <m:sSub>
                      <m:sSubPr>
                        <m:ctrlPr>
                          <a:rPr lang="en-US" altLang="zh-TW" sz="2400" i="1">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i="1">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𝑠𝑢𝑓𝑓</m:t>
                        </m:r>
                      </m:sub>
                    </m:sSub>
                    <m:r>
                      <a:rPr lang="en-US" altLang="zh-TW" sz="2400" i="1">
                        <a:latin typeface="Cambria Math" panose="02040503050406030204" pitchFamily="18" charset="0"/>
                        <a:ea typeface="BatangChe" panose="02030609000101010101" pitchFamily="49" charset="-127"/>
                        <a:cs typeface="Times New Roman" panose="02020603050405020304" pitchFamily="18" charset="0"/>
                      </a:rPr>
                      <m:t>=</m:t>
                    </m:r>
                  </m:oMath>
                </a14:m>
                <a:r>
                  <a:rPr lang="en-US" altLang="zh-TW" sz="2400" dirty="0">
                    <a:latin typeface="Cambria Math" panose="02040503050406030204" pitchFamily="18" charset="0"/>
                    <a:ea typeface="BatangChe" panose="02030609000101010101" pitchFamily="49" charset="-127"/>
                    <a:cs typeface="Times New Roman" panose="02020603050405020304" pitchFamily="18" charset="0"/>
                  </a:rPr>
                  <a:t> suffix of R</a:t>
                </a:r>
                <a:endParaRPr lang="en-US" altLang="zh-TW" sz="2400" b="0" dirty="0">
                  <a:latin typeface="Cambria Math" panose="02040503050406030204" pitchFamily="18" charset="0"/>
                  <a:ea typeface="BatangChe" panose="02030609000101010101" pitchFamily="49" charset="-127"/>
                  <a:cs typeface="Times New Roman" panose="02020603050405020304" pitchFamily="18" charset="0"/>
                </a:endParaRPr>
              </a:p>
              <a:p>
                <a:pPr algn="r">
                  <a:lnSpc>
                    <a:spcPct val="150000"/>
                  </a:lnSpc>
                </a:pPr>
                <a14:m>
                  <m:oMath xmlns:m="http://schemas.openxmlformats.org/officeDocument/2006/math">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 </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𝑒</m:t>
                    </m:r>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𝑑</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𝑝</m:t>
                        </m:r>
                      </m:sub>
                    </m:sSub>
                    <m:d>
                      <m:d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dPr>
                      <m:e>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𝑝𝑟𝑒</m:t>
                            </m:r>
                          </m:sub>
                        </m:s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 </m:t>
                        </m:r>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𝑠𝑢𝑓𝑓</m:t>
                            </m:r>
                          </m:sub>
                        </m:sSub>
                      </m:e>
                    </m:d>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𝑘</m:t>
                    </m:r>
                    <m:r>
                      <a:rPr lang="en-US" altLang="zh-TW" sz="2400" b="0" i="0" smtClean="0">
                        <a:latin typeface="Cambria Math" panose="02040503050406030204" pitchFamily="18" charset="0"/>
                        <a:ea typeface="BatangChe" panose="02030609000101010101" pitchFamily="49" charset="-127"/>
                        <a:cs typeface="Times New Roman" panose="02020603050405020304" pitchFamily="18" charset="0"/>
                      </a:rPr>
                      <m:t>, </m:t>
                    </m:r>
                    <m:r>
                      <m:rPr>
                        <m:sty m:val="p"/>
                      </m:rPr>
                      <a:rPr lang="en-US" altLang="zh-TW" sz="2400" b="0" i="0" smtClean="0">
                        <a:latin typeface="Cambria Math" panose="02040503050406030204" pitchFamily="18" charset="0"/>
                        <a:ea typeface="BatangChe" panose="02030609000101010101" pitchFamily="49" charset="-127"/>
                        <a:cs typeface="Times New Roman" panose="02020603050405020304" pitchFamily="18" charset="0"/>
                      </a:rPr>
                      <m:t>and</m:t>
                    </m:r>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a:t>
                </a:r>
                <a14:m>
                  <m:oMath xmlns:m="http://schemas.openxmlformats.org/officeDocument/2006/math">
                    <m:d>
                      <m:dPr>
                        <m:begChr m:val="|"/>
                        <m:endChr m:val="|"/>
                        <m:ctrlPr>
                          <a:rPr lang="en-US" altLang="zh-TW" sz="2400" b="0" i="0" dirty="0" smtClean="0">
                            <a:latin typeface="Cambria Math" panose="02040503050406030204" pitchFamily="18" charset="0"/>
                            <a:ea typeface="BatangChe" panose="02030609000101010101" pitchFamily="49" charset="-127"/>
                            <a:cs typeface="Times New Roman" panose="02020603050405020304" pitchFamily="18" charset="0"/>
                          </a:rPr>
                        </m:ctrlPr>
                      </m:dPr>
                      <m:e>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𝑅</m:t>
                        </m:r>
                      </m:e>
                    </m:d>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m:t>
                    </m:r>
                    <m:sSub>
                      <m:sSubPr>
                        <m:ctrlP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𝑝𝑟𝑒</m:t>
                        </m:r>
                      </m:sub>
                    </m:s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m:t>
                    </m:r>
                    <m:sSub>
                      <m:sSubPr>
                        <m:ctrlP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𝑠𝑢𝑓𝑓</m:t>
                        </m:r>
                      </m:sub>
                    </m:s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m:t>
                    </m:r>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a:t>
                </a:r>
              </a:p>
            </p:txBody>
          </p:sp>
        </mc:Choice>
        <mc:Fallback>
          <p:sp>
            <p:nvSpPr>
              <p:cNvPr id="8" name="標題 1">
                <a:extLst>
                  <a:ext uri="{FF2B5EF4-FFF2-40B4-BE49-F238E27FC236}">
                    <a16:creationId xmlns:a16="http://schemas.microsoft.com/office/drawing/2014/main" id="{4E2E316B-EE35-4805-98A4-B798596888AF}"/>
                  </a:ext>
                </a:extLst>
              </p:cNvPr>
              <p:cNvSpPr txBox="1">
                <a:spLocks noRot="1" noChangeAspect="1" noMove="1" noResize="1" noEditPoints="1" noAdjustHandles="1" noChangeArrowheads="1" noChangeShapeType="1" noTextEdit="1"/>
              </p:cNvSpPr>
              <p:nvPr/>
            </p:nvSpPr>
            <p:spPr>
              <a:xfrm>
                <a:off x="825336" y="1631547"/>
                <a:ext cx="7493328" cy="1183411"/>
              </a:xfrm>
              <a:prstGeom prst="rect">
                <a:avLst/>
              </a:prstGeom>
              <a:blipFill>
                <a:blip r:embed="rId4"/>
                <a:stretch>
                  <a:fillRect l="-81"/>
                </a:stretch>
              </a:blipFill>
              <a:ln>
                <a:solidFill>
                  <a:schemeClr val="tx1"/>
                </a:solidFill>
              </a:ln>
            </p:spPr>
            <p:txBody>
              <a:bodyPr/>
              <a:lstStyle/>
              <a:p>
                <a:r>
                  <a:rPr lang="zh-TW" altLang="en-US">
                    <a:noFill/>
                  </a:rPr>
                  <a:t> </a:t>
                </a:r>
              </a:p>
            </p:txBody>
          </p:sp>
        </mc:Fallback>
      </mc:AlternateContent>
      <p:sp>
        <p:nvSpPr>
          <p:cNvPr id="10" name="標題 1">
            <a:extLst>
              <a:ext uri="{FF2B5EF4-FFF2-40B4-BE49-F238E27FC236}">
                <a16:creationId xmlns:a16="http://schemas.microsoft.com/office/drawing/2014/main" id="{B8D73A81-778D-4577-B367-9D2F05D87D6A}"/>
              </a:ext>
            </a:extLst>
          </p:cNvPr>
          <p:cNvSpPr txBox="1">
            <a:spLocks/>
          </p:cNvSpPr>
          <p:nvPr/>
        </p:nvSpPr>
        <p:spPr>
          <a:xfrm>
            <a:off x="402232" y="1120076"/>
            <a:ext cx="8563638"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2. A string R is a k-edit repeat if and only if</a:t>
            </a:r>
          </a:p>
        </p:txBody>
      </p:sp>
      <mc:AlternateContent xmlns:mc="http://schemas.openxmlformats.org/markup-compatibility/2006">
        <mc:Choice xmlns:a14="http://schemas.microsoft.com/office/drawing/2010/main" Requires="a14">
          <p:sp>
            <p:nvSpPr>
              <p:cNvPr id="22" name="標題 1">
                <a:extLst>
                  <a:ext uri="{FF2B5EF4-FFF2-40B4-BE49-F238E27FC236}">
                    <a16:creationId xmlns:a16="http://schemas.microsoft.com/office/drawing/2014/main" id="{73925E74-904F-494E-AF39-F1AFDA39375E}"/>
                  </a:ext>
                </a:extLst>
              </p:cNvPr>
              <p:cNvSpPr txBox="1">
                <a:spLocks/>
              </p:cNvSpPr>
              <p:nvPr/>
            </p:nvSpPr>
            <p:spPr>
              <a:xfrm>
                <a:off x="1143000" y="5646826"/>
                <a:ext cx="2915669" cy="5403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𝑅</m:t>
                    </m:r>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is a 2-edit repeat</a:t>
                </a:r>
              </a:p>
            </p:txBody>
          </p:sp>
        </mc:Choice>
        <mc:Fallback>
          <p:sp>
            <p:nvSpPr>
              <p:cNvPr id="22" name="標題 1">
                <a:extLst>
                  <a:ext uri="{FF2B5EF4-FFF2-40B4-BE49-F238E27FC236}">
                    <a16:creationId xmlns:a16="http://schemas.microsoft.com/office/drawing/2014/main" id="{73925E74-904F-494E-AF39-F1AFDA39375E}"/>
                  </a:ext>
                </a:extLst>
              </p:cNvPr>
              <p:cNvSpPr txBox="1">
                <a:spLocks noRot="1" noChangeAspect="1" noMove="1" noResize="1" noEditPoints="1" noAdjustHandles="1" noChangeArrowheads="1" noChangeShapeType="1" noTextEdit="1"/>
              </p:cNvSpPr>
              <p:nvPr/>
            </p:nvSpPr>
            <p:spPr>
              <a:xfrm>
                <a:off x="1143000" y="5646826"/>
                <a:ext cx="2915669" cy="540394"/>
              </a:xfrm>
              <a:prstGeom prst="rect">
                <a:avLst/>
              </a:prstGeom>
              <a:blipFill>
                <a:blip r:embed="rId5"/>
                <a:stretch>
                  <a:fillRect l="-628" b="-3033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3" name="標題 1">
                <a:extLst>
                  <a:ext uri="{FF2B5EF4-FFF2-40B4-BE49-F238E27FC236}">
                    <a16:creationId xmlns:a16="http://schemas.microsoft.com/office/drawing/2014/main" id="{A052818F-CCEC-4C02-89D6-1A621568D5E0}"/>
                  </a:ext>
                </a:extLst>
              </p:cNvPr>
              <p:cNvSpPr txBox="1">
                <a:spLocks/>
              </p:cNvSpPr>
              <p:nvPr/>
            </p:nvSpPr>
            <p:spPr>
              <a:xfrm>
                <a:off x="3637535" y="5651972"/>
                <a:ext cx="4671604" cy="5403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𝑒</m:t>
                      </m:r>
                      <m:sSub>
                        <m:sSubPr>
                          <m:ctrlP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𝑑</m:t>
                          </m:r>
                        </m:e>
                        <m:sub>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𝑝</m:t>
                          </m:r>
                        </m:sub>
                      </m:sSub>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=2≤</m:t>
                      </m:r>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𝑘</m:t>
                      </m:r>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 </m:t>
                      </m:r>
                      <m:d>
                        <m:dPr>
                          <m:begChr m:val="|"/>
                          <m:endChr m:val="|"/>
                          <m:ctrlP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ctrlPr>
                        </m:dPr>
                        <m:e>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𝑅</m:t>
                          </m:r>
                        </m:e>
                      </m:d>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=16≤11+10=21)</m:t>
                      </m:r>
                    </m:oMath>
                  </m:oMathPara>
                </a14:m>
                <a:endParaRPr lang="en-US" altLang="zh-TW" sz="2000" dirty="0">
                  <a:solidFill>
                    <a:srgbClr val="0070C0"/>
                  </a:solidFill>
                  <a:latin typeface="Times New Roman" panose="02020603050405020304" pitchFamily="18" charset="0"/>
                  <a:ea typeface="BatangChe" panose="02030609000101010101" pitchFamily="49" charset="-127"/>
                  <a:cs typeface="Times New Roman" panose="02020603050405020304" pitchFamily="18" charset="0"/>
                </a:endParaRPr>
              </a:p>
            </p:txBody>
          </p:sp>
        </mc:Choice>
        <mc:Fallback>
          <p:sp>
            <p:nvSpPr>
              <p:cNvPr id="23" name="標題 1">
                <a:extLst>
                  <a:ext uri="{FF2B5EF4-FFF2-40B4-BE49-F238E27FC236}">
                    <a16:creationId xmlns:a16="http://schemas.microsoft.com/office/drawing/2014/main" id="{A052818F-CCEC-4C02-89D6-1A621568D5E0}"/>
                  </a:ext>
                </a:extLst>
              </p:cNvPr>
              <p:cNvSpPr txBox="1">
                <a:spLocks noRot="1" noChangeAspect="1" noMove="1" noResize="1" noEditPoints="1" noAdjustHandles="1" noChangeArrowheads="1" noChangeShapeType="1" noTextEdit="1"/>
              </p:cNvSpPr>
              <p:nvPr/>
            </p:nvSpPr>
            <p:spPr>
              <a:xfrm>
                <a:off x="3637535" y="5651972"/>
                <a:ext cx="4671604" cy="540394"/>
              </a:xfrm>
              <a:prstGeom prst="rect">
                <a:avLst/>
              </a:prstGeom>
              <a:blipFill>
                <a:blip r:embed="rId6"/>
                <a:stretch>
                  <a:fillRect/>
                </a:stretch>
              </a:blipFill>
            </p:spPr>
            <p:txBody>
              <a:bodyPr/>
              <a:lstStyle/>
              <a:p>
                <a:r>
                  <a:rPr lang="zh-TW" altLang="en-US">
                    <a:noFill/>
                  </a:rPr>
                  <a:t> </a:t>
                </a:r>
              </a:p>
            </p:txBody>
          </p:sp>
        </mc:Fallback>
      </mc:AlternateContent>
      <p:sp>
        <p:nvSpPr>
          <p:cNvPr id="11" name="手繪多邊形: 圖案 10">
            <a:extLst>
              <a:ext uri="{FF2B5EF4-FFF2-40B4-BE49-F238E27FC236}">
                <a16:creationId xmlns:a16="http://schemas.microsoft.com/office/drawing/2014/main" id="{29921BCC-01DE-4881-BDE2-A6C57BAB598E}"/>
              </a:ext>
            </a:extLst>
          </p:cNvPr>
          <p:cNvSpPr/>
          <p:nvPr/>
        </p:nvSpPr>
        <p:spPr>
          <a:xfrm>
            <a:off x="1433309" y="2676525"/>
            <a:ext cx="376441" cy="419100"/>
          </a:xfrm>
          <a:custGeom>
            <a:avLst/>
            <a:gdLst>
              <a:gd name="connsiteX0" fmla="*/ 376441 w 376441"/>
              <a:gd name="connsiteY0" fmla="*/ 0 h 419100"/>
              <a:gd name="connsiteX1" fmla="*/ 43066 w 376441"/>
              <a:gd name="connsiteY1" fmla="*/ 142875 h 419100"/>
              <a:gd name="connsiteX2" fmla="*/ 14491 w 376441"/>
              <a:gd name="connsiteY2" fmla="*/ 419100 h 419100"/>
            </a:gdLst>
            <a:ahLst/>
            <a:cxnLst>
              <a:cxn ang="0">
                <a:pos x="connsiteX0" y="connsiteY0"/>
              </a:cxn>
              <a:cxn ang="0">
                <a:pos x="connsiteX1" y="connsiteY1"/>
              </a:cxn>
              <a:cxn ang="0">
                <a:pos x="connsiteX2" y="connsiteY2"/>
              </a:cxn>
            </a:cxnLst>
            <a:rect l="l" t="t" r="r" b="b"/>
            <a:pathLst>
              <a:path w="376441" h="419100">
                <a:moveTo>
                  <a:pt x="376441" y="0"/>
                </a:moveTo>
                <a:cubicBezTo>
                  <a:pt x="239916" y="36512"/>
                  <a:pt x="103391" y="73025"/>
                  <a:pt x="43066" y="142875"/>
                </a:cubicBezTo>
                <a:cubicBezTo>
                  <a:pt x="-17259" y="212725"/>
                  <a:pt x="-1384" y="315912"/>
                  <a:pt x="14491" y="419100"/>
                </a:cubicBezTo>
              </a:path>
            </a:pathLst>
          </a:custGeom>
          <a:noFill/>
          <a:ln w="190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24" name="標題 1">
                <a:extLst>
                  <a:ext uri="{FF2B5EF4-FFF2-40B4-BE49-F238E27FC236}">
                    <a16:creationId xmlns:a16="http://schemas.microsoft.com/office/drawing/2014/main" id="{1AABF71D-75DE-4ED1-B25A-08F83E24D31B}"/>
                  </a:ext>
                </a:extLst>
              </p:cNvPr>
              <p:cNvSpPr txBox="1">
                <a:spLocks/>
              </p:cNvSpPr>
              <p:nvPr/>
            </p:nvSpPr>
            <p:spPr>
              <a:xfrm>
                <a:off x="1262573" y="2959134"/>
                <a:ext cx="3414202" cy="5403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TW" sz="200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𝑝</m:t>
                    </m:r>
                  </m:oMath>
                </a14:m>
                <a:r>
                  <a:rPr lang="en-US" altLang="zh-TW" sz="2000" dirty="0">
                    <a:solidFill>
                      <a:srgbClr val="0070C0"/>
                    </a:solidFill>
                    <a:latin typeface="Times New Roman" panose="02020603050405020304" pitchFamily="18" charset="0"/>
                    <a:ea typeface="BatangChe" panose="02030609000101010101" pitchFamily="49" charset="-127"/>
                    <a:cs typeface="Times New Roman" panose="02020603050405020304" pitchFamily="18" charset="0"/>
                  </a:rPr>
                  <a:t>-</a:t>
                </a:r>
                <a14:m>
                  <m:oMath xmlns:m="http://schemas.openxmlformats.org/officeDocument/2006/math">
                    <m:r>
                      <a:rPr lang="en-US" altLang="zh-TW" sz="200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𝑟</m:t>
                    </m:r>
                    <m:r>
                      <a:rPr lang="en-US" altLang="zh-TW" sz="2000"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𝑒𝑠𝑡𝑟𝑖𝑐𝑡𝑒𝑑</m:t>
                    </m:r>
                    <m:r>
                      <a:rPr lang="en-US" altLang="zh-TW" sz="2000"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 </m:t>
                    </m:r>
                    <m:r>
                      <a:rPr lang="en-US" altLang="zh-TW" sz="2000"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𝑎𝑙𝑖𝑔𝑛𝑚𝑒𝑛𝑡</m:t>
                    </m:r>
                  </m:oMath>
                </a14:m>
                <a:endParaRPr lang="en-US" altLang="zh-TW" sz="2000" dirty="0">
                  <a:solidFill>
                    <a:srgbClr val="0070C0"/>
                  </a:solidFill>
                  <a:latin typeface="Times New Roman" panose="02020603050405020304" pitchFamily="18" charset="0"/>
                  <a:ea typeface="BatangChe" panose="02030609000101010101" pitchFamily="49" charset="-127"/>
                  <a:cs typeface="Times New Roman" panose="02020603050405020304" pitchFamily="18" charset="0"/>
                </a:endParaRPr>
              </a:p>
            </p:txBody>
          </p:sp>
        </mc:Choice>
        <mc:Fallback>
          <p:sp>
            <p:nvSpPr>
              <p:cNvPr id="24" name="標題 1">
                <a:extLst>
                  <a:ext uri="{FF2B5EF4-FFF2-40B4-BE49-F238E27FC236}">
                    <a16:creationId xmlns:a16="http://schemas.microsoft.com/office/drawing/2014/main" id="{1AABF71D-75DE-4ED1-B25A-08F83E24D31B}"/>
                  </a:ext>
                </a:extLst>
              </p:cNvPr>
              <p:cNvSpPr txBox="1">
                <a:spLocks noRot="1" noChangeAspect="1" noMove="1" noResize="1" noEditPoints="1" noAdjustHandles="1" noChangeArrowheads="1" noChangeShapeType="1" noTextEdit="1"/>
              </p:cNvSpPr>
              <p:nvPr/>
            </p:nvSpPr>
            <p:spPr>
              <a:xfrm>
                <a:off x="1262573" y="2959134"/>
                <a:ext cx="3414202" cy="540394"/>
              </a:xfrm>
              <a:prstGeom prst="rect">
                <a:avLst/>
              </a:prstGeom>
              <a:blipFill>
                <a:blip r:embed="rId7"/>
                <a:stretch>
                  <a:fillRect b="-1573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5" name="標題 1">
                <a:extLst>
                  <a:ext uri="{FF2B5EF4-FFF2-40B4-BE49-F238E27FC236}">
                    <a16:creationId xmlns:a16="http://schemas.microsoft.com/office/drawing/2014/main" id="{39FDBCAD-352C-46E2-862E-5D7A92F0DD81}"/>
                  </a:ext>
                </a:extLst>
              </p:cNvPr>
              <p:cNvSpPr txBox="1">
                <a:spLocks/>
              </p:cNvSpPr>
              <p:nvPr/>
            </p:nvSpPr>
            <p:spPr>
              <a:xfrm>
                <a:off x="290181" y="3586973"/>
                <a:ext cx="8563638"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dirty="0">
                    <a:latin typeface="Times New Roman" panose="02020603050405020304" pitchFamily="18" charset="0"/>
                    <a:ea typeface="BatangChe" panose="02030609000101010101" pitchFamily="49" charset="-127"/>
                    <a:cs typeface="Times New Roman" panose="02020603050405020304" pitchFamily="18" charset="0"/>
                  </a:rPr>
                  <a:t>Optimal Sequence Alignment of </a:t>
                </a:r>
                <a14:m>
                  <m:oMath xmlns:m="http://schemas.openxmlformats.org/officeDocument/2006/math">
                    <m:sSub>
                      <m:sSubPr>
                        <m:ctrlPr>
                          <a:rPr lang="en-US" altLang="zh-TW" sz="20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b="0" i="1" smtClean="0">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2000" b="0" i="1" smtClean="0">
                            <a:latin typeface="Cambria Math" panose="02040503050406030204" pitchFamily="18" charset="0"/>
                            <a:ea typeface="BatangChe" panose="02030609000101010101" pitchFamily="49" charset="-127"/>
                            <a:cs typeface="Times New Roman" panose="02020603050405020304" pitchFamily="18" charset="0"/>
                          </a:rPr>
                          <m:t>𝑝𝑟𝑒</m:t>
                        </m:r>
                      </m:sub>
                    </m:sSub>
                  </m:oMath>
                </a14:m>
                <a:r>
                  <a:rPr lang="en-US" altLang="zh-TW" sz="2000" dirty="0">
                    <a:latin typeface="Times New Roman" panose="02020603050405020304" pitchFamily="18" charset="0"/>
                    <a:ea typeface="BatangChe" panose="02030609000101010101" pitchFamily="49" charset="-127"/>
                    <a:cs typeface="Times New Roman" panose="02020603050405020304" pitchFamily="18" charset="0"/>
                  </a:rPr>
                  <a:t> and </a:t>
                </a:r>
                <a14:m>
                  <m:oMath xmlns:m="http://schemas.openxmlformats.org/officeDocument/2006/math">
                    <m:sSub>
                      <m:sSubPr>
                        <m:ctrlPr>
                          <a:rPr lang="en-US" altLang="zh-TW" sz="20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b="0" i="1" smtClean="0">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2000" b="0" i="1" smtClean="0">
                            <a:latin typeface="Cambria Math" panose="02040503050406030204" pitchFamily="18" charset="0"/>
                            <a:ea typeface="BatangChe" panose="02030609000101010101" pitchFamily="49" charset="-127"/>
                            <a:cs typeface="Times New Roman" panose="02020603050405020304" pitchFamily="18" charset="0"/>
                          </a:rPr>
                          <m:t>𝑠𝑢𝑓𝑓</m:t>
                        </m:r>
                      </m:sub>
                    </m:sSub>
                  </m:oMath>
                </a14:m>
                <a:r>
                  <a:rPr lang="en-US" altLang="zh-TW" sz="2000" dirty="0">
                    <a:latin typeface="Times New Roman" panose="02020603050405020304" pitchFamily="18" charset="0"/>
                    <a:ea typeface="BatangChe" panose="02030609000101010101" pitchFamily="49" charset="-127"/>
                    <a:cs typeface="Times New Roman" panose="02020603050405020304" pitchFamily="18" charset="0"/>
                  </a:rPr>
                  <a:t>:</a:t>
                </a:r>
              </a:p>
            </p:txBody>
          </p:sp>
        </mc:Choice>
        <mc:Fallback>
          <p:sp>
            <p:nvSpPr>
              <p:cNvPr id="25" name="標題 1">
                <a:extLst>
                  <a:ext uri="{FF2B5EF4-FFF2-40B4-BE49-F238E27FC236}">
                    <a16:creationId xmlns:a16="http://schemas.microsoft.com/office/drawing/2014/main" id="{39FDBCAD-352C-46E2-862E-5D7A92F0DD81}"/>
                  </a:ext>
                </a:extLst>
              </p:cNvPr>
              <p:cNvSpPr txBox="1">
                <a:spLocks noRot="1" noChangeAspect="1" noMove="1" noResize="1" noEditPoints="1" noAdjustHandles="1" noChangeArrowheads="1" noChangeShapeType="1" noTextEdit="1"/>
              </p:cNvSpPr>
              <p:nvPr/>
            </p:nvSpPr>
            <p:spPr>
              <a:xfrm>
                <a:off x="290181" y="3586973"/>
                <a:ext cx="8563638" cy="583367"/>
              </a:xfrm>
              <a:prstGeom prst="rect">
                <a:avLst/>
              </a:prstGeom>
              <a:blipFill>
                <a:blip r:embed="rId8"/>
                <a:stretch>
                  <a:fillRect l="-78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51769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11" grpId="0" animBg="1"/>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a:extLst>
              <a:ext uri="{FF2B5EF4-FFF2-40B4-BE49-F238E27FC236}">
                <a16:creationId xmlns:a16="http://schemas.microsoft.com/office/drawing/2014/main" id="{986D3308-EB65-43AE-9A8A-AD0350916402}"/>
              </a:ext>
            </a:extLst>
          </p:cNvPr>
          <p:cNvGraphicFramePr>
            <a:graphicFrameLocks noGrp="1"/>
          </p:cNvGraphicFramePr>
          <p:nvPr>
            <p:extLst>
              <p:ext uri="{D42A27DB-BD31-4B8C-83A1-F6EECF244321}">
                <p14:modId xmlns:p14="http://schemas.microsoft.com/office/powerpoint/2010/main" val="3970632068"/>
              </p:ext>
            </p:extLst>
          </p:nvPr>
        </p:nvGraphicFramePr>
        <p:xfrm>
          <a:off x="1232621" y="3630561"/>
          <a:ext cx="6241571" cy="37084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036771593"/>
                    </a:ext>
                  </a:extLst>
                </a:gridCol>
                <a:gridCol w="1187170">
                  <a:extLst>
                    <a:ext uri="{9D8B030D-6E8A-4147-A177-3AD203B41FA5}">
                      <a16:colId xmlns:a16="http://schemas.microsoft.com/office/drawing/2014/main" val="349022633"/>
                    </a:ext>
                  </a:extLst>
                </a:gridCol>
                <a:gridCol w="360000">
                  <a:extLst>
                    <a:ext uri="{9D8B030D-6E8A-4147-A177-3AD203B41FA5}">
                      <a16:colId xmlns:a16="http://schemas.microsoft.com/office/drawing/2014/main" val="1375033633"/>
                    </a:ext>
                  </a:extLst>
                </a:gridCol>
                <a:gridCol w="720000">
                  <a:extLst>
                    <a:ext uri="{9D8B030D-6E8A-4147-A177-3AD203B41FA5}">
                      <a16:colId xmlns:a16="http://schemas.microsoft.com/office/drawing/2014/main" val="67546157"/>
                    </a:ext>
                  </a:extLst>
                </a:gridCol>
                <a:gridCol w="360000">
                  <a:extLst>
                    <a:ext uri="{9D8B030D-6E8A-4147-A177-3AD203B41FA5}">
                      <a16:colId xmlns:a16="http://schemas.microsoft.com/office/drawing/2014/main" val="1126238434"/>
                    </a:ext>
                  </a:extLst>
                </a:gridCol>
                <a:gridCol w="2894401">
                  <a:extLst>
                    <a:ext uri="{9D8B030D-6E8A-4147-A177-3AD203B41FA5}">
                      <a16:colId xmlns:a16="http://schemas.microsoft.com/office/drawing/2014/main" val="3566043983"/>
                    </a:ext>
                  </a:extLst>
                </a:gridCol>
                <a:gridCol w="360000">
                  <a:extLst>
                    <a:ext uri="{9D8B030D-6E8A-4147-A177-3AD203B41FA5}">
                      <a16:colId xmlns:a16="http://schemas.microsoft.com/office/drawing/2014/main" val="3964177454"/>
                    </a:ext>
                  </a:extLst>
                </a:gridCol>
              </a:tblGrid>
              <a:tr h="370840">
                <a:tc>
                  <a:txBody>
                    <a:bodyPr/>
                    <a:lstStyle/>
                    <a:p>
                      <a:endParaRPr lang="zh-TW" altLang="en-US" dirty="0"/>
                    </a:p>
                  </a:txBody>
                  <a:tcPr/>
                </a:tc>
                <a:tc>
                  <a:txBody>
                    <a:bodyPr/>
                    <a:lstStyle/>
                    <a:p>
                      <a:pPr algn="ctr"/>
                      <a:r>
                        <a:rPr lang="en-US" altLang="zh-TW" dirty="0"/>
                        <a:t>…</a:t>
                      </a:r>
                      <a:endParaRPr lang="zh-TW" altLang="en-US" dirty="0"/>
                    </a:p>
                  </a:txBody>
                  <a:tcPr/>
                </a:tc>
                <a:tc>
                  <a:txBody>
                    <a:bodyPr/>
                    <a:lstStyle/>
                    <a:p>
                      <a:endParaRPr lang="zh-TW" altLang="en-US" dirty="0"/>
                    </a:p>
                  </a:txBody>
                  <a:tcPr>
                    <a:solidFill>
                      <a:schemeClr val="accent2">
                        <a:lumMod val="20000"/>
                        <a:lumOff val="80000"/>
                      </a:schemeClr>
                    </a:solidFill>
                  </a:tcPr>
                </a:tc>
                <a:tc>
                  <a:txBody>
                    <a:bodyPr/>
                    <a:lstStyle/>
                    <a:p>
                      <a:pPr algn="ctr"/>
                      <a:r>
                        <a:rPr lang="en-US" altLang="zh-TW" dirty="0"/>
                        <a:t>…</a:t>
                      </a:r>
                      <a:endParaRPr lang="zh-TW" altLang="en-US" dirty="0"/>
                    </a:p>
                  </a:txBody>
                  <a:tcPr>
                    <a:solidFill>
                      <a:schemeClr val="bg1"/>
                    </a:solidFill>
                  </a:tcPr>
                </a:tc>
                <a:tc>
                  <a:txBody>
                    <a:bodyPr/>
                    <a:lstStyle/>
                    <a:p>
                      <a:endParaRPr lang="zh-TW" altLang="en-US" dirty="0"/>
                    </a:p>
                  </a:txBody>
                  <a:tcPr>
                    <a:solidFill>
                      <a:schemeClr val="accent6">
                        <a:lumMod val="20000"/>
                        <a:lumOff val="80000"/>
                      </a:schemeClr>
                    </a:solidFill>
                  </a:tcPr>
                </a:tc>
                <a:tc>
                  <a:txBody>
                    <a:bodyPr/>
                    <a:lstStyle/>
                    <a:p>
                      <a:pPr algn="ctr"/>
                      <a:r>
                        <a:rPr lang="en-US" altLang="zh-TW" dirty="0"/>
                        <a:t>…</a:t>
                      </a:r>
                      <a:endParaRPr lang="zh-TW" altLang="en-US" dirty="0"/>
                    </a:p>
                  </a:txBody>
                  <a:tcPr>
                    <a:lnR w="12700" cap="flat" cmpd="sng" algn="ctr">
                      <a:solidFill>
                        <a:schemeClr val="tx1"/>
                      </a:solidFill>
                      <a:prstDash val="solid"/>
                      <a:round/>
                      <a:headEnd type="none" w="med" len="med"/>
                      <a:tailEnd type="none" w="med" len="med"/>
                    </a:lnR>
                  </a:tcPr>
                </a:tc>
                <a:tc>
                  <a:txBody>
                    <a:bodyPr/>
                    <a:lstStyle/>
                    <a:p>
                      <a:endParaRPr lang="zh-TW" alt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060979953"/>
                  </a:ext>
                </a:extLst>
              </a:tr>
            </a:tbl>
          </a:graphicData>
        </a:graphic>
      </p:graphicFrame>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9</a:t>
            </a:fld>
            <a:endParaRPr lang="zh-TW" altLang="en-US" dirty="0"/>
          </a:p>
        </p:txBody>
      </p:sp>
      <p:sp>
        <p:nvSpPr>
          <p:cNvPr id="16" name="標題 1">
            <a:extLst>
              <a:ext uri="{FF2B5EF4-FFF2-40B4-BE49-F238E27FC236}">
                <a16:creationId xmlns:a16="http://schemas.microsoft.com/office/drawing/2014/main" id="{44AAEA94-82BE-4FD8-9313-818F6FE7B07E}"/>
              </a:ext>
            </a:extLst>
          </p:cNvPr>
          <p:cNvSpPr txBox="1">
            <a:spLocks/>
          </p:cNvSpPr>
          <p:nvPr/>
        </p:nvSpPr>
        <p:spPr>
          <a:xfrm>
            <a:off x="402232" y="244711"/>
            <a:ext cx="8563638" cy="13183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Algorithm for finding repeats with a particular character (1/2) </a:t>
            </a:r>
            <a:endParaRPr lang="zh-TW" altLang="en-US" sz="36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C887B9E0-648E-434D-8927-273134A00095}"/>
              </a:ext>
            </a:extLst>
          </p:cNvPr>
          <p:cNvPicPr>
            <a:picLocks noChangeAspect="1"/>
          </p:cNvPicPr>
          <p:nvPr/>
        </p:nvPicPr>
        <p:blipFill>
          <a:blip r:embed="rId3"/>
          <a:stretch>
            <a:fillRect/>
          </a:stretch>
        </p:blipFill>
        <p:spPr>
          <a:xfrm>
            <a:off x="89065" y="1581981"/>
            <a:ext cx="8965870" cy="1847019"/>
          </a:xfrm>
          <a:prstGeom prst="rect">
            <a:avLst/>
          </a:prstGeom>
        </p:spPr>
      </p:pic>
      <p:sp>
        <p:nvSpPr>
          <p:cNvPr id="15" name="標題 1">
            <a:extLst>
              <a:ext uri="{FF2B5EF4-FFF2-40B4-BE49-F238E27FC236}">
                <a16:creationId xmlns:a16="http://schemas.microsoft.com/office/drawing/2014/main" id="{9CA39619-29C0-439E-B299-CE704E5CA2C5}"/>
              </a:ext>
            </a:extLst>
          </p:cNvPr>
          <p:cNvSpPr txBox="1">
            <a:spLocks/>
          </p:cNvSpPr>
          <p:nvPr/>
        </p:nvSpPr>
        <p:spPr>
          <a:xfrm>
            <a:off x="2851340" y="3165616"/>
            <a:ext cx="452789" cy="6252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spc="600" dirty="0">
                <a:solidFill>
                  <a:schemeClr val="accent2">
                    <a:lumMod val="75000"/>
                  </a:schemeClr>
                </a:solidFill>
                <a:latin typeface="Times New Roman" panose="02020603050405020304" pitchFamily="18" charset="0"/>
                <a:ea typeface="BatangChe" panose="02030609000101010101" pitchFamily="49" charset="-127"/>
                <a:cs typeface="Times New Roman" panose="02020603050405020304" pitchFamily="18" charset="0"/>
              </a:rPr>
              <a:t>c</a:t>
            </a:r>
            <a:endParaRPr lang="en-US" altLang="zh-TW" sz="1800" b="1" dirty="0">
              <a:solidFill>
                <a:schemeClr val="accent2">
                  <a:lumMod val="75000"/>
                </a:schemeClr>
              </a:solidFill>
              <a:latin typeface="Times New Roman" panose="02020603050405020304" pitchFamily="18" charset="0"/>
              <a:ea typeface="BatangChe" panose="02030609000101010101" pitchFamily="49" charset="-127"/>
              <a:cs typeface="Times New Roman" panose="02020603050405020304" pitchFamily="18" charset="0"/>
            </a:endParaRPr>
          </a:p>
        </p:txBody>
      </p:sp>
      <p:sp>
        <p:nvSpPr>
          <p:cNvPr id="17" name="標題 1">
            <a:extLst>
              <a:ext uri="{FF2B5EF4-FFF2-40B4-BE49-F238E27FC236}">
                <a16:creationId xmlns:a16="http://schemas.microsoft.com/office/drawing/2014/main" id="{E4983699-6884-4CEC-B849-9D1D56A543CC}"/>
              </a:ext>
            </a:extLst>
          </p:cNvPr>
          <p:cNvSpPr txBox="1">
            <a:spLocks/>
          </p:cNvSpPr>
          <p:nvPr/>
        </p:nvSpPr>
        <p:spPr>
          <a:xfrm>
            <a:off x="1268902" y="3515341"/>
            <a:ext cx="452789" cy="6252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spc="600" dirty="0">
                <a:latin typeface="Times New Roman" panose="02020603050405020304" pitchFamily="18" charset="0"/>
                <a:ea typeface="BatangChe" panose="02030609000101010101" pitchFamily="49" charset="-127"/>
                <a:cs typeface="Times New Roman" panose="02020603050405020304" pitchFamily="18" charset="0"/>
              </a:rPr>
              <a:t>1</a:t>
            </a:r>
            <a:endParaRPr lang="en-US" altLang="zh-TW" sz="1800" b="1" dirty="0">
              <a:latin typeface="Times New Roman" panose="02020603050405020304" pitchFamily="18" charset="0"/>
              <a:ea typeface="BatangChe" panose="02030609000101010101" pitchFamily="49" charset="-127"/>
              <a:cs typeface="Times New Roman" panose="02020603050405020304" pitchFamily="18" charset="0"/>
            </a:endParaRPr>
          </a:p>
        </p:txBody>
      </p:sp>
      <p:sp>
        <p:nvSpPr>
          <p:cNvPr id="18" name="標題 1">
            <a:extLst>
              <a:ext uri="{FF2B5EF4-FFF2-40B4-BE49-F238E27FC236}">
                <a16:creationId xmlns:a16="http://schemas.microsoft.com/office/drawing/2014/main" id="{4CF5067B-52B1-4F0D-8A8C-02935E668647}"/>
              </a:ext>
            </a:extLst>
          </p:cNvPr>
          <p:cNvSpPr txBox="1">
            <a:spLocks/>
          </p:cNvSpPr>
          <p:nvPr/>
        </p:nvSpPr>
        <p:spPr>
          <a:xfrm>
            <a:off x="7143391" y="3515341"/>
            <a:ext cx="452789" cy="6252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spc="600" dirty="0">
                <a:latin typeface="Times New Roman" panose="02020603050405020304" pitchFamily="18" charset="0"/>
                <a:ea typeface="BatangChe" panose="02030609000101010101" pitchFamily="49" charset="-127"/>
                <a:cs typeface="Times New Roman" panose="02020603050405020304" pitchFamily="18" charset="0"/>
              </a:rPr>
              <a:t>n</a:t>
            </a:r>
            <a:endParaRPr lang="en-US" altLang="zh-TW" sz="1800" b="1" dirty="0">
              <a:latin typeface="Times New Roman" panose="02020603050405020304" pitchFamily="18" charset="0"/>
              <a:ea typeface="BatangChe" panose="02030609000101010101" pitchFamily="49" charset="-127"/>
              <a:cs typeface="Times New Roman" panose="02020603050405020304" pitchFamily="18" charset="0"/>
            </a:endParaRPr>
          </a:p>
        </p:txBody>
      </p:sp>
      <p:graphicFrame>
        <p:nvGraphicFramePr>
          <p:cNvPr id="24" name="表格 23">
            <a:extLst>
              <a:ext uri="{FF2B5EF4-FFF2-40B4-BE49-F238E27FC236}">
                <a16:creationId xmlns:a16="http://schemas.microsoft.com/office/drawing/2014/main" id="{A87D3D06-DBA7-498B-A1AF-5D0878F7B99A}"/>
              </a:ext>
            </a:extLst>
          </p:cNvPr>
          <p:cNvGraphicFramePr>
            <a:graphicFrameLocks noGrp="1"/>
          </p:cNvGraphicFramePr>
          <p:nvPr>
            <p:extLst>
              <p:ext uri="{D42A27DB-BD31-4B8C-83A1-F6EECF244321}">
                <p14:modId xmlns:p14="http://schemas.microsoft.com/office/powerpoint/2010/main" val="2952858266"/>
              </p:ext>
            </p:extLst>
          </p:nvPr>
        </p:nvGraphicFramePr>
        <p:xfrm>
          <a:off x="3857531" y="4258090"/>
          <a:ext cx="4698000" cy="37084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375033633"/>
                    </a:ext>
                  </a:extLst>
                </a:gridCol>
                <a:gridCol w="4338000">
                  <a:extLst>
                    <a:ext uri="{9D8B030D-6E8A-4147-A177-3AD203B41FA5}">
                      <a16:colId xmlns:a16="http://schemas.microsoft.com/office/drawing/2014/main" val="3566043983"/>
                    </a:ext>
                  </a:extLst>
                </a:gridCol>
              </a:tblGrid>
              <a:tr h="370840">
                <a:tc>
                  <a:txBody>
                    <a:bodyPr/>
                    <a:lstStyle/>
                    <a:p>
                      <a:endParaRPr lang="zh-TW" altLang="en-US" sz="1800" kern="1200" dirty="0">
                        <a:solidFill>
                          <a:schemeClr val="tx1"/>
                        </a:solidFill>
                        <a:latin typeface="+mn-lt"/>
                        <a:ea typeface="+mn-ea"/>
                        <a:cs typeface="+mn-cs"/>
                      </a:endParaRPr>
                    </a:p>
                  </a:txBody>
                  <a:tcPr>
                    <a:solidFill>
                      <a:schemeClr val="accent2">
                        <a:lumMod val="20000"/>
                        <a:lumOff val="80000"/>
                      </a:schemeClr>
                    </a:solidFill>
                  </a:tcPr>
                </a:tc>
                <a:tc>
                  <a:txBody>
                    <a:bodyPr/>
                    <a:lstStyle/>
                    <a:p>
                      <a:pPr algn="ctr"/>
                      <a:r>
                        <a:rPr lang="en-US" altLang="zh-TW" dirty="0"/>
                        <a:t>…</a:t>
                      </a:r>
                      <a:endParaRPr lang="zh-TW" altLang="en-US" dirty="0"/>
                    </a:p>
                  </a:txBody>
                  <a:tcPr/>
                </a:tc>
                <a:extLst>
                  <a:ext uri="{0D108BD9-81ED-4DB2-BD59-A6C34878D82A}">
                    <a16:rowId xmlns:a16="http://schemas.microsoft.com/office/drawing/2014/main" val="2060979953"/>
                  </a:ext>
                </a:extLst>
              </a:tr>
            </a:tbl>
          </a:graphicData>
        </a:graphic>
      </p:graphicFrame>
      <p:sp>
        <p:nvSpPr>
          <p:cNvPr id="25" name="標題 1">
            <a:extLst>
              <a:ext uri="{FF2B5EF4-FFF2-40B4-BE49-F238E27FC236}">
                <a16:creationId xmlns:a16="http://schemas.microsoft.com/office/drawing/2014/main" id="{209B927F-2958-4E44-9821-E4CF1269C352}"/>
              </a:ext>
            </a:extLst>
          </p:cNvPr>
          <p:cNvSpPr txBox="1">
            <a:spLocks/>
          </p:cNvSpPr>
          <p:nvPr/>
        </p:nvSpPr>
        <p:spPr>
          <a:xfrm>
            <a:off x="3699693" y="3130436"/>
            <a:ext cx="891984" cy="6252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spc="600" dirty="0">
                <a:solidFill>
                  <a:schemeClr val="accent6">
                    <a:lumMod val="75000"/>
                  </a:schemeClr>
                </a:solidFill>
                <a:latin typeface="Times New Roman" panose="02020603050405020304" pitchFamily="18" charset="0"/>
                <a:ea typeface="BatangChe" panose="02030609000101010101" pitchFamily="49" charset="-127"/>
                <a:cs typeface="Times New Roman" panose="02020603050405020304" pitchFamily="18" charset="0"/>
              </a:rPr>
              <a:t>c+p</a:t>
            </a:r>
            <a:endParaRPr lang="en-US" altLang="zh-TW" sz="1800" b="1" dirty="0">
              <a:solidFill>
                <a:schemeClr val="accent6">
                  <a:lumMod val="75000"/>
                </a:schemeClr>
              </a:solidFill>
              <a:latin typeface="Times New Roman" panose="02020603050405020304" pitchFamily="18" charset="0"/>
              <a:ea typeface="BatangChe" panose="02030609000101010101" pitchFamily="49" charset="-127"/>
              <a:cs typeface="Times New Roman" panose="02020603050405020304" pitchFamily="18" charset="0"/>
            </a:endParaRPr>
          </a:p>
        </p:txBody>
      </p:sp>
      <p:graphicFrame>
        <p:nvGraphicFramePr>
          <p:cNvPr id="26" name="表格 25">
            <a:extLst>
              <a:ext uri="{FF2B5EF4-FFF2-40B4-BE49-F238E27FC236}">
                <a16:creationId xmlns:a16="http://schemas.microsoft.com/office/drawing/2014/main" id="{A2343CFB-F82E-4D34-A621-099B18343968}"/>
              </a:ext>
            </a:extLst>
          </p:cNvPr>
          <p:cNvGraphicFramePr>
            <a:graphicFrameLocks noGrp="1"/>
          </p:cNvGraphicFramePr>
          <p:nvPr>
            <p:extLst>
              <p:ext uri="{D42A27DB-BD31-4B8C-83A1-F6EECF244321}">
                <p14:modId xmlns:p14="http://schemas.microsoft.com/office/powerpoint/2010/main" val="3520203825"/>
              </p:ext>
            </p:extLst>
          </p:nvPr>
        </p:nvGraphicFramePr>
        <p:xfrm>
          <a:off x="3857531" y="4713409"/>
          <a:ext cx="3618000" cy="37084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375033633"/>
                    </a:ext>
                  </a:extLst>
                </a:gridCol>
                <a:gridCol w="3258000">
                  <a:extLst>
                    <a:ext uri="{9D8B030D-6E8A-4147-A177-3AD203B41FA5}">
                      <a16:colId xmlns:a16="http://schemas.microsoft.com/office/drawing/2014/main" val="3566043983"/>
                    </a:ext>
                  </a:extLst>
                </a:gridCol>
              </a:tblGrid>
              <a:tr h="370840">
                <a:tc>
                  <a:txBody>
                    <a:bodyPr/>
                    <a:lstStyle/>
                    <a:p>
                      <a:endParaRPr lang="zh-TW" altLang="en-US" sz="1800" kern="1200" dirty="0">
                        <a:solidFill>
                          <a:schemeClr val="tx1"/>
                        </a:solidFill>
                        <a:latin typeface="+mn-lt"/>
                        <a:ea typeface="+mn-ea"/>
                        <a:cs typeface="+mn-cs"/>
                      </a:endParaRPr>
                    </a:p>
                  </a:txBody>
                  <a:tcPr>
                    <a:solidFill>
                      <a:schemeClr val="accent6">
                        <a:lumMod val="20000"/>
                        <a:lumOff val="80000"/>
                      </a:schemeClr>
                    </a:solidFill>
                  </a:tcPr>
                </a:tc>
                <a:tc>
                  <a:txBody>
                    <a:bodyPr/>
                    <a:lstStyle/>
                    <a:p>
                      <a:pPr algn="ctr"/>
                      <a:r>
                        <a:rPr lang="en-US" altLang="zh-TW" dirty="0"/>
                        <a:t>…</a:t>
                      </a:r>
                      <a:endParaRPr lang="zh-TW" altLang="en-US" dirty="0"/>
                    </a:p>
                  </a:txBody>
                  <a:tcPr/>
                </a:tc>
                <a:extLst>
                  <a:ext uri="{0D108BD9-81ED-4DB2-BD59-A6C34878D82A}">
                    <a16:rowId xmlns:a16="http://schemas.microsoft.com/office/drawing/2014/main" val="2060979953"/>
                  </a:ext>
                </a:extLst>
              </a:tr>
            </a:tbl>
          </a:graphicData>
        </a:graphic>
      </p:graphicFrame>
      <p:graphicFrame>
        <p:nvGraphicFramePr>
          <p:cNvPr id="30" name="表格 29">
            <a:extLst>
              <a:ext uri="{FF2B5EF4-FFF2-40B4-BE49-F238E27FC236}">
                <a16:creationId xmlns:a16="http://schemas.microsoft.com/office/drawing/2014/main" id="{1AC25462-6E2F-4715-BF80-BA5484FACC20}"/>
              </a:ext>
            </a:extLst>
          </p:cNvPr>
          <p:cNvGraphicFramePr>
            <a:graphicFrameLocks noGrp="1"/>
          </p:cNvGraphicFramePr>
          <p:nvPr>
            <p:extLst>
              <p:ext uri="{D42A27DB-BD31-4B8C-83A1-F6EECF244321}">
                <p14:modId xmlns:p14="http://schemas.microsoft.com/office/powerpoint/2010/main" val="1866781451"/>
              </p:ext>
            </p:extLst>
          </p:nvPr>
        </p:nvGraphicFramePr>
        <p:xfrm>
          <a:off x="1232621" y="5996201"/>
          <a:ext cx="2628000" cy="370840"/>
        </p:xfrm>
        <a:graphic>
          <a:graphicData uri="http://schemas.openxmlformats.org/drawingml/2006/table">
            <a:tbl>
              <a:tblPr firstRow="1" bandRow="1">
                <a:tableStyleId>{5940675A-B579-460E-94D1-54222C63F5DA}</a:tableStyleId>
              </a:tblPr>
              <a:tblGrid>
                <a:gridCol w="2268000">
                  <a:extLst>
                    <a:ext uri="{9D8B030D-6E8A-4147-A177-3AD203B41FA5}">
                      <a16:colId xmlns:a16="http://schemas.microsoft.com/office/drawing/2014/main" val="1375033633"/>
                    </a:ext>
                  </a:extLst>
                </a:gridCol>
                <a:gridCol w="360000">
                  <a:extLst>
                    <a:ext uri="{9D8B030D-6E8A-4147-A177-3AD203B41FA5}">
                      <a16:colId xmlns:a16="http://schemas.microsoft.com/office/drawing/2014/main" val="3964177454"/>
                    </a:ext>
                  </a:extLst>
                </a:gridCol>
              </a:tblGrid>
              <a:tr h="370840">
                <a:tc>
                  <a:txBody>
                    <a:bodyPr/>
                    <a:lstStyle/>
                    <a:p>
                      <a:pPr algn="ctr"/>
                      <a:r>
                        <a:rPr lang="en-US" altLang="zh-TW" dirty="0"/>
                        <a:t>…</a:t>
                      </a:r>
                      <a:endParaRPr lang="zh-TW" altLang="en-US" dirty="0"/>
                    </a:p>
                  </a:txBody>
                  <a:tcPr>
                    <a:lnR w="12700" cap="flat" cmpd="sng" algn="ctr">
                      <a:solidFill>
                        <a:schemeClr val="tx1"/>
                      </a:solidFill>
                      <a:prstDash val="solid"/>
                      <a:round/>
                      <a:headEnd type="none" w="med" len="med"/>
                      <a:tailEnd type="none" w="med" len="med"/>
                    </a:lnR>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extLst>
                  <a:ext uri="{0D108BD9-81ED-4DB2-BD59-A6C34878D82A}">
                    <a16:rowId xmlns:a16="http://schemas.microsoft.com/office/drawing/2014/main" val="2060979953"/>
                  </a:ext>
                </a:extLst>
              </a:tr>
            </a:tbl>
          </a:graphicData>
        </a:graphic>
      </p:graphicFrame>
      <p:graphicFrame>
        <p:nvGraphicFramePr>
          <p:cNvPr id="31" name="表格 30">
            <a:extLst>
              <a:ext uri="{FF2B5EF4-FFF2-40B4-BE49-F238E27FC236}">
                <a16:creationId xmlns:a16="http://schemas.microsoft.com/office/drawing/2014/main" id="{895FE48A-9538-4958-9DF4-0CBB8DBF8AF9}"/>
              </a:ext>
            </a:extLst>
          </p:cNvPr>
          <p:cNvGraphicFramePr>
            <a:graphicFrameLocks noGrp="1"/>
          </p:cNvGraphicFramePr>
          <p:nvPr>
            <p:extLst>
              <p:ext uri="{D42A27DB-BD31-4B8C-83A1-F6EECF244321}">
                <p14:modId xmlns:p14="http://schemas.microsoft.com/office/powerpoint/2010/main" val="1417884758"/>
              </p:ext>
            </p:extLst>
          </p:nvPr>
        </p:nvGraphicFramePr>
        <p:xfrm>
          <a:off x="2303735" y="5542467"/>
          <a:ext cx="1548000" cy="370840"/>
        </p:xfrm>
        <a:graphic>
          <a:graphicData uri="http://schemas.openxmlformats.org/drawingml/2006/table">
            <a:tbl>
              <a:tblPr firstRow="1" bandRow="1">
                <a:tableStyleId>{5940675A-B579-460E-94D1-54222C63F5DA}</a:tableStyleId>
              </a:tblPr>
              <a:tblGrid>
                <a:gridCol w="1188000">
                  <a:extLst>
                    <a:ext uri="{9D8B030D-6E8A-4147-A177-3AD203B41FA5}">
                      <a16:colId xmlns:a16="http://schemas.microsoft.com/office/drawing/2014/main" val="1375033633"/>
                    </a:ext>
                  </a:extLst>
                </a:gridCol>
                <a:gridCol w="360000">
                  <a:extLst>
                    <a:ext uri="{9D8B030D-6E8A-4147-A177-3AD203B41FA5}">
                      <a16:colId xmlns:a16="http://schemas.microsoft.com/office/drawing/2014/main" val="3964177454"/>
                    </a:ext>
                  </a:extLst>
                </a:gridCol>
              </a:tblGrid>
              <a:tr h="370840">
                <a:tc>
                  <a:txBody>
                    <a:bodyPr/>
                    <a:lstStyle/>
                    <a:p>
                      <a:pPr algn="ctr"/>
                      <a:r>
                        <a:rPr lang="en-US" altLang="zh-TW" dirty="0"/>
                        <a:t>…</a:t>
                      </a:r>
                      <a:endParaRPr lang="zh-TW" altLang="en-US" dirty="0"/>
                    </a:p>
                  </a:txBody>
                  <a:tcPr>
                    <a:lnR w="12700" cap="flat" cmpd="sng" algn="ctr">
                      <a:solidFill>
                        <a:schemeClr val="tx1"/>
                      </a:solidFill>
                      <a:prstDash val="solid"/>
                      <a:round/>
                      <a:headEnd type="none" w="med" len="med"/>
                      <a:tailEnd type="none" w="med" len="med"/>
                    </a:lnR>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2060979953"/>
                  </a:ext>
                </a:extLst>
              </a:tr>
            </a:tbl>
          </a:graphicData>
        </a:graphic>
      </p:graphicFrame>
      <mc:AlternateContent xmlns:mc="http://schemas.openxmlformats.org/markup-compatibility/2006">
        <mc:Choice xmlns:a14="http://schemas.microsoft.com/office/drawing/2010/main" Requires="a14">
          <p:sp>
            <p:nvSpPr>
              <p:cNvPr id="32" name="標題 1">
                <a:extLst>
                  <a:ext uri="{FF2B5EF4-FFF2-40B4-BE49-F238E27FC236}">
                    <a16:creationId xmlns:a16="http://schemas.microsoft.com/office/drawing/2014/main" id="{715153E0-C26C-4B0F-96DF-5E8FB04106F5}"/>
                  </a:ext>
                </a:extLst>
              </p:cNvPr>
              <p:cNvSpPr txBox="1">
                <a:spLocks/>
              </p:cNvSpPr>
              <p:nvPr/>
            </p:nvSpPr>
            <p:spPr>
              <a:xfrm>
                <a:off x="1862394" y="4379650"/>
                <a:ext cx="1537854" cy="5403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𝑓𝑜𝑟𝑤𝑎𝑟𝑑</m:t>
                      </m:r>
                    </m:oMath>
                  </m:oMathPara>
                </a14:m>
                <a:endParaRPr lang="en-US" altLang="zh-TW" sz="2400" dirty="0">
                  <a:latin typeface="Times New Roman" panose="02020603050405020304" pitchFamily="18" charset="0"/>
                  <a:ea typeface="BatangChe" panose="02030609000101010101" pitchFamily="49" charset="-127"/>
                  <a:cs typeface="Times New Roman" panose="02020603050405020304" pitchFamily="18" charset="0"/>
                </a:endParaRPr>
              </a:p>
            </p:txBody>
          </p:sp>
        </mc:Choice>
        <mc:Fallback>
          <p:sp>
            <p:nvSpPr>
              <p:cNvPr id="32" name="標題 1">
                <a:extLst>
                  <a:ext uri="{FF2B5EF4-FFF2-40B4-BE49-F238E27FC236}">
                    <a16:creationId xmlns:a16="http://schemas.microsoft.com/office/drawing/2014/main" id="{715153E0-C26C-4B0F-96DF-5E8FB04106F5}"/>
                  </a:ext>
                </a:extLst>
              </p:cNvPr>
              <p:cNvSpPr txBox="1">
                <a:spLocks noRot="1" noChangeAspect="1" noMove="1" noResize="1" noEditPoints="1" noAdjustHandles="1" noChangeArrowheads="1" noChangeShapeType="1" noTextEdit="1"/>
              </p:cNvSpPr>
              <p:nvPr/>
            </p:nvSpPr>
            <p:spPr>
              <a:xfrm>
                <a:off x="1862394" y="4379650"/>
                <a:ext cx="1537854" cy="540394"/>
              </a:xfrm>
              <a:prstGeom prst="rect">
                <a:avLst/>
              </a:prstGeom>
              <a:blipFill>
                <a:blip r:embed="rId4"/>
                <a:stretch>
                  <a:fillRect/>
                </a:stretch>
              </a:blipFill>
            </p:spPr>
            <p:txBody>
              <a:bodyPr/>
              <a:lstStyle/>
              <a:p>
                <a:r>
                  <a:rPr lang="zh-TW" altLang="en-US">
                    <a:noFill/>
                  </a:rPr>
                  <a:t> </a:t>
                </a:r>
              </a:p>
            </p:txBody>
          </p:sp>
        </mc:Fallback>
      </mc:AlternateContent>
      <p:sp>
        <p:nvSpPr>
          <p:cNvPr id="33" name="右中括弧 32">
            <a:extLst>
              <a:ext uri="{FF2B5EF4-FFF2-40B4-BE49-F238E27FC236}">
                <a16:creationId xmlns:a16="http://schemas.microsoft.com/office/drawing/2014/main" id="{1DCAE40E-0865-4223-BE54-94ED286404EE}"/>
              </a:ext>
            </a:extLst>
          </p:cNvPr>
          <p:cNvSpPr/>
          <p:nvPr/>
        </p:nvSpPr>
        <p:spPr>
          <a:xfrm rot="10800000">
            <a:off x="3423210" y="4391342"/>
            <a:ext cx="139139" cy="540396"/>
          </a:xfrm>
          <a:prstGeom prst="rightBracket">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4" name="右中括弧 33">
            <a:extLst>
              <a:ext uri="{FF2B5EF4-FFF2-40B4-BE49-F238E27FC236}">
                <a16:creationId xmlns:a16="http://schemas.microsoft.com/office/drawing/2014/main" id="{FC42A0BB-CC6E-4393-BF7E-03CE214E1312}"/>
              </a:ext>
            </a:extLst>
          </p:cNvPr>
          <p:cNvSpPr/>
          <p:nvPr/>
        </p:nvSpPr>
        <p:spPr>
          <a:xfrm>
            <a:off x="4060135" y="5726004"/>
            <a:ext cx="171101" cy="540394"/>
          </a:xfrm>
          <a:prstGeom prst="rightBracket">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35" name="標題 1">
                <a:extLst>
                  <a:ext uri="{FF2B5EF4-FFF2-40B4-BE49-F238E27FC236}">
                    <a16:creationId xmlns:a16="http://schemas.microsoft.com/office/drawing/2014/main" id="{8300E7F7-F1EB-4983-BB87-9D43967ED195}"/>
                  </a:ext>
                </a:extLst>
              </p:cNvPr>
              <p:cNvSpPr txBox="1">
                <a:spLocks/>
              </p:cNvSpPr>
              <p:nvPr/>
            </p:nvSpPr>
            <p:spPr>
              <a:xfrm>
                <a:off x="4353406" y="5726004"/>
                <a:ext cx="1537854" cy="5403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𝑏𝑎𝑐𝑘𝑤𝑎𝑟𝑑</m:t>
                      </m:r>
                    </m:oMath>
                  </m:oMathPara>
                </a14:m>
                <a:endParaRPr lang="en-US" altLang="zh-TW" sz="2400" dirty="0">
                  <a:latin typeface="Times New Roman" panose="02020603050405020304" pitchFamily="18" charset="0"/>
                  <a:ea typeface="BatangChe" panose="02030609000101010101" pitchFamily="49" charset="-127"/>
                  <a:cs typeface="Times New Roman" panose="02020603050405020304" pitchFamily="18" charset="0"/>
                </a:endParaRPr>
              </a:p>
            </p:txBody>
          </p:sp>
        </mc:Choice>
        <mc:Fallback>
          <p:sp>
            <p:nvSpPr>
              <p:cNvPr id="35" name="標題 1">
                <a:extLst>
                  <a:ext uri="{FF2B5EF4-FFF2-40B4-BE49-F238E27FC236}">
                    <a16:creationId xmlns:a16="http://schemas.microsoft.com/office/drawing/2014/main" id="{8300E7F7-F1EB-4983-BB87-9D43967ED195}"/>
                  </a:ext>
                </a:extLst>
              </p:cNvPr>
              <p:cNvSpPr txBox="1">
                <a:spLocks noRot="1" noChangeAspect="1" noMove="1" noResize="1" noEditPoints="1" noAdjustHandles="1" noChangeArrowheads="1" noChangeShapeType="1" noTextEdit="1"/>
              </p:cNvSpPr>
              <p:nvPr/>
            </p:nvSpPr>
            <p:spPr>
              <a:xfrm>
                <a:off x="4353406" y="5726004"/>
                <a:ext cx="1537854" cy="540394"/>
              </a:xfrm>
              <a:prstGeom prst="rect">
                <a:avLst/>
              </a:prstGeom>
              <a:blipFill>
                <a:blip r:embed="rId5"/>
                <a:stretch>
                  <a:fillRect/>
                </a:stretch>
              </a:blipFill>
            </p:spPr>
            <p:txBody>
              <a:bodyPr/>
              <a:lstStyle/>
              <a:p>
                <a:r>
                  <a:rPr lang="zh-TW" altLang="en-US">
                    <a:noFill/>
                  </a:rPr>
                  <a:t> </a:t>
                </a:r>
              </a:p>
            </p:txBody>
          </p:sp>
        </mc:Fallback>
      </mc:AlternateContent>
      <p:sp>
        <p:nvSpPr>
          <p:cNvPr id="36" name="標題 1">
            <a:extLst>
              <a:ext uri="{FF2B5EF4-FFF2-40B4-BE49-F238E27FC236}">
                <a16:creationId xmlns:a16="http://schemas.microsoft.com/office/drawing/2014/main" id="{5CCA5AA8-C92E-41F6-824D-9B7CD8FEB81B}"/>
              </a:ext>
            </a:extLst>
          </p:cNvPr>
          <p:cNvSpPr txBox="1">
            <a:spLocks/>
          </p:cNvSpPr>
          <p:nvPr/>
        </p:nvSpPr>
        <p:spPr>
          <a:xfrm>
            <a:off x="2935837" y="5510788"/>
            <a:ext cx="736583" cy="4544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spc="600" dirty="0">
                <a:solidFill>
                  <a:schemeClr val="accent2">
                    <a:lumMod val="75000"/>
                  </a:schemeClr>
                </a:solidFill>
                <a:latin typeface="Times New Roman" panose="02020603050405020304" pitchFamily="18" charset="0"/>
                <a:ea typeface="BatangChe" panose="02030609000101010101" pitchFamily="49" charset="-127"/>
                <a:cs typeface="Times New Roman" panose="02020603050405020304" pitchFamily="18" charset="0"/>
              </a:rPr>
              <a:t>c-1</a:t>
            </a:r>
            <a:endParaRPr lang="en-US" altLang="zh-TW" sz="1800" b="1" dirty="0">
              <a:solidFill>
                <a:schemeClr val="accent2">
                  <a:lumMod val="75000"/>
                </a:schemeClr>
              </a:solidFill>
              <a:latin typeface="Times New Roman" panose="02020603050405020304" pitchFamily="18" charset="0"/>
              <a:ea typeface="BatangChe" panose="02030609000101010101" pitchFamily="49" charset="-127"/>
              <a:cs typeface="Times New Roman" panose="02020603050405020304" pitchFamily="18" charset="0"/>
            </a:endParaRPr>
          </a:p>
        </p:txBody>
      </p:sp>
      <p:sp>
        <p:nvSpPr>
          <p:cNvPr id="38" name="標題 1">
            <a:extLst>
              <a:ext uri="{FF2B5EF4-FFF2-40B4-BE49-F238E27FC236}">
                <a16:creationId xmlns:a16="http://schemas.microsoft.com/office/drawing/2014/main" id="{55CB8CF7-7FE5-40F3-817D-CEE4E2B9A5B6}"/>
              </a:ext>
            </a:extLst>
          </p:cNvPr>
          <p:cNvSpPr txBox="1">
            <a:spLocks/>
          </p:cNvSpPr>
          <p:nvPr/>
        </p:nvSpPr>
        <p:spPr>
          <a:xfrm>
            <a:off x="2514600" y="6004372"/>
            <a:ext cx="1236935" cy="3651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spc="600" dirty="0">
                <a:solidFill>
                  <a:schemeClr val="accent6">
                    <a:lumMod val="75000"/>
                  </a:schemeClr>
                </a:solidFill>
                <a:latin typeface="Times New Roman" panose="02020603050405020304" pitchFamily="18" charset="0"/>
                <a:ea typeface="BatangChe" panose="02030609000101010101" pitchFamily="49" charset="-127"/>
                <a:cs typeface="Times New Roman" panose="02020603050405020304" pitchFamily="18" charset="0"/>
              </a:rPr>
              <a:t>c+p-1</a:t>
            </a:r>
            <a:endParaRPr lang="en-US" altLang="zh-TW" sz="1800" b="1" dirty="0">
              <a:solidFill>
                <a:schemeClr val="accent6">
                  <a:lumMod val="75000"/>
                </a:schemeClr>
              </a:solidFill>
              <a:latin typeface="Times New Roman" panose="02020603050405020304" pitchFamily="18" charset="0"/>
              <a:ea typeface="BatangChe" panose="02030609000101010101" pitchFamily="49" charset="-127"/>
              <a:cs typeface="Times New Roman" panose="02020603050405020304" pitchFamily="18" charset="0"/>
            </a:endParaRPr>
          </a:p>
        </p:txBody>
      </p:sp>
      <p:sp>
        <p:nvSpPr>
          <p:cNvPr id="39" name="標題 1">
            <a:extLst>
              <a:ext uri="{FF2B5EF4-FFF2-40B4-BE49-F238E27FC236}">
                <a16:creationId xmlns:a16="http://schemas.microsoft.com/office/drawing/2014/main" id="{93161FF2-C70A-4D13-B13E-922CD4A86FD6}"/>
              </a:ext>
            </a:extLst>
          </p:cNvPr>
          <p:cNvSpPr txBox="1">
            <a:spLocks/>
          </p:cNvSpPr>
          <p:nvPr/>
        </p:nvSpPr>
        <p:spPr>
          <a:xfrm>
            <a:off x="4230349" y="4708928"/>
            <a:ext cx="891984" cy="364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spc="600" dirty="0">
                <a:solidFill>
                  <a:schemeClr val="accent6">
                    <a:lumMod val="75000"/>
                  </a:schemeClr>
                </a:solidFill>
                <a:latin typeface="Times New Roman" panose="02020603050405020304" pitchFamily="18" charset="0"/>
                <a:ea typeface="BatangChe" panose="02030609000101010101" pitchFamily="49" charset="-127"/>
                <a:cs typeface="Times New Roman" panose="02020603050405020304" pitchFamily="18" charset="0"/>
              </a:rPr>
              <a:t>c+p</a:t>
            </a:r>
            <a:endParaRPr lang="en-US" altLang="zh-TW" sz="1800" b="1" dirty="0">
              <a:solidFill>
                <a:schemeClr val="accent6">
                  <a:lumMod val="75000"/>
                </a:schemeClr>
              </a:solidFill>
              <a:latin typeface="Times New Roman" panose="02020603050405020304" pitchFamily="18" charset="0"/>
              <a:ea typeface="BatangChe" panose="02030609000101010101" pitchFamily="49" charset="-127"/>
              <a:cs typeface="Times New Roman" panose="02020603050405020304" pitchFamily="18" charset="0"/>
            </a:endParaRPr>
          </a:p>
        </p:txBody>
      </p:sp>
      <p:sp>
        <p:nvSpPr>
          <p:cNvPr id="40" name="標題 1">
            <a:extLst>
              <a:ext uri="{FF2B5EF4-FFF2-40B4-BE49-F238E27FC236}">
                <a16:creationId xmlns:a16="http://schemas.microsoft.com/office/drawing/2014/main" id="{5C451A97-038C-4A72-A9FE-078ACD256A8C}"/>
              </a:ext>
            </a:extLst>
          </p:cNvPr>
          <p:cNvSpPr txBox="1">
            <a:spLocks/>
          </p:cNvSpPr>
          <p:nvPr/>
        </p:nvSpPr>
        <p:spPr>
          <a:xfrm>
            <a:off x="4231262" y="4134518"/>
            <a:ext cx="452789" cy="6252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spc="600" dirty="0">
                <a:solidFill>
                  <a:schemeClr val="accent2">
                    <a:lumMod val="75000"/>
                  </a:schemeClr>
                </a:solidFill>
                <a:latin typeface="Times New Roman" panose="02020603050405020304" pitchFamily="18" charset="0"/>
                <a:ea typeface="BatangChe" panose="02030609000101010101" pitchFamily="49" charset="-127"/>
                <a:cs typeface="Times New Roman" panose="02020603050405020304" pitchFamily="18" charset="0"/>
              </a:rPr>
              <a:t>c</a:t>
            </a:r>
            <a:endParaRPr lang="en-US" altLang="zh-TW" sz="1800" b="1" dirty="0">
              <a:solidFill>
                <a:schemeClr val="accent2">
                  <a:lumMod val="75000"/>
                </a:schemeClr>
              </a:solidFill>
              <a:latin typeface="Times New Roman" panose="02020603050405020304" pitchFamily="18" charset="0"/>
              <a:ea typeface="BatangChe" panose="02030609000101010101" pitchFamily="49" charset="-127"/>
              <a:cs typeface="Times New Roman" panose="02020603050405020304" pitchFamily="18" charset="0"/>
            </a:endParaRPr>
          </a:p>
        </p:txBody>
      </p:sp>
    </p:spTree>
    <p:extLst>
      <p:ext uri="{BB962C8B-B14F-4D97-AF65-F5344CB8AC3E}">
        <p14:creationId xmlns:p14="http://schemas.microsoft.com/office/powerpoint/2010/main" val="2907163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10</a:t>
            </a:fld>
            <a:endParaRPr lang="zh-TW" altLang="en-US" dirty="0"/>
          </a:p>
        </p:txBody>
      </p:sp>
      <p:sp>
        <p:nvSpPr>
          <p:cNvPr id="16" name="標題 1">
            <a:extLst>
              <a:ext uri="{FF2B5EF4-FFF2-40B4-BE49-F238E27FC236}">
                <a16:creationId xmlns:a16="http://schemas.microsoft.com/office/drawing/2014/main" id="{44AAEA94-82BE-4FD8-9313-818F6FE7B07E}"/>
              </a:ext>
            </a:extLst>
          </p:cNvPr>
          <p:cNvSpPr txBox="1">
            <a:spLocks/>
          </p:cNvSpPr>
          <p:nvPr/>
        </p:nvSpPr>
        <p:spPr>
          <a:xfrm>
            <a:off x="402232" y="244711"/>
            <a:ext cx="8563638" cy="13183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Algorithm for finding repeats with a particular character (2/2)</a:t>
            </a:r>
            <a:endParaRPr lang="zh-TW" altLang="en-US" sz="3600"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2F85ACC1-16EC-4C79-BC8A-058B1278991D}"/>
              </a:ext>
            </a:extLst>
          </p:cNvPr>
          <p:cNvPicPr>
            <a:picLocks noChangeAspect="1"/>
          </p:cNvPicPr>
          <p:nvPr/>
        </p:nvPicPr>
        <p:blipFill>
          <a:blip r:embed="rId3"/>
          <a:stretch>
            <a:fillRect/>
          </a:stretch>
        </p:blipFill>
        <p:spPr>
          <a:xfrm>
            <a:off x="402232" y="1526160"/>
            <a:ext cx="8339469" cy="2543849"/>
          </a:xfrm>
          <a:prstGeom prst="rect">
            <a:avLst/>
          </a:prstGeom>
        </p:spPr>
      </p:pic>
      <mc:AlternateContent xmlns:mc="http://schemas.openxmlformats.org/markup-compatibility/2006">
        <mc:Choice xmlns:a14="http://schemas.microsoft.com/office/drawing/2010/main" Requires="a14">
          <p:sp>
            <p:nvSpPr>
              <p:cNvPr id="19" name="標題 1">
                <a:extLst>
                  <a:ext uri="{FF2B5EF4-FFF2-40B4-BE49-F238E27FC236}">
                    <a16:creationId xmlns:a16="http://schemas.microsoft.com/office/drawing/2014/main" id="{6AA893DB-AEB2-4245-AB09-EEBB70EA8553}"/>
                  </a:ext>
                </a:extLst>
              </p:cNvPr>
              <p:cNvSpPr txBox="1">
                <a:spLocks/>
              </p:cNvSpPr>
              <p:nvPr/>
            </p:nvSpPr>
            <p:spPr>
              <a:xfrm>
                <a:off x="70824" y="4039334"/>
                <a:ext cx="9002283" cy="1140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Since the constant </a:t>
                </a:r>
                <a14:m>
                  <m:oMath xmlns:m="http://schemas.openxmlformats.org/officeDocument/2006/math">
                    <m:r>
                      <a:rPr lang="en-US" altLang="zh-TW" sz="2400" i="1" dirty="0">
                        <a:latin typeface="Cambria Math" panose="02040503050406030204" pitchFamily="18" charset="0"/>
                        <a:ea typeface="BatangChe" panose="02030609000101010101" pitchFamily="49" charset="-127"/>
                        <a:cs typeface="Times New Roman" panose="02020603050405020304" pitchFamily="18" charset="0"/>
                      </a:rPr>
                      <m:t>𝑘</m:t>
                    </m:r>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of k-edit repeats means the </a:t>
                </a:r>
                <a:r>
                  <a:rPr lang="en-US" altLang="zh-TW" sz="2400" dirty="0">
                    <a:solidFill>
                      <a:srgbClr val="0070C0"/>
                    </a:solidFill>
                    <a:latin typeface="Times New Roman" panose="02020603050405020304" pitchFamily="18" charset="0"/>
                    <a:ea typeface="BatangChe" panose="02030609000101010101" pitchFamily="49" charset="-127"/>
                    <a:cs typeface="Times New Roman" panose="02020603050405020304" pitchFamily="18" charset="0"/>
                  </a:rPr>
                  <a:t>total</a:t>
                </a: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edit operations,  and repeats consist of </a:t>
                </a:r>
                <a14:m>
                  <m:oMath xmlns:m="http://schemas.openxmlformats.org/officeDocument/2006/math">
                    <m:r>
                      <a:rPr lang="en-US" altLang="zh-TW" sz="2400" i="1" dirty="0" smtClean="0">
                        <a:latin typeface="Cambria Math" panose="02040503050406030204" pitchFamily="18" charset="0"/>
                        <a:ea typeface="BatangChe" panose="02030609000101010101" pitchFamily="49" charset="-127"/>
                        <a:cs typeface="Times New Roman" panose="02020603050405020304" pitchFamily="18" charset="0"/>
                      </a:rPr>
                      <m:t>𝑏𝑎𝑐𝑘𝑤𝑎𝑟𝑑</m:t>
                    </m:r>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m:t>
                    </m:r>
                    <m:sSub>
                      <m:sSubPr>
                        <m:ctrlP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𝑘</m:t>
                        </m:r>
                      </m:e>
                      <m: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2</m:t>
                        </m:r>
                      </m:sub>
                    </m:s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m:t>
                    </m:r>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 </a:t>
                </a:r>
                <a14:m>
                  <m:oMath xmlns:m="http://schemas.openxmlformats.org/officeDocument/2006/math">
                    <m:r>
                      <a:rPr lang="en-US" altLang="zh-TW" sz="2400" i="1" dirty="0" smtClean="0">
                        <a:latin typeface="Cambria Math" panose="02040503050406030204" pitchFamily="18" charset="0"/>
                        <a:ea typeface="BatangChe" panose="02030609000101010101" pitchFamily="49" charset="-127"/>
                        <a:cs typeface="Times New Roman" panose="02020603050405020304" pitchFamily="18" charset="0"/>
                      </a:rPr>
                      <m:t>𝑓𝑜𝑟𝑤𝑎𝑟𝑑</m:t>
                    </m:r>
                    <m:r>
                      <a:rPr lang="en-US" altLang="zh-TW" sz="2400" b="0" i="0" dirty="0" smtClean="0">
                        <a:latin typeface="Cambria Math" panose="02040503050406030204" pitchFamily="18" charset="0"/>
                        <a:ea typeface="BatangChe" panose="02030609000101010101" pitchFamily="49" charset="-127"/>
                        <a:cs typeface="Times New Roman" panose="02020603050405020304" pitchFamily="18" charset="0"/>
                      </a:rPr>
                      <m:t>(</m:t>
                    </m:r>
                    <m:sSub>
                      <m:sSubPr>
                        <m:ctrlPr>
                          <a:rPr lang="en-US" altLang="zh-TW" sz="2400" b="0" i="0"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i="1" dirty="0">
                            <a:latin typeface="Cambria Math" panose="02040503050406030204" pitchFamily="18" charset="0"/>
                            <a:ea typeface="BatangChe" panose="02030609000101010101" pitchFamily="49" charset="-127"/>
                            <a:cs typeface="Times New Roman" panose="02020603050405020304" pitchFamily="18" charset="0"/>
                          </a:rPr>
                          <m:t>𝑘</m:t>
                        </m:r>
                      </m:e>
                      <m:sub>
                        <m:r>
                          <a:rPr lang="en-US" altLang="zh-TW" sz="2400" b="0" i="0" dirty="0" smtClean="0">
                            <a:latin typeface="Cambria Math" panose="02040503050406030204" pitchFamily="18" charset="0"/>
                            <a:ea typeface="BatangChe" panose="02030609000101010101" pitchFamily="49" charset="-127"/>
                            <a:cs typeface="Times New Roman" panose="02020603050405020304" pitchFamily="18" charset="0"/>
                          </a:rPr>
                          <m:t>1</m:t>
                        </m:r>
                      </m:sub>
                    </m:sSub>
                    <m:r>
                      <a:rPr lang="en-US" altLang="zh-TW" sz="2400" b="0" i="0" dirty="0" smtClean="0">
                        <a:latin typeface="Cambria Math" panose="02040503050406030204" pitchFamily="18" charset="0"/>
                        <a:ea typeface="BatangChe" panose="02030609000101010101" pitchFamily="49" charset="-127"/>
                        <a:cs typeface="Times New Roman" panose="02020603050405020304" pitchFamily="18" charset="0"/>
                      </a:rPr>
                      <m:t>)</m:t>
                    </m:r>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extensions here</a:t>
                </a:r>
              </a:p>
            </p:txBody>
          </p:sp>
        </mc:Choice>
        <mc:Fallback>
          <p:sp>
            <p:nvSpPr>
              <p:cNvPr id="19" name="標題 1">
                <a:extLst>
                  <a:ext uri="{FF2B5EF4-FFF2-40B4-BE49-F238E27FC236}">
                    <a16:creationId xmlns:a16="http://schemas.microsoft.com/office/drawing/2014/main" id="{6AA893DB-AEB2-4245-AB09-EEBB70EA8553}"/>
                  </a:ext>
                </a:extLst>
              </p:cNvPr>
              <p:cNvSpPr txBox="1">
                <a:spLocks noRot="1" noChangeAspect="1" noMove="1" noResize="1" noEditPoints="1" noAdjustHandles="1" noChangeArrowheads="1" noChangeShapeType="1" noTextEdit="1"/>
              </p:cNvSpPr>
              <p:nvPr/>
            </p:nvSpPr>
            <p:spPr>
              <a:xfrm>
                <a:off x="70824" y="4039334"/>
                <a:ext cx="9002283" cy="1140674"/>
              </a:xfrm>
              <a:prstGeom prst="rect">
                <a:avLst/>
              </a:prstGeom>
              <a:blipFill>
                <a:blip r:embed="rId4"/>
                <a:stretch>
                  <a:fillRect l="-108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1" name="標題 1">
                <a:extLst>
                  <a:ext uri="{FF2B5EF4-FFF2-40B4-BE49-F238E27FC236}">
                    <a16:creationId xmlns:a16="http://schemas.microsoft.com/office/drawing/2014/main" id="{F97EC222-F5E8-4D84-84FB-31A7862844F3}"/>
                  </a:ext>
                </a:extLst>
              </p:cNvPr>
              <p:cNvSpPr txBox="1">
                <a:spLocks/>
              </p:cNvSpPr>
              <p:nvPr/>
            </p:nvSpPr>
            <p:spPr>
              <a:xfrm>
                <a:off x="687982" y="5348962"/>
                <a:ext cx="1910128" cy="52472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a:t>
                </a:r>
                <a14:m>
                  <m:oMath xmlns:m="http://schemas.openxmlformats.org/officeDocument/2006/math">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m:t>𝑘</m:t>
                    </m:r>
                    <m: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m:t>=</m:t>
                    </m:r>
                    <m:sSub>
                      <m:sSubPr>
                        <m:ctrlP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m:ctrlPr>
                      </m:sSubPr>
                      <m:e>
                        <m: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m:t>𝑘</m:t>
                        </m:r>
                      </m:e>
                      <m:sub>
                        <m: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m:t>1</m:t>
                        </m:r>
                      </m:sub>
                    </m:sSub>
                    <m: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m:t>+</m:t>
                    </m:r>
                    <m:sSub>
                      <m:sSubPr>
                        <m:ctrlP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m:ctrlPr>
                      </m:sSubPr>
                      <m:e>
                        <m: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m:t>𝑘</m:t>
                        </m:r>
                      </m:e>
                      <m:sub>
                        <m: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m:t>2</m:t>
                        </m:r>
                      </m:sub>
                    </m:sSub>
                  </m:oMath>
                </a14:m>
                <a:endParaRPr lang="en-US" altLang="zh-TW" sz="2400" dirty="0">
                  <a:latin typeface="Times New Roman" panose="02020603050405020304" pitchFamily="18" charset="0"/>
                  <a:ea typeface="BatangChe" panose="02030609000101010101" pitchFamily="49" charset="-127"/>
                  <a:cs typeface="Times New Roman" panose="02020603050405020304" pitchFamily="18" charset="0"/>
                </a:endParaRPr>
              </a:p>
            </p:txBody>
          </p:sp>
        </mc:Choice>
        <mc:Fallback>
          <p:sp>
            <p:nvSpPr>
              <p:cNvPr id="21" name="標題 1">
                <a:extLst>
                  <a:ext uri="{FF2B5EF4-FFF2-40B4-BE49-F238E27FC236}">
                    <a16:creationId xmlns:a16="http://schemas.microsoft.com/office/drawing/2014/main" id="{F97EC222-F5E8-4D84-84FB-31A7862844F3}"/>
                  </a:ext>
                </a:extLst>
              </p:cNvPr>
              <p:cNvSpPr txBox="1">
                <a:spLocks noRot="1" noChangeAspect="1" noMove="1" noResize="1" noEditPoints="1" noAdjustHandles="1" noChangeArrowheads="1" noChangeShapeType="1" noTextEdit="1"/>
              </p:cNvSpPr>
              <p:nvPr/>
            </p:nvSpPr>
            <p:spPr>
              <a:xfrm>
                <a:off x="687982" y="5348962"/>
                <a:ext cx="1910128" cy="52472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8F06D08A-5A88-43C1-B775-1F39914BF09F}"/>
                  </a:ext>
                </a:extLst>
              </p:cNvPr>
              <p:cNvSpPr/>
              <p:nvPr/>
            </p:nvSpPr>
            <p:spPr>
              <a:xfrm>
                <a:off x="3824371" y="5211920"/>
                <a:ext cx="3757529" cy="1058623"/>
              </a:xfrm>
              <a:prstGeom prst="rect">
                <a:avLst/>
              </a:prstGeom>
            </p:spPr>
            <p:txBody>
              <a:bodyPr wrap="square">
                <a:spAutoFit/>
              </a:bodyPr>
              <a:lstStyle/>
              <a:p>
                <a:pPr>
                  <a:lnSpc>
                    <a:spcPct val="150000"/>
                  </a:lnSpc>
                </a:pP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if</a:t>
                </a:r>
                <a:r>
                  <a:rPr lang="en-US" altLang="zh-TW" sz="2000" dirty="0">
                    <a:ea typeface="BatangChe" panose="02030609000101010101" pitchFamily="49" charset="-127"/>
                    <a:cs typeface="Times New Roman" panose="02020603050405020304" pitchFamily="18" charset="0"/>
                  </a:rPr>
                  <a:t> </a:t>
                </a:r>
                <a14:m>
                  <m:oMath xmlns:m="http://schemas.openxmlformats.org/officeDocument/2006/math">
                    <m:d>
                      <m:dPr>
                        <m:begChr m:val="|"/>
                        <m:endChr m:val="|"/>
                        <m:ctrlP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ctrlPr>
                      </m:dPr>
                      <m:e>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𝑅</m:t>
                        </m:r>
                      </m:e>
                    </m:d>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m:t>
                    </m:r>
                    <m:d>
                      <m:dPr>
                        <m:begChr m:val="|"/>
                        <m:endChr m:val="|"/>
                        <m:ctrlP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ctrlPr>
                      </m:dPr>
                      <m:e>
                        <m:sSub>
                          <m:sSubPr>
                            <m:ctrlP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𝑝𝑟𝑒</m:t>
                            </m:r>
                          </m:sub>
                        </m:sSub>
                      </m:e>
                    </m:d>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m:t>
                    </m:r>
                    <m:d>
                      <m:dPr>
                        <m:begChr m:val="|"/>
                        <m:endChr m:val="|"/>
                        <m:ctrlP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ctrlPr>
                      </m:dPr>
                      <m:e>
                        <m:sSub>
                          <m:sSubPr>
                            <m:ctrlP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𝑅</m:t>
                            </m:r>
                          </m:e>
                          <m:sub>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𝑠𝑢𝑓𝑓</m:t>
                            </m:r>
                          </m:sub>
                        </m:sSub>
                      </m:e>
                    </m:d>
                  </m:oMath>
                </a14:m>
                <a:endParaRPr lang="en-US" altLang="zh-TW" sz="2000" dirty="0">
                  <a:ea typeface="BatangChe" panose="02030609000101010101" pitchFamily="49" charset="-127"/>
                  <a:cs typeface="Times New Roman" panose="02020603050405020304" pitchFamily="18" charset="0"/>
                </a:endParaRPr>
              </a:p>
              <a:p>
                <a:pPr algn="r">
                  <a:lnSpc>
                    <a:spcPct val="150000"/>
                  </a:lnSpc>
                </a:pPr>
                <a14:m>
                  <m:oMath xmlns:m="http://schemas.openxmlformats.org/officeDocument/2006/math">
                    <m:r>
                      <a:rPr lang="en-US" altLang="zh-TW" sz="2000" b="0" i="1" dirty="0" smtClean="0">
                        <a:latin typeface="Cambria Math" panose="02040503050406030204" pitchFamily="18" charset="0"/>
                        <a:ea typeface="BatangChe" panose="02030609000101010101" pitchFamily="49" charset="-127"/>
                        <a:cs typeface="Times New Roman" panose="02020603050405020304" pitchFamily="18" charset="0"/>
                      </a:rPr>
                      <m:t>→ </m:t>
                    </m:r>
                  </m:oMath>
                </a14:m>
                <a:r>
                  <a:rPr lang="en-US" altLang="zh-TW" sz="2000" dirty="0">
                    <a:latin typeface="Times New Roman" panose="02020603050405020304" pitchFamily="18" charset="0"/>
                    <a:ea typeface="BatangChe" panose="02030609000101010101" pitchFamily="49" charset="-127"/>
                    <a:cs typeface="Times New Roman" panose="02020603050405020304" pitchFamily="18" charset="0"/>
                  </a:rPr>
                  <a:t>  R is a k-edit repeat </a:t>
                </a:r>
                <a:endParaRPr lang="zh-TW" altLang="en-US" sz="2000" dirty="0"/>
              </a:p>
            </p:txBody>
          </p:sp>
        </mc:Choice>
        <mc:Fallback>
          <p:sp>
            <p:nvSpPr>
              <p:cNvPr id="5" name="矩形 4">
                <a:extLst>
                  <a:ext uri="{FF2B5EF4-FFF2-40B4-BE49-F238E27FC236}">
                    <a16:creationId xmlns:a16="http://schemas.microsoft.com/office/drawing/2014/main" id="{8F06D08A-5A88-43C1-B775-1F39914BF09F}"/>
                  </a:ext>
                </a:extLst>
              </p:cNvPr>
              <p:cNvSpPr>
                <a:spLocks noRot="1" noChangeAspect="1" noMove="1" noResize="1" noEditPoints="1" noAdjustHandles="1" noChangeArrowheads="1" noChangeShapeType="1" noTextEdit="1"/>
              </p:cNvSpPr>
              <p:nvPr/>
            </p:nvSpPr>
            <p:spPr>
              <a:xfrm>
                <a:off x="3824371" y="5211920"/>
                <a:ext cx="3757529" cy="1058623"/>
              </a:xfrm>
              <a:prstGeom prst="rect">
                <a:avLst/>
              </a:prstGeom>
              <a:blipFill>
                <a:blip r:embed="rId6"/>
                <a:stretch>
                  <a:fillRect l="-2431" r="-3079" b="-8621"/>
                </a:stretch>
              </a:blipFill>
            </p:spPr>
            <p:txBody>
              <a:bodyPr/>
              <a:lstStyle/>
              <a:p>
                <a:r>
                  <a:rPr lang="zh-TW" altLang="en-US">
                    <a:noFill/>
                  </a:rPr>
                  <a:t> </a:t>
                </a:r>
              </a:p>
            </p:txBody>
          </p:sp>
        </mc:Fallback>
      </mc:AlternateContent>
      <p:cxnSp>
        <p:nvCxnSpPr>
          <p:cNvPr id="8" name="直線單箭頭接點 7">
            <a:extLst>
              <a:ext uri="{FF2B5EF4-FFF2-40B4-BE49-F238E27FC236}">
                <a16:creationId xmlns:a16="http://schemas.microsoft.com/office/drawing/2014/main" id="{D981DD15-C95C-4812-A9F9-87ADFB98292A}"/>
              </a:ext>
            </a:extLst>
          </p:cNvPr>
          <p:cNvCxnSpPr>
            <a:cxnSpLocks/>
          </p:cNvCxnSpPr>
          <p:nvPr/>
        </p:nvCxnSpPr>
        <p:spPr>
          <a:xfrm>
            <a:off x="4124325" y="5000625"/>
            <a:ext cx="829907" cy="34833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a:extLst>
              <a:ext uri="{FF2B5EF4-FFF2-40B4-BE49-F238E27FC236}">
                <a16:creationId xmlns:a16="http://schemas.microsoft.com/office/drawing/2014/main" id="{C0A1A4DD-1E0A-42CB-B702-B99130E9F91D}"/>
              </a:ext>
            </a:extLst>
          </p:cNvPr>
          <p:cNvCxnSpPr>
            <a:cxnSpLocks/>
          </p:cNvCxnSpPr>
          <p:nvPr/>
        </p:nvCxnSpPr>
        <p:spPr>
          <a:xfrm>
            <a:off x="6048375" y="5000625"/>
            <a:ext cx="0" cy="34833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2C7463DA-A309-4017-8169-46621C8B6C7F}"/>
              </a:ext>
            </a:extLst>
          </p:cNvPr>
          <p:cNvSpPr/>
          <p:nvPr/>
        </p:nvSpPr>
        <p:spPr>
          <a:xfrm>
            <a:off x="1009650" y="2409825"/>
            <a:ext cx="4371975" cy="6096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96833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500"/>
                                        <p:tgtEl>
                                          <p:spTgt spid="8"/>
                                        </p:tgtEl>
                                      </p:cBhvr>
                                    </p:animEffect>
                                  </p:childTnLst>
                                </p:cTn>
                              </p:par>
                              <p:par>
                                <p:cTn id="15" presetID="22" presetClass="entr" presetSubtype="1"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11</a:t>
            </a:fld>
            <a:endParaRPr lang="zh-TW" altLang="en-US" dirty="0"/>
          </a:p>
        </p:txBody>
      </p:sp>
      <p:sp>
        <p:nvSpPr>
          <p:cNvPr id="16" name="標題 1">
            <a:extLst>
              <a:ext uri="{FF2B5EF4-FFF2-40B4-BE49-F238E27FC236}">
                <a16:creationId xmlns:a16="http://schemas.microsoft.com/office/drawing/2014/main" id="{44AAEA94-82BE-4FD8-9313-818F6FE7B07E}"/>
              </a:ext>
            </a:extLst>
          </p:cNvPr>
          <p:cNvSpPr txBox="1">
            <a:spLocks/>
          </p:cNvSpPr>
          <p:nvPr/>
        </p:nvSpPr>
        <p:spPr>
          <a:xfrm>
            <a:off x="402231" y="385081"/>
            <a:ext cx="8563638"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Time complexity of the algorithm</a:t>
            </a:r>
            <a:endParaRPr lang="zh-TW" altLang="en-US" sz="36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DBA0D451-E811-4750-8A1A-D91642084F0D}"/>
              </a:ext>
            </a:extLst>
          </p:cNvPr>
          <p:cNvPicPr>
            <a:picLocks noChangeAspect="1"/>
          </p:cNvPicPr>
          <p:nvPr/>
        </p:nvPicPr>
        <p:blipFill>
          <a:blip r:embed="rId3"/>
          <a:stretch>
            <a:fillRect/>
          </a:stretch>
        </p:blipFill>
        <p:spPr>
          <a:xfrm>
            <a:off x="252412" y="1358973"/>
            <a:ext cx="8563639" cy="3936839"/>
          </a:xfrm>
          <a:prstGeom prst="rect">
            <a:avLst/>
          </a:prstGeom>
        </p:spPr>
      </p:pic>
      <p:sp>
        <p:nvSpPr>
          <p:cNvPr id="14" name="矩形 13">
            <a:extLst>
              <a:ext uri="{FF2B5EF4-FFF2-40B4-BE49-F238E27FC236}">
                <a16:creationId xmlns:a16="http://schemas.microsoft.com/office/drawing/2014/main" id="{32059DB1-0214-4AB0-940E-FD6ED9F4445E}"/>
              </a:ext>
            </a:extLst>
          </p:cNvPr>
          <p:cNvSpPr/>
          <p:nvPr/>
        </p:nvSpPr>
        <p:spPr>
          <a:xfrm>
            <a:off x="647700" y="1543050"/>
            <a:ext cx="8168351" cy="11525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mc:Choice xmlns:a14="http://schemas.microsoft.com/office/drawing/2010/main" Requires="a14">
          <p:sp>
            <p:nvSpPr>
              <p:cNvPr id="15" name="矩形 14">
                <a:extLst>
                  <a:ext uri="{FF2B5EF4-FFF2-40B4-BE49-F238E27FC236}">
                    <a16:creationId xmlns:a16="http://schemas.microsoft.com/office/drawing/2014/main" id="{64F8E580-A952-4609-94E4-33246B4CADAF}"/>
                  </a:ext>
                </a:extLst>
              </p:cNvPr>
              <p:cNvSpPr/>
              <p:nvPr/>
            </p:nvSpPr>
            <p:spPr>
              <a:xfrm>
                <a:off x="5377194" y="2685098"/>
                <a:ext cx="3405188" cy="1477328"/>
              </a:xfrm>
              <a:prstGeom prst="rect">
                <a:avLst/>
              </a:prstGeom>
            </p:spPr>
            <p:txBody>
              <a:bodyPr wrap="square">
                <a:spAutoFit/>
              </a:bodyPr>
              <a:lstStyle/>
              <a:p>
                <a:pPr>
                  <a:lnSpc>
                    <a:spcPct val="150000"/>
                  </a:lnSpc>
                </a:pPr>
                <a:r>
                  <a:rPr lang="en-US" altLang="zh-TW" sz="2000" b="0" dirty="0">
                    <a:solidFill>
                      <a:srgbClr val="FF0000"/>
                    </a:solidFill>
                    <a:latin typeface="Cambria Math" panose="02040503050406030204" pitchFamily="18" charset="0"/>
                  </a:rPr>
                  <a:t>build n*n edit distance matrix</a:t>
                </a:r>
              </a:p>
              <a:p>
                <a:pPr>
                  <a:lnSpc>
                    <a:spcPct val="150000"/>
                  </a:lnSpc>
                </a:pPr>
                <a14:m>
                  <m:oMath xmlns:m="http://schemas.openxmlformats.org/officeDocument/2006/math">
                    <m:r>
                      <a:rPr lang="en-US" altLang="zh-TW" sz="2000" b="0" i="1" smtClean="0">
                        <a:solidFill>
                          <a:srgbClr val="FF0000"/>
                        </a:solidFill>
                        <a:latin typeface="Cambria Math" panose="02040503050406030204" pitchFamily="18" charset="0"/>
                      </a:rPr>
                      <m:t>→</m:t>
                    </m:r>
                  </m:oMath>
                </a14:m>
                <a:r>
                  <a:rPr lang="en-US" altLang="zh-TW" sz="2000" b="0" dirty="0">
                    <a:solidFill>
                      <a:srgbClr val="FF0000"/>
                    </a:solidFill>
                    <a:latin typeface="Cambria Math" panose="02040503050406030204" pitchFamily="18" charset="0"/>
                  </a:rPr>
                  <a:t> k*k matrix (errors</a:t>
                </a:r>
                <a14:m>
                  <m:oMath xmlns:m="http://schemas.openxmlformats.org/officeDocument/2006/math">
                    <m:r>
                      <a:rPr lang="en-US" altLang="zh-TW" sz="2000" b="0" i="0" smtClean="0">
                        <a:solidFill>
                          <a:srgbClr val="FF0000"/>
                        </a:solidFill>
                        <a:latin typeface="Cambria Math" panose="02040503050406030204" pitchFamily="18" charset="0"/>
                      </a:rPr>
                      <m:t> </m:t>
                    </m:r>
                    <m:r>
                      <a:rPr lang="en-US" altLang="zh-TW" sz="2000" b="0" i="1" smtClean="0">
                        <a:solidFill>
                          <a:srgbClr val="FF0000"/>
                        </a:solidFill>
                        <a:latin typeface="Cambria Math" panose="02040503050406030204" pitchFamily="18" charset="0"/>
                      </a:rPr>
                      <m:t>≤ </m:t>
                    </m:r>
                  </m:oMath>
                </a14:m>
                <a:r>
                  <a:rPr lang="en-US" altLang="zh-TW" sz="2000" b="0" dirty="0">
                    <a:solidFill>
                      <a:srgbClr val="FF0000"/>
                    </a:solidFill>
                    <a:latin typeface="Cambria Math" panose="02040503050406030204" pitchFamily="18" charset="0"/>
                  </a:rPr>
                  <a:t>k)</a:t>
                </a:r>
              </a:p>
              <a:p>
                <a:pPr>
                  <a:lnSpc>
                    <a:spcPct val="150000"/>
                  </a:lnSpc>
                </a:pPr>
                <a14:m>
                  <m:oMathPara xmlns:m="http://schemas.openxmlformats.org/officeDocument/2006/math">
                    <m:oMathParaPr>
                      <m:jc m:val="left"/>
                    </m:oMathParaPr>
                    <m:oMath xmlns:m="http://schemas.openxmlformats.org/officeDocument/2006/math">
                      <m:r>
                        <a:rPr lang="en-US" altLang="zh-TW" sz="2000" b="0" i="1" smtClean="0">
                          <a:solidFill>
                            <a:srgbClr val="FF0000"/>
                          </a:solidFill>
                          <a:latin typeface="Cambria Math" panose="02040503050406030204" pitchFamily="18" charset="0"/>
                        </a:rPr>
                        <m:t>𝑂</m:t>
                      </m:r>
                      <m:d>
                        <m:dPr>
                          <m:ctrlPr>
                            <a:rPr lang="en-US" altLang="zh-TW" sz="2000" b="0" i="1" smtClean="0">
                              <a:solidFill>
                                <a:srgbClr val="FF0000"/>
                              </a:solidFill>
                              <a:latin typeface="Cambria Math" panose="02040503050406030204" pitchFamily="18" charset="0"/>
                            </a:rPr>
                          </m:ctrlPr>
                        </m:dPr>
                        <m:e>
                          <m:sSup>
                            <m:sSupPr>
                              <m:ctrlPr>
                                <a:rPr lang="en-US" altLang="zh-TW" sz="2000" b="0" i="1" smtClean="0">
                                  <a:solidFill>
                                    <a:srgbClr val="FF0000"/>
                                  </a:solidFill>
                                  <a:latin typeface="Cambria Math" panose="02040503050406030204" pitchFamily="18" charset="0"/>
                                </a:rPr>
                              </m:ctrlPr>
                            </m:sSupPr>
                            <m:e>
                              <m:r>
                                <a:rPr lang="en-US" altLang="zh-TW" sz="2000" b="0" i="1" smtClean="0">
                                  <a:solidFill>
                                    <a:srgbClr val="FF0000"/>
                                  </a:solidFill>
                                  <a:latin typeface="Cambria Math" panose="02040503050406030204" pitchFamily="18" charset="0"/>
                                </a:rPr>
                                <m:t>𝑛</m:t>
                              </m:r>
                            </m:e>
                            <m:sup>
                              <m:r>
                                <a:rPr lang="en-US" altLang="zh-TW" sz="2000" b="0" i="1" smtClean="0">
                                  <a:solidFill>
                                    <a:srgbClr val="FF0000"/>
                                  </a:solidFill>
                                  <a:latin typeface="Cambria Math" panose="02040503050406030204" pitchFamily="18" charset="0"/>
                                </a:rPr>
                                <m:t>2</m:t>
                              </m:r>
                            </m:sup>
                          </m:sSup>
                        </m:e>
                      </m:d>
                      <m:r>
                        <a:rPr lang="en-US" altLang="zh-TW" sz="2000" b="0" i="1" smtClean="0">
                          <a:solidFill>
                            <a:srgbClr val="FF0000"/>
                          </a:solidFill>
                          <a:latin typeface="Cambria Math" panose="02040503050406030204" pitchFamily="18" charset="0"/>
                        </a:rPr>
                        <m:t>→</m:t>
                      </m:r>
                      <m:r>
                        <a:rPr lang="en-US" altLang="zh-TW" sz="2000" b="0" i="1" smtClean="0">
                          <a:solidFill>
                            <a:srgbClr val="FF0000"/>
                          </a:solidFill>
                          <a:latin typeface="Cambria Math" panose="02040503050406030204" pitchFamily="18" charset="0"/>
                        </a:rPr>
                        <m:t>𝑂</m:t>
                      </m:r>
                      <m:r>
                        <a:rPr lang="en-US" altLang="zh-TW" sz="2000" b="0" i="1" smtClean="0">
                          <a:solidFill>
                            <a:srgbClr val="FF0000"/>
                          </a:solidFill>
                          <a:latin typeface="Cambria Math" panose="02040503050406030204" pitchFamily="18" charset="0"/>
                        </a:rPr>
                        <m:t>(</m:t>
                      </m:r>
                      <m:r>
                        <a:rPr lang="en-US" altLang="zh-TW" sz="2000" b="0" i="1" smtClean="0">
                          <a:solidFill>
                            <a:srgbClr val="FF0000"/>
                          </a:solidFill>
                          <a:latin typeface="Cambria Math" panose="02040503050406030204" pitchFamily="18" charset="0"/>
                        </a:rPr>
                        <m:t>𝑛𝑘</m:t>
                      </m:r>
                      <m:r>
                        <a:rPr lang="en-US" altLang="zh-TW" sz="2000" b="0" i="1" smtClean="0">
                          <a:solidFill>
                            <a:srgbClr val="FF0000"/>
                          </a:solidFill>
                          <a:latin typeface="Cambria Math" panose="02040503050406030204" pitchFamily="18" charset="0"/>
                        </a:rPr>
                        <m:t>)</m:t>
                      </m:r>
                    </m:oMath>
                  </m:oMathPara>
                </a14:m>
                <a:endParaRPr lang="zh-TW" altLang="en-US" sz="2000" dirty="0">
                  <a:solidFill>
                    <a:srgbClr val="FF0000"/>
                  </a:solidFill>
                </a:endParaRPr>
              </a:p>
            </p:txBody>
          </p:sp>
        </mc:Choice>
        <mc:Fallback>
          <p:sp>
            <p:nvSpPr>
              <p:cNvPr id="15" name="矩形 14">
                <a:extLst>
                  <a:ext uri="{FF2B5EF4-FFF2-40B4-BE49-F238E27FC236}">
                    <a16:creationId xmlns:a16="http://schemas.microsoft.com/office/drawing/2014/main" id="{64F8E580-A952-4609-94E4-33246B4CADAF}"/>
                  </a:ext>
                </a:extLst>
              </p:cNvPr>
              <p:cNvSpPr>
                <a:spLocks noRot="1" noChangeAspect="1" noMove="1" noResize="1" noEditPoints="1" noAdjustHandles="1" noChangeArrowheads="1" noChangeShapeType="1" noTextEdit="1"/>
              </p:cNvSpPr>
              <p:nvPr/>
            </p:nvSpPr>
            <p:spPr>
              <a:xfrm>
                <a:off x="5377194" y="2685098"/>
                <a:ext cx="3405188" cy="1477328"/>
              </a:xfrm>
              <a:prstGeom prst="rect">
                <a:avLst/>
              </a:prstGeom>
              <a:blipFill>
                <a:blip r:embed="rId4"/>
                <a:stretch>
                  <a:fillRect l="-1789" r="-1789"/>
                </a:stretch>
              </a:blipFill>
            </p:spPr>
            <p:txBody>
              <a:bodyPr/>
              <a:lstStyle/>
              <a:p>
                <a:r>
                  <a:rPr lang="zh-TW" altLang="en-US">
                    <a:noFill/>
                  </a:rPr>
                  <a:t> </a:t>
                </a:r>
              </a:p>
            </p:txBody>
          </p:sp>
        </mc:Fallback>
      </mc:AlternateContent>
      <p:sp>
        <p:nvSpPr>
          <p:cNvPr id="17" name="矩形 16">
            <a:extLst>
              <a:ext uri="{FF2B5EF4-FFF2-40B4-BE49-F238E27FC236}">
                <a16:creationId xmlns:a16="http://schemas.microsoft.com/office/drawing/2014/main" id="{AED84D60-0BD0-402C-AC91-C46EB2A192E0}"/>
              </a:ext>
            </a:extLst>
          </p:cNvPr>
          <p:cNvSpPr/>
          <p:nvPr/>
        </p:nvSpPr>
        <p:spPr>
          <a:xfrm>
            <a:off x="647702" y="2924175"/>
            <a:ext cx="4695824" cy="1552574"/>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7030A0"/>
              </a:solidFill>
            </a:endParaRPr>
          </a:p>
        </p:txBody>
      </p:sp>
      <mc:AlternateContent xmlns:mc="http://schemas.openxmlformats.org/markup-compatibility/2006">
        <mc:Choice xmlns:a14="http://schemas.microsoft.com/office/drawing/2010/main" Requires="a14">
          <p:sp>
            <p:nvSpPr>
              <p:cNvPr id="18" name="矩形 17">
                <a:extLst>
                  <a:ext uri="{FF2B5EF4-FFF2-40B4-BE49-F238E27FC236}">
                    <a16:creationId xmlns:a16="http://schemas.microsoft.com/office/drawing/2014/main" id="{F2A752F2-2D65-4822-85FD-F2CACE9F0DCD}"/>
                  </a:ext>
                </a:extLst>
              </p:cNvPr>
              <p:cNvSpPr/>
              <p:nvPr/>
            </p:nvSpPr>
            <p:spPr>
              <a:xfrm>
                <a:off x="2438400" y="5314950"/>
                <a:ext cx="2695575" cy="1015663"/>
              </a:xfrm>
              <a:prstGeom prst="rect">
                <a:avLst/>
              </a:prstGeom>
              <a:ln>
                <a:noFill/>
              </a:ln>
            </p:spPr>
            <p:txBody>
              <a:bodyPr wrap="square">
                <a:spAutoFit/>
              </a:bodyPr>
              <a:lstStyle/>
              <a:p>
                <a:pPr>
                  <a:lnSpc>
                    <a:spcPct val="150000"/>
                  </a:lnSpc>
                </a:pPr>
                <a:r>
                  <a:rPr lang="en-US" altLang="zh-TW" sz="2000" dirty="0">
                    <a:solidFill>
                      <a:srgbClr val="7030A0"/>
                    </a:solidFill>
                    <a:latin typeface="Cambria Math" panose="02040503050406030204" pitchFamily="18" charset="0"/>
                  </a:rPr>
                  <a:t>maintain a heap for k’</a:t>
                </a:r>
                <a:endParaRPr lang="en-US" altLang="zh-TW" sz="2000" b="0" dirty="0">
                  <a:solidFill>
                    <a:srgbClr val="7030A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altLang="zh-TW" sz="2000" b="0" i="1" smtClean="0">
                          <a:solidFill>
                            <a:srgbClr val="7030A0"/>
                          </a:solidFill>
                          <a:latin typeface="Cambria Math" panose="02040503050406030204" pitchFamily="18" charset="0"/>
                        </a:rPr>
                        <m:t>𝑂</m:t>
                      </m:r>
                      <m:d>
                        <m:dPr>
                          <m:ctrlPr>
                            <a:rPr lang="en-US" altLang="zh-TW" sz="2000" b="0" i="1" smtClean="0">
                              <a:solidFill>
                                <a:srgbClr val="7030A0"/>
                              </a:solidFill>
                              <a:latin typeface="Cambria Math" panose="02040503050406030204" pitchFamily="18" charset="0"/>
                            </a:rPr>
                          </m:ctrlPr>
                        </m:dPr>
                        <m:e>
                          <m:r>
                            <a:rPr lang="en-US" altLang="zh-TW" sz="2000" b="0" i="1" smtClean="0">
                              <a:solidFill>
                                <a:srgbClr val="7030A0"/>
                              </a:solidFill>
                              <a:latin typeface="Cambria Math" panose="02040503050406030204" pitchFamily="18" charset="0"/>
                            </a:rPr>
                            <m:t>𝑘</m:t>
                          </m:r>
                        </m:e>
                      </m:d>
                      <m:r>
                        <a:rPr lang="en-US" altLang="zh-TW" sz="2000" b="0" i="1" smtClean="0">
                          <a:solidFill>
                            <a:srgbClr val="7030A0"/>
                          </a:solidFill>
                          <a:latin typeface="Cambria Math" panose="02040503050406030204" pitchFamily="18" charset="0"/>
                        </a:rPr>
                        <m:t>→</m:t>
                      </m:r>
                      <m:r>
                        <a:rPr lang="en-US" altLang="zh-TW" sz="2000" b="0" i="1" smtClean="0">
                          <a:solidFill>
                            <a:srgbClr val="7030A0"/>
                          </a:solidFill>
                          <a:latin typeface="Cambria Math" panose="02040503050406030204" pitchFamily="18" charset="0"/>
                        </a:rPr>
                        <m:t>𝑂</m:t>
                      </m:r>
                      <m:r>
                        <a:rPr lang="en-US" altLang="zh-TW" sz="2000" b="0" i="1" smtClean="0">
                          <a:solidFill>
                            <a:srgbClr val="7030A0"/>
                          </a:solidFill>
                          <a:latin typeface="Cambria Math" panose="02040503050406030204" pitchFamily="18" charset="0"/>
                        </a:rPr>
                        <m:t>(</m:t>
                      </m:r>
                      <m:func>
                        <m:funcPr>
                          <m:ctrlPr>
                            <a:rPr lang="en-US" altLang="zh-TW" sz="2000" b="0" i="1" smtClean="0">
                              <a:solidFill>
                                <a:srgbClr val="7030A0"/>
                              </a:solidFill>
                              <a:latin typeface="Cambria Math" panose="02040503050406030204" pitchFamily="18" charset="0"/>
                            </a:rPr>
                          </m:ctrlPr>
                        </m:funcPr>
                        <m:fName>
                          <m:r>
                            <m:rPr>
                              <m:sty m:val="p"/>
                            </m:rPr>
                            <a:rPr lang="en-US" altLang="zh-TW" sz="2000" b="0" i="0" smtClean="0">
                              <a:solidFill>
                                <a:srgbClr val="7030A0"/>
                              </a:solidFill>
                              <a:latin typeface="Cambria Math" panose="02040503050406030204" pitchFamily="18" charset="0"/>
                            </a:rPr>
                            <m:t>log</m:t>
                          </m:r>
                        </m:fName>
                        <m:e>
                          <m:r>
                            <a:rPr lang="en-US" altLang="zh-TW" sz="2000" i="1">
                              <a:solidFill>
                                <a:srgbClr val="7030A0"/>
                              </a:solidFill>
                              <a:latin typeface="Cambria Math" panose="02040503050406030204" pitchFamily="18" charset="0"/>
                            </a:rPr>
                            <m:t>𝑘</m:t>
                          </m:r>
                        </m:e>
                      </m:func>
                      <m:r>
                        <a:rPr lang="en-US" altLang="zh-TW" sz="2000" b="0" i="1" smtClean="0">
                          <a:solidFill>
                            <a:srgbClr val="7030A0"/>
                          </a:solidFill>
                          <a:latin typeface="Cambria Math" panose="02040503050406030204" pitchFamily="18" charset="0"/>
                        </a:rPr>
                        <m:t>)</m:t>
                      </m:r>
                    </m:oMath>
                  </m:oMathPara>
                </a14:m>
                <a:endParaRPr lang="zh-TW" altLang="en-US" sz="2000" dirty="0">
                  <a:solidFill>
                    <a:srgbClr val="7030A0"/>
                  </a:solidFill>
                </a:endParaRPr>
              </a:p>
            </p:txBody>
          </p:sp>
        </mc:Choice>
        <mc:Fallback>
          <p:sp>
            <p:nvSpPr>
              <p:cNvPr id="18" name="矩形 17">
                <a:extLst>
                  <a:ext uri="{FF2B5EF4-FFF2-40B4-BE49-F238E27FC236}">
                    <a16:creationId xmlns:a16="http://schemas.microsoft.com/office/drawing/2014/main" id="{F2A752F2-2D65-4822-85FD-F2CACE9F0DCD}"/>
                  </a:ext>
                </a:extLst>
              </p:cNvPr>
              <p:cNvSpPr>
                <a:spLocks noRot="1" noChangeAspect="1" noMove="1" noResize="1" noEditPoints="1" noAdjustHandles="1" noChangeArrowheads="1" noChangeShapeType="1" noTextEdit="1"/>
              </p:cNvSpPr>
              <p:nvPr/>
            </p:nvSpPr>
            <p:spPr>
              <a:xfrm>
                <a:off x="2438400" y="5314950"/>
                <a:ext cx="2695575" cy="1015663"/>
              </a:xfrm>
              <a:prstGeom prst="rect">
                <a:avLst/>
              </a:prstGeom>
              <a:blipFill>
                <a:blip r:embed="rId5"/>
                <a:stretch>
                  <a:fillRect l="-2262"/>
                </a:stretch>
              </a:blipFill>
              <a:ln>
                <a:noFill/>
              </a:ln>
            </p:spPr>
            <p:txBody>
              <a:bodyPr/>
              <a:lstStyle/>
              <a:p>
                <a:r>
                  <a:rPr lang="zh-TW" altLang="en-US">
                    <a:noFill/>
                  </a:rPr>
                  <a:t> </a:t>
                </a:r>
              </a:p>
            </p:txBody>
          </p:sp>
        </mc:Fallback>
      </mc:AlternateContent>
      <p:sp>
        <p:nvSpPr>
          <p:cNvPr id="20" name="手繪多邊形: 圖案 19">
            <a:extLst>
              <a:ext uri="{FF2B5EF4-FFF2-40B4-BE49-F238E27FC236}">
                <a16:creationId xmlns:a16="http://schemas.microsoft.com/office/drawing/2014/main" id="{F38CF45A-310E-410B-92C9-D40B5CF0497B}"/>
              </a:ext>
            </a:extLst>
          </p:cNvPr>
          <p:cNvSpPr/>
          <p:nvPr/>
        </p:nvSpPr>
        <p:spPr>
          <a:xfrm rot="18585512">
            <a:off x="1999875" y="4530888"/>
            <a:ext cx="330921" cy="1060062"/>
          </a:xfrm>
          <a:custGeom>
            <a:avLst/>
            <a:gdLst>
              <a:gd name="connsiteX0" fmla="*/ 376441 w 376441"/>
              <a:gd name="connsiteY0" fmla="*/ 0 h 419100"/>
              <a:gd name="connsiteX1" fmla="*/ 43066 w 376441"/>
              <a:gd name="connsiteY1" fmla="*/ 142875 h 419100"/>
              <a:gd name="connsiteX2" fmla="*/ 14491 w 376441"/>
              <a:gd name="connsiteY2" fmla="*/ 419100 h 419100"/>
            </a:gdLst>
            <a:ahLst/>
            <a:cxnLst>
              <a:cxn ang="0">
                <a:pos x="connsiteX0" y="connsiteY0"/>
              </a:cxn>
              <a:cxn ang="0">
                <a:pos x="connsiteX1" y="connsiteY1"/>
              </a:cxn>
              <a:cxn ang="0">
                <a:pos x="connsiteX2" y="connsiteY2"/>
              </a:cxn>
            </a:cxnLst>
            <a:rect l="l" t="t" r="r" b="b"/>
            <a:pathLst>
              <a:path w="376441" h="419100">
                <a:moveTo>
                  <a:pt x="376441" y="0"/>
                </a:moveTo>
                <a:cubicBezTo>
                  <a:pt x="239916" y="36512"/>
                  <a:pt x="103391" y="73025"/>
                  <a:pt x="43066" y="142875"/>
                </a:cubicBezTo>
                <a:cubicBezTo>
                  <a:pt x="-17259" y="212725"/>
                  <a:pt x="-1384" y="315912"/>
                  <a:pt x="14491" y="419100"/>
                </a:cubicBezTo>
              </a:path>
            </a:pathLst>
          </a:custGeom>
          <a:noFill/>
          <a:ln w="19050">
            <a:solidFill>
              <a:srgbClr val="7030A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7030A0"/>
              </a:solidFill>
            </a:endParaRPr>
          </a:p>
        </p:txBody>
      </p:sp>
      <mc:AlternateContent xmlns:mc="http://schemas.openxmlformats.org/markup-compatibility/2006">
        <mc:Choice xmlns:a14="http://schemas.microsoft.com/office/drawing/2010/main" Requires="a14">
          <p:sp>
            <p:nvSpPr>
              <p:cNvPr id="22" name="矩形 21">
                <a:extLst>
                  <a:ext uri="{FF2B5EF4-FFF2-40B4-BE49-F238E27FC236}">
                    <a16:creationId xmlns:a16="http://schemas.microsoft.com/office/drawing/2014/main" id="{FF275EF4-5E8C-4863-867B-9B28AC796E10}"/>
                  </a:ext>
                </a:extLst>
              </p:cNvPr>
              <p:cNvSpPr/>
              <p:nvPr/>
            </p:nvSpPr>
            <p:spPr>
              <a:xfrm>
                <a:off x="5922318" y="5158634"/>
                <a:ext cx="2797966" cy="966290"/>
              </a:xfrm>
              <a:prstGeom prst="rect">
                <a:avLst/>
              </a:prstGeom>
            </p:spPr>
            <p:txBody>
              <a:bodyPr wrap="square">
                <a:spAutoFit/>
              </a:bodyPr>
              <a:lstStyle/>
              <a:p>
                <a:pPr>
                  <a:lnSpc>
                    <a:spcPct val="150000"/>
                  </a:lnSpc>
                </a:pPr>
                <a:r>
                  <a:rPr lang="en-US" altLang="zh-TW" sz="2000" dirty="0">
                    <a:latin typeface="Times New Roman" panose="02020603050405020304" pitchFamily="18" charset="0"/>
                    <a:ea typeface="BatangChe" panose="02030609000101010101" pitchFamily="49" charset="-127"/>
                    <a:cs typeface="Times New Roman" panose="02020603050405020304" pitchFamily="18" charset="0"/>
                  </a:rPr>
                  <a:t>Total complexity for an iteration is </a:t>
                </a:r>
                <a14:m>
                  <m:oMath xmlns:m="http://schemas.openxmlformats.org/officeDocument/2006/math">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𝑂</m:t>
                    </m:r>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𝑛𝑘</m:t>
                    </m:r>
                    <m:r>
                      <a:rPr lang="en-US" altLang="zh-TW" sz="2000" b="0" i="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 </m:t>
                    </m:r>
                    <m:r>
                      <m:rPr>
                        <m:sty m:val="p"/>
                      </m:rPr>
                      <a:rPr lang="en-US" altLang="zh-TW" sz="2000" dirty="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log</m:t>
                    </m:r>
                    <m:r>
                      <a:rPr lang="en-US" altLang="zh-TW" sz="2000"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 </m:t>
                    </m:r>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𝑘</m:t>
                    </m:r>
                    <m:r>
                      <a:rPr lang="en-US" altLang="zh-TW" sz="20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oMath>
                </a14:m>
                <a:r>
                  <a:rPr lang="en-US" altLang="zh-TW" sz="2000" dirty="0">
                    <a:solidFill>
                      <a:srgbClr val="0070C0"/>
                    </a:solidFill>
                    <a:latin typeface="Times New Roman" panose="02020603050405020304" pitchFamily="18" charset="0"/>
                    <a:ea typeface="BatangChe" panose="02030609000101010101" pitchFamily="49" charset="-127"/>
                    <a:cs typeface="Times New Roman" panose="02020603050405020304" pitchFamily="18" charset="0"/>
                  </a:rPr>
                  <a:t> </a:t>
                </a:r>
                <a:endParaRPr lang="zh-TW" altLang="en-US" dirty="0"/>
              </a:p>
            </p:txBody>
          </p:sp>
        </mc:Choice>
        <mc:Fallback>
          <p:sp>
            <p:nvSpPr>
              <p:cNvPr id="22" name="矩形 21">
                <a:extLst>
                  <a:ext uri="{FF2B5EF4-FFF2-40B4-BE49-F238E27FC236}">
                    <a16:creationId xmlns:a16="http://schemas.microsoft.com/office/drawing/2014/main" id="{FF275EF4-5E8C-4863-867B-9B28AC796E10}"/>
                  </a:ext>
                </a:extLst>
              </p:cNvPr>
              <p:cNvSpPr>
                <a:spLocks noRot="1" noChangeAspect="1" noMove="1" noResize="1" noEditPoints="1" noAdjustHandles="1" noChangeArrowheads="1" noChangeShapeType="1" noTextEdit="1"/>
              </p:cNvSpPr>
              <p:nvPr/>
            </p:nvSpPr>
            <p:spPr>
              <a:xfrm>
                <a:off x="5922318" y="5158634"/>
                <a:ext cx="2797966" cy="966290"/>
              </a:xfrm>
              <a:prstGeom prst="rect">
                <a:avLst/>
              </a:prstGeom>
              <a:blipFill>
                <a:blip r:embed="rId6"/>
                <a:stretch>
                  <a:fillRect l="-2402" b="-943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8474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20" grpId="0" animBg="1"/>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12</a:t>
            </a:fld>
            <a:endParaRPr lang="zh-TW" altLang="en-US" dirty="0"/>
          </a:p>
        </p:txBody>
      </p:sp>
      <p:sp>
        <p:nvSpPr>
          <p:cNvPr id="16" name="標題 1">
            <a:extLst>
              <a:ext uri="{FF2B5EF4-FFF2-40B4-BE49-F238E27FC236}">
                <a16:creationId xmlns:a16="http://schemas.microsoft.com/office/drawing/2014/main" id="{44AAEA94-82BE-4FD8-9313-818F6FE7B07E}"/>
              </a:ext>
            </a:extLst>
          </p:cNvPr>
          <p:cNvSpPr txBox="1">
            <a:spLocks/>
          </p:cNvSpPr>
          <p:nvPr/>
        </p:nvSpPr>
        <p:spPr>
          <a:xfrm>
            <a:off x="402231" y="385081"/>
            <a:ext cx="7722593" cy="5833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Lempel-Ziv factorization (LZ-factorization)</a:t>
            </a:r>
            <a:endParaRPr lang="zh-TW" altLang="en-US" sz="3600" dirty="0">
              <a:latin typeface="Times New Roman" panose="02020603050405020304" pitchFamily="18" charset="0"/>
              <a:cs typeface="Times New Roman" panose="02020603050405020304" pitchFamily="18" charset="0"/>
            </a:endParaRPr>
          </a:p>
        </p:txBody>
      </p:sp>
      <p:sp>
        <p:nvSpPr>
          <p:cNvPr id="8" name="標題 1">
            <a:extLst>
              <a:ext uri="{FF2B5EF4-FFF2-40B4-BE49-F238E27FC236}">
                <a16:creationId xmlns:a16="http://schemas.microsoft.com/office/drawing/2014/main" id="{0FD3F08F-985D-43DC-9A2E-F1A4B7D311CB}"/>
              </a:ext>
            </a:extLst>
          </p:cNvPr>
          <p:cNvSpPr txBox="1">
            <a:spLocks/>
          </p:cNvSpPr>
          <p:nvPr/>
        </p:nvSpPr>
        <p:spPr>
          <a:xfrm>
            <a:off x="325648" y="2530302"/>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b="1" dirty="0">
                <a:latin typeface="BatangChe" panose="02030609000101010101" pitchFamily="49" charset="-127"/>
                <a:ea typeface="BatangChe" panose="02030609000101010101" pitchFamily="49" charset="-127"/>
                <a:cs typeface="Times New Roman" panose="02020603050405020304" pitchFamily="18" charset="0"/>
              </a:rPr>
              <a:t>S:</a:t>
            </a:r>
          </a:p>
        </p:txBody>
      </p:sp>
      <p:sp>
        <p:nvSpPr>
          <p:cNvPr id="10" name="Rectangle 7">
            <a:extLst>
              <a:ext uri="{FF2B5EF4-FFF2-40B4-BE49-F238E27FC236}">
                <a16:creationId xmlns:a16="http://schemas.microsoft.com/office/drawing/2014/main" id="{7529A668-7C7D-47CF-877F-CFD9DE7EB4F8}"/>
              </a:ext>
            </a:extLst>
          </p:cNvPr>
          <p:cNvSpPr>
            <a:spLocks noChangeArrowheads="1"/>
          </p:cNvSpPr>
          <p:nvPr/>
        </p:nvSpPr>
        <p:spPr bwMode="auto">
          <a:xfrm>
            <a:off x="858670" y="2588624"/>
            <a:ext cx="293331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err="1">
                <a:latin typeface="Courier New" panose="02070309020205020404" pitchFamily="49" charset="0"/>
              </a:rPr>
              <a:t>abbabbabbb</a:t>
            </a:r>
            <a:endParaRPr lang="en-US" altLang="zh-TW" sz="2800" u="sng" spc="300" dirty="0">
              <a:solidFill>
                <a:schemeClr val="accent2"/>
              </a:solidFill>
              <a:latin typeface="Courier New" panose="02070309020205020404" pitchFamily="49" charset="0"/>
            </a:endParaRPr>
          </a:p>
        </p:txBody>
      </p:sp>
      <mc:AlternateContent xmlns:mc="http://schemas.openxmlformats.org/markup-compatibility/2006">
        <mc:Choice xmlns:a14="http://schemas.microsoft.com/office/drawing/2010/main" Requires="a14">
          <p:sp>
            <p:nvSpPr>
              <p:cNvPr id="11" name="標題 1">
                <a:extLst>
                  <a:ext uri="{FF2B5EF4-FFF2-40B4-BE49-F238E27FC236}">
                    <a16:creationId xmlns:a16="http://schemas.microsoft.com/office/drawing/2014/main" id="{269DE47D-4DC8-4FF1-9207-0E800086BFA4}"/>
                  </a:ext>
                </a:extLst>
              </p:cNvPr>
              <p:cNvSpPr txBox="1">
                <a:spLocks/>
              </p:cNvSpPr>
              <p:nvPr/>
            </p:nvSpPr>
            <p:spPr>
              <a:xfrm>
                <a:off x="400940" y="5523974"/>
                <a:ext cx="4666106" cy="46672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a:rPr lang="en-US" altLang="zh-TW" sz="2400" i="1" dirty="0" smtClean="0">
                        <a:latin typeface="Cambria Math" panose="02040503050406030204" pitchFamily="18" charset="0"/>
                        <a:ea typeface="BatangChe" panose="02030609000101010101" pitchFamily="49" charset="-127"/>
                        <a:cs typeface="Times New Roman" panose="02020603050405020304" pitchFamily="18" charset="0"/>
                      </a:rPr>
                      <m:t>𝐿</m:t>
                    </m:r>
                    <m:sSub>
                      <m:sSubPr>
                        <m:ctrlP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i="1" dirty="0" smtClean="0">
                            <a:latin typeface="Cambria Math" panose="02040503050406030204" pitchFamily="18" charset="0"/>
                            <a:ea typeface="BatangChe" panose="02030609000101010101" pitchFamily="49" charset="-127"/>
                            <a:cs typeface="Times New Roman" panose="02020603050405020304" pitchFamily="18" charset="0"/>
                          </a:rPr>
                          <m:t>𝑍</m:t>
                        </m:r>
                      </m:e>
                      <m: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𝑆</m:t>
                        </m:r>
                      </m:sub>
                    </m:sSub>
                  </m:oMath>
                </a14:m>
                <a:r>
                  <a:rPr lang="en-US" altLang="zh-TW" sz="2400" dirty="0">
                    <a:latin typeface="BatangChe" panose="02030609000101010101" pitchFamily="49" charset="-127"/>
                    <a:ea typeface="BatangChe" panose="02030609000101010101" pitchFamily="49" charset="-127"/>
                    <a:cs typeface="Times New Roman" panose="02020603050405020304" pitchFamily="18" charset="0"/>
                  </a:rPr>
                  <a:t>: </a:t>
                </a:r>
                <a:r>
                  <a:rPr kumimoji="1" lang="en-US" altLang="zh-TW" sz="2800" spc="300" dirty="0" err="1">
                    <a:latin typeface="Courier New" panose="02070309020205020404" pitchFamily="49" charset="0"/>
                    <a:ea typeface="新細明體" panose="02020500000000000000" pitchFamily="18" charset="-120"/>
                    <a:cs typeface="+mn-cs"/>
                  </a:rPr>
                  <a:t>a.b.ba.bbabbb</a:t>
                </a:r>
                <a:endParaRPr lang="en-US" altLang="zh-TW" sz="2400" dirty="0">
                  <a:latin typeface="BatangChe" panose="02030609000101010101" pitchFamily="49" charset="-127"/>
                  <a:ea typeface="BatangChe" panose="02030609000101010101" pitchFamily="49" charset="-127"/>
                  <a:cs typeface="Times New Roman" panose="02020603050405020304" pitchFamily="18" charset="0"/>
                </a:endParaRPr>
              </a:p>
            </p:txBody>
          </p:sp>
        </mc:Choice>
        <mc:Fallback>
          <p:sp>
            <p:nvSpPr>
              <p:cNvPr id="11" name="標題 1">
                <a:extLst>
                  <a:ext uri="{FF2B5EF4-FFF2-40B4-BE49-F238E27FC236}">
                    <a16:creationId xmlns:a16="http://schemas.microsoft.com/office/drawing/2014/main" id="{269DE47D-4DC8-4FF1-9207-0E800086BFA4}"/>
                  </a:ext>
                </a:extLst>
              </p:cNvPr>
              <p:cNvSpPr txBox="1">
                <a:spLocks noRot="1" noChangeAspect="1" noMove="1" noResize="1" noEditPoints="1" noAdjustHandles="1" noChangeArrowheads="1" noChangeShapeType="1" noTextEdit="1"/>
              </p:cNvSpPr>
              <p:nvPr/>
            </p:nvSpPr>
            <p:spPr>
              <a:xfrm>
                <a:off x="400940" y="5523974"/>
                <a:ext cx="4666106" cy="466726"/>
              </a:xfrm>
              <a:prstGeom prst="rect">
                <a:avLst/>
              </a:prstGeom>
              <a:blipFill>
                <a:blip r:embed="rId3"/>
                <a:stretch>
                  <a:fillRect t="-24675" b="-3636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 name="標題 1">
                <a:extLst>
                  <a:ext uri="{FF2B5EF4-FFF2-40B4-BE49-F238E27FC236}">
                    <a16:creationId xmlns:a16="http://schemas.microsoft.com/office/drawing/2014/main" id="{5CE20EC9-C3F3-4999-B641-03CB9F20AC68}"/>
                  </a:ext>
                </a:extLst>
              </p:cNvPr>
              <p:cNvSpPr txBox="1">
                <a:spLocks/>
              </p:cNvSpPr>
              <p:nvPr/>
            </p:nvSpPr>
            <p:spPr>
              <a:xfrm>
                <a:off x="366040" y="1129523"/>
                <a:ext cx="8411919" cy="1140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For string </a:t>
                </a:r>
                <a14:m>
                  <m:oMath xmlns:m="http://schemas.openxmlformats.org/officeDocument/2006/math">
                    <m:r>
                      <a:rPr lang="en-US" altLang="zh-TW" sz="2400" i="1" dirty="0" smtClean="0">
                        <a:latin typeface="Cambria Math" panose="02040503050406030204" pitchFamily="18" charset="0"/>
                        <a:ea typeface="BatangChe" panose="02030609000101010101" pitchFamily="49" charset="-127"/>
                        <a:cs typeface="Times New Roman" panose="02020603050405020304" pitchFamily="18" charset="0"/>
                      </a:rPr>
                      <m:t>𝑠</m:t>
                    </m:r>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m:t>
                    </m:r>
                    <m:sSub>
                      <m:sSubPr>
                        <m:ctrlP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0</m:t>
                        </m:r>
                      </m:sub>
                    </m:sSub>
                    <m:sSub>
                      <m:sSubPr>
                        <m:ctrlP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1</m:t>
                        </m:r>
                      </m:sub>
                    </m:s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m:t>
                    </m:r>
                    <m:sSub>
                      <m:sSubPr>
                        <m:ctrlP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𝑧</m:t>
                        </m:r>
                      </m:sub>
                    </m:s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m:t>
                    </m:r>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each </a:t>
                </a:r>
                <a14:m>
                  <m:oMath xmlns:m="http://schemas.openxmlformats.org/officeDocument/2006/math">
                    <m:sSub>
                      <m:sSubPr>
                        <m:ctrlP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smtClean="0">
                            <a:latin typeface="Cambria Math" panose="02040503050406030204" pitchFamily="18" charset="0"/>
                            <a:ea typeface="BatangChe" panose="02030609000101010101" pitchFamily="49" charset="-127"/>
                            <a:cs typeface="Times New Roman" panose="02020603050405020304" pitchFamily="18" charset="0"/>
                          </a:rPr>
                          <m:t>𝑖</m:t>
                        </m:r>
                      </m:sub>
                    </m:sSub>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a:t>
                </a:r>
                <a14:m>
                  <m:oMath xmlns:m="http://schemas.openxmlformats.org/officeDocument/2006/math">
                    <m:r>
                      <a:rPr lang="en-US" altLang="zh-TW" sz="2400" b="0" i="0" dirty="0" smtClean="0">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0≤</m:t>
                    </m:r>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𝑖</m:t>
                    </m:r>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𝑧</m:t>
                    </m:r>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−1)</m:t>
                    </m:r>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is the shortest prefix of</a:t>
                </a:r>
                <a:r>
                  <a:rPr lang="en-US" altLang="zh-TW" sz="2400" dirty="0">
                    <a:ea typeface="BatangChe" panose="02030609000101010101" pitchFamily="49" charset="-127"/>
                    <a:cs typeface="Times New Roman" panose="02020603050405020304" pitchFamily="18" charset="0"/>
                  </a:rPr>
                  <a:t> </a:t>
                </a:r>
                <a14:m>
                  <m:oMath xmlns:m="http://schemas.openxmlformats.org/officeDocument/2006/math">
                    <m:sSub>
                      <m:sSubPr>
                        <m:ctrlPr>
                          <a:rPr lang="en-US" altLang="zh-TW" sz="2400" i="1" dirty="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i="1" dirty="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𝑖</m:t>
                        </m:r>
                      </m:sub>
                    </m:sSub>
                    <m:sSub>
                      <m:sSubPr>
                        <m:ctrlPr>
                          <a:rPr lang="en-US" altLang="zh-TW" sz="2400" i="1" dirty="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i="1" dirty="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𝑖</m:t>
                        </m:r>
                        <m:r>
                          <a:rPr lang="en-US" altLang="zh-TW" sz="2400" b="0" i="1" dirty="0" smtClean="0">
                            <a:latin typeface="Cambria Math" panose="02040503050406030204" pitchFamily="18" charset="0"/>
                            <a:ea typeface="BatangChe" panose="02030609000101010101" pitchFamily="49" charset="-127"/>
                            <a:cs typeface="Times New Roman" panose="02020603050405020304" pitchFamily="18" charset="0"/>
                          </a:rPr>
                          <m:t>+1</m:t>
                        </m:r>
                      </m:sub>
                    </m:sSub>
                    <m:r>
                      <a:rPr lang="en-US" altLang="zh-TW" sz="2400" i="1" dirty="0">
                        <a:latin typeface="Cambria Math" panose="02040503050406030204" pitchFamily="18" charset="0"/>
                        <a:ea typeface="BatangChe" panose="02030609000101010101" pitchFamily="49" charset="-127"/>
                        <a:cs typeface="Times New Roman" panose="02020603050405020304" pitchFamily="18" charset="0"/>
                      </a:rPr>
                      <m:t>…</m:t>
                    </m:r>
                    <m:sSub>
                      <m:sSubPr>
                        <m:ctrlPr>
                          <a:rPr lang="en-US" altLang="zh-TW" sz="2400" i="1" dirty="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400" i="1" dirty="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400" i="1" dirty="0">
                            <a:latin typeface="Cambria Math" panose="02040503050406030204" pitchFamily="18" charset="0"/>
                            <a:ea typeface="BatangChe" panose="02030609000101010101" pitchFamily="49" charset="-127"/>
                            <a:cs typeface="Times New Roman" panose="02020603050405020304" pitchFamily="18" charset="0"/>
                          </a:rPr>
                          <m:t>𝑧</m:t>
                        </m:r>
                      </m:sub>
                    </m:sSub>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that does not occur to the </a:t>
                </a:r>
                <a:r>
                  <a:rPr lang="en-US" altLang="zh-TW" sz="2400" dirty="0">
                    <a:solidFill>
                      <a:srgbClr val="0070C0"/>
                    </a:solidFill>
                    <a:latin typeface="Times New Roman" panose="02020603050405020304" pitchFamily="18" charset="0"/>
                    <a:ea typeface="BatangChe" panose="02030609000101010101" pitchFamily="49" charset="-127"/>
                    <a:cs typeface="Times New Roman" panose="02020603050405020304" pitchFamily="18" charset="0"/>
                  </a:rPr>
                  <a:t>left</a:t>
                </a: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in </a:t>
                </a:r>
                <a14:m>
                  <m:oMath xmlns:m="http://schemas.openxmlformats.org/officeDocument/2006/math">
                    <m:r>
                      <a:rPr lang="en-US" altLang="zh-TW" sz="2400" i="1" dirty="0" smtClean="0">
                        <a:latin typeface="Cambria Math" panose="02040503050406030204" pitchFamily="18" charset="0"/>
                        <a:ea typeface="BatangChe" panose="02030609000101010101" pitchFamily="49" charset="-127"/>
                        <a:cs typeface="Times New Roman" panose="02020603050405020304" pitchFamily="18" charset="0"/>
                      </a:rPr>
                      <m:t>𝑠</m:t>
                    </m:r>
                  </m:oMath>
                </a14:m>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a:t>
                </a:r>
              </a:p>
            </p:txBody>
          </p:sp>
        </mc:Choice>
        <mc:Fallback>
          <p:sp>
            <p:nvSpPr>
              <p:cNvPr id="15" name="標題 1">
                <a:extLst>
                  <a:ext uri="{FF2B5EF4-FFF2-40B4-BE49-F238E27FC236}">
                    <a16:creationId xmlns:a16="http://schemas.microsoft.com/office/drawing/2014/main" id="{5CE20EC9-C3F3-4999-B641-03CB9F20AC68}"/>
                  </a:ext>
                </a:extLst>
              </p:cNvPr>
              <p:cNvSpPr txBox="1">
                <a:spLocks noRot="1" noChangeAspect="1" noMove="1" noResize="1" noEditPoints="1" noAdjustHandles="1" noChangeArrowheads="1" noChangeShapeType="1" noTextEdit="1"/>
              </p:cNvSpPr>
              <p:nvPr/>
            </p:nvSpPr>
            <p:spPr>
              <a:xfrm>
                <a:off x="366040" y="1129523"/>
                <a:ext cx="8411919" cy="1140674"/>
              </a:xfrm>
              <a:prstGeom prst="rect">
                <a:avLst/>
              </a:prstGeom>
              <a:blipFill>
                <a:blip r:embed="rId4"/>
                <a:stretch>
                  <a:fillRect l="-1087"/>
                </a:stretch>
              </a:blipFill>
            </p:spPr>
            <p:txBody>
              <a:bodyPr/>
              <a:lstStyle/>
              <a:p>
                <a:r>
                  <a:rPr lang="zh-TW" altLang="en-US">
                    <a:noFill/>
                  </a:rPr>
                  <a:t> </a:t>
                </a:r>
              </a:p>
            </p:txBody>
          </p:sp>
        </mc:Fallback>
      </mc:AlternateContent>
      <p:grpSp>
        <p:nvGrpSpPr>
          <p:cNvPr id="39" name="群組 38">
            <a:extLst>
              <a:ext uri="{FF2B5EF4-FFF2-40B4-BE49-F238E27FC236}">
                <a16:creationId xmlns:a16="http://schemas.microsoft.com/office/drawing/2014/main" id="{2335F40B-7EF2-4FEC-98A6-E3B8F3807403}"/>
              </a:ext>
            </a:extLst>
          </p:cNvPr>
          <p:cNvGrpSpPr/>
          <p:nvPr/>
        </p:nvGrpSpPr>
        <p:grpSpPr>
          <a:xfrm>
            <a:off x="929919" y="3419641"/>
            <a:ext cx="1019265" cy="466725"/>
            <a:chOff x="325648" y="2933866"/>
            <a:chExt cx="1019265" cy="466725"/>
          </a:xfrm>
        </p:grpSpPr>
        <p:sp>
          <p:nvSpPr>
            <p:cNvPr id="17" name="Rectangle 7">
              <a:extLst>
                <a:ext uri="{FF2B5EF4-FFF2-40B4-BE49-F238E27FC236}">
                  <a16:creationId xmlns:a16="http://schemas.microsoft.com/office/drawing/2014/main" id="{034B07CF-16A6-4649-9FB9-60D09B2EAF0F}"/>
                </a:ext>
              </a:extLst>
            </p:cNvPr>
            <p:cNvSpPr>
              <a:spLocks noChangeArrowheads="1"/>
            </p:cNvSpPr>
            <p:nvPr/>
          </p:nvSpPr>
          <p:spPr bwMode="auto">
            <a:xfrm>
              <a:off x="858670" y="2933866"/>
              <a:ext cx="48624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a</a:t>
              </a:r>
              <a:endParaRPr lang="en-US" altLang="zh-TW" sz="2800" u="sng" spc="300" dirty="0">
                <a:solidFill>
                  <a:schemeClr val="accent2"/>
                </a:solidFill>
                <a:latin typeface="Courier New" panose="02070309020205020404" pitchFamily="49" charset="0"/>
              </a:endParaRPr>
            </a:p>
          </p:txBody>
        </p:sp>
        <mc:AlternateContent xmlns:mc="http://schemas.openxmlformats.org/markup-compatibility/2006">
          <mc:Choice xmlns:a14="http://schemas.microsoft.com/office/drawing/2010/main" Requires="a14">
            <p:sp>
              <p:nvSpPr>
                <p:cNvPr id="2" name="矩形 1">
                  <a:extLst>
                    <a:ext uri="{FF2B5EF4-FFF2-40B4-BE49-F238E27FC236}">
                      <a16:creationId xmlns:a16="http://schemas.microsoft.com/office/drawing/2014/main" id="{7F911B8C-A078-4D7B-AF00-DA8D37B9CB0A}"/>
                    </a:ext>
                  </a:extLst>
                </p:cNvPr>
                <p:cNvSpPr/>
                <p:nvPr/>
              </p:nvSpPr>
              <p:spPr>
                <a:xfrm>
                  <a:off x="325648" y="2962275"/>
                  <a:ext cx="486243" cy="40011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0</m:t>
                            </m:r>
                          </m:sub>
                        </m:sSub>
                      </m:oMath>
                    </m:oMathPara>
                  </a14:m>
                  <a:endParaRPr lang="zh-TW" altLang="en-US" sz="2000" dirty="0"/>
                </a:p>
              </p:txBody>
            </p:sp>
          </mc:Choice>
          <mc:Fallback>
            <p:sp>
              <p:nvSpPr>
                <p:cNvPr id="2" name="矩形 1">
                  <a:extLst>
                    <a:ext uri="{FF2B5EF4-FFF2-40B4-BE49-F238E27FC236}">
                      <a16:creationId xmlns:a16="http://schemas.microsoft.com/office/drawing/2014/main" id="{7F911B8C-A078-4D7B-AF00-DA8D37B9CB0A}"/>
                    </a:ext>
                  </a:extLst>
                </p:cNvPr>
                <p:cNvSpPr>
                  <a:spLocks noRot="1" noChangeAspect="1" noMove="1" noResize="1" noEditPoints="1" noAdjustHandles="1" noChangeArrowheads="1" noChangeShapeType="1" noTextEdit="1"/>
                </p:cNvSpPr>
                <p:nvPr/>
              </p:nvSpPr>
              <p:spPr>
                <a:xfrm>
                  <a:off x="325648" y="2962275"/>
                  <a:ext cx="486243" cy="400110"/>
                </a:xfrm>
                <a:prstGeom prst="rect">
                  <a:avLst/>
                </a:prstGeom>
                <a:blipFill>
                  <a:blip r:embed="rId5"/>
                  <a:stretch>
                    <a:fillRect b="-1538"/>
                  </a:stretch>
                </a:blipFill>
              </p:spPr>
              <p:txBody>
                <a:bodyPr/>
                <a:lstStyle/>
                <a:p>
                  <a:r>
                    <a:rPr lang="zh-TW" altLang="en-US">
                      <a:noFill/>
                    </a:rPr>
                    <a:t> </a:t>
                  </a:r>
                </a:p>
              </p:txBody>
            </p:sp>
          </mc:Fallback>
        </mc:AlternateContent>
      </p:grpSp>
      <p:grpSp>
        <p:nvGrpSpPr>
          <p:cNvPr id="34" name="群組 33">
            <a:extLst>
              <a:ext uri="{FF2B5EF4-FFF2-40B4-BE49-F238E27FC236}">
                <a16:creationId xmlns:a16="http://schemas.microsoft.com/office/drawing/2014/main" id="{4F9A0A4E-8094-49B3-84CB-2E5BBCB31BAF}"/>
              </a:ext>
            </a:extLst>
          </p:cNvPr>
          <p:cNvGrpSpPr/>
          <p:nvPr/>
        </p:nvGrpSpPr>
        <p:grpSpPr>
          <a:xfrm>
            <a:off x="929919" y="3906482"/>
            <a:ext cx="1019265" cy="466725"/>
            <a:chOff x="325648" y="3420707"/>
            <a:chExt cx="1019265" cy="466725"/>
          </a:xfrm>
        </p:grpSpPr>
        <p:sp>
          <p:nvSpPr>
            <p:cNvPr id="18" name="Rectangle 7">
              <a:extLst>
                <a:ext uri="{FF2B5EF4-FFF2-40B4-BE49-F238E27FC236}">
                  <a16:creationId xmlns:a16="http://schemas.microsoft.com/office/drawing/2014/main" id="{88568213-D5D8-4216-B36D-135C7EF75EEF}"/>
                </a:ext>
              </a:extLst>
            </p:cNvPr>
            <p:cNvSpPr>
              <a:spLocks noChangeArrowheads="1"/>
            </p:cNvSpPr>
            <p:nvPr/>
          </p:nvSpPr>
          <p:spPr bwMode="auto">
            <a:xfrm>
              <a:off x="858670" y="3420707"/>
              <a:ext cx="48624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mc:AlternateContent xmlns:mc="http://schemas.openxmlformats.org/markup-compatibility/2006">
          <mc:Choice xmlns:a14="http://schemas.microsoft.com/office/drawing/2010/main" Requires="a14">
            <p:sp>
              <p:nvSpPr>
                <p:cNvPr id="19" name="矩形 18">
                  <a:extLst>
                    <a:ext uri="{FF2B5EF4-FFF2-40B4-BE49-F238E27FC236}">
                      <a16:creationId xmlns:a16="http://schemas.microsoft.com/office/drawing/2014/main" id="{0A510988-1B74-478B-B265-0CE01708C0DD}"/>
                    </a:ext>
                  </a:extLst>
                </p:cNvPr>
                <p:cNvSpPr/>
                <p:nvPr/>
              </p:nvSpPr>
              <p:spPr>
                <a:xfrm>
                  <a:off x="325648" y="3449116"/>
                  <a:ext cx="486243" cy="40011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TW" sz="200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000" b="0" i="1" dirty="0" smtClean="0">
                                <a:latin typeface="Cambria Math" panose="02040503050406030204" pitchFamily="18" charset="0"/>
                                <a:ea typeface="BatangChe" panose="02030609000101010101" pitchFamily="49" charset="-127"/>
                                <a:cs typeface="Times New Roman" panose="02020603050405020304" pitchFamily="18" charset="0"/>
                              </a:rPr>
                              <m:t>1</m:t>
                            </m:r>
                          </m:sub>
                        </m:sSub>
                      </m:oMath>
                    </m:oMathPara>
                  </a14:m>
                  <a:endParaRPr lang="zh-TW" altLang="en-US" sz="2000" dirty="0"/>
                </a:p>
              </p:txBody>
            </p:sp>
          </mc:Choice>
          <mc:Fallback>
            <p:sp>
              <p:nvSpPr>
                <p:cNvPr id="19" name="矩形 18">
                  <a:extLst>
                    <a:ext uri="{FF2B5EF4-FFF2-40B4-BE49-F238E27FC236}">
                      <a16:creationId xmlns:a16="http://schemas.microsoft.com/office/drawing/2014/main" id="{0A510988-1B74-478B-B265-0CE01708C0DD}"/>
                    </a:ext>
                  </a:extLst>
                </p:cNvPr>
                <p:cNvSpPr>
                  <a:spLocks noRot="1" noChangeAspect="1" noMove="1" noResize="1" noEditPoints="1" noAdjustHandles="1" noChangeArrowheads="1" noChangeShapeType="1" noTextEdit="1"/>
                </p:cNvSpPr>
                <p:nvPr/>
              </p:nvSpPr>
              <p:spPr>
                <a:xfrm>
                  <a:off x="325648" y="3449116"/>
                  <a:ext cx="486243" cy="400110"/>
                </a:xfrm>
                <a:prstGeom prst="rect">
                  <a:avLst/>
                </a:prstGeom>
                <a:blipFill>
                  <a:blip r:embed="rId6"/>
                  <a:stretch>
                    <a:fillRect/>
                  </a:stretch>
                </a:blipFill>
              </p:spPr>
              <p:txBody>
                <a:bodyPr/>
                <a:lstStyle/>
                <a:p>
                  <a:r>
                    <a:rPr lang="zh-TW" altLang="en-US">
                      <a:noFill/>
                    </a:rPr>
                    <a:t> </a:t>
                  </a:r>
                </a:p>
              </p:txBody>
            </p:sp>
          </mc:Fallback>
        </mc:AlternateContent>
      </p:grpSp>
      <p:grpSp>
        <p:nvGrpSpPr>
          <p:cNvPr id="37" name="群組 36">
            <a:extLst>
              <a:ext uri="{FF2B5EF4-FFF2-40B4-BE49-F238E27FC236}">
                <a16:creationId xmlns:a16="http://schemas.microsoft.com/office/drawing/2014/main" id="{C85ACBF5-9870-4A44-98F6-0E71D82B3502}"/>
              </a:ext>
            </a:extLst>
          </p:cNvPr>
          <p:cNvGrpSpPr/>
          <p:nvPr/>
        </p:nvGrpSpPr>
        <p:grpSpPr>
          <a:xfrm>
            <a:off x="929919" y="4353175"/>
            <a:ext cx="903077" cy="466725"/>
            <a:chOff x="325648" y="3867400"/>
            <a:chExt cx="903077" cy="466725"/>
          </a:xfrm>
        </p:grpSpPr>
        <p:sp>
          <p:nvSpPr>
            <p:cNvPr id="23" name="Rectangle 7">
              <a:extLst>
                <a:ext uri="{FF2B5EF4-FFF2-40B4-BE49-F238E27FC236}">
                  <a16:creationId xmlns:a16="http://schemas.microsoft.com/office/drawing/2014/main" id="{ED9C43B1-E031-4357-AFC0-08611F6FE139}"/>
                </a:ext>
              </a:extLst>
            </p:cNvPr>
            <p:cNvSpPr>
              <a:spLocks noChangeArrowheads="1"/>
            </p:cNvSpPr>
            <p:nvPr/>
          </p:nvSpPr>
          <p:spPr bwMode="auto">
            <a:xfrm>
              <a:off x="858670" y="3867400"/>
              <a:ext cx="37005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mc:AlternateContent xmlns:mc="http://schemas.openxmlformats.org/markup-compatibility/2006">
          <mc:Choice xmlns:a14="http://schemas.microsoft.com/office/drawing/2010/main" Requires="a14">
            <p:sp>
              <p:nvSpPr>
                <p:cNvPr id="24" name="矩形 23">
                  <a:extLst>
                    <a:ext uri="{FF2B5EF4-FFF2-40B4-BE49-F238E27FC236}">
                      <a16:creationId xmlns:a16="http://schemas.microsoft.com/office/drawing/2014/main" id="{6898E96A-4CBA-45DC-A510-7593A73699CF}"/>
                    </a:ext>
                  </a:extLst>
                </p:cNvPr>
                <p:cNvSpPr/>
                <p:nvPr/>
              </p:nvSpPr>
              <p:spPr>
                <a:xfrm>
                  <a:off x="325648" y="3895809"/>
                  <a:ext cx="486243" cy="40011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TW" sz="200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000" b="0" i="1" dirty="0" smtClean="0">
                                <a:latin typeface="Cambria Math" panose="02040503050406030204" pitchFamily="18" charset="0"/>
                                <a:ea typeface="BatangChe" panose="02030609000101010101" pitchFamily="49" charset="-127"/>
                                <a:cs typeface="Times New Roman" panose="02020603050405020304" pitchFamily="18" charset="0"/>
                              </a:rPr>
                              <m:t>2</m:t>
                            </m:r>
                          </m:sub>
                        </m:sSub>
                      </m:oMath>
                    </m:oMathPara>
                  </a14:m>
                  <a:endParaRPr lang="zh-TW" altLang="en-US" sz="2000" dirty="0"/>
                </a:p>
              </p:txBody>
            </p:sp>
          </mc:Choice>
          <mc:Fallback>
            <p:sp>
              <p:nvSpPr>
                <p:cNvPr id="24" name="矩形 23">
                  <a:extLst>
                    <a:ext uri="{FF2B5EF4-FFF2-40B4-BE49-F238E27FC236}">
                      <a16:creationId xmlns:a16="http://schemas.microsoft.com/office/drawing/2014/main" id="{6898E96A-4CBA-45DC-A510-7593A73699CF}"/>
                    </a:ext>
                  </a:extLst>
                </p:cNvPr>
                <p:cNvSpPr>
                  <a:spLocks noRot="1" noChangeAspect="1" noMove="1" noResize="1" noEditPoints="1" noAdjustHandles="1" noChangeArrowheads="1" noChangeShapeType="1" noTextEdit="1"/>
                </p:cNvSpPr>
                <p:nvPr/>
              </p:nvSpPr>
              <p:spPr>
                <a:xfrm>
                  <a:off x="325648" y="3895809"/>
                  <a:ext cx="486243" cy="400110"/>
                </a:xfrm>
                <a:prstGeom prst="rect">
                  <a:avLst/>
                </a:prstGeom>
                <a:blipFill>
                  <a:blip r:embed="rId7"/>
                  <a:stretch>
                    <a:fillRect b="-1538"/>
                  </a:stretch>
                </a:blipFill>
              </p:spPr>
              <p:txBody>
                <a:bodyPr/>
                <a:lstStyle/>
                <a:p>
                  <a:r>
                    <a:rPr lang="zh-TW" altLang="en-US">
                      <a:noFill/>
                    </a:rPr>
                    <a:t> </a:t>
                  </a:r>
                </a:p>
              </p:txBody>
            </p:sp>
          </mc:Fallback>
        </mc:AlternateContent>
      </p:grpSp>
      <p:cxnSp>
        <p:nvCxnSpPr>
          <p:cNvPr id="7" name="直線接點 6">
            <a:extLst>
              <a:ext uri="{FF2B5EF4-FFF2-40B4-BE49-F238E27FC236}">
                <a16:creationId xmlns:a16="http://schemas.microsoft.com/office/drawing/2014/main" id="{B4CA530D-EF25-48A4-8CDC-DC20BED92A18}"/>
              </a:ext>
            </a:extLst>
          </p:cNvPr>
          <p:cNvCxnSpPr>
            <a:cxnSpLocks/>
          </p:cNvCxnSpPr>
          <p:nvPr/>
        </p:nvCxnSpPr>
        <p:spPr>
          <a:xfrm>
            <a:off x="5810250" y="2085975"/>
            <a:ext cx="14097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8" name="標題 1">
            <a:extLst>
              <a:ext uri="{FF2B5EF4-FFF2-40B4-BE49-F238E27FC236}">
                <a16:creationId xmlns:a16="http://schemas.microsoft.com/office/drawing/2014/main" id="{2C3FE852-7B25-4125-8407-A76B4AEBFCFC}"/>
              </a:ext>
            </a:extLst>
          </p:cNvPr>
          <p:cNvSpPr txBox="1">
            <a:spLocks/>
          </p:cNvSpPr>
          <p:nvPr/>
        </p:nvSpPr>
        <p:spPr>
          <a:xfrm>
            <a:off x="3553205" y="2810466"/>
            <a:ext cx="81648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b="1"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left</a:t>
            </a:r>
          </a:p>
        </p:txBody>
      </p:sp>
      <p:grpSp>
        <p:nvGrpSpPr>
          <p:cNvPr id="38" name="群組 37">
            <a:extLst>
              <a:ext uri="{FF2B5EF4-FFF2-40B4-BE49-F238E27FC236}">
                <a16:creationId xmlns:a16="http://schemas.microsoft.com/office/drawing/2014/main" id="{49505633-9C00-4FF7-BEF4-11F03059B182}"/>
              </a:ext>
            </a:extLst>
          </p:cNvPr>
          <p:cNvGrpSpPr/>
          <p:nvPr/>
        </p:nvGrpSpPr>
        <p:grpSpPr>
          <a:xfrm>
            <a:off x="929919" y="4845192"/>
            <a:ext cx="903076" cy="466725"/>
            <a:chOff x="325648" y="4359417"/>
            <a:chExt cx="903076" cy="466725"/>
          </a:xfrm>
        </p:grpSpPr>
        <p:sp>
          <p:nvSpPr>
            <p:cNvPr id="31" name="Rectangle 7">
              <a:extLst>
                <a:ext uri="{FF2B5EF4-FFF2-40B4-BE49-F238E27FC236}">
                  <a16:creationId xmlns:a16="http://schemas.microsoft.com/office/drawing/2014/main" id="{368C379A-8E9F-42B3-93C8-CA8B45D1BA3D}"/>
                </a:ext>
              </a:extLst>
            </p:cNvPr>
            <p:cNvSpPr>
              <a:spLocks noChangeArrowheads="1"/>
            </p:cNvSpPr>
            <p:nvPr/>
          </p:nvSpPr>
          <p:spPr bwMode="auto">
            <a:xfrm>
              <a:off x="858670" y="4359417"/>
              <a:ext cx="370054"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mc:AlternateContent xmlns:mc="http://schemas.openxmlformats.org/markup-compatibility/2006">
          <mc:Choice xmlns:a14="http://schemas.microsoft.com/office/drawing/2010/main" Requires="a14">
            <p:sp>
              <p:nvSpPr>
                <p:cNvPr id="32" name="矩形 31">
                  <a:extLst>
                    <a:ext uri="{FF2B5EF4-FFF2-40B4-BE49-F238E27FC236}">
                      <a16:creationId xmlns:a16="http://schemas.microsoft.com/office/drawing/2014/main" id="{22937A35-B8A0-4ADA-B98B-D054364DE53A}"/>
                    </a:ext>
                  </a:extLst>
                </p:cNvPr>
                <p:cNvSpPr/>
                <p:nvPr/>
              </p:nvSpPr>
              <p:spPr>
                <a:xfrm>
                  <a:off x="325648" y="4387826"/>
                  <a:ext cx="486243" cy="40011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TW" sz="200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000" b="0" i="1" dirty="0" smtClean="0">
                                <a:latin typeface="Cambria Math" panose="02040503050406030204" pitchFamily="18" charset="0"/>
                                <a:ea typeface="BatangChe" panose="02030609000101010101" pitchFamily="49" charset="-127"/>
                                <a:cs typeface="Times New Roman" panose="02020603050405020304" pitchFamily="18" charset="0"/>
                              </a:rPr>
                              <m:t>3</m:t>
                            </m:r>
                          </m:sub>
                        </m:sSub>
                      </m:oMath>
                    </m:oMathPara>
                  </a14:m>
                  <a:endParaRPr lang="zh-TW" altLang="en-US" sz="2000" dirty="0"/>
                </a:p>
              </p:txBody>
            </p:sp>
          </mc:Choice>
          <mc:Fallback>
            <p:sp>
              <p:nvSpPr>
                <p:cNvPr id="32" name="矩形 31">
                  <a:extLst>
                    <a:ext uri="{FF2B5EF4-FFF2-40B4-BE49-F238E27FC236}">
                      <a16:creationId xmlns:a16="http://schemas.microsoft.com/office/drawing/2014/main" id="{22937A35-B8A0-4ADA-B98B-D054364DE53A}"/>
                    </a:ext>
                  </a:extLst>
                </p:cNvPr>
                <p:cNvSpPr>
                  <a:spLocks noRot="1" noChangeAspect="1" noMove="1" noResize="1" noEditPoints="1" noAdjustHandles="1" noChangeArrowheads="1" noChangeShapeType="1" noTextEdit="1"/>
                </p:cNvSpPr>
                <p:nvPr/>
              </p:nvSpPr>
              <p:spPr>
                <a:xfrm>
                  <a:off x="325648" y="4387826"/>
                  <a:ext cx="486243" cy="400110"/>
                </a:xfrm>
                <a:prstGeom prst="rect">
                  <a:avLst/>
                </a:prstGeom>
                <a:blipFill>
                  <a:blip r:embed="rId8"/>
                  <a:stretch>
                    <a:fillRect/>
                  </a:stretch>
                </a:blipFill>
              </p:spPr>
              <p:txBody>
                <a:bodyPr/>
                <a:lstStyle/>
                <a:p>
                  <a:r>
                    <a:rPr lang="zh-TW" altLang="en-US">
                      <a:noFill/>
                    </a:rPr>
                    <a:t> </a:t>
                  </a:r>
                </a:p>
              </p:txBody>
            </p:sp>
          </mc:Fallback>
        </mc:AlternateContent>
      </p:grpSp>
      <p:sp>
        <p:nvSpPr>
          <p:cNvPr id="33" name="Rectangle 7">
            <a:extLst>
              <a:ext uri="{FF2B5EF4-FFF2-40B4-BE49-F238E27FC236}">
                <a16:creationId xmlns:a16="http://schemas.microsoft.com/office/drawing/2014/main" id="{1FF37D40-0586-414B-A69F-9FD661FF293E}"/>
              </a:ext>
            </a:extLst>
          </p:cNvPr>
          <p:cNvSpPr>
            <a:spLocks noChangeArrowheads="1"/>
          </p:cNvSpPr>
          <p:nvPr/>
        </p:nvSpPr>
        <p:spPr bwMode="auto">
          <a:xfrm>
            <a:off x="1718228" y="4353174"/>
            <a:ext cx="48624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a</a:t>
            </a:r>
            <a:endParaRPr lang="en-US" altLang="zh-TW" sz="2800" u="sng" spc="300" dirty="0">
              <a:solidFill>
                <a:schemeClr val="accent2"/>
              </a:solidFill>
              <a:latin typeface="Courier New" panose="02070309020205020404" pitchFamily="49" charset="0"/>
            </a:endParaRPr>
          </a:p>
        </p:txBody>
      </p:sp>
      <p:cxnSp>
        <p:nvCxnSpPr>
          <p:cNvPr id="43" name="直線接點 42">
            <a:extLst>
              <a:ext uri="{FF2B5EF4-FFF2-40B4-BE49-F238E27FC236}">
                <a16:creationId xmlns:a16="http://schemas.microsoft.com/office/drawing/2014/main" id="{739F4438-1B45-4480-8970-72FAAE9C535B}"/>
              </a:ext>
            </a:extLst>
          </p:cNvPr>
          <p:cNvCxnSpPr>
            <a:cxnSpLocks/>
          </p:cNvCxnSpPr>
          <p:nvPr/>
        </p:nvCxnSpPr>
        <p:spPr>
          <a:xfrm>
            <a:off x="929919" y="3055349"/>
            <a:ext cx="222606"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E3DD6D49-DEF2-4A33-A287-889116F7BB5F}"/>
              </a:ext>
            </a:extLst>
          </p:cNvPr>
          <p:cNvCxnSpPr>
            <a:cxnSpLocks/>
          </p:cNvCxnSpPr>
          <p:nvPr/>
        </p:nvCxnSpPr>
        <p:spPr>
          <a:xfrm>
            <a:off x="929919" y="3058153"/>
            <a:ext cx="48624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0574622D-5F85-4A9A-A538-81DA35D554ED}"/>
              </a:ext>
            </a:extLst>
          </p:cNvPr>
          <p:cNvCxnSpPr>
            <a:cxnSpLocks/>
          </p:cNvCxnSpPr>
          <p:nvPr/>
        </p:nvCxnSpPr>
        <p:spPr>
          <a:xfrm>
            <a:off x="929919" y="3058153"/>
            <a:ext cx="72936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DA69D5F4-DBD0-4D2B-A527-37401FA8405D}"/>
              </a:ext>
            </a:extLst>
          </p:cNvPr>
          <p:cNvCxnSpPr>
            <a:cxnSpLocks/>
          </p:cNvCxnSpPr>
          <p:nvPr/>
        </p:nvCxnSpPr>
        <p:spPr>
          <a:xfrm>
            <a:off x="929919" y="3058153"/>
            <a:ext cx="97508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5" name="Rectangle 7">
            <a:extLst>
              <a:ext uri="{FF2B5EF4-FFF2-40B4-BE49-F238E27FC236}">
                <a16:creationId xmlns:a16="http://schemas.microsoft.com/office/drawing/2014/main" id="{AABFF389-B6C4-4A74-A670-53CB34F4082A}"/>
              </a:ext>
            </a:extLst>
          </p:cNvPr>
          <p:cNvSpPr>
            <a:spLocks noChangeArrowheads="1"/>
          </p:cNvSpPr>
          <p:nvPr/>
        </p:nvSpPr>
        <p:spPr bwMode="auto">
          <a:xfrm>
            <a:off x="1718228" y="4840293"/>
            <a:ext cx="112403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p:cxnSp>
        <p:nvCxnSpPr>
          <p:cNvPr id="46" name="直線接點 45">
            <a:extLst>
              <a:ext uri="{FF2B5EF4-FFF2-40B4-BE49-F238E27FC236}">
                <a16:creationId xmlns:a16="http://schemas.microsoft.com/office/drawing/2014/main" id="{C2076AA9-7158-4013-A737-94F0A9CF94F4}"/>
              </a:ext>
            </a:extLst>
          </p:cNvPr>
          <p:cNvCxnSpPr>
            <a:cxnSpLocks/>
          </p:cNvCxnSpPr>
          <p:nvPr/>
        </p:nvCxnSpPr>
        <p:spPr>
          <a:xfrm>
            <a:off x="929919" y="3058153"/>
            <a:ext cx="121690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8" name="Rectangle 7">
            <a:extLst>
              <a:ext uri="{FF2B5EF4-FFF2-40B4-BE49-F238E27FC236}">
                <a16:creationId xmlns:a16="http://schemas.microsoft.com/office/drawing/2014/main" id="{78C9A936-188F-4D84-B3EC-4C45EC185046}"/>
              </a:ext>
            </a:extLst>
          </p:cNvPr>
          <p:cNvSpPr>
            <a:spLocks noChangeArrowheads="1"/>
          </p:cNvSpPr>
          <p:nvPr/>
        </p:nvSpPr>
        <p:spPr bwMode="auto">
          <a:xfrm>
            <a:off x="1973515" y="4840293"/>
            <a:ext cx="99066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a</a:t>
            </a:r>
            <a:endParaRPr lang="en-US" altLang="zh-TW" sz="2800" u="sng" spc="300" dirty="0">
              <a:solidFill>
                <a:schemeClr val="accent2"/>
              </a:solidFill>
              <a:latin typeface="Courier New" panose="02070309020205020404" pitchFamily="49" charset="0"/>
            </a:endParaRPr>
          </a:p>
        </p:txBody>
      </p:sp>
      <p:cxnSp>
        <p:nvCxnSpPr>
          <p:cNvPr id="49" name="直線接點 48">
            <a:extLst>
              <a:ext uri="{FF2B5EF4-FFF2-40B4-BE49-F238E27FC236}">
                <a16:creationId xmlns:a16="http://schemas.microsoft.com/office/drawing/2014/main" id="{0BCD0B88-AE29-46C6-9683-4BA46064ED6A}"/>
              </a:ext>
            </a:extLst>
          </p:cNvPr>
          <p:cNvCxnSpPr>
            <a:cxnSpLocks/>
          </p:cNvCxnSpPr>
          <p:nvPr/>
        </p:nvCxnSpPr>
        <p:spPr>
          <a:xfrm>
            <a:off x="929919" y="3058153"/>
            <a:ext cx="151152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E99F79A2-904D-4D2A-A87F-95C2BACC306D}"/>
              </a:ext>
            </a:extLst>
          </p:cNvPr>
          <p:cNvSpPr/>
          <p:nvPr/>
        </p:nvSpPr>
        <p:spPr>
          <a:xfrm>
            <a:off x="1197288" y="2591067"/>
            <a:ext cx="707712" cy="3976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Rectangle 7">
            <a:extLst>
              <a:ext uri="{FF2B5EF4-FFF2-40B4-BE49-F238E27FC236}">
                <a16:creationId xmlns:a16="http://schemas.microsoft.com/office/drawing/2014/main" id="{DE742CE2-B002-494B-B794-F0C03490EE3D}"/>
              </a:ext>
            </a:extLst>
          </p:cNvPr>
          <p:cNvSpPr>
            <a:spLocks noChangeArrowheads="1"/>
          </p:cNvSpPr>
          <p:nvPr/>
        </p:nvSpPr>
        <p:spPr bwMode="auto">
          <a:xfrm>
            <a:off x="2227331" y="4840293"/>
            <a:ext cx="112403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p:cxnSp>
        <p:nvCxnSpPr>
          <p:cNvPr id="52" name="直線接點 51">
            <a:extLst>
              <a:ext uri="{FF2B5EF4-FFF2-40B4-BE49-F238E27FC236}">
                <a16:creationId xmlns:a16="http://schemas.microsoft.com/office/drawing/2014/main" id="{A8237C98-13CA-4F93-AC83-37B55959EC69}"/>
              </a:ext>
            </a:extLst>
          </p:cNvPr>
          <p:cNvCxnSpPr>
            <a:cxnSpLocks/>
          </p:cNvCxnSpPr>
          <p:nvPr/>
        </p:nvCxnSpPr>
        <p:spPr>
          <a:xfrm>
            <a:off x="929919" y="3058153"/>
            <a:ext cx="173413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FC3E13A6-C198-4C17-A9B4-ED92C2D36180}"/>
              </a:ext>
            </a:extLst>
          </p:cNvPr>
          <p:cNvSpPr/>
          <p:nvPr/>
        </p:nvSpPr>
        <p:spPr>
          <a:xfrm>
            <a:off x="1197288" y="2591067"/>
            <a:ext cx="953554" cy="3976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Rectangle 7">
            <a:extLst>
              <a:ext uri="{FF2B5EF4-FFF2-40B4-BE49-F238E27FC236}">
                <a16:creationId xmlns:a16="http://schemas.microsoft.com/office/drawing/2014/main" id="{2B87EB8A-1141-43A3-B81D-92FE73C6C5C6}"/>
              </a:ext>
            </a:extLst>
          </p:cNvPr>
          <p:cNvSpPr>
            <a:spLocks noChangeArrowheads="1"/>
          </p:cNvSpPr>
          <p:nvPr/>
        </p:nvSpPr>
        <p:spPr bwMode="auto">
          <a:xfrm>
            <a:off x="2480662" y="4840293"/>
            <a:ext cx="112403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p:cxnSp>
        <p:nvCxnSpPr>
          <p:cNvPr id="56" name="直線接點 55">
            <a:extLst>
              <a:ext uri="{FF2B5EF4-FFF2-40B4-BE49-F238E27FC236}">
                <a16:creationId xmlns:a16="http://schemas.microsoft.com/office/drawing/2014/main" id="{F264900A-DF3E-4FF1-9E4D-E695839C86A0}"/>
              </a:ext>
            </a:extLst>
          </p:cNvPr>
          <p:cNvCxnSpPr>
            <a:cxnSpLocks/>
          </p:cNvCxnSpPr>
          <p:nvPr/>
        </p:nvCxnSpPr>
        <p:spPr>
          <a:xfrm>
            <a:off x="929919" y="3058153"/>
            <a:ext cx="2001503"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B734B593-C9E7-49CD-A3F7-458165D62507}"/>
              </a:ext>
            </a:extLst>
          </p:cNvPr>
          <p:cNvSpPr/>
          <p:nvPr/>
        </p:nvSpPr>
        <p:spPr>
          <a:xfrm>
            <a:off x="1197288" y="2591067"/>
            <a:ext cx="1253004" cy="3976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Rectangle 7">
            <a:extLst>
              <a:ext uri="{FF2B5EF4-FFF2-40B4-BE49-F238E27FC236}">
                <a16:creationId xmlns:a16="http://schemas.microsoft.com/office/drawing/2014/main" id="{380C1AE6-0115-4400-A79B-248E58648C99}"/>
              </a:ext>
            </a:extLst>
          </p:cNvPr>
          <p:cNvSpPr>
            <a:spLocks noChangeArrowheads="1"/>
          </p:cNvSpPr>
          <p:nvPr/>
        </p:nvSpPr>
        <p:spPr bwMode="auto">
          <a:xfrm>
            <a:off x="2733993" y="4840293"/>
            <a:ext cx="112403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p:cxnSp>
        <p:nvCxnSpPr>
          <p:cNvPr id="59" name="直線接點 58">
            <a:extLst>
              <a:ext uri="{FF2B5EF4-FFF2-40B4-BE49-F238E27FC236}">
                <a16:creationId xmlns:a16="http://schemas.microsoft.com/office/drawing/2014/main" id="{4E2A5361-5504-4F56-9220-79DB6E8654B5}"/>
              </a:ext>
            </a:extLst>
          </p:cNvPr>
          <p:cNvCxnSpPr>
            <a:cxnSpLocks/>
          </p:cNvCxnSpPr>
          <p:nvPr/>
        </p:nvCxnSpPr>
        <p:spPr>
          <a:xfrm>
            <a:off x="929919" y="3058153"/>
            <a:ext cx="224462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82ED94C7-905D-4FF2-BF20-9E184F08831E}"/>
              </a:ext>
            </a:extLst>
          </p:cNvPr>
          <p:cNvSpPr/>
          <p:nvPr/>
        </p:nvSpPr>
        <p:spPr>
          <a:xfrm>
            <a:off x="-2862" y="6401864"/>
            <a:ext cx="8035332" cy="276999"/>
          </a:xfrm>
          <a:prstGeom prst="rect">
            <a:avLst/>
          </a:prstGeom>
        </p:spPr>
        <p:txBody>
          <a:bodyPr wrap="square">
            <a:spAutoFit/>
          </a:bodyPr>
          <a:lstStyle/>
          <a:p>
            <a:r>
              <a:rPr lang="en-US" altLang="zh-TW" sz="1200" i="1" dirty="0">
                <a:latin typeface="t1-gul-regular"/>
              </a:rPr>
              <a:t>J. </a:t>
            </a:r>
            <a:r>
              <a:rPr lang="en-US" altLang="zh-TW" sz="1200" i="1" dirty="0" err="1">
                <a:latin typeface="t1-gul-regular"/>
              </a:rPr>
              <a:t>Ziv</a:t>
            </a:r>
            <a:r>
              <a:rPr lang="en-US" altLang="zh-TW" sz="1200" i="1" dirty="0">
                <a:latin typeface="t1-gul-regular"/>
              </a:rPr>
              <a:t>, A. Lempel, A universal algorithm for sequential data compression, IEEE Trans. Inform. Theory IT-23 (3) (1977) 337–343.</a:t>
            </a:r>
            <a:endParaRPr lang="zh-TW" altLang="en-US" sz="3600" i="1" dirty="0"/>
          </a:p>
        </p:txBody>
      </p:sp>
      <p:sp>
        <p:nvSpPr>
          <p:cNvPr id="61" name="矩形 60">
            <a:extLst>
              <a:ext uri="{FF2B5EF4-FFF2-40B4-BE49-F238E27FC236}">
                <a16:creationId xmlns:a16="http://schemas.microsoft.com/office/drawing/2014/main" id="{57575B14-83A6-4594-A2D7-ECE6795C89E8}"/>
              </a:ext>
            </a:extLst>
          </p:cNvPr>
          <p:cNvSpPr/>
          <p:nvPr/>
        </p:nvSpPr>
        <p:spPr>
          <a:xfrm>
            <a:off x="-2862" y="6174350"/>
            <a:ext cx="6346866" cy="276999"/>
          </a:xfrm>
          <a:prstGeom prst="rect">
            <a:avLst/>
          </a:prstGeom>
        </p:spPr>
        <p:txBody>
          <a:bodyPr wrap="none">
            <a:spAutoFit/>
          </a:bodyPr>
          <a:lstStyle/>
          <a:p>
            <a:r>
              <a:rPr lang="en-US" altLang="zh-TW" sz="1200" i="1" dirty="0">
                <a:latin typeface="t1-gul-regular"/>
              </a:rPr>
              <a:t>A. Lempel, J. </a:t>
            </a:r>
            <a:r>
              <a:rPr lang="en-US" altLang="zh-TW" sz="1200" i="1" dirty="0" err="1">
                <a:latin typeface="t1-gul-regular"/>
              </a:rPr>
              <a:t>Ziv</a:t>
            </a:r>
            <a:r>
              <a:rPr lang="en-US" altLang="zh-TW" sz="1200" i="1" dirty="0">
                <a:latin typeface="t1-gul-regular"/>
              </a:rPr>
              <a:t>, On the complexity of finite sequences, IEEE Trans. Inform. Theory 22 (1976) 75–81.</a:t>
            </a:r>
            <a:endParaRPr lang="zh-TW" altLang="en-US" sz="1200" i="1" dirty="0">
              <a:latin typeface="t1-gul-regular"/>
            </a:endParaRPr>
          </a:p>
        </p:txBody>
      </p:sp>
    </p:spTree>
    <p:extLst>
      <p:ext uri="{BB962C8B-B14F-4D97-AF65-F5344CB8AC3E}">
        <p14:creationId xmlns:p14="http://schemas.microsoft.com/office/powerpoint/2010/main" val="262534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500"/>
                                        <p:tgtEl>
                                          <p:spTgt spid="4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50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par>
                                <p:cTn id="32" presetID="10" presetClass="entr" presetSubtype="0" fill="hold"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fade">
                                      <p:cBhvr>
                                        <p:cTn id="34" dur="500"/>
                                        <p:tgtEl>
                                          <p:spTgt spid="4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par>
                                <p:cTn id="40" presetID="10" presetClass="entr" presetSubtype="0"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500"/>
                                        <p:tgtEl>
                                          <p:spTgt spid="45"/>
                                        </p:tgtEl>
                                      </p:cBhvr>
                                    </p:animEffect>
                                  </p:childTnLst>
                                </p:cTn>
                              </p:par>
                              <p:par>
                                <p:cTn id="48" presetID="10" presetClass="entr" presetSubtype="0" fill="hold" nodeType="withEffect">
                                  <p:stCondLst>
                                    <p:cond delay="0"/>
                                  </p:stCondLst>
                                  <p:childTnLst>
                                    <p:set>
                                      <p:cBhvr>
                                        <p:cTn id="49" dur="1" fill="hold">
                                          <p:stCondLst>
                                            <p:cond delay="0"/>
                                          </p:stCondLst>
                                        </p:cTn>
                                        <p:tgtEl>
                                          <p:spTgt spid="46"/>
                                        </p:tgtEl>
                                        <p:attrNameLst>
                                          <p:attrName>style.visibility</p:attrName>
                                        </p:attrNameLst>
                                      </p:cBhvr>
                                      <p:to>
                                        <p:strVal val="visible"/>
                                      </p:to>
                                    </p:set>
                                    <p:animEffect transition="in" filter="fade">
                                      <p:cBhvr>
                                        <p:cTn id="50" dur="500"/>
                                        <p:tgtEl>
                                          <p:spTgt spid="4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par>
                                <p:cTn id="56" presetID="10" presetClass="entr" presetSubtype="0" fill="hold" nodeType="with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500"/>
                                        <p:tgtEl>
                                          <p:spTgt spid="4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fade">
                                      <p:cBhvr>
                                        <p:cTn id="61" dur="500"/>
                                        <p:tgtEl>
                                          <p:spTgt spid="5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51"/>
                                        </p:tgtEl>
                                        <p:attrNameLst>
                                          <p:attrName>style.visibility</p:attrName>
                                        </p:attrNameLst>
                                      </p:cBhvr>
                                      <p:to>
                                        <p:strVal val="visible"/>
                                      </p:to>
                                    </p:set>
                                    <p:animEffect transition="in" filter="fade">
                                      <p:cBhvr>
                                        <p:cTn id="66" dur="500"/>
                                        <p:tgtEl>
                                          <p:spTgt spid="51"/>
                                        </p:tgtEl>
                                      </p:cBhvr>
                                    </p:animEffect>
                                  </p:childTnLst>
                                </p:cTn>
                              </p:par>
                              <p:par>
                                <p:cTn id="67" presetID="10" presetClass="entr" presetSubtype="0" fill="hold" nodeType="with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fade">
                                      <p:cBhvr>
                                        <p:cTn id="69" dur="500"/>
                                        <p:tgtEl>
                                          <p:spTgt spid="52"/>
                                        </p:tgtEl>
                                      </p:cBhvr>
                                    </p:animEffect>
                                  </p:childTnLst>
                                </p:cTn>
                              </p:par>
                              <p:par>
                                <p:cTn id="70" presetID="1" presetClass="exit" presetSubtype="0" fill="hold" grpId="1" nodeType="withEffect">
                                  <p:stCondLst>
                                    <p:cond delay="0"/>
                                  </p:stCondLst>
                                  <p:childTnLst>
                                    <p:set>
                                      <p:cBhvr>
                                        <p:cTn id="71" dur="1" fill="hold">
                                          <p:stCondLst>
                                            <p:cond delay="0"/>
                                          </p:stCondLst>
                                        </p:cTn>
                                        <p:tgtEl>
                                          <p:spTgt spid="50"/>
                                        </p:tgtEl>
                                        <p:attrNameLst>
                                          <p:attrName>style.visibility</p:attrName>
                                        </p:attrNameLst>
                                      </p:cBhvr>
                                      <p:to>
                                        <p:strVal val="hidden"/>
                                      </p:to>
                                    </p:set>
                                  </p:childTnLst>
                                </p:cTn>
                              </p:par>
                              <p:par>
                                <p:cTn id="72" presetID="10" presetClass="entr" presetSubtype="0" fill="hold" grpId="0" nodeType="withEffect">
                                  <p:stCondLst>
                                    <p:cond delay="0"/>
                                  </p:stCondLst>
                                  <p:childTnLst>
                                    <p:set>
                                      <p:cBhvr>
                                        <p:cTn id="73" dur="1" fill="hold">
                                          <p:stCondLst>
                                            <p:cond delay="0"/>
                                          </p:stCondLst>
                                        </p:cTn>
                                        <p:tgtEl>
                                          <p:spTgt spid="54"/>
                                        </p:tgtEl>
                                        <p:attrNameLst>
                                          <p:attrName>style.visibility</p:attrName>
                                        </p:attrNameLst>
                                      </p:cBhvr>
                                      <p:to>
                                        <p:strVal val="visible"/>
                                      </p:to>
                                    </p:set>
                                    <p:animEffect transition="in" filter="fade">
                                      <p:cBhvr>
                                        <p:cTn id="74" dur="500"/>
                                        <p:tgtEl>
                                          <p:spTgt spid="54"/>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55"/>
                                        </p:tgtEl>
                                        <p:attrNameLst>
                                          <p:attrName>style.visibility</p:attrName>
                                        </p:attrNameLst>
                                      </p:cBhvr>
                                      <p:to>
                                        <p:strVal val="visible"/>
                                      </p:to>
                                    </p:set>
                                    <p:animEffect transition="in" filter="fade">
                                      <p:cBhvr>
                                        <p:cTn id="79" dur="500"/>
                                        <p:tgtEl>
                                          <p:spTgt spid="55"/>
                                        </p:tgtEl>
                                      </p:cBhvr>
                                    </p:animEffect>
                                  </p:childTnLst>
                                </p:cTn>
                              </p:par>
                              <p:par>
                                <p:cTn id="80" presetID="10" presetClass="entr" presetSubtype="0" fill="hold" nodeType="with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500"/>
                                        <p:tgtEl>
                                          <p:spTgt spid="56"/>
                                        </p:tgtEl>
                                      </p:cBhvr>
                                    </p:animEffect>
                                  </p:childTnLst>
                                </p:cTn>
                              </p:par>
                              <p:par>
                                <p:cTn id="83" presetID="1" presetClass="exit" presetSubtype="0" fill="hold" grpId="1" nodeType="withEffect">
                                  <p:stCondLst>
                                    <p:cond delay="0"/>
                                  </p:stCondLst>
                                  <p:childTnLst>
                                    <p:set>
                                      <p:cBhvr>
                                        <p:cTn id="84" dur="1" fill="hold">
                                          <p:stCondLst>
                                            <p:cond delay="0"/>
                                          </p:stCondLst>
                                        </p:cTn>
                                        <p:tgtEl>
                                          <p:spTgt spid="54"/>
                                        </p:tgtEl>
                                        <p:attrNameLst>
                                          <p:attrName>style.visibility</p:attrName>
                                        </p:attrNameLst>
                                      </p:cBhvr>
                                      <p:to>
                                        <p:strVal val="hidden"/>
                                      </p:to>
                                    </p:set>
                                  </p:childTnLst>
                                </p:cTn>
                              </p:par>
                              <p:par>
                                <p:cTn id="85" presetID="10" presetClass="entr" presetSubtype="0" fill="hold" grpId="0" nodeType="withEffect">
                                  <p:stCondLst>
                                    <p:cond delay="0"/>
                                  </p:stCondLst>
                                  <p:childTnLst>
                                    <p:set>
                                      <p:cBhvr>
                                        <p:cTn id="86" dur="1" fill="hold">
                                          <p:stCondLst>
                                            <p:cond delay="0"/>
                                          </p:stCondLst>
                                        </p:cTn>
                                        <p:tgtEl>
                                          <p:spTgt spid="57"/>
                                        </p:tgtEl>
                                        <p:attrNameLst>
                                          <p:attrName>style.visibility</p:attrName>
                                        </p:attrNameLst>
                                      </p:cBhvr>
                                      <p:to>
                                        <p:strVal val="visible"/>
                                      </p:to>
                                    </p:set>
                                    <p:animEffect transition="in" filter="fade">
                                      <p:cBhvr>
                                        <p:cTn id="87" dur="500"/>
                                        <p:tgtEl>
                                          <p:spTgt spid="57"/>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8"/>
                                        </p:tgtEl>
                                        <p:attrNameLst>
                                          <p:attrName>style.visibility</p:attrName>
                                        </p:attrNameLst>
                                      </p:cBhvr>
                                      <p:to>
                                        <p:strVal val="visible"/>
                                      </p:to>
                                    </p:set>
                                    <p:animEffect transition="in" filter="fade">
                                      <p:cBhvr>
                                        <p:cTn id="92" dur="500"/>
                                        <p:tgtEl>
                                          <p:spTgt spid="58"/>
                                        </p:tgtEl>
                                      </p:cBhvr>
                                    </p:animEffect>
                                  </p:childTnLst>
                                </p:cTn>
                              </p:par>
                              <p:par>
                                <p:cTn id="93" presetID="10" presetClass="entr" presetSubtype="0" fill="hold" nodeType="withEffect">
                                  <p:stCondLst>
                                    <p:cond delay="0"/>
                                  </p:stCondLst>
                                  <p:childTnLst>
                                    <p:set>
                                      <p:cBhvr>
                                        <p:cTn id="94" dur="1" fill="hold">
                                          <p:stCondLst>
                                            <p:cond delay="0"/>
                                          </p:stCondLst>
                                        </p:cTn>
                                        <p:tgtEl>
                                          <p:spTgt spid="59"/>
                                        </p:tgtEl>
                                        <p:attrNameLst>
                                          <p:attrName>style.visibility</p:attrName>
                                        </p:attrNameLst>
                                      </p:cBhvr>
                                      <p:to>
                                        <p:strVal val="visible"/>
                                      </p:to>
                                    </p:set>
                                    <p:animEffect transition="in" filter="fade">
                                      <p:cBhvr>
                                        <p:cTn id="95" dur="500"/>
                                        <p:tgtEl>
                                          <p:spTgt spid="59"/>
                                        </p:tgtEl>
                                      </p:cBhvr>
                                    </p:animEffect>
                                  </p:childTnLst>
                                </p:cTn>
                              </p:par>
                              <p:par>
                                <p:cTn id="96" presetID="1" presetClass="exit" presetSubtype="0" fill="hold" grpId="1" nodeType="withEffect">
                                  <p:stCondLst>
                                    <p:cond delay="0"/>
                                  </p:stCondLst>
                                  <p:childTnLst>
                                    <p:set>
                                      <p:cBhvr>
                                        <p:cTn id="97" dur="1" fill="hold">
                                          <p:stCondLst>
                                            <p:cond delay="0"/>
                                          </p:stCondLst>
                                        </p:cTn>
                                        <p:tgtEl>
                                          <p:spTgt spid="57"/>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11"/>
                                        </p:tgtEl>
                                        <p:attrNameLst>
                                          <p:attrName>style.visibility</p:attrName>
                                        </p:attrNameLst>
                                      </p:cBhvr>
                                      <p:to>
                                        <p:strVal val="visible"/>
                                      </p:to>
                                    </p:set>
                                    <p:animEffect transition="in" filter="fade">
                                      <p:cBhvr>
                                        <p:cTn id="10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8" grpId="0"/>
      <p:bldP spid="33" grpId="0"/>
      <p:bldP spid="45" grpId="0"/>
      <p:bldP spid="48" grpId="0"/>
      <p:bldP spid="50" grpId="0" animBg="1"/>
      <p:bldP spid="50" grpId="1" animBg="1"/>
      <p:bldP spid="51" grpId="0"/>
      <p:bldP spid="54" grpId="0" animBg="1"/>
      <p:bldP spid="54" grpId="1" animBg="1"/>
      <p:bldP spid="55" grpId="0"/>
      <p:bldP spid="57" grpId="0" animBg="1"/>
      <p:bldP spid="57" grpId="1" animBg="1"/>
      <p:bldP spid="5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13</a:t>
            </a:fld>
            <a:endParaRPr lang="zh-TW" altLang="en-US"/>
          </a:p>
        </p:txBody>
      </p:sp>
      <p:sp>
        <p:nvSpPr>
          <p:cNvPr id="16" name="標題 1">
            <a:extLst>
              <a:ext uri="{FF2B5EF4-FFF2-40B4-BE49-F238E27FC236}">
                <a16:creationId xmlns:a16="http://schemas.microsoft.com/office/drawing/2014/main" id="{44AAEA94-82BE-4FD8-9313-818F6FE7B07E}"/>
              </a:ext>
            </a:extLst>
          </p:cNvPr>
          <p:cNvSpPr txBox="1">
            <a:spLocks/>
          </p:cNvSpPr>
          <p:nvPr/>
        </p:nvSpPr>
        <p:spPr>
          <a:xfrm>
            <a:off x="402231" y="385081"/>
            <a:ext cx="7722593" cy="5833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Lempel-Ziv factorization (LZ-factorization)</a:t>
            </a:r>
            <a:endParaRPr lang="zh-TW" altLang="en-US" sz="3600" dirty="0">
              <a:latin typeface="Times New Roman" panose="02020603050405020304" pitchFamily="18" charset="0"/>
              <a:cs typeface="Times New Roman" panose="02020603050405020304" pitchFamily="18" charset="0"/>
            </a:endParaRPr>
          </a:p>
        </p:txBody>
      </p:sp>
      <p:sp>
        <p:nvSpPr>
          <p:cNvPr id="8" name="標題 1">
            <a:extLst>
              <a:ext uri="{FF2B5EF4-FFF2-40B4-BE49-F238E27FC236}">
                <a16:creationId xmlns:a16="http://schemas.microsoft.com/office/drawing/2014/main" id="{0FD3F08F-985D-43DC-9A2E-F1A4B7D311CB}"/>
              </a:ext>
            </a:extLst>
          </p:cNvPr>
          <p:cNvSpPr txBox="1">
            <a:spLocks/>
          </p:cNvSpPr>
          <p:nvPr/>
        </p:nvSpPr>
        <p:spPr>
          <a:xfrm>
            <a:off x="325648" y="2530302"/>
            <a:ext cx="60427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b="1" dirty="0">
                <a:latin typeface="BatangChe" panose="02030609000101010101" pitchFamily="49" charset="-127"/>
                <a:ea typeface="BatangChe" panose="02030609000101010101" pitchFamily="49" charset="-127"/>
                <a:cs typeface="Times New Roman" panose="02020603050405020304" pitchFamily="18" charset="0"/>
              </a:rPr>
              <a:t>S:</a:t>
            </a:r>
          </a:p>
        </p:txBody>
      </p:sp>
      <p:sp>
        <p:nvSpPr>
          <p:cNvPr id="10" name="Rectangle 7">
            <a:extLst>
              <a:ext uri="{FF2B5EF4-FFF2-40B4-BE49-F238E27FC236}">
                <a16:creationId xmlns:a16="http://schemas.microsoft.com/office/drawing/2014/main" id="{7529A668-7C7D-47CF-877F-CFD9DE7EB4F8}"/>
              </a:ext>
            </a:extLst>
          </p:cNvPr>
          <p:cNvSpPr>
            <a:spLocks noChangeArrowheads="1"/>
          </p:cNvSpPr>
          <p:nvPr/>
        </p:nvSpPr>
        <p:spPr bwMode="auto">
          <a:xfrm>
            <a:off x="858670" y="2588624"/>
            <a:ext cx="293331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err="1">
                <a:latin typeface="Courier New" panose="02070309020205020404" pitchFamily="49" charset="0"/>
              </a:rPr>
              <a:t>abbabbabbb</a:t>
            </a:r>
            <a:endParaRPr lang="en-US" altLang="zh-TW" sz="2800" u="sng" spc="300" dirty="0">
              <a:solidFill>
                <a:schemeClr val="accent2"/>
              </a:solidFill>
              <a:latin typeface="Courier New" panose="02070309020205020404" pitchFamily="49" charset="0"/>
            </a:endParaRPr>
          </a:p>
        </p:txBody>
      </p:sp>
      <p:sp>
        <p:nvSpPr>
          <p:cNvPr id="11" name="標題 1">
            <a:extLst>
              <a:ext uri="{FF2B5EF4-FFF2-40B4-BE49-F238E27FC236}">
                <a16:creationId xmlns:a16="http://schemas.microsoft.com/office/drawing/2014/main" id="{269DE47D-4DC8-4FF1-9207-0E800086BFA4}"/>
              </a:ext>
            </a:extLst>
          </p:cNvPr>
          <p:cNvSpPr txBox="1">
            <a:spLocks/>
          </p:cNvSpPr>
          <p:nvPr/>
        </p:nvSpPr>
        <p:spPr>
          <a:xfrm>
            <a:off x="3858025" y="4840292"/>
            <a:ext cx="4666106" cy="46672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800" spc="300" dirty="0" err="1">
                <a:solidFill>
                  <a:srgbClr val="0070C0"/>
                </a:solidFill>
                <a:latin typeface="Courier New" panose="02070309020205020404" pitchFamily="49" charset="0"/>
                <a:ea typeface="新細明體" panose="02020500000000000000" pitchFamily="18" charset="-120"/>
                <a:cs typeface="+mn-cs"/>
              </a:rPr>
              <a:t>a.b.ba.bbabb</a:t>
            </a:r>
            <a:endPar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endParaRPr>
          </a:p>
        </p:txBody>
      </p:sp>
      <p:grpSp>
        <p:nvGrpSpPr>
          <p:cNvPr id="39" name="群組 38">
            <a:extLst>
              <a:ext uri="{FF2B5EF4-FFF2-40B4-BE49-F238E27FC236}">
                <a16:creationId xmlns:a16="http://schemas.microsoft.com/office/drawing/2014/main" id="{2335F40B-7EF2-4FEC-98A6-E3B8F3807403}"/>
              </a:ext>
            </a:extLst>
          </p:cNvPr>
          <p:cNvGrpSpPr/>
          <p:nvPr/>
        </p:nvGrpSpPr>
        <p:grpSpPr>
          <a:xfrm>
            <a:off x="929919" y="3419641"/>
            <a:ext cx="1019265" cy="466725"/>
            <a:chOff x="325648" y="2933866"/>
            <a:chExt cx="1019265" cy="466725"/>
          </a:xfrm>
        </p:grpSpPr>
        <p:sp>
          <p:nvSpPr>
            <p:cNvPr id="17" name="Rectangle 7">
              <a:extLst>
                <a:ext uri="{FF2B5EF4-FFF2-40B4-BE49-F238E27FC236}">
                  <a16:creationId xmlns:a16="http://schemas.microsoft.com/office/drawing/2014/main" id="{034B07CF-16A6-4649-9FB9-60D09B2EAF0F}"/>
                </a:ext>
              </a:extLst>
            </p:cNvPr>
            <p:cNvSpPr>
              <a:spLocks noChangeArrowheads="1"/>
            </p:cNvSpPr>
            <p:nvPr/>
          </p:nvSpPr>
          <p:spPr bwMode="auto">
            <a:xfrm>
              <a:off x="858670" y="2933866"/>
              <a:ext cx="48624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a</a:t>
              </a:r>
              <a:endParaRPr lang="en-US" altLang="zh-TW" sz="2800" u="sng" spc="300" dirty="0">
                <a:solidFill>
                  <a:schemeClr val="accent2"/>
                </a:solidFill>
                <a:latin typeface="Courier New" panose="02070309020205020404" pitchFamily="49" charset="0"/>
              </a:endParaRPr>
            </a:p>
          </p:txBody>
        </p:sp>
        <mc:AlternateContent xmlns:mc="http://schemas.openxmlformats.org/markup-compatibility/2006">
          <mc:Choice xmlns:a14="http://schemas.microsoft.com/office/drawing/2010/main" Requires="a14">
            <p:sp>
              <p:nvSpPr>
                <p:cNvPr id="2" name="矩形 1">
                  <a:extLst>
                    <a:ext uri="{FF2B5EF4-FFF2-40B4-BE49-F238E27FC236}">
                      <a16:creationId xmlns:a16="http://schemas.microsoft.com/office/drawing/2014/main" id="{7F911B8C-A078-4D7B-AF00-DA8D37B9CB0A}"/>
                    </a:ext>
                  </a:extLst>
                </p:cNvPr>
                <p:cNvSpPr/>
                <p:nvPr/>
              </p:nvSpPr>
              <p:spPr>
                <a:xfrm>
                  <a:off x="325648" y="2962275"/>
                  <a:ext cx="486243" cy="40011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0</m:t>
                            </m:r>
                          </m:sub>
                        </m:sSub>
                      </m:oMath>
                    </m:oMathPara>
                  </a14:m>
                  <a:endParaRPr lang="zh-TW" altLang="en-US" sz="2000" dirty="0"/>
                </a:p>
              </p:txBody>
            </p:sp>
          </mc:Choice>
          <mc:Fallback>
            <p:sp>
              <p:nvSpPr>
                <p:cNvPr id="2" name="矩形 1">
                  <a:extLst>
                    <a:ext uri="{FF2B5EF4-FFF2-40B4-BE49-F238E27FC236}">
                      <a16:creationId xmlns:a16="http://schemas.microsoft.com/office/drawing/2014/main" id="{7F911B8C-A078-4D7B-AF00-DA8D37B9CB0A}"/>
                    </a:ext>
                  </a:extLst>
                </p:cNvPr>
                <p:cNvSpPr>
                  <a:spLocks noRot="1" noChangeAspect="1" noMove="1" noResize="1" noEditPoints="1" noAdjustHandles="1" noChangeArrowheads="1" noChangeShapeType="1" noTextEdit="1"/>
                </p:cNvSpPr>
                <p:nvPr/>
              </p:nvSpPr>
              <p:spPr>
                <a:xfrm>
                  <a:off x="325648" y="2962275"/>
                  <a:ext cx="486243" cy="400110"/>
                </a:xfrm>
                <a:prstGeom prst="rect">
                  <a:avLst/>
                </a:prstGeom>
                <a:blipFill>
                  <a:blip r:embed="rId3"/>
                  <a:stretch>
                    <a:fillRect b="-1538"/>
                  </a:stretch>
                </a:blipFill>
              </p:spPr>
              <p:txBody>
                <a:bodyPr/>
                <a:lstStyle/>
                <a:p>
                  <a:r>
                    <a:rPr lang="zh-TW" altLang="en-US">
                      <a:noFill/>
                    </a:rPr>
                    <a:t> </a:t>
                  </a:r>
                </a:p>
              </p:txBody>
            </p:sp>
          </mc:Fallback>
        </mc:AlternateContent>
      </p:grpSp>
      <p:grpSp>
        <p:nvGrpSpPr>
          <p:cNvPr id="34" name="群組 33">
            <a:extLst>
              <a:ext uri="{FF2B5EF4-FFF2-40B4-BE49-F238E27FC236}">
                <a16:creationId xmlns:a16="http://schemas.microsoft.com/office/drawing/2014/main" id="{4F9A0A4E-8094-49B3-84CB-2E5BBCB31BAF}"/>
              </a:ext>
            </a:extLst>
          </p:cNvPr>
          <p:cNvGrpSpPr/>
          <p:nvPr/>
        </p:nvGrpSpPr>
        <p:grpSpPr>
          <a:xfrm>
            <a:off x="929919" y="3906482"/>
            <a:ext cx="1019265" cy="466725"/>
            <a:chOff x="325648" y="3420707"/>
            <a:chExt cx="1019265" cy="466725"/>
          </a:xfrm>
        </p:grpSpPr>
        <p:sp>
          <p:nvSpPr>
            <p:cNvPr id="18" name="Rectangle 7">
              <a:extLst>
                <a:ext uri="{FF2B5EF4-FFF2-40B4-BE49-F238E27FC236}">
                  <a16:creationId xmlns:a16="http://schemas.microsoft.com/office/drawing/2014/main" id="{88568213-D5D8-4216-B36D-135C7EF75EEF}"/>
                </a:ext>
              </a:extLst>
            </p:cNvPr>
            <p:cNvSpPr>
              <a:spLocks noChangeArrowheads="1"/>
            </p:cNvSpPr>
            <p:nvPr/>
          </p:nvSpPr>
          <p:spPr bwMode="auto">
            <a:xfrm>
              <a:off x="858670" y="3420707"/>
              <a:ext cx="48624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mc:AlternateContent xmlns:mc="http://schemas.openxmlformats.org/markup-compatibility/2006">
          <mc:Choice xmlns:a14="http://schemas.microsoft.com/office/drawing/2010/main" Requires="a14">
            <p:sp>
              <p:nvSpPr>
                <p:cNvPr id="19" name="矩形 18">
                  <a:extLst>
                    <a:ext uri="{FF2B5EF4-FFF2-40B4-BE49-F238E27FC236}">
                      <a16:creationId xmlns:a16="http://schemas.microsoft.com/office/drawing/2014/main" id="{0A510988-1B74-478B-B265-0CE01708C0DD}"/>
                    </a:ext>
                  </a:extLst>
                </p:cNvPr>
                <p:cNvSpPr/>
                <p:nvPr/>
              </p:nvSpPr>
              <p:spPr>
                <a:xfrm>
                  <a:off x="325648" y="3449116"/>
                  <a:ext cx="486243" cy="40011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TW" sz="200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000" b="0" i="1" dirty="0" smtClean="0">
                                <a:latin typeface="Cambria Math" panose="02040503050406030204" pitchFamily="18" charset="0"/>
                                <a:ea typeface="BatangChe" panose="02030609000101010101" pitchFamily="49" charset="-127"/>
                                <a:cs typeface="Times New Roman" panose="02020603050405020304" pitchFamily="18" charset="0"/>
                              </a:rPr>
                              <m:t>1</m:t>
                            </m:r>
                          </m:sub>
                        </m:sSub>
                      </m:oMath>
                    </m:oMathPara>
                  </a14:m>
                  <a:endParaRPr lang="zh-TW" altLang="en-US" sz="2000" dirty="0"/>
                </a:p>
              </p:txBody>
            </p:sp>
          </mc:Choice>
          <mc:Fallback>
            <p:sp>
              <p:nvSpPr>
                <p:cNvPr id="19" name="矩形 18">
                  <a:extLst>
                    <a:ext uri="{FF2B5EF4-FFF2-40B4-BE49-F238E27FC236}">
                      <a16:creationId xmlns:a16="http://schemas.microsoft.com/office/drawing/2014/main" id="{0A510988-1B74-478B-B265-0CE01708C0DD}"/>
                    </a:ext>
                  </a:extLst>
                </p:cNvPr>
                <p:cNvSpPr>
                  <a:spLocks noRot="1" noChangeAspect="1" noMove="1" noResize="1" noEditPoints="1" noAdjustHandles="1" noChangeArrowheads="1" noChangeShapeType="1" noTextEdit="1"/>
                </p:cNvSpPr>
                <p:nvPr/>
              </p:nvSpPr>
              <p:spPr>
                <a:xfrm>
                  <a:off x="325648" y="3449116"/>
                  <a:ext cx="486243" cy="400110"/>
                </a:xfrm>
                <a:prstGeom prst="rect">
                  <a:avLst/>
                </a:prstGeom>
                <a:blipFill>
                  <a:blip r:embed="rId4"/>
                  <a:stretch>
                    <a:fillRect/>
                  </a:stretch>
                </a:blipFill>
              </p:spPr>
              <p:txBody>
                <a:bodyPr/>
                <a:lstStyle/>
                <a:p>
                  <a:r>
                    <a:rPr lang="zh-TW" altLang="en-US">
                      <a:noFill/>
                    </a:rPr>
                    <a:t> </a:t>
                  </a:r>
                </a:p>
              </p:txBody>
            </p:sp>
          </mc:Fallback>
        </mc:AlternateContent>
      </p:grpSp>
      <p:grpSp>
        <p:nvGrpSpPr>
          <p:cNvPr id="37" name="群組 36">
            <a:extLst>
              <a:ext uri="{FF2B5EF4-FFF2-40B4-BE49-F238E27FC236}">
                <a16:creationId xmlns:a16="http://schemas.microsoft.com/office/drawing/2014/main" id="{C85ACBF5-9870-4A44-98F6-0E71D82B3502}"/>
              </a:ext>
            </a:extLst>
          </p:cNvPr>
          <p:cNvGrpSpPr/>
          <p:nvPr/>
        </p:nvGrpSpPr>
        <p:grpSpPr>
          <a:xfrm>
            <a:off x="929919" y="4353175"/>
            <a:ext cx="903077" cy="466725"/>
            <a:chOff x="325648" y="3867400"/>
            <a:chExt cx="903077" cy="466725"/>
          </a:xfrm>
        </p:grpSpPr>
        <p:sp>
          <p:nvSpPr>
            <p:cNvPr id="23" name="Rectangle 7">
              <a:extLst>
                <a:ext uri="{FF2B5EF4-FFF2-40B4-BE49-F238E27FC236}">
                  <a16:creationId xmlns:a16="http://schemas.microsoft.com/office/drawing/2014/main" id="{ED9C43B1-E031-4357-AFC0-08611F6FE139}"/>
                </a:ext>
              </a:extLst>
            </p:cNvPr>
            <p:cNvSpPr>
              <a:spLocks noChangeArrowheads="1"/>
            </p:cNvSpPr>
            <p:nvPr/>
          </p:nvSpPr>
          <p:spPr bwMode="auto">
            <a:xfrm>
              <a:off x="858670" y="3867400"/>
              <a:ext cx="37005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mc:AlternateContent xmlns:mc="http://schemas.openxmlformats.org/markup-compatibility/2006">
          <mc:Choice xmlns:a14="http://schemas.microsoft.com/office/drawing/2010/main" Requires="a14">
            <p:sp>
              <p:nvSpPr>
                <p:cNvPr id="24" name="矩形 23">
                  <a:extLst>
                    <a:ext uri="{FF2B5EF4-FFF2-40B4-BE49-F238E27FC236}">
                      <a16:creationId xmlns:a16="http://schemas.microsoft.com/office/drawing/2014/main" id="{6898E96A-4CBA-45DC-A510-7593A73699CF}"/>
                    </a:ext>
                  </a:extLst>
                </p:cNvPr>
                <p:cNvSpPr/>
                <p:nvPr/>
              </p:nvSpPr>
              <p:spPr>
                <a:xfrm>
                  <a:off x="325648" y="3895809"/>
                  <a:ext cx="486243" cy="40011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TW" sz="200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000" b="0" i="1" dirty="0" smtClean="0">
                                <a:latin typeface="Cambria Math" panose="02040503050406030204" pitchFamily="18" charset="0"/>
                                <a:ea typeface="BatangChe" panose="02030609000101010101" pitchFamily="49" charset="-127"/>
                                <a:cs typeface="Times New Roman" panose="02020603050405020304" pitchFamily="18" charset="0"/>
                              </a:rPr>
                              <m:t>2</m:t>
                            </m:r>
                          </m:sub>
                        </m:sSub>
                      </m:oMath>
                    </m:oMathPara>
                  </a14:m>
                  <a:endParaRPr lang="zh-TW" altLang="en-US" sz="2000" dirty="0"/>
                </a:p>
              </p:txBody>
            </p:sp>
          </mc:Choice>
          <mc:Fallback>
            <p:sp>
              <p:nvSpPr>
                <p:cNvPr id="24" name="矩形 23">
                  <a:extLst>
                    <a:ext uri="{FF2B5EF4-FFF2-40B4-BE49-F238E27FC236}">
                      <a16:creationId xmlns:a16="http://schemas.microsoft.com/office/drawing/2014/main" id="{6898E96A-4CBA-45DC-A510-7593A73699CF}"/>
                    </a:ext>
                  </a:extLst>
                </p:cNvPr>
                <p:cNvSpPr>
                  <a:spLocks noRot="1" noChangeAspect="1" noMove="1" noResize="1" noEditPoints="1" noAdjustHandles="1" noChangeArrowheads="1" noChangeShapeType="1" noTextEdit="1"/>
                </p:cNvSpPr>
                <p:nvPr/>
              </p:nvSpPr>
              <p:spPr>
                <a:xfrm>
                  <a:off x="325648" y="3895809"/>
                  <a:ext cx="486243" cy="400110"/>
                </a:xfrm>
                <a:prstGeom prst="rect">
                  <a:avLst/>
                </a:prstGeom>
                <a:blipFill>
                  <a:blip r:embed="rId5"/>
                  <a:stretch>
                    <a:fillRect b="-1538"/>
                  </a:stretch>
                </a:blipFill>
              </p:spPr>
              <p:txBody>
                <a:bodyPr/>
                <a:lstStyle/>
                <a:p>
                  <a:r>
                    <a:rPr lang="zh-TW" altLang="en-US">
                      <a:noFill/>
                    </a:rPr>
                    <a:t> </a:t>
                  </a:r>
                </a:p>
              </p:txBody>
            </p:sp>
          </mc:Fallback>
        </mc:AlternateContent>
      </p:grpSp>
      <p:sp>
        <p:nvSpPr>
          <p:cNvPr id="28" name="標題 1">
            <a:extLst>
              <a:ext uri="{FF2B5EF4-FFF2-40B4-BE49-F238E27FC236}">
                <a16:creationId xmlns:a16="http://schemas.microsoft.com/office/drawing/2014/main" id="{2C3FE852-7B25-4125-8407-A76B4AEBFCFC}"/>
              </a:ext>
            </a:extLst>
          </p:cNvPr>
          <p:cNvSpPr txBox="1">
            <a:spLocks/>
          </p:cNvSpPr>
          <p:nvPr/>
        </p:nvSpPr>
        <p:spPr>
          <a:xfrm>
            <a:off x="3604013" y="2922019"/>
            <a:ext cx="81648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b="1" dirty="0">
                <a:solidFill>
                  <a:srgbClr val="0070C0"/>
                </a:solidFill>
                <a:latin typeface="BatangChe" panose="02030609000101010101" pitchFamily="49" charset="-127"/>
                <a:ea typeface="BatangChe" panose="02030609000101010101" pitchFamily="49" charset="-127"/>
                <a:cs typeface="Times New Roman" panose="02020603050405020304" pitchFamily="18" charset="0"/>
              </a:rPr>
              <a:t>left</a:t>
            </a:r>
          </a:p>
        </p:txBody>
      </p:sp>
      <p:grpSp>
        <p:nvGrpSpPr>
          <p:cNvPr id="38" name="群組 37">
            <a:extLst>
              <a:ext uri="{FF2B5EF4-FFF2-40B4-BE49-F238E27FC236}">
                <a16:creationId xmlns:a16="http://schemas.microsoft.com/office/drawing/2014/main" id="{49505633-9C00-4FF7-BEF4-11F03059B182}"/>
              </a:ext>
            </a:extLst>
          </p:cNvPr>
          <p:cNvGrpSpPr/>
          <p:nvPr/>
        </p:nvGrpSpPr>
        <p:grpSpPr>
          <a:xfrm>
            <a:off x="929919" y="4845192"/>
            <a:ext cx="903076" cy="466725"/>
            <a:chOff x="325648" y="4359417"/>
            <a:chExt cx="903076" cy="466725"/>
          </a:xfrm>
        </p:grpSpPr>
        <p:sp>
          <p:nvSpPr>
            <p:cNvPr id="31" name="Rectangle 7">
              <a:extLst>
                <a:ext uri="{FF2B5EF4-FFF2-40B4-BE49-F238E27FC236}">
                  <a16:creationId xmlns:a16="http://schemas.microsoft.com/office/drawing/2014/main" id="{368C379A-8E9F-42B3-93C8-CA8B45D1BA3D}"/>
                </a:ext>
              </a:extLst>
            </p:cNvPr>
            <p:cNvSpPr>
              <a:spLocks noChangeArrowheads="1"/>
            </p:cNvSpPr>
            <p:nvPr/>
          </p:nvSpPr>
          <p:spPr bwMode="auto">
            <a:xfrm>
              <a:off x="858670" y="4359417"/>
              <a:ext cx="370054"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mc:AlternateContent xmlns:mc="http://schemas.openxmlformats.org/markup-compatibility/2006">
          <mc:Choice xmlns:a14="http://schemas.microsoft.com/office/drawing/2010/main" Requires="a14">
            <p:sp>
              <p:nvSpPr>
                <p:cNvPr id="32" name="矩形 31">
                  <a:extLst>
                    <a:ext uri="{FF2B5EF4-FFF2-40B4-BE49-F238E27FC236}">
                      <a16:creationId xmlns:a16="http://schemas.microsoft.com/office/drawing/2014/main" id="{22937A35-B8A0-4ADA-B98B-D054364DE53A}"/>
                    </a:ext>
                  </a:extLst>
                </p:cNvPr>
                <p:cNvSpPr/>
                <p:nvPr/>
              </p:nvSpPr>
              <p:spPr>
                <a:xfrm>
                  <a:off x="325648" y="4387826"/>
                  <a:ext cx="486243" cy="40011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TW" sz="2000" i="1" dirty="0" smtClean="0">
                                <a:latin typeface="Cambria Math" panose="02040503050406030204" pitchFamily="18" charset="0"/>
                                <a:ea typeface="BatangChe" panose="02030609000101010101" pitchFamily="49" charset="-127"/>
                                <a:cs typeface="Times New Roman" panose="02020603050405020304" pitchFamily="18" charset="0"/>
                              </a:rPr>
                            </m:ctrlPr>
                          </m:sSubPr>
                          <m:e>
                            <m:r>
                              <a:rPr lang="en-US" altLang="zh-TW" sz="2000" i="1" dirty="0">
                                <a:latin typeface="Cambria Math" panose="02040503050406030204" pitchFamily="18" charset="0"/>
                                <a:ea typeface="BatangChe" panose="02030609000101010101" pitchFamily="49" charset="-127"/>
                                <a:cs typeface="Times New Roman" panose="02020603050405020304" pitchFamily="18" charset="0"/>
                              </a:rPr>
                              <m:t>𝑢</m:t>
                            </m:r>
                          </m:e>
                          <m:sub>
                            <m:r>
                              <a:rPr lang="en-US" altLang="zh-TW" sz="2000" b="0" i="1" dirty="0" smtClean="0">
                                <a:latin typeface="Cambria Math" panose="02040503050406030204" pitchFamily="18" charset="0"/>
                                <a:ea typeface="BatangChe" panose="02030609000101010101" pitchFamily="49" charset="-127"/>
                                <a:cs typeface="Times New Roman" panose="02020603050405020304" pitchFamily="18" charset="0"/>
                              </a:rPr>
                              <m:t>3</m:t>
                            </m:r>
                          </m:sub>
                        </m:sSub>
                      </m:oMath>
                    </m:oMathPara>
                  </a14:m>
                  <a:endParaRPr lang="zh-TW" altLang="en-US" sz="2000" dirty="0"/>
                </a:p>
              </p:txBody>
            </p:sp>
          </mc:Choice>
          <mc:Fallback>
            <p:sp>
              <p:nvSpPr>
                <p:cNvPr id="32" name="矩形 31">
                  <a:extLst>
                    <a:ext uri="{FF2B5EF4-FFF2-40B4-BE49-F238E27FC236}">
                      <a16:creationId xmlns:a16="http://schemas.microsoft.com/office/drawing/2014/main" id="{22937A35-B8A0-4ADA-B98B-D054364DE53A}"/>
                    </a:ext>
                  </a:extLst>
                </p:cNvPr>
                <p:cNvSpPr>
                  <a:spLocks noRot="1" noChangeAspect="1" noMove="1" noResize="1" noEditPoints="1" noAdjustHandles="1" noChangeArrowheads="1" noChangeShapeType="1" noTextEdit="1"/>
                </p:cNvSpPr>
                <p:nvPr/>
              </p:nvSpPr>
              <p:spPr>
                <a:xfrm>
                  <a:off x="325648" y="4387826"/>
                  <a:ext cx="486243" cy="400110"/>
                </a:xfrm>
                <a:prstGeom prst="rect">
                  <a:avLst/>
                </a:prstGeom>
                <a:blipFill>
                  <a:blip r:embed="rId6"/>
                  <a:stretch>
                    <a:fillRect/>
                  </a:stretch>
                </a:blipFill>
              </p:spPr>
              <p:txBody>
                <a:bodyPr/>
                <a:lstStyle/>
                <a:p>
                  <a:r>
                    <a:rPr lang="zh-TW" altLang="en-US">
                      <a:noFill/>
                    </a:rPr>
                    <a:t> </a:t>
                  </a:r>
                </a:p>
              </p:txBody>
            </p:sp>
          </mc:Fallback>
        </mc:AlternateContent>
      </p:grpSp>
      <p:sp>
        <p:nvSpPr>
          <p:cNvPr id="33" name="Rectangle 7">
            <a:extLst>
              <a:ext uri="{FF2B5EF4-FFF2-40B4-BE49-F238E27FC236}">
                <a16:creationId xmlns:a16="http://schemas.microsoft.com/office/drawing/2014/main" id="{1FF37D40-0586-414B-A69F-9FD661FF293E}"/>
              </a:ext>
            </a:extLst>
          </p:cNvPr>
          <p:cNvSpPr>
            <a:spLocks noChangeArrowheads="1"/>
          </p:cNvSpPr>
          <p:nvPr/>
        </p:nvSpPr>
        <p:spPr bwMode="auto">
          <a:xfrm>
            <a:off x="1718228" y="4353174"/>
            <a:ext cx="48624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a</a:t>
            </a:r>
            <a:endParaRPr lang="en-US" altLang="zh-TW" sz="2800" u="sng" spc="300" dirty="0">
              <a:solidFill>
                <a:schemeClr val="accent2"/>
              </a:solidFill>
              <a:latin typeface="Courier New" panose="02070309020205020404" pitchFamily="49" charset="0"/>
            </a:endParaRPr>
          </a:p>
        </p:txBody>
      </p:sp>
      <p:sp>
        <p:nvSpPr>
          <p:cNvPr id="45" name="Rectangle 7">
            <a:extLst>
              <a:ext uri="{FF2B5EF4-FFF2-40B4-BE49-F238E27FC236}">
                <a16:creationId xmlns:a16="http://schemas.microsoft.com/office/drawing/2014/main" id="{AABFF389-B6C4-4A74-A670-53CB34F4082A}"/>
              </a:ext>
            </a:extLst>
          </p:cNvPr>
          <p:cNvSpPr>
            <a:spLocks noChangeArrowheads="1"/>
          </p:cNvSpPr>
          <p:nvPr/>
        </p:nvSpPr>
        <p:spPr bwMode="auto">
          <a:xfrm>
            <a:off x="1718228" y="4840293"/>
            <a:ext cx="112403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p:sp>
        <p:nvSpPr>
          <p:cNvPr id="48" name="Rectangle 7">
            <a:extLst>
              <a:ext uri="{FF2B5EF4-FFF2-40B4-BE49-F238E27FC236}">
                <a16:creationId xmlns:a16="http://schemas.microsoft.com/office/drawing/2014/main" id="{78C9A936-188F-4D84-B3EC-4C45EC185046}"/>
              </a:ext>
            </a:extLst>
          </p:cNvPr>
          <p:cNvSpPr>
            <a:spLocks noChangeArrowheads="1"/>
          </p:cNvSpPr>
          <p:nvPr/>
        </p:nvSpPr>
        <p:spPr bwMode="auto">
          <a:xfrm>
            <a:off x="1973515" y="4840293"/>
            <a:ext cx="99066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a</a:t>
            </a:r>
            <a:endParaRPr lang="en-US" altLang="zh-TW" sz="2800" u="sng" spc="300" dirty="0">
              <a:solidFill>
                <a:schemeClr val="accent2"/>
              </a:solidFill>
              <a:latin typeface="Courier New" panose="02070309020205020404" pitchFamily="49" charset="0"/>
            </a:endParaRPr>
          </a:p>
        </p:txBody>
      </p:sp>
      <p:sp>
        <p:nvSpPr>
          <p:cNvPr id="51" name="Rectangle 7">
            <a:extLst>
              <a:ext uri="{FF2B5EF4-FFF2-40B4-BE49-F238E27FC236}">
                <a16:creationId xmlns:a16="http://schemas.microsoft.com/office/drawing/2014/main" id="{DE742CE2-B002-494B-B794-F0C03490EE3D}"/>
              </a:ext>
            </a:extLst>
          </p:cNvPr>
          <p:cNvSpPr>
            <a:spLocks noChangeArrowheads="1"/>
          </p:cNvSpPr>
          <p:nvPr/>
        </p:nvSpPr>
        <p:spPr bwMode="auto">
          <a:xfrm>
            <a:off x="2227331" y="4840293"/>
            <a:ext cx="112403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p:sp>
        <p:nvSpPr>
          <p:cNvPr id="55" name="Rectangle 7">
            <a:extLst>
              <a:ext uri="{FF2B5EF4-FFF2-40B4-BE49-F238E27FC236}">
                <a16:creationId xmlns:a16="http://schemas.microsoft.com/office/drawing/2014/main" id="{2B87EB8A-1141-43A3-B81D-92FE73C6C5C6}"/>
              </a:ext>
            </a:extLst>
          </p:cNvPr>
          <p:cNvSpPr>
            <a:spLocks noChangeArrowheads="1"/>
          </p:cNvSpPr>
          <p:nvPr/>
        </p:nvSpPr>
        <p:spPr bwMode="auto">
          <a:xfrm>
            <a:off x="2480662" y="4840293"/>
            <a:ext cx="112403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p:sp>
        <p:nvSpPr>
          <p:cNvPr id="58" name="Rectangle 7">
            <a:extLst>
              <a:ext uri="{FF2B5EF4-FFF2-40B4-BE49-F238E27FC236}">
                <a16:creationId xmlns:a16="http://schemas.microsoft.com/office/drawing/2014/main" id="{380C1AE6-0115-4400-A79B-248E58648C99}"/>
              </a:ext>
            </a:extLst>
          </p:cNvPr>
          <p:cNvSpPr>
            <a:spLocks noChangeArrowheads="1"/>
          </p:cNvSpPr>
          <p:nvPr/>
        </p:nvSpPr>
        <p:spPr bwMode="auto">
          <a:xfrm>
            <a:off x="2733993" y="4840293"/>
            <a:ext cx="112403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90000"/>
              </a:lnSpc>
              <a:spcBef>
                <a:spcPct val="20000"/>
              </a:spcBef>
            </a:pPr>
            <a:r>
              <a:rPr lang="en-US" altLang="zh-TW" sz="2800" spc="300" dirty="0">
                <a:latin typeface="Courier New" panose="02070309020205020404" pitchFamily="49" charset="0"/>
              </a:rPr>
              <a:t>b</a:t>
            </a:r>
            <a:endParaRPr lang="en-US" altLang="zh-TW" sz="2800" u="sng" spc="300" dirty="0">
              <a:solidFill>
                <a:schemeClr val="accent2"/>
              </a:solidFill>
              <a:latin typeface="Courier New" panose="02070309020205020404" pitchFamily="49" charset="0"/>
            </a:endParaRPr>
          </a:p>
        </p:txBody>
      </p:sp>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C8D4D79C-6E87-40FD-8D9F-5906411A799A}"/>
                  </a:ext>
                </a:extLst>
              </p:cNvPr>
              <p:cNvSpPr/>
              <p:nvPr/>
            </p:nvSpPr>
            <p:spPr>
              <a:xfrm>
                <a:off x="325648" y="979548"/>
                <a:ext cx="7989677" cy="1514325"/>
              </a:xfrm>
              <a:prstGeom prst="rect">
                <a:avLst/>
              </a:prstGeom>
              <a:ln>
                <a:solidFill>
                  <a:schemeClr val="tx1"/>
                </a:solidFill>
              </a:ln>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Properties:</a:t>
                </a:r>
              </a:p>
              <a:p>
                <a:pPr marL="342900" indent="-342900">
                  <a:lnSpc>
                    <a:spcPct val="150000"/>
                  </a:lnSpc>
                  <a:buAutoNum type="arabicParenBoth"/>
                </a:pPr>
                <a:r>
                  <a:rPr lang="en-US" altLang="zh-TW" sz="2000" dirty="0">
                    <a:latin typeface="Times New Roman" panose="02020603050405020304" pitchFamily="18" charset="0"/>
                    <a:cs typeface="Times New Roman" panose="02020603050405020304" pitchFamily="18" charset="0"/>
                  </a:rPr>
                  <a:t>any factor does not appear in its entirety anywhere to the left of itself.</a:t>
                </a:r>
              </a:p>
              <a:p>
                <a:pPr marL="342900" indent="-342900">
                  <a:lnSpc>
                    <a:spcPct val="150000"/>
                  </a:lnSpc>
                  <a:buAutoNum type="arabicParenBoth"/>
                </a:pPr>
                <a:r>
                  <a:rPr lang="en-US" altLang="zh-TW" sz="2000" dirty="0">
                    <a:latin typeface="Times New Roman" panose="02020603050405020304" pitchFamily="18" charset="0"/>
                    <a:cs typeface="Times New Roman" panose="02020603050405020304" pitchFamily="18" charset="0"/>
                  </a:rPr>
                  <a:t>any prefix of any given factor must appear previously in string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𝑠</m:t>
                    </m:r>
                  </m:oMath>
                </a14:m>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p:txBody>
          </p:sp>
        </mc:Choice>
        <mc:Fallback>
          <p:sp>
            <p:nvSpPr>
              <p:cNvPr id="3" name="矩形 2">
                <a:extLst>
                  <a:ext uri="{FF2B5EF4-FFF2-40B4-BE49-F238E27FC236}">
                    <a16:creationId xmlns:a16="http://schemas.microsoft.com/office/drawing/2014/main" id="{C8D4D79C-6E87-40FD-8D9F-5906411A799A}"/>
                  </a:ext>
                </a:extLst>
              </p:cNvPr>
              <p:cNvSpPr>
                <a:spLocks noRot="1" noChangeAspect="1" noMove="1" noResize="1" noEditPoints="1" noAdjustHandles="1" noChangeArrowheads="1" noChangeShapeType="1" noTextEdit="1"/>
              </p:cNvSpPr>
              <p:nvPr/>
            </p:nvSpPr>
            <p:spPr>
              <a:xfrm>
                <a:off x="325648" y="979548"/>
                <a:ext cx="7989677" cy="1514325"/>
              </a:xfrm>
              <a:prstGeom prst="rect">
                <a:avLst/>
              </a:prstGeom>
              <a:blipFill>
                <a:blip r:embed="rId7"/>
                <a:stretch>
                  <a:fillRect l="-1066" b="-6000"/>
                </a:stretch>
              </a:blipFill>
              <a:ln>
                <a:solidFill>
                  <a:schemeClr val="tx1"/>
                </a:solidFill>
              </a:ln>
            </p:spPr>
            <p:txBody>
              <a:bodyPr/>
              <a:lstStyle/>
              <a:p>
                <a:r>
                  <a:rPr lang="zh-TW" altLang="en-US">
                    <a:noFill/>
                  </a:rPr>
                  <a:t> </a:t>
                </a:r>
              </a:p>
            </p:txBody>
          </p:sp>
        </mc:Fallback>
      </mc:AlternateContent>
      <p:sp>
        <p:nvSpPr>
          <p:cNvPr id="41" name="標題 1">
            <a:extLst>
              <a:ext uri="{FF2B5EF4-FFF2-40B4-BE49-F238E27FC236}">
                <a16:creationId xmlns:a16="http://schemas.microsoft.com/office/drawing/2014/main" id="{FCF5A00A-F03F-44D7-B7F8-8AE979098181}"/>
              </a:ext>
            </a:extLst>
          </p:cNvPr>
          <p:cNvSpPr txBox="1">
            <a:spLocks/>
          </p:cNvSpPr>
          <p:nvPr/>
        </p:nvSpPr>
        <p:spPr>
          <a:xfrm>
            <a:off x="3858025" y="4348276"/>
            <a:ext cx="4666106" cy="46672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800" spc="300" dirty="0" err="1">
                <a:solidFill>
                  <a:srgbClr val="0070C0"/>
                </a:solidFill>
                <a:latin typeface="Courier New" panose="02070309020205020404" pitchFamily="49" charset="0"/>
                <a:ea typeface="新細明體" panose="02020500000000000000" pitchFamily="18" charset="-120"/>
                <a:cs typeface="+mn-cs"/>
              </a:rPr>
              <a:t>a.b.b</a:t>
            </a:r>
            <a:endPar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endParaRPr>
          </a:p>
        </p:txBody>
      </p:sp>
      <p:sp>
        <p:nvSpPr>
          <p:cNvPr id="47" name="標題 1">
            <a:extLst>
              <a:ext uri="{FF2B5EF4-FFF2-40B4-BE49-F238E27FC236}">
                <a16:creationId xmlns:a16="http://schemas.microsoft.com/office/drawing/2014/main" id="{F997847A-9862-4076-A977-F72145DDB308}"/>
              </a:ext>
            </a:extLst>
          </p:cNvPr>
          <p:cNvSpPr txBox="1">
            <a:spLocks/>
          </p:cNvSpPr>
          <p:nvPr/>
        </p:nvSpPr>
        <p:spPr>
          <a:xfrm>
            <a:off x="3858025" y="3901583"/>
            <a:ext cx="4666106" cy="46672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800" spc="300" dirty="0">
                <a:solidFill>
                  <a:srgbClr val="0070C0"/>
                </a:solidFill>
                <a:latin typeface="Courier New" panose="02070309020205020404" pitchFamily="49" charset="0"/>
                <a:ea typeface="新細明體" panose="02020500000000000000" pitchFamily="18" charset="-120"/>
                <a:cs typeface="+mn-cs"/>
              </a:rPr>
              <a:t>a</a:t>
            </a:r>
            <a:endParaRPr lang="en-US" altLang="zh-TW" sz="2400" dirty="0">
              <a:solidFill>
                <a:srgbClr val="0070C0"/>
              </a:solidFill>
              <a:latin typeface="BatangChe" panose="02030609000101010101" pitchFamily="49" charset="-127"/>
              <a:ea typeface="BatangChe" panose="02030609000101010101" pitchFamily="49" charset="-127"/>
              <a:cs typeface="Times New Roman" panose="02020603050405020304" pitchFamily="18" charset="0"/>
            </a:endParaRPr>
          </a:p>
        </p:txBody>
      </p:sp>
    </p:spTree>
    <p:extLst>
      <p:ext uri="{BB962C8B-B14F-4D97-AF65-F5344CB8AC3E}">
        <p14:creationId xmlns:p14="http://schemas.microsoft.com/office/powerpoint/2010/main" val="3279038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14</a:t>
            </a:fld>
            <a:endParaRPr lang="zh-TW" altLang="en-US"/>
          </a:p>
        </p:txBody>
      </p:sp>
      <p:sp>
        <p:nvSpPr>
          <p:cNvPr id="29" name="標題 1">
            <a:extLst>
              <a:ext uri="{FF2B5EF4-FFF2-40B4-BE49-F238E27FC236}">
                <a16:creationId xmlns:a16="http://schemas.microsoft.com/office/drawing/2014/main" id="{769587CF-E2D2-4DCD-A2FA-1B34C4C28732}"/>
              </a:ext>
            </a:extLst>
          </p:cNvPr>
          <p:cNvSpPr txBox="1">
            <a:spLocks/>
          </p:cNvSpPr>
          <p:nvPr/>
        </p:nvSpPr>
        <p:spPr>
          <a:xfrm>
            <a:off x="402232" y="244711"/>
            <a:ext cx="8563638" cy="13183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Algorithm for finding all k-edit repeats within a string </a:t>
            </a:r>
            <a:endParaRPr lang="zh-TW" altLang="en-US" sz="36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9D7EAA81-9983-4780-8D27-1124B8D0DD57}"/>
              </a:ext>
            </a:extLst>
          </p:cNvPr>
          <p:cNvPicPr>
            <a:picLocks noChangeAspect="1"/>
          </p:cNvPicPr>
          <p:nvPr/>
        </p:nvPicPr>
        <p:blipFill>
          <a:blip r:embed="rId3"/>
          <a:stretch>
            <a:fillRect/>
          </a:stretch>
        </p:blipFill>
        <p:spPr>
          <a:xfrm>
            <a:off x="366712" y="1678990"/>
            <a:ext cx="8410575" cy="593783"/>
          </a:xfrm>
          <a:prstGeom prst="rect">
            <a:avLst/>
          </a:prstGeom>
        </p:spPr>
      </p:pic>
      <p:sp>
        <p:nvSpPr>
          <p:cNvPr id="35" name="標題 1">
            <a:extLst>
              <a:ext uri="{FF2B5EF4-FFF2-40B4-BE49-F238E27FC236}">
                <a16:creationId xmlns:a16="http://schemas.microsoft.com/office/drawing/2014/main" id="{7B6574AF-4674-42C5-8443-C3BF04004D7B}"/>
              </a:ext>
            </a:extLst>
          </p:cNvPr>
          <p:cNvSpPr txBox="1">
            <a:spLocks/>
          </p:cNvSpPr>
          <p:nvPr/>
        </p:nvSpPr>
        <p:spPr>
          <a:xfrm>
            <a:off x="508974" y="2388690"/>
            <a:ext cx="7044351" cy="8435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Stage 1. find repeats that reach block boundary</a:t>
            </a:r>
          </a:p>
        </p:txBody>
      </p:sp>
      <p:sp>
        <p:nvSpPr>
          <p:cNvPr id="36" name="標題 1">
            <a:extLst>
              <a:ext uri="{FF2B5EF4-FFF2-40B4-BE49-F238E27FC236}">
                <a16:creationId xmlns:a16="http://schemas.microsoft.com/office/drawing/2014/main" id="{7A2B5023-81B8-44B2-8AA5-F22CE7AD301E}"/>
              </a:ext>
            </a:extLst>
          </p:cNvPr>
          <p:cNvSpPr txBox="1">
            <a:spLocks/>
          </p:cNvSpPr>
          <p:nvPr/>
        </p:nvSpPr>
        <p:spPr>
          <a:xfrm>
            <a:off x="508974" y="3422709"/>
            <a:ext cx="7044351" cy="8435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Stage 2. find repeats that reach a factor boundary</a:t>
            </a:r>
          </a:p>
        </p:txBody>
      </p:sp>
      <p:sp>
        <p:nvSpPr>
          <p:cNvPr id="40" name="標題 1">
            <a:extLst>
              <a:ext uri="{FF2B5EF4-FFF2-40B4-BE49-F238E27FC236}">
                <a16:creationId xmlns:a16="http://schemas.microsoft.com/office/drawing/2014/main" id="{A063105A-1068-443F-80A1-B403E2A1346B}"/>
              </a:ext>
            </a:extLst>
          </p:cNvPr>
          <p:cNvSpPr txBox="1">
            <a:spLocks/>
          </p:cNvSpPr>
          <p:nvPr/>
        </p:nvSpPr>
        <p:spPr>
          <a:xfrm>
            <a:off x="508975" y="4456728"/>
            <a:ext cx="7225326" cy="8435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Stage 3. Find repeats contained within a single factor</a:t>
            </a:r>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94B30726-29AB-4471-BCBB-B83B6D88C738}"/>
                  </a:ext>
                </a:extLst>
              </p:cNvPr>
              <p:cNvSpPr/>
              <p:nvPr/>
            </p:nvSpPr>
            <p:spPr>
              <a:xfrm>
                <a:off x="1559664" y="4176812"/>
                <a:ext cx="2430474"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TW"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𝐶𝑜𝑚𝑝𝑙𝑒𝑥𝑖𝑡𝑦</m:t>
                      </m:r>
                      <m:r>
                        <a:rPr lang="en-US" altLang="zh-TW"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𝑂</m:t>
                      </m:r>
                      <m: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func>
                        <m:funcPr>
                          <m:ctrlP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ctrlPr>
                        </m:funcPr>
                        <m:fName>
                          <m:r>
                            <m:rPr>
                              <m:sty m:val="p"/>
                            </m:rPr>
                            <a:rPr lang="en-US" altLang="zh-TW" b="0" i="0"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log</m:t>
                          </m:r>
                        </m:fName>
                        <m:e>
                          <m: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𝑘</m:t>
                          </m:r>
                        </m:e>
                      </m:func>
                      <m: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oMath>
                  </m:oMathPara>
                </a14:m>
                <a:endParaRPr lang="zh-TW" altLang="en-US" dirty="0"/>
              </a:p>
            </p:txBody>
          </p:sp>
        </mc:Choice>
        <mc:Fallback>
          <p:sp>
            <p:nvSpPr>
              <p:cNvPr id="6" name="矩形 5">
                <a:extLst>
                  <a:ext uri="{FF2B5EF4-FFF2-40B4-BE49-F238E27FC236}">
                    <a16:creationId xmlns:a16="http://schemas.microsoft.com/office/drawing/2014/main" id="{94B30726-29AB-4471-BCBB-B83B6D88C738}"/>
                  </a:ext>
                </a:extLst>
              </p:cNvPr>
              <p:cNvSpPr>
                <a:spLocks noRot="1" noChangeAspect="1" noMove="1" noResize="1" noEditPoints="1" noAdjustHandles="1" noChangeArrowheads="1" noChangeShapeType="1" noTextEdit="1"/>
              </p:cNvSpPr>
              <p:nvPr/>
            </p:nvSpPr>
            <p:spPr>
              <a:xfrm>
                <a:off x="1559664" y="4176812"/>
                <a:ext cx="2430474" cy="369332"/>
              </a:xfrm>
              <a:prstGeom prst="rect">
                <a:avLst/>
              </a:prstGeom>
              <a:blipFill>
                <a:blip r:embed="rId4"/>
                <a:stretch>
                  <a:fillRect b="-131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3" name="矩形 42">
                <a:extLst>
                  <a:ext uri="{FF2B5EF4-FFF2-40B4-BE49-F238E27FC236}">
                    <a16:creationId xmlns:a16="http://schemas.microsoft.com/office/drawing/2014/main" id="{4B98F9E3-B2EF-4BCB-BCA0-74767B75347B}"/>
                  </a:ext>
                </a:extLst>
              </p:cNvPr>
              <p:cNvSpPr/>
              <p:nvPr/>
            </p:nvSpPr>
            <p:spPr>
              <a:xfrm>
                <a:off x="1559665" y="3143601"/>
                <a:ext cx="3033459" cy="369332"/>
              </a:xfrm>
              <a:prstGeom prst="rect">
                <a:avLst/>
              </a:prstGeom>
            </p:spPr>
            <p:txBody>
              <a:bodyPr wrap="none">
                <a:spAutoFit/>
              </a:bodyPr>
              <a:lstStyle/>
              <a:p>
                <a14:m>
                  <m:oMath xmlns:m="http://schemas.openxmlformats.org/officeDocument/2006/math">
                    <m:r>
                      <a:rPr lang="en-US" altLang="zh-TW"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𝐶𝑜𝑚𝑝𝑙𝑒𝑥𝑖𝑡𝑦</m:t>
                    </m:r>
                    <m:r>
                      <a:rPr lang="en-US" altLang="zh-TW"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 </m:t>
                    </m:r>
                    <m:r>
                      <a:rPr lang="en-US" altLang="zh-TW"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𝑐𝑜𝑛𝑠𝑡𝑎𝑛𝑡</m:t>
                    </m:r>
                    <m:r>
                      <a:rPr lang="en-US" altLang="zh-TW"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 </m:t>
                    </m:r>
                    <m:r>
                      <a:rPr lang="en-US" altLang="zh-TW"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𝑡𝑖𝑚𝑒</m:t>
                    </m:r>
                  </m:oMath>
                </a14:m>
                <a:r>
                  <a:rPr lang="en-US" altLang="zh-TW" dirty="0">
                    <a:solidFill>
                      <a:srgbClr val="0070C0"/>
                    </a:solidFill>
                    <a:latin typeface="Times New Roman" panose="02020603050405020304" pitchFamily="18" charset="0"/>
                    <a:ea typeface="BatangChe" panose="02030609000101010101" pitchFamily="49" charset="-127"/>
                    <a:cs typeface="Times New Roman" panose="02020603050405020304" pitchFamily="18" charset="0"/>
                  </a:rPr>
                  <a:t> </a:t>
                </a:r>
                <a:endParaRPr lang="zh-TW" altLang="en-US" dirty="0"/>
              </a:p>
            </p:txBody>
          </p:sp>
        </mc:Choice>
        <mc:Fallback>
          <p:sp>
            <p:nvSpPr>
              <p:cNvPr id="43" name="矩形 42">
                <a:extLst>
                  <a:ext uri="{FF2B5EF4-FFF2-40B4-BE49-F238E27FC236}">
                    <a16:creationId xmlns:a16="http://schemas.microsoft.com/office/drawing/2014/main" id="{4B98F9E3-B2EF-4BCB-BCA0-74767B75347B}"/>
                  </a:ext>
                </a:extLst>
              </p:cNvPr>
              <p:cNvSpPr>
                <a:spLocks noRot="1" noChangeAspect="1" noMove="1" noResize="1" noEditPoints="1" noAdjustHandles="1" noChangeArrowheads="1" noChangeShapeType="1" noTextEdit="1"/>
              </p:cNvSpPr>
              <p:nvPr/>
            </p:nvSpPr>
            <p:spPr>
              <a:xfrm>
                <a:off x="1559665" y="3143601"/>
                <a:ext cx="3033459" cy="369332"/>
              </a:xfrm>
              <a:prstGeom prst="rect">
                <a:avLst/>
              </a:prstGeom>
              <a:blipFill>
                <a:blip r:embed="rId5"/>
                <a:stretch>
                  <a:fillRect l="-604" b="-1333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4" name="矩形 43">
                <a:extLst>
                  <a:ext uri="{FF2B5EF4-FFF2-40B4-BE49-F238E27FC236}">
                    <a16:creationId xmlns:a16="http://schemas.microsoft.com/office/drawing/2014/main" id="{450F8801-9D0C-4247-B28E-EDF30A21D6E6}"/>
                  </a:ext>
                </a:extLst>
              </p:cNvPr>
              <p:cNvSpPr/>
              <p:nvPr/>
            </p:nvSpPr>
            <p:spPr>
              <a:xfrm>
                <a:off x="1559664" y="5210023"/>
                <a:ext cx="6045053" cy="369332"/>
              </a:xfrm>
              <a:prstGeom prst="rect">
                <a:avLst/>
              </a:prstGeom>
            </p:spPr>
            <p:txBody>
              <a:bodyPr wrap="none">
                <a:spAutoFit/>
              </a:bodyPr>
              <a:lstStyle/>
              <a:p>
                <a14:m>
                  <m:oMath xmlns:m="http://schemas.openxmlformats.org/officeDocument/2006/math">
                    <m:r>
                      <a:rPr lang="en-US" altLang="zh-TW"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𝐶𝑜𝑚𝑝𝑙𝑒𝑥𝑖𝑡𝑦</m:t>
                    </m:r>
                    <m:r>
                      <a:rPr lang="en-US" altLang="zh-TW"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𝑂</m:t>
                    </m:r>
                    <m:d>
                      <m:dPr>
                        <m:ctrlP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ctrlPr>
                      </m:dPr>
                      <m:e>
                        <m: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𝑛</m:t>
                        </m:r>
                        <m: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𝑂𝑐𝑐</m:t>
                        </m:r>
                      </m:e>
                    </m:d>
                    <m: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 </m:t>
                    </m:r>
                    <m: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𝑂𝑐𝑐</m:t>
                    </m:r>
                    <m:r>
                      <a:rPr lang="en-US" altLang="zh-TW" b="0" i="1" dirty="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 </m:t>
                    </m:r>
                  </m:oMath>
                </a14:m>
                <a:r>
                  <a:rPr lang="en-US" altLang="zh-TW" dirty="0">
                    <a:solidFill>
                      <a:srgbClr val="0070C0"/>
                    </a:solidFill>
                    <a:latin typeface="Times New Roman" panose="02020603050405020304" pitchFamily="18" charset="0"/>
                    <a:cs typeface="Times New Roman" panose="02020603050405020304" pitchFamily="18" charset="0"/>
                  </a:rPr>
                  <a:t>is the number of found repeats</a:t>
                </a:r>
                <a:endParaRPr lang="zh-TW" altLang="en-US" dirty="0">
                  <a:solidFill>
                    <a:srgbClr val="0070C0"/>
                  </a:solidFill>
                  <a:latin typeface="Times New Roman" panose="02020603050405020304" pitchFamily="18" charset="0"/>
                  <a:cs typeface="Times New Roman" panose="02020603050405020304" pitchFamily="18" charset="0"/>
                </a:endParaRPr>
              </a:p>
            </p:txBody>
          </p:sp>
        </mc:Choice>
        <mc:Fallback>
          <p:sp>
            <p:nvSpPr>
              <p:cNvPr id="44" name="矩形 43">
                <a:extLst>
                  <a:ext uri="{FF2B5EF4-FFF2-40B4-BE49-F238E27FC236}">
                    <a16:creationId xmlns:a16="http://schemas.microsoft.com/office/drawing/2014/main" id="{450F8801-9D0C-4247-B28E-EDF30A21D6E6}"/>
                  </a:ext>
                </a:extLst>
              </p:cNvPr>
              <p:cNvSpPr>
                <a:spLocks noRot="1" noChangeAspect="1" noMove="1" noResize="1" noEditPoints="1" noAdjustHandles="1" noChangeArrowheads="1" noChangeShapeType="1" noTextEdit="1"/>
              </p:cNvSpPr>
              <p:nvPr/>
            </p:nvSpPr>
            <p:spPr>
              <a:xfrm>
                <a:off x="1559664" y="5210023"/>
                <a:ext cx="6045053" cy="369332"/>
              </a:xfrm>
              <a:prstGeom prst="rect">
                <a:avLst/>
              </a:prstGeom>
              <a:blipFill>
                <a:blip r:embed="rId6"/>
                <a:stretch>
                  <a:fillRect l="-303" t="-10000" b="-26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77899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表格 18">
            <a:extLst>
              <a:ext uri="{FF2B5EF4-FFF2-40B4-BE49-F238E27FC236}">
                <a16:creationId xmlns:a16="http://schemas.microsoft.com/office/drawing/2014/main" id="{6ACCB7E1-64B4-4FA8-9AD4-6A8DC0BC9B72}"/>
              </a:ext>
            </a:extLst>
          </p:cNvPr>
          <p:cNvGraphicFramePr>
            <a:graphicFrameLocks noGrp="1"/>
          </p:cNvGraphicFramePr>
          <p:nvPr>
            <p:extLst>
              <p:ext uri="{D42A27DB-BD31-4B8C-83A1-F6EECF244321}">
                <p14:modId xmlns:p14="http://schemas.microsoft.com/office/powerpoint/2010/main" val="1808531954"/>
              </p:ext>
            </p:extLst>
          </p:nvPr>
        </p:nvGraphicFramePr>
        <p:xfrm>
          <a:off x="2370451" y="1922600"/>
          <a:ext cx="1800000" cy="370840"/>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4036771593"/>
                    </a:ext>
                  </a:extLst>
                </a:gridCol>
                <a:gridCol w="900000">
                  <a:extLst>
                    <a:ext uri="{9D8B030D-6E8A-4147-A177-3AD203B41FA5}">
                      <a16:colId xmlns:a16="http://schemas.microsoft.com/office/drawing/2014/main" val="349022633"/>
                    </a:ext>
                  </a:extLst>
                </a:gridCol>
                <a:gridCol w="450000">
                  <a:extLst>
                    <a:ext uri="{9D8B030D-6E8A-4147-A177-3AD203B41FA5}">
                      <a16:colId xmlns:a16="http://schemas.microsoft.com/office/drawing/2014/main" val="1417528704"/>
                    </a:ext>
                  </a:extLst>
                </a:gridCol>
              </a:tblGrid>
              <a:tr h="370840">
                <a:tc>
                  <a:txBody>
                    <a:bodyPr/>
                    <a:lstStyle/>
                    <a:p>
                      <a:endParaRPr lang="zh-TW" alt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a:t>
                      </a:r>
                      <a:endParaRPr lang="zh-TW" altLang="en-US"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0979953"/>
                  </a:ext>
                </a:extLst>
              </a:tr>
            </a:tbl>
          </a:graphicData>
        </a:graphic>
      </p:graphicFrame>
      <p:graphicFrame>
        <p:nvGraphicFramePr>
          <p:cNvPr id="18" name="表格 17">
            <a:extLst>
              <a:ext uri="{FF2B5EF4-FFF2-40B4-BE49-F238E27FC236}">
                <a16:creationId xmlns:a16="http://schemas.microsoft.com/office/drawing/2014/main" id="{071D3092-7F53-4E36-B173-5C0C06016CB9}"/>
              </a:ext>
            </a:extLst>
          </p:cNvPr>
          <p:cNvGraphicFramePr>
            <a:graphicFrameLocks noGrp="1"/>
          </p:cNvGraphicFramePr>
          <p:nvPr>
            <p:extLst>
              <p:ext uri="{D42A27DB-BD31-4B8C-83A1-F6EECF244321}">
                <p14:modId xmlns:p14="http://schemas.microsoft.com/office/powerpoint/2010/main" val="1530950629"/>
              </p:ext>
            </p:extLst>
          </p:nvPr>
        </p:nvGraphicFramePr>
        <p:xfrm>
          <a:off x="508972" y="1922600"/>
          <a:ext cx="1800000" cy="370840"/>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4036771593"/>
                    </a:ext>
                  </a:extLst>
                </a:gridCol>
                <a:gridCol w="900000">
                  <a:extLst>
                    <a:ext uri="{9D8B030D-6E8A-4147-A177-3AD203B41FA5}">
                      <a16:colId xmlns:a16="http://schemas.microsoft.com/office/drawing/2014/main" val="349022633"/>
                    </a:ext>
                  </a:extLst>
                </a:gridCol>
                <a:gridCol w="450000">
                  <a:extLst>
                    <a:ext uri="{9D8B030D-6E8A-4147-A177-3AD203B41FA5}">
                      <a16:colId xmlns:a16="http://schemas.microsoft.com/office/drawing/2014/main" val="1417528704"/>
                    </a:ext>
                  </a:extLst>
                </a:gridCol>
              </a:tblGrid>
              <a:tr h="370840">
                <a:tc>
                  <a:txBody>
                    <a:bodyPr/>
                    <a:lstStyle/>
                    <a:p>
                      <a:endParaRPr lang="zh-TW" alt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a:t>
                      </a:r>
                      <a:endParaRPr lang="zh-TW" altLang="en-US"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0979953"/>
                  </a:ext>
                </a:extLst>
              </a:tr>
            </a:tbl>
          </a:graphicData>
        </a:graphic>
      </p:graphicFrame>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15</a:t>
            </a:fld>
            <a:endParaRPr lang="zh-TW" altLang="en-US"/>
          </a:p>
        </p:txBody>
      </p:sp>
      <p:sp>
        <p:nvSpPr>
          <p:cNvPr id="29" name="標題 1">
            <a:extLst>
              <a:ext uri="{FF2B5EF4-FFF2-40B4-BE49-F238E27FC236}">
                <a16:creationId xmlns:a16="http://schemas.microsoft.com/office/drawing/2014/main" id="{769587CF-E2D2-4DCD-A2FA-1B34C4C28732}"/>
              </a:ext>
            </a:extLst>
          </p:cNvPr>
          <p:cNvSpPr txBox="1">
            <a:spLocks/>
          </p:cNvSpPr>
          <p:nvPr/>
        </p:nvSpPr>
        <p:spPr>
          <a:xfrm>
            <a:off x="402232" y="244711"/>
            <a:ext cx="8563638" cy="13183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Algorithm for finding all k-edit repeats within a string </a:t>
            </a:r>
            <a:endParaRPr lang="zh-TW" altLang="en-US" sz="3600" dirty="0">
              <a:latin typeface="Times New Roman" panose="02020603050405020304" pitchFamily="18" charset="0"/>
              <a:cs typeface="Times New Roman" panose="02020603050405020304" pitchFamily="18" charset="0"/>
            </a:endParaRPr>
          </a:p>
        </p:txBody>
      </p:sp>
      <p:sp>
        <p:nvSpPr>
          <p:cNvPr id="35" name="標題 1">
            <a:extLst>
              <a:ext uri="{FF2B5EF4-FFF2-40B4-BE49-F238E27FC236}">
                <a16:creationId xmlns:a16="http://schemas.microsoft.com/office/drawing/2014/main" id="{7B6574AF-4674-42C5-8443-C3BF04004D7B}"/>
              </a:ext>
            </a:extLst>
          </p:cNvPr>
          <p:cNvSpPr txBox="1">
            <a:spLocks/>
          </p:cNvSpPr>
          <p:nvPr/>
        </p:nvSpPr>
        <p:spPr>
          <a:xfrm>
            <a:off x="508972" y="3920252"/>
            <a:ext cx="7044351" cy="19950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a:solidFill>
                  <a:schemeClr val="accent5">
                    <a:lumMod val="50000"/>
                  </a:schemeClr>
                </a:solidFill>
                <a:latin typeface="Times New Roman" panose="02020603050405020304" pitchFamily="18" charset="0"/>
                <a:ea typeface="BatangChe" panose="02030609000101010101" pitchFamily="49" charset="-127"/>
                <a:cs typeface="Times New Roman" panose="02020603050405020304" pitchFamily="18" charset="0"/>
              </a:rPr>
              <a:t>Stage 1</a:t>
            </a: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find repeats that reach block boundary</a:t>
            </a:r>
          </a:p>
          <a:p>
            <a:pPr>
              <a:lnSpc>
                <a:spcPct val="150000"/>
              </a:lnSpc>
            </a:pPr>
            <a:r>
              <a:rPr lang="en-US" altLang="zh-TW" sz="2400" dirty="0">
                <a:solidFill>
                  <a:schemeClr val="accent2">
                    <a:lumMod val="75000"/>
                  </a:schemeClr>
                </a:solidFill>
                <a:latin typeface="Times New Roman" panose="02020603050405020304" pitchFamily="18" charset="0"/>
                <a:ea typeface="BatangChe" panose="02030609000101010101" pitchFamily="49" charset="-127"/>
                <a:cs typeface="Times New Roman" panose="02020603050405020304" pitchFamily="18" charset="0"/>
              </a:rPr>
              <a:t>Stage 2</a:t>
            </a: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find repeats that reach a factor boundary</a:t>
            </a:r>
          </a:p>
          <a:p>
            <a:pPr>
              <a:lnSpc>
                <a:spcPct val="150000"/>
              </a:lnSpc>
            </a:pPr>
            <a:r>
              <a:rPr lang="en-US" altLang="zh-TW" sz="2400" dirty="0">
                <a:solidFill>
                  <a:schemeClr val="accent6">
                    <a:lumMod val="75000"/>
                  </a:schemeClr>
                </a:solidFill>
                <a:latin typeface="Times New Roman" panose="02020603050405020304" pitchFamily="18" charset="0"/>
                <a:ea typeface="BatangChe" panose="02030609000101010101" pitchFamily="49" charset="-127"/>
                <a:cs typeface="Times New Roman" panose="02020603050405020304" pitchFamily="18" charset="0"/>
              </a:rPr>
              <a:t>Stage 3</a:t>
            </a:r>
            <a:r>
              <a:rPr lang="en-US" altLang="zh-TW" sz="2400" dirty="0">
                <a:latin typeface="Times New Roman" panose="02020603050405020304" pitchFamily="18" charset="0"/>
                <a:ea typeface="BatangChe" panose="02030609000101010101" pitchFamily="49" charset="-127"/>
                <a:cs typeface="Times New Roman" panose="02020603050405020304" pitchFamily="18" charset="0"/>
              </a:rPr>
              <a:t>. Find repeats contained within a single factor</a:t>
            </a:r>
          </a:p>
        </p:txBody>
      </p:sp>
      <p:graphicFrame>
        <p:nvGraphicFramePr>
          <p:cNvPr id="12" name="表格 11">
            <a:extLst>
              <a:ext uri="{FF2B5EF4-FFF2-40B4-BE49-F238E27FC236}">
                <a16:creationId xmlns:a16="http://schemas.microsoft.com/office/drawing/2014/main" id="{B8DF71BE-EC7C-4274-ABB5-3A338CDC00D6}"/>
              </a:ext>
            </a:extLst>
          </p:cNvPr>
          <p:cNvGraphicFramePr>
            <a:graphicFrameLocks noGrp="1"/>
          </p:cNvGraphicFramePr>
          <p:nvPr>
            <p:extLst>
              <p:ext uri="{D42A27DB-BD31-4B8C-83A1-F6EECF244321}">
                <p14:modId xmlns:p14="http://schemas.microsoft.com/office/powerpoint/2010/main" val="2687542057"/>
              </p:ext>
            </p:extLst>
          </p:nvPr>
        </p:nvGraphicFramePr>
        <p:xfrm>
          <a:off x="6106631" y="1922600"/>
          <a:ext cx="1800000" cy="370840"/>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4036771593"/>
                    </a:ext>
                  </a:extLst>
                </a:gridCol>
                <a:gridCol w="900000">
                  <a:extLst>
                    <a:ext uri="{9D8B030D-6E8A-4147-A177-3AD203B41FA5}">
                      <a16:colId xmlns:a16="http://schemas.microsoft.com/office/drawing/2014/main" val="349022633"/>
                    </a:ext>
                  </a:extLst>
                </a:gridCol>
                <a:gridCol w="450000">
                  <a:extLst>
                    <a:ext uri="{9D8B030D-6E8A-4147-A177-3AD203B41FA5}">
                      <a16:colId xmlns:a16="http://schemas.microsoft.com/office/drawing/2014/main" val="1417528704"/>
                    </a:ext>
                  </a:extLst>
                </a:gridCol>
              </a:tblGrid>
              <a:tr h="370840">
                <a:tc>
                  <a:txBody>
                    <a:bodyPr/>
                    <a:lstStyle/>
                    <a:p>
                      <a:endParaRPr lang="zh-TW" alt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a:t>
                      </a:r>
                      <a:endParaRPr lang="zh-TW" altLang="en-US"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0979953"/>
                  </a:ext>
                </a:extLst>
              </a:tr>
            </a:tbl>
          </a:graphicData>
        </a:graphic>
      </p:graphicFrame>
      <mc:AlternateContent xmlns:mc="http://schemas.openxmlformats.org/markup-compatibility/2006">
        <mc:Choice xmlns:a14="http://schemas.microsoft.com/office/drawing/2010/main" Requires="a14">
          <p:sp>
            <p:nvSpPr>
              <p:cNvPr id="13" name="矩形 12">
                <a:extLst>
                  <a:ext uri="{FF2B5EF4-FFF2-40B4-BE49-F238E27FC236}">
                    <a16:creationId xmlns:a16="http://schemas.microsoft.com/office/drawing/2014/main" id="{610EC238-446C-44FE-994F-A7B034129B6C}"/>
                  </a:ext>
                </a:extLst>
              </p:cNvPr>
              <p:cNvSpPr/>
              <p:nvPr/>
            </p:nvSpPr>
            <p:spPr>
              <a:xfrm>
                <a:off x="997690" y="1362768"/>
                <a:ext cx="92711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TW" b="0" i="1" smtClean="0">
                          <a:solidFill>
                            <a:srgbClr val="7030A0"/>
                          </a:solidFill>
                          <a:latin typeface="Cambria Math" panose="02040503050406030204" pitchFamily="18" charset="0"/>
                          <a:ea typeface="BatangChe" panose="02030609000101010101" pitchFamily="49" charset="-127"/>
                          <a:cs typeface="Times New Roman" panose="02020603050405020304" pitchFamily="18" charset="0"/>
                        </a:rPr>
                        <m:t>𝑓𝑎𝑐𝑡𝑜𝑟</m:t>
                      </m:r>
                    </m:oMath>
                  </m:oMathPara>
                </a14:m>
                <a:endParaRPr lang="zh-TW" altLang="en-US" dirty="0">
                  <a:solidFill>
                    <a:srgbClr val="7030A0"/>
                  </a:solidFill>
                </a:endParaRPr>
              </a:p>
            </p:txBody>
          </p:sp>
        </mc:Choice>
        <mc:Fallback>
          <p:sp>
            <p:nvSpPr>
              <p:cNvPr id="13" name="矩形 12">
                <a:extLst>
                  <a:ext uri="{FF2B5EF4-FFF2-40B4-BE49-F238E27FC236}">
                    <a16:creationId xmlns:a16="http://schemas.microsoft.com/office/drawing/2014/main" id="{610EC238-446C-44FE-994F-A7B034129B6C}"/>
                  </a:ext>
                </a:extLst>
              </p:cNvPr>
              <p:cNvSpPr>
                <a:spLocks noRot="1" noChangeAspect="1" noMove="1" noResize="1" noEditPoints="1" noAdjustHandles="1" noChangeArrowheads="1" noChangeShapeType="1" noTextEdit="1"/>
              </p:cNvSpPr>
              <p:nvPr/>
            </p:nvSpPr>
            <p:spPr>
              <a:xfrm>
                <a:off x="997690" y="1362768"/>
                <a:ext cx="927113" cy="369332"/>
              </a:xfrm>
              <a:prstGeom prst="rect">
                <a:avLst/>
              </a:prstGeom>
              <a:blipFill>
                <a:blip r:embed="rId3"/>
                <a:stretch>
                  <a:fillRect b="-13333"/>
                </a:stretch>
              </a:blipFill>
            </p:spPr>
            <p:txBody>
              <a:bodyPr/>
              <a:lstStyle/>
              <a:p>
                <a:r>
                  <a:rPr lang="zh-TW" altLang="en-US">
                    <a:noFill/>
                  </a:rPr>
                  <a:t> </a:t>
                </a:r>
              </a:p>
            </p:txBody>
          </p:sp>
        </mc:Fallback>
      </mc:AlternateContent>
      <p:sp>
        <p:nvSpPr>
          <p:cNvPr id="14" name="手繪多邊形: 圖案 13">
            <a:extLst>
              <a:ext uri="{FF2B5EF4-FFF2-40B4-BE49-F238E27FC236}">
                <a16:creationId xmlns:a16="http://schemas.microsoft.com/office/drawing/2014/main" id="{20D58E8E-508B-4007-B06C-A286D7D290AC}"/>
              </a:ext>
            </a:extLst>
          </p:cNvPr>
          <p:cNvSpPr/>
          <p:nvPr/>
        </p:nvSpPr>
        <p:spPr>
          <a:xfrm rot="14668014" flipH="1">
            <a:off x="769343" y="1592884"/>
            <a:ext cx="267724" cy="473383"/>
          </a:xfrm>
          <a:custGeom>
            <a:avLst/>
            <a:gdLst>
              <a:gd name="connsiteX0" fmla="*/ 376441 w 376441"/>
              <a:gd name="connsiteY0" fmla="*/ 0 h 419100"/>
              <a:gd name="connsiteX1" fmla="*/ 43066 w 376441"/>
              <a:gd name="connsiteY1" fmla="*/ 142875 h 419100"/>
              <a:gd name="connsiteX2" fmla="*/ 14491 w 376441"/>
              <a:gd name="connsiteY2" fmla="*/ 419100 h 419100"/>
            </a:gdLst>
            <a:ahLst/>
            <a:cxnLst>
              <a:cxn ang="0">
                <a:pos x="connsiteX0" y="connsiteY0"/>
              </a:cxn>
              <a:cxn ang="0">
                <a:pos x="connsiteX1" y="connsiteY1"/>
              </a:cxn>
              <a:cxn ang="0">
                <a:pos x="connsiteX2" y="connsiteY2"/>
              </a:cxn>
            </a:cxnLst>
            <a:rect l="l" t="t" r="r" b="b"/>
            <a:pathLst>
              <a:path w="376441" h="419100">
                <a:moveTo>
                  <a:pt x="376441" y="0"/>
                </a:moveTo>
                <a:cubicBezTo>
                  <a:pt x="239916" y="36512"/>
                  <a:pt x="103391" y="73025"/>
                  <a:pt x="43066" y="142875"/>
                </a:cubicBezTo>
                <a:cubicBezTo>
                  <a:pt x="-17259" y="212725"/>
                  <a:pt x="-1384" y="315912"/>
                  <a:pt x="14491" y="419100"/>
                </a:cubicBezTo>
              </a:path>
            </a:pathLst>
          </a:custGeom>
          <a:noFill/>
          <a:ln w="19050">
            <a:solidFill>
              <a:srgbClr val="7030A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7030A0"/>
              </a:solidFill>
            </a:endParaRPr>
          </a:p>
        </p:txBody>
      </p:sp>
      <p:sp>
        <p:nvSpPr>
          <p:cNvPr id="15" name="右大括弧 14">
            <a:extLst>
              <a:ext uri="{FF2B5EF4-FFF2-40B4-BE49-F238E27FC236}">
                <a16:creationId xmlns:a16="http://schemas.microsoft.com/office/drawing/2014/main" id="{7F800571-3DBC-4C6F-B4F5-AABA9EDF62C6}"/>
              </a:ext>
            </a:extLst>
          </p:cNvPr>
          <p:cNvSpPr/>
          <p:nvPr/>
        </p:nvSpPr>
        <p:spPr>
          <a:xfrm rot="5400000">
            <a:off x="1208482" y="1667375"/>
            <a:ext cx="370839" cy="1769859"/>
          </a:xfrm>
          <a:prstGeom prst="rightBrace">
            <a:avLst>
              <a:gd name="adj1" fmla="val 9566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16" name="矩形 15">
                <a:extLst>
                  <a:ext uri="{FF2B5EF4-FFF2-40B4-BE49-F238E27FC236}">
                    <a16:creationId xmlns:a16="http://schemas.microsoft.com/office/drawing/2014/main" id="{A83FF59B-61EF-4BC0-899F-7F57699B6262}"/>
                  </a:ext>
                </a:extLst>
              </p:cNvPr>
              <p:cNvSpPr/>
              <p:nvPr/>
            </p:nvSpPr>
            <p:spPr>
              <a:xfrm>
                <a:off x="556909" y="2906494"/>
                <a:ext cx="1673984" cy="64633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ea typeface="BatangChe" panose="02030609000101010101" pitchFamily="49" charset="-127"/>
                          <a:cs typeface="Times New Roman" panose="02020603050405020304" pitchFamily="18" charset="0"/>
                        </a:rPr>
                        <m:t>𝑘</m:t>
                      </m:r>
                      <m:r>
                        <a:rPr lang="en-US" altLang="zh-TW" b="0" i="1" smtClean="0">
                          <a:solidFill>
                            <a:schemeClr val="tx1"/>
                          </a:solidFill>
                          <a:latin typeface="Cambria Math" panose="02040503050406030204" pitchFamily="18" charset="0"/>
                          <a:ea typeface="BatangChe" panose="02030609000101010101" pitchFamily="49" charset="-127"/>
                          <a:cs typeface="Times New Roman" panose="02020603050405020304" pitchFamily="18" charset="0"/>
                        </a:rPr>
                        <m:t>+1 </m:t>
                      </m:r>
                      <m:r>
                        <a:rPr lang="en-US" altLang="zh-TW" b="0" i="1" smtClean="0">
                          <a:solidFill>
                            <a:schemeClr val="tx1"/>
                          </a:solidFill>
                          <a:latin typeface="Cambria Math" panose="02040503050406030204" pitchFamily="18" charset="0"/>
                          <a:ea typeface="BatangChe" panose="02030609000101010101" pitchFamily="49" charset="-127"/>
                          <a:cs typeface="Times New Roman" panose="02020603050405020304" pitchFamily="18" charset="0"/>
                        </a:rPr>
                        <m:t>𝑓𝑎𝑐𝑡𝑜𝑟𝑠</m:t>
                      </m:r>
                    </m:oMath>
                  </m:oMathPara>
                </a14:m>
                <a:endParaRPr lang="en-US" altLang="zh-TW" b="0" dirty="0">
                  <a:solidFill>
                    <a:schemeClr val="tx1"/>
                  </a:solidFill>
                  <a:ea typeface="BatangChe" panose="02030609000101010101" pitchFamily="49" charset="-127"/>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altLang="zh-TW" i="1" dirty="0" smtClean="0">
                          <a:solidFill>
                            <a:schemeClr val="tx1"/>
                          </a:solidFill>
                          <a:latin typeface="Cambria Math" panose="02040503050406030204" pitchFamily="18" charset="0"/>
                        </a:rPr>
                        <m:t>(</m:t>
                      </m:r>
                      <m:r>
                        <a:rPr lang="en-US" altLang="zh-TW" i="1" dirty="0" smtClean="0">
                          <a:solidFill>
                            <a:schemeClr val="tx1"/>
                          </a:solidFill>
                          <a:latin typeface="Cambria Math" panose="02040503050406030204" pitchFamily="18" charset="0"/>
                        </a:rPr>
                        <m:t>𝑏𝑙𝑜𝑐𝑘</m:t>
                      </m:r>
                      <m:r>
                        <a:rPr lang="en-US" altLang="zh-TW" i="1" dirty="0" smtClean="0">
                          <a:solidFill>
                            <a:schemeClr val="tx1"/>
                          </a:solidFill>
                          <a:latin typeface="Cambria Math" panose="02040503050406030204" pitchFamily="18" charset="0"/>
                        </a:rPr>
                        <m:t>)</m:t>
                      </m:r>
                    </m:oMath>
                  </m:oMathPara>
                </a14:m>
                <a:endParaRPr lang="zh-TW" altLang="en-US" dirty="0">
                  <a:solidFill>
                    <a:schemeClr val="tx1"/>
                  </a:solidFill>
                </a:endParaRPr>
              </a:p>
            </p:txBody>
          </p:sp>
        </mc:Choice>
        <mc:Fallback>
          <p:sp>
            <p:nvSpPr>
              <p:cNvPr id="16" name="矩形 15">
                <a:extLst>
                  <a:ext uri="{FF2B5EF4-FFF2-40B4-BE49-F238E27FC236}">
                    <a16:creationId xmlns:a16="http://schemas.microsoft.com/office/drawing/2014/main" id="{A83FF59B-61EF-4BC0-899F-7F57699B6262}"/>
                  </a:ext>
                </a:extLst>
              </p:cNvPr>
              <p:cNvSpPr>
                <a:spLocks noRot="1" noChangeAspect="1" noMove="1" noResize="1" noEditPoints="1" noAdjustHandles="1" noChangeArrowheads="1" noChangeShapeType="1" noTextEdit="1"/>
              </p:cNvSpPr>
              <p:nvPr/>
            </p:nvSpPr>
            <p:spPr>
              <a:xfrm>
                <a:off x="556909" y="2906494"/>
                <a:ext cx="1673984" cy="646331"/>
              </a:xfrm>
              <a:prstGeom prst="rect">
                <a:avLst/>
              </a:prstGeom>
              <a:blipFill>
                <a:blip r:embed="rId4"/>
                <a:stretch>
                  <a:fillRect b="-6604"/>
                </a:stretch>
              </a:blipFill>
            </p:spPr>
            <p:txBody>
              <a:bodyPr/>
              <a:lstStyle/>
              <a:p>
                <a:r>
                  <a:rPr lang="zh-TW" altLang="en-US">
                    <a:noFill/>
                  </a:rPr>
                  <a:t> </a:t>
                </a:r>
              </a:p>
            </p:txBody>
          </p:sp>
        </mc:Fallback>
      </mc:AlternateContent>
      <p:sp>
        <p:nvSpPr>
          <p:cNvPr id="2" name="矩形 1">
            <a:extLst>
              <a:ext uri="{FF2B5EF4-FFF2-40B4-BE49-F238E27FC236}">
                <a16:creationId xmlns:a16="http://schemas.microsoft.com/office/drawing/2014/main" id="{B960ACBE-4D5E-4C1B-96C7-20C8155E0F77}"/>
              </a:ext>
            </a:extLst>
          </p:cNvPr>
          <p:cNvSpPr/>
          <p:nvPr/>
        </p:nvSpPr>
        <p:spPr>
          <a:xfrm>
            <a:off x="2590800" y="1919958"/>
            <a:ext cx="1579651" cy="370840"/>
          </a:xfrm>
          <a:prstGeom prst="rect">
            <a:avLst/>
          </a:prstGeom>
          <a:solidFill>
            <a:schemeClr val="accent5">
              <a:lumMod val="5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accent5">
                  <a:lumMod val="20000"/>
                  <a:lumOff val="80000"/>
                </a:schemeClr>
              </a:solidFill>
            </a:endParaRPr>
          </a:p>
        </p:txBody>
      </p:sp>
      <p:graphicFrame>
        <p:nvGraphicFramePr>
          <p:cNvPr id="20" name="表格 19">
            <a:extLst>
              <a:ext uri="{FF2B5EF4-FFF2-40B4-BE49-F238E27FC236}">
                <a16:creationId xmlns:a16="http://schemas.microsoft.com/office/drawing/2014/main" id="{931E7B9B-D7A6-4D22-8B7A-76CAB7557ECC}"/>
              </a:ext>
            </a:extLst>
          </p:cNvPr>
          <p:cNvGraphicFramePr>
            <a:graphicFrameLocks noGrp="1"/>
          </p:cNvGraphicFramePr>
          <p:nvPr>
            <p:extLst>
              <p:ext uri="{D42A27DB-BD31-4B8C-83A1-F6EECF244321}">
                <p14:modId xmlns:p14="http://schemas.microsoft.com/office/powerpoint/2010/main" val="1902349416"/>
              </p:ext>
            </p:extLst>
          </p:nvPr>
        </p:nvGraphicFramePr>
        <p:xfrm>
          <a:off x="4238541" y="1922600"/>
          <a:ext cx="1800000" cy="370840"/>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4036771593"/>
                    </a:ext>
                  </a:extLst>
                </a:gridCol>
                <a:gridCol w="900000">
                  <a:extLst>
                    <a:ext uri="{9D8B030D-6E8A-4147-A177-3AD203B41FA5}">
                      <a16:colId xmlns:a16="http://schemas.microsoft.com/office/drawing/2014/main" val="349022633"/>
                    </a:ext>
                  </a:extLst>
                </a:gridCol>
                <a:gridCol w="450000">
                  <a:extLst>
                    <a:ext uri="{9D8B030D-6E8A-4147-A177-3AD203B41FA5}">
                      <a16:colId xmlns:a16="http://schemas.microsoft.com/office/drawing/2014/main" val="1417528704"/>
                    </a:ext>
                  </a:extLst>
                </a:gridCol>
              </a:tblGrid>
              <a:tr h="370840">
                <a:tc>
                  <a:txBody>
                    <a:bodyPr/>
                    <a:lstStyle/>
                    <a:p>
                      <a:endParaRPr lang="zh-TW" alt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a:t>
                      </a:r>
                      <a:endParaRPr lang="zh-TW" altLang="en-US"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0979953"/>
                  </a:ext>
                </a:extLst>
              </a:tr>
            </a:tbl>
          </a:graphicData>
        </a:graphic>
      </p:graphicFrame>
      <p:sp>
        <p:nvSpPr>
          <p:cNvPr id="22" name="矩形 21">
            <a:extLst>
              <a:ext uri="{FF2B5EF4-FFF2-40B4-BE49-F238E27FC236}">
                <a16:creationId xmlns:a16="http://schemas.microsoft.com/office/drawing/2014/main" id="{1065A140-7780-4CE0-86C5-5BEFE50DCB24}"/>
              </a:ext>
            </a:extLst>
          </p:cNvPr>
          <p:cNvSpPr/>
          <p:nvPr/>
        </p:nvSpPr>
        <p:spPr>
          <a:xfrm>
            <a:off x="4684051" y="1919958"/>
            <a:ext cx="497549" cy="370840"/>
          </a:xfrm>
          <a:prstGeom prst="rect">
            <a:avLst/>
          </a:prstGeom>
          <a:solidFill>
            <a:schemeClr val="accent2">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accent5">
                  <a:lumMod val="20000"/>
                  <a:lumOff val="80000"/>
                </a:schemeClr>
              </a:solidFill>
            </a:endParaRPr>
          </a:p>
        </p:txBody>
      </p:sp>
      <p:sp>
        <p:nvSpPr>
          <p:cNvPr id="23" name="矩形 22">
            <a:extLst>
              <a:ext uri="{FF2B5EF4-FFF2-40B4-BE49-F238E27FC236}">
                <a16:creationId xmlns:a16="http://schemas.microsoft.com/office/drawing/2014/main" id="{7D3BA8BF-FEBD-4CFD-846D-9B476EA2E8F6}"/>
              </a:ext>
            </a:extLst>
          </p:cNvPr>
          <p:cNvSpPr/>
          <p:nvPr/>
        </p:nvSpPr>
        <p:spPr>
          <a:xfrm>
            <a:off x="6209176" y="1919958"/>
            <a:ext cx="182100" cy="370840"/>
          </a:xfrm>
          <a:prstGeom prst="rect">
            <a:avLst/>
          </a:prstGeom>
          <a:solidFill>
            <a:schemeClr val="accent6">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accent5">
                  <a:lumMod val="20000"/>
                  <a:lumOff val="80000"/>
                </a:schemeClr>
              </a:solidFill>
            </a:endParaRPr>
          </a:p>
        </p:txBody>
      </p:sp>
    </p:spTree>
    <p:extLst>
      <p:ext uri="{BB962C8B-B14F-4D97-AF65-F5344CB8AC3E}">
        <p14:creationId xmlns:p14="http://schemas.microsoft.com/office/powerpoint/2010/main" val="2300101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16</a:t>
            </a:fld>
            <a:endParaRPr lang="zh-TW" altLang="en-US"/>
          </a:p>
        </p:txBody>
      </p:sp>
      <p:sp>
        <p:nvSpPr>
          <p:cNvPr id="29" name="標題 1">
            <a:extLst>
              <a:ext uri="{FF2B5EF4-FFF2-40B4-BE49-F238E27FC236}">
                <a16:creationId xmlns:a16="http://schemas.microsoft.com/office/drawing/2014/main" id="{769587CF-E2D2-4DCD-A2FA-1B34C4C28732}"/>
              </a:ext>
            </a:extLst>
          </p:cNvPr>
          <p:cNvSpPr txBox="1">
            <a:spLocks/>
          </p:cNvSpPr>
          <p:nvPr/>
        </p:nvSpPr>
        <p:spPr>
          <a:xfrm>
            <a:off x="402232" y="244711"/>
            <a:ext cx="8563638" cy="13183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Algorithm for finding all k-edit repeats within a string </a:t>
            </a:r>
            <a:endParaRPr lang="zh-TW" altLang="en-US" sz="3600"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5490F082-2C9A-4522-A910-7030D5AE9F0A}"/>
              </a:ext>
            </a:extLst>
          </p:cNvPr>
          <p:cNvPicPr>
            <a:picLocks noChangeAspect="1"/>
          </p:cNvPicPr>
          <p:nvPr/>
        </p:nvPicPr>
        <p:blipFill>
          <a:blip r:embed="rId3"/>
          <a:stretch>
            <a:fillRect/>
          </a:stretch>
        </p:blipFill>
        <p:spPr>
          <a:xfrm>
            <a:off x="481372" y="1718834"/>
            <a:ext cx="8181256" cy="3281791"/>
          </a:xfrm>
          <a:prstGeom prst="rect">
            <a:avLst/>
          </a:prstGeom>
          <a:ln>
            <a:solidFill>
              <a:schemeClr val="tx1"/>
            </a:solidFill>
          </a:ln>
        </p:spPr>
      </p:pic>
      <mc:AlternateContent xmlns:mc="http://schemas.openxmlformats.org/markup-compatibility/2006">
        <mc:Choice xmlns:a14="http://schemas.microsoft.com/office/drawing/2010/main" Requires="a14">
          <p:sp>
            <p:nvSpPr>
              <p:cNvPr id="17" name="矩形 16">
                <a:extLst>
                  <a:ext uri="{FF2B5EF4-FFF2-40B4-BE49-F238E27FC236}">
                    <a16:creationId xmlns:a16="http://schemas.microsoft.com/office/drawing/2014/main" id="{CDA23EE6-99D7-43F8-9677-F7A0018F7E58}"/>
                  </a:ext>
                </a:extLst>
              </p:cNvPr>
              <p:cNvSpPr/>
              <p:nvPr/>
            </p:nvSpPr>
            <p:spPr>
              <a:xfrm>
                <a:off x="3032952" y="5571480"/>
                <a:ext cx="5482398"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𝑇𝑜𝑡𝑎𝑙</m:t>
                      </m:r>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 </m:t>
                      </m:r>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𝑐𝑜𝑚𝑝𝑙𝑒𝑥𝑖𝑡𝑦</m:t>
                      </m:r>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 :</m:t>
                      </m:r>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𝑂</m:t>
                      </m:r>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𝑛𝑘</m:t>
                      </m:r>
                      <m:func>
                        <m:funcPr>
                          <m:ctrlP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ctrlPr>
                        </m:funcPr>
                        <m:fName>
                          <m:sSup>
                            <m:sSupPr>
                              <m:ctrlP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ctrlPr>
                            </m:sSupPr>
                            <m:e>
                              <m:r>
                                <m:rPr>
                                  <m:sty m:val="p"/>
                                </m:rPr>
                                <a:rPr lang="en-US" altLang="zh-TW" sz="2400" b="0" i="0"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log</m:t>
                              </m:r>
                            </m:e>
                            <m:sup>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2</m:t>
                              </m:r>
                            </m:sup>
                          </m:sSup>
                        </m:fName>
                        <m:e>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𝑘</m:t>
                          </m:r>
                        </m:e>
                      </m:func>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m:t>
                      </m:r>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𝑂𝑐𝑐</m:t>
                      </m:r>
                      <m:r>
                        <a:rPr lang="en-US" altLang="zh-TW" sz="2400" b="0" i="1" smtClean="0">
                          <a:solidFill>
                            <a:srgbClr val="0070C0"/>
                          </a:solidFill>
                          <a:latin typeface="Cambria Math" panose="02040503050406030204" pitchFamily="18" charset="0"/>
                          <a:ea typeface="BatangChe" panose="02030609000101010101" pitchFamily="49" charset="-127"/>
                          <a:cs typeface="Times New Roman" panose="02020603050405020304" pitchFamily="18" charset="0"/>
                        </a:rPr>
                        <m:t>) </m:t>
                      </m:r>
                    </m:oMath>
                  </m:oMathPara>
                </a14:m>
                <a:endParaRPr lang="zh-TW" altLang="en-US" sz="2400" dirty="0">
                  <a:solidFill>
                    <a:srgbClr val="0070C0"/>
                  </a:solidFill>
                  <a:latin typeface="Times New Roman" panose="02020603050405020304" pitchFamily="18" charset="0"/>
                  <a:cs typeface="Times New Roman" panose="02020603050405020304" pitchFamily="18" charset="0"/>
                </a:endParaRPr>
              </a:p>
            </p:txBody>
          </p:sp>
        </mc:Choice>
        <mc:Fallback>
          <p:sp>
            <p:nvSpPr>
              <p:cNvPr id="17" name="矩形 16">
                <a:extLst>
                  <a:ext uri="{FF2B5EF4-FFF2-40B4-BE49-F238E27FC236}">
                    <a16:creationId xmlns:a16="http://schemas.microsoft.com/office/drawing/2014/main" id="{CDA23EE6-99D7-43F8-9677-F7A0018F7E58}"/>
                  </a:ext>
                </a:extLst>
              </p:cNvPr>
              <p:cNvSpPr>
                <a:spLocks noRot="1" noChangeAspect="1" noMove="1" noResize="1" noEditPoints="1" noAdjustHandles="1" noChangeArrowheads="1" noChangeShapeType="1" noTextEdit="1"/>
              </p:cNvSpPr>
              <p:nvPr/>
            </p:nvSpPr>
            <p:spPr>
              <a:xfrm>
                <a:off x="3032952" y="5571480"/>
                <a:ext cx="5482398" cy="461665"/>
              </a:xfrm>
              <a:prstGeom prst="rect">
                <a:avLst/>
              </a:prstGeom>
              <a:blipFill>
                <a:blip r:embed="rId4"/>
                <a:stretch>
                  <a:fillRect b="-1842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79109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17</a:t>
            </a:fld>
            <a:endParaRPr lang="zh-TW" altLang="en-US"/>
          </a:p>
        </p:txBody>
      </p:sp>
      <p:sp>
        <p:nvSpPr>
          <p:cNvPr id="29" name="標題 1">
            <a:extLst>
              <a:ext uri="{FF2B5EF4-FFF2-40B4-BE49-F238E27FC236}">
                <a16:creationId xmlns:a16="http://schemas.microsoft.com/office/drawing/2014/main" id="{769587CF-E2D2-4DCD-A2FA-1B34C4C28732}"/>
              </a:ext>
            </a:extLst>
          </p:cNvPr>
          <p:cNvSpPr txBox="1">
            <a:spLocks/>
          </p:cNvSpPr>
          <p:nvPr/>
        </p:nvSpPr>
        <p:spPr>
          <a:xfrm>
            <a:off x="402232" y="244711"/>
            <a:ext cx="8563638" cy="13183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Algorithm for finding all k-edit repeats within a string </a:t>
            </a:r>
            <a:endParaRPr lang="zh-TW" altLang="en-US" sz="3600" dirty="0">
              <a:latin typeface="Times New Roman" panose="02020603050405020304" pitchFamily="18" charset="0"/>
              <a:cs typeface="Times New Roman" panose="02020603050405020304" pitchFamily="18" charset="0"/>
            </a:endParaRPr>
          </a:p>
        </p:txBody>
      </p:sp>
      <p:sp>
        <p:nvSpPr>
          <p:cNvPr id="35" name="標題 1">
            <a:extLst>
              <a:ext uri="{FF2B5EF4-FFF2-40B4-BE49-F238E27FC236}">
                <a16:creationId xmlns:a16="http://schemas.microsoft.com/office/drawing/2014/main" id="{7B6574AF-4674-42C5-8443-C3BF04004D7B}"/>
              </a:ext>
            </a:extLst>
          </p:cNvPr>
          <p:cNvSpPr txBox="1">
            <a:spLocks/>
          </p:cNvSpPr>
          <p:nvPr/>
        </p:nvSpPr>
        <p:spPr>
          <a:xfrm>
            <a:off x="508974" y="1563073"/>
            <a:ext cx="7044351" cy="5170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400" b="1" dirty="0">
                <a:latin typeface="Times New Roman" panose="02020603050405020304" pitchFamily="18" charset="0"/>
                <a:ea typeface="BatangChe" panose="02030609000101010101" pitchFamily="49" charset="-127"/>
                <a:cs typeface="Times New Roman" panose="02020603050405020304" pitchFamily="18" charset="0"/>
              </a:rPr>
              <a:t>Stage 1. find repeats that reach block boundary</a:t>
            </a:r>
          </a:p>
        </p:txBody>
      </p:sp>
      <p:pic>
        <p:nvPicPr>
          <p:cNvPr id="3" name="圖片 2">
            <a:extLst>
              <a:ext uri="{FF2B5EF4-FFF2-40B4-BE49-F238E27FC236}">
                <a16:creationId xmlns:a16="http://schemas.microsoft.com/office/drawing/2014/main" id="{1EF0F28A-BD78-49E2-BB3F-64276620F5E6}"/>
              </a:ext>
            </a:extLst>
          </p:cNvPr>
          <p:cNvPicPr>
            <a:picLocks noChangeAspect="1"/>
          </p:cNvPicPr>
          <p:nvPr/>
        </p:nvPicPr>
        <p:blipFill>
          <a:blip r:embed="rId3"/>
          <a:stretch>
            <a:fillRect/>
          </a:stretch>
        </p:blipFill>
        <p:spPr>
          <a:xfrm>
            <a:off x="366712" y="2418251"/>
            <a:ext cx="8410575" cy="960294"/>
          </a:xfrm>
          <a:prstGeom prst="rect">
            <a:avLst/>
          </a:prstGeom>
        </p:spPr>
      </p:pic>
    </p:spTree>
    <p:extLst>
      <p:ext uri="{BB962C8B-B14F-4D97-AF65-F5344CB8AC3E}">
        <p14:creationId xmlns:p14="http://schemas.microsoft.com/office/powerpoint/2010/main" val="3102785670"/>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58319</TotalTime>
  <Words>1152</Words>
  <Application>Microsoft Office PowerPoint</Application>
  <PresentationFormat>如螢幕大小 (4:3)</PresentationFormat>
  <Paragraphs>257</Paragraphs>
  <Slides>17</Slides>
  <Notes>17</Notes>
  <HiddenSlides>1</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17</vt:i4>
      </vt:variant>
    </vt:vector>
  </HeadingPairs>
  <TitlesOfParts>
    <vt:vector size="28" baseType="lpstr">
      <vt:lpstr>BatangChe</vt:lpstr>
      <vt:lpstr>t1-gul-regular</vt:lpstr>
      <vt:lpstr>新細明體</vt:lpstr>
      <vt:lpstr>標楷體</vt:lpstr>
      <vt:lpstr>Arial</vt:lpstr>
      <vt:lpstr>Calibri</vt:lpstr>
      <vt:lpstr>Calibri Light</vt:lpstr>
      <vt:lpstr>Cambria Math</vt:lpstr>
      <vt:lpstr>Courier New</vt:lpstr>
      <vt:lpstr>Times New Roman</vt:lpstr>
      <vt:lpstr>Office 佈景主題</vt:lpstr>
      <vt:lpstr> Speeding up the detection of tandem repeats over the edit distance</vt:lpstr>
      <vt:lpstr>Abstract (1/2)</vt:lpstr>
      <vt:lpstr>Abstract (2/2)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GaryC</cp:lastModifiedBy>
  <cp:revision>636</cp:revision>
  <dcterms:created xsi:type="dcterms:W3CDTF">2017-09-25T08:45:50Z</dcterms:created>
  <dcterms:modified xsi:type="dcterms:W3CDTF">2018-10-09T10:24:22Z</dcterms:modified>
</cp:coreProperties>
</file>