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6" r:id="rId3"/>
    <p:sldId id="277" r:id="rId4"/>
    <p:sldId id="278" r:id="rId5"/>
    <p:sldId id="279" r:id="rId6"/>
    <p:sldId id="284" r:id="rId7"/>
    <p:sldId id="285" r:id="rId8"/>
    <p:sldId id="286" r:id="rId9"/>
    <p:sldId id="287" r:id="rId10"/>
    <p:sldId id="288" r:id="rId11"/>
    <p:sldId id="289" r:id="rId12"/>
    <p:sldId id="280" r:id="rId13"/>
    <p:sldId id="281" r:id="rId14"/>
    <p:sldId id="282" r:id="rId15"/>
    <p:sldId id="290" r:id="rId16"/>
    <p:sldId id="283" r:id="rId1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69" autoAdjust="0"/>
    <p:restoredTop sz="78307" autoAdjust="0"/>
  </p:normalViewPr>
  <p:slideViewPr>
    <p:cSldViewPr snapToGrid="0">
      <p:cViewPr varScale="1">
        <p:scale>
          <a:sx n="75" d="100"/>
          <a:sy n="75" d="100"/>
        </p:scale>
        <p:origin x="504"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2018/10/9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xmlns=""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xmlns="" id="{50E00B3F-FCF3-43A8-BA3C-83E3D27FDB5E}"/>
              </a:ext>
            </a:extLst>
          </p:cNvPr>
          <p:cNvSpPr>
            <a:spLocks noGrp="1"/>
          </p:cNvSpPr>
          <p:nvPr>
            <p:ph type="dt" sz="half" idx="10"/>
          </p:nvPr>
        </p:nvSpPr>
        <p:spPr/>
        <p:txBody>
          <a:bodyPr/>
          <a:lstStyle/>
          <a:p>
            <a:fld id="{4B163CDD-1571-4D07-AD50-27DEDA2DAB08}"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B0BCD83-5310-40C3-8583-4562F7663092}"/>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xmlns=""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xmlns="" id="{84D63DA6-083D-4C87-B46F-4639F5BADD1D}"/>
              </a:ext>
            </a:extLst>
          </p:cNvPr>
          <p:cNvSpPr>
            <a:spLocks noGrp="1"/>
          </p:cNvSpPr>
          <p:nvPr>
            <p:ph type="dt" sz="half" idx="10"/>
          </p:nvPr>
        </p:nvSpPr>
        <p:spPr/>
        <p:txBody>
          <a:bodyPr/>
          <a:lstStyle/>
          <a:p>
            <a:fld id="{45E90CF3-7BCB-4E41-A4BC-7F7C7D47433D}"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3FA96B28-A6B2-4CCD-A0A0-0FC8A9F244A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F67C9000-9E5A-4894-8CE5-D814ED1F8837}"/>
              </a:ext>
            </a:extLst>
          </p:cNvPr>
          <p:cNvSpPr>
            <a:spLocks noGrp="1"/>
          </p:cNvSpPr>
          <p:nvPr>
            <p:ph type="dt" sz="half" idx="10"/>
          </p:nvPr>
        </p:nvSpPr>
        <p:spPr/>
        <p:txBody>
          <a:bodyPr/>
          <a:lstStyle/>
          <a:p>
            <a:fld id="{939863AD-E347-426A-B227-78A9B42781C3}"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19E55BE4-DE58-4CB4-A138-82C7FA95E005}"/>
              </a:ext>
            </a:extLst>
          </p:cNvPr>
          <p:cNvSpPr>
            <a:spLocks noGrp="1"/>
          </p:cNvSpPr>
          <p:nvPr>
            <p:ph type="dt" sz="half" idx="10"/>
          </p:nvPr>
        </p:nvSpPr>
        <p:spPr/>
        <p:txBody>
          <a:bodyPr/>
          <a:lstStyle/>
          <a:p>
            <a:fld id="{98EE8F46-57F3-4B32-B3C0-034060244659}" type="datetime1">
              <a:rPr lang="zh-TW" altLang="en-US" smtClean="0"/>
              <a:t>2018/10/9</a:t>
            </a:fld>
            <a:endParaRPr lang="zh-TW" altLang="en-US"/>
          </a:p>
        </p:txBody>
      </p:sp>
      <p:sp>
        <p:nvSpPr>
          <p:cNvPr id="6" name="頁尾版面配置區 5">
            <a:extLst>
              <a:ext uri="{FF2B5EF4-FFF2-40B4-BE49-F238E27FC236}">
                <a16:creationId xmlns:a16="http://schemas.microsoft.com/office/drawing/2014/main" xmlns=""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81164490-F37E-4BF2-B792-E41261B07B22}"/>
              </a:ext>
            </a:extLst>
          </p:cNvPr>
          <p:cNvSpPr>
            <a:spLocks noGrp="1"/>
          </p:cNvSpPr>
          <p:nvPr>
            <p:ph type="dt" sz="half" idx="10"/>
          </p:nvPr>
        </p:nvSpPr>
        <p:spPr/>
        <p:txBody>
          <a:bodyPr/>
          <a:lstStyle/>
          <a:p>
            <a:fld id="{25BE6354-929A-48E4-A569-5065F8787DBB}" type="datetime1">
              <a:rPr lang="zh-TW" altLang="en-US" smtClean="0"/>
              <a:t>2018/10/9</a:t>
            </a:fld>
            <a:endParaRPr lang="zh-TW" altLang="en-US"/>
          </a:p>
        </p:txBody>
      </p:sp>
      <p:sp>
        <p:nvSpPr>
          <p:cNvPr id="8" name="頁尾版面配置區 7">
            <a:extLst>
              <a:ext uri="{FF2B5EF4-FFF2-40B4-BE49-F238E27FC236}">
                <a16:creationId xmlns:a16="http://schemas.microsoft.com/office/drawing/2014/main" xmlns=""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A067B964-A9EE-448C-A903-DF032F75B54E}"/>
              </a:ext>
            </a:extLst>
          </p:cNvPr>
          <p:cNvSpPr>
            <a:spLocks noGrp="1"/>
          </p:cNvSpPr>
          <p:nvPr>
            <p:ph type="dt" sz="half" idx="10"/>
          </p:nvPr>
        </p:nvSpPr>
        <p:spPr/>
        <p:txBody>
          <a:bodyPr/>
          <a:lstStyle/>
          <a:p>
            <a:fld id="{9347B07A-C303-4A11-829E-75A08D84F791}" type="datetime1">
              <a:rPr lang="zh-TW" altLang="en-US" smtClean="0"/>
              <a:t>2018/10/9</a:t>
            </a:fld>
            <a:endParaRPr lang="zh-TW" altLang="en-US"/>
          </a:p>
        </p:txBody>
      </p:sp>
      <p:sp>
        <p:nvSpPr>
          <p:cNvPr id="4" name="頁尾版面配置區 3">
            <a:extLst>
              <a:ext uri="{FF2B5EF4-FFF2-40B4-BE49-F238E27FC236}">
                <a16:creationId xmlns:a16="http://schemas.microsoft.com/office/drawing/2014/main" xmlns=""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5DC494-3175-4D2C-8019-6DC804B304DE}"/>
              </a:ext>
            </a:extLst>
          </p:cNvPr>
          <p:cNvSpPr>
            <a:spLocks noGrp="1"/>
          </p:cNvSpPr>
          <p:nvPr>
            <p:ph type="dt" sz="half" idx="10"/>
          </p:nvPr>
        </p:nvSpPr>
        <p:spPr/>
        <p:txBody>
          <a:bodyPr/>
          <a:lstStyle/>
          <a:p>
            <a:fld id="{818C0FAA-EAB9-46FF-9B2E-6C03EFE0E627}" type="datetime1">
              <a:rPr lang="zh-TW" altLang="en-US" smtClean="0"/>
              <a:t>2018/10/9</a:t>
            </a:fld>
            <a:endParaRPr lang="zh-TW" altLang="en-US"/>
          </a:p>
        </p:txBody>
      </p:sp>
      <p:sp>
        <p:nvSpPr>
          <p:cNvPr id="3" name="頁尾版面配置區 2">
            <a:extLst>
              <a:ext uri="{FF2B5EF4-FFF2-40B4-BE49-F238E27FC236}">
                <a16:creationId xmlns:a16="http://schemas.microsoft.com/office/drawing/2014/main" xmlns=""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E19407D-C528-4858-9191-402D0B2E4E7A}"/>
              </a:ext>
            </a:extLst>
          </p:cNvPr>
          <p:cNvSpPr>
            <a:spLocks noGrp="1"/>
          </p:cNvSpPr>
          <p:nvPr>
            <p:ph type="dt" sz="half" idx="10"/>
          </p:nvPr>
        </p:nvSpPr>
        <p:spPr/>
        <p:txBody>
          <a:bodyPr/>
          <a:lstStyle/>
          <a:p>
            <a:fld id="{6F615960-3F62-4BA7-8DEF-58213E9FC750}" type="datetime1">
              <a:rPr lang="zh-TW" altLang="en-US" smtClean="0"/>
              <a:t>2018/10/9</a:t>
            </a:fld>
            <a:endParaRPr lang="zh-TW" altLang="en-US"/>
          </a:p>
        </p:txBody>
      </p:sp>
      <p:sp>
        <p:nvSpPr>
          <p:cNvPr id="6" name="頁尾版面配置區 5">
            <a:extLst>
              <a:ext uri="{FF2B5EF4-FFF2-40B4-BE49-F238E27FC236}">
                <a16:creationId xmlns:a16="http://schemas.microsoft.com/office/drawing/2014/main" xmlns=""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xmlns=""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93917929-FFD5-45C6-AB7C-0A03F71D13FE}"/>
              </a:ext>
            </a:extLst>
          </p:cNvPr>
          <p:cNvSpPr>
            <a:spLocks noGrp="1"/>
          </p:cNvSpPr>
          <p:nvPr>
            <p:ph type="dt" sz="half" idx="10"/>
          </p:nvPr>
        </p:nvSpPr>
        <p:spPr/>
        <p:txBody>
          <a:bodyPr/>
          <a:lstStyle/>
          <a:p>
            <a:fld id="{BA495139-73A5-4D37-9F65-42DD6EFCB362}" type="datetime1">
              <a:rPr lang="zh-TW" altLang="en-US" smtClean="0"/>
              <a:t>2018/10/9</a:t>
            </a:fld>
            <a:endParaRPr lang="zh-TW" altLang="en-US"/>
          </a:p>
        </p:txBody>
      </p:sp>
      <p:sp>
        <p:nvSpPr>
          <p:cNvPr id="6" name="頁尾版面配置區 5">
            <a:extLst>
              <a:ext uri="{FF2B5EF4-FFF2-40B4-BE49-F238E27FC236}">
                <a16:creationId xmlns:a16="http://schemas.microsoft.com/office/drawing/2014/main" xmlns=""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EF64FCF-DA26-41B4-8919-89C752F28E4F}"/>
              </a:ext>
            </a:extLst>
          </p:cNvPr>
          <p:cNvSpPr>
            <a:spLocks noGrp="1"/>
          </p:cNvSpPr>
          <p:nvPr>
            <p:ph type="dt" sz="half" idx="10"/>
          </p:nvPr>
        </p:nvSpPr>
        <p:spPr/>
        <p:txBody>
          <a:bodyPr/>
          <a:lstStyle/>
          <a:p>
            <a:fld id="{F65DB9CA-F34A-4005-B66B-4638821FBB36}"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7253E183-339D-4996-9336-DF360AFA83CE}"/>
              </a:ext>
            </a:extLst>
          </p:cNvPr>
          <p:cNvSpPr>
            <a:spLocks noGrp="1"/>
          </p:cNvSpPr>
          <p:nvPr>
            <p:ph type="dt" sz="half" idx="10"/>
          </p:nvPr>
        </p:nvSpPr>
        <p:spPr/>
        <p:txBody>
          <a:bodyPr/>
          <a:lstStyle/>
          <a:p>
            <a:fld id="{9112FA3D-57A8-4A36-8AB7-98D4B7F81A6B}"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ECB9FC-3C71-41FD-914C-6EDD2F45F0F9}" type="datetime1">
              <a:rPr lang="zh-TW" altLang="en-US" smtClean="0"/>
              <a:t>2018/10/9</a:t>
            </a:fld>
            <a:endParaRPr lang="zh-TW" altLang="en-US"/>
          </a:p>
        </p:txBody>
      </p:sp>
      <p:sp>
        <p:nvSpPr>
          <p:cNvPr id="5" name="頁尾版面配置區 4">
            <a:extLst>
              <a:ext uri="{FF2B5EF4-FFF2-40B4-BE49-F238E27FC236}">
                <a16:creationId xmlns:a16="http://schemas.microsoft.com/office/drawing/2014/main" xmlns=""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5600E22-8B2D-44A2-B529-2D5C521DF6EC}"/>
              </a:ext>
            </a:extLst>
          </p:cNvPr>
          <p:cNvSpPr>
            <a:spLocks noGrp="1"/>
          </p:cNvSpPr>
          <p:nvPr>
            <p:ph type="ctrTitle"/>
          </p:nvPr>
        </p:nvSpPr>
        <p:spPr>
          <a:xfrm>
            <a:off x="1416174" y="721475"/>
            <a:ext cx="9359651" cy="1356957"/>
          </a:xfrm>
        </p:spPr>
        <p:txBody>
          <a:bodyPr>
            <a:noAutofit/>
          </a:bodyPr>
          <a:lstStyle/>
          <a:p>
            <a:r>
              <a:rPr lang="en-US" altLang="zh-TW" sz="3600" dirty="0"/>
              <a:t>A Novel Parallel Scheme for Fast Similarity Search in</a:t>
            </a:r>
            <a:r>
              <a:rPr lang="zh-TW" altLang="en-US" sz="3600" dirty="0"/>
              <a:t> </a:t>
            </a:r>
            <a:r>
              <a:rPr lang="en-US" altLang="zh-TW" sz="3600" dirty="0"/>
              <a:t>Large Time Series</a:t>
            </a:r>
            <a:endParaRPr lang="zh-TW" altLang="en-US" sz="36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xmlns="" id="{E1F7DB53-5192-4070-9ADE-B5C85E35C2CC}"/>
              </a:ext>
            </a:extLst>
          </p:cNvPr>
          <p:cNvSpPr>
            <a:spLocks noGrp="1"/>
          </p:cNvSpPr>
          <p:nvPr>
            <p:ph type="subTitle" idx="1"/>
          </p:nvPr>
        </p:nvSpPr>
        <p:spPr>
          <a:xfrm>
            <a:off x="383332" y="2810596"/>
            <a:ext cx="11425330" cy="618404"/>
          </a:xfrm>
        </p:spPr>
        <p:txBody>
          <a:bodyPr>
            <a:noAutofit/>
          </a:bodyPr>
          <a:lstStyle/>
          <a:p>
            <a:r>
              <a:rPr lang="en-US" altLang="zh-TW" sz="2800" dirty="0"/>
              <a:t>Hong Yin, </a:t>
            </a:r>
            <a:r>
              <a:rPr lang="en-US" altLang="zh-TW" sz="2800" dirty="0" err="1"/>
              <a:t>Shuqiang</a:t>
            </a:r>
            <a:r>
              <a:rPr lang="en-US" altLang="zh-TW" sz="2800" dirty="0"/>
              <a:t> Yang, </a:t>
            </a:r>
            <a:r>
              <a:rPr lang="en-US" altLang="zh-TW" sz="2800" dirty="0" err="1"/>
              <a:t>Shaodong</a:t>
            </a:r>
            <a:r>
              <a:rPr lang="en-US" altLang="zh-TW" sz="2800" dirty="0"/>
              <a:t> Ma, Fei Liu, </a:t>
            </a:r>
            <a:r>
              <a:rPr lang="en-US" altLang="zh-TW" sz="2800" dirty="0" err="1"/>
              <a:t>Zhikun</a:t>
            </a:r>
            <a:r>
              <a:rPr lang="en-US" altLang="zh-TW" sz="2800" dirty="0"/>
              <a:t> Chen</a:t>
            </a:r>
            <a:r>
              <a:rPr lang="en-US" altLang="zh-TW" dirty="0"/>
              <a:t/>
            </a:r>
            <a:br>
              <a:rPr lang="en-US" altLang="zh-TW" dirty="0"/>
            </a:br>
            <a:endParaRPr lang="zh-TW" altLang="en-US" sz="2600" dirty="0"/>
          </a:p>
        </p:txBody>
      </p:sp>
      <p:sp>
        <p:nvSpPr>
          <p:cNvPr id="4" name="投影片編號版面配置區 3">
            <a:extLst>
              <a:ext uri="{FF2B5EF4-FFF2-40B4-BE49-F238E27FC236}">
                <a16:creationId xmlns:a16="http://schemas.microsoft.com/office/drawing/2014/main" xmlns="" id="{F20F7494-AC7E-43FC-B731-082CA109D2FA}"/>
              </a:ext>
            </a:extLst>
          </p:cNvPr>
          <p:cNvSpPr>
            <a:spLocks noGrp="1"/>
          </p:cNvSpPr>
          <p:nvPr>
            <p:ph type="sldNum" sz="quarter" idx="12"/>
          </p:nvPr>
        </p:nvSpPr>
        <p:spPr>
          <a:xfrm>
            <a:off x="8354568" y="6485003"/>
            <a:ext cx="2743200" cy="365125"/>
          </a:xfrm>
        </p:spPr>
        <p:txBody>
          <a:bodyPr/>
          <a:lstStyle/>
          <a:p>
            <a:fld id="{8DCCD063-7F18-423D-A692-CC9D343FD360}" type="slidenum">
              <a:rPr lang="zh-TW" altLang="en-US" smtClean="0"/>
              <a:t>1</a:t>
            </a:fld>
            <a:endParaRPr lang="zh-TW" altLang="en-US" dirty="0"/>
          </a:p>
        </p:txBody>
      </p:sp>
      <p:sp>
        <p:nvSpPr>
          <p:cNvPr id="5" name="副標題 2">
            <a:extLst>
              <a:ext uri="{FF2B5EF4-FFF2-40B4-BE49-F238E27FC236}">
                <a16:creationId xmlns:a16="http://schemas.microsoft.com/office/drawing/2014/main" xmlns="" id="{CC60B4B8-BDE3-427A-B56B-7314F1C4CCA4}"/>
              </a:ext>
            </a:extLst>
          </p:cNvPr>
          <p:cNvSpPr txBox="1">
            <a:spLocks/>
          </p:cNvSpPr>
          <p:nvPr/>
        </p:nvSpPr>
        <p:spPr>
          <a:xfrm>
            <a:off x="1048428" y="3891090"/>
            <a:ext cx="10095142"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b="1" dirty="0">
                <a:solidFill>
                  <a:schemeClr val="tx1"/>
                </a:solidFill>
              </a:rPr>
              <a:t>China Communications</a:t>
            </a:r>
          </a:p>
          <a:p>
            <a:r>
              <a:rPr lang="en-US" altLang="zh-TW" sz="2800" b="1" dirty="0">
                <a:solidFill>
                  <a:schemeClr val="tx1"/>
                </a:solidFill>
              </a:rPr>
              <a:t>Vol. 12, Feb, 2015, Pages 129-140</a:t>
            </a:r>
          </a:p>
        </p:txBody>
      </p:sp>
      <p:sp>
        <p:nvSpPr>
          <p:cNvPr id="6" name="副標題 2">
            <a:extLst>
              <a:ext uri="{FF2B5EF4-FFF2-40B4-BE49-F238E27FC236}">
                <a16:creationId xmlns:a16="http://schemas.microsoft.com/office/drawing/2014/main" xmlns=""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2018/10/09</a:t>
            </a:r>
            <a:endParaRPr lang="zh-TW" altLang="en-US" sz="2800" dirty="0">
              <a:solidFill>
                <a:schemeClr val="tx1"/>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(1/2)</a:t>
            </a:r>
            <a:endParaRPr lang="zh-TW" altLang="en-US" dirty="0"/>
          </a:p>
        </p:txBody>
      </p:sp>
      <p:sp>
        <p:nvSpPr>
          <p:cNvPr id="3" name="內容版面配置區 2">
            <a:extLst>
              <a:ext uri="{FF2B5EF4-FFF2-40B4-BE49-F238E27FC236}">
                <a16:creationId xmlns:a16="http://schemas.microsoft.com/office/drawing/2014/main" xmlns="" id="{48A7BC5F-5DB6-4B6E-A263-D2C31A7AB884}"/>
              </a:ext>
            </a:extLst>
          </p:cNvPr>
          <p:cNvSpPr>
            <a:spLocks noGrp="1"/>
          </p:cNvSpPr>
          <p:nvPr>
            <p:ph idx="1"/>
          </p:nvPr>
        </p:nvSpPr>
        <p:spPr>
          <a:xfrm>
            <a:off x="838200" y="1568950"/>
            <a:ext cx="10109886" cy="4446839"/>
          </a:xfrm>
        </p:spPr>
        <p:txBody>
          <a:bodyPr>
            <a:noAutofit/>
          </a:bodyPr>
          <a:lstStyle/>
          <a:p>
            <a:pPr marL="0" indent="0">
              <a:buNone/>
            </a:pPr>
            <a:r>
              <a:rPr lang="en-US" altLang="zh-TW" dirty="0"/>
              <a:t>The similarity search is one of the fundamental components in time series data mining, e.g. clustering, classification, association rules mining. Many methods have been proposed to measure the similarity between time series, including Euclidean distance, Manhattan distance, and dynamic time warping (DTW). In contrast, DTW has been suggested to allow more robust similarity measure and be able to find the optimal alignment in time series. However, due to its quadratic time and space complexity, DTW is not suitable for large time series datasets. Many improving algorithms have been proposed for DTW search in large databases, such as approximate search or exact indexed search. </a:t>
            </a:r>
            <a:endParaRPr lang="zh-TW" altLang="en-US" dirty="0"/>
          </a:p>
        </p:txBody>
      </p:sp>
      <p:sp>
        <p:nvSpPr>
          <p:cNvPr id="4" name="投影片編號版面配置區 3">
            <a:extLst>
              <a:ext uri="{FF2B5EF4-FFF2-40B4-BE49-F238E27FC236}">
                <a16:creationId xmlns:a16="http://schemas.microsoft.com/office/drawing/2014/main" xmlns=""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51E4FEA-D504-4984-8169-77A8B62C8DAA}"/>
              </a:ext>
            </a:extLst>
          </p:cNvPr>
          <p:cNvSpPr>
            <a:spLocks noGrp="1"/>
          </p:cNvSpPr>
          <p:nvPr>
            <p:ph type="title"/>
          </p:nvPr>
        </p:nvSpPr>
        <p:spPr/>
        <p:txBody>
          <a:bodyPr/>
          <a:lstStyle/>
          <a:p>
            <a:r>
              <a:rPr lang="en-US" altLang="zh-TW" dirty="0"/>
              <a:t>Abstract</a:t>
            </a:r>
            <a:r>
              <a:rPr lang="zh-TW" altLang="en-US" dirty="0"/>
              <a:t> </a:t>
            </a:r>
            <a:r>
              <a:rPr lang="en-US" altLang="zh-TW" dirty="0"/>
              <a:t>(2/2)</a:t>
            </a:r>
            <a:endParaRPr lang="zh-TW" altLang="en-US" dirty="0"/>
          </a:p>
        </p:txBody>
      </p:sp>
      <p:sp>
        <p:nvSpPr>
          <p:cNvPr id="3" name="內容版面配置區 2">
            <a:extLst>
              <a:ext uri="{FF2B5EF4-FFF2-40B4-BE49-F238E27FC236}">
                <a16:creationId xmlns:a16="http://schemas.microsoft.com/office/drawing/2014/main" xmlns="" id="{48A7BC5F-5DB6-4B6E-A263-D2C31A7AB884}"/>
              </a:ext>
            </a:extLst>
          </p:cNvPr>
          <p:cNvSpPr>
            <a:spLocks noGrp="1"/>
          </p:cNvSpPr>
          <p:nvPr>
            <p:ph idx="1"/>
          </p:nvPr>
        </p:nvSpPr>
        <p:spPr>
          <a:xfrm>
            <a:off x="838200" y="1568950"/>
            <a:ext cx="10011032" cy="4446839"/>
          </a:xfrm>
        </p:spPr>
        <p:txBody>
          <a:bodyPr>
            <a:noAutofit/>
          </a:bodyPr>
          <a:lstStyle/>
          <a:p>
            <a:pPr marL="0" indent="0">
              <a:buNone/>
            </a:pPr>
            <a:r>
              <a:rPr lang="en-US" altLang="zh-TW" dirty="0"/>
              <a:t>Unlike the previous modified algorithm, this paper presents a novel parallel scheme for fast similarity search based on DTW, which is called MRDTW (</a:t>
            </a:r>
            <a:r>
              <a:rPr lang="en-US" altLang="zh-TW" dirty="0" err="1"/>
              <a:t>MapRedcue</a:t>
            </a:r>
            <a:r>
              <a:rPr lang="en-US" altLang="zh-TW" dirty="0"/>
              <a:t>-based DTW). The experimental results show that our approach not only retained the original accuracy as DTW, but also greatly improved the efficiency of similarity measure in large time series.</a:t>
            </a:r>
            <a:endParaRPr lang="zh-TW" altLang="en-US" dirty="0"/>
          </a:p>
        </p:txBody>
      </p:sp>
      <p:sp>
        <p:nvSpPr>
          <p:cNvPr id="4" name="投影片編號版面配置區 3">
            <a:extLst>
              <a:ext uri="{FF2B5EF4-FFF2-40B4-BE49-F238E27FC236}">
                <a16:creationId xmlns:a16="http://schemas.microsoft.com/office/drawing/2014/main" xmlns=""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4194765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D19AA43-F855-411E-A5C1-254FCA66D66F}"/>
              </a:ext>
            </a:extLst>
          </p:cNvPr>
          <p:cNvSpPr>
            <a:spLocks noGrp="1"/>
          </p:cNvSpPr>
          <p:nvPr>
            <p:ph type="title"/>
          </p:nvPr>
        </p:nvSpPr>
        <p:spPr/>
        <p:txBody>
          <a:bodyPr/>
          <a:lstStyle/>
          <a:p>
            <a:r>
              <a:rPr lang="en-US" altLang="zh-TW" dirty="0"/>
              <a:t>Parallelization of DTW (1/2)</a:t>
            </a:r>
            <a:endParaRPr lang="zh-TW" altLang="en-US" dirty="0"/>
          </a:p>
        </p:txBody>
      </p:sp>
      <p:pic>
        <p:nvPicPr>
          <p:cNvPr id="5" name="內容版面配置區 4">
            <a:extLst>
              <a:ext uri="{FF2B5EF4-FFF2-40B4-BE49-F238E27FC236}">
                <a16:creationId xmlns:a16="http://schemas.microsoft.com/office/drawing/2014/main" xmlns="" id="{9C79CDAB-E2F6-420E-92CD-8F2D9A56D95D}"/>
              </a:ext>
            </a:extLst>
          </p:cNvPr>
          <p:cNvPicPr>
            <a:picLocks noGrp="1" noChangeAspect="1"/>
          </p:cNvPicPr>
          <p:nvPr>
            <p:ph idx="1"/>
          </p:nvPr>
        </p:nvPicPr>
        <p:blipFill>
          <a:blip r:embed="rId2"/>
          <a:stretch>
            <a:fillRect/>
          </a:stretch>
        </p:blipFill>
        <p:spPr>
          <a:xfrm>
            <a:off x="548841" y="1601845"/>
            <a:ext cx="5229225" cy="3895725"/>
          </a:xfrm>
          <a:prstGeom prst="rect">
            <a:avLst/>
          </a:prstGeom>
        </p:spPr>
      </p:pic>
      <p:sp>
        <p:nvSpPr>
          <p:cNvPr id="4" name="投影片編號版面配置區 3">
            <a:extLst>
              <a:ext uri="{FF2B5EF4-FFF2-40B4-BE49-F238E27FC236}">
                <a16:creationId xmlns:a16="http://schemas.microsoft.com/office/drawing/2014/main" xmlns="" id="{005C1078-2663-4F3C-811E-A525892D383D}"/>
              </a:ext>
            </a:extLst>
          </p:cNvPr>
          <p:cNvSpPr>
            <a:spLocks noGrp="1"/>
          </p:cNvSpPr>
          <p:nvPr>
            <p:ph type="sldNum" sz="quarter" idx="12"/>
          </p:nvPr>
        </p:nvSpPr>
        <p:spPr/>
        <p:txBody>
          <a:bodyPr/>
          <a:lstStyle/>
          <a:p>
            <a:fld id="{8DCCD063-7F18-423D-A692-CC9D343FD360}" type="slidenum">
              <a:rPr lang="zh-TW" altLang="en-US" smtClean="0"/>
              <a:t>4</a:t>
            </a:fld>
            <a:endParaRPr lang="zh-TW" altLang="en-US"/>
          </a:p>
        </p:txBody>
      </p:sp>
      <p:pic>
        <p:nvPicPr>
          <p:cNvPr id="6" name="圖片 5">
            <a:extLst>
              <a:ext uri="{FF2B5EF4-FFF2-40B4-BE49-F238E27FC236}">
                <a16:creationId xmlns:a16="http://schemas.microsoft.com/office/drawing/2014/main" xmlns="" id="{08A1F200-73A5-43C6-B88D-99B97C449942}"/>
              </a:ext>
            </a:extLst>
          </p:cNvPr>
          <p:cNvPicPr>
            <a:picLocks noChangeAspect="1"/>
          </p:cNvPicPr>
          <p:nvPr/>
        </p:nvPicPr>
        <p:blipFill>
          <a:blip r:embed="rId3"/>
          <a:stretch>
            <a:fillRect/>
          </a:stretch>
        </p:blipFill>
        <p:spPr>
          <a:xfrm>
            <a:off x="6403206" y="1601845"/>
            <a:ext cx="5181600" cy="3971925"/>
          </a:xfrm>
          <a:prstGeom prst="rect">
            <a:avLst/>
          </a:prstGeom>
        </p:spPr>
      </p:pic>
      <p:pic>
        <p:nvPicPr>
          <p:cNvPr id="8" name="圖片 7">
            <a:extLst>
              <a:ext uri="{FF2B5EF4-FFF2-40B4-BE49-F238E27FC236}">
                <a16:creationId xmlns:a16="http://schemas.microsoft.com/office/drawing/2014/main" xmlns="" id="{E6E260C9-585C-4EDA-9982-B85B475ABD67}"/>
              </a:ext>
            </a:extLst>
          </p:cNvPr>
          <p:cNvPicPr>
            <a:picLocks noChangeAspect="1"/>
          </p:cNvPicPr>
          <p:nvPr/>
        </p:nvPicPr>
        <p:blipFill>
          <a:blip r:embed="rId4"/>
          <a:stretch>
            <a:fillRect/>
          </a:stretch>
        </p:blipFill>
        <p:spPr>
          <a:xfrm>
            <a:off x="548841" y="5796060"/>
            <a:ext cx="5353852" cy="464542"/>
          </a:xfrm>
          <a:prstGeom prst="rect">
            <a:avLst/>
          </a:prstGeom>
        </p:spPr>
      </p:pic>
      <p:pic>
        <p:nvPicPr>
          <p:cNvPr id="9" name="圖片 8">
            <a:extLst>
              <a:ext uri="{FF2B5EF4-FFF2-40B4-BE49-F238E27FC236}">
                <a16:creationId xmlns:a16="http://schemas.microsoft.com/office/drawing/2014/main" xmlns="" id="{EE947620-756B-42D3-8EA7-8CFDA6B987C6}"/>
              </a:ext>
            </a:extLst>
          </p:cNvPr>
          <p:cNvPicPr>
            <a:picLocks noChangeAspect="1"/>
          </p:cNvPicPr>
          <p:nvPr/>
        </p:nvPicPr>
        <p:blipFill>
          <a:blip r:embed="rId5"/>
          <a:stretch>
            <a:fillRect/>
          </a:stretch>
        </p:blipFill>
        <p:spPr>
          <a:xfrm>
            <a:off x="6185075" y="5732790"/>
            <a:ext cx="5617861" cy="464542"/>
          </a:xfrm>
          <a:prstGeom prst="rect">
            <a:avLst/>
          </a:prstGeom>
        </p:spPr>
      </p:pic>
    </p:spTree>
    <p:extLst>
      <p:ext uri="{BB962C8B-B14F-4D97-AF65-F5344CB8AC3E}">
        <p14:creationId xmlns:p14="http://schemas.microsoft.com/office/powerpoint/2010/main" val="2108279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D19AA43-F855-411E-A5C1-254FCA66D66F}"/>
              </a:ext>
            </a:extLst>
          </p:cNvPr>
          <p:cNvSpPr>
            <a:spLocks noGrp="1"/>
          </p:cNvSpPr>
          <p:nvPr>
            <p:ph type="title"/>
          </p:nvPr>
        </p:nvSpPr>
        <p:spPr/>
        <p:txBody>
          <a:bodyPr/>
          <a:lstStyle/>
          <a:p>
            <a:r>
              <a:rPr lang="en-US" altLang="zh-TW" dirty="0"/>
              <a:t>Parallelization of DTW (2/2)</a:t>
            </a:r>
            <a:endParaRPr lang="zh-TW" altLang="en-US" dirty="0"/>
          </a:p>
        </p:txBody>
      </p:sp>
      <p:sp>
        <p:nvSpPr>
          <p:cNvPr id="4" name="投影片編號版面配置區 3">
            <a:extLst>
              <a:ext uri="{FF2B5EF4-FFF2-40B4-BE49-F238E27FC236}">
                <a16:creationId xmlns:a16="http://schemas.microsoft.com/office/drawing/2014/main" xmlns="" id="{005C1078-2663-4F3C-811E-A525892D383D}"/>
              </a:ext>
            </a:extLst>
          </p:cNvPr>
          <p:cNvSpPr>
            <a:spLocks noGrp="1"/>
          </p:cNvSpPr>
          <p:nvPr>
            <p:ph type="sldNum" sz="quarter" idx="12"/>
          </p:nvPr>
        </p:nvSpPr>
        <p:spPr/>
        <p:txBody>
          <a:bodyPr/>
          <a:lstStyle/>
          <a:p>
            <a:fld id="{8DCCD063-7F18-423D-A692-CC9D343FD360}" type="slidenum">
              <a:rPr lang="zh-TW" altLang="en-US" smtClean="0"/>
              <a:t>5</a:t>
            </a:fld>
            <a:endParaRPr lang="zh-TW" altLang="en-US"/>
          </a:p>
        </p:txBody>
      </p:sp>
      <p:pic>
        <p:nvPicPr>
          <p:cNvPr id="8" name="內容版面配置區 7">
            <a:extLst>
              <a:ext uri="{FF2B5EF4-FFF2-40B4-BE49-F238E27FC236}">
                <a16:creationId xmlns:a16="http://schemas.microsoft.com/office/drawing/2014/main" xmlns="" id="{E2D639D3-292F-4F2D-B6C8-99E76D27C3FB}"/>
              </a:ext>
            </a:extLst>
          </p:cNvPr>
          <p:cNvPicPr>
            <a:picLocks noGrp="1" noChangeAspect="1"/>
          </p:cNvPicPr>
          <p:nvPr>
            <p:ph idx="1"/>
          </p:nvPr>
        </p:nvPicPr>
        <p:blipFill>
          <a:blip r:embed="rId2"/>
          <a:stretch>
            <a:fillRect/>
          </a:stretch>
        </p:blipFill>
        <p:spPr>
          <a:xfrm>
            <a:off x="838200" y="1443591"/>
            <a:ext cx="5267859" cy="4351338"/>
          </a:xfrm>
          <a:prstGeom prst="rect">
            <a:avLst/>
          </a:prstGeom>
        </p:spPr>
      </p:pic>
      <p:pic>
        <p:nvPicPr>
          <p:cNvPr id="9" name="圖片 8">
            <a:extLst>
              <a:ext uri="{FF2B5EF4-FFF2-40B4-BE49-F238E27FC236}">
                <a16:creationId xmlns:a16="http://schemas.microsoft.com/office/drawing/2014/main" xmlns="" id="{BBA1B33C-7061-4718-A476-9D0991C04B93}"/>
              </a:ext>
            </a:extLst>
          </p:cNvPr>
          <p:cNvPicPr>
            <a:picLocks noChangeAspect="1"/>
          </p:cNvPicPr>
          <p:nvPr/>
        </p:nvPicPr>
        <p:blipFill>
          <a:blip r:embed="rId3"/>
          <a:stretch>
            <a:fillRect/>
          </a:stretch>
        </p:blipFill>
        <p:spPr>
          <a:xfrm>
            <a:off x="765545" y="5978044"/>
            <a:ext cx="5631711" cy="737486"/>
          </a:xfrm>
          <a:prstGeom prst="rect">
            <a:avLst/>
          </a:prstGeom>
        </p:spPr>
      </p:pic>
      <p:sp>
        <p:nvSpPr>
          <p:cNvPr id="10" name="文字方塊 9">
            <a:extLst>
              <a:ext uri="{FF2B5EF4-FFF2-40B4-BE49-F238E27FC236}">
                <a16:creationId xmlns:a16="http://schemas.microsoft.com/office/drawing/2014/main" xmlns="" id="{F765C25D-FF5C-4041-ACD5-BC62773B5000}"/>
              </a:ext>
            </a:extLst>
          </p:cNvPr>
          <p:cNvSpPr txBox="1"/>
          <p:nvPr/>
        </p:nvSpPr>
        <p:spPr>
          <a:xfrm>
            <a:off x="6554804" y="1530417"/>
            <a:ext cx="4275529" cy="6124754"/>
          </a:xfrm>
          <a:prstGeom prst="rect">
            <a:avLst/>
          </a:prstGeom>
          <a:noFill/>
        </p:spPr>
        <p:txBody>
          <a:bodyPr wrap="none" rtlCol="0">
            <a:spAutoFit/>
          </a:bodyPr>
          <a:lstStyle/>
          <a:p>
            <a:r>
              <a:rPr lang="en-US" altLang="zh-TW" sz="2800" dirty="0"/>
              <a:t>W</a:t>
            </a:r>
            <a:r>
              <a:rPr lang="en-US" altLang="zh-TW" sz="2800" baseline="-25000" dirty="0"/>
              <a:t>1</a:t>
            </a:r>
            <a:r>
              <a:rPr lang="en-US" altLang="zh-TW" sz="2800" dirty="0"/>
              <a:t> = {</a:t>
            </a:r>
            <a:r>
              <a:rPr lang="en-US" altLang="zh-TW" sz="2800" dirty="0">
                <a:solidFill>
                  <a:srgbClr val="FF0000"/>
                </a:solidFill>
              </a:rPr>
              <a:t>(1,1)</a:t>
            </a:r>
            <a:r>
              <a:rPr lang="en-US" altLang="zh-TW" sz="2800" dirty="0"/>
              <a:t>,(1,2),(2,3),(3,4)}</a:t>
            </a:r>
          </a:p>
          <a:p>
            <a:r>
              <a:rPr lang="en-US" altLang="zh-TW" sz="2800" dirty="0"/>
              <a:t>W</a:t>
            </a:r>
            <a:r>
              <a:rPr lang="en-US" altLang="zh-TW" sz="2800" baseline="-25000" dirty="0"/>
              <a:t>3</a:t>
            </a:r>
            <a:r>
              <a:rPr lang="en-US" altLang="zh-TW" sz="2800" dirty="0"/>
              <a:t> = {(7,8),(8,9),</a:t>
            </a:r>
            <a:r>
              <a:rPr lang="en-US" altLang="zh-TW" sz="2800" dirty="0">
                <a:solidFill>
                  <a:srgbClr val="FF0000"/>
                </a:solidFill>
              </a:rPr>
              <a:t>(9,9)</a:t>
            </a:r>
            <a:r>
              <a:rPr lang="en-US" altLang="zh-TW" sz="2800" dirty="0"/>
              <a:t>}</a:t>
            </a:r>
          </a:p>
          <a:p>
            <a:endParaRPr lang="en-US" altLang="zh-TW" sz="2800" dirty="0"/>
          </a:p>
          <a:p>
            <a:r>
              <a:rPr lang="en-US" altLang="zh-TW" sz="2800" dirty="0"/>
              <a:t>W2 = {(4,7),(5,8),(6,9)}, </a:t>
            </a:r>
          </a:p>
          <a:p>
            <a:r>
              <a:rPr lang="en-US" altLang="zh-TW" sz="2800" dirty="0"/>
              <a:t>          {(4,6),(5,7),(6,8)},</a:t>
            </a:r>
          </a:p>
          <a:p>
            <a:r>
              <a:rPr lang="en-US" altLang="zh-TW" sz="2800" dirty="0"/>
              <a:t>          {(4,5),(5,6),(6,7)}, </a:t>
            </a:r>
          </a:p>
          <a:p>
            <a:r>
              <a:rPr lang="en-US" altLang="zh-TW" sz="2800" dirty="0"/>
              <a:t>          {(4,4),(5,5),(6,6)},</a:t>
            </a:r>
          </a:p>
          <a:p>
            <a:r>
              <a:rPr lang="en-US" altLang="zh-TW" sz="2800" dirty="0"/>
              <a:t>          {(4,3),(5,4),(6,5)}, </a:t>
            </a:r>
          </a:p>
          <a:p>
            <a:r>
              <a:rPr lang="en-US" altLang="zh-TW" sz="2800" dirty="0"/>
              <a:t>          {(4,2),(5,3),(6,4)},</a:t>
            </a:r>
          </a:p>
          <a:p>
            <a:r>
              <a:rPr lang="en-US" altLang="zh-TW" sz="2800" dirty="0"/>
              <a:t>          {(4,1),(5,2),(6,3)},</a:t>
            </a:r>
          </a:p>
          <a:p>
            <a:r>
              <a:rPr lang="en-US" altLang="zh-TW" sz="2800" dirty="0"/>
              <a:t>          {(4,1),(5,1),(6,2)},</a:t>
            </a:r>
          </a:p>
          <a:p>
            <a:r>
              <a:rPr lang="en-US" altLang="zh-TW" sz="2800" dirty="0"/>
              <a:t>          {(4,1),(5,1),(6,1)}</a:t>
            </a:r>
          </a:p>
          <a:p>
            <a:endParaRPr lang="en-US" altLang="zh-TW" sz="2800" dirty="0"/>
          </a:p>
          <a:p>
            <a:endParaRPr lang="zh-TW" altLang="en-US" sz="2800" dirty="0"/>
          </a:p>
        </p:txBody>
      </p:sp>
    </p:spTree>
    <p:extLst>
      <p:ext uri="{BB962C8B-B14F-4D97-AF65-F5344CB8AC3E}">
        <p14:creationId xmlns:p14="http://schemas.microsoft.com/office/powerpoint/2010/main" val="1161331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D19AA43-F855-411E-A5C1-254FCA66D66F}"/>
              </a:ext>
            </a:extLst>
          </p:cNvPr>
          <p:cNvSpPr>
            <a:spLocks noGrp="1"/>
          </p:cNvSpPr>
          <p:nvPr>
            <p:ph type="title"/>
          </p:nvPr>
        </p:nvSpPr>
        <p:spPr/>
        <p:txBody>
          <a:bodyPr/>
          <a:lstStyle/>
          <a:p>
            <a:r>
              <a:rPr lang="en-US" altLang="zh-TW" dirty="0"/>
              <a:t>Pruning of warping paths</a:t>
            </a:r>
            <a:endParaRPr lang="zh-TW" altLang="en-US" dirty="0"/>
          </a:p>
        </p:txBody>
      </p:sp>
      <p:sp>
        <p:nvSpPr>
          <p:cNvPr id="4" name="投影片編號版面配置區 3">
            <a:extLst>
              <a:ext uri="{FF2B5EF4-FFF2-40B4-BE49-F238E27FC236}">
                <a16:creationId xmlns:a16="http://schemas.microsoft.com/office/drawing/2014/main" xmlns="" id="{005C1078-2663-4F3C-811E-A525892D383D}"/>
              </a:ext>
            </a:extLst>
          </p:cNvPr>
          <p:cNvSpPr>
            <a:spLocks noGrp="1"/>
          </p:cNvSpPr>
          <p:nvPr>
            <p:ph type="sldNum" sz="quarter" idx="12"/>
          </p:nvPr>
        </p:nvSpPr>
        <p:spPr/>
        <p:txBody>
          <a:bodyPr/>
          <a:lstStyle/>
          <a:p>
            <a:fld id="{8DCCD063-7F18-423D-A692-CC9D343FD360}" type="slidenum">
              <a:rPr lang="zh-TW" altLang="en-US" smtClean="0"/>
              <a:t>6</a:t>
            </a:fld>
            <a:endParaRPr lang="zh-TW" altLang="en-US"/>
          </a:p>
        </p:txBody>
      </p:sp>
      <p:pic>
        <p:nvPicPr>
          <p:cNvPr id="8" name="內容版面配置區 7">
            <a:extLst>
              <a:ext uri="{FF2B5EF4-FFF2-40B4-BE49-F238E27FC236}">
                <a16:creationId xmlns:a16="http://schemas.microsoft.com/office/drawing/2014/main" xmlns="" id="{E2D639D3-292F-4F2D-B6C8-99E76D27C3FB}"/>
              </a:ext>
            </a:extLst>
          </p:cNvPr>
          <p:cNvPicPr>
            <a:picLocks noGrp="1" noChangeAspect="1"/>
          </p:cNvPicPr>
          <p:nvPr>
            <p:ph idx="1"/>
          </p:nvPr>
        </p:nvPicPr>
        <p:blipFill>
          <a:blip r:embed="rId2"/>
          <a:stretch>
            <a:fillRect/>
          </a:stretch>
        </p:blipFill>
        <p:spPr>
          <a:xfrm>
            <a:off x="838200" y="1443591"/>
            <a:ext cx="5267859" cy="4351338"/>
          </a:xfrm>
          <a:prstGeom prst="rect">
            <a:avLst/>
          </a:prstGeom>
        </p:spPr>
      </p:pic>
      <p:pic>
        <p:nvPicPr>
          <p:cNvPr id="9" name="圖片 8">
            <a:extLst>
              <a:ext uri="{FF2B5EF4-FFF2-40B4-BE49-F238E27FC236}">
                <a16:creationId xmlns:a16="http://schemas.microsoft.com/office/drawing/2014/main" xmlns="" id="{BBA1B33C-7061-4718-A476-9D0991C04B93}"/>
              </a:ext>
            </a:extLst>
          </p:cNvPr>
          <p:cNvPicPr>
            <a:picLocks noChangeAspect="1"/>
          </p:cNvPicPr>
          <p:nvPr/>
        </p:nvPicPr>
        <p:blipFill>
          <a:blip r:embed="rId3"/>
          <a:stretch>
            <a:fillRect/>
          </a:stretch>
        </p:blipFill>
        <p:spPr>
          <a:xfrm>
            <a:off x="765545" y="5978044"/>
            <a:ext cx="5631711" cy="737486"/>
          </a:xfrm>
          <a:prstGeom prst="rect">
            <a:avLst/>
          </a:prstGeom>
        </p:spPr>
      </p:pic>
      <p:sp>
        <p:nvSpPr>
          <p:cNvPr id="10" name="文字方塊 9">
            <a:extLst>
              <a:ext uri="{FF2B5EF4-FFF2-40B4-BE49-F238E27FC236}">
                <a16:creationId xmlns:a16="http://schemas.microsoft.com/office/drawing/2014/main" xmlns="" id="{F765C25D-FF5C-4041-ACD5-BC62773B5000}"/>
              </a:ext>
            </a:extLst>
          </p:cNvPr>
          <p:cNvSpPr txBox="1"/>
          <p:nvPr/>
        </p:nvSpPr>
        <p:spPr>
          <a:xfrm>
            <a:off x="6554804" y="1530417"/>
            <a:ext cx="3770584" cy="4832092"/>
          </a:xfrm>
          <a:prstGeom prst="rect">
            <a:avLst/>
          </a:prstGeom>
          <a:noFill/>
        </p:spPr>
        <p:txBody>
          <a:bodyPr wrap="none" rtlCol="0">
            <a:spAutoFit/>
          </a:bodyPr>
          <a:lstStyle/>
          <a:p>
            <a:r>
              <a:rPr lang="en-US" altLang="zh-TW" sz="2800" dirty="0"/>
              <a:t>W2 = </a:t>
            </a:r>
            <a:r>
              <a:rPr lang="en-US" altLang="zh-TW" sz="2800" strike="sngStrike" dirty="0"/>
              <a:t>{(4,7),(5,8),(6,9)}, </a:t>
            </a:r>
          </a:p>
          <a:p>
            <a:r>
              <a:rPr lang="en-US" altLang="zh-TW" sz="2800" dirty="0"/>
              <a:t>          {(4,6),(5,7),</a:t>
            </a:r>
            <a:r>
              <a:rPr lang="en-US" altLang="zh-TW" sz="2800" dirty="0">
                <a:solidFill>
                  <a:srgbClr val="FF0000"/>
                </a:solidFill>
              </a:rPr>
              <a:t>(6,8)</a:t>
            </a:r>
            <a:r>
              <a:rPr lang="en-US" altLang="zh-TW" sz="2800" dirty="0"/>
              <a:t>},</a:t>
            </a:r>
          </a:p>
          <a:p>
            <a:r>
              <a:rPr lang="en-US" altLang="zh-TW" sz="2800" dirty="0"/>
              <a:t>          </a:t>
            </a:r>
            <a:r>
              <a:rPr lang="en-US" altLang="zh-TW" sz="2800" dirty="0">
                <a:highlight>
                  <a:srgbClr val="FFFF00"/>
                </a:highlight>
              </a:rPr>
              <a:t>{</a:t>
            </a:r>
            <a:r>
              <a:rPr lang="en-US" altLang="zh-TW" sz="2800" dirty="0">
                <a:solidFill>
                  <a:srgbClr val="FF0000"/>
                </a:solidFill>
                <a:highlight>
                  <a:srgbClr val="FFFF00"/>
                </a:highlight>
              </a:rPr>
              <a:t>(4,5)</a:t>
            </a:r>
            <a:r>
              <a:rPr lang="en-US" altLang="zh-TW" sz="2800" dirty="0">
                <a:highlight>
                  <a:srgbClr val="FFFF00"/>
                </a:highlight>
              </a:rPr>
              <a:t>,(5,6),</a:t>
            </a:r>
            <a:r>
              <a:rPr lang="en-US" altLang="zh-TW" sz="2800" dirty="0">
                <a:solidFill>
                  <a:srgbClr val="FF0000"/>
                </a:solidFill>
                <a:highlight>
                  <a:srgbClr val="FFFF00"/>
                </a:highlight>
              </a:rPr>
              <a:t>(6,7)</a:t>
            </a:r>
            <a:r>
              <a:rPr lang="en-US" altLang="zh-TW" sz="2800" dirty="0">
                <a:highlight>
                  <a:srgbClr val="FFFF00"/>
                </a:highlight>
              </a:rPr>
              <a:t>}, </a:t>
            </a:r>
          </a:p>
          <a:p>
            <a:r>
              <a:rPr lang="en-US" altLang="zh-TW" sz="2800" dirty="0"/>
              <a:t>          {</a:t>
            </a:r>
            <a:r>
              <a:rPr lang="en-US" altLang="zh-TW" sz="2800" dirty="0">
                <a:solidFill>
                  <a:srgbClr val="FF0000"/>
                </a:solidFill>
              </a:rPr>
              <a:t>(4,4)</a:t>
            </a:r>
            <a:r>
              <a:rPr lang="en-US" altLang="zh-TW" sz="2800" dirty="0"/>
              <a:t>,(5,5),(6,6)},</a:t>
            </a:r>
          </a:p>
          <a:p>
            <a:r>
              <a:rPr lang="en-US" altLang="zh-TW" sz="2800" dirty="0"/>
              <a:t>          </a:t>
            </a:r>
            <a:r>
              <a:rPr lang="en-US" altLang="zh-TW" sz="2800" strike="sngStrike" dirty="0"/>
              <a:t>{(4,3),(5,4),(6,5)}, </a:t>
            </a:r>
          </a:p>
          <a:p>
            <a:r>
              <a:rPr lang="en-US" altLang="zh-TW" sz="2800" dirty="0"/>
              <a:t>          </a:t>
            </a:r>
            <a:r>
              <a:rPr lang="en-US" altLang="zh-TW" sz="2800" strike="sngStrike" dirty="0"/>
              <a:t>{(4,2),(5,3),(6,4)},</a:t>
            </a:r>
          </a:p>
          <a:p>
            <a:r>
              <a:rPr lang="en-US" altLang="zh-TW" sz="2800" dirty="0"/>
              <a:t>          </a:t>
            </a:r>
            <a:r>
              <a:rPr lang="en-US" altLang="zh-TW" sz="2800" strike="sngStrike" dirty="0"/>
              <a:t>{(4,1),(5,2),(6,3)},</a:t>
            </a:r>
          </a:p>
          <a:p>
            <a:r>
              <a:rPr lang="en-US" altLang="zh-TW" sz="2800" dirty="0"/>
              <a:t>          </a:t>
            </a:r>
            <a:r>
              <a:rPr lang="en-US" altLang="zh-TW" sz="2800" strike="sngStrike" dirty="0"/>
              <a:t>{(4,1),(5,1),(6,2)},</a:t>
            </a:r>
          </a:p>
          <a:p>
            <a:r>
              <a:rPr lang="en-US" altLang="zh-TW" sz="2800" dirty="0"/>
              <a:t>          </a:t>
            </a:r>
            <a:r>
              <a:rPr lang="en-US" altLang="zh-TW" sz="2800" strike="sngStrike" dirty="0"/>
              <a:t>{(4,1),(5,1),(6,1)}</a:t>
            </a:r>
          </a:p>
          <a:p>
            <a:endParaRPr lang="en-US" altLang="zh-TW" sz="2800" dirty="0"/>
          </a:p>
          <a:p>
            <a:endParaRPr lang="zh-TW" altLang="en-US" sz="2800" dirty="0"/>
          </a:p>
        </p:txBody>
      </p:sp>
      <p:sp>
        <p:nvSpPr>
          <p:cNvPr id="3" name="矩形 2">
            <a:extLst>
              <a:ext uri="{FF2B5EF4-FFF2-40B4-BE49-F238E27FC236}">
                <a16:creationId xmlns:a16="http://schemas.microsoft.com/office/drawing/2014/main" xmlns="" id="{C725FAD6-9996-433F-977F-F9FA6DB0F960}"/>
              </a:ext>
            </a:extLst>
          </p:cNvPr>
          <p:cNvSpPr/>
          <p:nvPr/>
        </p:nvSpPr>
        <p:spPr>
          <a:xfrm>
            <a:off x="3051208" y="3214837"/>
            <a:ext cx="394636" cy="741145"/>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12FCEC1D-D169-47A2-A346-74EB9A6F2683}"/>
              </a:ext>
            </a:extLst>
          </p:cNvPr>
          <p:cNvSpPr/>
          <p:nvPr/>
        </p:nvSpPr>
        <p:spPr>
          <a:xfrm>
            <a:off x="3877376" y="4358639"/>
            <a:ext cx="394636" cy="741145"/>
          </a:xfrm>
          <a:prstGeom prst="rect">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873022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3053180-F704-4467-AB51-CBDFDFB900C1}"/>
              </a:ext>
            </a:extLst>
          </p:cNvPr>
          <p:cNvSpPr>
            <a:spLocks noGrp="1"/>
          </p:cNvSpPr>
          <p:nvPr>
            <p:ph type="title"/>
          </p:nvPr>
        </p:nvSpPr>
        <p:spPr/>
        <p:txBody>
          <a:bodyPr/>
          <a:lstStyle/>
          <a:p>
            <a:r>
              <a:rPr lang="en-US" altLang="zh-TW" dirty="0"/>
              <a:t>The example of slope constraint</a:t>
            </a:r>
            <a:endParaRPr lang="zh-TW" altLang="en-US" dirty="0"/>
          </a:p>
        </p:txBody>
      </p:sp>
      <p:pic>
        <p:nvPicPr>
          <p:cNvPr id="5" name="內容版面配置區 4">
            <a:extLst>
              <a:ext uri="{FF2B5EF4-FFF2-40B4-BE49-F238E27FC236}">
                <a16:creationId xmlns:a16="http://schemas.microsoft.com/office/drawing/2014/main" xmlns="" id="{8834193D-FABF-42C8-8665-CC68A3571B7B}"/>
              </a:ext>
            </a:extLst>
          </p:cNvPr>
          <p:cNvPicPr>
            <a:picLocks noGrp="1" noChangeAspect="1"/>
          </p:cNvPicPr>
          <p:nvPr>
            <p:ph idx="1"/>
          </p:nvPr>
        </p:nvPicPr>
        <p:blipFill>
          <a:blip r:embed="rId2"/>
          <a:stretch>
            <a:fillRect/>
          </a:stretch>
        </p:blipFill>
        <p:spPr>
          <a:xfrm>
            <a:off x="838200" y="1949446"/>
            <a:ext cx="6752855" cy="4329904"/>
          </a:xfrm>
          <a:prstGeom prst="rect">
            <a:avLst/>
          </a:prstGeom>
        </p:spPr>
      </p:pic>
      <p:sp>
        <p:nvSpPr>
          <p:cNvPr id="4" name="投影片編號版面配置區 3">
            <a:extLst>
              <a:ext uri="{FF2B5EF4-FFF2-40B4-BE49-F238E27FC236}">
                <a16:creationId xmlns:a16="http://schemas.microsoft.com/office/drawing/2014/main" xmlns="" id="{C8BE606E-BB89-43DF-B633-41A07ADC6A27}"/>
              </a:ext>
            </a:extLst>
          </p:cNvPr>
          <p:cNvSpPr>
            <a:spLocks noGrp="1"/>
          </p:cNvSpPr>
          <p:nvPr>
            <p:ph type="sldNum" sz="quarter" idx="12"/>
          </p:nvPr>
        </p:nvSpPr>
        <p:spPr/>
        <p:txBody>
          <a:bodyPr/>
          <a:lstStyle/>
          <a:p>
            <a:fld id="{8DCCD063-7F18-423D-A692-CC9D343FD360}" type="slidenum">
              <a:rPr lang="zh-TW" altLang="en-US" smtClean="0"/>
              <a:t>7</a:t>
            </a:fld>
            <a:endParaRPr lang="zh-TW" altLang="en-US"/>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xmlns="" id="{0F75F0C4-8BE9-49FA-873A-B1560CCD52AC}"/>
                  </a:ext>
                </a:extLst>
              </p:cNvPr>
              <p:cNvSpPr/>
              <p:nvPr/>
            </p:nvSpPr>
            <p:spPr>
              <a:xfrm>
                <a:off x="7911966" y="2598569"/>
                <a:ext cx="3833261" cy="2677656"/>
              </a:xfrm>
              <a:prstGeom prst="rect">
                <a:avLst/>
              </a:prstGeom>
            </p:spPr>
            <p:txBody>
              <a:bodyPr wrap="square">
                <a:spAutoFit/>
              </a:bodyPr>
              <a:lstStyle/>
              <a:p>
                <a:r>
                  <a:rPr lang="pt-BR" altLang="zh-TW" sz="2400" i="1" dirty="0">
                    <a:solidFill>
                      <a:srgbClr val="FF0000"/>
                    </a:solidFill>
                    <a:latin typeface="TimesNewRomanPS-ItalicMT"/>
                  </a:rPr>
                  <a:t>S l o p e C o n s t r a i n t </a:t>
                </a:r>
                <a:r>
                  <a:rPr lang="pt-BR" altLang="zh-TW" sz="2400" dirty="0">
                    <a:solidFill>
                      <a:srgbClr val="FF0000"/>
                    </a:solidFill>
                    <a:latin typeface="TimesNewRomanPSMT"/>
                  </a:rPr>
                  <a:t>:</a:t>
                </a:r>
              </a:p>
              <a:p>
                <a:r>
                  <a:rPr lang="en-US" altLang="zh-TW" sz="2400" dirty="0">
                    <a:latin typeface="NimbusRomNo9L-Regu"/>
                  </a:rPr>
                  <a:t>( </a:t>
                </a:r>
                <a:r>
                  <a:rPr lang="en-US" altLang="zh-TW" sz="2400" i="1" dirty="0" err="1">
                    <a:latin typeface="NimbusRomNo9L-ReguItal"/>
                  </a:rPr>
                  <a:t>js</a:t>
                </a:r>
                <a:r>
                  <a:rPr lang="en-US" altLang="zh-TW" sz="2400" i="1" baseline="-25000" dirty="0" err="1">
                    <a:latin typeface="NimbusRomNo9L-ReguItal"/>
                  </a:rPr>
                  <a:t>b</a:t>
                </a:r>
                <a:r>
                  <a:rPr lang="en-US" altLang="zh-TW" sz="2400" dirty="0" err="1">
                    <a:latin typeface="txsy"/>
                  </a:rPr>
                  <a:t>−</a:t>
                </a:r>
                <a:r>
                  <a:rPr lang="en-US" altLang="zh-TW" sz="2400" i="1" dirty="0" err="1">
                    <a:latin typeface="NimbusRomNo9L-ReguItal"/>
                  </a:rPr>
                  <a:t>js</a:t>
                </a:r>
                <a:r>
                  <a:rPr lang="en-US" altLang="zh-TW" sz="2400" i="1" baseline="-25000" dirty="0" err="1">
                    <a:latin typeface="NimbusRomNo9L-ReguItal"/>
                  </a:rPr>
                  <a:t>a</a:t>
                </a:r>
                <a:r>
                  <a:rPr lang="en-US" altLang="zh-TW" sz="2400" i="1" dirty="0">
                    <a:latin typeface="NimbusRomNo9L-ReguItal"/>
                  </a:rPr>
                  <a:t> </a:t>
                </a:r>
                <a:r>
                  <a:rPr lang="en-US" altLang="zh-TW" sz="2400" dirty="0">
                    <a:latin typeface="NimbusRomNo9L-Regu"/>
                  </a:rPr>
                  <a:t>)</a:t>
                </a:r>
                <a:r>
                  <a:rPr lang="en-US" altLang="zh-TW" sz="2400" dirty="0">
                    <a:latin typeface="rtxmi"/>
                  </a:rPr>
                  <a:t>/</a:t>
                </a:r>
                <a:r>
                  <a:rPr lang="en-US" altLang="zh-TW" sz="2400" dirty="0">
                    <a:latin typeface="NimbusRomNo9L-Regu"/>
                  </a:rPr>
                  <a:t>(</a:t>
                </a:r>
                <a:r>
                  <a:rPr lang="en-US" altLang="zh-TW" sz="2400" i="1" dirty="0" err="1">
                    <a:latin typeface="NimbusRomNo9L-ReguItal"/>
                  </a:rPr>
                  <a:t>is</a:t>
                </a:r>
                <a:r>
                  <a:rPr lang="en-US" altLang="zh-TW" sz="2400" i="1" baseline="-25000" dirty="0" err="1">
                    <a:latin typeface="NimbusRomNo9L-ReguItal"/>
                  </a:rPr>
                  <a:t>b</a:t>
                </a:r>
                <a:r>
                  <a:rPr lang="en-US" altLang="zh-TW" sz="2400" dirty="0" err="1">
                    <a:latin typeface="txsy"/>
                  </a:rPr>
                  <a:t>−</a:t>
                </a:r>
                <a:r>
                  <a:rPr lang="en-US" altLang="zh-TW" sz="2400" i="1" dirty="0" err="1">
                    <a:latin typeface="NimbusRomNo9L-ReguItal"/>
                  </a:rPr>
                  <a:t>is</a:t>
                </a:r>
                <a:r>
                  <a:rPr lang="en-US" altLang="zh-TW" sz="2400" i="1" baseline="-25000" dirty="0" err="1">
                    <a:latin typeface="NimbusRomNo9L-ReguItal"/>
                  </a:rPr>
                  <a:t>a</a:t>
                </a:r>
                <a:r>
                  <a:rPr lang="en-US" altLang="zh-TW" sz="2400" i="1" dirty="0">
                    <a:latin typeface="NimbusRomNo9L-ReguItal"/>
                  </a:rPr>
                  <a:t> </a:t>
                </a:r>
                <a:r>
                  <a:rPr lang="en-US" altLang="zh-TW" sz="2400" dirty="0">
                    <a:latin typeface="NimbusRomNo9L-Regu"/>
                  </a:rPr>
                  <a:t>)</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latin typeface="txsy"/>
                  </a:rPr>
                  <a:t> </a:t>
                </a:r>
                <a:r>
                  <a:rPr lang="en-US" altLang="zh-TW" sz="2400" i="1" dirty="0">
                    <a:latin typeface="NimbusRomNo9L-ReguItal"/>
                  </a:rPr>
                  <a:t>p </a:t>
                </a:r>
              </a:p>
              <a:p>
                <a:r>
                  <a:rPr lang="en-US" altLang="zh-TW" sz="2400" dirty="0">
                    <a:latin typeface="TimesNewRomanPSMT"/>
                  </a:rPr>
                  <a:t>and </a:t>
                </a:r>
                <a:r>
                  <a:rPr lang="en-US" altLang="zh-TW" sz="2400" dirty="0">
                    <a:latin typeface="NimbusRomNo9L-Regu"/>
                  </a:rPr>
                  <a:t>(</a:t>
                </a:r>
                <a:r>
                  <a:rPr lang="en-US" altLang="zh-TW" sz="2400" i="1" dirty="0" err="1">
                    <a:latin typeface="NimbusRomNo9L-ReguItal"/>
                  </a:rPr>
                  <a:t>is</a:t>
                </a:r>
                <a:r>
                  <a:rPr lang="en-US" altLang="zh-TW" sz="2400" i="1" baseline="-25000" dirty="0" err="1">
                    <a:latin typeface="NimbusRomNo9L-ReguItal"/>
                  </a:rPr>
                  <a:t>b</a:t>
                </a:r>
                <a:r>
                  <a:rPr lang="en-US" altLang="zh-TW" sz="2400" dirty="0" err="1">
                    <a:latin typeface="txsy"/>
                  </a:rPr>
                  <a:t>−</a:t>
                </a:r>
                <a:r>
                  <a:rPr lang="en-US" altLang="zh-TW" sz="2400" i="1" dirty="0" err="1">
                    <a:latin typeface="NimbusRomNo9L-ReguItal"/>
                  </a:rPr>
                  <a:t>is</a:t>
                </a:r>
                <a:r>
                  <a:rPr lang="en-US" altLang="zh-TW" sz="2400" i="1" baseline="-25000" dirty="0" err="1">
                    <a:latin typeface="NimbusRomNo9L-ReguItal"/>
                  </a:rPr>
                  <a:t>a</a:t>
                </a:r>
                <a:r>
                  <a:rPr lang="en-US" altLang="zh-TW" sz="2400" i="1" dirty="0">
                    <a:latin typeface="NimbusRomNo9L-ReguItal"/>
                  </a:rPr>
                  <a:t> </a:t>
                </a:r>
                <a:r>
                  <a:rPr lang="en-US" altLang="zh-TW" sz="2400" dirty="0">
                    <a:latin typeface="NimbusRomNo9L-Regu"/>
                  </a:rPr>
                  <a:t>)</a:t>
                </a:r>
                <a:r>
                  <a:rPr lang="en-US" altLang="zh-TW" sz="2400" dirty="0">
                    <a:latin typeface="rtxmi"/>
                  </a:rPr>
                  <a:t>/</a:t>
                </a:r>
                <a:r>
                  <a:rPr lang="en-US" altLang="zh-TW" sz="2400" dirty="0">
                    <a:latin typeface="NimbusRomNo9L-Regu"/>
                  </a:rPr>
                  <a:t>( </a:t>
                </a:r>
                <a:r>
                  <a:rPr lang="en-US" altLang="zh-TW" sz="2400" i="1" dirty="0" err="1">
                    <a:latin typeface="NimbusRomNo9L-ReguItal"/>
                  </a:rPr>
                  <a:t>js</a:t>
                </a:r>
                <a:r>
                  <a:rPr lang="en-US" altLang="zh-TW" sz="2400" i="1" baseline="-25000" dirty="0" err="1">
                    <a:latin typeface="NimbusRomNo9L-ReguItal"/>
                  </a:rPr>
                  <a:t>b</a:t>
                </a:r>
                <a:r>
                  <a:rPr lang="en-US" altLang="zh-TW" sz="2400" dirty="0" err="1">
                    <a:latin typeface="txsy"/>
                  </a:rPr>
                  <a:t>−</a:t>
                </a:r>
                <a:r>
                  <a:rPr lang="en-US" altLang="zh-TW" sz="2400" i="1" dirty="0" err="1">
                    <a:latin typeface="NimbusRomNo9L-ReguItal"/>
                  </a:rPr>
                  <a:t>js</a:t>
                </a:r>
                <a:r>
                  <a:rPr lang="en-US" altLang="zh-TW" sz="2400" i="1" baseline="-25000" dirty="0" err="1">
                    <a:latin typeface="NimbusRomNo9L-ReguItal"/>
                  </a:rPr>
                  <a:t>a</a:t>
                </a:r>
                <a:r>
                  <a:rPr lang="en-US" altLang="zh-TW" sz="2400" i="1" dirty="0">
                    <a:latin typeface="NimbusRomNo9L-ReguItal"/>
                  </a:rPr>
                  <a:t> </a:t>
                </a:r>
                <a:r>
                  <a:rPr lang="en-US" altLang="zh-TW" sz="2400" dirty="0">
                    <a:latin typeface="NimbusRomNo9L-Regu"/>
                  </a:rPr>
                  <a:t>)</a:t>
                </a:r>
                <a:r>
                  <a:rPr lang="en-US" altLang="zh-TW" sz="2400" dirty="0">
                    <a:ea typeface="Cambria Math" panose="02040503050406030204" pitchFamily="18" charset="0"/>
                  </a:rPr>
                  <a:t> </a:t>
                </a:r>
                <a14:m>
                  <m:oMath xmlns:m="http://schemas.openxmlformats.org/officeDocument/2006/math">
                    <m:r>
                      <a:rPr lang="en-US" altLang="zh-TW" sz="2400" i="1">
                        <a:latin typeface="Cambria Math" panose="02040503050406030204" pitchFamily="18" charset="0"/>
                        <a:ea typeface="Cambria Math" panose="02040503050406030204" pitchFamily="18" charset="0"/>
                      </a:rPr>
                      <m:t>≤</m:t>
                    </m:r>
                  </m:oMath>
                </a14:m>
                <a:r>
                  <a:rPr lang="en-US" altLang="zh-TW" sz="2400" dirty="0">
                    <a:latin typeface="txsy"/>
                  </a:rPr>
                  <a:t> </a:t>
                </a:r>
                <a:r>
                  <a:rPr lang="en-US" altLang="zh-TW" sz="2400" i="1" dirty="0">
                    <a:latin typeface="NimbusRomNo9L-ReguItal"/>
                  </a:rPr>
                  <a:t>q</a:t>
                </a:r>
              </a:p>
              <a:p>
                <a:r>
                  <a:rPr lang="en-US" altLang="zh-TW" sz="2400" dirty="0">
                    <a:latin typeface="TimesNewRomanPSMT"/>
                  </a:rPr>
                  <a:t>, where </a:t>
                </a:r>
                <a:r>
                  <a:rPr lang="en-US" altLang="zh-TW" sz="2400" i="1" dirty="0">
                    <a:latin typeface="TimesNewRomanPS-ItalicMT"/>
                  </a:rPr>
                  <a:t>q </a:t>
                </a:r>
                <a:r>
                  <a:rPr lang="en-US" altLang="zh-TW" sz="2400" dirty="0">
                    <a:latin typeface="TimesNewRomanPSMT"/>
                  </a:rPr>
                  <a:t>≥ 0 is the number of steps in the </a:t>
                </a:r>
                <a:r>
                  <a:rPr lang="en-US" altLang="zh-TW" sz="2400" i="1" dirty="0">
                    <a:latin typeface="TimesNewRomanPS-ItalicMT"/>
                  </a:rPr>
                  <a:t>x</a:t>
                </a:r>
                <a:r>
                  <a:rPr lang="en-US" altLang="zh-TW" sz="2400" dirty="0">
                    <a:latin typeface="TimesNewRomanPSMT"/>
                  </a:rPr>
                  <a:t>-direction and </a:t>
                </a:r>
                <a:r>
                  <a:rPr lang="en-US" altLang="zh-TW" sz="2400" i="1" dirty="0">
                    <a:latin typeface="TimesNewRomanPS-ItalicMT"/>
                  </a:rPr>
                  <a:t>p </a:t>
                </a:r>
                <a:r>
                  <a:rPr lang="en-US" altLang="zh-TW" sz="2400" dirty="0">
                    <a:latin typeface="TimesNewRomanPSMT"/>
                  </a:rPr>
                  <a:t>≥ 0 is the number of steps</a:t>
                </a:r>
              </a:p>
              <a:p>
                <a:r>
                  <a:rPr lang="en-US" altLang="zh-TW" sz="2400" dirty="0">
                    <a:latin typeface="TimesNewRomanPSMT"/>
                  </a:rPr>
                  <a:t>in the </a:t>
                </a:r>
                <a:r>
                  <a:rPr lang="en-US" altLang="zh-TW" sz="2400" i="1" dirty="0">
                    <a:latin typeface="TimesNewRomanPS-ItalicMT"/>
                  </a:rPr>
                  <a:t>y</a:t>
                </a:r>
                <a:r>
                  <a:rPr lang="en-US" altLang="zh-TW" sz="2400" dirty="0">
                    <a:latin typeface="TimesNewRomanPSMT"/>
                  </a:rPr>
                  <a:t>-direction.</a:t>
                </a:r>
                <a:endParaRPr lang="zh-TW" altLang="en-US" sz="2400" dirty="0"/>
              </a:p>
            </p:txBody>
          </p:sp>
        </mc:Choice>
        <mc:Fallback xmlns="">
          <p:sp>
            <p:nvSpPr>
              <p:cNvPr id="6" name="矩形 5">
                <a:extLst>
                  <a:ext uri="{FF2B5EF4-FFF2-40B4-BE49-F238E27FC236}">
                    <a16:creationId xmlns:a16="http://schemas.microsoft.com/office/drawing/2014/main" id="{0F75F0C4-8BE9-49FA-873A-B1560CCD52AC}"/>
                  </a:ext>
                </a:extLst>
              </p:cNvPr>
              <p:cNvSpPr>
                <a:spLocks noRot="1" noChangeAspect="1" noMove="1" noResize="1" noEditPoints="1" noAdjustHandles="1" noChangeArrowheads="1" noChangeShapeType="1" noTextEdit="1"/>
              </p:cNvSpPr>
              <p:nvPr/>
            </p:nvSpPr>
            <p:spPr>
              <a:xfrm>
                <a:off x="7911966" y="2598569"/>
                <a:ext cx="3833261" cy="2677656"/>
              </a:xfrm>
              <a:prstGeom prst="rect">
                <a:avLst/>
              </a:prstGeom>
              <a:blipFill>
                <a:blip r:embed="rId3"/>
                <a:stretch>
                  <a:fillRect l="-2544" t="-1818" r="-3339" b="-386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72124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2EC2E25-42D2-44A8-9DE0-1707812B9614}"/>
              </a:ext>
            </a:extLst>
          </p:cNvPr>
          <p:cNvSpPr>
            <a:spLocks noGrp="1"/>
          </p:cNvSpPr>
          <p:nvPr>
            <p:ph type="title"/>
          </p:nvPr>
        </p:nvSpPr>
        <p:spPr/>
        <p:txBody>
          <a:bodyPr/>
          <a:lstStyle/>
          <a:p>
            <a:r>
              <a:rPr lang="en-US" altLang="zh-TW" dirty="0"/>
              <a:t>The process of Map for DTW</a:t>
            </a:r>
            <a:endParaRPr lang="zh-TW" altLang="en-US" dirty="0"/>
          </a:p>
        </p:txBody>
      </p:sp>
      <p:pic>
        <p:nvPicPr>
          <p:cNvPr id="5" name="內容版面配置區 4">
            <a:extLst>
              <a:ext uri="{FF2B5EF4-FFF2-40B4-BE49-F238E27FC236}">
                <a16:creationId xmlns:a16="http://schemas.microsoft.com/office/drawing/2014/main" xmlns="" id="{561A21D7-5329-40E3-B562-DC0F6A708DDF}"/>
              </a:ext>
            </a:extLst>
          </p:cNvPr>
          <p:cNvPicPr>
            <a:picLocks noGrp="1" noChangeAspect="1"/>
          </p:cNvPicPr>
          <p:nvPr>
            <p:ph idx="1"/>
          </p:nvPr>
        </p:nvPicPr>
        <p:blipFill>
          <a:blip r:embed="rId2"/>
          <a:stretch>
            <a:fillRect/>
          </a:stretch>
        </p:blipFill>
        <p:spPr>
          <a:xfrm>
            <a:off x="2354240" y="1837137"/>
            <a:ext cx="7483520" cy="4372767"/>
          </a:xfrm>
          <a:prstGeom prst="rect">
            <a:avLst/>
          </a:prstGeom>
        </p:spPr>
      </p:pic>
      <p:sp>
        <p:nvSpPr>
          <p:cNvPr id="4" name="投影片編號版面配置區 3">
            <a:extLst>
              <a:ext uri="{FF2B5EF4-FFF2-40B4-BE49-F238E27FC236}">
                <a16:creationId xmlns:a16="http://schemas.microsoft.com/office/drawing/2014/main" xmlns="" id="{E6ED6851-D64C-4730-B591-4F818FAFEF8C}"/>
              </a:ext>
            </a:extLst>
          </p:cNvPr>
          <p:cNvSpPr>
            <a:spLocks noGrp="1"/>
          </p:cNvSpPr>
          <p:nvPr>
            <p:ph type="sldNum" sz="quarter" idx="12"/>
          </p:nvPr>
        </p:nvSpPr>
        <p:spPr/>
        <p:txBody>
          <a:bodyPr/>
          <a:lstStyle/>
          <a:p>
            <a:fld id="{8DCCD063-7F18-423D-A692-CC9D343FD360}" type="slidenum">
              <a:rPr lang="zh-TW" altLang="en-US" smtClean="0"/>
              <a:t>8</a:t>
            </a:fld>
            <a:endParaRPr lang="zh-TW" altLang="en-US"/>
          </a:p>
        </p:txBody>
      </p:sp>
    </p:spTree>
    <p:extLst>
      <p:ext uri="{BB962C8B-B14F-4D97-AF65-F5344CB8AC3E}">
        <p14:creationId xmlns:p14="http://schemas.microsoft.com/office/powerpoint/2010/main" val="2309561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7C01F32-80B4-43BA-A48C-31DF1095A662}"/>
              </a:ext>
            </a:extLst>
          </p:cNvPr>
          <p:cNvSpPr>
            <a:spLocks noGrp="1"/>
          </p:cNvSpPr>
          <p:nvPr>
            <p:ph type="title"/>
          </p:nvPr>
        </p:nvSpPr>
        <p:spPr/>
        <p:txBody>
          <a:bodyPr/>
          <a:lstStyle/>
          <a:p>
            <a:r>
              <a:rPr lang="en-US" altLang="zh-TW" dirty="0"/>
              <a:t>The process of Reduce for DTW</a:t>
            </a:r>
            <a:endParaRPr lang="zh-TW" altLang="en-US" dirty="0"/>
          </a:p>
        </p:txBody>
      </p:sp>
      <p:pic>
        <p:nvPicPr>
          <p:cNvPr id="5" name="內容版面配置區 4">
            <a:extLst>
              <a:ext uri="{FF2B5EF4-FFF2-40B4-BE49-F238E27FC236}">
                <a16:creationId xmlns:a16="http://schemas.microsoft.com/office/drawing/2014/main" xmlns="" id="{E4F02F23-1226-4088-9243-1CB81D93EB35}"/>
              </a:ext>
            </a:extLst>
          </p:cNvPr>
          <p:cNvPicPr>
            <a:picLocks noGrp="1" noChangeAspect="1"/>
          </p:cNvPicPr>
          <p:nvPr>
            <p:ph idx="1"/>
          </p:nvPr>
        </p:nvPicPr>
        <p:blipFill>
          <a:blip r:embed="rId2"/>
          <a:stretch>
            <a:fillRect/>
          </a:stretch>
        </p:blipFill>
        <p:spPr>
          <a:xfrm>
            <a:off x="2742122" y="1930726"/>
            <a:ext cx="6707756" cy="4425626"/>
          </a:xfrm>
          <a:prstGeom prst="rect">
            <a:avLst/>
          </a:prstGeom>
        </p:spPr>
      </p:pic>
      <p:sp>
        <p:nvSpPr>
          <p:cNvPr id="4" name="投影片編號版面配置區 3">
            <a:extLst>
              <a:ext uri="{FF2B5EF4-FFF2-40B4-BE49-F238E27FC236}">
                <a16:creationId xmlns:a16="http://schemas.microsoft.com/office/drawing/2014/main" xmlns="" id="{29004D5F-D740-4456-AA59-EAA42455E263}"/>
              </a:ext>
            </a:extLst>
          </p:cNvPr>
          <p:cNvSpPr>
            <a:spLocks noGrp="1"/>
          </p:cNvSpPr>
          <p:nvPr>
            <p:ph type="sldNum" sz="quarter" idx="12"/>
          </p:nvPr>
        </p:nvSpPr>
        <p:spPr/>
        <p:txBody>
          <a:bodyPr/>
          <a:lstStyle/>
          <a:p>
            <a:fld id="{8DCCD063-7F18-423D-A692-CC9D343FD360}" type="slidenum">
              <a:rPr lang="zh-TW" altLang="en-US" smtClean="0"/>
              <a:t>9</a:t>
            </a:fld>
            <a:endParaRPr lang="zh-TW" altLang="en-US"/>
          </a:p>
        </p:txBody>
      </p:sp>
    </p:spTree>
    <p:extLst>
      <p:ext uri="{BB962C8B-B14F-4D97-AF65-F5344CB8AC3E}">
        <p14:creationId xmlns:p14="http://schemas.microsoft.com/office/powerpoint/2010/main" val="226433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09FB46A-442C-44CC-9602-8E9773930C5F}"/>
              </a:ext>
            </a:extLst>
          </p:cNvPr>
          <p:cNvSpPr>
            <a:spLocks noGrp="1"/>
          </p:cNvSpPr>
          <p:nvPr>
            <p:ph type="title"/>
          </p:nvPr>
        </p:nvSpPr>
        <p:spPr/>
        <p:txBody>
          <a:bodyPr/>
          <a:lstStyle/>
          <a:p>
            <a:r>
              <a:rPr lang="en-US" altLang="zh-TW" dirty="0"/>
              <a:t>Algorithm Implementation of MRDTW</a:t>
            </a:r>
            <a:endParaRPr lang="zh-TW" altLang="en-US" dirty="0"/>
          </a:p>
        </p:txBody>
      </p:sp>
      <p:pic>
        <p:nvPicPr>
          <p:cNvPr id="5" name="內容版面配置區 4">
            <a:extLst>
              <a:ext uri="{FF2B5EF4-FFF2-40B4-BE49-F238E27FC236}">
                <a16:creationId xmlns:a16="http://schemas.microsoft.com/office/drawing/2014/main" xmlns="" id="{056AB891-713E-441E-8926-AC6016BC8F17}"/>
              </a:ext>
            </a:extLst>
          </p:cNvPr>
          <p:cNvPicPr>
            <a:picLocks noGrp="1" noChangeAspect="1"/>
          </p:cNvPicPr>
          <p:nvPr>
            <p:ph idx="1"/>
          </p:nvPr>
        </p:nvPicPr>
        <p:blipFill>
          <a:blip r:embed="rId2"/>
          <a:stretch>
            <a:fillRect/>
          </a:stretch>
        </p:blipFill>
        <p:spPr>
          <a:xfrm>
            <a:off x="1300213" y="1847852"/>
            <a:ext cx="3919630" cy="4351338"/>
          </a:xfrm>
          <a:prstGeom prst="rect">
            <a:avLst/>
          </a:prstGeom>
        </p:spPr>
      </p:pic>
      <p:sp>
        <p:nvSpPr>
          <p:cNvPr id="4" name="投影片編號版面配置區 3">
            <a:extLst>
              <a:ext uri="{FF2B5EF4-FFF2-40B4-BE49-F238E27FC236}">
                <a16:creationId xmlns:a16="http://schemas.microsoft.com/office/drawing/2014/main" xmlns="" id="{37402999-B243-457F-9B5E-52BEEBC39F1A}"/>
              </a:ext>
            </a:extLst>
          </p:cNvPr>
          <p:cNvSpPr>
            <a:spLocks noGrp="1"/>
          </p:cNvSpPr>
          <p:nvPr>
            <p:ph type="sldNum" sz="quarter" idx="12"/>
          </p:nvPr>
        </p:nvSpPr>
        <p:spPr/>
        <p:txBody>
          <a:bodyPr/>
          <a:lstStyle/>
          <a:p>
            <a:fld id="{8DCCD063-7F18-423D-A692-CC9D343FD360}" type="slidenum">
              <a:rPr lang="zh-TW" altLang="en-US" smtClean="0"/>
              <a:t>10</a:t>
            </a:fld>
            <a:endParaRPr lang="zh-TW" altLang="en-US"/>
          </a:p>
        </p:txBody>
      </p:sp>
      <p:pic>
        <p:nvPicPr>
          <p:cNvPr id="6" name="圖片 5">
            <a:extLst>
              <a:ext uri="{FF2B5EF4-FFF2-40B4-BE49-F238E27FC236}">
                <a16:creationId xmlns:a16="http://schemas.microsoft.com/office/drawing/2014/main" xmlns="" id="{DE802FBF-B557-4915-8F91-7B28E280AA11}"/>
              </a:ext>
            </a:extLst>
          </p:cNvPr>
          <p:cNvPicPr>
            <a:picLocks noChangeAspect="1"/>
          </p:cNvPicPr>
          <p:nvPr/>
        </p:nvPicPr>
        <p:blipFill rotWithShape="1">
          <a:blip r:embed="rId3"/>
          <a:srcRect t="592"/>
          <a:stretch/>
        </p:blipFill>
        <p:spPr>
          <a:xfrm>
            <a:off x="5833056" y="1450957"/>
            <a:ext cx="4029173" cy="5270520"/>
          </a:xfrm>
          <a:prstGeom prst="rect">
            <a:avLst/>
          </a:prstGeom>
        </p:spPr>
      </p:pic>
    </p:spTree>
    <p:extLst>
      <p:ext uri="{BB962C8B-B14F-4D97-AF65-F5344CB8AC3E}">
        <p14:creationId xmlns:p14="http://schemas.microsoft.com/office/powerpoint/2010/main" val="4281156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86F117FC-B7F8-435E-956A-C0ECB8FBA482}"/>
              </a:ext>
            </a:extLst>
          </p:cNvPr>
          <p:cNvSpPr>
            <a:spLocks noGrp="1"/>
          </p:cNvSpPr>
          <p:nvPr>
            <p:ph type="title"/>
          </p:nvPr>
        </p:nvSpPr>
        <p:spPr/>
        <p:txBody>
          <a:bodyPr/>
          <a:lstStyle/>
          <a:p>
            <a:r>
              <a:rPr lang="en-US" altLang="zh-TW" dirty="0"/>
              <a:t>The process of MapReduce of DTW</a:t>
            </a:r>
            <a:endParaRPr lang="zh-TW" altLang="en-US" dirty="0"/>
          </a:p>
        </p:txBody>
      </p:sp>
      <p:pic>
        <p:nvPicPr>
          <p:cNvPr id="5" name="內容版面配置區 4">
            <a:extLst>
              <a:ext uri="{FF2B5EF4-FFF2-40B4-BE49-F238E27FC236}">
                <a16:creationId xmlns:a16="http://schemas.microsoft.com/office/drawing/2014/main" xmlns="" id="{88ECBF23-BAEB-4D18-9D3B-75690A2A1C06}"/>
              </a:ext>
            </a:extLst>
          </p:cNvPr>
          <p:cNvPicPr>
            <a:picLocks noGrp="1" noChangeAspect="1"/>
          </p:cNvPicPr>
          <p:nvPr>
            <p:ph idx="1"/>
          </p:nvPr>
        </p:nvPicPr>
        <p:blipFill>
          <a:blip r:embed="rId2"/>
          <a:stretch>
            <a:fillRect/>
          </a:stretch>
        </p:blipFill>
        <p:spPr>
          <a:xfrm>
            <a:off x="2059355" y="1874859"/>
            <a:ext cx="8073290" cy="4607157"/>
          </a:xfrm>
          <a:prstGeom prst="rect">
            <a:avLst/>
          </a:prstGeom>
        </p:spPr>
      </p:pic>
      <p:sp>
        <p:nvSpPr>
          <p:cNvPr id="4" name="投影片編號版面配置區 3">
            <a:extLst>
              <a:ext uri="{FF2B5EF4-FFF2-40B4-BE49-F238E27FC236}">
                <a16:creationId xmlns:a16="http://schemas.microsoft.com/office/drawing/2014/main" xmlns="" id="{71B04910-E6B5-4EEC-8A98-96EBFC38BCC0}"/>
              </a:ext>
            </a:extLst>
          </p:cNvPr>
          <p:cNvSpPr>
            <a:spLocks noGrp="1"/>
          </p:cNvSpPr>
          <p:nvPr>
            <p:ph type="sldNum" sz="quarter" idx="12"/>
          </p:nvPr>
        </p:nvSpPr>
        <p:spPr/>
        <p:txBody>
          <a:bodyPr/>
          <a:lstStyle/>
          <a:p>
            <a:fld id="{8DCCD063-7F18-423D-A692-CC9D343FD360}" type="slidenum">
              <a:rPr lang="zh-TW" altLang="en-US" smtClean="0"/>
              <a:t>11</a:t>
            </a:fld>
            <a:endParaRPr lang="zh-TW" altLang="en-US"/>
          </a:p>
        </p:txBody>
      </p:sp>
    </p:spTree>
    <p:extLst>
      <p:ext uri="{BB962C8B-B14F-4D97-AF65-F5344CB8AC3E}">
        <p14:creationId xmlns:p14="http://schemas.microsoft.com/office/powerpoint/2010/main" val="25150331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6A428B-FE22-494F-8A13-9F898DBE8574}"/>
              </a:ext>
            </a:extLst>
          </p:cNvPr>
          <p:cNvSpPr>
            <a:spLocks noGrp="1"/>
          </p:cNvSpPr>
          <p:nvPr>
            <p:ph type="title"/>
          </p:nvPr>
        </p:nvSpPr>
        <p:spPr/>
        <p:txBody>
          <a:bodyPr/>
          <a:lstStyle/>
          <a:p>
            <a:r>
              <a:rPr lang="en-US" altLang="zh-TW" dirty="0"/>
              <a:t>Result (1/5)</a:t>
            </a:r>
            <a:endParaRPr lang="zh-TW" altLang="en-US" dirty="0"/>
          </a:p>
        </p:txBody>
      </p:sp>
      <p:pic>
        <p:nvPicPr>
          <p:cNvPr id="5" name="內容版面配置區 4">
            <a:extLst>
              <a:ext uri="{FF2B5EF4-FFF2-40B4-BE49-F238E27FC236}">
                <a16:creationId xmlns:a16="http://schemas.microsoft.com/office/drawing/2014/main" xmlns="" id="{E81BD8BE-7AAF-4263-828D-2008B2C7D8E4}"/>
              </a:ext>
            </a:extLst>
          </p:cNvPr>
          <p:cNvPicPr>
            <a:picLocks noGrp="1" noChangeAspect="1"/>
          </p:cNvPicPr>
          <p:nvPr>
            <p:ph idx="1"/>
          </p:nvPr>
        </p:nvPicPr>
        <p:blipFill>
          <a:blip r:embed="rId2"/>
          <a:stretch>
            <a:fillRect/>
          </a:stretch>
        </p:blipFill>
        <p:spPr>
          <a:xfrm>
            <a:off x="1213399" y="2493683"/>
            <a:ext cx="9765201" cy="3326372"/>
          </a:xfrm>
          <a:prstGeom prst="rect">
            <a:avLst/>
          </a:prstGeom>
        </p:spPr>
      </p:pic>
      <p:sp>
        <p:nvSpPr>
          <p:cNvPr id="4" name="投影片編號版面配置區 3">
            <a:extLst>
              <a:ext uri="{FF2B5EF4-FFF2-40B4-BE49-F238E27FC236}">
                <a16:creationId xmlns:a16="http://schemas.microsoft.com/office/drawing/2014/main" xmlns="" id="{EC0D3F5B-D89C-4253-A1D0-3B17F73696B5}"/>
              </a:ext>
            </a:extLst>
          </p:cNvPr>
          <p:cNvSpPr>
            <a:spLocks noGrp="1"/>
          </p:cNvSpPr>
          <p:nvPr>
            <p:ph type="sldNum" sz="quarter" idx="12"/>
          </p:nvPr>
        </p:nvSpPr>
        <p:spPr/>
        <p:txBody>
          <a:bodyPr/>
          <a:lstStyle/>
          <a:p>
            <a:fld id="{8DCCD063-7F18-423D-A692-CC9D343FD360}" type="slidenum">
              <a:rPr lang="zh-TW" altLang="en-US" smtClean="0"/>
              <a:t>12</a:t>
            </a:fld>
            <a:endParaRPr lang="zh-TW" altLang="en-US"/>
          </a:p>
        </p:txBody>
      </p:sp>
    </p:spTree>
    <p:extLst>
      <p:ext uri="{BB962C8B-B14F-4D97-AF65-F5344CB8AC3E}">
        <p14:creationId xmlns:p14="http://schemas.microsoft.com/office/powerpoint/2010/main" val="185595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6A428B-FE22-494F-8A13-9F898DBE8574}"/>
              </a:ext>
            </a:extLst>
          </p:cNvPr>
          <p:cNvSpPr>
            <a:spLocks noGrp="1"/>
          </p:cNvSpPr>
          <p:nvPr>
            <p:ph type="title"/>
          </p:nvPr>
        </p:nvSpPr>
        <p:spPr/>
        <p:txBody>
          <a:bodyPr/>
          <a:lstStyle/>
          <a:p>
            <a:r>
              <a:rPr lang="en-US" altLang="zh-TW" dirty="0"/>
              <a:t>Result (2/5)</a:t>
            </a:r>
            <a:endParaRPr lang="zh-TW" altLang="en-US" dirty="0"/>
          </a:p>
        </p:txBody>
      </p:sp>
      <p:sp>
        <p:nvSpPr>
          <p:cNvPr id="4" name="投影片編號版面配置區 3">
            <a:extLst>
              <a:ext uri="{FF2B5EF4-FFF2-40B4-BE49-F238E27FC236}">
                <a16:creationId xmlns:a16="http://schemas.microsoft.com/office/drawing/2014/main" xmlns="" id="{EC0D3F5B-D89C-4253-A1D0-3B17F73696B5}"/>
              </a:ext>
            </a:extLst>
          </p:cNvPr>
          <p:cNvSpPr>
            <a:spLocks noGrp="1"/>
          </p:cNvSpPr>
          <p:nvPr>
            <p:ph type="sldNum" sz="quarter" idx="12"/>
          </p:nvPr>
        </p:nvSpPr>
        <p:spPr/>
        <p:txBody>
          <a:bodyPr/>
          <a:lstStyle/>
          <a:p>
            <a:fld id="{8DCCD063-7F18-423D-A692-CC9D343FD360}" type="slidenum">
              <a:rPr lang="zh-TW" altLang="en-US" smtClean="0"/>
              <a:t>13</a:t>
            </a:fld>
            <a:endParaRPr lang="zh-TW" altLang="en-US"/>
          </a:p>
        </p:txBody>
      </p:sp>
      <p:pic>
        <p:nvPicPr>
          <p:cNvPr id="10" name="內容版面配置區 9">
            <a:extLst>
              <a:ext uri="{FF2B5EF4-FFF2-40B4-BE49-F238E27FC236}">
                <a16:creationId xmlns:a16="http://schemas.microsoft.com/office/drawing/2014/main" xmlns="" id="{8F1057C4-38C3-48A5-AFBC-639E7471DCC4}"/>
              </a:ext>
            </a:extLst>
          </p:cNvPr>
          <p:cNvPicPr>
            <a:picLocks noGrp="1" noChangeAspect="1"/>
          </p:cNvPicPr>
          <p:nvPr>
            <p:ph idx="1"/>
          </p:nvPr>
        </p:nvPicPr>
        <p:blipFill>
          <a:blip r:embed="rId2"/>
          <a:stretch>
            <a:fillRect/>
          </a:stretch>
        </p:blipFill>
        <p:spPr>
          <a:xfrm>
            <a:off x="2208844" y="1690690"/>
            <a:ext cx="7774311" cy="4867395"/>
          </a:xfrm>
          <a:prstGeom prst="rect">
            <a:avLst/>
          </a:prstGeom>
        </p:spPr>
      </p:pic>
    </p:spTree>
    <p:extLst>
      <p:ext uri="{BB962C8B-B14F-4D97-AF65-F5344CB8AC3E}">
        <p14:creationId xmlns:p14="http://schemas.microsoft.com/office/powerpoint/2010/main" val="2566917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6A428B-FE22-494F-8A13-9F898DBE8574}"/>
              </a:ext>
            </a:extLst>
          </p:cNvPr>
          <p:cNvSpPr>
            <a:spLocks noGrp="1"/>
          </p:cNvSpPr>
          <p:nvPr>
            <p:ph type="title"/>
          </p:nvPr>
        </p:nvSpPr>
        <p:spPr/>
        <p:txBody>
          <a:bodyPr/>
          <a:lstStyle/>
          <a:p>
            <a:r>
              <a:rPr lang="en-US" altLang="zh-TW" dirty="0"/>
              <a:t>Result (3/5)</a:t>
            </a:r>
            <a:endParaRPr lang="zh-TW" altLang="en-US" dirty="0"/>
          </a:p>
        </p:txBody>
      </p:sp>
      <p:sp>
        <p:nvSpPr>
          <p:cNvPr id="4" name="投影片編號版面配置區 3">
            <a:extLst>
              <a:ext uri="{FF2B5EF4-FFF2-40B4-BE49-F238E27FC236}">
                <a16:creationId xmlns:a16="http://schemas.microsoft.com/office/drawing/2014/main" xmlns="" id="{EC0D3F5B-D89C-4253-A1D0-3B17F73696B5}"/>
              </a:ext>
            </a:extLst>
          </p:cNvPr>
          <p:cNvSpPr>
            <a:spLocks noGrp="1"/>
          </p:cNvSpPr>
          <p:nvPr>
            <p:ph type="sldNum" sz="quarter" idx="12"/>
          </p:nvPr>
        </p:nvSpPr>
        <p:spPr/>
        <p:txBody>
          <a:bodyPr/>
          <a:lstStyle/>
          <a:p>
            <a:fld id="{8DCCD063-7F18-423D-A692-CC9D343FD360}" type="slidenum">
              <a:rPr lang="zh-TW" altLang="en-US" smtClean="0"/>
              <a:t>14</a:t>
            </a:fld>
            <a:endParaRPr lang="zh-TW" altLang="en-US"/>
          </a:p>
        </p:txBody>
      </p:sp>
      <p:pic>
        <p:nvPicPr>
          <p:cNvPr id="6" name="內容版面配置區 5">
            <a:extLst>
              <a:ext uri="{FF2B5EF4-FFF2-40B4-BE49-F238E27FC236}">
                <a16:creationId xmlns:a16="http://schemas.microsoft.com/office/drawing/2014/main" xmlns="" id="{D23C2E6E-B14A-40AB-A838-D5A06DDA9EA4}"/>
              </a:ext>
            </a:extLst>
          </p:cNvPr>
          <p:cNvPicPr>
            <a:picLocks noGrp="1" noChangeAspect="1"/>
          </p:cNvPicPr>
          <p:nvPr>
            <p:ph idx="1"/>
          </p:nvPr>
        </p:nvPicPr>
        <p:blipFill>
          <a:blip r:embed="rId2"/>
          <a:stretch>
            <a:fillRect/>
          </a:stretch>
        </p:blipFill>
        <p:spPr>
          <a:xfrm>
            <a:off x="2238635" y="1803197"/>
            <a:ext cx="7714729" cy="4689676"/>
          </a:xfrm>
          <a:prstGeom prst="rect">
            <a:avLst/>
          </a:prstGeom>
        </p:spPr>
      </p:pic>
    </p:spTree>
    <p:extLst>
      <p:ext uri="{BB962C8B-B14F-4D97-AF65-F5344CB8AC3E}">
        <p14:creationId xmlns:p14="http://schemas.microsoft.com/office/powerpoint/2010/main" val="3662693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6A428B-FE22-494F-8A13-9F898DBE8574}"/>
              </a:ext>
            </a:extLst>
          </p:cNvPr>
          <p:cNvSpPr>
            <a:spLocks noGrp="1"/>
          </p:cNvSpPr>
          <p:nvPr>
            <p:ph type="title"/>
          </p:nvPr>
        </p:nvSpPr>
        <p:spPr/>
        <p:txBody>
          <a:bodyPr/>
          <a:lstStyle/>
          <a:p>
            <a:r>
              <a:rPr lang="en-US" altLang="zh-TW" dirty="0"/>
              <a:t>Result (4/5)</a:t>
            </a:r>
            <a:endParaRPr lang="zh-TW" altLang="en-US" dirty="0"/>
          </a:p>
        </p:txBody>
      </p:sp>
      <p:sp>
        <p:nvSpPr>
          <p:cNvPr id="4" name="投影片編號版面配置區 3">
            <a:extLst>
              <a:ext uri="{FF2B5EF4-FFF2-40B4-BE49-F238E27FC236}">
                <a16:creationId xmlns:a16="http://schemas.microsoft.com/office/drawing/2014/main" xmlns="" id="{EC0D3F5B-D89C-4253-A1D0-3B17F73696B5}"/>
              </a:ext>
            </a:extLst>
          </p:cNvPr>
          <p:cNvSpPr>
            <a:spLocks noGrp="1"/>
          </p:cNvSpPr>
          <p:nvPr>
            <p:ph type="sldNum" sz="quarter" idx="12"/>
          </p:nvPr>
        </p:nvSpPr>
        <p:spPr/>
        <p:txBody>
          <a:bodyPr/>
          <a:lstStyle/>
          <a:p>
            <a:fld id="{8DCCD063-7F18-423D-A692-CC9D343FD360}" type="slidenum">
              <a:rPr lang="zh-TW" altLang="en-US" smtClean="0"/>
              <a:t>15</a:t>
            </a:fld>
            <a:endParaRPr lang="zh-TW" altLang="en-US"/>
          </a:p>
        </p:txBody>
      </p:sp>
      <p:pic>
        <p:nvPicPr>
          <p:cNvPr id="7" name="內容版面配置區 6">
            <a:extLst>
              <a:ext uri="{FF2B5EF4-FFF2-40B4-BE49-F238E27FC236}">
                <a16:creationId xmlns:a16="http://schemas.microsoft.com/office/drawing/2014/main" xmlns="" id="{71D6E9C9-4104-4C2C-ACE4-32EC2CDA8D19}"/>
              </a:ext>
            </a:extLst>
          </p:cNvPr>
          <p:cNvPicPr>
            <a:picLocks noGrp="1" noChangeAspect="1"/>
          </p:cNvPicPr>
          <p:nvPr>
            <p:ph idx="1"/>
          </p:nvPr>
        </p:nvPicPr>
        <p:blipFill>
          <a:blip r:embed="rId2"/>
          <a:stretch>
            <a:fillRect/>
          </a:stretch>
        </p:blipFill>
        <p:spPr>
          <a:xfrm>
            <a:off x="2473693" y="1493236"/>
            <a:ext cx="7411451" cy="5131634"/>
          </a:xfrm>
          <a:prstGeom prst="rect">
            <a:avLst/>
          </a:prstGeom>
        </p:spPr>
      </p:pic>
    </p:spTree>
    <p:extLst>
      <p:ext uri="{BB962C8B-B14F-4D97-AF65-F5344CB8AC3E}">
        <p14:creationId xmlns:p14="http://schemas.microsoft.com/office/powerpoint/2010/main" val="6798612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26A428B-FE22-494F-8A13-9F898DBE8574}"/>
              </a:ext>
            </a:extLst>
          </p:cNvPr>
          <p:cNvSpPr>
            <a:spLocks noGrp="1"/>
          </p:cNvSpPr>
          <p:nvPr>
            <p:ph type="title"/>
          </p:nvPr>
        </p:nvSpPr>
        <p:spPr/>
        <p:txBody>
          <a:bodyPr/>
          <a:lstStyle/>
          <a:p>
            <a:r>
              <a:rPr lang="en-US" altLang="zh-TW" dirty="0"/>
              <a:t>Result (5/5)</a:t>
            </a:r>
            <a:endParaRPr lang="zh-TW" altLang="en-US" dirty="0"/>
          </a:p>
        </p:txBody>
      </p:sp>
      <p:sp>
        <p:nvSpPr>
          <p:cNvPr id="4" name="投影片編號版面配置區 3">
            <a:extLst>
              <a:ext uri="{FF2B5EF4-FFF2-40B4-BE49-F238E27FC236}">
                <a16:creationId xmlns:a16="http://schemas.microsoft.com/office/drawing/2014/main" xmlns="" id="{EC0D3F5B-D89C-4253-A1D0-3B17F73696B5}"/>
              </a:ext>
            </a:extLst>
          </p:cNvPr>
          <p:cNvSpPr>
            <a:spLocks noGrp="1"/>
          </p:cNvSpPr>
          <p:nvPr>
            <p:ph type="sldNum" sz="quarter" idx="12"/>
          </p:nvPr>
        </p:nvSpPr>
        <p:spPr/>
        <p:txBody>
          <a:bodyPr/>
          <a:lstStyle/>
          <a:p>
            <a:fld id="{8DCCD063-7F18-423D-A692-CC9D343FD360}" type="slidenum">
              <a:rPr lang="zh-TW" altLang="en-US" smtClean="0"/>
              <a:t>16</a:t>
            </a:fld>
            <a:endParaRPr lang="zh-TW" altLang="en-US"/>
          </a:p>
        </p:txBody>
      </p:sp>
      <p:pic>
        <p:nvPicPr>
          <p:cNvPr id="7" name="內容版面配置區 6">
            <a:extLst>
              <a:ext uri="{FF2B5EF4-FFF2-40B4-BE49-F238E27FC236}">
                <a16:creationId xmlns:a16="http://schemas.microsoft.com/office/drawing/2014/main" xmlns="" id="{8D8760B9-913D-4AEB-83B7-08125C7A4DA1}"/>
              </a:ext>
            </a:extLst>
          </p:cNvPr>
          <p:cNvPicPr>
            <a:picLocks noGrp="1" noChangeAspect="1"/>
          </p:cNvPicPr>
          <p:nvPr>
            <p:ph idx="1"/>
          </p:nvPr>
        </p:nvPicPr>
        <p:blipFill>
          <a:blip r:embed="rId2"/>
          <a:stretch>
            <a:fillRect/>
          </a:stretch>
        </p:blipFill>
        <p:spPr>
          <a:xfrm>
            <a:off x="2609715" y="1669226"/>
            <a:ext cx="6972570" cy="4823647"/>
          </a:xfrm>
          <a:prstGeom prst="rect">
            <a:avLst/>
          </a:prstGeom>
        </p:spPr>
      </p:pic>
    </p:spTree>
    <p:extLst>
      <p:ext uri="{BB962C8B-B14F-4D97-AF65-F5344CB8AC3E}">
        <p14:creationId xmlns:p14="http://schemas.microsoft.com/office/powerpoint/2010/main" val="292499670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per">
      <a:majorFont>
        <a:latin typeface="Tw Cen MT"/>
        <a:ea typeface="微軟正黑體"/>
        <a:cs typeface=""/>
      </a:majorFont>
      <a:minorFont>
        <a:latin typeface="Tw Cen MT"/>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13630</TotalTime>
  <Words>543</Words>
  <Application>Microsoft Office PowerPoint</Application>
  <PresentationFormat>寬螢幕</PresentationFormat>
  <Paragraphs>66</Paragraphs>
  <Slides>16</Slides>
  <Notes>1</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16</vt:i4>
      </vt:variant>
    </vt:vector>
  </HeadingPairs>
  <TitlesOfParts>
    <vt:vector size="30" baseType="lpstr">
      <vt:lpstr>NimbusRomNo9L-Regu</vt:lpstr>
      <vt:lpstr>NimbusRomNo9L-ReguItal</vt:lpstr>
      <vt:lpstr>rtxmi</vt:lpstr>
      <vt:lpstr>TimesNewRomanPS-ItalicMT</vt:lpstr>
      <vt:lpstr>TimesNewRomanPSMT</vt:lpstr>
      <vt:lpstr>txsy</vt:lpstr>
      <vt:lpstr>微軟正黑體</vt:lpstr>
      <vt:lpstr>新細明體</vt:lpstr>
      <vt:lpstr>Arial</vt:lpstr>
      <vt:lpstr>Calibri</vt:lpstr>
      <vt:lpstr>Cambria Math</vt:lpstr>
      <vt:lpstr>Times New Roman</vt:lpstr>
      <vt:lpstr>Tw Cen MT</vt:lpstr>
      <vt:lpstr>Office 佈景主題</vt:lpstr>
      <vt:lpstr>A Novel Parallel Scheme for Fast Similarity Search in Large Time Series</vt:lpstr>
      <vt:lpstr>Abstract (1/2)</vt:lpstr>
      <vt:lpstr>Abstract (2/2)</vt:lpstr>
      <vt:lpstr>Parallelization of DTW (1/2)</vt:lpstr>
      <vt:lpstr>Parallelization of DTW (2/2)</vt:lpstr>
      <vt:lpstr>Pruning of warping paths</vt:lpstr>
      <vt:lpstr>The example of slope constraint</vt:lpstr>
      <vt:lpstr>The process of Map for DTW</vt:lpstr>
      <vt:lpstr>The process of Reduce for DTW</vt:lpstr>
      <vt:lpstr>Algorithm Implementation of MRDTW</vt:lpstr>
      <vt:lpstr>The process of MapReduce of DTW</vt:lpstr>
      <vt:lpstr>Result (1/5)</vt:lpstr>
      <vt:lpstr>Result (2/5)</vt:lpstr>
      <vt:lpstr>Result (3/5)</vt:lpstr>
      <vt:lpstr>Result (4/5)</vt:lpstr>
      <vt:lpstr>Result (5/5)</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pplab-class</cp:lastModifiedBy>
  <cp:revision>455</cp:revision>
  <dcterms:created xsi:type="dcterms:W3CDTF">2017-10-09T09:38:00Z</dcterms:created>
  <dcterms:modified xsi:type="dcterms:W3CDTF">2018-10-09T11:26:48Z</dcterms:modified>
</cp:coreProperties>
</file>