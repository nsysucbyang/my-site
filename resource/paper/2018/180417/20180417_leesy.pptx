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9" r:id="rId4"/>
    <p:sldId id="273" r:id="rId5"/>
    <p:sldId id="271" r:id="rId6"/>
    <p:sldId id="274" r:id="rId7"/>
    <p:sldId id="275" r:id="rId8"/>
    <p:sldId id="276" r:id="rId9"/>
    <p:sldId id="277" r:id="rId10"/>
    <p:sldId id="279" r:id="rId11"/>
    <p:sldId id="278" r:id="rId12"/>
    <p:sldId id="280" r:id="rId13"/>
    <p:sldId id="281" r:id="rId14"/>
    <p:sldId id="282" r:id="rId15"/>
    <p:sldId id="283" r:id="rId16"/>
    <p:sldId id="284" r:id="rId17"/>
    <p:sldId id="287" r:id="rId18"/>
    <p:sldId id="285" r:id="rId19"/>
    <p:sldId id="286" r:id="rId20"/>
    <p:sldId id="288" r:id="rId21"/>
    <p:sldId id="267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29" autoAdjust="0"/>
  </p:normalViewPr>
  <p:slideViewPr>
    <p:cSldViewPr snapToGrid="0">
      <p:cViewPr varScale="1">
        <p:scale>
          <a:sx n="83" d="100"/>
          <a:sy n="83" d="100"/>
        </p:scale>
        <p:origin x="4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2018/4/17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2018/4/17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4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2018/4/17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2018/4/17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4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2018/4/17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2018/4/17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2018/4/17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2018/4/17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60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2018/4/17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2018/4/17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2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2018/4/17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0FB-2E68-4D6F-963D-E2C0D8E7433A}" type="datetimeFigureOut">
              <a:rPr lang="zh-TW" altLang="en-US" smtClean="0"/>
              <a:t>2018/4/17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70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2.png"/><Relationship Id="rId7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8.png"/><Relationship Id="rId7" Type="http://schemas.openxmlformats.org/officeDocument/2006/relationships/image" Target="../media/image1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40.png"/><Relationship Id="rId7" Type="http://schemas.openxmlformats.org/officeDocument/2006/relationships/image" Target="../media/image18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10" Type="http://schemas.openxmlformats.org/officeDocument/2006/relationships/image" Target="../media/image211.png"/><Relationship Id="rId4" Type="http://schemas.openxmlformats.org/officeDocument/2006/relationships/image" Target="../media/image150.png"/><Relationship Id="rId9" Type="http://schemas.openxmlformats.org/officeDocument/2006/relationships/image" Target="../media/image20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24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25003" y="685799"/>
            <a:ext cx="8223695" cy="2197443"/>
          </a:xfrm>
        </p:spPr>
        <p:txBody>
          <a:bodyPr>
            <a:normAutofit/>
          </a:bodyPr>
          <a:lstStyle/>
          <a:p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Linear Time Algorithm for Consecutive Permutation Pattern Matching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25778" y="3188044"/>
            <a:ext cx="7877174" cy="2375276"/>
          </a:xfrm>
        </p:spPr>
        <p:txBody>
          <a:bodyPr>
            <a:noAutofit/>
          </a:bodyPr>
          <a:lstStyle/>
          <a:p>
            <a:r>
              <a:rPr lang="fr-FR" altLang="zh-TW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M. Kubica, T. Kulczyński, J. Radoszewski, </a:t>
            </a:r>
          </a:p>
          <a:p>
            <a:r>
              <a:rPr lang="fr-FR" altLang="zh-TW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W. Rytter, and T. </a:t>
            </a:r>
            <a:r>
              <a:rPr lang="fr-FR" altLang="zh-TW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Waleń,</a:t>
            </a:r>
            <a:endParaRPr lang="fr-FR" altLang="zh-TW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zh-TW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Letters, Vol. 113, </a:t>
            </a:r>
          </a:p>
          <a:p>
            <a:r>
              <a:rPr lang="en-US" altLang="zh-TW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No. 12, pp. 430-433, June 2013.</a:t>
            </a:r>
            <a:endParaRPr lang="nl-NL" altLang="zh-TW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2833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-Yan Lee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2018/4/17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5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(1/2)</a:t>
            </a:r>
            <a:endParaRPr lang="zh-TW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08138" y="1571048"/>
                <a:ext cx="8646392" cy="506903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say that two sequences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order-isomorphic </a:t>
                </a:r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(of the </a:t>
                </a:r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same “shape</a:t>
                </a:r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”) if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1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3100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3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31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 </m:t>
                    </m:r>
                  </m:oMath>
                </a14:m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and only if </a:t>
                </a:r>
                <a14:m>
                  <m:oMath xmlns:m="http://schemas.openxmlformats.org/officeDocument/2006/math">
                    <m:r>
                      <a:rPr lang="en-US" altLang="zh-TW" sz="3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1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3100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31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each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∈ [1,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We present a </a:t>
                </a:r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 linear </a:t>
                </a:r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algorithm </a:t>
                </a:r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checking </a:t>
                </a:r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 given sequence y of length n contains a </a:t>
                </a:r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factor which is </a:t>
                </a:r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order-isomorphic to a given pattern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 factor is a subsequence of consecutive </a:t>
                </a:r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symbols of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so we call our problem the consecutive </a:t>
                </a:r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permutation pattern </a:t>
                </a:r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matching. </a:t>
                </a:r>
                <a:endParaRPr lang="zh-TW" altLang="en-US" sz="3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8138" y="1571048"/>
                <a:ext cx="8646392" cy="5069034"/>
              </a:xfrm>
              <a:blipFill rotWithShape="0">
                <a:blip r:embed="rId2"/>
                <a:stretch>
                  <a:fillRect l="-1763" t="-2527" r="-24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294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(2/2)</a:t>
            </a:r>
            <a:endParaRPr lang="zh-TW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09284" y="1571048"/>
                <a:ext cx="8835862" cy="506903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(general) permutation pattern matching problem is related to general subsequences and is known to be NP-complete. We show that the situation </a:t>
                </a:r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consecutive </a:t>
                </a:r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subsequences is significantly different and present an </a:t>
                </a:r>
                <a14:m>
                  <m:oMath xmlns:m="http://schemas.openxmlformats.org/officeDocument/2006/math"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algorithm under a natural assumption that the symbols of </a:t>
                </a:r>
                <a14:m>
                  <m:oMath xmlns:m="http://schemas.openxmlformats.org/officeDocument/2006/math"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sorted in </a:t>
                </a:r>
                <a14:m>
                  <m:oMath xmlns:m="http://schemas.openxmlformats.org/officeDocument/2006/math"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time, otherwise the time is </a:t>
                </a:r>
                <a14:m>
                  <m:oMath xmlns:m="http://schemas.openxmlformats.org/officeDocument/2006/math"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func>
                      <m:funcPr>
                        <m:ctrlPr>
                          <a:rPr lang="en-US" altLang="zh-TW" sz="31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31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31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func>
                    <m:r>
                      <a:rPr lang="en-US" altLang="zh-TW" sz="31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US" altLang="zh-TW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 algorithm we use a modification of the classical Knuth–Morris–Pratt string matching algorithm.</a:t>
                </a:r>
                <a:endParaRPr lang="zh-TW" altLang="en-US" sz="3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9284" y="1571048"/>
                <a:ext cx="8835862" cy="5069034"/>
              </a:xfrm>
              <a:blipFill rotWithShape="0">
                <a:blip r:embed="rId2"/>
                <a:stretch>
                  <a:fillRect l="-1655" t="-2527" r="-26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517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7476619" cy="107649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Order-isomorphism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56734" y="1383956"/>
                <a:ext cx="8583827" cy="355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strings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same length are called order-isomorphic (written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 if</a:t>
                </a:r>
              </a:p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b="0" dirty="0" smtClean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⟺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0≤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≤|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  <a:endParaRPr lang="en-US" altLang="zh-TW" sz="250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35, 40, 23, 40, 40, 28, 30</m:t>
                    </m:r>
                  </m:oMath>
                </a14:m>
                <a:endParaRPr lang="en-US" altLang="zh-TW" sz="25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b="0" dirty="0" smtClean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y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28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32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32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32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20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25</m:t>
                    </m:r>
                  </m:oMath>
                </a14:m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34" y="1383956"/>
                <a:ext cx="8583827" cy="3554819"/>
              </a:xfrm>
              <a:prstGeom prst="rect">
                <a:avLst/>
              </a:prstGeom>
              <a:blipFill rotWithShape="0">
                <a:blip r:embed="rId2"/>
                <a:stretch>
                  <a:fillRect l="-1207" t="-13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/>
          <a:srcRect l="31825" t="5893" r="23556" b="17190"/>
          <a:stretch/>
        </p:blipFill>
        <p:spPr>
          <a:xfrm>
            <a:off x="5249315" y="4018326"/>
            <a:ext cx="3579836" cy="25147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328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/>
          <a:srcRect b="28525"/>
          <a:stretch/>
        </p:blipFill>
        <p:spPr>
          <a:xfrm>
            <a:off x="1073790" y="3845843"/>
            <a:ext cx="7351875" cy="285696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7476619" cy="107649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56734" y="1383956"/>
                <a:ext cx="8583827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pattern and a text , we want to find the positions where the subsequences are order-isomorphism with the pattern.</a:t>
                </a: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</a:p>
              <a:p>
                <a:endParaRPr lang="en-US" altLang="zh-TW" sz="250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b="0" dirty="0" smtClean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  1  4  5  3</m:t>
                    </m:r>
                  </m:oMath>
                </a14:m>
                <a:endParaRPr lang="en-US" altLang="zh-TW" sz="2500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5  6  3  8  10  7  1  9  10  8</m:t>
                    </m:r>
                  </m:oMath>
                </a14:m>
                <a:endParaRPr lang="en-US" altLang="zh-TW" sz="25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34" y="1383956"/>
                <a:ext cx="8583827" cy="3170099"/>
              </a:xfrm>
              <a:prstGeom prst="rect">
                <a:avLst/>
              </a:prstGeom>
              <a:blipFill rotWithShape="0">
                <a:blip r:embed="rId3"/>
                <a:stretch>
                  <a:fillRect l="-1207" t="-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6249798" y="3845843"/>
            <a:ext cx="2175867" cy="2856961"/>
          </a:xfrm>
          <a:prstGeom prst="rect">
            <a:avLst/>
          </a:prstGeom>
          <a:noFill/>
          <a:ln w="571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920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Location tables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568009" y="1280041"/>
                <a:ext cx="858382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string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define the location 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𝐿𝑀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𝐿𝑀𝑖𝑛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𝐿𝑀𝑎𝑥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]}</m:t>
                    </m:r>
                  </m:oMath>
                </a14:m>
                <a:endParaRPr lang="en-US" altLang="zh-TW" sz="25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𝐿𝑀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TW" alt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2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TW" sz="25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TW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TW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TW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TW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]}</m:t>
                    </m:r>
                  </m:oMath>
                </a14:m>
                <a:endParaRPr lang="zh-TW" altLang="en-US" sz="25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9" y="1280041"/>
                <a:ext cx="8583827" cy="2400657"/>
              </a:xfrm>
              <a:prstGeom prst="rect">
                <a:avLst/>
              </a:prstGeom>
              <a:blipFill rotWithShape="0">
                <a:blip r:embed="rId2"/>
                <a:stretch>
                  <a:fillRect l="-1136" t="-2284" r="-2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293341" y="4703804"/>
            <a:ext cx="699295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642550" y="4703804"/>
                <a:ext cx="353430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50" y="4703804"/>
                <a:ext cx="353430" cy="53860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5955957" y="4703804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6022782" y="4270001"/>
                <a:ext cx="22057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782" y="4270001"/>
                <a:ext cx="22057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2096530" y="4703804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1721577" y="4270001"/>
                <a:ext cx="129298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𝐿𝑀𝑖𝑛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577" y="4270001"/>
                <a:ext cx="1292982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5164" r="-7981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3979841" y="4703803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3499743" y="4275438"/>
                <a:ext cx="136018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𝐿𝑀𝑎</m:t>
                      </m:r>
                      <m:sSub>
                        <m:sSub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743" y="4275438"/>
                <a:ext cx="1360180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4933" r="-8072" b="-365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368068" y="5747206"/>
                <a:ext cx="481619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𝐿𝑀𝑎𝑥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]≤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]</m:t>
                      </m:r>
                      <m:sSub>
                        <m:sSubPr>
                          <m:ctrlPr>
                            <a:rPr lang="en-US" altLang="zh-TW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𝐿𝑀𝑖𝑛</m:t>
                          </m:r>
                        </m:e>
                        <m:sub>
                          <m:r>
                            <a:rPr lang="en-US" altLang="zh-TW" sz="3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68" y="5747206"/>
                <a:ext cx="481619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037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Location Tables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1696950" y="1736294"/>
                <a:ext cx="481619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𝐿𝑀𝑎𝑥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]≤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]</m:t>
                      </m:r>
                      <m:sSub>
                        <m:sSubPr>
                          <m:ctrlPr>
                            <a:rPr lang="en-US" altLang="zh-TW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𝐿𝑀𝑖𝑛</m:t>
                          </m:r>
                        </m:e>
                        <m:sub>
                          <m:r>
                            <a:rPr lang="en-US" altLang="zh-TW" sz="3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950" y="1736294"/>
                <a:ext cx="4816190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90707"/>
            <a:ext cx="9144000" cy="256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Computation of the location </a:t>
            </a:r>
            <a:r>
              <a:rPr lang="en-US" altLang="zh-TW" sz="4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</a:t>
            </a:r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ables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20240" y="1555139"/>
                <a:ext cx="8331896" cy="2308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30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sz="30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result sequence after sorting the positions</a:t>
                </a:r>
              </a:p>
              <a:p>
                <a:r>
                  <a:rPr lang="en-US" altLang="zh-TW" sz="30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altLang="zh-TW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30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respect to their contents.</a:t>
                </a:r>
              </a:p>
              <a:p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TW" sz="3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=4  1  4  7  3  5  2  3  4</m:t>
                      </m:r>
                    </m:oMath>
                  </m:oMathPara>
                </a14:m>
                <a:endParaRPr lang="en-US" altLang="zh-TW" sz="30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40" y="1555139"/>
                <a:ext cx="8331896" cy="2308324"/>
              </a:xfrm>
              <a:prstGeom prst="rect">
                <a:avLst/>
              </a:prstGeom>
              <a:blipFill rotWithShape="0">
                <a:blip r:embed="rId2"/>
                <a:stretch>
                  <a:fillRect l="-2853" t="-5277" r="-19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/>
          <a:srcRect b="22626"/>
          <a:stretch/>
        </p:blipFill>
        <p:spPr>
          <a:xfrm>
            <a:off x="14188" y="3736259"/>
            <a:ext cx="9144000" cy="191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23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Computation of the location </a:t>
            </a:r>
            <a:r>
              <a:rPr lang="en-US" altLang="zh-TW" sz="4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</a:t>
            </a:r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ables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20240" y="1555139"/>
                <a:ext cx="822584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𝐿𝑀𝑎𝑥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nearest smaller value to the left of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40" y="1555139"/>
                <a:ext cx="8225842" cy="461665"/>
              </a:xfrm>
              <a:prstGeom prst="rect">
                <a:avLst/>
              </a:prstGeom>
              <a:blipFill rotWithShape="0">
                <a:blip r:embed="rId2"/>
                <a:stretch>
                  <a:fillRect t="-26316" r="-1927" b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/>
          <a:srcRect b="22626"/>
          <a:stretch/>
        </p:blipFill>
        <p:spPr>
          <a:xfrm>
            <a:off x="14188" y="2402408"/>
            <a:ext cx="9144000" cy="19140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7004877"/>
                  </p:ext>
                </p:extLst>
              </p:nvPr>
            </p:nvGraphicFramePr>
            <p:xfrm>
              <a:off x="406119" y="4702056"/>
              <a:ext cx="8475142" cy="20175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70334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</a:tblGrid>
                  <a:tr h="67251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</a:tr>
                  <a:tr h="67251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50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</a:tr>
                  <a:tr h="67251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500" b="0" i="1" dirty="0" smtClean="0">
                                        <a:latin typeface="Cambria Math" panose="02040503050406030204" pitchFamily="18" charset="0"/>
                                      </a:rPr>
                                      <m:t>𝐿𝑀𝑎𝑥</m:t>
                                    </m:r>
                                  </m:e>
                                  <m:sub>
                                    <m:r>
                                      <a:rPr lang="en-US" altLang="zh-TW" sz="25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zh-TW" sz="2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2500" b="0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7004877"/>
                  </p:ext>
                </p:extLst>
              </p:nvPr>
            </p:nvGraphicFramePr>
            <p:xfrm>
              <a:off x="406119" y="4702056"/>
              <a:ext cx="8475142" cy="20175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70334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</a:tblGrid>
                  <a:tr h="67251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415" t="-901" r="-478008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89063" t="-901" r="-800000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89063" t="-901" r="-700000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89063" t="-901" r="-600000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492913" t="-901" r="-504724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88281" t="-901" r="-400781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688281" t="-901" r="-300781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788281" t="-901" r="-200781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895276" t="-901" r="-102362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987500" t="-901" r="-1563" b="-200901"/>
                          </a:stretch>
                        </a:blipFill>
                      </a:tcPr>
                    </a:tc>
                  </a:tr>
                  <a:tr h="67251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415" t="-101818" r="-478008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89063" t="-101818" r="-800000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89063" t="-101818" r="-700000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89063" t="-101818" r="-600000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492913" t="-101818" r="-504724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88281" t="-101818" r="-400781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688281" t="-101818" r="-300781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788281" t="-101818" r="-200781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895276" t="-101818" r="-102362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987500" t="-101818" r="-1563" b="-102727"/>
                          </a:stretch>
                        </a:blipFill>
                      </a:tcPr>
                    </a:tc>
                  </a:tr>
                  <a:tr h="67251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415" t="-200000" r="-478008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89063" t="-200000" r="-800000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89063" t="-200000" r="-700000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89063" t="-200000" r="-600000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492913" t="-200000" r="-504724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88281" t="-200000" r="-400781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688281" t="-200000" r="-300781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788281" t="-200000" r="-200781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895276" t="-200000" r="-102362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987500" t="-200000" r="-1563" b="-180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橢圓 2"/>
          <p:cNvSpPr/>
          <p:nvPr/>
        </p:nvSpPr>
        <p:spPr>
          <a:xfrm>
            <a:off x="4449271" y="3851483"/>
            <a:ext cx="543464" cy="543464"/>
          </a:xfrm>
          <a:prstGeom prst="ellipse">
            <a:avLst/>
          </a:prstGeom>
          <a:noFill/>
          <a:ln w="3810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7417899" y="6090488"/>
            <a:ext cx="543464" cy="543464"/>
          </a:xfrm>
          <a:prstGeom prst="ellipse">
            <a:avLst/>
          </a:prstGeom>
          <a:noFill/>
          <a:ln w="3810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569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Computation of the location </a:t>
            </a:r>
            <a:r>
              <a:rPr lang="en-US" altLang="zh-TW" sz="4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</a:t>
            </a:r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ables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20240" y="1555139"/>
                <a:ext cx="826970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𝐿𝑀𝑖𝑛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nearest smaller value to the right of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40" y="1555139"/>
                <a:ext cx="8269700" cy="461665"/>
              </a:xfrm>
              <a:prstGeom prst="rect">
                <a:avLst/>
              </a:prstGeom>
              <a:blipFill rotWithShape="0">
                <a:blip r:embed="rId2"/>
                <a:stretch>
                  <a:fillRect t="-26316" r="-1842" b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/>
          <a:srcRect b="22626"/>
          <a:stretch/>
        </p:blipFill>
        <p:spPr>
          <a:xfrm>
            <a:off x="14188" y="2402408"/>
            <a:ext cx="9144000" cy="19140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193927"/>
                  </p:ext>
                </p:extLst>
              </p:nvPr>
            </p:nvGraphicFramePr>
            <p:xfrm>
              <a:off x="406119" y="4702056"/>
              <a:ext cx="8475142" cy="20175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70334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</a:tblGrid>
                  <a:tr h="67251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</a:tr>
                  <a:tr h="67251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50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</a:tr>
                  <a:tr h="67251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500" b="0" i="1" dirty="0" smtClean="0">
                                        <a:latin typeface="Cambria Math" panose="02040503050406030204" pitchFamily="18" charset="0"/>
                                      </a:rPr>
                                      <m:t>𝐿𝑀𝑖𝑛</m:t>
                                    </m:r>
                                  </m:e>
                                  <m:sub>
                                    <m:r>
                                      <a:rPr lang="en-US" altLang="zh-TW" sz="25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altLang="zh-TW" sz="2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2500" b="0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193927"/>
                  </p:ext>
                </p:extLst>
              </p:nvPr>
            </p:nvGraphicFramePr>
            <p:xfrm>
              <a:off x="406119" y="4702056"/>
              <a:ext cx="8475142" cy="201753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70334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  <a:gridCol w="778312"/>
                  </a:tblGrid>
                  <a:tr h="67251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415" t="-901" r="-478008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89063" t="-901" r="-800000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89063" t="-901" r="-700000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89063" t="-901" r="-600000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492913" t="-901" r="-504724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88281" t="-901" r="-400781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688281" t="-901" r="-300781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788281" t="-901" r="-200781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895276" t="-901" r="-102362" b="-2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987500" t="-901" r="-1563" b="-200901"/>
                          </a:stretch>
                        </a:blipFill>
                      </a:tcPr>
                    </a:tc>
                  </a:tr>
                  <a:tr h="67251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415" t="-101818" r="-478008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89063" t="-101818" r="-800000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89063" t="-101818" r="-700000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89063" t="-101818" r="-600000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492913" t="-101818" r="-504724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88281" t="-101818" r="-400781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688281" t="-101818" r="-300781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788281" t="-101818" r="-200781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895276" t="-101818" r="-102362" b="-1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987500" t="-101818" r="-1563" b="-102727"/>
                          </a:stretch>
                        </a:blipFill>
                      </a:tcPr>
                    </a:tc>
                  </a:tr>
                  <a:tr h="67251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415" t="-200000" r="-478008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89063" t="-200000" r="-800000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89063" t="-200000" r="-700000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89063" t="-200000" r="-600000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492913" t="-200000" r="-504724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588281" t="-200000" r="-400781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688281" t="-200000" r="-300781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788281" t="-200000" r="-200781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895276" t="-200000" r="-102362" b="-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987500" t="-200000" r="-1563" b="-180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橢圓 2"/>
          <p:cNvSpPr/>
          <p:nvPr/>
        </p:nvSpPr>
        <p:spPr>
          <a:xfrm>
            <a:off x="4449271" y="3851483"/>
            <a:ext cx="543464" cy="543464"/>
          </a:xfrm>
          <a:prstGeom prst="ellipse">
            <a:avLst/>
          </a:prstGeom>
          <a:noFill/>
          <a:ln w="3810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7417899" y="6090488"/>
            <a:ext cx="543464" cy="543464"/>
          </a:xfrm>
          <a:prstGeom prst="ellipse">
            <a:avLst/>
          </a:prstGeom>
          <a:noFill/>
          <a:ln w="3810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5360565" y="3887405"/>
            <a:ext cx="1988191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dist"/>
            <a:r>
              <a:rPr lang="en-US" altLang="zh-TW" sz="3000" b="1" dirty="0" smtClean="0"/>
              <a:t>9 3 1</a:t>
            </a:r>
            <a:endParaRPr lang="zh-TW" alt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340203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 fontScale="90000"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Time complexity of the location </a:t>
            </a:r>
            <a:r>
              <a:rPr lang="en-US" altLang="zh-TW" sz="4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</a:t>
            </a:r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ables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20240" y="1555139"/>
                <a:ext cx="8472512" cy="36933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time complexity of location table depends on</a:t>
                </a: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time complexity of sorting </a:t>
                </a:r>
                <a14:m>
                  <m:oMath xmlns:m="http://schemas.openxmlformats.org/officeDocument/2006/math">
                    <m:r>
                      <a:rPr lang="en-US" altLang="zh-TW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 alphabet :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en-US" altLang="zh-TW" sz="30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0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123112313213 </a:t>
                </a:r>
                <a:r>
                  <a:rPr lang="en-US" altLang="zh-TW" sz="30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                              111112223333 </a:t>
                </a:r>
                <a:endParaRPr lang="en-US" altLang="zh-TW" sz="30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 alphabet :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TW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𝑙𝑜𝑔𝑚</m:t>
                        </m:r>
                      </m:e>
                    </m:d>
                  </m:oMath>
                </a14:m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40" y="1555139"/>
                <a:ext cx="8472512" cy="3693319"/>
              </a:xfrm>
              <a:prstGeom prst="rect">
                <a:avLst/>
              </a:prstGeom>
              <a:blipFill rotWithShape="0">
                <a:blip r:embed="rId2"/>
                <a:stretch>
                  <a:fillRect l="-2806" t="-3300" r="-1727" b="-54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352072"/>
              </p:ext>
            </p:extLst>
          </p:nvPr>
        </p:nvGraphicFramePr>
        <p:xfrm>
          <a:off x="3428301" y="3720750"/>
          <a:ext cx="241882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3306"/>
                <a:gridCol w="528507"/>
                <a:gridCol w="528507"/>
                <a:gridCol w="52850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038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Lemma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68009" y="1280041"/>
                <a:ext cx="8583827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that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[1..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]≈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..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5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𝐿𝑀𝑎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TW" sz="25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sz="25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</a:t>
                </a:r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..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..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⟺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9" y="1280041"/>
                <a:ext cx="8583827" cy="1631216"/>
              </a:xfrm>
              <a:prstGeom prst="rect">
                <a:avLst/>
              </a:prstGeom>
              <a:blipFill rotWithShape="0">
                <a:blip r:embed="rId2"/>
                <a:stretch>
                  <a:fillRect l="-1136" t="-3358" b="-7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1218800" y="3662707"/>
            <a:ext cx="699295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68009" y="3662707"/>
                <a:ext cx="353430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9" y="3662707"/>
                <a:ext cx="353430" cy="53860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5881416" y="3662707"/>
            <a:ext cx="35422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5948241" y="3228904"/>
                <a:ext cx="24820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241" y="3228904"/>
                <a:ext cx="248208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2021989" y="3662707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2024526" y="3250379"/>
                <a:ext cx="25789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526" y="3250379"/>
                <a:ext cx="257891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16667" r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3905300" y="3662706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3956256" y="3228903"/>
                <a:ext cx="25231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256" y="3228903"/>
                <a:ext cx="252312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31707" r="-26829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6235641" y="3662706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218800" y="5139913"/>
            <a:ext cx="699295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568009" y="5139913"/>
                <a:ext cx="360355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9" y="5139913"/>
                <a:ext cx="360355" cy="53860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5881416" y="5139913"/>
            <a:ext cx="35422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5948241" y="4706110"/>
                <a:ext cx="24820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241" y="4706110"/>
                <a:ext cx="248208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2021989" y="5139913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2024526" y="4727585"/>
                <a:ext cx="25789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526" y="4727585"/>
                <a:ext cx="257891" cy="384721"/>
              </a:xfrm>
              <a:prstGeom prst="rect">
                <a:avLst/>
              </a:prstGeom>
              <a:blipFill rotWithShape="0">
                <a:blip r:embed="rId9"/>
                <a:stretch>
                  <a:fillRect l="-16667" r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/>
          <p:cNvSpPr/>
          <p:nvPr/>
        </p:nvSpPr>
        <p:spPr>
          <a:xfrm>
            <a:off x="3905300" y="5139912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3956256" y="4706109"/>
                <a:ext cx="25231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256" y="4706109"/>
                <a:ext cx="252312" cy="384721"/>
              </a:xfrm>
              <a:prstGeom prst="rect">
                <a:avLst/>
              </a:prstGeom>
              <a:blipFill rotWithShape="0">
                <a:blip r:embed="rId10"/>
                <a:stretch>
                  <a:fillRect l="-31707" r="-26829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6235641" y="5139912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6589866" y="3663834"/>
            <a:ext cx="1621889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6593509" y="5146349"/>
            <a:ext cx="1621889" cy="6031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518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308138" y="117991"/>
                <a:ext cx="8671105" cy="126596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4500" dirty="0" smtClean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Proof (</a:t>
                </a:r>
                <a14:m>
                  <m:oMath xmlns:m="http://schemas.openxmlformats.org/officeDocument/2006/math">
                    <m:r>
                      <a:rPr lang="en-US" altLang="zh-TW" sz="4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</m:oMath>
                </a14:m>
                <a:r>
                  <a:rPr lang="en-US" altLang="zh-TW" sz="4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4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08138" y="117991"/>
                <a:ext cx="8671105" cy="1265965"/>
              </a:xfrm>
              <a:blipFill rotWithShape="0">
                <a:blip r:embed="rId2"/>
                <a:stretch>
                  <a:fillRect l="-2954" b="-24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68009" y="1280041"/>
                <a:ext cx="8583827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[1..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]≈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..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5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𝐿𝑀𝑎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TW" sz="25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sz="25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..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1.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en-US" altLang="zh-TW" sz="2500" dirty="0" smtClean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9" y="1280041"/>
                <a:ext cx="8583827" cy="1631216"/>
              </a:xfrm>
              <a:prstGeom prst="rect">
                <a:avLst/>
              </a:prstGeom>
              <a:blipFill rotWithShape="0">
                <a:blip r:embed="rId3"/>
                <a:stretch>
                  <a:fillRect t="-3358" b="-74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1218800" y="3662707"/>
            <a:ext cx="699295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68009" y="3662707"/>
                <a:ext cx="353430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9" y="3662707"/>
                <a:ext cx="353430" cy="53860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5881416" y="3662707"/>
            <a:ext cx="35422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5948241" y="3228904"/>
                <a:ext cx="24820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241" y="3228904"/>
                <a:ext cx="248208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2021989" y="3662707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2024526" y="3250379"/>
                <a:ext cx="25789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526" y="3250379"/>
                <a:ext cx="257891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16667" r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3905300" y="3662706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3956256" y="3228903"/>
                <a:ext cx="25231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256" y="3228903"/>
                <a:ext cx="252312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31707" r="-26829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6235641" y="3662706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218800" y="5139913"/>
            <a:ext cx="699295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568009" y="5139913"/>
                <a:ext cx="360355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9" y="5139913"/>
                <a:ext cx="360355" cy="53860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5881416" y="5139913"/>
            <a:ext cx="35422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5948241" y="4706110"/>
                <a:ext cx="24820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241" y="4706110"/>
                <a:ext cx="248208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2021989" y="5139913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2024526" y="4727585"/>
                <a:ext cx="25789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526" y="4727585"/>
                <a:ext cx="257891" cy="384721"/>
              </a:xfrm>
              <a:prstGeom prst="rect">
                <a:avLst/>
              </a:prstGeom>
              <a:blipFill rotWithShape="0">
                <a:blip r:embed="rId10"/>
                <a:stretch>
                  <a:fillRect l="-16667" r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/>
          <p:cNvSpPr/>
          <p:nvPr/>
        </p:nvSpPr>
        <p:spPr>
          <a:xfrm>
            <a:off x="3905300" y="5139912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3956256" y="4706109"/>
                <a:ext cx="25231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256" y="4706109"/>
                <a:ext cx="252312" cy="384721"/>
              </a:xfrm>
              <a:prstGeom prst="rect">
                <a:avLst/>
              </a:prstGeom>
              <a:blipFill rotWithShape="0">
                <a:blip r:embed="rId11"/>
                <a:stretch>
                  <a:fillRect l="-31707" r="-26829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6235641" y="5139912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6589866" y="3663834"/>
            <a:ext cx="1621889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6593509" y="5146349"/>
            <a:ext cx="1621889" cy="6031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532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308138" y="117991"/>
                <a:ext cx="8671105" cy="126596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4500" dirty="0" smtClean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Proof (</a:t>
                </a:r>
                <a14:m>
                  <m:oMath xmlns:m="http://schemas.openxmlformats.org/officeDocument/2006/math">
                    <m:r>
                      <a:rPr lang="en-US" altLang="zh-TW" sz="4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⟸</m:t>
                    </m:r>
                  </m:oMath>
                </a14:m>
                <a:r>
                  <a:rPr lang="en-US" altLang="zh-TW" sz="4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4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08138" y="117991"/>
                <a:ext cx="8671105" cy="1265965"/>
              </a:xfrm>
              <a:blipFill rotWithShape="0">
                <a:blip r:embed="rId2"/>
                <a:stretch>
                  <a:fillRect l="-2954" b="-24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68009" y="1280041"/>
                <a:ext cx="8583827" cy="355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[1..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]≈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..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5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𝐿𝑀𝑎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TW" sz="25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sz="25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𝑀𝑖𝑛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TW" alt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>
                  <a:cs typeface="Times New Roman" panose="02020603050405020304" pitchFamily="18" charset="0"/>
                </a:endParaRPr>
              </a:p>
              <a:p>
                <a:r>
                  <a:rPr lang="en-US" altLang="zh-TW" sz="2500" b="0" dirty="0" smtClean="0">
                    <a:cs typeface="Times New Roman" panose="02020603050405020304" pitchFamily="18" charset="0"/>
                  </a:rPr>
                  <a:t>We need to show that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1..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..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We have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[1..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]≈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..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hence it suffices to prove that, for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TW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⇔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TW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+1]</m:t>
                      </m:r>
                    </m:oMath>
                  </m:oMathPara>
                </a14:m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that 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some 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the order-isomorphism,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5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y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5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y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9" y="1280041"/>
                <a:ext cx="8583827" cy="3554819"/>
              </a:xfrm>
              <a:prstGeom prst="rect">
                <a:avLst/>
              </a:prstGeom>
              <a:blipFill rotWithShape="0">
                <a:blip r:embed="rId3"/>
                <a:stretch>
                  <a:fillRect l="-1136" t="-1544" b="-30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64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Lemma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68009" y="1280041"/>
                <a:ext cx="858382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that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[1..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]≈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..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en-US" altLang="zh-TW" sz="2500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5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𝐿𝑀𝑎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5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TW" sz="25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sz="25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</a:t>
                </a:r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..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..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⟺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check if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[1..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]≈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..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constant time.</a:t>
                </a:r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9" y="1280041"/>
                <a:ext cx="8583827" cy="2400657"/>
              </a:xfrm>
              <a:prstGeom prst="rect">
                <a:avLst/>
              </a:prstGeom>
              <a:blipFill rotWithShape="0">
                <a:blip r:embed="rId2"/>
                <a:stretch>
                  <a:fillRect l="-1136" t="-2284" b="-50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294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3997" y="175656"/>
            <a:ext cx="8671105" cy="804647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Morris-Pratt algorithm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60173" y="1044421"/>
                <a:ext cx="8583827" cy="5478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</a:t>
                </a:r>
                <a14:m>
                  <m:oMath xmlns:m="http://schemas.openxmlformats.org/officeDocument/2006/math">
                    <m:r>
                      <a:rPr lang="en-US" altLang="zh-TW" sz="25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2500" b="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a pattern of length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text of length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that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..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1..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</a:p>
              <a:p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shifting, it is reasonable to expect that a prefix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pattern matches some suffix of the portion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text. The longest such prefix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called the border of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(it occurs at both ends of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in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time, </a:t>
                </a:r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searching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5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5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5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time.</a:t>
                </a:r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73" y="1044421"/>
                <a:ext cx="8583827" cy="5478423"/>
              </a:xfrm>
              <a:prstGeom prst="rect">
                <a:avLst/>
              </a:prstGeom>
              <a:blipFill rotWithShape="0">
                <a:blip r:embed="rId2"/>
                <a:stretch>
                  <a:fillRect l="-1207" t="-890" b="-16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://www-igm.univ-mlv.fr/~lecroq/string/images/mp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41" y="1630492"/>
            <a:ext cx="7112080" cy="183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6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57565" y="381602"/>
            <a:ext cx="8671105" cy="126596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Order-borders table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60173" y="1464551"/>
                <a:ext cx="8583827" cy="2015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</a:t>
                </a:r>
                <a14:m>
                  <m:oMath xmlns:m="http://schemas.openxmlformats.org/officeDocument/2006/math">
                    <m:r>
                      <a:rPr lang="en-US" altLang="zh-TW" sz="25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2500" b="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a pattern of length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5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US" altLang="zh-TW" sz="25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border-borders table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zh-TW" altLang="en-US" sz="25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25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defined as follows : </a:t>
                </a:r>
              </a:p>
              <a:p>
                <a:endParaRPr lang="en-US" altLang="zh-TW" sz="2500" b="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b="0" i="1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2500" b="0" i="1" dirty="0" smtClean="0">
                    <a:latin typeface="Cambria Math" panose="02040503050406030204" pitchFamily="18" charset="0"/>
                  </a:rPr>
                  <a:t>,</a:t>
                </a:r>
              </a:p>
              <a:p>
                <a:r>
                  <a:rPr lang="en-US" altLang="zh-TW" sz="2500" b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{ 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+1..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}</m:t>
                    </m:r>
                  </m:oMath>
                </a14:m>
                <a:r>
                  <a:rPr lang="en-US" altLang="zh-TW" sz="2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≥2</m:t>
                    </m:r>
                  </m:oMath>
                </a14:m>
                <a:r>
                  <a:rPr lang="en-US" altLang="zh-TW" sz="2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73" y="1464551"/>
                <a:ext cx="8583827" cy="2015936"/>
              </a:xfrm>
              <a:prstGeom prst="rect">
                <a:avLst/>
              </a:prstGeom>
              <a:blipFill rotWithShape="0">
                <a:blip r:embed="rId2"/>
                <a:stretch>
                  <a:fillRect l="-1207" t="-2417" b="-57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1210964" y="4156979"/>
            <a:ext cx="699295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60173" y="4156979"/>
                <a:ext cx="353430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73" y="4156979"/>
                <a:ext cx="353430" cy="53860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5873580" y="4156979"/>
            <a:ext cx="35422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5940405" y="3723176"/>
                <a:ext cx="22057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405" y="3723176"/>
                <a:ext cx="220573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6227804" y="4158106"/>
            <a:ext cx="1976116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弧形 2"/>
          <p:cNvSpPr/>
          <p:nvPr/>
        </p:nvSpPr>
        <p:spPr>
          <a:xfrm>
            <a:off x="3031524" y="3723176"/>
            <a:ext cx="3171084" cy="840587"/>
          </a:xfrm>
          <a:prstGeom prst="arc">
            <a:avLst>
              <a:gd name="adj1" fmla="val 10760724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弧形 14"/>
          <p:cNvSpPr/>
          <p:nvPr/>
        </p:nvSpPr>
        <p:spPr>
          <a:xfrm>
            <a:off x="1210963" y="3760272"/>
            <a:ext cx="3171084" cy="840587"/>
          </a:xfrm>
          <a:prstGeom prst="arc">
            <a:avLst>
              <a:gd name="adj1" fmla="val 10760724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/>
          <p:nvPr/>
        </p:nvCxnSpPr>
        <p:spPr>
          <a:xfrm>
            <a:off x="4399008" y="4160127"/>
            <a:ext cx="0" cy="60645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052114" y="4164243"/>
            <a:ext cx="0" cy="60645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2362671" y="3459033"/>
                <a:ext cx="6272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671" y="3459033"/>
                <a:ext cx="627223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4303454" y="3449401"/>
                <a:ext cx="6272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454" y="3449401"/>
                <a:ext cx="627223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1210962" y="5082428"/>
            <a:ext cx="3217122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3051302" y="5896974"/>
            <a:ext cx="3217122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951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57565" y="381602"/>
            <a:ext cx="8671105" cy="126596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Order-borders table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60173" y="1464551"/>
                <a:ext cx="8583827" cy="4324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</a:t>
                </a:r>
                <a14:m>
                  <m:oMath xmlns:m="http://schemas.openxmlformats.org/officeDocument/2006/math">
                    <m:r>
                      <a:rPr lang="en-US" altLang="zh-TW" sz="25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2500" b="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a pattern of length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5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considering 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calculated. So we can surely know that 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..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</a:t>
                </a:r>
                <a:r>
                  <a:rPr lang="en-US" altLang="zh-TW" sz="25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altLang="zh-TW" sz="25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:</a:t>
                </a:r>
                <a:r>
                  <a:rPr lang="en-US" altLang="zh-TW" sz="2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5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73" y="1464551"/>
                <a:ext cx="8583827" cy="4324261"/>
              </a:xfrm>
              <a:prstGeom prst="rect">
                <a:avLst/>
              </a:prstGeom>
              <a:blipFill rotWithShape="0">
                <a:blip r:embed="rId2"/>
                <a:stretch>
                  <a:fillRect l="-1207" t="-1127" b="-22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65" y="1997880"/>
            <a:ext cx="5082746" cy="205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13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57565" y="381602"/>
            <a:ext cx="8671105" cy="1265965"/>
          </a:xfrm>
        </p:spPr>
        <p:txBody>
          <a:bodyPr>
            <a:normAutofit fontScale="90000"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Consecutive permutation pattern matching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60173" y="2008249"/>
                <a:ext cx="8583827" cy="2785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pattern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order-occurs at position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a text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..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find all order-occurrences of x in y in linear time using the algorithm modified of Morris-Pratt algorithm.</a:t>
                </a: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73" y="2008249"/>
                <a:ext cx="8583827" cy="2785378"/>
              </a:xfrm>
              <a:prstGeom prst="rect">
                <a:avLst/>
              </a:prstGeom>
              <a:blipFill rotWithShape="0">
                <a:blip r:embed="rId2"/>
                <a:stretch>
                  <a:fillRect l="-1207" t="-17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93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05" y="181232"/>
            <a:ext cx="7652951" cy="36354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741405" y="4562389"/>
                <a:ext cx="4667945" cy="630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3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:</a:t>
                </a:r>
                <a:r>
                  <a:rPr lang="en-US" altLang="zh-TW" sz="35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3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3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3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3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35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05" y="4562389"/>
                <a:ext cx="4667945" cy="630942"/>
              </a:xfrm>
              <a:prstGeom prst="rect">
                <a:avLst/>
              </a:prstGeom>
              <a:blipFill rotWithShape="0">
                <a:blip r:embed="rId3"/>
                <a:stretch>
                  <a:fillRect l="-3922" t="-15385" b="-336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2153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25003" y="685800"/>
            <a:ext cx="8223695" cy="2082114"/>
          </a:xfrm>
        </p:spPr>
        <p:txBody>
          <a:bodyPr>
            <a:normAutofit/>
          </a:bodyPr>
          <a:lstStyle/>
          <a:p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Fast Algorithm for Order-preserving Pattern Matching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25778" y="3188044"/>
            <a:ext cx="7877174" cy="2375276"/>
          </a:xfrm>
        </p:spPr>
        <p:txBody>
          <a:bodyPr>
            <a:noAutofit/>
          </a:bodyPr>
          <a:lstStyle/>
          <a:p>
            <a:r>
              <a:rPr lang="fr-FR" altLang="zh-TW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Sukhyeun Cho, Joong Chae Na, Kunsoo Park, </a:t>
            </a:r>
          </a:p>
          <a:p>
            <a:r>
              <a:rPr lang="fr-FR" altLang="zh-TW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Jeong Seop Sim,</a:t>
            </a:r>
          </a:p>
          <a:p>
            <a:endParaRPr lang="fr-FR" altLang="zh-TW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Letters, Vol. 115, </a:t>
            </a:r>
          </a:p>
          <a:p>
            <a:r>
              <a:rPr lang="en-US" altLang="zh-TW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No. 2, pp. 397-402, February 2015.</a:t>
            </a:r>
            <a:endParaRPr lang="nl-NL" altLang="zh-TW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2833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-Yan Lee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2018/4/17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48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(1/2)</a:t>
            </a:r>
            <a:endParaRPr lang="zh-TW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08138" y="1571048"/>
                <a:ext cx="8539300" cy="506903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text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 pattern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order-preserving pattern matching (OPPM) problem is to find all substrings in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which have the same relative orders as </a:t>
                </a:r>
                <a14:m>
                  <m:oMath xmlns:m="http://schemas.openxmlformats.org/officeDocument/2006/math">
                    <m:r>
                      <a:rPr lang="en-US" altLang="zh-TW" sz="31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altLang="zh-TW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OPPM has been studied in the fields of finding some patterns affected by relative orders, not by their absolute values. In this paper, we present a method of deciding the order-isomorphism between two strings even when there are same characters. </a:t>
                </a:r>
                <a:endParaRPr lang="zh-TW" altLang="en-US" sz="3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8138" y="1571048"/>
                <a:ext cx="8539300" cy="5069034"/>
              </a:xfrm>
              <a:blipFill rotWithShape="0">
                <a:blip r:embed="rId2"/>
                <a:stretch>
                  <a:fillRect l="-1786" t="-2527" r="-26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29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(2/2)</a:t>
            </a:r>
            <a:endParaRPr lang="zh-TW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8138" y="1571048"/>
            <a:ext cx="8671105" cy="50690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Then, we show that the bad character rule of the </a:t>
            </a:r>
            <a:r>
              <a:rPr lang="en-US" altLang="zh-TW" sz="3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Horspool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for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eneric pattern matching problems can be applied to the OPPM problem and we present a space-efficient algorithm for computing shift tables for text search. Finally, we combine our bad character rule with the KMP-based algorithm to improve the worst-case running time. We give experimental results to show that our algorithm is about 2 to 6 times faster than the KMP-based algorithm in reasonable cases.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27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7476619" cy="107649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Order-isomorphism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56734" y="1383956"/>
                <a:ext cx="8583827" cy="355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strings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same length are called order-isomorphic (written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 if</a:t>
                </a:r>
              </a:p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b="0" dirty="0" smtClean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⟺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0≤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≤|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  <a:endParaRPr lang="en-US" altLang="zh-TW" sz="250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500" b="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35, 40, 23, 40, 40, 28, 30</m:t>
                      </m:r>
                    </m:oMath>
                  </m:oMathPara>
                </a14:m>
                <a:endParaRPr lang="en-US" altLang="zh-TW" sz="25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500" b="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y</m:t>
                      </m:r>
                      <m:r>
                        <a:rPr lang="en-US" altLang="zh-TW" sz="2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500" b="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28</m:t>
                      </m:r>
                      <m:r>
                        <a:rPr lang="en-US" altLang="zh-TW" sz="25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500" b="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altLang="zh-TW" sz="25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500" b="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en-US" altLang="zh-TW" sz="25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500" b="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altLang="zh-TW" sz="25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500" b="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r>
                        <a:rPr lang="en-US" altLang="zh-TW" sz="25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500" b="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20</m:t>
                      </m:r>
                      <m:r>
                        <a:rPr lang="en-US" altLang="zh-TW" sz="25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2500" b="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25</m:t>
                      </m:r>
                    </m:oMath>
                  </m:oMathPara>
                </a14:m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34" y="1383956"/>
                <a:ext cx="8583827" cy="3554819"/>
              </a:xfrm>
              <a:prstGeom prst="rect">
                <a:avLst/>
              </a:prstGeom>
              <a:blipFill rotWithShape="0">
                <a:blip r:embed="rId2"/>
                <a:stretch>
                  <a:fillRect l="-1207" t="-13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2407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 fontScale="90000"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Order-preserving pattern matching problem (OPPM)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642550" y="1565189"/>
                <a:ext cx="8583827" cy="3554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text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[0..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 pattern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TW" sz="25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[0..</m:t>
                    </m:r>
                    <m:r>
                      <m:rPr>
                        <m:sty m:val="p"/>
                      </m:rPr>
                      <a:rPr lang="en-US" altLang="zh-TW" sz="25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  <m:r>
                      <a:rPr lang="en-US" altLang="zh-TW" sz="25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OPPM problem is to find all positions of 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matched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Match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position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+1..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]≈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</a:t>
                </a:r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b="0" dirty="0" smtClean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35, 40, 23, 40, 40, 28, 30</m:t>
                    </m:r>
                  </m:oMath>
                </a14:m>
                <a:endParaRPr lang="en-US" altLang="zh-TW" sz="25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b="0" dirty="0" smtClean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10,20,15,28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32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32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32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20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25,15,25</m:t>
                    </m:r>
                  </m:oMath>
                </a14:m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50" y="1565189"/>
                <a:ext cx="8583827" cy="3554819"/>
              </a:xfrm>
              <a:prstGeom prst="rect">
                <a:avLst/>
              </a:prstGeom>
              <a:blipFill rotWithShape="0">
                <a:blip r:embed="rId2"/>
                <a:stretch>
                  <a:fillRect l="-1136" t="-15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69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 fontScale="90000"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Order-preserving pattern matching problem (OPPM)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642550" y="1565189"/>
                <a:ext cx="8583827" cy="2015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</a:t>
                </a:r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b="0" dirty="0" smtClean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35, 40, 23, 40, 40, 28, 30</m:t>
                    </m:r>
                  </m:oMath>
                </a14:m>
                <a:endParaRPr lang="en-US" altLang="zh-TW" sz="25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b="0" dirty="0" smtClean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10,20,15,28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32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32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32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20</m:t>
                    </m:r>
                    <m:r>
                      <a:rPr lang="en-US" altLang="zh-TW" sz="25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5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25,15,25</m:t>
                    </m:r>
                  </m:oMath>
                </a14:m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50" y="1565189"/>
                <a:ext cx="8583827" cy="2015936"/>
              </a:xfrm>
              <a:prstGeom prst="rect">
                <a:avLst/>
              </a:prstGeom>
              <a:blipFill rotWithShape="0">
                <a:blip r:embed="rId2"/>
                <a:stretch>
                  <a:fillRect l="-11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02" y="3415981"/>
            <a:ext cx="7031776" cy="286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18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/>
          </a:bodyPr>
          <a:lstStyle/>
          <a:p>
            <a:r>
              <a:rPr lang="en-US" altLang="zh-TW" sz="4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Kubinca</a:t>
            </a:r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al.’</a:t>
            </a:r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algorithm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568009" y="1280041"/>
                <a:ext cx="858382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string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define the location 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𝐿𝑀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TW" altLang="en-US" sz="2500" dirty="0" smtClean="0"/>
                  <a:t> </a:t>
                </a:r>
                <a:r>
                  <a:rPr lang="en-US" altLang="zh-TW" sz="2500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𝐿𝑀𝑖𝑛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9" y="1280041"/>
                <a:ext cx="8583827" cy="477054"/>
              </a:xfrm>
              <a:prstGeom prst="rect">
                <a:avLst/>
              </a:prstGeom>
              <a:blipFill rotWithShape="0">
                <a:blip r:embed="rId2"/>
                <a:stretch>
                  <a:fillRect l="-1136" t="-12821" b="-30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204" y="1877481"/>
            <a:ext cx="7240092" cy="225790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293341" y="4703804"/>
            <a:ext cx="699295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642550" y="4703804"/>
                <a:ext cx="353430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50" y="4703804"/>
                <a:ext cx="353430" cy="53860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5955957" y="4703804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6022782" y="4270001"/>
                <a:ext cx="22057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782" y="4270001"/>
                <a:ext cx="22057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2096530" y="4703804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1721577" y="4270001"/>
                <a:ext cx="129298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𝐿𝑀𝑖𝑛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577" y="4270001"/>
                <a:ext cx="1292982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5164" r="-7981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3979841" y="4703803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3499743" y="4275438"/>
                <a:ext cx="136018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𝐿𝑀𝑎</m:t>
                      </m:r>
                      <m:sSub>
                        <m:sSub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743" y="4275438"/>
                <a:ext cx="1360180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4933" r="-8072" b="-365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368068" y="5747206"/>
                <a:ext cx="481619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𝐿𝑀𝑎𝑥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]≤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]</m:t>
                      </m:r>
                      <m:sSub>
                        <m:sSubPr>
                          <m:ctrlPr>
                            <a:rPr lang="en-US" altLang="zh-TW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𝐿𝑀𝑖𝑛</m:t>
                          </m:r>
                        </m:e>
                        <m:sub>
                          <m:r>
                            <a:rPr lang="en-US" altLang="zh-TW" sz="3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68" y="5747206"/>
                <a:ext cx="481619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8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/>
          </a:bodyPr>
          <a:lstStyle/>
          <a:p>
            <a:r>
              <a:rPr lang="en-US" altLang="zh-TW" sz="4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Kubinca</a:t>
            </a:r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al.’</a:t>
            </a:r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algorithm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568009" y="1280041"/>
                <a:ext cx="8583827" cy="1246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that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[0..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]≈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[0..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5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𝐿𝑀𝑎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TW" sz="25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sz="25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</a:t>
                </a:r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0..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0..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⟺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9" y="1280041"/>
                <a:ext cx="8583827" cy="1246495"/>
              </a:xfrm>
              <a:prstGeom prst="rect">
                <a:avLst/>
              </a:prstGeom>
              <a:blipFill rotWithShape="0">
                <a:blip r:embed="rId2"/>
                <a:stretch>
                  <a:fillRect l="-1136" t="-4412" b="-107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218800" y="3310369"/>
            <a:ext cx="699295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568009" y="3310369"/>
                <a:ext cx="353430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9" y="3310369"/>
                <a:ext cx="353430" cy="53860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5881416" y="3310369"/>
            <a:ext cx="35422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5948241" y="2876566"/>
                <a:ext cx="24820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241" y="2876566"/>
                <a:ext cx="248208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2021989" y="3310369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2024526" y="2898041"/>
                <a:ext cx="25789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526" y="2898041"/>
                <a:ext cx="257891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16667" r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3905300" y="3310368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3956256" y="2876565"/>
                <a:ext cx="25231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256" y="2876565"/>
                <a:ext cx="252312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31707" r="-26829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6235641" y="3310368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1218800" y="4787575"/>
            <a:ext cx="699295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568009" y="4787575"/>
                <a:ext cx="360355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9" y="4787575"/>
                <a:ext cx="360355" cy="53860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5881416" y="4787575"/>
            <a:ext cx="354225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5948241" y="4353772"/>
                <a:ext cx="248208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241" y="4353772"/>
                <a:ext cx="248208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2021989" y="4787575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2024526" y="4375247"/>
                <a:ext cx="25789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526" y="4375247"/>
                <a:ext cx="257891" cy="384721"/>
              </a:xfrm>
              <a:prstGeom prst="rect">
                <a:avLst/>
              </a:prstGeom>
              <a:blipFill rotWithShape="0">
                <a:blip r:embed="rId9"/>
                <a:stretch>
                  <a:fillRect l="-16667" r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/>
          <p:cNvSpPr/>
          <p:nvPr/>
        </p:nvSpPr>
        <p:spPr>
          <a:xfrm>
            <a:off x="3905300" y="4787574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3956256" y="4353771"/>
                <a:ext cx="25231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256" y="4353771"/>
                <a:ext cx="252312" cy="384721"/>
              </a:xfrm>
              <a:prstGeom prst="rect">
                <a:avLst/>
              </a:prstGeom>
              <a:blipFill rotWithShape="0">
                <a:blip r:embed="rId10"/>
                <a:stretch>
                  <a:fillRect l="-31707" r="-26829" b="-7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6235641" y="4787574"/>
            <a:ext cx="354225" cy="609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7937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there are same characters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751649" y="2255925"/>
                <a:ext cx="2015552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=1, 3, 2</m:t>
                      </m:r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49" y="2255925"/>
                <a:ext cx="2015552" cy="53860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744724" y="2850308"/>
                <a:ext cx="2022477" cy="538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3500" b="0" i="1" smtClean="0">
                          <a:latin typeface="Cambria Math" panose="02040503050406030204" pitchFamily="18" charset="0"/>
                        </a:rPr>
                        <m:t>=1, 2, 2</m:t>
                      </m:r>
                    </m:oMath>
                  </m:oMathPara>
                </a14:m>
                <a:endParaRPr lang="zh-TW" altLang="en-US" sz="35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724" y="2850308"/>
                <a:ext cx="2022477" cy="53860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928364" y="1380275"/>
                <a:ext cx="7787268" cy="477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5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5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0..</m:t>
                          </m:r>
                          <m:r>
                            <a:rPr lang="en-US" altLang="zh-TW" sz="25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5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sz="25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altLang="zh-TW" sz="25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5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5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0..</m:t>
                          </m:r>
                          <m:r>
                            <a:rPr lang="en-US" altLang="zh-TW" sz="25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5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sz="25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⟺</m:t>
                      </m:r>
                      <m:r>
                        <a:rPr lang="en-US" altLang="zh-TW" sz="25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5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5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TW" sz="25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sz="25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5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5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5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sz="25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sz="25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TW" sz="25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TW" sz="25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TW" sz="25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364" y="1380275"/>
                <a:ext cx="7787268" cy="477054"/>
              </a:xfrm>
              <a:prstGeom prst="rect">
                <a:avLst/>
              </a:prstGeom>
              <a:blipFill rotWithShape="0">
                <a:blip r:embed="rId4"/>
                <a:stretch>
                  <a:fillRect b="-189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56664" y="3666503"/>
                <a:ext cx="8522579" cy="20159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5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0..</m:t>
                        </m:r>
                        <m:r>
                          <a:rPr lang="en-US" altLang="zh-TW" sz="25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sz="25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TW" sz="25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0..</m:t>
                        </m:r>
                        <m:r>
                          <a:rPr lang="en-US" altLang="zh-TW" sz="25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sz="25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</m:t>
                    </m:r>
                    <m:r>
                      <a:rPr lang="en-US" altLang="zh-TW" sz="25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𝐿𝑀𝑎</m:t>
                    </m:r>
                    <m:sSub>
                      <m:sSubPr>
                        <m:ctrlPr>
                          <a:rPr lang="en-US" altLang="zh-TW" sz="25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5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5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[2]=0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5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𝐿𝑀</m:t>
                    </m:r>
                    <m:sSub>
                      <m:sSubPr>
                        <m:ctrlPr>
                          <a:rPr lang="en-US" altLang="zh-TW" sz="25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e>
                      <m:sub>
                        <m:r>
                          <a:rPr lang="en-US" altLang="zh-TW" sz="25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5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[2]=</m:t>
                    </m:r>
                    <m:r>
                      <a:rPr lang="en-US" altLang="zh-TW" sz="25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b="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US" altLang="zh-TW" sz="25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sz="25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25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sz="25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(1≤2≤2)</m:t>
                    </m:r>
                  </m:oMath>
                </a14:m>
                <a:endParaRPr lang="en-US" altLang="zh-TW" sz="2500" b="0" i="1" dirty="0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b="0" i="1" dirty="0" smtClean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5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[0..2]≉</m:t>
                    </m:r>
                    <m:r>
                      <a:rPr lang="en-US" altLang="zh-TW" sz="25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[0..2]</m:t>
                    </m:r>
                  </m:oMath>
                </a14:m>
                <a:r>
                  <a:rPr lang="en-US" altLang="zh-TW" sz="2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ecause</a:t>
                </a:r>
                <a:r>
                  <a:rPr lang="zh-TW" altLang="en-US" sz="2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sz="25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≰</m:t>
                    </m:r>
                    <m:r>
                      <a:rPr lang="en-US" altLang="zh-TW" sz="25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sz="25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r>
                  <a:rPr lang="en-US" altLang="zh-TW" sz="2500" b="0" i="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5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y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sz="25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TW" sz="25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y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sz="25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64" y="3666503"/>
                <a:ext cx="8522579" cy="2015936"/>
              </a:xfrm>
              <a:prstGeom prst="rect">
                <a:avLst/>
              </a:prstGeom>
              <a:blipFill rotWithShape="0">
                <a:blip r:embed="rId5"/>
                <a:stretch>
                  <a:fillRect t="-2417" b="-60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222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/>
          </a:bodyPr>
          <a:lstStyle/>
          <a:p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new lemma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68009" y="1280041"/>
                <a:ext cx="8583827" cy="2785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that </a:t>
                </a:r>
                <a14:m>
                  <m:oMath xmlns:m="http://schemas.openxmlformats.org/officeDocument/2006/math"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[0..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]≈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[0..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5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𝐿𝑀𝑎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TW" sz="25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sz="25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condition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]&lt;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condition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+1] &lt; 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5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</a:t>
                </a:r>
                <a:r>
                  <a:rPr lang="zh-TW" altLang="en-US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0..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0..</m:t>
                        </m:r>
                        <m:r>
                          <a:rPr lang="en-US" altLang="zh-TW" sz="25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5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⟺</m:t>
                    </m:r>
                    <m:d>
                      <m:dPr>
                        <m:ctrlP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∧ </m:t>
                        </m:r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∧(−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∧−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9" y="1280041"/>
                <a:ext cx="8583827" cy="2785378"/>
              </a:xfrm>
              <a:prstGeom prst="rect">
                <a:avLst/>
              </a:prstGeom>
              <a:blipFill rotWithShape="0">
                <a:blip r:embed="rId2"/>
                <a:stretch>
                  <a:fillRect l="-1136" t="-1969" b="-41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3213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117991"/>
            <a:ext cx="8671105" cy="1265965"/>
          </a:xfrm>
        </p:spPr>
        <p:txBody>
          <a:bodyPr>
            <a:normAutofit/>
          </a:bodyPr>
          <a:lstStyle/>
          <a:p>
            <a:r>
              <a:rPr lang="en-US" altLang="zh-TW" sz="4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Horspool</a:t>
            </a:r>
            <a:r>
              <a:rPr lang="en-US" altLang="zh-TW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zh-TW" alt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68009" y="1280041"/>
            <a:ext cx="858382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exact string matching algorithm.</a:t>
            </a:r>
            <a:endParaRPr lang="zh-TW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55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26203</TotalTime>
  <Words>997</Words>
  <Application>Microsoft Office PowerPoint</Application>
  <PresentationFormat>如螢幕大小 (4:3)</PresentationFormat>
  <Paragraphs>279</Paragraphs>
  <Slides>31</Slides>
  <Notes>0</Notes>
  <HiddenSlides>8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40" baseType="lpstr">
      <vt:lpstr>新細明體</vt:lpstr>
      <vt:lpstr>Arial</vt:lpstr>
      <vt:lpstr>Calibri</vt:lpstr>
      <vt:lpstr>Calibri Light</vt:lpstr>
      <vt:lpstr>Cambria Math</vt:lpstr>
      <vt:lpstr>Tahoma</vt:lpstr>
      <vt:lpstr>Times New Roman</vt:lpstr>
      <vt:lpstr>Wingdings</vt:lpstr>
      <vt:lpstr>Office 佈景主題</vt:lpstr>
      <vt:lpstr>A Linear Time Algorithm for Consecutive Permutation Pattern Matching</vt:lpstr>
      <vt:lpstr>Abstract (1/2)</vt:lpstr>
      <vt:lpstr>Abstract (2/2)</vt:lpstr>
      <vt:lpstr>Order-isomorphism</vt:lpstr>
      <vt:lpstr>Problem definition</vt:lpstr>
      <vt:lpstr>Location tables</vt:lpstr>
      <vt:lpstr>Location Tables</vt:lpstr>
      <vt:lpstr>Computation of the location tables</vt:lpstr>
      <vt:lpstr>Computation of the location tables</vt:lpstr>
      <vt:lpstr>Computation of the location tables</vt:lpstr>
      <vt:lpstr>Time complexity of the location tables</vt:lpstr>
      <vt:lpstr>Lemma</vt:lpstr>
      <vt:lpstr>Proof (⟹)</vt:lpstr>
      <vt:lpstr>Proof (⟸)</vt:lpstr>
      <vt:lpstr>Lemma</vt:lpstr>
      <vt:lpstr>Morris-Pratt algorithm</vt:lpstr>
      <vt:lpstr>Order-borders table</vt:lpstr>
      <vt:lpstr>Order-borders table</vt:lpstr>
      <vt:lpstr>Consecutive permutation pattern matching</vt:lpstr>
      <vt:lpstr>PowerPoint 簡報</vt:lpstr>
      <vt:lpstr>A Fast Algorithm for Order-preserving Pattern Matching</vt:lpstr>
      <vt:lpstr>Abstract (1/2)</vt:lpstr>
      <vt:lpstr>Abstract (2/2)</vt:lpstr>
      <vt:lpstr>Order-isomorphism</vt:lpstr>
      <vt:lpstr>Order-preserving pattern matching problem (OPPM)</vt:lpstr>
      <vt:lpstr>Order-preserving pattern matching problem (OPPM)</vt:lpstr>
      <vt:lpstr>Kubinca et al.’s algorithm</vt:lpstr>
      <vt:lpstr>Kubinca et al.’s algorithm</vt:lpstr>
      <vt:lpstr>When there are same characters</vt:lpstr>
      <vt:lpstr>The new lemma</vt:lpstr>
      <vt:lpstr>Horspool algorithm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YanLee</dc:creator>
  <cp:lastModifiedBy>pplab-class</cp:lastModifiedBy>
  <cp:revision>566</cp:revision>
  <dcterms:created xsi:type="dcterms:W3CDTF">2016-10-24T04:50:56Z</dcterms:created>
  <dcterms:modified xsi:type="dcterms:W3CDTF">2018-04-17T11:22:03Z</dcterms:modified>
</cp:coreProperties>
</file>