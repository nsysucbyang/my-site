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6" r:id="rId3"/>
    <p:sldId id="277" r:id="rId4"/>
    <p:sldId id="278" r:id="rId5"/>
    <p:sldId id="279" r:id="rId6"/>
    <p:sldId id="280" r:id="rId7"/>
    <p:sldId id="281" r:id="rId8"/>
    <p:sldId id="282" r:id="rId9"/>
    <p:sldId id="283" r:id="rId10"/>
    <p:sldId id="284" r:id="rId11"/>
    <p:sldId id="285"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佈景主題樣式 2 - 輔色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115" d="100"/>
          <a:sy n="115" d="100"/>
        </p:scale>
        <p:origin x="70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2018/11/19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2018/11/19</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2018/11/19</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2018/11/19</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2018/11/19</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2018/11/19</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2018/11/19</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2018/11/19</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2018/11/19</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2018/11/19</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2018/11/19</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2018/11/19</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2018/11/19</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tw/maps/place/%E4%B8%AD%E5%9C%8B%E6%B5%99%E6%B1%9F%E7%9C%81%E6%9D%AD%E5%B7%9E%E5%B8%82/@30.3210249,119.5266013,9z/data=!4m5!3m4!1s0x344bb629439aaa99:0xa7bfd183824de83a!8m2!3d30.274084!4d120.15507"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1416174" y="721475"/>
            <a:ext cx="9359651" cy="1356957"/>
          </a:xfrm>
        </p:spPr>
        <p:txBody>
          <a:bodyPr>
            <a:noAutofit/>
          </a:bodyPr>
          <a:lstStyle/>
          <a:p>
            <a:r>
              <a:rPr lang="en-US" altLang="zh-TW" sz="4000" dirty="0"/>
              <a:t>Accurate and Fast Dynamic Time Warping</a:t>
            </a:r>
            <a:endParaRPr lang="zh-TW" altLang="en-US" sz="40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383332" y="2810596"/>
            <a:ext cx="11425330" cy="768600"/>
          </a:xfrm>
        </p:spPr>
        <p:txBody>
          <a:bodyPr>
            <a:noAutofit/>
          </a:bodyPr>
          <a:lstStyle/>
          <a:p>
            <a:r>
              <a:rPr lang="en-US" altLang="zh-TW" dirty="0" err="1"/>
              <a:t>Hailin</a:t>
            </a:r>
            <a:r>
              <a:rPr lang="en-US" altLang="zh-TW" dirty="0"/>
              <a:t> Li and </a:t>
            </a:r>
            <a:r>
              <a:rPr lang="en-US" altLang="zh-TW" dirty="0" err="1"/>
              <a:t>Libin</a:t>
            </a:r>
            <a:r>
              <a:rPr lang="en-US" altLang="zh-TW" dirty="0"/>
              <a:t> Yang</a:t>
            </a:r>
          </a:p>
          <a:p>
            <a:r>
              <a:rPr lang="en-US" altLang="zh-TW" dirty="0"/>
              <a:t>College of Business Administration, Huaqiao University, China</a:t>
            </a:r>
            <a:br>
              <a:rPr lang="en-US" altLang="zh-TW" dirty="0"/>
            </a:b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526943" y="3895907"/>
            <a:ext cx="11138108"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b="1" dirty="0">
                <a:solidFill>
                  <a:schemeClr val="tx1"/>
                </a:solidFill>
              </a:rPr>
              <a:t>International Conference on Advanced Data Mining and Applications</a:t>
            </a:r>
          </a:p>
          <a:p>
            <a:r>
              <a:rPr lang="en-US" altLang="zh-TW" sz="2800" b="1" dirty="0">
                <a:solidFill>
                  <a:schemeClr val="tx1"/>
                </a:solidFill>
              </a:rPr>
              <a:t>14-16 December, 2013, Hangzhou, China</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Shan-Ru Liu</a:t>
            </a:r>
          </a:p>
          <a:p>
            <a:r>
              <a:rPr lang="en-US" altLang="zh-TW" sz="2800" dirty="0">
                <a:solidFill>
                  <a:schemeClr val="tx1"/>
                </a:solidFill>
              </a:rPr>
              <a:t>Date: 2018/11/20</a:t>
            </a:r>
            <a:endParaRPr lang="zh-TW" altLang="en-US" sz="2800" dirty="0">
              <a:solidFill>
                <a:schemeClr val="tx1"/>
              </a:solidFill>
            </a:endParaRPr>
          </a:p>
        </p:txBody>
      </p:sp>
      <p:sp>
        <p:nvSpPr>
          <p:cNvPr id="7" name="橢圓 6">
            <a:hlinkClick r:id="rId3"/>
            <a:extLst>
              <a:ext uri="{FF2B5EF4-FFF2-40B4-BE49-F238E27FC236}">
                <a16:creationId xmlns:a16="http://schemas.microsoft.com/office/drawing/2014/main" id="{6BCA7BB4-D571-4ED4-A82D-1CC0A5D76536}"/>
              </a:ext>
            </a:extLst>
          </p:cNvPr>
          <p:cNvSpPr/>
          <p:nvPr/>
        </p:nvSpPr>
        <p:spPr>
          <a:xfrm>
            <a:off x="235131" y="6296297"/>
            <a:ext cx="418012" cy="41801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(1/2)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109886" cy="4446839"/>
          </a:xfrm>
        </p:spPr>
        <p:txBody>
          <a:bodyPr>
            <a:noAutofit/>
          </a:bodyPr>
          <a:lstStyle/>
          <a:p>
            <a:pPr marL="0" indent="0" algn="just">
              <a:buNone/>
            </a:pPr>
            <a:r>
              <a:rPr lang="en-US" altLang="zh-TW" dirty="0"/>
              <a:t>Dynamic time warping (DTW) is widely used to measure similarity between two time series by finding an optimal warping path. However, its quadratic time and space complexity are not suitable for large time series datasets. To overcome the issues, we propose a modified version of dynamic time warping, which not only retains the accuracy of DTW but also finds the optimal warping path faster. In the proposed method, a threshold value used to narrow the warping path scope can be preset automatically, thereby resulting in a new method without any parameters. </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(2/2)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011032" cy="4446839"/>
          </a:xfrm>
        </p:spPr>
        <p:txBody>
          <a:bodyPr>
            <a:noAutofit/>
          </a:bodyPr>
          <a:lstStyle/>
          <a:p>
            <a:pPr marL="0" indent="0" algn="just">
              <a:buNone/>
            </a:pPr>
            <a:r>
              <a:rPr lang="en-US" altLang="zh-TW" dirty="0"/>
              <a:t>The optimal warping path is found by a backward strategy with reduced scope which is opposite to the forward strategy of DTW. The experimental results demonstrate that besides the same accuracy, the proposed dynamic time warping is faster than DTW, which shows that our method is an improved version of the original one.</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419476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77A261-3FD9-438A-920B-0ED336E24784}"/>
              </a:ext>
            </a:extLst>
          </p:cNvPr>
          <p:cNvSpPr>
            <a:spLocks noGrp="1"/>
          </p:cNvSpPr>
          <p:nvPr>
            <p:ph type="title"/>
          </p:nvPr>
        </p:nvSpPr>
        <p:spPr/>
        <p:txBody>
          <a:bodyPr/>
          <a:lstStyle/>
          <a:p>
            <a:r>
              <a:rPr lang="en-US" altLang="zh-TW" dirty="0"/>
              <a:t>DTW</a:t>
            </a:r>
            <a:endParaRPr lang="zh-TW" altLang="en-US" dirty="0"/>
          </a:p>
        </p:txBody>
      </p:sp>
      <p:sp>
        <p:nvSpPr>
          <p:cNvPr id="3" name="內容版面配置區 2">
            <a:extLst>
              <a:ext uri="{FF2B5EF4-FFF2-40B4-BE49-F238E27FC236}">
                <a16:creationId xmlns:a16="http://schemas.microsoft.com/office/drawing/2014/main" id="{9D0ACDD6-FB62-459C-9809-A7CA68B63905}"/>
              </a:ext>
            </a:extLst>
          </p:cNvPr>
          <p:cNvSpPr>
            <a:spLocks noGrp="1"/>
          </p:cNvSpPr>
          <p:nvPr>
            <p:ph idx="1"/>
          </p:nvPr>
        </p:nvSpPr>
        <p:spPr>
          <a:xfrm>
            <a:off x="838200" y="3770115"/>
            <a:ext cx="9318567" cy="1608169"/>
          </a:xfrm>
        </p:spPr>
        <p:txBody>
          <a:bodyPr>
            <a:normAutofit/>
          </a:bodyPr>
          <a:lstStyle/>
          <a:p>
            <a:pPr marL="0" indent="0">
              <a:buNone/>
            </a:pPr>
            <a:r>
              <a:rPr lang="en-US" altLang="zh-TW" i="1" dirty="0"/>
              <a:t>Q </a:t>
            </a:r>
            <a:r>
              <a:rPr lang="en-US" altLang="zh-TW" dirty="0"/>
              <a:t>= [</a:t>
            </a:r>
            <a:r>
              <a:rPr lang="en-US" altLang="zh-TW" i="1" dirty="0"/>
              <a:t>−</a:t>
            </a:r>
            <a:r>
              <a:rPr lang="en-US" altLang="zh-TW" dirty="0"/>
              <a:t>0</a:t>
            </a:r>
            <a:r>
              <a:rPr lang="en-US" altLang="zh-TW" i="1" dirty="0"/>
              <a:t>.</a:t>
            </a:r>
            <a:r>
              <a:rPr lang="en-US" altLang="zh-TW" dirty="0"/>
              <a:t>6</a:t>
            </a:r>
            <a:r>
              <a:rPr lang="en-US" altLang="zh-TW" i="1" dirty="0"/>
              <a:t>, </a:t>
            </a:r>
            <a:r>
              <a:rPr lang="en-US" altLang="zh-TW" dirty="0"/>
              <a:t>4</a:t>
            </a:r>
            <a:r>
              <a:rPr lang="en-US" altLang="zh-TW" i="1" dirty="0"/>
              <a:t>.</a:t>
            </a:r>
            <a:r>
              <a:rPr lang="en-US" altLang="zh-TW" dirty="0"/>
              <a:t>6</a:t>
            </a:r>
            <a:r>
              <a:rPr lang="en-US" altLang="zh-TW" i="1" dirty="0"/>
              <a:t>,−</a:t>
            </a:r>
            <a:r>
              <a:rPr lang="en-US" altLang="zh-TW" dirty="0"/>
              <a:t>6</a:t>
            </a:r>
            <a:r>
              <a:rPr lang="en-US" altLang="zh-TW" i="1" dirty="0"/>
              <a:t>.</a:t>
            </a:r>
            <a:r>
              <a:rPr lang="en-US" altLang="zh-TW" dirty="0"/>
              <a:t>4</a:t>
            </a:r>
            <a:r>
              <a:rPr lang="en-US" altLang="zh-TW" i="1" dirty="0"/>
              <a:t>,−</a:t>
            </a:r>
            <a:r>
              <a:rPr lang="en-US" altLang="zh-TW" dirty="0"/>
              <a:t>22</a:t>
            </a:r>
            <a:r>
              <a:rPr lang="en-US" altLang="zh-TW" i="1" dirty="0"/>
              <a:t>.</a:t>
            </a:r>
            <a:r>
              <a:rPr lang="en-US" altLang="zh-TW" dirty="0"/>
              <a:t>3</a:t>
            </a:r>
            <a:r>
              <a:rPr lang="en-US" altLang="zh-TW" i="1" dirty="0"/>
              <a:t>, </a:t>
            </a:r>
            <a:r>
              <a:rPr lang="en-US" altLang="zh-TW" dirty="0"/>
              <a:t>0</a:t>
            </a:r>
            <a:r>
              <a:rPr lang="en-US" altLang="zh-TW" i="1" dirty="0"/>
              <a:t>.</a:t>
            </a:r>
            <a:r>
              <a:rPr lang="en-US" altLang="zh-TW" dirty="0"/>
              <a:t>9</a:t>
            </a:r>
            <a:r>
              <a:rPr lang="en-US" altLang="zh-TW" i="1" dirty="0"/>
              <a:t>, </a:t>
            </a:r>
            <a:r>
              <a:rPr lang="en-US" altLang="zh-TW" dirty="0"/>
              <a:t>0</a:t>
            </a:r>
            <a:r>
              <a:rPr lang="en-US" altLang="zh-TW" i="1" dirty="0"/>
              <a:t>.</a:t>
            </a:r>
            <a:r>
              <a:rPr lang="en-US" altLang="zh-TW" dirty="0"/>
              <a:t>4</a:t>
            </a:r>
            <a:r>
              <a:rPr lang="en-US" altLang="zh-TW" i="1" dirty="0"/>
              <a:t>, </a:t>
            </a:r>
            <a:r>
              <a:rPr lang="en-US" altLang="zh-TW" dirty="0"/>
              <a:t>0</a:t>
            </a:r>
            <a:r>
              <a:rPr lang="en-US" altLang="zh-TW" i="1" dirty="0"/>
              <a:t>.</a:t>
            </a:r>
            <a:r>
              <a:rPr lang="en-US" altLang="zh-TW" dirty="0"/>
              <a:t>3</a:t>
            </a:r>
            <a:r>
              <a:rPr lang="en-US" altLang="zh-TW" i="1" dirty="0"/>
              <a:t>, </a:t>
            </a:r>
            <a:r>
              <a:rPr lang="en-US" altLang="zh-TW" dirty="0"/>
              <a:t>9</a:t>
            </a:r>
            <a:r>
              <a:rPr lang="en-US" altLang="zh-TW" i="1" dirty="0"/>
              <a:t>, </a:t>
            </a:r>
            <a:r>
              <a:rPr lang="en-US" altLang="zh-TW" dirty="0"/>
              <a:t>12] </a:t>
            </a:r>
          </a:p>
          <a:p>
            <a:pPr marL="0" indent="0">
              <a:buNone/>
            </a:pPr>
            <a:r>
              <a:rPr lang="en-US" altLang="zh-TW" i="1" dirty="0"/>
              <a:t>C </a:t>
            </a:r>
            <a:r>
              <a:rPr lang="en-US" altLang="zh-TW" dirty="0"/>
              <a:t>= [0</a:t>
            </a:r>
            <a:r>
              <a:rPr lang="en-US" altLang="zh-TW" i="1" dirty="0"/>
              <a:t>.</a:t>
            </a:r>
            <a:r>
              <a:rPr lang="en-US" altLang="zh-TW" dirty="0"/>
              <a:t>1</a:t>
            </a:r>
            <a:r>
              <a:rPr lang="en-US" altLang="zh-TW" i="1" dirty="0"/>
              <a:t>, </a:t>
            </a:r>
            <a:r>
              <a:rPr lang="en-US" altLang="zh-TW" dirty="0"/>
              <a:t>5</a:t>
            </a:r>
            <a:r>
              <a:rPr lang="en-US" altLang="zh-TW" i="1" dirty="0"/>
              <a:t>.</a:t>
            </a:r>
            <a:r>
              <a:rPr lang="en-US" altLang="zh-TW" dirty="0"/>
              <a:t>3</a:t>
            </a:r>
            <a:r>
              <a:rPr lang="en-US" altLang="zh-TW" i="1" dirty="0"/>
              <a:t>,−</a:t>
            </a:r>
            <a:r>
              <a:rPr lang="en-US" altLang="zh-TW" dirty="0"/>
              <a:t>5</a:t>
            </a:r>
            <a:r>
              <a:rPr lang="en-US" altLang="zh-TW" i="1" dirty="0"/>
              <a:t>.</a:t>
            </a:r>
            <a:r>
              <a:rPr lang="en-US" altLang="zh-TW" dirty="0"/>
              <a:t>8</a:t>
            </a:r>
            <a:r>
              <a:rPr lang="en-US" altLang="zh-TW" i="1" dirty="0"/>
              <a:t>,−</a:t>
            </a:r>
            <a:r>
              <a:rPr lang="en-US" altLang="zh-TW" dirty="0"/>
              <a:t>22</a:t>
            </a:r>
            <a:r>
              <a:rPr lang="en-US" altLang="zh-TW" i="1" dirty="0"/>
              <a:t>.</a:t>
            </a:r>
            <a:r>
              <a:rPr lang="en-US" altLang="zh-TW" dirty="0"/>
              <a:t>1</a:t>
            </a:r>
            <a:r>
              <a:rPr lang="en-US" altLang="zh-TW" i="1" dirty="0"/>
              <a:t>, </a:t>
            </a:r>
            <a:r>
              <a:rPr lang="en-US" altLang="zh-TW" dirty="0"/>
              <a:t>1</a:t>
            </a:r>
            <a:r>
              <a:rPr lang="en-US" altLang="zh-TW" i="1" dirty="0"/>
              <a:t>.</a:t>
            </a:r>
            <a:r>
              <a:rPr lang="en-US" altLang="zh-TW" dirty="0"/>
              <a:t>5</a:t>
            </a:r>
            <a:r>
              <a:rPr lang="en-US" altLang="zh-TW" i="1" dirty="0"/>
              <a:t>, </a:t>
            </a:r>
            <a:r>
              <a:rPr lang="en-US" altLang="zh-TW" dirty="0"/>
              <a:t>0</a:t>
            </a:r>
            <a:r>
              <a:rPr lang="en-US" altLang="zh-TW" i="1" dirty="0"/>
              <a:t>.</a:t>
            </a:r>
            <a:r>
              <a:rPr lang="en-US" altLang="zh-TW" dirty="0"/>
              <a:t>7</a:t>
            </a:r>
            <a:r>
              <a:rPr lang="en-US" altLang="zh-TW" i="1" dirty="0"/>
              <a:t>, </a:t>
            </a:r>
            <a:r>
              <a:rPr lang="en-US" altLang="zh-TW" dirty="0"/>
              <a:t>0</a:t>
            </a:r>
            <a:r>
              <a:rPr lang="en-US" altLang="zh-TW" i="1" dirty="0"/>
              <a:t>.</a:t>
            </a:r>
            <a:r>
              <a:rPr lang="en-US" altLang="zh-TW" dirty="0"/>
              <a:t>4</a:t>
            </a:r>
            <a:r>
              <a:rPr lang="en-US" altLang="zh-TW" i="1" dirty="0"/>
              <a:t>, </a:t>
            </a:r>
            <a:r>
              <a:rPr lang="en-US" altLang="zh-TW" dirty="0"/>
              <a:t>9</a:t>
            </a:r>
            <a:r>
              <a:rPr lang="en-US" altLang="zh-TW" i="1" dirty="0"/>
              <a:t>.</a:t>
            </a:r>
            <a:r>
              <a:rPr lang="en-US" altLang="zh-TW" dirty="0"/>
              <a:t>2]</a:t>
            </a:r>
          </a:p>
          <a:p>
            <a:pPr marL="0" indent="0">
              <a:buNone/>
            </a:pPr>
            <a:r>
              <a:rPr lang="pt-BR" altLang="zh-TW" i="1" dirty="0">
                <a:solidFill>
                  <a:srgbClr val="FF0000"/>
                </a:solidFill>
              </a:rPr>
              <a:t>DTW</a:t>
            </a:r>
            <a:r>
              <a:rPr lang="pt-BR" altLang="zh-TW" dirty="0">
                <a:solidFill>
                  <a:srgbClr val="FF0000"/>
                </a:solidFill>
              </a:rPr>
              <a:t>(</a:t>
            </a:r>
            <a:r>
              <a:rPr lang="pt-BR" altLang="zh-TW" i="1" dirty="0">
                <a:solidFill>
                  <a:srgbClr val="FF0000"/>
                </a:solidFill>
              </a:rPr>
              <a:t>Q,C</a:t>
            </a:r>
            <a:r>
              <a:rPr lang="pt-BR" altLang="zh-TW" dirty="0">
                <a:solidFill>
                  <a:srgbClr val="FF0000"/>
                </a:solidFill>
              </a:rPr>
              <a:t>) = </a:t>
            </a:r>
            <a:r>
              <a:rPr lang="pt-BR" altLang="zh-TW" i="1" dirty="0">
                <a:solidFill>
                  <a:srgbClr val="FF0000"/>
                </a:solidFill>
              </a:rPr>
              <a:t>R</a:t>
            </a:r>
            <a:r>
              <a:rPr lang="pt-BR" altLang="zh-TW" dirty="0">
                <a:solidFill>
                  <a:srgbClr val="FF0000"/>
                </a:solidFill>
              </a:rPr>
              <a:t>(9</a:t>
            </a:r>
            <a:r>
              <a:rPr lang="pt-BR" altLang="zh-TW" i="1" dirty="0">
                <a:solidFill>
                  <a:srgbClr val="FF0000"/>
                </a:solidFill>
              </a:rPr>
              <a:t>, </a:t>
            </a:r>
            <a:r>
              <a:rPr lang="pt-BR" altLang="zh-TW" dirty="0">
                <a:solidFill>
                  <a:srgbClr val="FF0000"/>
                </a:solidFill>
              </a:rPr>
              <a:t>8) = 9</a:t>
            </a:r>
            <a:r>
              <a:rPr lang="pt-BR" altLang="zh-TW" i="1" dirty="0">
                <a:solidFill>
                  <a:srgbClr val="FF0000"/>
                </a:solidFill>
              </a:rPr>
              <a:t>.</a:t>
            </a:r>
            <a:r>
              <a:rPr lang="pt-BR" altLang="zh-TW" dirty="0">
                <a:solidFill>
                  <a:srgbClr val="FF0000"/>
                </a:solidFill>
              </a:rPr>
              <a:t>67</a:t>
            </a:r>
            <a:endParaRPr lang="zh-TW" altLang="en-US" dirty="0">
              <a:solidFill>
                <a:srgbClr val="FF0000"/>
              </a:solidFill>
            </a:endParaRPr>
          </a:p>
        </p:txBody>
      </p:sp>
      <p:sp>
        <p:nvSpPr>
          <p:cNvPr id="4" name="投影片編號版面配置區 3">
            <a:extLst>
              <a:ext uri="{FF2B5EF4-FFF2-40B4-BE49-F238E27FC236}">
                <a16:creationId xmlns:a16="http://schemas.microsoft.com/office/drawing/2014/main" id="{66C3A406-EBD5-49BC-AF8B-6409B51B7042}"/>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6" name="圖片 5">
            <a:extLst>
              <a:ext uri="{FF2B5EF4-FFF2-40B4-BE49-F238E27FC236}">
                <a16:creationId xmlns:a16="http://schemas.microsoft.com/office/drawing/2014/main" id="{BE8B3B00-71BE-4CE2-90D4-345B63B8680F}"/>
              </a:ext>
            </a:extLst>
          </p:cNvPr>
          <p:cNvPicPr>
            <a:picLocks noChangeAspect="1"/>
          </p:cNvPicPr>
          <p:nvPr/>
        </p:nvPicPr>
        <p:blipFill>
          <a:blip r:embed="rId2"/>
          <a:stretch>
            <a:fillRect/>
          </a:stretch>
        </p:blipFill>
        <p:spPr>
          <a:xfrm>
            <a:off x="779229" y="2153665"/>
            <a:ext cx="3733800" cy="1072474"/>
          </a:xfrm>
          <a:prstGeom prst="rect">
            <a:avLst/>
          </a:prstGeom>
        </p:spPr>
      </p:pic>
      <p:pic>
        <p:nvPicPr>
          <p:cNvPr id="7" name="圖片 6">
            <a:extLst>
              <a:ext uri="{FF2B5EF4-FFF2-40B4-BE49-F238E27FC236}">
                <a16:creationId xmlns:a16="http://schemas.microsoft.com/office/drawing/2014/main" id="{4E2C6601-48A8-499B-A642-A0791CC9AF48}"/>
              </a:ext>
            </a:extLst>
          </p:cNvPr>
          <p:cNvPicPr>
            <a:picLocks noChangeAspect="1"/>
          </p:cNvPicPr>
          <p:nvPr/>
        </p:nvPicPr>
        <p:blipFill>
          <a:blip r:embed="rId3"/>
          <a:stretch>
            <a:fillRect/>
          </a:stretch>
        </p:blipFill>
        <p:spPr>
          <a:xfrm>
            <a:off x="4988418" y="1690690"/>
            <a:ext cx="4795492" cy="1101357"/>
          </a:xfrm>
          <a:prstGeom prst="rect">
            <a:avLst/>
          </a:prstGeom>
        </p:spPr>
      </p:pic>
      <p:pic>
        <p:nvPicPr>
          <p:cNvPr id="8" name="圖片 7">
            <a:extLst>
              <a:ext uri="{FF2B5EF4-FFF2-40B4-BE49-F238E27FC236}">
                <a16:creationId xmlns:a16="http://schemas.microsoft.com/office/drawing/2014/main" id="{11A90F31-4C03-4E0E-A671-AB1A22092C06}"/>
              </a:ext>
            </a:extLst>
          </p:cNvPr>
          <p:cNvPicPr>
            <a:picLocks noChangeAspect="1"/>
          </p:cNvPicPr>
          <p:nvPr/>
        </p:nvPicPr>
        <p:blipFill>
          <a:blip r:embed="rId4"/>
          <a:stretch>
            <a:fillRect/>
          </a:stretch>
        </p:blipFill>
        <p:spPr>
          <a:xfrm>
            <a:off x="4988418" y="2807193"/>
            <a:ext cx="4150218" cy="418119"/>
          </a:xfrm>
          <a:prstGeom prst="rect">
            <a:avLst/>
          </a:prstGeom>
        </p:spPr>
      </p:pic>
      <p:cxnSp>
        <p:nvCxnSpPr>
          <p:cNvPr id="10" name="直線接點 9">
            <a:extLst>
              <a:ext uri="{FF2B5EF4-FFF2-40B4-BE49-F238E27FC236}">
                <a16:creationId xmlns:a16="http://schemas.microsoft.com/office/drawing/2014/main" id="{6E825126-2F3D-4A29-813E-0C091B662E00}"/>
              </a:ext>
            </a:extLst>
          </p:cNvPr>
          <p:cNvCxnSpPr/>
          <p:nvPr/>
        </p:nvCxnSpPr>
        <p:spPr>
          <a:xfrm>
            <a:off x="606829" y="3429000"/>
            <a:ext cx="11222182"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5289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4CCDD4-64C9-47F7-BE06-AC8B71E8EA35}"/>
              </a:ext>
            </a:extLst>
          </p:cNvPr>
          <p:cNvSpPr>
            <a:spLocks noGrp="1"/>
          </p:cNvSpPr>
          <p:nvPr>
            <p:ph type="title"/>
          </p:nvPr>
        </p:nvSpPr>
        <p:spPr/>
        <p:txBody>
          <a:bodyPr/>
          <a:lstStyle/>
          <a:p>
            <a:r>
              <a:rPr lang="en-US" altLang="zh-TW" dirty="0"/>
              <a:t>AF_DTW</a:t>
            </a:r>
            <a:endParaRPr lang="zh-TW" altLang="en-US" dirty="0"/>
          </a:p>
        </p:txBody>
      </p:sp>
      <p:sp>
        <p:nvSpPr>
          <p:cNvPr id="3" name="內容版面配置區 2">
            <a:extLst>
              <a:ext uri="{FF2B5EF4-FFF2-40B4-BE49-F238E27FC236}">
                <a16:creationId xmlns:a16="http://schemas.microsoft.com/office/drawing/2014/main" id="{F34D9FCE-E60F-4E02-A4B2-60DD2DC597EF}"/>
              </a:ext>
            </a:extLst>
          </p:cNvPr>
          <p:cNvSpPr>
            <a:spLocks noGrp="1"/>
          </p:cNvSpPr>
          <p:nvPr>
            <p:ph idx="1"/>
          </p:nvPr>
        </p:nvSpPr>
        <p:spPr>
          <a:xfrm>
            <a:off x="838200" y="1825625"/>
            <a:ext cx="10515600" cy="4351338"/>
          </a:xfrm>
        </p:spPr>
        <p:txBody>
          <a:bodyPr/>
          <a:lstStyle/>
          <a:p>
            <a:pPr marL="514350" indent="-514350">
              <a:buFont typeface="+mj-lt"/>
              <a:buAutoNum type="arabicPeriod"/>
            </a:pPr>
            <a:r>
              <a:rPr lang="en-US" altLang="zh-TW" dirty="0"/>
              <a:t>Backward Strategy – </a:t>
            </a:r>
          </a:p>
          <a:p>
            <a:pPr marL="457189" lvl="1" indent="0">
              <a:buNone/>
            </a:pPr>
            <a:r>
              <a:rPr lang="en-US" altLang="zh-TW" sz="2800" dirty="0"/>
              <a:t> </a:t>
            </a:r>
            <a:r>
              <a:rPr lang="en-US" altLang="zh-TW" sz="2800" dirty="0">
                <a:solidFill>
                  <a:schemeClr val="bg1">
                    <a:lumMod val="50000"/>
                  </a:schemeClr>
                </a:solidFill>
              </a:rPr>
              <a:t>DTW start from (1,1) to (</a:t>
            </a:r>
            <a:r>
              <a:rPr lang="en-US" altLang="zh-TW" sz="2800" dirty="0" err="1">
                <a:solidFill>
                  <a:schemeClr val="bg1">
                    <a:lumMod val="50000"/>
                  </a:schemeClr>
                </a:solidFill>
              </a:rPr>
              <a:t>m,n</a:t>
            </a:r>
            <a:r>
              <a:rPr lang="en-US" altLang="zh-TW" sz="2800" dirty="0">
                <a:solidFill>
                  <a:schemeClr val="bg1">
                    <a:lumMod val="50000"/>
                  </a:schemeClr>
                </a:solidFill>
              </a:rPr>
              <a:t>)</a:t>
            </a:r>
          </a:p>
          <a:p>
            <a:pPr marL="457189" lvl="1" indent="0">
              <a:buNone/>
            </a:pPr>
            <a:r>
              <a:rPr lang="en-US" altLang="zh-TW" sz="2800" dirty="0">
                <a:solidFill>
                  <a:schemeClr val="bg1">
                    <a:lumMod val="50000"/>
                  </a:schemeClr>
                </a:solidFill>
              </a:rPr>
              <a:t> AF_DTW start from (</a:t>
            </a:r>
            <a:r>
              <a:rPr lang="en-US" altLang="zh-TW" sz="2800" dirty="0" err="1">
                <a:solidFill>
                  <a:schemeClr val="bg1">
                    <a:lumMod val="50000"/>
                  </a:schemeClr>
                </a:solidFill>
              </a:rPr>
              <a:t>m,n</a:t>
            </a:r>
            <a:r>
              <a:rPr lang="en-US" altLang="zh-TW" sz="2800" dirty="0">
                <a:solidFill>
                  <a:schemeClr val="bg1">
                    <a:lumMod val="50000"/>
                  </a:schemeClr>
                </a:solidFill>
              </a:rPr>
              <a:t>) to (1,1)</a:t>
            </a:r>
            <a:endParaRPr lang="en-US" altLang="zh-TW" dirty="0">
              <a:solidFill>
                <a:schemeClr val="bg1">
                  <a:lumMod val="50000"/>
                </a:schemeClr>
              </a:solidFill>
            </a:endParaRPr>
          </a:p>
          <a:p>
            <a:pPr marL="514350" indent="-514350">
              <a:buFont typeface="+mj-lt"/>
              <a:buAutoNum type="arabicPeriod"/>
            </a:pPr>
            <a:r>
              <a:rPr lang="en-US" altLang="zh-TW" dirty="0"/>
              <a:t>Reduced Scope</a:t>
            </a:r>
          </a:p>
          <a:p>
            <a:pPr marL="514350" indent="-514350">
              <a:buFont typeface="+mj-lt"/>
              <a:buAutoNum type="arabicPeriod"/>
            </a:pPr>
            <a:endParaRPr lang="en-US" altLang="zh-TW" dirty="0"/>
          </a:p>
          <a:p>
            <a:pPr marL="514350" indent="-514350">
              <a:buFont typeface="+mj-lt"/>
              <a:buAutoNum type="arabicPeriod"/>
            </a:pPr>
            <a:r>
              <a:rPr lang="en-US" altLang="zh-TW" dirty="0"/>
              <a:t>Choice of Threshold Value</a:t>
            </a:r>
            <a:endParaRPr lang="zh-TW" altLang="en-US" dirty="0"/>
          </a:p>
        </p:txBody>
      </p:sp>
      <p:sp>
        <p:nvSpPr>
          <p:cNvPr id="4" name="投影片編號版面配置區 3">
            <a:extLst>
              <a:ext uri="{FF2B5EF4-FFF2-40B4-BE49-F238E27FC236}">
                <a16:creationId xmlns:a16="http://schemas.microsoft.com/office/drawing/2014/main" id="{ACEEBF5C-8246-4791-911E-405855A77F0D}"/>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spTree>
    <p:extLst>
      <p:ext uri="{BB962C8B-B14F-4D97-AF65-F5344CB8AC3E}">
        <p14:creationId xmlns:p14="http://schemas.microsoft.com/office/powerpoint/2010/main" val="340314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63151D27-3022-452F-9528-C338B2CCBA22}"/>
              </a:ext>
            </a:extLst>
          </p:cNvPr>
          <p:cNvPicPr>
            <a:picLocks noChangeAspect="1"/>
          </p:cNvPicPr>
          <p:nvPr/>
        </p:nvPicPr>
        <p:blipFill>
          <a:blip r:embed="rId2"/>
          <a:stretch>
            <a:fillRect/>
          </a:stretch>
        </p:blipFill>
        <p:spPr>
          <a:xfrm>
            <a:off x="5478087" y="3391636"/>
            <a:ext cx="5240412" cy="3267814"/>
          </a:xfrm>
          <a:prstGeom prst="rect">
            <a:avLst/>
          </a:prstGeom>
        </p:spPr>
      </p:pic>
      <p:sp>
        <p:nvSpPr>
          <p:cNvPr id="2" name="標題 1">
            <a:extLst>
              <a:ext uri="{FF2B5EF4-FFF2-40B4-BE49-F238E27FC236}">
                <a16:creationId xmlns:a16="http://schemas.microsoft.com/office/drawing/2014/main" id="{C331D8BC-F8B5-40D6-B02B-C4BAD5C3452F}"/>
              </a:ext>
            </a:extLst>
          </p:cNvPr>
          <p:cNvSpPr>
            <a:spLocks noGrp="1"/>
          </p:cNvSpPr>
          <p:nvPr>
            <p:ph type="title"/>
          </p:nvPr>
        </p:nvSpPr>
        <p:spPr/>
        <p:txBody>
          <a:bodyPr/>
          <a:lstStyle/>
          <a:p>
            <a:r>
              <a:rPr lang="en-US" altLang="zh-TW" dirty="0"/>
              <a:t>AF_DTW – Backward Strategy</a:t>
            </a:r>
            <a:endParaRPr lang="zh-TW" altLang="en-US" dirty="0"/>
          </a:p>
        </p:txBody>
      </p:sp>
      <p:sp>
        <p:nvSpPr>
          <p:cNvPr id="3" name="內容版面配置區 2">
            <a:extLst>
              <a:ext uri="{FF2B5EF4-FFF2-40B4-BE49-F238E27FC236}">
                <a16:creationId xmlns:a16="http://schemas.microsoft.com/office/drawing/2014/main" id="{D838A0E4-867C-41C1-BCD1-2377ABF2BC06}"/>
              </a:ext>
            </a:extLst>
          </p:cNvPr>
          <p:cNvSpPr>
            <a:spLocks noGrp="1"/>
          </p:cNvSpPr>
          <p:nvPr>
            <p:ph idx="1"/>
          </p:nvPr>
        </p:nvSpPr>
        <p:spPr>
          <a:xfrm>
            <a:off x="220287" y="3654755"/>
            <a:ext cx="10515600" cy="2544301"/>
          </a:xfrm>
        </p:spPr>
        <p:txBody>
          <a:bodyPr/>
          <a:lstStyle/>
          <a:p>
            <a:pPr marL="0" indent="0">
              <a:buNone/>
            </a:pPr>
            <a:r>
              <a:rPr lang="en-US" altLang="zh-TW" i="1" dirty="0"/>
              <a:t>Q </a:t>
            </a:r>
            <a:r>
              <a:rPr lang="en-US" altLang="zh-TW" dirty="0"/>
              <a:t>= [</a:t>
            </a:r>
            <a:r>
              <a:rPr lang="en-US" altLang="zh-TW" i="1" dirty="0"/>
              <a:t>−</a:t>
            </a:r>
            <a:r>
              <a:rPr lang="en-US" altLang="zh-TW" dirty="0"/>
              <a:t>0</a:t>
            </a:r>
            <a:r>
              <a:rPr lang="en-US" altLang="zh-TW" i="1" dirty="0"/>
              <a:t>.</a:t>
            </a:r>
            <a:r>
              <a:rPr lang="en-US" altLang="zh-TW" dirty="0"/>
              <a:t>6</a:t>
            </a:r>
            <a:r>
              <a:rPr lang="en-US" altLang="zh-TW" i="1" dirty="0"/>
              <a:t>, </a:t>
            </a:r>
            <a:r>
              <a:rPr lang="en-US" altLang="zh-TW" dirty="0"/>
              <a:t>4</a:t>
            </a:r>
            <a:r>
              <a:rPr lang="en-US" altLang="zh-TW" i="1" dirty="0"/>
              <a:t>.</a:t>
            </a:r>
            <a:r>
              <a:rPr lang="en-US" altLang="zh-TW" dirty="0"/>
              <a:t>6</a:t>
            </a:r>
            <a:r>
              <a:rPr lang="en-US" altLang="zh-TW" i="1" dirty="0"/>
              <a:t>,−</a:t>
            </a:r>
            <a:r>
              <a:rPr lang="en-US" altLang="zh-TW" dirty="0"/>
              <a:t>6</a:t>
            </a:r>
            <a:r>
              <a:rPr lang="en-US" altLang="zh-TW" i="1" dirty="0"/>
              <a:t>.</a:t>
            </a:r>
            <a:r>
              <a:rPr lang="en-US" altLang="zh-TW" dirty="0"/>
              <a:t>4</a:t>
            </a:r>
            <a:r>
              <a:rPr lang="en-US" altLang="zh-TW" i="1" dirty="0"/>
              <a:t>,−</a:t>
            </a:r>
            <a:r>
              <a:rPr lang="en-US" altLang="zh-TW" dirty="0"/>
              <a:t>22</a:t>
            </a:r>
            <a:r>
              <a:rPr lang="en-US" altLang="zh-TW" i="1" dirty="0"/>
              <a:t>.</a:t>
            </a:r>
            <a:r>
              <a:rPr lang="en-US" altLang="zh-TW" dirty="0"/>
              <a:t>3</a:t>
            </a:r>
            <a:r>
              <a:rPr lang="en-US" altLang="zh-TW" i="1" dirty="0"/>
              <a:t>, </a:t>
            </a:r>
          </a:p>
          <a:p>
            <a:pPr marL="0" indent="0">
              <a:buNone/>
            </a:pPr>
            <a:r>
              <a:rPr lang="en-US" altLang="zh-TW" i="1" dirty="0"/>
              <a:t>         </a:t>
            </a:r>
            <a:r>
              <a:rPr lang="en-US" altLang="zh-TW" dirty="0"/>
              <a:t>0</a:t>
            </a:r>
            <a:r>
              <a:rPr lang="en-US" altLang="zh-TW" i="1" dirty="0"/>
              <a:t>.</a:t>
            </a:r>
            <a:r>
              <a:rPr lang="en-US" altLang="zh-TW" dirty="0"/>
              <a:t>9</a:t>
            </a:r>
            <a:r>
              <a:rPr lang="en-US" altLang="zh-TW" i="1" dirty="0"/>
              <a:t>, </a:t>
            </a:r>
            <a:r>
              <a:rPr lang="en-US" altLang="zh-TW" dirty="0"/>
              <a:t>0</a:t>
            </a:r>
            <a:r>
              <a:rPr lang="en-US" altLang="zh-TW" i="1" dirty="0"/>
              <a:t>.</a:t>
            </a:r>
            <a:r>
              <a:rPr lang="en-US" altLang="zh-TW" dirty="0"/>
              <a:t>4</a:t>
            </a:r>
            <a:r>
              <a:rPr lang="en-US" altLang="zh-TW" i="1" dirty="0"/>
              <a:t>, </a:t>
            </a:r>
            <a:r>
              <a:rPr lang="en-US" altLang="zh-TW" dirty="0"/>
              <a:t>0</a:t>
            </a:r>
            <a:r>
              <a:rPr lang="en-US" altLang="zh-TW" i="1" dirty="0"/>
              <a:t>.</a:t>
            </a:r>
            <a:r>
              <a:rPr lang="en-US" altLang="zh-TW" dirty="0"/>
              <a:t>3</a:t>
            </a:r>
            <a:r>
              <a:rPr lang="en-US" altLang="zh-TW" i="1" dirty="0"/>
              <a:t>, </a:t>
            </a:r>
            <a:r>
              <a:rPr lang="en-US" altLang="zh-TW" dirty="0"/>
              <a:t>9</a:t>
            </a:r>
            <a:r>
              <a:rPr lang="en-US" altLang="zh-TW" i="1" dirty="0"/>
              <a:t>, </a:t>
            </a:r>
            <a:r>
              <a:rPr lang="en-US" altLang="zh-TW" dirty="0"/>
              <a:t>12] </a:t>
            </a:r>
          </a:p>
          <a:p>
            <a:pPr marL="0" indent="0">
              <a:buNone/>
            </a:pPr>
            <a:r>
              <a:rPr lang="en-US" altLang="zh-TW" i="1" dirty="0"/>
              <a:t>C </a:t>
            </a:r>
            <a:r>
              <a:rPr lang="en-US" altLang="zh-TW" dirty="0"/>
              <a:t>= [0</a:t>
            </a:r>
            <a:r>
              <a:rPr lang="en-US" altLang="zh-TW" i="1" dirty="0"/>
              <a:t>.</a:t>
            </a:r>
            <a:r>
              <a:rPr lang="en-US" altLang="zh-TW" dirty="0"/>
              <a:t>1</a:t>
            </a:r>
            <a:r>
              <a:rPr lang="en-US" altLang="zh-TW" i="1" dirty="0"/>
              <a:t>, </a:t>
            </a:r>
            <a:r>
              <a:rPr lang="en-US" altLang="zh-TW" dirty="0"/>
              <a:t>5</a:t>
            </a:r>
            <a:r>
              <a:rPr lang="en-US" altLang="zh-TW" i="1" dirty="0"/>
              <a:t>.</a:t>
            </a:r>
            <a:r>
              <a:rPr lang="en-US" altLang="zh-TW" dirty="0"/>
              <a:t>3</a:t>
            </a:r>
            <a:r>
              <a:rPr lang="en-US" altLang="zh-TW" i="1" dirty="0"/>
              <a:t>,−</a:t>
            </a:r>
            <a:r>
              <a:rPr lang="en-US" altLang="zh-TW" dirty="0"/>
              <a:t>5</a:t>
            </a:r>
            <a:r>
              <a:rPr lang="en-US" altLang="zh-TW" i="1" dirty="0"/>
              <a:t>.</a:t>
            </a:r>
            <a:r>
              <a:rPr lang="en-US" altLang="zh-TW" dirty="0"/>
              <a:t>8</a:t>
            </a:r>
            <a:r>
              <a:rPr lang="en-US" altLang="zh-TW" i="1" dirty="0"/>
              <a:t>,−</a:t>
            </a:r>
            <a:r>
              <a:rPr lang="en-US" altLang="zh-TW" dirty="0"/>
              <a:t>22</a:t>
            </a:r>
            <a:r>
              <a:rPr lang="en-US" altLang="zh-TW" i="1" dirty="0"/>
              <a:t>.</a:t>
            </a:r>
            <a:r>
              <a:rPr lang="en-US" altLang="zh-TW" dirty="0"/>
              <a:t>1</a:t>
            </a:r>
            <a:r>
              <a:rPr lang="en-US" altLang="zh-TW" i="1" dirty="0"/>
              <a:t>, </a:t>
            </a:r>
          </a:p>
          <a:p>
            <a:pPr marL="0" indent="0">
              <a:buNone/>
            </a:pPr>
            <a:r>
              <a:rPr lang="en-US" altLang="zh-TW" i="1" dirty="0"/>
              <a:t>       </a:t>
            </a:r>
            <a:r>
              <a:rPr lang="en-US" altLang="zh-TW" dirty="0"/>
              <a:t>1</a:t>
            </a:r>
            <a:r>
              <a:rPr lang="en-US" altLang="zh-TW" i="1" dirty="0"/>
              <a:t>.</a:t>
            </a:r>
            <a:r>
              <a:rPr lang="en-US" altLang="zh-TW" dirty="0"/>
              <a:t>5</a:t>
            </a:r>
            <a:r>
              <a:rPr lang="en-US" altLang="zh-TW" i="1" dirty="0"/>
              <a:t>, </a:t>
            </a:r>
            <a:r>
              <a:rPr lang="en-US" altLang="zh-TW" dirty="0"/>
              <a:t>0</a:t>
            </a:r>
            <a:r>
              <a:rPr lang="en-US" altLang="zh-TW" i="1" dirty="0"/>
              <a:t>.</a:t>
            </a:r>
            <a:r>
              <a:rPr lang="en-US" altLang="zh-TW" dirty="0"/>
              <a:t>7</a:t>
            </a:r>
            <a:r>
              <a:rPr lang="en-US" altLang="zh-TW" i="1" dirty="0"/>
              <a:t>, </a:t>
            </a:r>
            <a:r>
              <a:rPr lang="en-US" altLang="zh-TW" dirty="0"/>
              <a:t>0</a:t>
            </a:r>
            <a:r>
              <a:rPr lang="en-US" altLang="zh-TW" i="1" dirty="0"/>
              <a:t>.</a:t>
            </a:r>
            <a:r>
              <a:rPr lang="en-US" altLang="zh-TW" dirty="0"/>
              <a:t>4</a:t>
            </a:r>
            <a:r>
              <a:rPr lang="en-US" altLang="zh-TW" i="1" dirty="0"/>
              <a:t>, </a:t>
            </a:r>
            <a:r>
              <a:rPr lang="en-US" altLang="zh-TW" dirty="0"/>
              <a:t>9</a:t>
            </a:r>
            <a:r>
              <a:rPr lang="en-US" altLang="zh-TW" i="1" dirty="0"/>
              <a:t>.</a:t>
            </a:r>
            <a:r>
              <a:rPr lang="en-US" altLang="zh-TW" dirty="0"/>
              <a:t>2]</a:t>
            </a:r>
          </a:p>
          <a:p>
            <a:pPr marL="0" indent="0">
              <a:buNone/>
            </a:pPr>
            <a:r>
              <a:rPr lang="pt-BR" altLang="zh-TW" i="1" dirty="0">
                <a:solidFill>
                  <a:srgbClr val="FF0000"/>
                </a:solidFill>
              </a:rPr>
              <a:t>AF_DTW</a:t>
            </a:r>
            <a:r>
              <a:rPr lang="pt-BR" altLang="zh-TW" dirty="0">
                <a:solidFill>
                  <a:srgbClr val="FF0000"/>
                </a:solidFill>
              </a:rPr>
              <a:t>(</a:t>
            </a:r>
            <a:r>
              <a:rPr lang="pt-BR" altLang="zh-TW" i="1" dirty="0">
                <a:solidFill>
                  <a:srgbClr val="FF0000"/>
                </a:solidFill>
              </a:rPr>
              <a:t>Q,C</a:t>
            </a:r>
            <a:r>
              <a:rPr lang="pt-BR" altLang="zh-TW" dirty="0">
                <a:solidFill>
                  <a:srgbClr val="FF0000"/>
                </a:solidFill>
              </a:rPr>
              <a:t>) = </a:t>
            </a:r>
            <a:r>
              <a:rPr lang="pt-BR" altLang="zh-TW" i="1" dirty="0">
                <a:solidFill>
                  <a:srgbClr val="FF0000"/>
                </a:solidFill>
              </a:rPr>
              <a:t>R</a:t>
            </a:r>
            <a:r>
              <a:rPr lang="pt-BR" altLang="zh-TW" dirty="0">
                <a:solidFill>
                  <a:srgbClr val="FF0000"/>
                </a:solidFill>
              </a:rPr>
              <a:t>(1</a:t>
            </a:r>
            <a:r>
              <a:rPr lang="pt-BR" altLang="zh-TW" i="1" dirty="0">
                <a:solidFill>
                  <a:srgbClr val="FF0000"/>
                </a:solidFill>
              </a:rPr>
              <a:t>, 1</a:t>
            </a:r>
            <a:r>
              <a:rPr lang="pt-BR" altLang="zh-TW" dirty="0">
                <a:solidFill>
                  <a:srgbClr val="FF0000"/>
                </a:solidFill>
              </a:rPr>
              <a:t>) = -9</a:t>
            </a:r>
            <a:r>
              <a:rPr lang="pt-BR" altLang="zh-TW" i="1" dirty="0">
                <a:solidFill>
                  <a:srgbClr val="FF0000"/>
                </a:solidFill>
              </a:rPr>
              <a:t>.</a:t>
            </a:r>
            <a:r>
              <a:rPr lang="pt-BR" altLang="zh-TW" dirty="0">
                <a:solidFill>
                  <a:srgbClr val="FF0000"/>
                </a:solidFill>
              </a:rPr>
              <a:t>67</a:t>
            </a:r>
            <a:endParaRPr lang="zh-TW" altLang="en-US" dirty="0">
              <a:solidFill>
                <a:srgbClr val="FF0000"/>
              </a:solidFill>
            </a:endParaRPr>
          </a:p>
          <a:p>
            <a:pPr marL="0" indent="0">
              <a:buNone/>
            </a:pPr>
            <a:endParaRPr lang="zh-TW" altLang="en-US" dirty="0"/>
          </a:p>
        </p:txBody>
      </p:sp>
      <p:sp>
        <p:nvSpPr>
          <p:cNvPr id="4" name="投影片編號版面配置區 3">
            <a:extLst>
              <a:ext uri="{FF2B5EF4-FFF2-40B4-BE49-F238E27FC236}">
                <a16:creationId xmlns:a16="http://schemas.microsoft.com/office/drawing/2014/main" id="{DB41E81A-A3E4-4930-AD36-B8682453DF0C}"/>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5" name="圖片 4">
            <a:extLst>
              <a:ext uri="{FF2B5EF4-FFF2-40B4-BE49-F238E27FC236}">
                <a16:creationId xmlns:a16="http://schemas.microsoft.com/office/drawing/2014/main" id="{FC3E5534-C20F-4214-8602-E42FF69C8F69}"/>
              </a:ext>
            </a:extLst>
          </p:cNvPr>
          <p:cNvPicPr>
            <a:picLocks noChangeAspect="1"/>
          </p:cNvPicPr>
          <p:nvPr/>
        </p:nvPicPr>
        <p:blipFill>
          <a:blip r:embed="rId3"/>
          <a:stretch>
            <a:fillRect/>
          </a:stretch>
        </p:blipFill>
        <p:spPr>
          <a:xfrm>
            <a:off x="838200" y="1861617"/>
            <a:ext cx="4123527" cy="897428"/>
          </a:xfrm>
          <a:prstGeom prst="rect">
            <a:avLst/>
          </a:prstGeom>
        </p:spPr>
      </p:pic>
      <p:pic>
        <p:nvPicPr>
          <p:cNvPr id="6" name="圖片 5">
            <a:extLst>
              <a:ext uri="{FF2B5EF4-FFF2-40B4-BE49-F238E27FC236}">
                <a16:creationId xmlns:a16="http://schemas.microsoft.com/office/drawing/2014/main" id="{09F35736-1A7C-4824-AE8A-1C6C61A7B4E9}"/>
              </a:ext>
            </a:extLst>
          </p:cNvPr>
          <p:cNvPicPr>
            <a:picLocks noChangeAspect="1"/>
          </p:cNvPicPr>
          <p:nvPr/>
        </p:nvPicPr>
        <p:blipFill>
          <a:blip r:embed="rId4"/>
          <a:stretch>
            <a:fillRect/>
          </a:stretch>
        </p:blipFill>
        <p:spPr>
          <a:xfrm>
            <a:off x="5802283" y="1789350"/>
            <a:ext cx="4847705" cy="1041961"/>
          </a:xfrm>
          <a:prstGeom prst="rect">
            <a:avLst/>
          </a:prstGeom>
        </p:spPr>
      </p:pic>
      <p:sp>
        <p:nvSpPr>
          <p:cNvPr id="7" name="矩形 6">
            <a:extLst>
              <a:ext uri="{FF2B5EF4-FFF2-40B4-BE49-F238E27FC236}">
                <a16:creationId xmlns:a16="http://schemas.microsoft.com/office/drawing/2014/main" id="{E4D114F3-1E3D-47A0-8715-197F5A9B6841}"/>
              </a:ext>
            </a:extLst>
          </p:cNvPr>
          <p:cNvSpPr/>
          <p:nvPr/>
        </p:nvSpPr>
        <p:spPr>
          <a:xfrm>
            <a:off x="5802283" y="2929971"/>
            <a:ext cx="5996247" cy="461665"/>
          </a:xfrm>
          <a:prstGeom prst="rect">
            <a:avLst/>
          </a:prstGeom>
        </p:spPr>
        <p:txBody>
          <a:bodyPr wrap="square">
            <a:spAutoFit/>
          </a:bodyPr>
          <a:lstStyle/>
          <a:p>
            <a:r>
              <a:rPr lang="pt-BR" altLang="zh-TW" sz="2400" i="1" dirty="0">
                <a:solidFill>
                  <a:srgbClr val="FF0000"/>
                </a:solidFill>
                <a:latin typeface="CMMI10"/>
              </a:rPr>
              <a:t>R’</a:t>
            </a:r>
            <a:r>
              <a:rPr lang="pt-BR" altLang="zh-TW" sz="2400" dirty="0">
                <a:solidFill>
                  <a:srgbClr val="FF0000"/>
                </a:solidFill>
                <a:latin typeface="CMR10"/>
              </a:rPr>
              <a:t>(</a:t>
            </a:r>
            <a:r>
              <a:rPr lang="pt-BR" altLang="zh-TW" sz="2400" i="1" dirty="0">
                <a:solidFill>
                  <a:srgbClr val="FF0000"/>
                </a:solidFill>
                <a:latin typeface="CMMI10"/>
              </a:rPr>
              <a:t>m</a:t>
            </a:r>
            <a:r>
              <a:rPr lang="pt-BR" altLang="zh-TW" sz="2400" dirty="0">
                <a:solidFill>
                  <a:srgbClr val="FF0000"/>
                </a:solidFill>
                <a:latin typeface="CMR10"/>
              </a:rPr>
              <a:t>+1</a:t>
            </a:r>
            <a:r>
              <a:rPr lang="pt-BR" altLang="zh-TW" sz="2400" i="1" dirty="0">
                <a:solidFill>
                  <a:srgbClr val="FF0000"/>
                </a:solidFill>
                <a:latin typeface="CMMI10"/>
              </a:rPr>
              <a:t>, n</a:t>
            </a:r>
            <a:r>
              <a:rPr lang="pt-BR" altLang="zh-TW" sz="2400" dirty="0">
                <a:solidFill>
                  <a:srgbClr val="FF0000"/>
                </a:solidFill>
                <a:latin typeface="CMR10"/>
              </a:rPr>
              <a:t>+1) = 0</a:t>
            </a:r>
            <a:r>
              <a:rPr lang="pt-BR" altLang="zh-TW" sz="2400" dirty="0">
                <a:latin typeface="CMR10"/>
              </a:rPr>
              <a:t>, </a:t>
            </a:r>
            <a:r>
              <a:rPr lang="pt-BR" altLang="zh-TW" sz="2400" i="1" dirty="0">
                <a:latin typeface="CMMI10"/>
              </a:rPr>
              <a:t>R’</a:t>
            </a:r>
            <a:r>
              <a:rPr lang="pt-BR" altLang="zh-TW" sz="2400" dirty="0">
                <a:latin typeface="CMR10"/>
              </a:rPr>
              <a:t>(</a:t>
            </a:r>
            <a:r>
              <a:rPr lang="pt-BR" altLang="zh-TW" sz="2400" i="1" dirty="0">
                <a:latin typeface="CMMI10"/>
              </a:rPr>
              <a:t>i, n</a:t>
            </a:r>
            <a:r>
              <a:rPr lang="pt-BR" altLang="zh-TW" sz="2400" dirty="0">
                <a:latin typeface="CMR10"/>
              </a:rPr>
              <a:t>+1) = </a:t>
            </a:r>
            <a:r>
              <a:rPr lang="en-US" altLang="zh-TW" sz="2400" i="1" dirty="0">
                <a:latin typeface="CMMI10"/>
              </a:rPr>
              <a:t>R’</a:t>
            </a:r>
            <a:r>
              <a:rPr lang="en-US" altLang="zh-TW" sz="2400" dirty="0">
                <a:latin typeface="CMR10"/>
              </a:rPr>
              <a:t>(</a:t>
            </a:r>
            <a:r>
              <a:rPr lang="en-US" altLang="zh-TW" sz="2400" i="1" dirty="0">
                <a:latin typeface="CMMI10"/>
              </a:rPr>
              <a:t>m</a:t>
            </a:r>
            <a:r>
              <a:rPr lang="en-US" altLang="zh-TW" sz="2400" dirty="0">
                <a:latin typeface="CMR10"/>
              </a:rPr>
              <a:t>+ 1</a:t>
            </a:r>
            <a:r>
              <a:rPr lang="en-US" altLang="zh-TW" sz="2400" i="1" dirty="0">
                <a:latin typeface="CMMI10"/>
              </a:rPr>
              <a:t>, j</a:t>
            </a:r>
            <a:r>
              <a:rPr lang="en-US" altLang="zh-TW" sz="2400" dirty="0">
                <a:latin typeface="CMR10"/>
              </a:rPr>
              <a:t>) = </a:t>
            </a:r>
            <a:r>
              <a:rPr lang="en-US" altLang="zh-TW" sz="2400" i="1" dirty="0">
                <a:latin typeface="CMSY10"/>
              </a:rPr>
              <a:t>−∞</a:t>
            </a:r>
            <a:endParaRPr lang="zh-TW" altLang="en-US" sz="2400" dirty="0"/>
          </a:p>
        </p:txBody>
      </p:sp>
      <p:cxnSp>
        <p:nvCxnSpPr>
          <p:cNvPr id="8" name="直線接點 7">
            <a:extLst>
              <a:ext uri="{FF2B5EF4-FFF2-40B4-BE49-F238E27FC236}">
                <a16:creationId xmlns:a16="http://schemas.microsoft.com/office/drawing/2014/main" id="{94FE56A9-917E-428B-9819-58FDC12DE4B8}"/>
              </a:ext>
            </a:extLst>
          </p:cNvPr>
          <p:cNvCxnSpPr/>
          <p:nvPr/>
        </p:nvCxnSpPr>
        <p:spPr>
          <a:xfrm>
            <a:off x="606829" y="3429000"/>
            <a:ext cx="11222182"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sp>
        <p:nvSpPr>
          <p:cNvPr id="10" name="文字方塊 9">
            <a:extLst>
              <a:ext uri="{FF2B5EF4-FFF2-40B4-BE49-F238E27FC236}">
                <a16:creationId xmlns:a16="http://schemas.microsoft.com/office/drawing/2014/main" id="{BEA4E87E-5BDB-45E4-B630-D4AA25EB5B9E}"/>
              </a:ext>
            </a:extLst>
          </p:cNvPr>
          <p:cNvSpPr txBox="1"/>
          <p:nvPr/>
        </p:nvSpPr>
        <p:spPr>
          <a:xfrm>
            <a:off x="10735887" y="3617390"/>
            <a:ext cx="1277914" cy="646331"/>
          </a:xfrm>
          <a:prstGeom prst="rect">
            <a:avLst/>
          </a:prstGeom>
          <a:noFill/>
        </p:spPr>
        <p:txBody>
          <a:bodyPr wrap="none" rtlCol="0">
            <a:spAutoFit/>
          </a:bodyPr>
          <a:lstStyle/>
          <a:p>
            <a:r>
              <a:rPr lang="en-US" altLang="zh-TW" dirty="0"/>
              <a:t>12-9.2=2.8</a:t>
            </a:r>
          </a:p>
          <a:p>
            <a:r>
              <a:rPr lang="en-US" altLang="zh-TW" dirty="0"/>
              <a:t>2.8</a:t>
            </a:r>
            <a:r>
              <a:rPr lang="en-US" altLang="zh-TW" baseline="30000" dirty="0"/>
              <a:t>2</a:t>
            </a:r>
            <a:r>
              <a:rPr lang="en-US" altLang="zh-TW" dirty="0"/>
              <a:t>=7.84</a:t>
            </a:r>
            <a:endParaRPr lang="zh-TW" altLang="en-US" dirty="0"/>
          </a:p>
        </p:txBody>
      </p:sp>
      <p:cxnSp>
        <p:nvCxnSpPr>
          <p:cNvPr id="12" name="直線單箭頭接點 11">
            <a:extLst>
              <a:ext uri="{FF2B5EF4-FFF2-40B4-BE49-F238E27FC236}">
                <a16:creationId xmlns:a16="http://schemas.microsoft.com/office/drawing/2014/main" id="{6C7026BC-D25C-4025-9DBE-D1918FEE802C}"/>
              </a:ext>
            </a:extLst>
          </p:cNvPr>
          <p:cNvCxnSpPr/>
          <p:nvPr/>
        </p:nvCxnSpPr>
        <p:spPr>
          <a:xfrm>
            <a:off x="10332720" y="3724102"/>
            <a:ext cx="465513" cy="997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203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31D8BC-F8B5-40D6-B02B-C4BAD5C3452F}"/>
              </a:ext>
            </a:extLst>
          </p:cNvPr>
          <p:cNvSpPr>
            <a:spLocks noGrp="1"/>
          </p:cNvSpPr>
          <p:nvPr>
            <p:ph type="title"/>
          </p:nvPr>
        </p:nvSpPr>
        <p:spPr/>
        <p:txBody>
          <a:bodyPr/>
          <a:lstStyle/>
          <a:p>
            <a:r>
              <a:rPr lang="en-US" altLang="zh-TW" dirty="0"/>
              <a:t>AF_DTW – Reduced Scope</a:t>
            </a:r>
            <a:endParaRPr lang="zh-TW" altLang="en-US" dirty="0"/>
          </a:p>
        </p:txBody>
      </p:sp>
      <p:pic>
        <p:nvPicPr>
          <p:cNvPr id="5" name="內容版面配置區 4">
            <a:extLst>
              <a:ext uri="{FF2B5EF4-FFF2-40B4-BE49-F238E27FC236}">
                <a16:creationId xmlns:a16="http://schemas.microsoft.com/office/drawing/2014/main" id="{EEF45E67-7149-441A-AB91-016EF4920542}"/>
              </a:ext>
            </a:extLst>
          </p:cNvPr>
          <p:cNvPicPr>
            <a:picLocks noGrp="1" noChangeAspect="1"/>
          </p:cNvPicPr>
          <p:nvPr>
            <p:ph idx="1"/>
          </p:nvPr>
        </p:nvPicPr>
        <p:blipFill>
          <a:blip r:embed="rId2"/>
          <a:stretch>
            <a:fillRect/>
          </a:stretch>
        </p:blipFill>
        <p:spPr>
          <a:xfrm>
            <a:off x="320844" y="2373697"/>
            <a:ext cx="11433932" cy="4165217"/>
          </a:xfrm>
          <a:prstGeom prst="rect">
            <a:avLst/>
          </a:prstGeom>
        </p:spPr>
      </p:pic>
      <p:sp>
        <p:nvSpPr>
          <p:cNvPr id="4" name="投影片編號版面配置區 3">
            <a:extLst>
              <a:ext uri="{FF2B5EF4-FFF2-40B4-BE49-F238E27FC236}">
                <a16:creationId xmlns:a16="http://schemas.microsoft.com/office/drawing/2014/main" id="{DB41E81A-A3E4-4930-AD36-B8682453DF0C}"/>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pic>
        <p:nvPicPr>
          <p:cNvPr id="6" name="圖片 5">
            <a:extLst>
              <a:ext uri="{FF2B5EF4-FFF2-40B4-BE49-F238E27FC236}">
                <a16:creationId xmlns:a16="http://schemas.microsoft.com/office/drawing/2014/main" id="{C1925C07-3E07-414F-A876-0226E3301614}"/>
              </a:ext>
            </a:extLst>
          </p:cNvPr>
          <p:cNvPicPr>
            <a:picLocks noChangeAspect="1"/>
          </p:cNvPicPr>
          <p:nvPr/>
        </p:nvPicPr>
        <p:blipFill>
          <a:blip r:embed="rId3"/>
          <a:stretch>
            <a:fillRect/>
          </a:stretch>
        </p:blipFill>
        <p:spPr>
          <a:xfrm>
            <a:off x="3505199" y="1321277"/>
            <a:ext cx="5105400" cy="495300"/>
          </a:xfrm>
          <a:prstGeom prst="rect">
            <a:avLst/>
          </a:prstGeom>
        </p:spPr>
      </p:pic>
      <p:sp>
        <p:nvSpPr>
          <p:cNvPr id="7" name="矩形 6">
            <a:extLst>
              <a:ext uri="{FF2B5EF4-FFF2-40B4-BE49-F238E27FC236}">
                <a16:creationId xmlns:a16="http://schemas.microsoft.com/office/drawing/2014/main" id="{D7D46935-8EF2-4E22-A14B-3D3B307DF03E}"/>
              </a:ext>
            </a:extLst>
          </p:cNvPr>
          <p:cNvSpPr/>
          <p:nvPr/>
        </p:nvSpPr>
        <p:spPr>
          <a:xfrm>
            <a:off x="1544982" y="1960087"/>
            <a:ext cx="3680751" cy="369332"/>
          </a:xfrm>
          <a:prstGeom prst="rect">
            <a:avLst/>
          </a:prstGeom>
        </p:spPr>
        <p:txBody>
          <a:bodyPr wrap="none">
            <a:spAutoFit/>
          </a:bodyPr>
          <a:lstStyle/>
          <a:p>
            <a:r>
              <a:rPr lang="da-DK" altLang="zh-TW" i="1" dirty="0">
                <a:latin typeface="CMMI10"/>
              </a:rPr>
              <a:t>AF DTW</a:t>
            </a:r>
            <a:r>
              <a:rPr lang="da-DK" altLang="zh-TW" dirty="0">
                <a:latin typeface="CMR10"/>
              </a:rPr>
              <a:t>( </a:t>
            </a:r>
            <a:r>
              <a:rPr lang="da-DK" altLang="zh-TW" i="1" dirty="0">
                <a:latin typeface="CMMI10"/>
              </a:rPr>
              <a:t>Q, C,</a:t>
            </a:r>
            <a:r>
              <a:rPr lang="da-DK" altLang="zh-TW" i="1" dirty="0">
                <a:latin typeface="CMMI10"/>
                <a:sym typeface="Symbol" panose="05050102010706020507" pitchFamily="18" charset="2"/>
              </a:rPr>
              <a:t> </a:t>
            </a:r>
            <a:r>
              <a:rPr lang="da-DK" altLang="zh-TW" dirty="0">
                <a:latin typeface="CMR10"/>
              </a:rPr>
              <a:t>) = 9</a:t>
            </a:r>
            <a:r>
              <a:rPr lang="da-DK" altLang="zh-TW" i="1" dirty="0">
                <a:latin typeface="CMMI10"/>
              </a:rPr>
              <a:t>.</a:t>
            </a:r>
            <a:r>
              <a:rPr lang="da-DK" altLang="zh-TW" dirty="0">
                <a:latin typeface="CMR10"/>
              </a:rPr>
              <a:t>5</a:t>
            </a:r>
            <a:r>
              <a:rPr lang="da-DK" altLang="zh-TW" i="1" dirty="0">
                <a:latin typeface="CMSY10"/>
              </a:rPr>
              <a:t>−</a:t>
            </a:r>
            <a:r>
              <a:rPr lang="da-DK" altLang="zh-TW" dirty="0">
                <a:latin typeface="CMR10"/>
              </a:rPr>
              <a:t>(</a:t>
            </a:r>
            <a:r>
              <a:rPr lang="da-DK" altLang="zh-TW" i="1" dirty="0">
                <a:latin typeface="CMSY10"/>
              </a:rPr>
              <a:t>−</a:t>
            </a:r>
            <a:r>
              <a:rPr lang="da-DK" altLang="zh-TW" dirty="0">
                <a:latin typeface="CMR10"/>
              </a:rPr>
              <a:t>0</a:t>
            </a:r>
            <a:r>
              <a:rPr lang="da-DK" altLang="zh-TW" i="1" dirty="0">
                <a:latin typeface="CMMI10"/>
              </a:rPr>
              <a:t>.</a:t>
            </a:r>
            <a:r>
              <a:rPr lang="da-DK" altLang="zh-TW" dirty="0">
                <a:latin typeface="CMR10"/>
              </a:rPr>
              <a:t>17) = 9</a:t>
            </a:r>
            <a:r>
              <a:rPr lang="da-DK" altLang="zh-TW" i="1" dirty="0">
                <a:latin typeface="CMMI10"/>
              </a:rPr>
              <a:t>.</a:t>
            </a:r>
            <a:r>
              <a:rPr lang="da-DK" altLang="zh-TW" dirty="0">
                <a:latin typeface="CMR10"/>
              </a:rPr>
              <a:t>67</a:t>
            </a:r>
            <a:endParaRPr lang="zh-TW" altLang="en-US" dirty="0"/>
          </a:p>
        </p:txBody>
      </p:sp>
      <p:sp>
        <p:nvSpPr>
          <p:cNvPr id="8" name="矩形 7">
            <a:extLst>
              <a:ext uri="{FF2B5EF4-FFF2-40B4-BE49-F238E27FC236}">
                <a16:creationId xmlns:a16="http://schemas.microsoft.com/office/drawing/2014/main" id="{5B52E09D-74E3-452C-9AFE-7CDE34273D00}"/>
              </a:ext>
            </a:extLst>
          </p:cNvPr>
          <p:cNvSpPr/>
          <p:nvPr/>
        </p:nvSpPr>
        <p:spPr>
          <a:xfrm>
            <a:off x="6754194" y="1977710"/>
            <a:ext cx="3712811" cy="369332"/>
          </a:xfrm>
          <a:prstGeom prst="rect">
            <a:avLst/>
          </a:prstGeom>
        </p:spPr>
        <p:txBody>
          <a:bodyPr wrap="none">
            <a:spAutoFit/>
          </a:bodyPr>
          <a:lstStyle/>
          <a:p>
            <a:r>
              <a:rPr lang="da-DK" altLang="zh-TW" i="1" dirty="0">
                <a:latin typeface="CMMI10"/>
              </a:rPr>
              <a:t>AF DTW</a:t>
            </a:r>
            <a:r>
              <a:rPr lang="da-DK" altLang="zh-TW" dirty="0">
                <a:latin typeface="CMR10"/>
              </a:rPr>
              <a:t>( </a:t>
            </a:r>
            <a:r>
              <a:rPr lang="da-DK" altLang="zh-TW" i="1" dirty="0">
                <a:latin typeface="CMMI10"/>
              </a:rPr>
              <a:t>Q, C,</a:t>
            </a:r>
            <a:r>
              <a:rPr lang="da-DK" altLang="zh-TW" i="1" dirty="0">
                <a:latin typeface="CMMI10"/>
                <a:sym typeface="Symbol" panose="05050102010706020507" pitchFamily="18" charset="2"/>
              </a:rPr>
              <a:t> </a:t>
            </a:r>
            <a:r>
              <a:rPr lang="da-DK" altLang="zh-TW" dirty="0">
                <a:latin typeface="CMR10"/>
              </a:rPr>
              <a:t>) = 200</a:t>
            </a:r>
            <a:r>
              <a:rPr lang="da-DK" altLang="zh-TW" i="1" dirty="0">
                <a:latin typeface="CMSY10"/>
              </a:rPr>
              <a:t>−</a:t>
            </a:r>
            <a:r>
              <a:rPr lang="da-DK" altLang="zh-TW" i="1" dirty="0">
                <a:latin typeface="CMR10"/>
              </a:rPr>
              <a:t>190.33</a:t>
            </a:r>
            <a:r>
              <a:rPr lang="da-DK" altLang="zh-TW" dirty="0">
                <a:latin typeface="CMR10"/>
              </a:rPr>
              <a:t> = 9</a:t>
            </a:r>
            <a:r>
              <a:rPr lang="da-DK" altLang="zh-TW" i="1" dirty="0">
                <a:latin typeface="CMMI10"/>
              </a:rPr>
              <a:t>.</a:t>
            </a:r>
            <a:r>
              <a:rPr lang="da-DK" altLang="zh-TW" dirty="0">
                <a:latin typeface="CMR10"/>
              </a:rPr>
              <a:t>67</a:t>
            </a:r>
            <a:endParaRPr lang="zh-TW" altLang="en-US" dirty="0"/>
          </a:p>
        </p:txBody>
      </p:sp>
    </p:spTree>
    <p:extLst>
      <p:ext uri="{BB962C8B-B14F-4D97-AF65-F5344CB8AC3E}">
        <p14:creationId xmlns:p14="http://schemas.microsoft.com/office/powerpoint/2010/main" val="16019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31D8BC-F8B5-40D6-B02B-C4BAD5C3452F}"/>
              </a:ext>
            </a:extLst>
          </p:cNvPr>
          <p:cNvSpPr>
            <a:spLocks noGrp="1"/>
          </p:cNvSpPr>
          <p:nvPr>
            <p:ph type="title"/>
          </p:nvPr>
        </p:nvSpPr>
        <p:spPr/>
        <p:txBody>
          <a:bodyPr/>
          <a:lstStyle/>
          <a:p>
            <a:r>
              <a:rPr lang="en-US" altLang="zh-TW" dirty="0"/>
              <a:t>AF_DTW – Choice of Threshold Value</a:t>
            </a:r>
            <a:endParaRPr lang="zh-TW" altLang="en-US" dirty="0"/>
          </a:p>
        </p:txBody>
      </p:sp>
      <p:pic>
        <p:nvPicPr>
          <p:cNvPr id="5" name="內容版面配置區 4">
            <a:extLst>
              <a:ext uri="{FF2B5EF4-FFF2-40B4-BE49-F238E27FC236}">
                <a16:creationId xmlns:a16="http://schemas.microsoft.com/office/drawing/2014/main" id="{4CE3105C-5D1F-4F6D-9C7E-D19052283A95}"/>
              </a:ext>
            </a:extLst>
          </p:cNvPr>
          <p:cNvPicPr>
            <a:picLocks noGrp="1" noChangeAspect="1"/>
          </p:cNvPicPr>
          <p:nvPr>
            <p:ph idx="1"/>
          </p:nvPr>
        </p:nvPicPr>
        <p:blipFill>
          <a:blip r:embed="rId2"/>
          <a:stretch>
            <a:fillRect/>
          </a:stretch>
        </p:blipFill>
        <p:spPr>
          <a:xfrm>
            <a:off x="838200" y="1491717"/>
            <a:ext cx="4617547" cy="1004172"/>
          </a:xfrm>
          <a:prstGeom prst="rect">
            <a:avLst/>
          </a:prstGeom>
        </p:spPr>
      </p:pic>
      <p:sp>
        <p:nvSpPr>
          <p:cNvPr id="4" name="投影片編號版面配置區 3">
            <a:extLst>
              <a:ext uri="{FF2B5EF4-FFF2-40B4-BE49-F238E27FC236}">
                <a16:creationId xmlns:a16="http://schemas.microsoft.com/office/drawing/2014/main" id="{DB41E81A-A3E4-4930-AD36-B8682453DF0C}"/>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6" name="圖片 5">
            <a:extLst>
              <a:ext uri="{FF2B5EF4-FFF2-40B4-BE49-F238E27FC236}">
                <a16:creationId xmlns:a16="http://schemas.microsoft.com/office/drawing/2014/main" id="{5D38F320-80FB-4167-A315-E240175A18A5}"/>
              </a:ext>
            </a:extLst>
          </p:cNvPr>
          <p:cNvPicPr>
            <a:picLocks noChangeAspect="1"/>
          </p:cNvPicPr>
          <p:nvPr/>
        </p:nvPicPr>
        <p:blipFill>
          <a:blip r:embed="rId3"/>
          <a:stretch>
            <a:fillRect/>
          </a:stretch>
        </p:blipFill>
        <p:spPr>
          <a:xfrm>
            <a:off x="746760" y="2495889"/>
            <a:ext cx="7956665" cy="3973035"/>
          </a:xfrm>
          <a:prstGeom prst="rect">
            <a:avLst/>
          </a:prstGeom>
        </p:spPr>
      </p:pic>
    </p:spTree>
    <p:extLst>
      <p:ext uri="{BB962C8B-B14F-4D97-AF65-F5344CB8AC3E}">
        <p14:creationId xmlns:p14="http://schemas.microsoft.com/office/powerpoint/2010/main" val="1109380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02042B-309D-40FB-BE08-5629A6AB45CA}"/>
              </a:ext>
            </a:extLst>
          </p:cNvPr>
          <p:cNvSpPr>
            <a:spLocks noGrp="1"/>
          </p:cNvSpPr>
          <p:nvPr>
            <p:ph type="title"/>
          </p:nvPr>
        </p:nvSpPr>
        <p:spPr/>
        <p:txBody>
          <a:bodyPr/>
          <a:lstStyle/>
          <a:p>
            <a:r>
              <a:rPr lang="en-US" altLang="zh-TW" dirty="0"/>
              <a:t>Result – Different Thresholds</a:t>
            </a:r>
            <a:endParaRPr lang="zh-TW" altLang="en-US" dirty="0"/>
          </a:p>
        </p:txBody>
      </p:sp>
      <p:pic>
        <p:nvPicPr>
          <p:cNvPr id="5" name="內容版面配置區 4">
            <a:extLst>
              <a:ext uri="{FF2B5EF4-FFF2-40B4-BE49-F238E27FC236}">
                <a16:creationId xmlns:a16="http://schemas.microsoft.com/office/drawing/2014/main" id="{59FFDE6F-D91F-4F57-9DD2-A0F303DEE9CD}"/>
              </a:ext>
            </a:extLst>
          </p:cNvPr>
          <p:cNvPicPr>
            <a:picLocks noGrp="1" noChangeAspect="1"/>
          </p:cNvPicPr>
          <p:nvPr>
            <p:ph idx="1"/>
          </p:nvPr>
        </p:nvPicPr>
        <p:blipFill>
          <a:blip r:embed="rId2"/>
          <a:stretch>
            <a:fillRect/>
          </a:stretch>
        </p:blipFill>
        <p:spPr>
          <a:xfrm>
            <a:off x="254428" y="1297415"/>
            <a:ext cx="9155579" cy="5340152"/>
          </a:xfrm>
          <a:prstGeom prst="rect">
            <a:avLst/>
          </a:prstGeom>
        </p:spPr>
      </p:pic>
      <p:sp>
        <p:nvSpPr>
          <p:cNvPr id="4" name="投影片編號版面配置區 3">
            <a:extLst>
              <a:ext uri="{FF2B5EF4-FFF2-40B4-BE49-F238E27FC236}">
                <a16:creationId xmlns:a16="http://schemas.microsoft.com/office/drawing/2014/main" id="{F846DC3A-71D4-4570-85AA-51CAC032FD83}"/>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spTree>
    <p:extLst>
      <p:ext uri="{BB962C8B-B14F-4D97-AF65-F5344CB8AC3E}">
        <p14:creationId xmlns:p14="http://schemas.microsoft.com/office/powerpoint/2010/main" val="1834344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02042B-309D-40FB-BE08-5629A6AB45CA}"/>
              </a:ext>
            </a:extLst>
          </p:cNvPr>
          <p:cNvSpPr>
            <a:spLocks noGrp="1"/>
          </p:cNvSpPr>
          <p:nvPr>
            <p:ph type="title"/>
          </p:nvPr>
        </p:nvSpPr>
        <p:spPr/>
        <p:txBody>
          <a:bodyPr/>
          <a:lstStyle/>
          <a:p>
            <a:r>
              <a:rPr lang="en-US" altLang="zh-TW" dirty="0"/>
              <a:t>Result – Different Length</a:t>
            </a:r>
            <a:endParaRPr lang="zh-TW" altLang="en-US" dirty="0"/>
          </a:p>
        </p:txBody>
      </p:sp>
      <p:sp>
        <p:nvSpPr>
          <p:cNvPr id="4" name="投影片編號版面配置區 3">
            <a:extLst>
              <a:ext uri="{FF2B5EF4-FFF2-40B4-BE49-F238E27FC236}">
                <a16:creationId xmlns:a16="http://schemas.microsoft.com/office/drawing/2014/main" id="{F846DC3A-71D4-4570-85AA-51CAC032FD83}"/>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7" name="內容版面配置區 6">
            <a:extLst>
              <a:ext uri="{FF2B5EF4-FFF2-40B4-BE49-F238E27FC236}">
                <a16:creationId xmlns:a16="http://schemas.microsoft.com/office/drawing/2014/main" id="{8394B077-1468-43EB-A439-C2A9BE57AB6E}"/>
              </a:ext>
            </a:extLst>
          </p:cNvPr>
          <p:cNvPicPr>
            <a:picLocks noGrp="1" noChangeAspect="1"/>
          </p:cNvPicPr>
          <p:nvPr>
            <p:ph idx="1"/>
          </p:nvPr>
        </p:nvPicPr>
        <p:blipFill>
          <a:blip r:embed="rId2"/>
          <a:stretch>
            <a:fillRect/>
          </a:stretch>
        </p:blipFill>
        <p:spPr>
          <a:xfrm>
            <a:off x="739618" y="1759123"/>
            <a:ext cx="9731862" cy="4351338"/>
          </a:xfrm>
          <a:prstGeom prst="rect">
            <a:avLst/>
          </a:prstGeom>
        </p:spPr>
      </p:pic>
    </p:spTree>
    <p:extLst>
      <p:ext uri="{BB962C8B-B14F-4D97-AF65-F5344CB8AC3E}">
        <p14:creationId xmlns:p14="http://schemas.microsoft.com/office/powerpoint/2010/main" val="1913273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02042B-309D-40FB-BE08-5629A6AB45CA}"/>
              </a:ext>
            </a:extLst>
          </p:cNvPr>
          <p:cNvSpPr>
            <a:spLocks noGrp="1"/>
          </p:cNvSpPr>
          <p:nvPr>
            <p:ph type="title"/>
          </p:nvPr>
        </p:nvSpPr>
        <p:spPr/>
        <p:txBody>
          <a:bodyPr/>
          <a:lstStyle/>
          <a:p>
            <a:r>
              <a:rPr lang="en-US" altLang="zh-TW" dirty="0"/>
              <a:t>Result – Classification</a:t>
            </a:r>
            <a:endParaRPr lang="zh-TW" altLang="en-US" dirty="0"/>
          </a:p>
        </p:txBody>
      </p:sp>
      <p:sp>
        <p:nvSpPr>
          <p:cNvPr id="4" name="投影片編號版面配置區 3">
            <a:extLst>
              <a:ext uri="{FF2B5EF4-FFF2-40B4-BE49-F238E27FC236}">
                <a16:creationId xmlns:a16="http://schemas.microsoft.com/office/drawing/2014/main" id="{F846DC3A-71D4-4570-85AA-51CAC032FD83}"/>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pic>
        <p:nvPicPr>
          <p:cNvPr id="10" name="內容版面配置區 9">
            <a:extLst>
              <a:ext uri="{FF2B5EF4-FFF2-40B4-BE49-F238E27FC236}">
                <a16:creationId xmlns:a16="http://schemas.microsoft.com/office/drawing/2014/main" id="{850347CA-B50D-4B7E-98E3-EF08961A9B2E}"/>
              </a:ext>
            </a:extLst>
          </p:cNvPr>
          <p:cNvPicPr>
            <a:picLocks noGrp="1" noChangeAspect="1"/>
          </p:cNvPicPr>
          <p:nvPr>
            <p:ph idx="1"/>
          </p:nvPr>
        </p:nvPicPr>
        <p:blipFill>
          <a:blip r:embed="rId2"/>
          <a:stretch>
            <a:fillRect/>
          </a:stretch>
        </p:blipFill>
        <p:spPr>
          <a:xfrm>
            <a:off x="838200" y="1526366"/>
            <a:ext cx="5257800" cy="5147451"/>
          </a:xfrm>
          <a:prstGeom prst="rect">
            <a:avLst/>
          </a:prstGeom>
        </p:spPr>
      </p:pic>
      <p:sp>
        <p:nvSpPr>
          <p:cNvPr id="11" name="文字方塊 10">
            <a:extLst>
              <a:ext uri="{FF2B5EF4-FFF2-40B4-BE49-F238E27FC236}">
                <a16:creationId xmlns:a16="http://schemas.microsoft.com/office/drawing/2014/main" id="{B685CAE5-CE52-43C1-B8B4-1DE38282C163}"/>
              </a:ext>
            </a:extLst>
          </p:cNvPr>
          <p:cNvSpPr txBox="1"/>
          <p:nvPr/>
        </p:nvSpPr>
        <p:spPr>
          <a:xfrm>
            <a:off x="2751513" y="1753985"/>
            <a:ext cx="1153457" cy="369332"/>
          </a:xfrm>
          <a:prstGeom prst="rect">
            <a:avLst/>
          </a:prstGeom>
          <a:noFill/>
        </p:spPr>
        <p:txBody>
          <a:bodyPr wrap="none" rtlCol="0">
            <a:spAutoFit/>
          </a:bodyPr>
          <a:lstStyle/>
          <a:p>
            <a:r>
              <a:rPr lang="en-US" altLang="zh-TW" dirty="0">
                <a:solidFill>
                  <a:srgbClr val="FF0000"/>
                </a:solidFill>
              </a:rPr>
              <a:t>Error Ratio</a:t>
            </a:r>
            <a:endParaRPr lang="zh-TW" altLang="en-US" dirty="0">
              <a:solidFill>
                <a:srgbClr val="FF0000"/>
              </a:solidFill>
            </a:endParaRPr>
          </a:p>
        </p:txBody>
      </p:sp>
      <p:sp>
        <p:nvSpPr>
          <p:cNvPr id="12" name="文字方塊 11">
            <a:extLst>
              <a:ext uri="{FF2B5EF4-FFF2-40B4-BE49-F238E27FC236}">
                <a16:creationId xmlns:a16="http://schemas.microsoft.com/office/drawing/2014/main" id="{5CC3FC61-4CB6-4869-81AD-7423854D34B5}"/>
              </a:ext>
            </a:extLst>
          </p:cNvPr>
          <p:cNvSpPr txBox="1"/>
          <p:nvPr/>
        </p:nvSpPr>
        <p:spPr>
          <a:xfrm>
            <a:off x="4164676" y="1753985"/>
            <a:ext cx="1814920" cy="369332"/>
          </a:xfrm>
          <a:prstGeom prst="rect">
            <a:avLst/>
          </a:prstGeom>
          <a:noFill/>
        </p:spPr>
        <p:txBody>
          <a:bodyPr wrap="none" rtlCol="0">
            <a:spAutoFit/>
          </a:bodyPr>
          <a:lstStyle/>
          <a:p>
            <a:r>
              <a:rPr lang="en-US" altLang="zh-TW" dirty="0">
                <a:solidFill>
                  <a:srgbClr val="FF0000"/>
                </a:solidFill>
              </a:rPr>
              <a:t>Time Consumption</a:t>
            </a:r>
            <a:endParaRPr lang="zh-TW" altLang="en-US" dirty="0">
              <a:solidFill>
                <a:srgbClr val="FF0000"/>
              </a:solidFill>
            </a:endParaRPr>
          </a:p>
        </p:txBody>
      </p:sp>
    </p:spTree>
    <p:extLst>
      <p:ext uri="{BB962C8B-B14F-4D97-AF65-F5344CB8AC3E}">
        <p14:creationId xmlns:p14="http://schemas.microsoft.com/office/powerpoint/2010/main" val="71865152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17288</TotalTime>
  <Words>490</Words>
  <Application>Microsoft Office PowerPoint</Application>
  <PresentationFormat>寬螢幕</PresentationFormat>
  <Paragraphs>52</Paragraphs>
  <Slides>11</Slides>
  <Notes>1</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11</vt:i4>
      </vt:variant>
    </vt:vector>
  </HeadingPairs>
  <TitlesOfParts>
    <vt:vector size="22" baseType="lpstr">
      <vt:lpstr>CMMI10</vt:lpstr>
      <vt:lpstr>CMR10</vt:lpstr>
      <vt:lpstr>CMSY10</vt:lpstr>
      <vt:lpstr>微軟正黑體</vt:lpstr>
      <vt:lpstr>新細明體</vt:lpstr>
      <vt:lpstr>Arial</vt:lpstr>
      <vt:lpstr>Calibri</vt:lpstr>
      <vt:lpstr>Symbol</vt:lpstr>
      <vt:lpstr>Times New Roman</vt:lpstr>
      <vt:lpstr>Tw Cen MT</vt:lpstr>
      <vt:lpstr>Office 佈景主題</vt:lpstr>
      <vt:lpstr>Accurate and Fast Dynamic Time Warping</vt:lpstr>
      <vt:lpstr>Abstract (1/2)</vt:lpstr>
      <vt:lpstr>Abstract (2/2)</vt:lpstr>
      <vt:lpstr>DTW</vt:lpstr>
      <vt:lpstr>AF_DTW</vt:lpstr>
      <vt:lpstr>AF_DTW – Backward Strategy</vt:lpstr>
      <vt:lpstr>AF_DTW – Reduced Scope</vt:lpstr>
      <vt:lpstr>AF_DTW – Choice of Threshold Value</vt:lpstr>
      <vt:lpstr>Result – Different Thresholds</vt:lpstr>
      <vt:lpstr>Result – Different Length</vt:lpstr>
      <vt:lpstr>Result – Classification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 </cp:lastModifiedBy>
  <cp:revision>493</cp:revision>
  <dcterms:created xsi:type="dcterms:W3CDTF">2017-10-09T09:38:00Z</dcterms:created>
  <dcterms:modified xsi:type="dcterms:W3CDTF">2018-11-19T11:06:53Z</dcterms:modified>
</cp:coreProperties>
</file>