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60" r:id="rId5"/>
    <p:sldId id="265" r:id="rId6"/>
    <p:sldId id="266" r:id="rId7"/>
    <p:sldId id="267" r:id="rId8"/>
    <p:sldId id="263" r:id="rId9"/>
    <p:sldId id="269" r:id="rId10"/>
    <p:sldId id="268" r:id="rId11"/>
    <p:sldId id="264" r:id="rId1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5" d="100"/>
          <a:sy n="75" d="100"/>
        </p:scale>
        <p:origin x="852" y="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8791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636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0043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4845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92761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27548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25159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91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3645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2018/11/20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74529" y="189782"/>
            <a:ext cx="8905101" cy="1160546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subquadratic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for 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zh-TW" alt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</a:t>
            </a:r>
            <a:r>
              <a:rPr lang="en-US" altLang="zh-TW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factorization</a:t>
            </a:r>
            <a:endParaRPr lang="zh-TW" alt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50379" y="1971921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Gabriele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Fici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Travis </a:t>
            </a:r>
            <a:r>
              <a:rPr lang="en-US" altLang="zh-TW" dirty="0" err="1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Gagie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,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Juha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Kärkkäinen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,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Dominik 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Kempa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it-IT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Dipartimento </a:t>
            </a:r>
            <a:r>
              <a:rPr lang="it-IT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 Matematica e Informatica, Università di Palermo, </a:t>
            </a:r>
            <a:r>
              <a:rPr lang="it-IT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Italy </a:t>
            </a:r>
            <a:r>
              <a:rPr lang="it-IT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Department of Computer Science, University of Helsinki, </a:t>
            </a:r>
            <a:r>
              <a:rPr lang="it-IT" altLang="zh-TW" sz="2000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Finland</a:t>
            </a:r>
          </a:p>
          <a:p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Journal of Discrete Algorithms</a:t>
            </a:r>
          </a:p>
          <a:p>
            <a:r>
              <a:rPr lang="fr-FR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28, September 2014, Pages 41-48</a:t>
            </a: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 Ting-Wei Liang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Date:2018/11/20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17534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20000"/>
                  </a:lnSpc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give an O(n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)-time, O(n)-space algorithm for factoring a string into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minimum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palindromic substrings. That is, given a string S[1..n], in O(n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time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our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algorithm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returns the minimum number of palindromes S</a:t>
                </a:r>
                <a:r>
                  <a:rPr lang="en-US" altLang="zh-TW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... , S</a:t>
                </a:r>
                <a14:m>
                  <m:oMath xmlns:m="http://schemas.openxmlformats.org/officeDocument/2006/math">
                    <m:r>
                      <a:rPr lang="en-US" altLang="zh-TW" sz="2400" b="1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such that S =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sz="2400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...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14:m>
                  <m:oMath xmlns:m="http://schemas.openxmlformats.org/officeDocument/2006/math">
                    <m:r>
                      <a:rPr lang="en-US" altLang="zh-TW" sz="2400" b="1" i="1" baseline="-25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also show that the time complexity is O(n) on average and Ω(n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logn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in the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worst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case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last result is based on a characterization of the palindromic structure of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Zimin</a:t>
                </a:r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30402"/>
                <a:ext cx="7886700" cy="4351338"/>
              </a:xfrm>
              <a:blipFill rotWithShape="0">
                <a:blip r:embed="rId3"/>
                <a:stretch>
                  <a:fillRect t="-280" r="-12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Palindromic Factorization</a:t>
            </a:r>
            <a:b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(Palindromic Length)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abaab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2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+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baab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PL(abaca) = 3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aba + c + a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PL(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abbaabaabbba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3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abba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aba +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abbba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But, the solution of “Maximal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Palindromic Factorization”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</m:oMath>
                </a14:m>
                <a:r>
                  <a: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+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bbaabaabb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b + a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3"/>
                <a:stretch>
                  <a:fillRect l="-1159" t="-1961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519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Simple Quadratic Algorithm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8650" y="1751162"/>
            <a:ext cx="8146857" cy="732993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2885963"/>
              </p:ext>
            </p:extLst>
          </p:nvPr>
        </p:nvGraphicFramePr>
        <p:xfrm>
          <a:off x="1321638" y="303592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  <a:gridCol w="38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圓角矩形 8"/>
          <p:cNvSpPr/>
          <p:nvPr/>
        </p:nvSpPr>
        <p:spPr>
          <a:xfrm>
            <a:off x="1682151" y="3622203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0" name="圓角矩形 9"/>
          <p:cNvSpPr/>
          <p:nvPr/>
        </p:nvSpPr>
        <p:spPr>
          <a:xfrm>
            <a:off x="3223404" y="3622203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圓角矩形 10"/>
          <p:cNvSpPr/>
          <p:nvPr/>
        </p:nvSpPr>
        <p:spPr>
          <a:xfrm>
            <a:off x="7015073" y="3628399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16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" name="圓角矩形 11"/>
          <p:cNvSpPr/>
          <p:nvPr/>
        </p:nvSpPr>
        <p:spPr>
          <a:xfrm>
            <a:off x="6222161" y="3622203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14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6622894" y="3621312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圓角矩形 13"/>
          <p:cNvSpPr/>
          <p:nvPr/>
        </p:nvSpPr>
        <p:spPr>
          <a:xfrm>
            <a:off x="4702078" y="3628399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10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276550" y="3587840"/>
                <a:ext cx="803490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50" y="3587840"/>
                <a:ext cx="803490" cy="491417"/>
              </a:xfrm>
              <a:prstGeom prst="rect">
                <a:avLst/>
              </a:prstGeom>
              <a:blipFill rotWithShape="0">
                <a:blip r:embed="rId4"/>
                <a:stretch>
                  <a:fillRect b="-11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39043"/>
              </p:ext>
            </p:extLst>
          </p:nvPr>
        </p:nvGraphicFramePr>
        <p:xfrm>
          <a:off x="1321638" y="4628171"/>
          <a:ext cx="6476643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  <a:gridCol w="380979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TW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>
                          <a:solidFill>
                            <a:srgbClr val="FF0000"/>
                          </a:solidFill>
                        </a:rPr>
                        <a:t>b</a:t>
                      </a:r>
                      <a:endParaRPr lang="zh-TW" altLang="en-US" sz="24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圓角矩形 16"/>
          <p:cNvSpPr/>
          <p:nvPr/>
        </p:nvSpPr>
        <p:spPr>
          <a:xfrm>
            <a:off x="2835215" y="5219408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/>
                </a:solidFill>
              </a:rPr>
              <a:t>5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4369638" y="5214448"/>
            <a:ext cx="388189" cy="4226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9" name="圓角矩形 18"/>
          <p:cNvSpPr/>
          <p:nvPr/>
        </p:nvSpPr>
        <p:spPr>
          <a:xfrm>
            <a:off x="5869557" y="5214448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圓角矩形 19"/>
          <p:cNvSpPr/>
          <p:nvPr/>
        </p:nvSpPr>
        <p:spPr>
          <a:xfrm>
            <a:off x="7417638" y="5214983"/>
            <a:ext cx="471577" cy="41030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dirty="0" smtClean="0">
                <a:solidFill>
                  <a:schemeClr val="tx1"/>
                </a:solidFill>
              </a:rPr>
              <a:t>17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300075" y="5214448"/>
                <a:ext cx="510140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075" y="5214448"/>
                <a:ext cx="510140" cy="491417"/>
              </a:xfrm>
              <a:prstGeom prst="rect">
                <a:avLst/>
              </a:prstGeom>
              <a:blipFill rotWithShape="0">
                <a:blip r:embed="rId5"/>
                <a:stretch>
                  <a:fillRect b="-98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05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TW" sz="4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lang="en-US" altLang="zh-TW" sz="4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zh-TW" altLang="en-US" sz="4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sz="2400" b="0" dirty="0" smtClean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="0" dirty="0" smtClean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𝑦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𝑧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𝑎𝑟𝑒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𝑝𝑎𝑙𝑖𝑛𝑑𝑟𝑜𝑚𝑒𝑠</m:t>
                      </m:r>
                    </m:oMath>
                  </m:oMathPara>
                </a14:m>
                <a:endParaRPr lang="en-US" altLang="zh-TW" sz="2400" b="0" dirty="0" smtClean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𝑢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,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𝑣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𝑎𝑟𝑒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𝑝𝑒𝑟𝑖𝑜𝑑𝑠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𝑜𝑓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𝑥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𝑎𝑛𝑑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𝑦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if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x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≤2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y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and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 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smtClean="0">
                              <a:latin typeface="Cambria Math" panose="02040503050406030204" pitchFamily="18" charset="0"/>
                              <a:ea typeface="+mj-ea"/>
                              <a:cs typeface="Times New Roman" pitchFamily="18" charset="0"/>
                            </a:rPr>
                            <m:t>y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≤2|</m:t>
                      </m:r>
                      <m:r>
                        <m:rPr>
                          <m:sty m:val="p"/>
                        </m:rP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z</m:t>
                      </m:r>
                      <m:r>
                        <a:rPr lang="en-US" altLang="zh-TW" sz="2400" b="0" i="0" smtClean="0">
                          <a:latin typeface="Cambria Math" panose="02040503050406030204" pitchFamily="18" charset="0"/>
                          <a:ea typeface="+mj-ea"/>
                          <a:cs typeface="Times New Roman" pitchFamily="18" charset="0"/>
                        </a:rPr>
                        <m:t>|</m:t>
                      </m:r>
                    </m:oMath>
                  </m:oMathPara>
                </a14:m>
                <a:endParaRPr lang="en-US" altLang="zh-TW" sz="2400" dirty="0" smtClean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>
                  <a:latin typeface="Times New Roman" pitchFamily="18" charset="0"/>
                  <a:ea typeface="+mj-ea"/>
                  <a:cs typeface="Times New Roman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Ex : S = 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itchFamily="18" charset="0"/>
                    <a:ea typeface="+mj-ea"/>
                    <a:cs typeface="Times New Roman" pitchFamily="18" charset="0"/>
                  </a:rPr>
                  <a:t>abb</a:t>
                </a:r>
                <a:r>
                  <a:rPr lang="en-US" altLang="zh-TW" sz="2400" dirty="0" err="1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abbabba</a:t>
                </a:r>
                <a:r>
                  <a:rPr lang="en-US" altLang="zh-TW" sz="2400" dirty="0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 , is a palindrome</a:t>
                </a:r>
              </a:p>
              <a:p>
                <a:pPr>
                  <a:buNone/>
                </a:pPr>
                <a:r>
                  <a:rPr lang="en-US" altLang="zh-TW" sz="2400" dirty="0" err="1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abbabba</a:t>
                </a:r>
                <a:r>
                  <a:rPr lang="en-US" altLang="zh-TW" sz="2400" dirty="0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 is the longest proper palindromic suffix of S.</a:t>
                </a: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Thus, </a:t>
                </a:r>
                <a:r>
                  <a:rPr lang="en-US" altLang="zh-TW" sz="2400" dirty="0" err="1" smtClean="0">
                    <a:solidFill>
                      <a:srgbClr val="FF0000"/>
                    </a:solidFill>
                    <a:latin typeface="Times New Roman" pitchFamily="18" charset="0"/>
                    <a:ea typeface="+mj-ea"/>
                    <a:cs typeface="Times New Roman" pitchFamily="18" charset="0"/>
                  </a:rPr>
                  <a:t>abb</a:t>
                </a:r>
                <a:r>
                  <a:rPr lang="en-US" altLang="zh-TW" sz="2400" dirty="0" smtClean="0">
                    <a:latin typeface="Times New Roman" pitchFamily="18" charset="0"/>
                    <a:ea typeface="+mj-ea"/>
                    <a:cs typeface="Times New Roman" pitchFamily="18" charset="0"/>
                  </a:rPr>
                  <a:t> is the smallest period of S.   </a:t>
                </a: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 rotWithShape="0">
                <a:blip r:embed="rId4"/>
                <a:stretch>
                  <a:fillRect l="-1159" b="-14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21" y="1285889"/>
            <a:ext cx="7366958" cy="228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0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the suffix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alindromes by periods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endParaRPr lang="en-US" altLang="zh-TW" dirty="0" smtClean="0"/>
              </a:p>
              <a:p>
                <a:endParaRPr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−1,∞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=(2,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∞,1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−1,4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6,4,3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−1,1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15,1,2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/>
              </a:p>
              <a:p>
                <a:pPr marL="0" indent="0">
                  <a:buNone/>
                </a:pPr>
                <a:endParaRPr lang="en-US" altLang="zh-TW" dirty="0"/>
              </a:p>
              <a:p>
                <a:pPr marL="0" indent="0">
                  <a:buNone/>
                </a:pP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386" b="-2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77" y="1383563"/>
            <a:ext cx="8515350" cy="3373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11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689035" y="0"/>
                <a:ext cx="78867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US" altLang="zh-TW" sz="36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3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zh-TW" sz="3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zh-TW" altLang="en-US" sz="3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89035" y="0"/>
                <a:ext cx="7886700" cy="1325563"/>
              </a:xfr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75222" y="999106"/>
            <a:ext cx="7255531" cy="5858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10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3520" y="1825625"/>
            <a:ext cx="8686800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321" y="-102731"/>
            <a:ext cx="4415197" cy="3356651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039" y="3229106"/>
            <a:ext cx="4382630" cy="369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12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3520" y="1825625"/>
            <a:ext cx="8686800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41" y="787305"/>
            <a:ext cx="6930476" cy="526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69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1325563"/>
          </a:xfrm>
        </p:spPr>
        <p:txBody>
          <a:bodyPr>
            <a:normAutofit/>
          </a:bodyPr>
          <a:lstStyle/>
          <a:p>
            <a:pPr algn="ctr"/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23520" y="1825625"/>
            <a:ext cx="8686800" cy="4351338"/>
          </a:xfrm>
        </p:spPr>
        <p:txBody>
          <a:bodyPr>
            <a:noAutofit/>
          </a:bodyPr>
          <a:lstStyle/>
          <a:p>
            <a:pPr>
              <a:buNone/>
            </a:pPr>
            <a:endParaRPr lang="en-US" altLang="zh-TW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47" y="633746"/>
            <a:ext cx="6782070" cy="572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89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</p:spPr>
            <p:txBody>
              <a:bodyPr>
                <a:noAutofit/>
              </a:bodyPr>
              <a:lstStyle/>
              <a:p>
                <a:pPr>
                  <a:buNone/>
                </a:pPr>
                <a:endParaRPr lang="en-US" altLang="zh-TW" b="0" i="1" dirty="0" smtClean="0">
                  <a:latin typeface="Cambria Math" panose="02040503050406030204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Average case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endParaRPr lang="en-US" altLang="zh-TW" sz="3200" dirty="0">
                  <a:latin typeface="Times New Roman" pitchFamily="18" charset="0"/>
                  <a:cs typeface="Times New Roman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TW" dirty="0" smtClean="0">
                    <a:latin typeface="Times New Roman" pitchFamily="18" charset="0"/>
                    <a:cs typeface="Times New Roman" pitchFamily="18" charset="0"/>
                  </a:rPr>
                  <a:t>Worst case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𝜃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𝑛𝑙𝑜𝑔𝑛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)</m:t>
                    </m:r>
                  </m:oMath>
                </a14:m>
                <a:endParaRPr lang="en-US" altLang="zh-TW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>
                  <a:buNone/>
                </a:pPr>
                <a:endParaRPr lang="en-US" altLang="zh-TW" sz="2400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3520" y="1825625"/>
                <a:ext cx="8686800" cy="4351338"/>
              </a:xfrm>
              <a:blipFill rotWithShape="0">
                <a:blip r:embed="rId3"/>
                <a:stretch>
                  <a:fillRect l="-12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592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36390</TotalTime>
  <Words>219</Words>
  <Application>Microsoft Office PowerPoint</Application>
  <PresentationFormat>如螢幕大小 (4:3)</PresentationFormat>
  <Paragraphs>127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A subquadratic algorithm for minimum palindromic factorization</vt:lpstr>
      <vt:lpstr>Abstract</vt:lpstr>
      <vt:lpstr>Minimum Palindromic Factorization (Palindromic Length)</vt:lpstr>
      <vt:lpstr>Simple Quadratic Algorithm</vt:lpstr>
      <vt:lpstr>Period (Δ)</vt:lpstr>
      <vt:lpstr>Grouping the suffix palindromes by periods</vt:lpstr>
      <vt:lpstr>Update G_j</vt:lpstr>
      <vt:lpstr>PowerPoint 簡報</vt:lpstr>
      <vt:lpstr>PowerPoint 簡報</vt:lpstr>
      <vt:lpstr>PowerPoint 簡報</vt:lpstr>
      <vt:lpstr>Time Complexity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409</cp:revision>
  <dcterms:created xsi:type="dcterms:W3CDTF">2016-04-23T07:31:56Z</dcterms:created>
  <dcterms:modified xsi:type="dcterms:W3CDTF">2018-11-20T12:18:05Z</dcterms:modified>
</cp:coreProperties>
</file>