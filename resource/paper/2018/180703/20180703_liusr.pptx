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6" r:id="rId3"/>
    <p:sldId id="277" r:id="rId4"/>
    <p:sldId id="259" r:id="rId5"/>
    <p:sldId id="260" r:id="rId6"/>
    <p:sldId id="266" r:id="rId7"/>
    <p:sldId id="261" r:id="rId8"/>
    <p:sldId id="262" r:id="rId9"/>
    <p:sldId id="263" r:id="rId10"/>
    <p:sldId id="264" r:id="rId11"/>
    <p:sldId id="268" r:id="rId12"/>
    <p:sldId id="269" r:id="rId13"/>
    <p:sldId id="270" r:id="rId14"/>
    <p:sldId id="271" r:id="rId15"/>
    <p:sldId id="272" r:id="rId16"/>
    <p:sldId id="273" r:id="rId17"/>
    <p:sldId id="267" r:id="rId18"/>
    <p:sldId id="275" r:id="rId19"/>
    <p:sldId id="274"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75" d="100"/>
          <a:sy n="75" d="100"/>
        </p:scale>
        <p:origin x="50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2018/7/3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xmlns=""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xmlns="" id="{50E00B3F-FCF3-43A8-BA3C-83E3D27FDB5E}"/>
              </a:ext>
            </a:extLst>
          </p:cNvPr>
          <p:cNvSpPr>
            <a:spLocks noGrp="1"/>
          </p:cNvSpPr>
          <p:nvPr>
            <p:ph type="dt" sz="half" idx="10"/>
          </p:nvPr>
        </p:nvSpPr>
        <p:spPr/>
        <p:txBody>
          <a:bodyPr/>
          <a:lstStyle/>
          <a:p>
            <a:fld id="{4B163CDD-1571-4D07-AD50-27DEDA2DAB08}" type="datetime1">
              <a:rPr lang="zh-TW" altLang="en-US" smtClean="0"/>
              <a:t>2018/7/3</a:t>
            </a:fld>
            <a:endParaRPr lang="zh-TW" altLang="en-US"/>
          </a:p>
        </p:txBody>
      </p:sp>
      <p:sp>
        <p:nvSpPr>
          <p:cNvPr id="5" name="頁尾版面配置區 4">
            <a:extLst>
              <a:ext uri="{FF2B5EF4-FFF2-40B4-BE49-F238E27FC236}">
                <a16:creationId xmlns:a16="http://schemas.microsoft.com/office/drawing/2014/main" xmlns=""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xmlns=""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xmlns="" id="{84D63DA6-083D-4C87-B46F-4639F5BADD1D}"/>
              </a:ext>
            </a:extLst>
          </p:cNvPr>
          <p:cNvSpPr>
            <a:spLocks noGrp="1"/>
          </p:cNvSpPr>
          <p:nvPr>
            <p:ph type="dt" sz="half" idx="10"/>
          </p:nvPr>
        </p:nvSpPr>
        <p:spPr/>
        <p:txBody>
          <a:bodyPr/>
          <a:lstStyle/>
          <a:p>
            <a:fld id="{45E90CF3-7BCB-4E41-A4BC-7F7C7D47433D}" type="datetime1">
              <a:rPr lang="zh-TW" altLang="en-US" smtClean="0"/>
              <a:t>2018/7/3</a:t>
            </a:fld>
            <a:endParaRPr lang="zh-TW" altLang="en-US"/>
          </a:p>
        </p:txBody>
      </p:sp>
      <p:sp>
        <p:nvSpPr>
          <p:cNvPr id="5" name="頁尾版面配置區 4">
            <a:extLst>
              <a:ext uri="{FF2B5EF4-FFF2-40B4-BE49-F238E27FC236}">
                <a16:creationId xmlns:a16="http://schemas.microsoft.com/office/drawing/2014/main" xmlns=""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F67C9000-9E5A-4894-8CE5-D814ED1F8837}"/>
              </a:ext>
            </a:extLst>
          </p:cNvPr>
          <p:cNvSpPr>
            <a:spLocks noGrp="1"/>
          </p:cNvSpPr>
          <p:nvPr>
            <p:ph type="dt" sz="half" idx="10"/>
          </p:nvPr>
        </p:nvSpPr>
        <p:spPr/>
        <p:txBody>
          <a:bodyPr/>
          <a:lstStyle/>
          <a:p>
            <a:fld id="{939863AD-E347-426A-B227-78A9B42781C3}" type="datetime1">
              <a:rPr lang="zh-TW" altLang="en-US" smtClean="0"/>
              <a:t>2018/7/3</a:t>
            </a:fld>
            <a:endParaRPr lang="zh-TW" altLang="en-US"/>
          </a:p>
        </p:txBody>
      </p:sp>
      <p:sp>
        <p:nvSpPr>
          <p:cNvPr id="5" name="頁尾版面配置區 4">
            <a:extLst>
              <a:ext uri="{FF2B5EF4-FFF2-40B4-BE49-F238E27FC236}">
                <a16:creationId xmlns:a16="http://schemas.microsoft.com/office/drawing/2014/main" xmlns=""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19E55BE4-DE58-4CB4-A138-82C7FA95E005}"/>
              </a:ext>
            </a:extLst>
          </p:cNvPr>
          <p:cNvSpPr>
            <a:spLocks noGrp="1"/>
          </p:cNvSpPr>
          <p:nvPr>
            <p:ph type="dt" sz="half" idx="10"/>
          </p:nvPr>
        </p:nvSpPr>
        <p:spPr/>
        <p:txBody>
          <a:bodyPr/>
          <a:lstStyle/>
          <a:p>
            <a:fld id="{98EE8F46-57F3-4B32-B3C0-034060244659}" type="datetime1">
              <a:rPr lang="zh-TW" altLang="en-US" smtClean="0"/>
              <a:t>2018/7/3</a:t>
            </a:fld>
            <a:endParaRPr lang="zh-TW" altLang="en-US"/>
          </a:p>
        </p:txBody>
      </p:sp>
      <p:sp>
        <p:nvSpPr>
          <p:cNvPr id="6" name="頁尾版面配置區 5">
            <a:extLst>
              <a:ext uri="{FF2B5EF4-FFF2-40B4-BE49-F238E27FC236}">
                <a16:creationId xmlns:a16="http://schemas.microsoft.com/office/drawing/2014/main" xmlns=""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81164490-F37E-4BF2-B792-E41261B07B22}"/>
              </a:ext>
            </a:extLst>
          </p:cNvPr>
          <p:cNvSpPr>
            <a:spLocks noGrp="1"/>
          </p:cNvSpPr>
          <p:nvPr>
            <p:ph type="dt" sz="half" idx="10"/>
          </p:nvPr>
        </p:nvSpPr>
        <p:spPr/>
        <p:txBody>
          <a:bodyPr/>
          <a:lstStyle/>
          <a:p>
            <a:fld id="{25BE6354-929A-48E4-A569-5065F8787DBB}" type="datetime1">
              <a:rPr lang="zh-TW" altLang="en-US" smtClean="0"/>
              <a:t>2018/7/3</a:t>
            </a:fld>
            <a:endParaRPr lang="zh-TW" altLang="en-US"/>
          </a:p>
        </p:txBody>
      </p:sp>
      <p:sp>
        <p:nvSpPr>
          <p:cNvPr id="8" name="頁尾版面配置區 7">
            <a:extLst>
              <a:ext uri="{FF2B5EF4-FFF2-40B4-BE49-F238E27FC236}">
                <a16:creationId xmlns:a16="http://schemas.microsoft.com/office/drawing/2014/main" xmlns=""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067B964-A9EE-448C-A903-DF032F75B54E}"/>
              </a:ext>
            </a:extLst>
          </p:cNvPr>
          <p:cNvSpPr>
            <a:spLocks noGrp="1"/>
          </p:cNvSpPr>
          <p:nvPr>
            <p:ph type="dt" sz="half" idx="10"/>
          </p:nvPr>
        </p:nvSpPr>
        <p:spPr/>
        <p:txBody>
          <a:bodyPr/>
          <a:lstStyle/>
          <a:p>
            <a:fld id="{9347B07A-C303-4A11-829E-75A08D84F791}" type="datetime1">
              <a:rPr lang="zh-TW" altLang="en-US" smtClean="0"/>
              <a:t>2018/7/3</a:t>
            </a:fld>
            <a:endParaRPr lang="zh-TW" altLang="en-US"/>
          </a:p>
        </p:txBody>
      </p:sp>
      <p:sp>
        <p:nvSpPr>
          <p:cNvPr id="4" name="頁尾版面配置區 3">
            <a:extLst>
              <a:ext uri="{FF2B5EF4-FFF2-40B4-BE49-F238E27FC236}">
                <a16:creationId xmlns:a16="http://schemas.microsoft.com/office/drawing/2014/main" xmlns=""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5DC494-3175-4D2C-8019-6DC804B304DE}"/>
              </a:ext>
            </a:extLst>
          </p:cNvPr>
          <p:cNvSpPr>
            <a:spLocks noGrp="1"/>
          </p:cNvSpPr>
          <p:nvPr>
            <p:ph type="dt" sz="half" idx="10"/>
          </p:nvPr>
        </p:nvSpPr>
        <p:spPr/>
        <p:txBody>
          <a:bodyPr/>
          <a:lstStyle/>
          <a:p>
            <a:fld id="{818C0FAA-EAB9-46FF-9B2E-6C03EFE0E627}" type="datetime1">
              <a:rPr lang="zh-TW" altLang="en-US" smtClean="0"/>
              <a:t>2018/7/3</a:t>
            </a:fld>
            <a:endParaRPr lang="zh-TW" altLang="en-US"/>
          </a:p>
        </p:txBody>
      </p:sp>
      <p:sp>
        <p:nvSpPr>
          <p:cNvPr id="3" name="頁尾版面配置區 2">
            <a:extLst>
              <a:ext uri="{FF2B5EF4-FFF2-40B4-BE49-F238E27FC236}">
                <a16:creationId xmlns:a16="http://schemas.microsoft.com/office/drawing/2014/main" xmlns=""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E19407D-C528-4858-9191-402D0B2E4E7A}"/>
              </a:ext>
            </a:extLst>
          </p:cNvPr>
          <p:cNvSpPr>
            <a:spLocks noGrp="1"/>
          </p:cNvSpPr>
          <p:nvPr>
            <p:ph type="dt" sz="half" idx="10"/>
          </p:nvPr>
        </p:nvSpPr>
        <p:spPr/>
        <p:txBody>
          <a:bodyPr/>
          <a:lstStyle/>
          <a:p>
            <a:fld id="{6F615960-3F62-4BA7-8DEF-58213E9FC750}" type="datetime1">
              <a:rPr lang="zh-TW" altLang="en-US" smtClean="0"/>
              <a:t>2018/7/3</a:t>
            </a:fld>
            <a:endParaRPr lang="zh-TW" altLang="en-US"/>
          </a:p>
        </p:txBody>
      </p:sp>
      <p:sp>
        <p:nvSpPr>
          <p:cNvPr id="6" name="頁尾版面配置區 5">
            <a:extLst>
              <a:ext uri="{FF2B5EF4-FFF2-40B4-BE49-F238E27FC236}">
                <a16:creationId xmlns:a16="http://schemas.microsoft.com/office/drawing/2014/main" xmlns=""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xmlns=""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3917929-FFD5-45C6-AB7C-0A03F71D13FE}"/>
              </a:ext>
            </a:extLst>
          </p:cNvPr>
          <p:cNvSpPr>
            <a:spLocks noGrp="1"/>
          </p:cNvSpPr>
          <p:nvPr>
            <p:ph type="dt" sz="half" idx="10"/>
          </p:nvPr>
        </p:nvSpPr>
        <p:spPr/>
        <p:txBody>
          <a:bodyPr/>
          <a:lstStyle/>
          <a:p>
            <a:fld id="{BA495139-73A5-4D37-9F65-42DD6EFCB362}" type="datetime1">
              <a:rPr lang="zh-TW" altLang="en-US" smtClean="0"/>
              <a:t>2018/7/3</a:t>
            </a:fld>
            <a:endParaRPr lang="zh-TW" altLang="en-US"/>
          </a:p>
        </p:txBody>
      </p:sp>
      <p:sp>
        <p:nvSpPr>
          <p:cNvPr id="6" name="頁尾版面配置區 5">
            <a:extLst>
              <a:ext uri="{FF2B5EF4-FFF2-40B4-BE49-F238E27FC236}">
                <a16:creationId xmlns:a16="http://schemas.microsoft.com/office/drawing/2014/main" xmlns=""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EF64FCF-DA26-41B4-8919-89C752F28E4F}"/>
              </a:ext>
            </a:extLst>
          </p:cNvPr>
          <p:cNvSpPr>
            <a:spLocks noGrp="1"/>
          </p:cNvSpPr>
          <p:nvPr>
            <p:ph type="dt" sz="half" idx="10"/>
          </p:nvPr>
        </p:nvSpPr>
        <p:spPr/>
        <p:txBody>
          <a:bodyPr/>
          <a:lstStyle/>
          <a:p>
            <a:fld id="{F65DB9CA-F34A-4005-B66B-4638821FBB36}" type="datetime1">
              <a:rPr lang="zh-TW" altLang="en-US" smtClean="0"/>
              <a:t>2018/7/3</a:t>
            </a:fld>
            <a:endParaRPr lang="zh-TW" altLang="en-US"/>
          </a:p>
        </p:txBody>
      </p:sp>
      <p:sp>
        <p:nvSpPr>
          <p:cNvPr id="5" name="頁尾版面配置區 4">
            <a:extLst>
              <a:ext uri="{FF2B5EF4-FFF2-40B4-BE49-F238E27FC236}">
                <a16:creationId xmlns:a16="http://schemas.microsoft.com/office/drawing/2014/main" xmlns=""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253E183-339D-4996-9336-DF360AFA83CE}"/>
              </a:ext>
            </a:extLst>
          </p:cNvPr>
          <p:cNvSpPr>
            <a:spLocks noGrp="1"/>
          </p:cNvSpPr>
          <p:nvPr>
            <p:ph type="dt" sz="half" idx="10"/>
          </p:nvPr>
        </p:nvSpPr>
        <p:spPr/>
        <p:txBody>
          <a:bodyPr/>
          <a:lstStyle/>
          <a:p>
            <a:fld id="{9112FA3D-57A8-4A36-8AB7-98D4B7F81A6B}" type="datetime1">
              <a:rPr lang="zh-TW" altLang="en-US" smtClean="0"/>
              <a:t>2018/7/3</a:t>
            </a:fld>
            <a:endParaRPr lang="zh-TW" altLang="en-US"/>
          </a:p>
        </p:txBody>
      </p:sp>
      <p:sp>
        <p:nvSpPr>
          <p:cNvPr id="5" name="頁尾版面配置區 4">
            <a:extLst>
              <a:ext uri="{FF2B5EF4-FFF2-40B4-BE49-F238E27FC236}">
                <a16:creationId xmlns:a16="http://schemas.microsoft.com/office/drawing/2014/main" xmlns=""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2018/7/3</a:t>
            </a:fld>
            <a:endParaRPr lang="zh-TW" altLang="en-US"/>
          </a:p>
        </p:txBody>
      </p:sp>
      <p:sp>
        <p:nvSpPr>
          <p:cNvPr id="5" name="頁尾版面配置區 4">
            <a:extLst>
              <a:ext uri="{FF2B5EF4-FFF2-40B4-BE49-F238E27FC236}">
                <a16:creationId xmlns:a16="http://schemas.microsoft.com/office/drawing/2014/main" xmlns=""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600E22-8B2D-44A2-B529-2D5C521DF6EC}"/>
              </a:ext>
            </a:extLst>
          </p:cNvPr>
          <p:cNvSpPr>
            <a:spLocks noGrp="1"/>
          </p:cNvSpPr>
          <p:nvPr>
            <p:ph type="ctrTitle"/>
          </p:nvPr>
        </p:nvSpPr>
        <p:spPr>
          <a:xfrm>
            <a:off x="1004314" y="365497"/>
            <a:ext cx="10183368" cy="1786671"/>
          </a:xfrm>
        </p:spPr>
        <p:txBody>
          <a:bodyPr>
            <a:normAutofit/>
          </a:bodyPr>
          <a:lstStyle/>
          <a:p>
            <a:r>
              <a:rPr lang="en-US" altLang="zh-TW" sz="4400" dirty="0">
                <a:latin typeface="Tw Cen MT" panose="020B0602020104020603" pitchFamily="34" charset="0"/>
                <a:ea typeface="Cambria Math" panose="02040503050406030204" pitchFamily="18" charset="0"/>
                <a:cs typeface="Times New Roman" panose="02020603050405020304" pitchFamily="18" charset="0"/>
              </a:rPr>
              <a:t>Fuzzy clustering of time series data using dynamic time warping distance</a:t>
            </a:r>
            <a:endParaRPr lang="zh-TW" altLang="en-US" sz="44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xmlns="" id="{E1F7DB53-5192-4070-9ADE-B5C85E35C2CC}"/>
              </a:ext>
            </a:extLst>
          </p:cNvPr>
          <p:cNvSpPr>
            <a:spLocks noGrp="1"/>
          </p:cNvSpPr>
          <p:nvPr>
            <p:ph type="subTitle" idx="1"/>
          </p:nvPr>
        </p:nvSpPr>
        <p:spPr>
          <a:xfrm>
            <a:off x="1631679" y="2800962"/>
            <a:ext cx="8928639" cy="773417"/>
          </a:xfrm>
        </p:spPr>
        <p:txBody>
          <a:bodyPr>
            <a:noAutofit/>
          </a:bodyPr>
          <a:lstStyle/>
          <a:p>
            <a:r>
              <a:rPr lang="en-US" altLang="zh-TW" dirty="0" err="1"/>
              <a:t>Hesam</a:t>
            </a:r>
            <a:r>
              <a:rPr lang="en-US" altLang="zh-TW" dirty="0"/>
              <a:t> </a:t>
            </a:r>
            <a:r>
              <a:rPr lang="en-US" altLang="zh-TW" dirty="0" err="1"/>
              <a:t>Izakian</a:t>
            </a:r>
            <a:r>
              <a:rPr lang="en-US" altLang="zh-TW" dirty="0"/>
              <a:t>, </a:t>
            </a:r>
            <a:r>
              <a:rPr lang="en-US" altLang="zh-TW" dirty="0" err="1"/>
              <a:t>Witold</a:t>
            </a:r>
            <a:r>
              <a:rPr lang="en-US" altLang="zh-TW" dirty="0"/>
              <a:t> </a:t>
            </a:r>
            <a:r>
              <a:rPr lang="en-US" altLang="zh-TW" dirty="0" err="1"/>
              <a:t>Pedrycz</a:t>
            </a:r>
            <a:r>
              <a:rPr lang="en-US" altLang="zh-TW" dirty="0"/>
              <a:t>, Iqbal Jamal </a:t>
            </a:r>
            <a:endParaRPr lang="zh-TW" altLang="en-US" sz="2600" dirty="0"/>
          </a:p>
        </p:txBody>
      </p:sp>
      <p:sp>
        <p:nvSpPr>
          <p:cNvPr id="4" name="投影片編號版面配置區 3">
            <a:extLst>
              <a:ext uri="{FF2B5EF4-FFF2-40B4-BE49-F238E27FC236}">
                <a16:creationId xmlns:a16="http://schemas.microsoft.com/office/drawing/2014/main" xmlns=""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xmlns="" id="{CC60B4B8-BDE3-427A-B56B-7314F1C4CCA4}"/>
              </a:ext>
            </a:extLst>
          </p:cNvPr>
          <p:cNvSpPr txBox="1">
            <a:spLocks/>
          </p:cNvSpPr>
          <p:nvPr/>
        </p:nvSpPr>
        <p:spPr>
          <a:xfrm>
            <a:off x="1048428" y="3891090"/>
            <a:ext cx="10095142"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Engineering Applications of Artificial Intelligence</a:t>
            </a:r>
          </a:p>
          <a:p>
            <a:r>
              <a:rPr lang="en-US" altLang="zh-TW" sz="2200" dirty="0">
                <a:solidFill>
                  <a:schemeClr val="tx1"/>
                </a:solidFill>
              </a:rPr>
              <a:t>Vol. 39, 2015, Pages 235-244</a:t>
            </a:r>
            <a:endParaRPr lang="zh-TW" altLang="en-US" sz="2200" dirty="0">
              <a:solidFill>
                <a:schemeClr val="tx1"/>
              </a:solidFill>
            </a:endParaRPr>
          </a:p>
        </p:txBody>
      </p:sp>
      <p:sp>
        <p:nvSpPr>
          <p:cNvPr id="6" name="副標題 2">
            <a:extLst>
              <a:ext uri="{FF2B5EF4-FFF2-40B4-BE49-F238E27FC236}">
                <a16:creationId xmlns:a16="http://schemas.microsoft.com/office/drawing/2014/main" xmlns=""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2018/07/03</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51E4FEA-D504-4984-8169-77A8B62C8DAA}"/>
              </a:ext>
            </a:extLst>
          </p:cNvPr>
          <p:cNvSpPr>
            <a:spLocks noGrp="1"/>
          </p:cNvSpPr>
          <p:nvPr>
            <p:ph type="title"/>
          </p:nvPr>
        </p:nvSpPr>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xmlns="" id="{48A7BC5F-5DB6-4B6E-A263-D2C31A7AB884}"/>
              </a:ext>
            </a:extLst>
          </p:cNvPr>
          <p:cNvSpPr>
            <a:spLocks noGrp="1"/>
          </p:cNvSpPr>
          <p:nvPr>
            <p:ph idx="1"/>
          </p:nvPr>
        </p:nvSpPr>
        <p:spPr>
          <a:xfrm>
            <a:off x="838200" y="1520825"/>
            <a:ext cx="10515600" cy="4351338"/>
          </a:xfrm>
        </p:spPr>
        <p:txBody>
          <a:bodyPr>
            <a:noAutofit/>
          </a:bodyPr>
          <a:lstStyle/>
          <a:p>
            <a:pPr marL="0" indent="0">
              <a:buNone/>
            </a:pPr>
            <a:r>
              <a:rPr lang="en-US" altLang="zh-TW" dirty="0"/>
              <a:t>Clustering is a powerful vehicle to reveal and visualize structure of data. When dealing with time series, selecting a suitable measure to evaluate the similarities/dissimilarities within the data becomes necessary and subsequently it exhibits a significant impact on the results of clustering. This selection should be based upon the nature of time series and the application itself. When grouping time series based on their shape information is of interest (shape-based clustering), using a Dynamic Time Warping (DTW) distance is a desirable choice. Using stretching or compressing segments of temporal data, DTW determines an optimal match between any two time series. In this way, time series exhibiting similar patterns occurring at different time periods, are considered as being similar. </a:t>
            </a:r>
            <a:endParaRPr lang="zh-TW" altLang="en-US" dirty="0"/>
          </a:p>
        </p:txBody>
      </p:sp>
      <p:sp>
        <p:nvSpPr>
          <p:cNvPr id="4" name="投影片編號版面配置區 3">
            <a:extLst>
              <a:ext uri="{FF2B5EF4-FFF2-40B4-BE49-F238E27FC236}">
                <a16:creationId xmlns:a16="http://schemas.microsoft.com/office/drawing/2014/main" xmlns=""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51E4FEA-D504-4984-8169-77A8B62C8DAA}"/>
              </a:ext>
            </a:extLst>
          </p:cNvPr>
          <p:cNvSpPr>
            <a:spLocks noGrp="1"/>
          </p:cNvSpPr>
          <p:nvPr>
            <p:ph type="title"/>
          </p:nvPr>
        </p:nvSpPr>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xmlns="" id="{48A7BC5F-5DB6-4B6E-A263-D2C31A7AB884}"/>
              </a:ext>
            </a:extLst>
          </p:cNvPr>
          <p:cNvSpPr>
            <a:spLocks noGrp="1"/>
          </p:cNvSpPr>
          <p:nvPr>
            <p:ph idx="1"/>
          </p:nvPr>
        </p:nvSpPr>
        <p:spPr>
          <a:xfrm>
            <a:off x="838200" y="1460500"/>
            <a:ext cx="10515600" cy="5032373"/>
          </a:xfrm>
        </p:spPr>
        <p:txBody>
          <a:bodyPr>
            <a:normAutofit fontScale="92500" lnSpcReduction="10000"/>
          </a:bodyPr>
          <a:lstStyle/>
          <a:p>
            <a:pPr marL="0" indent="0">
              <a:buNone/>
            </a:pPr>
            <a:r>
              <a:rPr lang="en-US" altLang="zh-TW" dirty="0"/>
              <a:t>Although DTW is a suitable choice for comparing data with respect to their shape information, calculating the average of a collection of time series (which is required in clustering methods) based on this distance becomes a challenging problem. As the result, employing clustering techniques like K-Means and Fuzzy C-Means (where the cluster centers – prototypes are calculated through averaging the data) along with the DTW distance is a challenging task and may produce unsatisfactory results. In this study, three alternatives for fuzzy clustering of time series using DTW distance are proposed. In the first method, a DTW-based averaging technique proposed in the literature, has been applied to the Fuzzy C-Means clustering. The second method considers a Fuzzy C-Medoids clustering, while the third alternative comes as a hybrid technique, which exploits the advantages of both the Fuzzy C-Means and Fuzzy C-Medoids when clustering time series. Experimental studies are reported over a set of time series coming from the UCR time series database.</a:t>
            </a:r>
            <a:endParaRPr lang="zh-TW" altLang="en-US" dirty="0"/>
          </a:p>
        </p:txBody>
      </p:sp>
      <p:sp>
        <p:nvSpPr>
          <p:cNvPr id="4" name="投影片編號版面配置區 3">
            <a:extLst>
              <a:ext uri="{FF2B5EF4-FFF2-40B4-BE49-F238E27FC236}">
                <a16:creationId xmlns:a16="http://schemas.microsoft.com/office/drawing/2014/main" xmlns=""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31132860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AF646A0-C0DF-4A27-8EEE-CE170E3F539C}"/>
              </a:ext>
            </a:extLst>
          </p:cNvPr>
          <p:cNvSpPr>
            <a:spLocks noGrp="1"/>
          </p:cNvSpPr>
          <p:nvPr>
            <p:ph type="title"/>
          </p:nvPr>
        </p:nvSpPr>
        <p:spPr/>
        <p:txBody>
          <a:bodyPr/>
          <a:lstStyle/>
          <a:p>
            <a:r>
              <a:rPr lang="en-US" altLang="zh-TW" dirty="0"/>
              <a:t>Time Series</a:t>
            </a:r>
            <a:endParaRPr lang="zh-TW" altLang="en-US" dirty="0"/>
          </a:p>
        </p:txBody>
      </p:sp>
      <p:pic>
        <p:nvPicPr>
          <p:cNvPr id="5" name="內容版面配置區 4">
            <a:extLst>
              <a:ext uri="{FF2B5EF4-FFF2-40B4-BE49-F238E27FC236}">
                <a16:creationId xmlns:a16="http://schemas.microsoft.com/office/drawing/2014/main" xmlns="" id="{7A34E235-C432-48E8-8F3C-0F43DFFDFA23}"/>
              </a:ext>
            </a:extLst>
          </p:cNvPr>
          <p:cNvPicPr>
            <a:picLocks noGrp="1" noChangeAspect="1"/>
          </p:cNvPicPr>
          <p:nvPr>
            <p:ph idx="1"/>
          </p:nvPr>
        </p:nvPicPr>
        <p:blipFill>
          <a:blip r:embed="rId2"/>
          <a:stretch>
            <a:fillRect/>
          </a:stretch>
        </p:blipFill>
        <p:spPr>
          <a:xfrm>
            <a:off x="2612763" y="1840817"/>
            <a:ext cx="6966473" cy="4652056"/>
          </a:xfrm>
          <a:prstGeom prst="rect">
            <a:avLst/>
          </a:prstGeom>
        </p:spPr>
      </p:pic>
      <p:sp>
        <p:nvSpPr>
          <p:cNvPr id="4" name="投影片編號版面配置區 3">
            <a:extLst>
              <a:ext uri="{FF2B5EF4-FFF2-40B4-BE49-F238E27FC236}">
                <a16:creationId xmlns:a16="http://schemas.microsoft.com/office/drawing/2014/main" xmlns="" id="{917F9210-5543-4414-8E60-09A6F17A53AB}"/>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6" name="圖片 5">
            <a:extLst>
              <a:ext uri="{FF2B5EF4-FFF2-40B4-BE49-F238E27FC236}">
                <a16:creationId xmlns:a16="http://schemas.microsoft.com/office/drawing/2014/main" xmlns="" id="{1FF8ABB5-7698-4E7C-B5FC-77D7978DFE0B}"/>
              </a:ext>
            </a:extLst>
          </p:cNvPr>
          <p:cNvPicPr>
            <a:picLocks noChangeAspect="1"/>
          </p:cNvPicPr>
          <p:nvPr/>
        </p:nvPicPr>
        <p:blipFill>
          <a:blip r:embed="rId3"/>
          <a:stretch>
            <a:fillRect/>
          </a:stretch>
        </p:blipFill>
        <p:spPr>
          <a:xfrm>
            <a:off x="5160962" y="706706"/>
            <a:ext cx="5324475" cy="647700"/>
          </a:xfrm>
          <a:prstGeom prst="rect">
            <a:avLst/>
          </a:prstGeom>
        </p:spPr>
      </p:pic>
    </p:spTree>
    <p:extLst>
      <p:ext uri="{BB962C8B-B14F-4D97-AF65-F5344CB8AC3E}">
        <p14:creationId xmlns:p14="http://schemas.microsoft.com/office/powerpoint/2010/main" val="5677510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xmlns="" id="{E86AA74A-96D7-4D64-BFFB-67B37A2FD91E}"/>
              </a:ext>
            </a:extLst>
          </p:cNvPr>
          <p:cNvPicPr>
            <a:picLocks noChangeAspect="1"/>
          </p:cNvPicPr>
          <p:nvPr/>
        </p:nvPicPr>
        <p:blipFill>
          <a:blip r:embed="rId2"/>
          <a:stretch>
            <a:fillRect/>
          </a:stretch>
        </p:blipFill>
        <p:spPr>
          <a:xfrm>
            <a:off x="838200" y="2442575"/>
            <a:ext cx="4908008" cy="4050298"/>
          </a:xfrm>
          <a:prstGeom prst="rect">
            <a:avLst/>
          </a:prstGeom>
        </p:spPr>
      </p:pic>
      <p:sp>
        <p:nvSpPr>
          <p:cNvPr id="2" name="標題 1">
            <a:extLst>
              <a:ext uri="{FF2B5EF4-FFF2-40B4-BE49-F238E27FC236}">
                <a16:creationId xmlns:a16="http://schemas.microsoft.com/office/drawing/2014/main" xmlns="" id="{F118DB34-1C7E-4FF4-B109-A161197291F9}"/>
              </a:ext>
            </a:extLst>
          </p:cNvPr>
          <p:cNvSpPr>
            <a:spLocks noGrp="1"/>
          </p:cNvSpPr>
          <p:nvPr>
            <p:ph type="title"/>
          </p:nvPr>
        </p:nvSpPr>
        <p:spPr/>
        <p:txBody>
          <a:bodyPr/>
          <a:lstStyle/>
          <a:p>
            <a:r>
              <a:rPr lang="en-US" altLang="zh-TW" dirty="0"/>
              <a:t>Dynamic Time Warping (1/2)</a:t>
            </a:r>
            <a:endParaRPr lang="zh-TW" altLang="en-US" dirty="0"/>
          </a:p>
        </p:txBody>
      </p:sp>
      <p:sp>
        <p:nvSpPr>
          <p:cNvPr id="4" name="投影片編號版面配置區 3">
            <a:extLst>
              <a:ext uri="{FF2B5EF4-FFF2-40B4-BE49-F238E27FC236}">
                <a16:creationId xmlns:a16="http://schemas.microsoft.com/office/drawing/2014/main" xmlns="" id="{B96C0C35-FF48-4F91-9A53-D3F5BC8E51C9}"/>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5" name="內容版面配置區 4">
            <a:extLst>
              <a:ext uri="{FF2B5EF4-FFF2-40B4-BE49-F238E27FC236}">
                <a16:creationId xmlns:a16="http://schemas.microsoft.com/office/drawing/2014/main" xmlns="" id="{7F13AB30-875B-4705-A27D-348568DD9EF8}"/>
              </a:ext>
            </a:extLst>
          </p:cNvPr>
          <p:cNvPicPr>
            <a:picLocks noChangeAspect="1"/>
          </p:cNvPicPr>
          <p:nvPr/>
        </p:nvPicPr>
        <p:blipFill>
          <a:blip r:embed="rId3"/>
          <a:stretch>
            <a:fillRect/>
          </a:stretch>
        </p:blipFill>
        <p:spPr>
          <a:xfrm>
            <a:off x="6686389" y="1738275"/>
            <a:ext cx="4560283" cy="4413964"/>
          </a:xfrm>
          <a:prstGeom prst="rect">
            <a:avLst/>
          </a:prstGeo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CACF245D-1786-44AB-8162-C5424E29FF49}"/>
                  </a:ext>
                </a:extLst>
              </p:cNvPr>
              <p:cNvSpPr txBox="1"/>
              <p:nvPr/>
            </p:nvSpPr>
            <p:spPr>
              <a:xfrm>
                <a:off x="592696" y="1405442"/>
                <a:ext cx="5701689" cy="1459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𝐷𝑖𝑠𝑡</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𝐷</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e>
                            <m:e>
                              <m:r>
                                <a:rPr lang="en-US" altLang="zh-TW" sz="2400" b="0" i="1" smtClean="0">
                                  <a:latin typeface="Cambria Math" panose="02040503050406030204" pitchFamily="18" charset="0"/>
                                </a:rPr>
                                <m:t>𝐷</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𝐷</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eqArr>
                        </m:e>
                      </m:d>
                    </m:oMath>
                  </m:oMathPara>
                </a14:m>
                <a:endParaRPr lang="zh-TW" altLang="en-US" sz="2400" dirty="0"/>
              </a:p>
            </p:txBody>
          </p:sp>
        </mc:Choice>
        <mc:Fallback xmlns="">
          <p:sp>
            <p:nvSpPr>
              <p:cNvPr id="6" name="文字方塊 5">
                <a:extLst>
                  <a:ext uri="{FF2B5EF4-FFF2-40B4-BE49-F238E27FC236}">
                    <a16:creationId xmlns:a16="http://schemas.microsoft.com/office/drawing/2014/main" id="{CACF245D-1786-44AB-8162-C5424E29FF49}"/>
                  </a:ext>
                </a:extLst>
              </p:cNvPr>
              <p:cNvSpPr txBox="1">
                <a:spLocks noRot="1" noChangeAspect="1" noMove="1" noResize="1" noEditPoints="1" noAdjustHandles="1" noChangeArrowheads="1" noChangeShapeType="1" noTextEdit="1"/>
              </p:cNvSpPr>
              <p:nvPr/>
            </p:nvSpPr>
            <p:spPr>
              <a:xfrm>
                <a:off x="592696" y="1405442"/>
                <a:ext cx="5701689" cy="1459887"/>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33439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7430138-33F9-4ECF-91A8-CB835CD8F289}"/>
              </a:ext>
            </a:extLst>
          </p:cNvPr>
          <p:cNvSpPr>
            <a:spLocks noGrp="1"/>
          </p:cNvSpPr>
          <p:nvPr>
            <p:ph type="title"/>
          </p:nvPr>
        </p:nvSpPr>
        <p:spPr/>
        <p:txBody>
          <a:bodyPr/>
          <a:lstStyle/>
          <a:p>
            <a:r>
              <a:rPr lang="en-US" altLang="zh-TW" dirty="0"/>
              <a:t>Dynamic Time Warping (2/2)</a:t>
            </a:r>
            <a:endParaRPr lang="zh-TW" altLang="en-US" dirty="0"/>
          </a:p>
        </p:txBody>
      </p:sp>
      <p:sp>
        <p:nvSpPr>
          <p:cNvPr id="3" name="內容版面配置區 2">
            <a:extLst>
              <a:ext uri="{FF2B5EF4-FFF2-40B4-BE49-F238E27FC236}">
                <a16:creationId xmlns:a16="http://schemas.microsoft.com/office/drawing/2014/main" xmlns="" id="{142C0A37-3EA9-4171-82A5-2277DBA522DD}"/>
              </a:ext>
            </a:extLst>
          </p:cNvPr>
          <p:cNvSpPr>
            <a:spLocks noGrp="1"/>
          </p:cNvSpPr>
          <p:nvPr>
            <p:ph idx="1"/>
          </p:nvPr>
        </p:nvSpPr>
        <p:spPr/>
        <p:txBody>
          <a:bodyPr/>
          <a:lstStyle/>
          <a:p>
            <a:r>
              <a:rPr lang="en-US" altLang="zh-TW" dirty="0"/>
              <a:t>Two time series S</a:t>
            </a:r>
            <a:r>
              <a:rPr lang="en-US" altLang="zh-TW" baseline="-25000" dirty="0"/>
              <a:t>1</a:t>
            </a:r>
            <a:r>
              <a:rPr lang="en-US" altLang="zh-TW" dirty="0"/>
              <a:t>: </a:t>
            </a:r>
            <a:r>
              <a:rPr lang="en-US" altLang="zh-TW"/>
              <a:t>[2,1,2,1</a:t>
            </a:r>
            <a:r>
              <a:rPr lang="en-US" altLang="zh-TW" dirty="0"/>
              <a:t>], S</a:t>
            </a:r>
            <a:r>
              <a:rPr lang="en-US" altLang="zh-TW" baseline="-25000" dirty="0"/>
              <a:t>2</a:t>
            </a:r>
            <a:r>
              <a:rPr lang="en-US" altLang="zh-TW" dirty="0"/>
              <a:t>: </a:t>
            </a:r>
            <a:r>
              <a:rPr lang="en-US" altLang="zh-TW"/>
              <a:t>[1,2,1</a:t>
            </a:r>
            <a:r>
              <a:rPr lang="en-US" altLang="zh-TW" dirty="0"/>
              <a:t>]</a:t>
            </a:r>
          </a:p>
          <a:p>
            <a:endParaRPr lang="zh-TW" altLang="en-US" dirty="0"/>
          </a:p>
        </p:txBody>
      </p:sp>
      <p:sp>
        <p:nvSpPr>
          <p:cNvPr id="4" name="投影片編號版面配置區 3">
            <a:extLst>
              <a:ext uri="{FF2B5EF4-FFF2-40B4-BE49-F238E27FC236}">
                <a16:creationId xmlns:a16="http://schemas.microsoft.com/office/drawing/2014/main" xmlns="" id="{7C27C3CC-DC50-4E35-9D5C-2AE3E6DE88A2}"/>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graphicFrame>
        <p:nvGraphicFramePr>
          <p:cNvPr id="5" name="表格 4">
            <a:extLst>
              <a:ext uri="{FF2B5EF4-FFF2-40B4-BE49-F238E27FC236}">
                <a16:creationId xmlns:a16="http://schemas.microsoft.com/office/drawing/2014/main" xmlns="" id="{EC8D1AFC-2EA3-42C5-B6BE-5D0E4E7F25E4}"/>
              </a:ext>
            </a:extLst>
          </p:cNvPr>
          <p:cNvGraphicFramePr>
            <a:graphicFrameLocks noGrp="1"/>
          </p:cNvGraphicFramePr>
          <p:nvPr>
            <p:extLst>
              <p:ext uri="{D42A27DB-BD31-4B8C-83A1-F6EECF244321}">
                <p14:modId xmlns:p14="http://schemas.microsoft.com/office/powerpoint/2010/main" val="2759864176"/>
              </p:ext>
            </p:extLst>
          </p:nvPr>
        </p:nvGraphicFramePr>
        <p:xfrm>
          <a:off x="1167704" y="2537537"/>
          <a:ext cx="7273139" cy="2334916"/>
        </p:xfrm>
        <a:graphic>
          <a:graphicData uri="http://schemas.openxmlformats.org/drawingml/2006/table">
            <a:tbl>
              <a:tblPr bandRow="1">
                <a:tableStyleId>{8799B23B-EC83-4686-B30A-512413B5E67A}</a:tableStyleId>
              </a:tblPr>
              <a:tblGrid>
                <a:gridCol w="1593739">
                  <a:extLst>
                    <a:ext uri="{9D8B030D-6E8A-4147-A177-3AD203B41FA5}">
                      <a16:colId xmlns:a16="http://schemas.microsoft.com/office/drawing/2014/main" xmlns="" val="679498088"/>
                    </a:ext>
                  </a:extLst>
                </a:gridCol>
                <a:gridCol w="1419850">
                  <a:extLst>
                    <a:ext uri="{9D8B030D-6E8A-4147-A177-3AD203B41FA5}">
                      <a16:colId xmlns:a16="http://schemas.microsoft.com/office/drawing/2014/main" xmlns="" val="99152795"/>
                    </a:ext>
                  </a:extLst>
                </a:gridCol>
                <a:gridCol w="1419850">
                  <a:extLst>
                    <a:ext uri="{9D8B030D-6E8A-4147-A177-3AD203B41FA5}">
                      <a16:colId xmlns:a16="http://schemas.microsoft.com/office/drawing/2014/main" xmlns="" val="3996882705"/>
                    </a:ext>
                  </a:extLst>
                </a:gridCol>
                <a:gridCol w="1419850">
                  <a:extLst>
                    <a:ext uri="{9D8B030D-6E8A-4147-A177-3AD203B41FA5}">
                      <a16:colId xmlns:a16="http://schemas.microsoft.com/office/drawing/2014/main" xmlns="" val="3463780998"/>
                    </a:ext>
                  </a:extLst>
                </a:gridCol>
                <a:gridCol w="1419850">
                  <a:extLst>
                    <a:ext uri="{9D8B030D-6E8A-4147-A177-3AD203B41FA5}">
                      <a16:colId xmlns:a16="http://schemas.microsoft.com/office/drawing/2014/main" xmlns="" val="3434670416"/>
                    </a:ext>
                  </a:extLst>
                </a:gridCol>
              </a:tblGrid>
              <a:tr h="636757">
                <a:tc>
                  <a:txBody>
                    <a:bodyPr/>
                    <a:lstStyle/>
                    <a:p>
                      <a:r>
                        <a:rPr lang="en-US" altLang="zh-TW" dirty="0"/>
                        <a:t>S</a:t>
                      </a:r>
                      <a:r>
                        <a:rPr lang="en-US" altLang="zh-TW" baseline="-25000" dirty="0"/>
                        <a:t>1</a:t>
                      </a:r>
                      <a:r>
                        <a:rPr lang="en-US" altLang="zh-TW" dirty="0"/>
                        <a:t>               S</a:t>
                      </a:r>
                      <a:r>
                        <a:rPr lang="en-US" altLang="zh-TW" baseline="-25000" dirty="0"/>
                        <a:t>2</a:t>
                      </a:r>
                      <a:endParaRPr lang="zh-TW" altLang="en-US" baseline="-25000" dirty="0"/>
                    </a:p>
                  </a:txBody>
                  <a:tcPr>
                    <a:lnTlToBr w="12700" cap="flat" cmpd="sng" algn="ctr">
                      <a:solidFill>
                        <a:schemeClr val="tx1"/>
                      </a:solidFill>
                      <a:prstDash val="solid"/>
                      <a:round/>
                      <a:headEnd type="none" w="med" len="med"/>
                      <a:tailEnd type="none" w="med" len="med"/>
                    </a:lnTlToBr>
                    <a:noFill/>
                  </a:tcPr>
                </a:tc>
                <a:tc>
                  <a:txBody>
                    <a:bodyPr/>
                    <a:lstStyle/>
                    <a:p>
                      <a:pPr algn="ctr"/>
                      <a:r>
                        <a:rPr lang="en-US" altLang="zh-TW" dirty="0"/>
                        <a:t>2</a:t>
                      </a:r>
                      <a:endParaRPr lang="zh-TW" altLang="en-US" dirty="0"/>
                    </a:p>
                  </a:txBody>
                  <a:tcPr anchor="ctr">
                    <a:noFill/>
                  </a:tcPr>
                </a:tc>
                <a:tc>
                  <a:txBody>
                    <a:bodyPr/>
                    <a:lstStyle/>
                    <a:p>
                      <a:pPr algn="ctr"/>
                      <a:r>
                        <a:rPr lang="en-US" altLang="zh-TW" dirty="0"/>
                        <a:t>1</a:t>
                      </a:r>
                      <a:endParaRPr lang="zh-TW" altLang="en-US" dirty="0"/>
                    </a:p>
                  </a:txBody>
                  <a:tcPr anchor="ctr">
                    <a:noFill/>
                  </a:tcPr>
                </a:tc>
                <a:tc>
                  <a:txBody>
                    <a:bodyPr/>
                    <a:lstStyle/>
                    <a:p>
                      <a:pPr algn="ctr"/>
                      <a:r>
                        <a:rPr lang="en-US" altLang="zh-TW" dirty="0"/>
                        <a:t>2</a:t>
                      </a:r>
                      <a:endParaRPr lang="zh-TW" altLang="en-US" dirty="0"/>
                    </a:p>
                  </a:txBody>
                  <a:tcPr anchor="ctr">
                    <a:noFill/>
                  </a:tcPr>
                </a:tc>
                <a:tc>
                  <a:txBody>
                    <a:bodyPr/>
                    <a:lstStyle/>
                    <a:p>
                      <a:pPr algn="ctr"/>
                      <a:r>
                        <a:rPr lang="en-US" altLang="zh-TW" dirty="0"/>
                        <a:t>1</a:t>
                      </a:r>
                      <a:endParaRPr lang="zh-TW" altLang="en-US" dirty="0"/>
                    </a:p>
                  </a:txBody>
                  <a:tcPr anchor="ctr">
                    <a:noFill/>
                  </a:tcPr>
                </a:tc>
                <a:extLst>
                  <a:ext uri="{0D108BD9-81ED-4DB2-BD59-A6C34878D82A}">
                    <a16:rowId xmlns:a16="http://schemas.microsoft.com/office/drawing/2014/main" xmlns="" val="3138028324"/>
                  </a:ext>
                </a:extLst>
              </a:tr>
              <a:tr h="566053">
                <a:tc>
                  <a:txBody>
                    <a:bodyPr/>
                    <a:lstStyle/>
                    <a:p>
                      <a:pPr algn="ctr"/>
                      <a:r>
                        <a:rPr lang="en-US" altLang="zh-TW" dirty="0"/>
                        <a:t>1</a:t>
                      </a:r>
                      <a:endParaRPr lang="zh-TW" altLang="en-US" dirty="0"/>
                    </a:p>
                  </a:txBody>
                  <a:tcPr anchor="ctr">
                    <a:noFill/>
                  </a:tcPr>
                </a:tc>
                <a:tc>
                  <a:txBody>
                    <a:bodyPr/>
                    <a:lstStyle/>
                    <a:p>
                      <a:pPr algn="ctr"/>
                      <a:r>
                        <a:rPr lang="en-US" altLang="zh-TW" dirty="0"/>
                        <a:t>0+1=1</a:t>
                      </a:r>
                      <a:endParaRPr lang="zh-TW" altLang="en-US" dirty="0"/>
                    </a:p>
                  </a:txBody>
                  <a:tcPr anchor="ctr">
                    <a:solidFill>
                      <a:srgbClr val="FFFF00"/>
                    </a:solidFill>
                  </a:tcPr>
                </a:tc>
                <a:tc>
                  <a:txBody>
                    <a:bodyPr/>
                    <a:lstStyle/>
                    <a:p>
                      <a:pPr algn="ctr"/>
                      <a:r>
                        <a:rPr lang="en-US" altLang="zh-TW" dirty="0"/>
                        <a:t>0+1=1</a:t>
                      </a:r>
                      <a:endParaRPr lang="zh-TW" altLang="en-US" dirty="0"/>
                    </a:p>
                  </a:txBody>
                  <a:tcPr anchor="ctr">
                    <a:solidFill>
                      <a:srgbClr val="FFFF00"/>
                    </a:solidFill>
                  </a:tcPr>
                </a:tc>
                <a:tc>
                  <a:txBody>
                    <a:bodyPr/>
                    <a:lstStyle/>
                    <a:p>
                      <a:pPr algn="ctr"/>
                      <a:r>
                        <a:rPr lang="en-US" altLang="zh-TW" dirty="0"/>
                        <a:t>1+1=2</a:t>
                      </a:r>
                      <a:endParaRPr lang="zh-TW" altLang="en-US" dirty="0"/>
                    </a:p>
                  </a:txBody>
                  <a:tcPr anchor="ctr">
                    <a:noFill/>
                  </a:tcPr>
                </a:tc>
                <a:tc>
                  <a:txBody>
                    <a:bodyPr/>
                    <a:lstStyle/>
                    <a:p>
                      <a:pPr algn="ctr"/>
                      <a:r>
                        <a:rPr lang="en-US" altLang="zh-TW" dirty="0"/>
                        <a:t>2+0=2</a:t>
                      </a:r>
                      <a:endParaRPr lang="zh-TW" altLang="en-US" dirty="0"/>
                    </a:p>
                  </a:txBody>
                  <a:tcPr anchor="ctr">
                    <a:noFill/>
                  </a:tcPr>
                </a:tc>
                <a:extLst>
                  <a:ext uri="{0D108BD9-81ED-4DB2-BD59-A6C34878D82A}">
                    <a16:rowId xmlns:a16="http://schemas.microsoft.com/office/drawing/2014/main" xmlns="" val="3080761882"/>
                  </a:ext>
                </a:extLst>
              </a:tr>
              <a:tr h="566053">
                <a:tc>
                  <a:txBody>
                    <a:bodyPr/>
                    <a:lstStyle/>
                    <a:p>
                      <a:pPr algn="ctr"/>
                      <a:r>
                        <a:rPr lang="en-US" altLang="zh-TW" dirty="0"/>
                        <a:t>2</a:t>
                      </a:r>
                      <a:endParaRPr lang="zh-TW" altLang="en-US" dirty="0"/>
                    </a:p>
                  </a:txBody>
                  <a:tcPr anchor="ctr">
                    <a:noFill/>
                  </a:tcPr>
                </a:tc>
                <a:tc>
                  <a:txBody>
                    <a:bodyPr/>
                    <a:lstStyle/>
                    <a:p>
                      <a:pPr algn="ctr"/>
                      <a:r>
                        <a:rPr lang="en-US" altLang="zh-TW" dirty="0"/>
                        <a:t>1+0=1</a:t>
                      </a:r>
                      <a:endParaRPr lang="zh-TW" altLang="en-US" dirty="0"/>
                    </a:p>
                  </a:txBody>
                  <a:tcPr anchor="ctr">
                    <a:noFill/>
                  </a:tcPr>
                </a:tc>
                <a:tc>
                  <a:txBody>
                    <a:bodyPr/>
                    <a:lstStyle/>
                    <a:p>
                      <a:pPr algn="ctr"/>
                      <a:r>
                        <a:rPr lang="en-US" altLang="zh-TW" dirty="0"/>
                        <a:t>1+1=2</a:t>
                      </a:r>
                      <a:endParaRPr lang="zh-TW" altLang="en-US" dirty="0"/>
                    </a:p>
                  </a:txBody>
                  <a:tcPr anchor="ctr">
                    <a:noFill/>
                  </a:tcPr>
                </a:tc>
                <a:tc>
                  <a:txBody>
                    <a:bodyPr/>
                    <a:lstStyle/>
                    <a:p>
                      <a:pPr algn="ctr"/>
                      <a:r>
                        <a:rPr lang="en-US" altLang="zh-TW" dirty="0"/>
                        <a:t>0+1=1</a:t>
                      </a:r>
                      <a:endParaRPr lang="zh-TW" altLang="en-US" dirty="0"/>
                    </a:p>
                  </a:txBody>
                  <a:tcPr anchor="ctr">
                    <a:solidFill>
                      <a:srgbClr val="FFFF00"/>
                    </a:solidFill>
                  </a:tcPr>
                </a:tc>
                <a:tc>
                  <a:txBody>
                    <a:bodyPr/>
                    <a:lstStyle/>
                    <a:p>
                      <a:pPr algn="ctr"/>
                      <a:r>
                        <a:rPr lang="en-US" altLang="zh-TW" dirty="0"/>
                        <a:t>1+1=2</a:t>
                      </a:r>
                      <a:endParaRPr lang="zh-TW" altLang="en-US" dirty="0"/>
                    </a:p>
                  </a:txBody>
                  <a:tcPr anchor="ctr">
                    <a:noFill/>
                  </a:tcPr>
                </a:tc>
                <a:extLst>
                  <a:ext uri="{0D108BD9-81ED-4DB2-BD59-A6C34878D82A}">
                    <a16:rowId xmlns:a16="http://schemas.microsoft.com/office/drawing/2014/main" xmlns="" val="48144143"/>
                  </a:ext>
                </a:extLst>
              </a:tr>
              <a:tr h="566053">
                <a:tc>
                  <a:txBody>
                    <a:bodyPr/>
                    <a:lstStyle/>
                    <a:p>
                      <a:pPr algn="ctr"/>
                      <a:r>
                        <a:rPr lang="en-US" altLang="zh-TW" dirty="0"/>
                        <a:t>1</a:t>
                      </a:r>
                      <a:endParaRPr lang="zh-TW" altLang="en-US" dirty="0"/>
                    </a:p>
                  </a:txBody>
                  <a:tcPr anchor="ctr"/>
                </a:tc>
                <a:tc>
                  <a:txBody>
                    <a:bodyPr/>
                    <a:lstStyle/>
                    <a:p>
                      <a:pPr algn="ctr"/>
                      <a:r>
                        <a:rPr lang="en-US" altLang="zh-TW" dirty="0"/>
                        <a:t>1+1=2</a:t>
                      </a:r>
                      <a:endParaRPr lang="zh-TW" altLang="en-US" dirty="0"/>
                    </a:p>
                  </a:txBody>
                  <a:tcPr anchor="ctr">
                    <a:noFill/>
                  </a:tcPr>
                </a:tc>
                <a:tc>
                  <a:txBody>
                    <a:bodyPr/>
                    <a:lstStyle/>
                    <a:p>
                      <a:pPr algn="ctr"/>
                      <a:r>
                        <a:rPr lang="en-US" altLang="zh-TW" dirty="0"/>
                        <a:t>0+1=1</a:t>
                      </a:r>
                      <a:endParaRPr lang="zh-TW" altLang="en-US" dirty="0"/>
                    </a:p>
                  </a:txBody>
                  <a:tcPr anchor="ctr"/>
                </a:tc>
                <a:tc>
                  <a:txBody>
                    <a:bodyPr/>
                    <a:lstStyle/>
                    <a:p>
                      <a:pPr algn="ctr"/>
                      <a:r>
                        <a:rPr lang="en-US" altLang="zh-TW" dirty="0"/>
                        <a:t>1+1=2</a:t>
                      </a:r>
                      <a:endParaRPr lang="zh-TW" altLang="en-US" dirty="0"/>
                    </a:p>
                  </a:txBody>
                  <a:tcPr anchor="ctr"/>
                </a:tc>
                <a:tc>
                  <a:txBody>
                    <a:bodyPr/>
                    <a:lstStyle/>
                    <a:p>
                      <a:pPr algn="ctr"/>
                      <a:r>
                        <a:rPr lang="en-US" altLang="zh-TW" dirty="0"/>
                        <a:t>0+1=1</a:t>
                      </a:r>
                      <a:endParaRPr lang="zh-TW" altLang="en-US" dirty="0"/>
                    </a:p>
                  </a:txBody>
                  <a:tcPr anchor="ctr">
                    <a:solidFill>
                      <a:srgbClr val="FFFF00"/>
                    </a:solidFill>
                  </a:tcPr>
                </a:tc>
                <a:extLst>
                  <a:ext uri="{0D108BD9-81ED-4DB2-BD59-A6C34878D82A}">
                    <a16:rowId xmlns:a16="http://schemas.microsoft.com/office/drawing/2014/main" xmlns="" val="3168182252"/>
                  </a:ext>
                </a:extLst>
              </a:tr>
            </a:tbl>
          </a:graphicData>
        </a:graphic>
      </p:graphicFrame>
    </p:spTree>
    <p:extLst>
      <p:ext uri="{BB962C8B-B14F-4D97-AF65-F5344CB8AC3E}">
        <p14:creationId xmlns:p14="http://schemas.microsoft.com/office/powerpoint/2010/main" val="3420660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xmlns="" id="{0BF21394-510A-4937-B6AD-F40C9DB68E6C}"/>
              </a:ext>
            </a:extLst>
          </p:cNvPr>
          <p:cNvPicPr>
            <a:picLocks noChangeAspect="1"/>
          </p:cNvPicPr>
          <p:nvPr/>
        </p:nvPicPr>
        <p:blipFill>
          <a:blip r:embed="rId2"/>
          <a:stretch>
            <a:fillRect/>
          </a:stretch>
        </p:blipFill>
        <p:spPr>
          <a:xfrm>
            <a:off x="5910146" y="4571999"/>
            <a:ext cx="4207913" cy="2035175"/>
          </a:xfrm>
          <a:prstGeom prst="rect">
            <a:avLst/>
          </a:prstGeom>
        </p:spPr>
      </p:pic>
      <p:sp>
        <p:nvSpPr>
          <p:cNvPr id="2" name="標題 1">
            <a:extLst>
              <a:ext uri="{FF2B5EF4-FFF2-40B4-BE49-F238E27FC236}">
                <a16:creationId xmlns:a16="http://schemas.microsoft.com/office/drawing/2014/main" xmlns="" id="{A74AB722-00E6-40EE-A4E5-5CE22437A1A3}"/>
              </a:ext>
            </a:extLst>
          </p:cNvPr>
          <p:cNvSpPr>
            <a:spLocks noGrp="1"/>
          </p:cNvSpPr>
          <p:nvPr>
            <p:ph type="title"/>
          </p:nvPr>
        </p:nvSpPr>
        <p:spPr/>
        <p:txBody>
          <a:bodyPr/>
          <a:lstStyle/>
          <a:p>
            <a:r>
              <a:rPr lang="en-US" altLang="zh-TW" dirty="0"/>
              <a:t>K-means</a:t>
            </a:r>
            <a:r>
              <a:rPr lang="zh-TW" altLang="en-US" dirty="0"/>
              <a:t> </a:t>
            </a:r>
            <a:r>
              <a:rPr lang="en-US" altLang="zh-TW" dirty="0"/>
              <a:t>&amp;</a:t>
            </a:r>
            <a:r>
              <a:rPr lang="zh-TW" altLang="en-US" dirty="0"/>
              <a:t> </a:t>
            </a:r>
            <a:r>
              <a:rPr lang="en-US" altLang="zh-TW" dirty="0" smtClean="0"/>
              <a:t>K-</a:t>
            </a:r>
            <a:r>
              <a:rPr lang="en-US" altLang="zh-TW" dirty="0" err="1" smtClean="0"/>
              <a:t>medoids</a:t>
            </a:r>
            <a:endParaRPr lang="zh-TW" altLang="en-US" dirty="0"/>
          </a:p>
        </p:txBody>
      </p:sp>
      <p:sp>
        <p:nvSpPr>
          <p:cNvPr id="3" name="內容版面配置區 2">
            <a:extLst>
              <a:ext uri="{FF2B5EF4-FFF2-40B4-BE49-F238E27FC236}">
                <a16:creationId xmlns:a16="http://schemas.microsoft.com/office/drawing/2014/main" xmlns="" id="{57212C19-0C46-4929-BFE0-6AEBF44BBFB7}"/>
              </a:ext>
            </a:extLst>
          </p:cNvPr>
          <p:cNvSpPr>
            <a:spLocks noGrp="1"/>
          </p:cNvSpPr>
          <p:nvPr>
            <p:ph idx="1"/>
          </p:nvPr>
        </p:nvSpPr>
        <p:spPr>
          <a:xfrm>
            <a:off x="594360" y="1950719"/>
            <a:ext cx="11170920" cy="4542153"/>
          </a:xfrm>
        </p:spPr>
        <p:txBody>
          <a:bodyPr>
            <a:normAutofit/>
          </a:bodyPr>
          <a:lstStyle/>
          <a:p>
            <a:pPr marL="514350" indent="-514350">
              <a:buFont typeface="+mj-lt"/>
              <a:buAutoNum type="arabicPeriod"/>
            </a:pPr>
            <a:r>
              <a:rPr lang="zh-TW" altLang="en-US" dirty="0"/>
              <a:t>隨機選</a:t>
            </a:r>
            <a:r>
              <a:rPr lang="en-US" altLang="zh-TW" dirty="0">
                <a:solidFill>
                  <a:srgbClr val="FF0000"/>
                </a:solidFill>
              </a:rPr>
              <a:t>K</a:t>
            </a:r>
            <a:r>
              <a:rPr lang="zh-TW" altLang="en-US" dirty="0">
                <a:solidFill>
                  <a:srgbClr val="FF0000"/>
                </a:solidFill>
              </a:rPr>
              <a:t>個質心的值</a:t>
            </a:r>
            <a:r>
              <a:rPr lang="en-US" altLang="zh-TW" dirty="0"/>
              <a:t>-</a:t>
            </a:r>
            <a:r>
              <a:rPr lang="en-US" altLang="zh-TW" b="1" dirty="0"/>
              <a:t>K-means </a:t>
            </a:r>
            <a:r>
              <a:rPr lang="en-US" altLang="zh-TW" b="1" dirty="0" err="1"/>
              <a:t>v.s</a:t>
            </a:r>
            <a:r>
              <a:rPr lang="en-US" altLang="zh-TW" b="1" dirty="0"/>
              <a:t>. </a:t>
            </a:r>
            <a:r>
              <a:rPr lang="zh-TW" altLang="en-US" dirty="0"/>
              <a:t>隨機選</a:t>
            </a:r>
            <a:r>
              <a:rPr lang="en-US" altLang="zh-TW" dirty="0">
                <a:solidFill>
                  <a:srgbClr val="FF0000"/>
                </a:solidFill>
              </a:rPr>
              <a:t>K</a:t>
            </a:r>
            <a:r>
              <a:rPr lang="zh-TW" altLang="en-US" dirty="0">
                <a:solidFill>
                  <a:srgbClr val="FF0000"/>
                </a:solidFill>
              </a:rPr>
              <a:t>個點當質心</a:t>
            </a:r>
            <a:r>
              <a:rPr lang="en-US" altLang="zh-TW" dirty="0"/>
              <a:t>-</a:t>
            </a:r>
            <a:r>
              <a:rPr lang="en-US" altLang="zh-TW" b="1" dirty="0" smtClean="0"/>
              <a:t>K-</a:t>
            </a:r>
            <a:r>
              <a:rPr lang="en-US" altLang="zh-TW" b="1" dirty="0" err="1" smtClean="0"/>
              <a:t>medoids</a:t>
            </a:r>
            <a:endParaRPr lang="en-US" altLang="zh-TW" dirty="0"/>
          </a:p>
          <a:p>
            <a:pPr marL="514350" indent="-514350">
              <a:buFont typeface="+mj-lt"/>
              <a:buAutoNum type="arabicPeriod"/>
            </a:pPr>
            <a:r>
              <a:rPr lang="zh-TW" altLang="en-US" dirty="0"/>
              <a:t>計算各點到質心的距離</a:t>
            </a:r>
            <a:endParaRPr lang="en-US" altLang="zh-TW" dirty="0"/>
          </a:p>
          <a:p>
            <a:pPr marL="514350" indent="-514350">
              <a:buFont typeface="+mj-lt"/>
              <a:buAutoNum type="arabicPeriod"/>
            </a:pPr>
            <a:r>
              <a:rPr lang="zh-TW" altLang="en-US" dirty="0"/>
              <a:t>將點依離它最近的質心，分成</a:t>
            </a:r>
            <a:r>
              <a:rPr lang="en-US" altLang="zh-TW" dirty="0"/>
              <a:t>K</a:t>
            </a:r>
            <a:r>
              <a:rPr lang="zh-TW" altLang="en-US" dirty="0"/>
              <a:t>群</a:t>
            </a:r>
            <a:endParaRPr lang="en-US" altLang="zh-TW" dirty="0"/>
          </a:p>
          <a:p>
            <a:pPr marL="514350" indent="-514350">
              <a:buFont typeface="+mj-lt"/>
              <a:buAutoNum type="arabicPeriod"/>
            </a:pPr>
            <a:r>
              <a:rPr lang="zh-TW" altLang="en-US" dirty="0"/>
              <a:t>依分好的群，在每個群中重新計算質心</a:t>
            </a:r>
            <a:endParaRPr lang="en-US" altLang="zh-TW" dirty="0"/>
          </a:p>
          <a:p>
            <a:pPr marL="514350" indent="-514350">
              <a:buFont typeface="+mj-lt"/>
              <a:buAutoNum type="arabicPeriod"/>
            </a:pPr>
            <a:r>
              <a:rPr lang="zh-TW" altLang="en-US" dirty="0"/>
              <a:t>重複做</a:t>
            </a:r>
            <a:r>
              <a:rPr lang="en-US" altLang="zh-TW" dirty="0"/>
              <a:t>2~4</a:t>
            </a:r>
            <a:r>
              <a:rPr lang="zh-TW" altLang="en-US" dirty="0"/>
              <a:t>值到滿足迭代次數或誤差小於指定值</a:t>
            </a:r>
            <a:endParaRPr lang="en-US" altLang="zh-TW" dirty="0"/>
          </a:p>
          <a:p>
            <a:pPr marL="514350" indent="-514350">
              <a:buFont typeface="+mj-lt"/>
              <a:buAutoNum type="arabicPeriod"/>
            </a:pPr>
            <a:endParaRPr lang="zh-TW" altLang="en-US" dirty="0"/>
          </a:p>
        </p:txBody>
      </p:sp>
      <p:sp>
        <p:nvSpPr>
          <p:cNvPr id="4" name="投影片編號版面配置區 3">
            <a:extLst>
              <a:ext uri="{FF2B5EF4-FFF2-40B4-BE49-F238E27FC236}">
                <a16:creationId xmlns:a16="http://schemas.microsoft.com/office/drawing/2014/main" xmlns="" id="{BF3EE481-D8AE-4E3A-9F6A-38B734262561}"/>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Tree>
    <p:extLst>
      <p:ext uri="{BB962C8B-B14F-4D97-AF65-F5344CB8AC3E}">
        <p14:creationId xmlns:p14="http://schemas.microsoft.com/office/powerpoint/2010/main" val="35851495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439C3B7-1466-4834-8A72-8D681B31BD45}"/>
              </a:ext>
            </a:extLst>
          </p:cNvPr>
          <p:cNvSpPr>
            <a:spLocks noGrp="1"/>
          </p:cNvSpPr>
          <p:nvPr>
            <p:ph type="title"/>
          </p:nvPr>
        </p:nvSpPr>
        <p:spPr>
          <a:xfrm>
            <a:off x="263047" y="365127"/>
            <a:ext cx="11786991" cy="1325563"/>
          </a:xfrm>
        </p:spPr>
        <p:txBody>
          <a:bodyPr>
            <a:normAutofit/>
          </a:bodyPr>
          <a:lstStyle/>
          <a:p>
            <a:r>
              <a:rPr lang="en-US" altLang="zh-TW" dirty="0"/>
              <a:t>Fuzzy C-means &amp; C-</a:t>
            </a:r>
            <a:r>
              <a:rPr lang="en-US" altLang="zh-TW" dirty="0" err="1"/>
              <a:t>medodis</a:t>
            </a:r>
            <a:r>
              <a:rPr lang="en-US" altLang="zh-TW" dirty="0"/>
              <a:t> of time series</a:t>
            </a:r>
            <a:endParaRPr lang="zh-TW" altLang="en-US" dirty="0"/>
          </a:p>
        </p:txBody>
      </p:sp>
      <p:pic>
        <p:nvPicPr>
          <p:cNvPr id="5" name="內容版面配置區 4">
            <a:extLst>
              <a:ext uri="{FF2B5EF4-FFF2-40B4-BE49-F238E27FC236}">
                <a16:creationId xmlns:a16="http://schemas.microsoft.com/office/drawing/2014/main" xmlns="" id="{1697DC9E-EF8B-43CA-BAEB-A04AEE961F49}"/>
              </a:ext>
            </a:extLst>
          </p:cNvPr>
          <p:cNvPicPr>
            <a:picLocks noGrp="1" noChangeAspect="1"/>
          </p:cNvPicPr>
          <p:nvPr>
            <p:ph idx="1"/>
          </p:nvPr>
        </p:nvPicPr>
        <p:blipFill>
          <a:blip r:embed="rId2"/>
          <a:stretch>
            <a:fillRect/>
          </a:stretch>
        </p:blipFill>
        <p:spPr>
          <a:xfrm>
            <a:off x="848602" y="4717426"/>
            <a:ext cx="7054686" cy="1325562"/>
          </a:xfrm>
          <a:prstGeom prst="rect">
            <a:avLst/>
          </a:prstGeom>
        </p:spPr>
      </p:pic>
      <p:sp>
        <p:nvSpPr>
          <p:cNvPr id="4" name="投影片編號版面配置區 3">
            <a:extLst>
              <a:ext uri="{FF2B5EF4-FFF2-40B4-BE49-F238E27FC236}">
                <a16:creationId xmlns:a16="http://schemas.microsoft.com/office/drawing/2014/main" xmlns="" id="{542DC90B-C110-400E-8EC5-22E25F5A1B7B}"/>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6" name="圖片 5">
            <a:extLst>
              <a:ext uri="{FF2B5EF4-FFF2-40B4-BE49-F238E27FC236}">
                <a16:creationId xmlns:a16="http://schemas.microsoft.com/office/drawing/2014/main" xmlns="" id="{ECBDA8BF-E0C2-4ABE-976F-92C883762188}"/>
              </a:ext>
            </a:extLst>
          </p:cNvPr>
          <p:cNvPicPr>
            <a:picLocks noChangeAspect="1"/>
          </p:cNvPicPr>
          <p:nvPr/>
        </p:nvPicPr>
        <p:blipFill>
          <a:blip r:embed="rId3"/>
          <a:stretch>
            <a:fillRect/>
          </a:stretch>
        </p:blipFill>
        <p:spPr>
          <a:xfrm>
            <a:off x="848602" y="1939725"/>
            <a:ext cx="3700724" cy="1416327"/>
          </a:xfrm>
          <a:prstGeom prst="rect">
            <a:avLst/>
          </a:prstGeom>
          <a:ln>
            <a:solidFill>
              <a:srgbClr val="FF0000"/>
            </a:solidFill>
          </a:ln>
        </p:spPr>
      </p:pic>
      <p:pic>
        <p:nvPicPr>
          <p:cNvPr id="7" name="圖片 6">
            <a:extLst>
              <a:ext uri="{FF2B5EF4-FFF2-40B4-BE49-F238E27FC236}">
                <a16:creationId xmlns:a16="http://schemas.microsoft.com/office/drawing/2014/main" xmlns="" id="{BC948D4F-CA7B-4BA1-97B0-E6928F1249D9}"/>
              </a:ext>
            </a:extLst>
          </p:cNvPr>
          <p:cNvPicPr>
            <a:picLocks noChangeAspect="1"/>
          </p:cNvPicPr>
          <p:nvPr/>
        </p:nvPicPr>
        <p:blipFill>
          <a:blip r:embed="rId4"/>
          <a:stretch>
            <a:fillRect/>
          </a:stretch>
        </p:blipFill>
        <p:spPr>
          <a:xfrm>
            <a:off x="5841593" y="4495379"/>
            <a:ext cx="4623227" cy="1769656"/>
          </a:xfrm>
          <a:prstGeom prst="rect">
            <a:avLst/>
          </a:prstGeom>
        </p:spPr>
      </p:pic>
      <p:pic>
        <p:nvPicPr>
          <p:cNvPr id="8" name="圖片 7">
            <a:extLst>
              <a:ext uri="{FF2B5EF4-FFF2-40B4-BE49-F238E27FC236}">
                <a16:creationId xmlns:a16="http://schemas.microsoft.com/office/drawing/2014/main" xmlns="" id="{30482C88-A36E-4A09-8D78-179764EA7D32}"/>
              </a:ext>
            </a:extLst>
          </p:cNvPr>
          <p:cNvPicPr>
            <a:picLocks noChangeAspect="1"/>
          </p:cNvPicPr>
          <p:nvPr/>
        </p:nvPicPr>
        <p:blipFill>
          <a:blip r:embed="rId5"/>
          <a:stretch>
            <a:fillRect/>
          </a:stretch>
        </p:blipFill>
        <p:spPr>
          <a:xfrm>
            <a:off x="5072902" y="1912736"/>
            <a:ext cx="5198858" cy="2211455"/>
          </a:xfrm>
          <a:prstGeom prst="rect">
            <a:avLst/>
          </a:prstGeom>
          <a:ln>
            <a:solidFill>
              <a:srgbClr val="0070C0"/>
            </a:solidFill>
          </a:ln>
        </p:spPr>
      </p:pic>
      <p:cxnSp>
        <p:nvCxnSpPr>
          <p:cNvPr id="10" name="直線單箭頭接點 9">
            <a:extLst>
              <a:ext uri="{FF2B5EF4-FFF2-40B4-BE49-F238E27FC236}">
                <a16:creationId xmlns:a16="http://schemas.microsoft.com/office/drawing/2014/main" xmlns="" id="{5FA8BDAD-01E2-4C82-AAA0-2AED947CFE60}"/>
              </a:ext>
            </a:extLst>
          </p:cNvPr>
          <p:cNvCxnSpPr/>
          <p:nvPr/>
        </p:nvCxnSpPr>
        <p:spPr>
          <a:xfrm>
            <a:off x="5841593" y="1310640"/>
            <a:ext cx="254407" cy="602097"/>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xmlns="" id="{5D96CBCA-A19E-4958-87DA-48AA5EAF3EF1}"/>
              </a:ext>
            </a:extLst>
          </p:cNvPr>
          <p:cNvCxnSpPr>
            <a:cxnSpLocks/>
            <a:endCxn id="6" idx="0"/>
          </p:cNvCxnSpPr>
          <p:nvPr/>
        </p:nvCxnSpPr>
        <p:spPr>
          <a:xfrm flipH="1">
            <a:off x="2698964" y="1310639"/>
            <a:ext cx="226154" cy="6290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2790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636022B-4FE8-4E20-AC27-19FEDAAA324B}"/>
              </a:ext>
            </a:extLst>
          </p:cNvPr>
          <p:cNvSpPr>
            <a:spLocks noGrp="1"/>
          </p:cNvSpPr>
          <p:nvPr>
            <p:ph type="title"/>
          </p:nvPr>
        </p:nvSpPr>
        <p:spPr/>
        <p:txBody>
          <a:bodyPr/>
          <a:lstStyle/>
          <a:p>
            <a:r>
              <a:rPr lang="en-US" altLang="zh-TW" dirty="0"/>
              <a:t>Hybrid FCM &amp; </a:t>
            </a:r>
            <a:r>
              <a:rPr lang="en-US" altLang="zh-TW" dirty="0" err="1"/>
              <a:t>FCMdd</a:t>
            </a:r>
            <a:r>
              <a:rPr lang="en-US" altLang="zh-TW" dirty="0"/>
              <a:t> of time series</a:t>
            </a:r>
            <a:endParaRPr lang="zh-TW" altLang="en-US" dirty="0"/>
          </a:p>
        </p:txBody>
      </p:sp>
      <p:pic>
        <p:nvPicPr>
          <p:cNvPr id="5" name="內容版面配置區 4">
            <a:extLst>
              <a:ext uri="{FF2B5EF4-FFF2-40B4-BE49-F238E27FC236}">
                <a16:creationId xmlns:a16="http://schemas.microsoft.com/office/drawing/2014/main" xmlns="" id="{C8C5170F-C1C3-41E1-A6F2-4760E81FB883}"/>
              </a:ext>
            </a:extLst>
          </p:cNvPr>
          <p:cNvPicPr>
            <a:picLocks noGrp="1" noChangeAspect="1"/>
          </p:cNvPicPr>
          <p:nvPr>
            <p:ph idx="1"/>
          </p:nvPr>
        </p:nvPicPr>
        <p:blipFill>
          <a:blip r:embed="rId2"/>
          <a:stretch>
            <a:fillRect/>
          </a:stretch>
        </p:blipFill>
        <p:spPr>
          <a:xfrm>
            <a:off x="990297" y="1747388"/>
            <a:ext cx="9659980" cy="4552266"/>
          </a:xfrm>
          <a:prstGeom prst="rect">
            <a:avLst/>
          </a:prstGeom>
        </p:spPr>
      </p:pic>
      <p:sp>
        <p:nvSpPr>
          <p:cNvPr id="4" name="投影片編號版面配置區 3">
            <a:extLst>
              <a:ext uri="{FF2B5EF4-FFF2-40B4-BE49-F238E27FC236}">
                <a16:creationId xmlns:a16="http://schemas.microsoft.com/office/drawing/2014/main" xmlns="" id="{791137E1-B055-4B39-802A-D25FCE256F47}"/>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spTree>
    <p:extLst>
      <p:ext uri="{BB962C8B-B14F-4D97-AF65-F5344CB8AC3E}">
        <p14:creationId xmlns:p14="http://schemas.microsoft.com/office/powerpoint/2010/main" val="2772171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a:xfrm>
            <a:off x="313037" y="365127"/>
            <a:ext cx="11640065" cy="1325563"/>
          </a:xfrm>
        </p:spPr>
        <p:txBody>
          <a:bodyPr/>
          <a:lstStyle/>
          <a:p>
            <a:r>
              <a:rPr lang="en-US" altLang="zh-TW" dirty="0"/>
              <a:t>UCR</a:t>
            </a:r>
            <a:r>
              <a:rPr lang="zh-TW" altLang="en-US" dirty="0"/>
              <a:t> </a:t>
            </a:r>
            <a:r>
              <a:rPr lang="en-US" altLang="zh-TW" dirty="0"/>
              <a:t>time series selected for experimental studies</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8" name="內容版面配置區 7">
            <a:extLst>
              <a:ext uri="{FF2B5EF4-FFF2-40B4-BE49-F238E27FC236}">
                <a16:creationId xmlns:a16="http://schemas.microsoft.com/office/drawing/2014/main" xmlns="" id="{CEF0B8F0-4B77-406A-A4D2-106A865406D7}"/>
              </a:ext>
            </a:extLst>
          </p:cNvPr>
          <p:cNvPicPr>
            <a:picLocks noGrp="1" noChangeAspect="1"/>
          </p:cNvPicPr>
          <p:nvPr>
            <p:ph idx="1"/>
          </p:nvPr>
        </p:nvPicPr>
        <p:blipFill>
          <a:blip r:embed="rId2"/>
          <a:stretch>
            <a:fillRect/>
          </a:stretch>
        </p:blipFill>
        <p:spPr>
          <a:xfrm>
            <a:off x="838200" y="1850522"/>
            <a:ext cx="8275320" cy="4154480"/>
          </a:xfrm>
          <a:prstGeom prst="rect">
            <a:avLst/>
          </a:prstGeom>
        </p:spPr>
      </p:pic>
    </p:spTree>
    <p:extLst>
      <p:ext uri="{BB962C8B-B14F-4D97-AF65-F5344CB8AC3E}">
        <p14:creationId xmlns:p14="http://schemas.microsoft.com/office/powerpoint/2010/main" val="1530980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a:xfrm>
            <a:off x="838200" y="365127"/>
            <a:ext cx="10515600" cy="1325563"/>
          </a:xfrm>
        </p:spPr>
        <p:txBody>
          <a:bodyPr/>
          <a:lstStyle/>
          <a:p>
            <a:r>
              <a:rPr lang="en-US" altLang="zh-TW" dirty="0"/>
              <a:t>Example time series of CBF</a:t>
            </a:r>
            <a:r>
              <a:rPr lang="zh-TW" altLang="en-US" dirty="0"/>
              <a:t> </a:t>
            </a:r>
            <a:r>
              <a:rPr lang="en-US" altLang="zh-TW" dirty="0"/>
              <a:t>&amp;</a:t>
            </a:r>
            <a:r>
              <a:rPr lang="zh-TW" altLang="en-US" dirty="0"/>
              <a:t> </a:t>
            </a:r>
            <a:r>
              <a:rPr lang="en-US" altLang="zh-TW" dirty="0"/>
              <a:t>synthetic control dataset</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pic>
        <p:nvPicPr>
          <p:cNvPr id="6" name="內容版面配置區 5">
            <a:extLst>
              <a:ext uri="{FF2B5EF4-FFF2-40B4-BE49-F238E27FC236}">
                <a16:creationId xmlns:a16="http://schemas.microsoft.com/office/drawing/2014/main" xmlns="" id="{380785F9-5590-4FFD-A567-CF54A73D3CCF}"/>
              </a:ext>
            </a:extLst>
          </p:cNvPr>
          <p:cNvPicPr>
            <a:picLocks noGrp="1" noChangeAspect="1"/>
          </p:cNvPicPr>
          <p:nvPr>
            <p:ph idx="1"/>
          </p:nvPr>
        </p:nvPicPr>
        <p:blipFill>
          <a:blip r:embed="rId2"/>
          <a:stretch>
            <a:fillRect/>
          </a:stretch>
        </p:blipFill>
        <p:spPr>
          <a:xfrm>
            <a:off x="516844" y="1858559"/>
            <a:ext cx="5533926" cy="4329924"/>
          </a:xfrm>
          <a:prstGeom prst="rect">
            <a:avLst/>
          </a:prstGeom>
        </p:spPr>
      </p:pic>
      <p:pic>
        <p:nvPicPr>
          <p:cNvPr id="9" name="內容版面配置區 6">
            <a:extLst>
              <a:ext uri="{FF2B5EF4-FFF2-40B4-BE49-F238E27FC236}">
                <a16:creationId xmlns:a16="http://schemas.microsoft.com/office/drawing/2014/main" xmlns="" id="{2C11C5AB-FDFF-46DD-8B92-904B76A79639}"/>
              </a:ext>
            </a:extLst>
          </p:cNvPr>
          <p:cNvPicPr>
            <a:picLocks noChangeAspect="1"/>
          </p:cNvPicPr>
          <p:nvPr/>
        </p:nvPicPr>
        <p:blipFill>
          <a:blip r:embed="rId3"/>
          <a:stretch>
            <a:fillRect/>
          </a:stretch>
        </p:blipFill>
        <p:spPr>
          <a:xfrm>
            <a:off x="6572486" y="1767085"/>
            <a:ext cx="4781314" cy="4589267"/>
          </a:xfrm>
          <a:prstGeom prst="rect">
            <a:avLst/>
          </a:prstGeom>
        </p:spPr>
      </p:pic>
    </p:spTree>
    <p:extLst>
      <p:ext uri="{BB962C8B-B14F-4D97-AF65-F5344CB8AC3E}">
        <p14:creationId xmlns:p14="http://schemas.microsoft.com/office/powerpoint/2010/main" val="845177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p:txBody>
          <a:bodyPr/>
          <a:lstStyle/>
          <a:p>
            <a:r>
              <a:rPr lang="en-US" altLang="zh-TW" dirty="0"/>
              <a:t>Example time series of trace dataset</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pic>
        <p:nvPicPr>
          <p:cNvPr id="9" name="內容版面配置區 8">
            <a:extLst>
              <a:ext uri="{FF2B5EF4-FFF2-40B4-BE49-F238E27FC236}">
                <a16:creationId xmlns:a16="http://schemas.microsoft.com/office/drawing/2014/main" xmlns="" id="{FE972A47-6560-451C-8C99-6C90897A50A2}"/>
              </a:ext>
            </a:extLst>
          </p:cNvPr>
          <p:cNvPicPr>
            <a:picLocks noGrp="1" noChangeAspect="1"/>
          </p:cNvPicPr>
          <p:nvPr>
            <p:ph idx="1"/>
          </p:nvPr>
        </p:nvPicPr>
        <p:blipFill>
          <a:blip r:embed="rId2"/>
          <a:stretch>
            <a:fillRect/>
          </a:stretch>
        </p:blipFill>
        <p:spPr>
          <a:xfrm>
            <a:off x="2468215" y="1689999"/>
            <a:ext cx="7255570" cy="4667045"/>
          </a:xfrm>
          <a:prstGeom prst="rect">
            <a:avLst/>
          </a:prstGeom>
        </p:spPr>
      </p:pic>
    </p:spTree>
    <p:extLst>
      <p:ext uri="{BB962C8B-B14F-4D97-AF65-F5344CB8AC3E}">
        <p14:creationId xmlns:p14="http://schemas.microsoft.com/office/powerpoint/2010/main" val="327199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p:txBody>
          <a:bodyPr/>
          <a:lstStyle/>
          <a:p>
            <a:r>
              <a:rPr lang="en-US" altLang="zh-TW" dirty="0"/>
              <a:t>Prototypes of the CBF dataset</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6" name="內容版面配置區 5">
            <a:extLst>
              <a:ext uri="{FF2B5EF4-FFF2-40B4-BE49-F238E27FC236}">
                <a16:creationId xmlns:a16="http://schemas.microsoft.com/office/drawing/2014/main" xmlns="" id="{BEB48B42-51D1-4C57-8E81-EEFDC7B8992F}"/>
              </a:ext>
            </a:extLst>
          </p:cNvPr>
          <p:cNvPicPr>
            <a:picLocks noGrp="1" noChangeAspect="1"/>
          </p:cNvPicPr>
          <p:nvPr>
            <p:ph idx="1"/>
          </p:nvPr>
        </p:nvPicPr>
        <p:blipFill>
          <a:blip r:embed="rId2"/>
          <a:stretch>
            <a:fillRect/>
          </a:stretch>
        </p:blipFill>
        <p:spPr>
          <a:xfrm>
            <a:off x="2987506" y="1658245"/>
            <a:ext cx="6552734" cy="4951827"/>
          </a:xfrm>
          <a:prstGeom prst="rect">
            <a:avLst/>
          </a:prstGeom>
        </p:spPr>
      </p:pic>
    </p:spTree>
    <p:extLst>
      <p:ext uri="{BB962C8B-B14F-4D97-AF65-F5344CB8AC3E}">
        <p14:creationId xmlns:p14="http://schemas.microsoft.com/office/powerpoint/2010/main" val="3207673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p:txBody>
          <a:bodyPr/>
          <a:lstStyle/>
          <a:p>
            <a:r>
              <a:rPr lang="en-US" altLang="zh-TW" dirty="0"/>
              <a:t>Prototypes of the Synthetic control dataset</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14</a:t>
            </a:fld>
            <a:endParaRPr lang="zh-TW" altLang="en-US"/>
          </a:p>
        </p:txBody>
      </p:sp>
      <p:pic>
        <p:nvPicPr>
          <p:cNvPr id="10" name="內容版面配置區 9">
            <a:extLst>
              <a:ext uri="{FF2B5EF4-FFF2-40B4-BE49-F238E27FC236}">
                <a16:creationId xmlns:a16="http://schemas.microsoft.com/office/drawing/2014/main" xmlns="" id="{BF72A0D9-2B1A-4606-AF9B-713BE439377D}"/>
              </a:ext>
            </a:extLst>
          </p:cNvPr>
          <p:cNvPicPr>
            <a:picLocks noGrp="1" noChangeAspect="1"/>
          </p:cNvPicPr>
          <p:nvPr>
            <p:ph idx="1"/>
          </p:nvPr>
        </p:nvPicPr>
        <p:blipFill>
          <a:blip r:embed="rId2"/>
          <a:stretch>
            <a:fillRect/>
          </a:stretch>
        </p:blipFill>
        <p:spPr>
          <a:xfrm>
            <a:off x="1423987" y="1711956"/>
            <a:ext cx="9344025" cy="4780917"/>
          </a:xfrm>
          <a:prstGeom prst="rect">
            <a:avLst/>
          </a:prstGeom>
        </p:spPr>
      </p:pic>
    </p:spTree>
    <p:extLst>
      <p:ext uri="{BB962C8B-B14F-4D97-AF65-F5344CB8AC3E}">
        <p14:creationId xmlns:p14="http://schemas.microsoft.com/office/powerpoint/2010/main" val="3597940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p:txBody>
          <a:bodyPr/>
          <a:lstStyle/>
          <a:p>
            <a:r>
              <a:rPr lang="en-US" altLang="zh-TW" dirty="0"/>
              <a:t>Prototypes of the Trace dataset</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15</a:t>
            </a:fld>
            <a:endParaRPr lang="zh-TW" altLang="en-US"/>
          </a:p>
        </p:txBody>
      </p:sp>
      <p:pic>
        <p:nvPicPr>
          <p:cNvPr id="6" name="內容版面配置區 5">
            <a:extLst>
              <a:ext uri="{FF2B5EF4-FFF2-40B4-BE49-F238E27FC236}">
                <a16:creationId xmlns:a16="http://schemas.microsoft.com/office/drawing/2014/main" xmlns="" id="{5499C607-6749-4803-B3FA-385755544C04}"/>
              </a:ext>
            </a:extLst>
          </p:cNvPr>
          <p:cNvPicPr>
            <a:picLocks noGrp="1" noChangeAspect="1"/>
          </p:cNvPicPr>
          <p:nvPr>
            <p:ph idx="1"/>
          </p:nvPr>
        </p:nvPicPr>
        <p:blipFill>
          <a:blip r:embed="rId2"/>
          <a:stretch>
            <a:fillRect/>
          </a:stretch>
        </p:blipFill>
        <p:spPr>
          <a:xfrm>
            <a:off x="2842923" y="1755887"/>
            <a:ext cx="6506154" cy="4806209"/>
          </a:xfrm>
          <a:prstGeom prst="rect">
            <a:avLst/>
          </a:prstGeom>
        </p:spPr>
      </p:pic>
    </p:spTree>
    <p:extLst>
      <p:ext uri="{BB962C8B-B14F-4D97-AF65-F5344CB8AC3E}">
        <p14:creationId xmlns:p14="http://schemas.microsoft.com/office/powerpoint/2010/main" val="2206394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a:xfrm>
            <a:off x="601362" y="365127"/>
            <a:ext cx="11673016" cy="1325563"/>
          </a:xfrm>
        </p:spPr>
        <p:txBody>
          <a:bodyPr/>
          <a:lstStyle/>
          <a:p>
            <a:r>
              <a:rPr lang="en-US" altLang="zh-TW" dirty="0"/>
              <a:t>Values of the objective function in 10 iterations</a:t>
            </a:r>
            <a:endParaRPr lang="zh-TW" altLang="en-US" dirty="0"/>
          </a:p>
        </p:txBody>
      </p:sp>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16</a:t>
            </a:fld>
            <a:endParaRPr lang="zh-TW" altLang="en-US"/>
          </a:p>
        </p:txBody>
      </p:sp>
      <p:pic>
        <p:nvPicPr>
          <p:cNvPr id="7" name="內容版面配置區 6">
            <a:extLst>
              <a:ext uri="{FF2B5EF4-FFF2-40B4-BE49-F238E27FC236}">
                <a16:creationId xmlns:a16="http://schemas.microsoft.com/office/drawing/2014/main" xmlns="" id="{A49304F7-04D2-4C00-81E9-CB7217427D9B}"/>
              </a:ext>
            </a:extLst>
          </p:cNvPr>
          <p:cNvPicPr>
            <a:picLocks noGrp="1" noChangeAspect="1"/>
          </p:cNvPicPr>
          <p:nvPr>
            <p:ph idx="1"/>
          </p:nvPr>
        </p:nvPicPr>
        <p:blipFill>
          <a:blip r:embed="rId2"/>
          <a:stretch>
            <a:fillRect/>
          </a:stretch>
        </p:blipFill>
        <p:spPr>
          <a:xfrm>
            <a:off x="2686563" y="1825625"/>
            <a:ext cx="6818873" cy="4667248"/>
          </a:xfrm>
          <a:prstGeom prst="rect">
            <a:avLst/>
          </a:prstGeom>
        </p:spPr>
      </p:pic>
    </p:spTree>
    <p:extLst>
      <p:ext uri="{BB962C8B-B14F-4D97-AF65-F5344CB8AC3E}">
        <p14:creationId xmlns:p14="http://schemas.microsoft.com/office/powerpoint/2010/main" val="1644774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p:txBody>
          <a:bodyPr/>
          <a:lstStyle/>
          <a:p>
            <a:r>
              <a:rPr lang="en-US" altLang="zh-TW" dirty="0"/>
              <a:t>Experimental Results</a:t>
            </a:r>
            <a:endParaRPr lang="zh-TW" altLang="en-US" dirty="0"/>
          </a:p>
        </p:txBody>
      </p:sp>
      <p:pic>
        <p:nvPicPr>
          <p:cNvPr id="5" name="內容版面配置區 4">
            <a:extLst>
              <a:ext uri="{FF2B5EF4-FFF2-40B4-BE49-F238E27FC236}">
                <a16:creationId xmlns:a16="http://schemas.microsoft.com/office/drawing/2014/main" xmlns="" id="{9841363A-D670-49EC-8388-9AED51D335CA}"/>
              </a:ext>
            </a:extLst>
          </p:cNvPr>
          <p:cNvPicPr>
            <a:picLocks noGrp="1" noChangeAspect="1"/>
          </p:cNvPicPr>
          <p:nvPr>
            <p:ph idx="1"/>
          </p:nvPr>
        </p:nvPicPr>
        <p:blipFill rotWithShape="1">
          <a:blip r:embed="rId2"/>
          <a:srcRect b="49467"/>
          <a:stretch/>
        </p:blipFill>
        <p:spPr>
          <a:xfrm>
            <a:off x="706395" y="1690690"/>
            <a:ext cx="10237718" cy="4251394"/>
          </a:xfrm>
          <a:prstGeom prst="rect">
            <a:avLst/>
          </a:prstGeom>
        </p:spPr>
      </p:pic>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17</a:t>
            </a:fld>
            <a:endParaRPr lang="zh-TW" altLang="en-US"/>
          </a:p>
        </p:txBody>
      </p:sp>
    </p:spTree>
    <p:extLst>
      <p:ext uri="{BB962C8B-B14F-4D97-AF65-F5344CB8AC3E}">
        <p14:creationId xmlns:p14="http://schemas.microsoft.com/office/powerpoint/2010/main" val="1114252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E0DF7C-695C-4802-9950-9967F36D753E}"/>
              </a:ext>
            </a:extLst>
          </p:cNvPr>
          <p:cNvSpPr>
            <a:spLocks noGrp="1"/>
          </p:cNvSpPr>
          <p:nvPr>
            <p:ph type="title"/>
          </p:nvPr>
        </p:nvSpPr>
        <p:spPr/>
        <p:txBody>
          <a:bodyPr/>
          <a:lstStyle/>
          <a:p>
            <a:r>
              <a:rPr lang="en-US" altLang="zh-TW" dirty="0"/>
              <a:t>Experimental Results</a:t>
            </a:r>
            <a:endParaRPr lang="zh-TW" altLang="en-US" dirty="0"/>
          </a:p>
        </p:txBody>
      </p:sp>
      <p:pic>
        <p:nvPicPr>
          <p:cNvPr id="5" name="內容版面配置區 4">
            <a:extLst>
              <a:ext uri="{FF2B5EF4-FFF2-40B4-BE49-F238E27FC236}">
                <a16:creationId xmlns:a16="http://schemas.microsoft.com/office/drawing/2014/main" xmlns="" id="{9841363A-D670-49EC-8388-9AED51D335CA}"/>
              </a:ext>
            </a:extLst>
          </p:cNvPr>
          <p:cNvPicPr>
            <a:picLocks noGrp="1" noChangeAspect="1"/>
          </p:cNvPicPr>
          <p:nvPr>
            <p:ph idx="1"/>
          </p:nvPr>
        </p:nvPicPr>
        <p:blipFill rotWithShape="1">
          <a:blip r:embed="rId2"/>
          <a:srcRect t="50688"/>
          <a:stretch/>
        </p:blipFill>
        <p:spPr>
          <a:xfrm>
            <a:off x="271461" y="1957310"/>
            <a:ext cx="10515600" cy="4261312"/>
          </a:xfrm>
          <a:prstGeom prst="rect">
            <a:avLst/>
          </a:prstGeom>
        </p:spPr>
      </p:pic>
      <p:sp>
        <p:nvSpPr>
          <p:cNvPr id="4" name="投影片編號版面配置區 3">
            <a:extLst>
              <a:ext uri="{FF2B5EF4-FFF2-40B4-BE49-F238E27FC236}">
                <a16:creationId xmlns:a16="http://schemas.microsoft.com/office/drawing/2014/main" xmlns="" id="{E41CAB79-8417-4E9F-9C83-1F1C44DC59AD}"/>
              </a:ext>
            </a:extLst>
          </p:cNvPr>
          <p:cNvSpPr>
            <a:spLocks noGrp="1"/>
          </p:cNvSpPr>
          <p:nvPr>
            <p:ph type="sldNum" sz="quarter" idx="12"/>
          </p:nvPr>
        </p:nvSpPr>
        <p:spPr/>
        <p:txBody>
          <a:bodyPr/>
          <a:lstStyle/>
          <a:p>
            <a:fld id="{8DCCD063-7F18-423D-A692-CC9D343FD360}" type="slidenum">
              <a:rPr lang="zh-TW" altLang="en-US" smtClean="0"/>
              <a:t>18</a:t>
            </a:fld>
            <a:endParaRPr lang="zh-TW" altLang="en-US"/>
          </a:p>
        </p:txBody>
      </p:sp>
      <p:pic>
        <p:nvPicPr>
          <p:cNvPr id="3" name="圖片 2">
            <a:extLst>
              <a:ext uri="{FF2B5EF4-FFF2-40B4-BE49-F238E27FC236}">
                <a16:creationId xmlns:a16="http://schemas.microsoft.com/office/drawing/2014/main" xmlns="" id="{E511DBC7-510B-48B1-A671-44FA271EF429}"/>
              </a:ext>
            </a:extLst>
          </p:cNvPr>
          <p:cNvPicPr>
            <a:picLocks noChangeAspect="1"/>
          </p:cNvPicPr>
          <p:nvPr/>
        </p:nvPicPr>
        <p:blipFill>
          <a:blip r:embed="rId3"/>
          <a:stretch>
            <a:fillRect/>
          </a:stretch>
        </p:blipFill>
        <p:spPr>
          <a:xfrm>
            <a:off x="358547" y="1587587"/>
            <a:ext cx="10515600" cy="369723"/>
          </a:xfrm>
          <a:prstGeom prst="rect">
            <a:avLst/>
          </a:prstGeom>
        </p:spPr>
      </p:pic>
    </p:spTree>
    <p:extLst>
      <p:ext uri="{BB962C8B-B14F-4D97-AF65-F5344CB8AC3E}">
        <p14:creationId xmlns:p14="http://schemas.microsoft.com/office/powerpoint/2010/main" val="2802387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0783101-4960-42F5-B1C0-DAEF03E51676}"/>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xmlns="" id="{14C452C6-04A6-4AD8-9B8D-DB13DF0A0FCF}"/>
              </a:ext>
            </a:extLst>
          </p:cNvPr>
          <p:cNvSpPr>
            <a:spLocks noGrp="1"/>
          </p:cNvSpPr>
          <p:nvPr>
            <p:ph idx="1"/>
          </p:nvPr>
        </p:nvSpPr>
        <p:spPr/>
        <p:txBody>
          <a:bodyPr/>
          <a:lstStyle/>
          <a:p>
            <a:r>
              <a:rPr lang="en-US" altLang="zh-TW" dirty="0"/>
              <a:t>Compare to FCM-EU method, the proposed methods generate the better results.</a:t>
            </a:r>
          </a:p>
          <a:p>
            <a:endParaRPr lang="en-US" altLang="zh-TW" dirty="0"/>
          </a:p>
          <a:p>
            <a:r>
              <a:rPr lang="en-US" altLang="zh-TW" dirty="0"/>
              <a:t>Among the three proposed methods, the hybrid method produces superior results.</a:t>
            </a:r>
            <a:endParaRPr lang="zh-TW" altLang="en-US" dirty="0"/>
          </a:p>
        </p:txBody>
      </p:sp>
      <p:sp>
        <p:nvSpPr>
          <p:cNvPr id="4" name="投影片編號版面配置區 3">
            <a:extLst>
              <a:ext uri="{FF2B5EF4-FFF2-40B4-BE49-F238E27FC236}">
                <a16:creationId xmlns:a16="http://schemas.microsoft.com/office/drawing/2014/main" xmlns="" id="{946DE642-9754-4593-95A0-4B073F1A536D}"/>
              </a:ext>
            </a:extLst>
          </p:cNvPr>
          <p:cNvSpPr>
            <a:spLocks noGrp="1"/>
          </p:cNvSpPr>
          <p:nvPr>
            <p:ph type="sldNum" sz="quarter" idx="12"/>
          </p:nvPr>
        </p:nvSpPr>
        <p:spPr/>
        <p:txBody>
          <a:bodyPr/>
          <a:lstStyle/>
          <a:p>
            <a:fld id="{8DCCD063-7F18-423D-A692-CC9D343FD360}" type="slidenum">
              <a:rPr lang="zh-TW" altLang="en-US" smtClean="0"/>
              <a:t>19</a:t>
            </a:fld>
            <a:endParaRPr lang="zh-TW" altLang="en-US"/>
          </a:p>
        </p:txBody>
      </p:sp>
    </p:spTree>
    <p:extLst>
      <p:ext uri="{BB962C8B-B14F-4D97-AF65-F5344CB8AC3E}">
        <p14:creationId xmlns:p14="http://schemas.microsoft.com/office/powerpoint/2010/main" val="298935226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11758</TotalTime>
  <Words>591</Words>
  <Application>Microsoft Office PowerPoint</Application>
  <PresentationFormat>寬螢幕</PresentationFormat>
  <Paragraphs>76</Paragraphs>
  <Slides>19</Slides>
  <Notes>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19</vt:i4>
      </vt:variant>
    </vt:vector>
  </HeadingPairs>
  <TitlesOfParts>
    <vt:vector size="27" baseType="lpstr">
      <vt:lpstr>微軟正黑體</vt:lpstr>
      <vt:lpstr>新細明體</vt:lpstr>
      <vt:lpstr>Arial</vt:lpstr>
      <vt:lpstr>Calibri</vt:lpstr>
      <vt:lpstr>Cambria Math</vt:lpstr>
      <vt:lpstr>Times New Roman</vt:lpstr>
      <vt:lpstr>Tw Cen MT</vt:lpstr>
      <vt:lpstr>Office 佈景主題</vt:lpstr>
      <vt:lpstr>Fuzzy clustering of time series data using dynamic time warping distance</vt:lpstr>
      <vt:lpstr>Abstract (1/2)</vt:lpstr>
      <vt:lpstr>Abstract (2/2)</vt:lpstr>
      <vt:lpstr>Time Series</vt:lpstr>
      <vt:lpstr>Dynamic Time Warping (1/2)</vt:lpstr>
      <vt:lpstr>Dynamic Time Warping (2/2)</vt:lpstr>
      <vt:lpstr>K-means &amp; K-medoids</vt:lpstr>
      <vt:lpstr>Fuzzy C-means &amp; C-medodis of time series</vt:lpstr>
      <vt:lpstr>Hybrid FCM &amp; FCMdd of time series</vt:lpstr>
      <vt:lpstr>UCR time series selected for experimental studies</vt:lpstr>
      <vt:lpstr>Example time series of CBF &amp; synthetic control dataset</vt:lpstr>
      <vt:lpstr>Example time series of trace dataset</vt:lpstr>
      <vt:lpstr>Prototypes of the CBF dataset</vt:lpstr>
      <vt:lpstr>Prototypes of the Synthetic control dataset</vt:lpstr>
      <vt:lpstr>Prototypes of the Trace dataset</vt:lpstr>
      <vt:lpstr>Values of the objective function in 10 iterations</vt:lpstr>
      <vt:lpstr>Experimental Results</vt:lpstr>
      <vt:lpstr>Experimental Results</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pplab-class</cp:lastModifiedBy>
  <cp:revision>373</cp:revision>
  <dcterms:created xsi:type="dcterms:W3CDTF">2017-10-09T09:38:00Z</dcterms:created>
  <dcterms:modified xsi:type="dcterms:W3CDTF">2018-07-03T11:53:49Z</dcterms:modified>
</cp:coreProperties>
</file>