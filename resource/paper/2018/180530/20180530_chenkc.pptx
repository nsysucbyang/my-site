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91" r:id="rId4"/>
    <p:sldId id="305" r:id="rId5"/>
    <p:sldId id="306" r:id="rId6"/>
    <p:sldId id="308" r:id="rId7"/>
    <p:sldId id="309" r:id="rId8"/>
    <p:sldId id="310" r:id="rId9"/>
    <p:sldId id="312" r:id="rId10"/>
    <p:sldId id="313" r:id="rId11"/>
    <p:sldId id="314" r:id="rId12"/>
    <p:sldId id="315" r:id="rId13"/>
    <p:sldId id="317" r:id="rId14"/>
    <p:sldId id="316" r:id="rId15"/>
    <p:sldId id="318" r:id="rId16"/>
    <p:sldId id="31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B5FBEBF5-6C27-43DA-9D2C-B1537964028B}">
          <p14:sldIdLst>
            <p14:sldId id="256"/>
            <p14:sldId id="257"/>
            <p14:sldId id="291"/>
            <p14:sldId id="305"/>
            <p14:sldId id="306"/>
            <p14:sldId id="308"/>
            <p14:sldId id="309"/>
            <p14:sldId id="310"/>
            <p14:sldId id="312"/>
            <p14:sldId id="313"/>
            <p14:sldId id="314"/>
            <p14:sldId id="315"/>
            <p14:sldId id="317"/>
            <p14:sldId id="316"/>
            <p14:sldId id="318"/>
          </p14:sldIdLst>
        </p14:section>
        <p14:section name="test" id="{5A0672B8-76E0-491A-93E0-1923641389C1}">
          <p14:sldIdLst>
            <p14:sldId id="31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733" autoAdjust="0"/>
  </p:normalViewPr>
  <p:slideViewPr>
    <p:cSldViewPr snapToGrid="0">
      <p:cViewPr varScale="1">
        <p:scale>
          <a:sx n="71" d="100"/>
          <a:sy n="71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B1F98-CDCA-4E1F-B89C-7712647B005A}" type="datetimeFigureOut">
              <a:rPr lang="zh-TW" altLang="en-US" smtClean="0"/>
              <a:t>2018/5/30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0A4FA-366C-40B7-9E40-EFBC7A72D8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66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1215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4880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5145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4143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9195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83771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26953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94790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25113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5888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04292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06168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21509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9806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3700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65B31-2511-4B59-85CD-FE81550B112F}" type="datetime1">
              <a:rPr lang="zh-TW" altLang="en-US" smtClean="0"/>
              <a:t>2018/5/30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584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3BFE1-3FF9-4076-BFE3-436A899C6CFC}" type="datetime1">
              <a:rPr lang="zh-TW" altLang="en-US" smtClean="0"/>
              <a:t>2018/5/30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7946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3635F-B179-4E14-9FEF-30274F37C964}" type="datetime1">
              <a:rPr lang="zh-TW" altLang="en-US" smtClean="0"/>
              <a:t>2018/5/30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3438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1D61C-B526-46B0-B991-3372D0F0EC91}" type="datetime1">
              <a:rPr lang="zh-TW" altLang="en-US" smtClean="0"/>
              <a:t>2018/5/30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68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6A488-6A5E-462F-A078-C1B45B9FC688}" type="datetime1">
              <a:rPr lang="zh-TW" altLang="en-US" smtClean="0"/>
              <a:t>2018/5/30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324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DF501-4962-473D-B6D8-A7428BF1B6D4}" type="datetime1">
              <a:rPr lang="zh-TW" altLang="en-US" smtClean="0"/>
              <a:t>2018/5/30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58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C89F-7B98-4BDD-B73A-1D10077A1F27}" type="datetime1">
              <a:rPr lang="zh-TW" altLang="en-US" smtClean="0"/>
              <a:t>2018/5/30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6154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09844-160F-4E54-862A-C6CCEBCF4E40}" type="datetime1">
              <a:rPr lang="zh-TW" altLang="en-US" smtClean="0"/>
              <a:t>2018/5/30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83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7C98F-9D28-4915-ABD0-95B43831494A}" type="datetime1">
              <a:rPr lang="zh-TW" altLang="en-US" smtClean="0"/>
              <a:t>2018/5/30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83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FE765-5314-4951-98B4-C5C6DE7CD530}" type="datetime1">
              <a:rPr lang="zh-TW" altLang="en-US" smtClean="0"/>
              <a:t>2018/5/30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85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0DED-4DF0-4E86-AB35-9CE8B4D53C52}" type="datetime1">
              <a:rPr lang="zh-TW" altLang="en-US" smtClean="0"/>
              <a:t>2018/5/30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145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E8280-42F1-400D-A234-BF7D1153CCE2}" type="datetime1">
              <a:rPr lang="zh-TW" altLang="en-US" smtClean="0"/>
              <a:t>2018/5/30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62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BB447A32-0D96-4B57-86B2-82EC84E89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3778" y="382773"/>
            <a:ext cx="6636444" cy="16010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Research on Longest Common Subsequence Fast 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61456E59-5D91-4093-B1A4-6F308EA96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341290"/>
            <a:ext cx="9144000" cy="586228"/>
          </a:xfrm>
        </p:spPr>
        <p:txBody>
          <a:bodyPr>
            <a:norm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Jiamei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Liu, </a:t>
            </a:r>
            <a:r>
              <a:rPr lang="en-US" altLang="zh-TW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Suping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Wu</a:t>
            </a:r>
            <a:endParaRPr lang="zh-TW" alt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xmlns="" id="{A64E0364-4674-4930-835E-A413D880DCDB}"/>
              </a:ext>
            </a:extLst>
          </p:cNvPr>
          <p:cNvSpPr txBox="1">
            <a:spLocks/>
          </p:cNvSpPr>
          <p:nvPr/>
        </p:nvSpPr>
        <p:spPr>
          <a:xfrm>
            <a:off x="5489688" y="5644229"/>
            <a:ext cx="2715491" cy="83099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Speaker: </a:t>
            </a:r>
            <a:r>
              <a:rPr lang="en-US" altLang="zh-TW" sz="18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Kuan-Chih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Chen</a:t>
            </a:r>
          </a:p>
          <a:p>
            <a:pPr algn="r"/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Date: 2018.05.30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776243CF-D414-4295-8B1E-9BF6541E940C}"/>
              </a:ext>
            </a:extLst>
          </p:cNvPr>
          <p:cNvSpPr/>
          <p:nvPr/>
        </p:nvSpPr>
        <p:spPr>
          <a:xfrm>
            <a:off x="938821" y="4072198"/>
            <a:ext cx="726635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International Conference on Consumer Electronics, Communications and Networks(</a:t>
            </a:r>
            <a:r>
              <a:rPr lang="en-US" altLang="zh-TW" sz="24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CECNet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), IEEE, </a:t>
            </a:r>
          </a:p>
          <a:p>
            <a:pPr algn="ctr"/>
            <a:r>
              <a:rPr lang="en-US" altLang="zh-TW" sz="24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Xianning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China, March, 2011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9C220945-F793-4CA9-9698-C9CC1C32C6A2}"/>
              </a:ext>
            </a:extLst>
          </p:cNvPr>
          <p:cNvSpPr/>
          <p:nvPr/>
        </p:nvSpPr>
        <p:spPr>
          <a:xfrm>
            <a:off x="37214" y="2869500"/>
            <a:ext cx="90695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School of Mathematics and Computer Science, </a:t>
            </a:r>
          </a:p>
          <a:p>
            <a:pPr algn="ctr"/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Ningxia University</a:t>
            </a:r>
            <a:endParaRPr lang="zh-TW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72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xmlns="" id="{878CA31B-C758-4215-B281-353CA02EC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55" y="998092"/>
            <a:ext cx="8310537" cy="5445183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order to improve the efficiency of searching the longest common subsequence(LCS), a method of finding LCS (here, the length of the LCS p is much smaller than the length of smaller string of two strings m) is realized in this paper, which transform this problem into solving </a:t>
            </a:r>
            <a:r>
              <a:rPr lang="en-US" altLang="zh-TW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 of matrix L (p, m)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by theorem the process of computing each element in the matrix is optimized.</a:t>
            </a:r>
          </a:p>
          <a:p>
            <a:pPr>
              <a:lnSpc>
                <a:spcPct val="150000"/>
              </a:lnSpc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analysis and experimental results show this algorithm is better than dynamic programming method. And a parallel algorithm based on OpenMP is provided in this paper, which speed of solving large-scale data is greatly improved.</a:t>
            </a:r>
          </a:p>
        </p:txBody>
      </p:sp>
    </p:spTree>
    <p:extLst>
      <p:ext uri="{BB962C8B-B14F-4D97-AF65-F5344CB8AC3E}">
        <p14:creationId xmlns:p14="http://schemas.microsoft.com/office/powerpoint/2010/main" val="320478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 fontScale="90000"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Longest Common Subsequence(LCS) problem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D329F57A-CA01-4BD5-B405-472C3767AF17}"/>
              </a:ext>
            </a:extLst>
          </p:cNvPr>
          <p:cNvSpPr/>
          <p:nvPr/>
        </p:nvSpPr>
        <p:spPr>
          <a:xfrm>
            <a:off x="1038223" y="1498311"/>
            <a:ext cx="29899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spc="600" dirty="0">
                <a:latin typeface="Century" panose="02040604050505020304" pitchFamily="18" charset="0"/>
                <a:cs typeface="Arial" panose="020B0604020202020204" pitchFamily="34" charset="0"/>
              </a:rPr>
              <a:t>A: </a:t>
            </a:r>
            <a:r>
              <a:rPr lang="en-US" altLang="zh-TW" sz="3200" spc="600" dirty="0" err="1">
                <a:latin typeface="Century" panose="02040604050505020304" pitchFamily="18" charset="0"/>
                <a:cs typeface="Arial" panose="020B0604020202020204" pitchFamily="34" charset="0"/>
              </a:rPr>
              <a:t>acdabbc</a:t>
            </a:r>
            <a:endParaRPr lang="zh-TW" altLang="en-US" sz="3200" spc="600" dirty="0">
              <a:latin typeface="Century" panose="02040604050505020304" pitchFamily="18" charset="0"/>
              <a:cs typeface="Arial" panose="020B060402020202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2DD8888B-647D-4FDF-A4DE-5500BAB83672}"/>
              </a:ext>
            </a:extLst>
          </p:cNvPr>
          <p:cNvSpPr/>
          <p:nvPr/>
        </p:nvSpPr>
        <p:spPr>
          <a:xfrm>
            <a:off x="1038223" y="2371550"/>
            <a:ext cx="36070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spc="600" dirty="0">
                <a:latin typeface="Century" panose="02040604050505020304" pitchFamily="18" charset="0"/>
                <a:cs typeface="Arial" panose="020B0604020202020204" pitchFamily="34" charset="0"/>
              </a:rPr>
              <a:t>B: </a:t>
            </a:r>
            <a:r>
              <a:rPr lang="en-US" altLang="zh-TW" sz="3200" spc="600" dirty="0" err="1">
                <a:latin typeface="Century" panose="02040604050505020304" pitchFamily="18" charset="0"/>
                <a:cs typeface="Arial" panose="020B0604020202020204" pitchFamily="34" charset="0"/>
              </a:rPr>
              <a:t>cddbacaba</a:t>
            </a:r>
            <a:endParaRPr lang="zh-TW" altLang="en-US" sz="3200" spc="600" dirty="0">
              <a:latin typeface="Century" panose="02040604050505020304" pitchFamily="18" charset="0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FC95606E-0FF3-4AAD-99BD-7A8ECEC081A8}"/>
              </a:ext>
            </a:extLst>
          </p:cNvPr>
          <p:cNvSpPr/>
          <p:nvPr/>
        </p:nvSpPr>
        <p:spPr>
          <a:xfrm>
            <a:off x="1038223" y="3244789"/>
            <a:ext cx="276229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spc="600" dirty="0">
                <a:latin typeface="Century" panose="02040604050505020304" pitchFamily="18" charset="0"/>
                <a:cs typeface="Arial" panose="020B0604020202020204" pitchFamily="34" charset="0"/>
              </a:rPr>
              <a:t>LCS: </a:t>
            </a:r>
            <a:r>
              <a:rPr lang="en-US" altLang="zh-TW" sz="3200" spc="600" dirty="0" err="1">
                <a:latin typeface="Century" panose="02040604050505020304" pitchFamily="18" charset="0"/>
                <a:cs typeface="Arial" panose="020B0604020202020204" pitchFamily="34" charset="0"/>
              </a:rPr>
              <a:t>cdbc</a:t>
            </a:r>
            <a:endParaRPr lang="zh-TW" altLang="en-US" sz="3200" spc="600" dirty="0">
              <a:latin typeface="Century" panose="02040604050505020304" pitchFamily="18" charset="0"/>
              <a:cs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EC8F2CE6-F165-47B2-A566-280833E3A679}"/>
              </a:ext>
            </a:extLst>
          </p:cNvPr>
          <p:cNvSpPr/>
          <p:nvPr/>
        </p:nvSpPr>
        <p:spPr>
          <a:xfrm>
            <a:off x="1038223" y="1498310"/>
            <a:ext cx="2991525" cy="58477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TW" sz="3200" spc="600" dirty="0">
                <a:latin typeface="Century" panose="02040604050505020304" pitchFamily="18" charset="0"/>
                <a:cs typeface="Arial" panose="020B0604020202020204" pitchFamily="34" charset="0"/>
              </a:rPr>
              <a:t>A: </a:t>
            </a:r>
            <a:r>
              <a:rPr lang="en-US" altLang="zh-TW" sz="3200" spc="600" dirty="0" err="1">
                <a:latin typeface="Century" panose="02040604050505020304" pitchFamily="18" charset="0"/>
                <a:cs typeface="Arial" panose="020B0604020202020204" pitchFamily="34" charset="0"/>
              </a:rPr>
              <a:t>a</a:t>
            </a:r>
            <a:r>
              <a:rPr lang="en-US" altLang="zh-TW" sz="3200" b="1" spc="600" dirty="0" err="1">
                <a:solidFill>
                  <a:srgbClr val="0070C0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cd</a:t>
            </a:r>
            <a:r>
              <a:rPr lang="en-US" altLang="zh-TW" sz="3200" spc="600" dirty="0" err="1">
                <a:latin typeface="Century" panose="02040604050505020304" pitchFamily="18" charset="0"/>
                <a:cs typeface="Arial" panose="020B0604020202020204" pitchFamily="34" charset="0"/>
              </a:rPr>
              <a:t>ab</a:t>
            </a:r>
            <a:r>
              <a:rPr lang="en-US" altLang="zh-TW" sz="3200" b="1" spc="600" dirty="0" err="1">
                <a:solidFill>
                  <a:srgbClr val="0070C0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bc</a:t>
            </a:r>
            <a:endParaRPr lang="zh-TW" altLang="en-US" sz="3200" b="1" spc="600" dirty="0">
              <a:solidFill>
                <a:srgbClr val="0070C0"/>
              </a:solidFill>
              <a:latin typeface="Century" panose="02040604050505020304" pitchFamily="18" charset="0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0D0046F6-FF1F-4A5E-9C9C-3C7D5ED868CF}"/>
              </a:ext>
            </a:extLst>
          </p:cNvPr>
          <p:cNvSpPr/>
          <p:nvPr/>
        </p:nvSpPr>
        <p:spPr>
          <a:xfrm>
            <a:off x="1038223" y="2371549"/>
            <a:ext cx="3608680" cy="58477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TW" sz="3200" spc="600" dirty="0">
                <a:latin typeface="Century" panose="02040604050505020304" pitchFamily="18" charset="0"/>
                <a:cs typeface="Arial" panose="020B0604020202020204" pitchFamily="34" charset="0"/>
              </a:rPr>
              <a:t>B: </a:t>
            </a:r>
            <a:r>
              <a:rPr lang="en-US" altLang="zh-TW" sz="3200" b="1" spc="600" dirty="0" err="1">
                <a:solidFill>
                  <a:srgbClr val="0070C0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cd</a:t>
            </a:r>
            <a:r>
              <a:rPr lang="en-US" altLang="zh-TW" sz="3200" spc="600" dirty="0" err="1">
                <a:latin typeface="Century" panose="02040604050505020304" pitchFamily="18" charset="0"/>
                <a:cs typeface="Arial" panose="020B0604020202020204" pitchFamily="34" charset="0"/>
              </a:rPr>
              <a:t>d</a:t>
            </a:r>
            <a:r>
              <a:rPr lang="en-US" altLang="zh-TW" sz="3200" b="1" spc="600" dirty="0" err="1">
                <a:solidFill>
                  <a:srgbClr val="0070C0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b</a:t>
            </a:r>
            <a:r>
              <a:rPr lang="en-US" altLang="zh-TW" sz="3200" spc="600" dirty="0" err="1">
                <a:latin typeface="Century" panose="02040604050505020304" pitchFamily="18" charset="0"/>
                <a:cs typeface="Arial" panose="020B0604020202020204" pitchFamily="34" charset="0"/>
              </a:rPr>
              <a:t>a</a:t>
            </a:r>
            <a:r>
              <a:rPr lang="en-US" altLang="zh-TW" sz="3200" b="1" spc="600" dirty="0" err="1">
                <a:solidFill>
                  <a:srgbClr val="0070C0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c</a:t>
            </a:r>
            <a:r>
              <a:rPr lang="en-US" altLang="zh-TW" sz="3200" spc="600" dirty="0" err="1">
                <a:latin typeface="Century" panose="02040604050505020304" pitchFamily="18" charset="0"/>
                <a:cs typeface="Arial" panose="020B0604020202020204" pitchFamily="34" charset="0"/>
              </a:rPr>
              <a:t>aba</a:t>
            </a:r>
            <a:endParaRPr lang="zh-TW" altLang="en-US" sz="3200" spc="600" dirty="0">
              <a:latin typeface="Century" panose="020406040505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183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matrix L(p, m) problem 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4</a:t>
            </a:fld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C18722E9-30EE-4F91-B889-21D6D4320E3A}"/>
              </a:ext>
            </a:extLst>
          </p:cNvPr>
          <p:cNvSpPr/>
          <p:nvPr/>
        </p:nvSpPr>
        <p:spPr>
          <a:xfrm>
            <a:off x="656389" y="1108708"/>
            <a:ext cx="27382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spc="800" dirty="0">
                <a:solidFill>
                  <a:schemeClr val="accent2">
                    <a:lumMod val="75000"/>
                  </a:schemeClr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A: </a:t>
            </a:r>
            <a:r>
              <a:rPr lang="en-US" altLang="zh-TW" sz="2400" spc="800" dirty="0" err="1">
                <a:solidFill>
                  <a:schemeClr val="accent2">
                    <a:lumMod val="75000"/>
                  </a:schemeClr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acdabbc</a:t>
            </a:r>
            <a:endParaRPr lang="zh-TW" altLang="en-US" sz="2400" spc="800" dirty="0">
              <a:solidFill>
                <a:schemeClr val="accent2">
                  <a:lumMod val="75000"/>
                </a:schemeClr>
              </a:solidFill>
              <a:latin typeface="Century" panose="02040604050505020304" pitchFamily="18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9E3CD16B-1DE1-4F91-8FEA-D24525DFA191}"/>
              </a:ext>
            </a:extLst>
          </p:cNvPr>
          <p:cNvSpPr/>
          <p:nvPr/>
        </p:nvSpPr>
        <p:spPr>
          <a:xfrm>
            <a:off x="665366" y="1606350"/>
            <a:ext cx="32912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spc="800" dirty="0">
                <a:solidFill>
                  <a:srgbClr val="00B050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B: </a:t>
            </a:r>
            <a:r>
              <a:rPr lang="en-US" altLang="zh-TW" sz="2400" spc="800" dirty="0" err="1">
                <a:solidFill>
                  <a:srgbClr val="00B050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cddbacaba</a:t>
            </a:r>
            <a:endParaRPr lang="zh-TW" altLang="en-US" sz="2400" spc="800" dirty="0">
              <a:solidFill>
                <a:srgbClr val="00B050"/>
              </a:solidFill>
              <a:latin typeface="Century" panose="02040604050505020304" pitchFamily="18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863733A3-C4AE-4018-AD84-2C6D5A2D7AB7}"/>
              </a:ext>
            </a:extLst>
          </p:cNvPr>
          <p:cNvSpPr/>
          <p:nvPr/>
        </p:nvSpPr>
        <p:spPr>
          <a:xfrm>
            <a:off x="4016179" y="1077142"/>
            <a:ext cx="6286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(m)</a:t>
            </a:r>
            <a:endParaRPr lang="zh-TW" altLang="en-US" sz="24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74B244D2-B272-48B6-8500-48E41216EB77}"/>
              </a:ext>
            </a:extLst>
          </p:cNvPr>
          <p:cNvSpPr/>
          <p:nvPr/>
        </p:nvSpPr>
        <p:spPr>
          <a:xfrm>
            <a:off x="4058658" y="1600361"/>
            <a:ext cx="5437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srgbClr val="00B05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(n)</a:t>
            </a:r>
            <a:endParaRPr lang="zh-TW" altLang="en-US" sz="2400" dirty="0">
              <a:solidFill>
                <a:srgbClr val="00B05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C0CC8ED6-7F1B-448C-BD8F-2A30EC57C48E}"/>
              </a:ext>
            </a:extLst>
          </p:cNvPr>
          <p:cNvSpPr/>
          <p:nvPr/>
        </p:nvSpPr>
        <p:spPr>
          <a:xfrm>
            <a:off x="5420487" y="1284051"/>
            <a:ext cx="10374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spc="600" dirty="0">
                <a:latin typeface="Century" panose="02040604050505020304" pitchFamily="18" charset="0"/>
                <a:cs typeface="Arial" panose="020B0604020202020204" pitchFamily="34" charset="0"/>
              </a:rPr>
              <a:t>LCS</a:t>
            </a:r>
            <a:endParaRPr lang="zh-TW" altLang="en-US" sz="2400" spc="600" dirty="0">
              <a:latin typeface="Century" panose="020406040505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F209EFE0-DD33-42FA-8B4F-E9C36342F05E}"/>
              </a:ext>
            </a:extLst>
          </p:cNvPr>
          <p:cNvSpPr/>
          <p:nvPr/>
        </p:nvSpPr>
        <p:spPr>
          <a:xfrm>
            <a:off x="6500430" y="1284051"/>
            <a:ext cx="5853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(p)</a:t>
            </a:r>
            <a:endParaRPr lang="zh-TW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xmlns="" id="{7F8A3556-7261-4840-B22B-CDD95EB57D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197843"/>
              </p:ext>
            </p:extLst>
          </p:nvPr>
        </p:nvGraphicFramePr>
        <p:xfrm>
          <a:off x="2034902" y="3220517"/>
          <a:ext cx="5074195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0195">
                  <a:extLst>
                    <a:ext uri="{9D8B030D-6E8A-4147-A177-3AD203B41FA5}">
                      <a16:colId xmlns:a16="http://schemas.microsoft.com/office/drawing/2014/main" xmlns="" val="6600381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23741165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329556163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12780595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57330068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k            </a:t>
                      </a:r>
                      <a:r>
                        <a:rPr lang="en-US" altLang="zh-TW" sz="1800" b="1" kern="1200" dirty="0" err="1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…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m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22486746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L(1, 1)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L(1, 2)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1689981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L(2, 1)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077787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71006293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L(p, m)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794425632"/>
                  </a:ext>
                </a:extLst>
              </a:tr>
            </a:tbl>
          </a:graphicData>
        </a:graphic>
      </p:graphicFrame>
      <p:grpSp>
        <p:nvGrpSpPr>
          <p:cNvPr id="27" name="群組 26">
            <a:extLst>
              <a:ext uri="{FF2B5EF4-FFF2-40B4-BE49-F238E27FC236}">
                <a16:creationId xmlns:a16="http://schemas.microsoft.com/office/drawing/2014/main" xmlns="" id="{8DD0B849-2A2E-4DD7-853E-BF96EAC0F4D9}"/>
              </a:ext>
            </a:extLst>
          </p:cNvPr>
          <p:cNvGrpSpPr/>
          <p:nvPr/>
        </p:nvGrpSpPr>
        <p:grpSpPr>
          <a:xfrm>
            <a:off x="765544" y="3628761"/>
            <a:ext cx="3293114" cy="1889537"/>
            <a:chOff x="324354" y="3820141"/>
            <a:chExt cx="3200017" cy="2006263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xmlns="" id="{626E1BC0-2B72-4F83-8CB0-A9E8BF782A3D}"/>
                </a:ext>
              </a:extLst>
            </p:cNvPr>
            <p:cNvSpPr/>
            <p:nvPr/>
          </p:nvSpPr>
          <p:spPr>
            <a:xfrm>
              <a:off x="2525064" y="3820141"/>
              <a:ext cx="999307" cy="48987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手繪多邊形: 圖案 14">
              <a:extLst>
                <a:ext uri="{FF2B5EF4-FFF2-40B4-BE49-F238E27FC236}">
                  <a16:creationId xmlns:a16="http://schemas.microsoft.com/office/drawing/2014/main" xmlns="" id="{E3894465-8EE0-4293-A0CB-6F02708425A0}"/>
                </a:ext>
              </a:extLst>
            </p:cNvPr>
            <p:cNvSpPr/>
            <p:nvPr/>
          </p:nvSpPr>
          <p:spPr>
            <a:xfrm>
              <a:off x="324354" y="3979533"/>
              <a:ext cx="1923154" cy="1846871"/>
            </a:xfrm>
            <a:custGeom>
              <a:avLst/>
              <a:gdLst>
                <a:gd name="connsiteX0" fmla="*/ 1465275 w 1465275"/>
                <a:gd name="connsiteY0" fmla="*/ 0 h 1839432"/>
                <a:gd name="connsiteX1" fmla="*/ 83042 w 1465275"/>
                <a:gd name="connsiteY1" fmla="*/ 999460 h 1839432"/>
                <a:gd name="connsiteX2" fmla="*/ 274428 w 1465275"/>
                <a:gd name="connsiteY2" fmla="*/ 1839432 h 1839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65275" h="1839432">
                  <a:moveTo>
                    <a:pt x="1465275" y="0"/>
                  </a:moveTo>
                  <a:cubicBezTo>
                    <a:pt x="873395" y="346444"/>
                    <a:pt x="281516" y="692888"/>
                    <a:pt x="83042" y="999460"/>
                  </a:cubicBezTo>
                  <a:cubicBezTo>
                    <a:pt x="-115432" y="1306032"/>
                    <a:pt x="79498" y="1572732"/>
                    <a:pt x="274428" y="1839432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69FB1AD2-D6FB-4012-9984-A846E8632B7C}"/>
              </a:ext>
            </a:extLst>
          </p:cNvPr>
          <p:cNvSpPr/>
          <p:nvPr/>
        </p:nvSpPr>
        <p:spPr>
          <a:xfrm>
            <a:off x="1991436" y="2087115"/>
            <a:ext cx="5306881" cy="878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dirty="0">
                <a:latin typeface="TimesNewRoman"/>
              </a:rPr>
              <a:t>L(k, </a:t>
            </a:r>
            <a:r>
              <a:rPr lang="en-US" altLang="zh-TW" dirty="0" err="1">
                <a:latin typeface="TimesNewRoman"/>
              </a:rPr>
              <a:t>i</a:t>
            </a:r>
            <a:r>
              <a:rPr lang="en-US" altLang="zh-TW" dirty="0">
                <a:latin typeface="TimesNewRoman"/>
              </a:rPr>
              <a:t>) means the minimum value of j such that sequences </a:t>
            </a:r>
            <a:r>
              <a:rPr lang="en-US" altLang="zh-TW" dirty="0">
                <a:solidFill>
                  <a:schemeClr val="accent4">
                    <a:lumMod val="50000"/>
                  </a:schemeClr>
                </a:solidFill>
                <a:latin typeface="TimesNewRoman"/>
              </a:rPr>
              <a:t>A [1: </a:t>
            </a:r>
            <a:r>
              <a:rPr lang="en-US" altLang="zh-TW" dirty="0" err="1">
                <a:solidFill>
                  <a:schemeClr val="accent4">
                    <a:lumMod val="50000"/>
                  </a:schemeClr>
                </a:solidFill>
                <a:latin typeface="TimesNewRoman"/>
              </a:rPr>
              <a:t>i</a:t>
            </a:r>
            <a:r>
              <a:rPr lang="en-US" altLang="zh-TW" dirty="0">
                <a:solidFill>
                  <a:schemeClr val="accent4">
                    <a:lumMod val="50000"/>
                  </a:schemeClr>
                </a:solidFill>
                <a:latin typeface="TimesNewRoman"/>
              </a:rPr>
              <a:t>] </a:t>
            </a:r>
            <a:r>
              <a:rPr lang="en-US" altLang="zh-TW" dirty="0">
                <a:latin typeface="TimesNewRoman"/>
              </a:rPr>
              <a:t>and </a:t>
            </a:r>
            <a:r>
              <a:rPr lang="en-US" altLang="zh-TW" dirty="0">
                <a:solidFill>
                  <a:schemeClr val="accent6">
                    <a:lumMod val="50000"/>
                  </a:schemeClr>
                </a:solidFill>
                <a:latin typeface="TimesNewRoman"/>
              </a:rPr>
              <a:t>B [l: j] </a:t>
            </a:r>
            <a:r>
              <a:rPr lang="en-US" altLang="zh-TW" dirty="0">
                <a:latin typeface="TimesNewRoman"/>
              </a:rPr>
              <a:t>have the LCS of length k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xmlns="" id="{2B49D91D-4EB8-41C3-A03A-91B9612A3B91}"/>
                  </a:ext>
                </a:extLst>
              </p:cNvPr>
              <p:cNvSpPr/>
              <p:nvPr/>
            </p:nvSpPr>
            <p:spPr>
              <a:xfrm>
                <a:off x="1152867" y="5665003"/>
                <a:ext cx="6838264" cy="4633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dirty="0">
                    <a:solidFill>
                      <a:schemeClr val="accent4">
                        <a:lumMod val="50000"/>
                      </a:schemeClr>
                    </a:solidFill>
                    <a:latin typeface="TimesNewRoman"/>
                  </a:rPr>
                  <a:t>A : [1:1] </a:t>
                </a:r>
                <a:r>
                  <a:rPr lang="en-US" altLang="zh-TW" dirty="0">
                    <a:latin typeface="TimesNewRoman"/>
                  </a:rPr>
                  <a:t>(  </a:t>
                </a:r>
                <a:r>
                  <a:rPr lang="en-US" altLang="zh-TW" dirty="0">
                    <a:solidFill>
                      <a:schemeClr val="accent4">
                        <a:lumMod val="50000"/>
                      </a:schemeClr>
                    </a:solidFill>
                    <a:latin typeface="TimesNewRoman"/>
                  </a:rPr>
                  <a:t>a  </a:t>
                </a:r>
                <a:r>
                  <a:rPr lang="en-US" altLang="zh-TW" dirty="0">
                    <a:latin typeface="TimesNewRoman"/>
                  </a:rPr>
                  <a:t>)</a:t>
                </a:r>
                <a:r>
                  <a:rPr lang="en-US" altLang="zh-TW" dirty="0">
                    <a:solidFill>
                      <a:srgbClr val="0070C0"/>
                    </a:solidFill>
                    <a:latin typeface="TimesNewRoman"/>
                  </a:rPr>
                  <a:t> </a:t>
                </a:r>
                <a:r>
                  <a:rPr lang="en-US" altLang="zh-TW" dirty="0">
                    <a:latin typeface="TimesNewRoman"/>
                  </a:rPr>
                  <a:t>and </a:t>
                </a:r>
                <a:r>
                  <a:rPr lang="en-US" altLang="zh-TW" dirty="0">
                    <a:solidFill>
                      <a:schemeClr val="accent6">
                        <a:lumMod val="50000"/>
                      </a:schemeClr>
                    </a:solidFill>
                    <a:latin typeface="TimesNewRoman"/>
                  </a:rPr>
                  <a:t>B [l: j] </a:t>
                </a:r>
                <a:r>
                  <a:rPr lang="en-US" altLang="zh-TW" dirty="0">
                    <a:latin typeface="TimesNewRoman"/>
                  </a:rPr>
                  <a:t>have the LCS of length 1 =&gt; 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(1, 1) </m:t>
                    </m:r>
                  </m:oMath>
                </a14:m>
                <a:r>
                  <a:rPr lang="en-US" altLang="zh-TW" dirty="0">
                    <a:latin typeface="TimesNewRoman"/>
                  </a:rPr>
                  <a:t>= j = 5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2B49D91D-4EB8-41C3-A03A-91B9612A3B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867" y="5665003"/>
                <a:ext cx="6838264" cy="463397"/>
              </a:xfrm>
              <a:prstGeom prst="rect">
                <a:avLst/>
              </a:prstGeom>
              <a:blipFill>
                <a:blip r:embed="rId3"/>
                <a:stretch>
                  <a:fillRect l="-713" b="-197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xmlns="" id="{D1E291D8-DDAF-43DA-92DC-23259E21C93F}"/>
                  </a:ext>
                </a:extLst>
              </p:cNvPr>
              <p:cNvSpPr/>
              <p:nvPr/>
            </p:nvSpPr>
            <p:spPr>
              <a:xfrm>
                <a:off x="1152867" y="5665003"/>
                <a:ext cx="6747124" cy="46339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dirty="0">
                    <a:solidFill>
                      <a:schemeClr val="accent2">
                        <a:lumMod val="75000"/>
                      </a:schemeClr>
                    </a:solidFill>
                    <a:latin typeface="TimesNewRoman"/>
                  </a:rPr>
                  <a:t>A : [1:2] </a:t>
                </a:r>
                <a:r>
                  <a:rPr lang="en-US" altLang="zh-TW" dirty="0">
                    <a:latin typeface="TimesNewRoman"/>
                  </a:rPr>
                  <a:t>( </a:t>
                </a:r>
                <a:r>
                  <a:rPr lang="en-US" altLang="zh-TW" dirty="0">
                    <a:solidFill>
                      <a:schemeClr val="accent2">
                        <a:lumMod val="75000"/>
                      </a:schemeClr>
                    </a:solidFill>
                    <a:latin typeface="TimesNewRoman"/>
                  </a:rPr>
                  <a:t>ac</a:t>
                </a:r>
                <a:r>
                  <a:rPr lang="en-US" altLang="zh-TW" dirty="0">
                    <a:solidFill>
                      <a:schemeClr val="accent4">
                        <a:lumMod val="50000"/>
                      </a:schemeClr>
                    </a:solidFill>
                    <a:latin typeface="TimesNewRoman"/>
                  </a:rPr>
                  <a:t> </a:t>
                </a:r>
                <a:r>
                  <a:rPr lang="en-US" altLang="zh-TW" dirty="0">
                    <a:latin typeface="TimesNewRoman"/>
                  </a:rPr>
                  <a:t>)</a:t>
                </a:r>
                <a:r>
                  <a:rPr lang="en-US" altLang="zh-TW" dirty="0">
                    <a:solidFill>
                      <a:srgbClr val="0070C0"/>
                    </a:solidFill>
                    <a:latin typeface="TimesNewRoman"/>
                  </a:rPr>
                  <a:t> </a:t>
                </a:r>
                <a:r>
                  <a:rPr lang="en-US" altLang="zh-TW" dirty="0">
                    <a:latin typeface="TimesNewRoman"/>
                  </a:rPr>
                  <a:t>and </a:t>
                </a:r>
                <a:r>
                  <a:rPr lang="en-US" altLang="zh-TW" dirty="0">
                    <a:solidFill>
                      <a:srgbClr val="00B050"/>
                    </a:solidFill>
                    <a:latin typeface="TimesNewRoman"/>
                  </a:rPr>
                  <a:t>B [l: j] </a:t>
                </a:r>
                <a:r>
                  <a:rPr lang="en-US" altLang="zh-TW" dirty="0">
                    <a:latin typeface="TimesNewRoman"/>
                  </a:rPr>
                  <a:t>have the LCS of length 1 =&gt; 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(1, 2) </m:t>
                    </m:r>
                  </m:oMath>
                </a14:m>
                <a:r>
                  <a:rPr lang="en-US" altLang="zh-TW" dirty="0">
                    <a:latin typeface="TimesNewRoman"/>
                  </a:rPr>
                  <a:t>= j = 1</a:t>
                </a:r>
                <a:endParaRPr lang="zh-TW" altLang="en-US" dirty="0">
                  <a:latin typeface="TimesNewRoman"/>
                </a:endParaRPr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D1E291D8-DDAF-43DA-92DC-23259E21C9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867" y="5665003"/>
                <a:ext cx="6747124" cy="463397"/>
              </a:xfrm>
              <a:prstGeom prst="rect">
                <a:avLst/>
              </a:prstGeom>
              <a:blipFill>
                <a:blip r:embed="rId4"/>
                <a:stretch>
                  <a:fillRect l="-723" b="-197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L 圖案 30">
            <a:extLst>
              <a:ext uri="{FF2B5EF4-FFF2-40B4-BE49-F238E27FC236}">
                <a16:creationId xmlns:a16="http://schemas.microsoft.com/office/drawing/2014/main" xmlns="" id="{37B1FD34-FFAE-464C-8E1A-3E4ECA8C0F24}"/>
              </a:ext>
            </a:extLst>
          </p:cNvPr>
          <p:cNvSpPr/>
          <p:nvPr/>
        </p:nvSpPr>
        <p:spPr>
          <a:xfrm>
            <a:off x="1403496" y="1142952"/>
            <a:ext cx="1360968" cy="919073"/>
          </a:xfrm>
          <a:prstGeom prst="corner">
            <a:avLst>
              <a:gd name="adj1" fmla="val 45622"/>
              <a:gd name="adj2" fmla="val 3104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L 圖案 31">
            <a:extLst>
              <a:ext uri="{FF2B5EF4-FFF2-40B4-BE49-F238E27FC236}">
                <a16:creationId xmlns:a16="http://schemas.microsoft.com/office/drawing/2014/main" xmlns="" id="{63B6F240-F35B-4FA6-A4C4-AFBDC3F35BC3}"/>
              </a:ext>
            </a:extLst>
          </p:cNvPr>
          <p:cNvSpPr/>
          <p:nvPr/>
        </p:nvSpPr>
        <p:spPr>
          <a:xfrm rot="10800000" flipH="1">
            <a:off x="1403497" y="1142948"/>
            <a:ext cx="489097" cy="919073"/>
          </a:xfrm>
          <a:prstGeom prst="corner">
            <a:avLst>
              <a:gd name="adj1" fmla="val 101398"/>
              <a:gd name="adj2" fmla="val 53021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92957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1.85185E-6 L 0.11006 1.85185E-6 " pathEditMode="relative" rAng="0" ptsTypes="AA">
                                      <p:cBhvr>
                                        <p:cTn id="23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03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 animBg="1"/>
      <p:bldP spid="31" grpId="0" animBg="1"/>
      <p:bldP spid="31" grpId="1" animBg="1"/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matrix L(p, m) problem 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5</a:t>
            </a:fld>
            <a:endParaRPr lang="zh-TW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9E5F53DD-DE70-4FC6-A257-D48E271963F3}"/>
              </a:ext>
            </a:extLst>
          </p:cNvPr>
          <p:cNvSpPr/>
          <p:nvPr/>
        </p:nvSpPr>
        <p:spPr>
          <a:xfrm>
            <a:off x="665366" y="1606350"/>
            <a:ext cx="32912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spc="800" dirty="0">
                <a:solidFill>
                  <a:srgbClr val="00B050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B: </a:t>
            </a:r>
            <a:r>
              <a:rPr lang="en-US" altLang="zh-TW" sz="2400" spc="800" dirty="0" err="1">
                <a:solidFill>
                  <a:srgbClr val="00B050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cddbacaba</a:t>
            </a:r>
            <a:endParaRPr lang="zh-TW" altLang="en-US" sz="2400" spc="800" dirty="0">
              <a:solidFill>
                <a:srgbClr val="00B050"/>
              </a:solidFill>
              <a:latin typeface="Century" panose="020406040505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xmlns="" id="{83B79DCA-E8A5-4CE2-93C6-F58E6AF8A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88222"/>
              </p:ext>
            </p:extLst>
          </p:nvPr>
        </p:nvGraphicFramePr>
        <p:xfrm>
          <a:off x="938181" y="2676273"/>
          <a:ext cx="7267637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3909">
                  <a:extLst>
                    <a:ext uri="{9D8B030D-6E8A-4147-A177-3AD203B41FA5}">
                      <a16:colId xmlns:a16="http://schemas.microsoft.com/office/drawing/2014/main" xmlns="" val="66003816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2237411659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3295561630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1278059543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57330068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3158111397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334821929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1172757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k         </a:t>
                      </a:r>
                      <a:r>
                        <a:rPr lang="en-US" altLang="zh-TW" sz="1800" b="1" kern="1200" dirty="0" err="1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5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7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22486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16899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07778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710062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794425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210378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137834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969955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xmlns="" id="{0F174CB8-1938-4787-BCD5-B90BC2A8CC3D}"/>
                  </a:ext>
                </a:extLst>
              </p:cNvPr>
              <p:cNvSpPr/>
              <p:nvPr/>
            </p:nvSpPr>
            <p:spPr>
              <a:xfrm>
                <a:off x="4571999" y="1166902"/>
                <a:ext cx="3218871" cy="878895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dirty="0">
                    <a:latin typeface="TimesNewRoman"/>
                  </a:rPr>
                  <a:t>property(I):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TW" dirty="0">
                    <a:latin typeface="TimesNewRoman"/>
                  </a:rPr>
                  <a:t>	if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𝑛𝑢𝑙𝑙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0F174CB8-1938-4787-BCD5-B90BC2A8CC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9" y="1166902"/>
                <a:ext cx="3218871" cy="878895"/>
              </a:xfrm>
              <a:prstGeom prst="rect">
                <a:avLst/>
              </a:prstGeom>
              <a:blipFill>
                <a:blip r:embed="rId3"/>
                <a:stretch>
                  <a:fillRect l="-1321" b="-884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L 圖案 22">
            <a:extLst>
              <a:ext uri="{FF2B5EF4-FFF2-40B4-BE49-F238E27FC236}">
                <a16:creationId xmlns:a16="http://schemas.microsoft.com/office/drawing/2014/main" xmlns="" id="{E994B1FA-2A4A-494C-B5F5-141F89ED973F}"/>
              </a:ext>
            </a:extLst>
          </p:cNvPr>
          <p:cNvSpPr/>
          <p:nvPr/>
        </p:nvSpPr>
        <p:spPr>
          <a:xfrm>
            <a:off x="1371603" y="1142952"/>
            <a:ext cx="1339699" cy="919073"/>
          </a:xfrm>
          <a:prstGeom prst="corner">
            <a:avLst>
              <a:gd name="adj1" fmla="val 43308"/>
              <a:gd name="adj2" fmla="val 3104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09665796-AE4E-460B-A9A4-E18CA3F5DFE3}"/>
              </a:ext>
            </a:extLst>
          </p:cNvPr>
          <p:cNvSpPr/>
          <p:nvPr/>
        </p:nvSpPr>
        <p:spPr>
          <a:xfrm>
            <a:off x="2078909" y="3059668"/>
            <a:ext cx="4197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5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E998F362-E99D-47C7-AE99-5E29836C81E0}"/>
              </a:ext>
            </a:extLst>
          </p:cNvPr>
          <p:cNvSpPr/>
          <p:nvPr/>
        </p:nvSpPr>
        <p:spPr>
          <a:xfrm>
            <a:off x="656389" y="1108708"/>
            <a:ext cx="27382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spc="800" dirty="0">
                <a:solidFill>
                  <a:schemeClr val="accent2">
                    <a:lumMod val="75000"/>
                  </a:schemeClr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A: </a:t>
            </a:r>
            <a:r>
              <a:rPr lang="en-US" altLang="zh-TW" sz="2400" spc="800" dirty="0" err="1">
                <a:solidFill>
                  <a:schemeClr val="accent2">
                    <a:lumMod val="75000"/>
                  </a:schemeClr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acdabbc</a:t>
            </a:r>
            <a:endParaRPr lang="zh-TW" altLang="en-US" sz="2400" spc="800" dirty="0">
              <a:solidFill>
                <a:schemeClr val="accent2">
                  <a:lumMod val="75000"/>
                </a:schemeClr>
              </a:solidFill>
              <a:latin typeface="Century" panose="020406040505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763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xmlns="" id="{7B3C830D-E8C4-45B7-AB40-11A78C5130BC}"/>
                  </a:ext>
                </a:extLst>
              </p:cNvPr>
              <p:cNvSpPr/>
              <p:nvPr/>
            </p:nvSpPr>
            <p:spPr>
              <a:xfrm>
                <a:off x="4109332" y="998092"/>
                <a:ext cx="4180023" cy="13923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altLang="zh-TW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𝑙𝑒𝑎𝑠𝑡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𝑛𝑢𝑚𝑏𝑒𝑟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𝑡h𝑎𝑡</m:t>
                      </m:r>
                    </m:oMath>
                  </m:oMathPara>
                </a14:m>
                <a:endParaRPr lang="en-US" altLang="zh-TW" b="0" dirty="0"/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&amp;&amp;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altLang="zh-TW" b="0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7B3C830D-E8C4-45B7-AB40-11A78C5130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9332" y="998092"/>
                <a:ext cx="4180023" cy="13923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matrix L(p, m) problem 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6</a:t>
            </a:fld>
            <a:endParaRPr lang="zh-TW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9E5F53DD-DE70-4FC6-A257-D48E271963F3}"/>
              </a:ext>
            </a:extLst>
          </p:cNvPr>
          <p:cNvSpPr/>
          <p:nvPr/>
        </p:nvSpPr>
        <p:spPr>
          <a:xfrm>
            <a:off x="665366" y="1606350"/>
            <a:ext cx="32912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spc="800" dirty="0">
                <a:solidFill>
                  <a:srgbClr val="00B050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B: </a:t>
            </a:r>
            <a:r>
              <a:rPr lang="en-US" altLang="zh-TW" sz="2400" spc="800" dirty="0" err="1">
                <a:solidFill>
                  <a:srgbClr val="00B050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cddbacaba</a:t>
            </a:r>
            <a:endParaRPr lang="zh-TW" altLang="en-US" sz="2400" spc="800" dirty="0">
              <a:solidFill>
                <a:srgbClr val="00B050"/>
              </a:solidFill>
              <a:latin typeface="Century" panose="020406040505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xmlns="" id="{83B79DCA-E8A5-4CE2-93C6-F58E6AF8A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544683"/>
              </p:ext>
            </p:extLst>
          </p:nvPr>
        </p:nvGraphicFramePr>
        <p:xfrm>
          <a:off x="938181" y="2676273"/>
          <a:ext cx="7267637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3909">
                  <a:extLst>
                    <a:ext uri="{9D8B030D-6E8A-4147-A177-3AD203B41FA5}">
                      <a16:colId xmlns:a16="http://schemas.microsoft.com/office/drawing/2014/main" xmlns="" val="66003816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2237411659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3295561630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1278059543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57330068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3158111397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334821929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1172757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k         </a:t>
                      </a:r>
                      <a:r>
                        <a:rPr lang="en-US" altLang="zh-TW" sz="1800" b="1" kern="1200" dirty="0" err="1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5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7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22486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16899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07778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710062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794425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210378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137834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969955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xmlns="" id="{0F174CB8-1938-4787-BCD5-B90BC2A8CC3D}"/>
                  </a:ext>
                </a:extLst>
              </p:cNvPr>
              <p:cNvSpPr/>
              <p:nvPr/>
            </p:nvSpPr>
            <p:spPr>
              <a:xfrm>
                <a:off x="3935635" y="1163039"/>
                <a:ext cx="4579715" cy="878895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dirty="0">
                    <a:latin typeface="TimesNewRoman"/>
                  </a:rPr>
                  <a:t>property(II):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TW" dirty="0">
                    <a:latin typeface="TimesNewRoman"/>
                  </a:rPr>
                  <a:t>	if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>
                    <a:solidFill>
                      <a:srgbClr val="0070C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0F174CB8-1938-4787-BCD5-B90BC2A8CC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635" y="1163039"/>
                <a:ext cx="4579715" cy="878895"/>
              </a:xfrm>
              <a:prstGeom prst="rect">
                <a:avLst/>
              </a:prstGeom>
              <a:blipFill>
                <a:blip r:embed="rId4"/>
                <a:stretch>
                  <a:fillRect l="-1062" b="-958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09665796-AE4E-460B-A9A4-E18CA3F5DFE3}"/>
              </a:ext>
            </a:extLst>
          </p:cNvPr>
          <p:cNvSpPr/>
          <p:nvPr/>
        </p:nvSpPr>
        <p:spPr>
          <a:xfrm>
            <a:off x="3002719" y="3059668"/>
            <a:ext cx="4197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L 圖案 9">
            <a:extLst>
              <a:ext uri="{FF2B5EF4-FFF2-40B4-BE49-F238E27FC236}">
                <a16:creationId xmlns:a16="http://schemas.microsoft.com/office/drawing/2014/main" xmlns="" id="{CDF158CA-A710-4E44-9F73-26E2D12EED1B}"/>
              </a:ext>
            </a:extLst>
          </p:cNvPr>
          <p:cNvSpPr/>
          <p:nvPr/>
        </p:nvSpPr>
        <p:spPr>
          <a:xfrm rot="10800000" flipH="1">
            <a:off x="1350335" y="1142948"/>
            <a:ext cx="574158" cy="919073"/>
          </a:xfrm>
          <a:prstGeom prst="corner">
            <a:avLst>
              <a:gd name="adj1" fmla="val 88799"/>
              <a:gd name="adj2" fmla="val 53021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F3012DBC-FBD7-48B9-92F6-BBFFEBF776A2}"/>
              </a:ext>
            </a:extLst>
          </p:cNvPr>
          <p:cNvSpPr/>
          <p:nvPr/>
        </p:nvSpPr>
        <p:spPr>
          <a:xfrm>
            <a:off x="3958489" y="30596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3C52B537-C7ED-45AA-A9FC-E9920B410C24}"/>
              </a:ext>
            </a:extLst>
          </p:cNvPr>
          <p:cNvSpPr/>
          <p:nvPr/>
        </p:nvSpPr>
        <p:spPr>
          <a:xfrm>
            <a:off x="4885847" y="30596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C27DE78A-C764-49D8-B2E0-B6D2F164B20B}"/>
              </a:ext>
            </a:extLst>
          </p:cNvPr>
          <p:cNvSpPr/>
          <p:nvPr/>
        </p:nvSpPr>
        <p:spPr>
          <a:xfrm>
            <a:off x="5777821" y="30596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7AF92449-404F-45C7-AD19-52D23F3484E1}"/>
              </a:ext>
            </a:extLst>
          </p:cNvPr>
          <p:cNvSpPr/>
          <p:nvPr/>
        </p:nvSpPr>
        <p:spPr>
          <a:xfrm>
            <a:off x="6696747" y="30596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335217B0-6AC1-45B5-9820-1355FF3C9EB9}"/>
              </a:ext>
            </a:extLst>
          </p:cNvPr>
          <p:cNvSpPr/>
          <p:nvPr/>
        </p:nvSpPr>
        <p:spPr>
          <a:xfrm>
            <a:off x="7599353" y="30596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2563DAB7-9976-4414-BA76-B8FA584F4AB1}"/>
              </a:ext>
            </a:extLst>
          </p:cNvPr>
          <p:cNvSpPr/>
          <p:nvPr/>
        </p:nvSpPr>
        <p:spPr>
          <a:xfrm>
            <a:off x="656389" y="1108708"/>
            <a:ext cx="27382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spc="800" dirty="0">
                <a:solidFill>
                  <a:schemeClr val="accent2">
                    <a:lumMod val="75000"/>
                  </a:schemeClr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A: </a:t>
            </a:r>
            <a:r>
              <a:rPr lang="en-US" altLang="zh-TW" sz="2400" spc="800" dirty="0" err="1">
                <a:solidFill>
                  <a:schemeClr val="accent2">
                    <a:lumMod val="75000"/>
                  </a:schemeClr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acdabbc</a:t>
            </a:r>
            <a:endParaRPr lang="zh-TW" altLang="en-US" sz="2400" spc="800" dirty="0">
              <a:solidFill>
                <a:schemeClr val="accent2">
                  <a:lumMod val="75000"/>
                </a:schemeClr>
              </a:solidFill>
              <a:latin typeface="Century" panose="020406040505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838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22" grpId="0" animBg="1"/>
      <p:bldP spid="24" grpId="0"/>
      <p:bldP spid="10" grpId="0" animBg="1"/>
      <p:bldP spid="12" grpId="0"/>
      <p:bldP spid="13" grpId="0"/>
      <p:bldP spid="14" grpId="0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xmlns="" id="{7B3C830D-E8C4-45B7-AB40-11A78C5130BC}"/>
                  </a:ext>
                </a:extLst>
              </p:cNvPr>
              <p:cNvSpPr/>
              <p:nvPr/>
            </p:nvSpPr>
            <p:spPr>
              <a:xfrm>
                <a:off x="4109332" y="998092"/>
                <a:ext cx="4180023" cy="13923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altLang="zh-TW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𝑙𝑒𝑎𝑠𝑡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𝑛𝑢𝑚𝑏𝑒𝑟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𝑡h𝑎𝑡</m:t>
                      </m:r>
                    </m:oMath>
                  </m:oMathPara>
                </a14:m>
                <a:endParaRPr lang="en-US" altLang="zh-TW" b="0" dirty="0"/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&amp;&amp;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altLang="zh-TW" b="0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7B3C830D-E8C4-45B7-AB40-11A78C5130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9332" y="998092"/>
                <a:ext cx="4180023" cy="13923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matrix L(p, m) problem 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7</a:t>
            </a:fld>
            <a:endParaRPr lang="zh-TW" altLang="en-US" dirty="0"/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xmlns="" id="{83B79DCA-E8A5-4CE2-93C6-F58E6AF8A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736597"/>
              </p:ext>
            </p:extLst>
          </p:nvPr>
        </p:nvGraphicFramePr>
        <p:xfrm>
          <a:off x="938181" y="2676273"/>
          <a:ext cx="7267637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3909">
                  <a:extLst>
                    <a:ext uri="{9D8B030D-6E8A-4147-A177-3AD203B41FA5}">
                      <a16:colId xmlns:a16="http://schemas.microsoft.com/office/drawing/2014/main" xmlns="" val="66003816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2237411659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3295561630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1278059543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57330068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3158111397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334821929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1172757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k         </a:t>
                      </a:r>
                      <a:r>
                        <a:rPr lang="en-US" altLang="zh-TW" sz="1800" b="1" kern="1200" dirty="0" err="1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5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7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22486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16899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07778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710062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794425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210378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137834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96995507"/>
                  </a:ext>
                </a:extLst>
              </a:tr>
            </a:tbl>
          </a:graphicData>
        </a:graphic>
      </p:graphicFrame>
      <p:sp>
        <p:nvSpPr>
          <p:cNvPr id="18" name="L 圖案 17">
            <a:extLst>
              <a:ext uri="{FF2B5EF4-FFF2-40B4-BE49-F238E27FC236}">
                <a16:creationId xmlns:a16="http://schemas.microsoft.com/office/drawing/2014/main" xmlns="" id="{E550AF29-2219-4275-8D60-2EA156814778}"/>
              </a:ext>
            </a:extLst>
          </p:cNvPr>
          <p:cNvSpPr/>
          <p:nvPr/>
        </p:nvSpPr>
        <p:spPr>
          <a:xfrm>
            <a:off x="1403502" y="1128233"/>
            <a:ext cx="1339698" cy="907531"/>
          </a:xfrm>
          <a:prstGeom prst="corner">
            <a:avLst>
              <a:gd name="adj1" fmla="val 43308"/>
              <a:gd name="adj2" fmla="val 24099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xmlns="" id="{09373C17-6BC1-4AD4-BB88-D30CA4426D06}"/>
              </a:ext>
            </a:extLst>
          </p:cNvPr>
          <p:cNvSpPr/>
          <p:nvPr/>
        </p:nvSpPr>
        <p:spPr>
          <a:xfrm>
            <a:off x="1653362" y="1113514"/>
            <a:ext cx="244549" cy="491652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xmlns="" id="{6F4CA95D-AD74-4C65-99B6-5A2BF208E38B}"/>
              </a:ext>
            </a:extLst>
          </p:cNvPr>
          <p:cNvCxnSpPr/>
          <p:nvPr/>
        </p:nvCxnSpPr>
        <p:spPr>
          <a:xfrm>
            <a:off x="2583711" y="2157718"/>
            <a:ext cx="38277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橢圓 22">
            <a:extLst>
              <a:ext uri="{FF2B5EF4-FFF2-40B4-BE49-F238E27FC236}">
                <a16:creationId xmlns:a16="http://schemas.microsoft.com/office/drawing/2014/main" xmlns="" id="{76AF60DA-AF69-400D-A849-A6A549DE8218}"/>
              </a:ext>
            </a:extLst>
          </p:cNvPr>
          <p:cNvSpPr/>
          <p:nvPr/>
        </p:nvSpPr>
        <p:spPr>
          <a:xfrm>
            <a:off x="3039140" y="3428999"/>
            <a:ext cx="389718" cy="358524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xmlns="" id="{66792BA1-09E6-4433-BF9C-4B5F8969D90F}"/>
              </a:ext>
            </a:extLst>
          </p:cNvPr>
          <p:cNvSpPr/>
          <p:nvPr/>
        </p:nvSpPr>
        <p:spPr>
          <a:xfrm>
            <a:off x="2087880" y="3055620"/>
            <a:ext cx="434340" cy="32764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xmlns="" id="{DE850478-95A8-4ECF-8C11-D234F5859AB3}"/>
              </a:ext>
            </a:extLst>
          </p:cNvPr>
          <p:cNvCxnSpPr>
            <a:cxnSpLocks/>
          </p:cNvCxnSpPr>
          <p:nvPr/>
        </p:nvCxnSpPr>
        <p:spPr>
          <a:xfrm>
            <a:off x="2583711" y="3322320"/>
            <a:ext cx="382772" cy="26032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xmlns="" id="{F2888848-53EC-4B9E-95C4-1A2B7BC1CB30}"/>
              </a:ext>
            </a:extLst>
          </p:cNvPr>
          <p:cNvSpPr/>
          <p:nvPr/>
        </p:nvSpPr>
        <p:spPr>
          <a:xfrm>
            <a:off x="3067916" y="345248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6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3" name="L 圖案 32">
            <a:extLst>
              <a:ext uri="{FF2B5EF4-FFF2-40B4-BE49-F238E27FC236}">
                <a16:creationId xmlns:a16="http://schemas.microsoft.com/office/drawing/2014/main" xmlns="" id="{DCD2DBB1-FB75-432B-B185-5A9C84313FD6}"/>
              </a:ext>
            </a:extLst>
          </p:cNvPr>
          <p:cNvSpPr/>
          <p:nvPr/>
        </p:nvSpPr>
        <p:spPr>
          <a:xfrm>
            <a:off x="1403502" y="1128233"/>
            <a:ext cx="1562981" cy="907531"/>
          </a:xfrm>
          <a:prstGeom prst="corner">
            <a:avLst>
              <a:gd name="adj1" fmla="val 43308"/>
              <a:gd name="adj2" fmla="val 52647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145C58C6-B0B8-4639-906C-A9069722362E}"/>
              </a:ext>
            </a:extLst>
          </p:cNvPr>
          <p:cNvSpPr/>
          <p:nvPr/>
        </p:nvSpPr>
        <p:spPr>
          <a:xfrm>
            <a:off x="665366" y="1606350"/>
            <a:ext cx="32912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spc="800" dirty="0">
                <a:solidFill>
                  <a:srgbClr val="00B050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B: </a:t>
            </a:r>
            <a:r>
              <a:rPr lang="en-US" altLang="zh-TW" sz="2400" spc="800" dirty="0" err="1">
                <a:solidFill>
                  <a:srgbClr val="00B050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cddbacaba</a:t>
            </a:r>
            <a:endParaRPr lang="zh-TW" altLang="en-US" sz="2400" spc="800" dirty="0">
              <a:solidFill>
                <a:srgbClr val="00B050"/>
              </a:solidFill>
              <a:latin typeface="Century" panose="02040604050505020304" pitchFamily="18" charset="0"/>
              <a:cs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8EA5F231-4CD9-4926-BD3A-660BF9EE1AAC}"/>
              </a:ext>
            </a:extLst>
          </p:cNvPr>
          <p:cNvSpPr/>
          <p:nvPr/>
        </p:nvSpPr>
        <p:spPr>
          <a:xfrm>
            <a:off x="656389" y="1108708"/>
            <a:ext cx="27382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spc="800" dirty="0">
                <a:solidFill>
                  <a:schemeClr val="accent2">
                    <a:lumMod val="75000"/>
                  </a:schemeClr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A: </a:t>
            </a:r>
            <a:r>
              <a:rPr lang="en-US" altLang="zh-TW" sz="2400" spc="800" dirty="0" err="1">
                <a:solidFill>
                  <a:schemeClr val="accent2">
                    <a:lumMod val="75000"/>
                  </a:schemeClr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acdabbc</a:t>
            </a:r>
            <a:endParaRPr lang="zh-TW" altLang="en-US" sz="2400" spc="800" dirty="0">
              <a:solidFill>
                <a:schemeClr val="accent2">
                  <a:lumMod val="75000"/>
                </a:schemeClr>
              </a:solidFill>
              <a:latin typeface="Century" panose="020406040505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247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8" grpId="1" animBg="1"/>
      <p:bldP spid="3" grpId="0" animBg="1"/>
      <p:bldP spid="3" grpId="1" animBg="1"/>
      <p:bldP spid="23" grpId="0" animBg="1"/>
      <p:bldP spid="25" grpId="0" animBg="1"/>
      <p:bldP spid="32" grpId="0"/>
      <p:bldP spid="3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xmlns="" id="{7B3C830D-E8C4-45B7-AB40-11A78C5130BC}"/>
                  </a:ext>
                </a:extLst>
              </p:cNvPr>
              <p:cNvSpPr/>
              <p:nvPr/>
            </p:nvSpPr>
            <p:spPr>
              <a:xfrm>
                <a:off x="4109332" y="998092"/>
                <a:ext cx="4180023" cy="13923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altLang="zh-TW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𝑙𝑒𝑎𝑠𝑡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𝑛𝑢𝑚𝑏𝑒𝑟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𝑡h𝑎𝑡</m:t>
                      </m:r>
                    </m:oMath>
                  </m:oMathPara>
                </a14:m>
                <a:endParaRPr lang="en-US" altLang="zh-TW" b="0" dirty="0"/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&amp;&amp;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altLang="zh-TW" b="0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7B3C830D-E8C4-45B7-AB40-11A78C5130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9332" y="998092"/>
                <a:ext cx="4180023" cy="13923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matrix L(p, m) problem 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8</a:t>
            </a:fld>
            <a:endParaRPr lang="zh-TW" altLang="en-US" dirty="0"/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xmlns="" id="{83B79DCA-E8A5-4CE2-93C6-F58E6AF8A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670850"/>
              </p:ext>
            </p:extLst>
          </p:nvPr>
        </p:nvGraphicFramePr>
        <p:xfrm>
          <a:off x="938181" y="2676273"/>
          <a:ext cx="7267637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3909">
                  <a:extLst>
                    <a:ext uri="{9D8B030D-6E8A-4147-A177-3AD203B41FA5}">
                      <a16:colId xmlns:a16="http://schemas.microsoft.com/office/drawing/2014/main" xmlns="" val="66003816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2237411659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3295561630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1278059543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57330068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3158111397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334821929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1172757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k         </a:t>
                      </a:r>
                      <a:r>
                        <a:rPr lang="en-US" altLang="zh-TW" sz="1800" b="1" kern="1200" dirty="0" err="1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5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7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22486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16899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07778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710062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794425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210378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137834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96995507"/>
                  </a:ext>
                </a:extLst>
              </a:tr>
            </a:tbl>
          </a:graphicData>
        </a:graphic>
      </p:graphicFrame>
      <p:sp>
        <p:nvSpPr>
          <p:cNvPr id="3" name="橢圓 2">
            <a:extLst>
              <a:ext uri="{FF2B5EF4-FFF2-40B4-BE49-F238E27FC236}">
                <a16:creationId xmlns:a16="http://schemas.microsoft.com/office/drawing/2014/main" xmlns="" id="{09373C17-6BC1-4AD4-BB88-D30CA4426D06}"/>
              </a:ext>
            </a:extLst>
          </p:cNvPr>
          <p:cNvSpPr/>
          <p:nvPr/>
        </p:nvSpPr>
        <p:spPr>
          <a:xfrm>
            <a:off x="1923821" y="1078721"/>
            <a:ext cx="244549" cy="491652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xmlns="" id="{6F4CA95D-AD74-4C65-99B6-5A2BF208E38B}"/>
              </a:ext>
            </a:extLst>
          </p:cNvPr>
          <p:cNvCxnSpPr/>
          <p:nvPr/>
        </p:nvCxnSpPr>
        <p:spPr>
          <a:xfrm>
            <a:off x="1541049" y="2172958"/>
            <a:ext cx="38277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橢圓 22">
            <a:extLst>
              <a:ext uri="{FF2B5EF4-FFF2-40B4-BE49-F238E27FC236}">
                <a16:creationId xmlns:a16="http://schemas.microsoft.com/office/drawing/2014/main" xmlns="" id="{76AF60DA-AF69-400D-A849-A6A549DE8218}"/>
              </a:ext>
            </a:extLst>
          </p:cNvPr>
          <p:cNvSpPr/>
          <p:nvPr/>
        </p:nvSpPr>
        <p:spPr>
          <a:xfrm>
            <a:off x="3956652" y="3429000"/>
            <a:ext cx="389718" cy="358524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xmlns="" id="{66792BA1-09E6-4433-BF9C-4B5F8969D90F}"/>
              </a:ext>
            </a:extLst>
          </p:cNvPr>
          <p:cNvSpPr/>
          <p:nvPr/>
        </p:nvSpPr>
        <p:spPr>
          <a:xfrm>
            <a:off x="2994518" y="3054533"/>
            <a:ext cx="434340" cy="32764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xmlns="" id="{DE850478-95A8-4ECF-8C11-D234F5859AB3}"/>
              </a:ext>
            </a:extLst>
          </p:cNvPr>
          <p:cNvCxnSpPr>
            <a:cxnSpLocks/>
          </p:cNvCxnSpPr>
          <p:nvPr/>
        </p:nvCxnSpPr>
        <p:spPr>
          <a:xfrm>
            <a:off x="3501223" y="3322321"/>
            <a:ext cx="382772" cy="26032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xmlns="" id="{F2888848-53EC-4B9E-95C4-1A2B7BC1CB30}"/>
              </a:ext>
            </a:extLst>
          </p:cNvPr>
          <p:cNvSpPr/>
          <p:nvPr/>
        </p:nvSpPr>
        <p:spPr>
          <a:xfrm>
            <a:off x="4000668" y="3452485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2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6" name="L 圖案 15">
            <a:extLst>
              <a:ext uri="{FF2B5EF4-FFF2-40B4-BE49-F238E27FC236}">
                <a16:creationId xmlns:a16="http://schemas.microsoft.com/office/drawing/2014/main" xmlns="" id="{7B3EAFB3-083D-4242-8CE3-D49F64409F9C}"/>
              </a:ext>
            </a:extLst>
          </p:cNvPr>
          <p:cNvSpPr/>
          <p:nvPr/>
        </p:nvSpPr>
        <p:spPr>
          <a:xfrm rot="10800000" flipH="1">
            <a:off x="1350335" y="1142947"/>
            <a:ext cx="508945" cy="919073"/>
          </a:xfrm>
          <a:prstGeom prst="corner">
            <a:avLst>
              <a:gd name="adj1" fmla="val 88833"/>
              <a:gd name="adj2" fmla="val 56186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L 圖案 21">
            <a:extLst>
              <a:ext uri="{FF2B5EF4-FFF2-40B4-BE49-F238E27FC236}">
                <a16:creationId xmlns:a16="http://schemas.microsoft.com/office/drawing/2014/main" xmlns="" id="{25C7D07B-F067-4865-BEB8-A2813C7081D3}"/>
              </a:ext>
            </a:extLst>
          </p:cNvPr>
          <p:cNvSpPr/>
          <p:nvPr/>
        </p:nvSpPr>
        <p:spPr>
          <a:xfrm rot="10800000" flipH="1">
            <a:off x="1350334" y="1151028"/>
            <a:ext cx="818036" cy="919073"/>
          </a:xfrm>
          <a:prstGeom prst="corner">
            <a:avLst>
              <a:gd name="adj1" fmla="val 55299"/>
              <a:gd name="adj2" fmla="val 66433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xmlns="" id="{68A5DD9D-3E24-4768-850E-65B10E03CDF0}"/>
                  </a:ext>
                </a:extLst>
              </p:cNvPr>
              <p:cNvSpPr/>
              <p:nvPr/>
            </p:nvSpPr>
            <p:spPr>
              <a:xfrm>
                <a:off x="3935635" y="1163039"/>
                <a:ext cx="4579715" cy="878895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dirty="0">
                    <a:latin typeface="TimesNewRoman"/>
                  </a:rPr>
                  <a:t>property(II):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TW" dirty="0">
                    <a:latin typeface="TimesNewRoman"/>
                  </a:rPr>
                  <a:t>	if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>
                    <a:solidFill>
                      <a:srgbClr val="0070C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TW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68A5DD9D-3E24-4768-850E-65B10E03CD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635" y="1163039"/>
                <a:ext cx="4579715" cy="878895"/>
              </a:xfrm>
              <a:prstGeom prst="rect">
                <a:avLst/>
              </a:prstGeom>
              <a:blipFill>
                <a:blip r:embed="rId4"/>
                <a:stretch>
                  <a:fillRect l="-1062" b="-958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1FF5DC80-29DD-4C5E-B521-CA81D8CFFA82}"/>
              </a:ext>
            </a:extLst>
          </p:cNvPr>
          <p:cNvSpPr/>
          <p:nvPr/>
        </p:nvSpPr>
        <p:spPr>
          <a:xfrm>
            <a:off x="4885847" y="343304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2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01503F49-B46C-4997-9A4B-791F8E5BC917}"/>
              </a:ext>
            </a:extLst>
          </p:cNvPr>
          <p:cNvSpPr/>
          <p:nvPr/>
        </p:nvSpPr>
        <p:spPr>
          <a:xfrm>
            <a:off x="5777821" y="343304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2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D6EFC7E6-1E21-4BBD-A120-BC2A6074E74A}"/>
              </a:ext>
            </a:extLst>
          </p:cNvPr>
          <p:cNvSpPr/>
          <p:nvPr/>
        </p:nvSpPr>
        <p:spPr>
          <a:xfrm>
            <a:off x="6696747" y="343304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2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xmlns="" id="{0E2A3E02-8E46-409C-9722-6A6AF30BAC0C}"/>
              </a:ext>
            </a:extLst>
          </p:cNvPr>
          <p:cNvSpPr/>
          <p:nvPr/>
        </p:nvSpPr>
        <p:spPr>
          <a:xfrm>
            <a:off x="7599353" y="343304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2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xmlns="" id="{F1F51858-3EB5-4702-88F6-5CED1EA323A3}"/>
              </a:ext>
            </a:extLst>
          </p:cNvPr>
          <p:cNvSpPr/>
          <p:nvPr/>
        </p:nvSpPr>
        <p:spPr>
          <a:xfrm>
            <a:off x="665366" y="1606350"/>
            <a:ext cx="32912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spc="800" dirty="0">
                <a:solidFill>
                  <a:srgbClr val="00B050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B: </a:t>
            </a:r>
            <a:r>
              <a:rPr lang="en-US" altLang="zh-TW" sz="2400" spc="800" dirty="0" err="1">
                <a:solidFill>
                  <a:srgbClr val="00B050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cddbacaba</a:t>
            </a:r>
            <a:endParaRPr lang="zh-TW" altLang="en-US" sz="2400" spc="800" dirty="0">
              <a:solidFill>
                <a:srgbClr val="00B050"/>
              </a:solidFill>
              <a:latin typeface="Century" panose="02040604050505020304" pitchFamily="18" charset="0"/>
              <a:cs typeface="Arial" panose="020B0604020202020204" pitchFamily="34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xmlns="" id="{3D441F0C-7651-459E-A660-DEA1C89F3AFC}"/>
              </a:ext>
            </a:extLst>
          </p:cNvPr>
          <p:cNvSpPr/>
          <p:nvPr/>
        </p:nvSpPr>
        <p:spPr>
          <a:xfrm>
            <a:off x="656389" y="1108708"/>
            <a:ext cx="27382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spc="800" dirty="0">
                <a:solidFill>
                  <a:schemeClr val="accent2">
                    <a:lumMod val="75000"/>
                  </a:schemeClr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A: </a:t>
            </a:r>
            <a:r>
              <a:rPr lang="en-US" altLang="zh-TW" sz="2400" spc="800" dirty="0" err="1">
                <a:solidFill>
                  <a:schemeClr val="accent2">
                    <a:lumMod val="75000"/>
                  </a:schemeClr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acdabbc</a:t>
            </a:r>
            <a:endParaRPr lang="zh-TW" altLang="en-US" sz="2400" spc="800" dirty="0">
              <a:solidFill>
                <a:schemeClr val="accent2">
                  <a:lumMod val="75000"/>
                </a:schemeClr>
              </a:solidFill>
              <a:latin typeface="Century" panose="020406040505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512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1" animBg="1"/>
      <p:bldP spid="3" grpId="0" animBg="1"/>
      <p:bldP spid="3" grpId="1" animBg="1"/>
      <p:bldP spid="23" grpId="0" animBg="1"/>
      <p:bldP spid="25" grpId="0" animBg="1"/>
      <p:bldP spid="32" grpId="0"/>
      <p:bldP spid="16" grpId="0" animBg="1"/>
      <p:bldP spid="16" grpId="1" animBg="1"/>
      <p:bldP spid="22" grpId="0" animBg="1"/>
      <p:bldP spid="24" grpId="0" animBg="1"/>
      <p:bldP spid="27" grpId="0"/>
      <p:bldP spid="28" grpId="0"/>
      <p:bldP spid="29" grpId="0"/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xmlns="" id="{7B3C830D-E8C4-45B7-AB40-11A78C5130BC}"/>
                  </a:ext>
                </a:extLst>
              </p:cNvPr>
              <p:cNvSpPr/>
              <p:nvPr/>
            </p:nvSpPr>
            <p:spPr>
              <a:xfrm>
                <a:off x="4109332" y="998092"/>
                <a:ext cx="4180023" cy="13923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altLang="zh-TW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𝑙𝑒𝑎𝑠𝑡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𝑛𝑢𝑚𝑏𝑒𝑟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𝑡h𝑎𝑡</m:t>
                      </m:r>
                    </m:oMath>
                  </m:oMathPara>
                </a14:m>
                <a:endParaRPr lang="en-US" altLang="zh-TW" b="0" dirty="0"/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&amp;&amp;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altLang="zh-TW" b="0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7B3C830D-E8C4-45B7-AB40-11A78C5130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9332" y="998092"/>
                <a:ext cx="4180023" cy="13923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matrix L(p, m) problem 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9</a:t>
            </a:fld>
            <a:endParaRPr lang="zh-TW" altLang="en-US" dirty="0"/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xmlns="" id="{83B79DCA-E8A5-4CE2-93C6-F58E6AF8A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454601"/>
              </p:ext>
            </p:extLst>
          </p:nvPr>
        </p:nvGraphicFramePr>
        <p:xfrm>
          <a:off x="938181" y="2676273"/>
          <a:ext cx="7267637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3909">
                  <a:extLst>
                    <a:ext uri="{9D8B030D-6E8A-4147-A177-3AD203B41FA5}">
                      <a16:colId xmlns:a16="http://schemas.microsoft.com/office/drawing/2014/main" xmlns="" val="66003816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2237411659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3295561630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1278059543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57330068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3158111397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334821929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1172757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k         </a:t>
                      </a:r>
                      <a:r>
                        <a:rPr lang="en-US" altLang="zh-TW" sz="1800" b="1" kern="1200" dirty="0" err="1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5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7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22486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16899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07778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710062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794425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210378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137834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96995507"/>
                  </a:ext>
                </a:extLst>
              </a:tr>
            </a:tbl>
          </a:graphicData>
        </a:graphic>
      </p:graphicFrame>
      <p:sp>
        <p:nvSpPr>
          <p:cNvPr id="3" name="橢圓 2">
            <a:extLst>
              <a:ext uri="{FF2B5EF4-FFF2-40B4-BE49-F238E27FC236}">
                <a16:creationId xmlns:a16="http://schemas.microsoft.com/office/drawing/2014/main" xmlns="" id="{09373C17-6BC1-4AD4-BB88-D30CA4426D06}"/>
              </a:ext>
            </a:extLst>
          </p:cNvPr>
          <p:cNvSpPr/>
          <p:nvPr/>
        </p:nvSpPr>
        <p:spPr>
          <a:xfrm>
            <a:off x="1923821" y="1078721"/>
            <a:ext cx="244549" cy="491652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xmlns="" id="{6F4CA95D-AD74-4C65-99B6-5A2BF208E38B}"/>
              </a:ext>
            </a:extLst>
          </p:cNvPr>
          <p:cNvCxnSpPr/>
          <p:nvPr/>
        </p:nvCxnSpPr>
        <p:spPr>
          <a:xfrm>
            <a:off x="2775097" y="2134858"/>
            <a:ext cx="38277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群組 6">
            <a:extLst>
              <a:ext uri="{FF2B5EF4-FFF2-40B4-BE49-F238E27FC236}">
                <a16:creationId xmlns:a16="http://schemas.microsoft.com/office/drawing/2014/main" xmlns="" id="{B095C174-F006-4298-A22A-55DFE55F709E}"/>
              </a:ext>
            </a:extLst>
          </p:cNvPr>
          <p:cNvGrpSpPr/>
          <p:nvPr/>
        </p:nvGrpSpPr>
        <p:grpSpPr>
          <a:xfrm>
            <a:off x="2994518" y="3453149"/>
            <a:ext cx="1351852" cy="732991"/>
            <a:chOff x="2994518" y="3453149"/>
            <a:chExt cx="1351852" cy="732991"/>
          </a:xfrm>
        </p:grpSpPr>
        <p:sp>
          <p:nvSpPr>
            <p:cNvPr id="23" name="橢圓 22">
              <a:extLst>
                <a:ext uri="{FF2B5EF4-FFF2-40B4-BE49-F238E27FC236}">
                  <a16:creationId xmlns:a16="http://schemas.microsoft.com/office/drawing/2014/main" xmlns="" id="{76AF60DA-AF69-400D-A849-A6A549DE8218}"/>
                </a:ext>
              </a:extLst>
            </p:cNvPr>
            <p:cNvSpPr/>
            <p:nvPr/>
          </p:nvSpPr>
          <p:spPr>
            <a:xfrm>
              <a:off x="3956652" y="3827616"/>
              <a:ext cx="389718" cy="358524"/>
            </a:xfrm>
            <a:prstGeom prst="ellips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xmlns="" id="{66792BA1-09E6-4433-BF9C-4B5F8969D90F}"/>
                </a:ext>
              </a:extLst>
            </p:cNvPr>
            <p:cNvSpPr/>
            <p:nvPr/>
          </p:nvSpPr>
          <p:spPr>
            <a:xfrm>
              <a:off x="2994518" y="3453149"/>
              <a:ext cx="434340" cy="327643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xmlns="" id="{DE850478-95A8-4ECF-8C11-D234F5859AB3}"/>
                </a:ext>
              </a:extLst>
            </p:cNvPr>
            <p:cNvCxnSpPr>
              <a:cxnSpLocks/>
            </p:cNvCxnSpPr>
            <p:nvPr/>
          </p:nvCxnSpPr>
          <p:spPr>
            <a:xfrm>
              <a:off x="3501223" y="3720937"/>
              <a:ext cx="382772" cy="26032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L 圖案 30">
            <a:extLst>
              <a:ext uri="{FF2B5EF4-FFF2-40B4-BE49-F238E27FC236}">
                <a16:creationId xmlns:a16="http://schemas.microsoft.com/office/drawing/2014/main" xmlns="" id="{8189D2CF-145D-4E12-BEF5-387F354CA476}"/>
              </a:ext>
            </a:extLst>
          </p:cNvPr>
          <p:cNvSpPr/>
          <p:nvPr/>
        </p:nvSpPr>
        <p:spPr>
          <a:xfrm>
            <a:off x="1403502" y="1128233"/>
            <a:ext cx="1562981" cy="907531"/>
          </a:xfrm>
          <a:prstGeom prst="corner">
            <a:avLst>
              <a:gd name="adj1" fmla="val 43308"/>
              <a:gd name="adj2" fmla="val 52647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65298DD8-D914-4BC4-8702-E29CC3E4E869}"/>
              </a:ext>
            </a:extLst>
          </p:cNvPr>
          <p:cNvSpPr/>
          <p:nvPr/>
        </p:nvSpPr>
        <p:spPr>
          <a:xfrm>
            <a:off x="665366" y="1606350"/>
            <a:ext cx="32912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spc="800" dirty="0">
                <a:solidFill>
                  <a:srgbClr val="00B050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B: </a:t>
            </a:r>
            <a:r>
              <a:rPr lang="en-US" altLang="zh-TW" sz="2400" spc="800" dirty="0" err="1">
                <a:solidFill>
                  <a:srgbClr val="00B050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cddbacaba</a:t>
            </a:r>
            <a:endParaRPr lang="zh-TW" altLang="en-US" sz="2400" spc="800" dirty="0">
              <a:solidFill>
                <a:srgbClr val="00B050"/>
              </a:solidFill>
              <a:latin typeface="Century" panose="02040604050505020304" pitchFamily="18" charset="0"/>
              <a:cs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1B834C20-58E5-45B7-8BAF-307A86ED2EF5}"/>
              </a:ext>
            </a:extLst>
          </p:cNvPr>
          <p:cNvSpPr/>
          <p:nvPr/>
        </p:nvSpPr>
        <p:spPr>
          <a:xfrm>
            <a:off x="656389" y="1108708"/>
            <a:ext cx="27382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spc="800" dirty="0">
                <a:solidFill>
                  <a:schemeClr val="accent2">
                    <a:lumMod val="75000"/>
                  </a:schemeClr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A: </a:t>
            </a:r>
            <a:r>
              <a:rPr lang="en-US" altLang="zh-TW" sz="2400" spc="800" dirty="0" err="1">
                <a:solidFill>
                  <a:schemeClr val="accent2">
                    <a:lumMod val="75000"/>
                  </a:schemeClr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acdabbc</a:t>
            </a:r>
            <a:endParaRPr lang="zh-TW" altLang="en-US" sz="2400" spc="800" dirty="0">
              <a:solidFill>
                <a:schemeClr val="accent2">
                  <a:lumMod val="75000"/>
                </a:schemeClr>
              </a:solidFill>
              <a:latin typeface="Century" panose="020406040505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698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xmlns="" id="{7B3C830D-E8C4-45B7-AB40-11A78C5130BC}"/>
                  </a:ext>
                </a:extLst>
              </p:cNvPr>
              <p:cNvSpPr/>
              <p:nvPr/>
            </p:nvSpPr>
            <p:spPr>
              <a:xfrm>
                <a:off x="4109332" y="998092"/>
                <a:ext cx="4180023" cy="13923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altLang="zh-TW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𝑙𝑒𝑎𝑠𝑡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𝑛𝑢𝑚𝑏𝑒𝑟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𝑡h𝑎𝑡</m:t>
                      </m:r>
                    </m:oMath>
                  </m:oMathPara>
                </a14:m>
                <a:endParaRPr lang="en-US" altLang="zh-TW" b="0" dirty="0"/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&amp;&amp;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altLang="zh-TW" b="0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7B3C830D-E8C4-45B7-AB40-11A78C5130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9332" y="998092"/>
                <a:ext cx="4180023" cy="13923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matrix L(p, m) problem 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10</a:t>
            </a:fld>
            <a:endParaRPr lang="zh-TW" altLang="en-US" dirty="0"/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xmlns="" id="{83B79DCA-E8A5-4CE2-93C6-F58E6AF8A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359851"/>
              </p:ext>
            </p:extLst>
          </p:nvPr>
        </p:nvGraphicFramePr>
        <p:xfrm>
          <a:off x="938181" y="2676273"/>
          <a:ext cx="7267637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3909">
                  <a:extLst>
                    <a:ext uri="{9D8B030D-6E8A-4147-A177-3AD203B41FA5}">
                      <a16:colId xmlns:a16="http://schemas.microsoft.com/office/drawing/2014/main" xmlns="" val="66003816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2237411659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3295561630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1278059543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57330068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3158111397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334821929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1172757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k         </a:t>
                      </a:r>
                      <a:r>
                        <a:rPr lang="en-US" altLang="zh-TW" sz="1800" b="1" kern="1200" dirty="0" err="1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5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7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22486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16899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07778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710062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794425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210378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137834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96995507"/>
                  </a:ext>
                </a:extLst>
              </a:tr>
            </a:tbl>
          </a:graphicData>
        </a:graphic>
      </p:graphicFrame>
      <p:sp>
        <p:nvSpPr>
          <p:cNvPr id="3" name="橢圓 2">
            <a:extLst>
              <a:ext uri="{FF2B5EF4-FFF2-40B4-BE49-F238E27FC236}">
                <a16:creationId xmlns:a16="http://schemas.microsoft.com/office/drawing/2014/main" xmlns="" id="{09373C17-6BC1-4AD4-BB88-D30CA4426D06}"/>
              </a:ext>
            </a:extLst>
          </p:cNvPr>
          <p:cNvSpPr/>
          <p:nvPr/>
        </p:nvSpPr>
        <p:spPr>
          <a:xfrm>
            <a:off x="2168370" y="1093714"/>
            <a:ext cx="244549" cy="491652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xmlns="" id="{6F4CA95D-AD74-4C65-99B6-5A2BF208E38B}"/>
              </a:ext>
            </a:extLst>
          </p:cNvPr>
          <p:cNvCxnSpPr/>
          <p:nvPr/>
        </p:nvCxnSpPr>
        <p:spPr>
          <a:xfrm>
            <a:off x="1693057" y="2203438"/>
            <a:ext cx="38277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群組 6">
            <a:extLst>
              <a:ext uri="{FF2B5EF4-FFF2-40B4-BE49-F238E27FC236}">
                <a16:creationId xmlns:a16="http://schemas.microsoft.com/office/drawing/2014/main" xmlns="" id="{B095C174-F006-4298-A22A-55DFE55F709E}"/>
              </a:ext>
            </a:extLst>
          </p:cNvPr>
          <p:cNvGrpSpPr/>
          <p:nvPr/>
        </p:nvGrpSpPr>
        <p:grpSpPr>
          <a:xfrm>
            <a:off x="3896073" y="3429000"/>
            <a:ext cx="1351852" cy="732991"/>
            <a:chOff x="2994518" y="3453149"/>
            <a:chExt cx="1351852" cy="732991"/>
          </a:xfrm>
        </p:grpSpPr>
        <p:sp>
          <p:nvSpPr>
            <p:cNvPr id="23" name="橢圓 22">
              <a:extLst>
                <a:ext uri="{FF2B5EF4-FFF2-40B4-BE49-F238E27FC236}">
                  <a16:creationId xmlns:a16="http://schemas.microsoft.com/office/drawing/2014/main" xmlns="" id="{76AF60DA-AF69-400D-A849-A6A549DE8218}"/>
                </a:ext>
              </a:extLst>
            </p:cNvPr>
            <p:cNvSpPr/>
            <p:nvPr/>
          </p:nvSpPr>
          <p:spPr>
            <a:xfrm>
              <a:off x="3956652" y="3827616"/>
              <a:ext cx="389718" cy="358524"/>
            </a:xfrm>
            <a:prstGeom prst="ellips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xmlns="" id="{66792BA1-09E6-4433-BF9C-4B5F8969D90F}"/>
                </a:ext>
              </a:extLst>
            </p:cNvPr>
            <p:cNvSpPr/>
            <p:nvPr/>
          </p:nvSpPr>
          <p:spPr>
            <a:xfrm>
              <a:off x="2994518" y="3453149"/>
              <a:ext cx="434340" cy="327643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xmlns="" id="{DE850478-95A8-4ECF-8C11-D234F5859AB3}"/>
                </a:ext>
              </a:extLst>
            </p:cNvPr>
            <p:cNvCxnSpPr>
              <a:cxnSpLocks/>
            </p:cNvCxnSpPr>
            <p:nvPr/>
          </p:nvCxnSpPr>
          <p:spPr>
            <a:xfrm>
              <a:off x="3501223" y="3720937"/>
              <a:ext cx="382772" cy="26032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L 圖案 14">
            <a:extLst>
              <a:ext uri="{FF2B5EF4-FFF2-40B4-BE49-F238E27FC236}">
                <a16:creationId xmlns:a16="http://schemas.microsoft.com/office/drawing/2014/main" xmlns="" id="{A71100C4-3D55-4276-B625-C6406A27CFFA}"/>
              </a:ext>
            </a:extLst>
          </p:cNvPr>
          <p:cNvSpPr/>
          <p:nvPr/>
        </p:nvSpPr>
        <p:spPr>
          <a:xfrm rot="10800000" flipH="1">
            <a:off x="1350334" y="1151028"/>
            <a:ext cx="818036" cy="919073"/>
          </a:xfrm>
          <a:prstGeom prst="corner">
            <a:avLst>
              <a:gd name="adj1" fmla="val 55299"/>
              <a:gd name="adj2" fmla="val 66433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286A3616-1FDE-4426-A586-510918D4CFA8}"/>
              </a:ext>
            </a:extLst>
          </p:cNvPr>
          <p:cNvSpPr/>
          <p:nvPr/>
        </p:nvSpPr>
        <p:spPr>
          <a:xfrm>
            <a:off x="4886983" y="380662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5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8" name="L 圖案 17">
            <a:extLst>
              <a:ext uri="{FF2B5EF4-FFF2-40B4-BE49-F238E27FC236}">
                <a16:creationId xmlns:a16="http://schemas.microsoft.com/office/drawing/2014/main" xmlns="" id="{33CD444C-428C-45E8-8428-996DBEE04878}"/>
              </a:ext>
            </a:extLst>
          </p:cNvPr>
          <p:cNvSpPr/>
          <p:nvPr/>
        </p:nvSpPr>
        <p:spPr>
          <a:xfrm rot="10800000" flipH="1">
            <a:off x="1350333" y="1151027"/>
            <a:ext cx="1062585" cy="919073"/>
          </a:xfrm>
          <a:prstGeom prst="corner">
            <a:avLst>
              <a:gd name="adj1" fmla="val 49495"/>
              <a:gd name="adj2" fmla="val 598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0ECB04F3-9339-4F97-9DBF-8879677FCCDA}"/>
              </a:ext>
            </a:extLst>
          </p:cNvPr>
          <p:cNvSpPr/>
          <p:nvPr/>
        </p:nvSpPr>
        <p:spPr>
          <a:xfrm>
            <a:off x="5782346" y="379900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4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4" name="L 圖案 23">
            <a:extLst>
              <a:ext uri="{FF2B5EF4-FFF2-40B4-BE49-F238E27FC236}">
                <a16:creationId xmlns:a16="http://schemas.microsoft.com/office/drawing/2014/main" xmlns="" id="{86924A98-929A-4380-943D-EBA603CE5BDD}"/>
              </a:ext>
            </a:extLst>
          </p:cNvPr>
          <p:cNvSpPr/>
          <p:nvPr/>
        </p:nvSpPr>
        <p:spPr>
          <a:xfrm rot="10800000" flipH="1">
            <a:off x="1350331" y="1151025"/>
            <a:ext cx="1331909" cy="919073"/>
          </a:xfrm>
          <a:prstGeom prst="corner">
            <a:avLst>
              <a:gd name="adj1" fmla="val 49495"/>
              <a:gd name="adj2" fmla="val 598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E7ACDF5D-243F-4FC6-B0C3-6AA894588087}"/>
              </a:ext>
            </a:extLst>
          </p:cNvPr>
          <p:cNvSpPr/>
          <p:nvPr/>
        </p:nvSpPr>
        <p:spPr>
          <a:xfrm>
            <a:off x="6685329" y="379900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4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81B20E86-6FFC-4C73-9C2D-924A1239A547}"/>
              </a:ext>
            </a:extLst>
          </p:cNvPr>
          <p:cNvSpPr/>
          <p:nvPr/>
        </p:nvSpPr>
        <p:spPr>
          <a:xfrm>
            <a:off x="7598521" y="379900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6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9" name="L 圖案 28">
            <a:extLst>
              <a:ext uri="{FF2B5EF4-FFF2-40B4-BE49-F238E27FC236}">
                <a16:creationId xmlns:a16="http://schemas.microsoft.com/office/drawing/2014/main" xmlns="" id="{5D37D425-2E87-4924-8E6A-BC458B28F908}"/>
              </a:ext>
            </a:extLst>
          </p:cNvPr>
          <p:cNvSpPr/>
          <p:nvPr/>
        </p:nvSpPr>
        <p:spPr>
          <a:xfrm rot="10800000" flipH="1">
            <a:off x="1350329" y="1151023"/>
            <a:ext cx="1590991" cy="919073"/>
          </a:xfrm>
          <a:prstGeom prst="corner">
            <a:avLst>
              <a:gd name="adj1" fmla="val 49495"/>
              <a:gd name="adj2" fmla="val 598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xmlns="" id="{B07687B1-05CA-4905-9B86-F21A3A0D3244}"/>
              </a:ext>
            </a:extLst>
          </p:cNvPr>
          <p:cNvSpPr/>
          <p:nvPr/>
        </p:nvSpPr>
        <p:spPr>
          <a:xfrm>
            <a:off x="665366" y="1606350"/>
            <a:ext cx="32912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spc="800" dirty="0">
                <a:solidFill>
                  <a:srgbClr val="00B050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B: </a:t>
            </a:r>
            <a:r>
              <a:rPr lang="en-US" altLang="zh-TW" sz="2400" spc="800" dirty="0" err="1">
                <a:solidFill>
                  <a:srgbClr val="00B050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cddbacaba</a:t>
            </a:r>
            <a:endParaRPr lang="zh-TW" altLang="en-US" sz="2400" spc="800" dirty="0">
              <a:solidFill>
                <a:srgbClr val="00B050"/>
              </a:solidFill>
              <a:latin typeface="Century" panose="02040604050505020304" pitchFamily="18" charset="0"/>
              <a:cs typeface="Arial" panose="020B0604020202020204" pitchFamily="34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xmlns="" id="{1C69F8CD-B226-4869-A8C0-B9839C27BC30}"/>
              </a:ext>
            </a:extLst>
          </p:cNvPr>
          <p:cNvSpPr/>
          <p:nvPr/>
        </p:nvSpPr>
        <p:spPr>
          <a:xfrm>
            <a:off x="656389" y="1108708"/>
            <a:ext cx="27382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spc="800" dirty="0">
                <a:solidFill>
                  <a:schemeClr val="accent2">
                    <a:lumMod val="75000"/>
                  </a:schemeClr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A: </a:t>
            </a:r>
            <a:r>
              <a:rPr lang="en-US" altLang="zh-TW" sz="2400" spc="800" dirty="0" err="1">
                <a:solidFill>
                  <a:schemeClr val="accent2">
                    <a:lumMod val="75000"/>
                  </a:schemeClr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acdabbc</a:t>
            </a:r>
            <a:endParaRPr lang="zh-TW" altLang="en-US" sz="2400" spc="800" dirty="0">
              <a:solidFill>
                <a:schemeClr val="accent2">
                  <a:lumMod val="75000"/>
                </a:schemeClr>
              </a:solidFill>
              <a:latin typeface="Century" panose="020406040505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854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22222E-6 L 0.0967 0.00162 " pathEditMode="relative" rAng="0" ptsTypes="AA">
                                      <p:cBhvr>
                                        <p:cTn id="11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26" y="69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3.7037E-7 L 0.03004 0.00139 " pathEditMode="relative" rAng="0" ptsTypes="AA">
                                      <p:cBhvr>
                                        <p:cTn id="13" dur="1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93" y="69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67 0.00163 L 0.19913 -0.00162 " pathEditMode="relative" rAng="0" ptsTypes="AA">
                                      <p:cBhvr>
                                        <p:cTn id="30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35" y="-116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004 0.00139 L 0.06146 0.00023 " pathEditMode="relative" rAng="0" ptsTypes="AA">
                                      <p:cBhvr>
                                        <p:cTn id="32" dur="1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3" y="-69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913 -0.00162 L 0.29757 0.00047 " pathEditMode="relative" rAng="0" ptsTypes="AA">
                                      <p:cBhvr>
                                        <p:cTn id="49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13" y="93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42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146 0.00023 L 0.0882 -0.00093 " pathEditMode="relative" rAng="0" ptsTypes="AA">
                                      <p:cBhvr>
                                        <p:cTn id="51" dur="1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37" y="-69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  <p:bldP spid="15" grpId="0" animBg="1"/>
      <p:bldP spid="16" grpId="0"/>
      <p:bldP spid="16" grpId="1"/>
      <p:bldP spid="18" grpId="0" animBg="1"/>
      <p:bldP spid="18" grpId="1" animBg="1"/>
      <p:bldP spid="22" grpId="0"/>
      <p:bldP spid="22" grpId="1"/>
      <p:bldP spid="24" grpId="0" animBg="1"/>
      <p:bldP spid="24" grpId="1" animBg="1"/>
      <p:bldP spid="27" grpId="0"/>
      <p:bldP spid="27" grpId="1"/>
      <p:bldP spid="28" grpId="0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xmlns="" id="{7B3C830D-E8C4-45B7-AB40-11A78C5130BC}"/>
                  </a:ext>
                </a:extLst>
              </p:cNvPr>
              <p:cNvSpPr/>
              <p:nvPr/>
            </p:nvSpPr>
            <p:spPr>
              <a:xfrm>
                <a:off x="4109332" y="998092"/>
                <a:ext cx="4180023" cy="13923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altLang="zh-TW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𝑙𝑒𝑎𝑠𝑡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𝑛𝑢𝑚𝑏𝑒𝑟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𝑡h𝑎𝑡</m:t>
                      </m:r>
                    </m:oMath>
                  </m:oMathPara>
                </a14:m>
                <a:endParaRPr lang="en-US" altLang="zh-TW" b="0" dirty="0"/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&amp;&amp;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altLang="zh-TW" b="0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7B3C830D-E8C4-45B7-AB40-11A78C5130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9332" y="998092"/>
                <a:ext cx="4180023" cy="13923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matrix L(p, m) problem 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11</a:t>
            </a:fld>
            <a:endParaRPr lang="zh-TW" altLang="en-US" dirty="0"/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xmlns="" id="{83B79DCA-E8A5-4CE2-93C6-F58E6AF8A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895424"/>
              </p:ext>
            </p:extLst>
          </p:nvPr>
        </p:nvGraphicFramePr>
        <p:xfrm>
          <a:off x="938181" y="2676273"/>
          <a:ext cx="7267637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3909">
                  <a:extLst>
                    <a:ext uri="{9D8B030D-6E8A-4147-A177-3AD203B41FA5}">
                      <a16:colId xmlns:a16="http://schemas.microsoft.com/office/drawing/2014/main" xmlns="" val="66003816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2237411659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3295561630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1278059543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57330068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3158111397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334821929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1172757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k         </a:t>
                      </a:r>
                      <a:r>
                        <a:rPr lang="en-US" altLang="zh-TW" sz="1800" b="1" kern="1200" dirty="0" err="1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5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7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22486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16899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07778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710062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794425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210378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137834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96995507"/>
                  </a:ext>
                </a:extLst>
              </a:tr>
            </a:tbl>
          </a:graphicData>
        </a:graphic>
      </p:graphicFrame>
      <p:sp>
        <p:nvSpPr>
          <p:cNvPr id="3" name="橢圓 2">
            <a:extLst>
              <a:ext uri="{FF2B5EF4-FFF2-40B4-BE49-F238E27FC236}">
                <a16:creationId xmlns:a16="http://schemas.microsoft.com/office/drawing/2014/main" xmlns="" id="{09373C17-6BC1-4AD4-BB88-D30CA4426D06}"/>
              </a:ext>
            </a:extLst>
          </p:cNvPr>
          <p:cNvSpPr/>
          <p:nvPr/>
        </p:nvSpPr>
        <p:spPr>
          <a:xfrm>
            <a:off x="3002280" y="1099704"/>
            <a:ext cx="244549" cy="491652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xmlns="" id="{6F4CA95D-AD74-4C65-99B6-5A2BF208E38B}"/>
              </a:ext>
            </a:extLst>
          </p:cNvPr>
          <p:cNvCxnSpPr/>
          <p:nvPr/>
        </p:nvCxnSpPr>
        <p:spPr>
          <a:xfrm>
            <a:off x="2311009" y="2188198"/>
            <a:ext cx="38277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群組 6">
            <a:extLst>
              <a:ext uri="{FF2B5EF4-FFF2-40B4-BE49-F238E27FC236}">
                <a16:creationId xmlns:a16="http://schemas.microsoft.com/office/drawing/2014/main" xmlns="" id="{B095C174-F006-4298-A22A-55DFE55F709E}"/>
              </a:ext>
            </a:extLst>
          </p:cNvPr>
          <p:cNvGrpSpPr/>
          <p:nvPr/>
        </p:nvGrpSpPr>
        <p:grpSpPr>
          <a:xfrm>
            <a:off x="6646893" y="3793137"/>
            <a:ext cx="1351852" cy="732991"/>
            <a:chOff x="2994518" y="3453149"/>
            <a:chExt cx="1351852" cy="732991"/>
          </a:xfrm>
        </p:grpSpPr>
        <p:sp>
          <p:nvSpPr>
            <p:cNvPr id="23" name="橢圓 22">
              <a:extLst>
                <a:ext uri="{FF2B5EF4-FFF2-40B4-BE49-F238E27FC236}">
                  <a16:creationId xmlns:a16="http://schemas.microsoft.com/office/drawing/2014/main" xmlns="" id="{76AF60DA-AF69-400D-A849-A6A549DE8218}"/>
                </a:ext>
              </a:extLst>
            </p:cNvPr>
            <p:cNvSpPr/>
            <p:nvPr/>
          </p:nvSpPr>
          <p:spPr>
            <a:xfrm>
              <a:off x="3956652" y="3827616"/>
              <a:ext cx="389718" cy="358524"/>
            </a:xfrm>
            <a:prstGeom prst="ellips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xmlns="" id="{66792BA1-09E6-4433-BF9C-4B5F8969D90F}"/>
                </a:ext>
              </a:extLst>
            </p:cNvPr>
            <p:cNvSpPr/>
            <p:nvPr/>
          </p:nvSpPr>
          <p:spPr>
            <a:xfrm>
              <a:off x="2994518" y="3453149"/>
              <a:ext cx="434340" cy="327643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xmlns="" id="{DE850478-95A8-4ECF-8C11-D234F5859AB3}"/>
                </a:ext>
              </a:extLst>
            </p:cNvPr>
            <p:cNvCxnSpPr>
              <a:cxnSpLocks/>
            </p:cNvCxnSpPr>
            <p:nvPr/>
          </p:nvCxnSpPr>
          <p:spPr>
            <a:xfrm>
              <a:off x="3501223" y="3720937"/>
              <a:ext cx="382772" cy="26032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L 圖案 17">
            <a:extLst>
              <a:ext uri="{FF2B5EF4-FFF2-40B4-BE49-F238E27FC236}">
                <a16:creationId xmlns:a16="http://schemas.microsoft.com/office/drawing/2014/main" xmlns="" id="{33CD444C-428C-45E8-8428-996DBEE04878}"/>
              </a:ext>
            </a:extLst>
          </p:cNvPr>
          <p:cNvSpPr/>
          <p:nvPr/>
        </p:nvSpPr>
        <p:spPr>
          <a:xfrm rot="10800000" flipH="1">
            <a:off x="1350333" y="1151026"/>
            <a:ext cx="1651947" cy="919073"/>
          </a:xfrm>
          <a:prstGeom prst="corner">
            <a:avLst>
              <a:gd name="adj1" fmla="val 49495"/>
              <a:gd name="adj2" fmla="val 118666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ED846746-5701-4AC2-8D72-760C1CD13459}"/>
              </a:ext>
            </a:extLst>
          </p:cNvPr>
          <p:cNvSpPr/>
          <p:nvPr/>
        </p:nvSpPr>
        <p:spPr>
          <a:xfrm>
            <a:off x="7608735" y="41670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6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83A2BDA6-00EA-48B8-8409-0A920056E7C1}"/>
              </a:ext>
            </a:extLst>
          </p:cNvPr>
          <p:cNvSpPr/>
          <p:nvPr/>
        </p:nvSpPr>
        <p:spPr>
          <a:xfrm>
            <a:off x="665366" y="1606350"/>
            <a:ext cx="32912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spc="800" dirty="0">
                <a:solidFill>
                  <a:srgbClr val="00B050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B: </a:t>
            </a:r>
            <a:r>
              <a:rPr lang="en-US" altLang="zh-TW" sz="2400" spc="800" dirty="0" err="1">
                <a:solidFill>
                  <a:srgbClr val="00B050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cddbacaba</a:t>
            </a:r>
            <a:endParaRPr lang="zh-TW" altLang="en-US" sz="2400" spc="800" dirty="0">
              <a:solidFill>
                <a:srgbClr val="00B050"/>
              </a:solidFill>
              <a:latin typeface="Century" panose="02040604050505020304" pitchFamily="18" charset="0"/>
              <a:cs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17EC5C9E-385B-45E7-8E19-1E10BA163677}"/>
              </a:ext>
            </a:extLst>
          </p:cNvPr>
          <p:cNvSpPr/>
          <p:nvPr/>
        </p:nvSpPr>
        <p:spPr>
          <a:xfrm>
            <a:off x="656389" y="1108708"/>
            <a:ext cx="27382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spc="800" dirty="0">
                <a:solidFill>
                  <a:schemeClr val="accent2">
                    <a:lumMod val="75000"/>
                  </a:schemeClr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A: </a:t>
            </a:r>
            <a:r>
              <a:rPr lang="en-US" altLang="zh-TW" sz="2400" spc="800" dirty="0" err="1">
                <a:solidFill>
                  <a:schemeClr val="accent2">
                    <a:lumMod val="75000"/>
                  </a:schemeClr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acdabbc</a:t>
            </a:r>
            <a:endParaRPr lang="zh-TW" altLang="en-US" sz="2400" spc="800" dirty="0">
              <a:solidFill>
                <a:schemeClr val="accent2">
                  <a:lumMod val="75000"/>
                </a:schemeClr>
              </a:solidFill>
              <a:latin typeface="Century" panose="020406040505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769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xmlns="" id="{7B3C830D-E8C4-45B7-AB40-11A78C5130BC}"/>
                  </a:ext>
                </a:extLst>
              </p:cNvPr>
              <p:cNvSpPr/>
              <p:nvPr/>
            </p:nvSpPr>
            <p:spPr>
              <a:xfrm>
                <a:off x="665366" y="1995881"/>
                <a:ext cx="4180023" cy="6463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spc="80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𝐿𝐶𝑆</m:t>
                      </m:r>
                      <m:r>
                        <a:rPr lang="en-US" altLang="zh-TW" sz="2400" spc="80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TW" sz="2400" spc="80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𝑐𝑑𝑏𝑐</m:t>
                      </m:r>
                    </m:oMath>
                  </m:oMathPara>
                </a14:m>
                <a:endParaRPr lang="en-US" altLang="zh-TW" sz="2400" spc="800" dirty="0">
                  <a:solidFill>
                    <a:srgbClr val="0070C0"/>
                  </a:solidFill>
                  <a:latin typeface="Century" panose="020406040505050203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7B3C830D-E8C4-45B7-AB40-11A78C5130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366" y="1995881"/>
                <a:ext cx="4180023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matrix L(p, m) problem 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12</a:t>
            </a:fld>
            <a:endParaRPr lang="zh-TW" altLang="en-US" dirty="0"/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xmlns="" id="{83B79DCA-E8A5-4CE2-93C6-F58E6AF8A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830099"/>
              </p:ext>
            </p:extLst>
          </p:nvPr>
        </p:nvGraphicFramePr>
        <p:xfrm>
          <a:off x="938181" y="2676273"/>
          <a:ext cx="7267637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3909">
                  <a:extLst>
                    <a:ext uri="{9D8B030D-6E8A-4147-A177-3AD203B41FA5}">
                      <a16:colId xmlns:a16="http://schemas.microsoft.com/office/drawing/2014/main" xmlns="" val="66003816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2237411659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3295561630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1278059543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57330068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3158111397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334821929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1172757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k         </a:t>
                      </a:r>
                      <a:r>
                        <a:rPr lang="en-US" altLang="zh-TW" sz="1800" b="1" kern="1200" dirty="0" err="1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5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7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22486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16899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07778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710062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794425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10378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37834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96995507"/>
                  </a:ext>
                </a:extLst>
              </a:tr>
            </a:tbl>
          </a:graphicData>
        </a:graphic>
      </p:graphicFrame>
      <p:sp>
        <p:nvSpPr>
          <p:cNvPr id="3" name="橢圓 2">
            <a:extLst>
              <a:ext uri="{FF2B5EF4-FFF2-40B4-BE49-F238E27FC236}">
                <a16:creationId xmlns:a16="http://schemas.microsoft.com/office/drawing/2014/main" xmlns="" id="{09373C17-6BC1-4AD4-BB88-D30CA4426D06}"/>
              </a:ext>
            </a:extLst>
          </p:cNvPr>
          <p:cNvSpPr/>
          <p:nvPr/>
        </p:nvSpPr>
        <p:spPr>
          <a:xfrm>
            <a:off x="1379220" y="1610424"/>
            <a:ext cx="244549" cy="491652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xmlns="" id="{66792BA1-09E6-4433-BF9C-4B5F8969D90F}"/>
              </a:ext>
            </a:extLst>
          </p:cNvPr>
          <p:cNvSpPr/>
          <p:nvPr/>
        </p:nvSpPr>
        <p:spPr>
          <a:xfrm>
            <a:off x="6673247" y="3802380"/>
            <a:ext cx="348773" cy="349130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0070C0"/>
              </a:solidFill>
            </a:endParaRP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xmlns="" id="{DE850478-95A8-4ECF-8C11-D234F5859AB3}"/>
              </a:ext>
            </a:extLst>
          </p:cNvPr>
          <p:cNvCxnSpPr>
            <a:cxnSpLocks/>
          </p:cNvCxnSpPr>
          <p:nvPr/>
        </p:nvCxnSpPr>
        <p:spPr>
          <a:xfrm>
            <a:off x="7095441" y="4048520"/>
            <a:ext cx="405417" cy="221220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xmlns="" id="{B4035D8A-D420-4848-BF1B-114B4EDEA8F9}"/>
              </a:ext>
            </a:extLst>
          </p:cNvPr>
          <p:cNvSpPr/>
          <p:nvPr/>
        </p:nvSpPr>
        <p:spPr>
          <a:xfrm>
            <a:off x="7597139" y="4166247"/>
            <a:ext cx="348773" cy="349130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xmlns="" id="{10DDE2C6-CD23-4A32-9860-1E2C570E7C7B}"/>
              </a:ext>
            </a:extLst>
          </p:cNvPr>
          <p:cNvSpPr/>
          <p:nvPr/>
        </p:nvSpPr>
        <p:spPr>
          <a:xfrm>
            <a:off x="4844447" y="3057010"/>
            <a:ext cx="348773" cy="349130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xmlns="" id="{36F42A44-3154-4238-8242-34330B6AFB40}"/>
              </a:ext>
            </a:extLst>
          </p:cNvPr>
          <p:cNvSpPr/>
          <p:nvPr/>
        </p:nvSpPr>
        <p:spPr>
          <a:xfrm>
            <a:off x="5760719" y="3420877"/>
            <a:ext cx="348773" cy="349130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0070C0"/>
              </a:solidFill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xmlns="" id="{08289128-C677-42F0-B616-F5C6C33F39E1}"/>
              </a:ext>
            </a:extLst>
          </p:cNvPr>
          <p:cNvCxnSpPr>
            <a:cxnSpLocks/>
          </p:cNvCxnSpPr>
          <p:nvPr/>
        </p:nvCxnSpPr>
        <p:spPr>
          <a:xfrm>
            <a:off x="6199343" y="3691770"/>
            <a:ext cx="405417" cy="221220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xmlns="" id="{A6F4A0D1-C11A-4C66-9DEA-82D3F329F5FE}"/>
              </a:ext>
            </a:extLst>
          </p:cNvPr>
          <p:cNvCxnSpPr>
            <a:cxnSpLocks/>
          </p:cNvCxnSpPr>
          <p:nvPr/>
        </p:nvCxnSpPr>
        <p:spPr>
          <a:xfrm>
            <a:off x="5265451" y="3310267"/>
            <a:ext cx="405417" cy="221220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橢圓 30">
            <a:extLst>
              <a:ext uri="{FF2B5EF4-FFF2-40B4-BE49-F238E27FC236}">
                <a16:creationId xmlns:a16="http://schemas.microsoft.com/office/drawing/2014/main" xmlns="" id="{99937839-85CB-4097-9940-B9885CECF0E4}"/>
              </a:ext>
            </a:extLst>
          </p:cNvPr>
          <p:cNvSpPr/>
          <p:nvPr/>
        </p:nvSpPr>
        <p:spPr>
          <a:xfrm>
            <a:off x="1654174" y="1610424"/>
            <a:ext cx="244549" cy="491652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xmlns="" id="{5EDBD39A-655E-482B-902B-C56A0EDE28F8}"/>
              </a:ext>
            </a:extLst>
          </p:cNvPr>
          <p:cNvSpPr/>
          <p:nvPr/>
        </p:nvSpPr>
        <p:spPr>
          <a:xfrm>
            <a:off x="2188734" y="1610424"/>
            <a:ext cx="244549" cy="491652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xmlns="" id="{E0C5C971-FB7C-4F5A-920F-C9C885572166}"/>
              </a:ext>
            </a:extLst>
          </p:cNvPr>
          <p:cNvSpPr/>
          <p:nvPr/>
        </p:nvSpPr>
        <p:spPr>
          <a:xfrm>
            <a:off x="2723294" y="1610424"/>
            <a:ext cx="244549" cy="491652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5FF3F5B2-E78C-4989-A284-14624724D73B}"/>
              </a:ext>
            </a:extLst>
          </p:cNvPr>
          <p:cNvSpPr/>
          <p:nvPr/>
        </p:nvSpPr>
        <p:spPr>
          <a:xfrm>
            <a:off x="665366" y="1606350"/>
            <a:ext cx="32912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spc="800" dirty="0">
                <a:solidFill>
                  <a:srgbClr val="00B050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B: </a:t>
            </a:r>
            <a:r>
              <a:rPr lang="en-US" altLang="zh-TW" sz="2400" spc="800" dirty="0" err="1">
                <a:solidFill>
                  <a:srgbClr val="00B050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cddbacaba</a:t>
            </a:r>
            <a:endParaRPr lang="zh-TW" altLang="en-US" sz="2400" spc="800" dirty="0">
              <a:solidFill>
                <a:srgbClr val="00B050"/>
              </a:solidFill>
              <a:latin typeface="Century" panose="02040604050505020304" pitchFamily="18" charset="0"/>
              <a:cs typeface="Arial" panose="020B060402020202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75F381B3-929D-42E8-978F-3FC54FFE28D9}"/>
              </a:ext>
            </a:extLst>
          </p:cNvPr>
          <p:cNvSpPr/>
          <p:nvPr/>
        </p:nvSpPr>
        <p:spPr>
          <a:xfrm>
            <a:off x="656389" y="1108708"/>
            <a:ext cx="27382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spc="800" dirty="0">
                <a:solidFill>
                  <a:schemeClr val="accent2">
                    <a:lumMod val="75000"/>
                  </a:schemeClr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A: </a:t>
            </a:r>
            <a:r>
              <a:rPr lang="en-US" altLang="zh-TW" sz="2400" spc="800" dirty="0" err="1">
                <a:solidFill>
                  <a:schemeClr val="accent2">
                    <a:lumMod val="75000"/>
                  </a:schemeClr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acdabbc</a:t>
            </a:r>
            <a:endParaRPr lang="zh-TW" altLang="en-US" sz="2400" spc="800" dirty="0">
              <a:solidFill>
                <a:schemeClr val="accent2">
                  <a:lumMod val="75000"/>
                </a:schemeClr>
              </a:solidFill>
              <a:latin typeface="Century" panose="020406040505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930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" grpId="0" animBg="1"/>
      <p:bldP spid="31" grpId="0" animBg="1"/>
      <p:bldP spid="32" grpId="0" animBg="1"/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13</a:t>
            </a:fld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xmlns="" id="{3137E7A7-335D-4F60-ABC9-E97C520B83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872" y="2112177"/>
            <a:ext cx="7466256" cy="263364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xmlns="" id="{DDEA99F9-5207-456A-B614-E63F429D74C1}"/>
              </a:ext>
            </a:extLst>
          </p:cNvPr>
          <p:cNvSpPr/>
          <p:nvPr/>
        </p:nvSpPr>
        <p:spPr>
          <a:xfrm>
            <a:off x="7492534" y="3670160"/>
            <a:ext cx="5941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(</a:t>
            </a:r>
            <a:r>
              <a:rPr lang="en-US" altLang="zh-TW" dirty="0" err="1"/>
              <a:t>ms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56417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內容版面配置區 6">
            <a:extLst>
              <a:ext uri="{FF2B5EF4-FFF2-40B4-BE49-F238E27FC236}">
                <a16:creationId xmlns:a16="http://schemas.microsoft.com/office/drawing/2014/main" xmlns="" id="{9693F55B-D213-4BB0-A6F2-C6A09AD99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55" y="998092"/>
            <a:ext cx="8310537" cy="544518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API, formed in 1997</a:t>
            </a:r>
          </a:p>
          <a:p>
            <a:pPr>
              <a:lnSpc>
                <a:spcPct val="150000"/>
              </a:lnSpc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sed for writing transplantable multi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threaded application</a:t>
            </a:r>
          </a:p>
          <a:p>
            <a:pPr>
              <a:lnSpc>
                <a:spcPct val="150000"/>
              </a:lnSpc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OpenMP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14</a:t>
            </a:fld>
            <a:endParaRPr lang="zh-TW" altLang="en-US" dirty="0"/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xmlns="" id="{5AD8FAD0-0DB5-4439-8FBA-DE227F76F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583292"/>
              </p:ext>
            </p:extLst>
          </p:nvPr>
        </p:nvGraphicFramePr>
        <p:xfrm>
          <a:off x="938181" y="2676273"/>
          <a:ext cx="7267637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3909">
                  <a:extLst>
                    <a:ext uri="{9D8B030D-6E8A-4147-A177-3AD203B41FA5}">
                      <a16:colId xmlns:a16="http://schemas.microsoft.com/office/drawing/2014/main" xmlns="" val="66003816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2237411659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3295561630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1278059543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57330068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3158111397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334821929"/>
                    </a:ext>
                  </a:extLst>
                </a:gridCol>
                <a:gridCol w="909104">
                  <a:extLst>
                    <a:ext uri="{9D8B030D-6E8A-4147-A177-3AD203B41FA5}">
                      <a16:colId xmlns:a16="http://schemas.microsoft.com/office/drawing/2014/main" xmlns="" val="1172757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k         </a:t>
                      </a:r>
                      <a:r>
                        <a:rPr lang="en-US" altLang="zh-TW" sz="1800" b="1" kern="1200" dirty="0" err="1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5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7030A0"/>
                          </a:solidFill>
                        </a:rPr>
                        <a:t>7</a:t>
                      </a:r>
                      <a:endParaRPr lang="zh-TW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22486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16899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07778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710062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794425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10378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37834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18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96995507"/>
                  </a:ext>
                </a:extLst>
              </a:tr>
            </a:tbl>
          </a:graphicData>
        </a:graphic>
      </p:graphicFrame>
      <p:grpSp>
        <p:nvGrpSpPr>
          <p:cNvPr id="34" name="群組 33">
            <a:extLst>
              <a:ext uri="{FF2B5EF4-FFF2-40B4-BE49-F238E27FC236}">
                <a16:creationId xmlns:a16="http://schemas.microsoft.com/office/drawing/2014/main" xmlns="" id="{45A33EC4-0D53-47A7-B1EE-767F7B335304}"/>
              </a:ext>
            </a:extLst>
          </p:cNvPr>
          <p:cNvGrpSpPr/>
          <p:nvPr/>
        </p:nvGrpSpPr>
        <p:grpSpPr>
          <a:xfrm>
            <a:off x="6646893" y="3793137"/>
            <a:ext cx="1351852" cy="732991"/>
            <a:chOff x="2994518" y="3453149"/>
            <a:chExt cx="1351852" cy="732991"/>
          </a:xfrm>
        </p:grpSpPr>
        <p:sp>
          <p:nvSpPr>
            <p:cNvPr id="35" name="橢圓 34">
              <a:extLst>
                <a:ext uri="{FF2B5EF4-FFF2-40B4-BE49-F238E27FC236}">
                  <a16:creationId xmlns:a16="http://schemas.microsoft.com/office/drawing/2014/main" xmlns="" id="{B1C753DE-C1A0-4651-BD05-E790B6D9C5D7}"/>
                </a:ext>
              </a:extLst>
            </p:cNvPr>
            <p:cNvSpPr/>
            <p:nvPr/>
          </p:nvSpPr>
          <p:spPr>
            <a:xfrm>
              <a:off x="3956652" y="3827616"/>
              <a:ext cx="389718" cy="358524"/>
            </a:xfrm>
            <a:prstGeom prst="ellips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6" name="橢圓 35">
              <a:extLst>
                <a:ext uri="{FF2B5EF4-FFF2-40B4-BE49-F238E27FC236}">
                  <a16:creationId xmlns:a16="http://schemas.microsoft.com/office/drawing/2014/main" xmlns="" id="{30F6E0C5-92F6-49E3-9631-0054DF5983ED}"/>
                </a:ext>
              </a:extLst>
            </p:cNvPr>
            <p:cNvSpPr/>
            <p:nvPr/>
          </p:nvSpPr>
          <p:spPr>
            <a:xfrm>
              <a:off x="2994518" y="3453149"/>
              <a:ext cx="434340" cy="327643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37" name="直線單箭頭接點 36">
              <a:extLst>
                <a:ext uri="{FF2B5EF4-FFF2-40B4-BE49-F238E27FC236}">
                  <a16:creationId xmlns:a16="http://schemas.microsoft.com/office/drawing/2014/main" xmlns="" id="{89291E85-5EDF-402F-8F00-67958BC54853}"/>
                </a:ext>
              </a:extLst>
            </p:cNvPr>
            <p:cNvCxnSpPr>
              <a:cxnSpLocks/>
            </p:cNvCxnSpPr>
            <p:nvPr/>
          </p:nvCxnSpPr>
          <p:spPr>
            <a:xfrm>
              <a:off x="3501223" y="3720937"/>
              <a:ext cx="382772" cy="26032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矩形 37">
            <a:extLst>
              <a:ext uri="{FF2B5EF4-FFF2-40B4-BE49-F238E27FC236}">
                <a16:creationId xmlns:a16="http://schemas.microsoft.com/office/drawing/2014/main" xmlns="" id="{99D941DE-E3D5-4C08-81C5-BAC3F3881FAC}"/>
              </a:ext>
            </a:extLst>
          </p:cNvPr>
          <p:cNvSpPr/>
          <p:nvPr/>
        </p:nvSpPr>
        <p:spPr>
          <a:xfrm>
            <a:off x="7608735" y="416706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/>
              <a:t>6</a:t>
            </a:r>
            <a:endParaRPr lang="zh-TW" altLang="en-US" dirty="0"/>
          </a:p>
        </p:txBody>
      </p:sp>
      <p:grpSp>
        <p:nvGrpSpPr>
          <p:cNvPr id="40" name="群組 39">
            <a:extLst>
              <a:ext uri="{FF2B5EF4-FFF2-40B4-BE49-F238E27FC236}">
                <a16:creationId xmlns:a16="http://schemas.microsoft.com/office/drawing/2014/main" xmlns="" id="{12CF7FA7-EDFE-41B5-9B80-FEA6F3FCA63C}"/>
              </a:ext>
            </a:extLst>
          </p:cNvPr>
          <p:cNvGrpSpPr/>
          <p:nvPr/>
        </p:nvGrpSpPr>
        <p:grpSpPr>
          <a:xfrm>
            <a:off x="5782024" y="3793137"/>
            <a:ext cx="1351852" cy="732991"/>
            <a:chOff x="2994518" y="3453149"/>
            <a:chExt cx="1351852" cy="732991"/>
          </a:xfrm>
        </p:grpSpPr>
        <p:sp>
          <p:nvSpPr>
            <p:cNvPr id="41" name="橢圓 40">
              <a:extLst>
                <a:ext uri="{FF2B5EF4-FFF2-40B4-BE49-F238E27FC236}">
                  <a16:creationId xmlns:a16="http://schemas.microsoft.com/office/drawing/2014/main" xmlns="" id="{D1C4F498-D926-47AD-9FD8-BBEE3E3EDB55}"/>
                </a:ext>
              </a:extLst>
            </p:cNvPr>
            <p:cNvSpPr/>
            <p:nvPr/>
          </p:nvSpPr>
          <p:spPr>
            <a:xfrm>
              <a:off x="3956652" y="3827616"/>
              <a:ext cx="389718" cy="358524"/>
            </a:xfrm>
            <a:prstGeom prst="ellips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2" name="橢圓 41">
              <a:extLst>
                <a:ext uri="{FF2B5EF4-FFF2-40B4-BE49-F238E27FC236}">
                  <a16:creationId xmlns:a16="http://schemas.microsoft.com/office/drawing/2014/main" xmlns="" id="{DA80C17A-3B6B-4C18-85CE-3369647B3267}"/>
                </a:ext>
              </a:extLst>
            </p:cNvPr>
            <p:cNvSpPr/>
            <p:nvPr/>
          </p:nvSpPr>
          <p:spPr>
            <a:xfrm>
              <a:off x="2994518" y="3453149"/>
              <a:ext cx="434340" cy="327643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43" name="直線單箭頭接點 42">
              <a:extLst>
                <a:ext uri="{FF2B5EF4-FFF2-40B4-BE49-F238E27FC236}">
                  <a16:creationId xmlns:a16="http://schemas.microsoft.com/office/drawing/2014/main" xmlns="" id="{F7B607CE-009A-4E1D-8A43-14CD2772B61C}"/>
                </a:ext>
              </a:extLst>
            </p:cNvPr>
            <p:cNvCxnSpPr>
              <a:cxnSpLocks/>
            </p:cNvCxnSpPr>
            <p:nvPr/>
          </p:nvCxnSpPr>
          <p:spPr>
            <a:xfrm>
              <a:off x="3501223" y="3720937"/>
              <a:ext cx="382772" cy="26032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群組 43">
            <a:extLst>
              <a:ext uri="{FF2B5EF4-FFF2-40B4-BE49-F238E27FC236}">
                <a16:creationId xmlns:a16="http://schemas.microsoft.com/office/drawing/2014/main" xmlns="" id="{8AEC5611-37C7-4B63-9863-B4881E6EF326}"/>
              </a:ext>
            </a:extLst>
          </p:cNvPr>
          <p:cNvGrpSpPr/>
          <p:nvPr/>
        </p:nvGrpSpPr>
        <p:grpSpPr>
          <a:xfrm>
            <a:off x="4846382" y="3793137"/>
            <a:ext cx="1351852" cy="732991"/>
            <a:chOff x="2994518" y="3453149"/>
            <a:chExt cx="1351852" cy="732991"/>
          </a:xfrm>
        </p:grpSpPr>
        <p:sp>
          <p:nvSpPr>
            <p:cNvPr id="45" name="橢圓 44">
              <a:extLst>
                <a:ext uri="{FF2B5EF4-FFF2-40B4-BE49-F238E27FC236}">
                  <a16:creationId xmlns:a16="http://schemas.microsoft.com/office/drawing/2014/main" xmlns="" id="{699D75ED-D7CD-4ED1-8AAA-BF4BAFD91ABF}"/>
                </a:ext>
              </a:extLst>
            </p:cNvPr>
            <p:cNvSpPr/>
            <p:nvPr/>
          </p:nvSpPr>
          <p:spPr>
            <a:xfrm>
              <a:off x="3956652" y="3827616"/>
              <a:ext cx="389718" cy="358524"/>
            </a:xfrm>
            <a:prstGeom prst="ellips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xmlns="" id="{322DD83F-2310-4D86-A532-9DD4AB197701}"/>
                </a:ext>
              </a:extLst>
            </p:cNvPr>
            <p:cNvSpPr/>
            <p:nvPr/>
          </p:nvSpPr>
          <p:spPr>
            <a:xfrm>
              <a:off x="2994518" y="3453149"/>
              <a:ext cx="434340" cy="327643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47" name="直線單箭頭接點 46">
              <a:extLst>
                <a:ext uri="{FF2B5EF4-FFF2-40B4-BE49-F238E27FC236}">
                  <a16:creationId xmlns:a16="http://schemas.microsoft.com/office/drawing/2014/main" xmlns="" id="{C2E26755-71CA-49B5-A204-91EE0832592B}"/>
                </a:ext>
              </a:extLst>
            </p:cNvPr>
            <p:cNvCxnSpPr>
              <a:cxnSpLocks/>
            </p:cNvCxnSpPr>
            <p:nvPr/>
          </p:nvCxnSpPr>
          <p:spPr>
            <a:xfrm>
              <a:off x="3501223" y="3720937"/>
              <a:ext cx="382772" cy="26032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25807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Results(II)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15</a:t>
            </a:fld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xmlns="" id="{6EA1646E-B60D-46A6-8B2C-9D866AD2FB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3100" y="1124201"/>
            <a:ext cx="4854070" cy="192282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2A9C7656-226A-4F0C-94B8-D06B75F324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2820" y="3109687"/>
            <a:ext cx="4684971" cy="324666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xmlns="" id="{53D3CCB0-5346-40A0-97D9-3032DCBA6C8E}"/>
              </a:ext>
            </a:extLst>
          </p:cNvPr>
          <p:cNvSpPr/>
          <p:nvPr/>
        </p:nvSpPr>
        <p:spPr>
          <a:xfrm>
            <a:off x="5308480" y="1618391"/>
            <a:ext cx="360386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TW" dirty="0">
                <a:latin typeface="TimesNewRoman"/>
              </a:rPr>
              <a:t>Intel(R) Core(TM)2 </a:t>
            </a:r>
            <a:r>
              <a:rPr lang="pt-BR" altLang="zh-TW" dirty="0">
                <a:solidFill>
                  <a:srgbClr val="0070C0"/>
                </a:solidFill>
                <a:latin typeface="TimesNewRoman"/>
              </a:rPr>
              <a:t>Dualcore</a:t>
            </a:r>
          </a:p>
          <a:p>
            <a:r>
              <a:rPr lang="pt-BR" altLang="zh-TW" dirty="0">
                <a:latin typeface="TimesNewRoman"/>
              </a:rPr>
              <a:t>processor</a:t>
            </a:r>
            <a:r>
              <a:rPr lang="zh-TW" altLang="en-US" dirty="0">
                <a:latin typeface="SimSun-GBK-EUC-H-Identity-H"/>
              </a:rPr>
              <a:t> </a:t>
            </a:r>
            <a:r>
              <a:rPr lang="en-US" altLang="zh-TW" dirty="0">
                <a:latin typeface="SimSun-GBK-EUC-H-Identity-H"/>
              </a:rPr>
              <a:t>+ </a:t>
            </a:r>
            <a:r>
              <a:rPr lang="pt-BR" altLang="zh-TW" dirty="0">
                <a:latin typeface="TimesNewRoman"/>
              </a:rPr>
              <a:t>1G memory</a:t>
            </a:r>
          </a:p>
          <a:p>
            <a:endParaRPr lang="pt-BR" altLang="zh-TW" dirty="0">
              <a:latin typeface="TimesNewRoman"/>
            </a:endParaRPr>
          </a:p>
          <a:p>
            <a:r>
              <a:rPr lang="pt-BR" altLang="zh-TW" dirty="0">
                <a:latin typeface="TimesNewRoman"/>
              </a:rPr>
              <a:t>Intel(R) Core(TM)2 </a:t>
            </a:r>
            <a:r>
              <a:rPr lang="pt-BR" altLang="zh-TW" dirty="0">
                <a:solidFill>
                  <a:srgbClr val="0070C0"/>
                </a:solidFill>
                <a:latin typeface="TimesNewRoman"/>
              </a:rPr>
              <a:t>Quadcores</a:t>
            </a:r>
          </a:p>
          <a:p>
            <a:r>
              <a:rPr lang="en-US" altLang="zh-TW" dirty="0">
                <a:latin typeface="TimesNewRoman"/>
              </a:rPr>
              <a:t>processors +</a:t>
            </a:r>
            <a:r>
              <a:rPr lang="zh-TW" altLang="en-US" dirty="0">
                <a:latin typeface="SimSun-GBK-EUC-H-Identity-H"/>
              </a:rPr>
              <a:t> </a:t>
            </a:r>
            <a:r>
              <a:rPr lang="en-US" altLang="zh-TW" dirty="0">
                <a:latin typeface="TimesNewRoman"/>
              </a:rPr>
              <a:t>4G memory</a:t>
            </a:r>
            <a:endParaRPr lang="zh-TW" altLang="en-US" dirty="0"/>
          </a:p>
        </p:txBody>
      </p:sp>
      <p:pic>
        <p:nvPicPr>
          <p:cNvPr id="13" name="內容版面配置區 6">
            <a:extLst>
              <a:ext uri="{FF2B5EF4-FFF2-40B4-BE49-F238E27FC236}">
                <a16:creationId xmlns:a16="http://schemas.microsoft.com/office/drawing/2014/main" xmlns="" id="{1E048A54-5B47-44AA-BC79-509477A6BD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8482" b="35666"/>
          <a:stretch/>
        </p:blipFill>
        <p:spPr>
          <a:xfrm>
            <a:off x="323100" y="2694647"/>
            <a:ext cx="4854070" cy="304800"/>
          </a:xfrm>
          <a:prstGeom prst="rect">
            <a:avLst/>
          </a:prstGeom>
        </p:spPr>
      </p:pic>
      <p:pic>
        <p:nvPicPr>
          <p:cNvPr id="14" name="內容版面配置區 6">
            <a:extLst>
              <a:ext uri="{FF2B5EF4-FFF2-40B4-BE49-F238E27FC236}">
                <a16:creationId xmlns:a16="http://schemas.microsoft.com/office/drawing/2014/main" xmlns="" id="{CB9450D6-1737-459E-BFBD-CC670CF9D2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897" b="2756"/>
          <a:stretch/>
        </p:blipFill>
        <p:spPr>
          <a:xfrm>
            <a:off x="323100" y="2042730"/>
            <a:ext cx="4854070" cy="314325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9D4C421D-014D-4C13-8B32-38AFBBDA1F85}"/>
              </a:ext>
            </a:extLst>
          </p:cNvPr>
          <p:cNvSpPr/>
          <p:nvPr/>
        </p:nvSpPr>
        <p:spPr>
          <a:xfrm>
            <a:off x="4696478" y="2746235"/>
            <a:ext cx="48069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/>
              <a:t>(</a:t>
            </a:r>
            <a:r>
              <a:rPr lang="en-US" altLang="zh-TW" sz="1400" dirty="0" err="1"/>
              <a:t>ms</a:t>
            </a:r>
            <a:r>
              <a:rPr lang="en-US" altLang="zh-TW" sz="1400" dirty="0"/>
              <a:t>)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01242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2BC67944-40B4-400E-AA7D-2A570D59A36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443446" y="2809588"/>
          <a:ext cx="6091646" cy="2255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7646">
                  <a:extLst>
                    <a:ext uri="{9D8B030D-6E8A-4147-A177-3AD203B41FA5}">
                      <a16:colId xmlns:a16="http://schemas.microsoft.com/office/drawing/2014/main" xmlns="" val="6600381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23741165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329556163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127805954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5733006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315811139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33482192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1172757917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k            </a:t>
                      </a:r>
                      <a:r>
                        <a:rPr lang="en-US" altLang="zh-TW" sz="1400" b="1" kern="1200" dirty="0" err="1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zh-TW" altLang="en-US" sz="14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7030A0"/>
                          </a:solidFill>
                        </a:rPr>
                        <a:t>1</a:t>
                      </a:r>
                      <a:endParaRPr lang="zh-TW" altLang="en-US" sz="1400" b="1" dirty="0">
                        <a:solidFill>
                          <a:srgbClr val="7030A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7030A0"/>
                          </a:solidFill>
                        </a:rPr>
                        <a:t>2</a:t>
                      </a:r>
                      <a:endParaRPr lang="zh-TW" altLang="en-US" sz="1400" b="1" dirty="0">
                        <a:solidFill>
                          <a:srgbClr val="7030A0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7030A0"/>
                          </a:solidFill>
                        </a:rPr>
                        <a:t>3</a:t>
                      </a:r>
                      <a:endParaRPr lang="zh-TW" altLang="en-US" sz="1400" b="1" dirty="0">
                        <a:solidFill>
                          <a:srgbClr val="7030A0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7030A0"/>
                          </a:solidFill>
                        </a:rPr>
                        <a:t>4</a:t>
                      </a:r>
                      <a:endParaRPr lang="zh-TW" altLang="en-US" sz="1400" b="1" dirty="0">
                        <a:solidFill>
                          <a:srgbClr val="7030A0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7030A0"/>
                          </a:solidFill>
                        </a:rPr>
                        <a:t>5</a:t>
                      </a:r>
                      <a:endParaRPr lang="zh-TW" altLang="en-US" sz="1400" b="1" dirty="0">
                        <a:solidFill>
                          <a:srgbClr val="7030A0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7030A0"/>
                          </a:solidFill>
                        </a:rPr>
                        <a:t>6</a:t>
                      </a:r>
                      <a:endParaRPr lang="zh-TW" altLang="en-US" sz="1400" b="1" dirty="0">
                        <a:solidFill>
                          <a:srgbClr val="7030A0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7030A0"/>
                          </a:solidFill>
                        </a:rPr>
                        <a:t>7</a:t>
                      </a:r>
                      <a:endParaRPr lang="zh-TW" altLang="en-US" sz="1400" b="1" dirty="0">
                        <a:solidFill>
                          <a:srgbClr val="7030A0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xmlns="" val="422486746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xmlns="" val="21689981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$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6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xmlns="" val="90777877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$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$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$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xmlns="" val="371006293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14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$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$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$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$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8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8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6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xmlns="" val="379442563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14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$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$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$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$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$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$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$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xmlns="" val="221037806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14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$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$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$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$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$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$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$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xmlns="" val="113783406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1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14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$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$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$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$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$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$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$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xmlns="" val="496995507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xmlns="" id="{6112575A-5A0D-4250-BA36-E87AA02F64D6}"/>
              </a:ext>
            </a:extLst>
          </p:cNvPr>
          <p:cNvSpPr/>
          <p:nvPr/>
        </p:nvSpPr>
        <p:spPr>
          <a:xfrm>
            <a:off x="1883763" y="1063283"/>
            <a:ext cx="2097049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100" spc="450" dirty="0">
                <a:latin typeface="Century" panose="02040604050505020304" pitchFamily="18" charset="0"/>
                <a:cs typeface="Arial" panose="020B0604020202020204" pitchFamily="34" charset="0"/>
              </a:rPr>
              <a:t>A: </a:t>
            </a:r>
            <a:r>
              <a:rPr lang="en-US" altLang="zh-TW" sz="2100" spc="450" dirty="0" err="1">
                <a:latin typeface="Century" panose="02040604050505020304" pitchFamily="18" charset="0"/>
                <a:cs typeface="Arial" panose="020B0604020202020204" pitchFamily="34" charset="0"/>
              </a:rPr>
              <a:t>acdabbc</a:t>
            </a:r>
            <a:endParaRPr lang="zh-TW" altLang="en-US" sz="2100" spc="450" dirty="0">
              <a:latin typeface="Century" panose="02040604050505020304" pitchFamily="18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ABAA8181-F6CC-4641-AD74-621FFC4301F1}"/>
              </a:ext>
            </a:extLst>
          </p:cNvPr>
          <p:cNvSpPr/>
          <p:nvPr/>
        </p:nvSpPr>
        <p:spPr>
          <a:xfrm>
            <a:off x="1883763" y="1455698"/>
            <a:ext cx="2515432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100" spc="450" dirty="0">
                <a:latin typeface="Century" panose="02040604050505020304" pitchFamily="18" charset="0"/>
                <a:cs typeface="Arial" panose="020B0604020202020204" pitchFamily="34" charset="0"/>
              </a:rPr>
              <a:t>B: </a:t>
            </a:r>
            <a:r>
              <a:rPr lang="en-US" altLang="zh-TW" sz="2100" spc="450" dirty="0" err="1">
                <a:latin typeface="Century" panose="02040604050505020304" pitchFamily="18" charset="0"/>
                <a:cs typeface="Arial" panose="020B0604020202020204" pitchFamily="34" charset="0"/>
              </a:rPr>
              <a:t>cddbacaba</a:t>
            </a:r>
            <a:endParaRPr lang="zh-TW" altLang="en-US" sz="2100" spc="450" dirty="0">
              <a:latin typeface="Century" panose="02040604050505020304" pitchFamily="18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450F8BAC-175C-4E98-92E1-E7F3BD069890}"/>
              </a:ext>
            </a:extLst>
          </p:cNvPr>
          <p:cNvSpPr/>
          <p:nvPr/>
        </p:nvSpPr>
        <p:spPr>
          <a:xfrm>
            <a:off x="1883763" y="1847139"/>
            <a:ext cx="1941557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100" spc="450" dirty="0">
                <a:latin typeface="Century" panose="02040604050505020304" pitchFamily="18" charset="0"/>
                <a:cs typeface="Arial" panose="020B0604020202020204" pitchFamily="34" charset="0"/>
              </a:rPr>
              <a:t>LCS: </a:t>
            </a:r>
            <a:r>
              <a:rPr lang="en-US" altLang="zh-TW" sz="2100" spc="450" dirty="0" err="1">
                <a:latin typeface="Century" panose="02040604050505020304" pitchFamily="18" charset="0"/>
                <a:cs typeface="Arial" panose="020B0604020202020204" pitchFamily="34" charset="0"/>
              </a:rPr>
              <a:t>cdbc</a:t>
            </a:r>
            <a:endParaRPr lang="zh-TW" altLang="en-US" sz="2100" spc="450" dirty="0">
              <a:latin typeface="Century" panose="020406040505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B18AE932-6A6A-4D84-9AC2-C2E0B9457714}"/>
              </a:ext>
            </a:extLst>
          </p:cNvPr>
          <p:cNvSpPr/>
          <p:nvPr/>
        </p:nvSpPr>
        <p:spPr>
          <a:xfrm>
            <a:off x="4666152" y="1063283"/>
            <a:ext cx="2100255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100" spc="450" dirty="0">
                <a:latin typeface="Century" panose="02040604050505020304" pitchFamily="18" charset="0"/>
                <a:cs typeface="Arial" panose="020B0604020202020204" pitchFamily="34" charset="0"/>
              </a:rPr>
              <a:t>A: </a:t>
            </a:r>
            <a:r>
              <a:rPr lang="en-US" altLang="zh-TW" sz="2100" spc="450" dirty="0" err="1">
                <a:latin typeface="Century" panose="02040604050505020304" pitchFamily="18" charset="0"/>
                <a:cs typeface="Arial" panose="020B0604020202020204" pitchFamily="34" charset="0"/>
              </a:rPr>
              <a:t>a</a:t>
            </a:r>
            <a:r>
              <a:rPr lang="en-US" altLang="zh-TW" sz="2100" b="1" spc="450" dirty="0" err="1">
                <a:solidFill>
                  <a:srgbClr val="0070C0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cd</a:t>
            </a:r>
            <a:r>
              <a:rPr lang="en-US" altLang="zh-TW" sz="2100" spc="450" dirty="0" err="1">
                <a:latin typeface="Century" panose="02040604050505020304" pitchFamily="18" charset="0"/>
                <a:cs typeface="Arial" panose="020B0604020202020204" pitchFamily="34" charset="0"/>
              </a:rPr>
              <a:t>ab</a:t>
            </a:r>
            <a:r>
              <a:rPr lang="en-US" altLang="zh-TW" sz="2100" b="1" spc="450" dirty="0" err="1">
                <a:solidFill>
                  <a:srgbClr val="0070C0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bc</a:t>
            </a:r>
            <a:endParaRPr lang="zh-TW" altLang="en-US" sz="2100" b="1" spc="450" dirty="0">
              <a:solidFill>
                <a:srgbClr val="0070C0"/>
              </a:solidFill>
              <a:latin typeface="Century" panose="020406040505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39E42C00-CF3D-44C8-ADCE-A2724D8D9341}"/>
              </a:ext>
            </a:extLst>
          </p:cNvPr>
          <p:cNvSpPr/>
          <p:nvPr/>
        </p:nvSpPr>
        <p:spPr>
          <a:xfrm>
            <a:off x="4666151" y="1455698"/>
            <a:ext cx="2518638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100" spc="450" dirty="0">
                <a:latin typeface="Century" panose="02040604050505020304" pitchFamily="18" charset="0"/>
                <a:cs typeface="Arial" panose="020B0604020202020204" pitchFamily="34" charset="0"/>
              </a:rPr>
              <a:t>B: </a:t>
            </a:r>
            <a:r>
              <a:rPr lang="en-US" altLang="zh-TW" sz="2100" b="1" spc="450" dirty="0" err="1">
                <a:solidFill>
                  <a:srgbClr val="0070C0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cd</a:t>
            </a:r>
            <a:r>
              <a:rPr lang="en-US" altLang="zh-TW" sz="2100" spc="450" dirty="0" err="1">
                <a:latin typeface="Century" panose="02040604050505020304" pitchFamily="18" charset="0"/>
                <a:cs typeface="Arial" panose="020B0604020202020204" pitchFamily="34" charset="0"/>
              </a:rPr>
              <a:t>d</a:t>
            </a:r>
            <a:r>
              <a:rPr lang="en-US" altLang="zh-TW" sz="2100" b="1" spc="450" dirty="0" err="1">
                <a:solidFill>
                  <a:srgbClr val="0070C0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b</a:t>
            </a:r>
            <a:r>
              <a:rPr lang="en-US" altLang="zh-TW" sz="2100" spc="450" dirty="0" err="1">
                <a:latin typeface="Century" panose="02040604050505020304" pitchFamily="18" charset="0"/>
                <a:cs typeface="Arial" panose="020B0604020202020204" pitchFamily="34" charset="0"/>
              </a:rPr>
              <a:t>a</a:t>
            </a:r>
            <a:r>
              <a:rPr lang="en-US" altLang="zh-TW" sz="2100" b="1" spc="450" dirty="0" err="1">
                <a:solidFill>
                  <a:srgbClr val="0070C0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c</a:t>
            </a:r>
            <a:r>
              <a:rPr lang="en-US" altLang="zh-TW" sz="2100" spc="450" dirty="0" err="1">
                <a:latin typeface="Century" panose="02040604050505020304" pitchFamily="18" charset="0"/>
                <a:cs typeface="Arial" panose="020B0604020202020204" pitchFamily="34" charset="0"/>
              </a:rPr>
              <a:t>aba</a:t>
            </a:r>
            <a:endParaRPr lang="zh-TW" altLang="en-US" sz="2100" spc="450" dirty="0">
              <a:latin typeface="Century" panose="020406040505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5611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40250</TotalTime>
  <Words>854</Words>
  <Application>Microsoft Office PowerPoint</Application>
  <PresentationFormat>如螢幕大小 (4:3)</PresentationFormat>
  <Paragraphs>455</Paragraphs>
  <Slides>16</Slides>
  <Notes>15</Notes>
  <HiddenSlides>1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7" baseType="lpstr">
      <vt:lpstr>SimSun-GBK-EUC-H-Identity-H</vt:lpstr>
      <vt:lpstr>TimesNewRoman</vt:lpstr>
      <vt:lpstr>新細明體</vt:lpstr>
      <vt:lpstr>標楷體</vt:lpstr>
      <vt:lpstr>Arial</vt:lpstr>
      <vt:lpstr>Calibri</vt:lpstr>
      <vt:lpstr>Calibri Light</vt:lpstr>
      <vt:lpstr>Cambria Math</vt:lpstr>
      <vt:lpstr>Century</vt:lpstr>
      <vt:lpstr>Times New Roman</vt:lpstr>
      <vt:lpstr>Office 佈景主題</vt:lpstr>
      <vt:lpstr> Research on Longest Common Subsequence Fast Algorithm</vt:lpstr>
      <vt:lpstr>Abstract </vt:lpstr>
      <vt:lpstr>The Longest Common Subsequence(LCS) problem</vt:lpstr>
      <vt:lpstr>The matrix L(p, m) problem </vt:lpstr>
      <vt:lpstr>The matrix L(p, m) problem </vt:lpstr>
      <vt:lpstr>The matrix L(p, m) problem </vt:lpstr>
      <vt:lpstr>The matrix L(p, m) problem </vt:lpstr>
      <vt:lpstr>The matrix L(p, m) problem </vt:lpstr>
      <vt:lpstr>The matrix L(p, m) problem </vt:lpstr>
      <vt:lpstr>The matrix L(p, m) problem </vt:lpstr>
      <vt:lpstr>The matrix L(p, m) problem </vt:lpstr>
      <vt:lpstr>The matrix L(p, m) problem </vt:lpstr>
      <vt:lpstr>Experimental Results</vt:lpstr>
      <vt:lpstr>OpenMP</vt:lpstr>
      <vt:lpstr>Experimental Results(II)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 algorithm for computing a longest common increasing subsequence</dc:title>
  <dc:creator>GaryC</dc:creator>
  <cp:lastModifiedBy>pplab-class</cp:lastModifiedBy>
  <cp:revision>401</cp:revision>
  <dcterms:created xsi:type="dcterms:W3CDTF">2017-09-25T08:45:50Z</dcterms:created>
  <dcterms:modified xsi:type="dcterms:W3CDTF">2018-05-30T10:39:47Z</dcterms:modified>
</cp:coreProperties>
</file>