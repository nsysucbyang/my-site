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8" r:id="rId8"/>
    <p:sldId id="269" r:id="rId9"/>
    <p:sldId id="270" r:id="rId10"/>
    <p:sldId id="262" r:id="rId11"/>
    <p:sldId id="263" r:id="rId12"/>
    <p:sldId id="264" r:id="rId13"/>
    <p:sldId id="265" r:id="rId14"/>
    <p:sldId id="266" r:id="rId15"/>
    <p:sldId id="267"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9" autoAdjust="0"/>
    <p:restoredTop sz="78307" autoAdjust="0"/>
  </p:normalViewPr>
  <p:slideViewPr>
    <p:cSldViewPr snapToGrid="0">
      <p:cViewPr varScale="1">
        <p:scale>
          <a:sx n="116" d="100"/>
          <a:sy n="116" d="100"/>
        </p:scale>
        <p:origin x="66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2018/5/30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2</a:t>
            </a:fld>
            <a:endParaRPr lang="zh-TW" altLang="en-US"/>
          </a:p>
        </p:txBody>
      </p:sp>
    </p:spTree>
    <p:extLst>
      <p:ext uri="{BB962C8B-B14F-4D97-AF65-F5344CB8AC3E}">
        <p14:creationId xmlns:p14="http://schemas.microsoft.com/office/powerpoint/2010/main" val="3081513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50E00B3F-FCF3-43A8-BA3C-83E3D27FDB5E}"/>
              </a:ext>
            </a:extLst>
          </p:cNvPr>
          <p:cNvSpPr>
            <a:spLocks noGrp="1"/>
          </p:cNvSpPr>
          <p:nvPr>
            <p:ph type="dt" sz="half" idx="10"/>
          </p:nvPr>
        </p:nvSpPr>
        <p:spPr/>
        <p:txBody>
          <a:bodyPr/>
          <a:lstStyle/>
          <a:p>
            <a:fld id="{4B163CDD-1571-4D07-AD50-27DEDA2DAB08}" type="datetime1">
              <a:rPr lang="zh-TW" altLang="en-US" smtClean="0"/>
              <a:t>2018/5/30</a:t>
            </a:fld>
            <a:endParaRPr lang="zh-TW" altLang="en-US"/>
          </a:p>
        </p:txBody>
      </p:sp>
      <p:sp>
        <p:nvSpPr>
          <p:cNvPr id="5" name="頁尾版面配置區 4">
            <a:extLst>
              <a:ext uri="{FF2B5EF4-FFF2-40B4-BE49-F238E27FC236}">
                <a16:creationId xmlns:a16="http://schemas.microsoft.com/office/drawing/2014/main"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4D63DA6-083D-4C87-B46F-4639F5BADD1D}"/>
              </a:ext>
            </a:extLst>
          </p:cNvPr>
          <p:cNvSpPr>
            <a:spLocks noGrp="1"/>
          </p:cNvSpPr>
          <p:nvPr>
            <p:ph type="dt" sz="half" idx="10"/>
          </p:nvPr>
        </p:nvSpPr>
        <p:spPr/>
        <p:txBody>
          <a:bodyPr/>
          <a:lstStyle/>
          <a:p>
            <a:fld id="{45E90CF3-7BCB-4E41-A4BC-7F7C7D47433D}" type="datetime1">
              <a:rPr lang="zh-TW" altLang="en-US" smtClean="0"/>
              <a:t>2018/5/30</a:t>
            </a:fld>
            <a:endParaRPr lang="zh-TW" altLang="en-US"/>
          </a:p>
        </p:txBody>
      </p:sp>
      <p:sp>
        <p:nvSpPr>
          <p:cNvPr id="5" name="頁尾版面配置區 4">
            <a:extLst>
              <a:ext uri="{FF2B5EF4-FFF2-40B4-BE49-F238E27FC236}">
                <a16:creationId xmlns:a16="http://schemas.microsoft.com/office/drawing/2014/main"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F67C9000-9E5A-4894-8CE5-D814ED1F8837}"/>
              </a:ext>
            </a:extLst>
          </p:cNvPr>
          <p:cNvSpPr>
            <a:spLocks noGrp="1"/>
          </p:cNvSpPr>
          <p:nvPr>
            <p:ph type="dt" sz="half" idx="10"/>
          </p:nvPr>
        </p:nvSpPr>
        <p:spPr/>
        <p:txBody>
          <a:bodyPr/>
          <a:lstStyle/>
          <a:p>
            <a:fld id="{939863AD-E347-426A-B227-78A9B42781C3}" type="datetime1">
              <a:rPr lang="zh-TW" altLang="en-US" smtClean="0"/>
              <a:t>2018/5/30</a:t>
            </a:fld>
            <a:endParaRPr lang="zh-TW" altLang="en-US"/>
          </a:p>
        </p:txBody>
      </p:sp>
      <p:sp>
        <p:nvSpPr>
          <p:cNvPr id="5" name="頁尾版面配置區 4">
            <a:extLst>
              <a:ext uri="{FF2B5EF4-FFF2-40B4-BE49-F238E27FC236}">
                <a16:creationId xmlns:a16="http://schemas.microsoft.com/office/drawing/2014/main"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9E55BE4-DE58-4CB4-A138-82C7FA95E005}"/>
              </a:ext>
            </a:extLst>
          </p:cNvPr>
          <p:cNvSpPr>
            <a:spLocks noGrp="1"/>
          </p:cNvSpPr>
          <p:nvPr>
            <p:ph type="dt" sz="half" idx="10"/>
          </p:nvPr>
        </p:nvSpPr>
        <p:spPr/>
        <p:txBody>
          <a:bodyPr/>
          <a:lstStyle/>
          <a:p>
            <a:fld id="{98EE8F46-57F3-4B32-B3C0-034060244659}" type="datetime1">
              <a:rPr lang="zh-TW" altLang="en-US" smtClean="0"/>
              <a:t>2018/5/30</a:t>
            </a:fld>
            <a:endParaRPr lang="zh-TW" altLang="en-US"/>
          </a:p>
        </p:txBody>
      </p:sp>
      <p:sp>
        <p:nvSpPr>
          <p:cNvPr id="6" name="頁尾版面配置區 5">
            <a:extLst>
              <a:ext uri="{FF2B5EF4-FFF2-40B4-BE49-F238E27FC236}">
                <a16:creationId xmlns:a16="http://schemas.microsoft.com/office/drawing/2014/main"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1164490-F37E-4BF2-B792-E41261B07B22}"/>
              </a:ext>
            </a:extLst>
          </p:cNvPr>
          <p:cNvSpPr>
            <a:spLocks noGrp="1"/>
          </p:cNvSpPr>
          <p:nvPr>
            <p:ph type="dt" sz="half" idx="10"/>
          </p:nvPr>
        </p:nvSpPr>
        <p:spPr/>
        <p:txBody>
          <a:bodyPr/>
          <a:lstStyle/>
          <a:p>
            <a:fld id="{25BE6354-929A-48E4-A569-5065F8787DBB}" type="datetime1">
              <a:rPr lang="zh-TW" altLang="en-US" smtClean="0"/>
              <a:t>2018/5/30</a:t>
            </a:fld>
            <a:endParaRPr lang="zh-TW" altLang="en-US"/>
          </a:p>
        </p:txBody>
      </p:sp>
      <p:sp>
        <p:nvSpPr>
          <p:cNvPr id="8" name="頁尾版面配置區 7">
            <a:extLst>
              <a:ext uri="{FF2B5EF4-FFF2-40B4-BE49-F238E27FC236}">
                <a16:creationId xmlns:a16="http://schemas.microsoft.com/office/drawing/2014/main"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067B964-A9EE-448C-A903-DF032F75B54E}"/>
              </a:ext>
            </a:extLst>
          </p:cNvPr>
          <p:cNvSpPr>
            <a:spLocks noGrp="1"/>
          </p:cNvSpPr>
          <p:nvPr>
            <p:ph type="dt" sz="half" idx="10"/>
          </p:nvPr>
        </p:nvSpPr>
        <p:spPr/>
        <p:txBody>
          <a:bodyPr/>
          <a:lstStyle/>
          <a:p>
            <a:fld id="{9347B07A-C303-4A11-829E-75A08D84F791}" type="datetime1">
              <a:rPr lang="zh-TW" altLang="en-US" smtClean="0"/>
              <a:t>2018/5/30</a:t>
            </a:fld>
            <a:endParaRPr lang="zh-TW" altLang="en-US"/>
          </a:p>
        </p:txBody>
      </p:sp>
      <p:sp>
        <p:nvSpPr>
          <p:cNvPr id="4" name="頁尾版面配置區 3">
            <a:extLst>
              <a:ext uri="{FF2B5EF4-FFF2-40B4-BE49-F238E27FC236}">
                <a16:creationId xmlns:a16="http://schemas.microsoft.com/office/drawing/2014/main"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5DC494-3175-4D2C-8019-6DC804B304DE}"/>
              </a:ext>
            </a:extLst>
          </p:cNvPr>
          <p:cNvSpPr>
            <a:spLocks noGrp="1"/>
          </p:cNvSpPr>
          <p:nvPr>
            <p:ph type="dt" sz="half" idx="10"/>
          </p:nvPr>
        </p:nvSpPr>
        <p:spPr/>
        <p:txBody>
          <a:bodyPr/>
          <a:lstStyle/>
          <a:p>
            <a:fld id="{818C0FAA-EAB9-46FF-9B2E-6C03EFE0E627}" type="datetime1">
              <a:rPr lang="zh-TW" altLang="en-US" smtClean="0"/>
              <a:t>2018/5/30</a:t>
            </a:fld>
            <a:endParaRPr lang="zh-TW" altLang="en-US"/>
          </a:p>
        </p:txBody>
      </p:sp>
      <p:sp>
        <p:nvSpPr>
          <p:cNvPr id="3" name="頁尾版面配置區 2">
            <a:extLst>
              <a:ext uri="{FF2B5EF4-FFF2-40B4-BE49-F238E27FC236}">
                <a16:creationId xmlns:a16="http://schemas.microsoft.com/office/drawing/2014/main"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E19407D-C528-4858-9191-402D0B2E4E7A}"/>
              </a:ext>
            </a:extLst>
          </p:cNvPr>
          <p:cNvSpPr>
            <a:spLocks noGrp="1"/>
          </p:cNvSpPr>
          <p:nvPr>
            <p:ph type="dt" sz="half" idx="10"/>
          </p:nvPr>
        </p:nvSpPr>
        <p:spPr/>
        <p:txBody>
          <a:bodyPr/>
          <a:lstStyle/>
          <a:p>
            <a:fld id="{6F615960-3F62-4BA7-8DEF-58213E9FC750}" type="datetime1">
              <a:rPr lang="zh-TW" altLang="en-US" smtClean="0"/>
              <a:t>2018/5/30</a:t>
            </a:fld>
            <a:endParaRPr lang="zh-TW" altLang="en-US"/>
          </a:p>
        </p:txBody>
      </p:sp>
      <p:sp>
        <p:nvSpPr>
          <p:cNvPr id="6" name="頁尾版面配置區 5">
            <a:extLst>
              <a:ext uri="{FF2B5EF4-FFF2-40B4-BE49-F238E27FC236}">
                <a16:creationId xmlns:a16="http://schemas.microsoft.com/office/drawing/2014/main"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3917929-FFD5-45C6-AB7C-0A03F71D13FE}"/>
              </a:ext>
            </a:extLst>
          </p:cNvPr>
          <p:cNvSpPr>
            <a:spLocks noGrp="1"/>
          </p:cNvSpPr>
          <p:nvPr>
            <p:ph type="dt" sz="half" idx="10"/>
          </p:nvPr>
        </p:nvSpPr>
        <p:spPr/>
        <p:txBody>
          <a:bodyPr/>
          <a:lstStyle/>
          <a:p>
            <a:fld id="{BA495139-73A5-4D37-9F65-42DD6EFCB362}" type="datetime1">
              <a:rPr lang="zh-TW" altLang="en-US" smtClean="0"/>
              <a:t>2018/5/30</a:t>
            </a:fld>
            <a:endParaRPr lang="zh-TW" altLang="en-US"/>
          </a:p>
        </p:txBody>
      </p:sp>
      <p:sp>
        <p:nvSpPr>
          <p:cNvPr id="6" name="頁尾版面配置區 5">
            <a:extLst>
              <a:ext uri="{FF2B5EF4-FFF2-40B4-BE49-F238E27FC236}">
                <a16:creationId xmlns:a16="http://schemas.microsoft.com/office/drawing/2014/main"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F64FCF-DA26-41B4-8919-89C752F28E4F}"/>
              </a:ext>
            </a:extLst>
          </p:cNvPr>
          <p:cNvSpPr>
            <a:spLocks noGrp="1"/>
          </p:cNvSpPr>
          <p:nvPr>
            <p:ph type="dt" sz="half" idx="10"/>
          </p:nvPr>
        </p:nvSpPr>
        <p:spPr/>
        <p:txBody>
          <a:bodyPr/>
          <a:lstStyle/>
          <a:p>
            <a:fld id="{F65DB9CA-F34A-4005-B66B-4638821FBB36}" type="datetime1">
              <a:rPr lang="zh-TW" altLang="en-US" smtClean="0"/>
              <a:t>2018/5/30</a:t>
            </a:fld>
            <a:endParaRPr lang="zh-TW" altLang="en-US"/>
          </a:p>
        </p:txBody>
      </p:sp>
      <p:sp>
        <p:nvSpPr>
          <p:cNvPr id="5" name="頁尾版面配置區 4">
            <a:extLst>
              <a:ext uri="{FF2B5EF4-FFF2-40B4-BE49-F238E27FC236}">
                <a16:creationId xmlns:a16="http://schemas.microsoft.com/office/drawing/2014/main"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53E183-339D-4996-9336-DF360AFA83CE}"/>
              </a:ext>
            </a:extLst>
          </p:cNvPr>
          <p:cNvSpPr>
            <a:spLocks noGrp="1"/>
          </p:cNvSpPr>
          <p:nvPr>
            <p:ph type="dt" sz="half" idx="10"/>
          </p:nvPr>
        </p:nvSpPr>
        <p:spPr/>
        <p:txBody>
          <a:bodyPr/>
          <a:lstStyle/>
          <a:p>
            <a:fld id="{9112FA3D-57A8-4A36-8AB7-98D4B7F81A6B}" type="datetime1">
              <a:rPr lang="zh-TW" altLang="en-US" smtClean="0"/>
              <a:t>2018/5/30</a:t>
            </a:fld>
            <a:endParaRPr lang="zh-TW" altLang="en-US"/>
          </a:p>
        </p:txBody>
      </p:sp>
      <p:sp>
        <p:nvSpPr>
          <p:cNvPr id="5" name="頁尾版面配置區 4">
            <a:extLst>
              <a:ext uri="{FF2B5EF4-FFF2-40B4-BE49-F238E27FC236}">
                <a16:creationId xmlns:a16="http://schemas.microsoft.com/office/drawing/2014/main"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2018/5/30</a:t>
            </a:fld>
            <a:endParaRPr lang="zh-TW" altLang="en-US"/>
          </a:p>
        </p:txBody>
      </p:sp>
      <p:sp>
        <p:nvSpPr>
          <p:cNvPr id="5" name="頁尾版面配置區 4">
            <a:extLst>
              <a:ext uri="{FF2B5EF4-FFF2-40B4-BE49-F238E27FC236}">
                <a16:creationId xmlns:a16="http://schemas.microsoft.com/office/drawing/2014/main"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600E22-8B2D-44A2-B529-2D5C521DF6EC}"/>
              </a:ext>
            </a:extLst>
          </p:cNvPr>
          <p:cNvSpPr>
            <a:spLocks noGrp="1"/>
          </p:cNvSpPr>
          <p:nvPr>
            <p:ph type="ctrTitle"/>
          </p:nvPr>
        </p:nvSpPr>
        <p:spPr>
          <a:xfrm>
            <a:off x="703383" y="601086"/>
            <a:ext cx="10730735" cy="1786671"/>
          </a:xfrm>
        </p:spPr>
        <p:txBody>
          <a:bodyPr>
            <a:normAutofit/>
          </a:bodyPr>
          <a:lstStyle/>
          <a:p>
            <a:r>
              <a:rPr lang="en-US" altLang="zh-TW" sz="4800" dirty="0"/>
              <a:t>A Similarity Measure of Jumping Dynamic Time Warping</a:t>
            </a:r>
          </a:p>
        </p:txBody>
      </p:sp>
      <p:sp>
        <p:nvSpPr>
          <p:cNvPr id="3" name="副標題 2">
            <a:extLst>
              <a:ext uri="{FF2B5EF4-FFF2-40B4-BE49-F238E27FC236}">
                <a16:creationId xmlns:a16="http://schemas.microsoft.com/office/drawing/2014/main" id="{E1F7DB53-5192-4070-9ADE-B5C85E35C2CC}"/>
              </a:ext>
            </a:extLst>
          </p:cNvPr>
          <p:cNvSpPr>
            <a:spLocks noGrp="1"/>
          </p:cNvSpPr>
          <p:nvPr>
            <p:ph type="subTitle" idx="1"/>
          </p:nvPr>
        </p:nvSpPr>
        <p:spPr>
          <a:xfrm>
            <a:off x="1082831" y="2715042"/>
            <a:ext cx="9679333" cy="773417"/>
          </a:xfrm>
        </p:spPr>
        <p:txBody>
          <a:bodyPr>
            <a:noAutofit/>
          </a:bodyPr>
          <a:lstStyle/>
          <a:p>
            <a:r>
              <a:rPr lang="en-US" altLang="zh-TW" dirty="0">
                <a:solidFill>
                  <a:schemeClr val="bg1">
                    <a:lumMod val="50000"/>
                  </a:schemeClr>
                </a:solidFill>
              </a:rPr>
              <a:t>Lin Feng, </a:t>
            </a:r>
            <a:r>
              <a:rPr lang="en-US" altLang="zh-TW" dirty="0" err="1">
                <a:solidFill>
                  <a:schemeClr val="bg1">
                    <a:lumMod val="50000"/>
                  </a:schemeClr>
                </a:solidFill>
              </a:rPr>
              <a:t>Xiaoyan</a:t>
            </a:r>
            <a:r>
              <a:rPr lang="en-US" altLang="zh-TW" dirty="0">
                <a:solidFill>
                  <a:schemeClr val="bg1">
                    <a:lumMod val="50000"/>
                  </a:schemeClr>
                </a:solidFill>
              </a:rPr>
              <a:t> Zhao, </a:t>
            </a:r>
            <a:r>
              <a:rPr lang="en-US" altLang="zh-TW" dirty="0" err="1">
                <a:solidFill>
                  <a:schemeClr val="bg1">
                    <a:lumMod val="50000"/>
                  </a:schemeClr>
                </a:solidFill>
              </a:rPr>
              <a:t>Yiwei</a:t>
            </a:r>
            <a:r>
              <a:rPr lang="en-US" altLang="zh-TW" dirty="0">
                <a:solidFill>
                  <a:schemeClr val="bg1">
                    <a:lumMod val="50000"/>
                  </a:schemeClr>
                </a:solidFill>
              </a:rPr>
              <a:t> Liu, Yuan Yao, Bo </a:t>
            </a:r>
            <a:r>
              <a:rPr lang="en-US" altLang="zh-TW" dirty="0" err="1">
                <a:solidFill>
                  <a:schemeClr val="bg1">
                    <a:lumMod val="50000"/>
                  </a:schemeClr>
                </a:solidFill>
              </a:rPr>
              <a:t>Jin</a:t>
            </a:r>
            <a:endParaRPr lang="en-US" altLang="zh-TW" dirty="0">
              <a:solidFill>
                <a:schemeClr val="bg1">
                  <a:lumMod val="50000"/>
                </a:schemeClr>
              </a:solidFill>
            </a:endParaRPr>
          </a:p>
        </p:txBody>
      </p:sp>
      <p:sp>
        <p:nvSpPr>
          <p:cNvPr id="4" name="投影片編號版面配置區 3">
            <a:extLst>
              <a:ext uri="{FF2B5EF4-FFF2-40B4-BE49-F238E27FC236}">
                <a16:creationId xmlns:a16="http://schemas.microsoft.com/office/drawing/2014/main"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id="{CC60B4B8-BDE3-427A-B56B-7314F1C4CCA4}"/>
              </a:ext>
            </a:extLst>
          </p:cNvPr>
          <p:cNvSpPr txBox="1">
            <a:spLocks/>
          </p:cNvSpPr>
          <p:nvPr/>
        </p:nvSpPr>
        <p:spPr>
          <a:xfrm>
            <a:off x="1192823" y="3756249"/>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dirty="0">
                <a:solidFill>
                  <a:schemeClr val="bg1">
                    <a:lumMod val="50000"/>
                  </a:schemeClr>
                </a:solidFill>
              </a:rPr>
              <a:t>2010 Seventh International Conference on Fuzzy Systems and Knowledge Discovery (FSKD 2010), Yantai, China</a:t>
            </a:r>
          </a:p>
        </p:txBody>
      </p:sp>
      <p:sp>
        <p:nvSpPr>
          <p:cNvPr id="6" name="副標題 2">
            <a:extLst>
              <a:ext uri="{FF2B5EF4-FFF2-40B4-BE49-F238E27FC236}">
                <a16:creationId xmlns:a16="http://schemas.microsoft.com/office/drawing/2014/main"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solidFill>
                  <a:schemeClr val="tx1"/>
                </a:solidFill>
              </a:rPr>
              <a:t>Presenter: Shan-Ru Liu</a:t>
            </a:r>
          </a:p>
          <a:p>
            <a:r>
              <a:rPr lang="en-US" altLang="zh-TW" dirty="0">
                <a:solidFill>
                  <a:schemeClr val="tx1"/>
                </a:solidFill>
              </a:rPr>
              <a:t>Date: 2018/05/30</a:t>
            </a:r>
            <a:endParaRPr lang="zh-TW" altLang="en-US" dirty="0">
              <a:solidFill>
                <a:schemeClr val="tx1"/>
              </a:solidFill>
            </a:endParaRPr>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F6B1DC-F5A3-4A3E-ABB3-0C74971D0F82}"/>
              </a:ext>
            </a:extLst>
          </p:cNvPr>
          <p:cNvSpPr>
            <a:spLocks noGrp="1"/>
          </p:cNvSpPr>
          <p:nvPr>
            <p:ph type="title"/>
          </p:nvPr>
        </p:nvSpPr>
        <p:spPr>
          <a:xfrm>
            <a:off x="838200" y="205468"/>
            <a:ext cx="10515600" cy="883104"/>
          </a:xfrm>
        </p:spPr>
        <p:txBody>
          <a:bodyPr/>
          <a:lstStyle/>
          <a:p>
            <a:r>
              <a:rPr lang="en-US" altLang="zh-TW" dirty="0"/>
              <a:t>Abstract</a:t>
            </a:r>
            <a:endParaRPr lang="zh-TW" altLang="en-US" dirty="0"/>
          </a:p>
        </p:txBody>
      </p:sp>
      <p:sp>
        <p:nvSpPr>
          <p:cNvPr id="3" name="內容版面配置區 2">
            <a:extLst>
              <a:ext uri="{FF2B5EF4-FFF2-40B4-BE49-F238E27FC236}">
                <a16:creationId xmlns:a16="http://schemas.microsoft.com/office/drawing/2014/main" id="{12EF2FB6-82B8-48D7-A181-5A6639544732}"/>
              </a:ext>
            </a:extLst>
          </p:cNvPr>
          <p:cNvSpPr>
            <a:spLocks noGrp="1"/>
          </p:cNvSpPr>
          <p:nvPr>
            <p:ph idx="1"/>
          </p:nvPr>
        </p:nvSpPr>
        <p:spPr>
          <a:xfrm>
            <a:off x="838200" y="1088573"/>
            <a:ext cx="10300480" cy="5267779"/>
          </a:xfrm>
        </p:spPr>
        <p:txBody>
          <a:bodyPr>
            <a:noAutofit/>
          </a:bodyPr>
          <a:lstStyle/>
          <a:p>
            <a:pPr marL="0" indent="0">
              <a:buNone/>
            </a:pPr>
            <a:r>
              <a:rPr lang="en-US" altLang="zh-TW" dirty="0"/>
              <a:t>The problem of similarity measure for time series has attracted considerable research interest. Most of the recently used algorithms utilize the Dynamic Time Warping (DTW) distance for measuring the similarity of time series, in various areas such as science, medicine, industry, and finance. DTW is a considerably more robust distance measure for time series, which allows similar shapes to match even if they are of different lengths. Unfortunately however, several serious problems are associated with the use of DTW, such as high complexity and “one to many” problems. The present study is aimed at introducing a novel technique for improving the DTW algorithm, known as Jumping Dynamic Time Warping (JDTW). It is proven that this approach improves the efficiency with lower omission factor and reduces the noise impact of query sequence.</a:t>
            </a:r>
            <a:endParaRPr lang="zh-TW" altLang="en-US" dirty="0"/>
          </a:p>
        </p:txBody>
      </p:sp>
      <p:sp>
        <p:nvSpPr>
          <p:cNvPr id="4" name="投影片編號版面配置區 3">
            <a:extLst>
              <a:ext uri="{FF2B5EF4-FFF2-40B4-BE49-F238E27FC236}">
                <a16:creationId xmlns:a16="http://schemas.microsoft.com/office/drawing/2014/main" id="{24F33E4C-9041-46E0-B109-AD73165F9F88}"/>
              </a:ext>
            </a:extLst>
          </p:cNvPr>
          <p:cNvSpPr>
            <a:spLocks noGrp="1"/>
          </p:cNvSpPr>
          <p:nvPr>
            <p:ph type="sldNum" sz="quarter" idx="12"/>
          </p:nvPr>
        </p:nvSpPr>
        <p:spPr>
          <a:xfrm>
            <a:off x="8610600" y="6356352"/>
            <a:ext cx="2743200" cy="365125"/>
          </a:xfrm>
        </p:spPr>
        <p:txBody>
          <a:bodyPr/>
          <a:lstStyle/>
          <a:p>
            <a:fld id="{8DCCD063-7F18-423D-A692-CC9D343FD360}" type="slidenum">
              <a:rPr lang="zh-TW" altLang="en-US" smtClean="0"/>
              <a:t>2</a:t>
            </a:fld>
            <a:endParaRPr lang="zh-TW" altLang="en-US" dirty="0"/>
          </a:p>
        </p:txBody>
      </p:sp>
    </p:spTree>
    <p:extLst>
      <p:ext uri="{BB962C8B-B14F-4D97-AF65-F5344CB8AC3E}">
        <p14:creationId xmlns:p14="http://schemas.microsoft.com/office/powerpoint/2010/main" val="4056433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內容版面配置區 12">
            <a:extLst>
              <a:ext uri="{FF2B5EF4-FFF2-40B4-BE49-F238E27FC236}">
                <a16:creationId xmlns:a16="http://schemas.microsoft.com/office/drawing/2014/main" id="{D0D17275-0F32-4AB2-BC84-F794BFCFD792}"/>
              </a:ext>
            </a:extLst>
          </p:cNvPr>
          <p:cNvPicPr>
            <a:picLocks noGrp="1" noChangeAspect="1"/>
          </p:cNvPicPr>
          <p:nvPr>
            <p:ph idx="1"/>
          </p:nvPr>
        </p:nvPicPr>
        <p:blipFill>
          <a:blip r:embed="rId2"/>
          <a:stretch>
            <a:fillRect/>
          </a:stretch>
        </p:blipFill>
        <p:spPr>
          <a:xfrm>
            <a:off x="429263" y="1869787"/>
            <a:ext cx="4723568" cy="4390771"/>
          </a:xfrm>
          <a:prstGeom prst="rect">
            <a:avLst/>
          </a:prstGeom>
        </p:spPr>
      </p:pic>
      <p:sp>
        <p:nvSpPr>
          <p:cNvPr id="2" name="標題 1">
            <a:extLst>
              <a:ext uri="{FF2B5EF4-FFF2-40B4-BE49-F238E27FC236}">
                <a16:creationId xmlns:a16="http://schemas.microsoft.com/office/drawing/2014/main" id="{E62B5746-F89F-426B-9537-3C6EEAA6CBA7}"/>
              </a:ext>
            </a:extLst>
          </p:cNvPr>
          <p:cNvSpPr>
            <a:spLocks noGrp="1"/>
          </p:cNvSpPr>
          <p:nvPr>
            <p:ph type="title"/>
          </p:nvPr>
        </p:nvSpPr>
        <p:spPr/>
        <p:txBody>
          <a:bodyPr/>
          <a:lstStyle/>
          <a:p>
            <a:r>
              <a:rPr lang="en-US" altLang="zh-TW" dirty="0"/>
              <a:t>DTW</a:t>
            </a:r>
            <a:endParaRPr lang="zh-TW" altLang="en-US" dirty="0"/>
          </a:p>
        </p:txBody>
      </p:sp>
      <p:sp>
        <p:nvSpPr>
          <p:cNvPr id="4" name="投影片編號版面配置區 3">
            <a:extLst>
              <a:ext uri="{FF2B5EF4-FFF2-40B4-BE49-F238E27FC236}">
                <a16:creationId xmlns:a16="http://schemas.microsoft.com/office/drawing/2014/main" id="{827BA179-8C43-4E61-A02E-1133D0E2F0D2}"/>
              </a:ext>
            </a:extLst>
          </p:cNvPr>
          <p:cNvSpPr>
            <a:spLocks noGrp="1"/>
          </p:cNvSpPr>
          <p:nvPr>
            <p:ph type="sldNum" sz="quarter" idx="12"/>
          </p:nvPr>
        </p:nvSpPr>
        <p:spPr/>
        <p:txBody>
          <a:bodyPr/>
          <a:lstStyle/>
          <a:p>
            <a:fld id="{8DCCD063-7F18-423D-A692-CC9D343FD360}" type="slidenum">
              <a:rPr lang="zh-TW" altLang="en-US" smtClean="0"/>
              <a:t>3</a:t>
            </a:fld>
            <a:endParaRPr lang="zh-TW" altLang="en-US"/>
          </a:p>
        </p:txBody>
      </p:sp>
      <mc:AlternateContent xmlns:mc="http://schemas.openxmlformats.org/markup-compatibility/2006">
        <mc:Choice xmlns:a14="http://schemas.microsoft.com/office/drawing/2010/main" Requires="a14">
          <p:sp>
            <p:nvSpPr>
              <p:cNvPr id="9" name="文字方塊 8">
                <a:extLst>
                  <a:ext uri="{FF2B5EF4-FFF2-40B4-BE49-F238E27FC236}">
                    <a16:creationId xmlns:a16="http://schemas.microsoft.com/office/drawing/2014/main" id="{3D59AC9F-71D1-40B8-BA60-D4BF4AE068E7}"/>
                  </a:ext>
                </a:extLst>
              </p:cNvPr>
              <p:cNvSpPr txBox="1"/>
              <p:nvPr/>
            </p:nvSpPr>
            <p:spPr>
              <a:xfrm>
                <a:off x="5014792" y="2752097"/>
                <a:ext cx="6624057" cy="16878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𝐷</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𝑗</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𝐷𝑖𝑠𝑡</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𝑗</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𝑚𝑖𝑛</m:t>
                      </m:r>
                      <m:d>
                        <m:dPr>
                          <m:begChr m:val="{"/>
                          <m:endChr m:val=""/>
                          <m:ctrlPr>
                            <a:rPr lang="en-US" altLang="zh-TW" sz="2800" b="0" i="1" smtClean="0">
                              <a:latin typeface="Cambria Math" panose="02040503050406030204" pitchFamily="18" charset="0"/>
                            </a:rPr>
                          </m:ctrlPr>
                        </m:dPr>
                        <m:e>
                          <m:eqArr>
                            <m:eqArrPr>
                              <m:ctrlPr>
                                <a:rPr lang="en-US" altLang="zh-TW" sz="2800" b="0" i="1" smtClean="0">
                                  <a:latin typeface="Cambria Math" panose="02040503050406030204" pitchFamily="18" charset="0"/>
                                </a:rPr>
                              </m:ctrlPr>
                            </m:eqArrPr>
                            <m:e>
                              <m:r>
                                <a:rPr lang="en-US" altLang="zh-TW" sz="2800" b="0" i="1" smtClean="0">
                                  <a:latin typeface="Cambria Math" panose="02040503050406030204" pitchFamily="18" charset="0"/>
                                </a:rPr>
                                <m:t>𝐷</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𝑗</m:t>
                              </m:r>
                              <m:r>
                                <a:rPr lang="en-US" altLang="zh-TW" sz="2800" b="0" i="1" smtClean="0">
                                  <a:latin typeface="Cambria Math" panose="02040503050406030204" pitchFamily="18" charset="0"/>
                                </a:rPr>
                                <m:t>)</m:t>
                              </m:r>
                            </m:e>
                            <m:e>
                              <m:r>
                                <a:rPr lang="en-US" altLang="zh-TW" sz="2800" b="0" i="1" smtClean="0">
                                  <a:latin typeface="Cambria Math" panose="02040503050406030204" pitchFamily="18" charset="0"/>
                                </a:rPr>
                                <m:t>𝐷</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𝑗</m:t>
                              </m:r>
                              <m:r>
                                <a:rPr lang="en-US" altLang="zh-TW" sz="2800" b="0" i="1" smtClean="0">
                                  <a:latin typeface="Cambria Math" panose="02040503050406030204" pitchFamily="18" charset="0"/>
                                </a:rPr>
                                <m:t>−1)</m:t>
                              </m:r>
                            </m:e>
                            <m:e>
                              <m:r>
                                <a:rPr lang="en-US" altLang="zh-TW" sz="2800" b="0" i="1" smtClean="0">
                                  <a:latin typeface="Cambria Math" panose="02040503050406030204" pitchFamily="18" charset="0"/>
                                </a:rPr>
                                <m:t>𝐷</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r>
                                <a:rPr lang="en-US" altLang="zh-TW" sz="2800" b="0" i="1" smtClean="0">
                                  <a:latin typeface="Cambria Math" panose="02040503050406030204" pitchFamily="18" charset="0"/>
                                </a:rPr>
                                <m:t>𝑗</m:t>
                              </m:r>
                              <m:r>
                                <a:rPr lang="en-US" altLang="zh-TW" sz="2800" b="0" i="1" smtClean="0">
                                  <a:latin typeface="Cambria Math" panose="02040503050406030204" pitchFamily="18" charset="0"/>
                                </a:rPr>
                                <m:t>−1)</m:t>
                              </m:r>
                            </m:e>
                          </m:eqArr>
                        </m:e>
                      </m:d>
                    </m:oMath>
                  </m:oMathPara>
                </a14:m>
                <a:endParaRPr lang="zh-TW" altLang="en-US" sz="2800" dirty="0"/>
              </a:p>
            </p:txBody>
          </p:sp>
        </mc:Choice>
        <mc:Fallback>
          <p:sp>
            <p:nvSpPr>
              <p:cNvPr id="9" name="文字方塊 8">
                <a:extLst>
                  <a:ext uri="{FF2B5EF4-FFF2-40B4-BE49-F238E27FC236}">
                    <a16:creationId xmlns:a16="http://schemas.microsoft.com/office/drawing/2014/main" id="{3D59AC9F-71D1-40B8-BA60-D4BF4AE068E7}"/>
                  </a:ext>
                </a:extLst>
              </p:cNvPr>
              <p:cNvSpPr txBox="1">
                <a:spLocks noRot="1" noChangeAspect="1" noMove="1" noResize="1" noEditPoints="1" noAdjustHandles="1" noChangeArrowheads="1" noChangeShapeType="1" noTextEdit="1"/>
              </p:cNvSpPr>
              <p:nvPr/>
            </p:nvSpPr>
            <p:spPr>
              <a:xfrm>
                <a:off x="5014792" y="2752097"/>
                <a:ext cx="6624057" cy="1687834"/>
              </a:xfrm>
              <a:prstGeom prst="rect">
                <a:avLst/>
              </a:prstGeom>
              <a:blipFill>
                <a:blip r:embed="rId3"/>
                <a:stretch>
                  <a:fillRect/>
                </a:stretch>
              </a:blipFill>
            </p:spPr>
            <p:txBody>
              <a:bodyPr/>
              <a:lstStyle/>
              <a:p>
                <a:r>
                  <a:rPr lang="zh-TW" altLang="en-US">
                    <a:noFill/>
                  </a:rPr>
                  <a:t> </a:t>
                </a:r>
              </a:p>
            </p:txBody>
          </p:sp>
        </mc:Fallback>
      </mc:AlternateContent>
      <p:sp>
        <p:nvSpPr>
          <p:cNvPr id="10" name="文字方塊 9">
            <a:extLst>
              <a:ext uri="{FF2B5EF4-FFF2-40B4-BE49-F238E27FC236}">
                <a16:creationId xmlns:a16="http://schemas.microsoft.com/office/drawing/2014/main" id="{89E239AD-8304-4F05-A606-196EC6DE234D}"/>
              </a:ext>
            </a:extLst>
          </p:cNvPr>
          <p:cNvSpPr txBox="1"/>
          <p:nvPr/>
        </p:nvSpPr>
        <p:spPr>
          <a:xfrm>
            <a:off x="5726036" y="5167309"/>
            <a:ext cx="3674917" cy="523220"/>
          </a:xfrm>
          <a:prstGeom prst="rect">
            <a:avLst/>
          </a:prstGeom>
          <a:noFill/>
        </p:spPr>
        <p:txBody>
          <a:bodyPr wrap="none" rtlCol="0">
            <a:spAutoFit/>
          </a:bodyPr>
          <a:lstStyle/>
          <a:p>
            <a:r>
              <a:rPr lang="en-US" altLang="zh-TW" sz="2800" dirty="0"/>
              <a:t>Time Complexity : O(N</a:t>
            </a:r>
            <a:r>
              <a:rPr lang="en-US" altLang="zh-TW" sz="2800" baseline="30000" dirty="0"/>
              <a:t>2</a:t>
            </a:r>
            <a:r>
              <a:rPr lang="en-US" altLang="zh-TW" sz="2800" dirty="0"/>
              <a:t>)</a:t>
            </a:r>
            <a:endParaRPr lang="zh-TW" altLang="en-US" sz="2800" dirty="0"/>
          </a:p>
        </p:txBody>
      </p:sp>
    </p:spTree>
    <p:extLst>
      <p:ext uri="{BB962C8B-B14F-4D97-AF65-F5344CB8AC3E}">
        <p14:creationId xmlns:p14="http://schemas.microsoft.com/office/powerpoint/2010/main" val="3144180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04BE007-E000-4547-B5B0-BB486AEB1D45}"/>
              </a:ext>
            </a:extLst>
          </p:cNvPr>
          <p:cNvSpPr>
            <a:spLocks noGrp="1"/>
          </p:cNvSpPr>
          <p:nvPr>
            <p:ph type="title"/>
          </p:nvPr>
        </p:nvSpPr>
        <p:spPr/>
        <p:txBody>
          <a:bodyPr/>
          <a:lstStyle/>
          <a:p>
            <a:r>
              <a:rPr lang="en-US" altLang="zh-TW" dirty="0"/>
              <a:t>Lower Bounding of DTW</a:t>
            </a:r>
            <a:endParaRPr lang="zh-TW" altLang="en-US" dirty="0"/>
          </a:p>
        </p:txBody>
      </p:sp>
      <p:pic>
        <p:nvPicPr>
          <p:cNvPr id="5" name="內容版面配置區 4">
            <a:extLst>
              <a:ext uri="{FF2B5EF4-FFF2-40B4-BE49-F238E27FC236}">
                <a16:creationId xmlns:a16="http://schemas.microsoft.com/office/drawing/2014/main" id="{0F11AFDA-5B7B-4171-A5A9-CC126924794C}"/>
              </a:ext>
            </a:extLst>
          </p:cNvPr>
          <p:cNvPicPr>
            <a:picLocks noGrp="1" noChangeAspect="1"/>
          </p:cNvPicPr>
          <p:nvPr>
            <p:ph idx="1"/>
          </p:nvPr>
        </p:nvPicPr>
        <p:blipFill>
          <a:blip r:embed="rId2"/>
          <a:stretch>
            <a:fillRect/>
          </a:stretch>
        </p:blipFill>
        <p:spPr>
          <a:xfrm>
            <a:off x="838200" y="1690690"/>
            <a:ext cx="7772400" cy="4022776"/>
          </a:xfrm>
          <a:prstGeom prst="rect">
            <a:avLst/>
          </a:prstGeom>
        </p:spPr>
      </p:pic>
      <p:sp>
        <p:nvSpPr>
          <p:cNvPr id="4" name="投影片編號版面配置區 3">
            <a:extLst>
              <a:ext uri="{FF2B5EF4-FFF2-40B4-BE49-F238E27FC236}">
                <a16:creationId xmlns:a16="http://schemas.microsoft.com/office/drawing/2014/main" id="{592977CA-256A-48ED-BD46-5DF959F61810}"/>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p:sp>
        <p:nvSpPr>
          <p:cNvPr id="6" name="矩形 5">
            <a:extLst>
              <a:ext uri="{FF2B5EF4-FFF2-40B4-BE49-F238E27FC236}">
                <a16:creationId xmlns:a16="http://schemas.microsoft.com/office/drawing/2014/main" id="{B69EF523-2173-4196-98D2-246A55DF5F72}"/>
              </a:ext>
            </a:extLst>
          </p:cNvPr>
          <p:cNvSpPr/>
          <p:nvPr/>
        </p:nvSpPr>
        <p:spPr>
          <a:xfrm>
            <a:off x="1973898" y="5833132"/>
            <a:ext cx="3674917" cy="523220"/>
          </a:xfrm>
          <a:prstGeom prst="rect">
            <a:avLst/>
          </a:prstGeom>
        </p:spPr>
        <p:txBody>
          <a:bodyPr wrap="none">
            <a:spAutoFit/>
          </a:bodyPr>
          <a:lstStyle/>
          <a:p>
            <a:r>
              <a:rPr lang="en-US" altLang="zh-TW" sz="2800" dirty="0"/>
              <a:t>Time Complexity : O(N)</a:t>
            </a:r>
            <a:endParaRPr lang="zh-TW" altLang="en-US" sz="2800" dirty="0"/>
          </a:p>
        </p:txBody>
      </p:sp>
    </p:spTree>
    <p:extLst>
      <p:ext uri="{BB962C8B-B14F-4D97-AF65-F5344CB8AC3E}">
        <p14:creationId xmlns:p14="http://schemas.microsoft.com/office/powerpoint/2010/main" val="2586369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C5AEEC-2260-4B7F-85AF-D74DABF29F67}"/>
              </a:ext>
            </a:extLst>
          </p:cNvPr>
          <p:cNvSpPr>
            <a:spLocks noGrp="1"/>
          </p:cNvSpPr>
          <p:nvPr>
            <p:ph type="title"/>
          </p:nvPr>
        </p:nvSpPr>
        <p:spPr/>
        <p:txBody>
          <a:bodyPr/>
          <a:lstStyle/>
          <a:p>
            <a:r>
              <a:rPr lang="en-US" altLang="zh-TW" dirty="0"/>
              <a:t>Path Constraints of DTW</a:t>
            </a:r>
            <a:endParaRPr lang="zh-TW" altLang="en-US" dirty="0"/>
          </a:p>
        </p:txBody>
      </p:sp>
      <p:sp>
        <p:nvSpPr>
          <p:cNvPr id="4" name="投影片編號版面配置區 3">
            <a:extLst>
              <a:ext uri="{FF2B5EF4-FFF2-40B4-BE49-F238E27FC236}">
                <a16:creationId xmlns:a16="http://schemas.microsoft.com/office/drawing/2014/main" id="{9B843077-008D-4D9F-A2EA-EFBF3F63D2C6}"/>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pic>
        <p:nvPicPr>
          <p:cNvPr id="8" name="內容版面配置區 7">
            <a:extLst>
              <a:ext uri="{FF2B5EF4-FFF2-40B4-BE49-F238E27FC236}">
                <a16:creationId xmlns:a16="http://schemas.microsoft.com/office/drawing/2014/main" id="{C3618D0F-1226-4A26-87EB-9357FB7EBD80}"/>
              </a:ext>
            </a:extLst>
          </p:cNvPr>
          <p:cNvPicPr>
            <a:picLocks noGrp="1" noChangeAspect="1"/>
          </p:cNvPicPr>
          <p:nvPr>
            <p:ph idx="1"/>
          </p:nvPr>
        </p:nvPicPr>
        <p:blipFill>
          <a:blip r:embed="rId2"/>
          <a:stretch>
            <a:fillRect/>
          </a:stretch>
        </p:blipFill>
        <p:spPr>
          <a:xfrm>
            <a:off x="1006642" y="1964531"/>
            <a:ext cx="5177799" cy="4230933"/>
          </a:xfrm>
          <a:prstGeom prst="rect">
            <a:avLst/>
          </a:prstGeom>
        </p:spPr>
      </p:pic>
      <p:pic>
        <p:nvPicPr>
          <p:cNvPr id="9" name="圖片 8">
            <a:extLst>
              <a:ext uri="{FF2B5EF4-FFF2-40B4-BE49-F238E27FC236}">
                <a16:creationId xmlns:a16="http://schemas.microsoft.com/office/drawing/2014/main" id="{F3AF0387-82C4-422C-95CD-769403F29B1D}"/>
              </a:ext>
            </a:extLst>
          </p:cNvPr>
          <p:cNvPicPr>
            <a:picLocks noChangeAspect="1"/>
          </p:cNvPicPr>
          <p:nvPr/>
        </p:nvPicPr>
        <p:blipFill>
          <a:blip r:embed="rId3"/>
          <a:stretch>
            <a:fillRect/>
          </a:stretch>
        </p:blipFill>
        <p:spPr>
          <a:xfrm>
            <a:off x="6096000" y="1790738"/>
            <a:ext cx="4578517" cy="4578517"/>
          </a:xfrm>
          <a:prstGeom prst="rect">
            <a:avLst/>
          </a:prstGeom>
        </p:spPr>
      </p:pic>
      <p:sp>
        <p:nvSpPr>
          <p:cNvPr id="13" name="文字方塊 12">
            <a:extLst>
              <a:ext uri="{FF2B5EF4-FFF2-40B4-BE49-F238E27FC236}">
                <a16:creationId xmlns:a16="http://schemas.microsoft.com/office/drawing/2014/main" id="{7D54DC89-0491-45C7-9895-C64B857F7025}"/>
              </a:ext>
            </a:extLst>
          </p:cNvPr>
          <p:cNvSpPr txBox="1"/>
          <p:nvPr/>
        </p:nvSpPr>
        <p:spPr>
          <a:xfrm>
            <a:off x="3615665" y="2905780"/>
            <a:ext cx="726481" cy="523220"/>
          </a:xfrm>
          <a:prstGeom prst="rect">
            <a:avLst/>
          </a:prstGeom>
          <a:noFill/>
        </p:spPr>
        <p:txBody>
          <a:bodyPr wrap="none" rtlCol="0">
            <a:spAutoFit/>
          </a:bodyPr>
          <a:lstStyle/>
          <a:p>
            <a:r>
              <a:rPr lang="en-US" altLang="zh-TW" sz="2800" dirty="0">
                <a:solidFill>
                  <a:srgbClr val="FF0000"/>
                </a:solidFill>
              </a:rPr>
              <a:t>45</a:t>
            </a:r>
            <a:r>
              <a:rPr lang="en-US" altLang="zh-TW" sz="2800" dirty="0">
                <a:solidFill>
                  <a:srgbClr val="FF0000"/>
                </a:solidFill>
                <a:sym typeface="Symbol" panose="05050102010706020507" pitchFamily="18" charset="2"/>
              </a:rPr>
              <a:t></a:t>
            </a:r>
            <a:endParaRPr lang="zh-TW" altLang="en-US" sz="2800" dirty="0">
              <a:solidFill>
                <a:srgbClr val="FF0000"/>
              </a:solidFill>
            </a:endParaRPr>
          </a:p>
        </p:txBody>
      </p:sp>
      <p:sp>
        <p:nvSpPr>
          <p:cNvPr id="14" name="文字方塊 13">
            <a:extLst>
              <a:ext uri="{FF2B5EF4-FFF2-40B4-BE49-F238E27FC236}">
                <a16:creationId xmlns:a16="http://schemas.microsoft.com/office/drawing/2014/main" id="{EC0109B2-06F5-4251-AECD-4304E84E2E96}"/>
              </a:ext>
            </a:extLst>
          </p:cNvPr>
          <p:cNvSpPr txBox="1"/>
          <p:nvPr/>
        </p:nvSpPr>
        <p:spPr>
          <a:xfrm>
            <a:off x="2375498" y="3014660"/>
            <a:ext cx="726481" cy="523220"/>
          </a:xfrm>
          <a:prstGeom prst="rect">
            <a:avLst/>
          </a:prstGeom>
          <a:noFill/>
        </p:spPr>
        <p:txBody>
          <a:bodyPr wrap="none" rtlCol="0">
            <a:spAutoFit/>
          </a:bodyPr>
          <a:lstStyle/>
          <a:p>
            <a:r>
              <a:rPr lang="en-US" altLang="zh-TW" sz="2800" dirty="0">
                <a:solidFill>
                  <a:srgbClr val="FF0000"/>
                </a:solidFill>
                <a:sym typeface="Symbol" panose="05050102010706020507" pitchFamily="18" charset="2"/>
              </a:rPr>
              <a:t>27</a:t>
            </a:r>
            <a:endParaRPr lang="zh-TW" altLang="en-US" sz="2800" dirty="0">
              <a:solidFill>
                <a:srgbClr val="FF0000"/>
              </a:solidFill>
            </a:endParaRPr>
          </a:p>
        </p:txBody>
      </p:sp>
      <p:sp>
        <p:nvSpPr>
          <p:cNvPr id="15" name="文字方塊 14">
            <a:extLst>
              <a:ext uri="{FF2B5EF4-FFF2-40B4-BE49-F238E27FC236}">
                <a16:creationId xmlns:a16="http://schemas.microsoft.com/office/drawing/2014/main" id="{D1869D21-E148-4B59-8AED-A1843914E8E9}"/>
              </a:ext>
            </a:extLst>
          </p:cNvPr>
          <p:cNvSpPr txBox="1"/>
          <p:nvPr/>
        </p:nvSpPr>
        <p:spPr>
          <a:xfrm>
            <a:off x="3615665" y="4491006"/>
            <a:ext cx="726481" cy="523220"/>
          </a:xfrm>
          <a:prstGeom prst="rect">
            <a:avLst/>
          </a:prstGeom>
          <a:noFill/>
        </p:spPr>
        <p:txBody>
          <a:bodyPr wrap="none" rtlCol="0">
            <a:spAutoFit/>
          </a:bodyPr>
          <a:lstStyle/>
          <a:p>
            <a:r>
              <a:rPr lang="en-US" altLang="zh-TW" sz="2800" dirty="0">
                <a:solidFill>
                  <a:srgbClr val="FF0000"/>
                </a:solidFill>
                <a:sym typeface="Symbol" panose="05050102010706020507" pitchFamily="18" charset="2"/>
              </a:rPr>
              <a:t>63</a:t>
            </a:r>
            <a:endParaRPr lang="zh-TW" altLang="en-US" sz="2800" dirty="0">
              <a:solidFill>
                <a:srgbClr val="FF0000"/>
              </a:solidFill>
            </a:endParaRPr>
          </a:p>
        </p:txBody>
      </p:sp>
    </p:spTree>
    <p:extLst>
      <p:ext uri="{BB962C8B-B14F-4D97-AF65-F5344CB8AC3E}">
        <p14:creationId xmlns:p14="http://schemas.microsoft.com/office/powerpoint/2010/main" val="876367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53D054-D3F5-4D39-BF60-6500A3CC70BD}"/>
              </a:ext>
            </a:extLst>
          </p:cNvPr>
          <p:cNvSpPr>
            <a:spLocks noGrp="1"/>
          </p:cNvSpPr>
          <p:nvPr>
            <p:ph type="title"/>
          </p:nvPr>
        </p:nvSpPr>
        <p:spPr/>
        <p:txBody>
          <a:bodyPr/>
          <a:lstStyle/>
          <a:p>
            <a:r>
              <a:rPr lang="en-US" altLang="zh-TW" dirty="0"/>
              <a:t>Local Path Constraints of JDTW</a:t>
            </a:r>
            <a:endParaRPr lang="zh-TW" altLang="en-US" dirty="0"/>
          </a:p>
        </p:txBody>
      </p:sp>
      <p:pic>
        <p:nvPicPr>
          <p:cNvPr id="5" name="內容版面配置區 4">
            <a:extLst>
              <a:ext uri="{FF2B5EF4-FFF2-40B4-BE49-F238E27FC236}">
                <a16:creationId xmlns:a16="http://schemas.microsoft.com/office/drawing/2014/main" id="{CDEA7BDC-058C-48EC-8354-9902AB3623B1}"/>
              </a:ext>
            </a:extLst>
          </p:cNvPr>
          <p:cNvPicPr>
            <a:picLocks noGrp="1" noChangeAspect="1"/>
          </p:cNvPicPr>
          <p:nvPr>
            <p:ph idx="1"/>
          </p:nvPr>
        </p:nvPicPr>
        <p:blipFill>
          <a:blip r:embed="rId2"/>
          <a:stretch>
            <a:fillRect/>
          </a:stretch>
        </p:blipFill>
        <p:spPr>
          <a:xfrm>
            <a:off x="677052" y="3359332"/>
            <a:ext cx="3943916" cy="1601289"/>
          </a:xfrm>
          <a:prstGeom prst="rect">
            <a:avLst/>
          </a:prstGeom>
        </p:spPr>
      </p:pic>
      <p:sp>
        <p:nvSpPr>
          <p:cNvPr id="4" name="投影片編號版面配置區 3">
            <a:extLst>
              <a:ext uri="{FF2B5EF4-FFF2-40B4-BE49-F238E27FC236}">
                <a16:creationId xmlns:a16="http://schemas.microsoft.com/office/drawing/2014/main" id="{86095787-B0AC-4B5F-AB1B-9A8B2200A060}"/>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sp>
        <p:nvSpPr>
          <p:cNvPr id="7" name="文字方塊 6">
            <a:extLst>
              <a:ext uri="{FF2B5EF4-FFF2-40B4-BE49-F238E27FC236}">
                <a16:creationId xmlns:a16="http://schemas.microsoft.com/office/drawing/2014/main" id="{EEF158DA-370B-4286-8111-0B7EBB820202}"/>
              </a:ext>
            </a:extLst>
          </p:cNvPr>
          <p:cNvSpPr txBox="1"/>
          <p:nvPr/>
        </p:nvSpPr>
        <p:spPr>
          <a:xfrm>
            <a:off x="838200" y="1881503"/>
            <a:ext cx="6449779" cy="523220"/>
          </a:xfrm>
          <a:prstGeom prst="rect">
            <a:avLst/>
          </a:prstGeom>
          <a:noFill/>
        </p:spPr>
        <p:txBody>
          <a:bodyPr wrap="none" rtlCol="0">
            <a:spAutoFit/>
          </a:bodyPr>
          <a:lstStyle/>
          <a:p>
            <a:r>
              <a:rPr lang="en-US" altLang="zh-TW" sz="2800" dirty="0"/>
              <a:t>Two time series X(x</a:t>
            </a:r>
            <a:r>
              <a:rPr lang="en-US" altLang="zh-TW" sz="2800" baseline="-25000" dirty="0"/>
              <a:t>1</a:t>
            </a:r>
            <a:r>
              <a:rPr lang="en-US" altLang="zh-TW" sz="2800" dirty="0"/>
              <a:t>,x</a:t>
            </a:r>
            <a:r>
              <a:rPr lang="en-US" altLang="zh-TW" sz="2800" baseline="-25000" dirty="0"/>
              <a:t>2</a:t>
            </a:r>
            <a:r>
              <a:rPr lang="en-US" altLang="zh-TW" sz="2800" dirty="0"/>
              <a:t>,…,</a:t>
            </a:r>
            <a:r>
              <a:rPr lang="en-US" altLang="zh-TW" sz="2800" dirty="0" err="1"/>
              <a:t>x</a:t>
            </a:r>
            <a:r>
              <a:rPr lang="en-US" altLang="zh-TW" sz="2800" baseline="-25000" dirty="0" err="1"/>
              <a:t>n</a:t>
            </a:r>
            <a:r>
              <a:rPr lang="en-US" altLang="zh-TW" sz="2800" dirty="0"/>
              <a:t>), Y(y</a:t>
            </a:r>
            <a:r>
              <a:rPr lang="en-US" altLang="zh-TW" sz="2800" baseline="-25000" dirty="0"/>
              <a:t>1</a:t>
            </a:r>
            <a:r>
              <a:rPr lang="en-US" altLang="zh-TW" sz="2800" dirty="0"/>
              <a:t>,y</a:t>
            </a:r>
            <a:r>
              <a:rPr lang="en-US" altLang="zh-TW" sz="2800" baseline="-25000" dirty="0"/>
              <a:t>2</a:t>
            </a:r>
            <a:r>
              <a:rPr lang="en-US" altLang="zh-TW" sz="2800" dirty="0"/>
              <a:t>,…,</a:t>
            </a:r>
            <a:r>
              <a:rPr lang="en-US" altLang="zh-TW" sz="2800" dirty="0" err="1"/>
              <a:t>y</a:t>
            </a:r>
            <a:r>
              <a:rPr lang="en-US" altLang="zh-TW" sz="2800" baseline="-25000" dirty="0" err="1"/>
              <a:t>m</a:t>
            </a:r>
            <a:r>
              <a:rPr lang="en-US" altLang="zh-TW" sz="2800" dirty="0"/>
              <a:t>)</a:t>
            </a:r>
            <a:endParaRPr lang="zh-TW" altLang="en-US" sz="2800" dirty="0"/>
          </a:p>
        </p:txBody>
      </p:sp>
      <p:pic>
        <p:nvPicPr>
          <p:cNvPr id="8" name="圖片 7">
            <a:extLst>
              <a:ext uri="{FF2B5EF4-FFF2-40B4-BE49-F238E27FC236}">
                <a16:creationId xmlns:a16="http://schemas.microsoft.com/office/drawing/2014/main" id="{ADAE70F7-B9E4-4F60-B705-36CB15418F45}"/>
              </a:ext>
            </a:extLst>
          </p:cNvPr>
          <p:cNvPicPr>
            <a:picLocks noChangeAspect="1"/>
          </p:cNvPicPr>
          <p:nvPr/>
        </p:nvPicPr>
        <p:blipFill>
          <a:blip r:embed="rId3"/>
          <a:stretch>
            <a:fillRect/>
          </a:stretch>
        </p:blipFill>
        <p:spPr>
          <a:xfrm>
            <a:off x="5112066" y="2720475"/>
            <a:ext cx="5750636" cy="3868192"/>
          </a:xfrm>
          <a:prstGeom prst="rect">
            <a:avLst/>
          </a:prstGeom>
        </p:spPr>
      </p:pic>
    </p:spTree>
    <p:extLst>
      <p:ext uri="{BB962C8B-B14F-4D97-AF65-F5344CB8AC3E}">
        <p14:creationId xmlns:p14="http://schemas.microsoft.com/office/powerpoint/2010/main" val="2083983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53D054-D3F5-4D39-BF60-6500A3CC70BD}"/>
              </a:ext>
            </a:extLst>
          </p:cNvPr>
          <p:cNvSpPr>
            <a:spLocks noGrp="1"/>
          </p:cNvSpPr>
          <p:nvPr>
            <p:ph type="title"/>
          </p:nvPr>
        </p:nvSpPr>
        <p:spPr/>
        <p:txBody>
          <a:bodyPr/>
          <a:lstStyle/>
          <a:p>
            <a:r>
              <a:rPr lang="en-US" altLang="zh-TW" dirty="0"/>
              <a:t>Local Path Constraints of JDTW</a:t>
            </a:r>
            <a:endParaRPr lang="zh-TW" altLang="en-US" dirty="0"/>
          </a:p>
        </p:txBody>
      </p:sp>
      <p:sp>
        <p:nvSpPr>
          <p:cNvPr id="4" name="投影片編號版面配置區 3">
            <a:extLst>
              <a:ext uri="{FF2B5EF4-FFF2-40B4-BE49-F238E27FC236}">
                <a16:creationId xmlns:a16="http://schemas.microsoft.com/office/drawing/2014/main" id="{86095787-B0AC-4B5F-AB1B-9A8B2200A060}"/>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p:pic>
        <p:nvPicPr>
          <p:cNvPr id="11" name="圖片 10">
            <a:extLst>
              <a:ext uri="{FF2B5EF4-FFF2-40B4-BE49-F238E27FC236}">
                <a16:creationId xmlns:a16="http://schemas.microsoft.com/office/drawing/2014/main" id="{20876DEF-D69F-4473-9D22-B8DDA27EB744}"/>
              </a:ext>
            </a:extLst>
          </p:cNvPr>
          <p:cNvPicPr>
            <a:picLocks noChangeAspect="1"/>
          </p:cNvPicPr>
          <p:nvPr/>
        </p:nvPicPr>
        <p:blipFill>
          <a:blip r:embed="rId2"/>
          <a:stretch>
            <a:fillRect/>
          </a:stretch>
        </p:blipFill>
        <p:spPr>
          <a:xfrm>
            <a:off x="1137966" y="1951833"/>
            <a:ext cx="4029075" cy="4143375"/>
          </a:xfrm>
          <a:prstGeom prst="rect">
            <a:avLst/>
          </a:prstGeom>
        </p:spPr>
      </p:pic>
      <p:pic>
        <p:nvPicPr>
          <p:cNvPr id="12" name="圖片 11">
            <a:extLst>
              <a:ext uri="{FF2B5EF4-FFF2-40B4-BE49-F238E27FC236}">
                <a16:creationId xmlns:a16="http://schemas.microsoft.com/office/drawing/2014/main" id="{04B45015-51EC-4039-A12E-2AD420D3A624}"/>
              </a:ext>
            </a:extLst>
          </p:cNvPr>
          <p:cNvPicPr>
            <a:picLocks noChangeAspect="1"/>
          </p:cNvPicPr>
          <p:nvPr/>
        </p:nvPicPr>
        <p:blipFill>
          <a:blip r:embed="rId3"/>
          <a:stretch>
            <a:fillRect/>
          </a:stretch>
        </p:blipFill>
        <p:spPr>
          <a:xfrm>
            <a:off x="6351971" y="1820091"/>
            <a:ext cx="4139000" cy="4672782"/>
          </a:xfrm>
          <a:prstGeom prst="rect">
            <a:avLst/>
          </a:prstGeom>
        </p:spPr>
      </p:pic>
      <mc:AlternateContent xmlns:mc="http://schemas.openxmlformats.org/markup-compatibility/2006">
        <mc:Choice xmlns:a14="http://schemas.microsoft.com/office/drawing/2010/main" Requires="a14">
          <p:sp>
            <p:nvSpPr>
              <p:cNvPr id="14" name="文字方塊 13">
                <a:extLst>
                  <a:ext uri="{FF2B5EF4-FFF2-40B4-BE49-F238E27FC236}">
                    <a16:creationId xmlns:a16="http://schemas.microsoft.com/office/drawing/2014/main" id="{FFE13384-CA66-4421-977F-ACF35E2CBF87}"/>
                  </a:ext>
                </a:extLst>
              </p:cNvPr>
              <p:cNvSpPr txBox="1"/>
              <p:nvPr/>
            </p:nvSpPr>
            <p:spPr>
              <a:xfrm>
                <a:off x="656879" y="1429080"/>
                <a:ext cx="2993127" cy="700705"/>
              </a:xfrm>
              <a:prstGeom prst="rect">
                <a:avLst/>
              </a:prstGeom>
              <a:noFill/>
            </p:spPr>
            <p:txBody>
              <a:bodyPr wrap="none" rtlCol="0">
                <a:spAutoFit/>
              </a:bodyPr>
              <a:lstStyle/>
              <a:p>
                <a:r>
                  <a:rPr lang="en-US" altLang="zh-TW" sz="2800" dirty="0">
                    <a:solidFill>
                      <a:srgbClr val="FF0000"/>
                    </a:solidFill>
                    <a:sym typeface="Symbol" panose="05050102010706020507" pitchFamily="18" charset="2"/>
                  </a:rPr>
                  <a:t>arctan(</a:t>
                </a:r>
                <a14:m>
                  <m:oMath xmlns:m="http://schemas.openxmlformats.org/officeDocument/2006/math">
                    <m:f>
                      <m:fPr>
                        <m:ctrlPr>
                          <a:rPr lang="en-US" altLang="zh-TW" sz="2800" i="1" smtClean="0">
                            <a:solidFill>
                              <a:srgbClr val="FF0000"/>
                            </a:solidFill>
                            <a:latin typeface="Cambria Math" panose="02040503050406030204" pitchFamily="18" charset="0"/>
                            <a:sym typeface="Symbol" panose="05050102010706020507" pitchFamily="18" charset="2"/>
                          </a:rPr>
                        </m:ctrlPr>
                      </m:fPr>
                      <m:num>
                        <m:r>
                          <a:rPr lang="en-US" altLang="zh-TW" sz="2800" b="0" i="1" smtClean="0">
                            <a:solidFill>
                              <a:srgbClr val="FF0000"/>
                            </a:solidFill>
                            <a:latin typeface="Cambria Math" panose="02040503050406030204" pitchFamily="18" charset="0"/>
                            <a:sym typeface="Symbol" panose="05050102010706020507" pitchFamily="18" charset="2"/>
                          </a:rPr>
                          <m:t>1</m:t>
                        </m:r>
                      </m:num>
                      <m:den>
                        <m:r>
                          <a:rPr lang="en-US" altLang="zh-TW" sz="2800" b="0" i="1" smtClean="0">
                            <a:solidFill>
                              <a:srgbClr val="FF0000"/>
                            </a:solidFill>
                            <a:latin typeface="Cambria Math" panose="02040503050406030204" pitchFamily="18" charset="0"/>
                            <a:sym typeface="Symbol" panose="05050102010706020507" pitchFamily="18" charset="2"/>
                          </a:rPr>
                          <m:t>𝑟</m:t>
                        </m:r>
                      </m:den>
                    </m:f>
                  </m:oMath>
                </a14:m>
                <a:r>
                  <a:rPr lang="en-US" altLang="zh-TW" sz="2800" dirty="0">
                    <a:solidFill>
                      <a:srgbClr val="FF0000"/>
                    </a:solidFill>
                    <a:sym typeface="Symbol" panose="05050102010706020507" pitchFamily="18" charset="2"/>
                  </a:rPr>
                  <a:t>)~arctan(r)</a:t>
                </a:r>
                <a:endParaRPr lang="zh-TW" altLang="en-US" sz="2800" dirty="0">
                  <a:solidFill>
                    <a:srgbClr val="FF0000"/>
                  </a:solidFill>
                </a:endParaRPr>
              </a:p>
            </p:txBody>
          </p:sp>
        </mc:Choice>
        <mc:Fallback>
          <p:sp>
            <p:nvSpPr>
              <p:cNvPr id="14" name="文字方塊 13">
                <a:extLst>
                  <a:ext uri="{FF2B5EF4-FFF2-40B4-BE49-F238E27FC236}">
                    <a16:creationId xmlns:a16="http://schemas.microsoft.com/office/drawing/2014/main" id="{FFE13384-CA66-4421-977F-ACF35E2CBF87}"/>
                  </a:ext>
                </a:extLst>
              </p:cNvPr>
              <p:cNvSpPr txBox="1">
                <a:spLocks noRot="1" noChangeAspect="1" noMove="1" noResize="1" noEditPoints="1" noAdjustHandles="1" noChangeArrowheads="1" noChangeShapeType="1" noTextEdit="1"/>
              </p:cNvSpPr>
              <p:nvPr/>
            </p:nvSpPr>
            <p:spPr>
              <a:xfrm>
                <a:off x="656879" y="1429080"/>
                <a:ext cx="2993127" cy="700705"/>
              </a:xfrm>
              <a:prstGeom prst="rect">
                <a:avLst/>
              </a:prstGeom>
              <a:blipFill>
                <a:blip r:embed="rId4"/>
                <a:stretch>
                  <a:fillRect l="-4277" b="-1130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6777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53D054-D3F5-4D39-BF60-6500A3CC70BD}"/>
              </a:ext>
            </a:extLst>
          </p:cNvPr>
          <p:cNvSpPr>
            <a:spLocks noGrp="1"/>
          </p:cNvSpPr>
          <p:nvPr>
            <p:ph type="title"/>
          </p:nvPr>
        </p:nvSpPr>
        <p:spPr/>
        <p:txBody>
          <a:bodyPr/>
          <a:lstStyle/>
          <a:p>
            <a:r>
              <a:rPr lang="en-US" altLang="zh-TW" dirty="0"/>
              <a:t>Local Path Constraints of JDTW</a:t>
            </a:r>
            <a:endParaRPr lang="zh-TW" altLang="en-US" dirty="0"/>
          </a:p>
        </p:txBody>
      </p:sp>
      <p:sp>
        <p:nvSpPr>
          <p:cNvPr id="4" name="投影片編號版面配置區 3">
            <a:extLst>
              <a:ext uri="{FF2B5EF4-FFF2-40B4-BE49-F238E27FC236}">
                <a16:creationId xmlns:a16="http://schemas.microsoft.com/office/drawing/2014/main" id="{86095787-B0AC-4B5F-AB1B-9A8B2200A060}"/>
              </a:ext>
            </a:extLst>
          </p:cNvPr>
          <p:cNvSpPr>
            <a:spLocks noGrp="1"/>
          </p:cNvSpPr>
          <p:nvPr>
            <p:ph type="sldNum" sz="quarter" idx="12"/>
          </p:nvPr>
        </p:nvSpPr>
        <p:spPr/>
        <p:txBody>
          <a:bodyPr/>
          <a:lstStyle/>
          <a:p>
            <a:fld id="{8DCCD063-7F18-423D-A692-CC9D343FD360}" type="slidenum">
              <a:rPr lang="zh-TW" altLang="en-US" smtClean="0"/>
              <a:t>8</a:t>
            </a:fld>
            <a:endParaRPr lang="zh-TW" altLang="en-US"/>
          </a:p>
        </p:txBody>
      </p:sp>
      <mc:AlternateContent xmlns:mc="http://schemas.openxmlformats.org/markup-compatibility/2006">
        <mc:Choice xmlns:a14="http://schemas.microsoft.com/office/drawing/2010/main" Requires="a14">
          <p:sp>
            <p:nvSpPr>
              <p:cNvPr id="3" name="文字方塊 2">
                <a:extLst>
                  <a:ext uri="{FF2B5EF4-FFF2-40B4-BE49-F238E27FC236}">
                    <a16:creationId xmlns:a16="http://schemas.microsoft.com/office/drawing/2014/main" id="{ED9C8FFD-3953-4013-9874-BC8C110DD884}"/>
                  </a:ext>
                </a:extLst>
              </p:cNvPr>
              <p:cNvSpPr txBox="1"/>
              <p:nvPr/>
            </p:nvSpPr>
            <p:spPr>
              <a:xfrm>
                <a:off x="906163" y="1600074"/>
                <a:ext cx="9894055" cy="5029647"/>
              </a:xfrm>
              <a:prstGeom prst="rect">
                <a:avLst/>
              </a:prstGeom>
              <a:noFill/>
            </p:spPr>
            <p:txBody>
              <a:bodyPr wrap="none" rtlCol="0">
                <a:spAutoFit/>
              </a:bodyPr>
              <a:lstStyle/>
              <a:p>
                <a:r>
                  <a:rPr lang="en-US" altLang="zh-TW" sz="2800" dirty="0"/>
                  <a:t>A mapping path W can be formulized as:</a:t>
                </a:r>
              </a:p>
              <a:p>
                <a:r>
                  <a:rPr lang="en-US" altLang="zh-TW" sz="2800" dirty="0"/>
                  <a:t>W = (w</a:t>
                </a:r>
                <a:r>
                  <a:rPr lang="en-US" altLang="zh-TW" sz="2800" baseline="-25000" dirty="0"/>
                  <a:t>1</a:t>
                </a:r>
                <a:r>
                  <a:rPr lang="en-US" altLang="zh-TW" sz="2800" dirty="0"/>
                  <a:t>,w</a:t>
                </a:r>
                <a:r>
                  <a:rPr lang="en-US" altLang="zh-TW" sz="2800" baseline="-25000" dirty="0"/>
                  <a:t>2</a:t>
                </a:r>
                <a:r>
                  <a:rPr lang="en-US" altLang="zh-TW" sz="2800" dirty="0"/>
                  <a:t>,…,</a:t>
                </a:r>
                <a:r>
                  <a:rPr lang="en-US" altLang="zh-TW" sz="2800" dirty="0" err="1"/>
                  <a:t>w</a:t>
                </a:r>
                <a:r>
                  <a:rPr lang="en-US" altLang="zh-TW" sz="2800" baseline="-25000" dirty="0" err="1"/>
                  <a:t>k</a:t>
                </a:r>
                <a:r>
                  <a:rPr lang="en-US" altLang="zh-TW" sz="2800" dirty="0"/>
                  <a:t>,…,</a:t>
                </a:r>
                <a:r>
                  <a:rPr lang="en-US" altLang="zh-TW" sz="2800" dirty="0" err="1"/>
                  <a:t>w</a:t>
                </a:r>
                <a:r>
                  <a:rPr lang="en-US" altLang="zh-TW" sz="2800" baseline="-25000" dirty="0" err="1"/>
                  <a:t>K</a:t>
                </a:r>
                <a:r>
                  <a:rPr lang="en-US" altLang="zh-TW" sz="2800" dirty="0"/>
                  <a:t>)                </a:t>
                </a:r>
                <a14:m>
                  <m:oMath xmlns:m="http://schemas.openxmlformats.org/officeDocument/2006/math">
                    <m:f>
                      <m:fPr>
                        <m:ctrlPr>
                          <a:rPr lang="en-US" altLang="zh-TW" sz="2800" i="1" smtClean="0">
                            <a:latin typeface="Cambria Math" panose="02040503050406030204" pitchFamily="18" charset="0"/>
                          </a:rPr>
                        </m:ctrlPr>
                      </m:fPr>
                      <m:num>
                        <m:r>
                          <m:rPr>
                            <m:sty m:val="p"/>
                          </m:rPr>
                          <a:rPr lang="en-US" altLang="zh-TW" sz="2800" b="0" i="0" smtClean="0">
                            <a:latin typeface="Cambria Math" panose="02040503050406030204" pitchFamily="18" charset="0"/>
                          </a:rPr>
                          <m:t>max</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𝑛</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𝑚</m:t>
                        </m:r>
                        <m:r>
                          <a:rPr lang="en-US" altLang="zh-TW" sz="2800" b="0" i="1" smtClean="0">
                            <a:latin typeface="Cambria Math" panose="02040503050406030204" pitchFamily="18" charset="0"/>
                          </a:rPr>
                          <m:t>)</m:t>
                        </m:r>
                      </m:num>
                      <m:den>
                        <m:r>
                          <a:rPr lang="en-US" altLang="zh-TW" sz="2800" b="0" i="1" smtClean="0">
                            <a:latin typeface="Cambria Math" panose="02040503050406030204" pitchFamily="18" charset="0"/>
                          </a:rPr>
                          <m:t>𝑟</m:t>
                        </m:r>
                      </m:den>
                    </m:f>
                    <m:r>
                      <a:rPr lang="en-US" altLang="zh-TW" sz="280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𝐾</m:t>
                    </m:r>
                    <m:r>
                      <a:rPr lang="en-US" altLang="zh-TW" sz="2800" b="0" i="1" smtClean="0">
                        <a:latin typeface="Cambria Math" panose="02040503050406030204" pitchFamily="18" charset="0"/>
                        <a:ea typeface="Cambria Math" panose="02040503050406030204" pitchFamily="18" charset="0"/>
                      </a:rPr>
                      <m:t>≤</m:t>
                    </m:r>
                    <m:func>
                      <m:funcPr>
                        <m:ctrlPr>
                          <a:rPr lang="en-US" altLang="zh-TW" sz="2800" b="0" i="1" smtClean="0">
                            <a:latin typeface="Cambria Math" panose="02040503050406030204" pitchFamily="18" charset="0"/>
                            <a:ea typeface="Cambria Math" panose="02040503050406030204" pitchFamily="18" charset="0"/>
                          </a:rPr>
                        </m:ctrlPr>
                      </m:funcPr>
                      <m:fName>
                        <m:r>
                          <m:rPr>
                            <m:sty m:val="p"/>
                          </m:rPr>
                          <a:rPr lang="en-US" altLang="zh-TW" sz="2800" b="0" i="0" smtClean="0">
                            <a:latin typeface="Cambria Math" panose="02040503050406030204" pitchFamily="18" charset="0"/>
                            <a:ea typeface="Cambria Math" panose="02040503050406030204" pitchFamily="18" charset="0"/>
                          </a:rPr>
                          <m:t>max</m:t>
                        </m:r>
                      </m:fName>
                      <m:e>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𝑛</m:t>
                            </m:r>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𝑚</m:t>
                            </m:r>
                          </m:e>
                        </m:d>
                      </m:e>
                    </m:func>
                  </m:oMath>
                </a14:m>
                <a:endParaRPr lang="en-US" altLang="zh-TW" sz="2800" b="0" dirty="0">
                  <a:ea typeface="Cambria Math" panose="02040503050406030204" pitchFamily="18" charset="0"/>
                </a:endParaRPr>
              </a:p>
              <a:p>
                <a:endParaRPr lang="en-US" altLang="zh-TW" sz="2800" dirty="0"/>
              </a:p>
              <a:p>
                <a:r>
                  <a:rPr lang="en-US" altLang="zh-TW" sz="2800" dirty="0"/>
                  <a:t>Conditions:</a:t>
                </a:r>
              </a:p>
              <a:p>
                <a:pPr marL="514350" indent="-514350">
                  <a:buAutoNum type="arabicParenBoth"/>
                </a:pPr>
                <a:r>
                  <a:rPr lang="en-US" altLang="zh-TW" sz="2800" dirty="0"/>
                  <a:t>Bounding condition: w</a:t>
                </a:r>
                <a:r>
                  <a:rPr lang="en-US" altLang="zh-TW" sz="2800" baseline="-25000" dirty="0"/>
                  <a:t>1</a:t>
                </a:r>
                <a:r>
                  <a:rPr lang="en-US" altLang="zh-TW" sz="2800" dirty="0"/>
                  <a:t>=(1,1), </a:t>
                </a:r>
                <a:r>
                  <a:rPr lang="en-US" altLang="zh-TW" sz="2800" dirty="0" err="1"/>
                  <a:t>w</a:t>
                </a:r>
                <a:r>
                  <a:rPr lang="en-US" altLang="zh-TW" sz="2800" baseline="-25000" dirty="0" err="1"/>
                  <a:t>K</a:t>
                </a:r>
                <a:r>
                  <a:rPr lang="en-US" altLang="zh-TW" sz="2800" dirty="0"/>
                  <a:t> = (</a:t>
                </a:r>
                <a:r>
                  <a:rPr lang="en-US" altLang="zh-TW" sz="2800" dirty="0" err="1"/>
                  <a:t>n,m</a:t>
                </a:r>
                <a:r>
                  <a:rPr lang="en-US" altLang="zh-TW" sz="2800" dirty="0"/>
                  <a:t>)</a:t>
                </a:r>
              </a:p>
              <a:p>
                <a:pPr marL="514350" indent="-514350">
                  <a:buAutoNum type="arabicParenBoth"/>
                </a:pPr>
                <a:endParaRPr lang="en-US" altLang="zh-TW" sz="2800" dirty="0"/>
              </a:p>
              <a:p>
                <a:pPr marL="514350" indent="-514350">
                  <a:buAutoNum type="arabicParenBoth"/>
                </a:pPr>
                <a:r>
                  <a:rPr lang="en-US" altLang="zh-TW" sz="2800" dirty="0"/>
                  <a:t>Continuity: If </a:t>
                </a:r>
                <a:r>
                  <a:rPr lang="en-US" altLang="zh-TW" sz="2800" dirty="0" err="1"/>
                  <a:t>w</a:t>
                </a:r>
                <a:r>
                  <a:rPr lang="en-US" altLang="zh-TW" sz="2800" baseline="-25000" dirty="0" err="1"/>
                  <a:t>k</a:t>
                </a:r>
                <a:r>
                  <a:rPr lang="en-US" altLang="zh-TW" sz="2800" dirty="0"/>
                  <a:t> = (</a:t>
                </a:r>
                <a:r>
                  <a:rPr lang="en-US" altLang="zh-TW" sz="2800" dirty="0" err="1"/>
                  <a:t>a,b</a:t>
                </a:r>
                <a:r>
                  <a:rPr lang="en-US" altLang="zh-TW" sz="2800" dirty="0"/>
                  <a:t>) and w</a:t>
                </a:r>
                <a:r>
                  <a:rPr lang="en-US" altLang="zh-TW" sz="2800" baseline="-25000" dirty="0"/>
                  <a:t>k-1</a:t>
                </a:r>
                <a:r>
                  <a:rPr lang="en-US" altLang="zh-TW" sz="2800" dirty="0"/>
                  <a:t> = (</a:t>
                </a:r>
                <a:r>
                  <a:rPr lang="en-US" altLang="zh-TW" sz="2800" dirty="0" err="1"/>
                  <a:t>a’,b</a:t>
                </a:r>
                <a:r>
                  <a:rPr lang="en-US" altLang="zh-TW" sz="2800" dirty="0"/>
                  <a:t>’)</a:t>
                </a:r>
              </a:p>
              <a:p>
                <a:r>
                  <a:rPr lang="en-US" altLang="zh-TW" sz="2800" dirty="0"/>
                  <a:t>                     Then (a-a’</a:t>
                </a:r>
                <a:r>
                  <a:rPr lang="en-US" altLang="zh-TW" sz="2800" dirty="0">
                    <a:ea typeface="Cambria Math" panose="02040503050406030204" pitchFamily="18" charset="0"/>
                  </a:rPr>
                  <a:t> </a:t>
                </a:r>
                <a14:m>
                  <m:oMath xmlns:m="http://schemas.openxmlformats.org/officeDocument/2006/math">
                    <m:r>
                      <a:rPr lang="en-US" altLang="zh-TW" sz="2800" i="1">
                        <a:latin typeface="Cambria Math" panose="02040503050406030204" pitchFamily="18" charset="0"/>
                        <a:ea typeface="Cambria Math" panose="02040503050406030204" pitchFamily="18" charset="0"/>
                      </a:rPr>
                      <m:t>≤</m:t>
                    </m:r>
                  </m:oMath>
                </a14:m>
                <a:r>
                  <a:rPr lang="en-US" altLang="zh-TW" sz="2800" dirty="0"/>
                  <a:t>r) &amp;&amp; (b-b’=1) or (b-b’</a:t>
                </a:r>
                <a:r>
                  <a:rPr lang="en-US" altLang="zh-TW" sz="2800" dirty="0">
                    <a:ea typeface="Cambria Math" panose="02040503050406030204" pitchFamily="18" charset="0"/>
                  </a:rPr>
                  <a:t> </a:t>
                </a:r>
                <a14:m>
                  <m:oMath xmlns:m="http://schemas.openxmlformats.org/officeDocument/2006/math">
                    <m:r>
                      <a:rPr lang="en-US" altLang="zh-TW" sz="2800" i="1">
                        <a:latin typeface="Cambria Math" panose="02040503050406030204" pitchFamily="18" charset="0"/>
                        <a:ea typeface="Cambria Math" panose="02040503050406030204" pitchFamily="18" charset="0"/>
                      </a:rPr>
                      <m:t>≤</m:t>
                    </m:r>
                  </m:oMath>
                </a14:m>
                <a:r>
                  <a:rPr lang="en-US" altLang="zh-TW" sz="2800" dirty="0"/>
                  <a:t>r) &amp;&amp; (a-a’=1)</a:t>
                </a:r>
              </a:p>
              <a:p>
                <a:endParaRPr lang="en-US" altLang="zh-TW" sz="2800" dirty="0"/>
              </a:p>
              <a:p>
                <a:r>
                  <a:rPr lang="en-US" altLang="zh-TW" sz="2800" dirty="0"/>
                  <a:t>(3) Monotonicity: If </a:t>
                </a:r>
                <a:r>
                  <a:rPr lang="en-US" altLang="zh-TW" sz="2800" dirty="0" err="1"/>
                  <a:t>w</a:t>
                </a:r>
                <a:r>
                  <a:rPr lang="en-US" altLang="zh-TW" sz="2800" baseline="-25000" dirty="0" err="1"/>
                  <a:t>k</a:t>
                </a:r>
                <a:r>
                  <a:rPr lang="en-US" altLang="zh-TW" sz="2800" dirty="0"/>
                  <a:t> = (</a:t>
                </a:r>
                <a:r>
                  <a:rPr lang="en-US" altLang="zh-TW" sz="2800" dirty="0" err="1"/>
                  <a:t>a,b</a:t>
                </a:r>
                <a:r>
                  <a:rPr lang="en-US" altLang="zh-TW" sz="2800" dirty="0"/>
                  <a:t>) and w</a:t>
                </a:r>
                <a:r>
                  <a:rPr lang="en-US" altLang="zh-TW" sz="2800" baseline="-25000" dirty="0"/>
                  <a:t>k-1</a:t>
                </a:r>
                <a:r>
                  <a:rPr lang="en-US" altLang="zh-TW" sz="2800" dirty="0"/>
                  <a:t> = (</a:t>
                </a:r>
                <a:r>
                  <a:rPr lang="en-US" altLang="zh-TW" sz="2800" dirty="0" err="1"/>
                  <a:t>a’,b</a:t>
                </a:r>
                <a:r>
                  <a:rPr lang="en-US" altLang="zh-TW" sz="2800" dirty="0"/>
                  <a:t>’)</a:t>
                </a:r>
              </a:p>
              <a:p>
                <a:r>
                  <a:rPr lang="en-US" altLang="zh-TW" sz="2800" dirty="0"/>
                  <a:t>                         Then a-a’ </a:t>
                </a:r>
                <a:r>
                  <a:rPr lang="en-US" altLang="zh-TW" sz="2800" dirty="0">
                    <a:sym typeface="Symbol" panose="05050102010706020507" pitchFamily="18" charset="2"/>
                  </a:rPr>
                  <a:t>1 and b-b’ 1</a:t>
                </a:r>
                <a:endParaRPr lang="zh-TW" altLang="en-US" sz="2800" dirty="0"/>
              </a:p>
            </p:txBody>
          </p:sp>
        </mc:Choice>
        <mc:Fallback>
          <p:sp>
            <p:nvSpPr>
              <p:cNvPr id="3" name="文字方塊 2">
                <a:extLst>
                  <a:ext uri="{FF2B5EF4-FFF2-40B4-BE49-F238E27FC236}">
                    <a16:creationId xmlns:a16="http://schemas.microsoft.com/office/drawing/2014/main" id="{ED9C8FFD-3953-4013-9874-BC8C110DD884}"/>
                  </a:ext>
                </a:extLst>
              </p:cNvPr>
              <p:cNvSpPr txBox="1">
                <a:spLocks noRot="1" noChangeAspect="1" noMove="1" noResize="1" noEditPoints="1" noAdjustHandles="1" noChangeArrowheads="1" noChangeShapeType="1" noTextEdit="1"/>
              </p:cNvSpPr>
              <p:nvPr/>
            </p:nvSpPr>
            <p:spPr>
              <a:xfrm>
                <a:off x="906163" y="1600074"/>
                <a:ext cx="9894055" cy="5029647"/>
              </a:xfrm>
              <a:prstGeom prst="rect">
                <a:avLst/>
              </a:prstGeom>
              <a:blipFill>
                <a:blip r:embed="rId2"/>
                <a:stretch>
                  <a:fillRect l="-1294" t="-1211" r="-246" b="-242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9956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E97E6AD2-636C-4D92-AAF7-A98BC2DF0E2D}"/>
              </a:ext>
            </a:extLst>
          </p:cNvPr>
          <p:cNvPicPr>
            <a:picLocks noChangeAspect="1"/>
          </p:cNvPicPr>
          <p:nvPr/>
        </p:nvPicPr>
        <p:blipFill>
          <a:blip r:embed="rId2"/>
          <a:stretch>
            <a:fillRect/>
          </a:stretch>
        </p:blipFill>
        <p:spPr>
          <a:xfrm>
            <a:off x="7968343" y="1400089"/>
            <a:ext cx="3448210" cy="3405030"/>
          </a:xfrm>
          <a:prstGeom prst="rect">
            <a:avLst/>
          </a:prstGeom>
        </p:spPr>
      </p:pic>
      <p:sp>
        <p:nvSpPr>
          <p:cNvPr id="2" name="標題 1">
            <a:extLst>
              <a:ext uri="{FF2B5EF4-FFF2-40B4-BE49-F238E27FC236}">
                <a16:creationId xmlns:a16="http://schemas.microsoft.com/office/drawing/2014/main" id="{8B53D054-D3F5-4D39-BF60-6500A3CC70BD}"/>
              </a:ext>
            </a:extLst>
          </p:cNvPr>
          <p:cNvSpPr>
            <a:spLocks noGrp="1"/>
          </p:cNvSpPr>
          <p:nvPr>
            <p:ph type="title"/>
          </p:nvPr>
        </p:nvSpPr>
        <p:spPr/>
        <p:txBody>
          <a:bodyPr/>
          <a:lstStyle/>
          <a:p>
            <a:r>
              <a:rPr lang="en-US" altLang="zh-TW" dirty="0"/>
              <a:t>Local Path Constraints of JDTW</a:t>
            </a:r>
            <a:endParaRPr lang="zh-TW" altLang="en-US" dirty="0"/>
          </a:p>
        </p:txBody>
      </p:sp>
      <p:sp>
        <p:nvSpPr>
          <p:cNvPr id="4" name="投影片編號版面配置區 3">
            <a:extLst>
              <a:ext uri="{FF2B5EF4-FFF2-40B4-BE49-F238E27FC236}">
                <a16:creationId xmlns:a16="http://schemas.microsoft.com/office/drawing/2014/main" id="{86095787-B0AC-4B5F-AB1B-9A8B2200A060}"/>
              </a:ext>
            </a:extLst>
          </p:cNvPr>
          <p:cNvSpPr>
            <a:spLocks noGrp="1"/>
          </p:cNvSpPr>
          <p:nvPr>
            <p:ph type="sldNum" sz="quarter" idx="12"/>
          </p:nvPr>
        </p:nvSpPr>
        <p:spPr/>
        <p:txBody>
          <a:bodyPr/>
          <a:lstStyle/>
          <a:p>
            <a:fld id="{8DCCD063-7F18-423D-A692-CC9D343FD360}" type="slidenum">
              <a:rPr lang="zh-TW" altLang="en-US" smtClean="0"/>
              <a:t>9</a:t>
            </a:fld>
            <a:endParaRPr lang="zh-TW" altLang="en-US"/>
          </a:p>
        </p:txBody>
      </p:sp>
      <p:pic>
        <p:nvPicPr>
          <p:cNvPr id="3" name="圖片 2">
            <a:extLst>
              <a:ext uri="{FF2B5EF4-FFF2-40B4-BE49-F238E27FC236}">
                <a16:creationId xmlns:a16="http://schemas.microsoft.com/office/drawing/2014/main" id="{EFCF6963-74E7-408B-89A4-1D10C0F19418}"/>
              </a:ext>
            </a:extLst>
          </p:cNvPr>
          <p:cNvPicPr>
            <a:picLocks noChangeAspect="1"/>
          </p:cNvPicPr>
          <p:nvPr/>
        </p:nvPicPr>
        <p:blipFill>
          <a:blip r:embed="rId3"/>
          <a:stretch>
            <a:fillRect/>
          </a:stretch>
        </p:blipFill>
        <p:spPr>
          <a:xfrm>
            <a:off x="838200" y="1946270"/>
            <a:ext cx="3908691" cy="1232358"/>
          </a:xfrm>
          <a:prstGeom prst="rect">
            <a:avLst/>
          </a:prstGeom>
        </p:spPr>
      </p:pic>
      <p:pic>
        <p:nvPicPr>
          <p:cNvPr id="5" name="圖片 4">
            <a:extLst>
              <a:ext uri="{FF2B5EF4-FFF2-40B4-BE49-F238E27FC236}">
                <a16:creationId xmlns:a16="http://schemas.microsoft.com/office/drawing/2014/main" id="{91752CA5-3528-4B5D-B150-F79C21F1357E}"/>
              </a:ext>
            </a:extLst>
          </p:cNvPr>
          <p:cNvPicPr>
            <a:picLocks noChangeAspect="1"/>
          </p:cNvPicPr>
          <p:nvPr/>
        </p:nvPicPr>
        <p:blipFill>
          <a:blip r:embed="rId4"/>
          <a:stretch>
            <a:fillRect/>
          </a:stretch>
        </p:blipFill>
        <p:spPr>
          <a:xfrm>
            <a:off x="931720" y="3421244"/>
            <a:ext cx="7753781" cy="1144200"/>
          </a:xfrm>
          <a:prstGeom prst="rect">
            <a:avLst/>
          </a:prstGeom>
        </p:spPr>
      </p:pic>
      <p:sp>
        <p:nvSpPr>
          <p:cNvPr id="6" name="文字方塊 5">
            <a:extLst>
              <a:ext uri="{FF2B5EF4-FFF2-40B4-BE49-F238E27FC236}">
                <a16:creationId xmlns:a16="http://schemas.microsoft.com/office/drawing/2014/main" id="{6E92BDB3-32F6-4156-8F25-FFFDEA73FE3C}"/>
              </a:ext>
            </a:extLst>
          </p:cNvPr>
          <p:cNvSpPr txBox="1"/>
          <p:nvPr/>
        </p:nvSpPr>
        <p:spPr>
          <a:xfrm>
            <a:off x="838200" y="5247504"/>
            <a:ext cx="9831859" cy="954107"/>
          </a:xfrm>
          <a:prstGeom prst="rect">
            <a:avLst/>
          </a:prstGeom>
          <a:noFill/>
        </p:spPr>
        <p:txBody>
          <a:bodyPr wrap="none" rtlCol="0">
            <a:spAutoFit/>
          </a:bodyPr>
          <a:lstStyle/>
          <a:p>
            <a:r>
              <a:rPr lang="en-US" altLang="zh-TW" sz="2800" dirty="0">
                <a:solidFill>
                  <a:srgbClr val="FF0000"/>
                </a:solidFill>
              </a:rPr>
              <a:t>The 27-45-63 local paths can be taken as a special case of JDTW </a:t>
            </a:r>
          </a:p>
          <a:p>
            <a:r>
              <a:rPr lang="en-US" altLang="zh-TW" sz="2800" dirty="0">
                <a:solidFill>
                  <a:srgbClr val="FF0000"/>
                </a:solidFill>
              </a:rPr>
              <a:t>when r = 2</a:t>
            </a:r>
            <a:endParaRPr lang="zh-TW" altLang="en-US" sz="2800" dirty="0">
              <a:solidFill>
                <a:srgbClr val="FF0000"/>
              </a:solidFill>
            </a:endParaRPr>
          </a:p>
        </p:txBody>
      </p:sp>
    </p:spTree>
    <p:extLst>
      <p:ext uri="{BB962C8B-B14F-4D97-AF65-F5344CB8AC3E}">
        <p14:creationId xmlns:p14="http://schemas.microsoft.com/office/powerpoint/2010/main" val="2907452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6A251A-35EB-4C41-A4BC-2C899EEDF2D3}"/>
              </a:ext>
            </a:extLst>
          </p:cNvPr>
          <p:cNvSpPr>
            <a:spLocks noGrp="1"/>
          </p:cNvSpPr>
          <p:nvPr>
            <p:ph type="title"/>
          </p:nvPr>
        </p:nvSpPr>
        <p:spPr/>
        <p:txBody>
          <a:bodyPr/>
          <a:lstStyle/>
          <a:p>
            <a:r>
              <a:rPr lang="en-US" altLang="zh-TW" dirty="0"/>
              <a:t>Global Path Constraints of JDTW</a:t>
            </a:r>
            <a:endParaRPr lang="zh-TW" altLang="en-US" dirty="0"/>
          </a:p>
        </p:txBody>
      </p:sp>
      <p:pic>
        <p:nvPicPr>
          <p:cNvPr id="5" name="內容版面配置區 4">
            <a:extLst>
              <a:ext uri="{FF2B5EF4-FFF2-40B4-BE49-F238E27FC236}">
                <a16:creationId xmlns:a16="http://schemas.microsoft.com/office/drawing/2014/main" id="{BFAE764E-9DA7-4226-9C25-C52E9798A780}"/>
              </a:ext>
            </a:extLst>
          </p:cNvPr>
          <p:cNvPicPr>
            <a:picLocks noGrp="1" noChangeAspect="1"/>
          </p:cNvPicPr>
          <p:nvPr>
            <p:ph idx="1"/>
          </p:nvPr>
        </p:nvPicPr>
        <p:blipFill>
          <a:blip r:embed="rId2"/>
          <a:stretch>
            <a:fillRect/>
          </a:stretch>
        </p:blipFill>
        <p:spPr>
          <a:xfrm>
            <a:off x="489448" y="2336802"/>
            <a:ext cx="4114800" cy="4019550"/>
          </a:xfrm>
          <a:prstGeom prst="rect">
            <a:avLst/>
          </a:prstGeom>
        </p:spPr>
      </p:pic>
      <p:sp>
        <p:nvSpPr>
          <p:cNvPr id="4" name="投影片編號版面配置區 3">
            <a:extLst>
              <a:ext uri="{FF2B5EF4-FFF2-40B4-BE49-F238E27FC236}">
                <a16:creationId xmlns:a16="http://schemas.microsoft.com/office/drawing/2014/main" id="{24A57D81-1D88-455F-B59E-3D72D1F0DA23}"/>
              </a:ext>
            </a:extLst>
          </p:cNvPr>
          <p:cNvSpPr>
            <a:spLocks noGrp="1"/>
          </p:cNvSpPr>
          <p:nvPr>
            <p:ph type="sldNum" sz="quarter" idx="12"/>
          </p:nvPr>
        </p:nvSpPr>
        <p:spPr/>
        <p:txBody>
          <a:bodyPr/>
          <a:lstStyle/>
          <a:p>
            <a:fld id="{8DCCD063-7F18-423D-A692-CC9D343FD360}" type="slidenum">
              <a:rPr lang="zh-TW" altLang="en-US" smtClean="0"/>
              <a:t>10</a:t>
            </a:fld>
            <a:endParaRPr lang="zh-TW" altLang="en-US"/>
          </a:p>
        </p:txBody>
      </p:sp>
      <p:pic>
        <p:nvPicPr>
          <p:cNvPr id="9" name="圖片 8">
            <a:extLst>
              <a:ext uri="{FF2B5EF4-FFF2-40B4-BE49-F238E27FC236}">
                <a16:creationId xmlns:a16="http://schemas.microsoft.com/office/drawing/2014/main" id="{A62BA1CC-6494-452F-A8E6-6DFB9E0557AE}"/>
              </a:ext>
            </a:extLst>
          </p:cNvPr>
          <p:cNvPicPr>
            <a:picLocks noChangeAspect="1"/>
          </p:cNvPicPr>
          <p:nvPr/>
        </p:nvPicPr>
        <p:blipFill rotWithShape="1">
          <a:blip r:embed="rId3"/>
          <a:srcRect t="20416" r="8112"/>
          <a:stretch/>
        </p:blipFill>
        <p:spPr>
          <a:xfrm>
            <a:off x="4604248" y="2873829"/>
            <a:ext cx="5750243" cy="3092792"/>
          </a:xfrm>
          <a:prstGeom prst="rect">
            <a:avLst/>
          </a:prstGeom>
        </p:spPr>
      </p:pic>
      <p:pic>
        <p:nvPicPr>
          <p:cNvPr id="10" name="圖片 9">
            <a:extLst>
              <a:ext uri="{FF2B5EF4-FFF2-40B4-BE49-F238E27FC236}">
                <a16:creationId xmlns:a16="http://schemas.microsoft.com/office/drawing/2014/main" id="{35720040-51B2-4EF6-AEB9-7A99A5B5B501}"/>
              </a:ext>
            </a:extLst>
          </p:cNvPr>
          <p:cNvPicPr>
            <a:picLocks noChangeAspect="1"/>
          </p:cNvPicPr>
          <p:nvPr/>
        </p:nvPicPr>
        <p:blipFill rotWithShape="1">
          <a:blip r:embed="rId3"/>
          <a:srcRect l="22029" t="10892" b="80743"/>
          <a:stretch/>
        </p:blipFill>
        <p:spPr>
          <a:xfrm>
            <a:off x="5214053" y="2484098"/>
            <a:ext cx="4879384" cy="325122"/>
          </a:xfrm>
          <a:prstGeom prst="rect">
            <a:avLst/>
          </a:prstGeom>
        </p:spPr>
      </p:pic>
      <mc:AlternateContent xmlns:mc="http://schemas.openxmlformats.org/markup-compatibility/2006">
        <mc:Choice xmlns:a14="http://schemas.microsoft.com/office/drawing/2010/main" Requires="a14">
          <p:sp>
            <p:nvSpPr>
              <p:cNvPr id="11" name="文字方塊 10">
                <a:extLst>
                  <a:ext uri="{FF2B5EF4-FFF2-40B4-BE49-F238E27FC236}">
                    <a16:creationId xmlns:a16="http://schemas.microsoft.com/office/drawing/2014/main" id="{CDD1BA00-52B3-4B3C-9C2E-1CB6315627F3}"/>
                  </a:ext>
                </a:extLst>
              </p:cNvPr>
              <p:cNvSpPr txBox="1"/>
              <p:nvPr/>
            </p:nvSpPr>
            <p:spPr>
              <a:xfrm>
                <a:off x="1611121" y="1636097"/>
                <a:ext cx="2993127" cy="700705"/>
              </a:xfrm>
              <a:prstGeom prst="rect">
                <a:avLst/>
              </a:prstGeom>
              <a:noFill/>
            </p:spPr>
            <p:txBody>
              <a:bodyPr wrap="none" rtlCol="0">
                <a:spAutoFit/>
              </a:bodyPr>
              <a:lstStyle/>
              <a:p>
                <a:r>
                  <a:rPr lang="en-US" altLang="zh-TW" sz="2800" dirty="0">
                    <a:solidFill>
                      <a:srgbClr val="FF0000"/>
                    </a:solidFill>
                    <a:sym typeface="Symbol" panose="05050102010706020507" pitchFamily="18" charset="2"/>
                  </a:rPr>
                  <a:t>arctan(</a:t>
                </a:r>
                <a14:m>
                  <m:oMath xmlns:m="http://schemas.openxmlformats.org/officeDocument/2006/math">
                    <m:f>
                      <m:fPr>
                        <m:ctrlPr>
                          <a:rPr lang="en-US" altLang="zh-TW" sz="2800" i="1" smtClean="0">
                            <a:solidFill>
                              <a:srgbClr val="FF0000"/>
                            </a:solidFill>
                            <a:latin typeface="Cambria Math" panose="02040503050406030204" pitchFamily="18" charset="0"/>
                            <a:sym typeface="Symbol" panose="05050102010706020507" pitchFamily="18" charset="2"/>
                          </a:rPr>
                        </m:ctrlPr>
                      </m:fPr>
                      <m:num>
                        <m:r>
                          <a:rPr lang="en-US" altLang="zh-TW" sz="2800" b="0" i="1" smtClean="0">
                            <a:solidFill>
                              <a:srgbClr val="FF0000"/>
                            </a:solidFill>
                            <a:latin typeface="Cambria Math" panose="02040503050406030204" pitchFamily="18" charset="0"/>
                            <a:sym typeface="Symbol" panose="05050102010706020507" pitchFamily="18" charset="2"/>
                          </a:rPr>
                          <m:t>1</m:t>
                        </m:r>
                      </m:num>
                      <m:den>
                        <m:r>
                          <a:rPr lang="en-US" altLang="zh-TW" sz="2800" b="0" i="1" smtClean="0">
                            <a:solidFill>
                              <a:srgbClr val="FF0000"/>
                            </a:solidFill>
                            <a:latin typeface="Cambria Math" panose="02040503050406030204" pitchFamily="18" charset="0"/>
                            <a:sym typeface="Symbol" panose="05050102010706020507" pitchFamily="18" charset="2"/>
                          </a:rPr>
                          <m:t>𝑟</m:t>
                        </m:r>
                      </m:den>
                    </m:f>
                  </m:oMath>
                </a14:m>
                <a:r>
                  <a:rPr lang="en-US" altLang="zh-TW" sz="2800" dirty="0">
                    <a:solidFill>
                      <a:srgbClr val="FF0000"/>
                    </a:solidFill>
                    <a:sym typeface="Symbol" panose="05050102010706020507" pitchFamily="18" charset="2"/>
                  </a:rPr>
                  <a:t>)~arctan(r)</a:t>
                </a:r>
                <a:endParaRPr lang="zh-TW" altLang="en-US" sz="2800" dirty="0">
                  <a:solidFill>
                    <a:srgbClr val="FF0000"/>
                  </a:solidFill>
                </a:endParaRPr>
              </a:p>
            </p:txBody>
          </p:sp>
        </mc:Choice>
        <mc:Fallback>
          <p:sp>
            <p:nvSpPr>
              <p:cNvPr id="11" name="文字方塊 10">
                <a:extLst>
                  <a:ext uri="{FF2B5EF4-FFF2-40B4-BE49-F238E27FC236}">
                    <a16:creationId xmlns:a16="http://schemas.microsoft.com/office/drawing/2014/main" id="{CDD1BA00-52B3-4B3C-9C2E-1CB6315627F3}"/>
                  </a:ext>
                </a:extLst>
              </p:cNvPr>
              <p:cNvSpPr txBox="1">
                <a:spLocks noRot="1" noChangeAspect="1" noMove="1" noResize="1" noEditPoints="1" noAdjustHandles="1" noChangeArrowheads="1" noChangeShapeType="1" noTextEdit="1"/>
              </p:cNvSpPr>
              <p:nvPr/>
            </p:nvSpPr>
            <p:spPr>
              <a:xfrm>
                <a:off x="1611121" y="1636097"/>
                <a:ext cx="2993127" cy="700705"/>
              </a:xfrm>
              <a:prstGeom prst="rect">
                <a:avLst/>
              </a:prstGeom>
              <a:blipFill>
                <a:blip r:embed="rId4"/>
                <a:stretch>
                  <a:fillRect l="-4073" b="-1130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24689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DB98E5-9E06-49F3-A4CF-E4C298980248}"/>
              </a:ext>
            </a:extLst>
          </p:cNvPr>
          <p:cNvSpPr>
            <a:spLocks noGrp="1"/>
          </p:cNvSpPr>
          <p:nvPr>
            <p:ph type="title"/>
          </p:nvPr>
        </p:nvSpPr>
        <p:spPr/>
        <p:txBody>
          <a:bodyPr/>
          <a:lstStyle/>
          <a:p>
            <a:r>
              <a:rPr lang="en-US" altLang="zh-TW" dirty="0"/>
              <a:t>Experiment with Original CBF Data (1/2)</a:t>
            </a:r>
            <a:endParaRPr lang="zh-TW" altLang="en-US" dirty="0"/>
          </a:p>
        </p:txBody>
      </p:sp>
      <p:pic>
        <p:nvPicPr>
          <p:cNvPr id="5" name="內容版面配置區 4">
            <a:extLst>
              <a:ext uri="{FF2B5EF4-FFF2-40B4-BE49-F238E27FC236}">
                <a16:creationId xmlns:a16="http://schemas.microsoft.com/office/drawing/2014/main" id="{60C491D9-A653-4B0D-A5ED-25E591E9C9B9}"/>
              </a:ext>
            </a:extLst>
          </p:cNvPr>
          <p:cNvPicPr>
            <a:picLocks noGrp="1" noChangeAspect="1"/>
          </p:cNvPicPr>
          <p:nvPr>
            <p:ph idx="1"/>
          </p:nvPr>
        </p:nvPicPr>
        <p:blipFill rotWithShape="1">
          <a:blip r:embed="rId2"/>
          <a:srcRect t="34696" b="31118"/>
          <a:stretch/>
        </p:blipFill>
        <p:spPr>
          <a:xfrm>
            <a:off x="4019680" y="2797086"/>
            <a:ext cx="3764995" cy="2062297"/>
          </a:xfrm>
          <a:prstGeom prst="rect">
            <a:avLst/>
          </a:prstGeom>
        </p:spPr>
      </p:pic>
      <p:sp>
        <p:nvSpPr>
          <p:cNvPr id="4" name="投影片編號版面配置區 3">
            <a:extLst>
              <a:ext uri="{FF2B5EF4-FFF2-40B4-BE49-F238E27FC236}">
                <a16:creationId xmlns:a16="http://schemas.microsoft.com/office/drawing/2014/main" id="{0B105F29-CBE6-4CAF-8341-8CC04ADFDC73}"/>
              </a:ext>
            </a:extLst>
          </p:cNvPr>
          <p:cNvSpPr>
            <a:spLocks noGrp="1"/>
          </p:cNvSpPr>
          <p:nvPr>
            <p:ph type="sldNum" sz="quarter" idx="12"/>
          </p:nvPr>
        </p:nvSpPr>
        <p:spPr/>
        <p:txBody>
          <a:bodyPr/>
          <a:lstStyle/>
          <a:p>
            <a:fld id="{8DCCD063-7F18-423D-A692-CC9D343FD360}" type="slidenum">
              <a:rPr lang="zh-TW" altLang="en-US" smtClean="0"/>
              <a:t>11</a:t>
            </a:fld>
            <a:endParaRPr lang="zh-TW" altLang="en-US"/>
          </a:p>
        </p:txBody>
      </p:sp>
      <p:pic>
        <p:nvPicPr>
          <p:cNvPr id="6" name="內容版面配置區 4">
            <a:extLst>
              <a:ext uri="{FF2B5EF4-FFF2-40B4-BE49-F238E27FC236}">
                <a16:creationId xmlns:a16="http://schemas.microsoft.com/office/drawing/2014/main" id="{46B80A46-3D0E-4466-AE16-E7903F4D5CAB}"/>
              </a:ext>
            </a:extLst>
          </p:cNvPr>
          <p:cNvPicPr>
            <a:picLocks noChangeAspect="1"/>
          </p:cNvPicPr>
          <p:nvPr/>
        </p:nvPicPr>
        <p:blipFill rotWithShape="1">
          <a:blip r:embed="rId2"/>
          <a:srcRect b="65814"/>
          <a:stretch/>
        </p:blipFill>
        <p:spPr>
          <a:xfrm>
            <a:off x="400564" y="2719964"/>
            <a:ext cx="3764995" cy="2062297"/>
          </a:xfrm>
          <a:prstGeom prst="rect">
            <a:avLst/>
          </a:prstGeom>
        </p:spPr>
      </p:pic>
      <p:pic>
        <p:nvPicPr>
          <p:cNvPr id="7" name="內容版面配置區 4">
            <a:extLst>
              <a:ext uri="{FF2B5EF4-FFF2-40B4-BE49-F238E27FC236}">
                <a16:creationId xmlns:a16="http://schemas.microsoft.com/office/drawing/2014/main" id="{1E65C6AC-45CF-4B43-82AB-FDE5B2A86668}"/>
              </a:ext>
            </a:extLst>
          </p:cNvPr>
          <p:cNvPicPr>
            <a:picLocks noChangeAspect="1"/>
          </p:cNvPicPr>
          <p:nvPr/>
        </p:nvPicPr>
        <p:blipFill rotWithShape="1">
          <a:blip r:embed="rId2"/>
          <a:srcRect t="68371"/>
          <a:stretch/>
        </p:blipFill>
        <p:spPr>
          <a:xfrm>
            <a:off x="7588805" y="2797085"/>
            <a:ext cx="3764995" cy="1908054"/>
          </a:xfrm>
          <a:prstGeom prst="rect">
            <a:avLst/>
          </a:prstGeom>
        </p:spPr>
      </p:pic>
    </p:spTree>
    <p:extLst>
      <p:ext uri="{BB962C8B-B14F-4D97-AF65-F5344CB8AC3E}">
        <p14:creationId xmlns:p14="http://schemas.microsoft.com/office/powerpoint/2010/main" val="181750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DB98E5-9E06-49F3-A4CF-E4C298980248}"/>
              </a:ext>
            </a:extLst>
          </p:cNvPr>
          <p:cNvSpPr>
            <a:spLocks noGrp="1"/>
          </p:cNvSpPr>
          <p:nvPr>
            <p:ph type="title"/>
          </p:nvPr>
        </p:nvSpPr>
        <p:spPr/>
        <p:txBody>
          <a:bodyPr/>
          <a:lstStyle/>
          <a:p>
            <a:r>
              <a:rPr lang="en-US" altLang="zh-TW" dirty="0"/>
              <a:t>Experiment with Original CBF Data (2/2)</a:t>
            </a:r>
            <a:endParaRPr lang="zh-TW" altLang="en-US" dirty="0"/>
          </a:p>
        </p:txBody>
      </p:sp>
      <p:sp>
        <p:nvSpPr>
          <p:cNvPr id="4" name="投影片編號版面配置區 3">
            <a:extLst>
              <a:ext uri="{FF2B5EF4-FFF2-40B4-BE49-F238E27FC236}">
                <a16:creationId xmlns:a16="http://schemas.microsoft.com/office/drawing/2014/main" id="{0B105F29-CBE6-4CAF-8341-8CC04ADFDC73}"/>
              </a:ext>
            </a:extLst>
          </p:cNvPr>
          <p:cNvSpPr>
            <a:spLocks noGrp="1"/>
          </p:cNvSpPr>
          <p:nvPr>
            <p:ph type="sldNum" sz="quarter" idx="12"/>
          </p:nvPr>
        </p:nvSpPr>
        <p:spPr/>
        <p:txBody>
          <a:bodyPr/>
          <a:lstStyle/>
          <a:p>
            <a:fld id="{8DCCD063-7F18-423D-A692-CC9D343FD360}" type="slidenum">
              <a:rPr lang="zh-TW" altLang="en-US" smtClean="0"/>
              <a:t>12</a:t>
            </a:fld>
            <a:endParaRPr lang="zh-TW" altLang="en-US"/>
          </a:p>
        </p:txBody>
      </p:sp>
      <p:pic>
        <p:nvPicPr>
          <p:cNvPr id="9" name="內容版面配置區 8">
            <a:extLst>
              <a:ext uri="{FF2B5EF4-FFF2-40B4-BE49-F238E27FC236}">
                <a16:creationId xmlns:a16="http://schemas.microsoft.com/office/drawing/2014/main" id="{98F82E94-C810-4FAA-9B4D-B4A846734213}"/>
              </a:ext>
            </a:extLst>
          </p:cNvPr>
          <p:cNvPicPr>
            <a:picLocks noGrp="1" noChangeAspect="1"/>
          </p:cNvPicPr>
          <p:nvPr>
            <p:ph idx="1"/>
          </p:nvPr>
        </p:nvPicPr>
        <p:blipFill>
          <a:blip r:embed="rId2"/>
          <a:stretch>
            <a:fillRect/>
          </a:stretch>
        </p:blipFill>
        <p:spPr>
          <a:xfrm>
            <a:off x="1067420" y="2473531"/>
            <a:ext cx="9232393" cy="2476364"/>
          </a:xfrm>
          <a:prstGeom prst="rect">
            <a:avLst/>
          </a:prstGeom>
        </p:spPr>
      </p:pic>
    </p:spTree>
    <p:extLst>
      <p:ext uri="{BB962C8B-B14F-4D97-AF65-F5344CB8AC3E}">
        <p14:creationId xmlns:p14="http://schemas.microsoft.com/office/powerpoint/2010/main" val="3791301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DB98E5-9E06-49F3-A4CF-E4C298980248}"/>
              </a:ext>
            </a:extLst>
          </p:cNvPr>
          <p:cNvSpPr>
            <a:spLocks noGrp="1"/>
          </p:cNvSpPr>
          <p:nvPr>
            <p:ph type="title"/>
          </p:nvPr>
        </p:nvSpPr>
        <p:spPr/>
        <p:txBody>
          <a:bodyPr/>
          <a:lstStyle/>
          <a:p>
            <a:r>
              <a:rPr lang="en-US" altLang="zh-TW" dirty="0"/>
              <a:t>Experiment with Processed CBF Data (1/3)</a:t>
            </a:r>
            <a:endParaRPr lang="zh-TW" altLang="en-US" dirty="0"/>
          </a:p>
        </p:txBody>
      </p:sp>
      <p:sp>
        <p:nvSpPr>
          <p:cNvPr id="4" name="投影片編號版面配置區 3">
            <a:extLst>
              <a:ext uri="{FF2B5EF4-FFF2-40B4-BE49-F238E27FC236}">
                <a16:creationId xmlns:a16="http://schemas.microsoft.com/office/drawing/2014/main" id="{0B105F29-CBE6-4CAF-8341-8CC04ADFDC73}"/>
              </a:ext>
            </a:extLst>
          </p:cNvPr>
          <p:cNvSpPr>
            <a:spLocks noGrp="1"/>
          </p:cNvSpPr>
          <p:nvPr>
            <p:ph type="sldNum" sz="quarter" idx="12"/>
          </p:nvPr>
        </p:nvSpPr>
        <p:spPr/>
        <p:txBody>
          <a:bodyPr/>
          <a:lstStyle/>
          <a:p>
            <a:fld id="{8DCCD063-7F18-423D-A692-CC9D343FD360}" type="slidenum">
              <a:rPr lang="zh-TW" altLang="en-US" smtClean="0"/>
              <a:t>13</a:t>
            </a:fld>
            <a:endParaRPr lang="zh-TW" altLang="en-US"/>
          </a:p>
        </p:txBody>
      </p:sp>
      <p:pic>
        <p:nvPicPr>
          <p:cNvPr id="6" name="內容版面配置區 5">
            <a:extLst>
              <a:ext uri="{FF2B5EF4-FFF2-40B4-BE49-F238E27FC236}">
                <a16:creationId xmlns:a16="http://schemas.microsoft.com/office/drawing/2014/main" id="{1E95088D-CFBA-4BC3-9327-6F52F8B62EB2}"/>
              </a:ext>
            </a:extLst>
          </p:cNvPr>
          <p:cNvPicPr>
            <a:picLocks noGrp="1" noChangeAspect="1"/>
          </p:cNvPicPr>
          <p:nvPr>
            <p:ph idx="1"/>
          </p:nvPr>
        </p:nvPicPr>
        <p:blipFill rotWithShape="1">
          <a:blip r:embed="rId2"/>
          <a:srcRect t="66815"/>
          <a:stretch/>
        </p:blipFill>
        <p:spPr>
          <a:xfrm>
            <a:off x="7629606" y="2760615"/>
            <a:ext cx="2986143" cy="2336222"/>
          </a:xfrm>
          <a:prstGeom prst="rect">
            <a:avLst/>
          </a:prstGeom>
        </p:spPr>
      </p:pic>
      <p:pic>
        <p:nvPicPr>
          <p:cNvPr id="8" name="內容版面配置區 5">
            <a:extLst>
              <a:ext uri="{FF2B5EF4-FFF2-40B4-BE49-F238E27FC236}">
                <a16:creationId xmlns:a16="http://schemas.microsoft.com/office/drawing/2014/main" id="{4BCC11F9-245C-4B58-B443-114926C091BB}"/>
              </a:ext>
            </a:extLst>
          </p:cNvPr>
          <p:cNvPicPr>
            <a:picLocks noChangeAspect="1"/>
          </p:cNvPicPr>
          <p:nvPr/>
        </p:nvPicPr>
        <p:blipFill rotWithShape="1">
          <a:blip r:embed="rId2"/>
          <a:srcRect t="33185" b="33630"/>
          <a:stretch/>
        </p:blipFill>
        <p:spPr>
          <a:xfrm>
            <a:off x="4041674" y="2760615"/>
            <a:ext cx="2986143" cy="2336220"/>
          </a:xfrm>
          <a:prstGeom prst="rect">
            <a:avLst/>
          </a:prstGeom>
        </p:spPr>
      </p:pic>
      <p:pic>
        <p:nvPicPr>
          <p:cNvPr id="10" name="內容版面配置區 5">
            <a:extLst>
              <a:ext uri="{FF2B5EF4-FFF2-40B4-BE49-F238E27FC236}">
                <a16:creationId xmlns:a16="http://schemas.microsoft.com/office/drawing/2014/main" id="{1B008E0A-6082-458D-9909-C4681A170A32}"/>
              </a:ext>
            </a:extLst>
          </p:cNvPr>
          <p:cNvPicPr>
            <a:picLocks noChangeAspect="1"/>
          </p:cNvPicPr>
          <p:nvPr/>
        </p:nvPicPr>
        <p:blipFill rotWithShape="1">
          <a:blip r:embed="rId2"/>
          <a:srcRect b="66815"/>
          <a:stretch/>
        </p:blipFill>
        <p:spPr>
          <a:xfrm>
            <a:off x="915297" y="2760617"/>
            <a:ext cx="2986143" cy="2336220"/>
          </a:xfrm>
          <a:prstGeom prst="rect">
            <a:avLst/>
          </a:prstGeom>
        </p:spPr>
      </p:pic>
    </p:spTree>
    <p:extLst>
      <p:ext uri="{BB962C8B-B14F-4D97-AF65-F5344CB8AC3E}">
        <p14:creationId xmlns:p14="http://schemas.microsoft.com/office/powerpoint/2010/main" val="2897401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DB98E5-9E06-49F3-A4CF-E4C298980248}"/>
              </a:ext>
            </a:extLst>
          </p:cNvPr>
          <p:cNvSpPr>
            <a:spLocks noGrp="1"/>
          </p:cNvSpPr>
          <p:nvPr>
            <p:ph type="title"/>
          </p:nvPr>
        </p:nvSpPr>
        <p:spPr/>
        <p:txBody>
          <a:bodyPr/>
          <a:lstStyle/>
          <a:p>
            <a:r>
              <a:rPr lang="en-US" altLang="zh-TW" dirty="0"/>
              <a:t>Experiment with Processed CBF Data (2/3)</a:t>
            </a:r>
            <a:endParaRPr lang="zh-TW" altLang="en-US" dirty="0"/>
          </a:p>
        </p:txBody>
      </p:sp>
      <p:sp>
        <p:nvSpPr>
          <p:cNvPr id="4" name="投影片編號版面配置區 3">
            <a:extLst>
              <a:ext uri="{FF2B5EF4-FFF2-40B4-BE49-F238E27FC236}">
                <a16:creationId xmlns:a16="http://schemas.microsoft.com/office/drawing/2014/main" id="{0B105F29-CBE6-4CAF-8341-8CC04ADFDC73}"/>
              </a:ext>
            </a:extLst>
          </p:cNvPr>
          <p:cNvSpPr>
            <a:spLocks noGrp="1"/>
          </p:cNvSpPr>
          <p:nvPr>
            <p:ph type="sldNum" sz="quarter" idx="12"/>
          </p:nvPr>
        </p:nvSpPr>
        <p:spPr/>
        <p:txBody>
          <a:bodyPr/>
          <a:lstStyle/>
          <a:p>
            <a:fld id="{8DCCD063-7F18-423D-A692-CC9D343FD360}" type="slidenum">
              <a:rPr lang="zh-TW" altLang="en-US" smtClean="0"/>
              <a:t>14</a:t>
            </a:fld>
            <a:endParaRPr lang="zh-TW" altLang="en-US"/>
          </a:p>
        </p:txBody>
      </p:sp>
      <p:pic>
        <p:nvPicPr>
          <p:cNvPr id="7" name="內容版面配置區 6">
            <a:extLst>
              <a:ext uri="{FF2B5EF4-FFF2-40B4-BE49-F238E27FC236}">
                <a16:creationId xmlns:a16="http://schemas.microsoft.com/office/drawing/2014/main" id="{1C292674-B4E8-4A69-B434-B6D62E27855B}"/>
              </a:ext>
            </a:extLst>
          </p:cNvPr>
          <p:cNvPicPr>
            <a:picLocks noGrp="1" noChangeAspect="1"/>
          </p:cNvPicPr>
          <p:nvPr>
            <p:ph idx="1"/>
          </p:nvPr>
        </p:nvPicPr>
        <p:blipFill>
          <a:blip r:embed="rId2"/>
          <a:stretch>
            <a:fillRect/>
          </a:stretch>
        </p:blipFill>
        <p:spPr>
          <a:xfrm>
            <a:off x="1701702" y="2113984"/>
            <a:ext cx="8257385" cy="4039682"/>
          </a:xfrm>
          <a:prstGeom prst="rect">
            <a:avLst/>
          </a:prstGeom>
        </p:spPr>
      </p:pic>
    </p:spTree>
    <p:extLst>
      <p:ext uri="{BB962C8B-B14F-4D97-AF65-F5344CB8AC3E}">
        <p14:creationId xmlns:p14="http://schemas.microsoft.com/office/powerpoint/2010/main" val="55994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DB98E5-9E06-49F3-A4CF-E4C298980248}"/>
              </a:ext>
            </a:extLst>
          </p:cNvPr>
          <p:cNvSpPr>
            <a:spLocks noGrp="1"/>
          </p:cNvSpPr>
          <p:nvPr>
            <p:ph type="title"/>
          </p:nvPr>
        </p:nvSpPr>
        <p:spPr/>
        <p:txBody>
          <a:bodyPr/>
          <a:lstStyle/>
          <a:p>
            <a:r>
              <a:rPr lang="en-US" altLang="zh-TW" dirty="0"/>
              <a:t>Experiment with Processed CBF Data (3/3)</a:t>
            </a:r>
            <a:endParaRPr lang="zh-TW" altLang="en-US" dirty="0"/>
          </a:p>
        </p:txBody>
      </p:sp>
      <p:sp>
        <p:nvSpPr>
          <p:cNvPr id="4" name="投影片編號版面配置區 3">
            <a:extLst>
              <a:ext uri="{FF2B5EF4-FFF2-40B4-BE49-F238E27FC236}">
                <a16:creationId xmlns:a16="http://schemas.microsoft.com/office/drawing/2014/main" id="{0B105F29-CBE6-4CAF-8341-8CC04ADFDC73}"/>
              </a:ext>
            </a:extLst>
          </p:cNvPr>
          <p:cNvSpPr>
            <a:spLocks noGrp="1"/>
          </p:cNvSpPr>
          <p:nvPr>
            <p:ph type="sldNum" sz="quarter" idx="12"/>
          </p:nvPr>
        </p:nvSpPr>
        <p:spPr/>
        <p:txBody>
          <a:bodyPr/>
          <a:lstStyle/>
          <a:p>
            <a:fld id="{8DCCD063-7F18-423D-A692-CC9D343FD360}" type="slidenum">
              <a:rPr lang="zh-TW" altLang="en-US" smtClean="0"/>
              <a:t>15</a:t>
            </a:fld>
            <a:endParaRPr lang="zh-TW" altLang="en-US"/>
          </a:p>
        </p:txBody>
      </p:sp>
      <p:pic>
        <p:nvPicPr>
          <p:cNvPr id="6" name="內容版面配置區 5">
            <a:extLst>
              <a:ext uri="{FF2B5EF4-FFF2-40B4-BE49-F238E27FC236}">
                <a16:creationId xmlns:a16="http://schemas.microsoft.com/office/drawing/2014/main" id="{829E8661-9EC9-4438-9272-BFCD4B3EDFBA}"/>
              </a:ext>
            </a:extLst>
          </p:cNvPr>
          <p:cNvPicPr>
            <a:picLocks noGrp="1" noChangeAspect="1"/>
          </p:cNvPicPr>
          <p:nvPr>
            <p:ph idx="1"/>
          </p:nvPr>
        </p:nvPicPr>
        <p:blipFill>
          <a:blip r:embed="rId2"/>
          <a:stretch>
            <a:fillRect/>
          </a:stretch>
        </p:blipFill>
        <p:spPr>
          <a:xfrm>
            <a:off x="2474881" y="1808181"/>
            <a:ext cx="7006870" cy="4526562"/>
          </a:xfrm>
          <a:prstGeom prst="rect">
            <a:avLst/>
          </a:prstGeom>
        </p:spPr>
      </p:pic>
    </p:spTree>
    <p:extLst>
      <p:ext uri="{BB962C8B-B14F-4D97-AF65-F5344CB8AC3E}">
        <p14:creationId xmlns:p14="http://schemas.microsoft.com/office/powerpoint/2010/main" val="174728096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13641</TotalTime>
  <Words>486</Words>
  <Application>Microsoft Office PowerPoint</Application>
  <PresentationFormat>寬螢幕</PresentationFormat>
  <Paragraphs>59</Paragraphs>
  <Slides>15</Slides>
  <Notes>2</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15</vt:i4>
      </vt:variant>
    </vt:vector>
  </HeadingPairs>
  <TitlesOfParts>
    <vt:vector size="23" baseType="lpstr">
      <vt:lpstr>微軟正黑體</vt:lpstr>
      <vt:lpstr>新細明體</vt:lpstr>
      <vt:lpstr>Arial</vt:lpstr>
      <vt:lpstr>Calibri</vt:lpstr>
      <vt:lpstr>Cambria Math</vt:lpstr>
      <vt:lpstr>Symbol</vt:lpstr>
      <vt:lpstr>Tw Cen MT</vt:lpstr>
      <vt:lpstr>Office 佈景主題</vt:lpstr>
      <vt:lpstr>A Similarity Measure of Jumping Dynamic Time Warping</vt:lpstr>
      <vt:lpstr>Abstract</vt:lpstr>
      <vt:lpstr>DTW</vt:lpstr>
      <vt:lpstr>Lower Bounding of DTW</vt:lpstr>
      <vt:lpstr>Path Constraints of DTW</vt:lpstr>
      <vt:lpstr>Local Path Constraints of JDTW</vt:lpstr>
      <vt:lpstr>Local Path Constraints of JDTW</vt:lpstr>
      <vt:lpstr>Local Path Constraints of JDTW</vt:lpstr>
      <vt:lpstr>Local Path Constraints of JDTW</vt:lpstr>
      <vt:lpstr>Global Path Constraints of JDTW</vt:lpstr>
      <vt:lpstr>Experiment with Original CBF Data (1/2)</vt:lpstr>
      <vt:lpstr>Experiment with Original CBF Data (2/2)</vt:lpstr>
      <vt:lpstr>Experiment with Processed CBF Data (1/3)</vt:lpstr>
      <vt:lpstr>Experiment with Processed CBF Data (2/3)</vt:lpstr>
      <vt:lpstr>Experiment with Processed CBF Data (3/3)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 </cp:lastModifiedBy>
  <cp:revision>368</cp:revision>
  <dcterms:created xsi:type="dcterms:W3CDTF">2017-10-09T09:38:00Z</dcterms:created>
  <dcterms:modified xsi:type="dcterms:W3CDTF">2018-05-30T08:13:23Z</dcterms:modified>
</cp:coreProperties>
</file>