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321" r:id="rId3"/>
    <p:sldId id="273" r:id="rId4"/>
    <p:sldId id="308" r:id="rId5"/>
    <p:sldId id="312" r:id="rId6"/>
    <p:sldId id="313" r:id="rId7"/>
    <p:sldId id="315" r:id="rId8"/>
    <p:sldId id="316" r:id="rId9"/>
    <p:sldId id="317" r:id="rId10"/>
    <p:sldId id="318" r:id="rId11"/>
    <p:sldId id="320" r:id="rId12"/>
    <p:sldId id="307" r:id="rId13"/>
    <p:sldId id="311" r:id="rId14"/>
    <p:sldId id="314" r:id="rId15"/>
    <p:sldId id="319" r:id="rId16"/>
    <p:sldId id="309" r:id="rId17"/>
    <p:sldId id="32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5FBEBF5-6C27-43DA-9D2C-B1537964028B}">
          <p14:sldIdLst>
            <p14:sldId id="256"/>
            <p14:sldId id="321"/>
            <p14:sldId id="273"/>
            <p14:sldId id="308"/>
            <p14:sldId id="312"/>
            <p14:sldId id="313"/>
            <p14:sldId id="315"/>
            <p14:sldId id="316"/>
            <p14:sldId id="317"/>
            <p14:sldId id="318"/>
            <p14:sldId id="320"/>
            <p14:sldId id="307"/>
            <p14:sldId id="311"/>
            <p14:sldId id="314"/>
            <p14:sldId id="319"/>
          </p14:sldIdLst>
        </p14:section>
        <p14:section name="test" id="{5A0672B8-76E0-491A-93E0-1923641389C1}">
          <p14:sldIdLst>
            <p14:sldId id="309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0F0"/>
    <a:srgbClr val="DFBDE9"/>
    <a:srgbClr val="DEEBF7"/>
    <a:srgbClr val="4472C4"/>
    <a:srgbClr val="855151"/>
    <a:srgbClr val="FF33CC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85059" autoAdjust="0"/>
  </p:normalViewPr>
  <p:slideViewPr>
    <p:cSldViewPr snapToGrid="0">
      <p:cViewPr varScale="1">
        <p:scale>
          <a:sx n="97" d="100"/>
          <a:sy n="97" d="100"/>
        </p:scale>
        <p:origin x="11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Tomas Flouri 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布拉格捷克理工大學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Kimon Frousios, Costas S. Iliopoulos, Solon P. Pissis 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英國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倫敦大學國王學院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Kunsoo Park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首爾大學</a:t>
            </a:r>
            <a:endParaRPr lang="fr-FR" altLang="zh-TW" sz="12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German Tischler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德國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符茲堡大學</a:t>
            </a:r>
            <a:endParaRPr lang="zh-TW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Tomas Flouri 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布拉格捷克理工大學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Kimon Frousios, Costas S. Iliopoulos, Solon P. Pissis 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英國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倫敦大學國王學院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Kunsoo Park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首爾大學</a:t>
            </a:r>
            <a:endParaRPr lang="fr-FR" altLang="zh-TW" sz="12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fr-FR" altLang="zh-TW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German Tischler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德國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符茲堡大學</a:t>
            </a:r>
            <a:endParaRPr lang="zh-TW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372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921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18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delta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627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000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4906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108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132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571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659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56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48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2018/12/4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2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5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9.png"/><Relationship Id="rId5" Type="http://schemas.openxmlformats.org/officeDocument/2006/relationships/image" Target="../media/image14.png"/><Relationship Id="rId10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00.png"/><Relationship Id="rId7" Type="http://schemas.openxmlformats.org/officeDocument/2006/relationships/image" Target="../media/image7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50.png"/><Relationship Id="rId4" Type="http://schemas.openxmlformats.org/officeDocument/2006/relationships/image" Target="../media/image40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7913"/>
            <a:ext cx="9144000" cy="1639565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string-matching with a single gap for</a:t>
            </a:r>
            <a: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alignment 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704" y="2659961"/>
            <a:ext cx="8674592" cy="830996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fr-FR" altLang="zh-TW" sz="2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Tomas Flouri, Kunsoo Park, Kimon Frousios, Solon P. Pissis, </a:t>
            </a:r>
          </a:p>
          <a:p>
            <a:r>
              <a:rPr lang="fr-FR" altLang="zh-TW" sz="2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Costas S. Iliopoulos, German Tischler</a:t>
            </a:r>
            <a:endParaRPr lang="zh-TW" altLang="en-US" sz="26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489688" y="5493605"/>
            <a:ext cx="2715491" cy="8309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Guan-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Zhi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2018.12.04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EB69C1-BEBB-4D8A-BCF3-51571A635FE9}"/>
              </a:ext>
            </a:extLst>
          </p:cNvPr>
          <p:cNvSpPr/>
          <p:nvPr/>
        </p:nvSpPr>
        <p:spPr>
          <a:xfrm flipH="1">
            <a:off x="636997" y="3892116"/>
            <a:ext cx="78700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Proceedings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of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Second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ACM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International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Conference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on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ioinformatics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omputational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iology(BCB),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Chicago,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USA, July 31 - August 03,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2011</a:t>
            </a: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C616F20-3194-4EDD-968C-2B23A7F3B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48" y="357394"/>
            <a:ext cx="8504903" cy="6143211"/>
          </a:xfrm>
          <a:prstGeom prst="rect">
            <a:avLst/>
          </a:prstGeom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52B1CA6B-799C-4601-BA7B-30DCE200F7F2}"/>
              </a:ext>
            </a:extLst>
          </p:cNvPr>
          <p:cNvSpPr/>
          <p:nvPr/>
        </p:nvSpPr>
        <p:spPr>
          <a:xfrm>
            <a:off x="6076334" y="2308486"/>
            <a:ext cx="540775" cy="442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49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78CA31B-C758-4215-B281-353CA02EC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32" y="1150706"/>
            <a:ext cx="8263434" cy="520564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This paper deals with the approximate string-matching problem with Hamming distance and a single gap for sequence alignment. We consider an extension of the approximate string-matching problem with Hamming distance, by also allowing the existence of a single gap, either in the text, or in the pattern.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06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78CA31B-C758-4215-B281-353CA02EC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232" y="1150706"/>
                <a:ext cx="8155484" cy="52056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This problem is strongly and directly motivated by the next-generation re-sequencing procedure. We present a general algorithm that requires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time, where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 is the length of the text and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 is the length of the pattern, but this can be reduced to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time, if the maximum length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 of the gap is given.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78CA31B-C758-4215-B281-353CA02EC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232" y="1150706"/>
                <a:ext cx="8155484" cy="5205645"/>
              </a:xfrm>
              <a:blipFill>
                <a:blip r:embed="rId3"/>
                <a:stretch>
                  <a:fillRect l="-1570" r="-23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15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51FFCC-757A-4E43-BADE-BFDEC40CFB25}"/>
              </a:ext>
            </a:extLst>
          </p:cNvPr>
          <p:cNvSpPr/>
          <p:nvPr/>
        </p:nvSpPr>
        <p:spPr>
          <a:xfrm>
            <a:off x="402232" y="1164320"/>
            <a:ext cx="874176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</a:rPr>
              <a:t>Hamming distance: </a:t>
            </a:r>
          </a:p>
          <a:p>
            <a:r>
              <a:rPr lang="en-US" altLang="zh-TW" sz="2400" dirty="0">
                <a:latin typeface="Times New Roman" panose="02020603050405020304" pitchFamily="18" charset="0"/>
              </a:rPr>
              <a:t>number of different chars between two strings of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the same length</a:t>
            </a:r>
            <a:endParaRPr lang="zh-TW" altLang="en-US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0CE12766-E472-4E58-BFA4-DFC969C4C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968602"/>
                  </p:ext>
                </p:extLst>
              </p:nvPr>
            </p:nvGraphicFramePr>
            <p:xfrm>
              <a:off x="1344645" y="2438573"/>
              <a:ext cx="432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229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0CE12766-E472-4E58-BFA4-DFC969C4C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968602"/>
                  </p:ext>
                </p:extLst>
              </p:nvPr>
            </p:nvGraphicFramePr>
            <p:xfrm>
              <a:off x="1344645" y="2438573"/>
              <a:ext cx="432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1628" r="-501695" b="-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DAB7EBF8-FA0C-440A-BF89-EBF3647959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346165"/>
                  </p:ext>
                </p:extLst>
              </p:nvPr>
            </p:nvGraphicFramePr>
            <p:xfrm>
              <a:off x="1344645" y="2917945"/>
              <a:ext cx="432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229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DAB7EBF8-FA0C-440A-BF89-EBF3647959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346165"/>
                  </p:ext>
                </p:extLst>
              </p:nvPr>
            </p:nvGraphicFramePr>
            <p:xfrm>
              <a:off x="1344645" y="2917945"/>
              <a:ext cx="432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1628" r="-501695" b="-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3D2CF6A-6B84-41A8-AE54-AA9EE630CF5B}"/>
                  </a:ext>
                </a:extLst>
              </p:cNvPr>
              <p:cNvSpPr/>
              <p:nvPr/>
            </p:nvSpPr>
            <p:spPr>
              <a:xfrm>
                <a:off x="1344646" y="3876253"/>
                <a:ext cx="246579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3D2CF6A-6B84-41A8-AE54-AA9EE630C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46" y="3876253"/>
                <a:ext cx="2465798" cy="461665"/>
              </a:xfrm>
              <a:prstGeom prst="rect">
                <a:avLst/>
              </a:prstGeom>
              <a:blipFill>
                <a:blip r:embed="rId5"/>
                <a:stretch>
                  <a:fillRect l="-743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01C8BF3-E482-46CD-9029-2E08333205D9}"/>
                  </a:ext>
                </a:extLst>
              </p:cNvPr>
              <p:cNvSpPr/>
              <p:nvPr/>
            </p:nvSpPr>
            <p:spPr>
              <a:xfrm>
                <a:off x="1344645" y="5024156"/>
                <a:ext cx="58032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[1],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01C8BF3-E482-46CD-9029-2E0833320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45" y="5024156"/>
                <a:ext cx="5803287" cy="461665"/>
              </a:xfrm>
              <a:prstGeom prst="rect">
                <a:avLst/>
              </a:prstGeom>
              <a:blipFill>
                <a:blip r:embed="rId6"/>
                <a:stretch>
                  <a:fillRect l="-315"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BDD3E6D-08B3-4A53-B198-BEF34404EF6F}"/>
                  </a:ext>
                </a:extLst>
              </p:cNvPr>
              <p:cNvSpPr/>
              <p:nvPr/>
            </p:nvSpPr>
            <p:spPr>
              <a:xfrm>
                <a:off x="1344645" y="5652712"/>
                <a:ext cx="58032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[2],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BDD3E6D-08B3-4A53-B198-BEF34404EF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45" y="5652712"/>
                <a:ext cx="5803287" cy="461665"/>
              </a:xfrm>
              <a:prstGeom prst="rect">
                <a:avLst/>
              </a:prstGeom>
              <a:blipFill>
                <a:blip r:embed="rId7"/>
                <a:stretch>
                  <a:fillRect l="-315"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5B524102-DF06-4250-8499-A8752A1E85CD}"/>
              </a:ext>
            </a:extLst>
          </p:cNvPr>
          <p:cNvSpPr/>
          <p:nvPr/>
        </p:nvSpPr>
        <p:spPr>
          <a:xfrm>
            <a:off x="3612048" y="3922419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2-mismatches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E8F4B3-612F-4E69-AF71-D98818260BDA}"/>
              </a:ext>
            </a:extLst>
          </p:cNvPr>
          <p:cNvSpPr/>
          <p:nvPr/>
        </p:nvSpPr>
        <p:spPr>
          <a:xfrm>
            <a:off x="4072504" y="5070322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the same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E3295F-4E71-4DAF-AD45-467336EEE173}"/>
              </a:ext>
            </a:extLst>
          </p:cNvPr>
          <p:cNvSpPr/>
          <p:nvPr/>
        </p:nvSpPr>
        <p:spPr>
          <a:xfrm>
            <a:off x="402232" y="4419427"/>
            <a:ext cx="87417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</a:rPr>
              <a:t>for single char:</a:t>
            </a:r>
            <a:endParaRPr lang="zh-TW" altLang="en-US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9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51FFCC-757A-4E43-BADE-BFDEC40CFB25}"/>
                  </a:ext>
                </a:extLst>
              </p:cNvPr>
              <p:cNvSpPr/>
              <p:nvPr/>
            </p:nvSpPr>
            <p:spPr>
              <a:xfrm>
                <a:off x="734602" y="934994"/>
                <a:ext cx="650253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</a:rPr>
                  <a:t>Gap: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altLang="zh-TW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endParaRPr lang="en-US" altLang="zh-TW" sz="2800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US" altLang="zh-TW" sz="2800" dirty="0">
                    <a:latin typeface="Times New Roman" panose="02020603050405020304" pitchFamily="18" charset="0"/>
                  </a:rPr>
                  <a:t>a string of don’t care symbols of length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51FFCC-757A-4E43-BADE-BFDEC40CF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02" y="934994"/>
                <a:ext cx="6502539" cy="954107"/>
              </a:xfrm>
              <a:prstGeom prst="rect">
                <a:avLst/>
              </a:prstGeom>
              <a:blipFill>
                <a:blip r:embed="rId3"/>
                <a:stretch>
                  <a:fillRect l="-1970" t="-6369" b="-16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A4D6054-4D43-4C10-856C-46AA892CE2E1}"/>
                  </a:ext>
                </a:extLst>
              </p:cNvPr>
              <p:cNvSpPr/>
              <p:nvPr/>
            </p:nvSpPr>
            <p:spPr>
              <a:xfrm>
                <a:off x="734602" y="2041686"/>
                <a:ext cx="650253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</a:rPr>
                  <a:t>Gap string: </a:t>
                </a:r>
              </a:p>
              <a:p>
                <a:r>
                  <a:rPr lang="en-US" altLang="zh-TW" sz="2800" dirty="0">
                    <a:latin typeface="Times New Roman" panose="02020603050405020304" pitchFamily="18" charset="0"/>
                  </a:rPr>
                  <a:t>the concatenation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</a:rPr>
                  <a:t>and gaps</a:t>
                </a:r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A4D6054-4D43-4C10-856C-46AA892CE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02" y="2041686"/>
                <a:ext cx="6502539" cy="954107"/>
              </a:xfrm>
              <a:prstGeom prst="rect">
                <a:avLst/>
              </a:prstGeom>
              <a:blipFill>
                <a:blip r:embed="rId4"/>
                <a:stretch>
                  <a:fillRect l="-1970" t="-7051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4A0E1D87-2DE1-4DE3-B022-C2B062162E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5563814"/>
                  </p:ext>
                </p:extLst>
              </p:nvPr>
            </p:nvGraphicFramePr>
            <p:xfrm>
              <a:off x="734602" y="3203495"/>
              <a:ext cx="720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77284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70732308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23481515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39593906"/>
                        </a:ext>
                      </a:extLst>
                    </a:gridCol>
                  </a:tblGrid>
                  <a:tr h="229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4A0E1D87-2DE1-4DE3-B022-C2B062162E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5563814"/>
                  </p:ext>
                </p:extLst>
              </p:nvPr>
            </p:nvGraphicFramePr>
            <p:xfrm>
              <a:off x="734602" y="3203495"/>
              <a:ext cx="720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77284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70732308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23481515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39593906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1628" r="-901695" b="-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C19CE1AB-E4B4-40CE-B4A4-660054D39F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8392053"/>
                  </p:ext>
                </p:extLst>
              </p:nvPr>
            </p:nvGraphicFramePr>
            <p:xfrm>
              <a:off x="734602" y="3929357"/>
              <a:ext cx="288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</a:tblGrid>
                  <a:tr h="229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C19CE1AB-E4B4-40CE-B4A4-660054D39F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8392053"/>
                  </p:ext>
                </p:extLst>
              </p:nvPr>
            </p:nvGraphicFramePr>
            <p:xfrm>
              <a:off x="734602" y="3929357"/>
              <a:ext cx="288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1628" r="-300847" b="-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69E8A30-99EF-4458-88B7-D175CEC05309}"/>
              </a:ext>
            </a:extLst>
          </p:cNvPr>
          <p:cNvSpPr/>
          <p:nvPr/>
        </p:nvSpPr>
        <p:spPr>
          <a:xfrm>
            <a:off x="734602" y="4429785"/>
            <a:ext cx="1675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</a:rPr>
              <a:t>&lt;</a:t>
            </a:r>
            <a:r>
              <a:rPr lang="zh-TW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</a:rPr>
              <a:t>Gap string</a:t>
            </a:r>
            <a:r>
              <a:rPr lang="zh-TW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</a:rPr>
              <a:t>&gt;</a:t>
            </a:r>
            <a:endParaRPr lang="zh-TW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1E7002F-A041-47CB-A1C8-807E5C91D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6072539"/>
                  </p:ext>
                </p:extLst>
              </p:nvPr>
            </p:nvGraphicFramePr>
            <p:xfrm>
              <a:off x="734602" y="3929357"/>
              <a:ext cx="720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77284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70732308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23481515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39593906"/>
                        </a:ext>
                      </a:extLst>
                    </a:gridCol>
                  </a:tblGrid>
                  <a:tr h="229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TW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1E7002F-A041-47CB-A1C8-807E5C91D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6072539"/>
                  </p:ext>
                </p:extLst>
              </p:nvPr>
            </p:nvGraphicFramePr>
            <p:xfrm>
              <a:off x="734602" y="3929357"/>
              <a:ext cx="7200000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644493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77284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70732308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23481515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39593906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t="-11628" r="-901695" b="-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D3E157A-56CF-45B4-A24C-2FB4E78A7AD3}"/>
                  </a:ext>
                </a:extLst>
              </p:cNvPr>
              <p:cNvSpPr/>
              <p:nvPr/>
            </p:nvSpPr>
            <p:spPr>
              <a:xfrm>
                <a:off x="734602" y="5036049"/>
                <a:ext cx="246579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D3E157A-56CF-45B4-A24C-2FB4E78A7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02" y="5036049"/>
                <a:ext cx="2465798" cy="461665"/>
              </a:xfrm>
              <a:prstGeom prst="rect">
                <a:avLst/>
              </a:prstGeom>
              <a:blipFill>
                <a:blip r:embed="rId8"/>
                <a:stretch>
                  <a:fillRect l="-743"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13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and answer (1/4)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3859482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3859482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195090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195090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065" r="-7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/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/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/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all positions of factors of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  <a:blipFill>
                <a:blip r:embed="rId7"/>
                <a:stretch>
                  <a:fillRect l="-122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/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  <a:blipFill>
                <a:blip r:embed="rId8"/>
                <a:stretch>
                  <a:fillRect l="-581" b="-5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355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and answer (2/4)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339623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339623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3366200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3366200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065" r="-7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/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/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/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all positions of factors of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  <a:blipFill>
                <a:blip r:embed="rId7"/>
                <a:stretch>
                  <a:fillRect l="-122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/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  <a:blipFill>
                <a:blip r:embed="rId8"/>
                <a:stretch>
                  <a:fillRect l="-581" b="-5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弧形 1">
            <a:extLst>
              <a:ext uri="{FF2B5EF4-FFF2-40B4-BE49-F238E27FC236}">
                <a16:creationId xmlns:a16="http://schemas.microsoft.com/office/drawing/2014/main" id="{C110C419-D641-477F-B370-67A4D6B4562F}"/>
              </a:ext>
            </a:extLst>
          </p:cNvPr>
          <p:cNvSpPr/>
          <p:nvPr/>
        </p:nvSpPr>
        <p:spPr>
          <a:xfrm rot="18702020" flipH="1">
            <a:off x="342574" y="985254"/>
            <a:ext cx="3756629" cy="4316547"/>
          </a:xfrm>
          <a:prstGeom prst="arc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452154"/>
                  </p:ext>
                </p:extLst>
              </p:nvPr>
            </p:nvGraphicFramePr>
            <p:xfrm>
              <a:off x="842360" y="4657091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452154"/>
                  </p:ext>
                </p:extLst>
              </p:nvPr>
            </p:nvGraphicFramePr>
            <p:xfrm>
              <a:off x="842360" y="4657091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170482"/>
                  </p:ext>
                </p:extLst>
              </p:nvPr>
            </p:nvGraphicFramePr>
            <p:xfrm>
              <a:off x="842360" y="5162980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170482"/>
                  </p:ext>
                </p:extLst>
              </p:nvPr>
            </p:nvGraphicFramePr>
            <p:xfrm>
              <a:off x="842360" y="5162980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79B1537B-9F92-4659-B960-82A8A10FC327}"/>
              </a:ext>
            </a:extLst>
          </p:cNvPr>
          <p:cNvSpPr/>
          <p:nvPr/>
        </p:nvSpPr>
        <p:spPr>
          <a:xfrm>
            <a:off x="747110" y="3429000"/>
            <a:ext cx="6960150" cy="780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77C773-ED35-47B2-9EEC-F2F638B11B01}"/>
                  </a:ext>
                </a:extLst>
              </p:cNvPr>
              <p:cNvSpPr/>
              <p:nvPr/>
            </p:nvSpPr>
            <p:spPr>
              <a:xfrm>
                <a:off x="6705229" y="4890288"/>
                <a:ext cx="13381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</a:rPr>
                  <a:t>=1</a:t>
                </a:r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77C773-ED35-47B2-9EEC-F2F638B11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229" y="4890288"/>
                <a:ext cx="1338123" cy="369332"/>
              </a:xfrm>
              <a:prstGeom prst="rect">
                <a:avLst/>
              </a:prstGeom>
              <a:blipFill>
                <a:blip r:embed="rId11"/>
                <a:stretch>
                  <a:fillRect t="-8197" r="-3196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29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and answer (3/4)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081127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081127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948586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948586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065" r="-7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/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/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/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all positions of factors of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  <a:blipFill>
                <a:blip r:embed="rId7"/>
                <a:stretch>
                  <a:fillRect l="-122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/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  <a:blipFill>
                <a:blip r:embed="rId8"/>
                <a:stretch>
                  <a:fillRect l="-581" b="-5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弧形 1">
            <a:extLst>
              <a:ext uri="{FF2B5EF4-FFF2-40B4-BE49-F238E27FC236}">
                <a16:creationId xmlns:a16="http://schemas.microsoft.com/office/drawing/2014/main" id="{C110C419-D641-477F-B370-67A4D6B4562F}"/>
              </a:ext>
            </a:extLst>
          </p:cNvPr>
          <p:cNvSpPr/>
          <p:nvPr/>
        </p:nvSpPr>
        <p:spPr>
          <a:xfrm rot="18702020" flipH="1">
            <a:off x="342574" y="985254"/>
            <a:ext cx="3756629" cy="4316547"/>
          </a:xfrm>
          <a:prstGeom prst="arc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3577577"/>
                  </p:ext>
                </p:extLst>
              </p:nvPr>
            </p:nvGraphicFramePr>
            <p:xfrm>
              <a:off x="842360" y="4657091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3577577"/>
                  </p:ext>
                </p:extLst>
              </p:nvPr>
            </p:nvGraphicFramePr>
            <p:xfrm>
              <a:off x="842360" y="4657091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325279"/>
                  </p:ext>
                </p:extLst>
              </p:nvPr>
            </p:nvGraphicFramePr>
            <p:xfrm>
              <a:off x="842360" y="5162980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325279"/>
                  </p:ext>
                </p:extLst>
              </p:nvPr>
            </p:nvGraphicFramePr>
            <p:xfrm>
              <a:off x="842360" y="5162980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79B1537B-9F92-4659-B960-82A8A10FC327}"/>
              </a:ext>
            </a:extLst>
          </p:cNvPr>
          <p:cNvSpPr/>
          <p:nvPr/>
        </p:nvSpPr>
        <p:spPr>
          <a:xfrm>
            <a:off x="794735" y="2952244"/>
            <a:ext cx="6960150" cy="780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77C773-ED35-47B2-9EEC-F2F638B11B01}"/>
                  </a:ext>
                </a:extLst>
              </p:cNvPr>
              <p:cNvSpPr/>
              <p:nvPr/>
            </p:nvSpPr>
            <p:spPr>
              <a:xfrm>
                <a:off x="6705229" y="4889682"/>
                <a:ext cx="126528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zh-TW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</a:rPr>
                  <a:t>=1</a:t>
                </a:r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77C773-ED35-47B2-9EEC-F2F638B11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229" y="4889682"/>
                <a:ext cx="1265283" cy="369332"/>
              </a:xfrm>
              <a:prstGeom prst="rect">
                <a:avLst/>
              </a:prstGeom>
              <a:blipFill>
                <a:blip r:embed="rId11"/>
                <a:stretch>
                  <a:fillRect t="-8197" r="-338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85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and answer (4/4)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8405687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B81587C8-F509-4A87-BCFD-395AEDF6C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8405687"/>
                  </p:ext>
                </p:extLst>
              </p:nvPr>
            </p:nvGraphicFramePr>
            <p:xfrm>
              <a:off x="842360" y="1893429"/>
              <a:ext cx="432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6452" r="-5025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155458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52AB28A3-E3DE-4D5C-88BE-0B7119D18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155458"/>
                  </p:ext>
                </p:extLst>
              </p:nvPr>
            </p:nvGraphicFramePr>
            <p:xfrm>
              <a:off x="842360" y="1324180"/>
              <a:ext cx="576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065" r="-7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/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A0E290-B9D1-45B4-9E5D-8C1B90A7A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324180"/>
                <a:ext cx="1003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/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C90BA1-9B5A-499D-9218-01938CCD2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6" y="1893428"/>
                <a:ext cx="10646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/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all positions of factors of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6D95C7B-FE9F-43FA-9220-610AA5E51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10" y="2538768"/>
                <a:ext cx="4491422" cy="369332"/>
              </a:xfrm>
              <a:prstGeom prst="rect">
                <a:avLst/>
              </a:prstGeom>
              <a:blipFill>
                <a:blip r:embed="rId7"/>
                <a:stretch>
                  <a:fillRect l="-122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/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exists a single gap string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’,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2484F-EEA5-42D6-9D34-E73425039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3" y="2908100"/>
                <a:ext cx="7351243" cy="1289071"/>
              </a:xfrm>
              <a:prstGeom prst="rect">
                <a:avLst/>
              </a:prstGeom>
              <a:blipFill>
                <a:blip r:embed="rId8"/>
                <a:stretch>
                  <a:fillRect l="-581" b="-5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弧形 1">
            <a:extLst>
              <a:ext uri="{FF2B5EF4-FFF2-40B4-BE49-F238E27FC236}">
                <a16:creationId xmlns:a16="http://schemas.microsoft.com/office/drawing/2014/main" id="{C110C419-D641-477F-B370-67A4D6B4562F}"/>
              </a:ext>
            </a:extLst>
          </p:cNvPr>
          <p:cNvSpPr/>
          <p:nvPr/>
        </p:nvSpPr>
        <p:spPr>
          <a:xfrm rot="18702020" flipH="1">
            <a:off x="342574" y="985254"/>
            <a:ext cx="3756629" cy="4316547"/>
          </a:xfrm>
          <a:prstGeom prst="arc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582276"/>
                  </p:ext>
                </p:extLst>
              </p:nvPr>
            </p:nvGraphicFramePr>
            <p:xfrm>
              <a:off x="842360" y="4657091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34599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582276"/>
                  </p:ext>
                </p:extLst>
              </p:nvPr>
            </p:nvGraphicFramePr>
            <p:xfrm>
              <a:off x="842360" y="4657091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34599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847" t="-6452" r="-6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932840"/>
                  </p:ext>
                </p:extLst>
              </p:nvPr>
            </p:nvGraphicFramePr>
            <p:xfrm>
              <a:off x="842360" y="5162980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421625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932840"/>
                  </p:ext>
                </p:extLst>
              </p:nvPr>
            </p:nvGraphicFramePr>
            <p:xfrm>
              <a:off x="842360" y="5162980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421625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847" t="-6452" r="-6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79B1537B-9F92-4659-B960-82A8A10FC327}"/>
              </a:ext>
            </a:extLst>
          </p:cNvPr>
          <p:cNvSpPr/>
          <p:nvPr/>
        </p:nvSpPr>
        <p:spPr>
          <a:xfrm>
            <a:off x="794735" y="3792345"/>
            <a:ext cx="6960150" cy="370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9EE40C4-A097-4CB3-9359-4536D946DD2F}"/>
                  </a:ext>
                </a:extLst>
              </p:cNvPr>
              <p:cNvSpPr/>
              <p:nvPr/>
            </p:nvSpPr>
            <p:spPr>
              <a:xfrm>
                <a:off x="6705229" y="4889682"/>
                <a:ext cx="151638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en-US" altLang="zh-TW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zh-TW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</a:rPr>
                  <a:t>=2</a:t>
                </a:r>
                <a:endPara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9EE40C4-A097-4CB3-9359-4536D946D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229" y="4889682"/>
                <a:ext cx="1516381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4345082E-2B6A-44A7-BCD9-4FCC647A6545}"/>
              </a:ext>
            </a:extLst>
          </p:cNvPr>
          <p:cNvSpPr/>
          <p:nvPr/>
        </p:nvSpPr>
        <p:spPr>
          <a:xfrm>
            <a:off x="794735" y="2973471"/>
            <a:ext cx="6960150" cy="370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749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method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3554666"/>
                  </p:ext>
                </p:extLst>
              </p:nvPr>
            </p:nvGraphicFramePr>
            <p:xfrm>
              <a:off x="842360" y="4382480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34599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3BE0D36-F032-4B58-A67F-4B68B38A71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3554666"/>
                  </p:ext>
                </p:extLst>
              </p:nvPr>
            </p:nvGraphicFramePr>
            <p:xfrm>
              <a:off x="842360" y="4382480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34599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6452" r="-6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215425"/>
                  </p:ext>
                </p:extLst>
              </p:nvPr>
            </p:nvGraphicFramePr>
            <p:xfrm>
              <a:off x="842360" y="4888369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421625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7897E3B6-7EA8-46ED-A2B6-61119C7A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215425"/>
                  </p:ext>
                </p:extLst>
              </p:nvPr>
            </p:nvGraphicFramePr>
            <p:xfrm>
              <a:off x="842360" y="4888369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421625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6452" r="-6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E8D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805278D-53EF-4F8C-98E8-B711088FFF04}"/>
                  </a:ext>
                </a:extLst>
              </p:cNvPr>
              <p:cNvSpPr/>
              <p:nvPr/>
            </p:nvSpPr>
            <p:spPr>
              <a:xfrm>
                <a:off x="4352573" y="1682194"/>
                <a:ext cx="904478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805278D-53EF-4F8C-98E8-B711088FF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573" y="1682194"/>
                <a:ext cx="904478" cy="5078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C0C1FDC-D855-4FBB-8832-13344D912163}"/>
                  </a:ext>
                </a:extLst>
              </p:cNvPr>
              <p:cNvSpPr/>
              <p:nvPr/>
            </p:nvSpPr>
            <p:spPr>
              <a:xfrm>
                <a:off x="628497" y="2456930"/>
                <a:ext cx="6317562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+1..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1..</m:t>
                          </m:r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[1..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]))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C0C1FDC-D855-4FBB-8832-13344D912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7" y="2456930"/>
                <a:ext cx="6317562" cy="5078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43BB0D26-66C4-4C7C-82A6-AB18095469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3837956"/>
                  </p:ext>
                </p:extLst>
              </p:nvPr>
            </p:nvGraphicFramePr>
            <p:xfrm>
              <a:off x="842360" y="3235256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34599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43BB0D26-66C4-4C7C-82A6-AB18095469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3837956"/>
                  </p:ext>
                </p:extLst>
              </p:nvPr>
            </p:nvGraphicFramePr>
            <p:xfrm>
              <a:off x="842360" y="3235256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334599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7" t="-6452" r="-6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869968CF-FA8F-4D2E-98BB-4FDCCE1D14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873375"/>
                  </p:ext>
                </p:extLst>
              </p:nvPr>
            </p:nvGraphicFramePr>
            <p:xfrm>
              <a:off x="842360" y="3741145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421625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′: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869968CF-FA8F-4D2E-98BB-4FDCCE1D14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873375"/>
                  </p:ext>
                </p:extLst>
              </p:nvPr>
            </p:nvGraphicFramePr>
            <p:xfrm>
              <a:off x="842360" y="3741145"/>
              <a:ext cx="5040000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0421625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47" t="-6452" r="-60339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67B3308-F24D-471B-9278-539C027077BC}"/>
                  </a:ext>
                </a:extLst>
              </p:cNvPr>
              <p:cNvSpPr/>
              <p:nvPr/>
            </p:nvSpPr>
            <p:spPr>
              <a:xfrm>
                <a:off x="713774" y="1700958"/>
                <a:ext cx="36254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b="0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4</m:t>
                        </m:r>
                      </m:e>
                    </m:d>
                  </m:oMath>
                </a14:m>
                <a:r>
                  <a:rPr lang="zh-TW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example:</a:t>
                </a:r>
                <a:endParaRPr lang="zh-TW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67B3308-F24D-471B-9278-539C02707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74" y="1700958"/>
                <a:ext cx="3625416" cy="461665"/>
              </a:xfrm>
              <a:prstGeom prst="rect">
                <a:avLst/>
              </a:prstGeom>
              <a:blipFill>
                <a:blip r:embed="rId9"/>
                <a:stretch>
                  <a:fillRect l="-2521" t="-10526" r="-84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20F9A97-D491-4BD5-900D-8C9A6CD4DE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4334320"/>
                  </p:ext>
                </p:extLst>
              </p:nvPr>
            </p:nvGraphicFramePr>
            <p:xfrm>
              <a:off x="4339190" y="818389"/>
              <a:ext cx="2592000" cy="47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47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20F9A97-D491-4BD5-900D-8C9A6CD4DE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4334320"/>
                  </p:ext>
                </p:extLst>
              </p:nvPr>
            </p:nvGraphicFramePr>
            <p:xfrm>
              <a:off x="4339190" y="818389"/>
              <a:ext cx="2592000" cy="47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</a:tblGrid>
                  <a:tr h="4788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7595" r="-501408" b="-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表格 25">
                <a:extLst>
                  <a:ext uri="{FF2B5EF4-FFF2-40B4-BE49-F238E27FC236}">
                    <a16:creationId xmlns:a16="http://schemas.microsoft.com/office/drawing/2014/main" id="{0FA31104-7B62-4396-95D0-25D186FF9D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106218"/>
                  </p:ext>
                </p:extLst>
              </p:nvPr>
            </p:nvGraphicFramePr>
            <p:xfrm>
              <a:off x="4339190" y="305355"/>
              <a:ext cx="3456000" cy="4791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4791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表格 25">
                <a:extLst>
                  <a:ext uri="{FF2B5EF4-FFF2-40B4-BE49-F238E27FC236}">
                    <a16:creationId xmlns:a16="http://schemas.microsoft.com/office/drawing/2014/main" id="{0FA31104-7B62-4396-95D0-25D186FF9D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106218"/>
                  </p:ext>
                </p:extLst>
              </p:nvPr>
            </p:nvGraphicFramePr>
            <p:xfrm>
              <a:off x="4339190" y="305355"/>
              <a:ext cx="3456000" cy="4791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16746491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61061350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72247233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8453442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14820485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7259696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8437086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505264335"/>
                        </a:ext>
                      </a:extLst>
                    </a:gridCol>
                  </a:tblGrid>
                  <a:tr h="4791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t="-7595" r="-700000" b="-26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205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7140785F-ED8A-4CF0-BC9F-36241B1A9ADD}"/>
              </a:ext>
            </a:extLst>
          </p:cNvPr>
          <p:cNvSpPr/>
          <p:nvPr/>
        </p:nvSpPr>
        <p:spPr>
          <a:xfrm>
            <a:off x="4778477" y="341767"/>
            <a:ext cx="2556388" cy="4427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1F79B5-D102-44CE-BC02-E7EC19CC6027}"/>
              </a:ext>
            </a:extLst>
          </p:cNvPr>
          <p:cNvSpPr/>
          <p:nvPr/>
        </p:nvSpPr>
        <p:spPr>
          <a:xfrm>
            <a:off x="4778477" y="833648"/>
            <a:ext cx="1679473" cy="4427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3F525554-3382-47B7-A908-16D67A3ED416}"/>
                  </a:ext>
                </a:extLst>
              </p:cNvPr>
              <p:cNvSpPr/>
              <p:nvPr/>
            </p:nvSpPr>
            <p:spPr>
              <a:xfrm>
                <a:off x="6224300" y="4640250"/>
                <a:ext cx="151638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en-US" altLang="zh-TW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TW" altLang="en-US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=</a:t>
                </a:r>
                <a:r>
                  <a:rPr lang="zh-TW" altLang="en-US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3F525554-3382-47B7-A908-16D67A3ED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300" y="4640250"/>
                <a:ext cx="1516381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4CD9AB2-64E1-43AE-B60C-CA6675B480D3}"/>
                  </a:ext>
                </a:extLst>
              </p:cNvPr>
              <p:cNvSpPr/>
              <p:nvPr/>
            </p:nvSpPr>
            <p:spPr>
              <a:xfrm>
                <a:off x="6224300" y="3517595"/>
                <a:ext cx="151638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en-US" altLang="zh-TW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TW" altLang="en-US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</a:rPr>
                  <a:t>=</a:t>
                </a:r>
                <a:r>
                  <a:rPr lang="zh-TW" altLang="en-US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4CD9AB2-64E1-43AE-B60C-CA6675B48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300" y="3517595"/>
                <a:ext cx="1516381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9811EB6-69FC-4A2E-8D31-377EA8BED12E}"/>
                  </a:ext>
                </a:extLst>
              </p:cNvPr>
              <p:cNvSpPr/>
              <p:nvPr/>
            </p:nvSpPr>
            <p:spPr>
              <a:xfrm>
                <a:off x="842360" y="5639501"/>
                <a:ext cx="36387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= min(3, 1) = 1</a:t>
                </a: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9811EB6-69FC-4A2E-8D31-377EA8BED1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60" y="5639501"/>
                <a:ext cx="3638799" cy="400110"/>
              </a:xfrm>
              <a:prstGeom prst="rect">
                <a:avLst/>
              </a:prstGeom>
              <a:blipFill>
                <a:blip r:embed="rId1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31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DD4D890-1D9E-4E20-B30D-268DADF9DD6C}"/>
                  </a:ext>
                </a:extLst>
              </p:cNvPr>
              <p:cNvSpPr/>
              <p:nvPr/>
            </p:nvSpPr>
            <p:spPr>
              <a:xfrm>
                <a:off x="1453472" y="5912484"/>
                <a:ext cx="589982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        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DD4D890-1D9E-4E20-B30D-268DADF9D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472" y="5912484"/>
                <a:ext cx="5899827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09B3891-D5B3-46B9-B6C2-7B72734BD4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096622"/>
                  </p:ext>
                </p:extLst>
              </p:nvPr>
            </p:nvGraphicFramePr>
            <p:xfrm>
              <a:off x="2052000" y="2472390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09B3891-D5B3-46B9-B6C2-7B72734BD4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096622"/>
                  </p:ext>
                </p:extLst>
              </p:nvPr>
            </p:nvGraphicFramePr>
            <p:xfrm>
              <a:off x="2052000" y="2472390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8197" r="-603390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8197" r="-498319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108197" r="-603390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7BCE1B65-6E2C-4E27-AC3C-66941DF9B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69007"/>
                  </p:ext>
                </p:extLst>
              </p:nvPr>
            </p:nvGraphicFramePr>
            <p:xfrm>
              <a:off x="2052000" y="247238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7BCE1B65-6E2C-4E27-AC3C-66941DF9B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69007"/>
                  </p:ext>
                </p:extLst>
              </p:nvPr>
            </p:nvGraphicFramePr>
            <p:xfrm>
              <a:off x="2052000" y="247238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197" r="-603390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8197" r="-498319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108197" r="-603390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8C20BDF-0CA9-43E8-90A8-100499312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22245"/>
              </p:ext>
            </p:extLst>
          </p:nvPr>
        </p:nvGraphicFramePr>
        <p:xfrm>
          <a:off x="2772000" y="2167589"/>
          <a:ext cx="4320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0644493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4380039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3955632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931794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9658885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2904498"/>
                    </a:ext>
                  </a:extLst>
                </a:gridCol>
              </a:tblGrid>
              <a:tr h="229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15246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B8674E3-9BAE-4D3C-B22D-478A52EF1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847320"/>
              </p:ext>
            </p:extLst>
          </p:nvPr>
        </p:nvGraphicFramePr>
        <p:xfrm>
          <a:off x="1715784" y="2843230"/>
          <a:ext cx="336216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216">
                  <a:extLst>
                    <a:ext uri="{9D8B030D-6E8A-4147-A177-3AD203B41FA5}">
                      <a16:colId xmlns:a16="http://schemas.microsoft.com/office/drawing/2014/main" val="3276210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1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10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7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73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13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72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73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5391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C95ACBA3-54BA-4BF2-90B9-56E60AE2D0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080368"/>
                  </p:ext>
                </p:extLst>
              </p:nvPr>
            </p:nvGraphicFramePr>
            <p:xfrm>
              <a:off x="2052000" y="247238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C95ACBA3-54BA-4BF2-90B9-56E60AE2D0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080368"/>
                  </p:ext>
                </p:extLst>
              </p:nvPr>
            </p:nvGraphicFramePr>
            <p:xfrm>
              <a:off x="2052000" y="247238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47" t="-8197" r="-603390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8197" r="-498319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47" t="-108197" r="-603390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94FC389-CF3B-40F6-92A8-89BEF53B24C7}"/>
                  </a:ext>
                </a:extLst>
              </p:cNvPr>
              <p:cNvSpPr/>
              <p:nvPr/>
            </p:nvSpPr>
            <p:spPr>
              <a:xfrm>
                <a:off x="1453473" y="5911932"/>
                <a:ext cx="612108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TW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func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94FC389-CF3B-40F6-92A8-89BEF53B2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473" y="5911932"/>
                <a:ext cx="6121084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D54ACE4D-FD59-4BB2-B7CD-2D3CD71C59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80823"/>
                  </p:ext>
                </p:extLst>
              </p:nvPr>
            </p:nvGraphicFramePr>
            <p:xfrm>
              <a:off x="2052000" y="247238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>
                <a:extLst>
                  <a:ext uri="{FF2B5EF4-FFF2-40B4-BE49-F238E27FC236}">
                    <a16:creationId xmlns:a16="http://schemas.microsoft.com/office/drawing/2014/main" id="{D54ACE4D-FD59-4BB2-B7CD-2D3CD71C59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80823"/>
                  </p:ext>
                </p:extLst>
              </p:nvPr>
            </p:nvGraphicFramePr>
            <p:xfrm>
              <a:off x="2052000" y="247238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7" t="-8197" r="-603390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8197" r="-498319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47" t="-108197" r="-603390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matrix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0A61D81-780E-4525-A3B2-10FA756F6B74}"/>
                  </a:ext>
                </a:extLst>
              </p:cNvPr>
              <p:cNvSpPr/>
              <p:nvPr/>
            </p:nvSpPr>
            <p:spPr>
              <a:xfrm>
                <a:off x="1453472" y="5912208"/>
                <a:ext cx="597602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b="0" i="0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TW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func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0A61D81-780E-4525-A3B2-10FA756F6B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472" y="5912208"/>
                <a:ext cx="597602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51FFCC-757A-4E43-BADE-BFDEC40CFB25}"/>
                  </a:ext>
                </a:extLst>
              </p:cNvPr>
              <p:cNvSpPr/>
              <p:nvPr/>
            </p:nvSpPr>
            <p:spPr>
              <a:xfrm>
                <a:off x="734602" y="934994"/>
                <a:ext cx="8152544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</a:rPr>
                  <a:t>the minimum number of mismatches of the text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[1 . . 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</a:rPr>
                  <a:t>, and the pattern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[1 . . 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</a:rPr>
                  <a:t>, with at most one gap</a:t>
                </a:r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51FFCC-757A-4E43-BADE-BFDEC40CF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02" y="934994"/>
                <a:ext cx="8152544" cy="954107"/>
              </a:xfrm>
              <a:prstGeom prst="rect">
                <a:avLst/>
              </a:prstGeom>
              <a:blipFill>
                <a:blip r:embed="rId9"/>
                <a:stretch>
                  <a:fillRect l="-1571" t="-6369" r="-3665" b="-16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5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09B3891-D5B3-46B9-B6C2-7B72734BD4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0507480"/>
                  </p:ext>
                </p:extLst>
              </p:nvPr>
            </p:nvGraphicFramePr>
            <p:xfrm>
              <a:off x="1908486" y="293305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09B3891-D5B3-46B9-B6C2-7B72734BD4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0507480"/>
                  </p:ext>
                </p:extLst>
              </p:nvPr>
            </p:nvGraphicFramePr>
            <p:xfrm>
              <a:off x="1908486" y="2933059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8197" r="-60254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47" t="-8197" r="-50254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7" t="-108197" r="-60254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7BCE1B65-6E2C-4E27-AC3C-66941DF9B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8733450"/>
                  </p:ext>
                </p:extLst>
              </p:nvPr>
            </p:nvGraphicFramePr>
            <p:xfrm>
              <a:off x="1908486" y="2933058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7BCE1B65-6E2C-4E27-AC3C-66941DF9B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8733450"/>
                  </p:ext>
                </p:extLst>
              </p:nvPr>
            </p:nvGraphicFramePr>
            <p:xfrm>
              <a:off x="1908486" y="2933058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197" r="-60254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847" t="-8197" r="-50254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108197" r="-60254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8C20BDF-0CA9-43E8-90A8-100499312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527510"/>
              </p:ext>
            </p:extLst>
          </p:nvPr>
        </p:nvGraphicFramePr>
        <p:xfrm>
          <a:off x="2628486" y="2628258"/>
          <a:ext cx="43200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0644493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4380039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3955632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931794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9658885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2904498"/>
                    </a:ext>
                  </a:extLst>
                </a:gridCol>
              </a:tblGrid>
              <a:tr h="229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15246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B8674E3-9BAE-4D3C-B22D-478A52EF1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27103"/>
              </p:ext>
            </p:extLst>
          </p:nvPr>
        </p:nvGraphicFramePr>
        <p:xfrm>
          <a:off x="1572270" y="3303899"/>
          <a:ext cx="336216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216">
                  <a:extLst>
                    <a:ext uri="{9D8B030D-6E8A-4147-A177-3AD203B41FA5}">
                      <a16:colId xmlns:a16="http://schemas.microsoft.com/office/drawing/2014/main" val="3276210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1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10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7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73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13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72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73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539142"/>
                  </a:ext>
                </a:extLst>
              </a:tr>
            </a:tbl>
          </a:graphicData>
        </a:graphic>
      </p:graphicFrame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matrix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51FFCC-757A-4E43-BADE-BFDEC40CFB25}"/>
              </a:ext>
            </a:extLst>
          </p:cNvPr>
          <p:cNvSpPr/>
          <p:nvPr/>
        </p:nvSpPr>
        <p:spPr>
          <a:xfrm>
            <a:off x="734602" y="934994"/>
            <a:ext cx="81525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</a:rPr>
              <a:t>the location of the gap</a:t>
            </a:r>
            <a:endParaRPr lang="zh-TW" altLang="en-US" sz="28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0E1108-4FB4-448F-8867-889DE8FFA74A}"/>
                  </a:ext>
                </a:extLst>
              </p:cNvPr>
              <p:cNvSpPr/>
              <p:nvPr/>
            </p:nvSpPr>
            <p:spPr>
              <a:xfrm>
                <a:off x="734602" y="1458214"/>
                <a:ext cx="6105832" cy="1117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 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𝑎𝑛𝑑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 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𝑎𝑛𝑑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0,                 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0E1108-4FB4-448F-8867-889DE8FFA7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02" y="1458214"/>
                <a:ext cx="6105832" cy="1117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29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GAP-MISMATCHES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2867661-3AD2-4694-83E0-23B657386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28" y="1048172"/>
            <a:ext cx="4475544" cy="545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Speeding up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78C7AB9-B68D-4F47-A649-FE39B6E4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18" y="1671486"/>
            <a:ext cx="6925763" cy="38310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BDC88A-A85E-4B6C-A6C5-D8E4BDB5FA73}"/>
                  </a:ext>
                </a:extLst>
              </p:cNvPr>
              <p:cNvSpPr/>
              <p:nvPr/>
            </p:nvSpPr>
            <p:spPr>
              <a:xfrm>
                <a:off x="3813808" y="5560109"/>
                <a:ext cx="151638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+1 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𝑤𝑖𝑑𝑡h</m:t>
                      </m:r>
                    </m:oMath>
                  </m:oMathPara>
                </a14:m>
                <a:endPara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BDC88A-A85E-4B6C-A6C5-D8E4BDB5FA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08" y="5560109"/>
                <a:ext cx="1516381" cy="369332"/>
              </a:xfrm>
              <a:prstGeom prst="rect">
                <a:avLst/>
              </a:prstGeom>
              <a:blipFill>
                <a:blip r:embed="rId3"/>
                <a:stretch>
                  <a:fillRect l="-806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878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GAP-MISMATCHES algorithm 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A45596C-48FD-48EE-96A7-B542DCFCFC24}"/>
                  </a:ext>
                </a:extLst>
              </p:cNvPr>
              <p:cNvSpPr/>
              <p:nvPr/>
            </p:nvSpPr>
            <p:spPr>
              <a:xfrm>
                <a:off x="491488" y="2349734"/>
                <a:ext cx="8241546" cy="1459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i="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𝐻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</m:e>
                              </m:func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𝐻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</m:e>
                              </m:func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A45596C-48FD-48EE-96A7-B542DCFCF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8" y="2349734"/>
                <a:ext cx="8241546" cy="1459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F86EE0B-7C3E-494C-A581-293764707730}"/>
                  </a:ext>
                </a:extLst>
              </p:cNvPr>
              <p:cNvSpPr/>
              <p:nvPr/>
            </p:nvSpPr>
            <p:spPr>
              <a:xfrm>
                <a:off x="491488" y="4364427"/>
                <a:ext cx="824154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 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𝑓𝑜𝑟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0≤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0≤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F86EE0B-7C3E-494C-A581-293764707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8" y="4364427"/>
                <a:ext cx="8241546" cy="461665"/>
              </a:xfrm>
              <a:prstGeom prst="rect">
                <a:avLst/>
              </a:prstGeom>
              <a:blipFill>
                <a:blip r:embed="rId3"/>
                <a:stretch>
                  <a:fillRect l="-222"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372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534B96D8-D52E-4C9B-B078-AAD45437D8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288169"/>
                  </p:ext>
                </p:extLst>
              </p:nvPr>
            </p:nvGraphicFramePr>
            <p:xfrm>
              <a:off x="0" y="0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534B96D8-D52E-4C9B-B078-AAD45437D8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288169"/>
                  </p:ext>
                </p:extLst>
              </p:nvPr>
            </p:nvGraphicFramePr>
            <p:xfrm>
              <a:off x="0" y="0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95" t="-8197" r="-60254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695" t="-8197" r="-50254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95" t="-108197" r="-60254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CE90FFA-DECE-49F2-8076-0C82DF00A5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368045"/>
                  </p:ext>
                </p:extLst>
              </p:nvPr>
            </p:nvGraphicFramePr>
            <p:xfrm>
              <a:off x="4104000" y="3520440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CE90FFA-DECE-49F2-8076-0C82DF00A5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368045"/>
                  </p:ext>
                </p:extLst>
              </p:nvPr>
            </p:nvGraphicFramePr>
            <p:xfrm>
              <a:off x="4104000" y="3520440"/>
              <a:ext cx="5040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7621075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96880654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4380039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39556327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39317942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96588854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82904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8197" r="-603390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847" t="-8197" r="-503390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415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7" t="-108197" r="-603390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163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325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2839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22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11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20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2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234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032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62010</TotalTime>
  <Words>1238</Words>
  <Application>Microsoft Office PowerPoint</Application>
  <PresentationFormat>如螢幕大小 (4:3)</PresentationFormat>
  <Paragraphs>696</Paragraphs>
  <Slides>17</Slides>
  <Notes>13</Notes>
  <HiddenSlides>2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Approximate string-matching with a single gap for sequence alignment </vt:lpstr>
      <vt:lpstr>PowerPoint 簡報</vt:lpstr>
      <vt:lpstr>Abstract (1/2) </vt:lpstr>
      <vt:lpstr>Abstract (2/2)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731</cp:revision>
  <dcterms:created xsi:type="dcterms:W3CDTF">2017-09-25T08:45:50Z</dcterms:created>
  <dcterms:modified xsi:type="dcterms:W3CDTF">2018-12-04T10:09:34Z</dcterms:modified>
</cp:coreProperties>
</file>