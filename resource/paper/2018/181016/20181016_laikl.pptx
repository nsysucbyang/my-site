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6" r:id="rId6"/>
    <p:sldId id="268" r:id="rId7"/>
    <p:sldId id="259" r:id="rId8"/>
    <p:sldId id="272" r:id="rId9"/>
    <p:sldId id="270" r:id="rId10"/>
    <p:sldId id="269" r:id="rId11"/>
    <p:sldId id="260" r:id="rId12"/>
    <p:sldId id="273" r:id="rId13"/>
    <p:sldId id="276" r:id="rId14"/>
    <p:sldId id="274" r:id="rId15"/>
    <p:sldId id="275" r:id="rId16"/>
    <p:sldId id="261" r:id="rId17"/>
    <p:sldId id="262"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冠霖" initials="冠霖" lastIdx="0" clrIdx="0">
    <p:extLst>
      <p:ext uri="{19B8F6BF-5375-455C-9EA6-DF929625EA0E}">
        <p15:presenceInfo xmlns:p15="http://schemas.microsoft.com/office/powerpoint/2012/main" userId="冠霖"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12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F8935-0C03-4E7C-A163-9DC063B0227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4652211-ADB6-4309-8D15-1B7280F4F3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81533A15-100B-47A7-9F59-7221BD83EED8}"/>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36A834BC-EB24-43D5-B134-14FCAA2C859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716909E-C278-4683-B45E-476FA074FC9F}"/>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4743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56920C-70D6-4AE3-9B9F-31B4FE277B0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21A3863-879A-436F-BF69-C4A9D775856B}"/>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6732D91-0D05-4944-9734-49977E414914}"/>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B45183F2-44FB-4509-92BB-0858B0C9E1E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A6E12E-BF9A-4FA6-8A38-400280B89F26}"/>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4010232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0718FD-AB5C-4F31-A14F-76A50889DD7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42096FF8-BA29-4F01-8B0E-1AA4D92E30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3E739335-D6C7-499E-AAC1-F5F7B7580120}"/>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37C3D603-CB1E-4D99-B1D7-0310EAD89F5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74CDB90-9072-45A6-8AA1-E46143BBC6B5}"/>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3681587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F509FD-332B-4030-BBB0-EF430782879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0E5CCE0-5AAB-4E0F-9D97-B5EEECB50DE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EE39B06-07B7-4797-8326-CC35DC488F9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55B7F60-F803-4BD3-93CC-4145E9080736}"/>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6" name="頁尾版面配置區 5">
            <a:extLst>
              <a:ext uri="{FF2B5EF4-FFF2-40B4-BE49-F238E27FC236}">
                <a16:creationId xmlns:a16="http://schemas.microsoft.com/office/drawing/2014/main" id="{1A1475A9-3179-48CB-AE83-8348C5DD07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446D75-70E5-4690-A3EC-68A120C56F42}"/>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1286737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B18BE3-3D64-4C19-8BF7-4611642B69B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18C10F-A4FA-457D-B0ED-DDE133F5F9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4F56BDD-2460-446D-8AA5-CFBF7603D416}"/>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D1D6AAE-2712-4642-A14B-95F24FB259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65315F1-730E-4BC8-B3DB-74B3AEFE4EC2}"/>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7232B22-C4E0-45AA-821E-5066B83E6C85}"/>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8" name="頁尾版面配置區 7">
            <a:extLst>
              <a:ext uri="{FF2B5EF4-FFF2-40B4-BE49-F238E27FC236}">
                <a16:creationId xmlns:a16="http://schemas.microsoft.com/office/drawing/2014/main" id="{EA2B7EFC-5BDD-4C34-8DF0-878F4D2F5E4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8A03180-6D31-48AE-94F8-E553A762B241}"/>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2768536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8311CC-C7A6-4DF4-9472-B045D30F821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65105AD8-EC99-483B-8B4B-D183961E6915}"/>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4" name="頁尾版面配置區 3">
            <a:extLst>
              <a:ext uri="{FF2B5EF4-FFF2-40B4-BE49-F238E27FC236}">
                <a16:creationId xmlns:a16="http://schemas.microsoft.com/office/drawing/2014/main" id="{F3F990B2-3A1E-42C7-B17E-94C3569133D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C7B1B9-33CF-4E14-9B9D-AEB27358A225}"/>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3787261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98C1AC1-74A0-43C6-8676-00A4C00F6736}"/>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3" name="頁尾版面配置區 2">
            <a:extLst>
              <a:ext uri="{FF2B5EF4-FFF2-40B4-BE49-F238E27FC236}">
                <a16:creationId xmlns:a16="http://schemas.microsoft.com/office/drawing/2014/main" id="{B5953C05-10FC-4307-9D7F-79A59AFE51E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655A114-DAB2-4C16-8430-06A839BE4D7C}"/>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2466919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81FE69-1A0A-4E2B-8329-16B42F23416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DB20651-DC44-44A1-A9EE-A63E46E107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03144B-797E-4585-811F-7E1A62F02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300DBF1-CE61-497C-AAB5-634564990B0B}"/>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6" name="頁尾版面配置區 5">
            <a:extLst>
              <a:ext uri="{FF2B5EF4-FFF2-40B4-BE49-F238E27FC236}">
                <a16:creationId xmlns:a16="http://schemas.microsoft.com/office/drawing/2014/main" id="{42906ADD-B087-4514-85F0-685E7A5FFDA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539B78A-B1B6-4CC4-81AD-7D22D9EDCA46}"/>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2506700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C6F295-0DF8-43AA-9896-26BDAEDB222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5487EE7-DA19-4809-9E7B-047E272E18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7C53EB-00BC-4AF4-901F-E323ADD83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D22CA49-153A-4B65-A613-B6CDFCFF3C04}"/>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6" name="頁尾版面配置區 5">
            <a:extLst>
              <a:ext uri="{FF2B5EF4-FFF2-40B4-BE49-F238E27FC236}">
                <a16:creationId xmlns:a16="http://schemas.microsoft.com/office/drawing/2014/main" id="{EC7A55EA-817D-40F5-BE1A-A1D144B738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B22A4F1-F7DD-4E30-A6E9-02F1D292165F}"/>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798422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4919B-B710-43B5-B015-986E5DD7D92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BD104CD-7AEF-489C-ADBC-EEAA978A7EE1}"/>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DBB1B6-4189-441C-92B2-31C992C9474D}"/>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96BD7FE8-2155-4B4A-825A-E42916B5B0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22D3D18-9B06-4019-A7AC-ABC48F072CFA}"/>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3609219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6BDF780-BDAF-4FF0-9F39-A977E863732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C7F08F9-757E-4E0D-8834-27082D9812F0}"/>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40354E4-9CB6-4DC5-B901-F8ED52D61E67}"/>
              </a:ext>
            </a:extLst>
          </p:cNvPr>
          <p:cNvSpPr>
            <a:spLocks noGrp="1"/>
          </p:cNvSpPr>
          <p:nvPr>
            <p:ph type="dt" sz="half" idx="10"/>
          </p:nvPr>
        </p:nvSpPr>
        <p:spPr/>
        <p:txBody>
          <a:body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10672568-6C7C-47E0-BBB9-68DE3432FDF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8691047-ECC2-4E84-B1F5-D32FE80627D1}"/>
              </a:ext>
            </a:extLst>
          </p:cNvPr>
          <p:cNvSpPr>
            <a:spLocks noGrp="1"/>
          </p:cNvSpPr>
          <p:nvPr>
            <p:ph type="sldNum" sz="quarter" idx="12"/>
          </p:nvPr>
        </p:nvSpPr>
        <p:spPr/>
        <p:txBody>
          <a:body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451616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08E3FD4-C164-43A1-B9B0-F0029DB615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E847FC2-1087-4C93-9513-6A4AC00CFD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4734638-E50F-4646-A519-788CAE59C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513449-E33A-4C92-B472-523CAC46775B}" type="datetimeFigureOut">
              <a:rPr lang="zh-TW" altLang="en-US" smtClean="0"/>
              <a:t>2018/10/16</a:t>
            </a:fld>
            <a:endParaRPr lang="zh-TW" altLang="en-US"/>
          </a:p>
        </p:txBody>
      </p:sp>
      <p:sp>
        <p:nvSpPr>
          <p:cNvPr id="5" name="頁尾版面配置區 4">
            <a:extLst>
              <a:ext uri="{FF2B5EF4-FFF2-40B4-BE49-F238E27FC236}">
                <a16:creationId xmlns:a16="http://schemas.microsoft.com/office/drawing/2014/main" id="{309AB9C7-5A6B-4B6D-A83E-C89370DEBD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6FCBE4C0-2675-4457-B005-351171CA69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B545E3-081C-4689-A5EA-B4C3A046EE12}" type="slidenum">
              <a:rPr lang="zh-TW" altLang="en-US" smtClean="0"/>
              <a:t>‹#›</a:t>
            </a:fld>
            <a:endParaRPr lang="zh-TW" altLang="en-US"/>
          </a:p>
        </p:txBody>
      </p:sp>
    </p:spTree>
    <p:extLst>
      <p:ext uri="{BB962C8B-B14F-4D97-AF65-F5344CB8AC3E}">
        <p14:creationId xmlns:p14="http://schemas.microsoft.com/office/powerpoint/2010/main" val="575964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6AAD9D-5463-41D9-AF4B-739A39397F91}"/>
              </a:ext>
            </a:extLst>
          </p:cNvPr>
          <p:cNvSpPr>
            <a:spLocks noGrp="1"/>
          </p:cNvSpPr>
          <p:nvPr>
            <p:ph type="ctrTitle"/>
          </p:nvPr>
        </p:nvSpPr>
        <p:spPr>
          <a:xfrm>
            <a:off x="1524000" y="895524"/>
            <a:ext cx="9144000" cy="1909763"/>
          </a:xfrm>
        </p:spPr>
        <p:txBody>
          <a:bodyPr>
            <a:noAutofit/>
          </a:bodyPr>
          <a:lstStyle/>
          <a:p>
            <a:r>
              <a:rPr lang="en-US" altLang="zh-TW" sz="4400" b="1" dirty="0"/>
              <a:t>A Fast Algorithm for Approximate String Matching on Gene Sequences</a:t>
            </a:r>
          </a:p>
        </p:txBody>
      </p:sp>
      <p:sp>
        <p:nvSpPr>
          <p:cNvPr id="3" name="副標題 2">
            <a:extLst>
              <a:ext uri="{FF2B5EF4-FFF2-40B4-BE49-F238E27FC236}">
                <a16:creationId xmlns:a16="http://schemas.microsoft.com/office/drawing/2014/main" id="{241E922A-F3E7-4C89-AB72-1E21677A4881}"/>
              </a:ext>
            </a:extLst>
          </p:cNvPr>
          <p:cNvSpPr>
            <a:spLocks noGrp="1"/>
          </p:cNvSpPr>
          <p:nvPr>
            <p:ph type="subTitle" idx="1"/>
          </p:nvPr>
        </p:nvSpPr>
        <p:spPr>
          <a:xfrm>
            <a:off x="1082179" y="3506598"/>
            <a:ext cx="10461071" cy="2833084"/>
          </a:xfrm>
        </p:spPr>
        <p:txBody>
          <a:bodyPr>
            <a:normAutofit fontScale="85000" lnSpcReduction="20000"/>
          </a:bodyPr>
          <a:lstStyle/>
          <a:p>
            <a:r>
              <a:rPr lang="en-US" altLang="zh-TW" sz="2800" dirty="0"/>
              <a:t>Zheng Liu, </a:t>
            </a:r>
            <a:r>
              <a:rPr lang="zh-TW" altLang="en-US" sz="2800" dirty="0"/>
              <a:t> </a:t>
            </a:r>
            <a:r>
              <a:rPr lang="en-US" altLang="zh-TW" sz="2800" dirty="0"/>
              <a:t>Xin Chen, James </a:t>
            </a:r>
            <a:r>
              <a:rPr lang="en-US" altLang="zh-TW" sz="2800" dirty="0" err="1"/>
              <a:t>Borneman</a:t>
            </a:r>
            <a:r>
              <a:rPr lang="en-US" altLang="zh-TW" sz="2800" dirty="0"/>
              <a:t>, and Tao Jiang(</a:t>
            </a:r>
            <a:r>
              <a:rPr lang="zh-TW" altLang="en-US" sz="2800" dirty="0"/>
              <a:t>姜濤</a:t>
            </a:r>
            <a:r>
              <a:rPr lang="en-US" altLang="zh-TW" sz="2800" dirty="0"/>
              <a:t>)</a:t>
            </a:r>
            <a:br>
              <a:rPr lang="en-US" altLang="zh-TW" sz="2800" dirty="0"/>
            </a:br>
            <a:br>
              <a:rPr lang="en-US" altLang="zh-TW" sz="2800" dirty="0"/>
            </a:br>
            <a:br>
              <a:rPr lang="en-US" altLang="zh-TW" sz="2800" dirty="0"/>
            </a:br>
            <a:r>
              <a:rPr lang="en-US" altLang="zh-TW" sz="2800" dirty="0"/>
              <a:t>Proceedings of 16th Annual Symposium on Combinatorial Pattern Matching(CPM)</a:t>
            </a:r>
          </a:p>
          <a:p>
            <a:r>
              <a:rPr lang="en-US" altLang="zh-TW" sz="2800" dirty="0"/>
              <a:t>June 19-22, 2005, </a:t>
            </a:r>
            <a:r>
              <a:rPr lang="en-US" altLang="zh-TW" sz="2800" dirty="0" err="1"/>
              <a:t>Jeju</a:t>
            </a:r>
            <a:r>
              <a:rPr lang="en-US" altLang="zh-TW" sz="2800" dirty="0"/>
              <a:t> Island, Korea</a:t>
            </a:r>
          </a:p>
          <a:p>
            <a:br>
              <a:rPr lang="en-US" altLang="zh-TW" sz="2800" dirty="0"/>
            </a:br>
            <a:br>
              <a:rPr lang="en-US" altLang="zh-TW" sz="2800" dirty="0"/>
            </a:br>
            <a:r>
              <a:rPr lang="en-US" altLang="zh-TW" sz="2800" dirty="0"/>
              <a:t>Speaker</a:t>
            </a:r>
            <a:r>
              <a:rPr lang="zh-TW" altLang="en-US" sz="2800" dirty="0"/>
              <a:t>：</a:t>
            </a:r>
            <a:r>
              <a:rPr lang="en-US" altLang="zh-TW" sz="2800" dirty="0" err="1"/>
              <a:t>Kuan</a:t>
            </a:r>
            <a:r>
              <a:rPr lang="en-US" altLang="zh-TW" sz="2800" dirty="0"/>
              <a:t> Lin Lai</a:t>
            </a:r>
          </a:p>
          <a:p>
            <a:r>
              <a:rPr lang="en-US" altLang="zh-TW" sz="2800" dirty="0">
                <a:latin typeface="Calibri" pitchFamily="34" charset="0"/>
              </a:rPr>
              <a:t>Date: 2018/10/16</a:t>
            </a:r>
            <a:endParaRPr lang="zh-TW" altLang="en-US" sz="2800" dirty="0"/>
          </a:p>
          <a:p>
            <a:endParaRPr lang="zh-TW" altLang="en-US" sz="2800" dirty="0"/>
          </a:p>
        </p:txBody>
      </p:sp>
    </p:spTree>
    <p:extLst>
      <p:ext uri="{BB962C8B-B14F-4D97-AF65-F5344CB8AC3E}">
        <p14:creationId xmlns:p14="http://schemas.microsoft.com/office/powerpoint/2010/main" val="3515615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13A522-AE4D-4CA6-B69A-C2FB58078733}"/>
              </a:ext>
            </a:extLst>
          </p:cNvPr>
          <p:cNvSpPr>
            <a:spLocks noGrp="1"/>
          </p:cNvSpPr>
          <p:nvPr>
            <p:ph type="title"/>
          </p:nvPr>
        </p:nvSpPr>
        <p:spPr/>
        <p:txBody>
          <a:bodyPr/>
          <a:lstStyle/>
          <a:p>
            <a:r>
              <a:rPr lang="en-US" altLang="zh-TW" b="1" dirty="0"/>
              <a:t>Abstract (1/2)</a:t>
            </a:r>
            <a:endParaRPr lang="zh-TW" altLang="en-US" b="1" dirty="0"/>
          </a:p>
        </p:txBody>
      </p:sp>
      <p:sp>
        <p:nvSpPr>
          <p:cNvPr id="3" name="內容版面配置區 2">
            <a:extLst>
              <a:ext uri="{FF2B5EF4-FFF2-40B4-BE49-F238E27FC236}">
                <a16:creationId xmlns:a16="http://schemas.microsoft.com/office/drawing/2014/main" id="{405C9E8A-644A-44A8-9DDB-6B50B727C771}"/>
              </a:ext>
            </a:extLst>
          </p:cNvPr>
          <p:cNvSpPr>
            <a:spLocks noGrp="1"/>
          </p:cNvSpPr>
          <p:nvPr>
            <p:ph idx="1"/>
          </p:nvPr>
        </p:nvSpPr>
        <p:spPr>
          <a:xfrm>
            <a:off x="838199" y="1825625"/>
            <a:ext cx="10604383" cy="4351338"/>
          </a:xfrm>
        </p:spPr>
        <p:txBody>
          <a:bodyPr>
            <a:normAutofit fontScale="92500"/>
          </a:bodyPr>
          <a:lstStyle/>
          <a:p>
            <a:pPr marL="0" indent="0">
              <a:lnSpc>
                <a:spcPct val="150000"/>
              </a:lnSpc>
              <a:buNone/>
            </a:pPr>
            <a:r>
              <a:rPr lang="en-US" altLang="zh-TW" dirty="0"/>
              <a:t>Approximate string matching is a fundamental and challenging problem in computer science, for which a fast algorithm is highly demanded in many applications including text processing and DNA sequence analysis. In this paper, we present a fast algorithm for approximate string matching, called FAAST. It aims at solving a popular variant of the approximate string matching problem, the k-mismatch problem, whose objective is to find all occurrences of a short pattern in a long text string with at most k mismatches. </a:t>
            </a:r>
            <a:endParaRPr lang="zh-TW" altLang="en-US" dirty="0"/>
          </a:p>
        </p:txBody>
      </p:sp>
    </p:spTree>
    <p:extLst>
      <p:ext uri="{BB962C8B-B14F-4D97-AF65-F5344CB8AC3E}">
        <p14:creationId xmlns:p14="http://schemas.microsoft.com/office/powerpoint/2010/main" val="3826972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FE388-33BE-48F6-BFCB-03164DA077B5}"/>
              </a:ext>
            </a:extLst>
          </p:cNvPr>
          <p:cNvSpPr>
            <a:spLocks noGrp="1"/>
          </p:cNvSpPr>
          <p:nvPr>
            <p:ph type="title"/>
          </p:nvPr>
        </p:nvSpPr>
        <p:spPr/>
        <p:txBody>
          <a:bodyPr/>
          <a:lstStyle/>
          <a:p>
            <a:r>
              <a:rPr lang="en-US" altLang="zh-TW" b="1" dirty="0"/>
              <a:t>Abstract (2/2)</a:t>
            </a:r>
            <a:endParaRPr lang="zh-TW" altLang="en-US" b="1" dirty="0"/>
          </a:p>
        </p:txBody>
      </p:sp>
      <p:sp>
        <p:nvSpPr>
          <p:cNvPr id="3" name="內容版面配置區 2">
            <a:extLst>
              <a:ext uri="{FF2B5EF4-FFF2-40B4-BE49-F238E27FC236}">
                <a16:creationId xmlns:a16="http://schemas.microsoft.com/office/drawing/2014/main" id="{212D1999-9476-4782-A7DD-D2C0A447BC5B}"/>
              </a:ext>
            </a:extLst>
          </p:cNvPr>
          <p:cNvSpPr>
            <a:spLocks noGrp="1"/>
          </p:cNvSpPr>
          <p:nvPr>
            <p:ph idx="1"/>
          </p:nvPr>
        </p:nvSpPr>
        <p:spPr>
          <a:xfrm>
            <a:off x="838200" y="1581631"/>
            <a:ext cx="10515600" cy="4718501"/>
          </a:xfrm>
        </p:spPr>
        <p:txBody>
          <a:bodyPr>
            <a:normAutofit fontScale="92500" lnSpcReduction="20000"/>
          </a:bodyPr>
          <a:lstStyle/>
          <a:p>
            <a:pPr marL="0" indent="0">
              <a:lnSpc>
                <a:spcPct val="150000"/>
              </a:lnSpc>
              <a:buNone/>
            </a:pPr>
            <a:r>
              <a:rPr lang="en-US" altLang="zh-TW" dirty="0"/>
              <a:t>FAAST generalizes the well-known </a:t>
            </a:r>
            <a:r>
              <a:rPr lang="en-US" altLang="zh-TW" dirty="0" err="1"/>
              <a:t>Tarhio-Ukkonen</a:t>
            </a:r>
            <a:r>
              <a:rPr lang="en-US" altLang="zh-TW" dirty="0"/>
              <a:t> algorithm by requiring two or more matches when calculating shift distances, which makes the approximate string matching process significantly faster than the </a:t>
            </a:r>
            <a:r>
              <a:rPr lang="en-US" altLang="zh-TW" dirty="0" err="1"/>
              <a:t>Tarhio-Ukkonen</a:t>
            </a:r>
            <a:r>
              <a:rPr lang="en-US" altLang="zh-TW" dirty="0"/>
              <a:t> algorithm. Theoretically, we prove that FAAST on average skips more characters than the </a:t>
            </a:r>
            <a:r>
              <a:rPr lang="en-US" altLang="zh-TW" dirty="0" err="1"/>
              <a:t>Tarhio-Ukkonen</a:t>
            </a:r>
            <a:r>
              <a:rPr lang="en-US" altLang="zh-TW" dirty="0"/>
              <a:t> algorithm in a single shift, and makes fewer character comparisons in an entire matching process. Experiments on both simulated data sets and real gene sequences also demonstrate that FAAST runs several times faster than the </a:t>
            </a:r>
            <a:r>
              <a:rPr lang="en-US" altLang="zh-TW" dirty="0" err="1"/>
              <a:t>Tarhio-Ukkonen</a:t>
            </a:r>
            <a:r>
              <a:rPr lang="en-US" altLang="zh-TW" dirty="0"/>
              <a:t> algorithm in all the cases that we tested.</a:t>
            </a:r>
            <a:endParaRPr lang="zh-TW" altLang="en-US" dirty="0"/>
          </a:p>
        </p:txBody>
      </p:sp>
    </p:spTree>
    <p:extLst>
      <p:ext uri="{BB962C8B-B14F-4D97-AF65-F5344CB8AC3E}">
        <p14:creationId xmlns:p14="http://schemas.microsoft.com/office/powerpoint/2010/main" val="957050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7A3769-FE7D-4687-BF79-05C2257E7A1A}"/>
              </a:ext>
            </a:extLst>
          </p:cNvPr>
          <p:cNvSpPr>
            <a:spLocks noGrp="1"/>
          </p:cNvSpPr>
          <p:nvPr>
            <p:ph type="title"/>
          </p:nvPr>
        </p:nvSpPr>
        <p:spPr/>
        <p:txBody>
          <a:bodyPr>
            <a:normAutofit/>
          </a:bodyPr>
          <a:lstStyle/>
          <a:p>
            <a:r>
              <a:rPr lang="en-US" altLang="zh-TW" sz="3600" b="1" dirty="0"/>
              <a:t>Approximate string matching</a:t>
            </a:r>
            <a:r>
              <a:rPr lang="zh-TW" altLang="en-US" sz="3600" b="1" dirty="0"/>
              <a:t>：</a:t>
            </a:r>
            <a:r>
              <a:rPr lang="en-US" altLang="zh-TW" sz="3600" b="1" dirty="0"/>
              <a:t>k-mismatch</a:t>
            </a:r>
            <a:r>
              <a:rPr lang="zh-TW" altLang="en-US" sz="3600" b="1" dirty="0"/>
              <a:t> </a:t>
            </a:r>
            <a:r>
              <a:rPr lang="en-US" altLang="zh-TW" sz="3600" b="1" dirty="0"/>
              <a:t>problem</a:t>
            </a:r>
            <a:endParaRPr lang="zh-TW" altLang="en-US" sz="3600" b="1" dirty="0"/>
          </a:p>
        </p:txBody>
      </p:sp>
      <p:graphicFrame>
        <p:nvGraphicFramePr>
          <p:cNvPr id="4" name="內容版面配置區 3">
            <a:extLst>
              <a:ext uri="{FF2B5EF4-FFF2-40B4-BE49-F238E27FC236}">
                <a16:creationId xmlns:a16="http://schemas.microsoft.com/office/drawing/2014/main" id="{34AD6543-5D75-4F4B-A7C5-AFCAA024AB2F}"/>
              </a:ext>
            </a:extLst>
          </p:cNvPr>
          <p:cNvGraphicFramePr>
            <a:graphicFrameLocks noGrp="1"/>
          </p:cNvGraphicFramePr>
          <p:nvPr>
            <p:ph idx="1"/>
            <p:extLst>
              <p:ext uri="{D42A27DB-BD31-4B8C-83A1-F6EECF244321}">
                <p14:modId xmlns:p14="http://schemas.microsoft.com/office/powerpoint/2010/main" val="4253474435"/>
              </p:ext>
            </p:extLst>
          </p:nvPr>
        </p:nvGraphicFramePr>
        <p:xfrm>
          <a:off x="838204" y="3405416"/>
          <a:ext cx="10515596" cy="2360644"/>
        </p:xfrm>
        <a:graphic>
          <a:graphicData uri="http://schemas.openxmlformats.org/drawingml/2006/table">
            <a:tbl>
              <a:tblPr firstRow="1" bandRow="1">
                <a:tableStyleId>{5C22544A-7EE6-4342-B048-85BDC9FD1C3A}</a:tableStyleId>
              </a:tblPr>
              <a:tblGrid>
                <a:gridCol w="808892">
                  <a:extLst>
                    <a:ext uri="{9D8B030D-6E8A-4147-A177-3AD203B41FA5}">
                      <a16:colId xmlns:a16="http://schemas.microsoft.com/office/drawing/2014/main" val="2361689885"/>
                    </a:ext>
                  </a:extLst>
                </a:gridCol>
                <a:gridCol w="808892">
                  <a:extLst>
                    <a:ext uri="{9D8B030D-6E8A-4147-A177-3AD203B41FA5}">
                      <a16:colId xmlns:a16="http://schemas.microsoft.com/office/drawing/2014/main" val="2362087518"/>
                    </a:ext>
                  </a:extLst>
                </a:gridCol>
                <a:gridCol w="808892">
                  <a:extLst>
                    <a:ext uri="{9D8B030D-6E8A-4147-A177-3AD203B41FA5}">
                      <a16:colId xmlns:a16="http://schemas.microsoft.com/office/drawing/2014/main" val="3389802138"/>
                    </a:ext>
                  </a:extLst>
                </a:gridCol>
                <a:gridCol w="808892">
                  <a:extLst>
                    <a:ext uri="{9D8B030D-6E8A-4147-A177-3AD203B41FA5}">
                      <a16:colId xmlns:a16="http://schemas.microsoft.com/office/drawing/2014/main" val="1693244674"/>
                    </a:ext>
                  </a:extLst>
                </a:gridCol>
                <a:gridCol w="808892">
                  <a:extLst>
                    <a:ext uri="{9D8B030D-6E8A-4147-A177-3AD203B41FA5}">
                      <a16:colId xmlns:a16="http://schemas.microsoft.com/office/drawing/2014/main" val="3457354778"/>
                    </a:ext>
                  </a:extLst>
                </a:gridCol>
                <a:gridCol w="808892">
                  <a:extLst>
                    <a:ext uri="{9D8B030D-6E8A-4147-A177-3AD203B41FA5}">
                      <a16:colId xmlns:a16="http://schemas.microsoft.com/office/drawing/2014/main" val="2671476333"/>
                    </a:ext>
                  </a:extLst>
                </a:gridCol>
                <a:gridCol w="808892">
                  <a:extLst>
                    <a:ext uri="{9D8B030D-6E8A-4147-A177-3AD203B41FA5}">
                      <a16:colId xmlns:a16="http://schemas.microsoft.com/office/drawing/2014/main" val="1091791795"/>
                    </a:ext>
                  </a:extLst>
                </a:gridCol>
                <a:gridCol w="808892">
                  <a:extLst>
                    <a:ext uri="{9D8B030D-6E8A-4147-A177-3AD203B41FA5}">
                      <a16:colId xmlns:a16="http://schemas.microsoft.com/office/drawing/2014/main" val="3265664850"/>
                    </a:ext>
                  </a:extLst>
                </a:gridCol>
                <a:gridCol w="808892">
                  <a:extLst>
                    <a:ext uri="{9D8B030D-6E8A-4147-A177-3AD203B41FA5}">
                      <a16:colId xmlns:a16="http://schemas.microsoft.com/office/drawing/2014/main" val="3946769373"/>
                    </a:ext>
                  </a:extLst>
                </a:gridCol>
                <a:gridCol w="808892">
                  <a:extLst>
                    <a:ext uri="{9D8B030D-6E8A-4147-A177-3AD203B41FA5}">
                      <a16:colId xmlns:a16="http://schemas.microsoft.com/office/drawing/2014/main" val="1122847372"/>
                    </a:ext>
                  </a:extLst>
                </a:gridCol>
                <a:gridCol w="808892">
                  <a:extLst>
                    <a:ext uri="{9D8B030D-6E8A-4147-A177-3AD203B41FA5}">
                      <a16:colId xmlns:a16="http://schemas.microsoft.com/office/drawing/2014/main" val="1627441773"/>
                    </a:ext>
                  </a:extLst>
                </a:gridCol>
                <a:gridCol w="808892">
                  <a:extLst>
                    <a:ext uri="{9D8B030D-6E8A-4147-A177-3AD203B41FA5}">
                      <a16:colId xmlns:a16="http://schemas.microsoft.com/office/drawing/2014/main" val="4082861740"/>
                    </a:ext>
                  </a:extLst>
                </a:gridCol>
                <a:gridCol w="808892">
                  <a:extLst>
                    <a:ext uri="{9D8B030D-6E8A-4147-A177-3AD203B41FA5}">
                      <a16:colId xmlns:a16="http://schemas.microsoft.com/office/drawing/2014/main" val="1476800519"/>
                    </a:ext>
                  </a:extLst>
                </a:gridCol>
              </a:tblGrid>
              <a:tr h="417336">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extLst>
                  <a:ext uri="{0D108BD9-81ED-4DB2-BD59-A6C34878D82A}">
                    <a16:rowId xmlns:a16="http://schemas.microsoft.com/office/drawing/2014/main" val="886569300"/>
                  </a:ext>
                </a:extLst>
              </a:tr>
              <a:tr h="485827">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701018628"/>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05654410"/>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395317108"/>
                  </a:ext>
                </a:extLst>
              </a:tr>
              <a:tr h="485827">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1307918257"/>
                  </a:ext>
                </a:extLst>
              </a:tr>
            </a:tbl>
          </a:graphicData>
        </a:graphic>
      </p:graphicFrame>
      <p:sp>
        <p:nvSpPr>
          <p:cNvPr id="5" name="文字方塊 4">
            <a:extLst>
              <a:ext uri="{FF2B5EF4-FFF2-40B4-BE49-F238E27FC236}">
                <a16:creationId xmlns:a16="http://schemas.microsoft.com/office/drawing/2014/main" id="{C7D16366-828C-457C-9F97-3E6B95B288CE}"/>
              </a:ext>
            </a:extLst>
          </p:cNvPr>
          <p:cNvSpPr txBox="1"/>
          <p:nvPr/>
        </p:nvSpPr>
        <p:spPr>
          <a:xfrm>
            <a:off x="1352938" y="1998619"/>
            <a:ext cx="4208107" cy="954107"/>
          </a:xfrm>
          <a:prstGeom prst="rect">
            <a:avLst/>
          </a:prstGeom>
          <a:noFill/>
        </p:spPr>
        <p:txBody>
          <a:bodyPr wrap="square" rtlCol="0">
            <a:spAutoFit/>
          </a:bodyPr>
          <a:lstStyle/>
          <a:p>
            <a:r>
              <a:rPr lang="en-US" altLang="zh-TW" sz="2800" dirty="0"/>
              <a:t>Text</a:t>
            </a:r>
            <a:r>
              <a:rPr lang="zh-TW" altLang="en-US" sz="2800" dirty="0"/>
              <a:t>：</a:t>
            </a:r>
            <a:r>
              <a:rPr lang="en-US" altLang="zh-TW" sz="2800" dirty="0"/>
              <a:t>ACAACTTATTTA</a:t>
            </a:r>
            <a:r>
              <a:rPr lang="zh-TW" altLang="en-US" sz="2800" dirty="0"/>
              <a:t>      </a:t>
            </a:r>
            <a:br>
              <a:rPr lang="en-US" altLang="zh-TW" sz="2800" dirty="0"/>
            </a:br>
            <a:r>
              <a:rPr lang="en-US" altLang="zh-TW" sz="2800" dirty="0"/>
              <a:t>Pattern</a:t>
            </a:r>
            <a:r>
              <a:rPr lang="zh-TW" altLang="en-US" sz="2800" dirty="0"/>
              <a:t>：</a:t>
            </a:r>
            <a:r>
              <a:rPr lang="en-US" altLang="zh-TW" sz="2800" dirty="0"/>
              <a:t>ATTG</a:t>
            </a:r>
            <a:endParaRPr lang="zh-TW" altLang="en-US" sz="2800" dirty="0"/>
          </a:p>
        </p:txBody>
      </p:sp>
    </p:spTree>
    <p:extLst>
      <p:ext uri="{BB962C8B-B14F-4D97-AF65-F5344CB8AC3E}">
        <p14:creationId xmlns:p14="http://schemas.microsoft.com/office/powerpoint/2010/main" val="1235440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7A3769-FE7D-4687-BF79-05C2257E7A1A}"/>
              </a:ext>
            </a:extLst>
          </p:cNvPr>
          <p:cNvSpPr>
            <a:spLocks noGrp="1"/>
          </p:cNvSpPr>
          <p:nvPr>
            <p:ph type="title"/>
          </p:nvPr>
        </p:nvSpPr>
        <p:spPr/>
        <p:txBody>
          <a:bodyPr>
            <a:normAutofit/>
          </a:bodyPr>
          <a:lstStyle/>
          <a:p>
            <a:r>
              <a:rPr lang="en-US" altLang="zh-TW" sz="3600" b="1" dirty="0"/>
              <a:t>Approximate string matching</a:t>
            </a:r>
            <a:r>
              <a:rPr lang="zh-TW" altLang="en-US" sz="3600" b="1" dirty="0"/>
              <a:t>：</a:t>
            </a:r>
            <a:r>
              <a:rPr lang="en-US" altLang="zh-TW" sz="3600" b="1" dirty="0"/>
              <a:t>1-mismatch</a:t>
            </a:r>
            <a:r>
              <a:rPr lang="zh-TW" altLang="en-US" sz="3600" b="1" dirty="0"/>
              <a:t> </a:t>
            </a:r>
            <a:r>
              <a:rPr lang="en-US" altLang="zh-TW" sz="3600" b="1" dirty="0"/>
              <a:t>problem</a:t>
            </a:r>
            <a:endParaRPr lang="zh-TW" altLang="en-US" sz="3600" b="1" dirty="0"/>
          </a:p>
        </p:txBody>
      </p:sp>
      <p:graphicFrame>
        <p:nvGraphicFramePr>
          <p:cNvPr id="4" name="內容版面配置區 3">
            <a:extLst>
              <a:ext uri="{FF2B5EF4-FFF2-40B4-BE49-F238E27FC236}">
                <a16:creationId xmlns:a16="http://schemas.microsoft.com/office/drawing/2014/main" id="{34AD6543-5D75-4F4B-A7C5-AFCAA024AB2F}"/>
              </a:ext>
            </a:extLst>
          </p:cNvPr>
          <p:cNvGraphicFramePr>
            <a:graphicFrameLocks noGrp="1"/>
          </p:cNvGraphicFramePr>
          <p:nvPr>
            <p:ph idx="1"/>
            <p:extLst>
              <p:ext uri="{D42A27DB-BD31-4B8C-83A1-F6EECF244321}">
                <p14:modId xmlns:p14="http://schemas.microsoft.com/office/powerpoint/2010/main" val="99499846"/>
              </p:ext>
            </p:extLst>
          </p:nvPr>
        </p:nvGraphicFramePr>
        <p:xfrm>
          <a:off x="838204" y="3405416"/>
          <a:ext cx="10515596" cy="2360644"/>
        </p:xfrm>
        <a:graphic>
          <a:graphicData uri="http://schemas.openxmlformats.org/drawingml/2006/table">
            <a:tbl>
              <a:tblPr firstRow="1" bandRow="1">
                <a:tableStyleId>{5C22544A-7EE6-4342-B048-85BDC9FD1C3A}</a:tableStyleId>
              </a:tblPr>
              <a:tblGrid>
                <a:gridCol w="808892">
                  <a:extLst>
                    <a:ext uri="{9D8B030D-6E8A-4147-A177-3AD203B41FA5}">
                      <a16:colId xmlns:a16="http://schemas.microsoft.com/office/drawing/2014/main" val="2361689885"/>
                    </a:ext>
                  </a:extLst>
                </a:gridCol>
                <a:gridCol w="808892">
                  <a:extLst>
                    <a:ext uri="{9D8B030D-6E8A-4147-A177-3AD203B41FA5}">
                      <a16:colId xmlns:a16="http://schemas.microsoft.com/office/drawing/2014/main" val="2362087518"/>
                    </a:ext>
                  </a:extLst>
                </a:gridCol>
                <a:gridCol w="808892">
                  <a:extLst>
                    <a:ext uri="{9D8B030D-6E8A-4147-A177-3AD203B41FA5}">
                      <a16:colId xmlns:a16="http://schemas.microsoft.com/office/drawing/2014/main" val="3389802138"/>
                    </a:ext>
                  </a:extLst>
                </a:gridCol>
                <a:gridCol w="808892">
                  <a:extLst>
                    <a:ext uri="{9D8B030D-6E8A-4147-A177-3AD203B41FA5}">
                      <a16:colId xmlns:a16="http://schemas.microsoft.com/office/drawing/2014/main" val="1693244674"/>
                    </a:ext>
                  </a:extLst>
                </a:gridCol>
                <a:gridCol w="808892">
                  <a:extLst>
                    <a:ext uri="{9D8B030D-6E8A-4147-A177-3AD203B41FA5}">
                      <a16:colId xmlns:a16="http://schemas.microsoft.com/office/drawing/2014/main" val="3457354778"/>
                    </a:ext>
                  </a:extLst>
                </a:gridCol>
                <a:gridCol w="808892">
                  <a:extLst>
                    <a:ext uri="{9D8B030D-6E8A-4147-A177-3AD203B41FA5}">
                      <a16:colId xmlns:a16="http://schemas.microsoft.com/office/drawing/2014/main" val="2671476333"/>
                    </a:ext>
                  </a:extLst>
                </a:gridCol>
                <a:gridCol w="808892">
                  <a:extLst>
                    <a:ext uri="{9D8B030D-6E8A-4147-A177-3AD203B41FA5}">
                      <a16:colId xmlns:a16="http://schemas.microsoft.com/office/drawing/2014/main" val="1091791795"/>
                    </a:ext>
                  </a:extLst>
                </a:gridCol>
                <a:gridCol w="808892">
                  <a:extLst>
                    <a:ext uri="{9D8B030D-6E8A-4147-A177-3AD203B41FA5}">
                      <a16:colId xmlns:a16="http://schemas.microsoft.com/office/drawing/2014/main" val="3265664850"/>
                    </a:ext>
                  </a:extLst>
                </a:gridCol>
                <a:gridCol w="808892">
                  <a:extLst>
                    <a:ext uri="{9D8B030D-6E8A-4147-A177-3AD203B41FA5}">
                      <a16:colId xmlns:a16="http://schemas.microsoft.com/office/drawing/2014/main" val="3946769373"/>
                    </a:ext>
                  </a:extLst>
                </a:gridCol>
                <a:gridCol w="808892">
                  <a:extLst>
                    <a:ext uri="{9D8B030D-6E8A-4147-A177-3AD203B41FA5}">
                      <a16:colId xmlns:a16="http://schemas.microsoft.com/office/drawing/2014/main" val="1122847372"/>
                    </a:ext>
                  </a:extLst>
                </a:gridCol>
                <a:gridCol w="808892">
                  <a:extLst>
                    <a:ext uri="{9D8B030D-6E8A-4147-A177-3AD203B41FA5}">
                      <a16:colId xmlns:a16="http://schemas.microsoft.com/office/drawing/2014/main" val="1627441773"/>
                    </a:ext>
                  </a:extLst>
                </a:gridCol>
                <a:gridCol w="808892">
                  <a:extLst>
                    <a:ext uri="{9D8B030D-6E8A-4147-A177-3AD203B41FA5}">
                      <a16:colId xmlns:a16="http://schemas.microsoft.com/office/drawing/2014/main" val="4082861740"/>
                    </a:ext>
                  </a:extLst>
                </a:gridCol>
                <a:gridCol w="808892">
                  <a:extLst>
                    <a:ext uri="{9D8B030D-6E8A-4147-A177-3AD203B41FA5}">
                      <a16:colId xmlns:a16="http://schemas.microsoft.com/office/drawing/2014/main" val="1476800519"/>
                    </a:ext>
                  </a:extLst>
                </a:gridCol>
              </a:tblGrid>
              <a:tr h="417336">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C</a:t>
                      </a:r>
                      <a:endParaRPr lang="zh-TW" altLang="en-US" dirty="0"/>
                    </a:p>
                  </a:txBody>
                  <a:tcPr/>
                </a:tc>
                <a:tc>
                  <a:txBody>
                    <a:bodyPr/>
                    <a:lstStyle/>
                    <a:p>
                      <a:r>
                        <a:rPr lang="en-US" altLang="zh-TW" dirty="0"/>
                        <a:t>A</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extLst>
                  <a:ext uri="{0D108BD9-81ED-4DB2-BD59-A6C34878D82A}">
                    <a16:rowId xmlns:a16="http://schemas.microsoft.com/office/drawing/2014/main" val="886569300"/>
                  </a:ext>
                </a:extLst>
              </a:tr>
              <a:tr h="485827">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chemeClr val="accent1">
                        <a:tint val="40000"/>
                      </a:schemeClr>
                    </a:solidFill>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701018628"/>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05654410"/>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395317108"/>
                  </a:ext>
                </a:extLst>
              </a:tr>
              <a:tr h="485827">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rgbClr val="FFFF00"/>
                    </a:solidFill>
                  </a:tcPr>
                </a:tc>
                <a:tc>
                  <a:txBody>
                    <a:bodyPr/>
                    <a:lstStyle/>
                    <a:p>
                      <a:r>
                        <a:rPr lang="en-US" altLang="zh-TW" dirty="0"/>
                        <a:t>0</a:t>
                      </a:r>
                      <a:endParaRPr lang="zh-TW" altLang="en-US" dirty="0"/>
                    </a:p>
                  </a:txBody>
                  <a:tcPr/>
                </a:tc>
                <a:extLst>
                  <a:ext uri="{0D108BD9-81ED-4DB2-BD59-A6C34878D82A}">
                    <a16:rowId xmlns:a16="http://schemas.microsoft.com/office/drawing/2014/main" val="1307918257"/>
                  </a:ext>
                </a:extLst>
              </a:tr>
            </a:tbl>
          </a:graphicData>
        </a:graphic>
      </p:graphicFrame>
      <p:sp>
        <p:nvSpPr>
          <p:cNvPr id="5" name="文字方塊 4">
            <a:extLst>
              <a:ext uri="{FF2B5EF4-FFF2-40B4-BE49-F238E27FC236}">
                <a16:creationId xmlns:a16="http://schemas.microsoft.com/office/drawing/2014/main" id="{C7D16366-828C-457C-9F97-3E6B95B288CE}"/>
              </a:ext>
            </a:extLst>
          </p:cNvPr>
          <p:cNvSpPr txBox="1"/>
          <p:nvPr/>
        </p:nvSpPr>
        <p:spPr>
          <a:xfrm>
            <a:off x="1352938" y="1998619"/>
            <a:ext cx="4208107" cy="954107"/>
          </a:xfrm>
          <a:prstGeom prst="rect">
            <a:avLst/>
          </a:prstGeom>
          <a:noFill/>
        </p:spPr>
        <p:txBody>
          <a:bodyPr wrap="square" rtlCol="0">
            <a:spAutoFit/>
          </a:bodyPr>
          <a:lstStyle/>
          <a:p>
            <a:r>
              <a:rPr lang="en-US" altLang="zh-TW" sz="2800" dirty="0"/>
              <a:t>Text</a:t>
            </a:r>
            <a:r>
              <a:rPr lang="zh-TW" altLang="en-US" sz="2800" dirty="0"/>
              <a:t>：</a:t>
            </a:r>
            <a:r>
              <a:rPr lang="en-US" altLang="zh-TW" sz="2800" dirty="0"/>
              <a:t>ACAACTTATTTA</a:t>
            </a:r>
            <a:r>
              <a:rPr lang="zh-TW" altLang="en-US" sz="2800" dirty="0"/>
              <a:t>      </a:t>
            </a:r>
            <a:br>
              <a:rPr lang="en-US" altLang="zh-TW" sz="2800" dirty="0"/>
            </a:br>
            <a:r>
              <a:rPr lang="en-US" altLang="zh-TW" sz="2800" dirty="0"/>
              <a:t>Pattern</a:t>
            </a:r>
            <a:r>
              <a:rPr lang="zh-TW" altLang="en-US" sz="2800" dirty="0"/>
              <a:t>：</a:t>
            </a:r>
            <a:r>
              <a:rPr lang="en-US" altLang="zh-TW" sz="2800" dirty="0"/>
              <a:t>ATTG</a:t>
            </a:r>
            <a:endParaRPr lang="zh-TW" altLang="en-US" sz="2800" dirty="0"/>
          </a:p>
        </p:txBody>
      </p:sp>
    </p:spTree>
    <p:extLst>
      <p:ext uri="{BB962C8B-B14F-4D97-AF65-F5344CB8AC3E}">
        <p14:creationId xmlns:p14="http://schemas.microsoft.com/office/powerpoint/2010/main" val="2939095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7A3769-FE7D-4687-BF79-05C2257E7A1A}"/>
              </a:ext>
            </a:extLst>
          </p:cNvPr>
          <p:cNvSpPr>
            <a:spLocks noGrp="1"/>
          </p:cNvSpPr>
          <p:nvPr>
            <p:ph type="title"/>
          </p:nvPr>
        </p:nvSpPr>
        <p:spPr/>
        <p:txBody>
          <a:bodyPr>
            <a:normAutofit/>
          </a:bodyPr>
          <a:lstStyle/>
          <a:p>
            <a:r>
              <a:rPr lang="en-US" altLang="zh-TW" sz="3600" b="1" dirty="0"/>
              <a:t>Approximate string matching</a:t>
            </a:r>
            <a:r>
              <a:rPr lang="zh-TW" altLang="en-US" sz="3600" b="1" dirty="0"/>
              <a:t>：</a:t>
            </a:r>
            <a:r>
              <a:rPr lang="en-US" altLang="zh-TW" sz="3600" b="1" dirty="0"/>
              <a:t>2-mismatch</a:t>
            </a:r>
            <a:r>
              <a:rPr lang="zh-TW" altLang="en-US" sz="3600" b="1" dirty="0"/>
              <a:t> </a:t>
            </a:r>
            <a:r>
              <a:rPr lang="en-US" altLang="zh-TW" sz="3600" b="1" dirty="0"/>
              <a:t>problem</a:t>
            </a:r>
            <a:endParaRPr lang="zh-TW" altLang="en-US" sz="3600" b="1" dirty="0"/>
          </a:p>
        </p:txBody>
      </p:sp>
      <p:graphicFrame>
        <p:nvGraphicFramePr>
          <p:cNvPr id="4" name="內容版面配置區 3">
            <a:extLst>
              <a:ext uri="{FF2B5EF4-FFF2-40B4-BE49-F238E27FC236}">
                <a16:creationId xmlns:a16="http://schemas.microsoft.com/office/drawing/2014/main" id="{34AD6543-5D75-4F4B-A7C5-AFCAA024AB2F}"/>
              </a:ext>
            </a:extLst>
          </p:cNvPr>
          <p:cNvGraphicFramePr>
            <a:graphicFrameLocks noGrp="1"/>
          </p:cNvGraphicFramePr>
          <p:nvPr>
            <p:ph idx="1"/>
            <p:extLst>
              <p:ext uri="{D42A27DB-BD31-4B8C-83A1-F6EECF244321}">
                <p14:modId xmlns:p14="http://schemas.microsoft.com/office/powerpoint/2010/main" val="1914854102"/>
              </p:ext>
            </p:extLst>
          </p:nvPr>
        </p:nvGraphicFramePr>
        <p:xfrm>
          <a:off x="838204" y="3405416"/>
          <a:ext cx="10515596" cy="2360644"/>
        </p:xfrm>
        <a:graphic>
          <a:graphicData uri="http://schemas.openxmlformats.org/drawingml/2006/table">
            <a:tbl>
              <a:tblPr firstRow="1" bandRow="1">
                <a:tableStyleId>{5C22544A-7EE6-4342-B048-85BDC9FD1C3A}</a:tableStyleId>
              </a:tblPr>
              <a:tblGrid>
                <a:gridCol w="808892">
                  <a:extLst>
                    <a:ext uri="{9D8B030D-6E8A-4147-A177-3AD203B41FA5}">
                      <a16:colId xmlns:a16="http://schemas.microsoft.com/office/drawing/2014/main" val="2361689885"/>
                    </a:ext>
                  </a:extLst>
                </a:gridCol>
                <a:gridCol w="808892">
                  <a:extLst>
                    <a:ext uri="{9D8B030D-6E8A-4147-A177-3AD203B41FA5}">
                      <a16:colId xmlns:a16="http://schemas.microsoft.com/office/drawing/2014/main" val="2362087518"/>
                    </a:ext>
                  </a:extLst>
                </a:gridCol>
                <a:gridCol w="808892">
                  <a:extLst>
                    <a:ext uri="{9D8B030D-6E8A-4147-A177-3AD203B41FA5}">
                      <a16:colId xmlns:a16="http://schemas.microsoft.com/office/drawing/2014/main" val="3389802138"/>
                    </a:ext>
                  </a:extLst>
                </a:gridCol>
                <a:gridCol w="808892">
                  <a:extLst>
                    <a:ext uri="{9D8B030D-6E8A-4147-A177-3AD203B41FA5}">
                      <a16:colId xmlns:a16="http://schemas.microsoft.com/office/drawing/2014/main" val="1693244674"/>
                    </a:ext>
                  </a:extLst>
                </a:gridCol>
                <a:gridCol w="808892">
                  <a:extLst>
                    <a:ext uri="{9D8B030D-6E8A-4147-A177-3AD203B41FA5}">
                      <a16:colId xmlns:a16="http://schemas.microsoft.com/office/drawing/2014/main" val="3457354778"/>
                    </a:ext>
                  </a:extLst>
                </a:gridCol>
                <a:gridCol w="808892">
                  <a:extLst>
                    <a:ext uri="{9D8B030D-6E8A-4147-A177-3AD203B41FA5}">
                      <a16:colId xmlns:a16="http://schemas.microsoft.com/office/drawing/2014/main" val="2671476333"/>
                    </a:ext>
                  </a:extLst>
                </a:gridCol>
                <a:gridCol w="808892">
                  <a:extLst>
                    <a:ext uri="{9D8B030D-6E8A-4147-A177-3AD203B41FA5}">
                      <a16:colId xmlns:a16="http://schemas.microsoft.com/office/drawing/2014/main" val="1091791795"/>
                    </a:ext>
                  </a:extLst>
                </a:gridCol>
                <a:gridCol w="808892">
                  <a:extLst>
                    <a:ext uri="{9D8B030D-6E8A-4147-A177-3AD203B41FA5}">
                      <a16:colId xmlns:a16="http://schemas.microsoft.com/office/drawing/2014/main" val="3265664850"/>
                    </a:ext>
                  </a:extLst>
                </a:gridCol>
                <a:gridCol w="808892">
                  <a:extLst>
                    <a:ext uri="{9D8B030D-6E8A-4147-A177-3AD203B41FA5}">
                      <a16:colId xmlns:a16="http://schemas.microsoft.com/office/drawing/2014/main" val="3946769373"/>
                    </a:ext>
                  </a:extLst>
                </a:gridCol>
                <a:gridCol w="808892">
                  <a:extLst>
                    <a:ext uri="{9D8B030D-6E8A-4147-A177-3AD203B41FA5}">
                      <a16:colId xmlns:a16="http://schemas.microsoft.com/office/drawing/2014/main" val="1122847372"/>
                    </a:ext>
                  </a:extLst>
                </a:gridCol>
                <a:gridCol w="808892">
                  <a:extLst>
                    <a:ext uri="{9D8B030D-6E8A-4147-A177-3AD203B41FA5}">
                      <a16:colId xmlns:a16="http://schemas.microsoft.com/office/drawing/2014/main" val="1627441773"/>
                    </a:ext>
                  </a:extLst>
                </a:gridCol>
                <a:gridCol w="808892">
                  <a:extLst>
                    <a:ext uri="{9D8B030D-6E8A-4147-A177-3AD203B41FA5}">
                      <a16:colId xmlns:a16="http://schemas.microsoft.com/office/drawing/2014/main" val="4082861740"/>
                    </a:ext>
                  </a:extLst>
                </a:gridCol>
                <a:gridCol w="808892">
                  <a:extLst>
                    <a:ext uri="{9D8B030D-6E8A-4147-A177-3AD203B41FA5}">
                      <a16:colId xmlns:a16="http://schemas.microsoft.com/office/drawing/2014/main" val="1476800519"/>
                    </a:ext>
                  </a:extLst>
                </a:gridCol>
              </a:tblGrid>
              <a:tr h="417336">
                <a:tc>
                  <a:txBody>
                    <a:bodyPr/>
                    <a:lstStyle/>
                    <a:p>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A</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C</a:t>
                      </a:r>
                      <a:endParaRPr lang="zh-TW" altLang="en-US" dirty="0"/>
                    </a:p>
                  </a:txBody>
                  <a:tcPr/>
                </a:tc>
                <a:tc>
                  <a:txBody>
                    <a:bodyPr/>
                    <a:lstStyle/>
                    <a:p>
                      <a:r>
                        <a:rPr lang="en-US" altLang="zh-TW" dirty="0"/>
                        <a:t>A</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extLst>
                  <a:ext uri="{0D108BD9-81ED-4DB2-BD59-A6C34878D82A}">
                    <a16:rowId xmlns:a16="http://schemas.microsoft.com/office/drawing/2014/main" val="886569300"/>
                  </a:ext>
                </a:extLst>
              </a:tr>
              <a:tr h="485827">
                <a:tc>
                  <a:txBody>
                    <a:bodyPr/>
                    <a:lstStyle/>
                    <a:p>
                      <a:r>
                        <a:rPr lang="en-US" altLang="zh-TW" dirty="0"/>
                        <a:t>A</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chemeClr val="accent1">
                        <a:tint val="40000"/>
                      </a:schemeClr>
                    </a:solidFill>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0</a:t>
                      </a:r>
                      <a:endParaRPr lang="zh-TW" altLang="en-US" dirty="0"/>
                    </a:p>
                  </a:txBody>
                  <a:tcPr>
                    <a:solidFill>
                      <a:srgbClr val="FFFF00"/>
                    </a:solidFill>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701018628"/>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rgbClr val="FFFF00"/>
                    </a:solidFill>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1</a:t>
                      </a:r>
                      <a:endParaRPr lang="zh-TW" altLang="en-US" dirty="0"/>
                    </a:p>
                  </a:txBody>
                  <a:tcPr>
                    <a:solidFill>
                      <a:srgbClr val="FFFF00"/>
                    </a:solidFill>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305654410"/>
                  </a:ext>
                </a:extLst>
              </a:tr>
              <a:tr h="485827">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solidFill>
                      <a:srgbClr val="FFFF00"/>
                    </a:solidFill>
                  </a:tcPr>
                </a:tc>
                <a:tc>
                  <a:txBody>
                    <a:bodyPr/>
                    <a:lstStyle/>
                    <a:p>
                      <a:r>
                        <a:rPr lang="en-US" altLang="zh-TW" dirty="0"/>
                        <a:t>1</a:t>
                      </a:r>
                      <a:endParaRPr lang="zh-TW" altLang="en-US" dirty="0"/>
                    </a:p>
                  </a:txBody>
                  <a:tcPr>
                    <a:solidFill>
                      <a:srgbClr val="FFFF00"/>
                    </a:solidFill>
                  </a:tcPr>
                </a:tc>
                <a:tc>
                  <a:txBody>
                    <a:bodyPr/>
                    <a:lstStyle/>
                    <a:p>
                      <a:r>
                        <a:rPr lang="en-US" altLang="zh-TW" dirty="0"/>
                        <a:t>0</a:t>
                      </a:r>
                      <a:endParaRPr lang="zh-TW" altLang="en-US" dirty="0"/>
                    </a:p>
                  </a:txBody>
                  <a:tcPr/>
                </a:tc>
                <a:extLst>
                  <a:ext uri="{0D108BD9-81ED-4DB2-BD59-A6C34878D82A}">
                    <a16:rowId xmlns:a16="http://schemas.microsoft.com/office/drawing/2014/main" val="3395317108"/>
                  </a:ext>
                </a:extLst>
              </a:tr>
              <a:tr h="485827">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rgbClr val="FFFF00"/>
                    </a:solidFill>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solidFill>
                      <a:srgbClr val="FFFF00"/>
                    </a:solidFill>
                  </a:tcPr>
                </a:tc>
                <a:tc>
                  <a:txBody>
                    <a:bodyPr/>
                    <a:lstStyle/>
                    <a:p>
                      <a:r>
                        <a:rPr lang="en-US" altLang="zh-TW" dirty="0"/>
                        <a:t>0</a:t>
                      </a:r>
                      <a:endParaRPr lang="zh-TW" altLang="en-US" dirty="0"/>
                    </a:p>
                  </a:txBody>
                  <a:tcPr>
                    <a:solidFill>
                      <a:srgbClr val="FFFF00"/>
                    </a:solidFill>
                  </a:tcPr>
                </a:tc>
                <a:extLst>
                  <a:ext uri="{0D108BD9-81ED-4DB2-BD59-A6C34878D82A}">
                    <a16:rowId xmlns:a16="http://schemas.microsoft.com/office/drawing/2014/main" val="1307918257"/>
                  </a:ext>
                </a:extLst>
              </a:tr>
            </a:tbl>
          </a:graphicData>
        </a:graphic>
      </p:graphicFrame>
      <p:sp>
        <p:nvSpPr>
          <p:cNvPr id="5" name="文字方塊 4">
            <a:extLst>
              <a:ext uri="{FF2B5EF4-FFF2-40B4-BE49-F238E27FC236}">
                <a16:creationId xmlns:a16="http://schemas.microsoft.com/office/drawing/2014/main" id="{C7D16366-828C-457C-9F97-3E6B95B288CE}"/>
              </a:ext>
            </a:extLst>
          </p:cNvPr>
          <p:cNvSpPr txBox="1"/>
          <p:nvPr/>
        </p:nvSpPr>
        <p:spPr>
          <a:xfrm>
            <a:off x="1306285" y="2017280"/>
            <a:ext cx="4208107" cy="954107"/>
          </a:xfrm>
          <a:prstGeom prst="rect">
            <a:avLst/>
          </a:prstGeom>
          <a:noFill/>
        </p:spPr>
        <p:txBody>
          <a:bodyPr wrap="square" rtlCol="0">
            <a:spAutoFit/>
          </a:bodyPr>
          <a:lstStyle/>
          <a:p>
            <a:r>
              <a:rPr lang="en-US" altLang="zh-TW" sz="2800" dirty="0"/>
              <a:t>Text</a:t>
            </a:r>
            <a:r>
              <a:rPr lang="zh-TW" altLang="en-US" sz="2800" dirty="0"/>
              <a:t>：</a:t>
            </a:r>
            <a:r>
              <a:rPr lang="en-US" altLang="zh-TW" sz="2800" dirty="0"/>
              <a:t>ACAACTTATTTA</a:t>
            </a:r>
            <a:r>
              <a:rPr lang="zh-TW" altLang="en-US" sz="2800" dirty="0"/>
              <a:t>      </a:t>
            </a:r>
            <a:br>
              <a:rPr lang="en-US" altLang="zh-TW" sz="2800" dirty="0"/>
            </a:br>
            <a:r>
              <a:rPr lang="en-US" altLang="zh-TW" sz="2800" dirty="0"/>
              <a:t>Pattern</a:t>
            </a:r>
            <a:r>
              <a:rPr lang="zh-TW" altLang="en-US" sz="2800" dirty="0"/>
              <a:t>：</a:t>
            </a:r>
            <a:r>
              <a:rPr lang="en-US" altLang="zh-TW" sz="2800" dirty="0"/>
              <a:t>ATTG</a:t>
            </a:r>
            <a:endParaRPr lang="zh-TW" altLang="en-US" sz="2800" dirty="0"/>
          </a:p>
        </p:txBody>
      </p:sp>
    </p:spTree>
    <p:extLst>
      <p:ext uri="{BB962C8B-B14F-4D97-AF65-F5344CB8AC3E}">
        <p14:creationId xmlns:p14="http://schemas.microsoft.com/office/powerpoint/2010/main" val="138962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F1361D-64FC-4E7A-96C3-2DEA2CEFEE23}"/>
              </a:ext>
            </a:extLst>
          </p:cNvPr>
          <p:cNvSpPr>
            <a:spLocks noGrp="1"/>
          </p:cNvSpPr>
          <p:nvPr>
            <p:ph type="title"/>
          </p:nvPr>
        </p:nvSpPr>
        <p:spPr/>
        <p:txBody>
          <a:bodyPr/>
          <a:lstStyle/>
          <a:p>
            <a:r>
              <a:rPr lang="en-US" altLang="zh-TW" b="1" dirty="0" err="1"/>
              <a:t>Tarhio-Ukkonen</a:t>
            </a:r>
            <a:r>
              <a:rPr lang="en-US" altLang="zh-TW" b="1" dirty="0"/>
              <a:t> algorithm</a:t>
            </a:r>
            <a:endParaRPr lang="zh-TW" altLang="en-US" b="1" dirty="0"/>
          </a:p>
        </p:txBody>
      </p:sp>
      <p:sp>
        <p:nvSpPr>
          <p:cNvPr id="3" name="內容版面配置區 2">
            <a:extLst>
              <a:ext uri="{FF2B5EF4-FFF2-40B4-BE49-F238E27FC236}">
                <a16:creationId xmlns:a16="http://schemas.microsoft.com/office/drawing/2014/main" id="{432C99F4-6350-49BF-8859-F0D758DDDCF0}"/>
              </a:ext>
            </a:extLst>
          </p:cNvPr>
          <p:cNvSpPr>
            <a:spLocks noGrp="1"/>
          </p:cNvSpPr>
          <p:nvPr>
            <p:ph idx="1"/>
          </p:nvPr>
        </p:nvSpPr>
        <p:spPr>
          <a:xfrm>
            <a:off x="838200" y="1825625"/>
            <a:ext cx="10515600" cy="4351338"/>
          </a:xfrm>
        </p:spPr>
        <p:txBody>
          <a:bodyPr/>
          <a:lstStyle/>
          <a:p>
            <a:pPr marL="0" indent="0">
              <a:buNone/>
            </a:pPr>
            <a:r>
              <a:rPr lang="zh-TW" altLang="en-US" dirty="0"/>
              <a:t> 　</a:t>
            </a:r>
            <a:r>
              <a:rPr lang="en-US" altLang="zh-TW" dirty="0"/>
              <a:t>Text</a:t>
            </a:r>
            <a:r>
              <a:rPr lang="zh-TW" altLang="en-US" dirty="0"/>
              <a:t>：</a:t>
            </a:r>
            <a:r>
              <a:rPr lang="en-US" altLang="zh-TW" dirty="0"/>
              <a:t> A </a:t>
            </a:r>
            <a:r>
              <a:rPr lang="en-US" altLang="zh-TW" dirty="0" err="1"/>
              <a:t>A</a:t>
            </a:r>
            <a:r>
              <a:rPr lang="en-US" altLang="zh-TW" dirty="0"/>
              <a:t> C T G T </a:t>
            </a:r>
            <a:r>
              <a:rPr lang="en-US" altLang="zh-TW" dirty="0" err="1"/>
              <a:t>T</a:t>
            </a:r>
            <a:r>
              <a:rPr lang="en-US" altLang="zh-TW" dirty="0"/>
              <a:t> A </a:t>
            </a:r>
            <a:r>
              <a:rPr lang="en-US" altLang="zh-TW" dirty="0" err="1"/>
              <a:t>A</a:t>
            </a:r>
            <a:r>
              <a:rPr lang="en-US" altLang="zh-TW" dirty="0"/>
              <a:t> C T </a:t>
            </a:r>
            <a:r>
              <a:rPr lang="en-US" altLang="zh-TW" dirty="0" err="1"/>
              <a:t>T</a:t>
            </a:r>
            <a:r>
              <a:rPr lang="en-US" altLang="zh-TW" dirty="0"/>
              <a:t> G C G A C T A G</a:t>
            </a:r>
          </a:p>
          <a:p>
            <a:pPr marL="0" indent="0">
              <a:buNone/>
            </a:pPr>
            <a:r>
              <a:rPr lang="en-US" altLang="zh-TW" dirty="0"/>
              <a:t>Pattern</a:t>
            </a:r>
            <a:r>
              <a:rPr lang="zh-TW" altLang="en-US" dirty="0"/>
              <a:t>：</a:t>
            </a:r>
            <a:r>
              <a:rPr lang="en-US" altLang="zh-TW" dirty="0"/>
              <a:t>A </a:t>
            </a:r>
            <a:r>
              <a:rPr lang="en-US" altLang="zh-TW" dirty="0" err="1"/>
              <a:t>A</a:t>
            </a:r>
            <a:r>
              <a:rPr lang="en-US" altLang="zh-TW" dirty="0"/>
              <a:t> G T C G T A </a:t>
            </a:r>
            <a:r>
              <a:rPr lang="en-US" altLang="zh-TW" dirty="0" err="1"/>
              <a:t>A</a:t>
            </a:r>
            <a:r>
              <a:rPr lang="en-US" altLang="zh-TW" dirty="0"/>
              <a:t> C</a:t>
            </a:r>
          </a:p>
          <a:p>
            <a:pPr marL="0" indent="0">
              <a:buNone/>
            </a:pPr>
            <a:r>
              <a:rPr lang="en-US" altLang="zh-TW" dirty="0"/>
              <a:t>                     A </a:t>
            </a:r>
            <a:r>
              <a:rPr lang="en-US" altLang="zh-TW" dirty="0" err="1"/>
              <a:t>A</a:t>
            </a:r>
            <a:r>
              <a:rPr lang="en-US" altLang="zh-TW" dirty="0"/>
              <a:t> G T C G T A </a:t>
            </a:r>
            <a:r>
              <a:rPr lang="en-US" altLang="zh-TW" dirty="0" err="1"/>
              <a:t>A</a:t>
            </a:r>
            <a:r>
              <a:rPr lang="en-US" altLang="zh-TW" dirty="0"/>
              <a:t> C</a:t>
            </a:r>
          </a:p>
          <a:p>
            <a:pPr marL="0" indent="0">
              <a:buNone/>
            </a:pPr>
            <a:r>
              <a:rPr lang="en-US" altLang="zh-TW" dirty="0"/>
              <a:t>                                A </a:t>
            </a:r>
            <a:r>
              <a:rPr lang="en-US" altLang="zh-TW" dirty="0" err="1"/>
              <a:t>A</a:t>
            </a:r>
            <a:r>
              <a:rPr lang="en-US" altLang="zh-TW" dirty="0"/>
              <a:t> G T C G T A </a:t>
            </a:r>
            <a:r>
              <a:rPr lang="en-US" altLang="zh-TW" dirty="0" err="1"/>
              <a:t>A</a:t>
            </a:r>
            <a:r>
              <a:rPr lang="en-US" altLang="zh-TW" dirty="0"/>
              <a:t> C </a:t>
            </a:r>
          </a:p>
          <a:p>
            <a:pPr marL="0" indent="0">
              <a:buNone/>
            </a:pPr>
            <a:endParaRPr lang="en-US" altLang="zh-TW" dirty="0"/>
          </a:p>
          <a:p>
            <a:pPr marL="0" indent="0">
              <a:buNone/>
            </a:pPr>
            <a:r>
              <a:rPr lang="en-US" altLang="zh-TW" dirty="0"/>
              <a:t>d</a:t>
            </a:r>
            <a:r>
              <a:rPr lang="en-US" altLang="zh-TW" baseline="-25000" dirty="0"/>
              <a:t>k</a:t>
            </a:r>
            <a:r>
              <a:rPr lang="en-US" altLang="zh-TW" dirty="0"/>
              <a:t>[AAC] = min{ d</a:t>
            </a:r>
            <a:r>
              <a:rPr lang="en-US" altLang="zh-TW" baseline="-25000" dirty="0"/>
              <a:t>k</a:t>
            </a:r>
            <a:r>
              <a:rPr lang="en-US" altLang="zh-TW" dirty="0"/>
              <a:t>[8,A], d</a:t>
            </a:r>
            <a:r>
              <a:rPr lang="en-US" altLang="zh-TW" baseline="-25000" dirty="0"/>
              <a:t>k</a:t>
            </a:r>
            <a:r>
              <a:rPr lang="en-US" altLang="zh-TW" dirty="0"/>
              <a:t>[9,A], d</a:t>
            </a:r>
            <a:r>
              <a:rPr lang="en-US" altLang="zh-TW" baseline="-25000" dirty="0"/>
              <a:t>k</a:t>
            </a:r>
            <a:r>
              <a:rPr lang="en-US" altLang="zh-TW" dirty="0"/>
              <a:t>[10,C] } = 1</a:t>
            </a:r>
          </a:p>
          <a:p>
            <a:pPr marL="0" indent="0">
              <a:buNone/>
            </a:pPr>
            <a:r>
              <a:rPr lang="en-US" altLang="zh-TW" dirty="0"/>
              <a:t>d</a:t>
            </a:r>
            <a:r>
              <a:rPr lang="en-US" altLang="zh-TW" baseline="-25000" dirty="0"/>
              <a:t>k</a:t>
            </a:r>
            <a:r>
              <a:rPr lang="en-US" altLang="zh-TW" dirty="0"/>
              <a:t>[ACT] = min{ d</a:t>
            </a:r>
            <a:r>
              <a:rPr lang="en-US" altLang="zh-TW" baseline="-25000" dirty="0"/>
              <a:t>k</a:t>
            </a:r>
            <a:r>
              <a:rPr lang="en-US" altLang="zh-TW" dirty="0"/>
              <a:t>[8,A], d</a:t>
            </a:r>
            <a:r>
              <a:rPr lang="en-US" altLang="zh-TW" baseline="-25000" dirty="0"/>
              <a:t>k</a:t>
            </a:r>
            <a:r>
              <a:rPr lang="en-US" altLang="zh-TW" dirty="0"/>
              <a:t>[9,C], d</a:t>
            </a:r>
            <a:r>
              <a:rPr lang="en-US" altLang="zh-TW" baseline="-25000" dirty="0"/>
              <a:t>k</a:t>
            </a:r>
            <a:r>
              <a:rPr lang="en-US" altLang="zh-TW" dirty="0"/>
              <a:t>[10,T] } = 3</a:t>
            </a:r>
            <a:endParaRPr lang="zh-TW" altLang="en-US" dirty="0"/>
          </a:p>
          <a:p>
            <a:pPr marL="0" indent="0">
              <a:buNone/>
            </a:pPr>
            <a:endParaRPr lang="zh-TW" altLang="en-US" dirty="0"/>
          </a:p>
        </p:txBody>
      </p:sp>
      <p:pic>
        <p:nvPicPr>
          <p:cNvPr id="5" name="圖片 4">
            <a:extLst>
              <a:ext uri="{FF2B5EF4-FFF2-40B4-BE49-F238E27FC236}">
                <a16:creationId xmlns:a16="http://schemas.microsoft.com/office/drawing/2014/main" id="{0045C868-D0B0-4A6F-B804-9ED6F6ECB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8786" y="4002833"/>
            <a:ext cx="2782924" cy="1759451"/>
          </a:xfrm>
          <a:prstGeom prst="rect">
            <a:avLst/>
          </a:prstGeom>
        </p:spPr>
      </p:pic>
      <p:cxnSp>
        <p:nvCxnSpPr>
          <p:cNvPr id="6" name="直線接點 5">
            <a:extLst>
              <a:ext uri="{FF2B5EF4-FFF2-40B4-BE49-F238E27FC236}">
                <a16:creationId xmlns:a16="http://schemas.microsoft.com/office/drawing/2014/main" id="{4317A0A5-E729-4EB5-88F7-614927EB0929}"/>
              </a:ext>
            </a:extLst>
          </p:cNvPr>
          <p:cNvCxnSpPr/>
          <p:nvPr/>
        </p:nvCxnSpPr>
        <p:spPr>
          <a:xfrm>
            <a:off x="4295163" y="2239861"/>
            <a:ext cx="79695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9C508131-4DF1-47CB-A161-E13904BD9969}"/>
              </a:ext>
            </a:extLst>
          </p:cNvPr>
          <p:cNvCxnSpPr/>
          <p:nvPr/>
        </p:nvCxnSpPr>
        <p:spPr>
          <a:xfrm>
            <a:off x="4539841" y="2333538"/>
            <a:ext cx="796954" cy="0"/>
          </a:xfrm>
          <a:prstGeom prst="lin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B0E84F34-09CC-4509-82DF-A3C5D6DC433F}"/>
              </a:ext>
            </a:extLst>
          </p:cNvPr>
          <p:cNvCxnSpPr/>
          <p:nvPr/>
        </p:nvCxnSpPr>
        <p:spPr>
          <a:xfrm>
            <a:off x="4295163" y="2745997"/>
            <a:ext cx="79695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FD624149-A200-4469-9051-B3C774D1E3FC}"/>
              </a:ext>
            </a:extLst>
          </p:cNvPr>
          <p:cNvCxnSpPr/>
          <p:nvPr/>
        </p:nvCxnSpPr>
        <p:spPr>
          <a:xfrm>
            <a:off x="4599963" y="3250734"/>
            <a:ext cx="796954" cy="0"/>
          </a:xfrm>
          <a:prstGeom prst="lin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D19CBE87-5A11-4868-BC62-CCB9420F6C1D}"/>
              </a:ext>
            </a:extLst>
          </p:cNvPr>
          <p:cNvSpPr txBox="1"/>
          <p:nvPr/>
        </p:nvSpPr>
        <p:spPr>
          <a:xfrm>
            <a:off x="8332581" y="2378113"/>
            <a:ext cx="3021219" cy="523220"/>
          </a:xfrm>
          <a:prstGeom prst="rect">
            <a:avLst/>
          </a:prstGeom>
          <a:noFill/>
        </p:spPr>
        <p:txBody>
          <a:bodyPr wrap="square" rtlCol="0">
            <a:spAutoFit/>
          </a:bodyPr>
          <a:lstStyle/>
          <a:p>
            <a:r>
              <a:rPr lang="en-US" altLang="zh-TW" sz="2800" dirty="0"/>
              <a:t>O( </a:t>
            </a:r>
            <a:r>
              <a:rPr lang="en-US" altLang="zh-TW" sz="2800" dirty="0" err="1"/>
              <a:t>kn</a:t>
            </a:r>
            <a:r>
              <a:rPr lang="en-US" altLang="zh-TW" sz="2800" dirty="0"/>
              <a:t>(1/</a:t>
            </a:r>
            <a:r>
              <a:rPr lang="en-US" altLang="zh-TW" sz="2800" dirty="0" err="1"/>
              <a:t>m-k+k</a:t>
            </a:r>
            <a:r>
              <a:rPr lang="en-US" altLang="zh-TW" sz="2800" dirty="0"/>
              <a:t>/c) )</a:t>
            </a:r>
            <a:endParaRPr lang="zh-TW" altLang="en-US" sz="2800" dirty="0"/>
          </a:p>
        </p:txBody>
      </p:sp>
    </p:spTree>
    <p:extLst>
      <p:ext uri="{BB962C8B-B14F-4D97-AF65-F5344CB8AC3E}">
        <p14:creationId xmlns:p14="http://schemas.microsoft.com/office/powerpoint/2010/main" val="343162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5CD07B-F686-4D8D-8D4F-302B95E5AD2B}"/>
              </a:ext>
            </a:extLst>
          </p:cNvPr>
          <p:cNvSpPr>
            <a:spLocks noGrp="1"/>
          </p:cNvSpPr>
          <p:nvPr>
            <p:ph type="title"/>
          </p:nvPr>
        </p:nvSpPr>
        <p:spPr/>
        <p:txBody>
          <a:bodyPr/>
          <a:lstStyle/>
          <a:p>
            <a:r>
              <a:rPr lang="en-US" altLang="zh-TW" b="1" dirty="0"/>
              <a:t>FAAST</a:t>
            </a:r>
            <a:endParaRPr lang="zh-TW" altLang="en-US" b="1" dirty="0"/>
          </a:p>
        </p:txBody>
      </p:sp>
      <p:sp>
        <p:nvSpPr>
          <p:cNvPr id="3" name="內容版面配置區 2">
            <a:extLst>
              <a:ext uri="{FF2B5EF4-FFF2-40B4-BE49-F238E27FC236}">
                <a16:creationId xmlns:a16="http://schemas.microsoft.com/office/drawing/2014/main" id="{F1C2FB2A-8F84-416E-8B82-6EE751831DF7}"/>
              </a:ext>
            </a:extLst>
          </p:cNvPr>
          <p:cNvSpPr>
            <a:spLocks noGrp="1"/>
          </p:cNvSpPr>
          <p:nvPr>
            <p:ph idx="1"/>
          </p:nvPr>
        </p:nvSpPr>
        <p:spPr/>
        <p:txBody>
          <a:bodyPr/>
          <a:lstStyle/>
          <a:p>
            <a:r>
              <a:rPr lang="en-US" altLang="zh-TW" dirty="0"/>
              <a:t>Ex</a:t>
            </a:r>
            <a:r>
              <a:rPr lang="zh-TW" altLang="en-US" dirty="0"/>
              <a:t>： </a:t>
            </a:r>
            <a:r>
              <a:rPr lang="en-US" altLang="zh-TW" dirty="0"/>
              <a:t>Pattern</a:t>
            </a:r>
            <a:r>
              <a:rPr lang="zh-TW" altLang="en-US" dirty="0"/>
              <a:t>：</a:t>
            </a:r>
            <a:r>
              <a:rPr lang="en-US" altLang="zh-TW" dirty="0"/>
              <a:t>A </a:t>
            </a:r>
            <a:r>
              <a:rPr lang="en-US" altLang="zh-TW" dirty="0" err="1"/>
              <a:t>A</a:t>
            </a:r>
            <a:r>
              <a:rPr lang="en-US" altLang="zh-TW" dirty="0"/>
              <a:t> G T C G T A </a:t>
            </a:r>
            <a:r>
              <a:rPr lang="en-US" altLang="zh-TW" dirty="0" err="1"/>
              <a:t>A</a:t>
            </a:r>
            <a:r>
              <a:rPr lang="en-US" altLang="zh-TW" dirty="0"/>
              <a:t> C</a:t>
            </a:r>
          </a:p>
          <a:p>
            <a:endParaRPr lang="zh-TW" altLang="en-US" dirty="0"/>
          </a:p>
        </p:txBody>
      </p:sp>
      <p:pic>
        <p:nvPicPr>
          <p:cNvPr id="7" name="圖片 6">
            <a:extLst>
              <a:ext uri="{FF2B5EF4-FFF2-40B4-BE49-F238E27FC236}">
                <a16:creationId xmlns:a16="http://schemas.microsoft.com/office/drawing/2014/main" id="{4B67BD8D-E6CA-4E6C-9E20-5838E0E07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8664" y="2785975"/>
            <a:ext cx="5277587" cy="428685"/>
          </a:xfrm>
          <a:prstGeom prst="rect">
            <a:avLst/>
          </a:prstGeom>
        </p:spPr>
      </p:pic>
      <p:pic>
        <p:nvPicPr>
          <p:cNvPr id="9" name="圖片 8">
            <a:extLst>
              <a:ext uri="{FF2B5EF4-FFF2-40B4-BE49-F238E27FC236}">
                <a16:creationId xmlns:a16="http://schemas.microsoft.com/office/drawing/2014/main" id="{3CC355A3-45BC-4D72-87FF-949A2D196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2297" y="3643152"/>
            <a:ext cx="3010320" cy="2105319"/>
          </a:xfrm>
          <a:prstGeom prst="rect">
            <a:avLst/>
          </a:prstGeom>
        </p:spPr>
      </p:pic>
    </p:spTree>
    <p:extLst>
      <p:ext uri="{BB962C8B-B14F-4D97-AF65-F5344CB8AC3E}">
        <p14:creationId xmlns:p14="http://schemas.microsoft.com/office/powerpoint/2010/main" val="18423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5CD07B-F686-4D8D-8D4F-302B95E5AD2B}"/>
              </a:ext>
            </a:extLst>
          </p:cNvPr>
          <p:cNvSpPr>
            <a:spLocks noGrp="1"/>
          </p:cNvSpPr>
          <p:nvPr>
            <p:ph type="title"/>
          </p:nvPr>
        </p:nvSpPr>
        <p:spPr/>
        <p:txBody>
          <a:bodyPr/>
          <a:lstStyle/>
          <a:p>
            <a:r>
              <a:rPr lang="en-US" altLang="zh-TW" b="1" dirty="0"/>
              <a:t>FAAST</a:t>
            </a:r>
            <a:endParaRPr lang="zh-TW" altLang="en-US" b="1" dirty="0"/>
          </a:p>
        </p:txBody>
      </p:sp>
      <p:sp>
        <p:nvSpPr>
          <p:cNvPr id="3" name="內容版面配置區 2">
            <a:extLst>
              <a:ext uri="{FF2B5EF4-FFF2-40B4-BE49-F238E27FC236}">
                <a16:creationId xmlns:a16="http://schemas.microsoft.com/office/drawing/2014/main" id="{F1C2FB2A-8F84-416E-8B82-6EE751831DF7}"/>
              </a:ext>
            </a:extLst>
          </p:cNvPr>
          <p:cNvSpPr>
            <a:spLocks noGrp="1"/>
          </p:cNvSpPr>
          <p:nvPr>
            <p:ph idx="1"/>
          </p:nvPr>
        </p:nvSpPr>
        <p:spPr/>
        <p:txBody>
          <a:bodyPr/>
          <a:lstStyle/>
          <a:p>
            <a:r>
              <a:rPr lang="en-US" altLang="zh-TW" dirty="0"/>
              <a:t>Ex</a:t>
            </a:r>
            <a:r>
              <a:rPr lang="zh-TW" altLang="en-US" dirty="0"/>
              <a:t>： </a:t>
            </a:r>
            <a:r>
              <a:rPr lang="en-US" altLang="zh-TW" dirty="0"/>
              <a:t>Pattern</a:t>
            </a:r>
            <a:r>
              <a:rPr lang="zh-TW" altLang="en-US" dirty="0"/>
              <a:t>：</a:t>
            </a:r>
            <a:r>
              <a:rPr lang="en-US" altLang="zh-TW" dirty="0"/>
              <a:t>A </a:t>
            </a:r>
            <a:r>
              <a:rPr lang="en-US" altLang="zh-TW" dirty="0" err="1"/>
              <a:t>A</a:t>
            </a:r>
            <a:r>
              <a:rPr lang="en-US" altLang="zh-TW" dirty="0"/>
              <a:t> G T C G T A </a:t>
            </a:r>
            <a:r>
              <a:rPr lang="en-US" altLang="zh-TW" dirty="0" err="1"/>
              <a:t>A</a:t>
            </a:r>
            <a:r>
              <a:rPr lang="en-US" altLang="zh-TW" dirty="0"/>
              <a:t> C</a:t>
            </a:r>
          </a:p>
          <a:p>
            <a:endParaRPr lang="zh-TW" altLang="en-US" dirty="0"/>
          </a:p>
        </p:txBody>
      </p:sp>
      <p:pic>
        <p:nvPicPr>
          <p:cNvPr id="11" name="圖片 10">
            <a:extLst>
              <a:ext uri="{FF2B5EF4-FFF2-40B4-BE49-F238E27FC236}">
                <a16:creationId xmlns:a16="http://schemas.microsoft.com/office/drawing/2014/main" id="{72775477-5A8B-40D7-9080-178C3C5E1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5662" y="3215843"/>
            <a:ext cx="6763694" cy="3096057"/>
          </a:xfrm>
          <a:prstGeom prst="rect">
            <a:avLst/>
          </a:prstGeom>
        </p:spPr>
      </p:pic>
      <p:pic>
        <p:nvPicPr>
          <p:cNvPr id="13" name="圖片 12">
            <a:extLst>
              <a:ext uri="{FF2B5EF4-FFF2-40B4-BE49-F238E27FC236}">
                <a16:creationId xmlns:a16="http://schemas.microsoft.com/office/drawing/2014/main" id="{985FA518-E201-4CDF-8BFD-8A08781861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5136" y="2627125"/>
            <a:ext cx="7144747" cy="438211"/>
          </a:xfrm>
          <a:prstGeom prst="rect">
            <a:avLst/>
          </a:prstGeom>
        </p:spPr>
      </p:pic>
    </p:spTree>
    <p:extLst>
      <p:ext uri="{BB962C8B-B14F-4D97-AF65-F5344CB8AC3E}">
        <p14:creationId xmlns:p14="http://schemas.microsoft.com/office/powerpoint/2010/main" val="3962152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915111-AA88-41A0-8049-407CB038B976}"/>
              </a:ext>
            </a:extLst>
          </p:cNvPr>
          <p:cNvSpPr>
            <a:spLocks noGrp="1"/>
          </p:cNvSpPr>
          <p:nvPr>
            <p:ph type="title"/>
          </p:nvPr>
        </p:nvSpPr>
        <p:spPr/>
        <p:txBody>
          <a:bodyPr/>
          <a:lstStyle/>
          <a:p>
            <a:r>
              <a:rPr lang="en-US" altLang="zh-TW" b="1" dirty="0"/>
              <a:t>FAAST</a:t>
            </a:r>
            <a:endParaRPr lang="zh-TW" altLang="en-US" b="1" dirty="0"/>
          </a:p>
        </p:txBody>
      </p:sp>
      <p:sp>
        <p:nvSpPr>
          <p:cNvPr id="3" name="內容版面配置區 2">
            <a:extLst>
              <a:ext uri="{FF2B5EF4-FFF2-40B4-BE49-F238E27FC236}">
                <a16:creationId xmlns:a16="http://schemas.microsoft.com/office/drawing/2014/main" id="{2E99CA73-96A4-4126-B1FF-5ADC83A96B1F}"/>
              </a:ext>
            </a:extLst>
          </p:cNvPr>
          <p:cNvSpPr>
            <a:spLocks noGrp="1"/>
          </p:cNvSpPr>
          <p:nvPr>
            <p:ph idx="1"/>
          </p:nvPr>
        </p:nvSpPr>
        <p:spPr/>
        <p:txBody>
          <a:bodyPr>
            <a:normAutofit lnSpcReduction="10000"/>
          </a:bodyPr>
          <a:lstStyle/>
          <a:p>
            <a:pPr marL="0" indent="0">
              <a:buNone/>
            </a:pPr>
            <a:r>
              <a:rPr lang="zh-TW" altLang="en-US" dirty="0"/>
              <a:t> 　</a:t>
            </a:r>
            <a:r>
              <a:rPr lang="en-US" altLang="zh-TW" dirty="0"/>
              <a:t>Text</a:t>
            </a:r>
            <a:r>
              <a:rPr lang="zh-TW" altLang="en-US" dirty="0"/>
              <a:t>：</a:t>
            </a:r>
            <a:r>
              <a:rPr lang="en-US" altLang="zh-TW" dirty="0"/>
              <a:t> A </a:t>
            </a:r>
            <a:r>
              <a:rPr lang="en-US" altLang="zh-TW" dirty="0" err="1"/>
              <a:t>A</a:t>
            </a:r>
            <a:r>
              <a:rPr lang="en-US" altLang="zh-TW" dirty="0"/>
              <a:t> C T G T </a:t>
            </a:r>
            <a:r>
              <a:rPr lang="en-US" altLang="zh-TW" dirty="0" err="1"/>
              <a:t>T</a:t>
            </a:r>
            <a:r>
              <a:rPr lang="en-US" altLang="zh-TW" dirty="0"/>
              <a:t> A </a:t>
            </a:r>
            <a:r>
              <a:rPr lang="en-US" altLang="zh-TW" dirty="0" err="1"/>
              <a:t>A</a:t>
            </a:r>
            <a:r>
              <a:rPr lang="en-US" altLang="zh-TW" dirty="0"/>
              <a:t> C T </a:t>
            </a:r>
            <a:r>
              <a:rPr lang="en-US" altLang="zh-TW" dirty="0" err="1"/>
              <a:t>T</a:t>
            </a:r>
            <a:r>
              <a:rPr lang="en-US" altLang="zh-TW" dirty="0"/>
              <a:t> G C G A C T A G</a:t>
            </a:r>
          </a:p>
          <a:p>
            <a:pPr marL="0" indent="0">
              <a:buNone/>
            </a:pPr>
            <a:r>
              <a:rPr lang="en-US" altLang="zh-TW" dirty="0"/>
              <a:t>Pattern</a:t>
            </a:r>
            <a:r>
              <a:rPr lang="zh-TW" altLang="en-US" dirty="0"/>
              <a:t>：</a:t>
            </a:r>
            <a:r>
              <a:rPr lang="en-US" altLang="zh-TW" dirty="0"/>
              <a:t>A </a:t>
            </a:r>
            <a:r>
              <a:rPr lang="en-US" altLang="zh-TW" dirty="0" err="1"/>
              <a:t>A</a:t>
            </a:r>
            <a:r>
              <a:rPr lang="en-US" altLang="zh-TW" dirty="0"/>
              <a:t> G T C G T A </a:t>
            </a:r>
            <a:r>
              <a:rPr lang="en-US" altLang="zh-TW" dirty="0" err="1"/>
              <a:t>A</a:t>
            </a:r>
            <a:r>
              <a:rPr lang="en-US" altLang="zh-TW" dirty="0"/>
              <a:t> C</a:t>
            </a:r>
          </a:p>
          <a:p>
            <a:pPr marL="0" indent="0">
              <a:buNone/>
            </a:pPr>
            <a:r>
              <a:rPr lang="en-US" altLang="zh-TW" dirty="0"/>
              <a:t>                                          A </a:t>
            </a:r>
            <a:r>
              <a:rPr lang="en-US" altLang="zh-TW" dirty="0" err="1"/>
              <a:t>A</a:t>
            </a:r>
            <a:r>
              <a:rPr lang="en-US" altLang="zh-TW" dirty="0"/>
              <a:t> G T C G T A </a:t>
            </a:r>
            <a:r>
              <a:rPr lang="en-US" altLang="zh-TW" dirty="0" err="1"/>
              <a:t>A</a:t>
            </a:r>
            <a:r>
              <a:rPr lang="en-US" altLang="zh-TW" dirty="0"/>
              <a:t> C</a:t>
            </a:r>
          </a:p>
          <a:p>
            <a:pPr marL="0" indent="0">
              <a:buNone/>
            </a:pPr>
            <a:r>
              <a:rPr lang="en-US" altLang="zh-TW" dirty="0"/>
              <a:t>                                                                  A </a:t>
            </a:r>
            <a:r>
              <a:rPr lang="en-US" altLang="zh-TW" dirty="0" err="1"/>
              <a:t>A</a:t>
            </a:r>
            <a:r>
              <a:rPr lang="en-US" altLang="zh-TW" dirty="0"/>
              <a:t> G T C G T A </a:t>
            </a:r>
            <a:r>
              <a:rPr lang="en-US" altLang="zh-TW" dirty="0" err="1"/>
              <a:t>A</a:t>
            </a:r>
            <a:r>
              <a:rPr lang="en-US" altLang="zh-TW" dirty="0"/>
              <a:t> C </a:t>
            </a:r>
          </a:p>
          <a:p>
            <a:endParaRPr lang="en-US" altLang="zh-TW" dirty="0"/>
          </a:p>
          <a:p>
            <a:endParaRPr lang="en-US" altLang="zh-TW" dirty="0"/>
          </a:p>
          <a:p>
            <a:endParaRPr lang="en-US" altLang="zh-TW" dirty="0"/>
          </a:p>
          <a:p>
            <a:pPr marL="0" indent="0">
              <a:buNone/>
            </a:pPr>
            <a:r>
              <a:rPr lang="en-US" altLang="zh-TW" dirty="0"/>
              <a:t>d</a:t>
            </a:r>
            <a:r>
              <a:rPr lang="en-US" altLang="zh-TW" baseline="-25000" dirty="0"/>
              <a:t>k</a:t>
            </a:r>
            <a:r>
              <a:rPr lang="en-US" altLang="zh-TW" dirty="0"/>
              <a:t>[TTAAC] = 7</a:t>
            </a:r>
          </a:p>
          <a:p>
            <a:pPr marL="0" indent="0">
              <a:buNone/>
            </a:pPr>
            <a:r>
              <a:rPr lang="en-US" altLang="zh-TW" dirty="0"/>
              <a:t>d</a:t>
            </a:r>
            <a:r>
              <a:rPr lang="en-US" altLang="zh-TW" baseline="-25000" dirty="0"/>
              <a:t>k</a:t>
            </a:r>
            <a:r>
              <a:rPr lang="en-US" altLang="zh-TW" dirty="0"/>
              <a:t>[GCGAC] = 7</a:t>
            </a:r>
            <a:endParaRPr lang="zh-TW" altLang="en-US" dirty="0"/>
          </a:p>
        </p:txBody>
      </p:sp>
      <p:pic>
        <p:nvPicPr>
          <p:cNvPr id="5" name="圖片 4">
            <a:extLst>
              <a:ext uri="{FF2B5EF4-FFF2-40B4-BE49-F238E27FC236}">
                <a16:creationId xmlns:a16="http://schemas.microsoft.com/office/drawing/2014/main" id="{C28D5FF4-C525-4D3C-B0AC-DD663C838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403" y="3608680"/>
            <a:ext cx="8135485" cy="1200318"/>
          </a:xfrm>
          <a:prstGeom prst="rect">
            <a:avLst/>
          </a:prstGeom>
        </p:spPr>
      </p:pic>
      <p:cxnSp>
        <p:nvCxnSpPr>
          <p:cNvPr id="6" name="直線接點 5">
            <a:extLst>
              <a:ext uri="{FF2B5EF4-FFF2-40B4-BE49-F238E27FC236}">
                <a16:creationId xmlns:a16="http://schemas.microsoft.com/office/drawing/2014/main" id="{CD59C32E-FBF5-4295-B737-1ED88EC510FD}"/>
              </a:ext>
            </a:extLst>
          </p:cNvPr>
          <p:cNvCxnSpPr/>
          <p:nvPr/>
        </p:nvCxnSpPr>
        <p:spPr>
          <a:xfrm>
            <a:off x="3775046" y="2172749"/>
            <a:ext cx="13338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D24FA0F4-B948-4D69-AA24-CA8E142EBAD7}"/>
              </a:ext>
            </a:extLst>
          </p:cNvPr>
          <p:cNvCxnSpPr/>
          <p:nvPr/>
        </p:nvCxnSpPr>
        <p:spPr>
          <a:xfrm>
            <a:off x="3775046" y="2660709"/>
            <a:ext cx="13338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DC21318C-B774-4B35-8CA6-648293A69CDD}"/>
              </a:ext>
            </a:extLst>
          </p:cNvPr>
          <p:cNvCxnSpPr/>
          <p:nvPr/>
        </p:nvCxnSpPr>
        <p:spPr>
          <a:xfrm>
            <a:off x="5665365" y="2200713"/>
            <a:ext cx="133384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3CD5D78C-A822-492F-8085-05D52B6E06D5}"/>
              </a:ext>
            </a:extLst>
          </p:cNvPr>
          <p:cNvCxnSpPr/>
          <p:nvPr/>
        </p:nvCxnSpPr>
        <p:spPr>
          <a:xfrm>
            <a:off x="5733875" y="3133289"/>
            <a:ext cx="133384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C0E32F14-D379-4C61-8346-52575D3D1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1970" y="5303664"/>
            <a:ext cx="6670196" cy="352568"/>
          </a:xfrm>
          <a:prstGeom prst="rect">
            <a:avLst/>
          </a:prstGeom>
        </p:spPr>
      </p:pic>
      <p:pic>
        <p:nvPicPr>
          <p:cNvPr id="13" name="圖片 12">
            <a:extLst>
              <a:ext uri="{FF2B5EF4-FFF2-40B4-BE49-F238E27FC236}">
                <a16:creationId xmlns:a16="http://schemas.microsoft.com/office/drawing/2014/main" id="{B5BC6605-CD12-41D7-B225-C07A9E4F0E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3383" y="5594541"/>
            <a:ext cx="6698783" cy="371625"/>
          </a:xfrm>
          <a:prstGeom prst="rect">
            <a:avLst/>
          </a:prstGeom>
        </p:spPr>
      </p:pic>
      <p:pic>
        <p:nvPicPr>
          <p:cNvPr id="15" name="圖片 14">
            <a:extLst>
              <a:ext uri="{FF2B5EF4-FFF2-40B4-BE49-F238E27FC236}">
                <a16:creationId xmlns:a16="http://schemas.microsoft.com/office/drawing/2014/main" id="{D72765D1-83DA-42FB-AD9F-B66FCCCE88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4326" y="4982914"/>
            <a:ext cx="6717840" cy="371625"/>
          </a:xfrm>
          <a:prstGeom prst="rect">
            <a:avLst/>
          </a:prstGeom>
        </p:spPr>
      </p:pic>
    </p:spTree>
    <p:extLst>
      <p:ext uri="{BB962C8B-B14F-4D97-AF65-F5344CB8AC3E}">
        <p14:creationId xmlns:p14="http://schemas.microsoft.com/office/powerpoint/2010/main" val="183607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4114E8-ACF0-488E-BCA8-E86F2DFBA072}"/>
              </a:ext>
            </a:extLst>
          </p:cNvPr>
          <p:cNvSpPr>
            <a:spLocks noGrp="1"/>
          </p:cNvSpPr>
          <p:nvPr>
            <p:ph type="title"/>
          </p:nvPr>
        </p:nvSpPr>
        <p:spPr/>
        <p:txBody>
          <a:bodyPr/>
          <a:lstStyle/>
          <a:p>
            <a:r>
              <a:rPr lang="en-US" altLang="zh-TW" b="1" dirty="0"/>
              <a:t>FAAST</a:t>
            </a:r>
            <a:endParaRPr lang="zh-TW" altLang="en-US" b="1" dirty="0"/>
          </a:p>
        </p:txBody>
      </p:sp>
      <p:pic>
        <p:nvPicPr>
          <p:cNvPr id="5" name="內容版面配置區 4">
            <a:extLst>
              <a:ext uri="{FF2B5EF4-FFF2-40B4-BE49-F238E27FC236}">
                <a16:creationId xmlns:a16="http://schemas.microsoft.com/office/drawing/2014/main" id="{72459658-6085-457D-BF85-1233693DDD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363" y="1690688"/>
            <a:ext cx="5816287" cy="4351338"/>
          </a:xfrm>
        </p:spPr>
      </p:pic>
      <p:pic>
        <p:nvPicPr>
          <p:cNvPr id="10" name="圖片 9">
            <a:extLst>
              <a:ext uri="{FF2B5EF4-FFF2-40B4-BE49-F238E27FC236}">
                <a16:creationId xmlns:a16="http://schemas.microsoft.com/office/drawing/2014/main" id="{2187B845-DB67-48E1-887C-8816D9199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5145" y="1690688"/>
            <a:ext cx="6346855" cy="3615090"/>
          </a:xfrm>
          <a:prstGeom prst="rect">
            <a:avLst/>
          </a:prstGeom>
        </p:spPr>
      </p:pic>
      <p:sp>
        <p:nvSpPr>
          <p:cNvPr id="3" name="文字方塊 2">
            <a:extLst>
              <a:ext uri="{FF2B5EF4-FFF2-40B4-BE49-F238E27FC236}">
                <a16:creationId xmlns:a16="http://schemas.microsoft.com/office/drawing/2014/main" id="{BEBCE851-3EFE-4150-B758-FDC0DC945A59}"/>
              </a:ext>
            </a:extLst>
          </p:cNvPr>
          <p:cNvSpPr txBox="1"/>
          <p:nvPr/>
        </p:nvSpPr>
        <p:spPr>
          <a:xfrm>
            <a:off x="6456217" y="5518806"/>
            <a:ext cx="4775201" cy="523220"/>
          </a:xfrm>
          <a:prstGeom prst="rect">
            <a:avLst/>
          </a:prstGeom>
          <a:noFill/>
        </p:spPr>
        <p:txBody>
          <a:bodyPr wrap="square" rtlCol="0">
            <a:spAutoFit/>
          </a:bodyPr>
          <a:lstStyle/>
          <a:p>
            <a:r>
              <a:rPr lang="en-US" altLang="zh-TW" sz="2800" dirty="0"/>
              <a:t>O( (</a:t>
            </a:r>
            <a:r>
              <a:rPr lang="en-US" altLang="zh-TW" sz="2800" dirty="0" err="1"/>
              <a:t>k+x</a:t>
            </a:r>
            <a:r>
              <a:rPr lang="en-US" altLang="zh-TW" sz="2800" dirty="0"/>
              <a:t>)((m-k)</a:t>
            </a:r>
            <a:r>
              <a:rPr lang="en-US" altLang="zh-TW" sz="2800" dirty="0" err="1"/>
              <a:t>c</a:t>
            </a:r>
            <a:r>
              <a:rPr lang="en-US" altLang="zh-TW" sz="2800" baseline="30000" dirty="0" err="1"/>
              <a:t>k+x</a:t>
            </a:r>
            <a:r>
              <a:rPr lang="en-US" altLang="zh-TW" sz="2800" dirty="0" err="1"/>
              <a:t>+m</a:t>
            </a:r>
            <a:r>
              <a:rPr lang="en-US" altLang="zh-TW" sz="2800" dirty="0"/>
              <a:t>) ) + O(</a:t>
            </a:r>
            <a:r>
              <a:rPr lang="en-US" altLang="zh-TW" sz="2800" dirty="0" err="1"/>
              <a:t>mn</a:t>
            </a:r>
            <a:r>
              <a:rPr lang="en-US" altLang="zh-TW" sz="2800" dirty="0"/>
              <a:t>)</a:t>
            </a:r>
            <a:endParaRPr lang="zh-TW" altLang="en-US" sz="2800" dirty="0"/>
          </a:p>
        </p:txBody>
      </p:sp>
    </p:spTree>
    <p:extLst>
      <p:ext uri="{BB962C8B-B14F-4D97-AF65-F5344CB8AC3E}">
        <p14:creationId xmlns:p14="http://schemas.microsoft.com/office/powerpoint/2010/main" val="268084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207A26-9E7D-4EC1-9ABB-D81EC5FE666C}"/>
              </a:ext>
            </a:extLst>
          </p:cNvPr>
          <p:cNvSpPr>
            <a:spLocks noGrp="1"/>
          </p:cNvSpPr>
          <p:nvPr>
            <p:ph type="title"/>
          </p:nvPr>
        </p:nvSpPr>
        <p:spPr/>
        <p:txBody>
          <a:bodyPr/>
          <a:lstStyle/>
          <a:p>
            <a:r>
              <a:rPr lang="en-US" altLang="zh-TW" b="1" dirty="0"/>
              <a:t>Analysis</a:t>
            </a:r>
            <a:r>
              <a:rPr lang="zh-TW" altLang="en-US" b="1" dirty="0"/>
              <a:t>：</a:t>
            </a:r>
            <a:r>
              <a:rPr lang="en-US" altLang="zh-TW" b="1" dirty="0"/>
              <a:t>average shift distance</a:t>
            </a:r>
            <a:endParaRPr lang="zh-TW" altLang="en-US" b="1" dirty="0"/>
          </a:p>
        </p:txBody>
      </p:sp>
      <p:pic>
        <p:nvPicPr>
          <p:cNvPr id="5" name="內容版面配置區 4">
            <a:extLst>
              <a:ext uri="{FF2B5EF4-FFF2-40B4-BE49-F238E27FC236}">
                <a16:creationId xmlns:a16="http://schemas.microsoft.com/office/drawing/2014/main" id="{5213D69F-8ED1-45F2-A743-D47C62CCA2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31517"/>
            <a:ext cx="10515600" cy="791082"/>
          </a:xfrm>
        </p:spPr>
      </p:pic>
      <p:pic>
        <p:nvPicPr>
          <p:cNvPr id="15" name="圖片 14">
            <a:extLst>
              <a:ext uri="{FF2B5EF4-FFF2-40B4-BE49-F238E27FC236}">
                <a16:creationId xmlns:a16="http://schemas.microsoft.com/office/drawing/2014/main" id="{1B9944DF-2CE3-46B5-B283-04C648AB1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935402"/>
            <a:ext cx="9904445" cy="376620"/>
          </a:xfrm>
          <a:prstGeom prst="rect">
            <a:avLst/>
          </a:prstGeom>
        </p:spPr>
      </p:pic>
      <p:pic>
        <p:nvPicPr>
          <p:cNvPr id="4" name="圖片 3">
            <a:extLst>
              <a:ext uri="{FF2B5EF4-FFF2-40B4-BE49-F238E27FC236}">
                <a16:creationId xmlns:a16="http://schemas.microsoft.com/office/drawing/2014/main" id="{052E735D-4E53-4593-8BA0-B3E07F479F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3418" y="4746193"/>
            <a:ext cx="3809524" cy="428571"/>
          </a:xfrm>
          <a:prstGeom prst="rect">
            <a:avLst/>
          </a:prstGeom>
        </p:spPr>
      </p:pic>
      <p:sp>
        <p:nvSpPr>
          <p:cNvPr id="6" name="文字方塊 5">
            <a:extLst>
              <a:ext uri="{FF2B5EF4-FFF2-40B4-BE49-F238E27FC236}">
                <a16:creationId xmlns:a16="http://schemas.microsoft.com/office/drawing/2014/main" id="{E091FDCA-63BA-431F-868C-4213E8F7A084}"/>
              </a:ext>
            </a:extLst>
          </p:cNvPr>
          <p:cNvSpPr txBox="1"/>
          <p:nvPr/>
        </p:nvSpPr>
        <p:spPr>
          <a:xfrm>
            <a:off x="1191491" y="4651544"/>
            <a:ext cx="1283854" cy="523220"/>
          </a:xfrm>
          <a:prstGeom prst="rect">
            <a:avLst/>
          </a:prstGeom>
          <a:noFill/>
        </p:spPr>
        <p:txBody>
          <a:bodyPr wrap="square" rtlCol="0">
            <a:spAutoFit/>
          </a:bodyPr>
          <a:lstStyle/>
          <a:p>
            <a:r>
              <a:rPr lang="en-US" altLang="zh-TW" sz="2800" dirty="0"/>
              <a:t>Proof</a:t>
            </a:r>
            <a:r>
              <a:rPr lang="zh-TW" altLang="en-US" sz="2800" dirty="0"/>
              <a:t>：</a:t>
            </a:r>
          </a:p>
        </p:txBody>
      </p:sp>
      <p:pic>
        <p:nvPicPr>
          <p:cNvPr id="8" name="圖片 7">
            <a:extLst>
              <a:ext uri="{FF2B5EF4-FFF2-40B4-BE49-F238E27FC236}">
                <a16:creationId xmlns:a16="http://schemas.microsoft.com/office/drawing/2014/main" id="{387FCEED-58CD-4054-A912-6179DA4833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75345" y="5324825"/>
            <a:ext cx="5904762" cy="942857"/>
          </a:xfrm>
          <a:prstGeom prst="rect">
            <a:avLst/>
          </a:prstGeom>
        </p:spPr>
      </p:pic>
    </p:spTree>
    <p:extLst>
      <p:ext uri="{BB962C8B-B14F-4D97-AF65-F5344CB8AC3E}">
        <p14:creationId xmlns:p14="http://schemas.microsoft.com/office/powerpoint/2010/main" val="3222155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E0EA0-3FD4-4EA7-AB2F-DED4AB1D1DF4}"/>
              </a:ext>
            </a:extLst>
          </p:cNvPr>
          <p:cNvSpPr>
            <a:spLocks noGrp="1"/>
          </p:cNvSpPr>
          <p:nvPr>
            <p:ph type="title"/>
          </p:nvPr>
        </p:nvSpPr>
        <p:spPr/>
        <p:txBody>
          <a:bodyPr/>
          <a:lstStyle/>
          <a:p>
            <a:r>
              <a:rPr lang="en-US" altLang="zh-TW" b="1" dirty="0"/>
              <a:t>Analysis</a:t>
            </a:r>
            <a:r>
              <a:rPr lang="zh-TW" altLang="en-US" b="1" dirty="0"/>
              <a:t>：</a:t>
            </a:r>
            <a:r>
              <a:rPr lang="en-US" altLang="zh-TW" b="1" dirty="0"/>
              <a:t>average shift distance</a:t>
            </a:r>
            <a:endParaRPr lang="zh-TW" altLang="en-US" dirty="0"/>
          </a:p>
        </p:txBody>
      </p:sp>
      <p:pic>
        <p:nvPicPr>
          <p:cNvPr id="4" name="內容版面配置區 3">
            <a:extLst>
              <a:ext uri="{FF2B5EF4-FFF2-40B4-BE49-F238E27FC236}">
                <a16:creationId xmlns:a16="http://schemas.microsoft.com/office/drawing/2014/main" id="{0DD27C0C-82D0-4432-805E-C758B04F72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3188" y="1825625"/>
            <a:ext cx="5885624" cy="4351338"/>
          </a:xfrm>
          <a:prstGeom prst="rect">
            <a:avLst/>
          </a:prstGeom>
        </p:spPr>
      </p:pic>
    </p:spTree>
    <p:extLst>
      <p:ext uri="{BB962C8B-B14F-4D97-AF65-F5344CB8AC3E}">
        <p14:creationId xmlns:p14="http://schemas.microsoft.com/office/powerpoint/2010/main" val="2208133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179A50-1E1C-48D7-A614-B2C92411B1C5}"/>
              </a:ext>
            </a:extLst>
          </p:cNvPr>
          <p:cNvSpPr>
            <a:spLocks noGrp="1"/>
          </p:cNvSpPr>
          <p:nvPr>
            <p:ph type="title"/>
          </p:nvPr>
        </p:nvSpPr>
        <p:spPr/>
        <p:txBody>
          <a:bodyPr/>
          <a:lstStyle/>
          <a:p>
            <a:r>
              <a:rPr lang="en-US" altLang="zh-TW" b="1" dirty="0"/>
              <a:t>Analysis</a:t>
            </a:r>
            <a:r>
              <a:rPr lang="zh-TW" altLang="en-US" b="1" dirty="0"/>
              <a:t>：</a:t>
            </a:r>
            <a:r>
              <a:rPr lang="en-US" altLang="zh-TW" b="1" dirty="0"/>
              <a:t>total</a:t>
            </a:r>
            <a:r>
              <a:rPr lang="zh-TW" altLang="en-US" b="1" dirty="0"/>
              <a:t> </a:t>
            </a:r>
            <a:r>
              <a:rPr lang="en-US" altLang="zh-TW" b="1" dirty="0"/>
              <a:t>character</a:t>
            </a:r>
            <a:r>
              <a:rPr lang="zh-TW" altLang="en-US" b="1" dirty="0"/>
              <a:t> </a:t>
            </a:r>
            <a:r>
              <a:rPr lang="en-US" altLang="zh-TW" b="1" dirty="0"/>
              <a:t>comparisons</a:t>
            </a:r>
            <a:endParaRPr lang="zh-TW" altLang="en-US" b="1" dirty="0"/>
          </a:p>
        </p:txBody>
      </p:sp>
      <p:pic>
        <p:nvPicPr>
          <p:cNvPr id="5" name="內容版面配置區 4">
            <a:extLst>
              <a:ext uri="{FF2B5EF4-FFF2-40B4-BE49-F238E27FC236}">
                <a16:creationId xmlns:a16="http://schemas.microsoft.com/office/drawing/2014/main" id="{FE4EFF1E-5C0A-402D-AE0C-29A536A35B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42530"/>
            <a:ext cx="10515600" cy="763779"/>
          </a:xfrm>
        </p:spPr>
      </p:pic>
      <p:pic>
        <p:nvPicPr>
          <p:cNvPr id="7" name="圖片 6">
            <a:extLst>
              <a:ext uri="{FF2B5EF4-FFF2-40B4-BE49-F238E27FC236}">
                <a16:creationId xmlns:a16="http://schemas.microsoft.com/office/drawing/2014/main" id="{0912B5F3-468A-4C95-BED1-6FCDE9B9E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684941"/>
            <a:ext cx="9686731" cy="685675"/>
          </a:xfrm>
          <a:prstGeom prst="rect">
            <a:avLst/>
          </a:prstGeom>
        </p:spPr>
      </p:pic>
    </p:spTree>
    <p:extLst>
      <p:ext uri="{BB962C8B-B14F-4D97-AF65-F5344CB8AC3E}">
        <p14:creationId xmlns:p14="http://schemas.microsoft.com/office/powerpoint/2010/main" val="163888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91EB2F-0D1A-4FC3-A7E5-6AF8ABE1D41C}"/>
              </a:ext>
            </a:extLst>
          </p:cNvPr>
          <p:cNvSpPr>
            <a:spLocks noGrp="1"/>
          </p:cNvSpPr>
          <p:nvPr>
            <p:ph type="title"/>
          </p:nvPr>
        </p:nvSpPr>
        <p:spPr/>
        <p:txBody>
          <a:bodyPr/>
          <a:lstStyle/>
          <a:p>
            <a:r>
              <a:rPr lang="en-US" altLang="zh-TW" b="1" dirty="0"/>
              <a:t>Analysis</a:t>
            </a:r>
            <a:r>
              <a:rPr lang="zh-TW" altLang="en-US" b="1" dirty="0"/>
              <a:t>：</a:t>
            </a:r>
            <a:r>
              <a:rPr lang="en-US" altLang="zh-TW" b="1" dirty="0"/>
              <a:t>total</a:t>
            </a:r>
            <a:r>
              <a:rPr lang="zh-TW" altLang="en-US" b="1" dirty="0"/>
              <a:t> </a:t>
            </a:r>
            <a:r>
              <a:rPr lang="en-US" altLang="zh-TW" b="1" dirty="0"/>
              <a:t>character</a:t>
            </a:r>
            <a:r>
              <a:rPr lang="zh-TW" altLang="en-US" b="1" dirty="0"/>
              <a:t> </a:t>
            </a:r>
            <a:r>
              <a:rPr lang="en-US" altLang="zh-TW" b="1" dirty="0"/>
              <a:t>comparisons</a:t>
            </a:r>
            <a:endParaRPr lang="zh-TW" altLang="en-US" dirty="0"/>
          </a:p>
        </p:txBody>
      </p:sp>
      <p:pic>
        <p:nvPicPr>
          <p:cNvPr id="5" name="內容版面配置區 4">
            <a:extLst>
              <a:ext uri="{FF2B5EF4-FFF2-40B4-BE49-F238E27FC236}">
                <a16:creationId xmlns:a16="http://schemas.microsoft.com/office/drawing/2014/main" id="{D1E902B9-85DF-4BD4-9B01-8FE9B3A8AD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8786" y="1825625"/>
            <a:ext cx="5934428" cy="4351338"/>
          </a:xfrm>
        </p:spPr>
      </p:pic>
    </p:spTree>
    <p:extLst>
      <p:ext uri="{BB962C8B-B14F-4D97-AF65-F5344CB8AC3E}">
        <p14:creationId xmlns:p14="http://schemas.microsoft.com/office/powerpoint/2010/main" val="1051653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DC8D8B-4C27-423D-8055-93F30DA45CCD}"/>
              </a:ext>
            </a:extLst>
          </p:cNvPr>
          <p:cNvSpPr>
            <a:spLocks noGrp="1"/>
          </p:cNvSpPr>
          <p:nvPr>
            <p:ph type="title"/>
          </p:nvPr>
        </p:nvSpPr>
        <p:spPr/>
        <p:txBody>
          <a:bodyPr/>
          <a:lstStyle/>
          <a:p>
            <a:r>
              <a:rPr lang="en-US" altLang="zh-TW" b="1" dirty="0"/>
              <a:t>Experiment (1/2)</a:t>
            </a:r>
            <a:endParaRPr lang="zh-TW" altLang="en-US" b="1" dirty="0"/>
          </a:p>
        </p:txBody>
      </p:sp>
      <p:sp>
        <p:nvSpPr>
          <p:cNvPr id="3" name="內容版面配置區 2">
            <a:extLst>
              <a:ext uri="{FF2B5EF4-FFF2-40B4-BE49-F238E27FC236}">
                <a16:creationId xmlns:a16="http://schemas.microsoft.com/office/drawing/2014/main" id="{C31A1065-AAE2-4984-AE02-3B1B37A33738}"/>
              </a:ext>
            </a:extLst>
          </p:cNvPr>
          <p:cNvSpPr>
            <a:spLocks noGrp="1"/>
          </p:cNvSpPr>
          <p:nvPr>
            <p:ph idx="1"/>
          </p:nvPr>
        </p:nvSpPr>
        <p:spPr>
          <a:xfrm>
            <a:off x="2816290" y="2278287"/>
            <a:ext cx="10515600" cy="2065240"/>
          </a:xfrm>
        </p:spPr>
        <p:txBody>
          <a:bodyPr/>
          <a:lstStyle/>
          <a:p>
            <a:pPr marL="0" indent="0">
              <a:buNone/>
            </a:pPr>
            <a:r>
              <a:rPr lang="en-US" altLang="zh-TW" dirty="0"/>
              <a:t>Simulated DNA sequence</a:t>
            </a:r>
            <a:r>
              <a:rPr lang="zh-TW" altLang="en-US" dirty="0"/>
              <a:t>：</a:t>
            </a:r>
            <a:r>
              <a:rPr lang="en-US" altLang="zh-TW" dirty="0"/>
              <a:t>2M</a:t>
            </a:r>
            <a:br>
              <a:rPr lang="en-US" altLang="zh-TW" dirty="0"/>
            </a:br>
            <a:r>
              <a:rPr lang="en-US" altLang="zh-TW" dirty="0"/>
              <a:t>Pattern size</a:t>
            </a:r>
            <a:r>
              <a:rPr lang="zh-TW" altLang="en-US" dirty="0"/>
              <a:t>：</a:t>
            </a:r>
            <a:r>
              <a:rPr lang="en-US" altLang="zh-TW" dirty="0"/>
              <a:t>39</a:t>
            </a:r>
            <a:endParaRPr lang="zh-TW" altLang="en-US" dirty="0"/>
          </a:p>
        </p:txBody>
      </p:sp>
      <p:pic>
        <p:nvPicPr>
          <p:cNvPr id="9" name="圖片 8">
            <a:extLst>
              <a:ext uri="{FF2B5EF4-FFF2-40B4-BE49-F238E27FC236}">
                <a16:creationId xmlns:a16="http://schemas.microsoft.com/office/drawing/2014/main" id="{BCADA15B-6933-44E6-BAEB-D7388E46CB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1214" y="3429000"/>
            <a:ext cx="7525800" cy="1829055"/>
          </a:xfrm>
          <a:prstGeom prst="rect">
            <a:avLst/>
          </a:prstGeom>
        </p:spPr>
      </p:pic>
    </p:spTree>
    <p:extLst>
      <p:ext uri="{BB962C8B-B14F-4D97-AF65-F5344CB8AC3E}">
        <p14:creationId xmlns:p14="http://schemas.microsoft.com/office/powerpoint/2010/main" val="1567044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8">
            <a:extLst>
              <a:ext uri="{FF2B5EF4-FFF2-40B4-BE49-F238E27FC236}">
                <a16:creationId xmlns:a16="http://schemas.microsoft.com/office/drawing/2014/main" id="{DE10BA93-3690-43D9-89EA-D5D2EE595496}"/>
              </a:ext>
            </a:extLst>
          </p:cNvPr>
          <p:cNvSpPr>
            <a:spLocks noGrp="1"/>
          </p:cNvSpPr>
          <p:nvPr>
            <p:ph type="title"/>
          </p:nvPr>
        </p:nvSpPr>
        <p:spPr>
          <a:xfrm>
            <a:off x="838200" y="365125"/>
            <a:ext cx="10515600" cy="1034467"/>
          </a:xfrm>
        </p:spPr>
        <p:txBody>
          <a:bodyPr/>
          <a:lstStyle/>
          <a:p>
            <a:r>
              <a:rPr lang="en-US" altLang="zh-TW" b="1" dirty="0"/>
              <a:t>Experiment (2/2)</a:t>
            </a:r>
            <a:endParaRPr lang="zh-TW" altLang="en-US" b="1" dirty="0"/>
          </a:p>
        </p:txBody>
      </p:sp>
      <p:sp>
        <p:nvSpPr>
          <p:cNvPr id="5" name="文字版面配置區 4">
            <a:extLst>
              <a:ext uri="{FF2B5EF4-FFF2-40B4-BE49-F238E27FC236}">
                <a16:creationId xmlns:a16="http://schemas.microsoft.com/office/drawing/2014/main" id="{9E021D58-81DB-463C-9926-B3BC98A0EC9C}"/>
              </a:ext>
            </a:extLst>
          </p:cNvPr>
          <p:cNvSpPr>
            <a:spLocks noGrp="1"/>
          </p:cNvSpPr>
          <p:nvPr>
            <p:ph idx="1"/>
          </p:nvPr>
        </p:nvSpPr>
        <p:spPr>
          <a:xfrm>
            <a:off x="838200" y="1418252"/>
            <a:ext cx="10515600" cy="4205077"/>
          </a:xfrm>
        </p:spPr>
        <p:txBody>
          <a:bodyPr/>
          <a:lstStyle/>
          <a:p>
            <a:pPr marL="0" indent="0">
              <a:buNone/>
            </a:pPr>
            <a:r>
              <a:rPr lang="en-US" altLang="zh-TW" dirty="0"/>
              <a:t>bacterial DNA sequences</a:t>
            </a:r>
            <a:r>
              <a:rPr lang="zh-TW" altLang="en-US" dirty="0"/>
              <a:t>：</a:t>
            </a:r>
            <a:r>
              <a:rPr lang="en-US" altLang="zh-TW" dirty="0"/>
              <a:t>170K</a:t>
            </a:r>
          </a:p>
          <a:p>
            <a:pPr marL="0" indent="0">
              <a:buNone/>
            </a:pPr>
            <a:r>
              <a:rPr lang="en-US" altLang="zh-TW" dirty="0"/>
              <a:t>Pattern</a:t>
            </a:r>
            <a:r>
              <a:rPr lang="zh-TW" altLang="en-US" dirty="0"/>
              <a:t>：</a:t>
            </a:r>
            <a:r>
              <a:rPr lang="en-US" altLang="zh-TW" dirty="0"/>
              <a:t>AGRRTTTGATYHTGGYTCAG</a:t>
            </a:r>
            <a:br>
              <a:rPr lang="en-US" altLang="zh-TW" dirty="0"/>
            </a:br>
            <a:endParaRPr lang="zh-TW" altLang="en-US" dirty="0"/>
          </a:p>
        </p:txBody>
      </p:sp>
      <p:sp>
        <p:nvSpPr>
          <p:cNvPr id="7" name="文字版面配置區 6">
            <a:extLst>
              <a:ext uri="{FF2B5EF4-FFF2-40B4-BE49-F238E27FC236}">
                <a16:creationId xmlns:a16="http://schemas.microsoft.com/office/drawing/2014/main" id="{6ED63F75-7876-415E-8FBE-36C18802B069}"/>
              </a:ext>
            </a:extLst>
          </p:cNvPr>
          <p:cNvSpPr>
            <a:spLocks noGrp="1"/>
          </p:cNvSpPr>
          <p:nvPr>
            <p:ph type="body" sz="quarter" idx="4294967295"/>
          </p:nvPr>
        </p:nvSpPr>
        <p:spPr>
          <a:xfrm>
            <a:off x="838200" y="3952563"/>
            <a:ext cx="6249988" cy="823912"/>
          </a:xfrm>
        </p:spPr>
        <p:txBody>
          <a:bodyPr>
            <a:normAutofit fontScale="92500" lnSpcReduction="20000"/>
          </a:bodyPr>
          <a:lstStyle/>
          <a:p>
            <a:pPr marL="0" indent="0">
              <a:buNone/>
            </a:pPr>
            <a:r>
              <a:rPr lang="en-US" altLang="zh-TW" dirty="0"/>
              <a:t>fungal DNA sequences</a:t>
            </a:r>
            <a:r>
              <a:rPr lang="zh-TW" altLang="en-US" dirty="0"/>
              <a:t>：</a:t>
            </a:r>
            <a:r>
              <a:rPr lang="en-US" altLang="zh-TW" dirty="0"/>
              <a:t>179K</a:t>
            </a:r>
          </a:p>
          <a:p>
            <a:pPr marL="0" indent="0">
              <a:buNone/>
            </a:pPr>
            <a:r>
              <a:rPr lang="en-US" altLang="zh-TW" dirty="0"/>
              <a:t>Pattern</a:t>
            </a:r>
            <a:r>
              <a:rPr lang="zh-TW" altLang="en-US" dirty="0"/>
              <a:t>：</a:t>
            </a:r>
            <a:r>
              <a:rPr lang="en-US" altLang="zh-TW" dirty="0"/>
              <a:t>TTAGCATGGAATAATRRAATAGGA</a:t>
            </a:r>
            <a:endParaRPr lang="zh-TW" altLang="en-US" dirty="0"/>
          </a:p>
        </p:txBody>
      </p:sp>
      <p:pic>
        <p:nvPicPr>
          <p:cNvPr id="11" name="圖片 10">
            <a:extLst>
              <a:ext uri="{FF2B5EF4-FFF2-40B4-BE49-F238E27FC236}">
                <a16:creationId xmlns:a16="http://schemas.microsoft.com/office/drawing/2014/main" id="{255370BD-3B1B-4A49-82D4-6BC30146B3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3374" y="2514685"/>
            <a:ext cx="6849431" cy="1381318"/>
          </a:xfrm>
          <a:prstGeom prst="rect">
            <a:avLst/>
          </a:prstGeom>
        </p:spPr>
      </p:pic>
      <p:pic>
        <p:nvPicPr>
          <p:cNvPr id="13" name="圖片 12">
            <a:extLst>
              <a:ext uri="{FF2B5EF4-FFF2-40B4-BE49-F238E27FC236}">
                <a16:creationId xmlns:a16="http://schemas.microsoft.com/office/drawing/2014/main" id="{EA9014CD-9A69-4129-B23A-6E3FFEE48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3415" y="4833036"/>
            <a:ext cx="6906589" cy="1543265"/>
          </a:xfrm>
          <a:prstGeom prst="rect">
            <a:avLst/>
          </a:prstGeom>
        </p:spPr>
      </p:pic>
    </p:spTree>
    <p:extLst>
      <p:ext uri="{BB962C8B-B14F-4D97-AF65-F5344CB8AC3E}">
        <p14:creationId xmlns:p14="http://schemas.microsoft.com/office/powerpoint/2010/main" val="3247987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TotalTime>
  <Words>555</Words>
  <Application>Microsoft Office PowerPoint</Application>
  <PresentationFormat>寬螢幕</PresentationFormat>
  <Paragraphs>244</Paragraphs>
  <Slides>17</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新細明體</vt:lpstr>
      <vt:lpstr>Arial</vt:lpstr>
      <vt:lpstr>Calibri</vt:lpstr>
      <vt:lpstr>Calibri Light</vt:lpstr>
      <vt:lpstr>Office 佈景主題</vt:lpstr>
      <vt:lpstr>A Fast Algorithm for Approximate String Matching on Gene Sequences</vt:lpstr>
      <vt:lpstr>Abstract (1/2)</vt:lpstr>
      <vt:lpstr>Abstract (2/2)</vt:lpstr>
      <vt:lpstr>Approximate string matching：k-mismatch problem</vt:lpstr>
      <vt:lpstr>Approximate string matching：1-mismatch problem</vt:lpstr>
      <vt:lpstr>Approximate string matching：2-mismatch problem</vt:lpstr>
      <vt:lpstr>Tarhio-Ukkonen algorithm</vt:lpstr>
      <vt:lpstr>FAAST</vt:lpstr>
      <vt:lpstr>FAAST</vt:lpstr>
      <vt:lpstr>FAAST</vt:lpstr>
      <vt:lpstr>FAAST</vt:lpstr>
      <vt:lpstr>Analysis：average shift distance</vt:lpstr>
      <vt:lpstr>Analysis：average shift distance</vt:lpstr>
      <vt:lpstr>Analysis：total character comparisons</vt:lpstr>
      <vt:lpstr>Analysis：total character comparisons</vt:lpstr>
      <vt:lpstr>Experiment (1/2)</vt:lpstr>
      <vt:lpstr>Experiment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Approximate String Matching on Gene Sequences</dc:title>
  <dc:creator>冠霖</dc:creator>
  <cp:lastModifiedBy>冠霖</cp:lastModifiedBy>
  <cp:revision>31</cp:revision>
  <dcterms:created xsi:type="dcterms:W3CDTF">2018-10-13T04:07:15Z</dcterms:created>
  <dcterms:modified xsi:type="dcterms:W3CDTF">2018-10-16T10:06:22Z</dcterms:modified>
</cp:coreProperties>
</file>