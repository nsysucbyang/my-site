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74" r:id="rId4"/>
    <p:sldId id="276" r:id="rId5"/>
    <p:sldId id="277" r:id="rId6"/>
    <p:sldId id="284" r:id="rId7"/>
    <p:sldId id="279" r:id="rId8"/>
    <p:sldId id="280" r:id="rId9"/>
    <p:sldId id="282" r:id="rId10"/>
    <p:sldId id="283"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9" autoAdjust="0"/>
    <p:restoredTop sz="78307" autoAdjust="0"/>
  </p:normalViewPr>
  <p:slideViewPr>
    <p:cSldViewPr snapToGrid="0">
      <p:cViewPr varScale="1">
        <p:scale>
          <a:sx n="75" d="100"/>
          <a:sy n="75" d="100"/>
        </p:scale>
        <p:origin x="504"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2018/1/2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2</a:t>
            </a:fld>
            <a:endParaRPr lang="zh-TW" altLang="en-US"/>
          </a:p>
        </p:txBody>
      </p:sp>
    </p:spTree>
    <p:extLst>
      <p:ext uri="{BB962C8B-B14F-4D97-AF65-F5344CB8AC3E}">
        <p14:creationId xmlns:p14="http://schemas.microsoft.com/office/powerpoint/2010/main" val="3081513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3</a:t>
            </a:fld>
            <a:endParaRPr lang="zh-TW" altLang="en-US"/>
          </a:p>
        </p:txBody>
      </p:sp>
    </p:spTree>
    <p:extLst>
      <p:ext uri="{BB962C8B-B14F-4D97-AF65-F5344CB8AC3E}">
        <p14:creationId xmlns:p14="http://schemas.microsoft.com/office/powerpoint/2010/main" val="1572249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xmlns=""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xmlns="" id="{50E00B3F-FCF3-43A8-BA3C-83E3D27FDB5E}"/>
              </a:ext>
            </a:extLst>
          </p:cNvPr>
          <p:cNvSpPr>
            <a:spLocks noGrp="1"/>
          </p:cNvSpPr>
          <p:nvPr>
            <p:ph type="dt" sz="half" idx="10"/>
          </p:nvPr>
        </p:nvSpPr>
        <p:spPr/>
        <p:txBody>
          <a:bodyPr/>
          <a:lstStyle/>
          <a:p>
            <a:fld id="{4B163CDD-1571-4D07-AD50-27DEDA2DAB08}" type="datetime1">
              <a:rPr lang="zh-TW" altLang="en-US" smtClean="0"/>
              <a:t>2018/1/2</a:t>
            </a:fld>
            <a:endParaRPr lang="zh-TW" altLang="en-US"/>
          </a:p>
        </p:txBody>
      </p:sp>
      <p:sp>
        <p:nvSpPr>
          <p:cNvPr id="5" name="頁尾版面配置區 4">
            <a:extLst>
              <a:ext uri="{FF2B5EF4-FFF2-40B4-BE49-F238E27FC236}">
                <a16:creationId xmlns:a16="http://schemas.microsoft.com/office/drawing/2014/main" xmlns=""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xmlns=""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xmlns="" id="{84D63DA6-083D-4C87-B46F-4639F5BADD1D}"/>
              </a:ext>
            </a:extLst>
          </p:cNvPr>
          <p:cNvSpPr>
            <a:spLocks noGrp="1"/>
          </p:cNvSpPr>
          <p:nvPr>
            <p:ph type="dt" sz="half" idx="10"/>
          </p:nvPr>
        </p:nvSpPr>
        <p:spPr/>
        <p:txBody>
          <a:bodyPr/>
          <a:lstStyle/>
          <a:p>
            <a:fld id="{45E90CF3-7BCB-4E41-A4BC-7F7C7D47433D}" type="datetime1">
              <a:rPr lang="zh-TW" altLang="en-US" smtClean="0"/>
              <a:t>2018/1/2</a:t>
            </a:fld>
            <a:endParaRPr lang="zh-TW" altLang="en-US"/>
          </a:p>
        </p:txBody>
      </p:sp>
      <p:sp>
        <p:nvSpPr>
          <p:cNvPr id="5" name="頁尾版面配置區 4">
            <a:extLst>
              <a:ext uri="{FF2B5EF4-FFF2-40B4-BE49-F238E27FC236}">
                <a16:creationId xmlns:a16="http://schemas.microsoft.com/office/drawing/2014/main" xmlns=""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F67C9000-9E5A-4894-8CE5-D814ED1F8837}"/>
              </a:ext>
            </a:extLst>
          </p:cNvPr>
          <p:cNvSpPr>
            <a:spLocks noGrp="1"/>
          </p:cNvSpPr>
          <p:nvPr>
            <p:ph type="dt" sz="half" idx="10"/>
          </p:nvPr>
        </p:nvSpPr>
        <p:spPr/>
        <p:txBody>
          <a:bodyPr/>
          <a:lstStyle/>
          <a:p>
            <a:fld id="{939863AD-E347-426A-B227-78A9B42781C3}" type="datetime1">
              <a:rPr lang="zh-TW" altLang="en-US" smtClean="0"/>
              <a:t>2018/1/2</a:t>
            </a:fld>
            <a:endParaRPr lang="zh-TW" altLang="en-US"/>
          </a:p>
        </p:txBody>
      </p:sp>
      <p:sp>
        <p:nvSpPr>
          <p:cNvPr id="5" name="頁尾版面配置區 4">
            <a:extLst>
              <a:ext uri="{FF2B5EF4-FFF2-40B4-BE49-F238E27FC236}">
                <a16:creationId xmlns:a16="http://schemas.microsoft.com/office/drawing/2014/main" xmlns=""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19E55BE4-DE58-4CB4-A138-82C7FA95E005}"/>
              </a:ext>
            </a:extLst>
          </p:cNvPr>
          <p:cNvSpPr>
            <a:spLocks noGrp="1"/>
          </p:cNvSpPr>
          <p:nvPr>
            <p:ph type="dt" sz="half" idx="10"/>
          </p:nvPr>
        </p:nvSpPr>
        <p:spPr/>
        <p:txBody>
          <a:bodyPr/>
          <a:lstStyle/>
          <a:p>
            <a:fld id="{98EE8F46-57F3-4B32-B3C0-034060244659}" type="datetime1">
              <a:rPr lang="zh-TW" altLang="en-US" smtClean="0"/>
              <a:t>2018/1/2</a:t>
            </a:fld>
            <a:endParaRPr lang="zh-TW" altLang="en-US"/>
          </a:p>
        </p:txBody>
      </p:sp>
      <p:sp>
        <p:nvSpPr>
          <p:cNvPr id="6" name="頁尾版面配置區 5">
            <a:extLst>
              <a:ext uri="{FF2B5EF4-FFF2-40B4-BE49-F238E27FC236}">
                <a16:creationId xmlns:a16="http://schemas.microsoft.com/office/drawing/2014/main" xmlns=""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81164490-F37E-4BF2-B792-E41261B07B22}"/>
              </a:ext>
            </a:extLst>
          </p:cNvPr>
          <p:cNvSpPr>
            <a:spLocks noGrp="1"/>
          </p:cNvSpPr>
          <p:nvPr>
            <p:ph type="dt" sz="half" idx="10"/>
          </p:nvPr>
        </p:nvSpPr>
        <p:spPr/>
        <p:txBody>
          <a:bodyPr/>
          <a:lstStyle/>
          <a:p>
            <a:fld id="{25BE6354-929A-48E4-A569-5065F8787DBB}" type="datetime1">
              <a:rPr lang="zh-TW" altLang="en-US" smtClean="0"/>
              <a:t>2018/1/2</a:t>
            </a:fld>
            <a:endParaRPr lang="zh-TW" altLang="en-US"/>
          </a:p>
        </p:txBody>
      </p:sp>
      <p:sp>
        <p:nvSpPr>
          <p:cNvPr id="8" name="頁尾版面配置區 7">
            <a:extLst>
              <a:ext uri="{FF2B5EF4-FFF2-40B4-BE49-F238E27FC236}">
                <a16:creationId xmlns:a16="http://schemas.microsoft.com/office/drawing/2014/main" xmlns=""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A067B964-A9EE-448C-A903-DF032F75B54E}"/>
              </a:ext>
            </a:extLst>
          </p:cNvPr>
          <p:cNvSpPr>
            <a:spLocks noGrp="1"/>
          </p:cNvSpPr>
          <p:nvPr>
            <p:ph type="dt" sz="half" idx="10"/>
          </p:nvPr>
        </p:nvSpPr>
        <p:spPr/>
        <p:txBody>
          <a:bodyPr/>
          <a:lstStyle/>
          <a:p>
            <a:fld id="{9347B07A-C303-4A11-829E-75A08D84F791}" type="datetime1">
              <a:rPr lang="zh-TW" altLang="en-US" smtClean="0"/>
              <a:t>2018/1/2</a:t>
            </a:fld>
            <a:endParaRPr lang="zh-TW" altLang="en-US"/>
          </a:p>
        </p:txBody>
      </p:sp>
      <p:sp>
        <p:nvSpPr>
          <p:cNvPr id="4" name="頁尾版面配置區 3">
            <a:extLst>
              <a:ext uri="{FF2B5EF4-FFF2-40B4-BE49-F238E27FC236}">
                <a16:creationId xmlns:a16="http://schemas.microsoft.com/office/drawing/2014/main" xmlns=""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05DC494-3175-4D2C-8019-6DC804B304DE}"/>
              </a:ext>
            </a:extLst>
          </p:cNvPr>
          <p:cNvSpPr>
            <a:spLocks noGrp="1"/>
          </p:cNvSpPr>
          <p:nvPr>
            <p:ph type="dt" sz="half" idx="10"/>
          </p:nvPr>
        </p:nvSpPr>
        <p:spPr/>
        <p:txBody>
          <a:bodyPr/>
          <a:lstStyle/>
          <a:p>
            <a:fld id="{818C0FAA-EAB9-46FF-9B2E-6C03EFE0E627}" type="datetime1">
              <a:rPr lang="zh-TW" altLang="en-US" smtClean="0"/>
              <a:t>2018/1/2</a:t>
            </a:fld>
            <a:endParaRPr lang="zh-TW" altLang="en-US"/>
          </a:p>
        </p:txBody>
      </p:sp>
      <p:sp>
        <p:nvSpPr>
          <p:cNvPr id="3" name="頁尾版面配置區 2">
            <a:extLst>
              <a:ext uri="{FF2B5EF4-FFF2-40B4-BE49-F238E27FC236}">
                <a16:creationId xmlns:a16="http://schemas.microsoft.com/office/drawing/2014/main" xmlns=""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CE19407D-C528-4858-9191-402D0B2E4E7A}"/>
              </a:ext>
            </a:extLst>
          </p:cNvPr>
          <p:cNvSpPr>
            <a:spLocks noGrp="1"/>
          </p:cNvSpPr>
          <p:nvPr>
            <p:ph type="dt" sz="half" idx="10"/>
          </p:nvPr>
        </p:nvSpPr>
        <p:spPr/>
        <p:txBody>
          <a:bodyPr/>
          <a:lstStyle/>
          <a:p>
            <a:fld id="{6F615960-3F62-4BA7-8DEF-58213E9FC750}" type="datetime1">
              <a:rPr lang="zh-TW" altLang="en-US" smtClean="0"/>
              <a:t>2018/1/2</a:t>
            </a:fld>
            <a:endParaRPr lang="zh-TW" altLang="en-US"/>
          </a:p>
        </p:txBody>
      </p:sp>
      <p:sp>
        <p:nvSpPr>
          <p:cNvPr id="6" name="頁尾版面配置區 5">
            <a:extLst>
              <a:ext uri="{FF2B5EF4-FFF2-40B4-BE49-F238E27FC236}">
                <a16:creationId xmlns:a16="http://schemas.microsoft.com/office/drawing/2014/main" xmlns=""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xmlns=""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93917929-FFD5-45C6-AB7C-0A03F71D13FE}"/>
              </a:ext>
            </a:extLst>
          </p:cNvPr>
          <p:cNvSpPr>
            <a:spLocks noGrp="1"/>
          </p:cNvSpPr>
          <p:nvPr>
            <p:ph type="dt" sz="half" idx="10"/>
          </p:nvPr>
        </p:nvSpPr>
        <p:spPr/>
        <p:txBody>
          <a:bodyPr/>
          <a:lstStyle/>
          <a:p>
            <a:fld id="{BA495139-73A5-4D37-9F65-42DD6EFCB362}" type="datetime1">
              <a:rPr lang="zh-TW" altLang="en-US" smtClean="0"/>
              <a:t>2018/1/2</a:t>
            </a:fld>
            <a:endParaRPr lang="zh-TW" altLang="en-US"/>
          </a:p>
        </p:txBody>
      </p:sp>
      <p:sp>
        <p:nvSpPr>
          <p:cNvPr id="6" name="頁尾版面配置區 5">
            <a:extLst>
              <a:ext uri="{FF2B5EF4-FFF2-40B4-BE49-F238E27FC236}">
                <a16:creationId xmlns:a16="http://schemas.microsoft.com/office/drawing/2014/main" xmlns=""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CEF64FCF-DA26-41B4-8919-89C752F28E4F}"/>
              </a:ext>
            </a:extLst>
          </p:cNvPr>
          <p:cNvSpPr>
            <a:spLocks noGrp="1"/>
          </p:cNvSpPr>
          <p:nvPr>
            <p:ph type="dt" sz="half" idx="10"/>
          </p:nvPr>
        </p:nvSpPr>
        <p:spPr/>
        <p:txBody>
          <a:bodyPr/>
          <a:lstStyle/>
          <a:p>
            <a:fld id="{F65DB9CA-F34A-4005-B66B-4638821FBB36}" type="datetime1">
              <a:rPr lang="zh-TW" altLang="en-US" smtClean="0"/>
              <a:t>2018/1/2</a:t>
            </a:fld>
            <a:endParaRPr lang="zh-TW" altLang="en-US"/>
          </a:p>
        </p:txBody>
      </p:sp>
      <p:sp>
        <p:nvSpPr>
          <p:cNvPr id="5" name="頁尾版面配置區 4">
            <a:extLst>
              <a:ext uri="{FF2B5EF4-FFF2-40B4-BE49-F238E27FC236}">
                <a16:creationId xmlns:a16="http://schemas.microsoft.com/office/drawing/2014/main" xmlns=""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7253E183-339D-4996-9336-DF360AFA83CE}"/>
              </a:ext>
            </a:extLst>
          </p:cNvPr>
          <p:cNvSpPr>
            <a:spLocks noGrp="1"/>
          </p:cNvSpPr>
          <p:nvPr>
            <p:ph type="dt" sz="half" idx="10"/>
          </p:nvPr>
        </p:nvSpPr>
        <p:spPr/>
        <p:txBody>
          <a:bodyPr/>
          <a:lstStyle/>
          <a:p>
            <a:fld id="{9112FA3D-57A8-4A36-8AB7-98D4B7F81A6B}" type="datetime1">
              <a:rPr lang="zh-TW" altLang="en-US" smtClean="0"/>
              <a:t>2018/1/2</a:t>
            </a:fld>
            <a:endParaRPr lang="zh-TW" altLang="en-US"/>
          </a:p>
        </p:txBody>
      </p:sp>
      <p:sp>
        <p:nvSpPr>
          <p:cNvPr id="5" name="頁尾版面配置區 4">
            <a:extLst>
              <a:ext uri="{FF2B5EF4-FFF2-40B4-BE49-F238E27FC236}">
                <a16:creationId xmlns:a16="http://schemas.microsoft.com/office/drawing/2014/main" xmlns=""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2018/1/2</a:t>
            </a:fld>
            <a:endParaRPr lang="zh-TW" altLang="en-US"/>
          </a:p>
        </p:txBody>
      </p:sp>
      <p:sp>
        <p:nvSpPr>
          <p:cNvPr id="5" name="頁尾版面配置區 4">
            <a:extLst>
              <a:ext uri="{FF2B5EF4-FFF2-40B4-BE49-F238E27FC236}">
                <a16:creationId xmlns:a16="http://schemas.microsoft.com/office/drawing/2014/main" xmlns=""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5600E22-8B2D-44A2-B529-2D5C521DF6EC}"/>
              </a:ext>
            </a:extLst>
          </p:cNvPr>
          <p:cNvSpPr>
            <a:spLocks noGrp="1"/>
          </p:cNvSpPr>
          <p:nvPr>
            <p:ph type="ctrTitle"/>
          </p:nvPr>
        </p:nvSpPr>
        <p:spPr>
          <a:xfrm>
            <a:off x="1524000" y="601086"/>
            <a:ext cx="9144000" cy="1786671"/>
          </a:xfrm>
        </p:spPr>
        <p:txBody>
          <a:bodyPr>
            <a:normAutofit/>
          </a:bodyPr>
          <a:lstStyle/>
          <a:p>
            <a:r>
              <a:rPr lang="en-US" altLang="zh-TW" sz="4800" dirty="0">
                <a:latin typeface="Tw Cen MT" panose="020B0602020104020603" pitchFamily="34" charset="0"/>
                <a:ea typeface="Cambria Math" panose="02040503050406030204" pitchFamily="18" charset="0"/>
                <a:cs typeface="Times New Roman" panose="02020603050405020304" pitchFamily="18" charset="0"/>
              </a:rPr>
              <a:t>Dynamic Time Warping and the (Windowed) Dog-Keeper Distance</a:t>
            </a:r>
            <a:endParaRPr lang="zh-TW" altLang="en-US" sz="4800" dirty="0">
              <a:latin typeface="Tw Cen MT" panose="020B0602020104020603" pitchFamily="34" charset="0"/>
              <a:cs typeface="Times New Roman" panose="02020603050405020304" pitchFamily="18" charset="0"/>
            </a:endParaRPr>
          </a:p>
        </p:txBody>
      </p:sp>
      <p:sp>
        <p:nvSpPr>
          <p:cNvPr id="3" name="副標題 2">
            <a:extLst>
              <a:ext uri="{FF2B5EF4-FFF2-40B4-BE49-F238E27FC236}">
                <a16:creationId xmlns:a16="http://schemas.microsoft.com/office/drawing/2014/main" xmlns="" id="{E1F7DB53-5192-4070-9ADE-B5C85E35C2CC}"/>
              </a:ext>
            </a:extLst>
          </p:cNvPr>
          <p:cNvSpPr>
            <a:spLocks noGrp="1"/>
          </p:cNvSpPr>
          <p:nvPr>
            <p:ph type="subTitle" idx="1"/>
          </p:nvPr>
        </p:nvSpPr>
        <p:spPr>
          <a:xfrm>
            <a:off x="1631681" y="2704468"/>
            <a:ext cx="8928639" cy="773417"/>
          </a:xfrm>
        </p:spPr>
        <p:txBody>
          <a:bodyPr>
            <a:noAutofit/>
          </a:bodyPr>
          <a:lstStyle/>
          <a:p>
            <a:r>
              <a:rPr lang="en-US" altLang="zh-TW" sz="2800" dirty="0" err="1"/>
              <a:t>Jörg</a:t>
            </a:r>
            <a:r>
              <a:rPr lang="en-US" altLang="zh-TW" sz="2800" dirty="0"/>
              <a:t> P. Bachmann and Johann-Christoph Freytag</a:t>
            </a:r>
          </a:p>
          <a:p>
            <a:endParaRPr lang="zh-TW" altLang="en-US" sz="2600" dirty="0"/>
          </a:p>
        </p:txBody>
      </p:sp>
      <p:sp>
        <p:nvSpPr>
          <p:cNvPr id="4" name="投影片編號版面配置區 3">
            <a:extLst>
              <a:ext uri="{FF2B5EF4-FFF2-40B4-BE49-F238E27FC236}">
                <a16:creationId xmlns:a16="http://schemas.microsoft.com/office/drawing/2014/main" xmlns=""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xmlns="" id="{CC60B4B8-BDE3-427A-B56B-7314F1C4CCA4}"/>
              </a:ext>
            </a:extLst>
          </p:cNvPr>
          <p:cNvSpPr txBox="1">
            <a:spLocks/>
          </p:cNvSpPr>
          <p:nvPr/>
        </p:nvSpPr>
        <p:spPr>
          <a:xfrm>
            <a:off x="1192823" y="3756249"/>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600" dirty="0">
                <a:solidFill>
                  <a:schemeClr val="tx1"/>
                </a:solidFill>
              </a:rPr>
              <a:t>International Conference on Similarity Search and Applications</a:t>
            </a:r>
          </a:p>
          <a:p>
            <a:r>
              <a:rPr lang="en-US" altLang="zh-TW" sz="2600" dirty="0">
                <a:solidFill>
                  <a:schemeClr val="tx1"/>
                </a:solidFill>
              </a:rPr>
              <a:t>4-6 October, 2017,</a:t>
            </a:r>
            <a:r>
              <a:rPr lang="en-US" altLang="zh-TW" sz="2800" dirty="0"/>
              <a:t> </a:t>
            </a:r>
            <a:r>
              <a:rPr lang="en-US" altLang="zh-TW" sz="2600" dirty="0">
                <a:solidFill>
                  <a:schemeClr val="tx1"/>
                </a:solidFill>
              </a:rPr>
              <a:t>Munich, Germany, Pages 127-140</a:t>
            </a:r>
            <a:endParaRPr lang="zh-TW" altLang="en-US" sz="2600" dirty="0">
              <a:solidFill>
                <a:schemeClr val="tx1"/>
              </a:solidFill>
            </a:endParaRPr>
          </a:p>
        </p:txBody>
      </p:sp>
      <p:sp>
        <p:nvSpPr>
          <p:cNvPr id="6" name="副標題 2">
            <a:extLst>
              <a:ext uri="{FF2B5EF4-FFF2-40B4-BE49-F238E27FC236}">
                <a16:creationId xmlns:a16="http://schemas.microsoft.com/office/drawing/2014/main" xmlns=""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solidFill>
                  <a:schemeClr val="tx1"/>
                </a:solidFill>
              </a:rPr>
              <a:t>Presenter: Shan-Ru Liu</a:t>
            </a:r>
          </a:p>
          <a:p>
            <a:r>
              <a:rPr lang="en-US" altLang="zh-TW" dirty="0">
                <a:solidFill>
                  <a:schemeClr val="tx1"/>
                </a:solidFill>
              </a:rPr>
              <a:t>Date</a:t>
            </a:r>
            <a:r>
              <a:rPr lang="en-US" altLang="zh-TW">
                <a:solidFill>
                  <a:schemeClr val="tx1"/>
                </a:solidFill>
              </a:rPr>
              <a:t>: </a:t>
            </a:r>
            <a:r>
              <a:rPr lang="en-US" altLang="zh-TW" smtClean="0">
                <a:solidFill>
                  <a:schemeClr val="tx1"/>
                </a:solidFill>
              </a:rPr>
              <a:t>2018/01/02</a:t>
            </a:r>
            <a:endParaRPr lang="zh-TW" altLang="en-US" dirty="0">
              <a:solidFill>
                <a:schemeClr val="tx1"/>
              </a:solidFill>
            </a:endParaRPr>
          </a:p>
        </p:txBody>
      </p:sp>
    </p:spTree>
    <p:extLst>
      <p:ext uri="{BB962C8B-B14F-4D97-AF65-F5344CB8AC3E}">
        <p14:creationId xmlns:p14="http://schemas.microsoft.com/office/powerpoint/2010/main" val="142819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4F6B1DC-F5A3-4A3E-ABB3-0C74971D0F82}"/>
              </a:ext>
            </a:extLst>
          </p:cNvPr>
          <p:cNvSpPr>
            <a:spLocks noGrp="1"/>
          </p:cNvSpPr>
          <p:nvPr>
            <p:ph type="title"/>
          </p:nvPr>
        </p:nvSpPr>
        <p:spPr>
          <a:xfrm>
            <a:off x="838200" y="205468"/>
            <a:ext cx="10515600" cy="883104"/>
          </a:xfrm>
        </p:spPr>
        <p:txBody>
          <a:bodyPr/>
          <a:lstStyle/>
          <a:p>
            <a:r>
              <a:rPr lang="en-US" altLang="zh-TW" dirty="0"/>
              <a:t>Abstract (1/2)</a:t>
            </a:r>
            <a:endParaRPr lang="zh-TW" altLang="en-US" dirty="0"/>
          </a:p>
        </p:txBody>
      </p:sp>
      <p:sp>
        <p:nvSpPr>
          <p:cNvPr id="3" name="內容版面配置區 2">
            <a:extLst>
              <a:ext uri="{FF2B5EF4-FFF2-40B4-BE49-F238E27FC236}">
                <a16:creationId xmlns:a16="http://schemas.microsoft.com/office/drawing/2014/main" xmlns="" id="{12EF2FB6-82B8-48D7-A181-5A6639544732}"/>
              </a:ext>
            </a:extLst>
          </p:cNvPr>
          <p:cNvSpPr>
            <a:spLocks noGrp="1"/>
          </p:cNvSpPr>
          <p:nvPr>
            <p:ph idx="1"/>
          </p:nvPr>
        </p:nvSpPr>
        <p:spPr>
          <a:xfrm>
            <a:off x="650697" y="1170765"/>
            <a:ext cx="10890607" cy="5267779"/>
          </a:xfrm>
        </p:spPr>
        <p:txBody>
          <a:bodyPr>
            <a:noAutofit/>
          </a:bodyPr>
          <a:lstStyle/>
          <a:p>
            <a:pPr marL="0" indent="0" eaLnBrk="0" fontAlgn="ctr" hangingPunct="0">
              <a:lnSpc>
                <a:spcPct val="100000"/>
              </a:lnSpc>
              <a:buNone/>
            </a:pPr>
            <a:r>
              <a:rPr lang="en-US" altLang="zh-TW" sz="3200" dirty="0"/>
              <a:t>Finding similar time series is an important task in multimedia retrieval, including motion gesture recognition, speech recognition, or classification of hand-written letters. These applications typically require the similarity (or distance) measure to be robust against outliers and time warps. Time warps occur if two time series follow the same path in space, but need specific time adjustments. A common distance measure respecting time warps is the dynamic time warping (DTW) function. The edit distance with real penalties (ERP) and the dog-keeper distance (DK) are variations of DTW satisfying the triangle inequality. </a:t>
            </a:r>
            <a:endParaRPr lang="zh-TW" altLang="en-US" sz="3200" dirty="0"/>
          </a:p>
        </p:txBody>
      </p:sp>
      <p:sp>
        <p:nvSpPr>
          <p:cNvPr id="4" name="投影片編號版面配置區 3">
            <a:extLst>
              <a:ext uri="{FF2B5EF4-FFF2-40B4-BE49-F238E27FC236}">
                <a16:creationId xmlns:a16="http://schemas.microsoft.com/office/drawing/2014/main" xmlns="" id="{24F33E4C-9041-46E0-B109-AD73165F9F88}"/>
              </a:ext>
            </a:extLst>
          </p:cNvPr>
          <p:cNvSpPr>
            <a:spLocks noGrp="1"/>
          </p:cNvSpPr>
          <p:nvPr>
            <p:ph type="sldNum" sz="quarter" idx="12"/>
          </p:nvPr>
        </p:nvSpPr>
        <p:spPr>
          <a:xfrm>
            <a:off x="8610600" y="6356352"/>
            <a:ext cx="2743200" cy="365125"/>
          </a:xfrm>
        </p:spPr>
        <p:txBody>
          <a:bodyPr/>
          <a:lstStyle/>
          <a:p>
            <a:fld id="{8DCCD063-7F18-423D-A692-CC9D343FD360}" type="slidenum">
              <a:rPr lang="zh-TW" altLang="en-US" smtClean="0"/>
              <a:t>2</a:t>
            </a:fld>
            <a:endParaRPr lang="zh-TW" altLang="en-US" dirty="0"/>
          </a:p>
        </p:txBody>
      </p:sp>
    </p:spTree>
    <p:extLst>
      <p:ext uri="{BB962C8B-B14F-4D97-AF65-F5344CB8AC3E}">
        <p14:creationId xmlns:p14="http://schemas.microsoft.com/office/powerpoint/2010/main" val="4056433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4F6B1DC-F5A3-4A3E-ABB3-0C74971D0F82}"/>
              </a:ext>
            </a:extLst>
          </p:cNvPr>
          <p:cNvSpPr>
            <a:spLocks noGrp="1"/>
          </p:cNvSpPr>
          <p:nvPr>
            <p:ph type="title"/>
          </p:nvPr>
        </p:nvSpPr>
        <p:spPr>
          <a:xfrm>
            <a:off x="838200" y="205468"/>
            <a:ext cx="10515600" cy="883104"/>
          </a:xfrm>
        </p:spPr>
        <p:txBody>
          <a:bodyPr/>
          <a:lstStyle/>
          <a:p>
            <a:r>
              <a:rPr lang="en-US" altLang="zh-TW" dirty="0"/>
              <a:t>Abstract (2/2)</a:t>
            </a:r>
            <a:endParaRPr lang="zh-TW" altLang="en-US" dirty="0"/>
          </a:p>
        </p:txBody>
      </p:sp>
      <p:sp>
        <p:nvSpPr>
          <p:cNvPr id="3" name="內容版面配置區 2">
            <a:extLst>
              <a:ext uri="{FF2B5EF4-FFF2-40B4-BE49-F238E27FC236}">
                <a16:creationId xmlns:a16="http://schemas.microsoft.com/office/drawing/2014/main" xmlns="" id="{12EF2FB6-82B8-48D7-A181-5A6639544732}"/>
              </a:ext>
            </a:extLst>
          </p:cNvPr>
          <p:cNvSpPr>
            <a:spLocks noGrp="1"/>
          </p:cNvSpPr>
          <p:nvPr>
            <p:ph idx="1"/>
          </p:nvPr>
        </p:nvSpPr>
        <p:spPr>
          <a:xfrm>
            <a:off x="771939" y="1181039"/>
            <a:ext cx="10950874" cy="5267779"/>
          </a:xfrm>
        </p:spPr>
        <p:txBody>
          <a:bodyPr>
            <a:noAutofit/>
          </a:bodyPr>
          <a:lstStyle/>
          <a:p>
            <a:pPr marL="0" indent="0" eaLnBrk="0" fontAlgn="ctr" hangingPunct="0">
              <a:lnSpc>
                <a:spcPct val="100000"/>
              </a:lnSpc>
              <a:buNone/>
            </a:pPr>
            <a:r>
              <a:rPr lang="en-US" altLang="zh-TW" sz="3200" dirty="0"/>
              <a:t>In this paper we propose a novel extension of the DK distance called windowed dog-keeper distance (WDK). It operates on sliding windows, which makes it robust against outliers. It also satisfies the triangle inequality from the DK distance. We experimentally compare our measure to the existing ones and discuss the conditions under which it shows an optimal classification accuracy. Our evaluation also contributes a comparison of DK and DTW. For our experiments, we use well-known data sets such as the cylinder-bell-funnel data set and data sets from the UCI Machine Learning Repository.</a:t>
            </a:r>
            <a:endParaRPr lang="zh-TW" altLang="en-US" sz="3200" dirty="0"/>
          </a:p>
        </p:txBody>
      </p:sp>
      <p:sp>
        <p:nvSpPr>
          <p:cNvPr id="4" name="投影片編號版面配置區 3">
            <a:extLst>
              <a:ext uri="{FF2B5EF4-FFF2-40B4-BE49-F238E27FC236}">
                <a16:creationId xmlns:a16="http://schemas.microsoft.com/office/drawing/2014/main" xmlns="" id="{24F33E4C-9041-46E0-B109-AD73165F9F88}"/>
              </a:ext>
            </a:extLst>
          </p:cNvPr>
          <p:cNvSpPr>
            <a:spLocks noGrp="1"/>
          </p:cNvSpPr>
          <p:nvPr>
            <p:ph type="sldNum" sz="quarter" idx="12"/>
          </p:nvPr>
        </p:nvSpPr>
        <p:spPr>
          <a:xfrm>
            <a:off x="8610600" y="6356352"/>
            <a:ext cx="2743200" cy="365125"/>
          </a:xfrm>
        </p:spPr>
        <p:txBody>
          <a:bodyPr/>
          <a:lstStyle/>
          <a:p>
            <a:fld id="{8DCCD063-7F18-423D-A692-CC9D343FD360}" type="slidenum">
              <a:rPr lang="zh-TW" altLang="en-US" smtClean="0"/>
              <a:t>3</a:t>
            </a:fld>
            <a:endParaRPr lang="zh-TW" altLang="en-US" dirty="0"/>
          </a:p>
        </p:txBody>
      </p:sp>
    </p:spTree>
    <p:extLst>
      <p:ext uri="{BB962C8B-B14F-4D97-AF65-F5344CB8AC3E}">
        <p14:creationId xmlns:p14="http://schemas.microsoft.com/office/powerpoint/2010/main" val="3513841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DTW, ERP, DK</a:t>
            </a:r>
            <a:endParaRPr lang="zh-TW" altLang="en-US" dirty="0"/>
          </a:p>
        </p:txBody>
      </p:sp>
      <p:pic>
        <p:nvPicPr>
          <p:cNvPr id="5" name="內容版面配置區 4">
            <a:extLst>
              <a:ext uri="{FF2B5EF4-FFF2-40B4-BE49-F238E27FC236}">
                <a16:creationId xmlns:a16="http://schemas.microsoft.com/office/drawing/2014/main" xmlns="" id="{53A70012-568C-4C0D-B85D-B7C3DD4037FB}"/>
              </a:ext>
            </a:extLst>
          </p:cNvPr>
          <p:cNvPicPr>
            <a:picLocks noGrp="1" noChangeAspect="1"/>
          </p:cNvPicPr>
          <p:nvPr>
            <p:ph idx="1"/>
          </p:nvPr>
        </p:nvPicPr>
        <p:blipFill>
          <a:blip r:embed="rId2"/>
          <a:stretch>
            <a:fillRect/>
          </a:stretch>
        </p:blipFill>
        <p:spPr>
          <a:xfrm>
            <a:off x="533400" y="1576315"/>
            <a:ext cx="5562600" cy="1400175"/>
          </a:xfrm>
          <a:prstGeom prst="rect">
            <a:avLst/>
          </a:prstGeom>
        </p:spPr>
      </p:pic>
      <p:sp>
        <p:nvSpPr>
          <p:cNvPr id="4" name="投影片編號版面配置區 3"/>
          <p:cNvSpPr>
            <a:spLocks noGrp="1"/>
          </p:cNvSpPr>
          <p:nvPr>
            <p:ph type="sldNum" sz="quarter" idx="12"/>
          </p:nvPr>
        </p:nvSpPr>
        <p:spPr/>
        <p:txBody>
          <a:bodyPr/>
          <a:lstStyle/>
          <a:p>
            <a:fld id="{8DCCD063-7F18-423D-A692-CC9D343FD360}" type="slidenum">
              <a:rPr lang="zh-TW" altLang="en-US" smtClean="0"/>
              <a:t>4</a:t>
            </a:fld>
            <a:endParaRPr lang="zh-TW" altLang="en-US"/>
          </a:p>
        </p:txBody>
      </p:sp>
      <p:pic>
        <p:nvPicPr>
          <p:cNvPr id="6" name="圖片 5">
            <a:extLst>
              <a:ext uri="{FF2B5EF4-FFF2-40B4-BE49-F238E27FC236}">
                <a16:creationId xmlns:a16="http://schemas.microsoft.com/office/drawing/2014/main" xmlns="" id="{79BA7E84-8AB3-40C8-913D-673AF35E669A}"/>
              </a:ext>
            </a:extLst>
          </p:cNvPr>
          <p:cNvPicPr>
            <a:picLocks noChangeAspect="1"/>
          </p:cNvPicPr>
          <p:nvPr/>
        </p:nvPicPr>
        <p:blipFill>
          <a:blip r:embed="rId3"/>
          <a:stretch>
            <a:fillRect/>
          </a:stretch>
        </p:blipFill>
        <p:spPr>
          <a:xfrm>
            <a:off x="533400" y="3230285"/>
            <a:ext cx="5467350" cy="1352550"/>
          </a:xfrm>
          <a:prstGeom prst="rect">
            <a:avLst/>
          </a:prstGeom>
        </p:spPr>
      </p:pic>
      <p:pic>
        <p:nvPicPr>
          <p:cNvPr id="7" name="圖片 6">
            <a:extLst>
              <a:ext uri="{FF2B5EF4-FFF2-40B4-BE49-F238E27FC236}">
                <a16:creationId xmlns:a16="http://schemas.microsoft.com/office/drawing/2014/main" xmlns="" id="{9120E7FC-A8F5-4B23-8428-697022C17BD6}"/>
              </a:ext>
            </a:extLst>
          </p:cNvPr>
          <p:cNvPicPr>
            <a:picLocks noChangeAspect="1"/>
          </p:cNvPicPr>
          <p:nvPr/>
        </p:nvPicPr>
        <p:blipFill>
          <a:blip r:embed="rId4"/>
          <a:stretch>
            <a:fillRect/>
          </a:stretch>
        </p:blipFill>
        <p:spPr>
          <a:xfrm>
            <a:off x="533400" y="4910357"/>
            <a:ext cx="5334000" cy="1371600"/>
          </a:xfrm>
          <a:prstGeom prst="rect">
            <a:avLst/>
          </a:prstGeom>
        </p:spPr>
      </p:pic>
      <p:pic>
        <p:nvPicPr>
          <p:cNvPr id="8" name="圖片 7">
            <a:extLst>
              <a:ext uri="{FF2B5EF4-FFF2-40B4-BE49-F238E27FC236}">
                <a16:creationId xmlns:a16="http://schemas.microsoft.com/office/drawing/2014/main" xmlns="" id="{13A265EF-22CC-4F62-BB3B-DF2440BAE84F}"/>
              </a:ext>
            </a:extLst>
          </p:cNvPr>
          <p:cNvPicPr>
            <a:picLocks noChangeAspect="1"/>
          </p:cNvPicPr>
          <p:nvPr/>
        </p:nvPicPr>
        <p:blipFill>
          <a:blip r:embed="rId5"/>
          <a:stretch>
            <a:fillRect/>
          </a:stretch>
        </p:blipFill>
        <p:spPr>
          <a:xfrm>
            <a:off x="7358062" y="1535544"/>
            <a:ext cx="2505075" cy="1257300"/>
          </a:xfrm>
          <a:prstGeom prst="rect">
            <a:avLst/>
          </a:prstGeom>
        </p:spPr>
      </p:pic>
      <p:pic>
        <p:nvPicPr>
          <p:cNvPr id="9" name="圖片 8">
            <a:extLst>
              <a:ext uri="{FF2B5EF4-FFF2-40B4-BE49-F238E27FC236}">
                <a16:creationId xmlns:a16="http://schemas.microsoft.com/office/drawing/2014/main" xmlns="" id="{0AAEE2CD-3F1E-4D50-BA73-F08FC18337C1}"/>
              </a:ext>
            </a:extLst>
          </p:cNvPr>
          <p:cNvPicPr>
            <a:picLocks noChangeAspect="1"/>
          </p:cNvPicPr>
          <p:nvPr/>
        </p:nvPicPr>
        <p:blipFill>
          <a:blip r:embed="rId6"/>
          <a:stretch>
            <a:fillRect/>
          </a:stretch>
        </p:blipFill>
        <p:spPr>
          <a:xfrm>
            <a:off x="7396161" y="5034182"/>
            <a:ext cx="2428875" cy="1123950"/>
          </a:xfrm>
          <a:prstGeom prst="rect">
            <a:avLst/>
          </a:prstGeom>
        </p:spPr>
      </p:pic>
      <p:pic>
        <p:nvPicPr>
          <p:cNvPr id="10" name="圖片 9">
            <a:extLst>
              <a:ext uri="{FF2B5EF4-FFF2-40B4-BE49-F238E27FC236}">
                <a16:creationId xmlns:a16="http://schemas.microsoft.com/office/drawing/2014/main" xmlns="" id="{409C4E52-901E-404B-BA1A-8014643BB3E3}"/>
              </a:ext>
            </a:extLst>
          </p:cNvPr>
          <p:cNvPicPr>
            <a:picLocks noChangeAspect="1"/>
          </p:cNvPicPr>
          <p:nvPr/>
        </p:nvPicPr>
        <p:blipFill>
          <a:blip r:embed="rId7"/>
          <a:stretch>
            <a:fillRect/>
          </a:stretch>
        </p:blipFill>
        <p:spPr>
          <a:xfrm>
            <a:off x="7348537" y="3230285"/>
            <a:ext cx="2514600" cy="1181100"/>
          </a:xfrm>
          <a:prstGeom prst="rect">
            <a:avLst/>
          </a:prstGeom>
        </p:spPr>
      </p:pic>
    </p:spTree>
    <p:extLst>
      <p:ext uri="{BB962C8B-B14F-4D97-AF65-F5344CB8AC3E}">
        <p14:creationId xmlns:p14="http://schemas.microsoft.com/office/powerpoint/2010/main" val="926945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4256D5D-C3B0-4157-980E-D0FD175A9BAE}"/>
              </a:ext>
            </a:extLst>
          </p:cNvPr>
          <p:cNvSpPr>
            <a:spLocks noGrp="1"/>
          </p:cNvSpPr>
          <p:nvPr>
            <p:ph type="title"/>
          </p:nvPr>
        </p:nvSpPr>
        <p:spPr/>
        <p:txBody>
          <a:bodyPr/>
          <a:lstStyle/>
          <a:p>
            <a:r>
              <a:rPr lang="en-US" altLang="zh-TW" dirty="0"/>
              <a:t>Dog-Keeper</a:t>
            </a:r>
            <a:endParaRPr lang="zh-TW" altLang="en-US" dirty="0"/>
          </a:p>
        </p:txBody>
      </p:sp>
      <p:pic>
        <p:nvPicPr>
          <p:cNvPr id="5" name="內容版面配置區 4">
            <a:extLst>
              <a:ext uri="{FF2B5EF4-FFF2-40B4-BE49-F238E27FC236}">
                <a16:creationId xmlns:a16="http://schemas.microsoft.com/office/drawing/2014/main" xmlns="" id="{62F70602-0CEF-4C59-8EE2-0E49A3DC876B}"/>
              </a:ext>
            </a:extLst>
          </p:cNvPr>
          <p:cNvPicPr>
            <a:picLocks noGrp="1" noChangeAspect="1"/>
          </p:cNvPicPr>
          <p:nvPr>
            <p:ph idx="1"/>
          </p:nvPr>
        </p:nvPicPr>
        <p:blipFill>
          <a:blip r:embed="rId2"/>
          <a:stretch>
            <a:fillRect/>
          </a:stretch>
        </p:blipFill>
        <p:spPr>
          <a:xfrm>
            <a:off x="927450" y="1598542"/>
            <a:ext cx="7261390" cy="4849959"/>
          </a:xfrm>
          <a:prstGeom prst="rect">
            <a:avLst/>
          </a:prstGeom>
        </p:spPr>
      </p:pic>
      <p:sp>
        <p:nvSpPr>
          <p:cNvPr id="4" name="投影片編號版面配置區 3">
            <a:extLst>
              <a:ext uri="{FF2B5EF4-FFF2-40B4-BE49-F238E27FC236}">
                <a16:creationId xmlns:a16="http://schemas.microsoft.com/office/drawing/2014/main" xmlns="" id="{A0267DED-FEC7-47D9-976A-E6D5436C3147}"/>
              </a:ext>
            </a:extLst>
          </p:cNvPr>
          <p:cNvSpPr>
            <a:spLocks noGrp="1"/>
          </p:cNvSpPr>
          <p:nvPr>
            <p:ph type="sldNum" sz="quarter" idx="12"/>
          </p:nvPr>
        </p:nvSpPr>
        <p:spPr/>
        <p:txBody>
          <a:bodyPr/>
          <a:lstStyle/>
          <a:p>
            <a:fld id="{8DCCD063-7F18-423D-A692-CC9D343FD360}" type="slidenum">
              <a:rPr lang="zh-TW" altLang="en-US" smtClean="0"/>
              <a:t>5</a:t>
            </a:fld>
            <a:endParaRPr lang="zh-TW" altLang="en-US"/>
          </a:p>
        </p:txBody>
      </p:sp>
    </p:spTree>
    <p:extLst>
      <p:ext uri="{BB962C8B-B14F-4D97-AF65-F5344CB8AC3E}">
        <p14:creationId xmlns:p14="http://schemas.microsoft.com/office/powerpoint/2010/main" val="1163957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內容版面配置區 6">
            <a:extLst>
              <a:ext uri="{FF2B5EF4-FFF2-40B4-BE49-F238E27FC236}">
                <a16:creationId xmlns:a16="http://schemas.microsoft.com/office/drawing/2014/main" xmlns="" id="{319ECB5F-F644-4A1F-B8B1-C2379920034A}"/>
              </a:ext>
            </a:extLst>
          </p:cNvPr>
          <p:cNvPicPr>
            <a:picLocks noGrp="1" noChangeAspect="1"/>
          </p:cNvPicPr>
          <p:nvPr>
            <p:ph idx="1"/>
          </p:nvPr>
        </p:nvPicPr>
        <p:blipFill>
          <a:blip r:embed="rId2"/>
          <a:stretch>
            <a:fillRect/>
          </a:stretch>
        </p:blipFill>
        <p:spPr>
          <a:xfrm>
            <a:off x="6694533" y="435850"/>
            <a:ext cx="5054546" cy="5920502"/>
          </a:xfrm>
          <a:prstGeom prst="rect">
            <a:avLst/>
          </a:prstGeom>
        </p:spPr>
      </p:pic>
      <p:sp>
        <p:nvSpPr>
          <p:cNvPr id="2" name="標題 1">
            <a:extLst>
              <a:ext uri="{FF2B5EF4-FFF2-40B4-BE49-F238E27FC236}">
                <a16:creationId xmlns:a16="http://schemas.microsoft.com/office/drawing/2014/main" xmlns="" id="{74256D5D-C3B0-4157-980E-D0FD175A9BAE}"/>
              </a:ext>
            </a:extLst>
          </p:cNvPr>
          <p:cNvSpPr>
            <a:spLocks noGrp="1"/>
          </p:cNvSpPr>
          <p:nvPr>
            <p:ph type="title"/>
          </p:nvPr>
        </p:nvSpPr>
        <p:spPr>
          <a:xfrm>
            <a:off x="464127" y="316821"/>
            <a:ext cx="10515600" cy="1325563"/>
          </a:xfrm>
        </p:spPr>
        <p:txBody>
          <a:bodyPr/>
          <a:lstStyle/>
          <a:p>
            <a:r>
              <a:rPr lang="en-US" altLang="zh-TW" dirty="0"/>
              <a:t>Windowed Dog-Keeper</a:t>
            </a:r>
            <a:endParaRPr lang="zh-TW" altLang="en-US" dirty="0"/>
          </a:p>
        </p:txBody>
      </p:sp>
      <p:sp>
        <p:nvSpPr>
          <p:cNvPr id="4" name="投影片編號版面配置區 3">
            <a:extLst>
              <a:ext uri="{FF2B5EF4-FFF2-40B4-BE49-F238E27FC236}">
                <a16:creationId xmlns:a16="http://schemas.microsoft.com/office/drawing/2014/main" xmlns="" id="{A0267DED-FEC7-47D9-976A-E6D5436C3147}"/>
              </a:ext>
            </a:extLst>
          </p:cNvPr>
          <p:cNvSpPr>
            <a:spLocks noGrp="1"/>
          </p:cNvSpPr>
          <p:nvPr>
            <p:ph type="sldNum" sz="quarter" idx="12"/>
          </p:nvPr>
        </p:nvSpPr>
        <p:spPr/>
        <p:txBody>
          <a:bodyPr/>
          <a:lstStyle/>
          <a:p>
            <a:fld id="{8DCCD063-7F18-423D-A692-CC9D343FD360}" type="slidenum">
              <a:rPr lang="zh-TW" altLang="en-US" smtClean="0"/>
              <a:t>6</a:t>
            </a:fld>
            <a:endParaRPr lang="zh-TW" altLang="en-US"/>
          </a:p>
        </p:txBody>
      </p:sp>
      <p:pic>
        <p:nvPicPr>
          <p:cNvPr id="3" name="圖片 2">
            <a:extLst>
              <a:ext uri="{FF2B5EF4-FFF2-40B4-BE49-F238E27FC236}">
                <a16:creationId xmlns:a16="http://schemas.microsoft.com/office/drawing/2014/main" xmlns="" id="{B6F501F0-8356-465B-B0DB-A1AC00F8876D}"/>
              </a:ext>
            </a:extLst>
          </p:cNvPr>
          <p:cNvPicPr>
            <a:picLocks noChangeAspect="1"/>
          </p:cNvPicPr>
          <p:nvPr/>
        </p:nvPicPr>
        <p:blipFill>
          <a:blip r:embed="rId3"/>
          <a:stretch>
            <a:fillRect/>
          </a:stretch>
        </p:blipFill>
        <p:spPr>
          <a:xfrm>
            <a:off x="547255" y="1949988"/>
            <a:ext cx="3848100" cy="342900"/>
          </a:xfrm>
          <a:prstGeom prst="rect">
            <a:avLst/>
          </a:prstGeom>
        </p:spPr>
      </p:pic>
      <p:pic>
        <p:nvPicPr>
          <p:cNvPr id="5" name="圖片 4">
            <a:extLst>
              <a:ext uri="{FF2B5EF4-FFF2-40B4-BE49-F238E27FC236}">
                <a16:creationId xmlns:a16="http://schemas.microsoft.com/office/drawing/2014/main" xmlns="" id="{1AFA7A28-F395-4350-B2A8-7A03E9E3090D}"/>
              </a:ext>
            </a:extLst>
          </p:cNvPr>
          <p:cNvPicPr>
            <a:picLocks noChangeAspect="1"/>
          </p:cNvPicPr>
          <p:nvPr/>
        </p:nvPicPr>
        <p:blipFill>
          <a:blip r:embed="rId4"/>
          <a:stretch>
            <a:fillRect/>
          </a:stretch>
        </p:blipFill>
        <p:spPr>
          <a:xfrm>
            <a:off x="4978977" y="1999306"/>
            <a:ext cx="742950" cy="295275"/>
          </a:xfrm>
          <a:prstGeom prst="rect">
            <a:avLst/>
          </a:prstGeom>
        </p:spPr>
      </p:pic>
      <p:pic>
        <p:nvPicPr>
          <p:cNvPr id="8" name="圖片 7">
            <a:extLst>
              <a:ext uri="{FF2B5EF4-FFF2-40B4-BE49-F238E27FC236}">
                <a16:creationId xmlns:a16="http://schemas.microsoft.com/office/drawing/2014/main" xmlns="" id="{79A0F96E-C8E7-4F8C-8F0D-C0B66C0194B0}"/>
              </a:ext>
            </a:extLst>
          </p:cNvPr>
          <p:cNvPicPr>
            <a:picLocks noChangeAspect="1"/>
          </p:cNvPicPr>
          <p:nvPr/>
        </p:nvPicPr>
        <p:blipFill>
          <a:blip r:embed="rId5"/>
          <a:stretch>
            <a:fillRect/>
          </a:stretch>
        </p:blipFill>
        <p:spPr>
          <a:xfrm>
            <a:off x="611332" y="3133059"/>
            <a:ext cx="5498824" cy="1732618"/>
          </a:xfrm>
          <a:prstGeom prst="rect">
            <a:avLst/>
          </a:prstGeom>
        </p:spPr>
      </p:pic>
      <p:pic>
        <p:nvPicPr>
          <p:cNvPr id="9" name="圖片 8">
            <a:extLst>
              <a:ext uri="{FF2B5EF4-FFF2-40B4-BE49-F238E27FC236}">
                <a16:creationId xmlns:a16="http://schemas.microsoft.com/office/drawing/2014/main" xmlns="" id="{31CA8795-48BB-4D3C-83EE-D47C517B69AA}"/>
              </a:ext>
            </a:extLst>
          </p:cNvPr>
          <p:cNvPicPr>
            <a:picLocks noChangeAspect="1"/>
          </p:cNvPicPr>
          <p:nvPr/>
        </p:nvPicPr>
        <p:blipFill>
          <a:blip r:embed="rId6"/>
          <a:stretch>
            <a:fillRect/>
          </a:stretch>
        </p:blipFill>
        <p:spPr>
          <a:xfrm>
            <a:off x="1117118" y="5499367"/>
            <a:ext cx="4924425" cy="409575"/>
          </a:xfrm>
          <a:prstGeom prst="rect">
            <a:avLst/>
          </a:prstGeom>
        </p:spPr>
      </p:pic>
      <p:cxnSp>
        <p:nvCxnSpPr>
          <p:cNvPr id="11" name="直線單箭頭接點 10">
            <a:extLst>
              <a:ext uri="{FF2B5EF4-FFF2-40B4-BE49-F238E27FC236}">
                <a16:creationId xmlns:a16="http://schemas.microsoft.com/office/drawing/2014/main" xmlns="" id="{DE8EEC4C-A8BD-4E79-9900-8FEB41813A28}"/>
              </a:ext>
            </a:extLst>
          </p:cNvPr>
          <p:cNvCxnSpPr>
            <a:cxnSpLocks/>
          </p:cNvCxnSpPr>
          <p:nvPr/>
        </p:nvCxnSpPr>
        <p:spPr>
          <a:xfrm flipV="1">
            <a:off x="5721927" y="4333009"/>
            <a:ext cx="55418" cy="116635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586836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97092C6-4C61-4272-B078-E9C18CDCC3F3}"/>
              </a:ext>
            </a:extLst>
          </p:cNvPr>
          <p:cNvSpPr>
            <a:spLocks noGrp="1"/>
          </p:cNvSpPr>
          <p:nvPr>
            <p:ph type="title"/>
          </p:nvPr>
        </p:nvSpPr>
        <p:spPr/>
        <p:txBody>
          <a:bodyPr/>
          <a:lstStyle/>
          <a:p>
            <a:r>
              <a:rPr lang="en-US" altLang="zh-TW" dirty="0"/>
              <a:t>Experimental Result (1/4)</a:t>
            </a:r>
            <a:endParaRPr lang="zh-TW" altLang="en-US" dirty="0"/>
          </a:p>
        </p:txBody>
      </p:sp>
      <p:sp>
        <p:nvSpPr>
          <p:cNvPr id="4" name="投影片編號版面配置區 3">
            <a:extLst>
              <a:ext uri="{FF2B5EF4-FFF2-40B4-BE49-F238E27FC236}">
                <a16:creationId xmlns:a16="http://schemas.microsoft.com/office/drawing/2014/main" xmlns="" id="{DE38E89B-AD9D-41EA-9E08-08FBD42D7BF0}"/>
              </a:ext>
            </a:extLst>
          </p:cNvPr>
          <p:cNvSpPr>
            <a:spLocks noGrp="1"/>
          </p:cNvSpPr>
          <p:nvPr>
            <p:ph type="sldNum" sz="quarter" idx="12"/>
          </p:nvPr>
        </p:nvSpPr>
        <p:spPr/>
        <p:txBody>
          <a:bodyPr/>
          <a:lstStyle/>
          <a:p>
            <a:fld id="{8DCCD063-7F18-423D-A692-CC9D343FD360}" type="slidenum">
              <a:rPr lang="zh-TW" altLang="en-US" smtClean="0"/>
              <a:t>7</a:t>
            </a:fld>
            <a:endParaRPr lang="zh-TW" altLang="en-US"/>
          </a:p>
        </p:txBody>
      </p:sp>
      <p:pic>
        <p:nvPicPr>
          <p:cNvPr id="9" name="內容版面配置區 8">
            <a:extLst>
              <a:ext uri="{FF2B5EF4-FFF2-40B4-BE49-F238E27FC236}">
                <a16:creationId xmlns:a16="http://schemas.microsoft.com/office/drawing/2014/main" xmlns="" id="{4CE2CFE7-2E70-4852-8611-1473D2DAC667}"/>
              </a:ext>
            </a:extLst>
          </p:cNvPr>
          <p:cNvPicPr>
            <a:picLocks noGrp="1" noChangeAspect="1"/>
          </p:cNvPicPr>
          <p:nvPr>
            <p:ph idx="1"/>
          </p:nvPr>
        </p:nvPicPr>
        <p:blipFill>
          <a:blip r:embed="rId2"/>
          <a:stretch>
            <a:fillRect/>
          </a:stretch>
        </p:blipFill>
        <p:spPr>
          <a:xfrm>
            <a:off x="838200" y="2205037"/>
            <a:ext cx="5027934" cy="3254859"/>
          </a:xfrm>
          <a:prstGeom prst="rect">
            <a:avLst/>
          </a:prstGeom>
        </p:spPr>
      </p:pic>
      <p:pic>
        <p:nvPicPr>
          <p:cNvPr id="10" name="圖片 9">
            <a:extLst>
              <a:ext uri="{FF2B5EF4-FFF2-40B4-BE49-F238E27FC236}">
                <a16:creationId xmlns:a16="http://schemas.microsoft.com/office/drawing/2014/main" xmlns="" id="{8755CE6B-15B0-4BE2-86C1-F19325E3C606}"/>
              </a:ext>
            </a:extLst>
          </p:cNvPr>
          <p:cNvPicPr>
            <a:picLocks noChangeAspect="1"/>
          </p:cNvPicPr>
          <p:nvPr/>
        </p:nvPicPr>
        <p:blipFill>
          <a:blip r:embed="rId3"/>
          <a:stretch>
            <a:fillRect/>
          </a:stretch>
        </p:blipFill>
        <p:spPr>
          <a:xfrm>
            <a:off x="6096000" y="2205037"/>
            <a:ext cx="5027934" cy="3182237"/>
          </a:xfrm>
          <a:prstGeom prst="rect">
            <a:avLst/>
          </a:prstGeom>
        </p:spPr>
      </p:pic>
      <p:sp>
        <p:nvSpPr>
          <p:cNvPr id="11" name="文字方塊 10">
            <a:extLst>
              <a:ext uri="{FF2B5EF4-FFF2-40B4-BE49-F238E27FC236}">
                <a16:creationId xmlns:a16="http://schemas.microsoft.com/office/drawing/2014/main" xmlns="" id="{B6F689AB-0810-4164-9E5C-7FC45D3E648E}"/>
              </a:ext>
            </a:extLst>
          </p:cNvPr>
          <p:cNvSpPr txBox="1"/>
          <p:nvPr/>
        </p:nvSpPr>
        <p:spPr>
          <a:xfrm>
            <a:off x="1749558" y="5544762"/>
            <a:ext cx="4116576" cy="553998"/>
          </a:xfrm>
          <a:prstGeom prst="rect">
            <a:avLst/>
          </a:prstGeom>
          <a:noFill/>
        </p:spPr>
        <p:txBody>
          <a:bodyPr wrap="none" rtlCol="0">
            <a:spAutoFit/>
          </a:bodyPr>
          <a:lstStyle/>
          <a:p>
            <a:r>
              <a:rPr lang="en-US" altLang="zh-TW" sz="3000" dirty="0"/>
              <a:t>Cylinder-bell-funnel (CBF)</a:t>
            </a:r>
            <a:endParaRPr lang="zh-TW" altLang="en-US" sz="3000" dirty="0"/>
          </a:p>
        </p:txBody>
      </p:sp>
      <p:sp>
        <p:nvSpPr>
          <p:cNvPr id="12" name="文字方塊 11">
            <a:extLst>
              <a:ext uri="{FF2B5EF4-FFF2-40B4-BE49-F238E27FC236}">
                <a16:creationId xmlns:a16="http://schemas.microsoft.com/office/drawing/2014/main" xmlns="" id="{3E679B1F-41D6-41F6-BCF2-F07B0A003A68}"/>
              </a:ext>
            </a:extLst>
          </p:cNvPr>
          <p:cNvSpPr txBox="1"/>
          <p:nvPr/>
        </p:nvSpPr>
        <p:spPr>
          <a:xfrm>
            <a:off x="6857510" y="5594814"/>
            <a:ext cx="4266424" cy="553998"/>
          </a:xfrm>
          <a:prstGeom prst="rect">
            <a:avLst/>
          </a:prstGeom>
          <a:noFill/>
        </p:spPr>
        <p:txBody>
          <a:bodyPr wrap="none" rtlCol="0">
            <a:spAutoFit/>
          </a:bodyPr>
          <a:lstStyle/>
          <a:p>
            <a:r>
              <a:rPr lang="en-US" altLang="zh-TW" sz="3000" dirty="0"/>
              <a:t>Character Trajectories (CT)</a:t>
            </a:r>
            <a:endParaRPr lang="zh-TW" altLang="en-US" sz="3000" dirty="0"/>
          </a:p>
        </p:txBody>
      </p:sp>
    </p:spTree>
    <p:extLst>
      <p:ext uri="{BB962C8B-B14F-4D97-AF65-F5344CB8AC3E}">
        <p14:creationId xmlns:p14="http://schemas.microsoft.com/office/powerpoint/2010/main" val="2036173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97092C6-4C61-4272-B078-E9C18CDCC3F3}"/>
              </a:ext>
            </a:extLst>
          </p:cNvPr>
          <p:cNvSpPr>
            <a:spLocks noGrp="1"/>
          </p:cNvSpPr>
          <p:nvPr>
            <p:ph type="title"/>
          </p:nvPr>
        </p:nvSpPr>
        <p:spPr/>
        <p:txBody>
          <a:bodyPr/>
          <a:lstStyle/>
          <a:p>
            <a:r>
              <a:rPr lang="en-US" altLang="zh-TW" dirty="0"/>
              <a:t>Experimental Result (2/4)</a:t>
            </a:r>
            <a:endParaRPr lang="zh-TW" altLang="en-US" dirty="0"/>
          </a:p>
        </p:txBody>
      </p:sp>
      <p:pic>
        <p:nvPicPr>
          <p:cNvPr id="5" name="內容版面配置區 4">
            <a:extLst>
              <a:ext uri="{FF2B5EF4-FFF2-40B4-BE49-F238E27FC236}">
                <a16:creationId xmlns:a16="http://schemas.microsoft.com/office/drawing/2014/main" xmlns="" id="{D12A921B-EB06-443C-984A-AFE07FD6155C}"/>
              </a:ext>
            </a:extLst>
          </p:cNvPr>
          <p:cNvPicPr>
            <a:picLocks noGrp="1" noChangeAspect="1"/>
          </p:cNvPicPr>
          <p:nvPr>
            <p:ph idx="1"/>
          </p:nvPr>
        </p:nvPicPr>
        <p:blipFill>
          <a:blip r:embed="rId2"/>
          <a:stretch>
            <a:fillRect/>
          </a:stretch>
        </p:blipFill>
        <p:spPr>
          <a:xfrm>
            <a:off x="1030563" y="1928812"/>
            <a:ext cx="4601611" cy="3688314"/>
          </a:xfrm>
          <a:prstGeom prst="rect">
            <a:avLst/>
          </a:prstGeom>
        </p:spPr>
      </p:pic>
      <p:sp>
        <p:nvSpPr>
          <p:cNvPr id="4" name="投影片編號版面配置區 3">
            <a:extLst>
              <a:ext uri="{FF2B5EF4-FFF2-40B4-BE49-F238E27FC236}">
                <a16:creationId xmlns:a16="http://schemas.microsoft.com/office/drawing/2014/main" xmlns="" id="{DE38E89B-AD9D-41EA-9E08-08FBD42D7BF0}"/>
              </a:ext>
            </a:extLst>
          </p:cNvPr>
          <p:cNvSpPr>
            <a:spLocks noGrp="1"/>
          </p:cNvSpPr>
          <p:nvPr>
            <p:ph type="sldNum" sz="quarter" idx="12"/>
          </p:nvPr>
        </p:nvSpPr>
        <p:spPr/>
        <p:txBody>
          <a:bodyPr/>
          <a:lstStyle/>
          <a:p>
            <a:fld id="{8DCCD063-7F18-423D-A692-CC9D343FD360}" type="slidenum">
              <a:rPr lang="zh-TW" altLang="en-US" smtClean="0"/>
              <a:t>8</a:t>
            </a:fld>
            <a:endParaRPr lang="zh-TW" altLang="en-US" dirty="0"/>
          </a:p>
        </p:txBody>
      </p:sp>
      <p:pic>
        <p:nvPicPr>
          <p:cNvPr id="6" name="圖片 5">
            <a:extLst>
              <a:ext uri="{FF2B5EF4-FFF2-40B4-BE49-F238E27FC236}">
                <a16:creationId xmlns:a16="http://schemas.microsoft.com/office/drawing/2014/main" xmlns="" id="{1B092571-F96B-478D-9C80-C368D1843AFB}"/>
              </a:ext>
            </a:extLst>
          </p:cNvPr>
          <p:cNvPicPr>
            <a:picLocks noChangeAspect="1"/>
          </p:cNvPicPr>
          <p:nvPr/>
        </p:nvPicPr>
        <p:blipFill>
          <a:blip r:embed="rId3"/>
          <a:stretch>
            <a:fillRect/>
          </a:stretch>
        </p:blipFill>
        <p:spPr>
          <a:xfrm>
            <a:off x="5860568" y="1928812"/>
            <a:ext cx="5300869" cy="3757578"/>
          </a:xfrm>
          <a:prstGeom prst="rect">
            <a:avLst/>
          </a:prstGeom>
        </p:spPr>
      </p:pic>
      <p:sp>
        <p:nvSpPr>
          <p:cNvPr id="7" name="文字方塊 6">
            <a:extLst>
              <a:ext uri="{FF2B5EF4-FFF2-40B4-BE49-F238E27FC236}">
                <a16:creationId xmlns:a16="http://schemas.microsoft.com/office/drawing/2014/main" xmlns="" id="{A2CD7D31-E67C-4DAC-8784-A6D0B1469034}"/>
              </a:ext>
            </a:extLst>
          </p:cNvPr>
          <p:cNvSpPr txBox="1"/>
          <p:nvPr/>
        </p:nvSpPr>
        <p:spPr>
          <a:xfrm>
            <a:off x="1473420" y="5782028"/>
            <a:ext cx="4215962" cy="553998"/>
          </a:xfrm>
          <a:prstGeom prst="rect">
            <a:avLst/>
          </a:prstGeom>
          <a:noFill/>
        </p:spPr>
        <p:txBody>
          <a:bodyPr wrap="none" rtlCol="0">
            <a:spAutoFit/>
          </a:bodyPr>
          <a:lstStyle/>
          <a:p>
            <a:r>
              <a:rPr lang="en-US" altLang="zh-TW" sz="3000" dirty="0"/>
              <a:t>Spoken Arabic Digit (SAD)</a:t>
            </a:r>
            <a:endParaRPr lang="zh-TW" altLang="en-US" sz="3000" dirty="0"/>
          </a:p>
        </p:txBody>
      </p:sp>
      <p:sp>
        <p:nvSpPr>
          <p:cNvPr id="8" name="文字方塊 7">
            <a:extLst>
              <a:ext uri="{FF2B5EF4-FFF2-40B4-BE49-F238E27FC236}">
                <a16:creationId xmlns:a16="http://schemas.microsoft.com/office/drawing/2014/main" xmlns="" id="{D42253DC-BAAB-4642-9796-4D797956117A}"/>
              </a:ext>
            </a:extLst>
          </p:cNvPr>
          <p:cNvSpPr txBox="1"/>
          <p:nvPr/>
        </p:nvSpPr>
        <p:spPr>
          <a:xfrm>
            <a:off x="6688281" y="5744372"/>
            <a:ext cx="4974182" cy="553998"/>
          </a:xfrm>
          <a:prstGeom prst="rect">
            <a:avLst/>
          </a:prstGeom>
          <a:noFill/>
        </p:spPr>
        <p:txBody>
          <a:bodyPr wrap="none" rtlCol="0">
            <a:spAutoFit/>
          </a:bodyPr>
          <a:lstStyle/>
          <a:p>
            <a:r>
              <a:rPr lang="en-US" altLang="zh-TW" sz="3000" dirty="0"/>
              <a:t>Australian Sign Language (ASL)</a:t>
            </a:r>
            <a:endParaRPr lang="zh-TW" altLang="en-US" sz="3000" dirty="0"/>
          </a:p>
        </p:txBody>
      </p:sp>
    </p:spTree>
    <p:extLst>
      <p:ext uri="{BB962C8B-B14F-4D97-AF65-F5344CB8AC3E}">
        <p14:creationId xmlns:p14="http://schemas.microsoft.com/office/powerpoint/2010/main" val="256868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97092C6-4C61-4272-B078-E9C18CDCC3F3}"/>
              </a:ext>
            </a:extLst>
          </p:cNvPr>
          <p:cNvSpPr>
            <a:spLocks noGrp="1"/>
          </p:cNvSpPr>
          <p:nvPr>
            <p:ph type="title"/>
          </p:nvPr>
        </p:nvSpPr>
        <p:spPr/>
        <p:txBody>
          <a:bodyPr/>
          <a:lstStyle/>
          <a:p>
            <a:r>
              <a:rPr lang="en-US" altLang="zh-TW" dirty="0"/>
              <a:t>Experimental Result (3/4)</a:t>
            </a:r>
            <a:endParaRPr lang="zh-TW" altLang="en-US" dirty="0"/>
          </a:p>
        </p:txBody>
      </p:sp>
      <p:sp>
        <p:nvSpPr>
          <p:cNvPr id="4" name="投影片編號版面配置區 3">
            <a:extLst>
              <a:ext uri="{FF2B5EF4-FFF2-40B4-BE49-F238E27FC236}">
                <a16:creationId xmlns:a16="http://schemas.microsoft.com/office/drawing/2014/main" xmlns="" id="{DE38E89B-AD9D-41EA-9E08-08FBD42D7BF0}"/>
              </a:ext>
            </a:extLst>
          </p:cNvPr>
          <p:cNvSpPr>
            <a:spLocks noGrp="1"/>
          </p:cNvSpPr>
          <p:nvPr>
            <p:ph type="sldNum" sz="quarter" idx="12"/>
          </p:nvPr>
        </p:nvSpPr>
        <p:spPr/>
        <p:txBody>
          <a:bodyPr/>
          <a:lstStyle/>
          <a:p>
            <a:fld id="{8DCCD063-7F18-423D-A692-CC9D343FD360}" type="slidenum">
              <a:rPr lang="zh-TW" altLang="en-US" smtClean="0"/>
              <a:t>9</a:t>
            </a:fld>
            <a:endParaRPr lang="zh-TW" altLang="en-US" dirty="0"/>
          </a:p>
        </p:txBody>
      </p:sp>
      <p:pic>
        <p:nvPicPr>
          <p:cNvPr id="10" name="圖片 9">
            <a:extLst>
              <a:ext uri="{FF2B5EF4-FFF2-40B4-BE49-F238E27FC236}">
                <a16:creationId xmlns:a16="http://schemas.microsoft.com/office/drawing/2014/main" xmlns="" id="{0F7A8755-09E8-4824-9A18-DDCA87852D0C}"/>
              </a:ext>
            </a:extLst>
          </p:cNvPr>
          <p:cNvPicPr>
            <a:picLocks noChangeAspect="1"/>
          </p:cNvPicPr>
          <p:nvPr/>
        </p:nvPicPr>
        <p:blipFill>
          <a:blip r:embed="rId2"/>
          <a:stretch>
            <a:fillRect/>
          </a:stretch>
        </p:blipFill>
        <p:spPr>
          <a:xfrm>
            <a:off x="946287" y="1574731"/>
            <a:ext cx="4927707" cy="3964678"/>
          </a:xfrm>
          <a:prstGeom prst="rect">
            <a:avLst/>
          </a:prstGeom>
        </p:spPr>
      </p:pic>
      <p:pic>
        <p:nvPicPr>
          <p:cNvPr id="11" name="圖片 10">
            <a:extLst>
              <a:ext uri="{FF2B5EF4-FFF2-40B4-BE49-F238E27FC236}">
                <a16:creationId xmlns:a16="http://schemas.microsoft.com/office/drawing/2014/main" xmlns="" id="{DB47809E-BCEF-48FC-8111-9ACF5A224F6A}"/>
              </a:ext>
            </a:extLst>
          </p:cNvPr>
          <p:cNvPicPr>
            <a:picLocks noChangeAspect="1"/>
          </p:cNvPicPr>
          <p:nvPr/>
        </p:nvPicPr>
        <p:blipFill>
          <a:blip r:embed="rId3"/>
          <a:stretch>
            <a:fillRect/>
          </a:stretch>
        </p:blipFill>
        <p:spPr>
          <a:xfrm>
            <a:off x="6146746" y="1574731"/>
            <a:ext cx="4927707" cy="3996780"/>
          </a:xfrm>
          <a:prstGeom prst="rect">
            <a:avLst/>
          </a:prstGeom>
        </p:spPr>
      </p:pic>
      <p:sp>
        <p:nvSpPr>
          <p:cNvPr id="12" name="文字方塊 11">
            <a:extLst>
              <a:ext uri="{FF2B5EF4-FFF2-40B4-BE49-F238E27FC236}">
                <a16:creationId xmlns:a16="http://schemas.microsoft.com/office/drawing/2014/main" xmlns="" id="{9B6DBA53-62EC-49F4-85E6-8EAACCF9F96B}"/>
              </a:ext>
            </a:extLst>
          </p:cNvPr>
          <p:cNvSpPr txBox="1"/>
          <p:nvPr/>
        </p:nvSpPr>
        <p:spPr>
          <a:xfrm>
            <a:off x="1749558" y="5544762"/>
            <a:ext cx="4116576" cy="553998"/>
          </a:xfrm>
          <a:prstGeom prst="rect">
            <a:avLst/>
          </a:prstGeom>
          <a:noFill/>
        </p:spPr>
        <p:txBody>
          <a:bodyPr wrap="none" rtlCol="0">
            <a:spAutoFit/>
          </a:bodyPr>
          <a:lstStyle/>
          <a:p>
            <a:r>
              <a:rPr lang="en-US" altLang="zh-TW" sz="3000" dirty="0"/>
              <a:t>Cylinder-bell-funnel (CBF)</a:t>
            </a:r>
            <a:endParaRPr lang="zh-TW" altLang="en-US" sz="3000" dirty="0"/>
          </a:p>
        </p:txBody>
      </p:sp>
      <p:sp>
        <p:nvSpPr>
          <p:cNvPr id="13" name="文字方塊 12">
            <a:extLst>
              <a:ext uri="{FF2B5EF4-FFF2-40B4-BE49-F238E27FC236}">
                <a16:creationId xmlns:a16="http://schemas.microsoft.com/office/drawing/2014/main" xmlns="" id="{EEBD0C20-3D16-4FFD-85C5-562EF4522594}"/>
              </a:ext>
            </a:extLst>
          </p:cNvPr>
          <p:cNvSpPr txBox="1"/>
          <p:nvPr/>
        </p:nvSpPr>
        <p:spPr>
          <a:xfrm>
            <a:off x="6669405" y="5544762"/>
            <a:ext cx="4974182" cy="553998"/>
          </a:xfrm>
          <a:prstGeom prst="rect">
            <a:avLst/>
          </a:prstGeom>
          <a:noFill/>
        </p:spPr>
        <p:txBody>
          <a:bodyPr wrap="none" rtlCol="0">
            <a:spAutoFit/>
          </a:bodyPr>
          <a:lstStyle/>
          <a:p>
            <a:r>
              <a:rPr lang="en-US" altLang="zh-TW" sz="3000" dirty="0"/>
              <a:t>Australian Sign Language (ASL)</a:t>
            </a:r>
            <a:endParaRPr lang="zh-TW" altLang="en-US" sz="3000" dirty="0"/>
          </a:p>
        </p:txBody>
      </p:sp>
    </p:spTree>
    <p:extLst>
      <p:ext uri="{BB962C8B-B14F-4D97-AF65-F5344CB8AC3E}">
        <p14:creationId xmlns:p14="http://schemas.microsoft.com/office/powerpoint/2010/main" val="2167397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97092C6-4C61-4272-B078-E9C18CDCC3F3}"/>
              </a:ext>
            </a:extLst>
          </p:cNvPr>
          <p:cNvSpPr>
            <a:spLocks noGrp="1"/>
          </p:cNvSpPr>
          <p:nvPr>
            <p:ph type="title"/>
          </p:nvPr>
        </p:nvSpPr>
        <p:spPr/>
        <p:txBody>
          <a:bodyPr/>
          <a:lstStyle/>
          <a:p>
            <a:r>
              <a:rPr lang="en-US" altLang="zh-TW" dirty="0"/>
              <a:t>Experimental Result (4/4)</a:t>
            </a:r>
            <a:endParaRPr lang="zh-TW" altLang="en-US" dirty="0"/>
          </a:p>
        </p:txBody>
      </p:sp>
      <p:sp>
        <p:nvSpPr>
          <p:cNvPr id="4" name="投影片編號版面配置區 3">
            <a:extLst>
              <a:ext uri="{FF2B5EF4-FFF2-40B4-BE49-F238E27FC236}">
                <a16:creationId xmlns:a16="http://schemas.microsoft.com/office/drawing/2014/main" xmlns="" id="{DE38E89B-AD9D-41EA-9E08-08FBD42D7BF0}"/>
              </a:ext>
            </a:extLst>
          </p:cNvPr>
          <p:cNvSpPr>
            <a:spLocks noGrp="1"/>
          </p:cNvSpPr>
          <p:nvPr>
            <p:ph type="sldNum" sz="quarter" idx="12"/>
          </p:nvPr>
        </p:nvSpPr>
        <p:spPr/>
        <p:txBody>
          <a:bodyPr/>
          <a:lstStyle/>
          <a:p>
            <a:fld id="{8DCCD063-7F18-423D-A692-CC9D343FD360}" type="slidenum">
              <a:rPr lang="zh-TW" altLang="en-US" smtClean="0"/>
              <a:t>10</a:t>
            </a:fld>
            <a:endParaRPr lang="zh-TW" altLang="en-US" dirty="0"/>
          </a:p>
        </p:txBody>
      </p:sp>
      <p:pic>
        <p:nvPicPr>
          <p:cNvPr id="3" name="圖片 2">
            <a:extLst>
              <a:ext uri="{FF2B5EF4-FFF2-40B4-BE49-F238E27FC236}">
                <a16:creationId xmlns:a16="http://schemas.microsoft.com/office/drawing/2014/main" xmlns="" id="{02F7F17D-0B73-4A59-82FF-5278A170083C}"/>
              </a:ext>
            </a:extLst>
          </p:cNvPr>
          <p:cNvPicPr>
            <a:picLocks noChangeAspect="1"/>
          </p:cNvPicPr>
          <p:nvPr/>
        </p:nvPicPr>
        <p:blipFill>
          <a:blip r:embed="rId2"/>
          <a:stretch>
            <a:fillRect/>
          </a:stretch>
        </p:blipFill>
        <p:spPr>
          <a:xfrm>
            <a:off x="1067628" y="1690690"/>
            <a:ext cx="6800850" cy="2190750"/>
          </a:xfrm>
          <a:prstGeom prst="rect">
            <a:avLst/>
          </a:prstGeom>
        </p:spPr>
      </p:pic>
      <p:pic>
        <p:nvPicPr>
          <p:cNvPr id="5" name="圖片 4">
            <a:extLst>
              <a:ext uri="{FF2B5EF4-FFF2-40B4-BE49-F238E27FC236}">
                <a16:creationId xmlns:a16="http://schemas.microsoft.com/office/drawing/2014/main" xmlns="" id="{179BBA72-B511-4682-8022-C4B561EBC73E}"/>
              </a:ext>
            </a:extLst>
          </p:cNvPr>
          <p:cNvPicPr>
            <a:picLocks noChangeAspect="1"/>
          </p:cNvPicPr>
          <p:nvPr/>
        </p:nvPicPr>
        <p:blipFill>
          <a:blip r:embed="rId3"/>
          <a:stretch>
            <a:fillRect/>
          </a:stretch>
        </p:blipFill>
        <p:spPr>
          <a:xfrm>
            <a:off x="2629728" y="4421190"/>
            <a:ext cx="3676650" cy="1571625"/>
          </a:xfrm>
          <a:prstGeom prst="rect">
            <a:avLst/>
          </a:prstGeom>
        </p:spPr>
      </p:pic>
    </p:spTree>
    <p:extLst>
      <p:ext uri="{BB962C8B-B14F-4D97-AF65-F5344CB8AC3E}">
        <p14:creationId xmlns:p14="http://schemas.microsoft.com/office/powerpoint/2010/main" val="243818726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10234</TotalTime>
  <Words>228</Words>
  <Application>Microsoft Office PowerPoint</Application>
  <PresentationFormat>寬螢幕</PresentationFormat>
  <Paragraphs>36</Paragraphs>
  <Slides>10</Slides>
  <Notes>3</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10</vt:i4>
      </vt:variant>
    </vt:vector>
  </HeadingPairs>
  <TitlesOfParts>
    <vt:vector size="18" baseType="lpstr">
      <vt:lpstr>微軟正黑體</vt:lpstr>
      <vt:lpstr>新細明體</vt:lpstr>
      <vt:lpstr>Arial</vt:lpstr>
      <vt:lpstr>Calibri</vt:lpstr>
      <vt:lpstr>Cambria Math</vt:lpstr>
      <vt:lpstr>Times New Roman</vt:lpstr>
      <vt:lpstr>Tw Cen MT</vt:lpstr>
      <vt:lpstr>Office 佈景主題</vt:lpstr>
      <vt:lpstr>Dynamic Time Warping and the (Windowed) Dog-Keeper Distance</vt:lpstr>
      <vt:lpstr>Abstract (1/2)</vt:lpstr>
      <vt:lpstr>Abstract (2/2)</vt:lpstr>
      <vt:lpstr>DTW, ERP, DK</vt:lpstr>
      <vt:lpstr>Dog-Keeper</vt:lpstr>
      <vt:lpstr>Windowed Dog-Keeper</vt:lpstr>
      <vt:lpstr>Experimental Result (1/4)</vt:lpstr>
      <vt:lpstr>Experimental Result (2/4)</vt:lpstr>
      <vt:lpstr>Experimental Result (3/4)</vt:lpstr>
      <vt:lpstr>Experimental Result (4/4)</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pplab-class</cp:lastModifiedBy>
  <cp:revision>222</cp:revision>
  <dcterms:created xsi:type="dcterms:W3CDTF">2017-10-09T09:38:00Z</dcterms:created>
  <dcterms:modified xsi:type="dcterms:W3CDTF">2018-01-02T10:42:29Z</dcterms:modified>
</cp:coreProperties>
</file>