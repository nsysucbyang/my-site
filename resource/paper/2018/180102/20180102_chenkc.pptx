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56" r:id="rId2"/>
    <p:sldId id="257" r:id="rId3"/>
    <p:sldId id="272" r:id="rId4"/>
    <p:sldId id="285" r:id="rId5"/>
    <p:sldId id="271" r:id="rId6"/>
    <p:sldId id="273" r:id="rId7"/>
    <p:sldId id="275" r:id="rId8"/>
    <p:sldId id="277" r:id="rId9"/>
    <p:sldId id="279" r:id="rId10"/>
    <p:sldId id="278" r:id="rId11"/>
    <p:sldId id="280" r:id="rId12"/>
    <p:sldId id="281" r:id="rId13"/>
    <p:sldId id="28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88592" autoAdjust="0"/>
  </p:normalViewPr>
  <p:slideViewPr>
    <p:cSldViewPr snapToGrid="0">
      <p:cViewPr varScale="1">
        <p:scale>
          <a:sx n="111" d="100"/>
          <a:sy n="111" d="100"/>
        </p:scale>
        <p:origin x="1740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EB1F98-CDCA-4E1F-B89C-7712647B005A}" type="datetimeFigureOut">
              <a:rPr lang="zh-TW" altLang="en-US" smtClean="0"/>
              <a:t>2018/1/2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E0A4FA-366C-40B7-9E40-EFBC7A72D85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0661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作者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r>
              <a:rPr lang="en-US" altLang="zh-TW" sz="12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Johra</a:t>
            </a:r>
            <a:r>
              <a:rPr lang="en-US" altLang="zh-TW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Muhammad </a:t>
            </a:r>
            <a:r>
              <a:rPr lang="en-US" altLang="zh-TW" sz="12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Moosa</a:t>
            </a:r>
            <a:r>
              <a:rPr lang="en-US" altLang="zh-TW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12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孟加拉</a:t>
            </a:r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12154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48804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4880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08116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08116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08116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08116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08116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08116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08116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08116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08116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2018/1/2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58464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2018/1/2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77946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2018/1/2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34384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2018/1/2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0689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2018/1/2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3240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2018/1/2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6587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2018/1/2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96154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2018/1/2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7834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2018/1/2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48322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2018/1/2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46856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2018/1/2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09145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6EFCFE-425C-4696-9D05-22E06C3112FC}" type="datetimeFigureOut">
              <a:rPr lang="zh-TW" altLang="en-US" smtClean="0"/>
              <a:t>2018/1/2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86228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22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447A32-0D96-4B57-86B2-82EC84E899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0569" y="1153272"/>
            <a:ext cx="7837715" cy="1666831"/>
          </a:xfrm>
        </p:spPr>
        <p:txBody>
          <a:bodyPr>
            <a:normAutofit fontScale="90000"/>
          </a:bodyPr>
          <a:lstStyle/>
          <a:p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Computing a longest common subsequence that is almost increasing on sequences having no repeated elements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1456E59-5D91-4093-B1A4-6F308EA967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9500" y="3538103"/>
            <a:ext cx="6985000" cy="461664"/>
          </a:xfrm>
        </p:spPr>
        <p:txBody>
          <a:bodyPr>
            <a:normAutofit/>
          </a:bodyPr>
          <a:lstStyle/>
          <a:p>
            <a:r>
              <a:rPr lang="en-US" altLang="zh-TW" sz="20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Johra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Muhammad </a:t>
            </a:r>
            <a:r>
              <a:rPr lang="en-US" altLang="zh-TW" sz="20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Moosa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 M. </a:t>
            </a:r>
            <a:r>
              <a:rPr lang="en-US" altLang="zh-TW" sz="20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Sohel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Rahman, </a:t>
            </a:r>
            <a:r>
              <a:rPr lang="en-US" altLang="zh-TW" sz="20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Fatema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Tuz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Zohora</a:t>
            </a:r>
            <a:endParaRPr lang="zh-TW" altLang="en-US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" name="副標題 2">
            <a:extLst>
              <a:ext uri="{FF2B5EF4-FFF2-40B4-BE49-F238E27FC236}">
                <a16:creationId xmlns:a16="http://schemas.microsoft.com/office/drawing/2014/main" id="{A64E0364-4674-4930-835E-A413D880DCDB}"/>
              </a:ext>
            </a:extLst>
          </p:cNvPr>
          <p:cNvSpPr txBox="1">
            <a:spLocks/>
          </p:cNvSpPr>
          <p:nvPr/>
        </p:nvSpPr>
        <p:spPr>
          <a:xfrm>
            <a:off x="4722453" y="4987602"/>
            <a:ext cx="3264031" cy="856478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Speaker: </a:t>
            </a:r>
            <a:r>
              <a:rPr lang="en-US" altLang="zh-TW" sz="18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Kuan-Chih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Chen</a:t>
            </a:r>
          </a:p>
          <a:p>
            <a:pPr algn="r"/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Date: 2018.01.02</a:t>
            </a:r>
            <a:endParaRPr lang="zh-TW" altLang="en-US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76243CF-D414-4295-8B1E-9BF6541E940C}"/>
              </a:ext>
            </a:extLst>
          </p:cNvPr>
          <p:cNvSpPr/>
          <p:nvPr/>
        </p:nvSpPr>
        <p:spPr>
          <a:xfrm>
            <a:off x="1442020" y="4147436"/>
            <a:ext cx="611481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Journal of Discrete Algorithms 20 (2013) 12–20</a:t>
            </a:r>
            <a:endParaRPr lang="zh-TW" altLang="en-US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172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906" y="644700"/>
            <a:ext cx="7886700" cy="583367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5E26DCC3-1991-4383-BF81-99FF895536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8166" y="1311642"/>
                <a:ext cx="8252348" cy="5131633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70000"/>
                  </a:lnSpc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Given two permutations A and B of [1..n] and a ﬁxed constant c, we introduce the notion of a </a:t>
                </a:r>
                <a:r>
                  <a:rPr lang="en-US" altLang="zh-TW" sz="2400" b="1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longest common almost increasing subsequence (LCAIS) </a:t>
                </a:r>
                <a:r>
                  <a:rPr lang="en-US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as a longest common subsequence that can be converted to an increasing subsequence by possibly adding a value, that is at most c, to each of the elements. We present an algorithm for computing LCAIS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40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O</m:t>
                    </m:r>
                    <m:r>
                      <a:rPr lang="en-US" altLang="zh-TW" sz="240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)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space,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400" b="0" i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O</m:t>
                    </m:r>
                    <m:r>
                      <a:rPr lang="en-US" altLang="zh-TW" sz="2400" b="0" i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TW" sz="2400" b="0" i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n</m:t>
                    </m:r>
                    <m:r>
                      <a:rPr lang="en-US" altLang="zh-TW" sz="2400" b="0" i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TW" sz="2400" b="0" i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n</m:t>
                    </m:r>
                    <m:r>
                      <a:rPr lang="en-US" altLang="zh-TW" sz="2400" b="0" i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))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time.</a:t>
                </a:r>
                <a:endParaRPr lang="zh-TW" altLang="en-US" sz="24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5E26DCC3-1991-4383-BF81-99FF895536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8166" y="1311642"/>
                <a:ext cx="8252348" cy="5131633"/>
              </a:xfrm>
              <a:blipFill rotWithShape="1">
                <a:blip r:embed="rId3"/>
                <a:stretch>
                  <a:fillRect l="-1108" r="-199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478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906" y="644700"/>
            <a:ext cx="7886700" cy="583367"/>
          </a:xfrm>
        </p:spPr>
        <p:txBody>
          <a:bodyPr>
            <a:normAutofit/>
          </a:bodyPr>
          <a:lstStyle/>
          <a:p>
            <a:r>
              <a:rPr lang="en-US" altLang="zh-TW" sz="3200">
                <a:latin typeface="Times New Roman" panose="02020603050405020304" pitchFamily="18" charset="0"/>
                <a:cs typeface="Times New Roman" panose="02020603050405020304" pitchFamily="18" charset="0"/>
              </a:rPr>
              <a:t>Sequence/permutation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內容版面配置區 5"/>
          <p:cNvSpPr>
            <a:spLocks noGrp="1"/>
          </p:cNvSpPr>
          <p:nvPr>
            <p:ph idx="1"/>
          </p:nvPr>
        </p:nvSpPr>
        <p:spPr>
          <a:xfrm>
            <a:off x="452906" y="1374956"/>
            <a:ext cx="7886700" cy="46908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TW">
                <a:solidFill>
                  <a:srgbClr val="7030A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 (1, 2, 3, 5, 13, 11,</a:t>
            </a:r>
            <a:r>
              <a:rPr lang="zh-TW" altLang="en-US">
                <a:solidFill>
                  <a:srgbClr val="7030A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>
                <a:solidFill>
                  <a:srgbClr val="7030A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9)</a:t>
            </a:r>
            <a:endParaRPr lang="zh-TW" altLang="en-US" dirty="0">
              <a:solidFill>
                <a:srgbClr val="7030A0"/>
              </a:solidFill>
            </a:endParaRPr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94B01AB9-0651-4F6D-A93A-D571F0BAE9A7}"/>
              </a:ext>
            </a:extLst>
          </p:cNvPr>
          <p:cNvSpPr txBox="1">
            <a:spLocks/>
          </p:cNvSpPr>
          <p:nvPr/>
        </p:nvSpPr>
        <p:spPr>
          <a:xfrm>
            <a:off x="452906" y="2412540"/>
            <a:ext cx="7886700" cy="5833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200">
                <a:latin typeface="Times New Roman" panose="02020603050405020304" pitchFamily="18" charset="0"/>
                <a:cs typeface="Times New Roman" panose="02020603050405020304" pitchFamily="18" charset="0"/>
              </a:rPr>
              <a:t>Longest increasing subequence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內容版面配置區 5"/>
          <p:cNvSpPr txBox="1">
            <a:spLocks/>
          </p:cNvSpPr>
          <p:nvPr/>
        </p:nvSpPr>
        <p:spPr>
          <a:xfrm>
            <a:off x="452906" y="3142796"/>
            <a:ext cx="7886700" cy="46908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TW">
                <a:solidFill>
                  <a:srgbClr val="7030A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 (1, 2, 3, 5, 13)</a:t>
            </a:r>
            <a:endParaRPr lang="zh-TW" altLang="en-US" dirty="0">
              <a:solidFill>
                <a:srgbClr val="7030A0"/>
              </a:solidFill>
            </a:endParaRPr>
          </a:p>
        </p:txBody>
      </p:sp>
      <p:sp>
        <p:nvSpPr>
          <p:cNvPr id="9" name="標題 1">
            <a:extLst>
              <a:ext uri="{FF2B5EF4-FFF2-40B4-BE49-F238E27FC236}">
                <a16:creationId xmlns:a16="http://schemas.microsoft.com/office/drawing/2014/main" id="{94B01AB9-0651-4F6D-A93A-D571F0BAE9A7}"/>
              </a:ext>
            </a:extLst>
          </p:cNvPr>
          <p:cNvSpPr txBox="1">
            <a:spLocks/>
          </p:cNvSpPr>
          <p:nvPr/>
        </p:nvSpPr>
        <p:spPr>
          <a:xfrm>
            <a:off x="452906" y="4043220"/>
            <a:ext cx="7886700" cy="5833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200">
                <a:latin typeface="Times New Roman" panose="02020603050405020304" pitchFamily="18" charset="0"/>
                <a:cs typeface="Times New Roman" panose="02020603050405020304" pitchFamily="18" charset="0"/>
              </a:rPr>
              <a:t>Longest almost increasing subequence (c = 3)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內容版面配置區 5"/>
          <p:cNvSpPr txBox="1">
            <a:spLocks/>
          </p:cNvSpPr>
          <p:nvPr/>
        </p:nvSpPr>
        <p:spPr>
          <a:xfrm>
            <a:off x="452906" y="5718356"/>
            <a:ext cx="7886700" cy="46908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TW">
                <a:solidFill>
                  <a:srgbClr val="7030A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 (1, 2, 3, 5, 13, 11)</a:t>
            </a:r>
            <a:endParaRPr lang="zh-TW" altLang="en-US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/>
              <p:cNvSpPr txBox="1"/>
              <p:nvPr/>
            </p:nvSpPr>
            <p:spPr>
              <a:xfrm>
                <a:off x="452906" y="4797695"/>
                <a:ext cx="3234347" cy="5204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80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∀</m:t>
                      </m:r>
                      <m:sSub>
                        <m:sSubPr>
                          <m:ctrlPr>
                            <a:rPr lang="en-US" altLang="zh-TW" sz="28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28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y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28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i</m:t>
                          </m:r>
                        </m:sub>
                      </m:sSub>
                      <m:r>
                        <a:rPr lang="en-US" altLang="zh-TW" sz="2800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&gt;</m:t>
                      </m:r>
                      <m:sSubSup>
                        <m:sSubSupPr>
                          <m:ctrlPr>
                            <a:rPr lang="en-US" altLang="zh-TW" sz="28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8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𝑚𝑎𝑥</m:t>
                          </m:r>
                        </m:e>
                        <m:sub>
                          <m:r>
                            <a:rPr lang="en-US" altLang="zh-TW" sz="28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US" altLang="zh-TW" sz="28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TW" sz="28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TW" sz="28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−1</m:t>
                          </m:r>
                        </m:sup>
                      </m:sSubSup>
                      <m:sSub>
                        <m:sSubPr>
                          <m:ctrlPr>
                            <a:rPr lang="en-US" altLang="zh-TW" sz="28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US" altLang="zh-TW" sz="28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TW" sz="28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TW" sz="28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 altLang="zh-TW" sz="28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𝑐</m:t>
                      </m:r>
                    </m:oMath>
                  </m:oMathPara>
                </a14:m>
                <a:endParaRPr lang="zh-TW" altLang="en-US" sz="2800">
                  <a:solidFill>
                    <a:schemeClr val="accent5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906" y="4797695"/>
                <a:ext cx="3234347" cy="520463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541142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2906" y="2191385"/>
            <a:ext cx="7886700" cy="4351338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TW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Given two permutations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TW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 (20, 7, 15, 1, 14, 3, 6, 13, 11, 18, 10, 9), m = 12</a:t>
            </a:r>
            <a:endParaRPr lang="en-US" altLang="zh-TW"/>
          </a:p>
          <a:p>
            <a:pPr marL="0" indent="0">
              <a:lnSpc>
                <a:spcPct val="150000"/>
              </a:lnSpc>
              <a:buNone/>
            </a:pPr>
            <a:r>
              <a:rPr lang="en-US" altLang="zh-TW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 (7, 12, 15, 14, 21, 13, 6, 11, 10, 9), n = 10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TW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and a constant c = 3, find the LCAIS of A &amp; B</a:t>
            </a:r>
          </a:p>
        </p:txBody>
      </p:sp>
      <p:sp>
        <p:nvSpPr>
          <p:cNvPr id="4" name="標題 1">
            <a:extLst>
              <a:ext uri="{FF2B5EF4-FFF2-40B4-BE49-F238E27FC236}">
                <a16:creationId xmlns:a16="http://schemas.microsoft.com/office/drawing/2014/main" id="{94B01AB9-0651-4F6D-A93A-D571F0BAE9A7}"/>
              </a:ext>
            </a:extLst>
          </p:cNvPr>
          <p:cNvSpPr txBox="1">
            <a:spLocks/>
          </p:cNvSpPr>
          <p:nvPr/>
        </p:nvSpPr>
        <p:spPr>
          <a:xfrm>
            <a:off x="452906" y="583740"/>
            <a:ext cx="7886700" cy="11536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200">
                <a:latin typeface="Times New Roman" panose="02020603050405020304" pitchFamily="18" charset="0"/>
                <a:cs typeface="Times New Roman" panose="02020603050405020304" pitchFamily="18" charset="0"/>
              </a:rPr>
              <a:t>Solving a longest common almost increasing subsequence(LCAIS) problem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45642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內容版面配置區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96048296"/>
              </p:ext>
            </p:extLst>
          </p:nvPr>
        </p:nvGraphicFramePr>
        <p:xfrm>
          <a:off x="614136" y="838653"/>
          <a:ext cx="7886700" cy="5191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7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70840">
                <a:tc rowSpan="2" gridSpan="2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TW" sz="3600" baseline="-25000" dirty="0"/>
                        <a:t>A(</a:t>
                      </a:r>
                      <a:r>
                        <a:rPr lang="en-US" altLang="zh-TW" sz="3600" baseline="-25000" dirty="0" err="1"/>
                        <a:t>i</a:t>
                      </a:r>
                      <a:r>
                        <a:rPr lang="en-US" altLang="zh-TW" sz="3600" baseline="-25000" dirty="0"/>
                        <a:t>)    </a:t>
                      </a:r>
                      <a:r>
                        <a:rPr lang="en-US" altLang="zh-TW" sz="3600" baseline="30000" dirty="0"/>
                        <a:t>B(j)                </a:t>
                      </a:r>
                      <a:endParaRPr lang="zh-TW" altLang="en-US" sz="3600" baseline="30000" dirty="0"/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 rowSpan="2"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gridSpan="2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7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12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15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14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21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13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6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11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10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9</a:t>
                      </a:r>
                      <a:endParaRPr lang="zh-TW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20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7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15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14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3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6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13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11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18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10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9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8" name="向右箭號 7"/>
          <p:cNvSpPr/>
          <p:nvPr/>
        </p:nvSpPr>
        <p:spPr>
          <a:xfrm>
            <a:off x="2222500" y="1673225"/>
            <a:ext cx="5943599" cy="190500"/>
          </a:xfrm>
          <a:prstGeom prst="rightArrow">
            <a:avLst>
              <a:gd name="adj1" fmla="val 32000"/>
              <a:gd name="adj2" fmla="val 58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向右箭號 10"/>
          <p:cNvSpPr/>
          <p:nvPr/>
        </p:nvSpPr>
        <p:spPr>
          <a:xfrm>
            <a:off x="2222499" y="2016125"/>
            <a:ext cx="5943599" cy="190500"/>
          </a:xfrm>
          <a:prstGeom prst="rightArrow">
            <a:avLst>
              <a:gd name="adj1" fmla="val 32000"/>
              <a:gd name="adj2" fmla="val 58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向右箭號 11"/>
          <p:cNvSpPr/>
          <p:nvPr/>
        </p:nvSpPr>
        <p:spPr>
          <a:xfrm>
            <a:off x="2222498" y="2409825"/>
            <a:ext cx="5943599" cy="190500"/>
          </a:xfrm>
          <a:prstGeom prst="rightArrow">
            <a:avLst>
              <a:gd name="adj1" fmla="val 32000"/>
              <a:gd name="adj2" fmla="val 58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向右箭號 12"/>
          <p:cNvSpPr/>
          <p:nvPr/>
        </p:nvSpPr>
        <p:spPr>
          <a:xfrm>
            <a:off x="2222497" y="2778125"/>
            <a:ext cx="5943599" cy="190500"/>
          </a:xfrm>
          <a:prstGeom prst="rightArrow">
            <a:avLst>
              <a:gd name="adj1" fmla="val 32000"/>
              <a:gd name="adj2" fmla="val 58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36728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  <p:bldP spid="12" grpId="0" animBg="1"/>
      <p:bldP spid="1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內容版面配置區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83454007"/>
              </p:ext>
            </p:extLst>
          </p:nvPr>
        </p:nvGraphicFramePr>
        <p:xfrm>
          <a:off x="614136" y="838653"/>
          <a:ext cx="7886700" cy="5191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7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70840">
                <a:tc rowSpan="2" gridSpan="2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TW" sz="3600" baseline="-25000" dirty="0"/>
                        <a:t>A(</a:t>
                      </a:r>
                      <a:r>
                        <a:rPr lang="en-US" altLang="zh-TW" sz="3600" baseline="-25000" dirty="0" err="1"/>
                        <a:t>i</a:t>
                      </a:r>
                      <a:r>
                        <a:rPr lang="en-US" altLang="zh-TW" sz="3600" baseline="-25000" dirty="0"/>
                        <a:t>)    </a:t>
                      </a:r>
                      <a:r>
                        <a:rPr lang="en-US" altLang="zh-TW" sz="3600" baseline="30000" dirty="0"/>
                        <a:t>B(j)                </a:t>
                      </a:r>
                      <a:endParaRPr lang="zh-TW" altLang="en-US" sz="3600" baseline="30000" dirty="0"/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 rowSpan="2"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gridSpan="2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accent1"/>
                          </a:solidFill>
                        </a:rPr>
                        <a:t>7</a:t>
                      </a:r>
                      <a:endParaRPr lang="zh-TW" altLang="en-US" b="1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12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15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14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21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13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6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11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10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9</a:t>
                      </a:r>
                      <a:endParaRPr lang="zh-TW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20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1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endParaRPr lang="zh-TW" altLang="en-US" sz="1800" b="1" kern="1200" dirty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15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14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3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6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13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11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18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10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9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2394857" y="2090057"/>
            <a:ext cx="1233713" cy="52251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dirty="0">
                <a:solidFill>
                  <a:srgbClr val="FF0000"/>
                </a:solidFill>
              </a:rPr>
              <a:t>CAIS:</a:t>
            </a:r>
            <a:r>
              <a:rPr lang="zh-TW" altLang="en-US" sz="2000" dirty="0">
                <a:solidFill>
                  <a:srgbClr val="FF0000"/>
                </a:solidFill>
              </a:rPr>
              <a:t> </a:t>
            </a:r>
            <a:r>
              <a:rPr lang="en-US" altLang="zh-TW" sz="2000" dirty="0">
                <a:solidFill>
                  <a:srgbClr val="FF0000"/>
                </a:solidFill>
              </a:rPr>
              <a:t>7</a:t>
            </a:r>
            <a:endParaRPr lang="zh-TW" altLang="en-US" sz="2000" dirty="0">
              <a:solidFill>
                <a:srgbClr val="FF0000"/>
              </a:solidFill>
            </a:endParaRPr>
          </a:p>
        </p:txBody>
      </p:sp>
      <p:grpSp>
        <p:nvGrpSpPr>
          <p:cNvPr id="5" name="群組 4"/>
          <p:cNvGrpSpPr/>
          <p:nvPr/>
        </p:nvGrpSpPr>
        <p:grpSpPr>
          <a:xfrm>
            <a:off x="493487" y="537029"/>
            <a:ext cx="8244114" cy="5631543"/>
            <a:chOff x="493487" y="537029"/>
            <a:chExt cx="8244114" cy="5631543"/>
          </a:xfrm>
        </p:grpSpPr>
        <p:sp>
          <p:nvSpPr>
            <p:cNvPr id="6" name="矩形 5"/>
            <p:cNvSpPr/>
            <p:nvPr/>
          </p:nvSpPr>
          <p:spPr>
            <a:xfrm>
              <a:off x="493487" y="537029"/>
              <a:ext cx="8244114" cy="56315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7" name="內容版面配置區 4"/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3492133923"/>
                    </p:ext>
                  </p:extLst>
                </p:nvPr>
              </p:nvGraphicFramePr>
              <p:xfrm>
                <a:off x="1325337" y="1447073"/>
                <a:ext cx="6853919" cy="4365899"/>
              </p:xfrm>
              <a:graphic>
                <a:graphicData uri="http://schemas.openxmlformats.org/drawingml/2006/table">
                  <a:tbl>
                    <a:tblPr firstRow="1" bandRow="1">
                      <a:tableStyleId>{5940675A-B579-460E-94D1-54222C63F5DA}</a:tableStyleId>
                    </a:tblPr>
                    <a:tblGrid>
                      <a:gridCol w="856739">
                        <a:extLst>
                          <a:ext uri="{9D8B030D-6E8A-4147-A177-3AD203B41FA5}">
                            <a16:colId xmlns:a16="http://schemas.microsoft.com/office/drawing/2014/main" val="20000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1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2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3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4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5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6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7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8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9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10"/>
                          </a:ext>
                        </a:extLst>
                      </a:gridCol>
                    </a:tblGrid>
                    <a:tr h="657499">
                      <a:tc>
                        <a:txBody>
                          <a:bodyPr/>
                          <a:lstStyle/>
                          <a:p>
                            <a:pPr>
                              <a:lnSpc>
                                <a:spcPct val="150000"/>
                              </a:lnSpc>
                            </a:pPr>
                            <a:r>
                              <a:rPr lang="en-US" altLang="zh-TW" sz="3600" baseline="-25000" dirty="0"/>
                              <a:t> k     </a:t>
                            </a:r>
                            <a:r>
                              <a:rPr lang="en-US" altLang="zh-TW" sz="3600" baseline="30000" dirty="0"/>
                              <a:t>j                </a:t>
                            </a:r>
                            <a:endParaRPr lang="zh-TW" altLang="en-US" sz="3600" baseline="30000" dirty="0"/>
                          </a:p>
                        </a:txBody>
                        <a:tcPr>
                          <a:lnTlToB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lToBr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1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2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3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4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5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6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7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8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9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10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extLst>
                        <a:ext uri="{0D108BD9-81ED-4DB2-BD59-A6C34878D82A}">
                          <a16:rowId xmlns:a16="http://schemas.microsoft.com/office/drawing/2014/main" val="10000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1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accent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accent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accent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accent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accent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accent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accent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accent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accent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accent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1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2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2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3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3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4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4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5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5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6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6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7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7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8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8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9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9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10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10"/>
                        </a:ext>
                      </a:extLst>
                    </a:tr>
                  </a:tbl>
                </a:graphicData>
              </a:graphic>
            </p:graphicFrame>
          </mc:Choice>
          <mc:Fallback xmlns="">
            <p:graphicFrame>
              <p:nvGraphicFramePr>
                <p:cNvPr id="7" name="內容版面配置區 4"/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3492133923"/>
                    </p:ext>
                  </p:extLst>
                </p:nvPr>
              </p:nvGraphicFramePr>
              <p:xfrm>
                <a:off x="1325337" y="1447073"/>
                <a:ext cx="6853919" cy="4365899"/>
              </p:xfrm>
              <a:graphic>
                <a:graphicData uri="http://schemas.openxmlformats.org/drawingml/2006/table">
                  <a:tbl>
                    <a:tblPr firstRow="1" bandRow="1">
                      <a:tableStyleId>{5940675A-B579-460E-94D1-54222C63F5DA}</a:tableStyleId>
                    </a:tblPr>
                    <a:tblGrid>
                      <a:gridCol w="856739"/>
                      <a:gridCol w="599718"/>
                      <a:gridCol w="599718"/>
                      <a:gridCol w="599718"/>
                      <a:gridCol w="599718"/>
                      <a:gridCol w="599718"/>
                      <a:gridCol w="599718"/>
                      <a:gridCol w="599718"/>
                      <a:gridCol w="599718"/>
                      <a:gridCol w="599718"/>
                      <a:gridCol w="599718"/>
                    </a:tblGrid>
                    <a:tr h="657499">
                      <a:tc>
                        <a:txBody>
                          <a:bodyPr/>
                          <a:lstStyle/>
                          <a:p>
                            <a:pPr>
                              <a:lnSpc>
                                <a:spcPct val="150000"/>
                              </a:lnSpc>
                            </a:pPr>
                            <a:r>
                              <a:rPr lang="en-US" altLang="zh-TW" sz="3600" baseline="-25000" dirty="0" smtClean="0"/>
                              <a:t> k     </a:t>
                            </a:r>
                            <a:r>
                              <a:rPr lang="en-US" altLang="zh-TW" sz="3600" baseline="30000" dirty="0" smtClean="0"/>
                              <a:t>j                </a:t>
                            </a:r>
                            <a:endParaRPr lang="zh-TW" altLang="en-US" sz="3600" baseline="30000" dirty="0"/>
                          </a:p>
                        </a:txBody>
                        <a:tcPr>
                          <a:lnTlToB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lToBr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1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2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3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4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5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6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7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8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9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10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1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accent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accent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accent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accent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accent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accent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accent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accent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accent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accent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2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3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4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5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6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7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8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9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10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</a:tr>
                  </a:tbl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字方塊 7"/>
                <p:cNvSpPr txBox="1"/>
                <p:nvPr/>
              </p:nvSpPr>
              <p:spPr>
                <a:xfrm>
                  <a:off x="1139372" y="841828"/>
                  <a:ext cx="728020" cy="39164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/>
                              </a:rPr>
                              <m:t>𝐿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/>
                          </a:rPr>
                          <m:t>[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𝑘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]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8" name="文字方塊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9372" y="841828"/>
                  <a:ext cx="728020" cy="391646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b="-10938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658410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內容版面配置區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67211073"/>
              </p:ext>
            </p:extLst>
          </p:nvPr>
        </p:nvGraphicFramePr>
        <p:xfrm>
          <a:off x="614136" y="838653"/>
          <a:ext cx="7886700" cy="5191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7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70840">
                <a:tc rowSpan="2" gridSpan="2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TW" sz="3600" baseline="-25000" dirty="0"/>
                        <a:t>A(</a:t>
                      </a:r>
                      <a:r>
                        <a:rPr lang="en-US" altLang="zh-TW" sz="3600" baseline="-25000" dirty="0" err="1"/>
                        <a:t>i</a:t>
                      </a:r>
                      <a:r>
                        <a:rPr lang="en-US" altLang="zh-TW" sz="3600" baseline="-25000" dirty="0"/>
                        <a:t>)    </a:t>
                      </a:r>
                      <a:r>
                        <a:rPr lang="en-US" altLang="zh-TW" sz="3600" baseline="30000" dirty="0"/>
                        <a:t>B(j)                </a:t>
                      </a:r>
                      <a:endParaRPr lang="zh-TW" altLang="en-US" sz="3600" baseline="30000" dirty="0"/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 rowSpan="2"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gridSpan="2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7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12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accent1"/>
                          </a:solidFill>
                        </a:rPr>
                        <a:t>15</a:t>
                      </a:r>
                      <a:endParaRPr lang="zh-TW" altLang="en-US" b="1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14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21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13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6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11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10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9</a:t>
                      </a:r>
                      <a:endParaRPr lang="zh-TW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20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7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accent1"/>
                          </a:solidFill>
                        </a:rPr>
                        <a:t>15</a:t>
                      </a:r>
                      <a:endParaRPr lang="zh-TW" altLang="en-US" b="1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14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3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6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13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11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18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10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9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3" name="矩形 2"/>
          <p:cNvSpPr/>
          <p:nvPr/>
        </p:nvSpPr>
        <p:spPr>
          <a:xfrm>
            <a:off x="3628570" y="2699656"/>
            <a:ext cx="1727201" cy="52251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dirty="0">
                <a:solidFill>
                  <a:srgbClr val="FF0000"/>
                </a:solidFill>
              </a:rPr>
              <a:t>CAIS:</a:t>
            </a:r>
            <a:r>
              <a:rPr lang="zh-TW" altLang="en-US" sz="2000" dirty="0">
                <a:solidFill>
                  <a:srgbClr val="FF0000"/>
                </a:solidFill>
              </a:rPr>
              <a:t> </a:t>
            </a:r>
            <a:r>
              <a:rPr lang="en-US" altLang="zh-TW" sz="2000" dirty="0">
                <a:solidFill>
                  <a:srgbClr val="FF0000"/>
                </a:solidFill>
              </a:rPr>
              <a:t>7, 15</a:t>
            </a:r>
            <a:endParaRPr lang="zh-TW" altLang="en-US" sz="2000" dirty="0">
              <a:solidFill>
                <a:srgbClr val="FF0000"/>
              </a:solidFill>
            </a:endParaRPr>
          </a:p>
        </p:txBody>
      </p:sp>
      <p:grpSp>
        <p:nvGrpSpPr>
          <p:cNvPr id="16" name="群組 15"/>
          <p:cNvGrpSpPr/>
          <p:nvPr/>
        </p:nvGrpSpPr>
        <p:grpSpPr>
          <a:xfrm>
            <a:off x="493487" y="537029"/>
            <a:ext cx="8244114" cy="5631543"/>
            <a:chOff x="493487" y="537029"/>
            <a:chExt cx="8244114" cy="5631543"/>
          </a:xfrm>
        </p:grpSpPr>
        <p:sp>
          <p:nvSpPr>
            <p:cNvPr id="17" name="矩形 16"/>
            <p:cNvSpPr/>
            <p:nvPr/>
          </p:nvSpPr>
          <p:spPr>
            <a:xfrm>
              <a:off x="493487" y="537029"/>
              <a:ext cx="8244114" cy="56315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18" name="內容版面配置區 4"/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2247449141"/>
                    </p:ext>
                  </p:extLst>
                </p:nvPr>
              </p:nvGraphicFramePr>
              <p:xfrm>
                <a:off x="1325337" y="1447073"/>
                <a:ext cx="6853919" cy="4365899"/>
              </p:xfrm>
              <a:graphic>
                <a:graphicData uri="http://schemas.openxmlformats.org/drawingml/2006/table">
                  <a:tbl>
                    <a:tblPr firstRow="1" bandRow="1">
                      <a:tableStyleId>{5940675A-B579-460E-94D1-54222C63F5DA}</a:tableStyleId>
                    </a:tblPr>
                    <a:tblGrid>
                      <a:gridCol w="856739">
                        <a:extLst>
                          <a:ext uri="{9D8B030D-6E8A-4147-A177-3AD203B41FA5}">
                            <a16:colId xmlns:a16="http://schemas.microsoft.com/office/drawing/2014/main" val="20000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1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2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3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4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5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6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7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8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9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10"/>
                          </a:ext>
                        </a:extLst>
                      </a:gridCol>
                    </a:tblGrid>
                    <a:tr h="657499">
                      <a:tc>
                        <a:txBody>
                          <a:bodyPr/>
                          <a:lstStyle/>
                          <a:p>
                            <a:pPr>
                              <a:lnSpc>
                                <a:spcPct val="150000"/>
                              </a:lnSpc>
                            </a:pPr>
                            <a:r>
                              <a:rPr lang="en-US" altLang="zh-TW" sz="3600" baseline="-25000" dirty="0"/>
                              <a:t> k     </a:t>
                            </a:r>
                            <a:r>
                              <a:rPr lang="en-US" altLang="zh-TW" sz="3600" baseline="30000" dirty="0"/>
                              <a:t>j                </a:t>
                            </a:r>
                            <a:endParaRPr lang="zh-TW" altLang="en-US" sz="3600" baseline="30000" dirty="0"/>
                          </a:p>
                        </a:txBody>
                        <a:tcPr>
                          <a:lnTlToB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lToBr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1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2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3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4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5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6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7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8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9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10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extLst>
                        <a:ext uri="{0D108BD9-81ED-4DB2-BD59-A6C34878D82A}">
                          <a16:rowId xmlns:a16="http://schemas.microsoft.com/office/drawing/2014/main" val="10000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1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accent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1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2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2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3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3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4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4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5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5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6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6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7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7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8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8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9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9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10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10"/>
                        </a:ext>
                      </a:extLst>
                    </a:tr>
                  </a:tbl>
                </a:graphicData>
              </a:graphic>
            </p:graphicFrame>
          </mc:Choice>
          <mc:Fallback xmlns="">
            <p:graphicFrame>
              <p:nvGraphicFramePr>
                <p:cNvPr id="18" name="內容版面配置區 4"/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2247449141"/>
                    </p:ext>
                  </p:extLst>
                </p:nvPr>
              </p:nvGraphicFramePr>
              <p:xfrm>
                <a:off x="1325337" y="1447073"/>
                <a:ext cx="6853919" cy="4365899"/>
              </p:xfrm>
              <a:graphic>
                <a:graphicData uri="http://schemas.openxmlformats.org/drawingml/2006/table">
                  <a:tbl>
                    <a:tblPr firstRow="1" bandRow="1">
                      <a:tableStyleId>{5940675A-B579-460E-94D1-54222C63F5DA}</a:tableStyleId>
                    </a:tblPr>
                    <a:tblGrid>
                      <a:gridCol w="856739"/>
                      <a:gridCol w="599718"/>
                      <a:gridCol w="599718"/>
                      <a:gridCol w="599718"/>
                      <a:gridCol w="599718"/>
                      <a:gridCol w="599718"/>
                      <a:gridCol w="599718"/>
                      <a:gridCol w="599718"/>
                      <a:gridCol w="599718"/>
                      <a:gridCol w="599718"/>
                      <a:gridCol w="599718"/>
                    </a:tblGrid>
                    <a:tr h="657499">
                      <a:tc>
                        <a:txBody>
                          <a:bodyPr/>
                          <a:lstStyle/>
                          <a:p>
                            <a:pPr>
                              <a:lnSpc>
                                <a:spcPct val="150000"/>
                              </a:lnSpc>
                            </a:pPr>
                            <a:r>
                              <a:rPr lang="en-US" altLang="zh-TW" sz="3600" baseline="-25000" dirty="0" smtClean="0"/>
                              <a:t> k     </a:t>
                            </a:r>
                            <a:r>
                              <a:rPr lang="en-US" altLang="zh-TW" sz="3600" baseline="30000" dirty="0" smtClean="0"/>
                              <a:t>j                </a:t>
                            </a:r>
                            <a:endParaRPr lang="zh-TW" altLang="en-US" sz="3600" baseline="30000" dirty="0"/>
                          </a:p>
                        </a:txBody>
                        <a:tcPr>
                          <a:lnTlToB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lToBr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1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2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3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4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5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6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7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8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9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10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1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accent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2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3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4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5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6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7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8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9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10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</a:tr>
                  </a:tbl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字方塊 18"/>
                <p:cNvSpPr txBox="1"/>
                <p:nvPr/>
              </p:nvSpPr>
              <p:spPr>
                <a:xfrm>
                  <a:off x="1139372" y="841828"/>
                  <a:ext cx="728020" cy="39164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/>
                              </a:rPr>
                              <m:t>𝐿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/>
                          </a:rPr>
                          <m:t>[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𝑘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]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19" name="文字方塊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9372" y="841828"/>
                  <a:ext cx="728020" cy="391646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b="-10938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群組 11"/>
          <p:cNvGrpSpPr/>
          <p:nvPr/>
        </p:nvGrpSpPr>
        <p:grpSpPr>
          <a:xfrm>
            <a:off x="493487" y="537029"/>
            <a:ext cx="8244114" cy="5631543"/>
            <a:chOff x="493487" y="537029"/>
            <a:chExt cx="8244114" cy="5631543"/>
          </a:xfrm>
        </p:grpSpPr>
        <p:sp>
          <p:nvSpPr>
            <p:cNvPr id="13" name="矩形 12"/>
            <p:cNvSpPr/>
            <p:nvPr/>
          </p:nvSpPr>
          <p:spPr>
            <a:xfrm>
              <a:off x="493487" y="537029"/>
              <a:ext cx="8244114" cy="56315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14" name="內容版面配置區 4"/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1695734435"/>
                    </p:ext>
                  </p:extLst>
                </p:nvPr>
              </p:nvGraphicFramePr>
              <p:xfrm>
                <a:off x="1325337" y="1447073"/>
                <a:ext cx="6853919" cy="4365899"/>
              </p:xfrm>
              <a:graphic>
                <a:graphicData uri="http://schemas.openxmlformats.org/drawingml/2006/table">
                  <a:tbl>
                    <a:tblPr firstRow="1" bandRow="1">
                      <a:tableStyleId>{5940675A-B579-460E-94D1-54222C63F5DA}</a:tableStyleId>
                    </a:tblPr>
                    <a:tblGrid>
                      <a:gridCol w="856739">
                        <a:extLst>
                          <a:ext uri="{9D8B030D-6E8A-4147-A177-3AD203B41FA5}">
                            <a16:colId xmlns:a16="http://schemas.microsoft.com/office/drawing/2014/main" val="20000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1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2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3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4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5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6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7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8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9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10"/>
                          </a:ext>
                        </a:extLst>
                      </a:gridCol>
                    </a:tblGrid>
                    <a:tr h="657499">
                      <a:tc>
                        <a:txBody>
                          <a:bodyPr/>
                          <a:lstStyle/>
                          <a:p>
                            <a:pPr>
                              <a:lnSpc>
                                <a:spcPct val="150000"/>
                              </a:lnSpc>
                            </a:pPr>
                            <a:r>
                              <a:rPr lang="en-US" altLang="zh-TW" sz="3600" baseline="-25000" dirty="0"/>
                              <a:t> k     </a:t>
                            </a:r>
                            <a:r>
                              <a:rPr lang="en-US" altLang="zh-TW" sz="3600" baseline="30000" dirty="0"/>
                              <a:t>j                </a:t>
                            </a:r>
                            <a:endParaRPr lang="zh-TW" altLang="en-US" sz="3600" baseline="30000" dirty="0"/>
                          </a:p>
                        </a:txBody>
                        <a:tcPr>
                          <a:lnTlToB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lToBr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1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2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3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4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5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6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7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8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9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10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extLst>
                        <a:ext uri="{0D108BD9-81ED-4DB2-BD59-A6C34878D82A}">
                          <a16:rowId xmlns:a16="http://schemas.microsoft.com/office/drawing/2014/main" val="10000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1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1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2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accent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accent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accent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accent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accent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accent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accent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accent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2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3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3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4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4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5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5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6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6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7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7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8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8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9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9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10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10"/>
                        </a:ext>
                      </a:extLst>
                    </a:tr>
                  </a:tbl>
                </a:graphicData>
              </a:graphic>
            </p:graphicFrame>
          </mc:Choice>
          <mc:Fallback xmlns="">
            <p:graphicFrame>
              <p:nvGraphicFramePr>
                <p:cNvPr id="14" name="內容版面配置區 4"/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1695734435"/>
                    </p:ext>
                  </p:extLst>
                </p:nvPr>
              </p:nvGraphicFramePr>
              <p:xfrm>
                <a:off x="1325337" y="1447073"/>
                <a:ext cx="6853919" cy="4365899"/>
              </p:xfrm>
              <a:graphic>
                <a:graphicData uri="http://schemas.openxmlformats.org/drawingml/2006/table">
                  <a:tbl>
                    <a:tblPr firstRow="1" bandRow="1">
                      <a:tableStyleId>{5940675A-B579-460E-94D1-54222C63F5DA}</a:tableStyleId>
                    </a:tblPr>
                    <a:tblGrid>
                      <a:gridCol w="856739"/>
                      <a:gridCol w="599718"/>
                      <a:gridCol w="599718"/>
                      <a:gridCol w="599718"/>
                      <a:gridCol w="599718"/>
                      <a:gridCol w="599718"/>
                      <a:gridCol w="599718"/>
                      <a:gridCol w="599718"/>
                      <a:gridCol w="599718"/>
                      <a:gridCol w="599718"/>
                      <a:gridCol w="599718"/>
                    </a:tblGrid>
                    <a:tr h="657499">
                      <a:tc>
                        <a:txBody>
                          <a:bodyPr/>
                          <a:lstStyle/>
                          <a:p>
                            <a:pPr>
                              <a:lnSpc>
                                <a:spcPct val="150000"/>
                              </a:lnSpc>
                            </a:pPr>
                            <a:r>
                              <a:rPr lang="en-US" altLang="zh-TW" sz="3600" baseline="-25000" dirty="0" smtClean="0"/>
                              <a:t> k     </a:t>
                            </a:r>
                            <a:r>
                              <a:rPr lang="en-US" altLang="zh-TW" sz="3600" baseline="30000" dirty="0" smtClean="0"/>
                              <a:t>j                </a:t>
                            </a:r>
                            <a:endParaRPr lang="zh-TW" altLang="en-US" sz="3600" baseline="30000" dirty="0"/>
                          </a:p>
                        </a:txBody>
                        <a:tcPr>
                          <a:lnTlToB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lToBr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1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2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3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4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5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6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7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8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9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10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1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2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accent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accent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accent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accent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accent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accent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accent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accent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3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4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5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6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7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8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9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10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</a:tr>
                  </a:tbl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字方塊 14"/>
                <p:cNvSpPr txBox="1"/>
                <p:nvPr/>
              </p:nvSpPr>
              <p:spPr>
                <a:xfrm>
                  <a:off x="1139372" y="841828"/>
                  <a:ext cx="728020" cy="39164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/>
                              </a:rPr>
                              <m:t>𝐿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/>
                          </a:rPr>
                          <m:t>[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𝑘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]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15" name="文字方塊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9372" y="841828"/>
                  <a:ext cx="728020" cy="391646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b="-10938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字方塊 19"/>
                <p:cNvSpPr txBox="1"/>
                <p:nvPr/>
              </p:nvSpPr>
              <p:spPr>
                <a:xfrm>
                  <a:off x="2155369" y="559856"/>
                  <a:ext cx="166449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/>
                          </a:rPr>
                          <m:t>𝑝𝑟𝑒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(15)=(7)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20" name="文字方塊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55369" y="559856"/>
                  <a:ext cx="1664495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961193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內容版面配置區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9559298"/>
              </p:ext>
            </p:extLst>
          </p:nvPr>
        </p:nvGraphicFramePr>
        <p:xfrm>
          <a:off x="614136" y="838653"/>
          <a:ext cx="7886700" cy="5191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7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70840">
                <a:tc rowSpan="2" gridSpan="2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TW" sz="3600" baseline="-25000" dirty="0"/>
                        <a:t>A(</a:t>
                      </a:r>
                      <a:r>
                        <a:rPr lang="en-US" altLang="zh-TW" sz="3600" baseline="-25000" dirty="0" err="1"/>
                        <a:t>i</a:t>
                      </a:r>
                      <a:r>
                        <a:rPr lang="en-US" altLang="zh-TW" sz="3600" baseline="-25000" dirty="0"/>
                        <a:t>)    </a:t>
                      </a:r>
                      <a:r>
                        <a:rPr lang="en-US" altLang="zh-TW" sz="3600" baseline="30000" dirty="0"/>
                        <a:t>B(j)                </a:t>
                      </a:r>
                      <a:endParaRPr lang="zh-TW" altLang="en-US" sz="3600" baseline="30000" dirty="0"/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 rowSpan="2"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gridSpan="2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7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12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15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accent1"/>
                          </a:solidFill>
                        </a:rPr>
                        <a:t>14</a:t>
                      </a:r>
                      <a:endParaRPr lang="zh-TW" altLang="en-US" b="1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21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13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6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11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10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9</a:t>
                      </a:r>
                      <a:endParaRPr lang="zh-TW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20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7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15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accent1"/>
                          </a:solidFill>
                        </a:rPr>
                        <a:t>14</a:t>
                      </a:r>
                      <a:endParaRPr lang="zh-TW" altLang="en-US" b="1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3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6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13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11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18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10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9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3" name="矩形 2"/>
          <p:cNvSpPr/>
          <p:nvPr/>
        </p:nvSpPr>
        <p:spPr>
          <a:xfrm>
            <a:off x="4492170" y="3222170"/>
            <a:ext cx="1727201" cy="52251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dirty="0">
                <a:solidFill>
                  <a:srgbClr val="FF0000"/>
                </a:solidFill>
              </a:rPr>
              <a:t>CAIS:</a:t>
            </a:r>
            <a:r>
              <a:rPr lang="zh-TW" altLang="en-US" sz="2000" dirty="0">
                <a:solidFill>
                  <a:srgbClr val="FF0000"/>
                </a:solidFill>
              </a:rPr>
              <a:t> </a:t>
            </a:r>
            <a:r>
              <a:rPr lang="en-US" altLang="zh-TW" sz="2000" dirty="0">
                <a:solidFill>
                  <a:srgbClr val="FF0000"/>
                </a:solidFill>
              </a:rPr>
              <a:t>7, 15, 14</a:t>
            </a:r>
            <a:endParaRPr lang="zh-TW" altLang="en-US" sz="2000" dirty="0">
              <a:solidFill>
                <a:srgbClr val="FF0000"/>
              </a:solidFill>
            </a:endParaRPr>
          </a:p>
        </p:txBody>
      </p:sp>
      <p:grpSp>
        <p:nvGrpSpPr>
          <p:cNvPr id="5" name="群組 4"/>
          <p:cNvGrpSpPr/>
          <p:nvPr/>
        </p:nvGrpSpPr>
        <p:grpSpPr>
          <a:xfrm>
            <a:off x="493487" y="537027"/>
            <a:ext cx="8244114" cy="5631543"/>
            <a:chOff x="493487" y="537029"/>
            <a:chExt cx="8244114" cy="5631543"/>
          </a:xfrm>
        </p:grpSpPr>
        <p:sp>
          <p:nvSpPr>
            <p:cNvPr id="6" name="矩形 5"/>
            <p:cNvSpPr/>
            <p:nvPr/>
          </p:nvSpPr>
          <p:spPr>
            <a:xfrm>
              <a:off x="493487" y="537029"/>
              <a:ext cx="8244114" cy="56315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7" name="內容版面配置區 4"/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2863726896"/>
                    </p:ext>
                  </p:extLst>
                </p:nvPr>
              </p:nvGraphicFramePr>
              <p:xfrm>
                <a:off x="1325337" y="1447073"/>
                <a:ext cx="6853919" cy="4365899"/>
              </p:xfrm>
              <a:graphic>
                <a:graphicData uri="http://schemas.openxmlformats.org/drawingml/2006/table">
                  <a:tbl>
                    <a:tblPr firstRow="1" bandRow="1">
                      <a:tableStyleId>{5940675A-B579-460E-94D1-54222C63F5DA}</a:tableStyleId>
                    </a:tblPr>
                    <a:tblGrid>
                      <a:gridCol w="856739">
                        <a:extLst>
                          <a:ext uri="{9D8B030D-6E8A-4147-A177-3AD203B41FA5}">
                            <a16:colId xmlns:a16="http://schemas.microsoft.com/office/drawing/2014/main" val="20000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1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2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3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4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5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6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7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8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9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10"/>
                          </a:ext>
                        </a:extLst>
                      </a:gridCol>
                    </a:tblGrid>
                    <a:tr h="657499">
                      <a:tc>
                        <a:txBody>
                          <a:bodyPr/>
                          <a:lstStyle/>
                          <a:p>
                            <a:pPr>
                              <a:lnSpc>
                                <a:spcPct val="150000"/>
                              </a:lnSpc>
                            </a:pPr>
                            <a:r>
                              <a:rPr lang="en-US" altLang="zh-TW" sz="3600" baseline="-25000" dirty="0"/>
                              <a:t> k     </a:t>
                            </a:r>
                            <a:r>
                              <a:rPr lang="en-US" altLang="zh-TW" sz="3600" baseline="30000" dirty="0"/>
                              <a:t>j                </a:t>
                            </a:r>
                            <a:endParaRPr lang="zh-TW" altLang="en-US" sz="3600" baseline="30000" dirty="0"/>
                          </a:p>
                        </a:txBody>
                        <a:tcPr>
                          <a:lnTlToB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lToBr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1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2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3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4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5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6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7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8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9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10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extLst>
                        <a:ext uri="{0D108BD9-81ED-4DB2-BD59-A6C34878D82A}">
                          <a16:rowId xmlns:a16="http://schemas.microsoft.com/office/drawing/2014/main" val="10000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1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1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2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accent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2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3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3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4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4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5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5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6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6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7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7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8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8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9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9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10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10"/>
                        </a:ext>
                      </a:extLst>
                    </a:tr>
                  </a:tbl>
                </a:graphicData>
              </a:graphic>
            </p:graphicFrame>
          </mc:Choice>
          <mc:Fallback xmlns="">
            <p:graphicFrame>
              <p:nvGraphicFramePr>
                <p:cNvPr id="7" name="內容版面配置區 4"/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2863726896"/>
                    </p:ext>
                  </p:extLst>
                </p:nvPr>
              </p:nvGraphicFramePr>
              <p:xfrm>
                <a:off x="1325337" y="1447073"/>
                <a:ext cx="6853919" cy="4365899"/>
              </p:xfrm>
              <a:graphic>
                <a:graphicData uri="http://schemas.openxmlformats.org/drawingml/2006/table">
                  <a:tbl>
                    <a:tblPr firstRow="1" bandRow="1">
                      <a:tableStyleId>{5940675A-B579-460E-94D1-54222C63F5DA}</a:tableStyleId>
                    </a:tblPr>
                    <a:tblGrid>
                      <a:gridCol w="856739"/>
                      <a:gridCol w="599718"/>
                      <a:gridCol w="599718"/>
                      <a:gridCol w="599718"/>
                      <a:gridCol w="599718"/>
                      <a:gridCol w="599718"/>
                      <a:gridCol w="599718"/>
                      <a:gridCol w="599718"/>
                      <a:gridCol w="599718"/>
                      <a:gridCol w="599718"/>
                      <a:gridCol w="599718"/>
                    </a:tblGrid>
                    <a:tr h="657499">
                      <a:tc>
                        <a:txBody>
                          <a:bodyPr/>
                          <a:lstStyle/>
                          <a:p>
                            <a:pPr>
                              <a:lnSpc>
                                <a:spcPct val="150000"/>
                              </a:lnSpc>
                            </a:pPr>
                            <a:r>
                              <a:rPr lang="en-US" altLang="zh-TW" sz="3600" baseline="-25000" dirty="0" smtClean="0"/>
                              <a:t> k     </a:t>
                            </a:r>
                            <a:r>
                              <a:rPr lang="en-US" altLang="zh-TW" sz="3600" baseline="30000" dirty="0" smtClean="0"/>
                              <a:t>j                </a:t>
                            </a:r>
                            <a:endParaRPr lang="zh-TW" altLang="en-US" sz="3600" baseline="30000" dirty="0"/>
                          </a:p>
                        </a:txBody>
                        <a:tcPr>
                          <a:lnTlToB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lToBr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1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2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3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4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5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6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7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8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9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10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1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2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accent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3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4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5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6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7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8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9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10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</a:tr>
                  </a:tbl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字方塊 7"/>
                <p:cNvSpPr txBox="1"/>
                <p:nvPr/>
              </p:nvSpPr>
              <p:spPr>
                <a:xfrm>
                  <a:off x="1139372" y="841828"/>
                  <a:ext cx="728020" cy="39164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/>
                              </a:rPr>
                              <m:t>𝐿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/>
                          </a:rPr>
                          <m:t>[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𝑘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]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8" name="文字方塊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9372" y="841828"/>
                  <a:ext cx="728020" cy="391646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b="-10938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" name="群組 16"/>
          <p:cNvGrpSpPr/>
          <p:nvPr/>
        </p:nvGrpSpPr>
        <p:grpSpPr>
          <a:xfrm>
            <a:off x="493487" y="537028"/>
            <a:ext cx="8244114" cy="5631543"/>
            <a:chOff x="493487" y="537029"/>
            <a:chExt cx="8244114" cy="5631543"/>
          </a:xfrm>
        </p:grpSpPr>
        <p:sp>
          <p:nvSpPr>
            <p:cNvPr id="18" name="矩形 17"/>
            <p:cNvSpPr/>
            <p:nvPr/>
          </p:nvSpPr>
          <p:spPr>
            <a:xfrm>
              <a:off x="493487" y="537029"/>
              <a:ext cx="8244114" cy="56315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19" name="內容版面配置區 4"/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1304667359"/>
                    </p:ext>
                  </p:extLst>
                </p:nvPr>
              </p:nvGraphicFramePr>
              <p:xfrm>
                <a:off x="1325337" y="1447073"/>
                <a:ext cx="6853919" cy="4365899"/>
              </p:xfrm>
              <a:graphic>
                <a:graphicData uri="http://schemas.openxmlformats.org/drawingml/2006/table">
                  <a:tbl>
                    <a:tblPr firstRow="1" bandRow="1">
                      <a:tableStyleId>{5940675A-B579-460E-94D1-54222C63F5DA}</a:tableStyleId>
                    </a:tblPr>
                    <a:tblGrid>
                      <a:gridCol w="856739">
                        <a:extLst>
                          <a:ext uri="{9D8B030D-6E8A-4147-A177-3AD203B41FA5}">
                            <a16:colId xmlns:a16="http://schemas.microsoft.com/office/drawing/2014/main" val="20000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1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2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3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4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5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6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7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8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9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10"/>
                          </a:ext>
                        </a:extLst>
                      </a:gridCol>
                    </a:tblGrid>
                    <a:tr h="657499">
                      <a:tc>
                        <a:txBody>
                          <a:bodyPr/>
                          <a:lstStyle/>
                          <a:p>
                            <a:pPr>
                              <a:lnSpc>
                                <a:spcPct val="150000"/>
                              </a:lnSpc>
                            </a:pPr>
                            <a:r>
                              <a:rPr lang="en-US" altLang="zh-TW" sz="3600" baseline="-25000" dirty="0"/>
                              <a:t> k     </a:t>
                            </a:r>
                            <a:r>
                              <a:rPr lang="en-US" altLang="zh-TW" sz="3600" baseline="30000" dirty="0"/>
                              <a:t>j                </a:t>
                            </a:r>
                            <a:endParaRPr lang="zh-TW" altLang="en-US" sz="3600" baseline="30000" dirty="0"/>
                          </a:p>
                        </a:txBody>
                        <a:tcPr>
                          <a:lnTlToB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lToBr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1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2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3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4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5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6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7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8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9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10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extLst>
                        <a:ext uri="{0D108BD9-81ED-4DB2-BD59-A6C34878D82A}">
                          <a16:rowId xmlns:a16="http://schemas.microsoft.com/office/drawing/2014/main" val="10000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1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1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2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2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3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accent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accent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accent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accent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accent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accent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accent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3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4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4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5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5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6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6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7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7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8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8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9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9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10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10"/>
                        </a:ext>
                      </a:extLst>
                    </a:tr>
                  </a:tbl>
                </a:graphicData>
              </a:graphic>
            </p:graphicFrame>
          </mc:Choice>
          <mc:Fallback xmlns="">
            <p:graphicFrame>
              <p:nvGraphicFramePr>
                <p:cNvPr id="19" name="內容版面配置區 4"/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1304667359"/>
                    </p:ext>
                  </p:extLst>
                </p:nvPr>
              </p:nvGraphicFramePr>
              <p:xfrm>
                <a:off x="1325337" y="1447073"/>
                <a:ext cx="6853919" cy="4365899"/>
              </p:xfrm>
              <a:graphic>
                <a:graphicData uri="http://schemas.openxmlformats.org/drawingml/2006/table">
                  <a:tbl>
                    <a:tblPr firstRow="1" bandRow="1">
                      <a:tableStyleId>{5940675A-B579-460E-94D1-54222C63F5DA}</a:tableStyleId>
                    </a:tblPr>
                    <a:tblGrid>
                      <a:gridCol w="856739"/>
                      <a:gridCol w="599718"/>
                      <a:gridCol w="599718"/>
                      <a:gridCol w="599718"/>
                      <a:gridCol w="599718"/>
                      <a:gridCol w="599718"/>
                      <a:gridCol w="599718"/>
                      <a:gridCol w="599718"/>
                      <a:gridCol w="599718"/>
                      <a:gridCol w="599718"/>
                      <a:gridCol w="599718"/>
                    </a:tblGrid>
                    <a:tr h="657499">
                      <a:tc>
                        <a:txBody>
                          <a:bodyPr/>
                          <a:lstStyle/>
                          <a:p>
                            <a:pPr>
                              <a:lnSpc>
                                <a:spcPct val="150000"/>
                              </a:lnSpc>
                            </a:pPr>
                            <a:r>
                              <a:rPr lang="en-US" altLang="zh-TW" sz="3600" baseline="-25000" dirty="0" smtClean="0"/>
                              <a:t> k     </a:t>
                            </a:r>
                            <a:r>
                              <a:rPr lang="en-US" altLang="zh-TW" sz="3600" baseline="30000" dirty="0" smtClean="0"/>
                              <a:t>j                </a:t>
                            </a:r>
                            <a:endParaRPr lang="zh-TW" altLang="en-US" sz="3600" baseline="30000" dirty="0"/>
                          </a:p>
                        </a:txBody>
                        <a:tcPr>
                          <a:lnTlToB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lToBr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1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2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3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4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5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6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7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8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9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10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1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2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3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accent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accent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accent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accent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accent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accent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accent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4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5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6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7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8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9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10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</a:tr>
                  </a:tbl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字方塊 19"/>
                <p:cNvSpPr txBox="1"/>
                <p:nvPr/>
              </p:nvSpPr>
              <p:spPr>
                <a:xfrm>
                  <a:off x="1139372" y="841828"/>
                  <a:ext cx="728020" cy="39164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/>
                              </a:rPr>
                              <m:t>𝐿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/>
                          </a:rPr>
                          <m:t>[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𝑘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]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20" name="文字方塊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9372" y="841828"/>
                  <a:ext cx="728020" cy="391646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b="-10938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字方塊 22"/>
                <p:cNvSpPr txBox="1"/>
                <p:nvPr/>
              </p:nvSpPr>
              <p:spPr>
                <a:xfrm>
                  <a:off x="2155371" y="929553"/>
                  <a:ext cx="2007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i="1" smtClean="0">
                            <a:latin typeface="Cambria Math"/>
                          </a:rPr>
                          <m:t>𝑝𝑟𝑒</m:t>
                        </m:r>
                        <m:r>
                          <a:rPr lang="en-US" altLang="zh-TW" i="1" smtClean="0">
                            <a:latin typeface="Cambria Math"/>
                          </a:rPr>
                          <m:t>(14)=(7, 15)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23" name="文字方塊 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55371" y="929553"/>
                  <a:ext cx="2007537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b="-11475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字方塊 23"/>
                <p:cNvSpPr txBox="1"/>
                <p:nvPr/>
              </p:nvSpPr>
              <p:spPr>
                <a:xfrm>
                  <a:off x="2155371" y="563848"/>
                  <a:ext cx="166449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i="1">
                            <a:latin typeface="Cambria Math"/>
                          </a:rPr>
                          <m:t>𝑝𝑟𝑒</m:t>
                        </m:r>
                        <m:r>
                          <a:rPr lang="en-US" altLang="zh-TW" i="1">
                            <a:latin typeface="Cambria Math"/>
                          </a:rPr>
                          <m:t>(15)=(7)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24" name="文字方塊 2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55371" y="563848"/>
                  <a:ext cx="1664494" cy="369332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b="-11475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632137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內容版面配置區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08455266"/>
              </p:ext>
            </p:extLst>
          </p:nvPr>
        </p:nvGraphicFramePr>
        <p:xfrm>
          <a:off x="614136" y="838653"/>
          <a:ext cx="7886700" cy="5191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7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70840">
                <a:tc rowSpan="2" gridSpan="2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TW" sz="3600" baseline="-25000" dirty="0"/>
                        <a:t>A(</a:t>
                      </a:r>
                      <a:r>
                        <a:rPr lang="en-US" altLang="zh-TW" sz="3600" baseline="-25000" dirty="0" err="1"/>
                        <a:t>i</a:t>
                      </a:r>
                      <a:r>
                        <a:rPr lang="en-US" altLang="zh-TW" sz="3600" baseline="-25000" dirty="0"/>
                        <a:t>)    </a:t>
                      </a:r>
                      <a:r>
                        <a:rPr lang="en-US" altLang="zh-TW" sz="3600" baseline="30000" dirty="0"/>
                        <a:t>B(j)                </a:t>
                      </a:r>
                      <a:endParaRPr lang="zh-TW" altLang="en-US" sz="3600" baseline="30000" dirty="0"/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 rowSpan="2"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gridSpan="2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7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12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15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21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13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accent1"/>
                          </a:solidFill>
                        </a:rPr>
                        <a:t>6</a:t>
                      </a:r>
                      <a:endParaRPr lang="zh-TW" altLang="en-US" b="1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11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10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9</a:t>
                      </a:r>
                      <a:endParaRPr lang="zh-TW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20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7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15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3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accent1"/>
                          </a:solidFill>
                        </a:rPr>
                        <a:t>6</a:t>
                      </a:r>
                      <a:endParaRPr lang="zh-TW" altLang="en-US" b="1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13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11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18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10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9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3" name="矩形 2"/>
          <p:cNvSpPr/>
          <p:nvPr/>
        </p:nvSpPr>
        <p:spPr>
          <a:xfrm>
            <a:off x="4376054" y="2525484"/>
            <a:ext cx="1727201" cy="52251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dirty="0">
                <a:solidFill>
                  <a:srgbClr val="FF0000"/>
                </a:solidFill>
              </a:rPr>
              <a:t>CAIS:</a:t>
            </a:r>
            <a:r>
              <a:rPr lang="zh-TW" altLang="en-US" sz="2000" dirty="0">
                <a:solidFill>
                  <a:srgbClr val="FF0000"/>
                </a:solidFill>
              </a:rPr>
              <a:t> </a:t>
            </a:r>
            <a:r>
              <a:rPr lang="en-US" altLang="zh-TW" sz="2000" dirty="0">
                <a:solidFill>
                  <a:srgbClr val="FF0000"/>
                </a:solidFill>
              </a:rPr>
              <a:t>7, 15, 14</a:t>
            </a:r>
            <a:endParaRPr lang="zh-TW" altLang="en-US" sz="2000" dirty="0">
              <a:solidFill>
                <a:srgbClr val="FF0000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929083" y="3294742"/>
            <a:ext cx="1727201" cy="52251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dirty="0">
                <a:solidFill>
                  <a:srgbClr val="7030A0"/>
                </a:solidFill>
              </a:rPr>
              <a:t>CAIS:</a:t>
            </a:r>
            <a:r>
              <a:rPr lang="zh-TW" altLang="en-US" sz="2000" dirty="0">
                <a:solidFill>
                  <a:srgbClr val="7030A0"/>
                </a:solidFill>
              </a:rPr>
              <a:t> </a:t>
            </a:r>
            <a:r>
              <a:rPr lang="en-US" altLang="zh-TW" sz="2000" dirty="0">
                <a:solidFill>
                  <a:srgbClr val="7030A0"/>
                </a:solidFill>
              </a:rPr>
              <a:t>7, 6</a:t>
            </a:r>
            <a:endParaRPr lang="zh-TW" altLang="en-US" sz="2000" dirty="0">
              <a:solidFill>
                <a:srgbClr val="7030A0"/>
              </a:solidFill>
            </a:endParaRPr>
          </a:p>
        </p:txBody>
      </p:sp>
      <p:grpSp>
        <p:nvGrpSpPr>
          <p:cNvPr id="7" name="群組 6"/>
          <p:cNvGrpSpPr/>
          <p:nvPr/>
        </p:nvGrpSpPr>
        <p:grpSpPr>
          <a:xfrm>
            <a:off x="493487" y="553353"/>
            <a:ext cx="8244114" cy="5631543"/>
            <a:chOff x="493487" y="537029"/>
            <a:chExt cx="8244114" cy="5631543"/>
          </a:xfrm>
        </p:grpSpPr>
        <p:sp>
          <p:nvSpPr>
            <p:cNvPr id="8" name="矩形 7"/>
            <p:cNvSpPr/>
            <p:nvPr/>
          </p:nvSpPr>
          <p:spPr>
            <a:xfrm>
              <a:off x="493487" y="537029"/>
              <a:ext cx="8244114" cy="56315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9" name="內容版面配置區 4"/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2731374105"/>
                    </p:ext>
                  </p:extLst>
                </p:nvPr>
              </p:nvGraphicFramePr>
              <p:xfrm>
                <a:off x="1325337" y="1447073"/>
                <a:ext cx="6853919" cy="4365899"/>
              </p:xfrm>
              <a:graphic>
                <a:graphicData uri="http://schemas.openxmlformats.org/drawingml/2006/table">
                  <a:tbl>
                    <a:tblPr firstRow="1" bandRow="1">
                      <a:tableStyleId>{5940675A-B579-460E-94D1-54222C63F5DA}</a:tableStyleId>
                    </a:tblPr>
                    <a:tblGrid>
                      <a:gridCol w="856739">
                        <a:extLst>
                          <a:ext uri="{9D8B030D-6E8A-4147-A177-3AD203B41FA5}">
                            <a16:colId xmlns:a16="http://schemas.microsoft.com/office/drawing/2014/main" val="20000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1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2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3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4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5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6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7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8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9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10"/>
                          </a:ext>
                        </a:extLst>
                      </a:gridCol>
                    </a:tblGrid>
                    <a:tr h="657499">
                      <a:tc>
                        <a:txBody>
                          <a:bodyPr/>
                          <a:lstStyle/>
                          <a:p>
                            <a:pPr>
                              <a:lnSpc>
                                <a:spcPct val="150000"/>
                              </a:lnSpc>
                            </a:pPr>
                            <a:r>
                              <a:rPr lang="en-US" altLang="zh-TW" sz="3600" baseline="-25000" dirty="0"/>
                              <a:t> k     </a:t>
                            </a:r>
                            <a:r>
                              <a:rPr lang="en-US" altLang="zh-TW" sz="3600" baseline="30000" dirty="0"/>
                              <a:t>j                </a:t>
                            </a:r>
                            <a:endParaRPr lang="zh-TW" altLang="en-US" sz="3600" baseline="30000" dirty="0"/>
                          </a:p>
                        </a:txBody>
                        <a:tcPr>
                          <a:lnTlToB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lToBr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1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2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3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4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5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6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7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8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9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10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extLst>
                        <a:ext uri="{0D108BD9-81ED-4DB2-BD59-A6C34878D82A}">
                          <a16:rowId xmlns:a16="http://schemas.microsoft.com/office/drawing/2014/main" val="10000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1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accent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1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2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accent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2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3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accent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3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4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4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5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5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6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6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7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7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8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8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9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9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10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10"/>
                        </a:ext>
                      </a:extLst>
                    </a:tr>
                  </a:tbl>
                </a:graphicData>
              </a:graphic>
            </p:graphicFrame>
          </mc:Choice>
          <mc:Fallback xmlns="">
            <p:graphicFrame>
              <p:nvGraphicFramePr>
                <p:cNvPr id="9" name="內容版面配置區 4"/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2731374105"/>
                    </p:ext>
                  </p:extLst>
                </p:nvPr>
              </p:nvGraphicFramePr>
              <p:xfrm>
                <a:off x="1325337" y="1447073"/>
                <a:ext cx="6853919" cy="4365899"/>
              </p:xfrm>
              <a:graphic>
                <a:graphicData uri="http://schemas.openxmlformats.org/drawingml/2006/table">
                  <a:tbl>
                    <a:tblPr firstRow="1" bandRow="1">
                      <a:tableStyleId>{5940675A-B579-460E-94D1-54222C63F5DA}</a:tableStyleId>
                    </a:tblPr>
                    <a:tblGrid>
                      <a:gridCol w="856739"/>
                      <a:gridCol w="599718"/>
                      <a:gridCol w="599718"/>
                      <a:gridCol w="599718"/>
                      <a:gridCol w="599718"/>
                      <a:gridCol w="599718"/>
                      <a:gridCol w="599718"/>
                      <a:gridCol w="599718"/>
                      <a:gridCol w="599718"/>
                      <a:gridCol w="599718"/>
                      <a:gridCol w="599718"/>
                    </a:tblGrid>
                    <a:tr h="657499">
                      <a:tc>
                        <a:txBody>
                          <a:bodyPr/>
                          <a:lstStyle/>
                          <a:p>
                            <a:pPr>
                              <a:lnSpc>
                                <a:spcPct val="150000"/>
                              </a:lnSpc>
                            </a:pPr>
                            <a:r>
                              <a:rPr lang="en-US" altLang="zh-TW" sz="3600" baseline="-25000" dirty="0" smtClean="0"/>
                              <a:t> k     </a:t>
                            </a:r>
                            <a:r>
                              <a:rPr lang="en-US" altLang="zh-TW" sz="3600" baseline="30000" dirty="0" smtClean="0"/>
                              <a:t>j                </a:t>
                            </a:r>
                            <a:endParaRPr lang="zh-TW" altLang="en-US" sz="3600" baseline="30000" dirty="0"/>
                          </a:p>
                        </a:txBody>
                        <a:tcPr>
                          <a:lnTlToB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lToBr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1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2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3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4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5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6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7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8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9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10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1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accent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2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accent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3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accent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4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5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6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7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8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9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10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</a:tr>
                  </a:tbl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字方塊 9"/>
                <p:cNvSpPr txBox="1"/>
                <p:nvPr/>
              </p:nvSpPr>
              <p:spPr>
                <a:xfrm>
                  <a:off x="1139372" y="841828"/>
                  <a:ext cx="728020" cy="39164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/>
                              </a:rPr>
                              <m:t>𝐿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/>
                          </a:rPr>
                          <m:t>[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𝑘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]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10" name="文字方塊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9372" y="841828"/>
                  <a:ext cx="728020" cy="391646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b="-10938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群組 17"/>
          <p:cNvGrpSpPr/>
          <p:nvPr/>
        </p:nvGrpSpPr>
        <p:grpSpPr>
          <a:xfrm>
            <a:off x="493487" y="553353"/>
            <a:ext cx="8244114" cy="5631543"/>
            <a:chOff x="493487" y="537029"/>
            <a:chExt cx="8244114" cy="5631543"/>
          </a:xfrm>
        </p:grpSpPr>
        <p:sp>
          <p:nvSpPr>
            <p:cNvPr id="19" name="矩形 18"/>
            <p:cNvSpPr/>
            <p:nvPr/>
          </p:nvSpPr>
          <p:spPr>
            <a:xfrm>
              <a:off x="493487" y="537029"/>
              <a:ext cx="8244114" cy="56315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20" name="內容版面配置區 4"/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898212283"/>
                    </p:ext>
                  </p:extLst>
                </p:nvPr>
              </p:nvGraphicFramePr>
              <p:xfrm>
                <a:off x="1325337" y="1447073"/>
                <a:ext cx="6853919" cy="4365899"/>
              </p:xfrm>
              <a:graphic>
                <a:graphicData uri="http://schemas.openxmlformats.org/drawingml/2006/table">
                  <a:tbl>
                    <a:tblPr firstRow="1" bandRow="1">
                      <a:tableStyleId>{5940675A-B579-460E-94D1-54222C63F5DA}</a:tableStyleId>
                    </a:tblPr>
                    <a:tblGrid>
                      <a:gridCol w="856739">
                        <a:extLst>
                          <a:ext uri="{9D8B030D-6E8A-4147-A177-3AD203B41FA5}">
                            <a16:colId xmlns:a16="http://schemas.microsoft.com/office/drawing/2014/main" val="20000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1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2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3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4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5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6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7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8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9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10"/>
                          </a:ext>
                        </a:extLst>
                      </a:gridCol>
                    </a:tblGrid>
                    <a:tr h="657499">
                      <a:tc>
                        <a:txBody>
                          <a:bodyPr/>
                          <a:lstStyle/>
                          <a:p>
                            <a:pPr>
                              <a:lnSpc>
                                <a:spcPct val="150000"/>
                              </a:lnSpc>
                            </a:pPr>
                            <a:r>
                              <a:rPr lang="en-US" altLang="zh-TW" sz="3600" baseline="-25000" dirty="0"/>
                              <a:t> k     </a:t>
                            </a:r>
                            <a:r>
                              <a:rPr lang="en-US" altLang="zh-TW" sz="3600" baseline="30000" dirty="0"/>
                              <a:t>j                </a:t>
                            </a:r>
                            <a:endParaRPr lang="zh-TW" altLang="en-US" sz="3600" baseline="30000" dirty="0"/>
                          </a:p>
                        </a:txBody>
                        <a:tcPr>
                          <a:lnTlToB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lToBr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1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2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3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4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5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6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7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8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9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10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extLst>
                        <a:ext uri="{0D108BD9-81ED-4DB2-BD59-A6C34878D82A}">
                          <a16:rowId xmlns:a16="http://schemas.microsoft.com/office/drawing/2014/main" val="10000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1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1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2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accent1"/>
                                </a:solidFill>
                              </a:rPr>
                              <a:t>6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accent1"/>
                                </a:solidFill>
                              </a:rPr>
                              <a:t>6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accent1"/>
                                </a:solidFill>
                              </a:rPr>
                              <a:t>6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accent1"/>
                                </a:solidFill>
                              </a:rPr>
                              <a:t>6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2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3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3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4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4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5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5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6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6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7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7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8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8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9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9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10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10"/>
                        </a:ext>
                      </a:extLst>
                    </a:tr>
                  </a:tbl>
                </a:graphicData>
              </a:graphic>
            </p:graphicFrame>
          </mc:Choice>
          <mc:Fallback xmlns="">
            <p:graphicFrame>
              <p:nvGraphicFramePr>
                <p:cNvPr id="20" name="內容版面配置區 4"/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898212283"/>
                    </p:ext>
                  </p:extLst>
                </p:nvPr>
              </p:nvGraphicFramePr>
              <p:xfrm>
                <a:off x="1325337" y="1447073"/>
                <a:ext cx="6853919" cy="4365899"/>
              </p:xfrm>
              <a:graphic>
                <a:graphicData uri="http://schemas.openxmlformats.org/drawingml/2006/table">
                  <a:tbl>
                    <a:tblPr firstRow="1" bandRow="1">
                      <a:tableStyleId>{5940675A-B579-460E-94D1-54222C63F5DA}</a:tableStyleId>
                    </a:tblPr>
                    <a:tblGrid>
                      <a:gridCol w="856739"/>
                      <a:gridCol w="599718"/>
                      <a:gridCol w="599718"/>
                      <a:gridCol w="599718"/>
                      <a:gridCol w="599718"/>
                      <a:gridCol w="599718"/>
                      <a:gridCol w="599718"/>
                      <a:gridCol w="599718"/>
                      <a:gridCol w="599718"/>
                      <a:gridCol w="599718"/>
                      <a:gridCol w="599718"/>
                    </a:tblGrid>
                    <a:tr h="657499">
                      <a:tc>
                        <a:txBody>
                          <a:bodyPr/>
                          <a:lstStyle/>
                          <a:p>
                            <a:pPr>
                              <a:lnSpc>
                                <a:spcPct val="150000"/>
                              </a:lnSpc>
                            </a:pPr>
                            <a:r>
                              <a:rPr lang="en-US" altLang="zh-TW" sz="3600" baseline="-25000" dirty="0" smtClean="0"/>
                              <a:t> k     </a:t>
                            </a:r>
                            <a:r>
                              <a:rPr lang="en-US" altLang="zh-TW" sz="3600" baseline="30000" dirty="0" smtClean="0"/>
                              <a:t>j                </a:t>
                            </a:r>
                            <a:endParaRPr lang="zh-TW" altLang="en-US" sz="3600" baseline="30000" dirty="0"/>
                          </a:p>
                        </a:txBody>
                        <a:tcPr>
                          <a:lnTlToB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lToBr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1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2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3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4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5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6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7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8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9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10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1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2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accent1"/>
                                </a:solidFill>
                              </a:rPr>
                              <a:t>6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accent1"/>
                                </a:solidFill>
                              </a:rPr>
                              <a:t>6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accent1"/>
                                </a:solidFill>
                              </a:rPr>
                              <a:t>6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accent1"/>
                                </a:solidFill>
                              </a:rPr>
                              <a:t>6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3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4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5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6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7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8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9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10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</a:tr>
                  </a:tbl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字方塊 20"/>
                <p:cNvSpPr txBox="1"/>
                <p:nvPr/>
              </p:nvSpPr>
              <p:spPr>
                <a:xfrm>
                  <a:off x="1139372" y="841828"/>
                  <a:ext cx="728020" cy="39164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/>
                              </a:rPr>
                              <m:t>𝐿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/>
                          </a:rPr>
                          <m:t>[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𝑘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]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21" name="文字方塊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9372" y="841828"/>
                  <a:ext cx="728020" cy="391646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b="-10938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文字方塊 21"/>
                <p:cNvSpPr txBox="1"/>
                <p:nvPr/>
              </p:nvSpPr>
              <p:spPr>
                <a:xfrm>
                  <a:off x="2168072" y="562304"/>
                  <a:ext cx="166449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i="1" smtClean="0">
                            <a:latin typeface="Cambria Math"/>
                          </a:rPr>
                          <m:t>𝑝𝑟𝑒</m:t>
                        </m:r>
                        <m:r>
                          <a:rPr lang="en-US" altLang="zh-TW" i="1" smtClean="0">
                            <a:latin typeface="Cambria Math"/>
                          </a:rPr>
                          <m:t>(15)=(7)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22" name="文字方塊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68072" y="562304"/>
                  <a:ext cx="1664495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b="-11475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字方塊 22"/>
                <p:cNvSpPr txBox="1"/>
                <p:nvPr/>
              </p:nvSpPr>
              <p:spPr>
                <a:xfrm>
                  <a:off x="2168072" y="931636"/>
                  <a:ext cx="2007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i="1" smtClean="0">
                            <a:latin typeface="Cambria Math"/>
                          </a:rPr>
                          <m:t>𝑝𝑟𝑒</m:t>
                        </m:r>
                        <m:r>
                          <a:rPr lang="en-US" altLang="zh-TW" i="1" smtClean="0">
                            <a:latin typeface="Cambria Math"/>
                          </a:rPr>
                          <m:t>(14)=(7, 15)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23" name="文字方塊 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68072" y="931636"/>
                  <a:ext cx="2007537" cy="369332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字方塊 23"/>
                <p:cNvSpPr txBox="1"/>
                <p:nvPr/>
              </p:nvSpPr>
              <p:spPr>
                <a:xfrm>
                  <a:off x="4175609" y="562304"/>
                  <a:ext cx="153625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i="1" smtClean="0">
                            <a:latin typeface="Cambria Math"/>
                          </a:rPr>
                          <m:t>𝑝𝑟𝑒</m:t>
                        </m:r>
                        <m:r>
                          <a:rPr lang="en-US" altLang="zh-TW" i="1" smtClean="0">
                            <a:latin typeface="Cambria Math"/>
                          </a:rPr>
                          <m:t>(6)=(7)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24" name="文字方塊 2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75609" y="562304"/>
                  <a:ext cx="1536253" cy="369332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b="-11475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520531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內容版面配置區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18339354"/>
              </p:ext>
            </p:extLst>
          </p:nvPr>
        </p:nvGraphicFramePr>
        <p:xfrm>
          <a:off x="614136" y="838653"/>
          <a:ext cx="7886700" cy="5191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7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70840">
                <a:tc rowSpan="2" gridSpan="2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TW" sz="3600" baseline="-25000" dirty="0"/>
                        <a:t>A(</a:t>
                      </a:r>
                      <a:r>
                        <a:rPr lang="en-US" altLang="zh-TW" sz="3600" baseline="-25000" dirty="0" err="1"/>
                        <a:t>i</a:t>
                      </a:r>
                      <a:r>
                        <a:rPr lang="en-US" altLang="zh-TW" sz="3600" baseline="-25000" dirty="0"/>
                        <a:t>)    </a:t>
                      </a:r>
                      <a:r>
                        <a:rPr lang="en-US" altLang="zh-TW" sz="3600" baseline="30000" dirty="0"/>
                        <a:t>B(j)                </a:t>
                      </a:r>
                      <a:endParaRPr lang="zh-TW" altLang="en-US" sz="3600" baseline="30000" dirty="0"/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 rowSpan="2"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gridSpan="2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7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12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15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21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13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accent1"/>
                          </a:solidFill>
                        </a:rPr>
                        <a:t>6</a:t>
                      </a:r>
                      <a:endParaRPr lang="zh-TW" altLang="en-US" b="1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11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10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9</a:t>
                      </a:r>
                      <a:endParaRPr lang="zh-TW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20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7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15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3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accent1"/>
                          </a:solidFill>
                        </a:rPr>
                        <a:t>6</a:t>
                      </a:r>
                      <a:endParaRPr lang="zh-TW" altLang="en-US" b="1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13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11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18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10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9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3" name="矩形 2"/>
          <p:cNvSpPr/>
          <p:nvPr/>
        </p:nvSpPr>
        <p:spPr>
          <a:xfrm>
            <a:off x="4376054" y="2525484"/>
            <a:ext cx="1727201" cy="52251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dirty="0">
                <a:solidFill>
                  <a:srgbClr val="FF0000"/>
                </a:solidFill>
              </a:rPr>
              <a:t>CAIS:</a:t>
            </a:r>
            <a:r>
              <a:rPr lang="zh-TW" altLang="en-US" sz="2000" dirty="0">
                <a:solidFill>
                  <a:srgbClr val="FF0000"/>
                </a:solidFill>
              </a:rPr>
              <a:t> </a:t>
            </a:r>
            <a:r>
              <a:rPr lang="en-US" altLang="zh-TW" sz="2000" dirty="0">
                <a:solidFill>
                  <a:srgbClr val="FF0000"/>
                </a:solidFill>
              </a:rPr>
              <a:t>7, 15, 14</a:t>
            </a:r>
            <a:endParaRPr lang="zh-TW" altLang="en-US" sz="2000" dirty="0">
              <a:solidFill>
                <a:srgbClr val="FF0000"/>
              </a:solidFill>
            </a:endParaRPr>
          </a:p>
        </p:txBody>
      </p:sp>
      <p:sp>
        <p:nvSpPr>
          <p:cNvPr id="12" name="手繪多邊形 11"/>
          <p:cNvSpPr/>
          <p:nvPr/>
        </p:nvSpPr>
        <p:spPr>
          <a:xfrm>
            <a:off x="2220686" y="2119086"/>
            <a:ext cx="2002971" cy="1103085"/>
          </a:xfrm>
          <a:custGeom>
            <a:avLst/>
            <a:gdLst>
              <a:gd name="connsiteX0" fmla="*/ 0 w 2002971"/>
              <a:gd name="connsiteY0" fmla="*/ 0 h 1103085"/>
              <a:gd name="connsiteX1" fmla="*/ 1364343 w 2002971"/>
              <a:gd name="connsiteY1" fmla="*/ 333828 h 1103085"/>
              <a:gd name="connsiteX2" fmla="*/ 2002971 w 2002971"/>
              <a:gd name="connsiteY2" fmla="*/ 1103085 h 1103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02971" h="1103085">
                <a:moveTo>
                  <a:pt x="0" y="0"/>
                </a:moveTo>
                <a:cubicBezTo>
                  <a:pt x="515257" y="74990"/>
                  <a:pt x="1030515" y="149981"/>
                  <a:pt x="1364343" y="333828"/>
                </a:cubicBezTo>
                <a:cubicBezTo>
                  <a:pt x="1698171" y="517675"/>
                  <a:pt x="1850571" y="810380"/>
                  <a:pt x="2002971" y="1103085"/>
                </a:cubicBezTo>
              </a:path>
            </a:pathLst>
          </a:cu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手繪多邊形 12"/>
          <p:cNvSpPr/>
          <p:nvPr/>
        </p:nvSpPr>
        <p:spPr>
          <a:xfrm>
            <a:off x="2235200" y="2133600"/>
            <a:ext cx="3918857" cy="1814286"/>
          </a:xfrm>
          <a:custGeom>
            <a:avLst/>
            <a:gdLst>
              <a:gd name="connsiteX0" fmla="*/ 0 w 3918857"/>
              <a:gd name="connsiteY0" fmla="*/ 0 h 1814286"/>
              <a:gd name="connsiteX1" fmla="*/ 1320800 w 3918857"/>
              <a:gd name="connsiteY1" fmla="*/ 1451429 h 1814286"/>
              <a:gd name="connsiteX2" fmla="*/ 3918857 w 3918857"/>
              <a:gd name="connsiteY2" fmla="*/ 1814286 h 1814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918857" h="1814286">
                <a:moveTo>
                  <a:pt x="0" y="0"/>
                </a:moveTo>
                <a:cubicBezTo>
                  <a:pt x="333828" y="574524"/>
                  <a:pt x="667657" y="1149048"/>
                  <a:pt x="1320800" y="1451429"/>
                </a:cubicBezTo>
                <a:cubicBezTo>
                  <a:pt x="1973943" y="1753810"/>
                  <a:pt x="2946400" y="1784048"/>
                  <a:pt x="3918857" y="1814286"/>
                </a:cubicBezTo>
              </a:path>
            </a:pathLst>
          </a:cu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/>
          <p:cNvSpPr/>
          <p:nvPr/>
        </p:nvSpPr>
        <p:spPr>
          <a:xfrm>
            <a:off x="5929083" y="3294742"/>
            <a:ext cx="1727201" cy="52251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dirty="0">
                <a:solidFill>
                  <a:srgbClr val="7030A0"/>
                </a:solidFill>
              </a:rPr>
              <a:t>CAIS:</a:t>
            </a:r>
            <a:r>
              <a:rPr lang="zh-TW" altLang="en-US" sz="2000" dirty="0">
                <a:solidFill>
                  <a:srgbClr val="7030A0"/>
                </a:solidFill>
              </a:rPr>
              <a:t> </a:t>
            </a:r>
            <a:r>
              <a:rPr lang="en-US" altLang="zh-TW" sz="2000" dirty="0">
                <a:solidFill>
                  <a:srgbClr val="7030A0"/>
                </a:solidFill>
              </a:rPr>
              <a:t>7, 6</a:t>
            </a:r>
            <a:endParaRPr lang="zh-TW" altLang="en-US" sz="20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21476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內容版面配置區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4888691"/>
              </p:ext>
            </p:extLst>
          </p:nvPr>
        </p:nvGraphicFramePr>
        <p:xfrm>
          <a:off x="614136" y="838653"/>
          <a:ext cx="7886700" cy="5191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7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70840">
                <a:tc rowSpan="2" gridSpan="2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TW" sz="3600" baseline="-25000" dirty="0"/>
                        <a:t>A(</a:t>
                      </a:r>
                      <a:r>
                        <a:rPr lang="en-US" altLang="zh-TW" sz="3600" baseline="-25000" dirty="0" err="1"/>
                        <a:t>i</a:t>
                      </a:r>
                      <a:r>
                        <a:rPr lang="en-US" altLang="zh-TW" sz="3600" baseline="-25000" dirty="0"/>
                        <a:t>)    </a:t>
                      </a:r>
                      <a:r>
                        <a:rPr lang="en-US" altLang="zh-TW" sz="3600" baseline="30000" dirty="0"/>
                        <a:t>B(j)                </a:t>
                      </a:r>
                      <a:endParaRPr lang="zh-TW" altLang="en-US" sz="3600" baseline="30000" dirty="0"/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 rowSpan="2"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gridSpan="2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7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12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15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21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accent1"/>
                          </a:solidFill>
                        </a:rPr>
                        <a:t>13</a:t>
                      </a:r>
                      <a:endParaRPr lang="zh-TW" altLang="en-US" b="1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10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9</a:t>
                      </a:r>
                      <a:endParaRPr lang="zh-TW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20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7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15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3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accent1"/>
                          </a:solidFill>
                        </a:rPr>
                        <a:t>13</a:t>
                      </a:r>
                      <a:endParaRPr lang="zh-TW" altLang="en-US" b="1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18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10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9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3" name="矩形 2"/>
          <p:cNvSpPr/>
          <p:nvPr/>
        </p:nvSpPr>
        <p:spPr>
          <a:xfrm>
            <a:off x="4376054" y="2525484"/>
            <a:ext cx="1727201" cy="52251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dirty="0">
                <a:solidFill>
                  <a:srgbClr val="FF0000"/>
                </a:solidFill>
              </a:rPr>
              <a:t>CAIS:</a:t>
            </a:r>
            <a:r>
              <a:rPr lang="zh-TW" altLang="en-US" sz="2000" dirty="0">
                <a:solidFill>
                  <a:srgbClr val="FF0000"/>
                </a:solidFill>
              </a:rPr>
              <a:t> </a:t>
            </a:r>
            <a:r>
              <a:rPr lang="en-US" altLang="zh-TW" sz="2000" dirty="0">
                <a:solidFill>
                  <a:srgbClr val="FF0000"/>
                </a:solidFill>
              </a:rPr>
              <a:t>7, 15, 14</a:t>
            </a:r>
            <a:endParaRPr lang="zh-TW" altLang="en-US" sz="2000" dirty="0">
              <a:solidFill>
                <a:srgbClr val="FF0000"/>
              </a:solidFill>
            </a:endParaRPr>
          </a:p>
        </p:txBody>
      </p:sp>
      <p:sp>
        <p:nvSpPr>
          <p:cNvPr id="12" name="手繪多邊形 11"/>
          <p:cNvSpPr/>
          <p:nvPr/>
        </p:nvSpPr>
        <p:spPr>
          <a:xfrm>
            <a:off x="2220686" y="2119086"/>
            <a:ext cx="2002971" cy="1103085"/>
          </a:xfrm>
          <a:custGeom>
            <a:avLst/>
            <a:gdLst>
              <a:gd name="connsiteX0" fmla="*/ 0 w 2002971"/>
              <a:gd name="connsiteY0" fmla="*/ 0 h 1103085"/>
              <a:gd name="connsiteX1" fmla="*/ 1364343 w 2002971"/>
              <a:gd name="connsiteY1" fmla="*/ 333828 h 1103085"/>
              <a:gd name="connsiteX2" fmla="*/ 2002971 w 2002971"/>
              <a:gd name="connsiteY2" fmla="*/ 1103085 h 1103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02971" h="1103085">
                <a:moveTo>
                  <a:pt x="0" y="0"/>
                </a:moveTo>
                <a:cubicBezTo>
                  <a:pt x="515257" y="74990"/>
                  <a:pt x="1030515" y="149981"/>
                  <a:pt x="1364343" y="333828"/>
                </a:cubicBezTo>
                <a:cubicBezTo>
                  <a:pt x="1698171" y="517675"/>
                  <a:pt x="1850571" y="810380"/>
                  <a:pt x="2002971" y="1103085"/>
                </a:cubicBezTo>
              </a:path>
            </a:pathLst>
          </a:cu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手繪多邊形 12"/>
          <p:cNvSpPr/>
          <p:nvPr/>
        </p:nvSpPr>
        <p:spPr>
          <a:xfrm>
            <a:off x="2235200" y="2133600"/>
            <a:ext cx="3918857" cy="1814286"/>
          </a:xfrm>
          <a:custGeom>
            <a:avLst/>
            <a:gdLst>
              <a:gd name="connsiteX0" fmla="*/ 0 w 3918857"/>
              <a:gd name="connsiteY0" fmla="*/ 0 h 1814286"/>
              <a:gd name="connsiteX1" fmla="*/ 1320800 w 3918857"/>
              <a:gd name="connsiteY1" fmla="*/ 1451429 h 1814286"/>
              <a:gd name="connsiteX2" fmla="*/ 3918857 w 3918857"/>
              <a:gd name="connsiteY2" fmla="*/ 1814286 h 1814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918857" h="1814286">
                <a:moveTo>
                  <a:pt x="0" y="0"/>
                </a:moveTo>
                <a:cubicBezTo>
                  <a:pt x="333828" y="574524"/>
                  <a:pt x="667657" y="1149048"/>
                  <a:pt x="1320800" y="1451429"/>
                </a:cubicBezTo>
                <a:cubicBezTo>
                  <a:pt x="1973943" y="1753810"/>
                  <a:pt x="2946400" y="1784048"/>
                  <a:pt x="3918857" y="1814286"/>
                </a:cubicBezTo>
              </a:path>
            </a:pathLst>
          </a:cu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手繪多邊形 4"/>
          <p:cNvSpPr/>
          <p:nvPr/>
        </p:nvSpPr>
        <p:spPr>
          <a:xfrm>
            <a:off x="4229100" y="3200400"/>
            <a:ext cx="1285875" cy="1095375"/>
          </a:xfrm>
          <a:custGeom>
            <a:avLst/>
            <a:gdLst>
              <a:gd name="connsiteX0" fmla="*/ 0 w 1285875"/>
              <a:gd name="connsiteY0" fmla="*/ 0 h 1095375"/>
              <a:gd name="connsiteX1" fmla="*/ 342900 w 1285875"/>
              <a:gd name="connsiteY1" fmla="*/ 657225 h 1095375"/>
              <a:gd name="connsiteX2" fmla="*/ 1285875 w 1285875"/>
              <a:gd name="connsiteY2" fmla="*/ 1095375 h 1095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85875" h="1095375">
                <a:moveTo>
                  <a:pt x="0" y="0"/>
                </a:moveTo>
                <a:cubicBezTo>
                  <a:pt x="64294" y="237331"/>
                  <a:pt x="128588" y="474663"/>
                  <a:pt x="342900" y="657225"/>
                </a:cubicBezTo>
                <a:cubicBezTo>
                  <a:pt x="557212" y="839787"/>
                  <a:pt x="921543" y="967581"/>
                  <a:pt x="1285875" y="1095375"/>
                </a:cubicBezTo>
              </a:path>
            </a:pathLst>
          </a:cu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矩形 23"/>
          <p:cNvSpPr/>
          <p:nvPr/>
        </p:nvSpPr>
        <p:spPr>
          <a:xfrm>
            <a:off x="5929083" y="3294742"/>
            <a:ext cx="1727201" cy="52251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dirty="0">
                <a:solidFill>
                  <a:srgbClr val="7030A0"/>
                </a:solidFill>
              </a:rPr>
              <a:t>CAIS:</a:t>
            </a:r>
            <a:r>
              <a:rPr lang="zh-TW" altLang="en-US" sz="2000" dirty="0">
                <a:solidFill>
                  <a:srgbClr val="7030A0"/>
                </a:solidFill>
              </a:rPr>
              <a:t> </a:t>
            </a:r>
            <a:r>
              <a:rPr lang="en-US" altLang="zh-TW" sz="2000" dirty="0">
                <a:solidFill>
                  <a:srgbClr val="7030A0"/>
                </a:solidFill>
              </a:rPr>
              <a:t>7, 6</a:t>
            </a:r>
            <a:endParaRPr lang="zh-TW" altLang="en-US" sz="2000" dirty="0">
              <a:solidFill>
                <a:srgbClr val="7030A0"/>
              </a:solidFill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3401330" y="4511221"/>
            <a:ext cx="2082802" cy="52251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dirty="0">
                <a:solidFill>
                  <a:srgbClr val="FF0000"/>
                </a:solidFill>
              </a:rPr>
              <a:t>CAIS:</a:t>
            </a:r>
            <a:r>
              <a:rPr lang="zh-TW" altLang="en-US" sz="2000" dirty="0">
                <a:solidFill>
                  <a:srgbClr val="FF0000"/>
                </a:solidFill>
              </a:rPr>
              <a:t> </a:t>
            </a:r>
            <a:r>
              <a:rPr lang="en-US" altLang="zh-TW" sz="2000" dirty="0">
                <a:solidFill>
                  <a:srgbClr val="FF0000"/>
                </a:solidFill>
              </a:rPr>
              <a:t>7, 15, 14, 13</a:t>
            </a:r>
            <a:endParaRPr lang="zh-TW" altLang="en-US" sz="2000" dirty="0">
              <a:solidFill>
                <a:srgbClr val="FF0000"/>
              </a:solidFill>
            </a:endParaRPr>
          </a:p>
        </p:txBody>
      </p:sp>
      <p:grpSp>
        <p:nvGrpSpPr>
          <p:cNvPr id="30" name="群組 29"/>
          <p:cNvGrpSpPr/>
          <p:nvPr/>
        </p:nvGrpSpPr>
        <p:grpSpPr>
          <a:xfrm>
            <a:off x="493487" y="537028"/>
            <a:ext cx="8244114" cy="5631543"/>
            <a:chOff x="493487" y="537029"/>
            <a:chExt cx="8244114" cy="5631543"/>
          </a:xfrm>
        </p:grpSpPr>
        <p:sp>
          <p:nvSpPr>
            <p:cNvPr id="31" name="矩形 30"/>
            <p:cNvSpPr/>
            <p:nvPr/>
          </p:nvSpPr>
          <p:spPr>
            <a:xfrm>
              <a:off x="493487" y="537029"/>
              <a:ext cx="8244114" cy="56315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32" name="內容版面配置區 4"/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85935376"/>
                    </p:ext>
                  </p:extLst>
                </p:nvPr>
              </p:nvGraphicFramePr>
              <p:xfrm>
                <a:off x="1325337" y="1447073"/>
                <a:ext cx="6853919" cy="4365899"/>
              </p:xfrm>
              <a:graphic>
                <a:graphicData uri="http://schemas.openxmlformats.org/drawingml/2006/table">
                  <a:tbl>
                    <a:tblPr firstRow="1" bandRow="1">
                      <a:tableStyleId>{5940675A-B579-460E-94D1-54222C63F5DA}</a:tableStyleId>
                    </a:tblPr>
                    <a:tblGrid>
                      <a:gridCol w="856739">
                        <a:extLst>
                          <a:ext uri="{9D8B030D-6E8A-4147-A177-3AD203B41FA5}">
                            <a16:colId xmlns:a16="http://schemas.microsoft.com/office/drawing/2014/main" val="20000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1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2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3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4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5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6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7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8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9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10"/>
                          </a:ext>
                        </a:extLst>
                      </a:gridCol>
                    </a:tblGrid>
                    <a:tr h="657499">
                      <a:tc>
                        <a:txBody>
                          <a:bodyPr/>
                          <a:lstStyle/>
                          <a:p>
                            <a:pPr>
                              <a:lnSpc>
                                <a:spcPct val="150000"/>
                              </a:lnSpc>
                            </a:pPr>
                            <a:r>
                              <a:rPr lang="en-US" altLang="zh-TW" sz="3600" baseline="-25000" dirty="0"/>
                              <a:t> k     </a:t>
                            </a:r>
                            <a:r>
                              <a:rPr lang="en-US" altLang="zh-TW" sz="3600" baseline="30000" dirty="0"/>
                              <a:t>j                </a:t>
                            </a:r>
                            <a:endParaRPr lang="zh-TW" altLang="en-US" sz="3600" baseline="30000" dirty="0"/>
                          </a:p>
                        </a:txBody>
                        <a:tcPr>
                          <a:lnTlToB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lToBr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1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2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3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4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5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6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7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8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9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10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extLst>
                        <a:ext uri="{0D108BD9-81ED-4DB2-BD59-A6C34878D82A}">
                          <a16:rowId xmlns:a16="http://schemas.microsoft.com/office/drawing/2014/main" val="10000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1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1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2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6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6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6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6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2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3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3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4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accent1"/>
                                </a:solidFill>
                              </a:rPr>
                              <a:t>13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accent1"/>
                                </a:solidFill>
                              </a:rPr>
                              <a:t>13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accent1"/>
                                </a:solidFill>
                              </a:rPr>
                              <a:t>13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accent1"/>
                                </a:solidFill>
                              </a:rPr>
                              <a:t>13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accent1"/>
                                </a:solidFill>
                              </a:rPr>
                              <a:t>13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4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5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5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6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6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7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7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8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8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9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9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10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10"/>
                        </a:ext>
                      </a:extLst>
                    </a:tr>
                  </a:tbl>
                </a:graphicData>
              </a:graphic>
            </p:graphicFrame>
          </mc:Choice>
          <mc:Fallback xmlns="">
            <p:graphicFrame>
              <p:nvGraphicFramePr>
                <p:cNvPr id="32" name="內容版面配置區 4"/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85935376"/>
                    </p:ext>
                  </p:extLst>
                </p:nvPr>
              </p:nvGraphicFramePr>
              <p:xfrm>
                <a:off x="1325337" y="1447073"/>
                <a:ext cx="6853919" cy="4365899"/>
              </p:xfrm>
              <a:graphic>
                <a:graphicData uri="http://schemas.openxmlformats.org/drawingml/2006/table">
                  <a:tbl>
                    <a:tblPr firstRow="1" bandRow="1">
                      <a:tableStyleId>{5940675A-B579-460E-94D1-54222C63F5DA}</a:tableStyleId>
                    </a:tblPr>
                    <a:tblGrid>
                      <a:gridCol w="856739"/>
                      <a:gridCol w="599718"/>
                      <a:gridCol w="599718"/>
                      <a:gridCol w="599718"/>
                      <a:gridCol w="599718"/>
                      <a:gridCol w="599718"/>
                      <a:gridCol w="599718"/>
                      <a:gridCol w="599718"/>
                      <a:gridCol w="599718"/>
                      <a:gridCol w="599718"/>
                      <a:gridCol w="599718"/>
                    </a:tblGrid>
                    <a:tr h="657499">
                      <a:tc>
                        <a:txBody>
                          <a:bodyPr/>
                          <a:lstStyle/>
                          <a:p>
                            <a:pPr>
                              <a:lnSpc>
                                <a:spcPct val="150000"/>
                              </a:lnSpc>
                            </a:pPr>
                            <a:r>
                              <a:rPr lang="en-US" altLang="zh-TW" sz="3600" baseline="-25000" dirty="0" smtClean="0"/>
                              <a:t> k     </a:t>
                            </a:r>
                            <a:r>
                              <a:rPr lang="en-US" altLang="zh-TW" sz="3600" baseline="30000" dirty="0" smtClean="0"/>
                              <a:t>j                </a:t>
                            </a:r>
                            <a:endParaRPr lang="zh-TW" altLang="en-US" sz="3600" baseline="30000" dirty="0"/>
                          </a:p>
                        </a:txBody>
                        <a:tcPr>
                          <a:lnTlToB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lToBr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1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2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3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4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5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6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7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8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9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10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1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2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6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6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6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6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3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4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accent1"/>
                                </a:solidFill>
                              </a:rPr>
                              <a:t>13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accent1"/>
                                </a:solidFill>
                              </a:rPr>
                              <a:t>13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accent1"/>
                                </a:solidFill>
                              </a:rPr>
                              <a:t>13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accent1"/>
                                </a:solidFill>
                              </a:rPr>
                              <a:t>13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accent1"/>
                                </a:solidFill>
                              </a:rPr>
                              <a:t>13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5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6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7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8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9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10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</a:tr>
                  </a:tbl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文字方塊 32"/>
                <p:cNvSpPr txBox="1"/>
                <p:nvPr/>
              </p:nvSpPr>
              <p:spPr>
                <a:xfrm>
                  <a:off x="1139372" y="841828"/>
                  <a:ext cx="728020" cy="39164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/>
                              </a:rPr>
                              <m:t>𝐿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/>
                          </a:rPr>
                          <m:t>[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𝑘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]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33" name="文字方塊 3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9372" y="841828"/>
                  <a:ext cx="728020" cy="391646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b="-10938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字方塊 33"/>
                <p:cNvSpPr txBox="1"/>
                <p:nvPr/>
              </p:nvSpPr>
              <p:spPr>
                <a:xfrm>
                  <a:off x="2220686" y="540656"/>
                  <a:ext cx="166449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i="1">
                            <a:latin typeface="Cambria Math"/>
                          </a:rPr>
                          <m:t>𝑝𝑟𝑒</m:t>
                        </m:r>
                        <m:r>
                          <a:rPr lang="en-US" altLang="zh-TW" i="1">
                            <a:latin typeface="Cambria Math"/>
                          </a:rPr>
                          <m:t>(15)=(7)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34" name="文字方塊 3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20686" y="540656"/>
                  <a:ext cx="1664495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文字方塊 34"/>
                <p:cNvSpPr txBox="1"/>
                <p:nvPr/>
              </p:nvSpPr>
              <p:spPr>
                <a:xfrm>
                  <a:off x="2220685" y="909988"/>
                  <a:ext cx="2007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i="1">
                            <a:latin typeface="Cambria Math"/>
                          </a:rPr>
                          <m:t>𝑝𝑟𝑒</m:t>
                        </m:r>
                        <m:r>
                          <a:rPr lang="en-US" altLang="zh-TW" i="1">
                            <a:latin typeface="Cambria Math"/>
                          </a:rPr>
                          <m:t>(14)=(7, 15)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35" name="文字方塊 3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20685" y="909988"/>
                  <a:ext cx="2007537" cy="369332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b="-11475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字方塊 35"/>
                <p:cNvSpPr txBox="1"/>
                <p:nvPr/>
              </p:nvSpPr>
              <p:spPr>
                <a:xfrm>
                  <a:off x="4235885" y="540656"/>
                  <a:ext cx="153625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i="1" smtClean="0">
                            <a:latin typeface="Cambria Math"/>
                          </a:rPr>
                          <m:t>𝑝𝑟𝑒</m:t>
                        </m:r>
                        <m:r>
                          <a:rPr lang="en-US" altLang="zh-TW" i="1" smtClean="0">
                            <a:latin typeface="Cambria Math"/>
                          </a:rPr>
                          <m:t>(6)=(7)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36" name="文字方塊 3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35885" y="540656"/>
                  <a:ext cx="1536253" cy="369332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文字方塊 36"/>
                <p:cNvSpPr txBox="1"/>
                <p:nvPr/>
              </p:nvSpPr>
              <p:spPr>
                <a:xfrm>
                  <a:off x="4235885" y="909988"/>
                  <a:ext cx="235058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i="1" smtClean="0">
                            <a:latin typeface="Cambria Math"/>
                          </a:rPr>
                          <m:t>𝑝𝑟𝑒</m:t>
                        </m:r>
                        <m:r>
                          <a:rPr lang="en-US" altLang="zh-TW" i="1" smtClean="0">
                            <a:latin typeface="Cambria Math"/>
                          </a:rPr>
                          <m:t>(13)=(7, 15, 14)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37" name="文字方塊 3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35885" y="909988"/>
                  <a:ext cx="2350580" cy="369332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b="-11475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263479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2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內容版面配置區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4563772"/>
              </p:ext>
            </p:extLst>
          </p:nvPr>
        </p:nvGraphicFramePr>
        <p:xfrm>
          <a:off x="614136" y="838653"/>
          <a:ext cx="7886700" cy="5191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7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70840">
                <a:tc rowSpan="2" gridSpan="2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TW" sz="3600" baseline="-25000" dirty="0"/>
                        <a:t>A(</a:t>
                      </a:r>
                      <a:r>
                        <a:rPr lang="en-US" altLang="zh-TW" sz="3600" baseline="-25000" dirty="0" err="1"/>
                        <a:t>i</a:t>
                      </a:r>
                      <a:r>
                        <a:rPr lang="en-US" altLang="zh-TW" sz="3600" baseline="-25000" dirty="0"/>
                        <a:t>)    </a:t>
                      </a:r>
                      <a:r>
                        <a:rPr lang="en-US" altLang="zh-TW" sz="3600" baseline="30000" dirty="0"/>
                        <a:t>B(j)                </a:t>
                      </a:r>
                      <a:endParaRPr lang="zh-TW" altLang="en-US" sz="3600" baseline="30000" dirty="0"/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 rowSpan="2"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gridSpan="2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7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12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15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21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rgbClr val="0070C0"/>
                          </a:solidFill>
                        </a:rPr>
                        <a:t>11</a:t>
                      </a:r>
                      <a:endParaRPr lang="zh-TW" altLang="en-US" b="1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10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9</a:t>
                      </a:r>
                      <a:endParaRPr lang="zh-TW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20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7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15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3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rgbClr val="0070C0"/>
                          </a:solidFill>
                        </a:rPr>
                        <a:t>11</a:t>
                      </a:r>
                      <a:endParaRPr lang="zh-TW" altLang="en-US" b="1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18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10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9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12" name="手繪多邊形 11"/>
          <p:cNvSpPr/>
          <p:nvPr/>
        </p:nvSpPr>
        <p:spPr>
          <a:xfrm>
            <a:off x="2220686" y="2119086"/>
            <a:ext cx="2002971" cy="1103085"/>
          </a:xfrm>
          <a:custGeom>
            <a:avLst/>
            <a:gdLst>
              <a:gd name="connsiteX0" fmla="*/ 0 w 2002971"/>
              <a:gd name="connsiteY0" fmla="*/ 0 h 1103085"/>
              <a:gd name="connsiteX1" fmla="*/ 1364343 w 2002971"/>
              <a:gd name="connsiteY1" fmla="*/ 333828 h 1103085"/>
              <a:gd name="connsiteX2" fmla="*/ 2002971 w 2002971"/>
              <a:gd name="connsiteY2" fmla="*/ 1103085 h 1103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02971" h="1103085">
                <a:moveTo>
                  <a:pt x="0" y="0"/>
                </a:moveTo>
                <a:cubicBezTo>
                  <a:pt x="515257" y="74990"/>
                  <a:pt x="1030515" y="149981"/>
                  <a:pt x="1364343" y="333828"/>
                </a:cubicBezTo>
                <a:cubicBezTo>
                  <a:pt x="1698171" y="517675"/>
                  <a:pt x="1850571" y="810380"/>
                  <a:pt x="2002971" y="1103085"/>
                </a:cubicBezTo>
              </a:path>
            </a:pathLst>
          </a:cu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手繪多邊形 12"/>
          <p:cNvSpPr/>
          <p:nvPr/>
        </p:nvSpPr>
        <p:spPr>
          <a:xfrm>
            <a:off x="2235200" y="2133600"/>
            <a:ext cx="3918857" cy="1814286"/>
          </a:xfrm>
          <a:custGeom>
            <a:avLst/>
            <a:gdLst>
              <a:gd name="connsiteX0" fmla="*/ 0 w 3918857"/>
              <a:gd name="connsiteY0" fmla="*/ 0 h 1814286"/>
              <a:gd name="connsiteX1" fmla="*/ 1320800 w 3918857"/>
              <a:gd name="connsiteY1" fmla="*/ 1451429 h 1814286"/>
              <a:gd name="connsiteX2" fmla="*/ 3918857 w 3918857"/>
              <a:gd name="connsiteY2" fmla="*/ 1814286 h 1814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918857" h="1814286">
                <a:moveTo>
                  <a:pt x="0" y="0"/>
                </a:moveTo>
                <a:cubicBezTo>
                  <a:pt x="333828" y="574524"/>
                  <a:pt x="667657" y="1149048"/>
                  <a:pt x="1320800" y="1451429"/>
                </a:cubicBezTo>
                <a:cubicBezTo>
                  <a:pt x="1973943" y="1753810"/>
                  <a:pt x="2946400" y="1784048"/>
                  <a:pt x="3918857" y="1814286"/>
                </a:cubicBezTo>
              </a:path>
            </a:pathLst>
          </a:cu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手繪多邊形 4"/>
          <p:cNvSpPr/>
          <p:nvPr/>
        </p:nvSpPr>
        <p:spPr>
          <a:xfrm>
            <a:off x="4229100" y="3200400"/>
            <a:ext cx="1285875" cy="1095375"/>
          </a:xfrm>
          <a:custGeom>
            <a:avLst/>
            <a:gdLst>
              <a:gd name="connsiteX0" fmla="*/ 0 w 1285875"/>
              <a:gd name="connsiteY0" fmla="*/ 0 h 1095375"/>
              <a:gd name="connsiteX1" fmla="*/ 342900 w 1285875"/>
              <a:gd name="connsiteY1" fmla="*/ 657225 h 1095375"/>
              <a:gd name="connsiteX2" fmla="*/ 1285875 w 1285875"/>
              <a:gd name="connsiteY2" fmla="*/ 1095375 h 1095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85875" h="1095375">
                <a:moveTo>
                  <a:pt x="0" y="0"/>
                </a:moveTo>
                <a:cubicBezTo>
                  <a:pt x="64294" y="237331"/>
                  <a:pt x="128588" y="474663"/>
                  <a:pt x="342900" y="657225"/>
                </a:cubicBezTo>
                <a:cubicBezTo>
                  <a:pt x="557212" y="839787"/>
                  <a:pt x="921543" y="967581"/>
                  <a:pt x="1285875" y="1095375"/>
                </a:cubicBezTo>
              </a:path>
            </a:pathLst>
          </a:cu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/>
          <p:cNvSpPr/>
          <p:nvPr/>
        </p:nvSpPr>
        <p:spPr>
          <a:xfrm>
            <a:off x="3401330" y="4511221"/>
            <a:ext cx="2082802" cy="52251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dirty="0">
                <a:solidFill>
                  <a:srgbClr val="FF0000"/>
                </a:solidFill>
              </a:rPr>
              <a:t>CAIS:</a:t>
            </a:r>
            <a:r>
              <a:rPr lang="zh-TW" altLang="en-US" sz="2000" dirty="0">
                <a:solidFill>
                  <a:srgbClr val="FF0000"/>
                </a:solidFill>
              </a:rPr>
              <a:t> </a:t>
            </a:r>
            <a:r>
              <a:rPr lang="en-US" altLang="zh-TW" sz="2000" dirty="0">
                <a:solidFill>
                  <a:srgbClr val="FF0000"/>
                </a:solidFill>
              </a:rPr>
              <a:t>7, 15, 14, 13</a:t>
            </a:r>
            <a:endParaRPr lang="zh-TW" altLang="en-US" sz="2000" dirty="0">
              <a:solidFill>
                <a:srgbClr val="FF0000"/>
              </a:solidFill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6703783" y="3486830"/>
            <a:ext cx="1727201" cy="52251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dirty="0">
                <a:solidFill>
                  <a:srgbClr val="7030A0"/>
                </a:solidFill>
              </a:rPr>
              <a:t>CAIS:</a:t>
            </a:r>
            <a:r>
              <a:rPr lang="zh-TW" altLang="en-US" sz="2000" dirty="0">
                <a:solidFill>
                  <a:srgbClr val="7030A0"/>
                </a:solidFill>
              </a:rPr>
              <a:t> </a:t>
            </a:r>
            <a:r>
              <a:rPr lang="en-US" altLang="zh-TW" sz="2000" dirty="0">
                <a:solidFill>
                  <a:srgbClr val="7030A0"/>
                </a:solidFill>
              </a:rPr>
              <a:t>7, 6, 11</a:t>
            </a:r>
            <a:endParaRPr lang="zh-TW" altLang="en-US" sz="2000" dirty="0">
              <a:solidFill>
                <a:srgbClr val="7030A0"/>
              </a:solidFill>
            </a:endParaRPr>
          </a:p>
        </p:txBody>
      </p:sp>
      <p:sp>
        <p:nvSpPr>
          <p:cNvPr id="2" name="手繪多邊形 1"/>
          <p:cNvSpPr/>
          <p:nvPr/>
        </p:nvSpPr>
        <p:spPr>
          <a:xfrm>
            <a:off x="6154057" y="3947886"/>
            <a:ext cx="703943" cy="776514"/>
          </a:xfrm>
          <a:custGeom>
            <a:avLst/>
            <a:gdLst>
              <a:gd name="connsiteX0" fmla="*/ 0 w 660400"/>
              <a:gd name="connsiteY0" fmla="*/ 0 h 800100"/>
              <a:gd name="connsiteX1" fmla="*/ 457200 w 660400"/>
              <a:gd name="connsiteY1" fmla="*/ 266700 h 800100"/>
              <a:gd name="connsiteX2" fmla="*/ 660400 w 660400"/>
              <a:gd name="connsiteY2" fmla="*/ 800100 h 800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60400" h="800100">
                <a:moveTo>
                  <a:pt x="0" y="0"/>
                </a:moveTo>
                <a:cubicBezTo>
                  <a:pt x="173566" y="66675"/>
                  <a:pt x="347133" y="133350"/>
                  <a:pt x="457200" y="266700"/>
                </a:cubicBezTo>
                <a:cubicBezTo>
                  <a:pt x="567267" y="400050"/>
                  <a:pt x="613833" y="600075"/>
                  <a:pt x="660400" y="800100"/>
                </a:cubicBezTo>
              </a:path>
            </a:pathLst>
          </a:cu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矩形 35"/>
          <p:cNvSpPr/>
          <p:nvPr/>
        </p:nvSpPr>
        <p:spPr>
          <a:xfrm>
            <a:off x="5929083" y="3294742"/>
            <a:ext cx="1727201" cy="52251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dirty="0">
                <a:solidFill>
                  <a:srgbClr val="7030A0"/>
                </a:solidFill>
              </a:rPr>
              <a:t>CAIS:</a:t>
            </a:r>
            <a:r>
              <a:rPr lang="zh-TW" altLang="en-US" sz="2000" dirty="0">
                <a:solidFill>
                  <a:srgbClr val="7030A0"/>
                </a:solidFill>
              </a:rPr>
              <a:t> </a:t>
            </a:r>
            <a:r>
              <a:rPr lang="en-US" altLang="zh-TW" sz="2000" dirty="0">
                <a:solidFill>
                  <a:srgbClr val="7030A0"/>
                </a:solidFill>
              </a:rPr>
              <a:t>7, 6</a:t>
            </a:r>
            <a:endParaRPr lang="zh-TW" altLang="en-US" sz="2000" dirty="0">
              <a:solidFill>
                <a:srgbClr val="7030A0"/>
              </a:solidFill>
            </a:endParaRPr>
          </a:p>
        </p:txBody>
      </p:sp>
      <p:grpSp>
        <p:nvGrpSpPr>
          <p:cNvPr id="37" name="群組 36"/>
          <p:cNvGrpSpPr/>
          <p:nvPr/>
        </p:nvGrpSpPr>
        <p:grpSpPr>
          <a:xfrm>
            <a:off x="493487" y="537028"/>
            <a:ext cx="8244114" cy="5631543"/>
            <a:chOff x="493487" y="537029"/>
            <a:chExt cx="8244114" cy="5631543"/>
          </a:xfrm>
        </p:grpSpPr>
        <p:sp>
          <p:nvSpPr>
            <p:cNvPr id="38" name="矩形 37"/>
            <p:cNvSpPr/>
            <p:nvPr/>
          </p:nvSpPr>
          <p:spPr>
            <a:xfrm>
              <a:off x="493487" y="537029"/>
              <a:ext cx="8244114" cy="56315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39" name="內容版面配置區 4"/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1637364987"/>
                    </p:ext>
                  </p:extLst>
                </p:nvPr>
              </p:nvGraphicFramePr>
              <p:xfrm>
                <a:off x="1325337" y="1447073"/>
                <a:ext cx="6853919" cy="4365899"/>
              </p:xfrm>
              <a:graphic>
                <a:graphicData uri="http://schemas.openxmlformats.org/drawingml/2006/table">
                  <a:tbl>
                    <a:tblPr firstRow="1" bandRow="1">
                      <a:tableStyleId>{5940675A-B579-460E-94D1-54222C63F5DA}</a:tableStyleId>
                    </a:tblPr>
                    <a:tblGrid>
                      <a:gridCol w="856739">
                        <a:extLst>
                          <a:ext uri="{9D8B030D-6E8A-4147-A177-3AD203B41FA5}">
                            <a16:colId xmlns:a16="http://schemas.microsoft.com/office/drawing/2014/main" val="20000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1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2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3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4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5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6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7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8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9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10"/>
                          </a:ext>
                        </a:extLst>
                      </a:gridCol>
                    </a:tblGrid>
                    <a:tr h="657499">
                      <a:tc>
                        <a:txBody>
                          <a:bodyPr/>
                          <a:lstStyle/>
                          <a:p>
                            <a:pPr>
                              <a:lnSpc>
                                <a:spcPct val="150000"/>
                              </a:lnSpc>
                            </a:pPr>
                            <a:r>
                              <a:rPr lang="en-US" altLang="zh-TW" sz="3600" baseline="-25000" dirty="0"/>
                              <a:t> k     </a:t>
                            </a:r>
                            <a:r>
                              <a:rPr lang="en-US" altLang="zh-TW" sz="3600" baseline="30000" dirty="0"/>
                              <a:t>j                </a:t>
                            </a:r>
                            <a:endParaRPr lang="zh-TW" altLang="en-US" sz="3600" baseline="30000" dirty="0"/>
                          </a:p>
                        </a:txBody>
                        <a:tcPr>
                          <a:lnTlToB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lToBr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1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2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3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4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5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6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7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8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9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10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extLst>
                        <a:ext uri="{0D108BD9-81ED-4DB2-BD59-A6C34878D82A}">
                          <a16:rowId xmlns:a16="http://schemas.microsoft.com/office/drawing/2014/main" val="10000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1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1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2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6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6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6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6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2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3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accent1"/>
                                </a:solidFill>
                              </a:rPr>
                              <a:t>11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accent1"/>
                                </a:solidFill>
                              </a:rPr>
                              <a:t>11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accent1"/>
                                </a:solidFill>
                              </a:rPr>
                              <a:t>11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3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4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13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13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13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13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13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4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5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5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6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6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7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7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8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8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9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9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10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10"/>
                        </a:ext>
                      </a:extLst>
                    </a:tr>
                  </a:tbl>
                </a:graphicData>
              </a:graphic>
            </p:graphicFrame>
          </mc:Choice>
          <mc:Fallback xmlns="">
            <p:graphicFrame>
              <p:nvGraphicFramePr>
                <p:cNvPr id="39" name="內容版面配置區 4"/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1637364987"/>
                    </p:ext>
                  </p:extLst>
                </p:nvPr>
              </p:nvGraphicFramePr>
              <p:xfrm>
                <a:off x="1325337" y="1447073"/>
                <a:ext cx="6853919" cy="4365899"/>
              </p:xfrm>
              <a:graphic>
                <a:graphicData uri="http://schemas.openxmlformats.org/drawingml/2006/table">
                  <a:tbl>
                    <a:tblPr firstRow="1" bandRow="1">
                      <a:tableStyleId>{5940675A-B579-460E-94D1-54222C63F5DA}</a:tableStyleId>
                    </a:tblPr>
                    <a:tblGrid>
                      <a:gridCol w="856739"/>
                      <a:gridCol w="599718"/>
                      <a:gridCol w="599718"/>
                      <a:gridCol w="599718"/>
                      <a:gridCol w="599718"/>
                      <a:gridCol w="599718"/>
                      <a:gridCol w="599718"/>
                      <a:gridCol w="599718"/>
                      <a:gridCol w="599718"/>
                      <a:gridCol w="599718"/>
                      <a:gridCol w="599718"/>
                    </a:tblGrid>
                    <a:tr h="657499">
                      <a:tc>
                        <a:txBody>
                          <a:bodyPr/>
                          <a:lstStyle/>
                          <a:p>
                            <a:pPr>
                              <a:lnSpc>
                                <a:spcPct val="150000"/>
                              </a:lnSpc>
                            </a:pPr>
                            <a:r>
                              <a:rPr lang="en-US" altLang="zh-TW" sz="3600" baseline="-25000" dirty="0" smtClean="0"/>
                              <a:t> k     </a:t>
                            </a:r>
                            <a:r>
                              <a:rPr lang="en-US" altLang="zh-TW" sz="3600" baseline="30000" dirty="0" smtClean="0"/>
                              <a:t>j                </a:t>
                            </a:r>
                            <a:endParaRPr lang="zh-TW" altLang="en-US" sz="3600" baseline="30000" dirty="0"/>
                          </a:p>
                        </a:txBody>
                        <a:tcPr>
                          <a:lnTlToB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lToBr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1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2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3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4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5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6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7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8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9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10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1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2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6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6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6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6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3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accent1"/>
                                </a:solidFill>
                              </a:rPr>
                              <a:t>11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accent1"/>
                                </a:solidFill>
                              </a:rPr>
                              <a:t>11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accent1"/>
                                </a:solidFill>
                              </a:rPr>
                              <a:t>11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4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13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13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13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13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13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5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6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7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8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9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10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</a:tr>
                  </a:tbl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文字方塊 39"/>
                <p:cNvSpPr txBox="1"/>
                <p:nvPr/>
              </p:nvSpPr>
              <p:spPr>
                <a:xfrm>
                  <a:off x="1139372" y="841828"/>
                  <a:ext cx="728020" cy="39164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/>
                              </a:rPr>
                              <m:t>𝐿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/>
                          </a:rPr>
                          <m:t>[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𝑘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]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40" name="文字方塊 3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9372" y="841828"/>
                  <a:ext cx="728020" cy="391646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b="-10938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字方塊 40"/>
                <p:cNvSpPr txBox="1"/>
                <p:nvPr/>
              </p:nvSpPr>
              <p:spPr>
                <a:xfrm>
                  <a:off x="2091872" y="591456"/>
                  <a:ext cx="166449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i="1" smtClean="0">
                            <a:latin typeface="Cambria Math"/>
                          </a:rPr>
                          <m:t>𝑝𝑟𝑒</m:t>
                        </m:r>
                        <m:r>
                          <a:rPr lang="en-US" altLang="zh-TW" i="1" smtClean="0">
                            <a:latin typeface="Cambria Math"/>
                          </a:rPr>
                          <m:t>(15)=(7)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41" name="文字方塊 4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1872" y="591456"/>
                  <a:ext cx="1664494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b="-11475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文字方塊 41"/>
                <p:cNvSpPr txBox="1"/>
                <p:nvPr/>
              </p:nvSpPr>
              <p:spPr>
                <a:xfrm>
                  <a:off x="2091872" y="960788"/>
                  <a:ext cx="2007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i="1">
                            <a:latin typeface="Cambria Math"/>
                          </a:rPr>
                          <m:t>𝑝𝑟𝑒</m:t>
                        </m:r>
                        <m:r>
                          <a:rPr lang="en-US" altLang="zh-TW" i="1">
                            <a:latin typeface="Cambria Math"/>
                          </a:rPr>
                          <m:t>(14)=(7, 15)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42" name="文字方塊 4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1872" y="960788"/>
                  <a:ext cx="2007537" cy="369332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字方塊 42"/>
                <p:cNvSpPr txBox="1"/>
                <p:nvPr/>
              </p:nvSpPr>
              <p:spPr>
                <a:xfrm>
                  <a:off x="4191000" y="574343"/>
                  <a:ext cx="153625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i="1" smtClean="0">
                            <a:latin typeface="Cambria Math"/>
                          </a:rPr>
                          <m:t>𝑝𝑟𝑒</m:t>
                        </m:r>
                        <m:r>
                          <a:rPr lang="en-US" altLang="zh-TW" i="1" smtClean="0">
                            <a:latin typeface="Cambria Math"/>
                          </a:rPr>
                          <m:t>(6)=(7)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43" name="文字方塊 4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91000" y="574343"/>
                  <a:ext cx="1536253" cy="369332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b="-11475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文字方塊 43"/>
                <p:cNvSpPr txBox="1"/>
                <p:nvPr/>
              </p:nvSpPr>
              <p:spPr>
                <a:xfrm>
                  <a:off x="4191000" y="960788"/>
                  <a:ext cx="235058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i="1" smtClean="0">
                            <a:latin typeface="Cambria Math"/>
                          </a:rPr>
                          <m:t>𝑝𝑟𝑒</m:t>
                        </m:r>
                        <m:r>
                          <a:rPr lang="en-US" altLang="zh-TW" i="1">
                            <a:latin typeface="Cambria Math"/>
                          </a:rPr>
                          <m:t>(13)=(7, 15, 14)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44" name="文字方塊 4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91000" y="960788"/>
                  <a:ext cx="2350580" cy="369332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文字方塊 44"/>
                <p:cNvSpPr txBox="1"/>
                <p:nvPr/>
              </p:nvSpPr>
              <p:spPr>
                <a:xfrm>
                  <a:off x="6506027" y="574343"/>
                  <a:ext cx="187929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i="1" smtClean="0">
                            <a:latin typeface="Cambria Math"/>
                          </a:rPr>
                          <m:t>𝑝𝑟𝑒</m:t>
                        </m:r>
                        <m:r>
                          <a:rPr lang="en-US" altLang="zh-TW" i="1">
                            <a:latin typeface="Cambria Math"/>
                          </a:rPr>
                          <m:t>(1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1</m:t>
                        </m:r>
                        <m:r>
                          <a:rPr lang="en-US" altLang="zh-TW" i="1">
                            <a:latin typeface="Cambria Math"/>
                          </a:rPr>
                          <m:t>)=(7, 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6</m:t>
                        </m:r>
                        <m:r>
                          <a:rPr lang="en-US" altLang="zh-TW" i="1">
                            <a:latin typeface="Cambria Math"/>
                          </a:rPr>
                          <m:t>)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45" name="文字方塊 4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06027" y="574343"/>
                  <a:ext cx="1879297" cy="369332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 b="-11475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31526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" grpId="0" animBg="1"/>
      <p:bldP spid="3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內容版面配置區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31063167"/>
              </p:ext>
            </p:extLst>
          </p:nvPr>
        </p:nvGraphicFramePr>
        <p:xfrm>
          <a:off x="614136" y="838653"/>
          <a:ext cx="7886700" cy="5191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7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70840">
                <a:tc rowSpan="2" gridSpan="2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TW" sz="3600" baseline="-25000" dirty="0"/>
                        <a:t>A(</a:t>
                      </a:r>
                      <a:r>
                        <a:rPr lang="en-US" altLang="zh-TW" sz="3600" baseline="-25000" dirty="0" err="1"/>
                        <a:t>i</a:t>
                      </a:r>
                      <a:r>
                        <a:rPr lang="en-US" altLang="zh-TW" sz="3600" baseline="-25000" dirty="0"/>
                        <a:t>)    </a:t>
                      </a:r>
                      <a:r>
                        <a:rPr lang="en-US" altLang="zh-TW" sz="3600" baseline="30000" dirty="0"/>
                        <a:t>B(j)                </a:t>
                      </a:r>
                      <a:endParaRPr lang="zh-TW" altLang="en-US" sz="3600" baseline="30000" dirty="0"/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 rowSpan="2"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gridSpan="2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7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12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15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21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accent1"/>
                          </a:solidFill>
                        </a:rPr>
                        <a:t>10</a:t>
                      </a:r>
                      <a:endParaRPr lang="zh-TW" altLang="en-US" b="1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accent1"/>
                          </a:solidFill>
                        </a:rPr>
                        <a:t>9</a:t>
                      </a:r>
                      <a:endParaRPr lang="zh-TW" altLang="en-US" b="1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20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7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15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3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18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accent1"/>
                          </a:solidFill>
                        </a:rPr>
                        <a:t>10</a:t>
                      </a:r>
                      <a:endParaRPr lang="zh-TW" altLang="en-US" b="1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accent1"/>
                          </a:solidFill>
                        </a:rPr>
                        <a:t>9</a:t>
                      </a:r>
                      <a:endParaRPr lang="zh-TW" altLang="en-US" b="1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25" name="矩形 24"/>
          <p:cNvSpPr/>
          <p:nvPr/>
        </p:nvSpPr>
        <p:spPr>
          <a:xfrm>
            <a:off x="6703783" y="3486830"/>
            <a:ext cx="1727201" cy="52251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dirty="0">
                <a:solidFill>
                  <a:srgbClr val="7030A0"/>
                </a:solidFill>
              </a:rPr>
              <a:t>CAIS:</a:t>
            </a:r>
            <a:r>
              <a:rPr lang="zh-TW" altLang="en-US" sz="2000" dirty="0">
                <a:solidFill>
                  <a:srgbClr val="7030A0"/>
                </a:solidFill>
              </a:rPr>
              <a:t> </a:t>
            </a:r>
            <a:r>
              <a:rPr lang="en-US" altLang="zh-TW" sz="2000" dirty="0">
                <a:solidFill>
                  <a:srgbClr val="7030A0"/>
                </a:solidFill>
              </a:rPr>
              <a:t>7, 6, 11</a:t>
            </a:r>
            <a:endParaRPr lang="zh-TW" altLang="en-US" sz="2000" dirty="0">
              <a:solidFill>
                <a:srgbClr val="7030A0"/>
              </a:solidFill>
            </a:endParaRPr>
          </a:p>
        </p:txBody>
      </p:sp>
      <p:sp>
        <p:nvSpPr>
          <p:cNvPr id="12" name="手繪多邊形 11"/>
          <p:cNvSpPr/>
          <p:nvPr/>
        </p:nvSpPr>
        <p:spPr>
          <a:xfrm>
            <a:off x="2220686" y="2119086"/>
            <a:ext cx="2002971" cy="1103085"/>
          </a:xfrm>
          <a:custGeom>
            <a:avLst/>
            <a:gdLst>
              <a:gd name="connsiteX0" fmla="*/ 0 w 2002971"/>
              <a:gd name="connsiteY0" fmla="*/ 0 h 1103085"/>
              <a:gd name="connsiteX1" fmla="*/ 1364343 w 2002971"/>
              <a:gd name="connsiteY1" fmla="*/ 333828 h 1103085"/>
              <a:gd name="connsiteX2" fmla="*/ 2002971 w 2002971"/>
              <a:gd name="connsiteY2" fmla="*/ 1103085 h 1103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02971" h="1103085">
                <a:moveTo>
                  <a:pt x="0" y="0"/>
                </a:moveTo>
                <a:cubicBezTo>
                  <a:pt x="515257" y="74990"/>
                  <a:pt x="1030515" y="149981"/>
                  <a:pt x="1364343" y="333828"/>
                </a:cubicBezTo>
                <a:cubicBezTo>
                  <a:pt x="1698171" y="517675"/>
                  <a:pt x="1850571" y="810380"/>
                  <a:pt x="2002971" y="1103085"/>
                </a:cubicBezTo>
              </a:path>
            </a:pathLst>
          </a:cu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手繪多邊形 12"/>
          <p:cNvSpPr/>
          <p:nvPr/>
        </p:nvSpPr>
        <p:spPr>
          <a:xfrm>
            <a:off x="2235200" y="2133600"/>
            <a:ext cx="3918857" cy="1814286"/>
          </a:xfrm>
          <a:custGeom>
            <a:avLst/>
            <a:gdLst>
              <a:gd name="connsiteX0" fmla="*/ 0 w 3918857"/>
              <a:gd name="connsiteY0" fmla="*/ 0 h 1814286"/>
              <a:gd name="connsiteX1" fmla="*/ 1320800 w 3918857"/>
              <a:gd name="connsiteY1" fmla="*/ 1451429 h 1814286"/>
              <a:gd name="connsiteX2" fmla="*/ 3918857 w 3918857"/>
              <a:gd name="connsiteY2" fmla="*/ 1814286 h 1814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918857" h="1814286">
                <a:moveTo>
                  <a:pt x="0" y="0"/>
                </a:moveTo>
                <a:cubicBezTo>
                  <a:pt x="333828" y="574524"/>
                  <a:pt x="667657" y="1149048"/>
                  <a:pt x="1320800" y="1451429"/>
                </a:cubicBezTo>
                <a:cubicBezTo>
                  <a:pt x="1973943" y="1753810"/>
                  <a:pt x="2946400" y="1784048"/>
                  <a:pt x="3918857" y="1814286"/>
                </a:cubicBezTo>
              </a:path>
            </a:pathLst>
          </a:cu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手繪多邊形 4"/>
          <p:cNvSpPr/>
          <p:nvPr/>
        </p:nvSpPr>
        <p:spPr>
          <a:xfrm>
            <a:off x="4229100" y="3200400"/>
            <a:ext cx="1285875" cy="1095375"/>
          </a:xfrm>
          <a:custGeom>
            <a:avLst/>
            <a:gdLst>
              <a:gd name="connsiteX0" fmla="*/ 0 w 1285875"/>
              <a:gd name="connsiteY0" fmla="*/ 0 h 1095375"/>
              <a:gd name="connsiteX1" fmla="*/ 342900 w 1285875"/>
              <a:gd name="connsiteY1" fmla="*/ 657225 h 1095375"/>
              <a:gd name="connsiteX2" fmla="*/ 1285875 w 1285875"/>
              <a:gd name="connsiteY2" fmla="*/ 1095375 h 1095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85875" h="1095375">
                <a:moveTo>
                  <a:pt x="0" y="0"/>
                </a:moveTo>
                <a:cubicBezTo>
                  <a:pt x="64294" y="237331"/>
                  <a:pt x="128588" y="474663"/>
                  <a:pt x="342900" y="657225"/>
                </a:cubicBezTo>
                <a:cubicBezTo>
                  <a:pt x="557212" y="839787"/>
                  <a:pt x="921543" y="967581"/>
                  <a:pt x="1285875" y="1095375"/>
                </a:cubicBezTo>
              </a:path>
            </a:pathLst>
          </a:cu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/>
          <p:cNvSpPr/>
          <p:nvPr/>
        </p:nvSpPr>
        <p:spPr>
          <a:xfrm>
            <a:off x="3401330" y="4511221"/>
            <a:ext cx="2082802" cy="52251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dirty="0">
                <a:solidFill>
                  <a:srgbClr val="FF0000"/>
                </a:solidFill>
              </a:rPr>
              <a:t>CAIS:</a:t>
            </a:r>
            <a:r>
              <a:rPr lang="zh-TW" altLang="en-US" sz="2000" dirty="0">
                <a:solidFill>
                  <a:srgbClr val="FF0000"/>
                </a:solidFill>
              </a:rPr>
              <a:t> </a:t>
            </a:r>
            <a:r>
              <a:rPr lang="en-US" altLang="zh-TW" sz="2000" dirty="0">
                <a:solidFill>
                  <a:srgbClr val="FF0000"/>
                </a:solidFill>
              </a:rPr>
              <a:t>7, 15, 14, 13</a:t>
            </a:r>
            <a:endParaRPr lang="zh-TW" altLang="en-US" sz="2000" dirty="0">
              <a:solidFill>
                <a:srgbClr val="FF0000"/>
              </a:solidFill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4872037" y="5429930"/>
            <a:ext cx="2417763" cy="52251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dirty="0">
                <a:solidFill>
                  <a:srgbClr val="7030A0"/>
                </a:solidFill>
              </a:rPr>
              <a:t>CAIS:</a:t>
            </a:r>
            <a:r>
              <a:rPr lang="zh-TW" altLang="en-US" sz="2000" dirty="0">
                <a:solidFill>
                  <a:srgbClr val="7030A0"/>
                </a:solidFill>
              </a:rPr>
              <a:t> </a:t>
            </a:r>
            <a:r>
              <a:rPr lang="en-US" altLang="zh-TW" sz="2000" dirty="0">
                <a:solidFill>
                  <a:srgbClr val="7030A0"/>
                </a:solidFill>
              </a:rPr>
              <a:t>7, 6, 11, 10, 9</a:t>
            </a:r>
            <a:endParaRPr lang="zh-TW" altLang="en-US" sz="2000" dirty="0">
              <a:solidFill>
                <a:srgbClr val="7030A0"/>
              </a:solidFill>
            </a:endParaRPr>
          </a:p>
        </p:txBody>
      </p:sp>
      <p:sp>
        <p:nvSpPr>
          <p:cNvPr id="6" name="手繪多邊形 5"/>
          <p:cNvSpPr/>
          <p:nvPr/>
        </p:nvSpPr>
        <p:spPr>
          <a:xfrm>
            <a:off x="6845300" y="4686300"/>
            <a:ext cx="1308100" cy="1104900"/>
          </a:xfrm>
          <a:custGeom>
            <a:avLst/>
            <a:gdLst>
              <a:gd name="connsiteX0" fmla="*/ 0 w 1308100"/>
              <a:gd name="connsiteY0" fmla="*/ 0 h 1104900"/>
              <a:gd name="connsiteX1" fmla="*/ 127000 w 1308100"/>
              <a:gd name="connsiteY1" fmla="*/ 495300 h 1104900"/>
              <a:gd name="connsiteX2" fmla="*/ 647700 w 1308100"/>
              <a:gd name="connsiteY2" fmla="*/ 736600 h 1104900"/>
              <a:gd name="connsiteX3" fmla="*/ 1041400 w 1308100"/>
              <a:gd name="connsiteY3" fmla="*/ 838200 h 1104900"/>
              <a:gd name="connsiteX4" fmla="*/ 1308100 w 1308100"/>
              <a:gd name="connsiteY4" fmla="*/ 1104900 h 1104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08100" h="1104900">
                <a:moveTo>
                  <a:pt x="0" y="0"/>
                </a:moveTo>
                <a:cubicBezTo>
                  <a:pt x="9525" y="186266"/>
                  <a:pt x="19050" y="372533"/>
                  <a:pt x="127000" y="495300"/>
                </a:cubicBezTo>
                <a:cubicBezTo>
                  <a:pt x="234950" y="618067"/>
                  <a:pt x="495300" y="679450"/>
                  <a:pt x="647700" y="736600"/>
                </a:cubicBezTo>
                <a:cubicBezTo>
                  <a:pt x="800100" y="793750"/>
                  <a:pt x="931333" y="776817"/>
                  <a:pt x="1041400" y="838200"/>
                </a:cubicBezTo>
                <a:cubicBezTo>
                  <a:pt x="1151467" y="899583"/>
                  <a:pt x="1229783" y="1002241"/>
                  <a:pt x="1308100" y="1104900"/>
                </a:cubicBezTo>
              </a:path>
            </a:pathLst>
          </a:cu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手繪多邊形 29"/>
          <p:cNvSpPr/>
          <p:nvPr/>
        </p:nvSpPr>
        <p:spPr>
          <a:xfrm>
            <a:off x="6154057" y="3947886"/>
            <a:ext cx="703943" cy="776514"/>
          </a:xfrm>
          <a:custGeom>
            <a:avLst/>
            <a:gdLst>
              <a:gd name="connsiteX0" fmla="*/ 0 w 660400"/>
              <a:gd name="connsiteY0" fmla="*/ 0 h 800100"/>
              <a:gd name="connsiteX1" fmla="*/ 457200 w 660400"/>
              <a:gd name="connsiteY1" fmla="*/ 266700 h 800100"/>
              <a:gd name="connsiteX2" fmla="*/ 660400 w 660400"/>
              <a:gd name="connsiteY2" fmla="*/ 800100 h 800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60400" h="800100">
                <a:moveTo>
                  <a:pt x="0" y="0"/>
                </a:moveTo>
                <a:cubicBezTo>
                  <a:pt x="173566" y="66675"/>
                  <a:pt x="347133" y="133350"/>
                  <a:pt x="457200" y="266700"/>
                </a:cubicBezTo>
                <a:cubicBezTo>
                  <a:pt x="567267" y="400050"/>
                  <a:pt x="613833" y="600075"/>
                  <a:pt x="660400" y="800100"/>
                </a:cubicBezTo>
              </a:path>
            </a:pathLst>
          </a:cu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31" name="群組 30"/>
          <p:cNvGrpSpPr/>
          <p:nvPr/>
        </p:nvGrpSpPr>
        <p:grpSpPr>
          <a:xfrm>
            <a:off x="493487" y="537028"/>
            <a:ext cx="8244114" cy="5631543"/>
            <a:chOff x="493487" y="537029"/>
            <a:chExt cx="8244114" cy="5631543"/>
          </a:xfrm>
        </p:grpSpPr>
        <p:sp>
          <p:nvSpPr>
            <p:cNvPr id="32" name="矩形 31"/>
            <p:cNvSpPr/>
            <p:nvPr/>
          </p:nvSpPr>
          <p:spPr>
            <a:xfrm>
              <a:off x="493487" y="537029"/>
              <a:ext cx="8244114" cy="56315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33" name="內容版面配置區 4"/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565842979"/>
                    </p:ext>
                  </p:extLst>
                </p:nvPr>
              </p:nvGraphicFramePr>
              <p:xfrm>
                <a:off x="1325337" y="1447073"/>
                <a:ext cx="6853919" cy="4365899"/>
              </p:xfrm>
              <a:graphic>
                <a:graphicData uri="http://schemas.openxmlformats.org/drawingml/2006/table">
                  <a:tbl>
                    <a:tblPr firstRow="1" bandRow="1">
                      <a:tableStyleId>{5940675A-B579-460E-94D1-54222C63F5DA}</a:tableStyleId>
                    </a:tblPr>
                    <a:tblGrid>
                      <a:gridCol w="856739">
                        <a:extLst>
                          <a:ext uri="{9D8B030D-6E8A-4147-A177-3AD203B41FA5}">
                            <a16:colId xmlns:a16="http://schemas.microsoft.com/office/drawing/2014/main" val="20000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1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2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3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4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5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6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7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8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09"/>
                          </a:ext>
                        </a:extLst>
                      </a:gridCol>
                      <a:gridCol w="599718">
                        <a:extLst>
                          <a:ext uri="{9D8B030D-6E8A-4147-A177-3AD203B41FA5}">
                            <a16:colId xmlns:a16="http://schemas.microsoft.com/office/drawing/2014/main" val="20010"/>
                          </a:ext>
                        </a:extLst>
                      </a:gridCol>
                    </a:tblGrid>
                    <a:tr h="657499">
                      <a:tc>
                        <a:txBody>
                          <a:bodyPr/>
                          <a:lstStyle/>
                          <a:p>
                            <a:pPr>
                              <a:lnSpc>
                                <a:spcPct val="150000"/>
                              </a:lnSpc>
                            </a:pPr>
                            <a:r>
                              <a:rPr lang="en-US" altLang="zh-TW" sz="3600" baseline="-25000" dirty="0"/>
                              <a:t> k     </a:t>
                            </a:r>
                            <a:r>
                              <a:rPr lang="en-US" altLang="zh-TW" sz="3600" baseline="30000" dirty="0"/>
                              <a:t>j                </a:t>
                            </a:r>
                            <a:endParaRPr lang="zh-TW" altLang="en-US" sz="3600" baseline="30000" dirty="0"/>
                          </a:p>
                        </a:txBody>
                        <a:tcPr>
                          <a:lnTlToB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lToBr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1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2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3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4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5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6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7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8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9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10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extLst>
                        <a:ext uri="{0D108BD9-81ED-4DB2-BD59-A6C34878D82A}">
                          <a16:rowId xmlns:a16="http://schemas.microsoft.com/office/drawing/2014/main" val="10000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1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1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2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6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6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6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6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2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3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11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11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11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3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4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13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13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tx1"/>
                                </a:solidFill>
                              </a:rPr>
                              <a:t>13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accent1"/>
                                </a:solidFill>
                              </a:rPr>
                              <a:t>10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accent1"/>
                                </a:solidFill>
                              </a:rPr>
                              <a:t>10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4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5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>
                                <a:solidFill>
                                  <a:schemeClr val="accent1"/>
                                </a:solidFill>
                              </a:rPr>
                              <a:t>9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5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6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6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7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7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8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8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9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09"/>
                        </a:ext>
                      </a:extLst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/>
                              <a:t>10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extLst>
                        <a:ext uri="{0D108BD9-81ED-4DB2-BD59-A6C34878D82A}">
                          <a16:rowId xmlns:a16="http://schemas.microsoft.com/office/drawing/2014/main" val="10010"/>
                        </a:ext>
                      </a:extLst>
                    </a:tr>
                  </a:tbl>
                </a:graphicData>
              </a:graphic>
            </p:graphicFrame>
          </mc:Choice>
          <mc:Fallback xmlns="">
            <p:graphicFrame>
              <p:nvGraphicFramePr>
                <p:cNvPr id="33" name="內容版面配置區 4"/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565842979"/>
                    </p:ext>
                  </p:extLst>
                </p:nvPr>
              </p:nvGraphicFramePr>
              <p:xfrm>
                <a:off x="1325337" y="1447073"/>
                <a:ext cx="6853919" cy="4365899"/>
              </p:xfrm>
              <a:graphic>
                <a:graphicData uri="http://schemas.openxmlformats.org/drawingml/2006/table">
                  <a:tbl>
                    <a:tblPr firstRow="1" bandRow="1">
                      <a:tableStyleId>{5940675A-B579-460E-94D1-54222C63F5DA}</a:tableStyleId>
                    </a:tblPr>
                    <a:tblGrid>
                      <a:gridCol w="856739"/>
                      <a:gridCol w="599718"/>
                      <a:gridCol w="599718"/>
                      <a:gridCol w="599718"/>
                      <a:gridCol w="599718"/>
                      <a:gridCol w="599718"/>
                      <a:gridCol w="599718"/>
                      <a:gridCol w="599718"/>
                      <a:gridCol w="599718"/>
                      <a:gridCol w="599718"/>
                      <a:gridCol w="599718"/>
                    </a:tblGrid>
                    <a:tr h="657499">
                      <a:tc>
                        <a:txBody>
                          <a:bodyPr/>
                          <a:lstStyle/>
                          <a:p>
                            <a:pPr>
                              <a:lnSpc>
                                <a:spcPct val="150000"/>
                              </a:lnSpc>
                            </a:pPr>
                            <a:r>
                              <a:rPr lang="en-US" altLang="zh-TW" sz="3600" baseline="-25000" dirty="0" smtClean="0"/>
                              <a:t> k     </a:t>
                            </a:r>
                            <a:r>
                              <a:rPr lang="en-US" altLang="zh-TW" sz="3600" baseline="30000" dirty="0" smtClean="0"/>
                              <a:t>j                </a:t>
                            </a:r>
                            <a:endParaRPr lang="zh-TW" altLang="en-US" sz="3600" baseline="30000" dirty="0"/>
                          </a:p>
                        </a:txBody>
                        <a:tcPr>
                          <a:lnTlToB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lToBr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1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2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3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4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5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6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7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8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9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10</a:t>
                            </a:r>
                            <a:endParaRPr lang="zh-TW" altLang="en-US" dirty="0"/>
                          </a:p>
                        </a:txBody>
                        <a:tcPr anchor="ctr"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1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2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15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6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6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6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6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3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14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11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11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11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4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13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13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tx1"/>
                                </a:solidFill>
                              </a:rPr>
                              <a:t>13</a:t>
                            </a:r>
                            <a:endParaRPr lang="zh-TW" altLang="en-US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accent1"/>
                                </a:solidFill>
                              </a:rPr>
                              <a:t>10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accent1"/>
                                </a:solidFill>
                              </a:rPr>
                              <a:t>10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5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>
                                <a:solidFill>
                                  <a:schemeClr val="accent1"/>
                                </a:solidFill>
                              </a:rPr>
                              <a:t>9</a:t>
                            </a:r>
                            <a:endParaRPr lang="zh-TW" altLang="en-US" dirty="0">
                              <a:solidFill>
                                <a:schemeClr val="accent1"/>
                              </a:solidFill>
                            </a:endParaRPr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6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7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8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9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</a:tr>
                    <a:tr h="370840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dirty="0" smtClean="0"/>
                              <a:t>10</a:t>
                            </a:r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endParaRPr lang="zh-TW" altLang="en-US" dirty="0"/>
                          </a:p>
                        </a:txBody>
                        <a:tcPr/>
                      </a:tc>
                    </a:tr>
                  </a:tbl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字方塊 33"/>
                <p:cNvSpPr txBox="1"/>
                <p:nvPr/>
              </p:nvSpPr>
              <p:spPr>
                <a:xfrm>
                  <a:off x="1139372" y="841828"/>
                  <a:ext cx="728020" cy="39164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/>
                              </a:rPr>
                              <m:t>𝐿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/>
                          </a:rPr>
                          <m:t>[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𝑘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]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34" name="文字方塊 3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9372" y="841828"/>
                  <a:ext cx="728020" cy="391646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b="-10938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文字方塊 34"/>
                <p:cNvSpPr txBox="1"/>
                <p:nvPr/>
              </p:nvSpPr>
              <p:spPr>
                <a:xfrm>
                  <a:off x="5592613" y="587043"/>
                  <a:ext cx="222234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/>
                          </a:rPr>
                          <m:t>𝑝𝑟𝑒</m:t>
                        </m:r>
                        <m:r>
                          <a:rPr lang="en-US" altLang="zh-TW" i="1">
                            <a:latin typeface="Cambria Math"/>
                          </a:rPr>
                          <m:t>(1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0</m:t>
                        </m:r>
                        <m:r>
                          <a:rPr lang="en-US" altLang="zh-TW" i="1">
                            <a:latin typeface="Cambria Math"/>
                          </a:rPr>
                          <m:t>)=(7, 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6</m:t>
                        </m:r>
                        <m:r>
                          <a:rPr lang="en-US" altLang="zh-TW" i="1">
                            <a:latin typeface="Cambria Math"/>
                          </a:rPr>
                          <m:t>, 1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1</m:t>
                        </m:r>
                        <m:r>
                          <a:rPr lang="en-US" altLang="zh-TW" i="1">
                            <a:latin typeface="Cambria Math"/>
                          </a:rPr>
                          <m:t>)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35" name="文字方塊 3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92613" y="587043"/>
                  <a:ext cx="2222340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b="-11475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字方塊 35"/>
                <p:cNvSpPr txBox="1"/>
                <p:nvPr/>
              </p:nvSpPr>
              <p:spPr>
                <a:xfrm>
                  <a:off x="5592613" y="1028825"/>
                  <a:ext cx="24371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/>
                          </a:rPr>
                          <m:t>𝑝𝑟𝑒</m:t>
                        </m:r>
                        <m:r>
                          <a:rPr lang="en-US" altLang="zh-TW" i="1">
                            <a:latin typeface="Cambria Math"/>
                          </a:rPr>
                          <m:t>(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9</m:t>
                        </m:r>
                        <m:r>
                          <a:rPr lang="en-US" altLang="zh-TW" i="1">
                            <a:latin typeface="Cambria Math"/>
                          </a:rPr>
                          <m:t>)=(7, 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6</m:t>
                        </m:r>
                        <m:r>
                          <a:rPr lang="en-US" altLang="zh-TW" i="1">
                            <a:latin typeface="Cambria Math"/>
                          </a:rPr>
                          <m:t>, 1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1, 10</m:t>
                        </m:r>
                        <m:r>
                          <a:rPr lang="en-US" altLang="zh-TW" i="1">
                            <a:latin typeface="Cambria Math"/>
                          </a:rPr>
                          <m:t>)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36" name="文字方塊 3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92613" y="1028825"/>
                  <a:ext cx="2437142" cy="369332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文字方塊 36"/>
                <p:cNvSpPr txBox="1"/>
                <p:nvPr/>
              </p:nvSpPr>
              <p:spPr>
                <a:xfrm>
                  <a:off x="2379513" y="762125"/>
                  <a:ext cx="187929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/>
                          </a:rPr>
                          <m:t>𝑝𝑟𝑒</m:t>
                        </m:r>
                        <m:r>
                          <a:rPr lang="en-US" altLang="zh-TW" i="1">
                            <a:latin typeface="Cambria Math"/>
                          </a:rPr>
                          <m:t>(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11</m:t>
                        </m:r>
                        <m:r>
                          <a:rPr lang="en-US" altLang="zh-TW" i="1">
                            <a:latin typeface="Cambria Math"/>
                          </a:rPr>
                          <m:t>)=(7, 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6</m:t>
                        </m:r>
                        <m:r>
                          <a:rPr lang="en-US" altLang="zh-TW" i="1">
                            <a:latin typeface="Cambria Math"/>
                          </a:rPr>
                          <m:t>)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37" name="文字方塊 3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79513" y="762125"/>
                  <a:ext cx="1879296" cy="369332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b="-11475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305744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4" grpId="0" animBg="1"/>
      <p:bldP spid="6" grpId="0" animBg="1"/>
    </p:bldLst>
  </p:timing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18397</TotalTime>
  <Words>1537</Words>
  <Application>Microsoft Office PowerPoint</Application>
  <PresentationFormat>如螢幕大小 (4:3)</PresentationFormat>
  <Paragraphs>947</Paragraphs>
  <Slides>13</Slides>
  <Notes>12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21" baseType="lpstr">
      <vt:lpstr>新細明體</vt:lpstr>
      <vt:lpstr>標楷體</vt:lpstr>
      <vt:lpstr>Arial</vt:lpstr>
      <vt:lpstr>Calibri</vt:lpstr>
      <vt:lpstr>Calibri Light</vt:lpstr>
      <vt:lpstr>Cambria Math</vt:lpstr>
      <vt:lpstr>Times New Roman</vt:lpstr>
      <vt:lpstr>Office 佈景主題</vt:lpstr>
      <vt:lpstr>Computing a longest common subsequence that is almost increasing on sequences having no repeated elements</vt:lpstr>
      <vt:lpstr>Abstract</vt:lpstr>
      <vt:lpstr>Sequence/permutation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fast algorithm for computing a longest common increasing subsequence</dc:title>
  <dc:creator>GaryC</dc:creator>
  <cp:lastModifiedBy>GaryC</cp:lastModifiedBy>
  <cp:revision>160</cp:revision>
  <dcterms:created xsi:type="dcterms:W3CDTF">2017-09-25T08:45:50Z</dcterms:created>
  <dcterms:modified xsi:type="dcterms:W3CDTF">2018-01-02T08:57:30Z</dcterms:modified>
</cp:coreProperties>
</file>