
<file path=[Content_Types].xml><?xml version="1.0" encoding="utf-8"?>
<Types xmlns="http://schemas.openxmlformats.org/package/2006/content-types">
  <Default Extension="xml" ContentType="application/xml"/>
  <Default Extension="jpeg" ContentType="image/jpeg"/>
  <Default Extension="png" ContentType="image/png"/>
  <Default Extension="gif" ContentType="image/gif"/>
  <Default Extension="rels" ContentType="application/vnd.openxmlformats-package.relationships+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revisionInfo.xml" ContentType="application/vnd.ms-powerpoint.revisioninfo+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4" Type="http://schemas.openxmlformats.org/officeDocument/2006/relationships/extended-properties" Target="docProps/app.xml"/><Relationship Id="rId1" Type="http://schemas.openxmlformats.org/officeDocument/2006/relationships/officeDocument" Target="ppt/presentation.xml"/><Relationship Id="rId2" Type="http://schemas.openxmlformats.org/package/2006/relationships/metadata/thumbnail" Target="docProps/thumbnail.jpeg"/></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4"/>
  </p:notesMasterIdLst>
  <p:sldIdLst>
    <p:sldId id="256" r:id="rId2"/>
    <p:sldId id="257" r:id="rId3"/>
    <p:sldId id="258" r:id="rId4"/>
    <p:sldId id="264" r:id="rId5"/>
    <p:sldId id="261" r:id="rId6"/>
    <p:sldId id="259" r:id="rId7"/>
    <p:sldId id="273" r:id="rId8"/>
    <p:sldId id="263" r:id="rId9"/>
    <p:sldId id="265" r:id="rId10"/>
    <p:sldId id="266" r:id="rId11"/>
    <p:sldId id="267" r:id="rId12"/>
    <p:sldId id="278" r:id="rId13"/>
    <p:sldId id="268" r:id="rId14"/>
    <p:sldId id="269" r:id="rId15"/>
    <p:sldId id="270" r:id="rId16"/>
    <p:sldId id="271" r:id="rId17"/>
    <p:sldId id="272" r:id="rId18"/>
    <p:sldId id="274" r:id="rId19"/>
    <p:sldId id="275" r:id="rId20"/>
    <p:sldId id="277" r:id="rId21"/>
    <p:sldId id="279" r:id="rId22"/>
    <p:sldId id="260" r:id="rId23"/>
  </p:sldIdLst>
  <p:sldSz cx="12192000" cy="6858000"/>
  <p:notesSz cx="6858000" cy="9144000"/>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0587"/>
  </p:normalViewPr>
  <p:slideViewPr>
    <p:cSldViewPr snapToGrid="0">
      <p:cViewPr varScale="1">
        <p:scale>
          <a:sx n="76" d="100"/>
          <a:sy n="76" d="100"/>
        </p:scale>
        <p:origin x="216" y="48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notesMaster" Target="notesMasters/notesMaster1.xml"/><Relationship Id="rId25" Type="http://schemas.openxmlformats.org/officeDocument/2006/relationships/presProps" Target="presProps.xml"/><Relationship Id="rId26" Type="http://schemas.openxmlformats.org/officeDocument/2006/relationships/viewProps" Target="viewProps.xml"/><Relationship Id="rId27" Type="http://schemas.openxmlformats.org/officeDocument/2006/relationships/theme" Target="theme/theme1.xml"/><Relationship Id="rId28" Type="http://schemas.openxmlformats.org/officeDocument/2006/relationships/tableStyles" Target="tableStyles.xml"/><Relationship Id="rId29" Type="http://schemas.microsoft.com/office/2015/10/relationships/revisionInfo" Target="revisionInfo.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zh-TW" altLang="en-US"/>
          </a:p>
        </p:txBody>
      </p:sp>
      <p:sp>
        <p:nvSpPr>
          <p:cNvPr id="3" name="日期版面配置區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66EA441-1A92-0540-B70D-C3EC1C7A5B84}" type="datetimeFigureOut">
              <a:rPr kumimoji="1" lang="zh-TW" altLang="en-US" smtClean="0"/>
              <a:t>2018/1/2</a:t>
            </a:fld>
            <a:endParaRPr kumimoji="1" lang="zh-TW" altLang="en-US"/>
          </a:p>
        </p:txBody>
      </p:sp>
      <p:sp>
        <p:nvSpPr>
          <p:cNvPr id="4" name="投影片影像版面配置區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TW" altLang="en-US"/>
          </a:p>
        </p:txBody>
      </p:sp>
      <p:sp>
        <p:nvSpPr>
          <p:cNvPr id="5" name="備忘稿版面配置區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zh-TW" altLang="en-US"/>
              <a:t>按一下以編輯母片文字樣式</a:t>
            </a:r>
          </a:p>
          <a:p>
            <a:pPr lvl="1"/>
            <a:r>
              <a:rPr kumimoji="1" lang="zh-TW" altLang="en-US"/>
              <a:t>第二層</a:t>
            </a:r>
          </a:p>
          <a:p>
            <a:pPr lvl="2"/>
            <a:r>
              <a:rPr kumimoji="1" lang="zh-TW" altLang="en-US"/>
              <a:t>第三層</a:t>
            </a:r>
          </a:p>
          <a:p>
            <a:pPr lvl="3"/>
            <a:r>
              <a:rPr kumimoji="1" lang="zh-TW" altLang="en-US"/>
              <a:t>第四層</a:t>
            </a:r>
          </a:p>
          <a:p>
            <a:pPr lvl="4"/>
            <a:r>
              <a:rPr kumimoji="1" lang="zh-TW" altLang="en-US"/>
              <a:t>第五層</a:t>
            </a:r>
          </a:p>
        </p:txBody>
      </p:sp>
      <p:sp>
        <p:nvSpPr>
          <p:cNvPr id="6" name="頁尾版面配置區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zh-TW" altLang="en-US"/>
          </a:p>
        </p:txBody>
      </p:sp>
      <p:sp>
        <p:nvSpPr>
          <p:cNvPr id="7" name="投影片編號版面配置區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EEF453C-EEFB-674B-A1F3-D6AE2C1E7839}" type="slidenum">
              <a:rPr kumimoji="1" lang="zh-TW" altLang="en-US" smtClean="0"/>
              <a:t>‹#›</a:t>
            </a:fld>
            <a:endParaRPr kumimoji="1" lang="zh-TW" altLang="en-US"/>
          </a:p>
        </p:txBody>
      </p:sp>
    </p:spTree>
    <p:extLst>
      <p:ext uri="{BB962C8B-B14F-4D97-AF65-F5344CB8AC3E}">
        <p14:creationId xmlns:p14="http://schemas.microsoft.com/office/powerpoint/2010/main" val="100384041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TW" sz="1200" kern="1200" dirty="0">
                <a:solidFill>
                  <a:schemeClr val="tx1"/>
                </a:solidFill>
                <a:effectLst/>
                <a:latin typeface="+mn-lt"/>
                <a:ea typeface="+mn-ea"/>
                <a:cs typeface="+mn-cs"/>
              </a:rPr>
              <a:t>The performances of the 63 weighting combinations of stock-picking concepts with a weighted scoring approach were obtained by simulating them with Standard and Poor’s </a:t>
            </a:r>
            <a:r>
              <a:rPr lang="en-US" altLang="zh-TW" sz="1200" kern="1200" dirty="0" err="1">
                <a:solidFill>
                  <a:schemeClr val="tx1"/>
                </a:solidFill>
                <a:effectLst/>
                <a:latin typeface="+mn-lt"/>
                <a:ea typeface="+mn-ea"/>
                <a:cs typeface="+mn-cs"/>
              </a:rPr>
              <a:t>Compustat</a:t>
            </a:r>
            <a:r>
              <a:rPr lang="en-US" altLang="zh-TW" sz="1200" kern="1200" dirty="0">
                <a:solidFill>
                  <a:schemeClr val="tx1"/>
                </a:solidFill>
                <a:effectLst/>
                <a:latin typeface="+mn-lt"/>
                <a:ea typeface="+mn-ea"/>
                <a:cs typeface="+mn-cs"/>
              </a:rPr>
              <a:t> US database. Sorted by a weighted scoring approach, the stocks with the top 10 % overall weighted scores are selected to form the investment port- folio. The holding and rebalancing period of the investment portfolio in this study is one-quarter. The </a:t>
            </a:r>
            <a:r>
              <a:rPr lang="en-US" altLang="zh-TW" sz="1200" kern="1200" dirty="0" err="1">
                <a:solidFill>
                  <a:schemeClr val="tx1"/>
                </a:solidFill>
                <a:effectLst/>
                <a:latin typeface="+mn-lt"/>
                <a:ea typeface="+mn-ea"/>
                <a:cs typeface="+mn-cs"/>
              </a:rPr>
              <a:t>backtest</a:t>
            </a:r>
            <a:r>
              <a:rPr lang="en-US" altLang="zh-TW" sz="1200" kern="1200" dirty="0">
                <a:solidFill>
                  <a:schemeClr val="tx1"/>
                </a:solidFill>
                <a:effectLst/>
                <a:latin typeface="+mn-lt"/>
                <a:ea typeface="+mn-ea"/>
                <a:cs typeface="+mn-cs"/>
              </a:rPr>
              <a:t> period includes 80 quarters, from 1990/Q4 to 2010/Q3. Through the </a:t>
            </a:r>
            <a:r>
              <a:rPr lang="en-US" altLang="zh-TW" sz="1200" kern="1200" dirty="0" err="1">
                <a:solidFill>
                  <a:schemeClr val="tx1"/>
                </a:solidFill>
                <a:effectLst/>
                <a:latin typeface="+mn-lt"/>
                <a:ea typeface="+mn-ea"/>
                <a:cs typeface="+mn-cs"/>
              </a:rPr>
              <a:t>backtesting</a:t>
            </a:r>
            <a:r>
              <a:rPr lang="en-US" altLang="zh-TW" sz="1200" kern="1200" dirty="0">
                <a:solidFill>
                  <a:schemeClr val="tx1"/>
                </a:solidFill>
                <a:effectLst/>
                <a:latin typeface="+mn-lt"/>
                <a:ea typeface="+mn-ea"/>
                <a:cs typeface="+mn-cs"/>
              </a:rPr>
              <a:t>, each weighting combination can get 80 quarterly return rates of the portfolio. Six performance indicators can be computed based on these quarterly return rates: the annualized return rate, the excess return rate, the absolute winning rate, the relative winning rate, total risk, and systematic risk. Except for the annualized return rate, the period units of the other five indicators are quarters.</a:t>
            </a:r>
            <a:endParaRPr lang="en-US" altLang="zh-TW" dirty="0"/>
          </a:p>
        </p:txBody>
      </p:sp>
      <p:sp>
        <p:nvSpPr>
          <p:cNvPr id="4" name="投影片編號版面配置區 3"/>
          <p:cNvSpPr>
            <a:spLocks noGrp="1"/>
          </p:cNvSpPr>
          <p:nvPr>
            <p:ph type="sldNum" sz="quarter" idx="10"/>
          </p:nvPr>
        </p:nvSpPr>
        <p:spPr/>
        <p:txBody>
          <a:bodyPr/>
          <a:lstStyle/>
          <a:p>
            <a:fld id="{BEEF453C-EEFB-674B-A1F3-D6AE2C1E7839}" type="slidenum">
              <a:rPr kumimoji="1" lang="zh-TW" altLang="en-US" smtClean="0"/>
              <a:t>4</a:t>
            </a:fld>
            <a:endParaRPr kumimoji="1" lang="zh-TW" altLang="en-US"/>
          </a:p>
        </p:txBody>
      </p:sp>
    </p:spTree>
    <p:extLst>
      <p:ext uri="{BB962C8B-B14F-4D97-AF65-F5344CB8AC3E}">
        <p14:creationId xmlns:p14="http://schemas.microsoft.com/office/powerpoint/2010/main" val="10160521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kumimoji="1" lang="en-US" altLang="zh-TW" dirty="0"/>
              <a:t>http://</a:t>
            </a:r>
            <a:r>
              <a:rPr kumimoji="1" lang="en-US" altLang="zh-TW" dirty="0" err="1"/>
              <a:t>www.moneychimp.com</a:t>
            </a:r>
            <a:r>
              <a:rPr kumimoji="1" lang="en-US" altLang="zh-TW" dirty="0"/>
              <a:t>/articles/risk/</a:t>
            </a:r>
            <a:r>
              <a:rPr kumimoji="1" lang="en-US" altLang="zh-TW" dirty="0" err="1"/>
              <a:t>regression.htm</a:t>
            </a:r>
            <a:endParaRPr kumimoji="1" lang="zh-TW" altLang="en-US" dirty="0"/>
          </a:p>
        </p:txBody>
      </p:sp>
      <p:sp>
        <p:nvSpPr>
          <p:cNvPr id="4" name="投影片編號版面配置區 3"/>
          <p:cNvSpPr>
            <a:spLocks noGrp="1"/>
          </p:cNvSpPr>
          <p:nvPr>
            <p:ph type="sldNum" sz="quarter" idx="10"/>
          </p:nvPr>
        </p:nvSpPr>
        <p:spPr/>
        <p:txBody>
          <a:bodyPr/>
          <a:lstStyle/>
          <a:p>
            <a:fld id="{BEEF453C-EEFB-674B-A1F3-D6AE2C1E7839}" type="slidenum">
              <a:rPr kumimoji="1" lang="zh-TW" altLang="en-US" smtClean="0"/>
              <a:t>6</a:t>
            </a:fld>
            <a:endParaRPr kumimoji="1" lang="zh-TW" altLang="en-US"/>
          </a:p>
        </p:txBody>
      </p:sp>
    </p:spTree>
    <p:extLst>
      <p:ext uri="{BB962C8B-B14F-4D97-AF65-F5344CB8AC3E}">
        <p14:creationId xmlns:p14="http://schemas.microsoft.com/office/powerpoint/2010/main" val="91434088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kumimoji="1" lang="zh-TW" altLang="en-US" dirty="0"/>
          </a:p>
        </p:txBody>
      </p:sp>
      <p:sp>
        <p:nvSpPr>
          <p:cNvPr id="4" name="投影片編號版面配置區 3"/>
          <p:cNvSpPr>
            <a:spLocks noGrp="1"/>
          </p:cNvSpPr>
          <p:nvPr>
            <p:ph type="sldNum" sz="quarter" idx="10"/>
          </p:nvPr>
        </p:nvSpPr>
        <p:spPr/>
        <p:txBody>
          <a:bodyPr/>
          <a:lstStyle/>
          <a:p>
            <a:fld id="{BEEF453C-EEFB-674B-A1F3-D6AE2C1E7839}" type="slidenum">
              <a:rPr kumimoji="1" lang="zh-TW" altLang="en-US" smtClean="0"/>
              <a:t>11</a:t>
            </a:fld>
            <a:endParaRPr kumimoji="1" lang="zh-TW" altLang="en-US"/>
          </a:p>
        </p:txBody>
      </p:sp>
    </p:spTree>
    <p:extLst>
      <p:ext uri="{BB962C8B-B14F-4D97-AF65-F5344CB8AC3E}">
        <p14:creationId xmlns:p14="http://schemas.microsoft.com/office/powerpoint/2010/main" val="209932834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is-IS" altLang="zh-TW" sz="1200" kern="1200" dirty="0">
                <a:solidFill>
                  <a:schemeClr val="tx1"/>
                </a:solidFill>
                <a:effectLst/>
                <a:latin typeface="+mn-lt"/>
                <a:ea typeface="+mn-ea"/>
                <a:cs typeface="+mn-cs"/>
              </a:rPr>
              <a:t>first time frame (1991–1995) </a:t>
            </a:r>
            <a:endParaRPr lang="is-IS" altLang="zh-TW" dirty="0">
              <a:effectLst/>
            </a:endParaRPr>
          </a:p>
          <a:p>
            <a:endParaRPr kumimoji="1" lang="zh-TW" altLang="en-US" dirty="0"/>
          </a:p>
        </p:txBody>
      </p:sp>
      <p:sp>
        <p:nvSpPr>
          <p:cNvPr id="4" name="投影片編號版面配置區 3"/>
          <p:cNvSpPr>
            <a:spLocks noGrp="1"/>
          </p:cNvSpPr>
          <p:nvPr>
            <p:ph type="sldNum" sz="quarter" idx="10"/>
          </p:nvPr>
        </p:nvSpPr>
        <p:spPr/>
        <p:txBody>
          <a:bodyPr/>
          <a:lstStyle/>
          <a:p>
            <a:fld id="{BEEF453C-EEFB-674B-A1F3-D6AE2C1E7839}" type="slidenum">
              <a:rPr kumimoji="1" lang="zh-TW" altLang="en-US" smtClean="0"/>
              <a:t>13</a:t>
            </a:fld>
            <a:endParaRPr kumimoji="1" lang="zh-TW" altLang="en-US"/>
          </a:p>
        </p:txBody>
      </p:sp>
    </p:spTree>
    <p:extLst>
      <p:ext uri="{BB962C8B-B14F-4D97-AF65-F5344CB8AC3E}">
        <p14:creationId xmlns:p14="http://schemas.microsoft.com/office/powerpoint/2010/main" val="120560302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TW" sz="1200" kern="1200" dirty="0">
                <a:solidFill>
                  <a:schemeClr val="tx1"/>
                </a:solidFill>
                <a:effectLst/>
                <a:latin typeface="+mn-lt"/>
                <a:ea typeface="+mn-ea"/>
                <a:cs typeface="+mn-cs"/>
              </a:rPr>
              <a:t>these optimal solutions would be validated by conducting </a:t>
            </a:r>
            <a:r>
              <a:rPr lang="en-US" altLang="zh-TW" sz="1200" kern="1200" dirty="0" err="1">
                <a:solidFill>
                  <a:schemeClr val="tx1"/>
                </a:solidFill>
                <a:effectLst/>
                <a:latin typeface="+mn-lt"/>
                <a:ea typeface="+mn-ea"/>
                <a:cs typeface="+mn-cs"/>
              </a:rPr>
              <a:t>backtesting</a:t>
            </a:r>
            <a:r>
              <a:rPr lang="en-US" altLang="zh-TW" sz="1200" kern="1200" dirty="0">
                <a:solidFill>
                  <a:schemeClr val="tx1"/>
                </a:solidFill>
                <a:effectLst/>
                <a:latin typeface="+mn-lt"/>
                <a:ea typeface="+mn-ea"/>
                <a:cs typeface="+mn-cs"/>
              </a:rPr>
              <a:t> not only with the training period data (1991–1995, totally 5 years) but also with the testing per- </a:t>
            </a:r>
            <a:r>
              <a:rPr lang="en-US" altLang="zh-TW" sz="1200" kern="1200" dirty="0" err="1">
                <a:solidFill>
                  <a:schemeClr val="tx1"/>
                </a:solidFill>
                <a:effectLst/>
                <a:latin typeface="+mn-lt"/>
                <a:ea typeface="+mn-ea"/>
                <a:cs typeface="+mn-cs"/>
              </a:rPr>
              <a:t>iod</a:t>
            </a:r>
            <a:r>
              <a:rPr lang="en-US" altLang="zh-TW" sz="1200" kern="1200" dirty="0">
                <a:solidFill>
                  <a:schemeClr val="tx1"/>
                </a:solidFill>
                <a:effectLst/>
                <a:latin typeface="+mn-lt"/>
                <a:ea typeface="+mn-ea"/>
                <a:cs typeface="+mn-cs"/>
              </a:rPr>
              <a:t> data (1996–2010, total 15 years). </a:t>
            </a:r>
            <a:r>
              <a:rPr lang="en-US" altLang="zh-TW" sz="1200" kern="1200">
                <a:solidFill>
                  <a:schemeClr val="tx1"/>
                </a:solidFill>
                <a:effectLst/>
                <a:latin typeface="+mn-lt"/>
                <a:ea typeface="+mn-ea"/>
                <a:cs typeface="+mn-cs"/>
              </a:rPr>
              <a:t>The performances of Standard and Poor’s 500 were employed as the benchmark. </a:t>
            </a:r>
            <a:endParaRPr lang="en-US" altLang="zh-TW"/>
          </a:p>
          <a:p>
            <a:endParaRPr kumimoji="1" lang="zh-TW" altLang="en-US"/>
          </a:p>
        </p:txBody>
      </p:sp>
      <p:sp>
        <p:nvSpPr>
          <p:cNvPr id="4" name="投影片編號版面配置區 3"/>
          <p:cNvSpPr>
            <a:spLocks noGrp="1"/>
          </p:cNvSpPr>
          <p:nvPr>
            <p:ph type="sldNum" sz="quarter" idx="10"/>
          </p:nvPr>
        </p:nvSpPr>
        <p:spPr/>
        <p:txBody>
          <a:bodyPr/>
          <a:lstStyle/>
          <a:p>
            <a:fld id="{BEEF453C-EEFB-674B-A1F3-D6AE2C1E7839}" type="slidenum">
              <a:rPr kumimoji="1" lang="zh-TW" altLang="en-US" smtClean="0"/>
              <a:t>17</a:t>
            </a:fld>
            <a:endParaRPr kumimoji="1" lang="zh-TW" altLang="en-US"/>
          </a:p>
        </p:txBody>
      </p:sp>
    </p:spTree>
    <p:extLst>
      <p:ext uri="{BB962C8B-B14F-4D97-AF65-F5344CB8AC3E}">
        <p14:creationId xmlns:p14="http://schemas.microsoft.com/office/powerpoint/2010/main" val="58897230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kumimoji="1" lang="en-US" altLang="zh-TW" dirty="0"/>
              <a:t>https://</a:t>
            </a:r>
            <a:r>
              <a:rPr kumimoji="1" lang="en-US" altLang="zh-TW" dirty="0" err="1"/>
              <a:t>hellolynn.hpd.io</a:t>
            </a:r>
            <a:r>
              <a:rPr kumimoji="1" lang="en-US" altLang="zh-TW" dirty="0"/>
              <a:t>/2017/05/29/</a:t>
            </a:r>
            <a:r>
              <a:rPr kumimoji="1" lang="zh-TW" altLang="en-US" dirty="0"/>
              <a:t>十分鐘讀懂投資理財學</a:t>
            </a:r>
            <a:r>
              <a:rPr kumimoji="1" lang="en-US" altLang="zh-TW" dirty="0"/>
              <a:t>-</a:t>
            </a:r>
            <a:r>
              <a:rPr kumimoji="1" lang="zh-TW" altLang="en-US" dirty="0"/>
              <a:t>投資基金一天到晚聽到的</a:t>
            </a:r>
            <a:r>
              <a:rPr kumimoji="1" lang="en-US" altLang="zh-TW" dirty="0"/>
              <a:t>/</a:t>
            </a:r>
            <a:endParaRPr kumimoji="1" lang="zh-TW" altLang="en-US" dirty="0"/>
          </a:p>
        </p:txBody>
      </p:sp>
      <p:sp>
        <p:nvSpPr>
          <p:cNvPr id="4" name="投影片編號版面配置區 3"/>
          <p:cNvSpPr>
            <a:spLocks noGrp="1"/>
          </p:cNvSpPr>
          <p:nvPr>
            <p:ph type="sldNum" sz="quarter" idx="10"/>
          </p:nvPr>
        </p:nvSpPr>
        <p:spPr/>
        <p:txBody>
          <a:bodyPr/>
          <a:lstStyle/>
          <a:p>
            <a:fld id="{BEEF453C-EEFB-674B-A1F3-D6AE2C1E7839}" type="slidenum">
              <a:rPr kumimoji="1" lang="zh-TW" altLang="en-US" smtClean="0"/>
              <a:t>22</a:t>
            </a:fld>
            <a:endParaRPr kumimoji="1" lang="zh-TW" altLang="en-US"/>
          </a:p>
        </p:txBody>
      </p:sp>
    </p:spTree>
    <p:extLst>
      <p:ext uri="{BB962C8B-B14F-4D97-AF65-F5344CB8AC3E}">
        <p14:creationId xmlns:p14="http://schemas.microsoft.com/office/powerpoint/2010/main" val="4051378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xmlns="" id="{039B0FB7-7A0D-4214-BC21-4A96A739D2A8}"/>
              </a:ext>
            </a:extLst>
          </p:cNvPr>
          <p:cNvSpPr>
            <a:spLocks noGrp="1"/>
          </p:cNvSpPr>
          <p:nvPr>
            <p:ph type="ctrTitle"/>
          </p:nvPr>
        </p:nvSpPr>
        <p:spPr>
          <a:xfrm>
            <a:off x="1524000" y="1122363"/>
            <a:ext cx="9144000" cy="2387600"/>
          </a:xfrm>
        </p:spPr>
        <p:txBody>
          <a:bodyPr anchor="b"/>
          <a:lstStyle>
            <a:lvl1pPr algn="ctr">
              <a:defRPr sz="6000"/>
            </a:lvl1pPr>
          </a:lstStyle>
          <a:p>
            <a:r>
              <a:rPr lang="zh-TW" altLang="en-US"/>
              <a:t>按一下以編輯母片標題樣式</a:t>
            </a:r>
          </a:p>
        </p:txBody>
      </p:sp>
      <p:sp>
        <p:nvSpPr>
          <p:cNvPr id="3" name="副標題 2">
            <a:extLst>
              <a:ext uri="{FF2B5EF4-FFF2-40B4-BE49-F238E27FC236}">
                <a16:creationId xmlns:a16="http://schemas.microsoft.com/office/drawing/2014/main" xmlns="" id="{37F31FEC-31C8-4A76-A1F8-A1374E726D4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TW" altLang="en-US"/>
              <a:t>按一下以編輯母片子標題樣式</a:t>
            </a:r>
          </a:p>
        </p:txBody>
      </p:sp>
      <p:sp>
        <p:nvSpPr>
          <p:cNvPr id="4" name="日期版面配置區 3">
            <a:extLst>
              <a:ext uri="{FF2B5EF4-FFF2-40B4-BE49-F238E27FC236}">
                <a16:creationId xmlns:a16="http://schemas.microsoft.com/office/drawing/2014/main" xmlns="" id="{B61E180F-5488-43F4-B84D-C7E666F0AB8E}"/>
              </a:ext>
            </a:extLst>
          </p:cNvPr>
          <p:cNvSpPr>
            <a:spLocks noGrp="1"/>
          </p:cNvSpPr>
          <p:nvPr>
            <p:ph type="dt" sz="half" idx="10"/>
          </p:nvPr>
        </p:nvSpPr>
        <p:spPr/>
        <p:txBody>
          <a:bodyPr/>
          <a:lstStyle/>
          <a:p>
            <a:fld id="{B81B5D84-0AF6-48DD-8BEC-59E8BA88BAA3}" type="datetimeFigureOut">
              <a:rPr lang="zh-TW" altLang="en-US" smtClean="0"/>
              <a:t>2018/1/2</a:t>
            </a:fld>
            <a:endParaRPr lang="zh-TW" altLang="en-US"/>
          </a:p>
        </p:txBody>
      </p:sp>
      <p:sp>
        <p:nvSpPr>
          <p:cNvPr id="5" name="頁尾版面配置區 4">
            <a:extLst>
              <a:ext uri="{FF2B5EF4-FFF2-40B4-BE49-F238E27FC236}">
                <a16:creationId xmlns:a16="http://schemas.microsoft.com/office/drawing/2014/main" xmlns="" id="{993C0B05-808D-4AC2-8649-51C500538467}"/>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xmlns="" id="{ECCD38E4-098C-4724-BE21-8C4F521D9083}"/>
              </a:ext>
            </a:extLst>
          </p:cNvPr>
          <p:cNvSpPr>
            <a:spLocks noGrp="1"/>
          </p:cNvSpPr>
          <p:nvPr>
            <p:ph type="sldNum" sz="quarter" idx="12"/>
          </p:nvPr>
        </p:nvSpPr>
        <p:spPr/>
        <p:txBody>
          <a:bodyPr/>
          <a:lstStyle/>
          <a:p>
            <a:fld id="{7C573913-0DF9-4CE3-9A7F-CB90B64B9AA1}" type="slidenum">
              <a:rPr lang="zh-TW" altLang="en-US" smtClean="0"/>
              <a:t>‹#›</a:t>
            </a:fld>
            <a:endParaRPr lang="zh-TW" altLang="en-US"/>
          </a:p>
        </p:txBody>
      </p:sp>
    </p:spTree>
    <p:extLst>
      <p:ext uri="{BB962C8B-B14F-4D97-AF65-F5344CB8AC3E}">
        <p14:creationId xmlns:p14="http://schemas.microsoft.com/office/powerpoint/2010/main" val="275398752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標題及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xmlns="" id="{7D7D0C70-AA7E-48A4-A1E9-C06D5B6EFCC7}"/>
              </a:ext>
            </a:extLst>
          </p:cNvPr>
          <p:cNvSpPr>
            <a:spLocks noGrp="1"/>
          </p:cNvSpPr>
          <p:nvPr>
            <p:ph type="title"/>
          </p:nvPr>
        </p:nvSpPr>
        <p:spPr/>
        <p:txBody>
          <a:bodyPr/>
          <a:lstStyle/>
          <a:p>
            <a:r>
              <a:rPr lang="zh-TW" altLang="en-US"/>
              <a:t>按一下以編輯母片標題樣式</a:t>
            </a:r>
          </a:p>
        </p:txBody>
      </p:sp>
      <p:sp>
        <p:nvSpPr>
          <p:cNvPr id="3" name="內容版面配置區 2">
            <a:extLst>
              <a:ext uri="{FF2B5EF4-FFF2-40B4-BE49-F238E27FC236}">
                <a16:creationId xmlns:a16="http://schemas.microsoft.com/office/drawing/2014/main" xmlns="" id="{8C2FEEDB-BC5F-4171-8C57-289D4BDC3D75}"/>
              </a:ext>
            </a:extLst>
          </p:cNvPr>
          <p:cNvSpPr>
            <a:spLocks noGrp="1"/>
          </p:cNvSpPr>
          <p:nvPr>
            <p:ph idx="1"/>
          </p:nvPr>
        </p:nvSpPr>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xmlns="" id="{A199E821-2A00-43E7-B808-2A8AFF9A88D4}"/>
              </a:ext>
            </a:extLst>
          </p:cNvPr>
          <p:cNvSpPr>
            <a:spLocks noGrp="1"/>
          </p:cNvSpPr>
          <p:nvPr>
            <p:ph type="dt" sz="half" idx="10"/>
          </p:nvPr>
        </p:nvSpPr>
        <p:spPr/>
        <p:txBody>
          <a:bodyPr/>
          <a:lstStyle/>
          <a:p>
            <a:fld id="{B81B5D84-0AF6-48DD-8BEC-59E8BA88BAA3}" type="datetimeFigureOut">
              <a:rPr lang="zh-TW" altLang="en-US" smtClean="0"/>
              <a:t>2018/1/2</a:t>
            </a:fld>
            <a:endParaRPr lang="zh-TW" altLang="en-US"/>
          </a:p>
        </p:txBody>
      </p:sp>
      <p:sp>
        <p:nvSpPr>
          <p:cNvPr id="5" name="頁尾版面配置區 4">
            <a:extLst>
              <a:ext uri="{FF2B5EF4-FFF2-40B4-BE49-F238E27FC236}">
                <a16:creationId xmlns:a16="http://schemas.microsoft.com/office/drawing/2014/main" xmlns="" id="{CBF4B338-FB86-487E-9540-257B3A922720}"/>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xmlns="" id="{E5CF8D89-9AE9-43F0-980A-F51C224B41CD}"/>
              </a:ext>
            </a:extLst>
          </p:cNvPr>
          <p:cNvSpPr>
            <a:spLocks noGrp="1"/>
          </p:cNvSpPr>
          <p:nvPr>
            <p:ph type="sldNum" sz="quarter" idx="12"/>
          </p:nvPr>
        </p:nvSpPr>
        <p:spPr/>
        <p:txBody>
          <a:bodyPr/>
          <a:lstStyle/>
          <a:p>
            <a:fld id="{7C573913-0DF9-4CE3-9A7F-CB90B64B9AA1}" type="slidenum">
              <a:rPr lang="zh-TW" altLang="en-US" smtClean="0"/>
              <a:t>‹#›</a:t>
            </a:fld>
            <a:endParaRPr lang="zh-TW" altLang="en-US"/>
          </a:p>
        </p:txBody>
      </p:sp>
    </p:spTree>
    <p:extLst>
      <p:ext uri="{BB962C8B-B14F-4D97-AF65-F5344CB8AC3E}">
        <p14:creationId xmlns:p14="http://schemas.microsoft.com/office/powerpoint/2010/main" val="150570675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章節標題">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xmlns="" id="{A46248A4-DE41-4F51-B2B4-8A957898D688}"/>
              </a:ext>
            </a:extLst>
          </p:cNvPr>
          <p:cNvSpPr>
            <a:spLocks noGrp="1"/>
          </p:cNvSpPr>
          <p:nvPr>
            <p:ph type="title"/>
          </p:nvPr>
        </p:nvSpPr>
        <p:spPr>
          <a:xfrm>
            <a:off x="831850" y="1709738"/>
            <a:ext cx="10515600" cy="2852737"/>
          </a:xfrm>
        </p:spPr>
        <p:txBody>
          <a:bodyPr anchor="b"/>
          <a:lstStyle>
            <a:lvl1pPr>
              <a:defRPr sz="6000"/>
            </a:lvl1pPr>
          </a:lstStyle>
          <a:p>
            <a:r>
              <a:rPr lang="zh-TW" altLang="en-US"/>
              <a:t>按一下以編輯母片標題樣式</a:t>
            </a:r>
          </a:p>
        </p:txBody>
      </p:sp>
      <p:sp>
        <p:nvSpPr>
          <p:cNvPr id="3" name="文字版面配置區 2">
            <a:extLst>
              <a:ext uri="{FF2B5EF4-FFF2-40B4-BE49-F238E27FC236}">
                <a16:creationId xmlns:a16="http://schemas.microsoft.com/office/drawing/2014/main" xmlns="" id="{5CB94096-D153-4762-9791-4D8B33DDFEC9}"/>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TW" altLang="en-US"/>
              <a:t>編輯母片文字樣式</a:t>
            </a:r>
          </a:p>
        </p:txBody>
      </p:sp>
      <p:sp>
        <p:nvSpPr>
          <p:cNvPr id="4" name="日期版面配置區 3">
            <a:extLst>
              <a:ext uri="{FF2B5EF4-FFF2-40B4-BE49-F238E27FC236}">
                <a16:creationId xmlns:a16="http://schemas.microsoft.com/office/drawing/2014/main" xmlns="" id="{9F059EE7-A7FB-4945-904F-A46133ED57A8}"/>
              </a:ext>
            </a:extLst>
          </p:cNvPr>
          <p:cNvSpPr>
            <a:spLocks noGrp="1"/>
          </p:cNvSpPr>
          <p:nvPr>
            <p:ph type="dt" sz="half" idx="10"/>
          </p:nvPr>
        </p:nvSpPr>
        <p:spPr/>
        <p:txBody>
          <a:bodyPr/>
          <a:lstStyle/>
          <a:p>
            <a:fld id="{B81B5D84-0AF6-48DD-8BEC-59E8BA88BAA3}" type="datetimeFigureOut">
              <a:rPr lang="zh-TW" altLang="en-US" smtClean="0"/>
              <a:t>2018/1/2</a:t>
            </a:fld>
            <a:endParaRPr lang="zh-TW" altLang="en-US"/>
          </a:p>
        </p:txBody>
      </p:sp>
      <p:sp>
        <p:nvSpPr>
          <p:cNvPr id="5" name="頁尾版面配置區 4">
            <a:extLst>
              <a:ext uri="{FF2B5EF4-FFF2-40B4-BE49-F238E27FC236}">
                <a16:creationId xmlns:a16="http://schemas.microsoft.com/office/drawing/2014/main" xmlns="" id="{54D2D8B4-4E53-423C-9273-4759804972F3}"/>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xmlns="" id="{9A8D418C-C483-43D9-A04C-A2707EF62737}"/>
              </a:ext>
            </a:extLst>
          </p:cNvPr>
          <p:cNvSpPr>
            <a:spLocks noGrp="1"/>
          </p:cNvSpPr>
          <p:nvPr>
            <p:ph type="sldNum" sz="quarter" idx="12"/>
          </p:nvPr>
        </p:nvSpPr>
        <p:spPr/>
        <p:txBody>
          <a:bodyPr/>
          <a:lstStyle/>
          <a:p>
            <a:fld id="{7C573913-0DF9-4CE3-9A7F-CB90B64B9AA1}" type="slidenum">
              <a:rPr lang="zh-TW" altLang="en-US" smtClean="0"/>
              <a:t>‹#›</a:t>
            </a:fld>
            <a:endParaRPr lang="zh-TW" altLang="en-US"/>
          </a:p>
        </p:txBody>
      </p:sp>
    </p:spTree>
    <p:extLst>
      <p:ext uri="{BB962C8B-B14F-4D97-AF65-F5344CB8AC3E}">
        <p14:creationId xmlns:p14="http://schemas.microsoft.com/office/powerpoint/2010/main" val="407258287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兩個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xmlns="" id="{B1BA4D34-0A15-4BC9-ACB5-1C40508B0979}"/>
              </a:ext>
            </a:extLst>
          </p:cNvPr>
          <p:cNvSpPr>
            <a:spLocks noGrp="1"/>
          </p:cNvSpPr>
          <p:nvPr>
            <p:ph type="title"/>
          </p:nvPr>
        </p:nvSpPr>
        <p:spPr/>
        <p:txBody>
          <a:bodyPr/>
          <a:lstStyle/>
          <a:p>
            <a:r>
              <a:rPr lang="zh-TW" altLang="en-US"/>
              <a:t>按一下以編輯母片標題樣式</a:t>
            </a:r>
          </a:p>
        </p:txBody>
      </p:sp>
      <p:sp>
        <p:nvSpPr>
          <p:cNvPr id="3" name="內容版面配置區 2">
            <a:extLst>
              <a:ext uri="{FF2B5EF4-FFF2-40B4-BE49-F238E27FC236}">
                <a16:creationId xmlns:a16="http://schemas.microsoft.com/office/drawing/2014/main" xmlns="" id="{DB0B5625-9B49-4E0F-9ED2-4228BCF3F95A}"/>
              </a:ext>
            </a:extLst>
          </p:cNvPr>
          <p:cNvSpPr>
            <a:spLocks noGrp="1"/>
          </p:cNvSpPr>
          <p:nvPr>
            <p:ph sz="half" idx="1"/>
          </p:nvPr>
        </p:nvSpPr>
        <p:spPr>
          <a:xfrm>
            <a:off x="838200" y="1825625"/>
            <a:ext cx="5181600" cy="435133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內容版面配置區 3">
            <a:extLst>
              <a:ext uri="{FF2B5EF4-FFF2-40B4-BE49-F238E27FC236}">
                <a16:creationId xmlns:a16="http://schemas.microsoft.com/office/drawing/2014/main" xmlns="" id="{0B7392EB-C9C4-4E07-87D3-4748272CE2A3}"/>
              </a:ext>
            </a:extLst>
          </p:cNvPr>
          <p:cNvSpPr>
            <a:spLocks noGrp="1"/>
          </p:cNvSpPr>
          <p:nvPr>
            <p:ph sz="half" idx="2"/>
          </p:nvPr>
        </p:nvSpPr>
        <p:spPr>
          <a:xfrm>
            <a:off x="6172200" y="1825625"/>
            <a:ext cx="5181600" cy="435133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日期版面配置區 4">
            <a:extLst>
              <a:ext uri="{FF2B5EF4-FFF2-40B4-BE49-F238E27FC236}">
                <a16:creationId xmlns:a16="http://schemas.microsoft.com/office/drawing/2014/main" xmlns="" id="{142D13C6-C1CE-419A-9060-6B09176D02AB}"/>
              </a:ext>
            </a:extLst>
          </p:cNvPr>
          <p:cNvSpPr>
            <a:spLocks noGrp="1"/>
          </p:cNvSpPr>
          <p:nvPr>
            <p:ph type="dt" sz="half" idx="10"/>
          </p:nvPr>
        </p:nvSpPr>
        <p:spPr/>
        <p:txBody>
          <a:bodyPr/>
          <a:lstStyle/>
          <a:p>
            <a:fld id="{B81B5D84-0AF6-48DD-8BEC-59E8BA88BAA3}" type="datetimeFigureOut">
              <a:rPr lang="zh-TW" altLang="en-US" smtClean="0"/>
              <a:t>2018/1/2</a:t>
            </a:fld>
            <a:endParaRPr lang="zh-TW" altLang="en-US"/>
          </a:p>
        </p:txBody>
      </p:sp>
      <p:sp>
        <p:nvSpPr>
          <p:cNvPr id="6" name="頁尾版面配置區 5">
            <a:extLst>
              <a:ext uri="{FF2B5EF4-FFF2-40B4-BE49-F238E27FC236}">
                <a16:creationId xmlns:a16="http://schemas.microsoft.com/office/drawing/2014/main" xmlns="" id="{465A05C7-E78C-4D99-9947-EED7C72309CC}"/>
              </a:ext>
            </a:extLst>
          </p:cNvPr>
          <p:cNvSpPr>
            <a:spLocks noGrp="1"/>
          </p:cNvSpPr>
          <p:nvPr>
            <p:ph type="ftr" sz="quarter" idx="11"/>
          </p:nvPr>
        </p:nvSpPr>
        <p:spPr/>
        <p:txBody>
          <a:bodyPr/>
          <a:lstStyle/>
          <a:p>
            <a:endParaRPr lang="zh-TW" altLang="en-US"/>
          </a:p>
        </p:txBody>
      </p:sp>
      <p:sp>
        <p:nvSpPr>
          <p:cNvPr id="7" name="投影片編號版面配置區 6">
            <a:extLst>
              <a:ext uri="{FF2B5EF4-FFF2-40B4-BE49-F238E27FC236}">
                <a16:creationId xmlns:a16="http://schemas.microsoft.com/office/drawing/2014/main" xmlns="" id="{06D127DC-3C01-4727-9FD1-6C3D493E88C1}"/>
              </a:ext>
            </a:extLst>
          </p:cNvPr>
          <p:cNvSpPr>
            <a:spLocks noGrp="1"/>
          </p:cNvSpPr>
          <p:nvPr>
            <p:ph type="sldNum" sz="quarter" idx="12"/>
          </p:nvPr>
        </p:nvSpPr>
        <p:spPr/>
        <p:txBody>
          <a:bodyPr/>
          <a:lstStyle/>
          <a:p>
            <a:fld id="{7C573913-0DF9-4CE3-9A7F-CB90B64B9AA1}" type="slidenum">
              <a:rPr lang="zh-TW" altLang="en-US" smtClean="0"/>
              <a:t>‹#›</a:t>
            </a:fld>
            <a:endParaRPr lang="zh-TW" altLang="en-US"/>
          </a:p>
        </p:txBody>
      </p:sp>
    </p:spTree>
    <p:extLst>
      <p:ext uri="{BB962C8B-B14F-4D97-AF65-F5344CB8AC3E}">
        <p14:creationId xmlns:p14="http://schemas.microsoft.com/office/powerpoint/2010/main" val="312760690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對">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xmlns="" id="{272E3E7D-8671-4793-BFC3-4AFA4F244133}"/>
              </a:ext>
            </a:extLst>
          </p:cNvPr>
          <p:cNvSpPr>
            <a:spLocks noGrp="1"/>
          </p:cNvSpPr>
          <p:nvPr>
            <p:ph type="title"/>
          </p:nvPr>
        </p:nvSpPr>
        <p:spPr>
          <a:xfrm>
            <a:off x="839788" y="365125"/>
            <a:ext cx="10515600" cy="1325563"/>
          </a:xfrm>
        </p:spPr>
        <p:txBody>
          <a:bodyPr/>
          <a:lstStyle/>
          <a:p>
            <a:r>
              <a:rPr lang="zh-TW" altLang="en-US"/>
              <a:t>按一下以編輯母片標題樣式</a:t>
            </a:r>
          </a:p>
        </p:txBody>
      </p:sp>
      <p:sp>
        <p:nvSpPr>
          <p:cNvPr id="3" name="文字版面配置區 2">
            <a:extLst>
              <a:ext uri="{FF2B5EF4-FFF2-40B4-BE49-F238E27FC236}">
                <a16:creationId xmlns:a16="http://schemas.microsoft.com/office/drawing/2014/main" xmlns="" id="{69B0570B-8819-43F1-9761-B9CD24CFC42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編輯母片文字樣式</a:t>
            </a:r>
          </a:p>
        </p:txBody>
      </p:sp>
      <p:sp>
        <p:nvSpPr>
          <p:cNvPr id="4" name="內容版面配置區 3">
            <a:extLst>
              <a:ext uri="{FF2B5EF4-FFF2-40B4-BE49-F238E27FC236}">
                <a16:creationId xmlns:a16="http://schemas.microsoft.com/office/drawing/2014/main" xmlns="" id="{16110757-140B-400A-97A6-8452B7E7D32F}"/>
              </a:ext>
            </a:extLst>
          </p:cNvPr>
          <p:cNvSpPr>
            <a:spLocks noGrp="1"/>
          </p:cNvSpPr>
          <p:nvPr>
            <p:ph sz="half" idx="2"/>
          </p:nvPr>
        </p:nvSpPr>
        <p:spPr>
          <a:xfrm>
            <a:off x="839788" y="2505075"/>
            <a:ext cx="5157787" cy="368458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文字版面配置區 4">
            <a:extLst>
              <a:ext uri="{FF2B5EF4-FFF2-40B4-BE49-F238E27FC236}">
                <a16:creationId xmlns:a16="http://schemas.microsoft.com/office/drawing/2014/main" xmlns="" id="{52A39D12-3EBD-4DE1-BFDD-DA718B3550B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編輯母片文字樣式</a:t>
            </a:r>
          </a:p>
        </p:txBody>
      </p:sp>
      <p:sp>
        <p:nvSpPr>
          <p:cNvPr id="6" name="內容版面配置區 5">
            <a:extLst>
              <a:ext uri="{FF2B5EF4-FFF2-40B4-BE49-F238E27FC236}">
                <a16:creationId xmlns:a16="http://schemas.microsoft.com/office/drawing/2014/main" xmlns="" id="{779CBC70-047D-4041-970F-CA343D91FC2F}"/>
              </a:ext>
            </a:extLst>
          </p:cNvPr>
          <p:cNvSpPr>
            <a:spLocks noGrp="1"/>
          </p:cNvSpPr>
          <p:nvPr>
            <p:ph sz="quarter" idx="4"/>
          </p:nvPr>
        </p:nvSpPr>
        <p:spPr>
          <a:xfrm>
            <a:off x="6172200" y="2505075"/>
            <a:ext cx="5183188" cy="368458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7" name="日期版面配置區 6">
            <a:extLst>
              <a:ext uri="{FF2B5EF4-FFF2-40B4-BE49-F238E27FC236}">
                <a16:creationId xmlns:a16="http://schemas.microsoft.com/office/drawing/2014/main" xmlns="" id="{548037EE-F856-411A-BF40-0D27EA58F2C6}"/>
              </a:ext>
            </a:extLst>
          </p:cNvPr>
          <p:cNvSpPr>
            <a:spLocks noGrp="1"/>
          </p:cNvSpPr>
          <p:nvPr>
            <p:ph type="dt" sz="half" idx="10"/>
          </p:nvPr>
        </p:nvSpPr>
        <p:spPr/>
        <p:txBody>
          <a:bodyPr/>
          <a:lstStyle/>
          <a:p>
            <a:fld id="{B81B5D84-0AF6-48DD-8BEC-59E8BA88BAA3}" type="datetimeFigureOut">
              <a:rPr lang="zh-TW" altLang="en-US" smtClean="0"/>
              <a:t>2018/1/2</a:t>
            </a:fld>
            <a:endParaRPr lang="zh-TW" altLang="en-US"/>
          </a:p>
        </p:txBody>
      </p:sp>
      <p:sp>
        <p:nvSpPr>
          <p:cNvPr id="8" name="頁尾版面配置區 7">
            <a:extLst>
              <a:ext uri="{FF2B5EF4-FFF2-40B4-BE49-F238E27FC236}">
                <a16:creationId xmlns:a16="http://schemas.microsoft.com/office/drawing/2014/main" xmlns="" id="{7A0D5C09-2B3D-4E48-A6C7-D4FD531E7578}"/>
              </a:ext>
            </a:extLst>
          </p:cNvPr>
          <p:cNvSpPr>
            <a:spLocks noGrp="1"/>
          </p:cNvSpPr>
          <p:nvPr>
            <p:ph type="ftr" sz="quarter" idx="11"/>
          </p:nvPr>
        </p:nvSpPr>
        <p:spPr/>
        <p:txBody>
          <a:bodyPr/>
          <a:lstStyle/>
          <a:p>
            <a:endParaRPr lang="zh-TW" altLang="en-US"/>
          </a:p>
        </p:txBody>
      </p:sp>
      <p:sp>
        <p:nvSpPr>
          <p:cNvPr id="9" name="投影片編號版面配置區 8">
            <a:extLst>
              <a:ext uri="{FF2B5EF4-FFF2-40B4-BE49-F238E27FC236}">
                <a16:creationId xmlns:a16="http://schemas.microsoft.com/office/drawing/2014/main" xmlns="" id="{C506B0AC-F8C8-48A5-BFD2-E658CA6E342C}"/>
              </a:ext>
            </a:extLst>
          </p:cNvPr>
          <p:cNvSpPr>
            <a:spLocks noGrp="1"/>
          </p:cNvSpPr>
          <p:nvPr>
            <p:ph type="sldNum" sz="quarter" idx="12"/>
          </p:nvPr>
        </p:nvSpPr>
        <p:spPr/>
        <p:txBody>
          <a:bodyPr/>
          <a:lstStyle/>
          <a:p>
            <a:fld id="{7C573913-0DF9-4CE3-9A7F-CB90B64B9AA1}" type="slidenum">
              <a:rPr lang="zh-TW" altLang="en-US" smtClean="0"/>
              <a:t>‹#›</a:t>
            </a:fld>
            <a:endParaRPr lang="zh-TW" altLang="en-US"/>
          </a:p>
        </p:txBody>
      </p:sp>
    </p:spTree>
    <p:extLst>
      <p:ext uri="{BB962C8B-B14F-4D97-AF65-F5344CB8AC3E}">
        <p14:creationId xmlns:p14="http://schemas.microsoft.com/office/powerpoint/2010/main" val="70645285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xmlns="" id="{DF84FEA5-F731-4450-A58F-E19A7471E565}"/>
              </a:ext>
            </a:extLst>
          </p:cNvPr>
          <p:cNvSpPr>
            <a:spLocks noGrp="1"/>
          </p:cNvSpPr>
          <p:nvPr>
            <p:ph type="title"/>
          </p:nvPr>
        </p:nvSpPr>
        <p:spPr/>
        <p:txBody>
          <a:bodyPr/>
          <a:lstStyle/>
          <a:p>
            <a:r>
              <a:rPr lang="zh-TW" altLang="en-US"/>
              <a:t>按一下以編輯母片標題樣式</a:t>
            </a:r>
          </a:p>
        </p:txBody>
      </p:sp>
      <p:sp>
        <p:nvSpPr>
          <p:cNvPr id="3" name="日期版面配置區 2">
            <a:extLst>
              <a:ext uri="{FF2B5EF4-FFF2-40B4-BE49-F238E27FC236}">
                <a16:creationId xmlns:a16="http://schemas.microsoft.com/office/drawing/2014/main" xmlns="" id="{9C8B711A-C7FD-4CC4-9827-1BE71E4269B6}"/>
              </a:ext>
            </a:extLst>
          </p:cNvPr>
          <p:cNvSpPr>
            <a:spLocks noGrp="1"/>
          </p:cNvSpPr>
          <p:nvPr>
            <p:ph type="dt" sz="half" idx="10"/>
          </p:nvPr>
        </p:nvSpPr>
        <p:spPr/>
        <p:txBody>
          <a:bodyPr/>
          <a:lstStyle/>
          <a:p>
            <a:fld id="{B81B5D84-0AF6-48DD-8BEC-59E8BA88BAA3}" type="datetimeFigureOut">
              <a:rPr lang="zh-TW" altLang="en-US" smtClean="0"/>
              <a:t>2018/1/2</a:t>
            </a:fld>
            <a:endParaRPr lang="zh-TW" altLang="en-US"/>
          </a:p>
        </p:txBody>
      </p:sp>
      <p:sp>
        <p:nvSpPr>
          <p:cNvPr id="4" name="頁尾版面配置區 3">
            <a:extLst>
              <a:ext uri="{FF2B5EF4-FFF2-40B4-BE49-F238E27FC236}">
                <a16:creationId xmlns:a16="http://schemas.microsoft.com/office/drawing/2014/main" xmlns="" id="{7D29115D-838C-461C-802F-3AD9121CA236}"/>
              </a:ext>
            </a:extLst>
          </p:cNvPr>
          <p:cNvSpPr>
            <a:spLocks noGrp="1"/>
          </p:cNvSpPr>
          <p:nvPr>
            <p:ph type="ftr" sz="quarter" idx="11"/>
          </p:nvPr>
        </p:nvSpPr>
        <p:spPr/>
        <p:txBody>
          <a:bodyPr/>
          <a:lstStyle/>
          <a:p>
            <a:endParaRPr lang="zh-TW" altLang="en-US"/>
          </a:p>
        </p:txBody>
      </p:sp>
      <p:sp>
        <p:nvSpPr>
          <p:cNvPr id="5" name="投影片編號版面配置區 4">
            <a:extLst>
              <a:ext uri="{FF2B5EF4-FFF2-40B4-BE49-F238E27FC236}">
                <a16:creationId xmlns:a16="http://schemas.microsoft.com/office/drawing/2014/main" xmlns="" id="{50462F79-3167-4168-BCA6-734E19E97F49}"/>
              </a:ext>
            </a:extLst>
          </p:cNvPr>
          <p:cNvSpPr>
            <a:spLocks noGrp="1"/>
          </p:cNvSpPr>
          <p:nvPr>
            <p:ph type="sldNum" sz="quarter" idx="12"/>
          </p:nvPr>
        </p:nvSpPr>
        <p:spPr/>
        <p:txBody>
          <a:bodyPr/>
          <a:lstStyle/>
          <a:p>
            <a:fld id="{7C573913-0DF9-4CE3-9A7F-CB90B64B9AA1}" type="slidenum">
              <a:rPr lang="zh-TW" altLang="en-US" smtClean="0"/>
              <a:t>‹#›</a:t>
            </a:fld>
            <a:endParaRPr lang="zh-TW" altLang="en-US"/>
          </a:p>
        </p:txBody>
      </p:sp>
    </p:spTree>
    <p:extLst>
      <p:ext uri="{BB962C8B-B14F-4D97-AF65-F5344CB8AC3E}">
        <p14:creationId xmlns:p14="http://schemas.microsoft.com/office/powerpoint/2010/main" val="224759981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版面配置區 1">
            <a:extLst>
              <a:ext uri="{FF2B5EF4-FFF2-40B4-BE49-F238E27FC236}">
                <a16:creationId xmlns:a16="http://schemas.microsoft.com/office/drawing/2014/main" xmlns="" id="{F2F6B63B-3A6F-4B84-ADAC-D3FC4856FB96}"/>
              </a:ext>
            </a:extLst>
          </p:cNvPr>
          <p:cNvSpPr>
            <a:spLocks noGrp="1"/>
          </p:cNvSpPr>
          <p:nvPr>
            <p:ph type="dt" sz="half" idx="10"/>
          </p:nvPr>
        </p:nvSpPr>
        <p:spPr/>
        <p:txBody>
          <a:bodyPr/>
          <a:lstStyle/>
          <a:p>
            <a:fld id="{B81B5D84-0AF6-48DD-8BEC-59E8BA88BAA3}" type="datetimeFigureOut">
              <a:rPr lang="zh-TW" altLang="en-US" smtClean="0"/>
              <a:t>2018/1/2</a:t>
            </a:fld>
            <a:endParaRPr lang="zh-TW" altLang="en-US"/>
          </a:p>
        </p:txBody>
      </p:sp>
      <p:sp>
        <p:nvSpPr>
          <p:cNvPr id="3" name="頁尾版面配置區 2">
            <a:extLst>
              <a:ext uri="{FF2B5EF4-FFF2-40B4-BE49-F238E27FC236}">
                <a16:creationId xmlns:a16="http://schemas.microsoft.com/office/drawing/2014/main" xmlns="" id="{BDF70E27-BAEE-48FE-B78E-65FF7208AD2E}"/>
              </a:ext>
            </a:extLst>
          </p:cNvPr>
          <p:cNvSpPr>
            <a:spLocks noGrp="1"/>
          </p:cNvSpPr>
          <p:nvPr>
            <p:ph type="ftr" sz="quarter" idx="11"/>
          </p:nvPr>
        </p:nvSpPr>
        <p:spPr/>
        <p:txBody>
          <a:bodyPr/>
          <a:lstStyle/>
          <a:p>
            <a:endParaRPr lang="zh-TW" altLang="en-US"/>
          </a:p>
        </p:txBody>
      </p:sp>
      <p:sp>
        <p:nvSpPr>
          <p:cNvPr id="4" name="投影片編號版面配置區 3">
            <a:extLst>
              <a:ext uri="{FF2B5EF4-FFF2-40B4-BE49-F238E27FC236}">
                <a16:creationId xmlns:a16="http://schemas.microsoft.com/office/drawing/2014/main" xmlns="" id="{DFE0BC92-B1B9-4C33-9D1C-876BDC0112A7}"/>
              </a:ext>
            </a:extLst>
          </p:cNvPr>
          <p:cNvSpPr>
            <a:spLocks noGrp="1"/>
          </p:cNvSpPr>
          <p:nvPr>
            <p:ph type="sldNum" sz="quarter" idx="12"/>
          </p:nvPr>
        </p:nvSpPr>
        <p:spPr/>
        <p:txBody>
          <a:bodyPr/>
          <a:lstStyle/>
          <a:p>
            <a:fld id="{7C573913-0DF9-4CE3-9A7F-CB90B64B9AA1}" type="slidenum">
              <a:rPr lang="zh-TW" altLang="en-US" smtClean="0"/>
              <a:t>‹#›</a:t>
            </a:fld>
            <a:endParaRPr lang="zh-TW" altLang="en-US"/>
          </a:p>
        </p:txBody>
      </p:sp>
    </p:spTree>
    <p:extLst>
      <p:ext uri="{BB962C8B-B14F-4D97-AF65-F5344CB8AC3E}">
        <p14:creationId xmlns:p14="http://schemas.microsoft.com/office/powerpoint/2010/main" val="85519578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含標題的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xmlns="" id="{EB4DBDBB-8AEB-4305-B699-034D51EB5AA5}"/>
              </a:ext>
            </a:extLst>
          </p:cNvPr>
          <p:cNvSpPr>
            <a:spLocks noGrp="1"/>
          </p:cNvSpPr>
          <p:nvPr>
            <p:ph type="title"/>
          </p:nvPr>
        </p:nvSpPr>
        <p:spPr>
          <a:xfrm>
            <a:off x="839788" y="457200"/>
            <a:ext cx="3932237" cy="1600200"/>
          </a:xfrm>
        </p:spPr>
        <p:txBody>
          <a:bodyPr anchor="b"/>
          <a:lstStyle>
            <a:lvl1pPr>
              <a:defRPr sz="3200"/>
            </a:lvl1pPr>
          </a:lstStyle>
          <a:p>
            <a:r>
              <a:rPr lang="zh-TW" altLang="en-US"/>
              <a:t>按一下以編輯母片標題樣式</a:t>
            </a:r>
          </a:p>
        </p:txBody>
      </p:sp>
      <p:sp>
        <p:nvSpPr>
          <p:cNvPr id="3" name="內容版面配置區 2">
            <a:extLst>
              <a:ext uri="{FF2B5EF4-FFF2-40B4-BE49-F238E27FC236}">
                <a16:creationId xmlns:a16="http://schemas.microsoft.com/office/drawing/2014/main" xmlns="" id="{C5C0CE85-7BCD-4E24-B64D-477E434B803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文字版面配置區 3">
            <a:extLst>
              <a:ext uri="{FF2B5EF4-FFF2-40B4-BE49-F238E27FC236}">
                <a16:creationId xmlns:a16="http://schemas.microsoft.com/office/drawing/2014/main" xmlns="" id="{94A5E09A-5F85-4712-829C-C84C7DC42E1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編輯母片文字樣式</a:t>
            </a:r>
          </a:p>
        </p:txBody>
      </p:sp>
      <p:sp>
        <p:nvSpPr>
          <p:cNvPr id="5" name="日期版面配置區 4">
            <a:extLst>
              <a:ext uri="{FF2B5EF4-FFF2-40B4-BE49-F238E27FC236}">
                <a16:creationId xmlns:a16="http://schemas.microsoft.com/office/drawing/2014/main" xmlns="" id="{930D2B91-E152-4277-A636-E9FA7C49594A}"/>
              </a:ext>
            </a:extLst>
          </p:cNvPr>
          <p:cNvSpPr>
            <a:spLocks noGrp="1"/>
          </p:cNvSpPr>
          <p:nvPr>
            <p:ph type="dt" sz="half" idx="10"/>
          </p:nvPr>
        </p:nvSpPr>
        <p:spPr/>
        <p:txBody>
          <a:bodyPr/>
          <a:lstStyle/>
          <a:p>
            <a:fld id="{B81B5D84-0AF6-48DD-8BEC-59E8BA88BAA3}" type="datetimeFigureOut">
              <a:rPr lang="zh-TW" altLang="en-US" smtClean="0"/>
              <a:t>2018/1/2</a:t>
            </a:fld>
            <a:endParaRPr lang="zh-TW" altLang="en-US"/>
          </a:p>
        </p:txBody>
      </p:sp>
      <p:sp>
        <p:nvSpPr>
          <p:cNvPr id="6" name="頁尾版面配置區 5">
            <a:extLst>
              <a:ext uri="{FF2B5EF4-FFF2-40B4-BE49-F238E27FC236}">
                <a16:creationId xmlns:a16="http://schemas.microsoft.com/office/drawing/2014/main" xmlns="" id="{8115E59E-28C1-456B-BC32-15DA04774087}"/>
              </a:ext>
            </a:extLst>
          </p:cNvPr>
          <p:cNvSpPr>
            <a:spLocks noGrp="1"/>
          </p:cNvSpPr>
          <p:nvPr>
            <p:ph type="ftr" sz="quarter" idx="11"/>
          </p:nvPr>
        </p:nvSpPr>
        <p:spPr/>
        <p:txBody>
          <a:bodyPr/>
          <a:lstStyle/>
          <a:p>
            <a:endParaRPr lang="zh-TW" altLang="en-US"/>
          </a:p>
        </p:txBody>
      </p:sp>
      <p:sp>
        <p:nvSpPr>
          <p:cNvPr id="7" name="投影片編號版面配置區 6">
            <a:extLst>
              <a:ext uri="{FF2B5EF4-FFF2-40B4-BE49-F238E27FC236}">
                <a16:creationId xmlns:a16="http://schemas.microsoft.com/office/drawing/2014/main" xmlns="" id="{B947337C-2FAC-4F51-9FB6-20175D75E486}"/>
              </a:ext>
            </a:extLst>
          </p:cNvPr>
          <p:cNvSpPr>
            <a:spLocks noGrp="1"/>
          </p:cNvSpPr>
          <p:nvPr>
            <p:ph type="sldNum" sz="quarter" idx="12"/>
          </p:nvPr>
        </p:nvSpPr>
        <p:spPr/>
        <p:txBody>
          <a:bodyPr/>
          <a:lstStyle/>
          <a:p>
            <a:fld id="{7C573913-0DF9-4CE3-9A7F-CB90B64B9AA1}" type="slidenum">
              <a:rPr lang="zh-TW" altLang="en-US" smtClean="0"/>
              <a:t>‹#›</a:t>
            </a:fld>
            <a:endParaRPr lang="zh-TW" altLang="en-US"/>
          </a:p>
        </p:txBody>
      </p:sp>
    </p:spTree>
    <p:extLst>
      <p:ext uri="{BB962C8B-B14F-4D97-AF65-F5344CB8AC3E}">
        <p14:creationId xmlns:p14="http://schemas.microsoft.com/office/powerpoint/2010/main" val="351421057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含標題的圖片">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xmlns="" id="{2758CB50-077D-4B3F-9B68-9155DBBC85FD}"/>
              </a:ext>
            </a:extLst>
          </p:cNvPr>
          <p:cNvSpPr>
            <a:spLocks noGrp="1"/>
          </p:cNvSpPr>
          <p:nvPr>
            <p:ph type="title"/>
          </p:nvPr>
        </p:nvSpPr>
        <p:spPr>
          <a:xfrm>
            <a:off x="839788" y="457200"/>
            <a:ext cx="3932237" cy="1600200"/>
          </a:xfrm>
        </p:spPr>
        <p:txBody>
          <a:bodyPr anchor="b"/>
          <a:lstStyle>
            <a:lvl1pPr>
              <a:defRPr sz="3200"/>
            </a:lvl1pPr>
          </a:lstStyle>
          <a:p>
            <a:r>
              <a:rPr lang="zh-TW" altLang="en-US"/>
              <a:t>按一下以編輯母片標題樣式</a:t>
            </a:r>
          </a:p>
        </p:txBody>
      </p:sp>
      <p:sp>
        <p:nvSpPr>
          <p:cNvPr id="3" name="圖片版面配置區 2">
            <a:extLst>
              <a:ext uri="{FF2B5EF4-FFF2-40B4-BE49-F238E27FC236}">
                <a16:creationId xmlns:a16="http://schemas.microsoft.com/office/drawing/2014/main" xmlns="" id="{8EA97956-3A83-4C7F-A675-ADCB669BBD7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TW" altLang="en-US"/>
          </a:p>
        </p:txBody>
      </p:sp>
      <p:sp>
        <p:nvSpPr>
          <p:cNvPr id="4" name="文字版面配置區 3">
            <a:extLst>
              <a:ext uri="{FF2B5EF4-FFF2-40B4-BE49-F238E27FC236}">
                <a16:creationId xmlns:a16="http://schemas.microsoft.com/office/drawing/2014/main" xmlns="" id="{28193B1C-5192-4FD5-BB94-976274765CB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編輯母片文字樣式</a:t>
            </a:r>
          </a:p>
        </p:txBody>
      </p:sp>
      <p:sp>
        <p:nvSpPr>
          <p:cNvPr id="5" name="日期版面配置區 4">
            <a:extLst>
              <a:ext uri="{FF2B5EF4-FFF2-40B4-BE49-F238E27FC236}">
                <a16:creationId xmlns:a16="http://schemas.microsoft.com/office/drawing/2014/main" xmlns="" id="{A4589F2E-3BCB-4D5C-B84D-3DB3590C7322}"/>
              </a:ext>
            </a:extLst>
          </p:cNvPr>
          <p:cNvSpPr>
            <a:spLocks noGrp="1"/>
          </p:cNvSpPr>
          <p:nvPr>
            <p:ph type="dt" sz="half" idx="10"/>
          </p:nvPr>
        </p:nvSpPr>
        <p:spPr/>
        <p:txBody>
          <a:bodyPr/>
          <a:lstStyle/>
          <a:p>
            <a:fld id="{B81B5D84-0AF6-48DD-8BEC-59E8BA88BAA3}" type="datetimeFigureOut">
              <a:rPr lang="zh-TW" altLang="en-US" smtClean="0"/>
              <a:t>2018/1/2</a:t>
            </a:fld>
            <a:endParaRPr lang="zh-TW" altLang="en-US"/>
          </a:p>
        </p:txBody>
      </p:sp>
      <p:sp>
        <p:nvSpPr>
          <p:cNvPr id="6" name="頁尾版面配置區 5">
            <a:extLst>
              <a:ext uri="{FF2B5EF4-FFF2-40B4-BE49-F238E27FC236}">
                <a16:creationId xmlns:a16="http://schemas.microsoft.com/office/drawing/2014/main" xmlns="" id="{AFEF8DA8-6950-44BC-B818-F4A248E6A8E6}"/>
              </a:ext>
            </a:extLst>
          </p:cNvPr>
          <p:cNvSpPr>
            <a:spLocks noGrp="1"/>
          </p:cNvSpPr>
          <p:nvPr>
            <p:ph type="ftr" sz="quarter" idx="11"/>
          </p:nvPr>
        </p:nvSpPr>
        <p:spPr/>
        <p:txBody>
          <a:bodyPr/>
          <a:lstStyle/>
          <a:p>
            <a:endParaRPr lang="zh-TW" altLang="en-US"/>
          </a:p>
        </p:txBody>
      </p:sp>
      <p:sp>
        <p:nvSpPr>
          <p:cNvPr id="7" name="投影片編號版面配置區 6">
            <a:extLst>
              <a:ext uri="{FF2B5EF4-FFF2-40B4-BE49-F238E27FC236}">
                <a16:creationId xmlns:a16="http://schemas.microsoft.com/office/drawing/2014/main" xmlns="" id="{1B09D17F-F048-4C5F-A522-AB702DD2A533}"/>
              </a:ext>
            </a:extLst>
          </p:cNvPr>
          <p:cNvSpPr>
            <a:spLocks noGrp="1"/>
          </p:cNvSpPr>
          <p:nvPr>
            <p:ph type="sldNum" sz="quarter" idx="12"/>
          </p:nvPr>
        </p:nvSpPr>
        <p:spPr/>
        <p:txBody>
          <a:bodyPr/>
          <a:lstStyle/>
          <a:p>
            <a:fld id="{7C573913-0DF9-4CE3-9A7F-CB90B64B9AA1}" type="slidenum">
              <a:rPr lang="zh-TW" altLang="en-US" smtClean="0"/>
              <a:t>‹#›</a:t>
            </a:fld>
            <a:endParaRPr lang="zh-TW" altLang="en-US"/>
          </a:p>
        </p:txBody>
      </p:sp>
    </p:spTree>
    <p:extLst>
      <p:ext uri="{BB962C8B-B14F-4D97-AF65-F5344CB8AC3E}">
        <p14:creationId xmlns:p14="http://schemas.microsoft.com/office/powerpoint/2010/main" val="420844133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xmlns="" id="{54DCC29B-975D-452E-9C4B-C7D215517BB8}"/>
              </a:ext>
            </a:extLst>
          </p:cNvPr>
          <p:cNvSpPr>
            <a:spLocks noGrp="1"/>
          </p:cNvSpPr>
          <p:nvPr>
            <p:ph type="title"/>
          </p:nvPr>
        </p:nvSpPr>
        <p:spPr/>
        <p:txBody>
          <a:bodyPr/>
          <a:lstStyle/>
          <a:p>
            <a:r>
              <a:rPr lang="zh-TW" altLang="en-US"/>
              <a:t>按一下以編輯母片標題樣式</a:t>
            </a:r>
          </a:p>
        </p:txBody>
      </p:sp>
      <p:sp>
        <p:nvSpPr>
          <p:cNvPr id="3" name="直排文字版面配置區 2">
            <a:extLst>
              <a:ext uri="{FF2B5EF4-FFF2-40B4-BE49-F238E27FC236}">
                <a16:creationId xmlns:a16="http://schemas.microsoft.com/office/drawing/2014/main" xmlns="" id="{BC47A9F5-84EF-425F-BC4B-63E636856A3D}"/>
              </a:ext>
            </a:extLst>
          </p:cNvPr>
          <p:cNvSpPr>
            <a:spLocks noGrp="1"/>
          </p:cNvSpPr>
          <p:nvPr>
            <p:ph type="body" orient="vert" idx="1"/>
          </p:nvPr>
        </p:nvSpPr>
        <p:spPr/>
        <p:txBody>
          <a:bodyPr vert="eaVert"/>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xmlns="" id="{BF06C25D-A022-4392-B15B-F75D5C4A81A8}"/>
              </a:ext>
            </a:extLst>
          </p:cNvPr>
          <p:cNvSpPr>
            <a:spLocks noGrp="1"/>
          </p:cNvSpPr>
          <p:nvPr>
            <p:ph type="dt" sz="half" idx="10"/>
          </p:nvPr>
        </p:nvSpPr>
        <p:spPr/>
        <p:txBody>
          <a:bodyPr/>
          <a:lstStyle/>
          <a:p>
            <a:fld id="{B81B5D84-0AF6-48DD-8BEC-59E8BA88BAA3}" type="datetimeFigureOut">
              <a:rPr lang="zh-TW" altLang="en-US" smtClean="0"/>
              <a:t>2018/1/2</a:t>
            </a:fld>
            <a:endParaRPr lang="zh-TW" altLang="en-US"/>
          </a:p>
        </p:txBody>
      </p:sp>
      <p:sp>
        <p:nvSpPr>
          <p:cNvPr id="5" name="頁尾版面配置區 4">
            <a:extLst>
              <a:ext uri="{FF2B5EF4-FFF2-40B4-BE49-F238E27FC236}">
                <a16:creationId xmlns:a16="http://schemas.microsoft.com/office/drawing/2014/main" xmlns="" id="{C7577242-618C-461A-A877-A116818522D4}"/>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xmlns="" id="{C3152382-C4B0-4279-950F-50405F4A6A26}"/>
              </a:ext>
            </a:extLst>
          </p:cNvPr>
          <p:cNvSpPr>
            <a:spLocks noGrp="1"/>
          </p:cNvSpPr>
          <p:nvPr>
            <p:ph type="sldNum" sz="quarter" idx="12"/>
          </p:nvPr>
        </p:nvSpPr>
        <p:spPr/>
        <p:txBody>
          <a:bodyPr/>
          <a:lstStyle/>
          <a:p>
            <a:fld id="{7C573913-0DF9-4CE3-9A7F-CB90B64B9AA1}" type="slidenum">
              <a:rPr lang="zh-TW" altLang="en-US" smtClean="0"/>
              <a:t>‹#›</a:t>
            </a:fld>
            <a:endParaRPr lang="zh-TW" altLang="en-US"/>
          </a:p>
        </p:txBody>
      </p:sp>
    </p:spTree>
    <p:extLst>
      <p:ext uri="{BB962C8B-B14F-4D97-AF65-F5344CB8AC3E}">
        <p14:creationId xmlns:p14="http://schemas.microsoft.com/office/powerpoint/2010/main" val="44310811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直排標題 1">
            <a:extLst>
              <a:ext uri="{FF2B5EF4-FFF2-40B4-BE49-F238E27FC236}">
                <a16:creationId xmlns:a16="http://schemas.microsoft.com/office/drawing/2014/main" xmlns="" id="{4F591772-7BE6-4CE0-B96E-CED4D74445AE}"/>
              </a:ext>
            </a:extLst>
          </p:cNvPr>
          <p:cNvSpPr>
            <a:spLocks noGrp="1"/>
          </p:cNvSpPr>
          <p:nvPr>
            <p:ph type="title" orient="vert"/>
          </p:nvPr>
        </p:nvSpPr>
        <p:spPr>
          <a:xfrm>
            <a:off x="8724900" y="365125"/>
            <a:ext cx="2628900" cy="5811838"/>
          </a:xfrm>
        </p:spPr>
        <p:txBody>
          <a:bodyPr vert="eaVert"/>
          <a:lstStyle/>
          <a:p>
            <a:r>
              <a:rPr lang="zh-TW" altLang="en-US"/>
              <a:t>按一下以編輯母片標題樣式</a:t>
            </a:r>
          </a:p>
        </p:txBody>
      </p:sp>
      <p:sp>
        <p:nvSpPr>
          <p:cNvPr id="3" name="直排文字版面配置區 2">
            <a:extLst>
              <a:ext uri="{FF2B5EF4-FFF2-40B4-BE49-F238E27FC236}">
                <a16:creationId xmlns:a16="http://schemas.microsoft.com/office/drawing/2014/main" xmlns="" id="{D84E51FB-9DF3-4D6A-B344-B82A752D41DF}"/>
              </a:ext>
            </a:extLst>
          </p:cNvPr>
          <p:cNvSpPr>
            <a:spLocks noGrp="1"/>
          </p:cNvSpPr>
          <p:nvPr>
            <p:ph type="body" orient="vert" idx="1"/>
          </p:nvPr>
        </p:nvSpPr>
        <p:spPr>
          <a:xfrm>
            <a:off x="838200" y="365125"/>
            <a:ext cx="7734300" cy="5811838"/>
          </a:xfrm>
        </p:spPr>
        <p:txBody>
          <a:bodyPr vert="eaVert"/>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xmlns="" id="{293A4DCF-2D97-4220-9D92-2A79C61FF79D}"/>
              </a:ext>
            </a:extLst>
          </p:cNvPr>
          <p:cNvSpPr>
            <a:spLocks noGrp="1"/>
          </p:cNvSpPr>
          <p:nvPr>
            <p:ph type="dt" sz="half" idx="10"/>
          </p:nvPr>
        </p:nvSpPr>
        <p:spPr/>
        <p:txBody>
          <a:bodyPr/>
          <a:lstStyle/>
          <a:p>
            <a:fld id="{B81B5D84-0AF6-48DD-8BEC-59E8BA88BAA3}" type="datetimeFigureOut">
              <a:rPr lang="zh-TW" altLang="en-US" smtClean="0"/>
              <a:t>2018/1/2</a:t>
            </a:fld>
            <a:endParaRPr lang="zh-TW" altLang="en-US"/>
          </a:p>
        </p:txBody>
      </p:sp>
      <p:sp>
        <p:nvSpPr>
          <p:cNvPr id="5" name="頁尾版面配置區 4">
            <a:extLst>
              <a:ext uri="{FF2B5EF4-FFF2-40B4-BE49-F238E27FC236}">
                <a16:creationId xmlns:a16="http://schemas.microsoft.com/office/drawing/2014/main" xmlns="" id="{21DDBF47-B234-4C65-B6D6-31521D4A8F8D}"/>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xmlns="" id="{DCEB48A1-561A-4B2F-9A4D-433C80B257C7}"/>
              </a:ext>
            </a:extLst>
          </p:cNvPr>
          <p:cNvSpPr>
            <a:spLocks noGrp="1"/>
          </p:cNvSpPr>
          <p:nvPr>
            <p:ph type="sldNum" sz="quarter" idx="12"/>
          </p:nvPr>
        </p:nvSpPr>
        <p:spPr/>
        <p:txBody>
          <a:bodyPr/>
          <a:lstStyle/>
          <a:p>
            <a:fld id="{7C573913-0DF9-4CE3-9A7F-CB90B64B9AA1}" type="slidenum">
              <a:rPr lang="zh-TW" altLang="en-US" smtClean="0"/>
              <a:t>‹#›</a:t>
            </a:fld>
            <a:endParaRPr lang="zh-TW" altLang="en-US"/>
          </a:p>
        </p:txBody>
      </p:sp>
    </p:spTree>
    <p:extLst>
      <p:ext uri="{BB962C8B-B14F-4D97-AF65-F5344CB8AC3E}">
        <p14:creationId xmlns:p14="http://schemas.microsoft.com/office/powerpoint/2010/main" val="1350042659"/>
      </p:ext>
    </p:extLst>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2" Type="http://schemas.openxmlformats.org/officeDocument/2006/relationships/theme" Target="../theme/theme1.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標題版面配置區 1">
            <a:extLst>
              <a:ext uri="{FF2B5EF4-FFF2-40B4-BE49-F238E27FC236}">
                <a16:creationId xmlns:a16="http://schemas.microsoft.com/office/drawing/2014/main" xmlns="" id="{937664A8-B554-4D43-81AC-17A71DE0651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TW" altLang="en-US"/>
              <a:t>按一下以編輯母片標題樣式</a:t>
            </a:r>
          </a:p>
        </p:txBody>
      </p:sp>
      <p:sp>
        <p:nvSpPr>
          <p:cNvPr id="3" name="文字版面配置區 2">
            <a:extLst>
              <a:ext uri="{FF2B5EF4-FFF2-40B4-BE49-F238E27FC236}">
                <a16:creationId xmlns:a16="http://schemas.microsoft.com/office/drawing/2014/main" xmlns="" id="{8DF4556A-67D0-4B60-B0D2-058C01E7314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xmlns="" id="{995F967E-5900-48A3-AACF-9B457F9FBB2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81B5D84-0AF6-48DD-8BEC-59E8BA88BAA3}" type="datetimeFigureOut">
              <a:rPr lang="zh-TW" altLang="en-US" smtClean="0"/>
              <a:t>2018/1/2</a:t>
            </a:fld>
            <a:endParaRPr lang="zh-TW" altLang="en-US"/>
          </a:p>
        </p:txBody>
      </p:sp>
      <p:sp>
        <p:nvSpPr>
          <p:cNvPr id="5" name="頁尾版面配置區 4">
            <a:extLst>
              <a:ext uri="{FF2B5EF4-FFF2-40B4-BE49-F238E27FC236}">
                <a16:creationId xmlns:a16="http://schemas.microsoft.com/office/drawing/2014/main" xmlns="" id="{4C956014-A1D1-422E-B178-B56FD91A862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TW" altLang="en-US"/>
          </a:p>
        </p:txBody>
      </p:sp>
      <p:sp>
        <p:nvSpPr>
          <p:cNvPr id="6" name="投影片編號版面配置區 5">
            <a:extLst>
              <a:ext uri="{FF2B5EF4-FFF2-40B4-BE49-F238E27FC236}">
                <a16:creationId xmlns:a16="http://schemas.microsoft.com/office/drawing/2014/main" xmlns="" id="{38DDE8E6-38AC-4450-9D30-D00AC25C7C7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C573913-0DF9-4CE3-9A7F-CB90B64B9AA1}" type="slidenum">
              <a:rPr lang="zh-TW" altLang="en-US" smtClean="0"/>
              <a:t>‹#›</a:t>
            </a:fld>
            <a:endParaRPr lang="zh-TW" altLang="en-US"/>
          </a:p>
        </p:txBody>
      </p:sp>
    </p:spTree>
    <p:extLst>
      <p:ext uri="{BB962C8B-B14F-4D97-AF65-F5344CB8AC3E}">
        <p14:creationId xmlns:p14="http://schemas.microsoft.com/office/powerpoint/2010/main" val="228813416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4" Type="http://schemas.openxmlformats.org/officeDocument/2006/relationships/image" Target="../media/image2.png"/><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png"/></Relationships>
</file>

<file path=ppt/slides/_rels/slide6.xml.rels><?xml version="1.0" encoding="UTF-8" standalone="yes"?>
<Relationships xmlns="http://schemas.openxmlformats.org/package/2006/relationships"><Relationship Id="rId11" Type="http://schemas.openxmlformats.org/officeDocument/2006/relationships/image" Target="../media/image12.png"/><Relationship Id="rId12" Type="http://schemas.openxmlformats.org/officeDocument/2006/relationships/image" Target="../media/image13.png"/><Relationship Id="rId13" Type="http://schemas.openxmlformats.org/officeDocument/2006/relationships/image" Target="../media/image14.png"/><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image" Target="../media/image6.png"/><Relationship Id="rId6" Type="http://schemas.openxmlformats.org/officeDocument/2006/relationships/image" Target="../media/image7.png"/><Relationship Id="rId7" Type="http://schemas.openxmlformats.org/officeDocument/2006/relationships/image" Target="../media/image8.png"/><Relationship Id="rId8" Type="http://schemas.openxmlformats.org/officeDocument/2006/relationships/image" Target="../media/image9.png"/><Relationship Id="rId9" Type="http://schemas.openxmlformats.org/officeDocument/2006/relationships/image" Target="../media/image10.png"/><Relationship Id="rId10" Type="http://schemas.openxmlformats.org/officeDocument/2006/relationships/image" Target="../media/image11.png"/></Relationships>
</file>

<file path=ppt/slides/_rels/slide7.xml.rels><?xml version="1.0" encoding="UTF-8" standalone="yes"?>
<Relationships xmlns="http://schemas.openxmlformats.org/package/2006/relationships"><Relationship Id="rId3" Type="http://schemas.openxmlformats.org/officeDocument/2006/relationships/image" Target="../media/image16.png"/><Relationship Id="rId4" Type="http://schemas.openxmlformats.org/officeDocument/2006/relationships/image" Target="../media/image17.png"/><Relationship Id="rId5" Type="http://schemas.openxmlformats.org/officeDocument/2006/relationships/image" Target="../media/image18.png"/><Relationship Id="rId6" Type="http://schemas.openxmlformats.org/officeDocument/2006/relationships/image" Target="../media/image19.png"/><Relationship Id="rId7" Type="http://schemas.openxmlformats.org/officeDocument/2006/relationships/image" Target="../media/image20.gif"/><Relationship Id="rId8" Type="http://schemas.openxmlformats.org/officeDocument/2006/relationships/image" Target="../media/image21.png"/><Relationship Id="rId9" Type="http://schemas.openxmlformats.org/officeDocument/2006/relationships/image" Target="../media/image22.png"/><Relationship Id="rId1" Type="http://schemas.openxmlformats.org/officeDocument/2006/relationships/slideLayout" Target="../slideLayouts/slideLayout2.xml"/><Relationship Id="rId2" Type="http://schemas.openxmlformats.org/officeDocument/2006/relationships/image" Target="../media/image15.png"/></Relationships>
</file>

<file path=ppt/slides/_rels/slide8.xml.rels><?xml version="1.0" encoding="UTF-8" standalone="yes"?>
<Relationships xmlns="http://schemas.openxmlformats.org/package/2006/relationships"><Relationship Id="rId3" Type="http://schemas.openxmlformats.org/officeDocument/2006/relationships/image" Target="../media/image24.png"/><Relationship Id="rId4" Type="http://schemas.openxmlformats.org/officeDocument/2006/relationships/image" Target="../media/image25.png"/><Relationship Id="rId5" Type="http://schemas.openxmlformats.org/officeDocument/2006/relationships/image" Target="../media/image26.png"/><Relationship Id="rId6" Type="http://schemas.openxmlformats.org/officeDocument/2006/relationships/image" Target="../media/image27.png"/><Relationship Id="rId7" Type="http://schemas.openxmlformats.org/officeDocument/2006/relationships/image" Target="../media/image28.png"/><Relationship Id="rId1" Type="http://schemas.openxmlformats.org/officeDocument/2006/relationships/slideLayout" Target="../slideLayouts/slideLayout2.xml"/><Relationship Id="rId2" Type="http://schemas.openxmlformats.org/officeDocument/2006/relationships/image" Target="../media/image2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9.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0.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3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2.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33.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4.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5.png"/></Relationships>
</file>

<file path=ppt/slides/_rels/slide16.xml.rels><?xml version="1.0" encoding="UTF-8" standalone="yes"?>
<Relationships xmlns="http://schemas.openxmlformats.org/package/2006/relationships"><Relationship Id="rId3" Type="http://schemas.openxmlformats.org/officeDocument/2006/relationships/image" Target="../media/image36.png"/><Relationship Id="rId4" Type="http://schemas.openxmlformats.org/officeDocument/2006/relationships/image" Target="../media/image37.png"/><Relationship Id="rId1" Type="http://schemas.openxmlformats.org/officeDocument/2006/relationships/slideLayout" Target="../slideLayouts/slideLayout2.xml"/><Relationship Id="rId2" Type="http://schemas.openxmlformats.org/officeDocument/2006/relationships/image" Target="../media/image2.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8.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9.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0.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20.gif"/></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xmlns="" id="{C80A2EA2-E562-4158-BC31-A4EAD3105365}"/>
              </a:ext>
            </a:extLst>
          </p:cNvPr>
          <p:cNvSpPr>
            <a:spLocks noGrp="1"/>
          </p:cNvSpPr>
          <p:nvPr>
            <p:ph type="ctrTitle"/>
          </p:nvPr>
        </p:nvSpPr>
        <p:spPr/>
        <p:txBody>
          <a:bodyPr>
            <a:normAutofit fontScale="90000"/>
          </a:bodyPr>
          <a:lstStyle/>
          <a:p>
            <a:r>
              <a:rPr lang="en-US" altLang="zh-TW" dirty="0"/>
              <a:t>Using mixture design and neural networks to build stock selection</a:t>
            </a:r>
            <a:br>
              <a:rPr lang="en-US" altLang="zh-TW" dirty="0"/>
            </a:br>
            <a:r>
              <a:rPr lang="en-US" altLang="zh-TW" dirty="0"/>
              <a:t>decision support systems</a:t>
            </a:r>
            <a:endParaRPr lang="zh-TW" altLang="en-US" dirty="0"/>
          </a:p>
        </p:txBody>
      </p:sp>
      <p:sp>
        <p:nvSpPr>
          <p:cNvPr id="3" name="副標題 2">
            <a:extLst>
              <a:ext uri="{FF2B5EF4-FFF2-40B4-BE49-F238E27FC236}">
                <a16:creationId xmlns:a16="http://schemas.microsoft.com/office/drawing/2014/main" xmlns="" id="{91A3BAFA-A46A-439C-95E2-04E244F5ADE0}"/>
              </a:ext>
            </a:extLst>
          </p:cNvPr>
          <p:cNvSpPr>
            <a:spLocks noGrp="1"/>
          </p:cNvSpPr>
          <p:nvPr>
            <p:ph type="subTitle" idx="1"/>
          </p:nvPr>
        </p:nvSpPr>
        <p:spPr>
          <a:xfrm>
            <a:off x="1523999" y="3602038"/>
            <a:ext cx="9579429" cy="1655762"/>
          </a:xfrm>
        </p:spPr>
        <p:txBody>
          <a:bodyPr>
            <a:normAutofit/>
          </a:bodyPr>
          <a:lstStyle/>
          <a:p>
            <a:r>
              <a:rPr lang="en-US" altLang="zh-TW" dirty="0"/>
              <a:t>Yi-Cheng Liu(</a:t>
            </a:r>
            <a:r>
              <a:rPr lang="zh-TW" altLang="en-US" dirty="0"/>
              <a:t>劉一成</a:t>
            </a:r>
            <a:r>
              <a:rPr lang="en-US" altLang="zh-TW" dirty="0"/>
              <a:t>), I-Cheng </a:t>
            </a:r>
            <a:r>
              <a:rPr lang="en-US" altLang="zh-TW" dirty="0" err="1"/>
              <a:t>Yeh</a:t>
            </a:r>
            <a:r>
              <a:rPr lang="en-US" altLang="zh-TW" dirty="0"/>
              <a:t>(</a:t>
            </a:r>
            <a:r>
              <a:rPr lang="zh-TW" altLang="en-US" dirty="0"/>
              <a:t>葉怡成</a:t>
            </a:r>
            <a:r>
              <a:rPr lang="en-US" altLang="zh-TW" dirty="0"/>
              <a:t>)</a:t>
            </a:r>
          </a:p>
          <a:p>
            <a:r>
              <a:rPr lang="en-US" altLang="zh-TW" dirty="0"/>
              <a:t>Neural Computing and Applications, March 2017, Volume 28, Issue 3, </a:t>
            </a:r>
          </a:p>
          <a:p>
            <a:r>
              <a:rPr lang="en-US" altLang="zh-TW" dirty="0"/>
              <a:t>pp. 521–535</a:t>
            </a:r>
            <a:endParaRPr lang="zh-TW" altLang="en-US" dirty="0"/>
          </a:p>
        </p:txBody>
      </p:sp>
      <p:sp>
        <p:nvSpPr>
          <p:cNvPr id="4" name="矩形 3">
            <a:extLst>
              <a:ext uri="{FF2B5EF4-FFF2-40B4-BE49-F238E27FC236}">
                <a16:creationId xmlns:a16="http://schemas.microsoft.com/office/drawing/2014/main" xmlns="" id="{E1EFE873-6A07-412E-B416-579719FBDB1F}"/>
              </a:ext>
            </a:extLst>
          </p:cNvPr>
          <p:cNvSpPr/>
          <p:nvPr/>
        </p:nvSpPr>
        <p:spPr>
          <a:xfrm>
            <a:off x="6714698" y="5849210"/>
            <a:ext cx="4189864" cy="461665"/>
          </a:xfrm>
          <a:prstGeom prst="rect">
            <a:avLst/>
          </a:prstGeom>
        </p:spPr>
        <p:txBody>
          <a:bodyPr wrap="square">
            <a:spAutoFit/>
          </a:bodyPr>
          <a:lstStyle/>
          <a:p>
            <a:pPr lvl="1" indent="457200">
              <a:defRPr sz="3200"/>
            </a:pPr>
            <a:r>
              <a:rPr lang="de-DE" altLang="zh-TW" sz="2400" dirty="0" err="1"/>
              <a:t>Presenter</a:t>
            </a:r>
            <a:r>
              <a:rPr lang="zh-TW" altLang="de-DE" sz="2400" dirty="0">
                <a:latin typeface="微軟正黑體"/>
                <a:ea typeface="微軟正黑體"/>
                <a:cs typeface="微軟正黑體"/>
                <a:sym typeface="微軟正黑體"/>
              </a:rPr>
              <a:t>：</a:t>
            </a:r>
            <a:r>
              <a:rPr lang="de-DE" altLang="zh-TW" sz="2400" dirty="0" err="1">
                <a:sym typeface="微軟正黑體"/>
              </a:rPr>
              <a:t>Jia</a:t>
            </a:r>
            <a:r>
              <a:rPr lang="de-DE" altLang="zh-TW" sz="2400" dirty="0"/>
              <a:t>-Hong Liu</a:t>
            </a:r>
            <a:endParaRPr lang="de-DE" altLang="zh-TW" sz="2400" dirty="0">
              <a:latin typeface="Liberation Sans Narrow"/>
              <a:ea typeface="Liberation Sans Narrow"/>
              <a:cs typeface="Liberation Sans Narrow"/>
              <a:sym typeface="Liberation Sans Narrow"/>
            </a:endParaRPr>
          </a:p>
        </p:txBody>
      </p:sp>
    </p:spTree>
    <p:extLst>
      <p:ext uri="{BB962C8B-B14F-4D97-AF65-F5344CB8AC3E}">
        <p14:creationId xmlns:p14="http://schemas.microsoft.com/office/powerpoint/2010/main" val="133247118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xmlns="" id="{CFF063E8-CD0C-42FE-ABA4-70F11559861A}"/>
              </a:ext>
            </a:extLst>
          </p:cNvPr>
          <p:cNvSpPr>
            <a:spLocks noGrp="1"/>
          </p:cNvSpPr>
          <p:nvPr>
            <p:ph type="title"/>
          </p:nvPr>
        </p:nvSpPr>
        <p:spPr/>
        <p:txBody>
          <a:bodyPr/>
          <a:lstStyle/>
          <a:p>
            <a:pPr algn="ctr"/>
            <a:r>
              <a:rPr lang="en-US" altLang="zh-TW" dirty="0"/>
              <a:t>Abstract(1/2)</a:t>
            </a:r>
            <a:endParaRPr lang="zh-TW" altLang="en-US" dirty="0"/>
          </a:p>
        </p:txBody>
      </p:sp>
      <p:sp>
        <p:nvSpPr>
          <p:cNvPr id="3" name="內容版面配置區 2">
            <a:extLst>
              <a:ext uri="{FF2B5EF4-FFF2-40B4-BE49-F238E27FC236}">
                <a16:creationId xmlns:a16="http://schemas.microsoft.com/office/drawing/2014/main" xmlns="" id="{6278614F-7637-4B9C-B585-902B5C38B80E}"/>
              </a:ext>
            </a:extLst>
          </p:cNvPr>
          <p:cNvSpPr>
            <a:spLocks noGrp="1"/>
          </p:cNvSpPr>
          <p:nvPr>
            <p:ph idx="1"/>
          </p:nvPr>
        </p:nvSpPr>
        <p:spPr/>
        <p:txBody>
          <a:bodyPr>
            <a:normAutofit/>
          </a:bodyPr>
          <a:lstStyle/>
          <a:p>
            <a:pPr marL="0" indent="0">
              <a:buNone/>
            </a:pPr>
            <a:r>
              <a:rPr lang="en-US" altLang="zh-TW" dirty="0"/>
              <a:t>There are three disadvantages of weighted scoring stock selection models. First, they cannot identify the relations between weights of stock-picking concepts and performances of portfolios. Second, they cannot systematically discover the optimal combination for weights of concepts to optimize the performances. Third, they are unable to meet various investors’ preferences. This study aimed to more efficiently construct weighted scoring stock selection models to overcome these disadvantages. Since the weights of stock-picking concepts in a weighted scoring stock selection model can be regarded as components in a mixture, we used the simplex-centroid mixture design to obtain the experimental sets of weights. </a:t>
            </a:r>
            <a:endParaRPr lang="zh-TW" altLang="en-US" dirty="0"/>
          </a:p>
        </p:txBody>
      </p:sp>
    </p:spTree>
    <p:extLst>
      <p:ext uri="{BB962C8B-B14F-4D97-AF65-F5344CB8AC3E}">
        <p14:creationId xmlns:p14="http://schemas.microsoft.com/office/powerpoint/2010/main" val="428635032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內容版面配置區 2">
            <a:extLst>
              <a:ext uri="{FF2B5EF4-FFF2-40B4-BE49-F238E27FC236}">
                <a16:creationId xmlns:a16="http://schemas.microsoft.com/office/drawing/2014/main" xmlns="" id="{907F30E7-62E3-43AA-998B-2FF585C23397}"/>
              </a:ext>
            </a:extLst>
          </p:cNvPr>
          <p:cNvSpPr>
            <a:spLocks noGrp="1"/>
          </p:cNvSpPr>
          <p:nvPr>
            <p:ph idx="1"/>
          </p:nvPr>
        </p:nvSpPr>
        <p:spPr/>
        <p:txBody>
          <a:bodyPr>
            <a:normAutofit lnSpcReduction="10000"/>
          </a:bodyPr>
          <a:lstStyle/>
          <a:p>
            <a:pPr marL="0" indent="0">
              <a:buNone/>
            </a:pPr>
            <a:r>
              <a:rPr lang="en-US" altLang="zh-TW" dirty="0"/>
              <a:t>These sets of weights are simulated with US stock market historical data to obtain their performances. Performance prediction models were built with the simulated performance data set and artificial neural networks. Furthermore, the optimization models to reflect investors’ preferences were built up, and the performance prediction models were employed as the kernel of the optimization models, so that the optimal solutions can now be solved with optimization techniques. The empirical values of the performances of the optimal weighting combinations generated by the optimization models showed that they can meet various investors’ preferences and outperform those of S&amp;P’s 500 not only during the training period but also during the testing period.</a:t>
            </a:r>
            <a:endParaRPr lang="zh-TW" altLang="en-US" dirty="0"/>
          </a:p>
        </p:txBody>
      </p:sp>
      <p:sp>
        <p:nvSpPr>
          <p:cNvPr id="4" name="標題 1">
            <a:extLst>
              <a:ext uri="{FF2B5EF4-FFF2-40B4-BE49-F238E27FC236}">
                <a16:creationId xmlns:a16="http://schemas.microsoft.com/office/drawing/2014/main" xmlns="" id="{5958DB47-E1F3-4985-9027-C883F677516F}"/>
              </a:ext>
            </a:extLst>
          </p:cNvPr>
          <p:cNvSpPr>
            <a:spLocks noGrp="1"/>
          </p:cNvSpPr>
          <p:nvPr>
            <p:ph type="title"/>
          </p:nvPr>
        </p:nvSpPr>
        <p:spPr/>
        <p:txBody>
          <a:bodyPr/>
          <a:lstStyle/>
          <a:p>
            <a:pPr algn="ctr"/>
            <a:r>
              <a:rPr lang="en-US" altLang="zh-TW" dirty="0"/>
              <a:t>Abstract(2/2)</a:t>
            </a:r>
            <a:endParaRPr lang="zh-TW" altLang="en-US" dirty="0"/>
          </a:p>
        </p:txBody>
      </p:sp>
    </p:spTree>
    <p:extLst>
      <p:ext uri="{BB962C8B-B14F-4D97-AF65-F5344CB8AC3E}">
        <p14:creationId xmlns:p14="http://schemas.microsoft.com/office/powerpoint/2010/main" val="357930672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內容版面配置區 3"/>
          <p:cNvPicPr>
            <a:picLocks noGrp="1" noChangeAspect="1"/>
          </p:cNvPicPr>
          <p:nvPr>
            <p:ph idx="1"/>
          </p:nvPr>
        </p:nvPicPr>
        <p:blipFill>
          <a:blip r:embed="rId3"/>
          <a:stretch>
            <a:fillRect/>
          </a:stretch>
        </p:blipFill>
        <p:spPr>
          <a:xfrm>
            <a:off x="3245565" y="626533"/>
            <a:ext cx="5432770" cy="5652030"/>
          </a:xfrm>
          <a:prstGeom prst="rect">
            <a:avLst/>
          </a:prstGeom>
        </p:spPr>
      </p:pic>
      <p:pic>
        <p:nvPicPr>
          <p:cNvPr id="3" name="內容版面配置區 5"/>
          <p:cNvPicPr>
            <a:picLocks noChangeAspect="1"/>
          </p:cNvPicPr>
          <p:nvPr/>
        </p:nvPicPr>
        <p:blipFill>
          <a:blip r:embed="rId4"/>
          <a:stretch>
            <a:fillRect/>
          </a:stretch>
        </p:blipFill>
        <p:spPr>
          <a:xfrm>
            <a:off x="6222332" y="5973763"/>
            <a:ext cx="4584700" cy="609600"/>
          </a:xfrm>
          <a:prstGeom prst="rect">
            <a:avLst/>
          </a:prstGeom>
        </p:spPr>
      </p:pic>
    </p:spTree>
    <p:extLst>
      <p:ext uri="{BB962C8B-B14F-4D97-AF65-F5344CB8AC3E}">
        <p14:creationId xmlns:p14="http://schemas.microsoft.com/office/powerpoint/2010/main" val="50242748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pPr algn="ctr"/>
            <a:r>
              <a:rPr lang="en-US" altLang="zh-TW" dirty="0"/>
              <a:t>Neural Network</a:t>
            </a:r>
            <a:endParaRPr kumimoji="1" lang="zh-TW" altLang="en-US" dirty="0"/>
          </a:p>
        </p:txBody>
      </p:sp>
      <p:pic>
        <p:nvPicPr>
          <p:cNvPr id="4" name="內容版面配置區 3"/>
          <p:cNvPicPr>
            <a:picLocks noGrp="1" noChangeAspect="1"/>
          </p:cNvPicPr>
          <p:nvPr>
            <p:ph idx="1"/>
          </p:nvPr>
        </p:nvPicPr>
        <p:blipFill>
          <a:blip r:embed="rId2"/>
          <a:stretch>
            <a:fillRect/>
          </a:stretch>
        </p:blipFill>
        <p:spPr>
          <a:xfrm>
            <a:off x="3616389" y="2299623"/>
            <a:ext cx="6526189" cy="3830589"/>
          </a:xfrm>
          <a:prstGeom prst="rect">
            <a:avLst/>
          </a:prstGeom>
        </p:spPr>
      </p:pic>
      <p:sp>
        <p:nvSpPr>
          <p:cNvPr id="3" name="矩形 2"/>
          <p:cNvSpPr/>
          <p:nvPr/>
        </p:nvSpPr>
        <p:spPr>
          <a:xfrm>
            <a:off x="456412" y="3717171"/>
            <a:ext cx="2669320" cy="369332"/>
          </a:xfrm>
          <a:prstGeom prst="rect">
            <a:avLst/>
          </a:prstGeom>
        </p:spPr>
        <p:txBody>
          <a:bodyPr wrap="none">
            <a:spAutoFit/>
          </a:bodyPr>
          <a:lstStyle/>
          <a:p>
            <a:pPr>
              <a:buFont typeface="Arial" charset="0"/>
              <a:buChar char="•"/>
            </a:pPr>
            <a:r>
              <a:rPr lang="en-US" altLang="zh-TW" dirty="0">
                <a:latin typeface="YdvrrhAdvPTimes" charset="0"/>
              </a:rPr>
              <a:t>sales-to-price ratios (</a:t>
            </a:r>
            <a:r>
              <a:rPr lang="en-US" altLang="zh-TW" dirty="0">
                <a:latin typeface="GwpnrsAdvPTimesI" charset="0"/>
              </a:rPr>
              <a:t>S</a:t>
            </a:r>
            <a:r>
              <a:rPr lang="en-US" altLang="zh-TW" dirty="0">
                <a:latin typeface="YdvrrhAdvPTimes" charset="0"/>
              </a:rPr>
              <a:t>/</a:t>
            </a:r>
            <a:r>
              <a:rPr lang="en-US" altLang="zh-TW" dirty="0">
                <a:latin typeface="GwpnrsAdvPTimesI" charset="0"/>
              </a:rPr>
              <a:t>P</a:t>
            </a:r>
            <a:r>
              <a:rPr lang="en-US" altLang="zh-TW" dirty="0">
                <a:latin typeface="YdvrrhAdvPTimes" charset="0"/>
              </a:rPr>
              <a:t>) </a:t>
            </a:r>
            <a:endParaRPr lang="en-US" altLang="zh-TW" dirty="0">
              <a:effectLst/>
              <a:latin typeface="SvkgdxAdvPSSym" charset="0"/>
            </a:endParaRPr>
          </a:p>
        </p:txBody>
      </p:sp>
      <p:sp>
        <p:nvSpPr>
          <p:cNvPr id="5" name="矩形 4"/>
          <p:cNvSpPr/>
          <p:nvPr/>
        </p:nvSpPr>
        <p:spPr>
          <a:xfrm>
            <a:off x="417940" y="2771498"/>
            <a:ext cx="2746265" cy="369332"/>
          </a:xfrm>
          <a:prstGeom prst="rect">
            <a:avLst/>
          </a:prstGeom>
        </p:spPr>
        <p:txBody>
          <a:bodyPr wrap="none">
            <a:spAutoFit/>
          </a:bodyPr>
          <a:lstStyle/>
          <a:p>
            <a:pPr>
              <a:buFont typeface="Arial" charset="0"/>
              <a:buChar char="•"/>
            </a:pPr>
            <a:r>
              <a:rPr lang="en-US" altLang="zh-TW">
                <a:latin typeface="YdvrrhAdvPTimes" charset="0"/>
              </a:rPr>
              <a:t>value-to-price ratios (</a:t>
            </a:r>
            <a:r>
              <a:rPr lang="en-US" altLang="zh-TW">
                <a:latin typeface="GwpnrsAdvPTimesI" charset="0"/>
              </a:rPr>
              <a:t>B</a:t>
            </a:r>
            <a:r>
              <a:rPr lang="en-US" altLang="zh-TW">
                <a:latin typeface="YdvrrhAdvPTimes" charset="0"/>
              </a:rPr>
              <a:t>/</a:t>
            </a:r>
            <a:r>
              <a:rPr lang="en-US" altLang="zh-TW">
                <a:latin typeface="GwpnrsAdvPTimesI" charset="0"/>
              </a:rPr>
              <a:t>P</a:t>
            </a:r>
            <a:r>
              <a:rPr lang="en-US" altLang="zh-TW">
                <a:latin typeface="YdvrrhAdvPTimes" charset="0"/>
              </a:rPr>
              <a:t>) </a:t>
            </a:r>
            <a:endParaRPr lang="en-US" altLang="zh-TW">
              <a:effectLst/>
              <a:latin typeface="SvkgdxAdvPSSym" charset="0"/>
            </a:endParaRPr>
          </a:p>
        </p:txBody>
      </p:sp>
      <p:sp>
        <p:nvSpPr>
          <p:cNvPr id="6" name="矩形 5"/>
          <p:cNvSpPr/>
          <p:nvPr/>
        </p:nvSpPr>
        <p:spPr>
          <a:xfrm>
            <a:off x="456412" y="3244334"/>
            <a:ext cx="2547492" cy="369332"/>
          </a:xfrm>
          <a:prstGeom prst="rect">
            <a:avLst/>
          </a:prstGeom>
        </p:spPr>
        <p:txBody>
          <a:bodyPr wrap="none">
            <a:spAutoFit/>
          </a:bodyPr>
          <a:lstStyle/>
          <a:p>
            <a:pPr>
              <a:buFont typeface="Arial" charset="0"/>
              <a:buChar char="•"/>
            </a:pPr>
            <a:r>
              <a:rPr lang="en-US" altLang="zh-TW" dirty="0">
                <a:latin typeface="YdvrrhAdvPTimes" charset="0"/>
              </a:rPr>
              <a:t>Return on equity (ROE) </a:t>
            </a:r>
            <a:endParaRPr lang="en-US" altLang="zh-TW" dirty="0">
              <a:effectLst/>
              <a:latin typeface="SvkgdxAdvPSSym" charset="0"/>
            </a:endParaRPr>
          </a:p>
        </p:txBody>
      </p:sp>
    </p:spTree>
    <p:extLst>
      <p:ext uri="{BB962C8B-B14F-4D97-AF65-F5344CB8AC3E}">
        <p14:creationId xmlns:p14="http://schemas.microsoft.com/office/powerpoint/2010/main" val="133644262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xmlns="" id="{E99BE20A-C65D-4015-92B5-9968609A2139}"/>
              </a:ext>
            </a:extLst>
          </p:cNvPr>
          <p:cNvSpPr>
            <a:spLocks noGrp="1"/>
          </p:cNvSpPr>
          <p:nvPr>
            <p:ph type="title"/>
          </p:nvPr>
        </p:nvSpPr>
        <p:spPr/>
        <p:txBody>
          <a:bodyPr/>
          <a:lstStyle/>
          <a:p>
            <a:pPr algn="ctr"/>
            <a:r>
              <a:rPr lang="en-US" altLang="zh-TW" dirty="0"/>
              <a:t>The return indicators and The risk indicators </a:t>
            </a:r>
          </a:p>
        </p:txBody>
      </p:sp>
      <p:pic>
        <p:nvPicPr>
          <p:cNvPr id="5" name="圖片 4"/>
          <p:cNvPicPr>
            <a:picLocks noChangeAspect="1"/>
          </p:cNvPicPr>
          <p:nvPr/>
        </p:nvPicPr>
        <p:blipFill>
          <a:blip r:embed="rId3"/>
          <a:stretch>
            <a:fillRect/>
          </a:stretch>
        </p:blipFill>
        <p:spPr>
          <a:xfrm>
            <a:off x="156898" y="2194796"/>
            <a:ext cx="3049212" cy="386234"/>
          </a:xfrm>
          <a:prstGeom prst="rect">
            <a:avLst/>
          </a:prstGeom>
        </p:spPr>
      </p:pic>
      <p:pic>
        <p:nvPicPr>
          <p:cNvPr id="6" name="圖片 5"/>
          <p:cNvPicPr>
            <a:picLocks noChangeAspect="1"/>
          </p:cNvPicPr>
          <p:nvPr/>
        </p:nvPicPr>
        <p:blipFill>
          <a:blip r:embed="rId4"/>
          <a:stretch>
            <a:fillRect/>
          </a:stretch>
        </p:blipFill>
        <p:spPr>
          <a:xfrm>
            <a:off x="3488265" y="2131616"/>
            <a:ext cx="2040501" cy="514142"/>
          </a:xfrm>
          <a:prstGeom prst="rect">
            <a:avLst/>
          </a:prstGeom>
        </p:spPr>
      </p:pic>
      <p:pic>
        <p:nvPicPr>
          <p:cNvPr id="8" name="圖片 7"/>
          <p:cNvPicPr>
            <a:picLocks noChangeAspect="1"/>
          </p:cNvPicPr>
          <p:nvPr/>
        </p:nvPicPr>
        <p:blipFill>
          <a:blip r:embed="rId5"/>
          <a:stretch>
            <a:fillRect/>
          </a:stretch>
        </p:blipFill>
        <p:spPr>
          <a:xfrm>
            <a:off x="157243" y="3003648"/>
            <a:ext cx="2408675" cy="449075"/>
          </a:xfrm>
          <a:prstGeom prst="rect">
            <a:avLst/>
          </a:prstGeom>
        </p:spPr>
      </p:pic>
      <p:pic>
        <p:nvPicPr>
          <p:cNvPr id="9" name="圖片 8"/>
          <p:cNvPicPr>
            <a:picLocks noChangeAspect="1"/>
          </p:cNvPicPr>
          <p:nvPr/>
        </p:nvPicPr>
        <p:blipFill>
          <a:blip r:embed="rId6"/>
          <a:stretch>
            <a:fillRect/>
          </a:stretch>
        </p:blipFill>
        <p:spPr>
          <a:xfrm>
            <a:off x="3488610" y="3059364"/>
            <a:ext cx="1226297" cy="622300"/>
          </a:xfrm>
          <a:prstGeom prst="rect">
            <a:avLst/>
          </a:prstGeom>
        </p:spPr>
      </p:pic>
      <p:pic>
        <p:nvPicPr>
          <p:cNvPr id="10" name="圖片 9"/>
          <p:cNvPicPr>
            <a:picLocks noChangeAspect="1"/>
          </p:cNvPicPr>
          <p:nvPr/>
        </p:nvPicPr>
        <p:blipFill>
          <a:blip r:embed="rId7"/>
          <a:stretch>
            <a:fillRect/>
          </a:stretch>
        </p:blipFill>
        <p:spPr>
          <a:xfrm>
            <a:off x="5856815" y="2108465"/>
            <a:ext cx="3454400" cy="482600"/>
          </a:xfrm>
          <a:prstGeom prst="rect">
            <a:avLst/>
          </a:prstGeom>
        </p:spPr>
      </p:pic>
      <p:pic>
        <p:nvPicPr>
          <p:cNvPr id="12" name="圖片 11"/>
          <p:cNvPicPr>
            <a:picLocks noChangeAspect="1"/>
          </p:cNvPicPr>
          <p:nvPr/>
        </p:nvPicPr>
        <p:blipFill>
          <a:blip r:embed="rId8"/>
          <a:stretch>
            <a:fillRect/>
          </a:stretch>
        </p:blipFill>
        <p:spPr>
          <a:xfrm>
            <a:off x="5810593" y="3059364"/>
            <a:ext cx="3467100" cy="622300"/>
          </a:xfrm>
          <a:prstGeom prst="rect">
            <a:avLst/>
          </a:prstGeom>
        </p:spPr>
      </p:pic>
      <p:pic>
        <p:nvPicPr>
          <p:cNvPr id="17" name="圖片 16"/>
          <p:cNvPicPr>
            <a:picLocks noChangeAspect="1"/>
          </p:cNvPicPr>
          <p:nvPr/>
        </p:nvPicPr>
        <p:blipFill>
          <a:blip r:embed="rId9"/>
          <a:stretch>
            <a:fillRect/>
          </a:stretch>
        </p:blipFill>
        <p:spPr>
          <a:xfrm>
            <a:off x="157243" y="3765465"/>
            <a:ext cx="2300002" cy="443860"/>
          </a:xfrm>
          <a:prstGeom prst="rect">
            <a:avLst/>
          </a:prstGeom>
        </p:spPr>
      </p:pic>
      <p:pic>
        <p:nvPicPr>
          <p:cNvPr id="18" name="圖片 17"/>
          <p:cNvPicPr>
            <a:picLocks noChangeAspect="1"/>
          </p:cNvPicPr>
          <p:nvPr/>
        </p:nvPicPr>
        <p:blipFill>
          <a:blip r:embed="rId10"/>
          <a:stretch>
            <a:fillRect/>
          </a:stretch>
        </p:blipFill>
        <p:spPr>
          <a:xfrm>
            <a:off x="5844460" y="3959741"/>
            <a:ext cx="3505200" cy="647700"/>
          </a:xfrm>
          <a:prstGeom prst="rect">
            <a:avLst/>
          </a:prstGeom>
        </p:spPr>
      </p:pic>
      <p:pic>
        <p:nvPicPr>
          <p:cNvPr id="19" name="圖片 18"/>
          <p:cNvPicPr>
            <a:picLocks noChangeAspect="1"/>
          </p:cNvPicPr>
          <p:nvPr/>
        </p:nvPicPr>
        <p:blipFill>
          <a:blip r:embed="rId11"/>
          <a:stretch>
            <a:fillRect/>
          </a:stretch>
        </p:blipFill>
        <p:spPr>
          <a:xfrm>
            <a:off x="3468598" y="3963522"/>
            <a:ext cx="1181100" cy="546100"/>
          </a:xfrm>
          <a:prstGeom prst="rect">
            <a:avLst/>
          </a:prstGeom>
        </p:spPr>
      </p:pic>
      <p:pic>
        <p:nvPicPr>
          <p:cNvPr id="16" name="圖片 15">
            <a:extLst>
              <a:ext uri="{FF2B5EF4-FFF2-40B4-BE49-F238E27FC236}">
                <a16:creationId xmlns:a16="http://schemas.microsoft.com/office/drawing/2014/main" xmlns="" id="{A9BC2DBC-9D5D-4B50-AFD0-D312812AECC8}"/>
              </a:ext>
            </a:extLst>
          </p:cNvPr>
          <p:cNvPicPr>
            <a:picLocks noChangeAspect="1"/>
          </p:cNvPicPr>
          <p:nvPr/>
        </p:nvPicPr>
        <p:blipFill>
          <a:blip r:embed="rId12"/>
          <a:stretch>
            <a:fillRect/>
          </a:stretch>
        </p:blipFill>
        <p:spPr>
          <a:xfrm>
            <a:off x="156898" y="4775368"/>
            <a:ext cx="1550949" cy="452360"/>
          </a:xfrm>
          <a:prstGeom prst="rect">
            <a:avLst/>
          </a:prstGeom>
        </p:spPr>
      </p:pic>
      <p:pic>
        <p:nvPicPr>
          <p:cNvPr id="20" name="圖片 19">
            <a:extLst>
              <a:ext uri="{FF2B5EF4-FFF2-40B4-BE49-F238E27FC236}">
                <a16:creationId xmlns:a16="http://schemas.microsoft.com/office/drawing/2014/main" xmlns="" id="{71B4A154-07E4-45F1-8A2E-D84C3CE3492F}"/>
              </a:ext>
            </a:extLst>
          </p:cNvPr>
          <p:cNvPicPr>
            <a:picLocks noChangeAspect="1"/>
          </p:cNvPicPr>
          <p:nvPr/>
        </p:nvPicPr>
        <p:blipFill>
          <a:blip r:embed="rId13"/>
          <a:stretch>
            <a:fillRect/>
          </a:stretch>
        </p:blipFill>
        <p:spPr>
          <a:xfrm>
            <a:off x="2394425" y="5063607"/>
            <a:ext cx="3695700" cy="825500"/>
          </a:xfrm>
          <a:prstGeom prst="rect">
            <a:avLst/>
          </a:prstGeom>
        </p:spPr>
      </p:pic>
    </p:spTree>
    <p:extLst>
      <p:ext uri="{BB962C8B-B14F-4D97-AF65-F5344CB8AC3E}">
        <p14:creationId xmlns:p14="http://schemas.microsoft.com/office/powerpoint/2010/main" val="424558596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xmlns="" id="{AE1F29B7-544E-44F9-9BA6-4C8E681B52B9}"/>
              </a:ext>
            </a:extLst>
          </p:cNvPr>
          <p:cNvSpPr>
            <a:spLocks noGrp="1"/>
          </p:cNvSpPr>
          <p:nvPr>
            <p:ph type="title"/>
          </p:nvPr>
        </p:nvSpPr>
        <p:spPr/>
        <p:txBody>
          <a:bodyPr/>
          <a:lstStyle/>
          <a:p>
            <a:pPr algn="ctr"/>
            <a:r>
              <a:rPr lang="en-US" altLang="zh-TW" dirty="0"/>
              <a:t>Excess return and Systematic risk</a:t>
            </a:r>
            <a:endParaRPr lang="zh-TW" altLang="en-US" dirty="0"/>
          </a:p>
        </p:txBody>
      </p:sp>
      <p:pic>
        <p:nvPicPr>
          <p:cNvPr id="4" name="內容版面配置區 3">
            <a:extLst>
              <a:ext uri="{FF2B5EF4-FFF2-40B4-BE49-F238E27FC236}">
                <a16:creationId xmlns:a16="http://schemas.microsoft.com/office/drawing/2014/main" xmlns="" id="{3D2FCC02-80FC-45A9-94F9-63AAD14991B4}"/>
              </a:ext>
            </a:extLst>
          </p:cNvPr>
          <p:cNvPicPr>
            <a:picLocks noChangeAspect="1"/>
          </p:cNvPicPr>
          <p:nvPr/>
        </p:nvPicPr>
        <p:blipFill>
          <a:blip r:embed="rId2"/>
          <a:stretch>
            <a:fillRect/>
          </a:stretch>
        </p:blipFill>
        <p:spPr>
          <a:xfrm>
            <a:off x="156898" y="2978944"/>
            <a:ext cx="2247635" cy="363903"/>
          </a:xfrm>
          <a:prstGeom prst="rect">
            <a:avLst/>
          </a:prstGeom>
        </p:spPr>
      </p:pic>
      <p:pic>
        <p:nvPicPr>
          <p:cNvPr id="5" name="圖片 4">
            <a:extLst>
              <a:ext uri="{FF2B5EF4-FFF2-40B4-BE49-F238E27FC236}">
                <a16:creationId xmlns:a16="http://schemas.microsoft.com/office/drawing/2014/main" xmlns="" id="{B41B1C10-FD7D-4CF9-A803-B07B903A5224}"/>
              </a:ext>
            </a:extLst>
          </p:cNvPr>
          <p:cNvPicPr>
            <a:picLocks noChangeAspect="1"/>
          </p:cNvPicPr>
          <p:nvPr/>
        </p:nvPicPr>
        <p:blipFill>
          <a:blip r:embed="rId3"/>
          <a:stretch>
            <a:fillRect/>
          </a:stretch>
        </p:blipFill>
        <p:spPr>
          <a:xfrm>
            <a:off x="156897" y="2121878"/>
            <a:ext cx="3505200" cy="567744"/>
          </a:xfrm>
          <a:prstGeom prst="rect">
            <a:avLst/>
          </a:prstGeom>
        </p:spPr>
      </p:pic>
      <p:pic>
        <p:nvPicPr>
          <p:cNvPr id="6" name="圖片 5">
            <a:extLst>
              <a:ext uri="{FF2B5EF4-FFF2-40B4-BE49-F238E27FC236}">
                <a16:creationId xmlns:a16="http://schemas.microsoft.com/office/drawing/2014/main" xmlns="" id="{FC30925F-CEF4-4BD0-ADA0-AB6270634829}"/>
              </a:ext>
            </a:extLst>
          </p:cNvPr>
          <p:cNvPicPr>
            <a:picLocks noChangeAspect="1"/>
          </p:cNvPicPr>
          <p:nvPr/>
        </p:nvPicPr>
        <p:blipFill>
          <a:blip r:embed="rId4"/>
          <a:stretch>
            <a:fillRect/>
          </a:stretch>
        </p:blipFill>
        <p:spPr>
          <a:xfrm>
            <a:off x="838200" y="3429356"/>
            <a:ext cx="3467100" cy="762000"/>
          </a:xfrm>
          <a:prstGeom prst="rect">
            <a:avLst/>
          </a:prstGeom>
        </p:spPr>
      </p:pic>
      <p:pic>
        <p:nvPicPr>
          <p:cNvPr id="7" name="圖片 6">
            <a:extLst>
              <a:ext uri="{FF2B5EF4-FFF2-40B4-BE49-F238E27FC236}">
                <a16:creationId xmlns:a16="http://schemas.microsoft.com/office/drawing/2014/main" xmlns="" id="{C308827A-02D8-4037-82AE-2EBF5D6441EB}"/>
              </a:ext>
            </a:extLst>
          </p:cNvPr>
          <p:cNvPicPr>
            <a:picLocks noChangeAspect="1"/>
          </p:cNvPicPr>
          <p:nvPr/>
        </p:nvPicPr>
        <p:blipFill>
          <a:blip r:embed="rId5"/>
          <a:stretch>
            <a:fillRect/>
          </a:stretch>
        </p:blipFill>
        <p:spPr>
          <a:xfrm>
            <a:off x="156897" y="4341781"/>
            <a:ext cx="2247635" cy="421432"/>
          </a:xfrm>
          <a:prstGeom prst="rect">
            <a:avLst/>
          </a:prstGeom>
        </p:spPr>
      </p:pic>
      <p:pic>
        <p:nvPicPr>
          <p:cNvPr id="8" name="圖片 7">
            <a:extLst>
              <a:ext uri="{FF2B5EF4-FFF2-40B4-BE49-F238E27FC236}">
                <a16:creationId xmlns:a16="http://schemas.microsoft.com/office/drawing/2014/main" xmlns="" id="{EB22128D-4058-4F33-B868-1DA802BE5DD6}"/>
              </a:ext>
            </a:extLst>
          </p:cNvPr>
          <p:cNvPicPr>
            <a:picLocks noChangeAspect="1"/>
          </p:cNvPicPr>
          <p:nvPr/>
        </p:nvPicPr>
        <p:blipFill>
          <a:blip r:embed="rId6"/>
          <a:stretch>
            <a:fillRect/>
          </a:stretch>
        </p:blipFill>
        <p:spPr>
          <a:xfrm>
            <a:off x="838200" y="4929203"/>
            <a:ext cx="3505200" cy="774700"/>
          </a:xfrm>
          <a:prstGeom prst="rect">
            <a:avLst/>
          </a:prstGeom>
        </p:spPr>
      </p:pic>
      <p:pic>
        <p:nvPicPr>
          <p:cNvPr id="9" name="內容版面配置區 3">
            <a:extLst>
              <a:ext uri="{FF2B5EF4-FFF2-40B4-BE49-F238E27FC236}">
                <a16:creationId xmlns:a16="http://schemas.microsoft.com/office/drawing/2014/main" xmlns="" id="{A2E10786-5ABE-4E0B-89F5-95365D924E93}"/>
              </a:ext>
            </a:extLst>
          </p:cNvPr>
          <p:cNvPicPr>
            <a:picLocks noGrp="1" noChangeAspect="1"/>
          </p:cNvPicPr>
          <p:nvPr>
            <p:ph idx="1"/>
          </p:nvPr>
        </p:nvPicPr>
        <p:blipFill>
          <a:blip r:embed="rId7">
            <a:extLst>
              <a:ext uri="{28A0092B-C50C-407E-A947-70E740481C1C}">
                <a14:useLocalDpi xmlns:a14="http://schemas.microsoft.com/office/drawing/2010/main" val="0"/>
              </a:ext>
            </a:extLst>
          </a:blip>
          <a:stretch>
            <a:fillRect/>
          </a:stretch>
        </p:blipFill>
        <p:spPr>
          <a:xfrm>
            <a:off x="4343400" y="2523820"/>
            <a:ext cx="8337680" cy="3335071"/>
          </a:xfrm>
        </p:spPr>
      </p:pic>
      <mc:AlternateContent xmlns:mc="http://schemas.openxmlformats.org/markup-compatibility/2006" xmlns:a14="http://schemas.microsoft.com/office/drawing/2010/main">
        <mc:Choice Requires="a14">
          <p:sp>
            <p:nvSpPr>
              <p:cNvPr id="11" name="文字方塊 10">
                <a:extLst>
                  <a:ext uri="{FF2B5EF4-FFF2-40B4-BE49-F238E27FC236}">
                    <a16:creationId xmlns:a16="http://schemas.microsoft.com/office/drawing/2014/main" xmlns="" id="{3009A38E-F6AD-47C4-8EC8-9F254C1EF7E2}"/>
                  </a:ext>
                </a:extLst>
              </p:cNvPr>
              <p:cNvSpPr txBox="1"/>
              <p:nvPr/>
            </p:nvSpPr>
            <p:spPr>
              <a:xfrm>
                <a:off x="6713376" y="5404654"/>
                <a:ext cx="1135224" cy="332399"/>
              </a:xfrm>
              <a:prstGeom prst="rect">
                <a:avLst/>
              </a:prstGeom>
              <a:solidFill>
                <a:schemeClr val="bg1"/>
              </a:solid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TW" sz="2000" i="1" smtClean="0">
                              <a:latin typeface="Cambria Math" charset="0"/>
                            </a:rPr>
                          </m:ctrlPr>
                        </m:sSubPr>
                        <m:e>
                          <m:r>
                            <a:rPr lang="en-US" altLang="zh-TW" sz="2000" b="0" i="1" smtClean="0">
                              <a:latin typeface="Cambria Math" panose="02040503050406030204" pitchFamily="18" charset="0"/>
                            </a:rPr>
                            <m:t>𝑅</m:t>
                          </m:r>
                        </m:e>
                        <m:sub>
                          <m:r>
                            <a:rPr lang="en-US" altLang="zh-TW" sz="2000" b="0" i="1" smtClean="0">
                              <a:latin typeface="Cambria Math" panose="02040503050406030204" pitchFamily="18" charset="0"/>
                            </a:rPr>
                            <m:t>𝑚</m:t>
                          </m:r>
                        </m:sub>
                      </m:sSub>
                      <m:r>
                        <a:rPr lang="en-US" altLang="zh-TW" sz="2000" b="0" i="1" smtClean="0">
                          <a:latin typeface="Cambria Math" panose="02040503050406030204" pitchFamily="18" charset="0"/>
                        </a:rPr>
                        <m:t>−</m:t>
                      </m:r>
                      <m:sSub>
                        <m:sSubPr>
                          <m:ctrlPr>
                            <a:rPr lang="en-US" altLang="zh-TW" sz="2000" b="0" i="1" smtClean="0">
                              <a:latin typeface="Cambria Math" charset="0"/>
                            </a:rPr>
                          </m:ctrlPr>
                        </m:sSubPr>
                        <m:e>
                          <m:r>
                            <a:rPr lang="en-US" altLang="zh-TW" sz="2000" b="0" i="1" smtClean="0">
                              <a:latin typeface="Cambria Math" panose="02040503050406030204" pitchFamily="18" charset="0"/>
                            </a:rPr>
                            <m:t>𝑅</m:t>
                          </m:r>
                        </m:e>
                        <m:sub>
                          <m:r>
                            <a:rPr lang="en-US" altLang="zh-TW" sz="2000" b="0" i="1" smtClean="0">
                              <a:latin typeface="Cambria Math" panose="02040503050406030204" pitchFamily="18" charset="0"/>
                            </a:rPr>
                            <m:t>𝑓</m:t>
                          </m:r>
                        </m:sub>
                      </m:sSub>
                    </m:oMath>
                  </m:oMathPara>
                </a14:m>
                <a:endParaRPr lang="zh-TW" altLang="en-US" sz="2000" dirty="0"/>
              </a:p>
            </p:txBody>
          </p:sp>
        </mc:Choice>
        <mc:Fallback xmlns="">
          <p:sp>
            <p:nvSpPr>
              <p:cNvPr id="11" name="文字方塊 10">
                <a:extLst>
                  <a:ext uri="{FF2B5EF4-FFF2-40B4-BE49-F238E27FC236}">
                    <a16:creationId xmlns:a16="http://schemas.microsoft.com/office/drawing/2014/main" id="{3009A38E-F6AD-47C4-8EC8-9F254C1EF7E2}"/>
                  </a:ext>
                </a:extLst>
              </p:cNvPr>
              <p:cNvSpPr txBox="1">
                <a:spLocks noRot="1" noChangeAspect="1" noMove="1" noResize="1" noEditPoints="1" noAdjustHandles="1" noChangeArrowheads="1" noChangeShapeType="1" noTextEdit="1"/>
              </p:cNvSpPr>
              <p:nvPr/>
            </p:nvSpPr>
            <p:spPr>
              <a:xfrm>
                <a:off x="6713376" y="5404654"/>
                <a:ext cx="1135224" cy="332399"/>
              </a:xfrm>
              <a:prstGeom prst="rect">
                <a:avLst/>
              </a:prstGeom>
              <a:blipFill>
                <a:blip r:embed="rId8"/>
                <a:stretch>
                  <a:fillRect b="-27778"/>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2" name="文字方塊 11">
                <a:extLst>
                  <a:ext uri="{FF2B5EF4-FFF2-40B4-BE49-F238E27FC236}">
                    <a16:creationId xmlns:a16="http://schemas.microsoft.com/office/drawing/2014/main" xmlns="" id="{EB1658D6-8627-49AE-B6FA-B16553606D9B}"/>
                  </a:ext>
                </a:extLst>
              </p:cNvPr>
              <p:cNvSpPr txBox="1"/>
              <p:nvPr/>
            </p:nvSpPr>
            <p:spPr>
              <a:xfrm>
                <a:off x="4986602" y="3070981"/>
                <a:ext cx="332399" cy="1270800"/>
              </a:xfrm>
              <a:prstGeom prst="rect">
                <a:avLst/>
              </a:prstGeom>
              <a:solidFill>
                <a:schemeClr val="bg1"/>
              </a:solidFill>
            </p:spPr>
            <p:txBody>
              <a:bodyPr vert="vert270"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TW" sz="2000" i="1" smtClean="0">
                              <a:latin typeface="Cambria Math" charset="0"/>
                            </a:rPr>
                          </m:ctrlPr>
                        </m:sSubPr>
                        <m:e>
                          <m:r>
                            <a:rPr lang="en-US" altLang="zh-TW" sz="2000" b="0" i="1" smtClean="0">
                              <a:latin typeface="Cambria Math" panose="02040503050406030204" pitchFamily="18" charset="0"/>
                            </a:rPr>
                            <m:t>𝑅</m:t>
                          </m:r>
                        </m:e>
                        <m:sub>
                          <m:r>
                            <a:rPr lang="en-US" altLang="zh-TW" sz="2000" b="0" i="1" smtClean="0">
                              <a:latin typeface="Cambria Math" panose="02040503050406030204" pitchFamily="18" charset="0"/>
                            </a:rPr>
                            <m:t>𝑖</m:t>
                          </m:r>
                        </m:sub>
                      </m:sSub>
                      <m:r>
                        <a:rPr lang="en-US" altLang="zh-TW" sz="2000" b="0" i="1" smtClean="0">
                          <a:latin typeface="Cambria Math" panose="02040503050406030204" pitchFamily="18" charset="0"/>
                        </a:rPr>
                        <m:t>−</m:t>
                      </m:r>
                      <m:sSub>
                        <m:sSubPr>
                          <m:ctrlPr>
                            <a:rPr lang="en-US" altLang="zh-TW" sz="2000" b="0" i="1" smtClean="0">
                              <a:latin typeface="Cambria Math" charset="0"/>
                            </a:rPr>
                          </m:ctrlPr>
                        </m:sSubPr>
                        <m:e>
                          <m:r>
                            <a:rPr lang="en-US" altLang="zh-TW" sz="2000" b="0" i="1" smtClean="0">
                              <a:latin typeface="Cambria Math" panose="02040503050406030204" pitchFamily="18" charset="0"/>
                            </a:rPr>
                            <m:t>𝑅</m:t>
                          </m:r>
                        </m:e>
                        <m:sub>
                          <m:r>
                            <a:rPr lang="en-US" altLang="zh-TW" sz="2000" b="0" i="1" smtClean="0">
                              <a:latin typeface="Cambria Math" panose="02040503050406030204" pitchFamily="18" charset="0"/>
                            </a:rPr>
                            <m:t>𝑓</m:t>
                          </m:r>
                        </m:sub>
                      </m:sSub>
                    </m:oMath>
                  </m:oMathPara>
                </a14:m>
                <a:endParaRPr lang="zh-TW" altLang="en-US" sz="2000" dirty="0"/>
              </a:p>
            </p:txBody>
          </p:sp>
        </mc:Choice>
        <mc:Fallback xmlns="">
          <p:sp>
            <p:nvSpPr>
              <p:cNvPr id="12" name="文字方塊 11">
                <a:extLst>
                  <a:ext uri="{FF2B5EF4-FFF2-40B4-BE49-F238E27FC236}">
                    <a16:creationId xmlns:a16="http://schemas.microsoft.com/office/drawing/2014/main" id="{EB1658D6-8627-49AE-B6FA-B16553606D9B}"/>
                  </a:ext>
                </a:extLst>
              </p:cNvPr>
              <p:cNvSpPr txBox="1">
                <a:spLocks noRot="1" noChangeAspect="1" noMove="1" noResize="1" noEditPoints="1" noAdjustHandles="1" noChangeArrowheads="1" noChangeShapeType="1" noTextEdit="1"/>
              </p:cNvSpPr>
              <p:nvPr/>
            </p:nvSpPr>
            <p:spPr>
              <a:xfrm>
                <a:off x="4986602" y="3070981"/>
                <a:ext cx="332399" cy="1270800"/>
              </a:xfrm>
              <a:prstGeom prst="rect">
                <a:avLst/>
              </a:prstGeom>
              <a:blipFill>
                <a:blip r:embed="rId9"/>
                <a:stretch>
                  <a:fillRect r="-1818"/>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216797866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normAutofit/>
          </a:bodyPr>
          <a:lstStyle/>
          <a:p>
            <a:pPr algn="ctr"/>
            <a:r>
              <a:rPr lang="en-US" altLang="zh-TW" dirty="0"/>
              <a:t>simplex-centroid design</a:t>
            </a:r>
            <a:endParaRPr kumimoji="1" lang="zh-TW" altLang="en-US" b="1" dirty="0"/>
          </a:p>
        </p:txBody>
      </p:sp>
      <p:pic>
        <p:nvPicPr>
          <p:cNvPr id="5" name="圖片 4"/>
          <p:cNvPicPr>
            <a:picLocks noChangeAspect="1"/>
          </p:cNvPicPr>
          <p:nvPr/>
        </p:nvPicPr>
        <p:blipFill>
          <a:blip r:embed="rId2"/>
          <a:stretch>
            <a:fillRect/>
          </a:stretch>
        </p:blipFill>
        <p:spPr>
          <a:xfrm>
            <a:off x="4731277" y="2833654"/>
            <a:ext cx="4470400" cy="355600"/>
          </a:xfrm>
          <a:prstGeom prst="rect">
            <a:avLst/>
          </a:prstGeom>
        </p:spPr>
      </p:pic>
      <p:sp>
        <p:nvSpPr>
          <p:cNvPr id="8" name="矩形 7"/>
          <p:cNvSpPr/>
          <p:nvPr/>
        </p:nvSpPr>
        <p:spPr>
          <a:xfrm>
            <a:off x="4731277" y="2136940"/>
            <a:ext cx="6096000" cy="923330"/>
          </a:xfrm>
          <a:prstGeom prst="rect">
            <a:avLst/>
          </a:prstGeom>
        </p:spPr>
        <p:txBody>
          <a:bodyPr>
            <a:spAutoFit/>
          </a:bodyPr>
          <a:lstStyle/>
          <a:p>
            <a:r>
              <a:rPr lang="en-US" altLang="zh-TW" dirty="0">
                <a:latin typeface="YdvrrhAdvPTimes" charset="0"/>
              </a:rPr>
              <a:t>1-component designs: It consists of different combinations of 1 and 0:</a:t>
            </a:r>
            <a:br>
              <a:rPr lang="en-US" altLang="zh-TW" dirty="0">
                <a:latin typeface="YdvrrhAdvPTimes" charset="0"/>
              </a:rPr>
            </a:br>
            <a:endParaRPr lang="en-US" altLang="zh-TW" dirty="0"/>
          </a:p>
        </p:txBody>
      </p:sp>
      <p:sp>
        <p:nvSpPr>
          <p:cNvPr id="10" name="矩形 9"/>
          <p:cNvSpPr/>
          <p:nvPr/>
        </p:nvSpPr>
        <p:spPr>
          <a:xfrm>
            <a:off x="4588933" y="3320256"/>
            <a:ext cx="6096000" cy="646331"/>
          </a:xfrm>
          <a:prstGeom prst="rect">
            <a:avLst/>
          </a:prstGeom>
        </p:spPr>
        <p:txBody>
          <a:bodyPr>
            <a:spAutoFit/>
          </a:bodyPr>
          <a:lstStyle/>
          <a:p>
            <a:r>
              <a:rPr lang="en-US" altLang="zh-TW" dirty="0">
                <a:latin typeface="YdvrrhAdvPTimes" charset="0"/>
              </a:rPr>
              <a:t>2-component designs: It consists of different combination of 1/2 and 0: </a:t>
            </a:r>
            <a:endParaRPr lang="en-US" altLang="zh-TW" dirty="0"/>
          </a:p>
        </p:txBody>
      </p:sp>
      <p:pic>
        <p:nvPicPr>
          <p:cNvPr id="13" name="圖片 12"/>
          <p:cNvPicPr>
            <a:picLocks noChangeAspect="1"/>
          </p:cNvPicPr>
          <p:nvPr/>
        </p:nvPicPr>
        <p:blipFill>
          <a:blip r:embed="rId3"/>
          <a:stretch>
            <a:fillRect/>
          </a:stretch>
        </p:blipFill>
        <p:spPr>
          <a:xfrm>
            <a:off x="4756677" y="3966587"/>
            <a:ext cx="4419600" cy="355600"/>
          </a:xfrm>
          <a:prstGeom prst="rect">
            <a:avLst/>
          </a:prstGeom>
        </p:spPr>
      </p:pic>
      <p:pic>
        <p:nvPicPr>
          <p:cNvPr id="14" name="圖片 13"/>
          <p:cNvPicPr>
            <a:picLocks noChangeAspect="1"/>
          </p:cNvPicPr>
          <p:nvPr/>
        </p:nvPicPr>
        <p:blipFill>
          <a:blip r:embed="rId4"/>
          <a:stretch>
            <a:fillRect/>
          </a:stretch>
        </p:blipFill>
        <p:spPr>
          <a:xfrm>
            <a:off x="9108544" y="4021621"/>
            <a:ext cx="1816100" cy="279400"/>
          </a:xfrm>
          <a:prstGeom prst="rect">
            <a:avLst/>
          </a:prstGeom>
        </p:spPr>
      </p:pic>
      <p:sp>
        <p:nvSpPr>
          <p:cNvPr id="15" name="矩形 14"/>
          <p:cNvSpPr/>
          <p:nvPr/>
        </p:nvSpPr>
        <p:spPr>
          <a:xfrm>
            <a:off x="4588933" y="4506853"/>
            <a:ext cx="6096000" cy="923330"/>
          </a:xfrm>
          <a:prstGeom prst="rect">
            <a:avLst/>
          </a:prstGeom>
        </p:spPr>
        <p:txBody>
          <a:bodyPr>
            <a:spAutoFit/>
          </a:bodyPr>
          <a:lstStyle/>
          <a:p>
            <a:r>
              <a:rPr lang="en-US" altLang="zh-TW" dirty="0">
                <a:latin typeface="YdvrrhAdvPTimes" charset="0"/>
              </a:rPr>
              <a:t>3-component designs: It consists of </a:t>
            </a:r>
            <a:r>
              <a:rPr lang="en-US" altLang="zh-TW">
                <a:latin typeface="YdvrrhAdvPTimes" charset="0"/>
              </a:rPr>
              <a:t>different combination </a:t>
            </a:r>
            <a:r>
              <a:rPr lang="en-US" altLang="zh-TW" dirty="0">
                <a:latin typeface="YdvrrhAdvPTimes" charset="0"/>
              </a:rPr>
              <a:t>of 1/3 and 0:</a:t>
            </a:r>
            <a:br>
              <a:rPr lang="en-US" altLang="zh-TW" dirty="0">
                <a:latin typeface="YdvrrhAdvPTimes" charset="0"/>
              </a:rPr>
            </a:br>
            <a:endParaRPr lang="en-US" altLang="zh-TW" dirty="0"/>
          </a:p>
        </p:txBody>
      </p:sp>
      <p:pic>
        <p:nvPicPr>
          <p:cNvPr id="16" name="圖片 15"/>
          <p:cNvPicPr>
            <a:picLocks noChangeAspect="1"/>
          </p:cNvPicPr>
          <p:nvPr/>
        </p:nvPicPr>
        <p:blipFill>
          <a:blip r:embed="rId5"/>
          <a:stretch>
            <a:fillRect/>
          </a:stretch>
        </p:blipFill>
        <p:spPr>
          <a:xfrm>
            <a:off x="4756677" y="5205762"/>
            <a:ext cx="4813300" cy="368300"/>
          </a:xfrm>
          <a:prstGeom prst="rect">
            <a:avLst/>
          </a:prstGeom>
        </p:spPr>
      </p:pic>
      <p:pic>
        <p:nvPicPr>
          <p:cNvPr id="17" name="圖片 16"/>
          <p:cNvPicPr>
            <a:picLocks noChangeAspect="1"/>
          </p:cNvPicPr>
          <p:nvPr/>
        </p:nvPicPr>
        <p:blipFill>
          <a:blip r:embed="rId6"/>
          <a:stretch>
            <a:fillRect/>
          </a:stretch>
        </p:blipFill>
        <p:spPr>
          <a:xfrm>
            <a:off x="9537700" y="5235423"/>
            <a:ext cx="1816100" cy="266700"/>
          </a:xfrm>
          <a:prstGeom prst="rect">
            <a:avLst/>
          </a:prstGeom>
        </p:spPr>
      </p:pic>
      <p:pic>
        <p:nvPicPr>
          <p:cNvPr id="18" name="圖片 17"/>
          <p:cNvPicPr>
            <a:picLocks noChangeAspect="1"/>
          </p:cNvPicPr>
          <p:nvPr/>
        </p:nvPicPr>
        <p:blipFill>
          <a:blip r:embed="rId7"/>
          <a:stretch>
            <a:fillRect/>
          </a:stretch>
        </p:blipFill>
        <p:spPr>
          <a:xfrm>
            <a:off x="4756676" y="5586325"/>
            <a:ext cx="3671449" cy="686645"/>
          </a:xfrm>
          <a:prstGeom prst="rect">
            <a:avLst/>
          </a:prstGeom>
        </p:spPr>
      </p:pic>
    </p:spTree>
    <p:extLst>
      <p:ext uri="{BB962C8B-B14F-4D97-AF65-F5344CB8AC3E}">
        <p14:creationId xmlns:p14="http://schemas.microsoft.com/office/powerpoint/2010/main" val="2068319589"/>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normAutofit/>
          </a:bodyPr>
          <a:lstStyle/>
          <a:p>
            <a:pPr algn="ctr"/>
            <a:r>
              <a:rPr lang="en-US" altLang="zh-TW" dirty="0"/>
              <a:t>Experimental design</a:t>
            </a:r>
            <a:endParaRPr kumimoji="1" lang="zh-TW" altLang="en-US" dirty="0"/>
          </a:p>
        </p:txBody>
      </p:sp>
      <p:pic>
        <p:nvPicPr>
          <p:cNvPr id="4" name="內容版面配置區 3"/>
          <p:cNvPicPr>
            <a:picLocks noGrp="1" noChangeAspect="1"/>
          </p:cNvPicPr>
          <p:nvPr>
            <p:ph idx="1"/>
          </p:nvPr>
        </p:nvPicPr>
        <p:blipFill>
          <a:blip r:embed="rId2"/>
          <a:stretch>
            <a:fillRect/>
          </a:stretch>
        </p:blipFill>
        <p:spPr>
          <a:xfrm>
            <a:off x="1790478" y="4016472"/>
            <a:ext cx="8611043" cy="2082907"/>
          </a:xfrm>
          <a:prstGeom prst="rect">
            <a:avLst/>
          </a:prstGeom>
        </p:spPr>
      </p:pic>
      <p:sp>
        <p:nvSpPr>
          <p:cNvPr id="6" name="內容版面配置區 2">
            <a:extLst>
              <a:ext uri="{FF2B5EF4-FFF2-40B4-BE49-F238E27FC236}">
                <a16:creationId xmlns:a16="http://schemas.microsoft.com/office/drawing/2014/main" xmlns="" id="{F799BB8F-D0A2-4D66-9768-5D74B3E8B6EA}"/>
              </a:ext>
            </a:extLst>
          </p:cNvPr>
          <p:cNvSpPr txBox="1">
            <a:spLocks/>
          </p:cNvSpPr>
          <p:nvPr/>
        </p:nvSpPr>
        <p:spPr>
          <a:xfrm>
            <a:off x="838200" y="1825625"/>
            <a:ext cx="10515600" cy="1962604"/>
          </a:xfrm>
          <a:prstGeom prst="rect">
            <a:avLst/>
          </a:prstGeom>
        </p:spPr>
        <p:txBody>
          <a:bodyPr vert="horz" lIns="91440" tIns="45720" rIns="91440" bIns="45720" rtlCol="0">
            <a:normAutofit fontScale="925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ltLang="zh-TW" dirty="0"/>
              <a:t>Building performance predictive model with neural networks and cross-validation</a:t>
            </a:r>
          </a:p>
          <a:p>
            <a:r>
              <a:rPr lang="en-US" altLang="zh-TW" dirty="0"/>
              <a:t>Effects of weights of stock-picking concepts on performance indicators</a:t>
            </a:r>
          </a:p>
          <a:p>
            <a:r>
              <a:rPr lang="en-US" altLang="zh-TW" dirty="0"/>
              <a:t>Standard and Poor’s </a:t>
            </a:r>
            <a:r>
              <a:rPr lang="en-US" altLang="zh-TW" dirty="0" err="1"/>
              <a:t>Compustat</a:t>
            </a:r>
            <a:r>
              <a:rPr lang="en-US" altLang="zh-TW" dirty="0"/>
              <a:t> US database</a:t>
            </a:r>
          </a:p>
        </p:txBody>
      </p:sp>
    </p:spTree>
    <p:extLst>
      <p:ext uri="{BB962C8B-B14F-4D97-AF65-F5344CB8AC3E}">
        <p14:creationId xmlns:p14="http://schemas.microsoft.com/office/powerpoint/2010/main" val="151502074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pPr algn="ctr"/>
            <a:r>
              <a:rPr lang="en-US" altLang="zh-TW" dirty="0"/>
              <a:t>Building performance predictive model</a:t>
            </a:r>
            <a:br>
              <a:rPr lang="en-US" altLang="zh-TW" dirty="0"/>
            </a:br>
            <a:r>
              <a:rPr lang="en-US" altLang="zh-TW" dirty="0"/>
              <a:t>with neural networks and cross-validation</a:t>
            </a:r>
            <a:endParaRPr kumimoji="1" lang="zh-TW" altLang="en-US" dirty="0"/>
          </a:p>
        </p:txBody>
      </p:sp>
      <p:pic>
        <p:nvPicPr>
          <p:cNvPr id="4" name="內容版面配置區 3"/>
          <p:cNvPicPr>
            <a:picLocks noGrp="1" noChangeAspect="1"/>
          </p:cNvPicPr>
          <p:nvPr>
            <p:ph idx="1"/>
          </p:nvPr>
        </p:nvPicPr>
        <p:blipFill>
          <a:blip r:embed="rId2"/>
          <a:stretch>
            <a:fillRect/>
          </a:stretch>
        </p:blipFill>
        <p:spPr>
          <a:xfrm>
            <a:off x="838200" y="2490830"/>
            <a:ext cx="10515600" cy="3020928"/>
          </a:xfrm>
          <a:prstGeom prst="rect">
            <a:avLst/>
          </a:prstGeom>
        </p:spPr>
      </p:pic>
    </p:spTree>
    <p:extLst>
      <p:ext uri="{BB962C8B-B14F-4D97-AF65-F5344CB8AC3E}">
        <p14:creationId xmlns:p14="http://schemas.microsoft.com/office/powerpoint/2010/main" val="79010482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內容版面配置區 3"/>
          <p:cNvPicPr>
            <a:picLocks noGrp="1" noChangeAspect="1"/>
          </p:cNvPicPr>
          <p:nvPr>
            <p:ph idx="1"/>
          </p:nvPr>
        </p:nvPicPr>
        <p:blipFill>
          <a:blip r:embed="rId3"/>
          <a:stretch>
            <a:fillRect/>
          </a:stretch>
        </p:blipFill>
        <p:spPr>
          <a:xfrm>
            <a:off x="4198854" y="193146"/>
            <a:ext cx="7273997" cy="6363230"/>
          </a:xfrm>
          <a:prstGeom prst="rect">
            <a:avLst/>
          </a:prstGeom>
        </p:spPr>
      </p:pic>
      <p:sp>
        <p:nvSpPr>
          <p:cNvPr id="3" name="標題 1"/>
          <p:cNvSpPr>
            <a:spLocks noGrp="1"/>
          </p:cNvSpPr>
          <p:nvPr>
            <p:ph type="title"/>
          </p:nvPr>
        </p:nvSpPr>
        <p:spPr>
          <a:xfrm>
            <a:off x="257175" y="365125"/>
            <a:ext cx="3700463" cy="6191251"/>
          </a:xfrm>
        </p:spPr>
        <p:txBody>
          <a:bodyPr>
            <a:normAutofit/>
          </a:bodyPr>
          <a:lstStyle/>
          <a:p>
            <a:r>
              <a:rPr lang="en-US" altLang="zh-TW" dirty="0"/>
              <a:t>Effects of weights of stock-picking concepts on performance indicators</a:t>
            </a:r>
            <a:endParaRPr kumimoji="1" lang="zh-TW" altLang="en-US" dirty="0"/>
          </a:p>
        </p:txBody>
      </p:sp>
    </p:spTree>
    <p:extLst>
      <p:ext uri="{BB962C8B-B14F-4D97-AF65-F5344CB8AC3E}">
        <p14:creationId xmlns:p14="http://schemas.microsoft.com/office/powerpoint/2010/main" val="50959622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xmlns="" id="{2396AC63-9DCD-4C8F-A9FB-F420E9995214}"/>
              </a:ext>
            </a:extLst>
          </p:cNvPr>
          <p:cNvSpPr>
            <a:spLocks noGrp="1"/>
          </p:cNvSpPr>
          <p:nvPr>
            <p:ph type="title"/>
          </p:nvPr>
        </p:nvSpPr>
        <p:spPr/>
        <p:txBody>
          <a:bodyPr/>
          <a:lstStyle/>
          <a:p>
            <a:pPr algn="ctr"/>
            <a:r>
              <a:rPr lang="en-US" altLang="zh-TW" dirty="0"/>
              <a:t>Experimental design</a:t>
            </a:r>
            <a:endParaRPr lang="zh-TW" altLang="en-US" dirty="0"/>
          </a:p>
        </p:txBody>
      </p:sp>
      <p:pic>
        <p:nvPicPr>
          <p:cNvPr id="4" name="內容版面配置區 3">
            <a:extLst>
              <a:ext uri="{FF2B5EF4-FFF2-40B4-BE49-F238E27FC236}">
                <a16:creationId xmlns:a16="http://schemas.microsoft.com/office/drawing/2014/main" xmlns="" id="{73AA3799-9D1E-4622-99DA-75FA0982E49D}"/>
              </a:ext>
            </a:extLst>
          </p:cNvPr>
          <p:cNvPicPr>
            <a:picLocks noGrp="1" noChangeAspect="1"/>
          </p:cNvPicPr>
          <p:nvPr>
            <p:ph idx="1"/>
          </p:nvPr>
        </p:nvPicPr>
        <p:blipFill>
          <a:blip r:embed="rId2"/>
          <a:stretch>
            <a:fillRect/>
          </a:stretch>
        </p:blipFill>
        <p:spPr>
          <a:xfrm>
            <a:off x="1492897" y="4790912"/>
            <a:ext cx="9448800" cy="1152525"/>
          </a:xfrm>
          <a:prstGeom prst="rect">
            <a:avLst/>
          </a:prstGeom>
        </p:spPr>
      </p:pic>
      <p:sp>
        <p:nvSpPr>
          <p:cNvPr id="5" name="內容版面配置區 2">
            <a:extLst>
              <a:ext uri="{FF2B5EF4-FFF2-40B4-BE49-F238E27FC236}">
                <a16:creationId xmlns:a16="http://schemas.microsoft.com/office/drawing/2014/main" xmlns="" id="{D7961BD6-BBCF-4B18-ABF4-CEE395F1B103}"/>
              </a:ext>
            </a:extLst>
          </p:cNvPr>
          <p:cNvSpPr txBox="1">
            <a:spLocks/>
          </p:cNvSpPr>
          <p:nvPr/>
        </p:nvSpPr>
        <p:spPr>
          <a:xfrm>
            <a:off x="838200" y="1825624"/>
            <a:ext cx="10515600" cy="2830352"/>
          </a:xfrm>
          <a:prstGeom prst="rect">
            <a:avLst/>
          </a:prstGeom>
        </p:spPr>
        <p:txBody>
          <a:bodyPr vert="horz" lIns="91440" tIns="45720" rIns="91440" bIns="45720" rtlCol="0">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ltLang="zh-TW" dirty="0"/>
              <a:t>Sorted by a weighted scoring approach, the stocks with the top 10 % overall weighted scores are selected to form the investment portfolio.</a:t>
            </a:r>
          </a:p>
          <a:p>
            <a:r>
              <a:rPr lang="en-US" altLang="zh-TW" dirty="0"/>
              <a:t>Generating the optimal weighting combinations of </a:t>
            </a:r>
            <a:r>
              <a:rPr lang="en-US" altLang="zh-TW" dirty="0" smtClean="0"/>
              <a:t>stock-picking concepts</a:t>
            </a:r>
            <a:endParaRPr lang="en-US" altLang="zh-TW" dirty="0"/>
          </a:p>
          <a:p>
            <a:pPr lvl="1"/>
            <a:r>
              <a:rPr lang="en-US" altLang="zh-TW" dirty="0"/>
              <a:t>Model 1: maximizing objective without constrain</a:t>
            </a:r>
          </a:p>
          <a:p>
            <a:pPr lvl="1"/>
            <a:r>
              <a:rPr lang="en-US" altLang="zh-TW" dirty="0"/>
              <a:t>Model 2: maximizing return with risk constrain</a:t>
            </a:r>
          </a:p>
          <a:p>
            <a:r>
              <a:rPr lang="en-US" altLang="zh-TW" dirty="0"/>
              <a:t>Standard and Poor’s </a:t>
            </a:r>
            <a:r>
              <a:rPr lang="en-US" altLang="zh-TW" dirty="0" err="1"/>
              <a:t>Compustat</a:t>
            </a:r>
            <a:r>
              <a:rPr lang="en-US" altLang="zh-TW" dirty="0"/>
              <a:t> US database</a:t>
            </a:r>
          </a:p>
        </p:txBody>
      </p:sp>
    </p:spTree>
    <p:extLst>
      <p:ext uri="{BB962C8B-B14F-4D97-AF65-F5344CB8AC3E}">
        <p14:creationId xmlns:p14="http://schemas.microsoft.com/office/powerpoint/2010/main" val="33239957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normAutofit/>
          </a:bodyPr>
          <a:lstStyle/>
          <a:p>
            <a:pPr algn="ctr"/>
            <a:r>
              <a:rPr lang="en-US" altLang="zh-TW" dirty="0"/>
              <a:t>Model 1: maximizing objective without constrain(1/3)</a:t>
            </a:r>
            <a:endParaRPr kumimoji="1" lang="zh-TW" altLang="en-US" dirty="0"/>
          </a:p>
        </p:txBody>
      </p:sp>
      <p:pic>
        <p:nvPicPr>
          <p:cNvPr id="4" name="內容版面配置區 3"/>
          <p:cNvPicPr>
            <a:picLocks noGrp="1" noChangeAspect="1"/>
          </p:cNvPicPr>
          <p:nvPr>
            <p:ph idx="1"/>
          </p:nvPr>
        </p:nvPicPr>
        <p:blipFill>
          <a:blip r:embed="rId3"/>
          <a:stretch>
            <a:fillRect/>
          </a:stretch>
        </p:blipFill>
        <p:spPr>
          <a:xfrm>
            <a:off x="838200" y="2485946"/>
            <a:ext cx="10515600" cy="3030696"/>
          </a:xfrm>
          <a:prstGeom prst="rect">
            <a:avLst/>
          </a:prstGeom>
        </p:spPr>
      </p:pic>
    </p:spTree>
    <p:extLst>
      <p:ext uri="{BB962C8B-B14F-4D97-AF65-F5344CB8AC3E}">
        <p14:creationId xmlns:p14="http://schemas.microsoft.com/office/powerpoint/2010/main" val="25510697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pPr algn="ctr"/>
            <a:r>
              <a:rPr lang="en-US" altLang="zh-TW" dirty="0"/>
              <a:t>Model 1: maximizing objective without constrain (2/3)</a:t>
            </a:r>
            <a:endParaRPr kumimoji="1" lang="zh-TW" altLang="en-US" dirty="0"/>
          </a:p>
        </p:txBody>
      </p:sp>
      <p:pic>
        <p:nvPicPr>
          <p:cNvPr id="4" name="內容版面配置區 3"/>
          <p:cNvPicPr>
            <a:picLocks noGrp="1" noChangeAspect="1"/>
          </p:cNvPicPr>
          <p:nvPr>
            <p:ph idx="1"/>
          </p:nvPr>
        </p:nvPicPr>
        <p:blipFill>
          <a:blip r:embed="rId2"/>
          <a:stretch>
            <a:fillRect/>
          </a:stretch>
        </p:blipFill>
        <p:spPr>
          <a:xfrm>
            <a:off x="595562" y="2541414"/>
            <a:ext cx="11000875" cy="3155195"/>
          </a:xfrm>
          <a:prstGeom prst="rect">
            <a:avLst/>
          </a:prstGeom>
        </p:spPr>
      </p:pic>
    </p:spTree>
    <p:extLst>
      <p:ext uri="{BB962C8B-B14F-4D97-AF65-F5344CB8AC3E}">
        <p14:creationId xmlns:p14="http://schemas.microsoft.com/office/powerpoint/2010/main" val="140798121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內容版面配置區 3"/>
          <p:cNvPicPr>
            <a:picLocks noGrp="1" noChangeAspect="1"/>
          </p:cNvPicPr>
          <p:nvPr>
            <p:ph idx="1"/>
          </p:nvPr>
        </p:nvPicPr>
        <p:blipFill>
          <a:blip r:embed="rId2"/>
          <a:stretch>
            <a:fillRect/>
          </a:stretch>
        </p:blipFill>
        <p:spPr>
          <a:xfrm>
            <a:off x="838200" y="2489247"/>
            <a:ext cx="10515600" cy="3024094"/>
          </a:xfrm>
          <a:prstGeom prst="rect">
            <a:avLst/>
          </a:prstGeom>
        </p:spPr>
      </p:pic>
      <p:sp>
        <p:nvSpPr>
          <p:cNvPr id="5" name="標題 1"/>
          <p:cNvSpPr>
            <a:spLocks noGrp="1"/>
          </p:cNvSpPr>
          <p:nvPr>
            <p:ph type="title"/>
          </p:nvPr>
        </p:nvSpPr>
        <p:spPr/>
        <p:txBody>
          <a:bodyPr/>
          <a:lstStyle/>
          <a:p>
            <a:pPr algn="ctr"/>
            <a:r>
              <a:rPr lang="en-US" altLang="zh-TW" dirty="0"/>
              <a:t>Model 1: maximizing objective without constrain (3/3)</a:t>
            </a:r>
            <a:endParaRPr kumimoji="1" lang="zh-TW" altLang="en-US" dirty="0"/>
          </a:p>
        </p:txBody>
      </p:sp>
    </p:spTree>
    <p:extLst>
      <p:ext uri="{BB962C8B-B14F-4D97-AF65-F5344CB8AC3E}">
        <p14:creationId xmlns:p14="http://schemas.microsoft.com/office/powerpoint/2010/main" val="167393306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normAutofit/>
          </a:bodyPr>
          <a:lstStyle/>
          <a:p>
            <a:pPr algn="ctr"/>
            <a:r>
              <a:rPr lang="en-US" altLang="zh-TW" dirty="0"/>
              <a:t>Model 2: maximizing return with risk constrain(1/1)</a:t>
            </a:r>
            <a:endParaRPr kumimoji="1" lang="zh-TW" altLang="en-US" dirty="0"/>
          </a:p>
        </p:txBody>
      </p:sp>
      <p:pic>
        <p:nvPicPr>
          <p:cNvPr id="6" name="內容版面配置區 5"/>
          <p:cNvPicPr>
            <a:picLocks noGrp="1" noChangeAspect="1"/>
          </p:cNvPicPr>
          <p:nvPr>
            <p:ph idx="1"/>
          </p:nvPr>
        </p:nvPicPr>
        <p:blipFill>
          <a:blip r:embed="rId2"/>
          <a:stretch>
            <a:fillRect/>
          </a:stretch>
        </p:blipFill>
        <p:spPr>
          <a:xfrm>
            <a:off x="3580732" y="1963947"/>
            <a:ext cx="4584700" cy="609600"/>
          </a:xfrm>
          <a:prstGeom prst="rect">
            <a:avLst/>
          </a:prstGeom>
        </p:spPr>
      </p:pic>
      <p:pic>
        <p:nvPicPr>
          <p:cNvPr id="7" name="圖片 6"/>
          <p:cNvPicPr>
            <a:picLocks noChangeAspect="1"/>
          </p:cNvPicPr>
          <p:nvPr/>
        </p:nvPicPr>
        <p:blipFill>
          <a:blip r:embed="rId3"/>
          <a:stretch>
            <a:fillRect/>
          </a:stretch>
        </p:blipFill>
        <p:spPr>
          <a:xfrm>
            <a:off x="310482" y="3081421"/>
            <a:ext cx="5562600" cy="3149600"/>
          </a:xfrm>
          <a:prstGeom prst="rect">
            <a:avLst/>
          </a:prstGeom>
        </p:spPr>
      </p:pic>
      <p:pic>
        <p:nvPicPr>
          <p:cNvPr id="8" name="圖片 7"/>
          <p:cNvPicPr>
            <a:picLocks noChangeAspect="1"/>
          </p:cNvPicPr>
          <p:nvPr/>
        </p:nvPicPr>
        <p:blipFill>
          <a:blip r:embed="rId4"/>
          <a:stretch>
            <a:fillRect/>
          </a:stretch>
        </p:blipFill>
        <p:spPr>
          <a:xfrm>
            <a:off x="6096000" y="2992521"/>
            <a:ext cx="5664200" cy="3238500"/>
          </a:xfrm>
          <a:prstGeom prst="rect">
            <a:avLst/>
          </a:prstGeom>
        </p:spPr>
      </p:pic>
    </p:spTree>
    <p:extLst>
      <p:ext uri="{BB962C8B-B14F-4D97-AF65-F5344CB8AC3E}">
        <p14:creationId xmlns:p14="http://schemas.microsoft.com/office/powerpoint/2010/main" val="94954854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pPr algn="ctr"/>
            <a:r>
              <a:rPr lang="en-US" altLang="zh-TW" dirty="0"/>
              <a:t>Experimental design</a:t>
            </a:r>
          </a:p>
        </p:txBody>
      </p:sp>
      <p:sp>
        <p:nvSpPr>
          <p:cNvPr id="3" name="內容版面配置區 2"/>
          <p:cNvSpPr>
            <a:spLocks noGrp="1"/>
          </p:cNvSpPr>
          <p:nvPr>
            <p:ph idx="1"/>
          </p:nvPr>
        </p:nvSpPr>
        <p:spPr/>
        <p:txBody>
          <a:bodyPr>
            <a:normAutofit/>
          </a:bodyPr>
          <a:lstStyle/>
          <a:p>
            <a:r>
              <a:rPr lang="en-US" altLang="zh-TW" dirty="0"/>
              <a:t>Sorted by a weighted scoring approach, the stocks with the top 10 % overall weighted scores are selected to form the investment portfolio.</a:t>
            </a:r>
          </a:p>
          <a:p>
            <a:r>
              <a:rPr lang="en-US" altLang="zh-TW" dirty="0"/>
              <a:t>Verifying the optimal weighting combinations </a:t>
            </a:r>
            <a:r>
              <a:rPr lang="en-US" altLang="zh-TW" dirty="0" smtClean="0"/>
              <a:t>of </a:t>
            </a:r>
            <a:r>
              <a:rPr lang="en-US" altLang="zh-TW" dirty="0"/>
              <a:t>stock-picking concepts </a:t>
            </a:r>
          </a:p>
          <a:p>
            <a:pPr lvl="1"/>
            <a:r>
              <a:rPr lang="en-US" altLang="zh-TW" dirty="0"/>
              <a:t>Model 1: maximizing objective without constrain</a:t>
            </a:r>
          </a:p>
          <a:p>
            <a:pPr lvl="1"/>
            <a:r>
              <a:rPr lang="en-US" altLang="zh-TW" dirty="0"/>
              <a:t>Model 2: maximizing return with risk constrain</a:t>
            </a:r>
          </a:p>
          <a:p>
            <a:r>
              <a:rPr lang="en-US" altLang="zh-TW" dirty="0"/>
              <a:t>Standard and Poor’s </a:t>
            </a:r>
            <a:r>
              <a:rPr lang="en-US" altLang="zh-TW" dirty="0" err="1"/>
              <a:t>Compustat</a:t>
            </a:r>
            <a:r>
              <a:rPr lang="en-US" altLang="zh-TW" dirty="0"/>
              <a:t> US database</a:t>
            </a:r>
          </a:p>
          <a:p>
            <a:r>
              <a:rPr lang="en-US" altLang="zh-TW" dirty="0"/>
              <a:t>training period data(1991–1995, totally 5 years)</a:t>
            </a:r>
          </a:p>
          <a:p>
            <a:r>
              <a:rPr lang="en-US" altLang="zh-TW" dirty="0"/>
              <a:t>testing period data (1996–2010, total 15 years)</a:t>
            </a:r>
            <a:endParaRPr kumimoji="1" lang="zh-TW" altLang="en-US" dirty="0"/>
          </a:p>
        </p:txBody>
      </p:sp>
    </p:spTree>
    <p:extLst>
      <p:ext uri="{BB962C8B-B14F-4D97-AF65-F5344CB8AC3E}">
        <p14:creationId xmlns:p14="http://schemas.microsoft.com/office/powerpoint/2010/main" val="139084598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xmlns="" id="{DEC65D57-368A-4BE3-A211-D2D60B4CD8E9}"/>
              </a:ext>
            </a:extLst>
          </p:cNvPr>
          <p:cNvSpPr>
            <a:spLocks noGrp="1"/>
          </p:cNvSpPr>
          <p:nvPr>
            <p:ph type="title"/>
          </p:nvPr>
        </p:nvSpPr>
        <p:spPr/>
        <p:txBody>
          <a:bodyPr/>
          <a:lstStyle/>
          <a:p>
            <a:pPr algn="ctr"/>
            <a:r>
              <a:rPr lang="en-US" altLang="zh-TW" dirty="0"/>
              <a:t>Model 1: maximizing objective without constrain</a:t>
            </a:r>
            <a:endParaRPr lang="zh-TW" altLang="en-US" dirty="0"/>
          </a:p>
        </p:txBody>
      </p:sp>
      <p:pic>
        <p:nvPicPr>
          <p:cNvPr id="4" name="內容版面配置區 3">
            <a:extLst>
              <a:ext uri="{FF2B5EF4-FFF2-40B4-BE49-F238E27FC236}">
                <a16:creationId xmlns:a16="http://schemas.microsoft.com/office/drawing/2014/main" xmlns="" id="{E67A697A-67B0-4FFA-9ADB-7FF7372F5BC3}"/>
              </a:ext>
            </a:extLst>
          </p:cNvPr>
          <p:cNvPicPr>
            <a:picLocks noGrp="1" noChangeAspect="1"/>
          </p:cNvPicPr>
          <p:nvPr>
            <p:ph idx="1"/>
          </p:nvPr>
        </p:nvPicPr>
        <p:blipFill>
          <a:blip r:embed="rId2"/>
          <a:stretch>
            <a:fillRect/>
          </a:stretch>
        </p:blipFill>
        <p:spPr>
          <a:xfrm>
            <a:off x="838200" y="2477123"/>
            <a:ext cx="10515600" cy="3048342"/>
          </a:xfrm>
          <a:prstGeom prst="rect">
            <a:avLst/>
          </a:prstGeom>
        </p:spPr>
      </p:pic>
    </p:spTree>
    <p:extLst>
      <p:ext uri="{BB962C8B-B14F-4D97-AF65-F5344CB8AC3E}">
        <p14:creationId xmlns:p14="http://schemas.microsoft.com/office/powerpoint/2010/main" val="144527730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xmlns="" id="{333329EB-BFE3-4F31-943D-18CA24118E41}"/>
              </a:ext>
            </a:extLst>
          </p:cNvPr>
          <p:cNvSpPr>
            <a:spLocks noGrp="1"/>
          </p:cNvSpPr>
          <p:nvPr>
            <p:ph type="title"/>
          </p:nvPr>
        </p:nvSpPr>
        <p:spPr>
          <a:xfrm>
            <a:off x="838200" y="365125"/>
            <a:ext cx="10515600" cy="1325563"/>
          </a:xfrm>
        </p:spPr>
        <p:txBody>
          <a:bodyPr/>
          <a:lstStyle/>
          <a:p>
            <a:pPr algn="ctr"/>
            <a:r>
              <a:rPr lang="en-US" altLang="zh-TW" dirty="0"/>
              <a:t>Model 2: maximizing return with risk constrain</a:t>
            </a:r>
            <a:endParaRPr lang="zh-TW" altLang="en-US" dirty="0"/>
          </a:p>
        </p:txBody>
      </p:sp>
      <p:pic>
        <p:nvPicPr>
          <p:cNvPr id="7" name="內容版面配置區 6"/>
          <p:cNvPicPr>
            <a:picLocks noGrp="1" noChangeAspect="1"/>
          </p:cNvPicPr>
          <p:nvPr>
            <p:ph idx="1"/>
          </p:nvPr>
        </p:nvPicPr>
        <p:blipFill>
          <a:blip r:embed="rId2"/>
          <a:stretch>
            <a:fillRect/>
          </a:stretch>
        </p:blipFill>
        <p:spPr>
          <a:xfrm>
            <a:off x="1543050" y="1842294"/>
            <a:ext cx="9105900" cy="4318000"/>
          </a:xfrm>
          <a:prstGeom prst="rect">
            <a:avLst/>
          </a:prstGeom>
        </p:spPr>
      </p:pic>
    </p:spTree>
    <p:extLst>
      <p:ext uri="{BB962C8B-B14F-4D97-AF65-F5344CB8AC3E}">
        <p14:creationId xmlns:p14="http://schemas.microsoft.com/office/powerpoint/2010/main" val="243512860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xmlns="" id="{0F943C6F-1DD9-48E9-ABC7-4169B250E5B2}"/>
              </a:ext>
            </a:extLst>
          </p:cNvPr>
          <p:cNvSpPr>
            <a:spLocks noGrp="1"/>
          </p:cNvSpPr>
          <p:nvPr>
            <p:ph type="title"/>
          </p:nvPr>
        </p:nvSpPr>
        <p:spPr>
          <a:xfrm>
            <a:off x="838200" y="365125"/>
            <a:ext cx="10515600" cy="1325563"/>
          </a:xfrm>
        </p:spPr>
        <p:txBody>
          <a:bodyPr/>
          <a:lstStyle/>
          <a:p>
            <a:pPr algn="ctr"/>
            <a:r>
              <a:rPr lang="en-US" altLang="zh-TW" dirty="0"/>
              <a:t>Experimental design</a:t>
            </a:r>
            <a:endParaRPr lang="zh-TW" altLang="en-US" dirty="0"/>
          </a:p>
        </p:txBody>
      </p:sp>
      <p:sp>
        <p:nvSpPr>
          <p:cNvPr id="3" name="內容版面配置區 2">
            <a:extLst>
              <a:ext uri="{FF2B5EF4-FFF2-40B4-BE49-F238E27FC236}">
                <a16:creationId xmlns:a16="http://schemas.microsoft.com/office/drawing/2014/main" xmlns="" id="{42CBF3CC-BA6E-482B-B8EA-734B0FADA6FF}"/>
              </a:ext>
            </a:extLst>
          </p:cNvPr>
          <p:cNvSpPr>
            <a:spLocks noGrp="1"/>
          </p:cNvSpPr>
          <p:nvPr>
            <p:ph idx="1"/>
          </p:nvPr>
        </p:nvSpPr>
        <p:spPr>
          <a:xfrm>
            <a:off x="838200" y="1825625"/>
            <a:ext cx="10515600" cy="4351338"/>
          </a:xfrm>
        </p:spPr>
        <p:txBody>
          <a:bodyPr/>
          <a:lstStyle/>
          <a:p>
            <a:r>
              <a:rPr lang="en-US" altLang="zh-TW" dirty="0"/>
              <a:t>Sorted by a weighted scoring approach, the stocks with the top 10 % overall weighted scores are selected to form the investment portfolio.</a:t>
            </a:r>
          </a:p>
          <a:p>
            <a:r>
              <a:rPr lang="en-US" altLang="zh-TW" dirty="0"/>
              <a:t>The accumulative return of the maximizing</a:t>
            </a:r>
            <a:br>
              <a:rPr lang="en-US" altLang="zh-TW" dirty="0"/>
            </a:br>
            <a:r>
              <a:rPr lang="en-US" altLang="zh-TW" dirty="0"/>
              <a:t>annualized return rates model</a:t>
            </a:r>
          </a:p>
          <a:p>
            <a:r>
              <a:rPr lang="en-US" altLang="zh-TW" dirty="0"/>
              <a:t>Standard and Poor’s </a:t>
            </a:r>
            <a:r>
              <a:rPr lang="en-US" altLang="zh-TW" dirty="0" err="1"/>
              <a:t>Compustat</a:t>
            </a:r>
            <a:r>
              <a:rPr lang="en-US" altLang="zh-TW" dirty="0"/>
              <a:t> US database</a:t>
            </a:r>
          </a:p>
          <a:p>
            <a:r>
              <a:rPr lang="en-US" altLang="zh-TW" dirty="0"/>
              <a:t>training period data (1991/Q1–1995/Q3)</a:t>
            </a:r>
          </a:p>
          <a:p>
            <a:r>
              <a:rPr lang="en-US" altLang="zh-TW" dirty="0"/>
              <a:t>testing period data (1995/Q4–2014/Q3)</a:t>
            </a:r>
            <a:endParaRPr kumimoji="1" lang="zh-TW" altLang="en-US" dirty="0"/>
          </a:p>
          <a:p>
            <a:endParaRPr lang="zh-TW" altLang="en-US" dirty="0"/>
          </a:p>
        </p:txBody>
      </p:sp>
    </p:spTree>
    <p:extLst>
      <p:ext uri="{BB962C8B-B14F-4D97-AF65-F5344CB8AC3E}">
        <p14:creationId xmlns:p14="http://schemas.microsoft.com/office/powerpoint/2010/main" val="371680619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xmlns="" id="{514CAA0E-6603-405B-BC03-D485A73237C9}"/>
              </a:ext>
            </a:extLst>
          </p:cNvPr>
          <p:cNvSpPr>
            <a:spLocks noGrp="1"/>
          </p:cNvSpPr>
          <p:nvPr>
            <p:ph type="title"/>
          </p:nvPr>
        </p:nvSpPr>
        <p:spPr/>
        <p:txBody>
          <a:bodyPr>
            <a:normAutofit/>
          </a:bodyPr>
          <a:lstStyle/>
          <a:p>
            <a:pPr algn="ctr"/>
            <a:r>
              <a:rPr lang="en-US" altLang="zh-TW" dirty="0"/>
              <a:t>The accumulative return of the maximizing</a:t>
            </a:r>
            <a:br>
              <a:rPr lang="en-US" altLang="zh-TW" dirty="0"/>
            </a:br>
            <a:r>
              <a:rPr lang="en-US" altLang="zh-TW" dirty="0"/>
              <a:t>annualized return rates model</a:t>
            </a:r>
            <a:endParaRPr lang="zh-TW" altLang="en-US" dirty="0"/>
          </a:p>
        </p:txBody>
      </p:sp>
      <p:pic>
        <p:nvPicPr>
          <p:cNvPr id="4" name="內容版面配置區 3">
            <a:extLst>
              <a:ext uri="{FF2B5EF4-FFF2-40B4-BE49-F238E27FC236}">
                <a16:creationId xmlns:a16="http://schemas.microsoft.com/office/drawing/2014/main" xmlns="" id="{F684B4D0-2081-4209-AD14-E1ED62415AB6}"/>
              </a:ext>
            </a:extLst>
          </p:cNvPr>
          <p:cNvPicPr>
            <a:picLocks noGrp="1" noChangeAspect="1"/>
          </p:cNvPicPr>
          <p:nvPr>
            <p:ph idx="1"/>
          </p:nvPr>
        </p:nvPicPr>
        <p:blipFill>
          <a:blip r:embed="rId2"/>
          <a:stretch>
            <a:fillRect/>
          </a:stretch>
        </p:blipFill>
        <p:spPr>
          <a:xfrm>
            <a:off x="3265045" y="1890939"/>
            <a:ext cx="5661909" cy="4667250"/>
          </a:xfrm>
          <a:prstGeom prst="rect">
            <a:avLst/>
          </a:prstGeom>
        </p:spPr>
      </p:pic>
    </p:spTree>
    <p:extLst>
      <p:ext uri="{BB962C8B-B14F-4D97-AF65-F5344CB8AC3E}">
        <p14:creationId xmlns:p14="http://schemas.microsoft.com/office/powerpoint/2010/main" val="422307601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pPr algn="ctr"/>
            <a:r>
              <a:rPr lang="en-US" altLang="zh-TW" b="1" dirty="0"/>
              <a:t>Regression, Alpha, R-Squared</a:t>
            </a:r>
            <a:endParaRPr kumimoji="1" lang="zh-TW" altLang="en-US" dirty="0"/>
          </a:p>
        </p:txBody>
      </p:sp>
      <p:pic>
        <p:nvPicPr>
          <p:cNvPr id="4" name="內容版面配置區 3"/>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838200" y="1839463"/>
            <a:ext cx="10208951" cy="4083580"/>
          </a:xfrm>
        </p:spPr>
      </p:pic>
      <p:sp>
        <p:nvSpPr>
          <p:cNvPr id="6" name="文字方塊 5"/>
          <p:cNvSpPr txBox="1"/>
          <p:nvPr/>
        </p:nvSpPr>
        <p:spPr>
          <a:xfrm>
            <a:off x="3236786" y="6071818"/>
            <a:ext cx="5718425" cy="369332"/>
          </a:xfrm>
          <a:prstGeom prst="rect">
            <a:avLst/>
          </a:prstGeom>
          <a:noFill/>
        </p:spPr>
        <p:txBody>
          <a:bodyPr wrap="none" rtlCol="0">
            <a:spAutoFit/>
          </a:bodyPr>
          <a:lstStyle/>
          <a:p>
            <a:r>
              <a:rPr kumimoji="1" lang="en-US" altLang="zh-TW" dirty="0"/>
              <a:t>http://</a:t>
            </a:r>
            <a:r>
              <a:rPr kumimoji="1" lang="en-US" altLang="zh-TW" dirty="0" err="1"/>
              <a:t>www.moneychimp.com</a:t>
            </a:r>
            <a:r>
              <a:rPr kumimoji="1" lang="en-US" altLang="zh-TW" dirty="0"/>
              <a:t>/articles/risk/</a:t>
            </a:r>
            <a:r>
              <a:rPr kumimoji="1" lang="en-US" altLang="zh-TW" dirty="0" err="1"/>
              <a:t>regression.htm</a:t>
            </a:r>
            <a:endParaRPr kumimoji="1" lang="zh-TW" altLang="en-US" dirty="0"/>
          </a:p>
        </p:txBody>
      </p:sp>
    </p:spTree>
    <p:extLst>
      <p:ext uri="{BB962C8B-B14F-4D97-AF65-F5344CB8AC3E}">
        <p14:creationId xmlns:p14="http://schemas.microsoft.com/office/powerpoint/2010/main" val="2081675875"/>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theme/theme1.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6686</TotalTime>
  <Words>874</Words>
  <Application>Microsoft Macintosh PowerPoint</Application>
  <PresentationFormat>寬螢幕</PresentationFormat>
  <Paragraphs>67</Paragraphs>
  <Slides>22</Slides>
  <Notes>6</Notes>
  <HiddenSlides>2</HiddenSlides>
  <MMClips>0</MMClips>
  <ScaleCrop>false</ScaleCrop>
  <HeadingPairs>
    <vt:vector size="6" baseType="variant">
      <vt:variant>
        <vt:lpstr>使用字型</vt:lpstr>
      </vt:variant>
      <vt:variant>
        <vt:i4>10</vt:i4>
      </vt:variant>
      <vt:variant>
        <vt:lpstr>佈景主題</vt:lpstr>
      </vt:variant>
      <vt:variant>
        <vt:i4>1</vt:i4>
      </vt:variant>
      <vt:variant>
        <vt:lpstr>投影片標題</vt:lpstr>
      </vt:variant>
      <vt:variant>
        <vt:i4>22</vt:i4>
      </vt:variant>
    </vt:vector>
  </HeadingPairs>
  <TitlesOfParts>
    <vt:vector size="33" baseType="lpstr">
      <vt:lpstr>Calibri</vt:lpstr>
      <vt:lpstr>Calibri Light</vt:lpstr>
      <vt:lpstr>Cambria Math</vt:lpstr>
      <vt:lpstr>GwpnrsAdvPTimesI</vt:lpstr>
      <vt:lpstr>Liberation Sans Narrow</vt:lpstr>
      <vt:lpstr>SvkgdxAdvPSSym</vt:lpstr>
      <vt:lpstr>YdvrrhAdvPTimes</vt:lpstr>
      <vt:lpstr>微軟正黑體</vt:lpstr>
      <vt:lpstr>新細明體</vt:lpstr>
      <vt:lpstr>Arial</vt:lpstr>
      <vt:lpstr>Office 佈景主題</vt:lpstr>
      <vt:lpstr>Using mixture design and neural networks to build stock selection decision support systems</vt:lpstr>
      <vt:lpstr>Abstract(1/2)</vt:lpstr>
      <vt:lpstr>Abstract(2/2)</vt:lpstr>
      <vt:lpstr>PowerPoint 簡報</vt:lpstr>
      <vt:lpstr>Neural Network</vt:lpstr>
      <vt:lpstr>The return indicators and The risk indicators </vt:lpstr>
      <vt:lpstr>Excess return and Systematic risk</vt:lpstr>
      <vt:lpstr>simplex-centroid design</vt:lpstr>
      <vt:lpstr>Experimental design</vt:lpstr>
      <vt:lpstr>Building performance predictive model with neural networks and cross-validation</vt:lpstr>
      <vt:lpstr>Effects of weights of stock-picking concepts on performance indicators</vt:lpstr>
      <vt:lpstr>Experimental design</vt:lpstr>
      <vt:lpstr>Model 1: maximizing objective without constrain(1/3)</vt:lpstr>
      <vt:lpstr>Model 1: maximizing objective without constrain (2/3)</vt:lpstr>
      <vt:lpstr>Model 1: maximizing objective without constrain (3/3)</vt:lpstr>
      <vt:lpstr>Model 2: maximizing return with risk constrain(1/1)</vt:lpstr>
      <vt:lpstr>Experimental design</vt:lpstr>
      <vt:lpstr>Model 1: maximizing objective without constrain</vt:lpstr>
      <vt:lpstr>Model 2: maximizing return with risk constrain</vt:lpstr>
      <vt:lpstr>Experimental design</vt:lpstr>
      <vt:lpstr>The accumulative return of the maximizing annualized return rates model</vt:lpstr>
      <vt:lpstr>Regression, Alpha, R-Squared</vt:lpstr>
    </vt:vector>
  </TitlesOfParts>
  <LinksUpToDate>false</LinksUpToDate>
  <SharedDoc>false</SharedDoc>
  <HyperlinksChanged>false</HyperlinksChanged>
  <AppVersion>15.0028</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Using mixture design and neural networks to build stock selection decision support systems</dc:title>
  <dc:creator>ike.liu</dc:creator>
  <cp:lastModifiedBy>M053040058</cp:lastModifiedBy>
  <cp:revision>53</cp:revision>
  <dcterms:created xsi:type="dcterms:W3CDTF">2017-12-19T04:14:36Z</dcterms:created>
  <dcterms:modified xsi:type="dcterms:W3CDTF">2018-01-02T09:41:23Z</dcterms:modified>
</cp:coreProperties>
</file>