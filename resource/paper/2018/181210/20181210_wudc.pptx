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5"/>
  </p:notesMasterIdLst>
  <p:sldIdLst>
    <p:sldId id="256" r:id="rId2"/>
    <p:sldId id="257" r:id="rId3"/>
    <p:sldId id="258" r:id="rId4"/>
    <p:sldId id="259" r:id="rId5"/>
    <p:sldId id="283" r:id="rId6"/>
    <p:sldId id="284" r:id="rId7"/>
    <p:sldId id="279" r:id="rId8"/>
    <p:sldId id="278" r:id="rId9"/>
    <p:sldId id="280" r:id="rId10"/>
    <p:sldId id="285" r:id="rId11"/>
    <p:sldId id="287" r:id="rId12"/>
    <p:sldId id="281" r:id="rId13"/>
    <p:sldId id="288" r:id="rId14"/>
  </p:sldIdLst>
  <p:sldSz cx="12192000" cy="6858000"/>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等深淺樣式 2 - 輔色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987" autoAdjust="0"/>
    <p:restoredTop sz="90867" autoAdjust="0"/>
  </p:normalViewPr>
  <p:slideViewPr>
    <p:cSldViewPr snapToGrid="0">
      <p:cViewPr varScale="1">
        <p:scale>
          <a:sx n="104" d="100"/>
          <a:sy n="104" d="100"/>
        </p:scale>
        <p:origin x="816" y="10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6B85392-FD07-4F5A-B34E-BA69B7FEBBF7}" type="datetimeFigureOut">
              <a:rPr lang="zh-TW" altLang="en-US" smtClean="0"/>
              <a:t>2018/12/10</a:t>
            </a:fld>
            <a:endParaRPr lang="zh-TW" altLang="en-US"/>
          </a:p>
        </p:txBody>
      </p:sp>
      <p:sp>
        <p:nvSpPr>
          <p:cNvPr id="4" name="投影片影像版面配置區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備忘稿版面配置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6" name="頁尾版面配置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TW" altLang="en-US"/>
          </a:p>
        </p:txBody>
      </p:sp>
      <p:sp>
        <p:nvSpPr>
          <p:cNvPr id="7" name="投影片編號版面配置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8745C38-81A3-45D4-9959-4EF52C41C41F}" type="slidenum">
              <a:rPr lang="zh-TW" altLang="en-US" smtClean="0"/>
              <a:t>‹#›</a:t>
            </a:fld>
            <a:endParaRPr lang="zh-TW" altLang="en-US"/>
          </a:p>
        </p:txBody>
      </p:sp>
    </p:spTree>
    <p:extLst>
      <p:ext uri="{BB962C8B-B14F-4D97-AF65-F5344CB8AC3E}">
        <p14:creationId xmlns:p14="http://schemas.microsoft.com/office/powerpoint/2010/main" val="97042407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3" Type="http://schemas.openxmlformats.org/officeDocument/2006/relationships/hyperlink" Target="https://goo.gl/nknG8Q" TargetMode="External"/><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dirty="0"/>
              <a:t>Orange labs: </a:t>
            </a:r>
            <a:r>
              <a:rPr lang="en-US" altLang="zh-TW" b="0" i="0" u="none" strike="noStrike" dirty="0">
                <a:solidFill>
                  <a:srgbClr val="4F9D9D"/>
                </a:solidFill>
                <a:effectLst/>
                <a:latin typeface="Helvetica" panose="020B0604020202020204" pitchFamily="34" charset="0"/>
                <a:hlinkClick r:id="rId3">
                  <a:extLst>
                    <a:ext uri="{A12FA001-AC4F-418D-AE19-62706E023703}">
                      <ahyp:hlinkClr xmlns:ahyp="http://schemas.microsoft.com/office/drawing/2018/hyperlinkcolor" val="tx"/>
                    </a:ext>
                  </a:extLst>
                </a:hlinkClick>
              </a:rPr>
              <a:t>https://goo.gl/nknG8Q</a:t>
            </a:r>
            <a:endParaRPr lang="zh-TW" altLang="en-US" dirty="0"/>
          </a:p>
        </p:txBody>
      </p:sp>
      <p:sp>
        <p:nvSpPr>
          <p:cNvPr id="4" name="投影片編號版面配置區 3"/>
          <p:cNvSpPr>
            <a:spLocks noGrp="1"/>
          </p:cNvSpPr>
          <p:nvPr>
            <p:ph type="sldNum" sz="quarter" idx="5"/>
          </p:nvPr>
        </p:nvSpPr>
        <p:spPr/>
        <p:txBody>
          <a:bodyPr/>
          <a:lstStyle/>
          <a:p>
            <a:fld id="{58745C38-81A3-45D4-9959-4EF52C41C41F}" type="slidenum">
              <a:rPr lang="zh-TW" altLang="en-US" smtClean="0"/>
              <a:t>1</a:t>
            </a:fld>
            <a:endParaRPr lang="zh-TW" altLang="en-US"/>
          </a:p>
        </p:txBody>
      </p:sp>
    </p:spTree>
    <p:extLst>
      <p:ext uri="{BB962C8B-B14F-4D97-AF65-F5344CB8AC3E}">
        <p14:creationId xmlns:p14="http://schemas.microsoft.com/office/powerpoint/2010/main" val="270381942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9BC481E-5F61-46D0-A7EB-4B78E26B7A60}"/>
              </a:ext>
            </a:extLst>
          </p:cNvPr>
          <p:cNvSpPr>
            <a:spLocks noGrp="1"/>
          </p:cNvSpPr>
          <p:nvPr>
            <p:ph type="ctrTitle"/>
          </p:nvPr>
        </p:nvSpPr>
        <p:spPr>
          <a:xfrm>
            <a:off x="1524000" y="1122363"/>
            <a:ext cx="9144000" cy="2387600"/>
          </a:xfrm>
        </p:spPr>
        <p:txBody>
          <a:bodyPr anchor="b"/>
          <a:lstStyle>
            <a:lvl1pPr algn="ctr">
              <a:defRPr sz="6000"/>
            </a:lvl1pPr>
          </a:lstStyle>
          <a:p>
            <a:r>
              <a:rPr lang="zh-TW" altLang="en-US"/>
              <a:t>按一下以編輯母片標題樣式</a:t>
            </a:r>
          </a:p>
        </p:txBody>
      </p:sp>
      <p:sp>
        <p:nvSpPr>
          <p:cNvPr id="3" name="副標題 2">
            <a:extLst>
              <a:ext uri="{FF2B5EF4-FFF2-40B4-BE49-F238E27FC236}">
                <a16:creationId xmlns:a16="http://schemas.microsoft.com/office/drawing/2014/main" id="{17ADD499-6C14-47C8-A9DB-F37A274DE04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TW" altLang="en-US"/>
              <a:t>按一下以編輯母片子標題樣式</a:t>
            </a:r>
          </a:p>
        </p:txBody>
      </p:sp>
      <p:sp>
        <p:nvSpPr>
          <p:cNvPr id="4" name="日期版面配置區 3">
            <a:extLst>
              <a:ext uri="{FF2B5EF4-FFF2-40B4-BE49-F238E27FC236}">
                <a16:creationId xmlns:a16="http://schemas.microsoft.com/office/drawing/2014/main" id="{95F44A6D-44A4-4AC5-A338-742D4C0C8050}"/>
              </a:ext>
            </a:extLst>
          </p:cNvPr>
          <p:cNvSpPr>
            <a:spLocks noGrp="1"/>
          </p:cNvSpPr>
          <p:nvPr>
            <p:ph type="dt" sz="half" idx="10"/>
          </p:nvPr>
        </p:nvSpPr>
        <p:spPr/>
        <p:txBody>
          <a:bodyPr/>
          <a:lstStyle/>
          <a:p>
            <a:fld id="{41044C1A-2725-48AE-A699-EA8E8FEFF634}" type="datetimeFigureOut">
              <a:rPr lang="zh-TW" altLang="en-US" smtClean="0"/>
              <a:t>2018/12/10</a:t>
            </a:fld>
            <a:endParaRPr lang="zh-TW" altLang="en-US"/>
          </a:p>
        </p:txBody>
      </p:sp>
      <p:sp>
        <p:nvSpPr>
          <p:cNvPr id="5" name="頁尾版面配置區 4">
            <a:extLst>
              <a:ext uri="{FF2B5EF4-FFF2-40B4-BE49-F238E27FC236}">
                <a16:creationId xmlns:a16="http://schemas.microsoft.com/office/drawing/2014/main" id="{2AA9A011-8B20-4955-AB02-9C883200A2AB}"/>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1D080B5D-51A0-4CC6-B85E-EECDD9C7E01F}"/>
              </a:ext>
            </a:extLst>
          </p:cNvPr>
          <p:cNvSpPr>
            <a:spLocks noGrp="1"/>
          </p:cNvSpPr>
          <p:nvPr>
            <p:ph type="sldNum" sz="quarter" idx="12"/>
          </p:nvPr>
        </p:nvSpPr>
        <p:spPr/>
        <p:txBody>
          <a:bodyPr/>
          <a:lstStyle/>
          <a:p>
            <a:fld id="{364A04DF-79DB-43AD-84D4-1FD653C12CA8}" type="slidenum">
              <a:rPr lang="zh-TW" altLang="en-US" smtClean="0"/>
              <a:t>‹#›</a:t>
            </a:fld>
            <a:endParaRPr lang="zh-TW" altLang="en-US"/>
          </a:p>
        </p:txBody>
      </p:sp>
    </p:spTree>
    <p:extLst>
      <p:ext uri="{BB962C8B-B14F-4D97-AF65-F5344CB8AC3E}">
        <p14:creationId xmlns:p14="http://schemas.microsoft.com/office/powerpoint/2010/main" val="160132469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BE791F4F-64C2-4448-AEA3-D8BAD00F9ACB}"/>
              </a:ext>
            </a:extLst>
          </p:cNvPr>
          <p:cNvSpPr>
            <a:spLocks noGrp="1"/>
          </p:cNvSpPr>
          <p:nvPr>
            <p:ph type="title"/>
          </p:nvPr>
        </p:nvSpPr>
        <p:spPr/>
        <p:txBody>
          <a:bodyPr/>
          <a:lstStyle/>
          <a:p>
            <a:r>
              <a:rPr lang="zh-TW" altLang="en-US"/>
              <a:t>按一下以編輯母片標題樣式</a:t>
            </a:r>
          </a:p>
        </p:txBody>
      </p:sp>
      <p:sp>
        <p:nvSpPr>
          <p:cNvPr id="3" name="內容版面配置區 2">
            <a:extLst>
              <a:ext uri="{FF2B5EF4-FFF2-40B4-BE49-F238E27FC236}">
                <a16:creationId xmlns:a16="http://schemas.microsoft.com/office/drawing/2014/main" id="{F9B64CD7-FFD4-4659-9A78-313C8279FA80}"/>
              </a:ext>
            </a:extLst>
          </p:cNvPr>
          <p:cNvSpPr>
            <a:spLocks noGrp="1"/>
          </p:cNvSpPr>
          <p:nvPr>
            <p:ph idx="1"/>
          </p:nvPr>
        </p:nvSpPr>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DDB714A2-D640-4631-BD91-D40EA7B8E5E1}"/>
              </a:ext>
            </a:extLst>
          </p:cNvPr>
          <p:cNvSpPr>
            <a:spLocks noGrp="1"/>
          </p:cNvSpPr>
          <p:nvPr>
            <p:ph type="dt" sz="half" idx="10"/>
          </p:nvPr>
        </p:nvSpPr>
        <p:spPr/>
        <p:txBody>
          <a:bodyPr/>
          <a:lstStyle/>
          <a:p>
            <a:fld id="{41044C1A-2725-48AE-A699-EA8E8FEFF634}" type="datetimeFigureOut">
              <a:rPr lang="zh-TW" altLang="en-US" smtClean="0"/>
              <a:t>2018/12/10</a:t>
            </a:fld>
            <a:endParaRPr lang="zh-TW" altLang="en-US"/>
          </a:p>
        </p:txBody>
      </p:sp>
      <p:sp>
        <p:nvSpPr>
          <p:cNvPr id="5" name="頁尾版面配置區 4">
            <a:extLst>
              <a:ext uri="{FF2B5EF4-FFF2-40B4-BE49-F238E27FC236}">
                <a16:creationId xmlns:a16="http://schemas.microsoft.com/office/drawing/2014/main" id="{E61BB7E8-FCCA-40E1-AF1F-1EC08D980842}"/>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3F37759F-4DEC-4AF9-AAF6-96479F6F82D5}"/>
              </a:ext>
            </a:extLst>
          </p:cNvPr>
          <p:cNvSpPr>
            <a:spLocks noGrp="1"/>
          </p:cNvSpPr>
          <p:nvPr>
            <p:ph type="sldNum" sz="quarter" idx="12"/>
          </p:nvPr>
        </p:nvSpPr>
        <p:spPr/>
        <p:txBody>
          <a:bodyPr/>
          <a:lstStyle/>
          <a:p>
            <a:fld id="{364A04DF-79DB-43AD-84D4-1FD653C12CA8}" type="slidenum">
              <a:rPr lang="zh-TW" altLang="en-US" smtClean="0"/>
              <a:t>‹#›</a:t>
            </a:fld>
            <a:endParaRPr lang="zh-TW" altLang="en-US"/>
          </a:p>
        </p:txBody>
      </p:sp>
    </p:spTree>
    <p:extLst>
      <p:ext uri="{BB962C8B-B14F-4D97-AF65-F5344CB8AC3E}">
        <p14:creationId xmlns:p14="http://schemas.microsoft.com/office/powerpoint/2010/main" val="68626699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44AF7F4-DE89-4B56-ABEB-65BE6D95F37B}"/>
              </a:ext>
            </a:extLst>
          </p:cNvPr>
          <p:cNvSpPr>
            <a:spLocks noGrp="1"/>
          </p:cNvSpPr>
          <p:nvPr>
            <p:ph type="title"/>
          </p:nvPr>
        </p:nvSpPr>
        <p:spPr>
          <a:xfrm>
            <a:off x="831850" y="1709738"/>
            <a:ext cx="10515600" cy="2852737"/>
          </a:xfrm>
        </p:spPr>
        <p:txBody>
          <a:bodyPr anchor="b"/>
          <a:lstStyle>
            <a:lvl1pPr>
              <a:defRPr sz="6000"/>
            </a:lvl1pPr>
          </a:lstStyle>
          <a:p>
            <a:r>
              <a:rPr lang="zh-TW" altLang="en-US"/>
              <a:t>按一下以編輯母片標題樣式</a:t>
            </a:r>
          </a:p>
        </p:txBody>
      </p:sp>
      <p:sp>
        <p:nvSpPr>
          <p:cNvPr id="3" name="文字版面配置區 2">
            <a:extLst>
              <a:ext uri="{FF2B5EF4-FFF2-40B4-BE49-F238E27FC236}">
                <a16:creationId xmlns:a16="http://schemas.microsoft.com/office/drawing/2014/main" id="{C0726E6B-7A4E-46A3-888F-3ECB35C601FB}"/>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TW" altLang="en-US"/>
              <a:t>編輯母片文字樣式</a:t>
            </a:r>
          </a:p>
        </p:txBody>
      </p:sp>
      <p:sp>
        <p:nvSpPr>
          <p:cNvPr id="4" name="日期版面配置區 3">
            <a:extLst>
              <a:ext uri="{FF2B5EF4-FFF2-40B4-BE49-F238E27FC236}">
                <a16:creationId xmlns:a16="http://schemas.microsoft.com/office/drawing/2014/main" id="{92DC7246-3967-4A8C-89BD-498BAD9237DB}"/>
              </a:ext>
            </a:extLst>
          </p:cNvPr>
          <p:cNvSpPr>
            <a:spLocks noGrp="1"/>
          </p:cNvSpPr>
          <p:nvPr>
            <p:ph type="dt" sz="half" idx="10"/>
          </p:nvPr>
        </p:nvSpPr>
        <p:spPr/>
        <p:txBody>
          <a:bodyPr/>
          <a:lstStyle/>
          <a:p>
            <a:fld id="{41044C1A-2725-48AE-A699-EA8E8FEFF634}" type="datetimeFigureOut">
              <a:rPr lang="zh-TW" altLang="en-US" smtClean="0"/>
              <a:t>2018/12/10</a:t>
            </a:fld>
            <a:endParaRPr lang="zh-TW" altLang="en-US"/>
          </a:p>
        </p:txBody>
      </p:sp>
      <p:sp>
        <p:nvSpPr>
          <p:cNvPr id="5" name="頁尾版面配置區 4">
            <a:extLst>
              <a:ext uri="{FF2B5EF4-FFF2-40B4-BE49-F238E27FC236}">
                <a16:creationId xmlns:a16="http://schemas.microsoft.com/office/drawing/2014/main" id="{D8A016C2-FC45-4CB6-AE5C-B5A2929ECFB1}"/>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00643CBF-BA29-45F4-B839-D048AC73EB01}"/>
              </a:ext>
            </a:extLst>
          </p:cNvPr>
          <p:cNvSpPr>
            <a:spLocks noGrp="1"/>
          </p:cNvSpPr>
          <p:nvPr>
            <p:ph type="sldNum" sz="quarter" idx="12"/>
          </p:nvPr>
        </p:nvSpPr>
        <p:spPr/>
        <p:txBody>
          <a:bodyPr/>
          <a:lstStyle/>
          <a:p>
            <a:fld id="{364A04DF-79DB-43AD-84D4-1FD653C12CA8}" type="slidenum">
              <a:rPr lang="zh-TW" altLang="en-US" smtClean="0"/>
              <a:t>‹#›</a:t>
            </a:fld>
            <a:endParaRPr lang="zh-TW" altLang="en-US"/>
          </a:p>
        </p:txBody>
      </p:sp>
    </p:spTree>
    <p:extLst>
      <p:ext uri="{BB962C8B-B14F-4D97-AF65-F5344CB8AC3E}">
        <p14:creationId xmlns:p14="http://schemas.microsoft.com/office/powerpoint/2010/main" val="381054972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個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03084E2-FF74-41D8-B7FC-96287DBEDD06}"/>
              </a:ext>
            </a:extLst>
          </p:cNvPr>
          <p:cNvSpPr>
            <a:spLocks noGrp="1"/>
          </p:cNvSpPr>
          <p:nvPr>
            <p:ph type="title"/>
          </p:nvPr>
        </p:nvSpPr>
        <p:spPr/>
        <p:txBody>
          <a:bodyPr/>
          <a:lstStyle/>
          <a:p>
            <a:r>
              <a:rPr lang="zh-TW" altLang="en-US"/>
              <a:t>按一下以編輯母片標題樣式</a:t>
            </a:r>
          </a:p>
        </p:txBody>
      </p:sp>
      <p:sp>
        <p:nvSpPr>
          <p:cNvPr id="3" name="內容版面配置區 2">
            <a:extLst>
              <a:ext uri="{FF2B5EF4-FFF2-40B4-BE49-F238E27FC236}">
                <a16:creationId xmlns:a16="http://schemas.microsoft.com/office/drawing/2014/main" id="{830DA591-3941-4641-B043-A7B6860269EF}"/>
              </a:ext>
            </a:extLst>
          </p:cNvPr>
          <p:cNvSpPr>
            <a:spLocks noGrp="1"/>
          </p:cNvSpPr>
          <p:nvPr>
            <p:ph sz="half" idx="1"/>
          </p:nvPr>
        </p:nvSpPr>
        <p:spPr>
          <a:xfrm>
            <a:off x="838200" y="1825625"/>
            <a:ext cx="5181600" cy="435133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內容版面配置區 3">
            <a:extLst>
              <a:ext uri="{FF2B5EF4-FFF2-40B4-BE49-F238E27FC236}">
                <a16:creationId xmlns:a16="http://schemas.microsoft.com/office/drawing/2014/main" id="{D58EE040-2A49-41BF-9734-4F1C3C128D10}"/>
              </a:ext>
            </a:extLst>
          </p:cNvPr>
          <p:cNvSpPr>
            <a:spLocks noGrp="1"/>
          </p:cNvSpPr>
          <p:nvPr>
            <p:ph sz="half" idx="2"/>
          </p:nvPr>
        </p:nvSpPr>
        <p:spPr>
          <a:xfrm>
            <a:off x="6172200" y="1825625"/>
            <a:ext cx="5181600" cy="435133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日期版面配置區 4">
            <a:extLst>
              <a:ext uri="{FF2B5EF4-FFF2-40B4-BE49-F238E27FC236}">
                <a16:creationId xmlns:a16="http://schemas.microsoft.com/office/drawing/2014/main" id="{78EECCAB-4CA7-44B9-B7B8-DC7FF51030C5}"/>
              </a:ext>
            </a:extLst>
          </p:cNvPr>
          <p:cNvSpPr>
            <a:spLocks noGrp="1"/>
          </p:cNvSpPr>
          <p:nvPr>
            <p:ph type="dt" sz="half" idx="10"/>
          </p:nvPr>
        </p:nvSpPr>
        <p:spPr/>
        <p:txBody>
          <a:bodyPr/>
          <a:lstStyle/>
          <a:p>
            <a:fld id="{41044C1A-2725-48AE-A699-EA8E8FEFF634}" type="datetimeFigureOut">
              <a:rPr lang="zh-TW" altLang="en-US" smtClean="0"/>
              <a:t>2018/12/10</a:t>
            </a:fld>
            <a:endParaRPr lang="zh-TW" altLang="en-US"/>
          </a:p>
        </p:txBody>
      </p:sp>
      <p:sp>
        <p:nvSpPr>
          <p:cNvPr id="6" name="頁尾版面配置區 5">
            <a:extLst>
              <a:ext uri="{FF2B5EF4-FFF2-40B4-BE49-F238E27FC236}">
                <a16:creationId xmlns:a16="http://schemas.microsoft.com/office/drawing/2014/main" id="{31F1834D-5465-453A-8482-4EA306D63AA2}"/>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id="{EEDEEDDC-2E51-41D6-BBEE-C8A5AEE90B3A}"/>
              </a:ext>
            </a:extLst>
          </p:cNvPr>
          <p:cNvSpPr>
            <a:spLocks noGrp="1"/>
          </p:cNvSpPr>
          <p:nvPr>
            <p:ph type="sldNum" sz="quarter" idx="12"/>
          </p:nvPr>
        </p:nvSpPr>
        <p:spPr/>
        <p:txBody>
          <a:bodyPr/>
          <a:lstStyle/>
          <a:p>
            <a:fld id="{364A04DF-79DB-43AD-84D4-1FD653C12CA8}" type="slidenum">
              <a:rPr lang="zh-TW" altLang="en-US" smtClean="0"/>
              <a:t>‹#›</a:t>
            </a:fld>
            <a:endParaRPr lang="zh-TW" altLang="en-US"/>
          </a:p>
        </p:txBody>
      </p:sp>
    </p:spTree>
    <p:extLst>
      <p:ext uri="{BB962C8B-B14F-4D97-AF65-F5344CB8AC3E}">
        <p14:creationId xmlns:p14="http://schemas.microsoft.com/office/powerpoint/2010/main" val="289062850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60891CDC-A371-490F-A9D6-C81ACFD420F9}"/>
              </a:ext>
            </a:extLst>
          </p:cNvPr>
          <p:cNvSpPr>
            <a:spLocks noGrp="1"/>
          </p:cNvSpPr>
          <p:nvPr>
            <p:ph type="title"/>
          </p:nvPr>
        </p:nvSpPr>
        <p:spPr>
          <a:xfrm>
            <a:off x="839788" y="365125"/>
            <a:ext cx="10515600" cy="1325563"/>
          </a:xfrm>
        </p:spPr>
        <p:txBody>
          <a:bodyPr/>
          <a:lstStyle/>
          <a:p>
            <a:r>
              <a:rPr lang="zh-TW" altLang="en-US"/>
              <a:t>按一下以編輯母片標題樣式</a:t>
            </a:r>
          </a:p>
        </p:txBody>
      </p:sp>
      <p:sp>
        <p:nvSpPr>
          <p:cNvPr id="3" name="文字版面配置區 2">
            <a:extLst>
              <a:ext uri="{FF2B5EF4-FFF2-40B4-BE49-F238E27FC236}">
                <a16:creationId xmlns:a16="http://schemas.microsoft.com/office/drawing/2014/main" id="{AA6414E1-9AA2-4412-BC87-8B794947A86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編輯母片文字樣式</a:t>
            </a:r>
          </a:p>
        </p:txBody>
      </p:sp>
      <p:sp>
        <p:nvSpPr>
          <p:cNvPr id="4" name="內容版面配置區 3">
            <a:extLst>
              <a:ext uri="{FF2B5EF4-FFF2-40B4-BE49-F238E27FC236}">
                <a16:creationId xmlns:a16="http://schemas.microsoft.com/office/drawing/2014/main" id="{AF8352C1-957A-43C9-A792-1F703940CD51}"/>
              </a:ext>
            </a:extLst>
          </p:cNvPr>
          <p:cNvSpPr>
            <a:spLocks noGrp="1"/>
          </p:cNvSpPr>
          <p:nvPr>
            <p:ph sz="half" idx="2"/>
          </p:nvPr>
        </p:nvSpPr>
        <p:spPr>
          <a:xfrm>
            <a:off x="839788" y="2505075"/>
            <a:ext cx="5157787" cy="368458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文字版面配置區 4">
            <a:extLst>
              <a:ext uri="{FF2B5EF4-FFF2-40B4-BE49-F238E27FC236}">
                <a16:creationId xmlns:a16="http://schemas.microsoft.com/office/drawing/2014/main" id="{3189CE18-112C-4840-B26C-362D7C230EF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編輯母片文字樣式</a:t>
            </a:r>
          </a:p>
        </p:txBody>
      </p:sp>
      <p:sp>
        <p:nvSpPr>
          <p:cNvPr id="6" name="內容版面配置區 5">
            <a:extLst>
              <a:ext uri="{FF2B5EF4-FFF2-40B4-BE49-F238E27FC236}">
                <a16:creationId xmlns:a16="http://schemas.microsoft.com/office/drawing/2014/main" id="{F7815674-7564-427E-B7B9-22E8C7F54041}"/>
              </a:ext>
            </a:extLst>
          </p:cNvPr>
          <p:cNvSpPr>
            <a:spLocks noGrp="1"/>
          </p:cNvSpPr>
          <p:nvPr>
            <p:ph sz="quarter" idx="4"/>
          </p:nvPr>
        </p:nvSpPr>
        <p:spPr>
          <a:xfrm>
            <a:off x="6172200" y="2505075"/>
            <a:ext cx="5183188" cy="368458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7" name="日期版面配置區 6">
            <a:extLst>
              <a:ext uri="{FF2B5EF4-FFF2-40B4-BE49-F238E27FC236}">
                <a16:creationId xmlns:a16="http://schemas.microsoft.com/office/drawing/2014/main" id="{2891BEAE-F89E-4D1D-88D1-CE02EB287033}"/>
              </a:ext>
            </a:extLst>
          </p:cNvPr>
          <p:cNvSpPr>
            <a:spLocks noGrp="1"/>
          </p:cNvSpPr>
          <p:nvPr>
            <p:ph type="dt" sz="half" idx="10"/>
          </p:nvPr>
        </p:nvSpPr>
        <p:spPr/>
        <p:txBody>
          <a:bodyPr/>
          <a:lstStyle/>
          <a:p>
            <a:fld id="{41044C1A-2725-48AE-A699-EA8E8FEFF634}" type="datetimeFigureOut">
              <a:rPr lang="zh-TW" altLang="en-US" smtClean="0"/>
              <a:t>2018/12/10</a:t>
            </a:fld>
            <a:endParaRPr lang="zh-TW" altLang="en-US"/>
          </a:p>
        </p:txBody>
      </p:sp>
      <p:sp>
        <p:nvSpPr>
          <p:cNvPr id="8" name="頁尾版面配置區 7">
            <a:extLst>
              <a:ext uri="{FF2B5EF4-FFF2-40B4-BE49-F238E27FC236}">
                <a16:creationId xmlns:a16="http://schemas.microsoft.com/office/drawing/2014/main" id="{001E6835-0CA2-4E4B-AA2A-F90C8E504D80}"/>
              </a:ext>
            </a:extLst>
          </p:cNvPr>
          <p:cNvSpPr>
            <a:spLocks noGrp="1"/>
          </p:cNvSpPr>
          <p:nvPr>
            <p:ph type="ftr" sz="quarter" idx="11"/>
          </p:nvPr>
        </p:nvSpPr>
        <p:spPr/>
        <p:txBody>
          <a:bodyPr/>
          <a:lstStyle/>
          <a:p>
            <a:endParaRPr lang="zh-TW" altLang="en-US"/>
          </a:p>
        </p:txBody>
      </p:sp>
      <p:sp>
        <p:nvSpPr>
          <p:cNvPr id="9" name="投影片編號版面配置區 8">
            <a:extLst>
              <a:ext uri="{FF2B5EF4-FFF2-40B4-BE49-F238E27FC236}">
                <a16:creationId xmlns:a16="http://schemas.microsoft.com/office/drawing/2014/main" id="{AF7BAAA1-3B0C-467E-B178-590BB83B6637}"/>
              </a:ext>
            </a:extLst>
          </p:cNvPr>
          <p:cNvSpPr>
            <a:spLocks noGrp="1"/>
          </p:cNvSpPr>
          <p:nvPr>
            <p:ph type="sldNum" sz="quarter" idx="12"/>
          </p:nvPr>
        </p:nvSpPr>
        <p:spPr/>
        <p:txBody>
          <a:bodyPr/>
          <a:lstStyle/>
          <a:p>
            <a:fld id="{364A04DF-79DB-43AD-84D4-1FD653C12CA8}" type="slidenum">
              <a:rPr lang="zh-TW" altLang="en-US" smtClean="0"/>
              <a:t>‹#›</a:t>
            </a:fld>
            <a:endParaRPr lang="zh-TW" altLang="en-US"/>
          </a:p>
        </p:txBody>
      </p:sp>
    </p:spTree>
    <p:extLst>
      <p:ext uri="{BB962C8B-B14F-4D97-AF65-F5344CB8AC3E}">
        <p14:creationId xmlns:p14="http://schemas.microsoft.com/office/powerpoint/2010/main" val="174528555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9DDB431-29CB-4FE4-9ADC-233E5E38B213}"/>
              </a:ext>
            </a:extLst>
          </p:cNvPr>
          <p:cNvSpPr>
            <a:spLocks noGrp="1"/>
          </p:cNvSpPr>
          <p:nvPr>
            <p:ph type="title"/>
          </p:nvPr>
        </p:nvSpPr>
        <p:spPr/>
        <p:txBody>
          <a:bodyPr/>
          <a:lstStyle/>
          <a:p>
            <a:r>
              <a:rPr lang="zh-TW" altLang="en-US"/>
              <a:t>按一下以編輯母片標題樣式</a:t>
            </a:r>
          </a:p>
        </p:txBody>
      </p:sp>
      <p:sp>
        <p:nvSpPr>
          <p:cNvPr id="3" name="日期版面配置區 2">
            <a:extLst>
              <a:ext uri="{FF2B5EF4-FFF2-40B4-BE49-F238E27FC236}">
                <a16:creationId xmlns:a16="http://schemas.microsoft.com/office/drawing/2014/main" id="{AB26AC26-EB83-4AB6-9E2F-C8457BF27656}"/>
              </a:ext>
            </a:extLst>
          </p:cNvPr>
          <p:cNvSpPr>
            <a:spLocks noGrp="1"/>
          </p:cNvSpPr>
          <p:nvPr>
            <p:ph type="dt" sz="half" idx="10"/>
          </p:nvPr>
        </p:nvSpPr>
        <p:spPr/>
        <p:txBody>
          <a:bodyPr/>
          <a:lstStyle/>
          <a:p>
            <a:fld id="{41044C1A-2725-48AE-A699-EA8E8FEFF634}" type="datetimeFigureOut">
              <a:rPr lang="zh-TW" altLang="en-US" smtClean="0"/>
              <a:t>2018/12/10</a:t>
            </a:fld>
            <a:endParaRPr lang="zh-TW" altLang="en-US"/>
          </a:p>
        </p:txBody>
      </p:sp>
      <p:sp>
        <p:nvSpPr>
          <p:cNvPr id="4" name="頁尾版面配置區 3">
            <a:extLst>
              <a:ext uri="{FF2B5EF4-FFF2-40B4-BE49-F238E27FC236}">
                <a16:creationId xmlns:a16="http://schemas.microsoft.com/office/drawing/2014/main" id="{DA0D9A16-24C2-4ED2-BD1F-40A62B4B57A4}"/>
              </a:ext>
            </a:extLst>
          </p:cNvPr>
          <p:cNvSpPr>
            <a:spLocks noGrp="1"/>
          </p:cNvSpPr>
          <p:nvPr>
            <p:ph type="ftr" sz="quarter" idx="11"/>
          </p:nvPr>
        </p:nvSpPr>
        <p:spPr/>
        <p:txBody>
          <a:bodyPr/>
          <a:lstStyle/>
          <a:p>
            <a:endParaRPr lang="zh-TW" altLang="en-US"/>
          </a:p>
        </p:txBody>
      </p:sp>
      <p:sp>
        <p:nvSpPr>
          <p:cNvPr id="5" name="投影片編號版面配置區 4">
            <a:extLst>
              <a:ext uri="{FF2B5EF4-FFF2-40B4-BE49-F238E27FC236}">
                <a16:creationId xmlns:a16="http://schemas.microsoft.com/office/drawing/2014/main" id="{8002A40A-1FF4-4F68-B9F8-CCFE6F0A61DE}"/>
              </a:ext>
            </a:extLst>
          </p:cNvPr>
          <p:cNvSpPr>
            <a:spLocks noGrp="1"/>
          </p:cNvSpPr>
          <p:nvPr>
            <p:ph type="sldNum" sz="quarter" idx="12"/>
          </p:nvPr>
        </p:nvSpPr>
        <p:spPr/>
        <p:txBody>
          <a:bodyPr/>
          <a:lstStyle/>
          <a:p>
            <a:fld id="{364A04DF-79DB-43AD-84D4-1FD653C12CA8}" type="slidenum">
              <a:rPr lang="zh-TW" altLang="en-US" smtClean="0"/>
              <a:t>‹#›</a:t>
            </a:fld>
            <a:endParaRPr lang="zh-TW" altLang="en-US"/>
          </a:p>
        </p:txBody>
      </p:sp>
    </p:spTree>
    <p:extLst>
      <p:ext uri="{BB962C8B-B14F-4D97-AF65-F5344CB8AC3E}">
        <p14:creationId xmlns:p14="http://schemas.microsoft.com/office/powerpoint/2010/main" val="65310237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1">
            <a:extLst>
              <a:ext uri="{FF2B5EF4-FFF2-40B4-BE49-F238E27FC236}">
                <a16:creationId xmlns:a16="http://schemas.microsoft.com/office/drawing/2014/main" id="{EC7FE82F-7353-4EB6-B115-3F4F883AB669}"/>
              </a:ext>
            </a:extLst>
          </p:cNvPr>
          <p:cNvSpPr>
            <a:spLocks noGrp="1"/>
          </p:cNvSpPr>
          <p:nvPr>
            <p:ph type="dt" sz="half" idx="10"/>
          </p:nvPr>
        </p:nvSpPr>
        <p:spPr/>
        <p:txBody>
          <a:bodyPr/>
          <a:lstStyle/>
          <a:p>
            <a:fld id="{41044C1A-2725-48AE-A699-EA8E8FEFF634}" type="datetimeFigureOut">
              <a:rPr lang="zh-TW" altLang="en-US" smtClean="0"/>
              <a:t>2018/12/10</a:t>
            </a:fld>
            <a:endParaRPr lang="zh-TW" altLang="en-US"/>
          </a:p>
        </p:txBody>
      </p:sp>
      <p:sp>
        <p:nvSpPr>
          <p:cNvPr id="3" name="頁尾版面配置區 2">
            <a:extLst>
              <a:ext uri="{FF2B5EF4-FFF2-40B4-BE49-F238E27FC236}">
                <a16:creationId xmlns:a16="http://schemas.microsoft.com/office/drawing/2014/main" id="{6B99597B-30C7-4D52-AD5F-C858CCF870AF}"/>
              </a:ext>
            </a:extLst>
          </p:cNvPr>
          <p:cNvSpPr>
            <a:spLocks noGrp="1"/>
          </p:cNvSpPr>
          <p:nvPr>
            <p:ph type="ftr" sz="quarter" idx="11"/>
          </p:nvPr>
        </p:nvSpPr>
        <p:spPr/>
        <p:txBody>
          <a:bodyPr/>
          <a:lstStyle/>
          <a:p>
            <a:endParaRPr lang="zh-TW" altLang="en-US"/>
          </a:p>
        </p:txBody>
      </p:sp>
      <p:sp>
        <p:nvSpPr>
          <p:cNvPr id="4" name="投影片編號版面配置區 3">
            <a:extLst>
              <a:ext uri="{FF2B5EF4-FFF2-40B4-BE49-F238E27FC236}">
                <a16:creationId xmlns:a16="http://schemas.microsoft.com/office/drawing/2014/main" id="{C558E562-3645-444D-99EF-C224D8AC7925}"/>
              </a:ext>
            </a:extLst>
          </p:cNvPr>
          <p:cNvSpPr>
            <a:spLocks noGrp="1"/>
          </p:cNvSpPr>
          <p:nvPr>
            <p:ph type="sldNum" sz="quarter" idx="12"/>
          </p:nvPr>
        </p:nvSpPr>
        <p:spPr/>
        <p:txBody>
          <a:bodyPr/>
          <a:lstStyle/>
          <a:p>
            <a:fld id="{364A04DF-79DB-43AD-84D4-1FD653C12CA8}" type="slidenum">
              <a:rPr lang="zh-TW" altLang="en-US" smtClean="0"/>
              <a:t>‹#›</a:t>
            </a:fld>
            <a:endParaRPr lang="zh-TW" altLang="en-US"/>
          </a:p>
        </p:txBody>
      </p:sp>
    </p:spTree>
    <p:extLst>
      <p:ext uri="{BB962C8B-B14F-4D97-AF65-F5344CB8AC3E}">
        <p14:creationId xmlns:p14="http://schemas.microsoft.com/office/powerpoint/2010/main" val="120250084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B5C8A51-2D2B-48E7-9226-50EB6A225161}"/>
              </a:ext>
            </a:extLst>
          </p:cNvPr>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p>
        </p:txBody>
      </p:sp>
      <p:sp>
        <p:nvSpPr>
          <p:cNvPr id="3" name="內容版面配置區 2">
            <a:extLst>
              <a:ext uri="{FF2B5EF4-FFF2-40B4-BE49-F238E27FC236}">
                <a16:creationId xmlns:a16="http://schemas.microsoft.com/office/drawing/2014/main" id="{1A09DA89-D924-4187-86BB-0DE7413CB91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文字版面配置區 3">
            <a:extLst>
              <a:ext uri="{FF2B5EF4-FFF2-40B4-BE49-F238E27FC236}">
                <a16:creationId xmlns:a16="http://schemas.microsoft.com/office/drawing/2014/main" id="{9A862BBB-0FF2-4F4D-A76D-1F88CE6159A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編輯母片文字樣式</a:t>
            </a:r>
          </a:p>
        </p:txBody>
      </p:sp>
      <p:sp>
        <p:nvSpPr>
          <p:cNvPr id="5" name="日期版面配置區 4">
            <a:extLst>
              <a:ext uri="{FF2B5EF4-FFF2-40B4-BE49-F238E27FC236}">
                <a16:creationId xmlns:a16="http://schemas.microsoft.com/office/drawing/2014/main" id="{3DE41C95-2028-4108-B014-39C5648C739C}"/>
              </a:ext>
            </a:extLst>
          </p:cNvPr>
          <p:cNvSpPr>
            <a:spLocks noGrp="1"/>
          </p:cNvSpPr>
          <p:nvPr>
            <p:ph type="dt" sz="half" idx="10"/>
          </p:nvPr>
        </p:nvSpPr>
        <p:spPr/>
        <p:txBody>
          <a:bodyPr/>
          <a:lstStyle/>
          <a:p>
            <a:fld id="{41044C1A-2725-48AE-A699-EA8E8FEFF634}" type="datetimeFigureOut">
              <a:rPr lang="zh-TW" altLang="en-US" smtClean="0"/>
              <a:t>2018/12/10</a:t>
            </a:fld>
            <a:endParaRPr lang="zh-TW" altLang="en-US"/>
          </a:p>
        </p:txBody>
      </p:sp>
      <p:sp>
        <p:nvSpPr>
          <p:cNvPr id="6" name="頁尾版面配置區 5">
            <a:extLst>
              <a:ext uri="{FF2B5EF4-FFF2-40B4-BE49-F238E27FC236}">
                <a16:creationId xmlns:a16="http://schemas.microsoft.com/office/drawing/2014/main" id="{2BD103DD-D7EC-4F8E-92E4-F3DF3C873107}"/>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id="{A26E5469-9EC0-4784-86DB-CFF18B624D06}"/>
              </a:ext>
            </a:extLst>
          </p:cNvPr>
          <p:cNvSpPr>
            <a:spLocks noGrp="1"/>
          </p:cNvSpPr>
          <p:nvPr>
            <p:ph type="sldNum" sz="quarter" idx="12"/>
          </p:nvPr>
        </p:nvSpPr>
        <p:spPr/>
        <p:txBody>
          <a:bodyPr/>
          <a:lstStyle/>
          <a:p>
            <a:fld id="{364A04DF-79DB-43AD-84D4-1FD653C12CA8}" type="slidenum">
              <a:rPr lang="zh-TW" altLang="en-US" smtClean="0"/>
              <a:t>‹#›</a:t>
            </a:fld>
            <a:endParaRPr lang="zh-TW" altLang="en-US"/>
          </a:p>
        </p:txBody>
      </p:sp>
    </p:spTree>
    <p:extLst>
      <p:ext uri="{BB962C8B-B14F-4D97-AF65-F5344CB8AC3E}">
        <p14:creationId xmlns:p14="http://schemas.microsoft.com/office/powerpoint/2010/main" val="421705137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20BCCB00-EDDD-4021-BFA8-37AF232E09AC}"/>
              </a:ext>
            </a:extLst>
          </p:cNvPr>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p>
        </p:txBody>
      </p:sp>
      <p:sp>
        <p:nvSpPr>
          <p:cNvPr id="3" name="圖片版面配置區 2">
            <a:extLst>
              <a:ext uri="{FF2B5EF4-FFF2-40B4-BE49-F238E27FC236}">
                <a16:creationId xmlns:a16="http://schemas.microsoft.com/office/drawing/2014/main" id="{0B62902F-3F9A-4799-B356-32DB2D43C0B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TW" altLang="en-US"/>
          </a:p>
        </p:txBody>
      </p:sp>
      <p:sp>
        <p:nvSpPr>
          <p:cNvPr id="4" name="文字版面配置區 3">
            <a:extLst>
              <a:ext uri="{FF2B5EF4-FFF2-40B4-BE49-F238E27FC236}">
                <a16:creationId xmlns:a16="http://schemas.microsoft.com/office/drawing/2014/main" id="{341559B7-9AC4-469F-8F42-A7EAC56083D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編輯母片文字樣式</a:t>
            </a:r>
          </a:p>
        </p:txBody>
      </p:sp>
      <p:sp>
        <p:nvSpPr>
          <p:cNvPr id="5" name="日期版面配置區 4">
            <a:extLst>
              <a:ext uri="{FF2B5EF4-FFF2-40B4-BE49-F238E27FC236}">
                <a16:creationId xmlns:a16="http://schemas.microsoft.com/office/drawing/2014/main" id="{73C1A871-1FB1-426F-B468-F433644ACEE0}"/>
              </a:ext>
            </a:extLst>
          </p:cNvPr>
          <p:cNvSpPr>
            <a:spLocks noGrp="1"/>
          </p:cNvSpPr>
          <p:nvPr>
            <p:ph type="dt" sz="half" idx="10"/>
          </p:nvPr>
        </p:nvSpPr>
        <p:spPr/>
        <p:txBody>
          <a:bodyPr/>
          <a:lstStyle/>
          <a:p>
            <a:fld id="{41044C1A-2725-48AE-A699-EA8E8FEFF634}" type="datetimeFigureOut">
              <a:rPr lang="zh-TW" altLang="en-US" smtClean="0"/>
              <a:t>2018/12/10</a:t>
            </a:fld>
            <a:endParaRPr lang="zh-TW" altLang="en-US"/>
          </a:p>
        </p:txBody>
      </p:sp>
      <p:sp>
        <p:nvSpPr>
          <p:cNvPr id="6" name="頁尾版面配置區 5">
            <a:extLst>
              <a:ext uri="{FF2B5EF4-FFF2-40B4-BE49-F238E27FC236}">
                <a16:creationId xmlns:a16="http://schemas.microsoft.com/office/drawing/2014/main" id="{002851D3-4076-4BC5-9DED-D4BED17FEA84}"/>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id="{4E57C28A-8893-4984-9E48-FEAF55A07CF7}"/>
              </a:ext>
            </a:extLst>
          </p:cNvPr>
          <p:cNvSpPr>
            <a:spLocks noGrp="1"/>
          </p:cNvSpPr>
          <p:nvPr>
            <p:ph type="sldNum" sz="quarter" idx="12"/>
          </p:nvPr>
        </p:nvSpPr>
        <p:spPr/>
        <p:txBody>
          <a:bodyPr/>
          <a:lstStyle/>
          <a:p>
            <a:fld id="{364A04DF-79DB-43AD-84D4-1FD653C12CA8}" type="slidenum">
              <a:rPr lang="zh-TW" altLang="en-US" smtClean="0"/>
              <a:t>‹#›</a:t>
            </a:fld>
            <a:endParaRPr lang="zh-TW" altLang="en-US"/>
          </a:p>
        </p:txBody>
      </p:sp>
    </p:spTree>
    <p:extLst>
      <p:ext uri="{BB962C8B-B14F-4D97-AF65-F5344CB8AC3E}">
        <p14:creationId xmlns:p14="http://schemas.microsoft.com/office/powerpoint/2010/main" val="64435970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8329808D-8B18-4D63-9A86-7E543A995F52}"/>
              </a:ext>
            </a:extLst>
          </p:cNvPr>
          <p:cNvSpPr>
            <a:spLocks noGrp="1"/>
          </p:cNvSpPr>
          <p:nvPr>
            <p:ph type="title"/>
          </p:nvPr>
        </p:nvSpPr>
        <p:spPr/>
        <p:txBody>
          <a:bodyPr/>
          <a:lstStyle/>
          <a:p>
            <a:r>
              <a:rPr lang="zh-TW" altLang="en-US"/>
              <a:t>按一下以編輯母片標題樣式</a:t>
            </a:r>
          </a:p>
        </p:txBody>
      </p:sp>
      <p:sp>
        <p:nvSpPr>
          <p:cNvPr id="3" name="直排文字版面配置區 2">
            <a:extLst>
              <a:ext uri="{FF2B5EF4-FFF2-40B4-BE49-F238E27FC236}">
                <a16:creationId xmlns:a16="http://schemas.microsoft.com/office/drawing/2014/main" id="{1C65D312-39D6-45B8-A43D-EE4F531E6F96}"/>
              </a:ext>
            </a:extLst>
          </p:cNvPr>
          <p:cNvSpPr>
            <a:spLocks noGrp="1"/>
          </p:cNvSpPr>
          <p:nvPr>
            <p:ph type="body" orient="vert" idx="1"/>
          </p:nvPr>
        </p:nvSpPr>
        <p:spPr/>
        <p:txBody>
          <a:bodyPr vert="eaVert"/>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D386A780-A433-4084-B504-8CA5C05D15EC}"/>
              </a:ext>
            </a:extLst>
          </p:cNvPr>
          <p:cNvSpPr>
            <a:spLocks noGrp="1"/>
          </p:cNvSpPr>
          <p:nvPr>
            <p:ph type="dt" sz="half" idx="10"/>
          </p:nvPr>
        </p:nvSpPr>
        <p:spPr/>
        <p:txBody>
          <a:bodyPr/>
          <a:lstStyle/>
          <a:p>
            <a:fld id="{41044C1A-2725-48AE-A699-EA8E8FEFF634}" type="datetimeFigureOut">
              <a:rPr lang="zh-TW" altLang="en-US" smtClean="0"/>
              <a:t>2018/12/10</a:t>
            </a:fld>
            <a:endParaRPr lang="zh-TW" altLang="en-US"/>
          </a:p>
        </p:txBody>
      </p:sp>
      <p:sp>
        <p:nvSpPr>
          <p:cNvPr id="5" name="頁尾版面配置區 4">
            <a:extLst>
              <a:ext uri="{FF2B5EF4-FFF2-40B4-BE49-F238E27FC236}">
                <a16:creationId xmlns:a16="http://schemas.microsoft.com/office/drawing/2014/main" id="{8C6AE278-5465-4135-8119-D4FFB673E5C6}"/>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BC2B663D-8C1E-4440-923C-9B28783B6788}"/>
              </a:ext>
            </a:extLst>
          </p:cNvPr>
          <p:cNvSpPr>
            <a:spLocks noGrp="1"/>
          </p:cNvSpPr>
          <p:nvPr>
            <p:ph type="sldNum" sz="quarter" idx="12"/>
          </p:nvPr>
        </p:nvSpPr>
        <p:spPr/>
        <p:txBody>
          <a:bodyPr/>
          <a:lstStyle/>
          <a:p>
            <a:fld id="{364A04DF-79DB-43AD-84D4-1FD653C12CA8}" type="slidenum">
              <a:rPr lang="zh-TW" altLang="en-US" smtClean="0"/>
              <a:t>‹#›</a:t>
            </a:fld>
            <a:endParaRPr lang="zh-TW" altLang="en-US"/>
          </a:p>
        </p:txBody>
      </p:sp>
    </p:spTree>
    <p:extLst>
      <p:ext uri="{BB962C8B-B14F-4D97-AF65-F5344CB8AC3E}">
        <p14:creationId xmlns:p14="http://schemas.microsoft.com/office/powerpoint/2010/main" val="133291002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a:extLst>
              <a:ext uri="{FF2B5EF4-FFF2-40B4-BE49-F238E27FC236}">
                <a16:creationId xmlns:a16="http://schemas.microsoft.com/office/drawing/2014/main" id="{B0F0B3FC-BDB6-4C40-9E7A-DD251A121D67}"/>
              </a:ext>
            </a:extLst>
          </p:cNvPr>
          <p:cNvSpPr>
            <a:spLocks noGrp="1"/>
          </p:cNvSpPr>
          <p:nvPr>
            <p:ph type="title" orient="vert"/>
          </p:nvPr>
        </p:nvSpPr>
        <p:spPr>
          <a:xfrm>
            <a:off x="8724900" y="365125"/>
            <a:ext cx="2628900" cy="5811838"/>
          </a:xfrm>
        </p:spPr>
        <p:txBody>
          <a:bodyPr vert="eaVert"/>
          <a:lstStyle/>
          <a:p>
            <a:r>
              <a:rPr lang="zh-TW" altLang="en-US"/>
              <a:t>按一下以編輯母片標題樣式</a:t>
            </a:r>
          </a:p>
        </p:txBody>
      </p:sp>
      <p:sp>
        <p:nvSpPr>
          <p:cNvPr id="3" name="直排文字版面配置區 2">
            <a:extLst>
              <a:ext uri="{FF2B5EF4-FFF2-40B4-BE49-F238E27FC236}">
                <a16:creationId xmlns:a16="http://schemas.microsoft.com/office/drawing/2014/main" id="{31B69DA4-DCBA-402E-B952-6FEF25C77842}"/>
              </a:ext>
            </a:extLst>
          </p:cNvPr>
          <p:cNvSpPr>
            <a:spLocks noGrp="1"/>
          </p:cNvSpPr>
          <p:nvPr>
            <p:ph type="body" orient="vert" idx="1"/>
          </p:nvPr>
        </p:nvSpPr>
        <p:spPr>
          <a:xfrm>
            <a:off x="838200" y="365125"/>
            <a:ext cx="7734300" cy="5811838"/>
          </a:xfrm>
        </p:spPr>
        <p:txBody>
          <a:bodyPr vert="eaVert"/>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97B7CDCD-2B53-481E-994C-32B4B7592300}"/>
              </a:ext>
            </a:extLst>
          </p:cNvPr>
          <p:cNvSpPr>
            <a:spLocks noGrp="1"/>
          </p:cNvSpPr>
          <p:nvPr>
            <p:ph type="dt" sz="half" idx="10"/>
          </p:nvPr>
        </p:nvSpPr>
        <p:spPr/>
        <p:txBody>
          <a:bodyPr/>
          <a:lstStyle/>
          <a:p>
            <a:fld id="{41044C1A-2725-48AE-A699-EA8E8FEFF634}" type="datetimeFigureOut">
              <a:rPr lang="zh-TW" altLang="en-US" smtClean="0"/>
              <a:t>2018/12/10</a:t>
            </a:fld>
            <a:endParaRPr lang="zh-TW" altLang="en-US"/>
          </a:p>
        </p:txBody>
      </p:sp>
      <p:sp>
        <p:nvSpPr>
          <p:cNvPr id="5" name="頁尾版面配置區 4">
            <a:extLst>
              <a:ext uri="{FF2B5EF4-FFF2-40B4-BE49-F238E27FC236}">
                <a16:creationId xmlns:a16="http://schemas.microsoft.com/office/drawing/2014/main" id="{5DFB1F8A-6E1A-49FD-88DC-360B7C266378}"/>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46025657-A7D6-4D60-8308-3F54ECF10FA3}"/>
              </a:ext>
            </a:extLst>
          </p:cNvPr>
          <p:cNvSpPr>
            <a:spLocks noGrp="1"/>
          </p:cNvSpPr>
          <p:nvPr>
            <p:ph type="sldNum" sz="quarter" idx="12"/>
          </p:nvPr>
        </p:nvSpPr>
        <p:spPr/>
        <p:txBody>
          <a:bodyPr/>
          <a:lstStyle/>
          <a:p>
            <a:fld id="{364A04DF-79DB-43AD-84D4-1FD653C12CA8}" type="slidenum">
              <a:rPr lang="zh-TW" altLang="en-US" smtClean="0"/>
              <a:t>‹#›</a:t>
            </a:fld>
            <a:endParaRPr lang="zh-TW" altLang="en-US"/>
          </a:p>
        </p:txBody>
      </p:sp>
    </p:spTree>
    <p:extLst>
      <p:ext uri="{BB962C8B-B14F-4D97-AF65-F5344CB8AC3E}">
        <p14:creationId xmlns:p14="http://schemas.microsoft.com/office/powerpoint/2010/main" val="207697636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標題版面配置區 1">
            <a:extLst>
              <a:ext uri="{FF2B5EF4-FFF2-40B4-BE49-F238E27FC236}">
                <a16:creationId xmlns:a16="http://schemas.microsoft.com/office/drawing/2014/main" id="{AF27AA62-E1D3-4683-9BB1-A8FDBF76488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TW" altLang="en-US"/>
              <a:t>按一下以編輯母片標題樣式</a:t>
            </a:r>
          </a:p>
        </p:txBody>
      </p:sp>
      <p:sp>
        <p:nvSpPr>
          <p:cNvPr id="3" name="文字版面配置區 2">
            <a:extLst>
              <a:ext uri="{FF2B5EF4-FFF2-40B4-BE49-F238E27FC236}">
                <a16:creationId xmlns:a16="http://schemas.microsoft.com/office/drawing/2014/main" id="{8E70A9A6-A017-41A2-86FB-D99634A9871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ADA99EE0-24C1-43B5-8CD7-D9455500068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1044C1A-2725-48AE-A699-EA8E8FEFF634}" type="datetimeFigureOut">
              <a:rPr lang="zh-TW" altLang="en-US" smtClean="0"/>
              <a:t>2018/12/10</a:t>
            </a:fld>
            <a:endParaRPr lang="zh-TW" altLang="en-US"/>
          </a:p>
        </p:txBody>
      </p:sp>
      <p:sp>
        <p:nvSpPr>
          <p:cNvPr id="5" name="頁尾版面配置區 4">
            <a:extLst>
              <a:ext uri="{FF2B5EF4-FFF2-40B4-BE49-F238E27FC236}">
                <a16:creationId xmlns:a16="http://schemas.microsoft.com/office/drawing/2014/main" id="{6FDC897C-57B6-471F-85EC-BDD367E81C7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TW" altLang="en-US"/>
          </a:p>
        </p:txBody>
      </p:sp>
      <p:sp>
        <p:nvSpPr>
          <p:cNvPr id="6" name="投影片編號版面配置區 5">
            <a:extLst>
              <a:ext uri="{FF2B5EF4-FFF2-40B4-BE49-F238E27FC236}">
                <a16:creationId xmlns:a16="http://schemas.microsoft.com/office/drawing/2014/main" id="{4AE00D97-13C0-4E9B-84D0-9482705853C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64A04DF-79DB-43AD-84D4-1FD653C12CA8}" type="slidenum">
              <a:rPr lang="zh-TW" altLang="en-US" smtClean="0"/>
              <a:t>‹#›</a:t>
            </a:fld>
            <a:endParaRPr lang="zh-TW" altLang="en-US"/>
          </a:p>
        </p:txBody>
      </p:sp>
    </p:spTree>
    <p:extLst>
      <p:ext uri="{BB962C8B-B14F-4D97-AF65-F5344CB8AC3E}">
        <p14:creationId xmlns:p14="http://schemas.microsoft.com/office/powerpoint/2010/main" val="230786936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0B6A882-00D3-47EF-9E00-5F5448FB3E79}"/>
              </a:ext>
            </a:extLst>
          </p:cNvPr>
          <p:cNvSpPr>
            <a:spLocks noGrp="1"/>
          </p:cNvSpPr>
          <p:nvPr>
            <p:ph type="ctrTitle"/>
          </p:nvPr>
        </p:nvSpPr>
        <p:spPr>
          <a:xfrm>
            <a:off x="1524000" y="1961604"/>
            <a:ext cx="9144000" cy="649317"/>
          </a:xfrm>
        </p:spPr>
        <p:txBody>
          <a:bodyPr>
            <a:noAutofit/>
          </a:bodyPr>
          <a:lstStyle/>
          <a:p>
            <a:r>
              <a:rPr lang="en-US" altLang="zh-TW" sz="4000" dirty="0">
                <a:latin typeface="Leelawadee UI Semilight" panose="020B0402040204020203" pitchFamily="34" charset="-34"/>
                <a:cs typeface="Leelawadee UI Semilight" panose="020B0402040204020203" pitchFamily="34" charset="-34"/>
              </a:rPr>
              <a:t>Effective training of convolutional neural networks for face-based gender and age prediction</a:t>
            </a:r>
          </a:p>
        </p:txBody>
      </p:sp>
      <p:sp>
        <p:nvSpPr>
          <p:cNvPr id="3" name="副標題 2">
            <a:extLst>
              <a:ext uri="{FF2B5EF4-FFF2-40B4-BE49-F238E27FC236}">
                <a16:creationId xmlns:a16="http://schemas.microsoft.com/office/drawing/2014/main" id="{7DA53B5D-3737-4D8B-A009-A9D02CAEE169}"/>
              </a:ext>
            </a:extLst>
          </p:cNvPr>
          <p:cNvSpPr>
            <a:spLocks noGrp="1"/>
          </p:cNvSpPr>
          <p:nvPr>
            <p:ph type="subTitle" idx="1"/>
          </p:nvPr>
        </p:nvSpPr>
        <p:spPr>
          <a:xfrm>
            <a:off x="1524000" y="2895301"/>
            <a:ext cx="9144000" cy="425017"/>
          </a:xfrm>
        </p:spPr>
        <p:txBody>
          <a:bodyPr>
            <a:normAutofit fontScale="92500"/>
          </a:bodyPr>
          <a:lstStyle/>
          <a:p>
            <a:r>
              <a:rPr lang="en-US" altLang="zh-TW" dirty="0" err="1">
                <a:latin typeface="Leelawadee UI Semilight" panose="020B0402040204020203" pitchFamily="34" charset="-34"/>
                <a:cs typeface="Leelawadee UI Semilight" panose="020B0402040204020203" pitchFamily="34" charset="-34"/>
              </a:rPr>
              <a:t>Grigory</a:t>
            </a:r>
            <a:r>
              <a:rPr lang="en-US" altLang="zh-TW" dirty="0">
                <a:latin typeface="Leelawadee UI Semilight" panose="020B0402040204020203" pitchFamily="34" charset="-34"/>
                <a:cs typeface="Leelawadee UI Semilight" panose="020B0402040204020203" pitchFamily="34" charset="-34"/>
              </a:rPr>
              <a:t> </a:t>
            </a:r>
            <a:r>
              <a:rPr lang="en-US" altLang="zh-TW" dirty="0" err="1">
                <a:latin typeface="Leelawadee UI Semilight" panose="020B0402040204020203" pitchFamily="34" charset="-34"/>
                <a:cs typeface="Leelawadee UI Semilight" panose="020B0402040204020203" pitchFamily="34" charset="-34"/>
              </a:rPr>
              <a:t>Antipov</a:t>
            </a:r>
            <a:r>
              <a:rPr lang="en-US" altLang="zh-TW" dirty="0">
                <a:latin typeface="Leelawadee UI Semilight" panose="020B0402040204020203" pitchFamily="34" charset="-34"/>
                <a:cs typeface="Leelawadee UI Semilight" panose="020B0402040204020203" pitchFamily="34" charset="-34"/>
              </a:rPr>
              <a:t>, </a:t>
            </a:r>
            <a:r>
              <a:rPr lang="en-US" altLang="zh-TW" dirty="0" err="1">
                <a:latin typeface="Leelawadee UI Semilight" panose="020B0402040204020203" pitchFamily="34" charset="-34"/>
                <a:cs typeface="Leelawadee UI Semilight" panose="020B0402040204020203" pitchFamily="34" charset="-34"/>
              </a:rPr>
              <a:t>Moez</a:t>
            </a:r>
            <a:r>
              <a:rPr lang="en-US" altLang="zh-TW" dirty="0">
                <a:latin typeface="Leelawadee UI Semilight" panose="020B0402040204020203" pitchFamily="34" charset="-34"/>
                <a:cs typeface="Leelawadee UI Semilight" panose="020B0402040204020203" pitchFamily="34" charset="-34"/>
              </a:rPr>
              <a:t> </a:t>
            </a:r>
            <a:r>
              <a:rPr lang="en-US" altLang="zh-TW" dirty="0" err="1">
                <a:latin typeface="Leelawadee UI Semilight" panose="020B0402040204020203" pitchFamily="34" charset="-34"/>
                <a:cs typeface="Leelawadee UI Semilight" panose="020B0402040204020203" pitchFamily="34" charset="-34"/>
              </a:rPr>
              <a:t>Baccouche</a:t>
            </a:r>
            <a:r>
              <a:rPr lang="en-US" altLang="zh-TW" dirty="0">
                <a:latin typeface="Leelawadee UI Semilight" panose="020B0402040204020203" pitchFamily="34" charset="-34"/>
                <a:cs typeface="Leelawadee UI Semilight" panose="020B0402040204020203" pitchFamily="34" charset="-34"/>
              </a:rPr>
              <a:t>, Sid-Ahmed </a:t>
            </a:r>
            <a:r>
              <a:rPr lang="en-US" altLang="zh-TW" dirty="0" err="1">
                <a:latin typeface="Leelawadee UI Semilight" panose="020B0402040204020203" pitchFamily="34" charset="-34"/>
                <a:cs typeface="Leelawadee UI Semilight" panose="020B0402040204020203" pitchFamily="34" charset="-34"/>
              </a:rPr>
              <a:t>Berrani</a:t>
            </a:r>
            <a:r>
              <a:rPr lang="en-US" altLang="zh-TW" dirty="0">
                <a:latin typeface="Leelawadee UI Semilight" panose="020B0402040204020203" pitchFamily="34" charset="-34"/>
                <a:cs typeface="Leelawadee UI Semilight" panose="020B0402040204020203" pitchFamily="34" charset="-34"/>
              </a:rPr>
              <a:t>, Jean-Luc </a:t>
            </a:r>
            <a:r>
              <a:rPr lang="en-US" altLang="zh-TW" dirty="0" err="1">
                <a:latin typeface="Leelawadee UI Semilight" panose="020B0402040204020203" pitchFamily="34" charset="-34"/>
                <a:cs typeface="Leelawadee UI Semilight" panose="020B0402040204020203" pitchFamily="34" charset="-34"/>
              </a:rPr>
              <a:t>Dugelay</a:t>
            </a:r>
            <a:endParaRPr lang="zh-TW" altLang="en-US" dirty="0">
              <a:latin typeface="Leelawadee UI Semilight" panose="020B0402040204020203" pitchFamily="34" charset="-34"/>
              <a:cs typeface="Leelawadee UI Semilight" panose="020B0402040204020203" pitchFamily="34" charset="-34"/>
            </a:endParaRPr>
          </a:p>
        </p:txBody>
      </p:sp>
      <p:sp>
        <p:nvSpPr>
          <p:cNvPr id="8" name="文字方塊 7">
            <a:extLst>
              <a:ext uri="{FF2B5EF4-FFF2-40B4-BE49-F238E27FC236}">
                <a16:creationId xmlns:a16="http://schemas.microsoft.com/office/drawing/2014/main" id="{8F2527E8-BB8F-41FB-8AF1-03DCC96BC069}"/>
              </a:ext>
            </a:extLst>
          </p:cNvPr>
          <p:cNvSpPr txBox="1"/>
          <p:nvPr/>
        </p:nvSpPr>
        <p:spPr>
          <a:xfrm>
            <a:off x="3548219" y="3670625"/>
            <a:ext cx="4851906" cy="461665"/>
          </a:xfrm>
          <a:prstGeom prst="rect">
            <a:avLst/>
          </a:prstGeom>
          <a:noFill/>
        </p:spPr>
        <p:txBody>
          <a:bodyPr wrap="none" rtlCol="0">
            <a:spAutoFit/>
          </a:bodyPr>
          <a:lstStyle/>
          <a:p>
            <a:r>
              <a:rPr lang="en-US" altLang="zh-TW" sz="2400" dirty="0">
                <a:latin typeface="Leelawadee UI Semilight" panose="020B0402040204020203" pitchFamily="34" charset="-34"/>
                <a:cs typeface="Leelawadee UI Semilight" panose="020B0402040204020203" pitchFamily="34" charset="-34"/>
              </a:rPr>
              <a:t>Pattern Recognition 72 (2017) 15-26</a:t>
            </a:r>
            <a:endParaRPr lang="zh-TW" altLang="en-US" sz="2400" dirty="0">
              <a:latin typeface="Leelawadee UI Semilight" panose="020B0402040204020203" pitchFamily="34" charset="-34"/>
              <a:cs typeface="Leelawadee UI Semilight" panose="020B0402040204020203" pitchFamily="34" charset="-34"/>
            </a:endParaRPr>
          </a:p>
        </p:txBody>
      </p:sp>
      <p:sp>
        <p:nvSpPr>
          <p:cNvPr id="9" name="文字方塊 8">
            <a:extLst>
              <a:ext uri="{FF2B5EF4-FFF2-40B4-BE49-F238E27FC236}">
                <a16:creationId xmlns:a16="http://schemas.microsoft.com/office/drawing/2014/main" id="{6BC92671-3184-4146-A361-F82079153C2E}"/>
              </a:ext>
            </a:extLst>
          </p:cNvPr>
          <p:cNvSpPr txBox="1"/>
          <p:nvPr/>
        </p:nvSpPr>
        <p:spPr>
          <a:xfrm>
            <a:off x="7868259" y="4944263"/>
            <a:ext cx="3305457" cy="461665"/>
          </a:xfrm>
          <a:prstGeom prst="rect">
            <a:avLst/>
          </a:prstGeom>
          <a:noFill/>
        </p:spPr>
        <p:txBody>
          <a:bodyPr wrap="none" rtlCol="0">
            <a:spAutoFit/>
          </a:bodyPr>
          <a:lstStyle/>
          <a:p>
            <a:r>
              <a:rPr lang="en-US" altLang="zh-TW" sz="2400" dirty="0">
                <a:latin typeface="Leelawadee UI Semilight" panose="020B0402040204020203" pitchFamily="34" charset="-34"/>
                <a:cs typeface="Leelawadee UI Semilight" panose="020B0402040204020203" pitchFamily="34" charset="-34"/>
              </a:rPr>
              <a:t>Speaker: Du-Cheng Wu</a:t>
            </a:r>
            <a:endParaRPr lang="zh-TW" altLang="en-US" sz="2400" dirty="0">
              <a:latin typeface="Leelawadee UI Semilight" panose="020B0402040204020203" pitchFamily="34" charset="-34"/>
              <a:cs typeface="Leelawadee UI Semilight" panose="020B0402040204020203" pitchFamily="34" charset="-34"/>
            </a:endParaRPr>
          </a:p>
        </p:txBody>
      </p:sp>
      <p:sp>
        <p:nvSpPr>
          <p:cNvPr id="10" name="文字方塊 9">
            <a:extLst>
              <a:ext uri="{FF2B5EF4-FFF2-40B4-BE49-F238E27FC236}">
                <a16:creationId xmlns:a16="http://schemas.microsoft.com/office/drawing/2014/main" id="{52A0654C-2F84-4026-9FCF-04C8DF590D5F}"/>
              </a:ext>
            </a:extLst>
          </p:cNvPr>
          <p:cNvSpPr txBox="1"/>
          <p:nvPr/>
        </p:nvSpPr>
        <p:spPr>
          <a:xfrm>
            <a:off x="8880331" y="5479316"/>
            <a:ext cx="2246897" cy="461665"/>
          </a:xfrm>
          <a:prstGeom prst="rect">
            <a:avLst/>
          </a:prstGeom>
          <a:noFill/>
        </p:spPr>
        <p:txBody>
          <a:bodyPr wrap="none" rtlCol="0">
            <a:spAutoFit/>
          </a:bodyPr>
          <a:lstStyle/>
          <a:p>
            <a:r>
              <a:rPr lang="en-US" altLang="zh-TW" sz="2400" dirty="0">
                <a:latin typeface="Leelawadee UI Semilight" panose="020B0402040204020203" pitchFamily="34" charset="-34"/>
                <a:cs typeface="Leelawadee UI Semilight" panose="020B0402040204020203" pitchFamily="34" charset="-34"/>
              </a:rPr>
              <a:t>Date: 2018.12.10</a:t>
            </a:r>
            <a:endParaRPr lang="zh-TW" altLang="en-US" sz="2400" dirty="0">
              <a:latin typeface="Leelawadee UI Semilight" panose="020B0402040204020203" pitchFamily="34" charset="-34"/>
              <a:cs typeface="Leelawadee UI Semilight" panose="020B0402040204020203" pitchFamily="34" charset="-34"/>
            </a:endParaRPr>
          </a:p>
        </p:txBody>
      </p:sp>
    </p:spTree>
    <p:extLst>
      <p:ext uri="{BB962C8B-B14F-4D97-AF65-F5344CB8AC3E}">
        <p14:creationId xmlns:p14="http://schemas.microsoft.com/office/powerpoint/2010/main" val="355704993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2CD88E0-92F0-4756-A55F-499E0B4501EB}"/>
              </a:ext>
            </a:extLst>
          </p:cNvPr>
          <p:cNvSpPr>
            <a:spLocks noGrp="1"/>
          </p:cNvSpPr>
          <p:nvPr>
            <p:ph type="title"/>
          </p:nvPr>
        </p:nvSpPr>
        <p:spPr>
          <a:xfrm>
            <a:off x="838200" y="365125"/>
            <a:ext cx="10515600" cy="669348"/>
          </a:xfrm>
        </p:spPr>
        <p:txBody>
          <a:bodyPr>
            <a:normAutofit/>
          </a:bodyPr>
          <a:lstStyle/>
          <a:p>
            <a:r>
              <a:rPr lang="en-US" altLang="zh-TW" sz="3200" dirty="0">
                <a:latin typeface="Leelawadee UI Semilight" panose="020B0402040204020203" pitchFamily="34" charset="-34"/>
                <a:cs typeface="Leelawadee UI Semilight" panose="020B0402040204020203" pitchFamily="34" charset="-34"/>
              </a:rPr>
              <a:t>Abstract(1/2)</a:t>
            </a:r>
            <a:endParaRPr lang="zh-TW" altLang="en-US" sz="3200" dirty="0">
              <a:latin typeface="Leelawadee UI Semilight" panose="020B0402040204020203" pitchFamily="34" charset="-34"/>
              <a:cs typeface="Leelawadee UI Semilight" panose="020B0402040204020203" pitchFamily="34" charset="-34"/>
            </a:endParaRPr>
          </a:p>
        </p:txBody>
      </p:sp>
      <p:sp>
        <p:nvSpPr>
          <p:cNvPr id="3" name="內容版面配置區 2">
            <a:extLst>
              <a:ext uri="{FF2B5EF4-FFF2-40B4-BE49-F238E27FC236}">
                <a16:creationId xmlns:a16="http://schemas.microsoft.com/office/drawing/2014/main" id="{E39EF1E7-604C-4E09-A7D2-D4B34B0635E8}"/>
              </a:ext>
            </a:extLst>
          </p:cNvPr>
          <p:cNvSpPr>
            <a:spLocks noGrp="1"/>
          </p:cNvSpPr>
          <p:nvPr>
            <p:ph idx="1"/>
          </p:nvPr>
        </p:nvSpPr>
        <p:spPr>
          <a:xfrm>
            <a:off x="838200" y="1163782"/>
            <a:ext cx="10515600" cy="5089236"/>
          </a:xfrm>
        </p:spPr>
        <p:txBody>
          <a:bodyPr>
            <a:noAutofit/>
          </a:bodyPr>
          <a:lstStyle/>
          <a:p>
            <a:pPr marL="0" indent="0">
              <a:buNone/>
            </a:pPr>
            <a:r>
              <a:rPr lang="en-US" altLang="zh-TW" dirty="0">
                <a:latin typeface="Leelawadee UI Semilight" panose="020B0402040204020203" pitchFamily="34" charset="-34"/>
                <a:cs typeface="Leelawadee UI Semilight" panose="020B0402040204020203" pitchFamily="34" charset="-34"/>
              </a:rPr>
              <a:t>Convolutional Neural Networks (CNNs) have been proven very effective for human demographics estimation by a number of recent studies. However, the proposed solutions significantly vary in different aspects leaving many open questions on how to choose an optimal CNN architecture and which training strategy to use. In this work, we shed light on some of these questions improving the existing CNN-based approaches for gender and age prediction and providing practical hints for future studies. In particular, we </a:t>
            </a:r>
            <a:r>
              <a:rPr lang="en-US" altLang="zh-TW" dirty="0" err="1">
                <a:latin typeface="Leelawadee UI Semilight" panose="020B0402040204020203" pitchFamily="34" charset="-34"/>
                <a:cs typeface="Leelawadee UI Semilight" panose="020B0402040204020203" pitchFamily="34" charset="-34"/>
              </a:rPr>
              <a:t>analyse</a:t>
            </a:r>
            <a:r>
              <a:rPr lang="en-US" altLang="zh-TW" dirty="0">
                <a:latin typeface="Leelawadee UI Semilight" panose="020B0402040204020203" pitchFamily="34" charset="-34"/>
                <a:cs typeface="Leelawadee UI Semilight" panose="020B0402040204020203" pitchFamily="34" charset="-34"/>
              </a:rPr>
              <a:t> four important factors of the CNN training for gender recognition and age estimation: (1) the target age encoding and loss function, (2) the CNN depth, (3) the need for pretraining, and (4) the training strategy: mono-task or multi-task. </a:t>
            </a:r>
          </a:p>
        </p:txBody>
      </p:sp>
    </p:spTree>
    <p:extLst>
      <p:ext uri="{BB962C8B-B14F-4D97-AF65-F5344CB8AC3E}">
        <p14:creationId xmlns:p14="http://schemas.microsoft.com/office/powerpoint/2010/main" val="150070309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2CD88E0-92F0-4756-A55F-499E0B4501EB}"/>
              </a:ext>
            </a:extLst>
          </p:cNvPr>
          <p:cNvSpPr>
            <a:spLocks noGrp="1"/>
          </p:cNvSpPr>
          <p:nvPr>
            <p:ph type="title"/>
          </p:nvPr>
        </p:nvSpPr>
        <p:spPr>
          <a:xfrm>
            <a:off x="838200" y="365125"/>
            <a:ext cx="10515600" cy="669348"/>
          </a:xfrm>
        </p:spPr>
        <p:txBody>
          <a:bodyPr>
            <a:normAutofit/>
          </a:bodyPr>
          <a:lstStyle/>
          <a:p>
            <a:r>
              <a:rPr lang="en-US" altLang="zh-TW" sz="3200" dirty="0">
                <a:latin typeface="Leelawadee UI Semilight" panose="020B0402040204020203" pitchFamily="34" charset="-34"/>
                <a:cs typeface="Leelawadee UI Semilight" panose="020B0402040204020203" pitchFamily="34" charset="-34"/>
              </a:rPr>
              <a:t>Abstract(2/2)</a:t>
            </a:r>
            <a:endParaRPr lang="zh-TW" altLang="en-US" sz="3200" dirty="0">
              <a:latin typeface="Leelawadee UI Semilight" panose="020B0402040204020203" pitchFamily="34" charset="-34"/>
              <a:cs typeface="Leelawadee UI Semilight" panose="020B0402040204020203" pitchFamily="34" charset="-34"/>
            </a:endParaRPr>
          </a:p>
        </p:txBody>
      </p:sp>
      <p:sp>
        <p:nvSpPr>
          <p:cNvPr id="3" name="內容版面配置區 2">
            <a:extLst>
              <a:ext uri="{FF2B5EF4-FFF2-40B4-BE49-F238E27FC236}">
                <a16:creationId xmlns:a16="http://schemas.microsoft.com/office/drawing/2014/main" id="{E39EF1E7-604C-4E09-A7D2-D4B34B0635E8}"/>
              </a:ext>
            </a:extLst>
          </p:cNvPr>
          <p:cNvSpPr>
            <a:spLocks noGrp="1"/>
          </p:cNvSpPr>
          <p:nvPr>
            <p:ph idx="1"/>
          </p:nvPr>
        </p:nvSpPr>
        <p:spPr>
          <a:xfrm>
            <a:off x="838200" y="1163782"/>
            <a:ext cx="10515600" cy="5089236"/>
          </a:xfrm>
        </p:spPr>
        <p:txBody>
          <a:bodyPr>
            <a:noAutofit/>
          </a:bodyPr>
          <a:lstStyle/>
          <a:p>
            <a:pPr marL="0" indent="0">
              <a:buNone/>
            </a:pPr>
            <a:r>
              <a:rPr lang="en-US" altLang="zh-TW" dirty="0">
                <a:latin typeface="Leelawadee UI Semilight" panose="020B0402040204020203" pitchFamily="34" charset="-34"/>
                <a:cs typeface="Leelawadee UI Semilight" panose="020B0402040204020203" pitchFamily="34" charset="-34"/>
              </a:rPr>
              <a:t>As a result, we design the state-of-the-art gender recognition and age estimation models according to three popular benchmarks: </a:t>
            </a:r>
            <a:r>
              <a:rPr lang="en-US" altLang="zh-TW" i="1" dirty="0">
                <a:latin typeface="Leelawadee UI Semilight" panose="020B0402040204020203" pitchFamily="34" charset="-34"/>
                <a:cs typeface="Leelawadee UI Semilight" panose="020B0402040204020203" pitchFamily="34" charset="-34"/>
              </a:rPr>
              <a:t>LFW, MORPH-II</a:t>
            </a:r>
            <a:r>
              <a:rPr lang="en-US" altLang="zh-TW" dirty="0">
                <a:latin typeface="Leelawadee UI Semilight" panose="020B0402040204020203" pitchFamily="34" charset="-34"/>
                <a:cs typeface="Leelawadee UI Semilight" panose="020B0402040204020203" pitchFamily="34" charset="-34"/>
              </a:rPr>
              <a:t> and </a:t>
            </a:r>
            <a:r>
              <a:rPr lang="en-US" altLang="zh-TW" i="1" dirty="0">
                <a:latin typeface="Leelawadee UI Semilight" panose="020B0402040204020203" pitchFamily="34" charset="-34"/>
                <a:cs typeface="Leelawadee UI Semilight" panose="020B0402040204020203" pitchFamily="34" charset="-34"/>
              </a:rPr>
              <a:t>FG-NET</a:t>
            </a:r>
            <a:r>
              <a:rPr lang="en-US" altLang="zh-TW" dirty="0">
                <a:latin typeface="Leelawadee UI Semilight" panose="020B0402040204020203" pitchFamily="34" charset="-34"/>
                <a:cs typeface="Leelawadee UI Semilight" panose="020B0402040204020203" pitchFamily="34" charset="-34"/>
              </a:rPr>
              <a:t>. Moreover, our best model won the </a:t>
            </a:r>
            <a:r>
              <a:rPr lang="en-US" altLang="zh-TW" dirty="0" err="1">
                <a:latin typeface="Leelawadee UI Semilight" panose="020B0402040204020203" pitchFamily="34" charset="-34"/>
                <a:cs typeface="Leelawadee UI Semilight" panose="020B0402040204020203" pitchFamily="34" charset="-34"/>
              </a:rPr>
              <a:t>ChaLearn</a:t>
            </a:r>
            <a:r>
              <a:rPr lang="en-US" altLang="zh-TW" dirty="0">
                <a:latin typeface="Leelawadee UI Semilight" panose="020B0402040204020203" pitchFamily="34" charset="-34"/>
                <a:cs typeface="Leelawadee UI Semilight" panose="020B0402040204020203" pitchFamily="34" charset="-34"/>
              </a:rPr>
              <a:t> Apparent Age Estimation Challenge 2016 significantly outperforming the solutions of other participants.</a:t>
            </a:r>
          </a:p>
        </p:txBody>
      </p:sp>
    </p:spTree>
    <p:extLst>
      <p:ext uri="{BB962C8B-B14F-4D97-AF65-F5344CB8AC3E}">
        <p14:creationId xmlns:p14="http://schemas.microsoft.com/office/powerpoint/2010/main" val="417761141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2CD88E0-92F0-4756-A55F-499E0B4501EB}"/>
              </a:ext>
            </a:extLst>
          </p:cNvPr>
          <p:cNvSpPr>
            <a:spLocks noGrp="1"/>
          </p:cNvSpPr>
          <p:nvPr>
            <p:ph type="title"/>
          </p:nvPr>
        </p:nvSpPr>
        <p:spPr>
          <a:xfrm>
            <a:off x="838200" y="365125"/>
            <a:ext cx="10515600" cy="1029566"/>
          </a:xfrm>
        </p:spPr>
        <p:txBody>
          <a:bodyPr>
            <a:noAutofit/>
          </a:bodyPr>
          <a:lstStyle/>
          <a:p>
            <a:r>
              <a:rPr lang="en-US" altLang="zh-TW" sz="3200" dirty="0">
                <a:latin typeface="Leelawadee UI Semilight" panose="020B0402040204020203" pitchFamily="34" charset="-34"/>
                <a:cs typeface="Leelawadee UI Semilight" panose="020B0402040204020203" pitchFamily="34" charset="-34"/>
              </a:rPr>
              <a:t>Four important factors of CNN training for gender recognition and age estimation</a:t>
            </a:r>
            <a:endParaRPr lang="zh-TW" altLang="en-US" sz="3200" dirty="0">
              <a:latin typeface="Leelawadee UI Semilight" panose="020B0402040204020203" pitchFamily="34" charset="-34"/>
              <a:cs typeface="Leelawadee UI Semilight" panose="020B0402040204020203" pitchFamily="34" charset="-34"/>
            </a:endParaRPr>
          </a:p>
        </p:txBody>
      </p:sp>
      <p:sp>
        <p:nvSpPr>
          <p:cNvPr id="5" name="文字方塊 4">
            <a:extLst>
              <a:ext uri="{FF2B5EF4-FFF2-40B4-BE49-F238E27FC236}">
                <a16:creationId xmlns:a16="http://schemas.microsoft.com/office/drawing/2014/main" id="{44411975-5D98-442E-BB73-483F399EA9C1}"/>
              </a:ext>
            </a:extLst>
          </p:cNvPr>
          <p:cNvSpPr txBox="1"/>
          <p:nvPr/>
        </p:nvSpPr>
        <p:spPr>
          <a:xfrm>
            <a:off x="838200" y="2424257"/>
            <a:ext cx="7512378" cy="3539430"/>
          </a:xfrm>
          <a:prstGeom prst="rect">
            <a:avLst/>
          </a:prstGeom>
          <a:noFill/>
        </p:spPr>
        <p:txBody>
          <a:bodyPr wrap="none" rtlCol="0">
            <a:spAutoFit/>
          </a:bodyPr>
          <a:lstStyle/>
          <a:p>
            <a:r>
              <a:rPr lang="en-US" altLang="zh-TW" sz="2800" dirty="0">
                <a:latin typeface="Leelawadee UI Semilight" panose="020B0402040204020203" pitchFamily="34" charset="-34"/>
                <a:cs typeface="Leelawadee UI Semilight" panose="020B0402040204020203" pitchFamily="34" charset="-34"/>
              </a:rPr>
              <a:t>1.The target age encoding and loss function</a:t>
            </a:r>
          </a:p>
          <a:p>
            <a:endParaRPr lang="en-US" altLang="zh-TW" sz="2800" dirty="0">
              <a:latin typeface="Leelawadee UI Semilight" panose="020B0402040204020203" pitchFamily="34" charset="-34"/>
              <a:cs typeface="Leelawadee UI Semilight" panose="020B0402040204020203" pitchFamily="34" charset="-34"/>
            </a:endParaRPr>
          </a:p>
          <a:p>
            <a:r>
              <a:rPr lang="en-US" altLang="zh-TW" sz="2800" dirty="0">
                <a:latin typeface="Leelawadee UI Semilight" panose="020B0402040204020203" pitchFamily="34" charset="-34"/>
                <a:cs typeface="Leelawadee UI Semilight" panose="020B0402040204020203" pitchFamily="34" charset="-34"/>
              </a:rPr>
              <a:t>2.The CNN depth</a:t>
            </a:r>
          </a:p>
          <a:p>
            <a:endParaRPr lang="zh-TW" altLang="en-US" sz="2800" dirty="0">
              <a:latin typeface="Leelawadee UI Semilight" panose="020B0402040204020203" pitchFamily="34" charset="-34"/>
              <a:cs typeface="Leelawadee UI Semilight" panose="020B0402040204020203" pitchFamily="34" charset="-34"/>
            </a:endParaRPr>
          </a:p>
          <a:p>
            <a:r>
              <a:rPr lang="en-US" altLang="zh-TW" sz="2800" dirty="0">
                <a:latin typeface="Leelawadee UI Semilight" panose="020B0402040204020203" pitchFamily="34" charset="-34"/>
                <a:cs typeface="Leelawadee UI Semilight" panose="020B0402040204020203" pitchFamily="34" charset="-34"/>
              </a:rPr>
              <a:t>3.The need for pretraining</a:t>
            </a:r>
          </a:p>
          <a:p>
            <a:endParaRPr lang="zh-TW" altLang="en-US" sz="2800" dirty="0">
              <a:latin typeface="Leelawadee UI Semilight" panose="020B0402040204020203" pitchFamily="34" charset="-34"/>
              <a:cs typeface="Leelawadee UI Semilight" panose="020B0402040204020203" pitchFamily="34" charset="-34"/>
            </a:endParaRPr>
          </a:p>
          <a:p>
            <a:r>
              <a:rPr lang="en-US" altLang="zh-TW" sz="2800" dirty="0">
                <a:latin typeface="Leelawadee UI Semilight" panose="020B0402040204020203" pitchFamily="34" charset="-34"/>
                <a:cs typeface="Leelawadee UI Semilight" panose="020B0402040204020203" pitchFamily="34" charset="-34"/>
              </a:rPr>
              <a:t>4.The training strategy: mono-task or multi-task</a:t>
            </a:r>
            <a:endParaRPr lang="zh-TW" altLang="en-US" sz="2800" dirty="0">
              <a:latin typeface="Leelawadee UI Semilight" panose="020B0402040204020203" pitchFamily="34" charset="-34"/>
              <a:cs typeface="Leelawadee UI Semilight" panose="020B0402040204020203" pitchFamily="34" charset="-34"/>
            </a:endParaRPr>
          </a:p>
          <a:p>
            <a:endParaRPr lang="zh-TW" altLang="en-US" sz="2800" dirty="0">
              <a:latin typeface="Leelawadee UI Semilight" panose="020B0402040204020203" pitchFamily="34" charset="-34"/>
              <a:cs typeface="Leelawadee UI Semilight" panose="020B0402040204020203" pitchFamily="34" charset="-34"/>
            </a:endParaRPr>
          </a:p>
        </p:txBody>
      </p:sp>
      <p:pic>
        <p:nvPicPr>
          <p:cNvPr id="10" name="圖片 9">
            <a:extLst>
              <a:ext uri="{FF2B5EF4-FFF2-40B4-BE49-F238E27FC236}">
                <a16:creationId xmlns:a16="http://schemas.microsoft.com/office/drawing/2014/main" id="{94A2B609-80FC-4748-86D0-5BEB30D3F6E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823201" y="1570182"/>
            <a:ext cx="3968554" cy="3366487"/>
          </a:xfrm>
          <a:prstGeom prst="rect">
            <a:avLst/>
          </a:prstGeom>
        </p:spPr>
      </p:pic>
    </p:spTree>
    <p:extLst>
      <p:ext uri="{BB962C8B-B14F-4D97-AF65-F5344CB8AC3E}">
        <p14:creationId xmlns:p14="http://schemas.microsoft.com/office/powerpoint/2010/main" val="378839570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2CD88E0-92F0-4756-A55F-499E0B4501EB}"/>
              </a:ext>
            </a:extLst>
          </p:cNvPr>
          <p:cNvSpPr>
            <a:spLocks noGrp="1"/>
          </p:cNvSpPr>
          <p:nvPr>
            <p:ph type="title"/>
          </p:nvPr>
        </p:nvSpPr>
        <p:spPr>
          <a:xfrm>
            <a:off x="838200" y="365125"/>
            <a:ext cx="10515600" cy="669348"/>
          </a:xfrm>
        </p:spPr>
        <p:txBody>
          <a:bodyPr>
            <a:normAutofit/>
          </a:bodyPr>
          <a:lstStyle/>
          <a:p>
            <a:r>
              <a:rPr lang="en-US" altLang="zh-TW" sz="3200" dirty="0">
                <a:latin typeface="Leelawadee UI Semilight" panose="020B0402040204020203" pitchFamily="34" charset="-34"/>
                <a:cs typeface="Leelawadee UI Semilight" panose="020B0402040204020203" pitchFamily="34" charset="-34"/>
              </a:rPr>
              <a:t>The target age encoding and loss function</a:t>
            </a:r>
            <a:endParaRPr lang="zh-TW" altLang="en-US" sz="3200" dirty="0">
              <a:latin typeface="Leelawadee UI Semilight" panose="020B0402040204020203" pitchFamily="34" charset="-34"/>
              <a:cs typeface="Leelawadee UI Semilight" panose="020B0402040204020203" pitchFamily="34" charset="-34"/>
            </a:endParaRPr>
          </a:p>
        </p:txBody>
      </p:sp>
      <p:pic>
        <p:nvPicPr>
          <p:cNvPr id="5" name="圖片 4">
            <a:extLst>
              <a:ext uri="{FF2B5EF4-FFF2-40B4-BE49-F238E27FC236}">
                <a16:creationId xmlns:a16="http://schemas.microsoft.com/office/drawing/2014/main" id="{648DD81A-2924-4CCF-91F9-A7698387FBB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733470" y="1034473"/>
            <a:ext cx="4725059" cy="2048161"/>
          </a:xfrm>
          <a:prstGeom prst="rect">
            <a:avLst/>
          </a:prstGeom>
        </p:spPr>
      </p:pic>
      <p:pic>
        <p:nvPicPr>
          <p:cNvPr id="7" name="圖片 6">
            <a:extLst>
              <a:ext uri="{FF2B5EF4-FFF2-40B4-BE49-F238E27FC236}">
                <a16:creationId xmlns:a16="http://schemas.microsoft.com/office/drawing/2014/main" id="{B8B683CE-BA11-4830-99C6-A3D82954CA2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985388" y="3327629"/>
            <a:ext cx="8221222" cy="2495898"/>
          </a:xfrm>
          <a:prstGeom prst="rect">
            <a:avLst/>
          </a:prstGeom>
        </p:spPr>
      </p:pic>
    </p:spTree>
    <p:extLst>
      <p:ext uri="{BB962C8B-B14F-4D97-AF65-F5344CB8AC3E}">
        <p14:creationId xmlns:p14="http://schemas.microsoft.com/office/powerpoint/2010/main" val="412332749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2CD88E0-92F0-4756-A55F-499E0B4501EB}"/>
              </a:ext>
            </a:extLst>
          </p:cNvPr>
          <p:cNvSpPr>
            <a:spLocks noGrp="1"/>
          </p:cNvSpPr>
          <p:nvPr>
            <p:ph type="title"/>
          </p:nvPr>
        </p:nvSpPr>
        <p:spPr>
          <a:xfrm>
            <a:off x="838200" y="365125"/>
            <a:ext cx="10515600" cy="669348"/>
          </a:xfrm>
        </p:spPr>
        <p:txBody>
          <a:bodyPr>
            <a:normAutofit/>
          </a:bodyPr>
          <a:lstStyle/>
          <a:p>
            <a:r>
              <a:rPr lang="en-US" altLang="zh-TW" sz="3200" dirty="0">
                <a:latin typeface="Leelawadee UI Semilight" panose="020B0402040204020203" pitchFamily="34" charset="-34"/>
                <a:cs typeface="Leelawadee UI Semilight" panose="020B0402040204020203" pitchFamily="34" charset="-34"/>
              </a:rPr>
              <a:t>The target age encoding and loss function</a:t>
            </a:r>
            <a:endParaRPr lang="zh-TW" altLang="en-US" sz="3200" dirty="0">
              <a:latin typeface="Leelawadee UI Semilight" panose="020B0402040204020203" pitchFamily="34" charset="-34"/>
              <a:cs typeface="Leelawadee UI Semilight" panose="020B0402040204020203" pitchFamily="34" charset="-34"/>
            </a:endParaRPr>
          </a:p>
        </p:txBody>
      </p:sp>
      <p:pic>
        <p:nvPicPr>
          <p:cNvPr id="4" name="圖片 3">
            <a:extLst>
              <a:ext uri="{FF2B5EF4-FFF2-40B4-BE49-F238E27FC236}">
                <a16:creationId xmlns:a16="http://schemas.microsoft.com/office/drawing/2014/main" id="{1DA15FF5-237C-41E8-B29B-CA27CAADAC3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29019" y="1978304"/>
            <a:ext cx="4569399" cy="2901392"/>
          </a:xfrm>
          <a:prstGeom prst="rect">
            <a:avLst/>
          </a:prstGeom>
        </p:spPr>
      </p:pic>
      <p:pic>
        <p:nvPicPr>
          <p:cNvPr id="8" name="圖片 7">
            <a:extLst>
              <a:ext uri="{FF2B5EF4-FFF2-40B4-BE49-F238E27FC236}">
                <a16:creationId xmlns:a16="http://schemas.microsoft.com/office/drawing/2014/main" id="{07EB4F78-748B-4A56-AD5F-2D10272B7EF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096000" y="2332470"/>
            <a:ext cx="3031141" cy="421860"/>
          </a:xfrm>
          <a:prstGeom prst="rect">
            <a:avLst/>
          </a:prstGeom>
        </p:spPr>
      </p:pic>
      <p:sp>
        <p:nvSpPr>
          <p:cNvPr id="10" name="文字方塊 9">
            <a:extLst>
              <a:ext uri="{FF2B5EF4-FFF2-40B4-BE49-F238E27FC236}">
                <a16:creationId xmlns:a16="http://schemas.microsoft.com/office/drawing/2014/main" id="{95BD9F7C-A16C-48C3-B3E5-48451C5655F1}"/>
              </a:ext>
            </a:extLst>
          </p:cNvPr>
          <p:cNvSpPr txBox="1"/>
          <p:nvPr/>
        </p:nvSpPr>
        <p:spPr>
          <a:xfrm>
            <a:off x="6106042" y="3105834"/>
            <a:ext cx="4569399" cy="769441"/>
          </a:xfrm>
          <a:prstGeom prst="rect">
            <a:avLst/>
          </a:prstGeom>
          <a:noFill/>
        </p:spPr>
        <p:txBody>
          <a:bodyPr wrap="square" rtlCol="0">
            <a:spAutoFit/>
          </a:bodyPr>
          <a:lstStyle/>
          <a:p>
            <a:r>
              <a:rPr lang="en-US" altLang="zh-TW" sz="2200" dirty="0" err="1">
                <a:latin typeface="Leelawadee UI Semilight" panose="020B0402040204020203" pitchFamily="34" charset="-34"/>
                <a:cs typeface="Leelawadee UI Semilight" panose="020B0402040204020203" pitchFamily="34" charset="-34"/>
              </a:rPr>
              <a:t>ArgMax</a:t>
            </a:r>
            <a:r>
              <a:rPr lang="en-US" altLang="zh-TW" sz="2200" dirty="0">
                <a:latin typeface="Leelawadee UI Semilight" panose="020B0402040204020203" pitchFamily="34" charset="-34"/>
                <a:cs typeface="Leelawadee UI Semilight" panose="020B0402040204020203" pitchFamily="34" charset="-34"/>
              </a:rPr>
              <a:t>: Corresponds to the neuron with the highest activation</a:t>
            </a:r>
            <a:endParaRPr lang="zh-TW" altLang="en-US" sz="2200" dirty="0">
              <a:latin typeface="Leelawadee UI Semilight" panose="020B0402040204020203" pitchFamily="34" charset="-34"/>
              <a:cs typeface="Leelawadee UI Semilight" panose="020B0402040204020203" pitchFamily="34" charset="-34"/>
            </a:endParaRPr>
          </a:p>
        </p:txBody>
      </p:sp>
      <p:sp>
        <p:nvSpPr>
          <p:cNvPr id="11" name="文字方塊 10">
            <a:extLst>
              <a:ext uri="{FF2B5EF4-FFF2-40B4-BE49-F238E27FC236}">
                <a16:creationId xmlns:a16="http://schemas.microsoft.com/office/drawing/2014/main" id="{1121FFE5-B062-4F6B-B9D4-09F09E0B7AE1}"/>
              </a:ext>
            </a:extLst>
          </p:cNvPr>
          <p:cNvSpPr txBox="1"/>
          <p:nvPr/>
        </p:nvSpPr>
        <p:spPr>
          <a:xfrm>
            <a:off x="6106042" y="4017817"/>
            <a:ext cx="4857521" cy="769441"/>
          </a:xfrm>
          <a:prstGeom prst="rect">
            <a:avLst/>
          </a:prstGeom>
          <a:noFill/>
        </p:spPr>
        <p:txBody>
          <a:bodyPr wrap="square" rtlCol="0">
            <a:spAutoFit/>
          </a:bodyPr>
          <a:lstStyle/>
          <a:p>
            <a:r>
              <a:rPr lang="en-US" altLang="zh-TW" sz="2200" dirty="0">
                <a:latin typeface="Leelawadee UI Semilight" panose="020B0402040204020203" pitchFamily="34" charset="-34"/>
                <a:cs typeface="Leelawadee UI Semilight" panose="020B0402040204020203" pitchFamily="34" charset="-34"/>
              </a:rPr>
              <a:t>Expected value: The age be estimated of all output activations</a:t>
            </a:r>
            <a:endParaRPr lang="zh-TW" altLang="en-US" sz="2200" dirty="0">
              <a:latin typeface="Leelawadee UI Semilight" panose="020B0402040204020203" pitchFamily="34" charset="-34"/>
              <a:cs typeface="Leelawadee UI Semilight" panose="020B0402040204020203" pitchFamily="34" charset="-34"/>
            </a:endParaRPr>
          </a:p>
        </p:txBody>
      </p:sp>
      <p:pic>
        <p:nvPicPr>
          <p:cNvPr id="13" name="圖片 12">
            <a:extLst>
              <a:ext uri="{FF2B5EF4-FFF2-40B4-BE49-F238E27FC236}">
                <a16:creationId xmlns:a16="http://schemas.microsoft.com/office/drawing/2014/main" id="{2D92F954-E87C-471D-8E08-2FB13449CA3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127141" y="4402537"/>
            <a:ext cx="1540582" cy="316858"/>
          </a:xfrm>
          <a:prstGeom prst="rect">
            <a:avLst/>
          </a:prstGeom>
        </p:spPr>
      </p:pic>
    </p:spTree>
    <p:extLst>
      <p:ext uri="{BB962C8B-B14F-4D97-AF65-F5344CB8AC3E}">
        <p14:creationId xmlns:p14="http://schemas.microsoft.com/office/powerpoint/2010/main" val="364267620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2CD88E0-92F0-4756-A55F-499E0B4501EB}"/>
              </a:ext>
            </a:extLst>
          </p:cNvPr>
          <p:cNvSpPr>
            <a:spLocks noGrp="1"/>
          </p:cNvSpPr>
          <p:nvPr>
            <p:ph type="title"/>
          </p:nvPr>
        </p:nvSpPr>
        <p:spPr>
          <a:xfrm>
            <a:off x="838200" y="365125"/>
            <a:ext cx="10515600" cy="669348"/>
          </a:xfrm>
        </p:spPr>
        <p:txBody>
          <a:bodyPr>
            <a:normAutofit/>
          </a:bodyPr>
          <a:lstStyle/>
          <a:p>
            <a:r>
              <a:rPr lang="en-US" altLang="zh-TW" sz="3200" dirty="0">
                <a:latin typeface="Leelawadee UI Semilight" panose="020B0402040204020203" pitchFamily="34" charset="-34"/>
                <a:cs typeface="Leelawadee UI Semilight" panose="020B0402040204020203" pitchFamily="34" charset="-34"/>
              </a:rPr>
              <a:t>The CNN depth</a:t>
            </a:r>
            <a:endParaRPr lang="zh-TW" altLang="en-US" sz="3200" dirty="0">
              <a:latin typeface="Leelawadee UI Semilight" panose="020B0402040204020203" pitchFamily="34" charset="-34"/>
              <a:cs typeface="Leelawadee UI Semilight" panose="020B0402040204020203" pitchFamily="34" charset="-34"/>
            </a:endParaRPr>
          </a:p>
        </p:txBody>
      </p:sp>
      <p:pic>
        <p:nvPicPr>
          <p:cNvPr id="5" name="圖片 4">
            <a:extLst>
              <a:ext uri="{FF2B5EF4-FFF2-40B4-BE49-F238E27FC236}">
                <a16:creationId xmlns:a16="http://schemas.microsoft.com/office/drawing/2014/main" id="{5783F509-8C21-4E96-8936-AE87A29239E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38200" y="1514208"/>
            <a:ext cx="5887272" cy="3829584"/>
          </a:xfrm>
          <a:prstGeom prst="rect">
            <a:avLst/>
          </a:prstGeom>
        </p:spPr>
      </p:pic>
      <p:pic>
        <p:nvPicPr>
          <p:cNvPr id="8" name="圖片 7">
            <a:extLst>
              <a:ext uri="{FF2B5EF4-FFF2-40B4-BE49-F238E27FC236}">
                <a16:creationId xmlns:a16="http://schemas.microsoft.com/office/drawing/2014/main" id="{046DC7C7-5C50-415D-8BD6-8F08BDF910B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061257" y="2238209"/>
            <a:ext cx="3334215" cy="2381582"/>
          </a:xfrm>
          <a:prstGeom prst="rect">
            <a:avLst/>
          </a:prstGeom>
        </p:spPr>
      </p:pic>
    </p:spTree>
    <p:extLst>
      <p:ext uri="{BB962C8B-B14F-4D97-AF65-F5344CB8AC3E}">
        <p14:creationId xmlns:p14="http://schemas.microsoft.com/office/powerpoint/2010/main" val="51628619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2CD88E0-92F0-4756-A55F-499E0B4501EB}"/>
              </a:ext>
            </a:extLst>
          </p:cNvPr>
          <p:cNvSpPr>
            <a:spLocks noGrp="1"/>
          </p:cNvSpPr>
          <p:nvPr>
            <p:ph type="title"/>
          </p:nvPr>
        </p:nvSpPr>
        <p:spPr>
          <a:xfrm>
            <a:off x="838200" y="365124"/>
            <a:ext cx="10515600" cy="1112693"/>
          </a:xfrm>
        </p:spPr>
        <p:txBody>
          <a:bodyPr>
            <a:normAutofit/>
          </a:bodyPr>
          <a:lstStyle/>
          <a:p>
            <a:r>
              <a:rPr lang="en-US" altLang="zh-TW" sz="3200" dirty="0">
                <a:latin typeface="Leelawadee UI Semilight" panose="020B0402040204020203" pitchFamily="34" charset="-34"/>
                <a:cs typeface="Leelawadee UI Semilight" panose="020B0402040204020203" pitchFamily="34" charset="-34"/>
              </a:rPr>
              <a:t>The need for pretraining and the training strategy: mono-task or multi-task</a:t>
            </a:r>
            <a:endParaRPr lang="zh-TW" altLang="en-US" sz="3200" dirty="0">
              <a:latin typeface="Leelawadee UI Semilight" panose="020B0402040204020203" pitchFamily="34" charset="-34"/>
              <a:cs typeface="Leelawadee UI Semilight" panose="020B0402040204020203" pitchFamily="34" charset="-34"/>
            </a:endParaRPr>
          </a:p>
        </p:txBody>
      </p:sp>
      <p:pic>
        <p:nvPicPr>
          <p:cNvPr id="4" name="圖片 3">
            <a:extLst>
              <a:ext uri="{FF2B5EF4-FFF2-40B4-BE49-F238E27FC236}">
                <a16:creationId xmlns:a16="http://schemas.microsoft.com/office/drawing/2014/main" id="{D2ED3CF0-3E16-44BA-9052-691D24EA9E7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664120" y="1435100"/>
            <a:ext cx="6863760" cy="3987800"/>
          </a:xfrm>
          <a:prstGeom prst="rect">
            <a:avLst/>
          </a:prstGeom>
        </p:spPr>
      </p:pic>
    </p:spTree>
    <p:extLst>
      <p:ext uri="{BB962C8B-B14F-4D97-AF65-F5344CB8AC3E}">
        <p14:creationId xmlns:p14="http://schemas.microsoft.com/office/powerpoint/2010/main" val="198952055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2CD88E0-92F0-4756-A55F-499E0B4501EB}"/>
              </a:ext>
            </a:extLst>
          </p:cNvPr>
          <p:cNvSpPr>
            <a:spLocks noGrp="1"/>
          </p:cNvSpPr>
          <p:nvPr>
            <p:ph type="title"/>
          </p:nvPr>
        </p:nvSpPr>
        <p:spPr>
          <a:xfrm>
            <a:off x="838200" y="365125"/>
            <a:ext cx="10515600" cy="669348"/>
          </a:xfrm>
        </p:spPr>
        <p:txBody>
          <a:bodyPr>
            <a:normAutofit/>
          </a:bodyPr>
          <a:lstStyle/>
          <a:p>
            <a:r>
              <a:rPr lang="en-US" altLang="zh-TW" sz="3200" dirty="0">
                <a:latin typeface="Leelawadee UI Semilight" panose="020B0402040204020203" pitchFamily="34" charset="-34"/>
                <a:cs typeface="Leelawadee UI Semilight" panose="020B0402040204020203" pitchFamily="34" charset="-34"/>
              </a:rPr>
              <a:t>State-of-the-art CNNs for gender and age prediction</a:t>
            </a:r>
            <a:endParaRPr lang="zh-TW" altLang="en-US" sz="3200" dirty="0">
              <a:latin typeface="Leelawadee UI Semilight" panose="020B0402040204020203" pitchFamily="34" charset="-34"/>
              <a:cs typeface="Leelawadee UI Semilight" panose="020B0402040204020203" pitchFamily="34" charset="-34"/>
            </a:endParaRPr>
          </a:p>
        </p:txBody>
      </p:sp>
      <p:pic>
        <p:nvPicPr>
          <p:cNvPr id="5" name="圖片 4">
            <a:extLst>
              <a:ext uri="{FF2B5EF4-FFF2-40B4-BE49-F238E27FC236}">
                <a16:creationId xmlns:a16="http://schemas.microsoft.com/office/drawing/2014/main" id="{CD4A7722-10A2-4396-827B-F9416BFACDF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38200" y="2022974"/>
            <a:ext cx="5314301" cy="2812052"/>
          </a:xfrm>
          <a:prstGeom prst="rect">
            <a:avLst/>
          </a:prstGeom>
        </p:spPr>
      </p:pic>
      <p:sp>
        <p:nvSpPr>
          <p:cNvPr id="7" name="文字方塊 6">
            <a:extLst>
              <a:ext uri="{FF2B5EF4-FFF2-40B4-BE49-F238E27FC236}">
                <a16:creationId xmlns:a16="http://schemas.microsoft.com/office/drawing/2014/main" id="{7B790399-E185-408F-BA0D-FB18C382C023}"/>
              </a:ext>
            </a:extLst>
          </p:cNvPr>
          <p:cNvSpPr txBox="1"/>
          <p:nvPr/>
        </p:nvSpPr>
        <p:spPr>
          <a:xfrm>
            <a:off x="6585527" y="2022974"/>
            <a:ext cx="5006109" cy="3139321"/>
          </a:xfrm>
          <a:prstGeom prst="rect">
            <a:avLst/>
          </a:prstGeom>
          <a:noFill/>
        </p:spPr>
        <p:txBody>
          <a:bodyPr wrap="square" rtlCol="0">
            <a:spAutoFit/>
          </a:bodyPr>
          <a:lstStyle/>
          <a:p>
            <a:r>
              <a:rPr lang="en-US" altLang="zh-TW" sz="2200" dirty="0">
                <a:latin typeface="Leelawadee UI Semilight" panose="020B0402040204020203" pitchFamily="34" charset="-34"/>
                <a:cs typeface="Leelawadee UI Semilight" panose="020B0402040204020203" pitchFamily="34" charset="-34"/>
              </a:rPr>
              <a:t>1. Gender Recognition and Age Estimation CNNs are firstly pretrained for Face Recognition</a:t>
            </a:r>
          </a:p>
          <a:p>
            <a:endParaRPr lang="en-US" altLang="zh-TW" sz="2200" dirty="0">
              <a:latin typeface="Leelawadee UI Semilight" panose="020B0402040204020203" pitchFamily="34" charset="-34"/>
              <a:cs typeface="Leelawadee UI Semilight" panose="020B0402040204020203" pitchFamily="34" charset="-34"/>
            </a:endParaRPr>
          </a:p>
          <a:p>
            <a:r>
              <a:rPr lang="en-US" altLang="zh-TW" sz="2200" dirty="0">
                <a:latin typeface="Leelawadee UI Semilight" panose="020B0402040204020203" pitchFamily="34" charset="-34"/>
                <a:cs typeface="Leelawadee UI Semilight" panose="020B0402040204020203" pitchFamily="34" charset="-34"/>
              </a:rPr>
              <a:t>2. CNNs for Gender Recognition and Age Estimation are trained </a:t>
            </a:r>
            <a:r>
              <a:rPr lang="en-US" altLang="zh-TW" sz="2200" dirty="0" err="1">
                <a:latin typeface="Leelawadee UI Semilight" panose="020B0402040204020203" pitchFamily="34" charset="-34"/>
                <a:cs typeface="Leelawadee UI Semilight" panose="020B0402040204020203" pitchFamily="34" charset="-34"/>
              </a:rPr>
              <a:t>separaly</a:t>
            </a:r>
            <a:endParaRPr lang="en-US" altLang="zh-TW" sz="2200" dirty="0">
              <a:latin typeface="Leelawadee UI Semilight" panose="020B0402040204020203" pitchFamily="34" charset="-34"/>
              <a:cs typeface="Leelawadee UI Semilight" panose="020B0402040204020203" pitchFamily="34" charset="-34"/>
            </a:endParaRPr>
          </a:p>
          <a:p>
            <a:endParaRPr lang="en-US" altLang="zh-TW" sz="2200" dirty="0">
              <a:latin typeface="Leelawadee UI Semilight" panose="020B0402040204020203" pitchFamily="34" charset="-34"/>
              <a:cs typeface="Leelawadee UI Semilight" panose="020B0402040204020203" pitchFamily="34" charset="-34"/>
            </a:endParaRPr>
          </a:p>
          <a:p>
            <a:r>
              <a:rPr lang="en-US" altLang="zh-TW" sz="2200" dirty="0">
                <a:latin typeface="Leelawadee UI Semilight" panose="020B0402040204020203" pitchFamily="34" charset="-34"/>
                <a:cs typeface="Leelawadee UI Semilight" panose="020B0402040204020203" pitchFamily="34" charset="-34"/>
              </a:rPr>
              <a:t>3. LDAE is used to encode ages for Age Estimation CNNs</a:t>
            </a:r>
            <a:endParaRPr lang="zh-TW" altLang="en-US" sz="2200" dirty="0">
              <a:latin typeface="Leelawadee UI Semilight" panose="020B0402040204020203" pitchFamily="34" charset="-34"/>
              <a:cs typeface="Leelawadee UI Semilight" panose="020B0402040204020203" pitchFamily="34" charset="-34"/>
            </a:endParaRPr>
          </a:p>
        </p:txBody>
      </p:sp>
    </p:spTree>
    <p:extLst>
      <p:ext uri="{BB962C8B-B14F-4D97-AF65-F5344CB8AC3E}">
        <p14:creationId xmlns:p14="http://schemas.microsoft.com/office/powerpoint/2010/main" val="41292987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2CD88E0-92F0-4756-A55F-499E0B4501EB}"/>
              </a:ext>
            </a:extLst>
          </p:cNvPr>
          <p:cNvSpPr>
            <a:spLocks noGrp="1"/>
          </p:cNvSpPr>
          <p:nvPr>
            <p:ph type="title"/>
          </p:nvPr>
        </p:nvSpPr>
        <p:spPr>
          <a:xfrm>
            <a:off x="838200" y="365125"/>
            <a:ext cx="10515600" cy="669348"/>
          </a:xfrm>
        </p:spPr>
        <p:txBody>
          <a:bodyPr>
            <a:normAutofit/>
          </a:bodyPr>
          <a:lstStyle/>
          <a:p>
            <a:r>
              <a:rPr lang="en-US" altLang="zh-TW" sz="3200" dirty="0">
                <a:latin typeface="Leelawadee UI Semilight" panose="020B0402040204020203" pitchFamily="34" charset="-34"/>
                <a:cs typeface="Leelawadee UI Semilight" panose="020B0402040204020203" pitchFamily="34" charset="-34"/>
              </a:rPr>
              <a:t>State-of-the-art CNNs for gender and age prediction</a:t>
            </a:r>
            <a:endParaRPr lang="zh-TW" altLang="en-US" sz="3200" dirty="0">
              <a:latin typeface="Leelawadee UI Semilight" panose="020B0402040204020203" pitchFamily="34" charset="-34"/>
              <a:cs typeface="Leelawadee UI Semilight" panose="020B0402040204020203" pitchFamily="34" charset="-34"/>
            </a:endParaRPr>
          </a:p>
        </p:txBody>
      </p:sp>
      <p:pic>
        <p:nvPicPr>
          <p:cNvPr id="4" name="圖片 3">
            <a:extLst>
              <a:ext uri="{FF2B5EF4-FFF2-40B4-BE49-F238E27FC236}">
                <a16:creationId xmlns:a16="http://schemas.microsoft.com/office/drawing/2014/main" id="{430A230A-D481-4136-92A6-213F84428F9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38200" y="1218890"/>
            <a:ext cx="5253604" cy="4145701"/>
          </a:xfrm>
          <a:prstGeom prst="rect">
            <a:avLst/>
          </a:prstGeom>
        </p:spPr>
      </p:pic>
      <p:pic>
        <p:nvPicPr>
          <p:cNvPr id="8" name="圖片 7">
            <a:extLst>
              <a:ext uri="{FF2B5EF4-FFF2-40B4-BE49-F238E27FC236}">
                <a16:creationId xmlns:a16="http://schemas.microsoft.com/office/drawing/2014/main" id="{2EDD2F2C-D259-4695-B59A-2DF54344FF4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426469" y="1218890"/>
            <a:ext cx="4927331" cy="4145701"/>
          </a:xfrm>
          <a:prstGeom prst="rect">
            <a:avLst/>
          </a:prstGeom>
        </p:spPr>
      </p:pic>
    </p:spTree>
    <p:extLst>
      <p:ext uri="{BB962C8B-B14F-4D97-AF65-F5344CB8AC3E}">
        <p14:creationId xmlns:p14="http://schemas.microsoft.com/office/powerpoint/2010/main" val="323222169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2CD88E0-92F0-4756-A55F-499E0B4501EB}"/>
              </a:ext>
            </a:extLst>
          </p:cNvPr>
          <p:cNvSpPr>
            <a:spLocks noGrp="1"/>
          </p:cNvSpPr>
          <p:nvPr>
            <p:ph type="title"/>
          </p:nvPr>
        </p:nvSpPr>
        <p:spPr>
          <a:xfrm>
            <a:off x="838200" y="365125"/>
            <a:ext cx="10515600" cy="669348"/>
          </a:xfrm>
        </p:spPr>
        <p:txBody>
          <a:bodyPr>
            <a:normAutofit/>
          </a:bodyPr>
          <a:lstStyle/>
          <a:p>
            <a:r>
              <a:rPr lang="en-US" altLang="zh-TW" sz="3200" dirty="0">
                <a:latin typeface="Leelawadee UI Semilight" panose="020B0402040204020203" pitchFamily="34" charset="-34"/>
                <a:cs typeface="Leelawadee UI Semilight" panose="020B0402040204020203" pitchFamily="34" charset="-34"/>
              </a:rPr>
              <a:t>State-of-the-art CNNs for gender and age prediction</a:t>
            </a:r>
            <a:endParaRPr lang="zh-TW" altLang="en-US" sz="3200" dirty="0">
              <a:latin typeface="Leelawadee UI Semilight" panose="020B0402040204020203" pitchFamily="34" charset="-34"/>
              <a:cs typeface="Leelawadee UI Semilight" panose="020B0402040204020203" pitchFamily="34" charset="-34"/>
            </a:endParaRPr>
          </a:p>
        </p:txBody>
      </p:sp>
      <p:pic>
        <p:nvPicPr>
          <p:cNvPr id="4" name="圖片 3">
            <a:extLst>
              <a:ext uri="{FF2B5EF4-FFF2-40B4-BE49-F238E27FC236}">
                <a16:creationId xmlns:a16="http://schemas.microsoft.com/office/drawing/2014/main" id="{EABE6A9D-C626-4C2E-A466-D3E1EB3706B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309284" y="1252233"/>
            <a:ext cx="7573432" cy="4353533"/>
          </a:xfrm>
          <a:prstGeom prst="rect">
            <a:avLst/>
          </a:prstGeom>
        </p:spPr>
      </p:pic>
    </p:spTree>
    <p:extLst>
      <p:ext uri="{BB962C8B-B14F-4D97-AF65-F5344CB8AC3E}">
        <p14:creationId xmlns:p14="http://schemas.microsoft.com/office/powerpoint/2010/main" val="167238670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2CD88E0-92F0-4756-A55F-499E0B4501EB}"/>
              </a:ext>
            </a:extLst>
          </p:cNvPr>
          <p:cNvSpPr>
            <a:spLocks noGrp="1"/>
          </p:cNvSpPr>
          <p:nvPr>
            <p:ph type="title"/>
          </p:nvPr>
        </p:nvSpPr>
        <p:spPr>
          <a:xfrm>
            <a:off x="838200" y="365125"/>
            <a:ext cx="10515600" cy="669348"/>
          </a:xfrm>
        </p:spPr>
        <p:txBody>
          <a:bodyPr>
            <a:normAutofit/>
          </a:bodyPr>
          <a:lstStyle/>
          <a:p>
            <a:r>
              <a:rPr lang="en-US" altLang="zh-TW" sz="3200" dirty="0" err="1">
                <a:latin typeface="Leelawadee UI Semilight" panose="020B0402040204020203" pitchFamily="34" charset="-34"/>
                <a:cs typeface="Leelawadee UI Semilight" panose="020B0402040204020203" pitchFamily="34" charset="-34"/>
              </a:rPr>
              <a:t>ChaLearn</a:t>
            </a:r>
            <a:r>
              <a:rPr lang="en-US" altLang="zh-TW" sz="3200" dirty="0">
                <a:latin typeface="Leelawadee UI Semilight" panose="020B0402040204020203" pitchFamily="34" charset="-34"/>
                <a:cs typeface="Leelawadee UI Semilight" panose="020B0402040204020203" pitchFamily="34" charset="-34"/>
              </a:rPr>
              <a:t> competition on apparent age estimation</a:t>
            </a:r>
            <a:endParaRPr lang="zh-TW" altLang="en-US" sz="3200" dirty="0">
              <a:latin typeface="Leelawadee UI Semilight" panose="020B0402040204020203" pitchFamily="34" charset="-34"/>
              <a:cs typeface="Leelawadee UI Semilight" panose="020B0402040204020203" pitchFamily="34" charset="-34"/>
            </a:endParaRPr>
          </a:p>
        </p:txBody>
      </p:sp>
      <p:pic>
        <p:nvPicPr>
          <p:cNvPr id="7" name="圖片 6">
            <a:extLst>
              <a:ext uri="{FF2B5EF4-FFF2-40B4-BE49-F238E27FC236}">
                <a16:creationId xmlns:a16="http://schemas.microsoft.com/office/drawing/2014/main" id="{FE49E939-65B4-42DA-A460-10333569645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859645" y="1372513"/>
            <a:ext cx="4472709" cy="4112974"/>
          </a:xfrm>
          <a:prstGeom prst="rect">
            <a:avLst/>
          </a:prstGeom>
        </p:spPr>
      </p:pic>
    </p:spTree>
    <p:extLst>
      <p:ext uri="{BB962C8B-B14F-4D97-AF65-F5344CB8AC3E}">
        <p14:creationId xmlns:p14="http://schemas.microsoft.com/office/powerpoint/2010/main" val="264287632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2CD88E0-92F0-4756-A55F-499E0B4501EB}"/>
              </a:ext>
            </a:extLst>
          </p:cNvPr>
          <p:cNvSpPr>
            <a:spLocks noGrp="1"/>
          </p:cNvSpPr>
          <p:nvPr>
            <p:ph type="title"/>
          </p:nvPr>
        </p:nvSpPr>
        <p:spPr>
          <a:xfrm>
            <a:off x="838200" y="365125"/>
            <a:ext cx="10515600" cy="669348"/>
          </a:xfrm>
        </p:spPr>
        <p:txBody>
          <a:bodyPr>
            <a:normAutofit/>
          </a:bodyPr>
          <a:lstStyle/>
          <a:p>
            <a:r>
              <a:rPr lang="en-US" altLang="zh-TW" sz="3200" dirty="0">
                <a:latin typeface="Leelawadee UI Semilight" panose="020B0402040204020203" pitchFamily="34" charset="-34"/>
                <a:cs typeface="Leelawadee UI Semilight" panose="020B0402040204020203" pitchFamily="34" charset="-34"/>
              </a:rPr>
              <a:t>Conclusion</a:t>
            </a:r>
            <a:endParaRPr lang="zh-TW" altLang="en-US" sz="3200" dirty="0">
              <a:latin typeface="Leelawadee UI Semilight" panose="020B0402040204020203" pitchFamily="34" charset="-34"/>
              <a:cs typeface="Leelawadee UI Semilight" panose="020B0402040204020203" pitchFamily="34" charset="-34"/>
            </a:endParaRPr>
          </a:p>
        </p:txBody>
      </p:sp>
      <p:sp>
        <p:nvSpPr>
          <p:cNvPr id="8" name="文字方塊 7">
            <a:extLst>
              <a:ext uri="{FF2B5EF4-FFF2-40B4-BE49-F238E27FC236}">
                <a16:creationId xmlns:a16="http://schemas.microsoft.com/office/drawing/2014/main" id="{12247FEE-8578-42FC-AF54-DBFE38CE7E24}"/>
              </a:ext>
            </a:extLst>
          </p:cNvPr>
          <p:cNvSpPr txBox="1"/>
          <p:nvPr/>
        </p:nvSpPr>
        <p:spPr>
          <a:xfrm>
            <a:off x="838199" y="1351508"/>
            <a:ext cx="9700491" cy="3816429"/>
          </a:xfrm>
          <a:prstGeom prst="rect">
            <a:avLst/>
          </a:prstGeom>
          <a:noFill/>
        </p:spPr>
        <p:txBody>
          <a:bodyPr wrap="square" rtlCol="0">
            <a:spAutoFit/>
          </a:bodyPr>
          <a:lstStyle/>
          <a:p>
            <a:pPr marL="457200" indent="-457200">
              <a:buAutoNum type="arabicPeriod"/>
            </a:pPr>
            <a:r>
              <a:rPr lang="en-US" altLang="zh-TW" sz="2200" dirty="0">
                <a:latin typeface="Leelawadee UI Semilight" panose="020B0402040204020203" pitchFamily="34" charset="-34"/>
                <a:cs typeface="Leelawadee UI Semilight" panose="020B0402040204020203" pitchFamily="34" charset="-34"/>
              </a:rPr>
              <a:t>Label Distribution Age Encoding (LDAE) is more effective for AE CNN</a:t>
            </a:r>
          </a:p>
          <a:p>
            <a:r>
              <a:rPr lang="en-US" altLang="zh-TW" sz="2200" dirty="0">
                <a:latin typeface="Leelawadee UI Semilight" panose="020B0402040204020203" pitchFamily="34" charset="-34"/>
                <a:cs typeface="Leelawadee UI Semilight" panose="020B0402040204020203" pitchFamily="34" charset="-34"/>
              </a:rPr>
              <a:t> training</a:t>
            </a:r>
          </a:p>
          <a:p>
            <a:pPr marL="457200" indent="-457200">
              <a:buAutoNum type="arabicPeriod"/>
            </a:pPr>
            <a:endParaRPr lang="en-US" altLang="zh-TW" sz="2200" dirty="0">
              <a:latin typeface="Leelawadee UI Semilight" panose="020B0402040204020203" pitchFamily="34" charset="-34"/>
              <a:cs typeface="Leelawadee UI Semilight" panose="020B0402040204020203" pitchFamily="34" charset="-34"/>
            </a:endParaRPr>
          </a:p>
          <a:p>
            <a:r>
              <a:rPr lang="en-US" altLang="zh-TW" sz="2200" dirty="0">
                <a:latin typeface="Leelawadee UI Semilight" panose="020B0402040204020203" pitchFamily="34" charset="-34"/>
                <a:cs typeface="Leelawadee UI Semilight" panose="020B0402040204020203" pitchFamily="34" charset="-34"/>
              </a:rPr>
              <a:t>2. AE is a more complex problem than GR, Therefore, when no </a:t>
            </a:r>
            <a:r>
              <a:rPr lang="en-US" altLang="zh-TW" sz="2200" dirty="0" err="1">
                <a:latin typeface="Leelawadee UI Semilight" panose="020B0402040204020203" pitchFamily="34" charset="-34"/>
                <a:cs typeface="Leelawadee UI Semilight" panose="020B0402040204020203" pitchFamily="34" charset="-34"/>
              </a:rPr>
              <a:t>pretaining</a:t>
            </a:r>
            <a:r>
              <a:rPr lang="en-US" altLang="zh-TW" sz="2200" dirty="0">
                <a:latin typeface="Leelawadee UI Semilight" panose="020B0402040204020203" pitchFamily="34" charset="-34"/>
                <a:cs typeface="Leelawadee UI Semilight" panose="020B0402040204020203" pitchFamily="34" charset="-34"/>
              </a:rPr>
              <a:t> is used, AE requires deeper CNN architectures than GR</a:t>
            </a:r>
          </a:p>
          <a:p>
            <a:endParaRPr lang="en-US" altLang="zh-TW" sz="2200" dirty="0">
              <a:latin typeface="Leelawadee UI Semilight" panose="020B0402040204020203" pitchFamily="34" charset="-34"/>
              <a:cs typeface="Leelawadee UI Semilight" panose="020B0402040204020203" pitchFamily="34" charset="-34"/>
            </a:endParaRPr>
          </a:p>
          <a:p>
            <a:r>
              <a:rPr lang="en-US" altLang="zh-TW" sz="2200" dirty="0">
                <a:latin typeface="Leelawadee UI Semilight" panose="020B0402040204020203" pitchFamily="34" charset="-34"/>
                <a:cs typeface="Leelawadee UI Semilight" panose="020B0402040204020203" pitchFamily="34" charset="-34"/>
              </a:rPr>
              <a:t>3. Face Recognition pretraining is essential for training deep gender and age CNNs</a:t>
            </a:r>
          </a:p>
          <a:p>
            <a:endParaRPr lang="en-US" altLang="zh-TW" sz="2200" dirty="0">
              <a:latin typeface="Leelawadee UI Semilight" panose="020B0402040204020203" pitchFamily="34" charset="-34"/>
              <a:cs typeface="Leelawadee UI Semilight" panose="020B0402040204020203" pitchFamily="34" charset="-34"/>
            </a:endParaRPr>
          </a:p>
          <a:p>
            <a:r>
              <a:rPr lang="en-US" altLang="zh-TW" sz="2200" dirty="0">
                <a:latin typeface="Leelawadee UI Semilight" panose="020B0402040204020203" pitchFamily="34" charset="-34"/>
                <a:cs typeface="Leelawadee UI Semilight" panose="020B0402040204020203" pitchFamily="34" charset="-34"/>
              </a:rPr>
              <a:t>4. Multi-task training for GR and AE helps only when a CNN is trained from scratch</a:t>
            </a:r>
            <a:endParaRPr lang="zh-TW" altLang="en-US" sz="2200" dirty="0">
              <a:latin typeface="Leelawadee UI Semilight" panose="020B0402040204020203" pitchFamily="34" charset="-34"/>
              <a:cs typeface="Leelawadee UI Semilight" panose="020B0402040204020203" pitchFamily="34" charset="-34"/>
            </a:endParaRPr>
          </a:p>
        </p:txBody>
      </p:sp>
    </p:spTree>
    <p:extLst>
      <p:ext uri="{BB962C8B-B14F-4D97-AF65-F5344CB8AC3E}">
        <p14:creationId xmlns:p14="http://schemas.microsoft.com/office/powerpoint/2010/main" val="1279001391"/>
      </p:ext>
    </p:extLst>
  </p:cSld>
  <p:clrMapOvr>
    <a:masterClrMapping/>
  </p:clrMapOvr>
</p:sld>
</file>

<file path=ppt/theme/theme1.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2525</TotalTime>
  <Words>433</Words>
  <Application>Microsoft Office PowerPoint</Application>
  <PresentationFormat>寬螢幕</PresentationFormat>
  <Paragraphs>43</Paragraphs>
  <Slides>13</Slides>
  <Notes>1</Notes>
  <HiddenSlides>0</HiddenSlides>
  <MMClips>0</MMClips>
  <ScaleCrop>false</ScaleCrop>
  <HeadingPairs>
    <vt:vector size="6" baseType="variant">
      <vt:variant>
        <vt:lpstr>使用字型</vt:lpstr>
      </vt:variant>
      <vt:variant>
        <vt:i4>5</vt:i4>
      </vt:variant>
      <vt:variant>
        <vt:lpstr>佈景主題</vt:lpstr>
      </vt:variant>
      <vt:variant>
        <vt:i4>1</vt:i4>
      </vt:variant>
      <vt:variant>
        <vt:lpstr>投影片標題</vt:lpstr>
      </vt:variant>
      <vt:variant>
        <vt:i4>13</vt:i4>
      </vt:variant>
    </vt:vector>
  </HeadingPairs>
  <TitlesOfParts>
    <vt:vector size="19" baseType="lpstr">
      <vt:lpstr>Arial</vt:lpstr>
      <vt:lpstr>Calibri</vt:lpstr>
      <vt:lpstr>Calibri Light</vt:lpstr>
      <vt:lpstr>Helvetica</vt:lpstr>
      <vt:lpstr>Leelawadee UI Semilight</vt:lpstr>
      <vt:lpstr>Office 佈景主題</vt:lpstr>
      <vt:lpstr>Effective training of convolutional neural networks for face-based gender and age prediction</vt:lpstr>
      <vt:lpstr>Abstract(1/2)</vt:lpstr>
      <vt:lpstr>Abstract(2/2)</vt:lpstr>
      <vt:lpstr>Four important factors of CNN training for gender recognition and age estimation</vt:lpstr>
      <vt:lpstr>The target age encoding and loss function</vt:lpstr>
      <vt:lpstr>The target age encoding and loss function</vt:lpstr>
      <vt:lpstr>The CNN depth</vt:lpstr>
      <vt:lpstr>The need for pretraining and the training strategy: mono-task or multi-task</vt:lpstr>
      <vt:lpstr>State-of-the-art CNNs for gender and age prediction</vt:lpstr>
      <vt:lpstr>State-of-the-art CNNs for gender and age prediction</vt:lpstr>
      <vt:lpstr>State-of-the-art CNNs for gender and age prediction</vt:lpstr>
      <vt:lpstr>ChaLearn competition on apparent age estimation</vt:lpstr>
      <vt:lpstr>Conclusion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 model and algorithm for sequence alignment</dc:title>
  <dc:creator>吳篤承</dc:creator>
  <cp:lastModifiedBy>吳篤承</cp:lastModifiedBy>
  <cp:revision>56</cp:revision>
  <dcterms:created xsi:type="dcterms:W3CDTF">2018-09-30T05:00:05Z</dcterms:created>
  <dcterms:modified xsi:type="dcterms:W3CDTF">2018-12-10T10:21:21Z</dcterms:modified>
</cp:coreProperties>
</file>