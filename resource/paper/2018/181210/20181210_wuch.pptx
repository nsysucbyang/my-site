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315" r:id="rId4"/>
    <p:sldId id="322" r:id="rId5"/>
    <p:sldId id="324" r:id="rId6"/>
    <p:sldId id="321" r:id="rId7"/>
    <p:sldId id="317" r:id="rId8"/>
    <p:sldId id="319"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7" autoAdjust="0"/>
    <p:restoredTop sz="95048" autoAdjust="0"/>
  </p:normalViewPr>
  <p:slideViewPr>
    <p:cSldViewPr snapToGrid="0">
      <p:cViewPr varScale="1">
        <p:scale>
          <a:sx n="113" d="100"/>
          <a:sy n="113" d="100"/>
        </p:scale>
        <p:origin x="22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2018/12/10</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err="1"/>
                  <a:t>ith</a:t>
                </a:r>
                <a:r>
                  <a:rPr lang="en-US" altLang="zh-TW" dirty="0"/>
                  <a:t>-producer</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3</a:t>
            </a:fld>
            <a:endParaRPr lang="zh-TW" altLang="en-US"/>
          </a:p>
        </p:txBody>
      </p:sp>
    </p:spTree>
    <p:extLst>
      <p:ext uri="{BB962C8B-B14F-4D97-AF65-F5344CB8AC3E}">
        <p14:creationId xmlns:p14="http://schemas.microsoft.com/office/powerpoint/2010/main" val="2355630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err="1"/>
                  <a:t>ith</a:t>
                </a:r>
                <a:r>
                  <a:rPr lang="en-US" altLang="zh-TW" dirty="0"/>
                  <a:t>-producer</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524699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err="1"/>
                  <a:t>ith</a:t>
                </a:r>
                <a:r>
                  <a:rPr lang="en-US" altLang="zh-TW" dirty="0"/>
                  <a:t>-producer</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2950049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err="1"/>
                  <a:t>ith</a:t>
                </a:r>
                <a:r>
                  <a:rPr lang="en-US" altLang="zh-TW" dirty="0"/>
                  <a:t>-producer</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4173514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err="1"/>
                  <a:t>ith</a:t>
                </a:r>
                <a:r>
                  <a:rPr lang="en-US" altLang="zh-TW" dirty="0"/>
                  <a:t>-producer</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3059864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err="1"/>
                  <a:t>ith</a:t>
                </a:r>
                <a:r>
                  <a:rPr lang="en-US" altLang="zh-TW" dirty="0"/>
                  <a:t>-producer</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291897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2018/12/10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2018/12/10</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327854" y="370541"/>
            <a:ext cx="9536289"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Practical Deep Reinforcement Learning Approach for</a:t>
            </a:r>
            <a:br>
              <a:rPr lang="en-US" altLang="zh-TW" sz="4800" b="1" dirty="0">
                <a:latin typeface="Times New Roman" panose="02020603050405020304" pitchFamily="18" charset="0"/>
                <a:cs typeface="Times New Roman" panose="02020603050405020304" pitchFamily="18" charset="0"/>
              </a:rPr>
            </a:br>
            <a:r>
              <a:rPr lang="en-US" altLang="zh-TW" sz="4800" b="1" dirty="0">
                <a:latin typeface="Times New Roman" panose="02020603050405020304" pitchFamily="18" charset="0"/>
                <a:cs typeface="Times New Roman" panose="02020603050405020304" pitchFamily="18" charset="0"/>
              </a:rPr>
              <a:t>Stock Trading</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871132" y="3669771"/>
            <a:ext cx="8449734" cy="2719740"/>
          </a:xfrm>
        </p:spPr>
        <p:txBody>
          <a:bodyPr>
            <a:normAutofit/>
          </a:bodyPr>
          <a:lstStyle/>
          <a:p>
            <a:r>
              <a:rPr lang="en-US" altLang="zh-TW" dirty="0" err="1">
                <a:latin typeface="Times New Roman" panose="02020603050405020304" pitchFamily="18" charset="0"/>
                <a:cs typeface="Times New Roman" panose="02020603050405020304" pitchFamily="18" charset="0"/>
              </a:rPr>
              <a:t>Zhuoran</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Xiong</a:t>
            </a:r>
            <a:r>
              <a:rPr lang="en-US" altLang="zh-TW" dirty="0">
                <a:latin typeface="Times New Roman" panose="02020603050405020304" pitchFamily="18" charset="0"/>
                <a:cs typeface="Times New Roman" panose="02020603050405020304" pitchFamily="18" charset="0"/>
              </a:rPr>
              <a:t>, Xiao-Yang Liu, Shan </a:t>
            </a:r>
            <a:r>
              <a:rPr lang="en-US" altLang="zh-TW" dirty="0" err="1">
                <a:latin typeface="Times New Roman" panose="02020603050405020304" pitchFamily="18" charset="0"/>
                <a:cs typeface="Times New Roman" panose="02020603050405020304" pitchFamily="18" charset="0"/>
              </a:rPr>
              <a:t>Zhong</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Hongyang</a:t>
            </a:r>
            <a:r>
              <a:rPr lang="en-US" altLang="zh-TW" dirty="0">
                <a:latin typeface="Times New Roman" panose="02020603050405020304" pitchFamily="18" charset="0"/>
                <a:cs typeface="Times New Roman" panose="02020603050405020304" pitchFamily="18" charset="0"/>
              </a:rPr>
              <a:t> (Bruce) Yang, and Anwar </a:t>
            </a:r>
            <a:r>
              <a:rPr lang="en-US" altLang="zh-TW" dirty="0" err="1">
                <a:latin typeface="Times New Roman" panose="02020603050405020304" pitchFamily="18" charset="0"/>
                <a:cs typeface="Times New Roman" panose="02020603050405020304" pitchFamily="18" charset="0"/>
              </a:rPr>
              <a:t>Walid</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arXiv:1811.07522v2 [</a:t>
            </a:r>
            <a:r>
              <a:rPr lang="en-US" altLang="zh-TW" dirty="0" err="1">
                <a:latin typeface="Times New Roman" panose="02020603050405020304" pitchFamily="18" charset="0"/>
                <a:cs typeface="Times New Roman" panose="02020603050405020304" pitchFamily="18" charset="0"/>
              </a:rPr>
              <a:t>cs.LG</a:t>
            </a:r>
            <a:r>
              <a:rPr lang="en-US" altLang="zh-TW" dirty="0">
                <a:latin typeface="Times New Roman" panose="02020603050405020304" pitchFamily="18" charset="0"/>
                <a:cs typeface="Times New Roman" panose="02020603050405020304" pitchFamily="18" charset="0"/>
              </a:rPr>
              <a:t>] 2 Dec 2018</a:t>
            </a: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Date:2018/12/10</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1071578" cy="4595054"/>
          </a:xfrm>
        </p:spPr>
        <p:txBody>
          <a:bodyPr>
            <a:normAutofit/>
          </a:bodyPr>
          <a:lstStyle/>
          <a:p>
            <a:pPr marL="0" indent="0" algn="just">
              <a:buNone/>
            </a:pPr>
            <a:r>
              <a:rPr lang="en-US" altLang="zh-TW" dirty="0">
                <a:latin typeface="Times New Roman" panose="02020603050405020304" pitchFamily="18" charset="0"/>
                <a:cs typeface="Times New Roman" panose="02020603050405020304" pitchFamily="18" charset="0"/>
              </a:rPr>
              <a:t>Stock trading strategy plays a crucial role in investment companies. However, it is challenging to obtain optimal strategy in the complex and dynamic stock market. We explore the potential of deep reinforcement learning to optimize stock trading strategy and thus maximize investment return. 30 stocks are selected as our trading stocks and their daily prices are used as the training and trading market environment. We train a deep reinforcement learning agent and obtain an adaptive trading strategy. The agent’s performance is evaluated and compared with Dow Jones Industrial Average and the traditional min-variance portfolio allocation strategy. The proposed deep reinforcement learning approach is shown to outperform the two baselines in terms of both the Sharpe ratio and cumulative returns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Q-learning</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200" y="1825625"/>
                <a:ext cx="10515600" cy="4351338"/>
              </a:xfrm>
            </p:spPr>
            <p:txBody>
              <a:bodyPr/>
              <a:lstStyle/>
              <a:p>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𝑄</m:t>
                        </m:r>
                      </m:e>
                      <m:sub>
                        <m:r>
                          <a:rPr lang="zh-TW" altLang="en-US" i="1">
                            <a:latin typeface="Cambria Math" panose="02040503050406030204" pitchFamily="18" charset="0"/>
                            <a:cs typeface="Times New Roman" panose="02020603050405020304" pitchFamily="18" charset="0"/>
                          </a:rPr>
                          <m:t>𝜋</m:t>
                        </m:r>
                      </m:sub>
                    </m:sSub>
                    <m:d>
                      <m:dPr>
                        <m:ctrlPr>
                          <a:rPr lang="en-US" altLang="zh-TW" i="1">
                            <a:latin typeface="Cambria Math" panose="02040503050406030204" pitchFamily="18" charset="0"/>
                            <a:cs typeface="Times New Roman" panose="02020603050405020304" pitchFamily="18" charset="0"/>
                          </a:rPr>
                        </m:ctrlPr>
                      </m:d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𝑠</m:t>
                            </m:r>
                          </m:e>
                          <m:sub>
                            <m:r>
                              <a:rPr lang="en-US" altLang="zh-TW" i="1">
                                <a:latin typeface="Cambria Math" panose="02040503050406030204" pitchFamily="18" charset="0"/>
                                <a:cs typeface="Times New Roman" panose="02020603050405020304" pitchFamily="18" charset="0"/>
                              </a:rPr>
                              <m:t>𝑡</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𝑎</m:t>
                            </m:r>
                          </m:e>
                          <m:sub>
                            <m:r>
                              <a:rPr lang="en-US" altLang="zh-TW" i="1">
                                <a:latin typeface="Cambria Math" panose="02040503050406030204" pitchFamily="18" charset="0"/>
                                <a:cs typeface="Times New Roman" panose="02020603050405020304" pitchFamily="18" charset="0"/>
                              </a:rPr>
                              <m:t>𝑡</m:t>
                            </m:r>
                          </m:sub>
                        </m:sSub>
                      </m:e>
                    </m:d>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cs typeface="Times New Roman" panose="02020603050405020304" pitchFamily="18" charset="0"/>
                          </a:rPr>
                          <m:t>𝔼</m:t>
                        </m:r>
                      </m:e>
                      <m:sub>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𝑠</m:t>
                            </m:r>
                          </m:e>
                          <m:sub>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+1</m:t>
                            </m:r>
                          </m:sub>
                        </m:sSub>
                      </m:sub>
                    </m:sSub>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𝑟</m:t>
                    </m:r>
                    <m:d>
                      <m:dPr>
                        <m:ctrlPr>
                          <a:rPr lang="en-US" altLang="zh-TW" i="1">
                            <a:latin typeface="Cambria Math" panose="02040503050406030204" pitchFamily="18" charset="0"/>
                            <a:cs typeface="Times New Roman" panose="02020603050405020304" pitchFamily="18" charset="0"/>
                          </a:rPr>
                        </m:ctrlPr>
                      </m:d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𝑠</m:t>
                            </m:r>
                          </m:e>
                          <m:sub>
                            <m:r>
                              <a:rPr lang="en-US" altLang="zh-TW" i="1">
                                <a:latin typeface="Cambria Math" panose="02040503050406030204" pitchFamily="18" charset="0"/>
                                <a:cs typeface="Times New Roman" panose="02020603050405020304" pitchFamily="18" charset="0"/>
                              </a:rPr>
                              <m:t>𝑡</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𝑎</m:t>
                            </m:r>
                          </m:e>
                          <m:sub>
                            <m:r>
                              <a:rPr lang="en-US" altLang="zh-TW" i="1">
                                <a:latin typeface="Cambria Math" panose="02040503050406030204" pitchFamily="18" charset="0"/>
                                <a:cs typeface="Times New Roman" panose="02020603050405020304" pitchFamily="18" charset="0"/>
                              </a:rPr>
                              <m:t>𝑡</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𝑠</m:t>
                            </m:r>
                          </m:e>
                          <m:sub>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+1</m:t>
                            </m:r>
                          </m:sub>
                        </m:sSub>
                      </m:e>
                    </m:d>
                    <m:r>
                      <a:rPr lang="en-US" altLang="zh-TW" i="1">
                        <a:latin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𝛾</m:t>
                    </m:r>
                    <m:func>
                      <m:funcPr>
                        <m:ctrlPr>
                          <a:rPr lang="en-US" altLang="zh-TW" i="1">
                            <a:latin typeface="Cambria Math" panose="02040503050406030204" pitchFamily="18" charset="0"/>
                            <a:cs typeface="Times New Roman" panose="02020603050405020304" pitchFamily="18" charset="0"/>
                          </a:rPr>
                        </m:ctrlPr>
                      </m:funcPr>
                      <m:fName>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𝑎</m:t>
                                </m:r>
                              </m:e>
                              <m:sub>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+1</m:t>
                                </m:r>
                              </m:sub>
                            </m:sSub>
                          </m:lim>
                        </m:limLow>
                      </m:fName>
                      <m:e>
                        <m:r>
                          <a:rPr lang="en-US" altLang="zh-TW" i="1">
                            <a:latin typeface="Cambria Math" panose="02040503050406030204" pitchFamily="18" charset="0"/>
                            <a:cs typeface="Times New Roman" panose="02020603050405020304" pitchFamily="18" charset="0"/>
                          </a:rPr>
                          <m:t>𝑄</m:t>
                        </m:r>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𝑠</m:t>
                            </m:r>
                          </m:e>
                          <m:sub>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+1</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𝑎</m:t>
                            </m:r>
                          </m:e>
                          <m:sub>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+1</m:t>
                            </m:r>
                          </m:sub>
                        </m:sSub>
                        <m:r>
                          <a:rPr lang="en-US" altLang="zh-TW" i="1">
                            <a:latin typeface="Cambria Math" panose="02040503050406030204" pitchFamily="18" charset="0"/>
                            <a:cs typeface="Times New Roman" panose="02020603050405020304" pitchFamily="18" charset="0"/>
                          </a:rPr>
                          <m:t>)</m:t>
                        </m:r>
                      </m:e>
                    </m:func>
                  </m:oMath>
                </a14:m>
                <a:r>
                  <a:rPr lang="en-US" altLang="zh-TW" dirty="0">
                    <a:latin typeface="Times New Roman" panose="02020603050405020304" pitchFamily="18" charset="0"/>
                    <a:cs typeface="Times New Roman" panose="02020603050405020304" pitchFamily="18" charset="0"/>
                  </a:rPr>
                  <a:t>]</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t="-252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 name="流程圖: 接點 3">
                <a:extLst>
                  <a:ext uri="{FF2B5EF4-FFF2-40B4-BE49-F238E27FC236}">
                    <a16:creationId xmlns:a16="http://schemas.microsoft.com/office/drawing/2014/main" id="{EC8BDD44-6495-4E6B-8210-DB23A5515F2A}"/>
                  </a:ext>
                </a:extLst>
              </p:cNvPr>
              <p:cNvSpPr/>
              <p:nvPr/>
            </p:nvSpPr>
            <p:spPr>
              <a:xfrm>
                <a:off x="1960303" y="3680566"/>
                <a:ext cx="846666" cy="846666"/>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𝑠</m:t>
                          </m:r>
                        </m:e>
                        <m:sub>
                          <m:r>
                            <a:rPr lang="en-US" altLang="zh-TW" sz="2800" b="0" i="1" smtClean="0">
                              <a:solidFill>
                                <a:schemeClr val="tx1"/>
                              </a:solidFill>
                              <a:latin typeface="Cambria Math" panose="02040503050406030204" pitchFamily="18" charset="0"/>
                            </a:rPr>
                            <m:t>1</m:t>
                          </m:r>
                        </m:sub>
                      </m:sSub>
                    </m:oMath>
                  </m:oMathPara>
                </a14:m>
                <a:endParaRPr lang="zh-TW" altLang="en-US" sz="2800" dirty="0">
                  <a:solidFill>
                    <a:schemeClr val="tx1"/>
                  </a:solidFill>
                </a:endParaRPr>
              </a:p>
            </p:txBody>
          </p:sp>
        </mc:Choice>
        <mc:Fallback>
          <p:sp>
            <p:nvSpPr>
              <p:cNvPr id="4" name="流程圖: 接點 3">
                <a:extLst>
                  <a:ext uri="{FF2B5EF4-FFF2-40B4-BE49-F238E27FC236}">
                    <a16:creationId xmlns:a16="http://schemas.microsoft.com/office/drawing/2014/main" id="{EC8BDD44-6495-4E6B-8210-DB23A5515F2A}"/>
                  </a:ext>
                </a:extLst>
              </p:cNvPr>
              <p:cNvSpPr>
                <a:spLocks noRot="1" noChangeAspect="1" noMove="1" noResize="1" noEditPoints="1" noAdjustHandles="1" noChangeArrowheads="1" noChangeShapeType="1" noTextEdit="1"/>
              </p:cNvSpPr>
              <p:nvPr/>
            </p:nvSpPr>
            <p:spPr>
              <a:xfrm>
                <a:off x="1960303" y="3680566"/>
                <a:ext cx="846666" cy="846666"/>
              </a:xfrm>
              <a:prstGeom prst="flowChartConnector">
                <a:avLst/>
              </a:prstGeom>
              <a:blipFill>
                <a:blip r:embed="rId4"/>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 name="流程圖: 接點 4">
                <a:extLst>
                  <a:ext uri="{FF2B5EF4-FFF2-40B4-BE49-F238E27FC236}">
                    <a16:creationId xmlns:a16="http://schemas.microsoft.com/office/drawing/2014/main" id="{F534659D-4AE7-42CF-8227-2B6C22A66D15}"/>
                  </a:ext>
                </a:extLst>
              </p:cNvPr>
              <p:cNvSpPr/>
              <p:nvPr/>
            </p:nvSpPr>
            <p:spPr>
              <a:xfrm>
                <a:off x="5833536" y="3684796"/>
                <a:ext cx="846666" cy="846666"/>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𝑠</m:t>
                          </m:r>
                        </m:e>
                        <m:sub>
                          <m:r>
                            <a:rPr lang="en-US" altLang="zh-TW" sz="2800" b="0" i="1" smtClean="0">
                              <a:solidFill>
                                <a:schemeClr val="tx1"/>
                              </a:solidFill>
                              <a:latin typeface="Cambria Math" panose="02040503050406030204" pitchFamily="18" charset="0"/>
                            </a:rPr>
                            <m:t>2</m:t>
                          </m:r>
                        </m:sub>
                      </m:sSub>
                    </m:oMath>
                  </m:oMathPara>
                </a14:m>
                <a:endParaRPr lang="zh-TW" altLang="en-US" sz="2800" dirty="0">
                  <a:solidFill>
                    <a:schemeClr val="tx1"/>
                  </a:solidFill>
                </a:endParaRPr>
              </a:p>
            </p:txBody>
          </p:sp>
        </mc:Choice>
        <mc:Fallback>
          <p:sp>
            <p:nvSpPr>
              <p:cNvPr id="5" name="流程圖: 接點 4">
                <a:extLst>
                  <a:ext uri="{FF2B5EF4-FFF2-40B4-BE49-F238E27FC236}">
                    <a16:creationId xmlns:a16="http://schemas.microsoft.com/office/drawing/2014/main" id="{F534659D-4AE7-42CF-8227-2B6C22A66D15}"/>
                  </a:ext>
                </a:extLst>
              </p:cNvPr>
              <p:cNvSpPr>
                <a:spLocks noRot="1" noChangeAspect="1" noMove="1" noResize="1" noEditPoints="1" noAdjustHandles="1" noChangeArrowheads="1" noChangeShapeType="1" noTextEdit="1"/>
              </p:cNvSpPr>
              <p:nvPr/>
            </p:nvSpPr>
            <p:spPr>
              <a:xfrm>
                <a:off x="5833536" y="3684796"/>
                <a:ext cx="846666" cy="846666"/>
              </a:xfrm>
              <a:prstGeom prst="flowChartConnector">
                <a:avLst/>
              </a:prstGeom>
              <a:blipFill>
                <a:blip r:embed="rId5"/>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BE9DAC7D-79CA-4688-94CD-5B75C12925EC}"/>
                  </a:ext>
                </a:extLst>
              </p:cNvPr>
              <p:cNvSpPr/>
              <p:nvPr/>
            </p:nvSpPr>
            <p:spPr>
              <a:xfrm>
                <a:off x="3945469" y="3798834"/>
                <a:ext cx="610129" cy="6101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2</m:t>
                          </m:r>
                        </m:sub>
                      </m:sSub>
                    </m:oMath>
                  </m:oMathPara>
                </a14:m>
                <a:endParaRPr lang="zh-TW" altLang="en-US" sz="2800" dirty="0">
                  <a:solidFill>
                    <a:schemeClr val="tx1"/>
                  </a:solidFill>
                </a:endParaRPr>
              </a:p>
            </p:txBody>
          </p:sp>
        </mc:Choice>
        <mc:Fallback>
          <p:sp>
            <p:nvSpPr>
              <p:cNvPr id="6" name="矩形 5">
                <a:extLst>
                  <a:ext uri="{FF2B5EF4-FFF2-40B4-BE49-F238E27FC236}">
                    <a16:creationId xmlns:a16="http://schemas.microsoft.com/office/drawing/2014/main" id="{BE9DAC7D-79CA-4688-94CD-5B75C12925EC}"/>
                  </a:ext>
                </a:extLst>
              </p:cNvPr>
              <p:cNvSpPr>
                <a:spLocks noRot="1" noChangeAspect="1" noMove="1" noResize="1" noEditPoints="1" noAdjustHandles="1" noChangeArrowheads="1" noChangeShapeType="1" noTextEdit="1"/>
              </p:cNvSpPr>
              <p:nvPr/>
            </p:nvSpPr>
            <p:spPr>
              <a:xfrm>
                <a:off x="3945469" y="3798834"/>
                <a:ext cx="610129" cy="610129"/>
              </a:xfrm>
              <a:prstGeom prst="rect">
                <a:avLst/>
              </a:prstGeom>
              <a:blipFill>
                <a:blip r:embed="rId6"/>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CBEE4C10-C9A0-474C-9DCA-24359CE1FBE7}"/>
                  </a:ext>
                </a:extLst>
              </p:cNvPr>
              <p:cNvSpPr/>
              <p:nvPr/>
            </p:nvSpPr>
            <p:spPr>
              <a:xfrm>
                <a:off x="3945469" y="4757684"/>
                <a:ext cx="610129" cy="6101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1</m:t>
                          </m:r>
                        </m:sub>
                      </m:sSub>
                    </m:oMath>
                  </m:oMathPara>
                </a14:m>
                <a:endParaRPr lang="zh-TW" altLang="en-US" sz="2800" dirty="0">
                  <a:solidFill>
                    <a:schemeClr val="tx1"/>
                  </a:solidFill>
                </a:endParaRPr>
              </a:p>
            </p:txBody>
          </p:sp>
        </mc:Choice>
        <mc:Fallback>
          <p:sp>
            <p:nvSpPr>
              <p:cNvPr id="7" name="矩形 6">
                <a:extLst>
                  <a:ext uri="{FF2B5EF4-FFF2-40B4-BE49-F238E27FC236}">
                    <a16:creationId xmlns:a16="http://schemas.microsoft.com/office/drawing/2014/main" id="{CBEE4C10-C9A0-474C-9DCA-24359CE1FBE7}"/>
                  </a:ext>
                </a:extLst>
              </p:cNvPr>
              <p:cNvSpPr>
                <a:spLocks noRot="1" noChangeAspect="1" noMove="1" noResize="1" noEditPoints="1" noAdjustHandles="1" noChangeArrowheads="1" noChangeShapeType="1" noTextEdit="1"/>
              </p:cNvSpPr>
              <p:nvPr/>
            </p:nvSpPr>
            <p:spPr>
              <a:xfrm>
                <a:off x="3945469" y="4757684"/>
                <a:ext cx="610129" cy="610129"/>
              </a:xfrm>
              <a:prstGeom prst="rect">
                <a:avLst/>
              </a:prstGeom>
              <a:blipFill>
                <a:blip r:embed="rId7"/>
                <a:stretch>
                  <a:fillRect/>
                </a:stretch>
              </a:blipFill>
              <a:ln>
                <a:solidFill>
                  <a:schemeClr val="tx1"/>
                </a:solidFill>
              </a:ln>
            </p:spPr>
            <p:txBody>
              <a:bodyPr/>
              <a:lstStyle/>
              <a:p>
                <a:r>
                  <a:rPr lang="zh-TW" altLang="en-US">
                    <a:noFill/>
                  </a:rPr>
                  <a:t> </a:t>
                </a:r>
              </a:p>
            </p:txBody>
          </p:sp>
        </mc:Fallback>
      </mc:AlternateContent>
      <p:cxnSp>
        <p:nvCxnSpPr>
          <p:cNvPr id="11" name="直線單箭頭接點 10">
            <a:extLst>
              <a:ext uri="{FF2B5EF4-FFF2-40B4-BE49-F238E27FC236}">
                <a16:creationId xmlns:a16="http://schemas.microsoft.com/office/drawing/2014/main" id="{986A5408-5749-4128-87E2-172F84539E33}"/>
              </a:ext>
            </a:extLst>
          </p:cNvPr>
          <p:cNvCxnSpPr>
            <a:stCxn id="4" idx="6"/>
            <a:endCxn id="6" idx="1"/>
          </p:cNvCxnSpPr>
          <p:nvPr/>
        </p:nvCxnSpPr>
        <p:spPr>
          <a:xfrm>
            <a:off x="2806969" y="4103899"/>
            <a:ext cx="11385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2" name="直線單箭頭接點 11">
            <a:extLst>
              <a:ext uri="{FF2B5EF4-FFF2-40B4-BE49-F238E27FC236}">
                <a16:creationId xmlns:a16="http://schemas.microsoft.com/office/drawing/2014/main" id="{7E458495-39DB-4EB3-9D51-A1816B601BDC}"/>
              </a:ext>
            </a:extLst>
          </p:cNvPr>
          <p:cNvCxnSpPr>
            <a:cxnSpLocks/>
            <a:stCxn id="4" idx="6"/>
            <a:endCxn id="7" idx="1"/>
          </p:cNvCxnSpPr>
          <p:nvPr/>
        </p:nvCxnSpPr>
        <p:spPr>
          <a:xfrm>
            <a:off x="2806969" y="4103899"/>
            <a:ext cx="1138500" cy="95885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6" name="直線單箭頭接點 15">
            <a:extLst>
              <a:ext uri="{FF2B5EF4-FFF2-40B4-BE49-F238E27FC236}">
                <a16:creationId xmlns:a16="http://schemas.microsoft.com/office/drawing/2014/main" id="{D72CA6EF-4DA8-4E7C-BC36-267AC8382D1B}"/>
              </a:ext>
            </a:extLst>
          </p:cNvPr>
          <p:cNvCxnSpPr>
            <a:cxnSpLocks/>
            <a:stCxn id="7" idx="3"/>
            <a:endCxn id="5" idx="2"/>
          </p:cNvCxnSpPr>
          <p:nvPr/>
        </p:nvCxnSpPr>
        <p:spPr>
          <a:xfrm flipV="1">
            <a:off x="4555598" y="4108129"/>
            <a:ext cx="1277938" cy="95462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1" name="矩形 20">
                <a:extLst>
                  <a:ext uri="{FF2B5EF4-FFF2-40B4-BE49-F238E27FC236}">
                    <a16:creationId xmlns:a16="http://schemas.microsoft.com/office/drawing/2014/main" id="{3A5A6C87-6F57-4C28-92F1-F500E3487995}"/>
                  </a:ext>
                </a:extLst>
              </p:cNvPr>
              <p:cNvSpPr/>
              <p:nvPr/>
            </p:nvSpPr>
            <p:spPr>
              <a:xfrm>
                <a:off x="3945469" y="2839982"/>
                <a:ext cx="610129" cy="6101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3</m:t>
                          </m:r>
                        </m:sub>
                      </m:sSub>
                    </m:oMath>
                  </m:oMathPara>
                </a14:m>
                <a:endParaRPr lang="zh-TW" altLang="en-US" sz="2800" dirty="0">
                  <a:solidFill>
                    <a:schemeClr val="tx1"/>
                  </a:solidFill>
                </a:endParaRPr>
              </a:p>
            </p:txBody>
          </p:sp>
        </mc:Choice>
        <mc:Fallback>
          <p:sp>
            <p:nvSpPr>
              <p:cNvPr id="21" name="矩形 20">
                <a:extLst>
                  <a:ext uri="{FF2B5EF4-FFF2-40B4-BE49-F238E27FC236}">
                    <a16:creationId xmlns:a16="http://schemas.microsoft.com/office/drawing/2014/main" id="{3A5A6C87-6F57-4C28-92F1-F500E3487995}"/>
                  </a:ext>
                </a:extLst>
              </p:cNvPr>
              <p:cNvSpPr>
                <a:spLocks noRot="1" noChangeAspect="1" noMove="1" noResize="1" noEditPoints="1" noAdjustHandles="1" noChangeArrowheads="1" noChangeShapeType="1" noTextEdit="1"/>
              </p:cNvSpPr>
              <p:nvPr/>
            </p:nvSpPr>
            <p:spPr>
              <a:xfrm>
                <a:off x="3945469" y="2839982"/>
                <a:ext cx="610129" cy="610129"/>
              </a:xfrm>
              <a:prstGeom prst="rect">
                <a:avLst/>
              </a:prstGeom>
              <a:blipFill>
                <a:blip r:embed="rId8"/>
                <a:stretch>
                  <a:fillRect/>
                </a:stretch>
              </a:blipFill>
              <a:ln>
                <a:solidFill>
                  <a:schemeClr val="tx1"/>
                </a:solidFill>
              </a:ln>
            </p:spPr>
            <p:txBody>
              <a:bodyPr/>
              <a:lstStyle/>
              <a:p>
                <a:r>
                  <a:rPr lang="zh-TW" altLang="en-US">
                    <a:noFill/>
                  </a:rPr>
                  <a:t> </a:t>
                </a:r>
              </a:p>
            </p:txBody>
          </p:sp>
        </mc:Fallback>
      </mc:AlternateContent>
      <p:cxnSp>
        <p:nvCxnSpPr>
          <p:cNvPr id="22" name="直線單箭頭接點 21">
            <a:extLst>
              <a:ext uri="{FF2B5EF4-FFF2-40B4-BE49-F238E27FC236}">
                <a16:creationId xmlns:a16="http://schemas.microsoft.com/office/drawing/2014/main" id="{74A0E084-D773-4AD6-B331-B65024384BFF}"/>
              </a:ext>
            </a:extLst>
          </p:cNvPr>
          <p:cNvCxnSpPr>
            <a:cxnSpLocks/>
            <a:stCxn id="4" idx="6"/>
            <a:endCxn id="21" idx="1"/>
          </p:cNvCxnSpPr>
          <p:nvPr/>
        </p:nvCxnSpPr>
        <p:spPr>
          <a:xfrm flipV="1">
            <a:off x="2806969" y="3145047"/>
            <a:ext cx="1138500" cy="95885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8" name="矩形 27">
                <a:extLst>
                  <a:ext uri="{FF2B5EF4-FFF2-40B4-BE49-F238E27FC236}">
                    <a16:creationId xmlns:a16="http://schemas.microsoft.com/office/drawing/2014/main" id="{A1304B27-DB8D-4FFC-91CE-BF980E84799B}"/>
                  </a:ext>
                </a:extLst>
              </p:cNvPr>
              <p:cNvSpPr/>
              <p:nvPr/>
            </p:nvSpPr>
            <p:spPr>
              <a:xfrm>
                <a:off x="7958140" y="3798834"/>
                <a:ext cx="610129" cy="6101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2</m:t>
                          </m:r>
                        </m:sub>
                      </m:sSub>
                    </m:oMath>
                  </m:oMathPara>
                </a14:m>
                <a:endParaRPr lang="zh-TW" altLang="en-US" sz="2800" dirty="0">
                  <a:solidFill>
                    <a:schemeClr val="tx1"/>
                  </a:solidFill>
                </a:endParaRPr>
              </a:p>
            </p:txBody>
          </p:sp>
        </mc:Choice>
        <mc:Fallback>
          <p:sp>
            <p:nvSpPr>
              <p:cNvPr id="28" name="矩形 27">
                <a:extLst>
                  <a:ext uri="{FF2B5EF4-FFF2-40B4-BE49-F238E27FC236}">
                    <a16:creationId xmlns:a16="http://schemas.microsoft.com/office/drawing/2014/main" id="{A1304B27-DB8D-4FFC-91CE-BF980E84799B}"/>
                  </a:ext>
                </a:extLst>
              </p:cNvPr>
              <p:cNvSpPr>
                <a:spLocks noRot="1" noChangeAspect="1" noMove="1" noResize="1" noEditPoints="1" noAdjustHandles="1" noChangeArrowheads="1" noChangeShapeType="1" noTextEdit="1"/>
              </p:cNvSpPr>
              <p:nvPr/>
            </p:nvSpPr>
            <p:spPr>
              <a:xfrm>
                <a:off x="7958140" y="3798834"/>
                <a:ext cx="610129" cy="610129"/>
              </a:xfrm>
              <a:prstGeom prst="rect">
                <a:avLst/>
              </a:prstGeom>
              <a:blipFill>
                <a:blip r:embed="rId9"/>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矩形 28">
                <a:extLst>
                  <a:ext uri="{FF2B5EF4-FFF2-40B4-BE49-F238E27FC236}">
                    <a16:creationId xmlns:a16="http://schemas.microsoft.com/office/drawing/2014/main" id="{B5A670D9-B9C8-4F19-B43C-51B92BD1C83A}"/>
                  </a:ext>
                </a:extLst>
              </p:cNvPr>
              <p:cNvSpPr/>
              <p:nvPr/>
            </p:nvSpPr>
            <p:spPr>
              <a:xfrm>
                <a:off x="7958140" y="4757684"/>
                <a:ext cx="610129" cy="6101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1</m:t>
                          </m:r>
                        </m:sub>
                      </m:sSub>
                    </m:oMath>
                  </m:oMathPara>
                </a14:m>
                <a:endParaRPr lang="zh-TW" altLang="en-US" sz="2800" dirty="0">
                  <a:solidFill>
                    <a:schemeClr val="tx1"/>
                  </a:solidFill>
                </a:endParaRPr>
              </a:p>
            </p:txBody>
          </p:sp>
        </mc:Choice>
        <mc:Fallback>
          <p:sp>
            <p:nvSpPr>
              <p:cNvPr id="29" name="矩形 28">
                <a:extLst>
                  <a:ext uri="{FF2B5EF4-FFF2-40B4-BE49-F238E27FC236}">
                    <a16:creationId xmlns:a16="http://schemas.microsoft.com/office/drawing/2014/main" id="{B5A670D9-B9C8-4F19-B43C-51B92BD1C83A}"/>
                  </a:ext>
                </a:extLst>
              </p:cNvPr>
              <p:cNvSpPr>
                <a:spLocks noRot="1" noChangeAspect="1" noMove="1" noResize="1" noEditPoints="1" noAdjustHandles="1" noChangeArrowheads="1" noChangeShapeType="1" noTextEdit="1"/>
              </p:cNvSpPr>
              <p:nvPr/>
            </p:nvSpPr>
            <p:spPr>
              <a:xfrm>
                <a:off x="7958140" y="4757684"/>
                <a:ext cx="610129" cy="610129"/>
              </a:xfrm>
              <a:prstGeom prst="rect">
                <a:avLst/>
              </a:prstGeom>
              <a:blipFill>
                <a:blip r:embed="rId10"/>
                <a:stretch>
                  <a:fillRect/>
                </a:stretch>
              </a:blipFill>
              <a:ln>
                <a:solidFill>
                  <a:schemeClr val="tx1"/>
                </a:solidFill>
              </a:ln>
            </p:spPr>
            <p:txBody>
              <a:bodyPr/>
              <a:lstStyle/>
              <a:p>
                <a:r>
                  <a:rPr lang="zh-TW" altLang="en-US">
                    <a:noFill/>
                  </a:rPr>
                  <a:t> </a:t>
                </a:r>
              </a:p>
            </p:txBody>
          </p:sp>
        </mc:Fallback>
      </mc:AlternateContent>
      <p:cxnSp>
        <p:nvCxnSpPr>
          <p:cNvPr id="30" name="直線單箭頭接點 29">
            <a:extLst>
              <a:ext uri="{FF2B5EF4-FFF2-40B4-BE49-F238E27FC236}">
                <a16:creationId xmlns:a16="http://schemas.microsoft.com/office/drawing/2014/main" id="{B840329D-C655-46AF-BCF2-7BBF00F776EB}"/>
              </a:ext>
            </a:extLst>
          </p:cNvPr>
          <p:cNvCxnSpPr>
            <a:cxnSpLocks/>
            <a:stCxn id="5" idx="6"/>
            <a:endCxn id="28" idx="1"/>
          </p:cNvCxnSpPr>
          <p:nvPr/>
        </p:nvCxnSpPr>
        <p:spPr>
          <a:xfrm flipV="1">
            <a:off x="6680202" y="4103899"/>
            <a:ext cx="1277938" cy="4230"/>
          </a:xfrm>
          <a:prstGeom prst="straightConnector1">
            <a:avLst/>
          </a:prstGeom>
          <a:ln w="57150">
            <a:prstDash val="dash"/>
            <a:tailEnd type="triangle"/>
          </a:ln>
        </p:spPr>
        <p:style>
          <a:lnRef idx="1">
            <a:schemeClr val="dk1"/>
          </a:lnRef>
          <a:fillRef idx="0">
            <a:schemeClr val="dk1"/>
          </a:fillRef>
          <a:effectRef idx="0">
            <a:schemeClr val="dk1"/>
          </a:effectRef>
          <a:fontRef idx="minor">
            <a:schemeClr val="tx1"/>
          </a:fontRef>
        </p:style>
      </p:cxnSp>
      <p:cxnSp>
        <p:nvCxnSpPr>
          <p:cNvPr id="31" name="直線單箭頭接點 30">
            <a:extLst>
              <a:ext uri="{FF2B5EF4-FFF2-40B4-BE49-F238E27FC236}">
                <a16:creationId xmlns:a16="http://schemas.microsoft.com/office/drawing/2014/main" id="{CFA107A5-0A6A-4DE5-941D-5142CF8D0AAE}"/>
              </a:ext>
            </a:extLst>
          </p:cNvPr>
          <p:cNvCxnSpPr>
            <a:cxnSpLocks/>
            <a:stCxn id="5" idx="6"/>
            <a:endCxn id="29" idx="1"/>
          </p:cNvCxnSpPr>
          <p:nvPr/>
        </p:nvCxnSpPr>
        <p:spPr>
          <a:xfrm>
            <a:off x="6680202" y="4108129"/>
            <a:ext cx="1277938" cy="954620"/>
          </a:xfrm>
          <a:prstGeom prst="straightConnector1">
            <a:avLst/>
          </a:prstGeom>
          <a:ln w="57150">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2" name="矩形 31">
                <a:extLst>
                  <a:ext uri="{FF2B5EF4-FFF2-40B4-BE49-F238E27FC236}">
                    <a16:creationId xmlns:a16="http://schemas.microsoft.com/office/drawing/2014/main" id="{5003F953-F82A-4C4F-B67A-A626174826D4}"/>
                  </a:ext>
                </a:extLst>
              </p:cNvPr>
              <p:cNvSpPr/>
              <p:nvPr/>
            </p:nvSpPr>
            <p:spPr>
              <a:xfrm>
                <a:off x="7958140" y="2839982"/>
                <a:ext cx="610129" cy="6101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3</m:t>
                          </m:r>
                        </m:sub>
                      </m:sSub>
                    </m:oMath>
                  </m:oMathPara>
                </a14:m>
                <a:endParaRPr lang="zh-TW" altLang="en-US" sz="2800" dirty="0">
                  <a:solidFill>
                    <a:schemeClr val="tx1"/>
                  </a:solidFill>
                </a:endParaRPr>
              </a:p>
            </p:txBody>
          </p:sp>
        </mc:Choice>
        <mc:Fallback>
          <p:sp>
            <p:nvSpPr>
              <p:cNvPr id="32" name="矩形 31">
                <a:extLst>
                  <a:ext uri="{FF2B5EF4-FFF2-40B4-BE49-F238E27FC236}">
                    <a16:creationId xmlns:a16="http://schemas.microsoft.com/office/drawing/2014/main" id="{5003F953-F82A-4C4F-B67A-A626174826D4}"/>
                  </a:ext>
                </a:extLst>
              </p:cNvPr>
              <p:cNvSpPr>
                <a:spLocks noRot="1" noChangeAspect="1" noMove="1" noResize="1" noEditPoints="1" noAdjustHandles="1" noChangeArrowheads="1" noChangeShapeType="1" noTextEdit="1"/>
              </p:cNvSpPr>
              <p:nvPr/>
            </p:nvSpPr>
            <p:spPr>
              <a:xfrm>
                <a:off x="7958140" y="2839982"/>
                <a:ext cx="610129" cy="610129"/>
              </a:xfrm>
              <a:prstGeom prst="rect">
                <a:avLst/>
              </a:prstGeom>
              <a:blipFill>
                <a:blip r:embed="rId11"/>
                <a:stretch>
                  <a:fillRect/>
                </a:stretch>
              </a:blipFill>
              <a:ln>
                <a:solidFill>
                  <a:schemeClr val="tx1"/>
                </a:solidFill>
              </a:ln>
            </p:spPr>
            <p:txBody>
              <a:bodyPr/>
              <a:lstStyle/>
              <a:p>
                <a:r>
                  <a:rPr lang="zh-TW" altLang="en-US">
                    <a:noFill/>
                  </a:rPr>
                  <a:t> </a:t>
                </a:r>
              </a:p>
            </p:txBody>
          </p:sp>
        </mc:Fallback>
      </mc:AlternateContent>
      <p:cxnSp>
        <p:nvCxnSpPr>
          <p:cNvPr id="33" name="直線單箭頭接點 32">
            <a:extLst>
              <a:ext uri="{FF2B5EF4-FFF2-40B4-BE49-F238E27FC236}">
                <a16:creationId xmlns:a16="http://schemas.microsoft.com/office/drawing/2014/main" id="{D256E3F5-DDD2-432A-AA90-F71213E89A40}"/>
              </a:ext>
            </a:extLst>
          </p:cNvPr>
          <p:cNvCxnSpPr>
            <a:cxnSpLocks/>
            <a:stCxn id="5" idx="6"/>
            <a:endCxn id="32" idx="1"/>
          </p:cNvCxnSpPr>
          <p:nvPr/>
        </p:nvCxnSpPr>
        <p:spPr>
          <a:xfrm flipV="1">
            <a:off x="6680202" y="3145047"/>
            <a:ext cx="1277938" cy="963082"/>
          </a:xfrm>
          <a:prstGeom prst="straightConnector1">
            <a:avLst/>
          </a:prstGeom>
          <a:ln w="57150">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graphicFrame>
            <p:nvGraphicFramePr>
              <p:cNvPr id="46" name="表格 45">
                <a:extLst>
                  <a:ext uri="{FF2B5EF4-FFF2-40B4-BE49-F238E27FC236}">
                    <a16:creationId xmlns:a16="http://schemas.microsoft.com/office/drawing/2014/main" id="{BA7303B6-99DE-4A5A-94EB-6852C10EE1B9}"/>
                  </a:ext>
                </a:extLst>
              </p:cNvPr>
              <p:cNvGraphicFramePr>
                <a:graphicFrameLocks noGrp="1"/>
              </p:cNvGraphicFramePr>
              <p:nvPr>
                <p:extLst>
                  <p:ext uri="{D42A27DB-BD31-4B8C-83A1-F6EECF244321}">
                    <p14:modId xmlns:p14="http://schemas.microsoft.com/office/powerpoint/2010/main" val="2192421680"/>
                  </p:ext>
                </p:extLst>
              </p:nvPr>
            </p:nvGraphicFramePr>
            <p:xfrm>
              <a:off x="3059783" y="5680392"/>
              <a:ext cx="5457689" cy="1036320"/>
            </p:xfrm>
            <a:graphic>
              <a:graphicData uri="http://schemas.openxmlformats.org/drawingml/2006/table">
                <a:tbl>
                  <a:tblPr firstRow="1" bandRow="1">
                    <a:tableStyleId>{5C22544A-7EE6-4342-B048-85BDC9FD1C3A}</a:tableStyleId>
                  </a:tblPr>
                  <a:tblGrid>
                    <a:gridCol w="594487">
                      <a:extLst>
                        <a:ext uri="{9D8B030D-6E8A-4147-A177-3AD203B41FA5}">
                          <a16:colId xmlns:a16="http://schemas.microsoft.com/office/drawing/2014/main" val="2369625307"/>
                        </a:ext>
                      </a:extLst>
                    </a:gridCol>
                    <a:gridCol w="1609344">
                      <a:extLst>
                        <a:ext uri="{9D8B030D-6E8A-4147-A177-3AD203B41FA5}">
                          <a16:colId xmlns:a16="http://schemas.microsoft.com/office/drawing/2014/main" val="1162122855"/>
                        </a:ext>
                      </a:extLst>
                    </a:gridCol>
                    <a:gridCol w="1609344">
                      <a:extLst>
                        <a:ext uri="{9D8B030D-6E8A-4147-A177-3AD203B41FA5}">
                          <a16:colId xmlns:a16="http://schemas.microsoft.com/office/drawing/2014/main" val="1134841801"/>
                        </a:ext>
                      </a:extLst>
                    </a:gridCol>
                    <a:gridCol w="1644514">
                      <a:extLst>
                        <a:ext uri="{9D8B030D-6E8A-4147-A177-3AD203B41FA5}">
                          <a16:colId xmlns:a16="http://schemas.microsoft.com/office/drawing/2014/main" val="2382682147"/>
                        </a:ext>
                      </a:extLst>
                    </a:gridCol>
                  </a:tblGrid>
                  <a:tr h="370840">
                    <a:tc>
                      <a:txBody>
                        <a:bodyPr/>
                        <a:lstStyle/>
                        <a:p>
                          <a:endParaRPr lang="zh-TW"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Para xmlns:m="http://schemas.openxmlformats.org/officeDocument/2006/math">
                              <m:oMathParaPr>
                                <m:jc m:val="centerGroup"/>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1</m:t>
                                    </m:r>
                                  </m:sub>
                                </m:sSub>
                              </m:oMath>
                            </m:oMathPara>
                          </a14:m>
                          <a:endParaRPr lang="zh-TW"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14:m>
                            <m:oMathPara xmlns:m="http://schemas.openxmlformats.org/officeDocument/2006/math">
                              <m:oMathParaPr>
                                <m:jc m:val="centerGroup"/>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2</m:t>
                                    </m:r>
                                  </m:sub>
                                </m:sSub>
                              </m:oMath>
                            </m:oMathPara>
                          </a14:m>
                          <a:endParaRPr lang="zh-TW"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Para xmlns:m="http://schemas.openxmlformats.org/officeDocument/2006/math">
                              <m:oMathParaPr>
                                <m:jc m:val="centerGroup"/>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3</m:t>
                                    </m:r>
                                  </m:sub>
                                </m:sSub>
                              </m:oMath>
                            </m:oMathPara>
                          </a14:m>
                          <a:endParaRPr lang="zh-TW"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5695363"/>
                      </a:ext>
                    </a:extLst>
                  </a:tr>
                  <a:tr h="370840">
                    <a:tc>
                      <a:txBody>
                        <a:bodyPr/>
                        <a:lstStyle/>
                        <a:p>
                          <a14:m>
                            <m:oMathPara xmlns:m="http://schemas.openxmlformats.org/officeDocument/2006/math">
                              <m:oMathParaPr>
                                <m:jc m:val="centerGroup"/>
                              </m:oMathParaPr>
                              <m:oMath xmlns:m="http://schemas.openxmlformats.org/officeDocument/2006/math">
                                <m:sSub>
                                  <m:sSubPr>
                                    <m:ctrlPr>
                                      <a:rPr lang="en-US" altLang="zh-TW" sz="2800" b="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𝑠</m:t>
                                    </m:r>
                                  </m:e>
                                  <m:sub>
                                    <m:r>
                                      <a:rPr lang="en-US" altLang="zh-TW" sz="2800" b="0" i="1" smtClean="0">
                                        <a:solidFill>
                                          <a:schemeClr val="tx1"/>
                                        </a:solidFill>
                                        <a:latin typeface="Cambria Math" panose="02040503050406030204" pitchFamily="18" charset="0"/>
                                      </a:rPr>
                                      <m:t>1</m:t>
                                    </m:r>
                                  </m:sub>
                                </m:sSub>
                              </m:oMath>
                            </m:oMathPara>
                          </a14:m>
                          <a:endParaRPr lang="zh-TW"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𝑄</m:t>
                                </m:r>
                                <m:d>
                                  <m:dPr>
                                    <m:ctrlPr>
                                      <a:rPr lang="en-US" altLang="zh-TW" sz="2800" i="1">
                                        <a:latin typeface="Cambria Math" panose="02040503050406030204" pitchFamily="18" charset="0"/>
                                        <a:cs typeface="Times New Roman" panose="02020603050405020304" pitchFamily="18" charset="0"/>
                                      </a:rPr>
                                    </m:ctrlPr>
                                  </m:dPr>
                                  <m:e>
                                    <m:sSub>
                                      <m:sSubPr>
                                        <m:ctrlPr>
                                          <a:rPr lang="en-US" altLang="zh-TW" sz="2800" i="1">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𝑠</m:t>
                                        </m:r>
                                      </m:e>
                                      <m:sub>
                                        <m:r>
                                          <a:rPr lang="en-US" altLang="zh-TW" sz="2800" b="0" i="1" smtClean="0">
                                            <a:latin typeface="Cambria Math" panose="02040503050406030204" pitchFamily="18" charset="0"/>
                                            <a:cs typeface="Times New Roman" panose="02020603050405020304" pitchFamily="18" charset="0"/>
                                          </a:rPr>
                                          <m:t>1</m:t>
                                        </m:r>
                                      </m:sub>
                                    </m:sSub>
                                    <m:r>
                                      <a:rPr lang="en-US" altLang="zh-TW" sz="2800" i="1">
                                        <a:latin typeface="Cambria Math" panose="02040503050406030204" pitchFamily="18" charset="0"/>
                                        <a:cs typeface="Times New Roman" panose="02020603050405020304" pitchFamily="18" charset="0"/>
                                      </a:rPr>
                                      <m:t>,</m:t>
                                    </m:r>
                                    <m:sSub>
                                      <m:sSubPr>
                                        <m:ctrlPr>
                                          <a:rPr lang="en-US" altLang="zh-TW" sz="2800" i="1">
                                            <a:latin typeface="Cambria Math" panose="02040503050406030204" pitchFamily="18" charset="0"/>
                                            <a:cs typeface="Times New Roman" panose="02020603050405020304" pitchFamily="18" charset="0"/>
                                          </a:rPr>
                                        </m:ctrlPr>
                                      </m:sSubPr>
                                      <m:e>
                                        <m:r>
                                          <a:rPr lang="en-US" altLang="zh-TW" sz="2800" i="1">
                                            <a:latin typeface="Cambria Math" panose="02040503050406030204" pitchFamily="18" charset="0"/>
                                            <a:cs typeface="Times New Roman" panose="02020603050405020304" pitchFamily="18" charset="0"/>
                                          </a:rPr>
                                          <m:t>𝑎</m:t>
                                        </m:r>
                                      </m:e>
                                      <m:sub>
                                        <m:r>
                                          <a:rPr lang="en-US" altLang="zh-TW" sz="2800" b="0" i="1" smtClean="0">
                                            <a:latin typeface="Cambria Math" panose="02040503050406030204" pitchFamily="18" charset="0"/>
                                            <a:cs typeface="Times New Roman" panose="02020603050405020304" pitchFamily="18" charset="0"/>
                                          </a:rPr>
                                          <m:t>1</m:t>
                                        </m:r>
                                      </m:sub>
                                    </m:sSub>
                                  </m:e>
                                </m:d>
                              </m:oMath>
                            </m:oMathPara>
                          </a14:m>
                          <a:endParaRPr lang="zh-TW"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𝑄</m:t>
                                </m:r>
                                <m:d>
                                  <m:dPr>
                                    <m:ctrlPr>
                                      <a:rPr lang="en-US" altLang="zh-TW" sz="2800" i="1">
                                        <a:latin typeface="Cambria Math" panose="02040503050406030204" pitchFamily="18" charset="0"/>
                                        <a:cs typeface="Times New Roman" panose="02020603050405020304" pitchFamily="18" charset="0"/>
                                      </a:rPr>
                                    </m:ctrlPr>
                                  </m:dPr>
                                  <m:e>
                                    <m:sSub>
                                      <m:sSubPr>
                                        <m:ctrlPr>
                                          <a:rPr lang="en-US" altLang="zh-TW" sz="2800" i="1">
                                            <a:latin typeface="Cambria Math" panose="02040503050406030204" pitchFamily="18" charset="0"/>
                                            <a:cs typeface="Times New Roman" panose="02020603050405020304" pitchFamily="18" charset="0"/>
                                          </a:rPr>
                                        </m:ctrlPr>
                                      </m:sSubPr>
                                      <m:e>
                                        <m:r>
                                          <a:rPr lang="en-US" altLang="zh-TW" sz="2800" i="1">
                                            <a:latin typeface="Cambria Math" panose="02040503050406030204" pitchFamily="18" charset="0"/>
                                            <a:cs typeface="Times New Roman" panose="02020603050405020304" pitchFamily="18" charset="0"/>
                                          </a:rPr>
                                          <m:t>𝑠</m:t>
                                        </m:r>
                                      </m:e>
                                      <m:sub>
                                        <m:r>
                                          <a:rPr lang="en-US" altLang="zh-TW" sz="2800" b="0" i="1" smtClean="0">
                                            <a:latin typeface="Cambria Math" panose="02040503050406030204" pitchFamily="18" charset="0"/>
                                            <a:cs typeface="Times New Roman" panose="02020603050405020304" pitchFamily="18" charset="0"/>
                                          </a:rPr>
                                          <m:t>1</m:t>
                                        </m:r>
                                      </m:sub>
                                    </m:sSub>
                                    <m:r>
                                      <a:rPr lang="en-US" altLang="zh-TW" sz="2800" i="1">
                                        <a:latin typeface="Cambria Math" panose="02040503050406030204" pitchFamily="18" charset="0"/>
                                        <a:cs typeface="Times New Roman" panose="02020603050405020304" pitchFamily="18" charset="0"/>
                                      </a:rPr>
                                      <m:t>,</m:t>
                                    </m:r>
                                    <m:sSub>
                                      <m:sSubPr>
                                        <m:ctrlPr>
                                          <a:rPr lang="en-US" altLang="zh-TW" sz="2800" i="1">
                                            <a:latin typeface="Cambria Math" panose="02040503050406030204" pitchFamily="18" charset="0"/>
                                            <a:cs typeface="Times New Roman" panose="02020603050405020304" pitchFamily="18" charset="0"/>
                                          </a:rPr>
                                        </m:ctrlPr>
                                      </m:sSubPr>
                                      <m:e>
                                        <m:r>
                                          <a:rPr lang="en-US" altLang="zh-TW" sz="2800" i="1">
                                            <a:latin typeface="Cambria Math" panose="02040503050406030204" pitchFamily="18" charset="0"/>
                                            <a:cs typeface="Times New Roman" panose="02020603050405020304" pitchFamily="18" charset="0"/>
                                          </a:rPr>
                                          <m:t>𝑎</m:t>
                                        </m:r>
                                      </m:e>
                                      <m:sub>
                                        <m:r>
                                          <a:rPr lang="en-US" altLang="zh-TW" sz="2800" b="0" i="1" smtClean="0">
                                            <a:latin typeface="Cambria Math" panose="02040503050406030204" pitchFamily="18" charset="0"/>
                                            <a:cs typeface="Times New Roman" panose="02020603050405020304" pitchFamily="18" charset="0"/>
                                          </a:rPr>
                                          <m:t>2</m:t>
                                        </m:r>
                                      </m:sub>
                                    </m:sSub>
                                  </m:e>
                                </m:d>
                              </m:oMath>
                            </m:oMathPara>
                          </a14:m>
                          <a:endParaRPr lang="zh-TW"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𝑄</m:t>
                                </m:r>
                                <m:d>
                                  <m:dPr>
                                    <m:ctrlPr>
                                      <a:rPr lang="en-US" altLang="zh-TW" sz="2800" i="1">
                                        <a:latin typeface="Cambria Math" panose="02040503050406030204" pitchFamily="18" charset="0"/>
                                        <a:cs typeface="Times New Roman" panose="02020603050405020304" pitchFamily="18" charset="0"/>
                                      </a:rPr>
                                    </m:ctrlPr>
                                  </m:dPr>
                                  <m:e>
                                    <m:sSub>
                                      <m:sSubPr>
                                        <m:ctrlPr>
                                          <a:rPr lang="en-US" altLang="zh-TW" sz="2800" i="1">
                                            <a:latin typeface="Cambria Math" panose="02040503050406030204" pitchFamily="18" charset="0"/>
                                            <a:cs typeface="Times New Roman" panose="02020603050405020304" pitchFamily="18" charset="0"/>
                                          </a:rPr>
                                        </m:ctrlPr>
                                      </m:sSubPr>
                                      <m:e>
                                        <m:r>
                                          <a:rPr lang="en-US" altLang="zh-TW" sz="2800" i="1">
                                            <a:latin typeface="Cambria Math" panose="02040503050406030204" pitchFamily="18" charset="0"/>
                                            <a:cs typeface="Times New Roman" panose="02020603050405020304" pitchFamily="18" charset="0"/>
                                          </a:rPr>
                                          <m:t>𝑠</m:t>
                                        </m:r>
                                      </m:e>
                                      <m:sub>
                                        <m:r>
                                          <a:rPr lang="en-US" altLang="zh-TW" sz="2800" b="0" i="1" smtClean="0">
                                            <a:latin typeface="Cambria Math" panose="02040503050406030204" pitchFamily="18" charset="0"/>
                                            <a:cs typeface="Times New Roman" panose="02020603050405020304" pitchFamily="18" charset="0"/>
                                          </a:rPr>
                                          <m:t>1</m:t>
                                        </m:r>
                                      </m:sub>
                                    </m:sSub>
                                    <m:r>
                                      <a:rPr lang="en-US" altLang="zh-TW" sz="2800" i="1">
                                        <a:latin typeface="Cambria Math" panose="02040503050406030204" pitchFamily="18" charset="0"/>
                                        <a:cs typeface="Times New Roman" panose="02020603050405020304" pitchFamily="18" charset="0"/>
                                      </a:rPr>
                                      <m:t>,</m:t>
                                    </m:r>
                                    <m:sSub>
                                      <m:sSubPr>
                                        <m:ctrlPr>
                                          <a:rPr lang="en-US" altLang="zh-TW" sz="2800" i="1">
                                            <a:latin typeface="Cambria Math" panose="02040503050406030204" pitchFamily="18" charset="0"/>
                                            <a:cs typeface="Times New Roman" panose="02020603050405020304" pitchFamily="18" charset="0"/>
                                          </a:rPr>
                                        </m:ctrlPr>
                                      </m:sSubPr>
                                      <m:e>
                                        <m:r>
                                          <a:rPr lang="en-US" altLang="zh-TW" sz="2800" i="1">
                                            <a:latin typeface="Cambria Math" panose="02040503050406030204" pitchFamily="18" charset="0"/>
                                            <a:cs typeface="Times New Roman" panose="02020603050405020304" pitchFamily="18" charset="0"/>
                                          </a:rPr>
                                          <m:t>𝑎</m:t>
                                        </m:r>
                                      </m:e>
                                      <m:sub>
                                        <m:r>
                                          <a:rPr lang="en-US" altLang="zh-TW" sz="2800" b="0" i="1" smtClean="0">
                                            <a:latin typeface="Cambria Math" panose="02040503050406030204" pitchFamily="18" charset="0"/>
                                            <a:cs typeface="Times New Roman" panose="02020603050405020304" pitchFamily="18" charset="0"/>
                                          </a:rPr>
                                          <m:t>3</m:t>
                                        </m:r>
                                      </m:sub>
                                    </m:sSub>
                                  </m:e>
                                </m:d>
                              </m:oMath>
                            </m:oMathPara>
                          </a14:m>
                          <a:endParaRPr lang="zh-TW"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195478"/>
                      </a:ext>
                    </a:extLst>
                  </a:tr>
                </a:tbl>
              </a:graphicData>
            </a:graphic>
          </p:graphicFrame>
        </mc:Choice>
        <mc:Fallback>
          <p:graphicFrame>
            <p:nvGraphicFramePr>
              <p:cNvPr id="46" name="表格 45">
                <a:extLst>
                  <a:ext uri="{FF2B5EF4-FFF2-40B4-BE49-F238E27FC236}">
                    <a16:creationId xmlns:a16="http://schemas.microsoft.com/office/drawing/2014/main" id="{BA7303B6-99DE-4A5A-94EB-6852C10EE1B9}"/>
                  </a:ext>
                </a:extLst>
              </p:cNvPr>
              <p:cNvGraphicFramePr>
                <a:graphicFrameLocks noGrp="1"/>
              </p:cNvGraphicFramePr>
              <p:nvPr>
                <p:extLst>
                  <p:ext uri="{D42A27DB-BD31-4B8C-83A1-F6EECF244321}">
                    <p14:modId xmlns:p14="http://schemas.microsoft.com/office/powerpoint/2010/main" val="2192421680"/>
                  </p:ext>
                </p:extLst>
              </p:nvPr>
            </p:nvGraphicFramePr>
            <p:xfrm>
              <a:off x="3059783" y="5680392"/>
              <a:ext cx="5457689" cy="1036320"/>
            </p:xfrm>
            <a:graphic>
              <a:graphicData uri="http://schemas.openxmlformats.org/drawingml/2006/table">
                <a:tbl>
                  <a:tblPr firstRow="1" bandRow="1">
                    <a:tableStyleId>{5C22544A-7EE6-4342-B048-85BDC9FD1C3A}</a:tableStyleId>
                  </a:tblPr>
                  <a:tblGrid>
                    <a:gridCol w="594487">
                      <a:extLst>
                        <a:ext uri="{9D8B030D-6E8A-4147-A177-3AD203B41FA5}">
                          <a16:colId xmlns:a16="http://schemas.microsoft.com/office/drawing/2014/main" val="2369625307"/>
                        </a:ext>
                      </a:extLst>
                    </a:gridCol>
                    <a:gridCol w="1609344">
                      <a:extLst>
                        <a:ext uri="{9D8B030D-6E8A-4147-A177-3AD203B41FA5}">
                          <a16:colId xmlns:a16="http://schemas.microsoft.com/office/drawing/2014/main" val="1162122855"/>
                        </a:ext>
                      </a:extLst>
                    </a:gridCol>
                    <a:gridCol w="1609344">
                      <a:extLst>
                        <a:ext uri="{9D8B030D-6E8A-4147-A177-3AD203B41FA5}">
                          <a16:colId xmlns:a16="http://schemas.microsoft.com/office/drawing/2014/main" val="1134841801"/>
                        </a:ext>
                      </a:extLst>
                    </a:gridCol>
                    <a:gridCol w="1644514">
                      <a:extLst>
                        <a:ext uri="{9D8B030D-6E8A-4147-A177-3AD203B41FA5}">
                          <a16:colId xmlns:a16="http://schemas.microsoft.com/office/drawing/2014/main" val="2382682147"/>
                        </a:ext>
                      </a:extLst>
                    </a:gridCol>
                  </a:tblGrid>
                  <a:tr h="518160">
                    <a:tc>
                      <a:txBody>
                        <a:bodyPr/>
                        <a:lstStyle/>
                        <a:p>
                          <a:endParaRPr lang="zh-TW"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7500" t="-1163" r="-203409" b="-10116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36981" t="-1163" r="-102642" b="-10116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32593" t="-1163" r="-741" b="-101163"/>
                          </a:stretch>
                        </a:blipFill>
                      </a:tcPr>
                    </a:tc>
                    <a:extLst>
                      <a:ext uri="{0D108BD9-81ED-4DB2-BD59-A6C34878D82A}">
                        <a16:rowId xmlns:a16="http://schemas.microsoft.com/office/drawing/2014/main" val="3365695363"/>
                      </a:ext>
                    </a:extLst>
                  </a:tr>
                  <a:tr h="51816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020" t="-102353" r="-817347" b="-235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7500" t="-102353" r="-203409" b="-235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36981" t="-102353" r="-102642" b="-235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32593" t="-102353" r="-741" b="-2353"/>
                          </a:stretch>
                        </a:blipFill>
                      </a:tcPr>
                    </a:tc>
                    <a:extLst>
                      <a:ext uri="{0D108BD9-81ED-4DB2-BD59-A6C34878D82A}">
                        <a16:rowId xmlns:a16="http://schemas.microsoft.com/office/drawing/2014/main" val="1567195478"/>
                      </a:ext>
                    </a:extLst>
                  </a:tr>
                </a:tbl>
              </a:graphicData>
            </a:graphic>
          </p:graphicFrame>
        </mc:Fallback>
      </mc:AlternateContent>
    </p:spTree>
    <p:extLst>
      <p:ext uri="{BB962C8B-B14F-4D97-AF65-F5344CB8AC3E}">
        <p14:creationId xmlns:p14="http://schemas.microsoft.com/office/powerpoint/2010/main" val="1693936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Deep Deterministic Policy Gradient (DDPG)</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矩形: 圓角 4">
                <a:extLst>
                  <a:ext uri="{FF2B5EF4-FFF2-40B4-BE49-F238E27FC236}">
                    <a16:creationId xmlns:a16="http://schemas.microsoft.com/office/drawing/2014/main" id="{78DD865E-FC4C-4A59-ABF8-FC01A6030F6D}"/>
                  </a:ext>
                </a:extLst>
              </p:cNvPr>
              <p:cNvSpPr/>
              <p:nvPr/>
            </p:nvSpPr>
            <p:spPr>
              <a:xfrm>
                <a:off x="2876990" y="2061380"/>
                <a:ext cx="1947333" cy="1530559"/>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800" dirty="0">
                    <a:solidFill>
                      <a:schemeClr val="tx1"/>
                    </a:solidFill>
                    <a:latin typeface="Times New Roman" panose="02020603050405020304" pitchFamily="18" charset="0"/>
                    <a:cs typeface="Times New Roman" panose="02020603050405020304" pitchFamily="18" charset="0"/>
                  </a:rPr>
                  <a:t>Actor</a:t>
                </a:r>
              </a:p>
              <a:p>
                <a:pPr algn="ctr"/>
                <a:r>
                  <a:rPr lang="en-US" altLang="zh-TW" sz="2800" dirty="0">
                    <a:solidFill>
                      <a:schemeClr val="tx1"/>
                    </a:solidFill>
                    <a:latin typeface="Times New Roman" panose="02020603050405020304" pitchFamily="18" charset="0"/>
                    <a:cs typeface="Times New Roman" panose="02020603050405020304" pitchFamily="18" charset="0"/>
                  </a:rPr>
                  <a:t>Network</a:t>
                </a:r>
              </a:p>
              <a:p>
                <a:pPr algn="ctr"/>
                <a14:m>
                  <m:oMathPara xmlns:m="http://schemas.openxmlformats.org/officeDocument/2006/math">
                    <m:oMathParaPr>
                      <m:jc m:val="centerGroup"/>
                    </m:oMathParaPr>
                    <m:oMath xmlns:m="http://schemas.openxmlformats.org/officeDocument/2006/math">
                      <m:r>
                        <a:rPr lang="zh-TW" altLang="en-US" sz="2800" i="1" smtClean="0">
                          <a:solidFill>
                            <a:schemeClr val="tx1"/>
                          </a:solidFill>
                          <a:latin typeface="Cambria Math" panose="02040503050406030204" pitchFamily="18" charset="0"/>
                          <a:cs typeface="Times New Roman" panose="02020603050405020304" pitchFamily="18" charset="0"/>
                        </a:rPr>
                        <m:t>𝜇</m:t>
                      </m:r>
                      <m:r>
                        <a:rPr lang="en-US" altLang="zh-TW" sz="2800" b="0" i="1" smtClean="0">
                          <a:solidFill>
                            <a:schemeClr val="tx1"/>
                          </a:solidFill>
                          <a:latin typeface="Cambria Math" panose="02040503050406030204" pitchFamily="18" charset="0"/>
                          <a:cs typeface="Times New Roman" panose="02020603050405020304" pitchFamily="18" charset="0"/>
                        </a:rPr>
                        <m:t>(</m:t>
                      </m:r>
                      <m:r>
                        <a:rPr lang="en-US" altLang="zh-TW" sz="2800" b="0" i="1" smtClean="0">
                          <a:solidFill>
                            <a:schemeClr val="tx1"/>
                          </a:solidFill>
                          <a:latin typeface="Cambria Math" panose="02040503050406030204" pitchFamily="18" charset="0"/>
                          <a:cs typeface="Times New Roman" panose="02020603050405020304" pitchFamily="18" charset="0"/>
                        </a:rPr>
                        <m:t>𝑠</m:t>
                      </m:r>
                      <m:r>
                        <a:rPr lang="en-US" altLang="zh-TW" sz="2800" b="0" i="1" smtClean="0">
                          <a:solidFill>
                            <a:schemeClr val="tx1"/>
                          </a:solidFill>
                          <a:latin typeface="Cambria Math" panose="02040503050406030204" pitchFamily="18" charset="0"/>
                          <a:cs typeface="Times New Roman" panose="02020603050405020304" pitchFamily="18" charset="0"/>
                        </a:rPr>
                        <m:t>)</m:t>
                      </m:r>
                    </m:oMath>
                  </m:oMathPara>
                </a14:m>
                <a:endParaRPr lang="zh-TW" altLang="en-US" sz="2800" dirty="0">
                  <a:solidFill>
                    <a:schemeClr val="tx1"/>
                  </a:solidFill>
                  <a:latin typeface="Times New Roman" panose="02020603050405020304" pitchFamily="18" charset="0"/>
                  <a:cs typeface="Times New Roman" panose="02020603050405020304" pitchFamily="18" charset="0"/>
                </a:endParaRPr>
              </a:p>
            </p:txBody>
          </p:sp>
        </mc:Choice>
        <mc:Fallback>
          <p:sp>
            <p:nvSpPr>
              <p:cNvPr id="5" name="矩形: 圓角 4">
                <a:extLst>
                  <a:ext uri="{FF2B5EF4-FFF2-40B4-BE49-F238E27FC236}">
                    <a16:creationId xmlns:a16="http://schemas.microsoft.com/office/drawing/2014/main" id="{78DD865E-FC4C-4A59-ABF8-FC01A6030F6D}"/>
                  </a:ext>
                </a:extLst>
              </p:cNvPr>
              <p:cNvSpPr>
                <a:spLocks noRot="1" noChangeAspect="1" noMove="1" noResize="1" noEditPoints="1" noAdjustHandles="1" noChangeArrowheads="1" noChangeShapeType="1" noTextEdit="1"/>
              </p:cNvSpPr>
              <p:nvPr/>
            </p:nvSpPr>
            <p:spPr>
              <a:xfrm>
                <a:off x="2876990" y="2061380"/>
                <a:ext cx="1947333" cy="1530559"/>
              </a:xfrm>
              <a:prstGeom prst="round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流程圖: 接點 5">
                <a:extLst>
                  <a:ext uri="{FF2B5EF4-FFF2-40B4-BE49-F238E27FC236}">
                    <a16:creationId xmlns:a16="http://schemas.microsoft.com/office/drawing/2014/main" id="{9E14DC6A-7F79-403A-99FE-4E81B197E1CE}"/>
                  </a:ext>
                </a:extLst>
              </p:cNvPr>
              <p:cNvSpPr/>
              <p:nvPr/>
            </p:nvSpPr>
            <p:spPr>
              <a:xfrm>
                <a:off x="1543223" y="2402397"/>
                <a:ext cx="846666" cy="848523"/>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TW" sz="2800" b="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𝑠</m:t>
                          </m:r>
                        </m:e>
                        <m:sub>
                          <m:r>
                            <a:rPr lang="en-US" altLang="zh-TW" sz="2800" b="0" i="1" smtClean="0">
                              <a:solidFill>
                                <a:schemeClr val="tx1"/>
                              </a:solidFill>
                              <a:latin typeface="Cambria Math" panose="02040503050406030204" pitchFamily="18" charset="0"/>
                            </a:rPr>
                            <m:t>𝑡</m:t>
                          </m:r>
                        </m:sub>
                      </m:sSub>
                    </m:oMath>
                  </m:oMathPara>
                </a14:m>
                <a:endParaRPr lang="zh-TW" altLang="en-US" sz="2800" dirty="0">
                  <a:solidFill>
                    <a:schemeClr val="tx1"/>
                  </a:solidFill>
                </a:endParaRPr>
              </a:p>
            </p:txBody>
          </p:sp>
        </mc:Choice>
        <mc:Fallback>
          <p:sp>
            <p:nvSpPr>
              <p:cNvPr id="6" name="流程圖: 接點 5">
                <a:extLst>
                  <a:ext uri="{FF2B5EF4-FFF2-40B4-BE49-F238E27FC236}">
                    <a16:creationId xmlns:a16="http://schemas.microsoft.com/office/drawing/2014/main" id="{9E14DC6A-7F79-403A-99FE-4E81B197E1CE}"/>
                  </a:ext>
                </a:extLst>
              </p:cNvPr>
              <p:cNvSpPr>
                <a:spLocks noRot="1" noChangeAspect="1" noMove="1" noResize="1" noEditPoints="1" noAdjustHandles="1" noChangeArrowheads="1" noChangeShapeType="1" noTextEdit="1"/>
              </p:cNvSpPr>
              <p:nvPr/>
            </p:nvSpPr>
            <p:spPr>
              <a:xfrm>
                <a:off x="1543223" y="2402397"/>
                <a:ext cx="846666" cy="848523"/>
              </a:xfrm>
              <a:prstGeom prst="flowChartConnector">
                <a:avLst/>
              </a:prstGeom>
              <a:blipFill>
                <a:blip r:embed="rId4"/>
                <a:stretch>
                  <a:fillRect/>
                </a:stretch>
              </a:blipFill>
              <a:ln>
                <a:solidFill>
                  <a:schemeClr val="tx1"/>
                </a:solidFill>
              </a:ln>
            </p:spPr>
            <p:txBody>
              <a:bodyPr/>
              <a:lstStyle/>
              <a:p>
                <a:r>
                  <a:rPr lang="zh-TW" altLang="en-US">
                    <a:noFill/>
                  </a:rPr>
                  <a:t> </a:t>
                </a:r>
              </a:p>
            </p:txBody>
          </p:sp>
        </mc:Fallback>
      </mc:AlternateContent>
      <p:cxnSp>
        <p:nvCxnSpPr>
          <p:cNvPr id="7" name="直線單箭頭接點 6">
            <a:extLst>
              <a:ext uri="{FF2B5EF4-FFF2-40B4-BE49-F238E27FC236}">
                <a16:creationId xmlns:a16="http://schemas.microsoft.com/office/drawing/2014/main" id="{784E5007-ACBE-4F5C-B7AD-FC8B95CB49CD}"/>
              </a:ext>
            </a:extLst>
          </p:cNvPr>
          <p:cNvCxnSpPr>
            <a:cxnSpLocks/>
            <a:stCxn id="6" idx="6"/>
            <a:endCxn id="5" idx="1"/>
          </p:cNvCxnSpPr>
          <p:nvPr/>
        </p:nvCxnSpPr>
        <p:spPr>
          <a:xfrm>
            <a:off x="2389889" y="2826659"/>
            <a:ext cx="487101" cy="1"/>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8" name="矩形 7">
                <a:extLst>
                  <a:ext uri="{FF2B5EF4-FFF2-40B4-BE49-F238E27FC236}">
                    <a16:creationId xmlns:a16="http://schemas.microsoft.com/office/drawing/2014/main" id="{F965E4F6-5C9E-4621-99E6-2D5644FF273F}"/>
                  </a:ext>
                </a:extLst>
              </p:cNvPr>
              <p:cNvSpPr/>
              <p:nvPr/>
            </p:nvSpPr>
            <p:spPr>
              <a:xfrm>
                <a:off x="5311424" y="2521593"/>
                <a:ext cx="610129" cy="6101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𝑡</m:t>
                          </m:r>
                        </m:sub>
                      </m:sSub>
                    </m:oMath>
                  </m:oMathPara>
                </a14:m>
                <a:endParaRPr lang="zh-TW" altLang="en-US" sz="2800" dirty="0">
                  <a:solidFill>
                    <a:schemeClr val="tx1"/>
                  </a:solidFill>
                </a:endParaRPr>
              </a:p>
            </p:txBody>
          </p:sp>
        </mc:Choice>
        <mc:Fallback>
          <p:sp>
            <p:nvSpPr>
              <p:cNvPr id="8" name="矩形 7">
                <a:extLst>
                  <a:ext uri="{FF2B5EF4-FFF2-40B4-BE49-F238E27FC236}">
                    <a16:creationId xmlns:a16="http://schemas.microsoft.com/office/drawing/2014/main" id="{F965E4F6-5C9E-4621-99E6-2D5644FF273F}"/>
                  </a:ext>
                </a:extLst>
              </p:cNvPr>
              <p:cNvSpPr>
                <a:spLocks noRot="1" noChangeAspect="1" noMove="1" noResize="1" noEditPoints="1" noAdjustHandles="1" noChangeArrowheads="1" noChangeShapeType="1" noTextEdit="1"/>
              </p:cNvSpPr>
              <p:nvPr/>
            </p:nvSpPr>
            <p:spPr>
              <a:xfrm>
                <a:off x="5311424" y="2521593"/>
                <a:ext cx="610129" cy="610129"/>
              </a:xfrm>
              <a:prstGeom prst="rect">
                <a:avLst/>
              </a:prstGeom>
              <a:blipFill>
                <a:blip r:embed="rId5"/>
                <a:stretch>
                  <a:fillRect/>
                </a:stretch>
              </a:blipFill>
              <a:ln>
                <a:solidFill>
                  <a:schemeClr val="tx1"/>
                </a:solidFill>
              </a:ln>
            </p:spPr>
            <p:txBody>
              <a:bodyPr/>
              <a:lstStyle/>
              <a:p>
                <a:r>
                  <a:rPr lang="zh-TW" altLang="en-US">
                    <a:noFill/>
                  </a:rPr>
                  <a:t> </a:t>
                </a:r>
              </a:p>
            </p:txBody>
          </p:sp>
        </mc:Fallback>
      </mc:AlternateContent>
      <p:cxnSp>
        <p:nvCxnSpPr>
          <p:cNvPr id="9" name="直線單箭頭接點 8">
            <a:extLst>
              <a:ext uri="{FF2B5EF4-FFF2-40B4-BE49-F238E27FC236}">
                <a16:creationId xmlns:a16="http://schemas.microsoft.com/office/drawing/2014/main" id="{01220164-7EA8-45AD-8BCE-6939FBA601BC}"/>
              </a:ext>
            </a:extLst>
          </p:cNvPr>
          <p:cNvCxnSpPr>
            <a:cxnSpLocks/>
            <a:stCxn id="5" idx="3"/>
            <a:endCxn id="8" idx="1"/>
          </p:cNvCxnSpPr>
          <p:nvPr/>
        </p:nvCxnSpPr>
        <p:spPr>
          <a:xfrm flipV="1">
            <a:off x="4824323" y="2826658"/>
            <a:ext cx="487101" cy="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0" name="矩形: 圓角 9">
                <a:extLst>
                  <a:ext uri="{FF2B5EF4-FFF2-40B4-BE49-F238E27FC236}">
                    <a16:creationId xmlns:a16="http://schemas.microsoft.com/office/drawing/2014/main" id="{773FB688-EA89-4CAE-BA3F-BF45ADE8BF3B}"/>
                  </a:ext>
                </a:extLst>
              </p:cNvPr>
              <p:cNvSpPr/>
              <p:nvPr/>
            </p:nvSpPr>
            <p:spPr>
              <a:xfrm>
                <a:off x="2953190" y="4540599"/>
                <a:ext cx="1947333" cy="1530559"/>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800" dirty="0">
                    <a:solidFill>
                      <a:schemeClr val="tx1"/>
                    </a:solidFill>
                    <a:latin typeface="Times New Roman" panose="02020603050405020304" pitchFamily="18" charset="0"/>
                    <a:cs typeface="Times New Roman" panose="02020603050405020304" pitchFamily="18" charset="0"/>
                  </a:rPr>
                  <a:t>Critic</a:t>
                </a:r>
              </a:p>
              <a:p>
                <a:pPr algn="ctr"/>
                <a:r>
                  <a:rPr lang="en-US" altLang="zh-TW" sz="2800" dirty="0">
                    <a:solidFill>
                      <a:schemeClr val="tx1"/>
                    </a:solidFill>
                    <a:latin typeface="Times New Roman" panose="02020603050405020304" pitchFamily="18" charset="0"/>
                    <a:cs typeface="Times New Roman" panose="02020603050405020304" pitchFamily="18" charset="0"/>
                  </a:rPr>
                  <a:t>Network</a:t>
                </a:r>
              </a:p>
              <a:p>
                <a:pPr algn="ctr"/>
                <a14:m>
                  <m:oMathPara xmlns:m="http://schemas.openxmlformats.org/officeDocument/2006/math">
                    <m:oMathParaPr>
                      <m:jc m:val="centerGroup"/>
                    </m:oMathParaPr>
                    <m:oMath xmlns:m="http://schemas.openxmlformats.org/officeDocument/2006/math">
                      <m:r>
                        <a:rPr lang="en-US" altLang="zh-TW" sz="2800" b="0" i="1" smtClean="0">
                          <a:solidFill>
                            <a:schemeClr val="tx1"/>
                          </a:solidFill>
                          <a:latin typeface="Cambria Math" panose="02040503050406030204" pitchFamily="18" charset="0"/>
                          <a:cs typeface="Times New Roman" panose="02020603050405020304" pitchFamily="18" charset="0"/>
                        </a:rPr>
                        <m:t>𝑄</m:t>
                      </m:r>
                      <m:r>
                        <a:rPr lang="en-US" altLang="zh-TW" sz="2800" b="0" i="1" smtClean="0">
                          <a:solidFill>
                            <a:schemeClr val="tx1"/>
                          </a:solidFill>
                          <a:latin typeface="Cambria Math" panose="02040503050406030204" pitchFamily="18" charset="0"/>
                          <a:cs typeface="Times New Roman" panose="02020603050405020304" pitchFamily="18" charset="0"/>
                        </a:rPr>
                        <m:t>(</m:t>
                      </m:r>
                      <m:r>
                        <a:rPr lang="en-US" altLang="zh-TW" sz="2800" b="0" i="1" smtClean="0">
                          <a:solidFill>
                            <a:schemeClr val="tx1"/>
                          </a:solidFill>
                          <a:latin typeface="Cambria Math" panose="02040503050406030204" pitchFamily="18" charset="0"/>
                          <a:cs typeface="Times New Roman" panose="02020603050405020304" pitchFamily="18" charset="0"/>
                        </a:rPr>
                        <m:t>𝑠</m:t>
                      </m:r>
                      <m:r>
                        <a:rPr lang="en-US" altLang="zh-TW" sz="2800" b="0" i="1" smtClean="0">
                          <a:solidFill>
                            <a:schemeClr val="tx1"/>
                          </a:solidFill>
                          <a:latin typeface="Cambria Math" panose="02040503050406030204" pitchFamily="18" charset="0"/>
                          <a:cs typeface="Times New Roman" panose="02020603050405020304" pitchFamily="18" charset="0"/>
                        </a:rPr>
                        <m:t>,</m:t>
                      </m:r>
                      <m:r>
                        <a:rPr lang="en-US" altLang="zh-TW" sz="2800" b="0" i="1" smtClean="0">
                          <a:solidFill>
                            <a:schemeClr val="tx1"/>
                          </a:solidFill>
                          <a:latin typeface="Cambria Math" panose="02040503050406030204" pitchFamily="18" charset="0"/>
                          <a:cs typeface="Times New Roman" panose="02020603050405020304" pitchFamily="18" charset="0"/>
                        </a:rPr>
                        <m:t>𝑎</m:t>
                      </m:r>
                      <m:r>
                        <a:rPr lang="en-US" altLang="zh-TW" sz="2800" b="0" i="1" smtClean="0">
                          <a:solidFill>
                            <a:schemeClr val="tx1"/>
                          </a:solidFill>
                          <a:latin typeface="Cambria Math" panose="02040503050406030204" pitchFamily="18" charset="0"/>
                          <a:cs typeface="Times New Roman" panose="02020603050405020304" pitchFamily="18" charset="0"/>
                        </a:rPr>
                        <m:t>)</m:t>
                      </m:r>
                    </m:oMath>
                  </m:oMathPara>
                </a14:m>
                <a:endParaRPr lang="zh-TW" altLang="en-US" sz="2800" dirty="0">
                  <a:solidFill>
                    <a:schemeClr val="tx1"/>
                  </a:solidFill>
                  <a:latin typeface="Times New Roman" panose="02020603050405020304" pitchFamily="18" charset="0"/>
                  <a:cs typeface="Times New Roman" panose="02020603050405020304" pitchFamily="18" charset="0"/>
                </a:endParaRPr>
              </a:p>
            </p:txBody>
          </p:sp>
        </mc:Choice>
        <mc:Fallback>
          <p:sp>
            <p:nvSpPr>
              <p:cNvPr id="10" name="矩形: 圓角 9">
                <a:extLst>
                  <a:ext uri="{FF2B5EF4-FFF2-40B4-BE49-F238E27FC236}">
                    <a16:creationId xmlns:a16="http://schemas.microsoft.com/office/drawing/2014/main" id="{773FB688-EA89-4CAE-BA3F-BF45ADE8BF3B}"/>
                  </a:ext>
                </a:extLst>
              </p:cNvPr>
              <p:cNvSpPr>
                <a:spLocks noRot="1" noChangeAspect="1" noMove="1" noResize="1" noEditPoints="1" noAdjustHandles="1" noChangeArrowheads="1" noChangeShapeType="1" noTextEdit="1"/>
              </p:cNvSpPr>
              <p:nvPr/>
            </p:nvSpPr>
            <p:spPr>
              <a:xfrm>
                <a:off x="2953190" y="4540599"/>
                <a:ext cx="1947333" cy="1530559"/>
              </a:xfrm>
              <a:prstGeom prst="round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 name="文字方塊 2">
                <a:extLst>
                  <a:ext uri="{FF2B5EF4-FFF2-40B4-BE49-F238E27FC236}">
                    <a16:creationId xmlns:a16="http://schemas.microsoft.com/office/drawing/2014/main" id="{55DA513B-4D75-4E99-A8AF-E64327C42185}"/>
                  </a:ext>
                </a:extLst>
              </p:cNvPr>
              <p:cNvSpPr txBox="1"/>
              <p:nvPr/>
            </p:nvSpPr>
            <p:spPr>
              <a:xfrm>
                <a:off x="5269619" y="5044268"/>
                <a:ext cx="1303867" cy="52322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𝑄</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𝑠</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m:t>
                      </m:r>
                    </m:oMath>
                  </m:oMathPara>
                </a14:m>
                <a:endParaRPr lang="zh-TW" altLang="en-US" sz="2800" dirty="0"/>
              </a:p>
            </p:txBody>
          </p:sp>
        </mc:Choice>
        <mc:Fallback>
          <p:sp>
            <p:nvSpPr>
              <p:cNvPr id="3" name="文字方塊 2">
                <a:extLst>
                  <a:ext uri="{FF2B5EF4-FFF2-40B4-BE49-F238E27FC236}">
                    <a16:creationId xmlns:a16="http://schemas.microsoft.com/office/drawing/2014/main" id="{55DA513B-4D75-4E99-A8AF-E64327C42185}"/>
                  </a:ext>
                </a:extLst>
              </p:cNvPr>
              <p:cNvSpPr txBox="1">
                <a:spLocks noRot="1" noChangeAspect="1" noMove="1" noResize="1" noEditPoints="1" noAdjustHandles="1" noChangeArrowheads="1" noChangeShapeType="1" noTextEdit="1"/>
              </p:cNvSpPr>
              <p:nvPr/>
            </p:nvSpPr>
            <p:spPr>
              <a:xfrm>
                <a:off x="5269619" y="5044268"/>
                <a:ext cx="1303867" cy="523220"/>
              </a:xfrm>
              <a:prstGeom prst="rect">
                <a:avLst/>
              </a:prstGeom>
              <a:blipFill>
                <a:blip r:embed="rId7"/>
                <a:stretch>
                  <a:fillRect/>
                </a:stretch>
              </a:blipFill>
            </p:spPr>
            <p:txBody>
              <a:bodyPr/>
              <a:lstStyle/>
              <a:p>
                <a:r>
                  <a:rPr lang="zh-TW" altLang="en-US">
                    <a:noFill/>
                  </a:rPr>
                  <a:t> </a:t>
                </a:r>
              </a:p>
            </p:txBody>
          </p:sp>
        </mc:Fallback>
      </mc:AlternateContent>
      <p:cxnSp>
        <p:nvCxnSpPr>
          <p:cNvPr id="15" name="直線單箭頭接點 14">
            <a:extLst>
              <a:ext uri="{FF2B5EF4-FFF2-40B4-BE49-F238E27FC236}">
                <a16:creationId xmlns:a16="http://schemas.microsoft.com/office/drawing/2014/main" id="{C1979373-9F31-4BDC-BC32-F3088AB9418B}"/>
              </a:ext>
            </a:extLst>
          </p:cNvPr>
          <p:cNvCxnSpPr>
            <a:cxnSpLocks/>
            <a:stCxn id="10" idx="3"/>
            <a:endCxn id="3" idx="1"/>
          </p:cNvCxnSpPr>
          <p:nvPr/>
        </p:nvCxnSpPr>
        <p:spPr>
          <a:xfrm flipV="1">
            <a:off x="4900523" y="5305878"/>
            <a:ext cx="369096" cy="1"/>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 name="流程圖: 磁碟 19">
                <a:extLst>
                  <a:ext uri="{FF2B5EF4-FFF2-40B4-BE49-F238E27FC236}">
                    <a16:creationId xmlns:a16="http://schemas.microsoft.com/office/drawing/2014/main" id="{21B9658E-AEB4-4B83-98EF-BA446793F20E}"/>
                  </a:ext>
                </a:extLst>
              </p:cNvPr>
              <p:cNvSpPr/>
              <p:nvPr/>
            </p:nvSpPr>
            <p:spPr>
              <a:xfrm>
                <a:off x="8057709" y="2926452"/>
                <a:ext cx="2362200" cy="2412348"/>
              </a:xfrm>
              <a:prstGeom prst="flowChartMagneticDisk">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2800" b="0" i="1" smtClean="0">
                              <a:solidFill>
                                <a:schemeClr val="tx1"/>
                              </a:solidFill>
                              <a:latin typeface="Cambria Math" panose="02040503050406030204" pitchFamily="18" charset="0"/>
                              <a:cs typeface="Times New Roman" panose="02020603050405020304" pitchFamily="18" charset="0"/>
                            </a:rPr>
                          </m:ctrlPr>
                        </m:sSubPr>
                        <m:e>
                          <m:r>
                            <a:rPr lang="en-US" altLang="zh-TW" sz="2800" b="0" i="1" smtClean="0">
                              <a:solidFill>
                                <a:schemeClr val="tx1"/>
                              </a:solidFill>
                              <a:latin typeface="Cambria Math" panose="02040503050406030204" pitchFamily="18" charset="0"/>
                              <a:cs typeface="Times New Roman" panose="02020603050405020304" pitchFamily="18" charset="0"/>
                            </a:rPr>
                            <m:t>𝑠</m:t>
                          </m:r>
                        </m:e>
                        <m:sub>
                          <m:r>
                            <a:rPr lang="en-US" altLang="zh-TW" sz="2800" b="0" i="1" smtClean="0">
                              <a:solidFill>
                                <a:schemeClr val="tx1"/>
                              </a:solidFill>
                              <a:latin typeface="Cambria Math" panose="02040503050406030204" pitchFamily="18" charset="0"/>
                              <a:cs typeface="Times New Roman" panose="02020603050405020304" pitchFamily="18" charset="0"/>
                            </a:rPr>
                            <m:t>𝑡</m:t>
                          </m:r>
                        </m:sub>
                      </m:sSub>
                      <m:r>
                        <a:rPr lang="en-US" altLang="zh-TW" sz="2800" b="0" i="1" smtClean="0">
                          <a:solidFill>
                            <a:schemeClr val="tx1"/>
                          </a:solidFill>
                          <a:latin typeface="Cambria Math" panose="02040503050406030204" pitchFamily="18" charset="0"/>
                          <a:cs typeface="Times New Roman" panose="02020603050405020304" pitchFamily="18" charset="0"/>
                        </a:rPr>
                        <m:t>,</m:t>
                      </m:r>
                      <m:sSub>
                        <m:sSubPr>
                          <m:ctrlPr>
                            <a:rPr lang="en-US" altLang="zh-TW" sz="2800" b="0" i="1" smtClean="0">
                              <a:solidFill>
                                <a:schemeClr val="tx1"/>
                              </a:solidFill>
                              <a:latin typeface="Cambria Math" panose="02040503050406030204" pitchFamily="18" charset="0"/>
                              <a:cs typeface="Times New Roman" panose="02020603050405020304" pitchFamily="18" charset="0"/>
                            </a:rPr>
                          </m:ctrlPr>
                        </m:sSubPr>
                        <m:e>
                          <m:r>
                            <a:rPr lang="en-US" altLang="zh-TW" sz="2800" b="0" i="1" smtClean="0">
                              <a:solidFill>
                                <a:schemeClr val="tx1"/>
                              </a:solidFill>
                              <a:latin typeface="Cambria Math" panose="02040503050406030204" pitchFamily="18" charset="0"/>
                              <a:cs typeface="Times New Roman" panose="02020603050405020304" pitchFamily="18" charset="0"/>
                            </a:rPr>
                            <m:t>𝑎</m:t>
                          </m:r>
                        </m:e>
                        <m:sub>
                          <m:r>
                            <a:rPr lang="en-US" altLang="zh-TW" sz="2800" b="0" i="1" smtClean="0">
                              <a:solidFill>
                                <a:schemeClr val="tx1"/>
                              </a:solidFill>
                              <a:latin typeface="Cambria Math" panose="02040503050406030204" pitchFamily="18" charset="0"/>
                              <a:cs typeface="Times New Roman" panose="02020603050405020304" pitchFamily="18" charset="0"/>
                            </a:rPr>
                            <m:t>𝑡</m:t>
                          </m:r>
                        </m:sub>
                      </m:sSub>
                      <m:r>
                        <a:rPr lang="en-US" altLang="zh-TW" sz="2800" b="0" i="1" smtClean="0">
                          <a:solidFill>
                            <a:schemeClr val="tx1"/>
                          </a:solidFill>
                          <a:latin typeface="Cambria Math" panose="02040503050406030204" pitchFamily="18" charset="0"/>
                          <a:cs typeface="Times New Roman" panose="02020603050405020304" pitchFamily="18" charset="0"/>
                        </a:rPr>
                        <m:t>,</m:t>
                      </m:r>
                      <m:sSub>
                        <m:sSubPr>
                          <m:ctrlPr>
                            <a:rPr lang="en-US" altLang="zh-TW" sz="2800" b="0" i="1" smtClean="0">
                              <a:solidFill>
                                <a:schemeClr val="tx1"/>
                              </a:solidFill>
                              <a:latin typeface="Cambria Math" panose="02040503050406030204" pitchFamily="18" charset="0"/>
                              <a:cs typeface="Times New Roman" panose="02020603050405020304" pitchFamily="18" charset="0"/>
                            </a:rPr>
                          </m:ctrlPr>
                        </m:sSubPr>
                        <m:e>
                          <m:r>
                            <a:rPr lang="en-US" altLang="zh-TW" sz="2800" b="0" i="1" smtClean="0">
                              <a:solidFill>
                                <a:schemeClr val="tx1"/>
                              </a:solidFill>
                              <a:latin typeface="Cambria Math" panose="02040503050406030204" pitchFamily="18" charset="0"/>
                              <a:cs typeface="Times New Roman" panose="02020603050405020304" pitchFamily="18" charset="0"/>
                            </a:rPr>
                            <m:t>𝑠</m:t>
                          </m:r>
                        </m:e>
                        <m:sub>
                          <m:r>
                            <a:rPr lang="en-US" altLang="zh-TW" sz="2800" b="0" i="1" smtClean="0">
                              <a:solidFill>
                                <a:schemeClr val="tx1"/>
                              </a:solidFill>
                              <a:latin typeface="Cambria Math" panose="02040503050406030204" pitchFamily="18" charset="0"/>
                              <a:cs typeface="Times New Roman" panose="02020603050405020304" pitchFamily="18" charset="0"/>
                            </a:rPr>
                            <m:t>𝑡</m:t>
                          </m:r>
                          <m:r>
                            <a:rPr lang="en-US" altLang="zh-TW" sz="2800" b="0" i="1" smtClean="0">
                              <a:solidFill>
                                <a:schemeClr val="tx1"/>
                              </a:solidFill>
                              <a:latin typeface="Cambria Math" panose="02040503050406030204" pitchFamily="18" charset="0"/>
                              <a:cs typeface="Times New Roman" panose="02020603050405020304" pitchFamily="18" charset="0"/>
                            </a:rPr>
                            <m:t>+1</m:t>
                          </m:r>
                        </m:sub>
                      </m:sSub>
                      <m:r>
                        <a:rPr lang="en-US" altLang="zh-TW" sz="2800" b="0" i="1" smtClean="0">
                          <a:solidFill>
                            <a:schemeClr val="tx1"/>
                          </a:solidFill>
                          <a:latin typeface="Cambria Math" panose="02040503050406030204" pitchFamily="18" charset="0"/>
                          <a:cs typeface="Times New Roman" panose="02020603050405020304" pitchFamily="18" charset="0"/>
                        </a:rPr>
                        <m:t>,</m:t>
                      </m:r>
                      <m:sSub>
                        <m:sSubPr>
                          <m:ctrlPr>
                            <a:rPr lang="en-US" altLang="zh-TW" sz="2800" b="0" i="1" smtClean="0">
                              <a:solidFill>
                                <a:schemeClr val="tx1"/>
                              </a:solidFill>
                              <a:latin typeface="Cambria Math" panose="02040503050406030204" pitchFamily="18" charset="0"/>
                              <a:cs typeface="Times New Roman" panose="02020603050405020304" pitchFamily="18" charset="0"/>
                            </a:rPr>
                          </m:ctrlPr>
                        </m:sSubPr>
                        <m:e>
                          <m:r>
                            <a:rPr lang="en-US" altLang="zh-TW" sz="2800" b="0" i="1" smtClean="0">
                              <a:solidFill>
                                <a:schemeClr val="tx1"/>
                              </a:solidFill>
                              <a:latin typeface="Cambria Math" panose="02040503050406030204" pitchFamily="18" charset="0"/>
                              <a:cs typeface="Times New Roman" panose="02020603050405020304" pitchFamily="18" charset="0"/>
                            </a:rPr>
                            <m:t>𝑟</m:t>
                          </m:r>
                        </m:e>
                        <m:sub>
                          <m:r>
                            <a:rPr lang="en-US" altLang="zh-TW" sz="2800" b="0" i="1" smtClean="0">
                              <a:solidFill>
                                <a:schemeClr val="tx1"/>
                              </a:solidFill>
                              <a:latin typeface="Cambria Math" panose="02040503050406030204" pitchFamily="18" charset="0"/>
                              <a:cs typeface="Times New Roman" panose="02020603050405020304" pitchFamily="18" charset="0"/>
                            </a:rPr>
                            <m:t>𝑡</m:t>
                          </m:r>
                        </m:sub>
                      </m:sSub>
                    </m:oMath>
                  </m:oMathPara>
                </a14:m>
                <a:endParaRPr lang="zh-TW" altLang="en-US" sz="2800" dirty="0">
                  <a:solidFill>
                    <a:schemeClr val="tx1"/>
                  </a:solidFill>
                  <a:latin typeface="Times New Roman" panose="02020603050405020304" pitchFamily="18" charset="0"/>
                  <a:cs typeface="Times New Roman" panose="02020603050405020304" pitchFamily="18" charset="0"/>
                </a:endParaRPr>
              </a:p>
            </p:txBody>
          </p:sp>
        </mc:Choice>
        <mc:Fallback>
          <p:sp>
            <p:nvSpPr>
              <p:cNvPr id="20" name="流程圖: 磁碟 19">
                <a:extLst>
                  <a:ext uri="{FF2B5EF4-FFF2-40B4-BE49-F238E27FC236}">
                    <a16:creationId xmlns:a16="http://schemas.microsoft.com/office/drawing/2014/main" id="{21B9658E-AEB4-4B83-98EF-BA446793F20E}"/>
                  </a:ext>
                </a:extLst>
              </p:cNvPr>
              <p:cNvSpPr>
                <a:spLocks noRot="1" noChangeAspect="1" noMove="1" noResize="1" noEditPoints="1" noAdjustHandles="1" noChangeArrowheads="1" noChangeShapeType="1" noTextEdit="1"/>
              </p:cNvSpPr>
              <p:nvPr/>
            </p:nvSpPr>
            <p:spPr>
              <a:xfrm>
                <a:off x="8057709" y="2926452"/>
                <a:ext cx="2362200" cy="2412348"/>
              </a:xfrm>
              <a:prstGeom prst="flowChartMagneticDisk">
                <a:avLst/>
              </a:prstGeom>
              <a:blipFill>
                <a:blip r:embed="rId8"/>
                <a:stretch>
                  <a:fillRect/>
                </a:stretch>
              </a:blipFill>
            </p:spPr>
            <p:txBody>
              <a:bodyPr/>
              <a:lstStyle/>
              <a:p>
                <a:r>
                  <a:rPr lang="zh-TW" altLang="en-US">
                    <a:noFill/>
                  </a:rPr>
                  <a:t> </a:t>
                </a:r>
              </a:p>
            </p:txBody>
          </p:sp>
        </mc:Fallback>
      </mc:AlternateContent>
      <p:sp>
        <p:nvSpPr>
          <p:cNvPr id="21" name="文字方塊 20">
            <a:extLst>
              <a:ext uri="{FF2B5EF4-FFF2-40B4-BE49-F238E27FC236}">
                <a16:creationId xmlns:a16="http://schemas.microsoft.com/office/drawing/2014/main" id="{A3049175-60FD-40B1-84DA-BC42D47511DE}"/>
              </a:ext>
            </a:extLst>
          </p:cNvPr>
          <p:cNvSpPr txBox="1"/>
          <p:nvPr/>
        </p:nvSpPr>
        <p:spPr>
          <a:xfrm>
            <a:off x="9071153" y="3068719"/>
            <a:ext cx="838200" cy="523220"/>
          </a:xfrm>
          <a:prstGeom prst="rect">
            <a:avLst/>
          </a:prstGeom>
          <a:noFill/>
        </p:spPr>
        <p:txBody>
          <a:bodyPr wrap="square" rtlCol="0">
            <a:spAutoFit/>
          </a:bodyPr>
          <a:lstStyle/>
          <a:p>
            <a:r>
              <a:rPr lang="en-US" altLang="zh-TW" sz="2800" dirty="0"/>
              <a:t>R</a:t>
            </a:r>
            <a:endParaRPr lang="zh-TW" altLang="en-US" sz="2800" dirty="0"/>
          </a:p>
        </p:txBody>
      </p:sp>
      <p:cxnSp>
        <p:nvCxnSpPr>
          <p:cNvPr id="25" name="接點: 肘形 24">
            <a:extLst>
              <a:ext uri="{FF2B5EF4-FFF2-40B4-BE49-F238E27FC236}">
                <a16:creationId xmlns:a16="http://schemas.microsoft.com/office/drawing/2014/main" id="{BE0A0FC9-0F8A-4549-B2F4-59A168BD84A7}"/>
              </a:ext>
            </a:extLst>
          </p:cNvPr>
          <p:cNvCxnSpPr>
            <a:cxnSpLocks/>
            <a:stCxn id="6" idx="4"/>
            <a:endCxn id="10" idx="1"/>
          </p:cNvCxnSpPr>
          <p:nvPr/>
        </p:nvCxnSpPr>
        <p:spPr>
          <a:xfrm rot="16200000" flipH="1">
            <a:off x="1432394" y="3785082"/>
            <a:ext cx="2054959" cy="986634"/>
          </a:xfrm>
          <a:prstGeom prst="bentConnector2">
            <a:avLst/>
          </a:prstGeom>
          <a:ln w="57150">
            <a:tailEnd type="triangle"/>
          </a:ln>
        </p:spPr>
        <p:style>
          <a:lnRef idx="1">
            <a:schemeClr val="dk1"/>
          </a:lnRef>
          <a:fillRef idx="0">
            <a:schemeClr val="dk1"/>
          </a:fillRef>
          <a:effectRef idx="0">
            <a:schemeClr val="dk1"/>
          </a:effectRef>
          <a:fontRef idx="minor">
            <a:schemeClr val="tx1"/>
          </a:fontRef>
        </p:style>
      </p:cxnSp>
      <p:cxnSp>
        <p:nvCxnSpPr>
          <p:cNvPr id="27" name="接點: 肘形 26">
            <a:extLst>
              <a:ext uri="{FF2B5EF4-FFF2-40B4-BE49-F238E27FC236}">
                <a16:creationId xmlns:a16="http://schemas.microsoft.com/office/drawing/2014/main" id="{13ECAB29-4576-4477-89D5-A0F5CB83E8C3}"/>
              </a:ext>
            </a:extLst>
          </p:cNvPr>
          <p:cNvCxnSpPr>
            <a:cxnSpLocks/>
            <a:stCxn id="8" idx="2"/>
            <a:endCxn id="10" idx="1"/>
          </p:cNvCxnSpPr>
          <p:nvPr/>
        </p:nvCxnSpPr>
        <p:spPr>
          <a:xfrm rot="5400000">
            <a:off x="3197762" y="2887151"/>
            <a:ext cx="2174157" cy="2663299"/>
          </a:xfrm>
          <a:prstGeom prst="bentConnector4">
            <a:avLst>
              <a:gd name="adj1" fmla="val 42137"/>
              <a:gd name="adj2" fmla="val 120981"/>
            </a:avLst>
          </a:prstGeom>
          <a:ln w="57150">
            <a:tailEnd type="triangle"/>
          </a:ln>
        </p:spPr>
        <p:style>
          <a:lnRef idx="1">
            <a:schemeClr val="dk1"/>
          </a:lnRef>
          <a:fillRef idx="0">
            <a:schemeClr val="dk1"/>
          </a:fillRef>
          <a:effectRef idx="0">
            <a:schemeClr val="dk1"/>
          </a:effectRef>
          <a:fontRef idx="minor">
            <a:schemeClr val="tx1"/>
          </a:fontRef>
        </p:style>
      </p:cxnSp>
      <p:cxnSp>
        <p:nvCxnSpPr>
          <p:cNvPr id="43" name="直線單箭頭接點 42">
            <a:extLst>
              <a:ext uri="{FF2B5EF4-FFF2-40B4-BE49-F238E27FC236}">
                <a16:creationId xmlns:a16="http://schemas.microsoft.com/office/drawing/2014/main" id="{B87BA045-71A1-4FEB-BDD4-D404785D8A3A}"/>
              </a:ext>
            </a:extLst>
          </p:cNvPr>
          <p:cNvCxnSpPr>
            <a:cxnSpLocks/>
          </p:cNvCxnSpPr>
          <p:nvPr/>
        </p:nvCxnSpPr>
        <p:spPr>
          <a:xfrm>
            <a:off x="6573486" y="4047066"/>
            <a:ext cx="847542" cy="0"/>
          </a:xfrm>
          <a:prstGeom prst="straightConnector1">
            <a:avLst/>
          </a:prstGeom>
          <a:ln w="57150">
            <a:solidFill>
              <a:schemeClr val="tx1"/>
            </a:solidFill>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7837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Update critic network</a:t>
            </a:r>
            <a:endParaRPr lang="zh-TW" altLang="en-US" dirty="0">
              <a:latin typeface="Times New Roman" panose="02020603050405020304" pitchFamily="18" charset="0"/>
              <a:cs typeface="Times New Roman" panose="02020603050405020304" pitchFamily="18" charset="0"/>
            </a:endParaRPr>
          </a:p>
        </p:txBody>
      </p:sp>
      <p:sp>
        <p:nvSpPr>
          <p:cNvPr id="13" name="流程圖: 磁碟 12">
            <a:extLst>
              <a:ext uri="{FF2B5EF4-FFF2-40B4-BE49-F238E27FC236}">
                <a16:creationId xmlns:a16="http://schemas.microsoft.com/office/drawing/2014/main" id="{21C414E2-4773-4D1D-8EC5-568B2274DE4F}"/>
              </a:ext>
            </a:extLst>
          </p:cNvPr>
          <p:cNvSpPr/>
          <p:nvPr/>
        </p:nvSpPr>
        <p:spPr>
          <a:xfrm>
            <a:off x="592188" y="1787739"/>
            <a:ext cx="2362200" cy="2412348"/>
          </a:xfrm>
          <a:prstGeom prst="flowChartMagneticDisk">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F8DA9485-DB60-4120-BD10-86C5AC9384B8}"/>
              </a:ext>
            </a:extLst>
          </p:cNvPr>
          <p:cNvSpPr txBox="1"/>
          <p:nvPr/>
        </p:nvSpPr>
        <p:spPr>
          <a:xfrm>
            <a:off x="1574799" y="1896393"/>
            <a:ext cx="838200" cy="523220"/>
          </a:xfrm>
          <a:prstGeom prst="rect">
            <a:avLst/>
          </a:prstGeom>
          <a:noFill/>
        </p:spPr>
        <p:txBody>
          <a:bodyPr wrap="square" rtlCol="0">
            <a:spAutoFit/>
          </a:bodyPr>
          <a:lstStyle/>
          <a:p>
            <a:r>
              <a:rPr lang="en-US" altLang="zh-TW" sz="2800" dirty="0"/>
              <a:t>R</a:t>
            </a:r>
            <a:endParaRPr lang="zh-TW" altLang="en-US" sz="2800" dirty="0"/>
          </a:p>
        </p:txBody>
      </p:sp>
      <mc:AlternateContent xmlns:mc="http://schemas.openxmlformats.org/markup-compatibility/2006">
        <mc:Choice xmlns:a14="http://schemas.microsoft.com/office/drawing/2010/main" Requires="a14">
          <p:sp>
            <p:nvSpPr>
              <p:cNvPr id="3" name="文字方塊 2">
                <a:extLst>
                  <a:ext uri="{FF2B5EF4-FFF2-40B4-BE49-F238E27FC236}">
                    <a16:creationId xmlns:a16="http://schemas.microsoft.com/office/drawing/2014/main" id="{2C8C1CE0-E427-4518-8782-D41EAC1A1F98}"/>
                  </a:ext>
                </a:extLst>
              </p:cNvPr>
              <p:cNvSpPr txBox="1"/>
              <p:nvPr/>
            </p:nvSpPr>
            <p:spPr>
              <a:xfrm>
                <a:off x="3731723" y="2625318"/>
                <a:ext cx="8221134" cy="73718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𝑖</m:t>
                          </m:r>
                        </m:sub>
                      </m:sSub>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𝑟</m:t>
                          </m:r>
                        </m:e>
                        <m:sub>
                          <m:r>
                            <a:rPr lang="en-US" altLang="zh-TW" sz="2800" b="0" i="1" smtClean="0">
                              <a:latin typeface="Cambria Math" panose="02040503050406030204" pitchFamily="18" charset="0"/>
                            </a:rPr>
                            <m:t>𝑖</m:t>
                          </m:r>
                        </m:sub>
                      </m:sSub>
                      <m:r>
                        <a:rPr lang="en-US" altLang="zh-TW" sz="2800" b="0" i="1" smtClean="0">
                          <a:latin typeface="Cambria Math" panose="02040503050406030204" pitchFamily="18" charset="0"/>
                        </a:rPr>
                        <m:t>+</m:t>
                      </m:r>
                      <m:r>
                        <a:rPr lang="zh-TW" altLang="en-US" sz="2800" b="0" i="1" smtClean="0">
                          <a:latin typeface="Cambria Math" panose="02040503050406030204" pitchFamily="18" charset="0"/>
                        </a:rPr>
                        <m:t>𝛾</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𝑄</m:t>
                          </m:r>
                        </m:e>
                        <m:sup>
                          <m:r>
                            <a:rPr lang="en-US" altLang="zh-TW" sz="2800" b="0" i="1" smtClean="0">
                              <a:latin typeface="Cambria Math" panose="02040503050406030204" pitchFamily="18" charset="0"/>
                            </a:rPr>
                            <m:t>′</m:t>
                          </m:r>
                        </m:sup>
                      </m:sSup>
                      <m:d>
                        <m:dPr>
                          <m:ctrlPr>
                            <a:rPr lang="en-US" altLang="zh-TW" sz="2800" b="0" i="1" smtClean="0">
                              <a:latin typeface="Cambria Math" panose="02040503050406030204" pitchFamily="18" charset="0"/>
                            </a:rPr>
                          </m:ctrlPr>
                        </m:d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𝑠</m:t>
                              </m:r>
                            </m:e>
                            <m:sub>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𝜇</m:t>
                              </m:r>
                            </m:e>
                            <m:sup>
                              <m:r>
                                <a:rPr lang="en-US" altLang="zh-TW" sz="2800" b="0" i="1" smtClean="0">
                                  <a:latin typeface="Cambria Math" panose="02040503050406030204" pitchFamily="18" charset="0"/>
                                </a:rPr>
                                <m:t>′</m:t>
                              </m:r>
                            </m:sup>
                          </m:sSup>
                          <m:d>
                            <m:dPr>
                              <m:ctrlPr>
                                <a:rPr lang="en-US" altLang="zh-TW" sz="2800" b="0" i="1" smtClean="0">
                                  <a:latin typeface="Cambria Math" panose="02040503050406030204" pitchFamily="18" charset="0"/>
                                </a:rPr>
                              </m:ctrlPr>
                            </m:d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𝑠</m:t>
                                  </m:r>
                                </m:e>
                                <m:sub>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Sub>
                            </m:e>
                            <m:e>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𝑄</m:t>
                                  </m:r>
                                </m:e>
                                <m:sup>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𝑢</m:t>
                                      </m:r>
                                    </m:e>
                                    <m:sup>
                                      <m:r>
                                        <a:rPr lang="en-US" altLang="zh-TW" sz="2800" b="0" i="1" smtClean="0">
                                          <a:latin typeface="Cambria Math" panose="02040503050406030204" pitchFamily="18" charset="0"/>
                                        </a:rPr>
                                        <m:t>′</m:t>
                                      </m:r>
                                    </m:sup>
                                  </m:sSup>
                                </m:sup>
                              </m:sSup>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𝜃</m:t>
                                  </m:r>
                                </m:e>
                                <m:sup>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𝑄</m:t>
                                      </m:r>
                                    </m:e>
                                    <m:sup>
                                      <m:r>
                                        <a:rPr lang="en-US" altLang="zh-TW" sz="2800" b="0" i="1" smtClean="0">
                                          <a:latin typeface="Cambria Math" panose="02040503050406030204" pitchFamily="18" charset="0"/>
                                        </a:rPr>
                                        <m:t>′</m:t>
                                      </m:r>
                                    </m:sup>
                                  </m:sSup>
                                </m:sup>
                              </m:sSup>
                            </m:e>
                          </m:d>
                        </m:e>
                      </m:d>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𝑁</m:t>
                      </m:r>
                    </m:oMath>
                  </m:oMathPara>
                </a14:m>
                <a:endParaRPr lang="zh-TW" altLang="en-US" sz="2800" dirty="0"/>
              </a:p>
            </p:txBody>
          </p:sp>
        </mc:Choice>
        <mc:Fallback>
          <p:sp>
            <p:nvSpPr>
              <p:cNvPr id="3" name="文字方塊 2">
                <a:extLst>
                  <a:ext uri="{FF2B5EF4-FFF2-40B4-BE49-F238E27FC236}">
                    <a16:creationId xmlns:a16="http://schemas.microsoft.com/office/drawing/2014/main" id="{2C8C1CE0-E427-4518-8782-D41EAC1A1F98}"/>
                  </a:ext>
                </a:extLst>
              </p:cNvPr>
              <p:cNvSpPr txBox="1">
                <a:spLocks noRot="1" noChangeAspect="1" noMove="1" noResize="1" noEditPoints="1" noAdjustHandles="1" noChangeArrowheads="1" noChangeShapeType="1" noTextEdit="1"/>
              </p:cNvSpPr>
              <p:nvPr/>
            </p:nvSpPr>
            <p:spPr>
              <a:xfrm>
                <a:off x="3731723" y="2625318"/>
                <a:ext cx="8221134" cy="737189"/>
              </a:xfrm>
              <a:prstGeom prst="rect">
                <a:avLst/>
              </a:prstGeom>
              <a:blipFill>
                <a:blip r:embed="rId3"/>
                <a:stretch>
                  <a:fillRect/>
                </a:stretch>
              </a:blipFill>
            </p:spPr>
            <p:txBody>
              <a:bodyPr/>
              <a:lstStyle/>
              <a:p>
                <a:r>
                  <a:rPr lang="zh-TW" altLang="en-US">
                    <a:noFill/>
                  </a:rPr>
                  <a:t> </a:t>
                </a:r>
              </a:p>
            </p:txBody>
          </p:sp>
        </mc:Fallback>
      </mc:AlternateContent>
      <p:cxnSp>
        <p:nvCxnSpPr>
          <p:cNvPr id="16" name="直線單箭頭接點 15">
            <a:extLst>
              <a:ext uri="{FF2B5EF4-FFF2-40B4-BE49-F238E27FC236}">
                <a16:creationId xmlns:a16="http://schemas.microsoft.com/office/drawing/2014/main" id="{1B0D1FD7-4032-43B5-AA9C-30D163594223}"/>
              </a:ext>
            </a:extLst>
          </p:cNvPr>
          <p:cNvCxnSpPr>
            <a:cxnSpLocks/>
            <a:stCxn id="13" idx="4"/>
            <a:endCxn id="3" idx="1"/>
          </p:cNvCxnSpPr>
          <p:nvPr/>
        </p:nvCxnSpPr>
        <p:spPr>
          <a:xfrm>
            <a:off x="2954388" y="2993913"/>
            <a:ext cx="777335"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3" name="文字方塊 22">
                <a:extLst>
                  <a:ext uri="{FF2B5EF4-FFF2-40B4-BE49-F238E27FC236}">
                    <a16:creationId xmlns:a16="http://schemas.microsoft.com/office/drawing/2014/main" id="{3CF9D3DE-9DB4-4A9D-85B6-35D5E7728CED}"/>
                  </a:ext>
                </a:extLst>
              </p:cNvPr>
              <p:cNvSpPr txBox="1"/>
              <p:nvPr/>
            </p:nvSpPr>
            <p:spPr>
              <a:xfrm>
                <a:off x="4568804" y="3429000"/>
                <a:ext cx="5736486" cy="114537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𝐿𝑂𝑆𝑆</m:t>
                      </m:r>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en-US" altLang="zh-TW" sz="2800" b="0" i="1" smtClean="0">
                              <a:latin typeface="Cambria Math" panose="02040503050406030204" pitchFamily="18" charset="0"/>
                            </a:rPr>
                            <m:t>1</m:t>
                          </m:r>
                        </m:num>
                        <m:den>
                          <m:r>
                            <a:rPr lang="en-US" altLang="zh-TW" sz="2800" b="0" i="1" smtClean="0">
                              <a:latin typeface="Cambria Math" panose="02040503050406030204" pitchFamily="18" charset="0"/>
                            </a:rPr>
                            <m:t>𝑁</m:t>
                          </m:r>
                        </m:den>
                      </m:f>
                      <m:nary>
                        <m:naryPr>
                          <m:chr m:val="∑"/>
                          <m:supHide m:val="on"/>
                          <m:ctrlPr>
                            <a:rPr lang="en-US" altLang="zh-TW" sz="2800" b="0" i="1" smtClean="0">
                              <a:latin typeface="Cambria Math" panose="02040503050406030204" pitchFamily="18" charset="0"/>
                            </a:rPr>
                          </m:ctrlPr>
                        </m:naryPr>
                        <m:sub>
                          <m:r>
                            <m:rPr>
                              <m:brk m:alnAt="7"/>
                            </m:rPr>
                            <a:rPr lang="en-US" altLang="zh-TW" sz="2800" b="0" i="1" smtClean="0">
                              <a:latin typeface="Cambria Math" panose="02040503050406030204" pitchFamily="18" charset="0"/>
                            </a:rPr>
                            <m:t>𝑖</m:t>
                          </m:r>
                        </m:sub>
                        <m:sup/>
                        <m:e>
                          <m:sSup>
                            <m:sSupPr>
                              <m:ctrlPr>
                                <a:rPr lang="en-US" altLang="zh-TW" sz="2800" b="0" i="1" smtClean="0">
                                  <a:latin typeface="Cambria Math" panose="02040503050406030204" pitchFamily="18" charset="0"/>
                                </a:rPr>
                              </m:ctrlPr>
                            </m:sSupPr>
                            <m:e>
                              <m:d>
                                <m:dPr>
                                  <m:ctrlPr>
                                    <a:rPr lang="en-US" altLang="zh-TW" sz="2800" b="0" i="1" smtClean="0">
                                      <a:latin typeface="Cambria Math" panose="02040503050406030204" pitchFamily="18" charset="0"/>
                                    </a:rPr>
                                  </m:ctrlPr>
                                </m:d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𝑖</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𝑄</m:t>
                                  </m:r>
                                  <m:d>
                                    <m:dPr>
                                      <m:ctrlPr>
                                        <a:rPr lang="en-US" altLang="zh-TW" sz="2800" b="0" i="1" smtClean="0">
                                          <a:latin typeface="Cambria Math" panose="02040503050406030204" pitchFamily="18" charset="0"/>
                                        </a:rPr>
                                      </m:ctrlPr>
                                    </m:d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𝑠</m:t>
                                          </m:r>
                                        </m:e>
                                        <m:sub>
                                          <m:r>
                                            <a:rPr lang="en-US" altLang="zh-TW" sz="2800" b="0" i="1" smtClean="0">
                                              <a:latin typeface="Cambria Math" panose="02040503050406030204" pitchFamily="18" charset="0"/>
                                            </a:rPr>
                                            <m:t>𝑖</m:t>
                                          </m:r>
                                        </m:sub>
                                      </m:sSub>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𝑎</m:t>
                                          </m:r>
                                        </m:e>
                                        <m:sub>
                                          <m:r>
                                            <a:rPr lang="en-US" altLang="zh-TW" sz="2800" b="0" i="1" smtClean="0">
                                              <a:latin typeface="Cambria Math" panose="02040503050406030204" pitchFamily="18" charset="0"/>
                                            </a:rPr>
                                            <m:t>𝑖</m:t>
                                          </m:r>
                                        </m:sub>
                                      </m:sSub>
                                    </m:e>
                                    <m:e>
                                      <m:sSup>
                                        <m:sSupPr>
                                          <m:ctrlPr>
                                            <a:rPr lang="en-US" altLang="zh-TW" sz="2800" b="0" i="1" smtClean="0">
                                              <a:latin typeface="Cambria Math" panose="02040503050406030204" pitchFamily="18" charset="0"/>
                                            </a:rPr>
                                          </m:ctrlPr>
                                        </m:sSupPr>
                                        <m:e>
                                          <m:r>
                                            <a:rPr lang="zh-TW" altLang="en-US" sz="2800" i="1">
                                              <a:latin typeface="Cambria Math" panose="02040503050406030204" pitchFamily="18" charset="0"/>
                                            </a:rPr>
                                            <m:t>𝜃</m:t>
                                          </m:r>
                                        </m:e>
                                        <m:sup>
                                          <m:r>
                                            <a:rPr lang="en-US" altLang="zh-TW" sz="2800" b="0" i="1" smtClean="0">
                                              <a:latin typeface="Cambria Math" panose="02040503050406030204" pitchFamily="18" charset="0"/>
                                            </a:rPr>
                                            <m:t>𝑄</m:t>
                                          </m:r>
                                        </m:sup>
                                      </m:sSup>
                                    </m:e>
                                  </m:d>
                                </m:e>
                              </m:d>
                            </m:e>
                            <m:sup>
                              <m:r>
                                <a:rPr lang="en-US" altLang="zh-TW" sz="2800" b="0" i="1" smtClean="0">
                                  <a:latin typeface="Cambria Math" panose="02040503050406030204" pitchFamily="18" charset="0"/>
                                </a:rPr>
                                <m:t>2</m:t>
                              </m:r>
                            </m:sup>
                          </m:sSup>
                        </m:e>
                      </m:nary>
                    </m:oMath>
                  </m:oMathPara>
                </a14:m>
                <a:endParaRPr lang="zh-TW" altLang="en-US" sz="2800" dirty="0"/>
              </a:p>
            </p:txBody>
          </p:sp>
        </mc:Choice>
        <mc:Fallback>
          <p:sp>
            <p:nvSpPr>
              <p:cNvPr id="23" name="文字方塊 22">
                <a:extLst>
                  <a:ext uri="{FF2B5EF4-FFF2-40B4-BE49-F238E27FC236}">
                    <a16:creationId xmlns:a16="http://schemas.microsoft.com/office/drawing/2014/main" id="{3CF9D3DE-9DB4-4A9D-85B6-35D5E7728CED}"/>
                  </a:ext>
                </a:extLst>
              </p:cNvPr>
              <p:cNvSpPr txBox="1">
                <a:spLocks noRot="1" noChangeAspect="1" noMove="1" noResize="1" noEditPoints="1" noAdjustHandles="1" noChangeArrowheads="1" noChangeShapeType="1" noTextEdit="1"/>
              </p:cNvSpPr>
              <p:nvPr/>
            </p:nvSpPr>
            <p:spPr>
              <a:xfrm>
                <a:off x="4568804" y="3429000"/>
                <a:ext cx="5736486" cy="114537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 name="文字方塊 7">
                <a:extLst>
                  <a:ext uri="{FF2B5EF4-FFF2-40B4-BE49-F238E27FC236}">
                    <a16:creationId xmlns:a16="http://schemas.microsoft.com/office/drawing/2014/main" id="{4CDF908C-1223-4E85-ACDF-E42838F2C14B}"/>
                  </a:ext>
                </a:extLst>
              </p:cNvPr>
              <p:cNvSpPr txBox="1"/>
              <p:nvPr/>
            </p:nvSpPr>
            <p:spPr>
              <a:xfrm>
                <a:off x="55033" y="4397786"/>
                <a:ext cx="12081933" cy="82227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𝐿</m:t>
                      </m:r>
                      <m:r>
                        <a:rPr lang="en-US" altLang="zh-TW" sz="2800" b="0" i="1" smtClean="0">
                          <a:latin typeface="Cambria Math" panose="02040503050406030204" pitchFamily="18" charset="0"/>
                        </a:rPr>
                        <m:t>(</m:t>
                      </m:r>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𝜃</m:t>
                          </m:r>
                        </m:e>
                        <m:sup>
                          <m:r>
                            <a:rPr lang="en-US" altLang="zh-TW" sz="2800" i="1">
                              <a:latin typeface="Cambria Math" panose="02040503050406030204" pitchFamily="18" charset="0"/>
                            </a:rPr>
                            <m:t>𝑄</m:t>
                          </m:r>
                        </m:sup>
                      </m:sSup>
                      <m:r>
                        <a:rPr lang="en-US" altLang="zh-TW" sz="2800" b="0" i="1" smtClean="0">
                          <a:latin typeface="Cambria Math" panose="02040503050406030204" pitchFamily="18" charset="0"/>
                        </a:rPr>
                        <m:t>)=</m:t>
                      </m:r>
                      <m:sSub>
                        <m:sSubPr>
                          <m:ctrlPr>
                            <a:rPr lang="en-US" altLang="zh-TW" sz="2800" i="1">
                              <a:latin typeface="Cambria Math" panose="02040503050406030204" pitchFamily="18" charset="0"/>
                              <a:cs typeface="Times New Roman" panose="02020603050405020304" pitchFamily="18" charset="0"/>
                            </a:rPr>
                          </m:ctrlPr>
                        </m:sSubPr>
                        <m:e>
                          <m:r>
                            <a:rPr lang="zh-TW" altLang="en-US" sz="2800" i="1">
                              <a:latin typeface="Cambria Math" panose="02040503050406030204" pitchFamily="18" charset="0"/>
                              <a:cs typeface="Times New Roman" panose="02020603050405020304" pitchFamily="18" charset="0"/>
                            </a:rPr>
                            <m:t>𝔼</m:t>
                          </m:r>
                        </m:e>
                        <m:sub>
                          <m:sSub>
                            <m:sSubPr>
                              <m:ctrlPr>
                                <a:rPr lang="en-US" altLang="zh-TW" sz="2800" i="1">
                                  <a:latin typeface="Cambria Math" panose="02040503050406030204" pitchFamily="18" charset="0"/>
                                  <a:cs typeface="Times New Roman" panose="02020603050405020304" pitchFamily="18" charset="0"/>
                                </a:rPr>
                              </m:ctrlPr>
                            </m:sSubPr>
                            <m:e>
                              <m:r>
                                <a:rPr lang="en-US" altLang="zh-TW" sz="2800" i="1">
                                  <a:latin typeface="Cambria Math" panose="02040503050406030204" pitchFamily="18" charset="0"/>
                                  <a:cs typeface="Times New Roman" panose="02020603050405020304" pitchFamily="18" charset="0"/>
                                </a:rPr>
                                <m:t>𝑠</m:t>
                              </m:r>
                            </m:e>
                            <m:sub>
                              <m:r>
                                <a:rPr lang="en-US" altLang="zh-TW" sz="2800" i="1">
                                  <a:latin typeface="Cambria Math" panose="02040503050406030204" pitchFamily="18" charset="0"/>
                                  <a:cs typeface="Times New Roman" panose="02020603050405020304" pitchFamily="18" charset="0"/>
                                </a:rPr>
                                <m:t>𝑡</m:t>
                              </m:r>
                            </m:sub>
                          </m:sSub>
                          <m:r>
                            <a:rPr lang="en-US" altLang="zh-TW" sz="2800" b="0" i="1" smtClean="0">
                              <a:latin typeface="Cambria Math" panose="02040503050406030204" pitchFamily="18" charset="0"/>
                              <a:cs typeface="Times New Roman" panose="02020603050405020304" pitchFamily="18" charset="0"/>
                            </a:rPr>
                            <m:t>,</m:t>
                          </m:r>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𝑎</m:t>
                              </m:r>
                            </m:e>
                            <m:sub>
                              <m:r>
                                <a:rPr lang="en-US" altLang="zh-TW" sz="2800" b="0" i="1" smtClean="0">
                                  <a:latin typeface="Cambria Math" panose="02040503050406030204" pitchFamily="18" charset="0"/>
                                  <a:cs typeface="Times New Roman" panose="02020603050405020304" pitchFamily="18" charset="0"/>
                                </a:rPr>
                                <m:t>𝑡</m:t>
                              </m:r>
                            </m:sub>
                          </m:sSub>
                          <m:r>
                            <a:rPr lang="en-US" altLang="zh-TW" sz="2800" b="0" i="1" smtClean="0">
                              <a:latin typeface="Cambria Math" panose="02040503050406030204" pitchFamily="18" charset="0"/>
                              <a:cs typeface="Times New Roman" panose="02020603050405020304" pitchFamily="18" charset="0"/>
                            </a:rPr>
                            <m:t>,</m:t>
                          </m:r>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𝑟</m:t>
                              </m:r>
                            </m:e>
                            <m:sub>
                              <m:r>
                                <a:rPr lang="en-US" altLang="zh-TW" sz="2800" b="0" i="1" smtClean="0">
                                  <a:latin typeface="Cambria Math" panose="02040503050406030204" pitchFamily="18" charset="0"/>
                                  <a:cs typeface="Times New Roman" panose="02020603050405020304" pitchFamily="18" charset="0"/>
                                </a:rPr>
                                <m:t>𝑡</m:t>
                              </m:r>
                            </m:sub>
                          </m:sSub>
                          <m:r>
                            <a:rPr lang="en-US" altLang="zh-TW" sz="2800" b="0" i="1" smtClean="0">
                              <a:latin typeface="Cambria Math" panose="02040503050406030204" pitchFamily="18" charset="0"/>
                              <a:cs typeface="Times New Roman" panose="02020603050405020304" pitchFamily="18" charset="0"/>
                            </a:rPr>
                            <m:t>,</m:t>
                          </m:r>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𝑠</m:t>
                              </m:r>
                            </m:e>
                            <m:sub>
                              <m:r>
                                <a:rPr lang="en-US" altLang="zh-TW" sz="2800" b="0" i="1" smtClean="0">
                                  <a:latin typeface="Cambria Math" panose="02040503050406030204" pitchFamily="18" charset="0"/>
                                  <a:cs typeface="Times New Roman" panose="02020603050405020304" pitchFamily="18" charset="0"/>
                                </a:rPr>
                                <m:t>𝑡</m:t>
                              </m:r>
                              <m:r>
                                <a:rPr lang="en-US" altLang="zh-TW" sz="2800" b="0" i="1" smtClean="0">
                                  <a:latin typeface="Cambria Math" panose="02040503050406030204" pitchFamily="18" charset="0"/>
                                  <a:cs typeface="Times New Roman" panose="02020603050405020304" pitchFamily="18" charset="0"/>
                                </a:rPr>
                                <m:t>+1</m:t>
                              </m:r>
                            </m:sub>
                          </m:sSub>
                          <m:r>
                            <a:rPr lang="en-US" altLang="zh-TW" sz="2800" b="0" i="1" smtClean="0">
                              <a:latin typeface="Cambria Math" panose="02040503050406030204" pitchFamily="18" charset="0"/>
                              <a:cs typeface="Times New Roman" panose="02020603050405020304" pitchFamily="18" charset="0"/>
                            </a:rPr>
                            <m:t>~</m:t>
                          </m:r>
                          <m:r>
                            <a:rPr lang="en-US" altLang="zh-TW" sz="2800" b="0" i="1" smtClean="0">
                              <a:latin typeface="Cambria Math" panose="02040503050406030204" pitchFamily="18" charset="0"/>
                              <a:cs typeface="Times New Roman" panose="02020603050405020304" pitchFamily="18" charset="0"/>
                            </a:rPr>
                            <m:t>𝑏𝑢𝑓𝑓𝑒𝑟</m:t>
                          </m:r>
                        </m:sub>
                      </m:sSub>
                      <m:r>
                        <a:rPr lang="en-US" altLang="zh-TW" sz="2800" b="0" i="1" smtClean="0">
                          <a:latin typeface="Cambria Math" panose="02040503050406030204" pitchFamily="18" charset="0"/>
                          <a:cs typeface="Times New Roman" panose="02020603050405020304" pitchFamily="18" charset="0"/>
                        </a:rPr>
                        <m:t>[</m:t>
                      </m:r>
                      <m:sSup>
                        <m:sSupPr>
                          <m:ctrlPr>
                            <a:rPr lang="en-US" altLang="zh-TW" sz="2800" b="0" i="1" smtClean="0">
                              <a:latin typeface="Cambria Math" panose="02040503050406030204" pitchFamily="18" charset="0"/>
                              <a:cs typeface="Times New Roman" panose="02020603050405020304" pitchFamily="18" charset="0"/>
                            </a:rPr>
                          </m:ctrlPr>
                        </m:sSupPr>
                        <m:e>
                          <m:d>
                            <m:dPr>
                              <m:ctrlPr>
                                <a:rPr lang="en-US" altLang="zh-TW" sz="2800" b="0" i="1" smtClean="0">
                                  <a:latin typeface="Cambria Math" panose="02040503050406030204" pitchFamily="18" charset="0"/>
                                </a:rPr>
                              </m:ctrlPr>
                            </m:d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𝑟</m:t>
                                  </m:r>
                                </m:e>
                                <m:sub>
                                  <m:r>
                                    <a:rPr lang="en-US" altLang="zh-TW" sz="2800" b="0" i="1" smtClean="0">
                                      <a:latin typeface="Cambria Math" panose="02040503050406030204" pitchFamily="18" charset="0"/>
                                    </a:rPr>
                                    <m:t>𝑡</m:t>
                                  </m:r>
                                </m:sub>
                              </m:sSub>
                              <m:r>
                                <a:rPr lang="en-US" altLang="zh-TW" sz="2800" b="0" i="1" smtClean="0">
                                  <a:latin typeface="Cambria Math" panose="02040503050406030204" pitchFamily="18" charset="0"/>
                                </a:rPr>
                                <m:t>+</m:t>
                              </m:r>
                              <m:r>
                                <a:rPr lang="zh-TW" altLang="en-US" sz="2800" i="1">
                                  <a:latin typeface="Cambria Math" panose="02040503050406030204" pitchFamily="18" charset="0"/>
                                </a:rPr>
                                <m:t>𝛾</m:t>
                              </m:r>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𝑄</m:t>
                                  </m:r>
                                </m:e>
                                <m:sup>
                                  <m:r>
                                    <a:rPr lang="en-US" altLang="zh-TW" sz="2800" i="1">
                                      <a:latin typeface="Cambria Math" panose="02040503050406030204" pitchFamily="18" charset="0"/>
                                    </a:rPr>
                                    <m:t>′</m:t>
                                  </m:r>
                                </m:sup>
                              </m:sSup>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𝑠</m:t>
                                      </m:r>
                                    </m:e>
                                    <m:sub>
                                      <m:r>
                                        <a:rPr lang="en-US" altLang="zh-TW" sz="2800" i="1">
                                          <a:latin typeface="Cambria Math" panose="02040503050406030204" pitchFamily="18" charset="0"/>
                                        </a:rPr>
                                        <m:t>𝑖</m:t>
                                      </m:r>
                                      <m:r>
                                        <a:rPr lang="en-US" altLang="zh-TW" sz="2800" i="1">
                                          <a:latin typeface="Cambria Math" panose="02040503050406030204" pitchFamily="18" charset="0"/>
                                        </a:rPr>
                                        <m:t>+1</m:t>
                                      </m:r>
                                    </m:sub>
                                  </m:sSub>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𝜇</m:t>
                                      </m:r>
                                    </m:e>
                                    <m:sup>
                                      <m:r>
                                        <a:rPr lang="en-US" altLang="zh-TW" sz="2800" i="1">
                                          <a:latin typeface="Cambria Math" panose="02040503050406030204" pitchFamily="18" charset="0"/>
                                        </a:rPr>
                                        <m:t>′</m:t>
                                      </m:r>
                                    </m:sup>
                                  </m:sSup>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𝑠</m:t>
                                          </m:r>
                                        </m:e>
                                        <m:sub>
                                          <m:r>
                                            <a:rPr lang="en-US" altLang="zh-TW" sz="2800" i="1">
                                              <a:latin typeface="Cambria Math" panose="02040503050406030204" pitchFamily="18" charset="0"/>
                                            </a:rPr>
                                            <m:t>𝑖</m:t>
                                          </m:r>
                                          <m:r>
                                            <a:rPr lang="en-US" altLang="zh-TW" sz="2800" i="1">
                                              <a:latin typeface="Cambria Math" panose="02040503050406030204" pitchFamily="18" charset="0"/>
                                            </a:rPr>
                                            <m:t>+1</m:t>
                                          </m:r>
                                        </m:sub>
                                      </m:sSub>
                                    </m:e>
                                    <m:e>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𝜃</m:t>
                                          </m:r>
                                        </m:e>
                                        <m:sup>
                                          <m:r>
                                            <a:rPr lang="zh-TW" altLang="en-US" sz="2800" b="0" i="1" smtClean="0">
                                              <a:latin typeface="Cambria Math" panose="02040503050406030204" pitchFamily="18" charset="0"/>
                                            </a:rPr>
                                            <m:t>𝜇</m:t>
                                          </m:r>
                                        </m:sup>
                                      </m:sSup>
                                      <m:r>
                                        <a:rPr lang="en-US" altLang="zh-TW" sz="2800" i="1" smtClean="0">
                                          <a:latin typeface="Cambria Math" panose="02040503050406030204" pitchFamily="18" charset="0"/>
                                        </a:rPr>
                                        <m:t> </m:t>
                                      </m:r>
                                    </m:e>
                                  </m:d>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𝜃</m:t>
                                      </m:r>
                                    </m:e>
                                    <m:sup>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𝑄</m:t>
                                          </m:r>
                                        </m:e>
                                        <m:sup>
                                          <m:r>
                                            <a:rPr lang="en-US" altLang="zh-TW" sz="2800" b="0" i="1" smtClean="0">
                                              <a:latin typeface="Cambria Math" panose="02040503050406030204" pitchFamily="18" charset="0"/>
                                            </a:rPr>
                                            <m:t>′</m:t>
                                          </m:r>
                                        </m:sup>
                                      </m:sSup>
                                    </m:sup>
                                  </m:sSup>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𝑄</m:t>
                              </m:r>
                              <m:d>
                                <m:dPr>
                                  <m:ctrlPr>
                                    <a:rPr lang="en-US" altLang="zh-TW" sz="2800" b="0" i="1" smtClean="0">
                                      <a:latin typeface="Cambria Math" panose="02040503050406030204" pitchFamily="18" charset="0"/>
                                    </a:rPr>
                                  </m:ctrlPr>
                                </m:d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𝑠</m:t>
                                      </m:r>
                                    </m:e>
                                    <m:sub>
                                      <m:r>
                                        <a:rPr lang="en-US" altLang="zh-TW" sz="2800" b="0" i="1" smtClean="0">
                                          <a:latin typeface="Cambria Math" panose="02040503050406030204" pitchFamily="18" charset="0"/>
                                        </a:rPr>
                                        <m:t>𝑡</m:t>
                                      </m:r>
                                    </m:sub>
                                  </m:sSub>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𝑎</m:t>
                                      </m:r>
                                    </m:e>
                                    <m:sub>
                                      <m:r>
                                        <a:rPr lang="en-US" altLang="zh-TW" sz="2800" b="0" i="1" smtClean="0">
                                          <a:latin typeface="Cambria Math" panose="02040503050406030204" pitchFamily="18" charset="0"/>
                                        </a:rPr>
                                        <m:t>𝑡</m:t>
                                      </m:r>
                                    </m:sub>
                                  </m:sSub>
                                </m:e>
                                <m:e>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𝜃</m:t>
                                      </m:r>
                                    </m:e>
                                    <m:sup>
                                      <m:r>
                                        <a:rPr lang="en-US" altLang="zh-TW" sz="2800" b="0" i="1" smtClean="0">
                                          <a:latin typeface="Cambria Math" panose="02040503050406030204" pitchFamily="18" charset="0"/>
                                        </a:rPr>
                                        <m:t>𝑄</m:t>
                                      </m:r>
                                    </m:sup>
                                  </m:sSup>
                                </m:e>
                              </m:d>
                            </m:e>
                          </m:d>
                        </m:e>
                        <m:sup>
                          <m:r>
                            <a:rPr lang="en-US" altLang="zh-TW" sz="2800" b="0" i="1" smtClean="0">
                              <a:latin typeface="Cambria Math" panose="02040503050406030204" pitchFamily="18" charset="0"/>
                            </a:rPr>
                            <m:t>2</m:t>
                          </m:r>
                        </m:sup>
                      </m:sSup>
                      <m:r>
                        <a:rPr lang="en-US" altLang="zh-TW" sz="2800" b="0" i="1" smtClean="0">
                          <a:latin typeface="Cambria Math" panose="02040503050406030204" pitchFamily="18" charset="0"/>
                        </a:rPr>
                        <m:t>]</m:t>
                      </m:r>
                    </m:oMath>
                  </m:oMathPara>
                </a14:m>
                <a:endParaRPr lang="zh-TW" altLang="en-US" sz="2800" dirty="0"/>
              </a:p>
            </p:txBody>
          </p:sp>
        </mc:Choice>
        <mc:Fallback>
          <p:sp>
            <p:nvSpPr>
              <p:cNvPr id="8" name="文字方塊 7">
                <a:extLst>
                  <a:ext uri="{FF2B5EF4-FFF2-40B4-BE49-F238E27FC236}">
                    <a16:creationId xmlns:a16="http://schemas.microsoft.com/office/drawing/2014/main" id="{4CDF908C-1223-4E85-ACDF-E42838F2C14B}"/>
                  </a:ext>
                </a:extLst>
              </p:cNvPr>
              <p:cNvSpPr txBox="1">
                <a:spLocks noRot="1" noChangeAspect="1" noMove="1" noResize="1" noEditPoints="1" noAdjustHandles="1" noChangeArrowheads="1" noChangeShapeType="1" noTextEdit="1"/>
              </p:cNvSpPr>
              <p:nvPr/>
            </p:nvSpPr>
            <p:spPr>
              <a:xfrm>
                <a:off x="55033" y="4397786"/>
                <a:ext cx="12081933" cy="822276"/>
              </a:xfrm>
              <a:prstGeom prst="rect">
                <a:avLst/>
              </a:prstGeom>
              <a:blipFill>
                <a:blip r:embed="rId5"/>
                <a:stretch>
                  <a:fillRect/>
                </a:stretch>
              </a:blipFill>
            </p:spPr>
            <p:txBody>
              <a:bodyPr/>
              <a:lstStyle/>
              <a:p>
                <a:r>
                  <a:rPr lang="zh-TW" altLang="en-US">
                    <a:noFill/>
                  </a:rPr>
                  <a:t> </a:t>
                </a:r>
              </a:p>
            </p:txBody>
          </p:sp>
        </mc:Fallback>
      </mc:AlternateContent>
      <p:sp>
        <p:nvSpPr>
          <p:cNvPr id="9" name="矩形: 圓角 8">
            <a:extLst>
              <a:ext uri="{FF2B5EF4-FFF2-40B4-BE49-F238E27FC236}">
                <a16:creationId xmlns:a16="http://schemas.microsoft.com/office/drawing/2014/main" id="{8E75D3A5-B323-4D02-ADF2-5C92A030BCD1}"/>
              </a:ext>
            </a:extLst>
          </p:cNvPr>
          <p:cNvSpPr/>
          <p:nvPr/>
        </p:nvSpPr>
        <p:spPr>
          <a:xfrm>
            <a:off x="7008323" y="5316104"/>
            <a:ext cx="1947333" cy="1207457"/>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800" dirty="0">
                <a:solidFill>
                  <a:schemeClr val="tx1"/>
                </a:solidFill>
                <a:latin typeface="Times New Roman" panose="02020603050405020304" pitchFamily="18" charset="0"/>
                <a:cs typeface="Times New Roman" panose="02020603050405020304" pitchFamily="18" charset="0"/>
              </a:rPr>
              <a:t>Critic</a:t>
            </a:r>
          </a:p>
          <a:p>
            <a:pPr algn="ctr"/>
            <a:r>
              <a:rPr lang="en-US" altLang="zh-TW" sz="2800" dirty="0">
                <a:solidFill>
                  <a:schemeClr val="tx1"/>
                </a:solidFill>
                <a:latin typeface="Times New Roman" panose="02020603050405020304" pitchFamily="18" charset="0"/>
                <a:cs typeface="Times New Roman" panose="02020603050405020304" pitchFamily="18" charset="0"/>
              </a:rPr>
              <a:t>Network</a:t>
            </a:r>
            <a:endParaRPr lang="zh-TW" altLang="en-US" sz="2800" dirty="0">
              <a:solidFill>
                <a:schemeClr val="tx1"/>
              </a:solidFill>
              <a:latin typeface="Times New Roman" panose="02020603050405020304" pitchFamily="18" charset="0"/>
              <a:cs typeface="Times New Roman" panose="02020603050405020304" pitchFamily="18" charset="0"/>
            </a:endParaRPr>
          </a:p>
        </p:txBody>
      </p:sp>
      <p:cxnSp>
        <p:nvCxnSpPr>
          <p:cNvPr id="5" name="接點: 肘形 4">
            <a:extLst>
              <a:ext uri="{FF2B5EF4-FFF2-40B4-BE49-F238E27FC236}">
                <a16:creationId xmlns:a16="http://schemas.microsoft.com/office/drawing/2014/main" id="{3AFE3233-81F6-4FAD-90EF-AA2BF0E9F66E}"/>
              </a:ext>
            </a:extLst>
          </p:cNvPr>
          <p:cNvCxnSpPr>
            <a:cxnSpLocks/>
            <a:stCxn id="8" idx="2"/>
            <a:endCxn id="9" idx="1"/>
          </p:cNvCxnSpPr>
          <p:nvPr/>
        </p:nvCxnSpPr>
        <p:spPr>
          <a:xfrm rot="16200000" flipH="1">
            <a:off x="6202276" y="5113785"/>
            <a:ext cx="699771" cy="912323"/>
          </a:xfrm>
          <a:prstGeom prst="bentConnector2">
            <a:avLst/>
          </a:prstGeom>
          <a:ln w="57150">
            <a:tailEnd type="triangle"/>
          </a:ln>
        </p:spPr>
        <p:style>
          <a:lnRef idx="1">
            <a:schemeClr val="dk1"/>
          </a:lnRef>
          <a:fillRef idx="0">
            <a:schemeClr val="dk1"/>
          </a:fillRef>
          <a:effectRef idx="0">
            <a:schemeClr val="dk1"/>
          </a:effectRef>
          <a:fontRef idx="minor">
            <a:schemeClr val="tx1"/>
          </a:fontRef>
        </p:style>
      </p:cxnSp>
      <p:sp>
        <p:nvSpPr>
          <p:cNvPr id="10" name="文字方塊 9">
            <a:extLst>
              <a:ext uri="{FF2B5EF4-FFF2-40B4-BE49-F238E27FC236}">
                <a16:creationId xmlns:a16="http://schemas.microsoft.com/office/drawing/2014/main" id="{C1DB169B-31EF-4EE1-AA9D-C891213251B1}"/>
              </a:ext>
            </a:extLst>
          </p:cNvPr>
          <p:cNvSpPr txBox="1"/>
          <p:nvPr/>
        </p:nvSpPr>
        <p:spPr>
          <a:xfrm>
            <a:off x="6014647" y="5899825"/>
            <a:ext cx="1422400" cy="369651"/>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update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1237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Policy gradient</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流程圖: 接點 3">
                <a:extLst>
                  <a:ext uri="{FF2B5EF4-FFF2-40B4-BE49-F238E27FC236}">
                    <a16:creationId xmlns:a16="http://schemas.microsoft.com/office/drawing/2014/main" id="{EC8BDD44-6495-4E6B-8210-DB23A5515F2A}"/>
                  </a:ext>
                </a:extLst>
              </p:cNvPr>
              <p:cNvSpPr/>
              <p:nvPr/>
            </p:nvSpPr>
            <p:spPr>
              <a:xfrm>
                <a:off x="2638163" y="2888061"/>
                <a:ext cx="846666" cy="848523"/>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smtClean="0">
                              <a:solidFill>
                                <a:schemeClr val="tx1"/>
                              </a:solidFill>
                              <a:latin typeface="Cambria Math" panose="02040503050406030204" pitchFamily="18" charset="0"/>
                            </a:rPr>
                          </m:ctrlPr>
                        </m:sSubPr>
                        <m:e>
                          <m:r>
                            <a:rPr lang="en-US" altLang="zh-TW" sz="2800" b="0" i="1" smtClean="0">
                              <a:solidFill>
                                <a:schemeClr val="tx1"/>
                              </a:solidFill>
                              <a:latin typeface="Cambria Math" panose="02040503050406030204" pitchFamily="18" charset="0"/>
                            </a:rPr>
                            <m:t>𝑆</m:t>
                          </m:r>
                        </m:e>
                        <m:sub>
                          <m:r>
                            <a:rPr lang="en-US" altLang="zh-TW" sz="2800" b="0" i="1" smtClean="0">
                              <a:solidFill>
                                <a:schemeClr val="tx1"/>
                              </a:solidFill>
                              <a:latin typeface="Cambria Math" panose="02040503050406030204" pitchFamily="18" charset="0"/>
                            </a:rPr>
                            <m:t>1</m:t>
                          </m:r>
                        </m:sub>
                      </m:sSub>
                    </m:oMath>
                  </m:oMathPara>
                </a14:m>
                <a:endParaRPr lang="zh-TW" altLang="en-US" sz="2800" dirty="0">
                  <a:solidFill>
                    <a:schemeClr val="tx1"/>
                  </a:solidFill>
                </a:endParaRPr>
              </a:p>
            </p:txBody>
          </p:sp>
        </mc:Choice>
        <mc:Fallback>
          <p:sp>
            <p:nvSpPr>
              <p:cNvPr id="4" name="流程圖: 接點 3">
                <a:extLst>
                  <a:ext uri="{FF2B5EF4-FFF2-40B4-BE49-F238E27FC236}">
                    <a16:creationId xmlns:a16="http://schemas.microsoft.com/office/drawing/2014/main" id="{EC8BDD44-6495-4E6B-8210-DB23A5515F2A}"/>
                  </a:ext>
                </a:extLst>
              </p:cNvPr>
              <p:cNvSpPr>
                <a:spLocks noRot="1" noChangeAspect="1" noMove="1" noResize="1" noEditPoints="1" noAdjustHandles="1" noChangeArrowheads="1" noChangeShapeType="1" noTextEdit="1"/>
              </p:cNvSpPr>
              <p:nvPr/>
            </p:nvSpPr>
            <p:spPr>
              <a:xfrm>
                <a:off x="2638163" y="2888061"/>
                <a:ext cx="846666" cy="848523"/>
              </a:xfrm>
              <a:prstGeom prst="flowChartConnector">
                <a:avLst/>
              </a:prstGeom>
              <a:blipFill>
                <a:blip r:embed="rId3"/>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BE9DAC7D-79CA-4688-94CD-5B75C12925EC}"/>
                  </a:ext>
                </a:extLst>
              </p:cNvPr>
              <p:cNvSpPr/>
              <p:nvPr/>
            </p:nvSpPr>
            <p:spPr>
              <a:xfrm>
                <a:off x="7547770" y="3007259"/>
                <a:ext cx="610129" cy="6101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2</m:t>
                          </m:r>
                        </m:sub>
                      </m:sSub>
                    </m:oMath>
                  </m:oMathPara>
                </a14:m>
                <a:endParaRPr lang="zh-TW" altLang="en-US" sz="2800" dirty="0">
                  <a:solidFill>
                    <a:schemeClr val="tx1"/>
                  </a:solidFill>
                </a:endParaRPr>
              </a:p>
            </p:txBody>
          </p:sp>
        </mc:Choice>
        <mc:Fallback>
          <p:sp>
            <p:nvSpPr>
              <p:cNvPr id="6" name="矩形 5">
                <a:extLst>
                  <a:ext uri="{FF2B5EF4-FFF2-40B4-BE49-F238E27FC236}">
                    <a16:creationId xmlns:a16="http://schemas.microsoft.com/office/drawing/2014/main" id="{BE9DAC7D-79CA-4688-94CD-5B75C12925EC}"/>
                  </a:ext>
                </a:extLst>
              </p:cNvPr>
              <p:cNvSpPr>
                <a:spLocks noRot="1" noChangeAspect="1" noMove="1" noResize="1" noEditPoints="1" noAdjustHandles="1" noChangeArrowheads="1" noChangeShapeType="1" noTextEdit="1"/>
              </p:cNvSpPr>
              <p:nvPr/>
            </p:nvSpPr>
            <p:spPr>
              <a:xfrm>
                <a:off x="7547770" y="3007259"/>
                <a:ext cx="610129" cy="610129"/>
              </a:xfrm>
              <a:prstGeom prst="rect">
                <a:avLst/>
              </a:prstGeom>
              <a:blipFill>
                <a:blip r:embed="rId4"/>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CBEE4C10-C9A0-474C-9DCA-24359CE1FBE7}"/>
                  </a:ext>
                </a:extLst>
              </p:cNvPr>
              <p:cNvSpPr/>
              <p:nvPr/>
            </p:nvSpPr>
            <p:spPr>
              <a:xfrm>
                <a:off x="7547770" y="3966109"/>
                <a:ext cx="610129" cy="6101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1</m:t>
                          </m:r>
                        </m:sub>
                      </m:sSub>
                    </m:oMath>
                  </m:oMathPara>
                </a14:m>
                <a:endParaRPr lang="zh-TW" altLang="en-US" sz="2800" dirty="0">
                  <a:solidFill>
                    <a:schemeClr val="tx1"/>
                  </a:solidFill>
                </a:endParaRPr>
              </a:p>
            </p:txBody>
          </p:sp>
        </mc:Choice>
        <mc:Fallback>
          <p:sp>
            <p:nvSpPr>
              <p:cNvPr id="7" name="矩形 6">
                <a:extLst>
                  <a:ext uri="{FF2B5EF4-FFF2-40B4-BE49-F238E27FC236}">
                    <a16:creationId xmlns:a16="http://schemas.microsoft.com/office/drawing/2014/main" id="{CBEE4C10-C9A0-474C-9DCA-24359CE1FBE7}"/>
                  </a:ext>
                </a:extLst>
              </p:cNvPr>
              <p:cNvSpPr>
                <a:spLocks noRot="1" noChangeAspect="1" noMove="1" noResize="1" noEditPoints="1" noAdjustHandles="1" noChangeArrowheads="1" noChangeShapeType="1" noTextEdit="1"/>
              </p:cNvSpPr>
              <p:nvPr/>
            </p:nvSpPr>
            <p:spPr>
              <a:xfrm>
                <a:off x="7547770" y="3966109"/>
                <a:ext cx="610129" cy="610129"/>
              </a:xfrm>
              <a:prstGeom prst="rect">
                <a:avLst/>
              </a:prstGeom>
              <a:blipFill>
                <a:blip r:embed="rId5"/>
                <a:stretch>
                  <a:fillRect/>
                </a:stretch>
              </a:blipFill>
              <a:ln>
                <a:solidFill>
                  <a:schemeClr val="tx1"/>
                </a:solidFill>
              </a:ln>
            </p:spPr>
            <p:txBody>
              <a:bodyPr/>
              <a:lstStyle/>
              <a:p>
                <a:r>
                  <a:rPr lang="zh-TW" altLang="en-US">
                    <a:noFill/>
                  </a:rPr>
                  <a:t> </a:t>
                </a:r>
              </a:p>
            </p:txBody>
          </p:sp>
        </mc:Fallback>
      </mc:AlternateContent>
      <p:cxnSp>
        <p:nvCxnSpPr>
          <p:cNvPr id="11" name="直線單箭頭接點 10">
            <a:extLst>
              <a:ext uri="{FF2B5EF4-FFF2-40B4-BE49-F238E27FC236}">
                <a16:creationId xmlns:a16="http://schemas.microsoft.com/office/drawing/2014/main" id="{986A5408-5749-4128-87E2-172F84539E33}"/>
              </a:ext>
            </a:extLst>
          </p:cNvPr>
          <p:cNvCxnSpPr>
            <a:cxnSpLocks/>
            <a:stCxn id="14" idx="3"/>
            <a:endCxn id="6" idx="1"/>
          </p:cNvCxnSpPr>
          <p:nvPr/>
        </p:nvCxnSpPr>
        <p:spPr>
          <a:xfrm flipV="1">
            <a:off x="6489966" y="3312324"/>
            <a:ext cx="1057804" cy="1"/>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2" name="直線單箭頭接點 11">
            <a:extLst>
              <a:ext uri="{FF2B5EF4-FFF2-40B4-BE49-F238E27FC236}">
                <a16:creationId xmlns:a16="http://schemas.microsoft.com/office/drawing/2014/main" id="{7E458495-39DB-4EB3-9D51-A1816B601BDC}"/>
              </a:ext>
            </a:extLst>
          </p:cNvPr>
          <p:cNvCxnSpPr>
            <a:cxnSpLocks/>
            <a:stCxn id="14" idx="3"/>
            <a:endCxn id="7" idx="1"/>
          </p:cNvCxnSpPr>
          <p:nvPr/>
        </p:nvCxnSpPr>
        <p:spPr>
          <a:xfrm>
            <a:off x="6489966" y="3312325"/>
            <a:ext cx="1057804" cy="958849"/>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1" name="矩形 20">
                <a:extLst>
                  <a:ext uri="{FF2B5EF4-FFF2-40B4-BE49-F238E27FC236}">
                    <a16:creationId xmlns:a16="http://schemas.microsoft.com/office/drawing/2014/main" id="{3A5A6C87-6F57-4C28-92F1-F500E3487995}"/>
                  </a:ext>
                </a:extLst>
              </p:cNvPr>
              <p:cNvSpPr/>
              <p:nvPr/>
            </p:nvSpPr>
            <p:spPr>
              <a:xfrm>
                <a:off x="7547770" y="2048407"/>
                <a:ext cx="610129" cy="6101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TW" sz="2800" b="0" i="1" dirty="0" smtClean="0">
                              <a:solidFill>
                                <a:schemeClr val="tx1"/>
                              </a:solidFill>
                              <a:latin typeface="Cambria Math" panose="02040503050406030204" pitchFamily="18" charset="0"/>
                            </a:rPr>
                          </m:ctrlPr>
                        </m:sSubPr>
                        <m:e>
                          <m:r>
                            <a:rPr lang="en-US" altLang="zh-TW" sz="2800" b="0" i="1" dirty="0" smtClean="0">
                              <a:solidFill>
                                <a:schemeClr val="tx1"/>
                              </a:solidFill>
                              <a:latin typeface="Cambria Math" panose="02040503050406030204" pitchFamily="18" charset="0"/>
                            </a:rPr>
                            <m:t>𝑎</m:t>
                          </m:r>
                        </m:e>
                        <m:sub>
                          <m:r>
                            <a:rPr lang="en-US" altLang="zh-TW" sz="2800" b="0" i="1" dirty="0" smtClean="0">
                              <a:solidFill>
                                <a:schemeClr val="tx1"/>
                              </a:solidFill>
                              <a:latin typeface="Cambria Math" panose="02040503050406030204" pitchFamily="18" charset="0"/>
                            </a:rPr>
                            <m:t>3</m:t>
                          </m:r>
                        </m:sub>
                      </m:sSub>
                    </m:oMath>
                  </m:oMathPara>
                </a14:m>
                <a:endParaRPr lang="zh-TW" altLang="en-US" sz="2800" dirty="0">
                  <a:solidFill>
                    <a:schemeClr val="tx1"/>
                  </a:solidFill>
                </a:endParaRPr>
              </a:p>
            </p:txBody>
          </p:sp>
        </mc:Choice>
        <mc:Fallback>
          <p:sp>
            <p:nvSpPr>
              <p:cNvPr id="21" name="矩形 20">
                <a:extLst>
                  <a:ext uri="{FF2B5EF4-FFF2-40B4-BE49-F238E27FC236}">
                    <a16:creationId xmlns:a16="http://schemas.microsoft.com/office/drawing/2014/main" id="{3A5A6C87-6F57-4C28-92F1-F500E3487995}"/>
                  </a:ext>
                </a:extLst>
              </p:cNvPr>
              <p:cNvSpPr>
                <a:spLocks noRot="1" noChangeAspect="1" noMove="1" noResize="1" noEditPoints="1" noAdjustHandles="1" noChangeArrowheads="1" noChangeShapeType="1" noTextEdit="1"/>
              </p:cNvSpPr>
              <p:nvPr/>
            </p:nvSpPr>
            <p:spPr>
              <a:xfrm>
                <a:off x="7547770" y="2048407"/>
                <a:ext cx="610129" cy="610129"/>
              </a:xfrm>
              <a:prstGeom prst="rect">
                <a:avLst/>
              </a:prstGeom>
              <a:blipFill>
                <a:blip r:embed="rId6"/>
                <a:stretch>
                  <a:fillRect/>
                </a:stretch>
              </a:blipFill>
              <a:ln>
                <a:solidFill>
                  <a:schemeClr val="tx1"/>
                </a:solidFill>
              </a:ln>
            </p:spPr>
            <p:txBody>
              <a:bodyPr/>
              <a:lstStyle/>
              <a:p>
                <a:r>
                  <a:rPr lang="zh-TW" altLang="en-US">
                    <a:noFill/>
                  </a:rPr>
                  <a:t> </a:t>
                </a:r>
              </a:p>
            </p:txBody>
          </p:sp>
        </mc:Fallback>
      </mc:AlternateContent>
      <p:cxnSp>
        <p:nvCxnSpPr>
          <p:cNvPr id="22" name="直線單箭頭接點 21">
            <a:extLst>
              <a:ext uri="{FF2B5EF4-FFF2-40B4-BE49-F238E27FC236}">
                <a16:creationId xmlns:a16="http://schemas.microsoft.com/office/drawing/2014/main" id="{74A0E084-D773-4AD6-B331-B65024384BFF}"/>
              </a:ext>
            </a:extLst>
          </p:cNvPr>
          <p:cNvCxnSpPr>
            <a:cxnSpLocks/>
            <a:stCxn id="14" idx="3"/>
            <a:endCxn id="21" idx="1"/>
          </p:cNvCxnSpPr>
          <p:nvPr/>
        </p:nvCxnSpPr>
        <p:spPr>
          <a:xfrm flipV="1">
            <a:off x="6489966" y="2353472"/>
            <a:ext cx="1057804" cy="958853"/>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4" name="矩形: 圓角 13">
                <a:extLst>
                  <a:ext uri="{FF2B5EF4-FFF2-40B4-BE49-F238E27FC236}">
                    <a16:creationId xmlns:a16="http://schemas.microsoft.com/office/drawing/2014/main" id="{EEEFD8F4-0B3E-4CF3-9AC6-6664A27D09D9}"/>
                  </a:ext>
                </a:extLst>
              </p:cNvPr>
              <p:cNvSpPr/>
              <p:nvPr/>
            </p:nvSpPr>
            <p:spPr>
              <a:xfrm>
                <a:off x="4542633" y="2547045"/>
                <a:ext cx="1947333" cy="1530559"/>
              </a:xfrm>
              <a:prstGeom prst="round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2800" dirty="0">
                    <a:solidFill>
                      <a:schemeClr val="tx1"/>
                    </a:solidFill>
                    <a:latin typeface="Times New Roman" panose="02020603050405020304" pitchFamily="18" charset="0"/>
                    <a:cs typeface="Times New Roman" panose="02020603050405020304" pitchFamily="18" charset="0"/>
                  </a:rPr>
                  <a:t>Actor</a:t>
                </a:r>
              </a:p>
              <a:p>
                <a:pPr algn="ctr"/>
                <a:r>
                  <a:rPr lang="en-US" altLang="zh-TW" sz="2800" dirty="0">
                    <a:solidFill>
                      <a:schemeClr val="tx1"/>
                    </a:solidFill>
                    <a:latin typeface="Times New Roman" panose="02020603050405020304" pitchFamily="18" charset="0"/>
                    <a:cs typeface="Times New Roman" panose="02020603050405020304" pitchFamily="18" charset="0"/>
                  </a:rPr>
                  <a:t>Network</a:t>
                </a:r>
              </a:p>
              <a:p>
                <a:pPr algn="ctr"/>
                <a14:m>
                  <m:oMathPara xmlns:m="http://schemas.openxmlformats.org/officeDocument/2006/math">
                    <m:oMathParaPr>
                      <m:jc m:val="centerGroup"/>
                    </m:oMathParaPr>
                    <m:oMath xmlns:m="http://schemas.openxmlformats.org/officeDocument/2006/math">
                      <m:r>
                        <a:rPr lang="zh-TW" altLang="en-US" sz="2800" i="1">
                          <a:solidFill>
                            <a:schemeClr val="tx1"/>
                          </a:solidFill>
                          <a:latin typeface="Cambria Math" panose="02040503050406030204" pitchFamily="18" charset="0"/>
                          <a:cs typeface="Times New Roman" panose="02020603050405020304" pitchFamily="18" charset="0"/>
                        </a:rPr>
                        <m:t>𝜇</m:t>
                      </m:r>
                      <m:r>
                        <a:rPr lang="en-US" altLang="zh-TW" sz="2800" i="1">
                          <a:solidFill>
                            <a:schemeClr val="tx1"/>
                          </a:solidFill>
                          <a:latin typeface="Cambria Math" panose="02040503050406030204" pitchFamily="18" charset="0"/>
                          <a:cs typeface="Times New Roman" panose="02020603050405020304" pitchFamily="18" charset="0"/>
                        </a:rPr>
                        <m:t>(</m:t>
                      </m:r>
                      <m:r>
                        <a:rPr lang="en-US" altLang="zh-TW" sz="2800" i="1">
                          <a:solidFill>
                            <a:schemeClr val="tx1"/>
                          </a:solidFill>
                          <a:latin typeface="Cambria Math" panose="02040503050406030204" pitchFamily="18" charset="0"/>
                          <a:cs typeface="Times New Roman" panose="02020603050405020304" pitchFamily="18" charset="0"/>
                        </a:rPr>
                        <m:t>𝑠</m:t>
                      </m:r>
                      <m:r>
                        <a:rPr lang="en-US" altLang="zh-TW" sz="2800" i="1">
                          <a:solidFill>
                            <a:schemeClr val="tx1"/>
                          </a:solidFill>
                          <a:latin typeface="Cambria Math" panose="02040503050406030204" pitchFamily="18" charset="0"/>
                          <a:cs typeface="Times New Roman" panose="02020603050405020304" pitchFamily="18" charset="0"/>
                        </a:rPr>
                        <m:t>)</m:t>
                      </m:r>
                    </m:oMath>
                  </m:oMathPara>
                </a14:m>
                <a:endParaRPr lang="zh-TW" altLang="en-US" sz="2800" dirty="0">
                  <a:solidFill>
                    <a:schemeClr val="tx1"/>
                  </a:solidFill>
                  <a:latin typeface="Times New Roman" panose="02020603050405020304" pitchFamily="18" charset="0"/>
                  <a:cs typeface="Times New Roman" panose="02020603050405020304" pitchFamily="18" charset="0"/>
                </a:endParaRPr>
              </a:p>
            </p:txBody>
          </p:sp>
        </mc:Choice>
        <mc:Fallback>
          <p:sp>
            <p:nvSpPr>
              <p:cNvPr id="14" name="矩形: 圓角 13">
                <a:extLst>
                  <a:ext uri="{FF2B5EF4-FFF2-40B4-BE49-F238E27FC236}">
                    <a16:creationId xmlns:a16="http://schemas.microsoft.com/office/drawing/2014/main" id="{EEEFD8F4-0B3E-4CF3-9AC6-6664A27D09D9}"/>
                  </a:ext>
                </a:extLst>
              </p:cNvPr>
              <p:cNvSpPr>
                <a:spLocks noRot="1" noChangeAspect="1" noMove="1" noResize="1" noEditPoints="1" noAdjustHandles="1" noChangeArrowheads="1" noChangeShapeType="1" noTextEdit="1"/>
              </p:cNvSpPr>
              <p:nvPr/>
            </p:nvSpPr>
            <p:spPr>
              <a:xfrm>
                <a:off x="4542633" y="2547045"/>
                <a:ext cx="1947333" cy="1530559"/>
              </a:xfrm>
              <a:prstGeom prst="roundRect">
                <a:avLst/>
              </a:prstGeom>
              <a:blipFill>
                <a:blip r:embed="rId7"/>
                <a:stretch>
                  <a:fillRect/>
                </a:stretch>
              </a:blipFill>
            </p:spPr>
            <p:txBody>
              <a:bodyPr/>
              <a:lstStyle/>
              <a:p>
                <a:r>
                  <a:rPr lang="zh-TW" altLang="en-US">
                    <a:noFill/>
                  </a:rPr>
                  <a:t> </a:t>
                </a:r>
              </a:p>
            </p:txBody>
          </p:sp>
        </mc:Fallback>
      </mc:AlternateContent>
      <p:cxnSp>
        <p:nvCxnSpPr>
          <p:cNvPr id="37" name="直線單箭頭接點 36">
            <a:extLst>
              <a:ext uri="{FF2B5EF4-FFF2-40B4-BE49-F238E27FC236}">
                <a16:creationId xmlns:a16="http://schemas.microsoft.com/office/drawing/2014/main" id="{65628A1F-4296-40DE-A06E-C0F990EDD9E5}"/>
              </a:ext>
            </a:extLst>
          </p:cNvPr>
          <p:cNvCxnSpPr>
            <a:cxnSpLocks/>
            <a:stCxn id="4" idx="6"/>
            <a:endCxn id="14" idx="1"/>
          </p:cNvCxnSpPr>
          <p:nvPr/>
        </p:nvCxnSpPr>
        <p:spPr>
          <a:xfrm>
            <a:off x="3484829" y="3312323"/>
            <a:ext cx="1057804" cy="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2" name="箭號: 向上 41">
            <a:extLst>
              <a:ext uri="{FF2B5EF4-FFF2-40B4-BE49-F238E27FC236}">
                <a16:creationId xmlns:a16="http://schemas.microsoft.com/office/drawing/2014/main" id="{5D9116DB-57BC-4614-900C-8823287BA5B7}"/>
              </a:ext>
            </a:extLst>
          </p:cNvPr>
          <p:cNvSpPr/>
          <p:nvPr/>
        </p:nvSpPr>
        <p:spPr>
          <a:xfrm>
            <a:off x="8192029" y="3966109"/>
            <a:ext cx="541867" cy="610129"/>
          </a:xfrm>
          <a:prstGeom prst="up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800" dirty="0"/>
          </a:p>
        </p:txBody>
      </p:sp>
      <mc:AlternateContent xmlns:mc="http://schemas.openxmlformats.org/markup-compatibility/2006">
        <mc:Choice xmlns:a14="http://schemas.microsoft.com/office/drawing/2010/main" Requires="a14">
          <p:sp>
            <p:nvSpPr>
              <p:cNvPr id="48" name="文字方塊 47">
                <a:extLst>
                  <a:ext uri="{FF2B5EF4-FFF2-40B4-BE49-F238E27FC236}">
                    <a16:creationId xmlns:a16="http://schemas.microsoft.com/office/drawing/2014/main" id="{2CDD150D-79EA-4BC2-BA50-B1E4061F9808}"/>
                  </a:ext>
                </a:extLst>
              </p:cNvPr>
              <p:cNvSpPr txBox="1"/>
              <p:nvPr/>
            </p:nvSpPr>
            <p:spPr>
              <a:xfrm>
                <a:off x="1786865" y="5239023"/>
                <a:ext cx="9406201" cy="57547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ea typeface="Cambria Math" panose="02040503050406030204" pitchFamily="18" charset="0"/>
                            </a:rPr>
                          </m:ctrlPr>
                        </m:sSubPr>
                        <m:e>
                          <m:r>
                            <m:rPr>
                              <m:sty m:val="p"/>
                            </m:rPr>
                            <a:rPr lang="en-US" altLang="zh-TW" sz="2800" b="0" i="1" smtClean="0">
                              <a:latin typeface="Cambria Math" panose="02040503050406030204" pitchFamily="18" charset="0"/>
                              <a:ea typeface="Cambria Math" panose="02040503050406030204" pitchFamily="18" charset="0"/>
                            </a:rPr>
                            <m:t>∇</m:t>
                          </m:r>
                        </m:e>
                        <m:sub>
                          <m:sSup>
                            <m:sSupPr>
                              <m:ctrlPr>
                                <a:rPr lang="en-US" altLang="zh-TW" sz="2800" b="0" i="1" smtClean="0">
                                  <a:latin typeface="Cambria Math" panose="02040503050406030204" pitchFamily="18" charset="0"/>
                                  <a:ea typeface="Cambria Math" panose="02040503050406030204" pitchFamily="18" charset="0"/>
                                </a:rPr>
                              </m:ctrlPr>
                            </m:sSupPr>
                            <m:e>
                              <m:r>
                                <a:rPr lang="zh-TW" altLang="en-US" sz="2800" b="0" i="1" smtClean="0">
                                  <a:latin typeface="Cambria Math" panose="02040503050406030204" pitchFamily="18" charset="0"/>
                                  <a:ea typeface="Cambria Math" panose="02040503050406030204" pitchFamily="18" charset="0"/>
                                </a:rPr>
                                <m:t>𝜃</m:t>
                              </m:r>
                            </m:e>
                            <m:sup>
                              <m:r>
                                <a:rPr lang="zh-TW" altLang="en-US" sz="2800" b="0" i="1" smtClean="0">
                                  <a:latin typeface="Cambria Math" panose="02040503050406030204" pitchFamily="18" charset="0"/>
                                  <a:ea typeface="Cambria Math" panose="02040503050406030204" pitchFamily="18" charset="0"/>
                                </a:rPr>
                                <m:t>𝜇</m:t>
                              </m:r>
                            </m:sup>
                          </m:sSup>
                        </m:sub>
                      </m:sSub>
                      <m:r>
                        <a:rPr lang="en-US" altLang="zh-TW" sz="2800" b="0" i="1" smtClean="0">
                          <a:latin typeface="Cambria Math" panose="02040503050406030204" pitchFamily="18" charset="0"/>
                          <a:ea typeface="Cambria Math" panose="02040503050406030204" pitchFamily="18" charset="0"/>
                        </a:rPr>
                        <m:t>𝐽</m:t>
                      </m:r>
                      <m:r>
                        <a:rPr lang="en-US" altLang="zh-TW" sz="2800" b="0" i="1" smtClean="0">
                          <a:latin typeface="Cambria Math" panose="02040503050406030204" pitchFamily="18" charset="0"/>
                        </a:rPr>
                        <m:t>=</m:t>
                      </m:r>
                      <m:sSub>
                        <m:sSubPr>
                          <m:ctrlPr>
                            <a:rPr lang="en-US" altLang="zh-TW" sz="2800" i="1">
                              <a:latin typeface="Cambria Math" panose="02040503050406030204" pitchFamily="18" charset="0"/>
                              <a:cs typeface="Times New Roman" panose="02020603050405020304" pitchFamily="18" charset="0"/>
                            </a:rPr>
                          </m:ctrlPr>
                        </m:sSubPr>
                        <m:e>
                          <m:r>
                            <a:rPr lang="zh-TW" altLang="en-US" sz="2800" i="1">
                              <a:latin typeface="Cambria Math" panose="02040503050406030204" pitchFamily="18" charset="0"/>
                              <a:cs typeface="Times New Roman" panose="02020603050405020304" pitchFamily="18" charset="0"/>
                            </a:rPr>
                            <m:t>𝔼</m:t>
                          </m:r>
                        </m:e>
                        <m:sub>
                          <m:sSub>
                            <m:sSubPr>
                              <m:ctrlPr>
                                <a:rPr lang="en-US" altLang="zh-TW" sz="2800" i="1">
                                  <a:latin typeface="Cambria Math" panose="02040503050406030204" pitchFamily="18" charset="0"/>
                                  <a:cs typeface="Times New Roman" panose="02020603050405020304" pitchFamily="18" charset="0"/>
                                </a:rPr>
                              </m:ctrlPr>
                            </m:sSubPr>
                            <m:e>
                              <m:r>
                                <a:rPr lang="en-US" altLang="zh-TW" sz="2800" i="1">
                                  <a:latin typeface="Cambria Math" panose="02040503050406030204" pitchFamily="18" charset="0"/>
                                  <a:cs typeface="Times New Roman" panose="02020603050405020304" pitchFamily="18" charset="0"/>
                                </a:rPr>
                                <m:t>𝑠</m:t>
                              </m:r>
                            </m:e>
                            <m:sub>
                              <m:r>
                                <a:rPr lang="en-US" altLang="zh-TW" sz="2800" i="1">
                                  <a:latin typeface="Cambria Math" panose="02040503050406030204" pitchFamily="18" charset="0"/>
                                  <a:cs typeface="Times New Roman" panose="02020603050405020304" pitchFamily="18" charset="0"/>
                                </a:rPr>
                                <m:t>𝑡</m:t>
                              </m:r>
                            </m:sub>
                          </m:sSub>
                          <m:r>
                            <a:rPr lang="en-US" altLang="zh-TW" sz="2800" i="1">
                              <a:latin typeface="Cambria Math" panose="02040503050406030204" pitchFamily="18" charset="0"/>
                              <a:cs typeface="Times New Roman" panose="02020603050405020304" pitchFamily="18" charset="0"/>
                            </a:rPr>
                            <m:t>,</m:t>
                          </m:r>
                          <m:sSub>
                            <m:sSubPr>
                              <m:ctrlPr>
                                <a:rPr lang="en-US" altLang="zh-TW" sz="2800" i="1">
                                  <a:latin typeface="Cambria Math" panose="02040503050406030204" pitchFamily="18" charset="0"/>
                                  <a:cs typeface="Times New Roman" panose="02020603050405020304" pitchFamily="18" charset="0"/>
                                </a:rPr>
                              </m:ctrlPr>
                            </m:sSubPr>
                            <m:e>
                              <m:r>
                                <a:rPr lang="en-US" altLang="zh-TW" sz="2800" i="1">
                                  <a:latin typeface="Cambria Math" panose="02040503050406030204" pitchFamily="18" charset="0"/>
                                  <a:cs typeface="Times New Roman" panose="02020603050405020304" pitchFamily="18" charset="0"/>
                                </a:rPr>
                                <m:t>𝑎</m:t>
                              </m:r>
                            </m:e>
                            <m:sub>
                              <m:r>
                                <a:rPr lang="en-US" altLang="zh-TW" sz="2800" i="1">
                                  <a:latin typeface="Cambria Math" panose="02040503050406030204" pitchFamily="18" charset="0"/>
                                  <a:cs typeface="Times New Roman" panose="02020603050405020304" pitchFamily="18" charset="0"/>
                                </a:rPr>
                                <m:t>𝑡</m:t>
                              </m:r>
                            </m:sub>
                          </m:sSub>
                          <m:r>
                            <a:rPr lang="en-US" altLang="zh-TW" sz="2800" i="1">
                              <a:latin typeface="Cambria Math" panose="02040503050406030204" pitchFamily="18" charset="0"/>
                              <a:cs typeface="Times New Roman" panose="02020603050405020304" pitchFamily="18" charset="0"/>
                            </a:rPr>
                            <m:t>,</m:t>
                          </m:r>
                          <m:sSub>
                            <m:sSubPr>
                              <m:ctrlPr>
                                <a:rPr lang="en-US" altLang="zh-TW" sz="2800" i="1">
                                  <a:latin typeface="Cambria Math" panose="02040503050406030204" pitchFamily="18" charset="0"/>
                                  <a:cs typeface="Times New Roman" panose="02020603050405020304" pitchFamily="18" charset="0"/>
                                </a:rPr>
                              </m:ctrlPr>
                            </m:sSubPr>
                            <m:e>
                              <m:r>
                                <a:rPr lang="en-US" altLang="zh-TW" sz="2800" i="1">
                                  <a:latin typeface="Cambria Math" panose="02040503050406030204" pitchFamily="18" charset="0"/>
                                  <a:cs typeface="Times New Roman" panose="02020603050405020304" pitchFamily="18" charset="0"/>
                                </a:rPr>
                                <m:t>𝑟</m:t>
                              </m:r>
                            </m:e>
                            <m:sub>
                              <m:r>
                                <a:rPr lang="en-US" altLang="zh-TW" sz="2800" i="1">
                                  <a:latin typeface="Cambria Math" panose="02040503050406030204" pitchFamily="18" charset="0"/>
                                  <a:cs typeface="Times New Roman" panose="02020603050405020304" pitchFamily="18" charset="0"/>
                                </a:rPr>
                                <m:t>𝑡</m:t>
                              </m:r>
                            </m:sub>
                          </m:sSub>
                          <m:r>
                            <a:rPr lang="en-US" altLang="zh-TW" sz="2800" i="1">
                              <a:latin typeface="Cambria Math" panose="02040503050406030204" pitchFamily="18" charset="0"/>
                              <a:cs typeface="Times New Roman" panose="02020603050405020304" pitchFamily="18" charset="0"/>
                            </a:rPr>
                            <m:t>,</m:t>
                          </m:r>
                          <m:sSub>
                            <m:sSubPr>
                              <m:ctrlPr>
                                <a:rPr lang="en-US" altLang="zh-TW" sz="2800" i="1">
                                  <a:latin typeface="Cambria Math" panose="02040503050406030204" pitchFamily="18" charset="0"/>
                                  <a:cs typeface="Times New Roman" panose="02020603050405020304" pitchFamily="18" charset="0"/>
                                </a:rPr>
                              </m:ctrlPr>
                            </m:sSubPr>
                            <m:e>
                              <m:r>
                                <a:rPr lang="en-US" altLang="zh-TW" sz="2800" i="1">
                                  <a:latin typeface="Cambria Math" panose="02040503050406030204" pitchFamily="18" charset="0"/>
                                  <a:cs typeface="Times New Roman" panose="02020603050405020304" pitchFamily="18" charset="0"/>
                                </a:rPr>
                                <m:t>𝑠</m:t>
                              </m:r>
                            </m:e>
                            <m:sub>
                              <m:r>
                                <a:rPr lang="en-US" altLang="zh-TW" sz="2800" i="1">
                                  <a:latin typeface="Cambria Math" panose="02040503050406030204" pitchFamily="18" charset="0"/>
                                  <a:cs typeface="Times New Roman" panose="02020603050405020304" pitchFamily="18" charset="0"/>
                                </a:rPr>
                                <m:t>𝑡</m:t>
                              </m:r>
                              <m:r>
                                <a:rPr lang="en-US" altLang="zh-TW" sz="2800" i="1">
                                  <a:latin typeface="Cambria Math" panose="02040503050406030204" pitchFamily="18" charset="0"/>
                                  <a:cs typeface="Times New Roman" panose="02020603050405020304" pitchFamily="18" charset="0"/>
                                </a:rPr>
                                <m:t>+1</m:t>
                              </m:r>
                            </m:sub>
                          </m:sSub>
                          <m:r>
                            <a:rPr lang="en-US" altLang="zh-TW" sz="2800" i="1">
                              <a:latin typeface="Cambria Math" panose="02040503050406030204" pitchFamily="18" charset="0"/>
                              <a:cs typeface="Times New Roman" panose="02020603050405020304" pitchFamily="18" charset="0"/>
                            </a:rPr>
                            <m:t>~</m:t>
                          </m:r>
                          <m:r>
                            <a:rPr lang="en-US" altLang="zh-TW" sz="2800" i="1">
                              <a:latin typeface="Cambria Math" panose="02040503050406030204" pitchFamily="18" charset="0"/>
                              <a:cs typeface="Times New Roman" panose="02020603050405020304" pitchFamily="18" charset="0"/>
                            </a:rPr>
                            <m:t>𝑏𝑢𝑓𝑓𝑒𝑟</m:t>
                          </m:r>
                        </m:sub>
                      </m:sSub>
                      <m:r>
                        <a:rPr lang="en-US" altLang="zh-TW" sz="2800" b="0" i="1" smtClean="0">
                          <a:latin typeface="Cambria Math" panose="02040503050406030204" pitchFamily="18" charset="0"/>
                          <a:cs typeface="Times New Roman" panose="02020603050405020304" pitchFamily="18" charset="0"/>
                        </a:rPr>
                        <m:t>[</m:t>
                      </m:r>
                      <m:sSub>
                        <m:sSub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m:t>
                          </m:r>
                        </m:e>
                        <m:sub>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𝑎</m:t>
                          </m:r>
                        </m:sub>
                      </m:sSub>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𝑄</m:t>
                      </m:r>
                      <m:d>
                        <m:d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𝑡</m:t>
                              </m:r>
                            </m:sub>
                          </m:sSub>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m:t>
                          </m:r>
                          <m:r>
                            <a:rPr lang="zh-TW" altLang="en-US" sz="2800" b="0" i="1" smtClean="0">
                              <a:latin typeface="Cambria Math" panose="02040503050406030204" pitchFamily="18" charset="0"/>
                              <a:ea typeface="Cambria Math" panose="02040503050406030204" pitchFamily="18" charset="0"/>
                              <a:cs typeface="Times New Roman" panose="02020603050405020304" pitchFamily="18" charset="0"/>
                            </a:rPr>
                            <m:t>𝜇</m:t>
                          </m:r>
                          <m:d>
                            <m:d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𝑡</m:t>
                                  </m:r>
                                </m:sub>
                              </m:sSub>
                            </m:e>
                          </m:d>
                        </m:e>
                        <m:e>
                          <m:sSup>
                            <m:sSup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TW" altLang="en-US" sz="2800" b="0" i="1" smtClean="0">
                                  <a:latin typeface="Cambria Math" panose="02040503050406030204" pitchFamily="18" charset="0"/>
                                  <a:ea typeface="Cambria Math" panose="02040503050406030204" pitchFamily="18" charset="0"/>
                                  <a:cs typeface="Times New Roman" panose="02020603050405020304" pitchFamily="18" charset="0"/>
                                </a:rPr>
                                <m:t>𝜃</m:t>
                              </m:r>
                            </m:e>
                            <m:sup>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𝑄</m:t>
                              </m:r>
                            </m:sup>
                          </m:sSup>
                        </m:e>
                      </m:d>
                      <m:sSub>
                        <m:sSub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sz="2800" i="1">
                              <a:latin typeface="Cambria Math" panose="02040503050406030204" pitchFamily="18" charset="0"/>
                              <a:ea typeface="Cambria Math" panose="02040503050406030204" pitchFamily="18" charset="0"/>
                              <a:cs typeface="Times New Roman" panose="02020603050405020304" pitchFamily="18" charset="0"/>
                            </a:rPr>
                            <m:t>∇</m:t>
                          </m:r>
                        </m:e>
                        <m:sub>
                          <m:sSup>
                            <m:sSup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TW" altLang="en-US" sz="2800" b="0" i="1" smtClean="0">
                                  <a:latin typeface="Cambria Math" panose="02040503050406030204" pitchFamily="18" charset="0"/>
                                  <a:ea typeface="Cambria Math" panose="02040503050406030204" pitchFamily="18" charset="0"/>
                                  <a:cs typeface="Times New Roman" panose="02020603050405020304" pitchFamily="18" charset="0"/>
                                </a:rPr>
                                <m:t>𝜃</m:t>
                              </m:r>
                            </m:e>
                            <m:sup>
                              <m:r>
                                <a:rPr lang="zh-TW" altLang="en-US" sz="2800" b="0" i="1" smtClean="0">
                                  <a:latin typeface="Cambria Math" panose="02040503050406030204" pitchFamily="18" charset="0"/>
                                  <a:ea typeface="Cambria Math" panose="02040503050406030204" pitchFamily="18" charset="0"/>
                                  <a:cs typeface="Times New Roman" panose="02020603050405020304" pitchFamily="18" charset="0"/>
                                </a:rPr>
                                <m:t>𝜇</m:t>
                              </m:r>
                            </m:sup>
                          </m:sSup>
                        </m:sub>
                      </m:sSub>
                      <m:r>
                        <a:rPr lang="zh-TW" altLang="en-US" sz="2800" b="0" i="1" smtClean="0">
                          <a:latin typeface="Cambria Math" panose="02040503050406030204" pitchFamily="18" charset="0"/>
                          <a:ea typeface="Cambria Math" panose="02040503050406030204" pitchFamily="18" charset="0"/>
                          <a:cs typeface="Times New Roman" panose="02020603050405020304" pitchFamily="18" charset="0"/>
                        </a:rPr>
                        <m:t>𝜇</m:t>
                      </m:r>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𝑡</m:t>
                          </m:r>
                        </m:sub>
                      </m:sSub>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TW" altLang="en-US" sz="2800" b="0" i="1" smtClean="0">
                              <a:latin typeface="Cambria Math" panose="02040503050406030204" pitchFamily="18" charset="0"/>
                              <a:ea typeface="Cambria Math" panose="02040503050406030204" pitchFamily="18" charset="0"/>
                              <a:cs typeface="Times New Roman" panose="02020603050405020304" pitchFamily="18" charset="0"/>
                            </a:rPr>
                            <m:t>𝜃</m:t>
                          </m:r>
                        </m:e>
                        <m:sup>
                          <m:r>
                            <a:rPr lang="zh-TW" altLang="en-US" sz="2800" b="0" i="1" smtClean="0">
                              <a:latin typeface="Cambria Math" panose="02040503050406030204" pitchFamily="18" charset="0"/>
                              <a:ea typeface="Cambria Math" panose="02040503050406030204" pitchFamily="18" charset="0"/>
                              <a:cs typeface="Times New Roman" panose="02020603050405020304" pitchFamily="18" charset="0"/>
                            </a:rPr>
                            <m:t>𝜇</m:t>
                          </m:r>
                        </m:sup>
                      </m:sSup>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800" b="0" i="1" smtClean="0">
                          <a:latin typeface="Cambria Math" panose="02040503050406030204" pitchFamily="18" charset="0"/>
                          <a:cs typeface="Times New Roman" panose="02020603050405020304" pitchFamily="18" charset="0"/>
                        </a:rPr>
                        <m:t>]</m:t>
                      </m:r>
                    </m:oMath>
                  </m:oMathPara>
                </a14:m>
                <a:endParaRPr lang="zh-TW" altLang="en-US" sz="2800" dirty="0"/>
              </a:p>
            </p:txBody>
          </p:sp>
        </mc:Choice>
        <mc:Fallback>
          <p:sp>
            <p:nvSpPr>
              <p:cNvPr id="48" name="文字方塊 47">
                <a:extLst>
                  <a:ext uri="{FF2B5EF4-FFF2-40B4-BE49-F238E27FC236}">
                    <a16:creationId xmlns:a16="http://schemas.microsoft.com/office/drawing/2014/main" id="{2CDD150D-79EA-4BC2-BA50-B1E4061F9808}"/>
                  </a:ext>
                </a:extLst>
              </p:cNvPr>
              <p:cNvSpPr txBox="1">
                <a:spLocks noRot="1" noChangeAspect="1" noMove="1" noResize="1" noEditPoints="1" noAdjustHandles="1" noChangeArrowheads="1" noChangeShapeType="1" noTextEdit="1"/>
              </p:cNvSpPr>
              <p:nvPr/>
            </p:nvSpPr>
            <p:spPr>
              <a:xfrm>
                <a:off x="1786865" y="5239023"/>
                <a:ext cx="9406201" cy="575479"/>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96298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Data</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5"/>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Stocks : Dow Jones 30 stocks</a:t>
            </a:r>
            <a:endParaRPr lang="zh-TW" altLang="en-US"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545" y="3418047"/>
            <a:ext cx="9916909" cy="1505160"/>
          </a:xfrm>
          <a:prstGeom prst="rect">
            <a:avLst/>
          </a:prstGeom>
        </p:spPr>
      </p:pic>
    </p:spTree>
    <p:extLst>
      <p:ext uri="{BB962C8B-B14F-4D97-AF65-F5344CB8AC3E}">
        <p14:creationId xmlns:p14="http://schemas.microsoft.com/office/powerpoint/2010/main" val="23517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pic>
        <p:nvPicPr>
          <p:cNvPr id="3" name="內容版面配置區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88245" y="365125"/>
            <a:ext cx="6215510" cy="4303614"/>
          </a:xfrm>
        </p:spPr>
      </p:pic>
      <p:pic>
        <p:nvPicPr>
          <p:cNvPr id="4" name="圖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38048" y="4925625"/>
            <a:ext cx="6115904" cy="1514686"/>
          </a:xfrm>
          <a:prstGeom prst="rect">
            <a:avLst/>
          </a:prstGeom>
        </p:spPr>
      </p:pic>
    </p:spTree>
    <p:extLst>
      <p:ext uri="{BB962C8B-B14F-4D97-AF65-F5344CB8AC3E}">
        <p14:creationId xmlns:p14="http://schemas.microsoft.com/office/powerpoint/2010/main" val="92604097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18187</TotalTime>
  <Words>316</Words>
  <Application>Microsoft Office PowerPoint</Application>
  <PresentationFormat>寬螢幕</PresentationFormat>
  <Paragraphs>69</Paragraphs>
  <Slides>8</Slides>
  <Notes>7</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8</vt:i4>
      </vt:variant>
    </vt:vector>
  </HeadingPairs>
  <TitlesOfParts>
    <vt:vector size="14" baseType="lpstr">
      <vt:lpstr>Arial</vt:lpstr>
      <vt:lpstr>Calibri</vt:lpstr>
      <vt:lpstr>Calibri Light</vt:lpstr>
      <vt:lpstr>Cambria Math</vt:lpstr>
      <vt:lpstr>Times New Roman</vt:lpstr>
      <vt:lpstr>Office 佈景主題</vt:lpstr>
      <vt:lpstr>Practical Deep Reinforcement Learning Approach for Stock Trading</vt:lpstr>
      <vt:lpstr>Abstract</vt:lpstr>
      <vt:lpstr>Q-learning</vt:lpstr>
      <vt:lpstr>Deep Deterministic Policy Gradient (DDPG)</vt:lpstr>
      <vt:lpstr>Update critic network</vt:lpstr>
      <vt:lpstr>Policy gradient</vt:lpstr>
      <vt:lpstr>Data</vt:lpstr>
      <vt:lpstr>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p:lastModifiedBy>
  <cp:revision>599</cp:revision>
  <dcterms:created xsi:type="dcterms:W3CDTF">2017-09-07T05:36:32Z</dcterms:created>
  <dcterms:modified xsi:type="dcterms:W3CDTF">2018-12-10T10:20:32Z</dcterms:modified>
</cp:coreProperties>
</file>