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6" r:id="rId3"/>
    <p:sldId id="298" r:id="rId4"/>
    <p:sldId id="279" r:id="rId5"/>
    <p:sldId id="299" r:id="rId6"/>
    <p:sldId id="300" r:id="rId7"/>
    <p:sldId id="303" r:id="rId8"/>
    <p:sldId id="302"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EAD7078E-7038-4986-B0ED-CBFCB84320F6}">
          <p14:sldIdLst>
            <p14:sldId id="256"/>
            <p14:sldId id="276"/>
            <p14:sldId id="298"/>
            <p14:sldId id="279"/>
            <p14:sldId id="299"/>
            <p14:sldId id="300"/>
            <p14:sldId id="303"/>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72" autoAdjust="0"/>
    <p:restoredTop sz="94660"/>
  </p:normalViewPr>
  <p:slideViewPr>
    <p:cSldViewPr snapToGrid="0">
      <p:cViewPr varScale="1">
        <p:scale>
          <a:sx n="75" d="100"/>
          <a:sy n="75" d="100"/>
        </p:scale>
        <p:origin x="100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2018/1/23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755175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2018/1/23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971012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2DF12AB2-5A3A-4BEC-B8CF-6ED0EDD219CF}" type="datetimeFigureOut">
              <a:rPr lang="zh-TW" altLang="en-US" smtClean="0"/>
              <a:t>2018/1/23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4176447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2DF12AB2-5A3A-4BEC-B8CF-6ED0EDD219CF}" type="datetimeFigureOut">
              <a:rPr lang="zh-TW" altLang="en-US" smtClean="0"/>
              <a:t>2018/1/23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860766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2DF12AB2-5A3A-4BEC-B8CF-6ED0EDD219CF}" type="datetimeFigureOut">
              <a:rPr lang="zh-TW" altLang="en-US" smtClean="0"/>
              <a:t>2018/1/23</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3166640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2DF12AB2-5A3A-4BEC-B8CF-6ED0EDD219CF}" type="datetimeFigureOut">
              <a:rPr lang="zh-TW" altLang="en-US" smtClean="0"/>
              <a:t>2018/1/23</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127738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F12AB2-5A3A-4BEC-B8CF-6ED0EDD219CF}" type="datetimeFigureOut">
              <a:rPr lang="zh-TW" altLang="en-US" smtClean="0"/>
              <a:t>2018/1/23</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58612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F12AB2-5A3A-4BEC-B8CF-6ED0EDD219CF}" type="datetimeFigureOut">
              <a:rPr lang="zh-TW" altLang="en-US" smtClean="0"/>
              <a:t>2018/1/23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234302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F12AB2-5A3A-4BEC-B8CF-6ED0EDD219CF}" type="datetimeFigureOut">
              <a:rPr lang="zh-TW" altLang="en-US" smtClean="0"/>
              <a:t>2018/1/23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531004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2018/1/23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1127814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2018/1/23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3507516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F12AB2-5A3A-4BEC-B8CF-6ED0EDD219CF}" type="datetimeFigureOut">
              <a:rPr lang="zh-TW" altLang="en-US" smtClean="0"/>
              <a:t>2018/1/23</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3719006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5822F15-00D1-4FDE-A019-FC933C4E2549}"/>
              </a:ext>
            </a:extLst>
          </p:cNvPr>
          <p:cNvSpPr>
            <a:spLocks noGrp="1"/>
          </p:cNvSpPr>
          <p:nvPr>
            <p:ph type="ctrTitle"/>
          </p:nvPr>
        </p:nvSpPr>
        <p:spPr>
          <a:xfrm>
            <a:off x="0" y="1122363"/>
            <a:ext cx="9144000" cy="2387600"/>
          </a:xfrm>
        </p:spPr>
        <p:txBody>
          <a:bodyPr>
            <a:normAutofit/>
          </a:bodyPr>
          <a:lstStyle/>
          <a:p>
            <a:r>
              <a:rPr lang="en-US" altLang="zh-TW" sz="4800" dirty="0"/>
              <a:t>Efficient construction of an assembly string graph using the FM-index</a:t>
            </a:r>
            <a:endParaRPr lang="zh-TW" altLang="en-US" sz="4800" dirty="0"/>
          </a:p>
        </p:txBody>
      </p:sp>
      <p:sp>
        <p:nvSpPr>
          <p:cNvPr id="3" name="副標題 2">
            <a:extLst>
              <a:ext uri="{FF2B5EF4-FFF2-40B4-BE49-F238E27FC236}">
                <a16:creationId xmlns:a16="http://schemas.microsoft.com/office/drawing/2014/main" xmlns="" id="{7ABD29E4-B887-45D9-9793-DA3B272D07C3}"/>
              </a:ext>
            </a:extLst>
          </p:cNvPr>
          <p:cNvSpPr>
            <a:spLocks noGrp="1"/>
          </p:cNvSpPr>
          <p:nvPr>
            <p:ph type="subTitle" idx="1"/>
          </p:nvPr>
        </p:nvSpPr>
        <p:spPr>
          <a:xfrm>
            <a:off x="801511" y="3602038"/>
            <a:ext cx="7529689" cy="1655762"/>
          </a:xfrm>
        </p:spPr>
        <p:txBody>
          <a:bodyPr>
            <a:normAutofit/>
          </a:bodyPr>
          <a:lstStyle/>
          <a:p>
            <a:endParaRPr lang="en-US" altLang="zh-TW" dirty="0"/>
          </a:p>
          <a:p>
            <a:r>
              <a:rPr lang="en-US" altLang="zh-TW" dirty="0"/>
              <a:t>Jared T. </a:t>
            </a:r>
            <a:r>
              <a:rPr lang="en-US" altLang="zh-TW" dirty="0" smtClean="0"/>
              <a:t>Simpson </a:t>
            </a:r>
            <a:r>
              <a:rPr lang="en-US" altLang="zh-TW" dirty="0"/>
              <a:t>and Richard Durbin</a:t>
            </a:r>
          </a:p>
          <a:p>
            <a:r>
              <a:rPr lang="en-US" altLang="zh-TW" dirty="0"/>
              <a:t>  </a:t>
            </a:r>
            <a:r>
              <a:rPr lang="da-DK" altLang="zh-TW" dirty="0"/>
              <a:t>Bioinformatics, 2010 ,pp 367–373.</a:t>
            </a:r>
            <a:endParaRPr lang="zh-TW" altLang="en-US" dirty="0"/>
          </a:p>
        </p:txBody>
      </p:sp>
      <p:sp>
        <p:nvSpPr>
          <p:cNvPr id="4" name="文字方塊 3">
            <a:extLst>
              <a:ext uri="{FF2B5EF4-FFF2-40B4-BE49-F238E27FC236}">
                <a16:creationId xmlns:a16="http://schemas.microsoft.com/office/drawing/2014/main" xmlns="" id="{DBCD3618-401B-49E4-9C85-373848D9AA50}"/>
              </a:ext>
            </a:extLst>
          </p:cNvPr>
          <p:cNvSpPr txBox="1"/>
          <p:nvPr/>
        </p:nvSpPr>
        <p:spPr>
          <a:xfrm>
            <a:off x="6781803" y="5288856"/>
            <a:ext cx="2105256" cy="715581"/>
          </a:xfrm>
          <a:prstGeom prst="rect">
            <a:avLst/>
          </a:prstGeom>
          <a:noFill/>
        </p:spPr>
        <p:txBody>
          <a:bodyPr wrap="none" rtlCol="0">
            <a:spAutoFit/>
          </a:bodyPr>
          <a:lstStyle/>
          <a:p>
            <a:r>
              <a:rPr lang="en-US" altLang="zh-TW" sz="1350" dirty="0"/>
              <a:t>Presenter: Kuo-Feng Huang</a:t>
            </a:r>
          </a:p>
          <a:p>
            <a:r>
              <a:rPr lang="en-US" altLang="zh-TW" sz="1350" dirty="0"/>
              <a:t>Date:</a:t>
            </a:r>
            <a:r>
              <a:rPr lang="zh-TW" altLang="en-US" sz="1350" dirty="0"/>
              <a:t> </a:t>
            </a:r>
            <a:r>
              <a:rPr lang="en-US" altLang="zh-TW" sz="1350" dirty="0"/>
              <a:t>2018/01/23</a:t>
            </a:r>
          </a:p>
          <a:p>
            <a:endParaRPr lang="en-US" altLang="zh-TW" sz="1350" dirty="0"/>
          </a:p>
        </p:txBody>
      </p:sp>
    </p:spTree>
    <p:extLst>
      <p:ext uri="{BB962C8B-B14F-4D97-AF65-F5344CB8AC3E}">
        <p14:creationId xmlns:p14="http://schemas.microsoft.com/office/powerpoint/2010/main" val="367677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81FADCC-098F-42B3-A516-7A8E8C1A4646}"/>
              </a:ext>
            </a:extLst>
          </p:cNvPr>
          <p:cNvSpPr>
            <a:spLocks noGrp="1"/>
          </p:cNvSpPr>
          <p:nvPr>
            <p:ph type="title"/>
          </p:nvPr>
        </p:nvSpPr>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xmlns="" id="{7DB8E5E2-9D37-4095-8A46-00A68D1D282E}"/>
              </a:ext>
            </a:extLst>
          </p:cNvPr>
          <p:cNvSpPr>
            <a:spLocks noGrp="1"/>
          </p:cNvSpPr>
          <p:nvPr>
            <p:ph idx="1"/>
          </p:nvPr>
        </p:nvSpPr>
        <p:spPr>
          <a:xfrm>
            <a:off x="628650" y="1825625"/>
            <a:ext cx="7886700" cy="4351338"/>
          </a:xfrm>
        </p:spPr>
        <p:txBody>
          <a:bodyPr>
            <a:normAutofit fontScale="92500" lnSpcReduction="10000"/>
          </a:bodyPr>
          <a:lstStyle/>
          <a:p>
            <a:pPr marL="0" indent="0">
              <a:buNone/>
            </a:pPr>
            <a:r>
              <a:rPr lang="en-US" altLang="zh-TW" dirty="0"/>
              <a:t>Motivation: Sequence assembly is a difficult problem whose importance has grown again recently as the cost of sequencing has dramatically dropped. Most new sequence assembly software has started by building a de </a:t>
            </a:r>
            <a:r>
              <a:rPr lang="en-US" altLang="zh-TW" dirty="0" err="1"/>
              <a:t>Bruijn</a:t>
            </a:r>
            <a:r>
              <a:rPr lang="en-US" altLang="zh-TW" dirty="0"/>
              <a:t> graph, avoiding the overlap-based methods used previously because of the computational cost and complexity of these with very large numbers of short reads. Here, we show how to use suffix array-based methods that have formed the basis of recent very fast sequence mapping algorithms to find overlaps and generate assembly string graphs asymptotically faster than previously described algorithms.</a:t>
            </a:r>
            <a:endParaRPr lang="zh-TW" altLang="en-US" dirty="0"/>
          </a:p>
        </p:txBody>
      </p:sp>
    </p:spTree>
    <p:extLst>
      <p:ext uri="{BB962C8B-B14F-4D97-AF65-F5344CB8AC3E}">
        <p14:creationId xmlns:p14="http://schemas.microsoft.com/office/powerpoint/2010/main" val="2726883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81FADCC-098F-42B3-A516-7A8E8C1A4646}"/>
              </a:ext>
            </a:extLst>
          </p:cNvPr>
          <p:cNvSpPr>
            <a:spLocks noGrp="1"/>
          </p:cNvSpPr>
          <p:nvPr>
            <p:ph type="title"/>
          </p:nvPr>
        </p:nvSpPr>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xmlns="" id="{7DB8E5E2-9D37-4095-8A46-00A68D1D282E}"/>
              </a:ext>
            </a:extLst>
          </p:cNvPr>
          <p:cNvSpPr>
            <a:spLocks noGrp="1"/>
          </p:cNvSpPr>
          <p:nvPr>
            <p:ph idx="1"/>
          </p:nvPr>
        </p:nvSpPr>
        <p:spPr>
          <a:xfrm>
            <a:off x="628650" y="1825625"/>
            <a:ext cx="7886700" cy="4351338"/>
          </a:xfrm>
        </p:spPr>
        <p:txBody>
          <a:bodyPr>
            <a:normAutofit fontScale="85000" lnSpcReduction="20000"/>
          </a:bodyPr>
          <a:lstStyle/>
          <a:p>
            <a:pPr marL="0" indent="0">
              <a:buNone/>
            </a:pPr>
            <a:r>
              <a:rPr lang="en-US" altLang="zh-TW" dirty="0"/>
              <a:t>Results: Standard overlap assembly methods have time complexity O(N2), where N is the sum of the lengths of the reads. We use the </a:t>
            </a:r>
            <a:r>
              <a:rPr lang="en-US" altLang="zh-TW" dirty="0" err="1"/>
              <a:t>Ferragina</a:t>
            </a:r>
            <a:r>
              <a:rPr lang="en-US" altLang="zh-TW" dirty="0"/>
              <a:t>–Manzini index (FM-index) derived from the Burrows– Wheeler transform to find overlaps of length at least τ among a set of reads. As well as an approach that finds all overlaps then implements transitive reduction to produce a string graph, we show how to output directly only the irreducible overlaps, significantly shrinking memory requirements and reducing compute time to O(N), independent of depth. Overlap-based assembly methods naturally handle mixed length read sets, including capillary reads or long reads promised by the third generation sequencing technologies. The algorithms we present here pave the way for overlap-based assembly approaches to be developed that scale to whole vertebrate genome de novo assembly.</a:t>
            </a:r>
            <a:endParaRPr lang="zh-TW" altLang="en-US" dirty="0"/>
          </a:p>
        </p:txBody>
      </p:sp>
    </p:spTree>
    <p:extLst>
      <p:ext uri="{BB962C8B-B14F-4D97-AF65-F5344CB8AC3E}">
        <p14:creationId xmlns:p14="http://schemas.microsoft.com/office/powerpoint/2010/main" val="3985414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A89FDF2-77A9-44DE-ADA0-6890F8B9B51D}"/>
              </a:ext>
            </a:extLst>
          </p:cNvPr>
          <p:cNvSpPr>
            <a:spLocks noGrp="1"/>
          </p:cNvSpPr>
          <p:nvPr>
            <p:ph type="title"/>
          </p:nvPr>
        </p:nvSpPr>
        <p:spPr/>
        <p:txBody>
          <a:bodyPr/>
          <a:lstStyle/>
          <a:p>
            <a:r>
              <a:rPr lang="en-US" altLang="zh-TW" dirty="0"/>
              <a:t>Suffix array</a:t>
            </a:r>
            <a:endParaRPr lang="zh-TW" altLang="en-US" dirty="0"/>
          </a:p>
        </p:txBody>
      </p:sp>
      <p:sp>
        <p:nvSpPr>
          <p:cNvPr id="3" name="內容版面配置區 2">
            <a:extLst>
              <a:ext uri="{FF2B5EF4-FFF2-40B4-BE49-F238E27FC236}">
                <a16:creationId xmlns:a16="http://schemas.microsoft.com/office/drawing/2014/main" xmlns="" id="{5A9EF990-D0FA-4C90-9D12-000CB15FCEAA}"/>
              </a:ext>
            </a:extLst>
          </p:cNvPr>
          <p:cNvSpPr>
            <a:spLocks noGrp="1"/>
          </p:cNvSpPr>
          <p:nvPr>
            <p:ph idx="1"/>
          </p:nvPr>
        </p:nvSpPr>
        <p:spPr>
          <a:xfrm>
            <a:off x="628650" y="1825625"/>
            <a:ext cx="7886700" cy="4351338"/>
          </a:xfrm>
        </p:spPr>
        <p:txBody>
          <a:bodyPr>
            <a:normAutofit/>
          </a:bodyPr>
          <a:lstStyle/>
          <a:p>
            <a:pPr marL="0" indent="0">
              <a:buNone/>
            </a:pPr>
            <a:r>
              <a:rPr lang="en-US" altLang="zh-TW" sz="2400" dirty="0"/>
              <a:t>X =AAGTA$</a:t>
            </a:r>
          </a:p>
          <a:p>
            <a:pPr marL="0" indent="0">
              <a:buNone/>
            </a:pPr>
            <a:r>
              <a:rPr lang="en-US" altLang="zh-TW" sz="2400" dirty="0"/>
              <a:t>SA</a:t>
            </a:r>
            <a:r>
              <a:rPr lang="en-US" altLang="zh-TW" sz="2400" baseline="-25000" dirty="0"/>
              <a:t>X</a:t>
            </a:r>
            <a:r>
              <a:rPr lang="en-US" altLang="zh-TW" sz="2400" dirty="0"/>
              <a:t> = [6,5,1,2,3,4]</a:t>
            </a:r>
          </a:p>
          <a:p>
            <a:pPr marL="0" indent="0">
              <a:buNone/>
            </a:pPr>
            <a:endParaRPr lang="en-US" altLang="zh-TW" sz="2400" dirty="0"/>
          </a:p>
          <a:p>
            <a:pPr marL="0" indent="0">
              <a:buNone/>
            </a:pPr>
            <a:r>
              <a:rPr lang="en-US" altLang="zh-TW" sz="2400" dirty="0"/>
              <a:t>AAGTA$</a:t>
            </a:r>
          </a:p>
          <a:p>
            <a:pPr marL="0" indent="0">
              <a:buNone/>
            </a:pPr>
            <a:r>
              <a:rPr lang="en-US" altLang="zh-TW" sz="2400" dirty="0"/>
              <a:t>AGTA$</a:t>
            </a:r>
          </a:p>
          <a:p>
            <a:pPr marL="0" indent="0">
              <a:buNone/>
            </a:pPr>
            <a:r>
              <a:rPr lang="en-US" altLang="zh-TW" sz="2400" dirty="0"/>
              <a:t>GTA$   =</a:t>
            </a:r>
          </a:p>
          <a:p>
            <a:pPr marL="0" indent="0">
              <a:buNone/>
            </a:pPr>
            <a:r>
              <a:rPr lang="en-US" altLang="zh-TW" sz="2400" dirty="0"/>
              <a:t>TA$</a:t>
            </a:r>
          </a:p>
          <a:p>
            <a:pPr marL="0" indent="0">
              <a:buNone/>
            </a:pPr>
            <a:r>
              <a:rPr lang="en-US" altLang="zh-TW" sz="2400" dirty="0"/>
              <a:t>A$</a:t>
            </a:r>
          </a:p>
          <a:p>
            <a:pPr marL="0" indent="0">
              <a:buNone/>
            </a:pPr>
            <a:r>
              <a:rPr lang="en-US" altLang="zh-TW" sz="2400" dirty="0"/>
              <a:t>$</a:t>
            </a:r>
          </a:p>
        </p:txBody>
      </p:sp>
      <p:sp>
        <p:nvSpPr>
          <p:cNvPr id="4" name="文字方塊 3">
            <a:extLst>
              <a:ext uri="{FF2B5EF4-FFF2-40B4-BE49-F238E27FC236}">
                <a16:creationId xmlns:a16="http://schemas.microsoft.com/office/drawing/2014/main" xmlns="" id="{8EE1362C-5F79-4448-A0AD-7CE12C1F4419}"/>
              </a:ext>
            </a:extLst>
          </p:cNvPr>
          <p:cNvSpPr txBox="1"/>
          <p:nvPr/>
        </p:nvSpPr>
        <p:spPr>
          <a:xfrm>
            <a:off x="3487479" y="3429000"/>
            <a:ext cx="184731" cy="369332"/>
          </a:xfrm>
          <a:prstGeom prst="rect">
            <a:avLst/>
          </a:prstGeom>
          <a:noFill/>
        </p:spPr>
        <p:txBody>
          <a:bodyPr wrap="none" rtlCol="0">
            <a:spAutoFit/>
          </a:bodyPr>
          <a:lstStyle/>
          <a:p>
            <a:endParaRPr lang="zh-TW" altLang="en-US" dirty="0"/>
          </a:p>
        </p:txBody>
      </p:sp>
      <p:sp>
        <p:nvSpPr>
          <p:cNvPr id="5" name="文字方塊 4">
            <a:extLst>
              <a:ext uri="{FF2B5EF4-FFF2-40B4-BE49-F238E27FC236}">
                <a16:creationId xmlns:a16="http://schemas.microsoft.com/office/drawing/2014/main" xmlns="" id="{4898DE1C-094A-44A8-A74D-070A31C26052}"/>
              </a:ext>
            </a:extLst>
          </p:cNvPr>
          <p:cNvSpPr txBox="1"/>
          <p:nvPr/>
        </p:nvSpPr>
        <p:spPr>
          <a:xfrm>
            <a:off x="2456121" y="3242930"/>
            <a:ext cx="1620444" cy="2862322"/>
          </a:xfrm>
          <a:prstGeom prst="rect">
            <a:avLst/>
          </a:prstGeom>
          <a:noFill/>
        </p:spPr>
        <p:txBody>
          <a:bodyPr wrap="none" rtlCol="0">
            <a:spAutoFit/>
          </a:bodyPr>
          <a:lstStyle/>
          <a:p>
            <a:r>
              <a:rPr lang="en-US" altLang="zh-TW" sz="2400" dirty="0"/>
              <a:t>$</a:t>
            </a:r>
          </a:p>
          <a:p>
            <a:r>
              <a:rPr lang="en-US" altLang="zh-TW" sz="2400" dirty="0"/>
              <a:t>A$</a:t>
            </a:r>
          </a:p>
          <a:p>
            <a:r>
              <a:rPr lang="en-US" altLang="zh-TW" sz="2400" dirty="0"/>
              <a:t>AAGTA$    =</a:t>
            </a:r>
          </a:p>
          <a:p>
            <a:r>
              <a:rPr lang="en-US" altLang="zh-TW" sz="2400" dirty="0"/>
              <a:t>AGTA$</a:t>
            </a:r>
          </a:p>
          <a:p>
            <a:r>
              <a:rPr lang="en-US" altLang="zh-TW" sz="2400" dirty="0"/>
              <a:t>GTA$</a:t>
            </a:r>
          </a:p>
          <a:p>
            <a:r>
              <a:rPr lang="en-US" altLang="zh-TW" sz="2400" dirty="0"/>
              <a:t>TA$</a:t>
            </a:r>
          </a:p>
          <a:p>
            <a:endParaRPr lang="en-US" altLang="zh-TW" dirty="0"/>
          </a:p>
          <a:p>
            <a:endParaRPr lang="zh-TW" altLang="en-US" dirty="0"/>
          </a:p>
        </p:txBody>
      </p:sp>
      <p:sp>
        <p:nvSpPr>
          <p:cNvPr id="6" name="文字方塊 5">
            <a:extLst>
              <a:ext uri="{FF2B5EF4-FFF2-40B4-BE49-F238E27FC236}">
                <a16:creationId xmlns:a16="http://schemas.microsoft.com/office/drawing/2014/main" xmlns="" id="{C1FE85DD-F033-4C75-812C-25D5930A52C9}"/>
              </a:ext>
            </a:extLst>
          </p:cNvPr>
          <p:cNvSpPr txBox="1"/>
          <p:nvPr/>
        </p:nvSpPr>
        <p:spPr>
          <a:xfrm>
            <a:off x="4400543" y="3242930"/>
            <a:ext cx="922047" cy="2308324"/>
          </a:xfrm>
          <a:prstGeom prst="rect">
            <a:avLst/>
          </a:prstGeom>
          <a:noFill/>
        </p:spPr>
        <p:txBody>
          <a:bodyPr wrap="none" rtlCol="0">
            <a:spAutoFit/>
          </a:bodyPr>
          <a:lstStyle/>
          <a:p>
            <a:r>
              <a:rPr lang="en-US" altLang="zh-TW" sz="2400" dirty="0"/>
              <a:t>X[6,6]</a:t>
            </a:r>
          </a:p>
          <a:p>
            <a:r>
              <a:rPr lang="en-US" altLang="zh-TW" sz="2400" dirty="0"/>
              <a:t>X[5,6]</a:t>
            </a:r>
          </a:p>
          <a:p>
            <a:r>
              <a:rPr lang="en-US" altLang="zh-TW" sz="2400" dirty="0"/>
              <a:t>X[1,6]</a:t>
            </a:r>
          </a:p>
          <a:p>
            <a:r>
              <a:rPr lang="en-US" altLang="zh-TW" sz="2400" dirty="0"/>
              <a:t>X[2,6]</a:t>
            </a:r>
          </a:p>
          <a:p>
            <a:r>
              <a:rPr lang="en-US" altLang="zh-TW" sz="2400" dirty="0"/>
              <a:t>X[3,6]</a:t>
            </a:r>
          </a:p>
          <a:p>
            <a:r>
              <a:rPr lang="en-US" altLang="zh-TW" sz="2400" dirty="0"/>
              <a:t>X[4,6]</a:t>
            </a:r>
            <a:endParaRPr lang="zh-TW" altLang="en-US" sz="2400" dirty="0"/>
          </a:p>
        </p:txBody>
      </p:sp>
    </p:spTree>
    <p:extLst>
      <p:ext uri="{BB962C8B-B14F-4D97-AF65-F5344CB8AC3E}">
        <p14:creationId xmlns:p14="http://schemas.microsoft.com/office/powerpoint/2010/main" val="3793489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A89FDF2-77A9-44DE-ADA0-6890F8B9B51D}"/>
              </a:ext>
            </a:extLst>
          </p:cNvPr>
          <p:cNvSpPr>
            <a:spLocks noGrp="1"/>
          </p:cNvSpPr>
          <p:nvPr>
            <p:ph type="title"/>
          </p:nvPr>
        </p:nvSpPr>
        <p:spPr/>
        <p:txBody>
          <a:bodyPr/>
          <a:lstStyle/>
          <a:p>
            <a:r>
              <a:rPr lang="en-US" altLang="zh-TW" dirty="0"/>
              <a:t>BTW</a:t>
            </a:r>
            <a:endParaRPr lang="zh-TW" altLang="en-US" dirty="0"/>
          </a:p>
        </p:txBody>
      </p:sp>
      <p:sp>
        <p:nvSpPr>
          <p:cNvPr id="3" name="內容版面配置區 2">
            <a:extLst>
              <a:ext uri="{FF2B5EF4-FFF2-40B4-BE49-F238E27FC236}">
                <a16:creationId xmlns:a16="http://schemas.microsoft.com/office/drawing/2014/main" xmlns="" id="{5A9EF990-D0FA-4C90-9D12-000CB15FCEAA}"/>
              </a:ext>
            </a:extLst>
          </p:cNvPr>
          <p:cNvSpPr>
            <a:spLocks noGrp="1"/>
          </p:cNvSpPr>
          <p:nvPr>
            <p:ph idx="1"/>
          </p:nvPr>
        </p:nvSpPr>
        <p:spPr>
          <a:xfrm>
            <a:off x="628650" y="1825625"/>
            <a:ext cx="7886700" cy="4351338"/>
          </a:xfrm>
        </p:spPr>
        <p:txBody>
          <a:bodyPr>
            <a:normAutofit lnSpcReduction="10000"/>
          </a:bodyPr>
          <a:lstStyle/>
          <a:p>
            <a:pPr marL="0" indent="0">
              <a:buNone/>
            </a:pPr>
            <a:r>
              <a:rPr lang="en-US" altLang="zh-TW" sz="2400" dirty="0"/>
              <a:t>X =AAGTA$</a:t>
            </a:r>
          </a:p>
          <a:p>
            <a:pPr marL="0" indent="0">
              <a:buNone/>
            </a:pPr>
            <a:r>
              <a:rPr lang="en-US" altLang="zh-TW" sz="2400" dirty="0"/>
              <a:t>SA</a:t>
            </a:r>
            <a:r>
              <a:rPr lang="en-US" altLang="zh-TW" sz="2400" baseline="-25000" dirty="0"/>
              <a:t>X</a:t>
            </a:r>
            <a:r>
              <a:rPr lang="en-US" altLang="zh-TW" sz="2400" dirty="0"/>
              <a:t> = [6,5,1,2,3,4]</a:t>
            </a:r>
          </a:p>
          <a:p>
            <a:pPr marL="0" indent="0">
              <a:buNone/>
            </a:pPr>
            <a:endParaRPr lang="en-US" altLang="zh-TW" sz="2400" dirty="0"/>
          </a:p>
          <a:p>
            <a:pPr marL="0" indent="0">
              <a:buNone/>
            </a:pPr>
            <a:endParaRPr lang="en-US" altLang="zh-TW" sz="2400" dirty="0"/>
          </a:p>
          <a:p>
            <a:pPr marL="0" indent="0">
              <a:buNone/>
            </a:pPr>
            <a:r>
              <a:rPr lang="en-US" altLang="zh-TW" sz="2400" dirty="0"/>
              <a:t>AAGTA$</a:t>
            </a:r>
          </a:p>
          <a:p>
            <a:pPr marL="0" indent="0">
              <a:buNone/>
            </a:pPr>
            <a:r>
              <a:rPr lang="en-US" altLang="zh-TW" sz="2400" dirty="0"/>
              <a:t>AGTA$A</a:t>
            </a:r>
          </a:p>
          <a:p>
            <a:pPr marL="0" indent="0">
              <a:buNone/>
            </a:pPr>
            <a:r>
              <a:rPr lang="en-US" altLang="zh-TW" sz="2400" dirty="0"/>
              <a:t>GTA$AA   =</a:t>
            </a:r>
          </a:p>
          <a:p>
            <a:pPr marL="0" indent="0">
              <a:buNone/>
            </a:pPr>
            <a:r>
              <a:rPr lang="en-US" altLang="zh-TW" sz="2400" dirty="0"/>
              <a:t>TA$AAG</a:t>
            </a:r>
          </a:p>
          <a:p>
            <a:pPr marL="0" indent="0">
              <a:buNone/>
            </a:pPr>
            <a:r>
              <a:rPr lang="en-US" altLang="zh-TW" sz="2400" dirty="0"/>
              <a:t>A$AAGT</a:t>
            </a:r>
          </a:p>
          <a:p>
            <a:pPr marL="0" indent="0">
              <a:buNone/>
            </a:pPr>
            <a:r>
              <a:rPr lang="en-US" altLang="zh-TW" sz="2400" dirty="0"/>
              <a:t>$AAGTA</a:t>
            </a:r>
          </a:p>
        </p:txBody>
      </p:sp>
      <p:sp>
        <p:nvSpPr>
          <p:cNvPr id="4" name="文字方塊 3">
            <a:extLst>
              <a:ext uri="{FF2B5EF4-FFF2-40B4-BE49-F238E27FC236}">
                <a16:creationId xmlns:a16="http://schemas.microsoft.com/office/drawing/2014/main" xmlns="" id="{8EE1362C-5F79-4448-A0AD-7CE12C1F4419}"/>
              </a:ext>
            </a:extLst>
          </p:cNvPr>
          <p:cNvSpPr txBox="1"/>
          <p:nvPr/>
        </p:nvSpPr>
        <p:spPr>
          <a:xfrm>
            <a:off x="3487479" y="3429000"/>
            <a:ext cx="184731" cy="369332"/>
          </a:xfrm>
          <a:prstGeom prst="rect">
            <a:avLst/>
          </a:prstGeom>
          <a:noFill/>
        </p:spPr>
        <p:txBody>
          <a:bodyPr wrap="none" rtlCol="0">
            <a:spAutoFit/>
          </a:bodyPr>
          <a:lstStyle/>
          <a:p>
            <a:endParaRPr lang="zh-TW" altLang="en-US" dirty="0"/>
          </a:p>
        </p:txBody>
      </p:sp>
      <p:sp>
        <p:nvSpPr>
          <p:cNvPr id="5" name="文字方塊 4">
            <a:extLst>
              <a:ext uri="{FF2B5EF4-FFF2-40B4-BE49-F238E27FC236}">
                <a16:creationId xmlns:a16="http://schemas.microsoft.com/office/drawing/2014/main" xmlns="" id="{4898DE1C-094A-44A8-A74D-070A31C26052}"/>
              </a:ext>
            </a:extLst>
          </p:cNvPr>
          <p:cNvSpPr txBox="1"/>
          <p:nvPr/>
        </p:nvSpPr>
        <p:spPr>
          <a:xfrm>
            <a:off x="2415933" y="3535222"/>
            <a:ext cx="1620444" cy="2862322"/>
          </a:xfrm>
          <a:prstGeom prst="rect">
            <a:avLst/>
          </a:prstGeom>
          <a:noFill/>
        </p:spPr>
        <p:txBody>
          <a:bodyPr wrap="none" rtlCol="0">
            <a:spAutoFit/>
          </a:bodyPr>
          <a:lstStyle/>
          <a:p>
            <a:r>
              <a:rPr lang="en-US" altLang="zh-TW" sz="2400" dirty="0"/>
              <a:t>$</a:t>
            </a:r>
          </a:p>
          <a:p>
            <a:r>
              <a:rPr lang="en-US" altLang="zh-TW" sz="2400" dirty="0"/>
              <a:t>A$</a:t>
            </a:r>
          </a:p>
          <a:p>
            <a:r>
              <a:rPr lang="en-US" altLang="zh-TW" sz="2400" dirty="0"/>
              <a:t>AAGTA$    =</a:t>
            </a:r>
          </a:p>
          <a:p>
            <a:r>
              <a:rPr lang="en-US" altLang="zh-TW" sz="2400" dirty="0"/>
              <a:t>AGTA$</a:t>
            </a:r>
          </a:p>
          <a:p>
            <a:r>
              <a:rPr lang="en-US" altLang="zh-TW" sz="2400" dirty="0"/>
              <a:t>GTA$</a:t>
            </a:r>
          </a:p>
          <a:p>
            <a:r>
              <a:rPr lang="en-US" altLang="zh-TW" sz="2400" dirty="0"/>
              <a:t>TA$</a:t>
            </a:r>
          </a:p>
          <a:p>
            <a:endParaRPr lang="en-US" altLang="zh-TW" dirty="0"/>
          </a:p>
          <a:p>
            <a:endParaRPr lang="zh-TW" altLang="en-US" dirty="0"/>
          </a:p>
        </p:txBody>
      </p:sp>
      <p:sp>
        <p:nvSpPr>
          <p:cNvPr id="6" name="文字方塊 5">
            <a:extLst>
              <a:ext uri="{FF2B5EF4-FFF2-40B4-BE49-F238E27FC236}">
                <a16:creationId xmlns:a16="http://schemas.microsoft.com/office/drawing/2014/main" xmlns="" id="{C1FE85DD-F033-4C75-812C-25D5930A52C9}"/>
              </a:ext>
            </a:extLst>
          </p:cNvPr>
          <p:cNvSpPr txBox="1"/>
          <p:nvPr/>
        </p:nvSpPr>
        <p:spPr>
          <a:xfrm>
            <a:off x="3982355" y="3165890"/>
            <a:ext cx="922047" cy="2677656"/>
          </a:xfrm>
          <a:prstGeom prst="rect">
            <a:avLst/>
          </a:prstGeom>
          <a:noFill/>
        </p:spPr>
        <p:txBody>
          <a:bodyPr wrap="none" rtlCol="0">
            <a:spAutoFit/>
          </a:bodyPr>
          <a:lstStyle/>
          <a:p>
            <a:r>
              <a:rPr lang="en-US" altLang="zh-TW" sz="2400" dirty="0"/>
              <a:t>SA</a:t>
            </a:r>
            <a:r>
              <a:rPr lang="en-US" altLang="zh-TW" sz="2400" baseline="-25000" dirty="0"/>
              <a:t>X</a:t>
            </a:r>
          </a:p>
          <a:p>
            <a:r>
              <a:rPr lang="en-US" altLang="zh-TW" sz="2400" dirty="0"/>
              <a:t>X[6,6]</a:t>
            </a:r>
          </a:p>
          <a:p>
            <a:r>
              <a:rPr lang="en-US" altLang="zh-TW" sz="2400" dirty="0"/>
              <a:t>X[5,6]</a:t>
            </a:r>
          </a:p>
          <a:p>
            <a:r>
              <a:rPr lang="en-US" altLang="zh-TW" sz="2400" dirty="0"/>
              <a:t>X[1,6]</a:t>
            </a:r>
          </a:p>
          <a:p>
            <a:r>
              <a:rPr lang="en-US" altLang="zh-TW" sz="2400" dirty="0"/>
              <a:t>X[2,6]</a:t>
            </a:r>
          </a:p>
          <a:p>
            <a:r>
              <a:rPr lang="en-US" altLang="zh-TW" sz="2400" dirty="0"/>
              <a:t>X[3,6]</a:t>
            </a:r>
          </a:p>
          <a:p>
            <a:r>
              <a:rPr lang="en-US" altLang="zh-TW" sz="2400" dirty="0"/>
              <a:t>X[4,6]</a:t>
            </a:r>
            <a:endParaRPr lang="zh-TW" altLang="en-US" sz="2400" dirty="0"/>
          </a:p>
        </p:txBody>
      </p:sp>
      <p:sp>
        <p:nvSpPr>
          <p:cNvPr id="7" name="文字方塊 6">
            <a:extLst>
              <a:ext uri="{FF2B5EF4-FFF2-40B4-BE49-F238E27FC236}">
                <a16:creationId xmlns:a16="http://schemas.microsoft.com/office/drawing/2014/main" xmlns="" id="{CD0FC04B-5F4A-454F-850D-D31B27E9099E}"/>
              </a:ext>
            </a:extLst>
          </p:cNvPr>
          <p:cNvSpPr txBox="1"/>
          <p:nvPr/>
        </p:nvSpPr>
        <p:spPr>
          <a:xfrm>
            <a:off x="7931889" y="3613666"/>
            <a:ext cx="378630" cy="2308324"/>
          </a:xfrm>
          <a:prstGeom prst="rect">
            <a:avLst/>
          </a:prstGeom>
          <a:noFill/>
        </p:spPr>
        <p:txBody>
          <a:bodyPr wrap="none" rtlCol="0">
            <a:spAutoFit/>
          </a:bodyPr>
          <a:lstStyle/>
          <a:p>
            <a:r>
              <a:rPr lang="en-US" altLang="zh-TW" sz="2400" dirty="0"/>
              <a:t>A</a:t>
            </a:r>
          </a:p>
          <a:p>
            <a:r>
              <a:rPr lang="en-US" altLang="zh-TW" sz="2400" dirty="0"/>
              <a:t>T</a:t>
            </a:r>
          </a:p>
          <a:p>
            <a:r>
              <a:rPr lang="en-US" altLang="zh-TW" sz="2400" dirty="0"/>
              <a:t>$</a:t>
            </a:r>
          </a:p>
          <a:p>
            <a:r>
              <a:rPr lang="en-US" altLang="zh-TW" sz="2400" dirty="0"/>
              <a:t>A</a:t>
            </a:r>
          </a:p>
          <a:p>
            <a:r>
              <a:rPr lang="en-US" altLang="zh-TW" sz="2400" dirty="0"/>
              <a:t>A</a:t>
            </a:r>
          </a:p>
          <a:p>
            <a:r>
              <a:rPr lang="en-US" altLang="zh-TW" sz="2400" dirty="0"/>
              <a:t>G</a:t>
            </a:r>
            <a:endParaRPr lang="zh-TW" altLang="en-US" sz="2400" dirty="0"/>
          </a:p>
        </p:txBody>
      </p:sp>
      <p:sp>
        <p:nvSpPr>
          <p:cNvPr id="8" name="文字方塊 7">
            <a:extLst>
              <a:ext uri="{FF2B5EF4-FFF2-40B4-BE49-F238E27FC236}">
                <a16:creationId xmlns:a16="http://schemas.microsoft.com/office/drawing/2014/main" xmlns="" id="{8F02B96F-E6F4-43CF-81A8-671FCC5687AB}"/>
              </a:ext>
            </a:extLst>
          </p:cNvPr>
          <p:cNvSpPr txBox="1"/>
          <p:nvPr/>
        </p:nvSpPr>
        <p:spPr>
          <a:xfrm>
            <a:off x="5823660" y="3613666"/>
            <a:ext cx="378630" cy="2308324"/>
          </a:xfrm>
          <a:prstGeom prst="rect">
            <a:avLst/>
          </a:prstGeom>
          <a:noFill/>
        </p:spPr>
        <p:txBody>
          <a:bodyPr wrap="none" rtlCol="0">
            <a:spAutoFit/>
          </a:bodyPr>
          <a:lstStyle/>
          <a:p>
            <a:r>
              <a:rPr lang="en-US" altLang="zh-TW" sz="2400" dirty="0"/>
              <a:t>$</a:t>
            </a:r>
          </a:p>
          <a:p>
            <a:r>
              <a:rPr lang="en-US" altLang="zh-TW" sz="2400" dirty="0"/>
              <a:t>A</a:t>
            </a:r>
          </a:p>
          <a:p>
            <a:r>
              <a:rPr lang="en-US" altLang="zh-TW" sz="2400" dirty="0"/>
              <a:t>A</a:t>
            </a:r>
          </a:p>
          <a:p>
            <a:r>
              <a:rPr lang="en-US" altLang="zh-TW" sz="2400" dirty="0"/>
              <a:t>A</a:t>
            </a:r>
          </a:p>
          <a:p>
            <a:r>
              <a:rPr lang="en-US" altLang="zh-TW" sz="2400" dirty="0"/>
              <a:t>G</a:t>
            </a:r>
          </a:p>
          <a:p>
            <a:r>
              <a:rPr lang="en-US" altLang="zh-TW" sz="2400" dirty="0"/>
              <a:t>T</a:t>
            </a:r>
          </a:p>
        </p:txBody>
      </p:sp>
      <p:sp>
        <p:nvSpPr>
          <p:cNvPr id="21" name="箭號: 迴轉箭號 20">
            <a:extLst>
              <a:ext uri="{FF2B5EF4-FFF2-40B4-BE49-F238E27FC236}">
                <a16:creationId xmlns:a16="http://schemas.microsoft.com/office/drawing/2014/main" xmlns="" id="{8E8043BC-946A-401E-BE88-7ADF99CDEDB1}"/>
              </a:ext>
            </a:extLst>
          </p:cNvPr>
          <p:cNvSpPr/>
          <p:nvPr/>
        </p:nvSpPr>
        <p:spPr>
          <a:xfrm>
            <a:off x="2538516" y="3165890"/>
            <a:ext cx="3543307" cy="369332"/>
          </a:xfrm>
          <a:prstGeom prst="utur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cxnSp>
        <p:nvCxnSpPr>
          <p:cNvPr id="23" name="直線單箭頭接點 22">
            <a:extLst>
              <a:ext uri="{FF2B5EF4-FFF2-40B4-BE49-F238E27FC236}">
                <a16:creationId xmlns:a16="http://schemas.microsoft.com/office/drawing/2014/main" xmlns="" id="{CAF77B50-87AB-47D0-813F-E26F29687652}"/>
              </a:ext>
            </a:extLst>
          </p:cNvPr>
          <p:cNvCxnSpPr>
            <a:cxnSpLocks/>
          </p:cNvCxnSpPr>
          <p:nvPr/>
        </p:nvCxnSpPr>
        <p:spPr>
          <a:xfrm flipH="1">
            <a:off x="6202291" y="3868309"/>
            <a:ext cx="1586907" cy="3315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xmlns="" id="{80112EE4-93CA-478D-977D-4CE2529035C0}"/>
              </a:ext>
            </a:extLst>
          </p:cNvPr>
          <p:cNvCxnSpPr>
            <a:cxnSpLocks/>
          </p:cNvCxnSpPr>
          <p:nvPr/>
        </p:nvCxnSpPr>
        <p:spPr>
          <a:xfrm>
            <a:off x="6230225" y="4286075"/>
            <a:ext cx="1558973" cy="33678"/>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a:extLst>
              <a:ext uri="{FF2B5EF4-FFF2-40B4-BE49-F238E27FC236}">
                <a16:creationId xmlns:a16="http://schemas.microsoft.com/office/drawing/2014/main" xmlns="" id="{06B5F824-58A7-49F2-BCAC-AA570249848B}"/>
              </a:ext>
            </a:extLst>
          </p:cNvPr>
          <p:cNvCxnSpPr>
            <a:cxnSpLocks/>
          </p:cNvCxnSpPr>
          <p:nvPr/>
        </p:nvCxnSpPr>
        <p:spPr>
          <a:xfrm flipH="1">
            <a:off x="6230225" y="4334796"/>
            <a:ext cx="1558973" cy="13323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30">
            <a:extLst>
              <a:ext uri="{FF2B5EF4-FFF2-40B4-BE49-F238E27FC236}">
                <a16:creationId xmlns:a16="http://schemas.microsoft.com/office/drawing/2014/main" xmlns="" id="{048BF490-316B-43A5-B790-96E7A9E9D50E}"/>
              </a:ext>
            </a:extLst>
          </p:cNvPr>
          <p:cNvCxnSpPr>
            <a:cxnSpLocks/>
          </p:cNvCxnSpPr>
          <p:nvPr/>
        </p:nvCxnSpPr>
        <p:spPr>
          <a:xfrm flipV="1">
            <a:off x="6250002" y="5667153"/>
            <a:ext cx="1579906" cy="14658"/>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a:extLst>
              <a:ext uri="{FF2B5EF4-FFF2-40B4-BE49-F238E27FC236}">
                <a16:creationId xmlns:a16="http://schemas.microsoft.com/office/drawing/2014/main" xmlns="" id="{5E1867B8-2A20-4BCE-8F11-2998BB1549CC}"/>
              </a:ext>
            </a:extLst>
          </p:cNvPr>
          <p:cNvCxnSpPr>
            <a:cxnSpLocks/>
          </p:cNvCxnSpPr>
          <p:nvPr/>
        </p:nvCxnSpPr>
        <p:spPr>
          <a:xfrm flipH="1" flipV="1">
            <a:off x="6151300" y="5336014"/>
            <a:ext cx="1686650" cy="297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a:extLst>
              <a:ext uri="{FF2B5EF4-FFF2-40B4-BE49-F238E27FC236}">
                <a16:creationId xmlns:a16="http://schemas.microsoft.com/office/drawing/2014/main" xmlns="" id="{9AFC4CE3-CF29-45F8-9F4C-4568F4ED1FB4}"/>
              </a:ext>
            </a:extLst>
          </p:cNvPr>
          <p:cNvCxnSpPr>
            <a:cxnSpLocks/>
          </p:cNvCxnSpPr>
          <p:nvPr/>
        </p:nvCxnSpPr>
        <p:spPr>
          <a:xfrm>
            <a:off x="6252710" y="5331434"/>
            <a:ext cx="1577198"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a:extLst>
              <a:ext uri="{FF2B5EF4-FFF2-40B4-BE49-F238E27FC236}">
                <a16:creationId xmlns:a16="http://schemas.microsoft.com/office/drawing/2014/main" xmlns="" id="{1E8851EE-0F84-41DC-9C89-C0FA02C27324}"/>
              </a:ext>
            </a:extLst>
          </p:cNvPr>
          <p:cNvCxnSpPr>
            <a:cxnSpLocks/>
          </p:cNvCxnSpPr>
          <p:nvPr/>
        </p:nvCxnSpPr>
        <p:spPr>
          <a:xfrm flipH="1" flipV="1">
            <a:off x="6202291" y="4966383"/>
            <a:ext cx="1586907" cy="350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a:extLst>
              <a:ext uri="{FF2B5EF4-FFF2-40B4-BE49-F238E27FC236}">
                <a16:creationId xmlns:a16="http://schemas.microsoft.com/office/drawing/2014/main" xmlns="" id="{13D83C52-414E-422D-8B18-4DB0B1C49A3B}"/>
              </a:ext>
            </a:extLst>
          </p:cNvPr>
          <p:cNvCxnSpPr>
            <a:cxnSpLocks/>
          </p:cNvCxnSpPr>
          <p:nvPr/>
        </p:nvCxnSpPr>
        <p:spPr>
          <a:xfrm flipV="1">
            <a:off x="6202290" y="4947145"/>
            <a:ext cx="1614842" cy="26101"/>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a:extLst>
              <a:ext uri="{FF2B5EF4-FFF2-40B4-BE49-F238E27FC236}">
                <a16:creationId xmlns:a16="http://schemas.microsoft.com/office/drawing/2014/main" xmlns="" id="{709BC38D-7D89-417D-A7D9-2C7BE54FE884}"/>
              </a:ext>
            </a:extLst>
          </p:cNvPr>
          <p:cNvCxnSpPr>
            <a:cxnSpLocks/>
          </p:cNvCxnSpPr>
          <p:nvPr/>
        </p:nvCxnSpPr>
        <p:spPr>
          <a:xfrm flipH="1" flipV="1">
            <a:off x="6176510" y="4588743"/>
            <a:ext cx="1612688" cy="3391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xmlns="" id="{874FD6EF-9CEF-4B77-B4FA-D7A25AF73FD9}"/>
                  </a:ext>
                </a:extLst>
              </p:cNvPr>
              <p:cNvSpPr txBox="1"/>
              <p:nvPr/>
            </p:nvSpPr>
            <p:spPr>
              <a:xfrm>
                <a:off x="3673094" y="1741756"/>
                <a:ext cx="5006831" cy="823815"/>
              </a:xfrm>
              <a:prstGeom prst="rect">
                <a:avLst/>
              </a:prstGeom>
              <a:noFill/>
            </p:spPr>
            <p:txBody>
              <a:bodyPr wrap="square" lIns="0" tIns="0" rIns="0" bIns="0" rtlCol="0">
                <a:spAutoFit/>
              </a:bodyPr>
              <a:lstStyle/>
              <a:p>
                <a:r>
                  <a:rPr lang="en-US" altLang="zh-TW" sz="2400" dirty="0"/>
                  <a:t>B</a:t>
                </a:r>
                <a:r>
                  <a:rPr lang="en-US" altLang="zh-TW" sz="2400" baseline="-25000" dirty="0"/>
                  <a:t>X</a:t>
                </a:r>
                <a:r>
                  <a:rPr lang="en-US" altLang="zh-TW" sz="2400" dirty="0"/>
                  <a:t>[i] = </a:t>
                </a:r>
                <a14:m>
                  <m:oMath xmlns:m="http://schemas.openxmlformats.org/officeDocument/2006/math">
                    <m:d>
                      <m:dPr>
                        <m:begChr m:val="{"/>
                        <m:endChr m:val=""/>
                        <m:ctrlPr>
                          <a:rPr lang="zh-TW" altLang="en-US" sz="2400" i="1" smtClean="0">
                            <a:latin typeface="Cambria Math" panose="02040503050406030204" pitchFamily="18" charset="0"/>
                          </a:rPr>
                        </m:ctrlPr>
                      </m:dPr>
                      <m:e>
                        <m:eqArr>
                          <m:eqArrPr>
                            <m:ctrlPr>
                              <a:rPr lang="en-US" altLang="zh-TW" sz="2400" b="0" i="1" smtClean="0">
                                <a:latin typeface="Cambria Math" panose="02040503050406030204" pitchFamily="18" charset="0"/>
                              </a:rPr>
                            </m:ctrlPr>
                          </m:eqArrPr>
                          <m:e>
                            <m:r>
                              <a:rPr lang="en-US" altLang="zh-TW" sz="2400" b="0" i="1" smtClean="0">
                                <a:latin typeface="Cambria Math" panose="02040503050406030204" pitchFamily="18" charset="0"/>
                              </a:rPr>
                              <m:t>𝑋</m:t>
                            </m:r>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𝑆𝐴𝑥</m:t>
                                </m:r>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e>
                                </m:d>
                                <m:r>
                                  <a:rPr lang="en-US" altLang="zh-TW" sz="2400" b="0" i="1" smtClean="0">
                                    <a:latin typeface="Cambria Math" panose="02040503050406030204" pitchFamily="18" charset="0"/>
                                  </a:rPr>
                                  <m:t>−1</m:t>
                                </m:r>
                              </m:e>
                            </m:d>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𝑖𝑓</m:t>
                            </m:r>
                            <m:r>
                              <a:rPr lang="en-US" altLang="zh-TW" sz="2400" b="0" i="1" smtClean="0">
                                <a:latin typeface="Cambria Math" panose="02040503050406030204" pitchFamily="18" charset="0"/>
                              </a:rPr>
                              <m:t> </m:t>
                            </m:r>
                            <m:r>
                              <a:rPr lang="en-US" altLang="zh-TW" sz="2400" i="1">
                                <a:latin typeface="Cambria Math" panose="02040503050406030204" pitchFamily="18" charset="0"/>
                              </a:rPr>
                              <m:t>𝑆𝐴𝑥</m:t>
                            </m:r>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e>
                            </m:d>
                            <m:r>
                              <a:rPr lang="en-US" altLang="zh-TW" sz="2400" b="0" i="1" smtClean="0">
                                <a:latin typeface="Cambria Math" panose="02040503050406030204" pitchFamily="18" charset="0"/>
                              </a:rPr>
                              <m:t>&gt;1</m:t>
                            </m:r>
                          </m:e>
                          <m:e>
                            <m:r>
                              <m:rPr>
                                <m:nor/>
                              </m:rPr>
                              <a:rPr lang="en-US" altLang="zh-TW" sz="2400" dirty="0"/>
                              <m:t>$</m:t>
                            </m:r>
                            <m:r>
                              <m:rPr>
                                <m:nor/>
                              </m:rPr>
                              <a:rPr lang="en-US" altLang="zh-TW" sz="2400" b="0" i="0" dirty="0" smtClean="0"/>
                              <m:t>               </m:t>
                            </m:r>
                            <m:r>
                              <a:rPr lang="en-US" altLang="zh-TW" sz="2400" b="0" i="1" dirty="0" smtClean="0">
                                <a:latin typeface="Cambria Math" panose="02040503050406030204" pitchFamily="18" charset="0"/>
                              </a:rPr>
                              <m:t>           </m:t>
                            </m:r>
                            <m:r>
                              <a:rPr lang="en-US" altLang="zh-TW" sz="2400" i="1">
                                <a:latin typeface="Cambria Math" panose="02040503050406030204" pitchFamily="18" charset="0"/>
                              </a:rPr>
                              <m:t>𝑖𝑓</m:t>
                            </m:r>
                            <m:r>
                              <a:rPr lang="en-US" altLang="zh-TW" sz="2400" i="1">
                                <a:latin typeface="Cambria Math" panose="02040503050406030204" pitchFamily="18" charset="0"/>
                              </a:rPr>
                              <m:t> </m:t>
                            </m:r>
                            <m:r>
                              <a:rPr lang="en-US" altLang="zh-TW" sz="2400" i="1">
                                <a:latin typeface="Cambria Math" panose="02040503050406030204" pitchFamily="18" charset="0"/>
                              </a:rPr>
                              <m:t>𝑆𝐴𝑥</m:t>
                            </m:r>
                            <m:d>
                              <m:dPr>
                                <m:begChr m:val="["/>
                                <m:endChr m:val="]"/>
                                <m:ctrlPr>
                                  <a:rPr lang="en-US" altLang="zh-TW" sz="2400" i="1">
                                    <a:latin typeface="Cambria Math" panose="02040503050406030204" pitchFamily="18" charset="0"/>
                                  </a:rPr>
                                </m:ctrlPr>
                              </m:dPr>
                              <m:e>
                                <m:r>
                                  <a:rPr lang="en-US" altLang="zh-TW" sz="2400" i="1">
                                    <a:latin typeface="Cambria Math" panose="02040503050406030204" pitchFamily="18" charset="0"/>
                                  </a:rPr>
                                  <m:t>𝑖</m:t>
                                </m:r>
                              </m:e>
                            </m:d>
                            <m:r>
                              <a:rPr lang="en-US" altLang="zh-TW" sz="2400" b="0" i="1" smtClean="0">
                                <a:latin typeface="Cambria Math" panose="02040503050406030204" pitchFamily="18" charset="0"/>
                              </a:rPr>
                              <m:t>=1</m:t>
                            </m:r>
                          </m:e>
                        </m:eqArr>
                      </m:e>
                    </m:d>
                  </m:oMath>
                </a14:m>
                <a:endParaRPr lang="zh-TW" altLang="en-US" sz="2400" dirty="0"/>
              </a:p>
            </p:txBody>
          </p:sp>
        </mc:Choice>
        <mc:Fallback xmlns="">
          <p:sp>
            <p:nvSpPr>
              <p:cNvPr id="51" name="文字方塊 50">
                <a:extLst>
                  <a:ext uri="{FF2B5EF4-FFF2-40B4-BE49-F238E27FC236}">
                    <a16:creationId xmlns:a16="http://schemas.microsoft.com/office/drawing/2014/main" id="{874FD6EF-9CEF-4B77-B4FA-D7A25AF73FD9}"/>
                  </a:ext>
                </a:extLst>
              </p:cNvPr>
              <p:cNvSpPr txBox="1">
                <a:spLocks noRot="1" noChangeAspect="1" noMove="1" noResize="1" noEditPoints="1" noAdjustHandles="1" noChangeArrowheads="1" noChangeShapeType="1" noTextEdit="1"/>
              </p:cNvSpPr>
              <p:nvPr/>
            </p:nvSpPr>
            <p:spPr>
              <a:xfrm>
                <a:off x="3673094" y="1741756"/>
                <a:ext cx="5006831" cy="823815"/>
              </a:xfrm>
              <a:prstGeom prst="rect">
                <a:avLst/>
              </a:prstGeom>
              <a:blipFill>
                <a:blip r:embed="rId2"/>
                <a:stretch>
                  <a:fillRect l="-3776"/>
                </a:stretch>
              </a:blipFill>
            </p:spPr>
            <p:txBody>
              <a:bodyPr/>
              <a:lstStyle/>
              <a:p>
                <a:r>
                  <a:rPr lang="zh-TW" altLang="en-US">
                    <a:noFill/>
                  </a:rPr>
                  <a:t> </a:t>
                </a:r>
              </a:p>
            </p:txBody>
          </p:sp>
        </mc:Fallback>
      </mc:AlternateContent>
      <p:sp>
        <p:nvSpPr>
          <p:cNvPr id="52" name="文字方塊 51">
            <a:extLst>
              <a:ext uri="{FF2B5EF4-FFF2-40B4-BE49-F238E27FC236}">
                <a16:creationId xmlns:a16="http://schemas.microsoft.com/office/drawing/2014/main" xmlns="" id="{4BDC19AB-0A28-4D03-AF83-8F23E4F889F2}"/>
              </a:ext>
            </a:extLst>
          </p:cNvPr>
          <p:cNvSpPr txBox="1"/>
          <p:nvPr/>
        </p:nvSpPr>
        <p:spPr>
          <a:xfrm>
            <a:off x="3579844" y="2579171"/>
            <a:ext cx="2172582" cy="461665"/>
          </a:xfrm>
          <a:prstGeom prst="rect">
            <a:avLst/>
          </a:prstGeom>
          <a:noFill/>
        </p:spPr>
        <p:txBody>
          <a:bodyPr wrap="none" rtlCol="0">
            <a:spAutoFit/>
          </a:bodyPr>
          <a:lstStyle/>
          <a:p>
            <a:r>
              <a:rPr lang="en-US" altLang="zh-TW" sz="2400" dirty="0"/>
              <a:t>B</a:t>
            </a:r>
            <a:r>
              <a:rPr lang="en-US" altLang="zh-TW" sz="2400" baseline="-25000" dirty="0"/>
              <a:t>X</a:t>
            </a:r>
            <a:r>
              <a:rPr lang="en-US" altLang="zh-TW" sz="2400" dirty="0"/>
              <a:t>=[A,T,$,A,A,G]</a:t>
            </a:r>
          </a:p>
        </p:txBody>
      </p:sp>
      <p:sp>
        <p:nvSpPr>
          <p:cNvPr id="53" name="箭號: 上彎 52">
            <a:extLst>
              <a:ext uri="{FF2B5EF4-FFF2-40B4-BE49-F238E27FC236}">
                <a16:creationId xmlns:a16="http://schemas.microsoft.com/office/drawing/2014/main" xmlns="" id="{A40B486C-09F9-47CC-BF08-73FA89CDC5B1}"/>
              </a:ext>
            </a:extLst>
          </p:cNvPr>
          <p:cNvSpPr/>
          <p:nvPr/>
        </p:nvSpPr>
        <p:spPr>
          <a:xfrm flipV="1">
            <a:off x="5844599" y="2757781"/>
            <a:ext cx="2465920" cy="702417"/>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912355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15BC881-4DD4-4745-AF55-24F8571E816B}"/>
              </a:ext>
            </a:extLst>
          </p:cNvPr>
          <p:cNvSpPr>
            <a:spLocks noGrp="1"/>
          </p:cNvSpPr>
          <p:nvPr>
            <p:ph type="title"/>
          </p:nvPr>
        </p:nvSpPr>
        <p:spPr/>
        <p:txBody>
          <a:bodyPr/>
          <a:lstStyle/>
          <a:p>
            <a:r>
              <a:rPr lang="en-US" altLang="zh-TW" dirty="0"/>
              <a:t>FM-index</a:t>
            </a:r>
            <a:endParaRPr lang="zh-TW" altLang="en-US" dirty="0"/>
          </a:p>
        </p:txBody>
      </p:sp>
      <p:sp>
        <p:nvSpPr>
          <p:cNvPr id="4" name="文字方塊 3">
            <a:extLst>
              <a:ext uri="{FF2B5EF4-FFF2-40B4-BE49-F238E27FC236}">
                <a16:creationId xmlns:a16="http://schemas.microsoft.com/office/drawing/2014/main" xmlns="" id="{44D193EB-D65C-4C5E-AA46-EC7F220D038D}"/>
              </a:ext>
            </a:extLst>
          </p:cNvPr>
          <p:cNvSpPr txBox="1"/>
          <p:nvPr/>
        </p:nvSpPr>
        <p:spPr>
          <a:xfrm>
            <a:off x="1187238" y="2233389"/>
            <a:ext cx="967252" cy="3693319"/>
          </a:xfrm>
          <a:prstGeom prst="rect">
            <a:avLst/>
          </a:prstGeom>
          <a:noFill/>
        </p:spPr>
        <p:txBody>
          <a:bodyPr wrap="none" rtlCol="0">
            <a:spAutoFit/>
          </a:bodyPr>
          <a:lstStyle/>
          <a:p>
            <a:r>
              <a:rPr lang="en-US" altLang="zh-TW" dirty="0">
                <a:solidFill>
                  <a:srgbClr val="FF0000"/>
                </a:solidFill>
              </a:rPr>
              <a:t>AAGTA$</a:t>
            </a:r>
          </a:p>
          <a:p>
            <a:r>
              <a:rPr lang="en-US" altLang="zh-TW" dirty="0">
                <a:solidFill>
                  <a:srgbClr val="FF0000"/>
                </a:solidFill>
              </a:rPr>
              <a:t>AGTA$A</a:t>
            </a:r>
          </a:p>
          <a:p>
            <a:r>
              <a:rPr lang="en-US" altLang="zh-TW" dirty="0">
                <a:solidFill>
                  <a:srgbClr val="FF0000"/>
                </a:solidFill>
              </a:rPr>
              <a:t>GTA$AA</a:t>
            </a:r>
          </a:p>
          <a:p>
            <a:r>
              <a:rPr lang="en-US" altLang="zh-TW" dirty="0">
                <a:solidFill>
                  <a:srgbClr val="FF0000"/>
                </a:solidFill>
              </a:rPr>
              <a:t>TA$AAG</a:t>
            </a:r>
          </a:p>
          <a:p>
            <a:r>
              <a:rPr lang="en-US" altLang="zh-TW" dirty="0">
                <a:solidFill>
                  <a:srgbClr val="FF0000"/>
                </a:solidFill>
              </a:rPr>
              <a:t>A$AAGT</a:t>
            </a:r>
          </a:p>
          <a:p>
            <a:r>
              <a:rPr lang="en-US" altLang="zh-TW" dirty="0">
                <a:solidFill>
                  <a:srgbClr val="FF0000"/>
                </a:solidFill>
              </a:rPr>
              <a:t>$AAGTA</a:t>
            </a:r>
          </a:p>
          <a:p>
            <a:endParaRPr lang="en-US" altLang="zh-TW" dirty="0"/>
          </a:p>
          <a:p>
            <a:r>
              <a:rPr lang="en-US" altLang="zh-TW" dirty="0"/>
              <a:t>AGAGT$</a:t>
            </a:r>
          </a:p>
          <a:p>
            <a:r>
              <a:rPr lang="en-US" altLang="zh-TW" dirty="0"/>
              <a:t>GAGT$A</a:t>
            </a:r>
          </a:p>
          <a:p>
            <a:r>
              <a:rPr lang="en-US" altLang="zh-TW" dirty="0"/>
              <a:t>AGT$AG</a:t>
            </a:r>
          </a:p>
          <a:p>
            <a:r>
              <a:rPr lang="en-US" altLang="zh-TW" dirty="0"/>
              <a:t>GT$AGA</a:t>
            </a:r>
          </a:p>
          <a:p>
            <a:r>
              <a:rPr lang="en-US" altLang="zh-TW" dirty="0"/>
              <a:t>T$AGAG</a:t>
            </a:r>
          </a:p>
          <a:p>
            <a:r>
              <a:rPr lang="en-US" altLang="zh-TW" dirty="0"/>
              <a:t>$AGAGT</a:t>
            </a:r>
          </a:p>
        </p:txBody>
      </p:sp>
      <p:sp>
        <p:nvSpPr>
          <p:cNvPr id="5" name="文字方塊 4">
            <a:extLst>
              <a:ext uri="{FF2B5EF4-FFF2-40B4-BE49-F238E27FC236}">
                <a16:creationId xmlns:a16="http://schemas.microsoft.com/office/drawing/2014/main" xmlns="" id="{8B594194-CD98-4B31-A7C4-3AAD39019F4F}"/>
              </a:ext>
            </a:extLst>
          </p:cNvPr>
          <p:cNvSpPr txBox="1"/>
          <p:nvPr/>
        </p:nvSpPr>
        <p:spPr>
          <a:xfrm>
            <a:off x="2300237" y="2233389"/>
            <a:ext cx="967252" cy="3970318"/>
          </a:xfrm>
          <a:prstGeom prst="rect">
            <a:avLst/>
          </a:prstGeom>
          <a:noFill/>
        </p:spPr>
        <p:txBody>
          <a:bodyPr wrap="none" rtlCol="0">
            <a:spAutoFit/>
          </a:bodyPr>
          <a:lstStyle/>
          <a:p>
            <a:r>
              <a:rPr lang="en-US" altLang="zh-TW" dirty="0">
                <a:solidFill>
                  <a:srgbClr val="FF0000"/>
                </a:solidFill>
              </a:rPr>
              <a:t>$AAGTA</a:t>
            </a:r>
          </a:p>
          <a:p>
            <a:r>
              <a:rPr lang="en-US" altLang="zh-TW" dirty="0">
                <a:solidFill>
                  <a:srgbClr val="FF0000"/>
                </a:solidFill>
              </a:rPr>
              <a:t>A$AAGT</a:t>
            </a:r>
          </a:p>
          <a:p>
            <a:r>
              <a:rPr lang="en-US" altLang="zh-TW" dirty="0">
                <a:solidFill>
                  <a:srgbClr val="FF0000"/>
                </a:solidFill>
              </a:rPr>
              <a:t>AAGTA$</a:t>
            </a:r>
          </a:p>
          <a:p>
            <a:r>
              <a:rPr lang="en-US" altLang="zh-TW" dirty="0">
                <a:solidFill>
                  <a:srgbClr val="FF0000"/>
                </a:solidFill>
              </a:rPr>
              <a:t>AGTA$A</a:t>
            </a:r>
          </a:p>
          <a:p>
            <a:r>
              <a:rPr lang="en-US" altLang="zh-TW" dirty="0">
                <a:solidFill>
                  <a:srgbClr val="FF0000"/>
                </a:solidFill>
              </a:rPr>
              <a:t>GTA$AA</a:t>
            </a:r>
          </a:p>
          <a:p>
            <a:r>
              <a:rPr lang="en-US" altLang="zh-TW" dirty="0">
                <a:solidFill>
                  <a:srgbClr val="FF0000"/>
                </a:solidFill>
              </a:rPr>
              <a:t>TA$AAG</a:t>
            </a:r>
          </a:p>
          <a:p>
            <a:endParaRPr lang="en-US" altLang="zh-TW" dirty="0"/>
          </a:p>
          <a:p>
            <a:r>
              <a:rPr lang="en-US" altLang="zh-TW" dirty="0"/>
              <a:t>$AGAGT</a:t>
            </a:r>
          </a:p>
          <a:p>
            <a:r>
              <a:rPr lang="en-US" altLang="zh-TW" dirty="0"/>
              <a:t>AGAGT$</a:t>
            </a:r>
          </a:p>
          <a:p>
            <a:r>
              <a:rPr lang="en-US" altLang="zh-TW" dirty="0"/>
              <a:t>AGT$AG</a:t>
            </a:r>
          </a:p>
          <a:p>
            <a:r>
              <a:rPr lang="en-US" altLang="zh-TW" dirty="0"/>
              <a:t>GAGT$A</a:t>
            </a:r>
          </a:p>
          <a:p>
            <a:r>
              <a:rPr lang="en-US" altLang="zh-TW" dirty="0"/>
              <a:t>GT$AGA</a:t>
            </a:r>
          </a:p>
          <a:p>
            <a:r>
              <a:rPr lang="en-US" altLang="zh-TW" dirty="0"/>
              <a:t>T$AGAG</a:t>
            </a:r>
          </a:p>
          <a:p>
            <a:endParaRPr lang="en-US" altLang="zh-TW" dirty="0"/>
          </a:p>
        </p:txBody>
      </p:sp>
      <p:sp>
        <p:nvSpPr>
          <p:cNvPr id="6" name="文字方塊 5">
            <a:extLst>
              <a:ext uri="{FF2B5EF4-FFF2-40B4-BE49-F238E27FC236}">
                <a16:creationId xmlns:a16="http://schemas.microsoft.com/office/drawing/2014/main" xmlns="" id="{201CD66C-2DF9-47F1-BA52-705ECDD4C918}"/>
              </a:ext>
            </a:extLst>
          </p:cNvPr>
          <p:cNvSpPr txBox="1"/>
          <p:nvPr/>
        </p:nvSpPr>
        <p:spPr>
          <a:xfrm>
            <a:off x="3603080" y="2371888"/>
            <a:ext cx="1540806" cy="3970318"/>
          </a:xfrm>
          <a:prstGeom prst="rect">
            <a:avLst/>
          </a:prstGeom>
          <a:noFill/>
        </p:spPr>
        <p:txBody>
          <a:bodyPr wrap="none" rtlCol="0">
            <a:spAutoFit/>
          </a:bodyPr>
          <a:lstStyle/>
          <a:p>
            <a:r>
              <a:rPr lang="en-US" altLang="zh-TW" dirty="0">
                <a:solidFill>
                  <a:srgbClr val="FF0000"/>
                </a:solidFill>
              </a:rPr>
              <a:t>		SA</a:t>
            </a:r>
            <a:r>
              <a:rPr lang="en-US" altLang="zh-TW" baseline="-25000" dirty="0">
                <a:solidFill>
                  <a:srgbClr val="FF0000"/>
                </a:solidFill>
              </a:rPr>
              <a:t>T</a:t>
            </a:r>
          </a:p>
          <a:p>
            <a:r>
              <a:rPr lang="en-US" altLang="zh-TW" dirty="0">
                <a:solidFill>
                  <a:srgbClr val="FF0000"/>
                </a:solidFill>
              </a:rPr>
              <a:t>$AAGTA	(1,6)</a:t>
            </a:r>
          </a:p>
          <a:p>
            <a:r>
              <a:rPr lang="en-US" altLang="zh-TW" dirty="0">
                <a:solidFill>
                  <a:srgbClr val="00B0F0"/>
                </a:solidFill>
              </a:rPr>
              <a:t>$</a:t>
            </a:r>
            <a:r>
              <a:rPr lang="en-US" altLang="zh-TW" dirty="0"/>
              <a:t>AGAGT	(2,6)</a:t>
            </a:r>
          </a:p>
          <a:p>
            <a:r>
              <a:rPr lang="en-US" altLang="zh-TW" dirty="0">
                <a:solidFill>
                  <a:srgbClr val="FF0000"/>
                </a:solidFill>
              </a:rPr>
              <a:t>A$AAGT	(1,5)</a:t>
            </a:r>
          </a:p>
          <a:p>
            <a:r>
              <a:rPr lang="en-US" altLang="zh-TW" dirty="0">
                <a:solidFill>
                  <a:srgbClr val="FF0000"/>
                </a:solidFill>
              </a:rPr>
              <a:t>AAGTA$	(1,1)</a:t>
            </a:r>
          </a:p>
          <a:p>
            <a:r>
              <a:rPr lang="en-US" altLang="zh-TW" dirty="0">
                <a:solidFill>
                  <a:srgbClr val="00B0F0"/>
                </a:solidFill>
              </a:rPr>
              <a:t>A</a:t>
            </a:r>
            <a:r>
              <a:rPr lang="en-US" altLang="zh-TW" dirty="0"/>
              <a:t>GAGT$	(2,1)</a:t>
            </a:r>
          </a:p>
          <a:p>
            <a:r>
              <a:rPr lang="en-US" altLang="zh-TW" dirty="0">
                <a:solidFill>
                  <a:srgbClr val="00B0F0"/>
                </a:solidFill>
              </a:rPr>
              <a:t>A</a:t>
            </a:r>
            <a:r>
              <a:rPr lang="en-US" altLang="zh-TW" dirty="0"/>
              <a:t>GT$AG	(2,3)</a:t>
            </a:r>
          </a:p>
          <a:p>
            <a:r>
              <a:rPr lang="en-US" altLang="zh-TW" dirty="0">
                <a:solidFill>
                  <a:srgbClr val="00B0F0"/>
                </a:solidFill>
              </a:rPr>
              <a:t>A</a:t>
            </a:r>
            <a:r>
              <a:rPr lang="en-US" altLang="zh-TW" dirty="0">
                <a:solidFill>
                  <a:srgbClr val="FF0000"/>
                </a:solidFill>
              </a:rPr>
              <a:t>GTA$A	(1,2)</a:t>
            </a:r>
          </a:p>
          <a:p>
            <a:r>
              <a:rPr lang="en-US" altLang="zh-TW" dirty="0">
                <a:solidFill>
                  <a:srgbClr val="00B0F0"/>
                </a:solidFill>
              </a:rPr>
              <a:t>G</a:t>
            </a:r>
            <a:r>
              <a:rPr lang="en-US" altLang="zh-TW" dirty="0"/>
              <a:t>AGT$A	(2,2)</a:t>
            </a:r>
          </a:p>
          <a:p>
            <a:r>
              <a:rPr lang="en-US" altLang="zh-TW" dirty="0">
                <a:solidFill>
                  <a:srgbClr val="00B0F0"/>
                </a:solidFill>
              </a:rPr>
              <a:t>G</a:t>
            </a:r>
            <a:r>
              <a:rPr lang="en-US" altLang="zh-TW" dirty="0"/>
              <a:t>T$AGA	(2,4)</a:t>
            </a:r>
          </a:p>
          <a:p>
            <a:r>
              <a:rPr lang="en-US" altLang="zh-TW" dirty="0">
                <a:solidFill>
                  <a:srgbClr val="00B0F0"/>
                </a:solidFill>
              </a:rPr>
              <a:t>G</a:t>
            </a:r>
            <a:r>
              <a:rPr lang="en-US" altLang="zh-TW" dirty="0">
                <a:solidFill>
                  <a:srgbClr val="FF0000"/>
                </a:solidFill>
              </a:rPr>
              <a:t>TA$AA	(1,3)</a:t>
            </a:r>
          </a:p>
          <a:p>
            <a:r>
              <a:rPr lang="en-US" altLang="zh-TW" dirty="0"/>
              <a:t>T$AGAG	(2,5)</a:t>
            </a:r>
          </a:p>
          <a:p>
            <a:r>
              <a:rPr lang="en-US" altLang="zh-TW" dirty="0">
                <a:solidFill>
                  <a:srgbClr val="FF0000"/>
                </a:solidFill>
              </a:rPr>
              <a:t>TA$AAG	(1,4)</a:t>
            </a:r>
          </a:p>
          <a:p>
            <a:endParaRPr lang="en-US" altLang="zh-TW" dirty="0"/>
          </a:p>
        </p:txBody>
      </p:sp>
      <p:sp>
        <p:nvSpPr>
          <p:cNvPr id="7" name="文字方塊 6">
            <a:extLst>
              <a:ext uri="{FF2B5EF4-FFF2-40B4-BE49-F238E27FC236}">
                <a16:creationId xmlns:a16="http://schemas.microsoft.com/office/drawing/2014/main" xmlns="" id="{C8BCA114-C1E1-47F7-B048-284A405C0A1D}"/>
              </a:ext>
            </a:extLst>
          </p:cNvPr>
          <p:cNvSpPr txBox="1"/>
          <p:nvPr/>
        </p:nvSpPr>
        <p:spPr>
          <a:xfrm>
            <a:off x="5479477" y="2371888"/>
            <a:ext cx="379656" cy="3970318"/>
          </a:xfrm>
          <a:prstGeom prst="rect">
            <a:avLst/>
          </a:prstGeom>
          <a:noFill/>
        </p:spPr>
        <p:txBody>
          <a:bodyPr wrap="none" rtlCol="0">
            <a:spAutoFit/>
          </a:bodyPr>
          <a:lstStyle/>
          <a:p>
            <a:r>
              <a:rPr lang="en-US" altLang="zh-TW" dirty="0"/>
              <a:t>B</a:t>
            </a:r>
            <a:r>
              <a:rPr lang="en-US" altLang="zh-TW" baseline="-25000" dirty="0"/>
              <a:t>T</a:t>
            </a:r>
          </a:p>
          <a:p>
            <a:r>
              <a:rPr lang="en-US" altLang="zh-TW" dirty="0">
                <a:solidFill>
                  <a:srgbClr val="FF0000"/>
                </a:solidFill>
              </a:rPr>
              <a:t>A</a:t>
            </a:r>
          </a:p>
          <a:p>
            <a:r>
              <a:rPr lang="en-US" altLang="zh-TW" dirty="0"/>
              <a:t>T</a:t>
            </a:r>
          </a:p>
          <a:p>
            <a:r>
              <a:rPr lang="en-US" altLang="zh-TW" dirty="0">
                <a:solidFill>
                  <a:srgbClr val="FF0000"/>
                </a:solidFill>
              </a:rPr>
              <a:t>T</a:t>
            </a:r>
          </a:p>
          <a:p>
            <a:r>
              <a:rPr lang="en-US" altLang="zh-TW" dirty="0">
                <a:solidFill>
                  <a:srgbClr val="FF0000"/>
                </a:solidFill>
              </a:rPr>
              <a:t>$</a:t>
            </a:r>
          </a:p>
          <a:p>
            <a:r>
              <a:rPr lang="en-US" altLang="zh-TW" dirty="0"/>
              <a:t>$</a:t>
            </a:r>
          </a:p>
          <a:p>
            <a:r>
              <a:rPr lang="en-US" altLang="zh-TW" dirty="0"/>
              <a:t>G</a:t>
            </a:r>
          </a:p>
          <a:p>
            <a:r>
              <a:rPr lang="en-US" altLang="zh-TW" dirty="0">
                <a:solidFill>
                  <a:srgbClr val="FF0000"/>
                </a:solidFill>
              </a:rPr>
              <a:t>A</a:t>
            </a:r>
          </a:p>
          <a:p>
            <a:r>
              <a:rPr lang="en-US" altLang="zh-TW" dirty="0"/>
              <a:t>A</a:t>
            </a:r>
          </a:p>
          <a:p>
            <a:r>
              <a:rPr lang="en-US" altLang="zh-TW" dirty="0"/>
              <a:t>A</a:t>
            </a:r>
          </a:p>
          <a:p>
            <a:r>
              <a:rPr lang="en-US" altLang="zh-TW" dirty="0">
                <a:solidFill>
                  <a:srgbClr val="FF0000"/>
                </a:solidFill>
              </a:rPr>
              <a:t>A</a:t>
            </a:r>
          </a:p>
          <a:p>
            <a:r>
              <a:rPr lang="en-US" altLang="zh-TW" dirty="0"/>
              <a:t>G</a:t>
            </a:r>
          </a:p>
          <a:p>
            <a:r>
              <a:rPr lang="en-US" altLang="zh-TW" dirty="0">
                <a:solidFill>
                  <a:srgbClr val="FF0000"/>
                </a:solidFill>
              </a:rPr>
              <a:t>G</a:t>
            </a:r>
            <a:endParaRPr lang="en-US" altLang="zh-TW" dirty="0"/>
          </a:p>
          <a:p>
            <a:endParaRPr lang="zh-TW" altLang="en-US" dirty="0"/>
          </a:p>
        </p:txBody>
      </p:sp>
      <p:sp>
        <p:nvSpPr>
          <p:cNvPr id="8" name="文字方塊 7">
            <a:extLst>
              <a:ext uri="{FF2B5EF4-FFF2-40B4-BE49-F238E27FC236}">
                <a16:creationId xmlns:a16="http://schemas.microsoft.com/office/drawing/2014/main" xmlns="" id="{29CB2DFF-F22D-4257-86DC-F6BF05312F91}"/>
              </a:ext>
            </a:extLst>
          </p:cNvPr>
          <p:cNvSpPr txBox="1"/>
          <p:nvPr/>
        </p:nvSpPr>
        <p:spPr>
          <a:xfrm>
            <a:off x="1187238" y="1690689"/>
            <a:ext cx="7510195" cy="369332"/>
          </a:xfrm>
          <a:prstGeom prst="rect">
            <a:avLst/>
          </a:prstGeom>
          <a:noFill/>
        </p:spPr>
        <p:txBody>
          <a:bodyPr wrap="square" rtlCol="0">
            <a:spAutoFit/>
          </a:bodyPr>
          <a:lstStyle/>
          <a:p>
            <a:r>
              <a:rPr lang="en-US" altLang="zh-TW" dirty="0"/>
              <a:t>Read</a:t>
            </a:r>
            <a:r>
              <a:rPr lang="zh-TW" altLang="en-US" dirty="0"/>
              <a:t> </a:t>
            </a:r>
            <a:r>
              <a:rPr lang="en-US" altLang="zh-TW" dirty="0"/>
              <a:t>Z</a:t>
            </a:r>
            <a:r>
              <a:rPr lang="zh-TW" altLang="en-US" dirty="0"/>
              <a:t>的</a:t>
            </a:r>
            <a:r>
              <a:rPr lang="en-US" altLang="zh-TW" dirty="0"/>
              <a:t>suffix=</a:t>
            </a:r>
            <a:r>
              <a:rPr lang="en-US" altLang="zh-TW" dirty="0">
                <a:solidFill>
                  <a:srgbClr val="00B0F0"/>
                </a:solidFill>
              </a:rPr>
              <a:t> AG </a:t>
            </a:r>
            <a:r>
              <a:rPr lang="zh-TW" altLang="en-US" dirty="0"/>
              <a:t>求在</a:t>
            </a:r>
            <a:r>
              <a:rPr lang="en-US" altLang="zh-TW" dirty="0"/>
              <a:t>read</a:t>
            </a:r>
            <a:r>
              <a:rPr lang="zh-TW" altLang="en-US" dirty="0"/>
              <a:t> </a:t>
            </a:r>
            <a:r>
              <a:rPr lang="en-US" altLang="zh-TW" dirty="0"/>
              <a:t>X=</a:t>
            </a:r>
            <a:r>
              <a:rPr lang="en-US" altLang="zh-TW" dirty="0">
                <a:solidFill>
                  <a:srgbClr val="FF0000"/>
                </a:solidFill>
              </a:rPr>
              <a:t>AAGTA$ </a:t>
            </a:r>
            <a:r>
              <a:rPr lang="en-US" altLang="zh-TW" dirty="0"/>
              <a:t>, Y=AGAGT$</a:t>
            </a:r>
            <a:r>
              <a:rPr lang="zh-TW" altLang="en-US" dirty="0"/>
              <a:t>中的</a:t>
            </a:r>
            <a:r>
              <a:rPr lang="en-US" altLang="zh-TW" dirty="0"/>
              <a:t>prefix</a:t>
            </a:r>
            <a:endParaRPr lang="zh-TW" altLang="en-US" dirty="0"/>
          </a:p>
        </p:txBody>
      </p:sp>
      <p:sp>
        <p:nvSpPr>
          <p:cNvPr id="9" name="箭號: 向右 8">
            <a:extLst>
              <a:ext uri="{FF2B5EF4-FFF2-40B4-BE49-F238E27FC236}">
                <a16:creationId xmlns:a16="http://schemas.microsoft.com/office/drawing/2014/main" xmlns="" id="{0EFD3377-CA8B-4379-9AE8-B52A10DDEE1C}"/>
              </a:ext>
            </a:extLst>
          </p:cNvPr>
          <p:cNvSpPr/>
          <p:nvPr/>
        </p:nvSpPr>
        <p:spPr>
          <a:xfrm>
            <a:off x="2059568" y="3016252"/>
            <a:ext cx="335591" cy="30214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箭號: 向右 9">
            <a:extLst>
              <a:ext uri="{FF2B5EF4-FFF2-40B4-BE49-F238E27FC236}">
                <a16:creationId xmlns:a16="http://schemas.microsoft.com/office/drawing/2014/main" xmlns="" id="{39C6A4CC-7F70-49A1-A01F-7C1AA5274421}"/>
              </a:ext>
            </a:extLst>
          </p:cNvPr>
          <p:cNvSpPr/>
          <p:nvPr/>
        </p:nvSpPr>
        <p:spPr>
          <a:xfrm>
            <a:off x="2081018" y="4821459"/>
            <a:ext cx="335591" cy="30214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箭號: 向右 10">
            <a:extLst>
              <a:ext uri="{FF2B5EF4-FFF2-40B4-BE49-F238E27FC236}">
                <a16:creationId xmlns:a16="http://schemas.microsoft.com/office/drawing/2014/main" xmlns="" id="{FFA7D9A6-5B79-4EFE-B362-4926ED2DC826}"/>
              </a:ext>
            </a:extLst>
          </p:cNvPr>
          <p:cNvSpPr/>
          <p:nvPr/>
        </p:nvSpPr>
        <p:spPr>
          <a:xfrm>
            <a:off x="3245440" y="3928977"/>
            <a:ext cx="335591" cy="30214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720648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66D49BE-8C88-47E4-B7B5-35F7474EB27B}"/>
              </a:ext>
            </a:extLst>
          </p:cNvPr>
          <p:cNvSpPr>
            <a:spLocks noGrp="1"/>
          </p:cNvSpPr>
          <p:nvPr>
            <p:ph type="title"/>
          </p:nvPr>
        </p:nvSpPr>
        <p:spPr/>
        <p:txBody>
          <a:bodyPr/>
          <a:lstStyle/>
          <a:p>
            <a:r>
              <a:rPr lang="en-US" altLang="zh-TW" dirty="0"/>
              <a:t>Irreducible edge</a:t>
            </a:r>
            <a:endParaRPr lang="zh-TW" altLang="en-US" dirty="0"/>
          </a:p>
        </p:txBody>
      </p:sp>
      <p:pic>
        <p:nvPicPr>
          <p:cNvPr id="5" name="內容版面配置區 4">
            <a:extLst>
              <a:ext uri="{FF2B5EF4-FFF2-40B4-BE49-F238E27FC236}">
                <a16:creationId xmlns:a16="http://schemas.microsoft.com/office/drawing/2014/main" xmlns="" id="{CA3AB6BD-0C56-4D1F-B5D5-26A42071BB6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2243931"/>
            <a:ext cx="6591300" cy="3514725"/>
          </a:xfrm>
        </p:spPr>
      </p:pic>
    </p:spTree>
    <p:extLst>
      <p:ext uri="{BB962C8B-B14F-4D97-AF65-F5344CB8AC3E}">
        <p14:creationId xmlns:p14="http://schemas.microsoft.com/office/powerpoint/2010/main" val="660540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7547741-97F7-4AB7-A530-B1E52011B555}"/>
              </a:ext>
            </a:extLst>
          </p:cNvPr>
          <p:cNvSpPr>
            <a:spLocks noGrp="1"/>
          </p:cNvSpPr>
          <p:nvPr>
            <p:ph type="title"/>
          </p:nvPr>
        </p:nvSpPr>
        <p:spPr/>
        <p:txBody>
          <a:bodyPr/>
          <a:lstStyle/>
          <a:p>
            <a:r>
              <a:rPr lang="en-US" altLang="zh-TW" dirty="0"/>
              <a:t>Result</a:t>
            </a:r>
            <a:endParaRPr lang="zh-TW" altLang="en-US" dirty="0"/>
          </a:p>
        </p:txBody>
      </p:sp>
      <p:pic>
        <p:nvPicPr>
          <p:cNvPr id="5" name="內容版面配置區 4">
            <a:extLst>
              <a:ext uri="{FF2B5EF4-FFF2-40B4-BE49-F238E27FC236}">
                <a16:creationId xmlns:a16="http://schemas.microsoft.com/office/drawing/2014/main" xmlns="" id="{8BFC0D56-2210-4CD1-9292-2BC0AEDCC4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5854" y="1994457"/>
            <a:ext cx="8352291" cy="4183059"/>
          </a:xfrm>
        </p:spPr>
      </p:pic>
    </p:spTree>
    <p:extLst>
      <p:ext uri="{BB962C8B-B14F-4D97-AF65-F5344CB8AC3E}">
        <p14:creationId xmlns:p14="http://schemas.microsoft.com/office/powerpoint/2010/main" val="3281282728"/>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3015</TotalTime>
  <Words>448</Words>
  <Application>Microsoft Office PowerPoint</Application>
  <PresentationFormat>如螢幕大小 (4:3)</PresentationFormat>
  <Paragraphs>126</Paragraphs>
  <Slides>8</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8</vt:i4>
      </vt:variant>
    </vt:vector>
  </HeadingPairs>
  <TitlesOfParts>
    <vt:vector size="14" baseType="lpstr">
      <vt:lpstr>新細明體</vt:lpstr>
      <vt:lpstr>Arial</vt:lpstr>
      <vt:lpstr>Calibri</vt:lpstr>
      <vt:lpstr>Calibri Light</vt:lpstr>
      <vt:lpstr>Cambria Math</vt:lpstr>
      <vt:lpstr>Office 佈景主題</vt:lpstr>
      <vt:lpstr>Efficient construction of an assembly string graph using the FM-index</vt:lpstr>
      <vt:lpstr>Abstract</vt:lpstr>
      <vt:lpstr>Abstract</vt:lpstr>
      <vt:lpstr>Suffix array</vt:lpstr>
      <vt:lpstr>BTW</vt:lpstr>
      <vt:lpstr>FM-index</vt:lpstr>
      <vt:lpstr>Irreducible edge</vt:lpstr>
      <vt:lpstr>Result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linear space algorithm for computing a longest common increasing subsequence</dc:title>
  <dc:creator>黃國峰</dc:creator>
  <cp:lastModifiedBy>pplab-class</cp:lastModifiedBy>
  <cp:revision>76</cp:revision>
  <dcterms:created xsi:type="dcterms:W3CDTF">2017-10-02T04:56:24Z</dcterms:created>
  <dcterms:modified xsi:type="dcterms:W3CDTF">2018-01-23T11:39:49Z</dcterms:modified>
</cp:coreProperties>
</file>