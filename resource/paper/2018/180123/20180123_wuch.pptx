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95" r:id="rId4"/>
    <p:sldId id="262" r:id="rId5"/>
    <p:sldId id="298" r:id="rId6"/>
    <p:sldId id="299" r:id="rId7"/>
    <p:sldId id="264" r:id="rId8"/>
    <p:sldId id="296" r:id="rId9"/>
    <p:sldId id="273" r:id="rId10"/>
    <p:sldId id="286" r:id="rId11"/>
    <p:sldId id="268" r:id="rId12"/>
    <p:sldId id="288" r:id="rId13"/>
    <p:sldId id="270" r:id="rId14"/>
    <p:sldId id="291" r:id="rId15"/>
    <p:sldId id="300" r:id="rId16"/>
    <p:sldId id="297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7" autoAdjust="0"/>
    <p:restoredTop sz="95048" autoAdjust="0"/>
  </p:normalViewPr>
  <p:slideViewPr>
    <p:cSldViewPr snapToGrid="0">
      <p:cViewPr varScale="1">
        <p:scale>
          <a:sx n="70" d="100"/>
          <a:sy n="70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D822E-287D-49A6-BB7D-CFD94BDB4C78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6E11E-5ACF-409F-8557-659632981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37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DBG</a:t>
            </a:r>
            <a:r>
              <a:rPr lang="zh-TW" altLang="en-US" dirty="0" smtClean="0"/>
              <a:t>原不適合</a:t>
            </a:r>
            <a:r>
              <a:rPr lang="en-US" altLang="zh-TW" dirty="0" smtClean="0"/>
              <a:t>reads</a:t>
            </a:r>
            <a:r>
              <a:rPr lang="zh-TW" altLang="en-US" dirty="0" smtClean="0"/>
              <a:t>較長的測序數，</a:t>
            </a:r>
            <a:r>
              <a:rPr lang="en-US" altLang="zh-TW" dirty="0" smtClean="0"/>
              <a:t>k</a:t>
            </a:r>
            <a:r>
              <a:rPr lang="zh-TW" altLang="en-US" dirty="0" smtClean="0"/>
              <a:t>值越小重複越多分支越多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548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438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  balance between sensitivity and specificity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must be odd to ensure that each k-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cannot be its own reverse complement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620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errors can be due to both the sequencing process or to the biological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sample, for example, polymorphisms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881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1008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3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i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911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837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138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217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51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850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71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2018/1/23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53623" y="783697"/>
            <a:ext cx="12299245" cy="23876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Velvet: Algorithms for de novo short read assembly using de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516533" cy="271974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Daniel R.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Zerbino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Ewan Birney</a:t>
            </a:r>
          </a:p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Harbor Laboratory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March 18,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2008,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Volume 18,pp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821-829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Date:2017/1/23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developed a new set of algorithms, collectively called “Velvet,” to manipulate de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 for genomic sequence assembly. A de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is a compact representation based on short words (k-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is ideal for high coverage, very short read (25–50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data sets. Applying Velvet to very short reads and paired-ends information only, one can produce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contigs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significant length, up to 50-kb N50 length in simulations of prokaryotic data and 3-kb N50 on simulated mammalian BACs. When applied to real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Solexa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sets without read pairs, Velvet generated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contigs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∼8 kb in a prokaryote and 2 kb in a mammalian BAC, in close agreement with our simulated results without read-pair information. Velvet represents a new approach to assembly that can leverage very short reads in combination with read pairs to produce useful assemblies.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stage in genome sequencing is the assembly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shotgun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reads, or piecing together fragments randomly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from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sample, to form a set of contiguous sequences 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contigs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representing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DNA in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向右箭號 4"/>
          <p:cNvSpPr/>
          <p:nvPr/>
        </p:nvSpPr>
        <p:spPr>
          <a:xfrm>
            <a:off x="1371599" y="4364745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 flipH="1">
            <a:off x="4408310" y="4364745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5" idx="3"/>
            <a:endCxn id="7" idx="3"/>
          </p:cNvCxnSpPr>
          <p:nvPr/>
        </p:nvCxnSpPr>
        <p:spPr>
          <a:xfrm>
            <a:off x="2918177" y="4579234"/>
            <a:ext cx="14901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向右箭號 17"/>
          <p:cNvSpPr/>
          <p:nvPr/>
        </p:nvSpPr>
        <p:spPr>
          <a:xfrm>
            <a:off x="4126088" y="5373309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右箭號 18"/>
          <p:cNvSpPr/>
          <p:nvPr/>
        </p:nvSpPr>
        <p:spPr>
          <a:xfrm flipH="1">
            <a:off x="7162799" y="5373309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18" idx="3"/>
            <a:endCxn id="19" idx="3"/>
          </p:cNvCxnSpPr>
          <p:nvPr/>
        </p:nvCxnSpPr>
        <p:spPr>
          <a:xfrm>
            <a:off x="5672666" y="5587798"/>
            <a:ext cx="14901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向右箭號 20"/>
          <p:cNvSpPr/>
          <p:nvPr/>
        </p:nvSpPr>
        <p:spPr>
          <a:xfrm>
            <a:off x="5954888" y="3618089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 flipH="1">
            <a:off x="8991599" y="3618089"/>
            <a:ext cx="1546578" cy="428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3"/>
            <a:endCxn id="22" idx="3"/>
          </p:cNvCxnSpPr>
          <p:nvPr/>
        </p:nvCxnSpPr>
        <p:spPr>
          <a:xfrm>
            <a:off x="7501466" y="3832578"/>
            <a:ext cx="14901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74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51" y="1342496"/>
            <a:ext cx="6629297" cy="5318171"/>
          </a:xfrm>
        </p:spPr>
      </p:pic>
      <p:sp>
        <p:nvSpPr>
          <p:cNvPr id="6" name="文字方塊 5"/>
          <p:cNvSpPr txBox="1"/>
          <p:nvPr/>
        </p:nvSpPr>
        <p:spPr>
          <a:xfrm>
            <a:off x="1097843" y="3401416"/>
            <a:ext cx="1275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TAGAC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ATCTG</a:t>
            </a:r>
            <a:endParaRPr lang="zh-TW" altLang="en-US" sz="24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1253067" y="3814588"/>
            <a:ext cx="0" cy="3612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413934" y="3808944"/>
            <a:ext cx="0" cy="3612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574800" y="3814588"/>
            <a:ext cx="0" cy="3612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1735665" y="3808944"/>
            <a:ext cx="0" cy="3612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913467" y="3808944"/>
            <a:ext cx="0" cy="3612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23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433" y="342547"/>
            <a:ext cx="11015133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Velvet parameters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stimating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expected number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times a unique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genome of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observed in a set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reads of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can link this number to the traditional value of coverage, noted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217" r="-1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8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 records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 of the first read encountered containing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its occurrence within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records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each read, which of its original k-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overlapped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38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Simplification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72266" y="2457312"/>
            <a:ext cx="869245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TAGAC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53885" y="1910821"/>
            <a:ext cx="93274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85010" y="3059735"/>
            <a:ext cx="1008937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85011" y="1898253"/>
            <a:ext cx="1008937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06173" y="3064777"/>
            <a:ext cx="993424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ACTCC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94885" y="1899531"/>
            <a:ext cx="993423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ACTAG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27337" y="1899530"/>
            <a:ext cx="1034339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CTAGA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線單箭頭接點 16"/>
          <p:cNvCxnSpPr>
            <a:stCxn id="9" idx="3"/>
            <a:endCxn id="11" idx="1"/>
          </p:cNvCxnSpPr>
          <p:nvPr/>
        </p:nvCxnSpPr>
        <p:spPr>
          <a:xfrm flipV="1">
            <a:off x="4486625" y="2118387"/>
            <a:ext cx="1198386" cy="1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69" idx="3"/>
            <a:endCxn id="33" idx="1"/>
          </p:cNvCxnSpPr>
          <p:nvPr/>
        </p:nvCxnSpPr>
        <p:spPr>
          <a:xfrm>
            <a:off x="4483822" y="2680993"/>
            <a:ext cx="1218477" cy="10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5" idx="3"/>
            <a:endCxn id="169" idx="1"/>
          </p:cNvCxnSpPr>
          <p:nvPr/>
        </p:nvCxnSpPr>
        <p:spPr>
          <a:xfrm>
            <a:off x="3341511" y="2677446"/>
            <a:ext cx="209571" cy="3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1" idx="3"/>
            <a:endCxn id="13" idx="1"/>
          </p:cNvCxnSpPr>
          <p:nvPr/>
        </p:nvCxnSpPr>
        <p:spPr>
          <a:xfrm>
            <a:off x="6693948" y="2118387"/>
            <a:ext cx="500937" cy="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3" idx="3"/>
            <a:endCxn id="15" idx="1"/>
          </p:cNvCxnSpPr>
          <p:nvPr/>
        </p:nvCxnSpPr>
        <p:spPr>
          <a:xfrm flipV="1">
            <a:off x="8188308" y="2119664"/>
            <a:ext cx="5390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702299" y="2470940"/>
            <a:ext cx="1002583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GACTG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8" name="直線單箭頭接點 67"/>
          <p:cNvCxnSpPr>
            <a:stCxn id="169" idx="3"/>
            <a:endCxn id="10" idx="1"/>
          </p:cNvCxnSpPr>
          <p:nvPr/>
        </p:nvCxnSpPr>
        <p:spPr>
          <a:xfrm>
            <a:off x="4483822" y="2680993"/>
            <a:ext cx="1201188" cy="59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10" idx="3"/>
            <a:endCxn id="12" idx="1"/>
          </p:cNvCxnSpPr>
          <p:nvPr/>
        </p:nvCxnSpPr>
        <p:spPr>
          <a:xfrm>
            <a:off x="6693947" y="3279869"/>
            <a:ext cx="512226" cy="5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3341511" y="5022844"/>
            <a:ext cx="1151467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TAGACT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3553884" y="4462724"/>
            <a:ext cx="93274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685009" y="5611638"/>
            <a:ext cx="123508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685010" y="4450156"/>
            <a:ext cx="1509875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GACTAGA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7" name="直線單箭頭接點 116"/>
          <p:cNvCxnSpPr>
            <a:stCxn id="111" idx="3"/>
            <a:endCxn id="113" idx="1"/>
          </p:cNvCxnSpPr>
          <p:nvPr/>
        </p:nvCxnSpPr>
        <p:spPr>
          <a:xfrm flipV="1">
            <a:off x="4486624" y="4670290"/>
            <a:ext cx="1198386" cy="1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stCxn id="110" idx="3"/>
            <a:endCxn id="123" idx="1"/>
          </p:cNvCxnSpPr>
          <p:nvPr/>
        </p:nvCxnSpPr>
        <p:spPr>
          <a:xfrm flipV="1">
            <a:off x="4492978" y="5242977"/>
            <a:ext cx="12093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110" idx="3"/>
            <a:endCxn id="113" idx="1"/>
          </p:cNvCxnSpPr>
          <p:nvPr/>
        </p:nvCxnSpPr>
        <p:spPr>
          <a:xfrm flipV="1">
            <a:off x="4492978" y="4670290"/>
            <a:ext cx="1192032" cy="572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702298" y="5022843"/>
            <a:ext cx="1002583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4" name="直線單箭頭接點 123"/>
          <p:cNvCxnSpPr>
            <a:stCxn id="110" idx="3"/>
            <a:endCxn id="112" idx="1"/>
          </p:cNvCxnSpPr>
          <p:nvPr/>
        </p:nvCxnSpPr>
        <p:spPr>
          <a:xfrm>
            <a:off x="4492978" y="5242978"/>
            <a:ext cx="1192031" cy="58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弧形接點 147"/>
          <p:cNvCxnSpPr>
            <a:stCxn id="15" idx="3"/>
            <a:endCxn id="5" idx="1"/>
          </p:cNvCxnSpPr>
          <p:nvPr/>
        </p:nvCxnSpPr>
        <p:spPr>
          <a:xfrm flipH="1">
            <a:off x="2472266" y="2119664"/>
            <a:ext cx="7289410" cy="557782"/>
          </a:xfrm>
          <a:prstGeom prst="curvedConnector5">
            <a:avLst>
              <a:gd name="adj1" fmla="val -3136"/>
              <a:gd name="adj2" fmla="val -97744"/>
              <a:gd name="adj3" fmla="val 10313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弧形接點 149"/>
          <p:cNvCxnSpPr>
            <a:stCxn id="113" idx="3"/>
            <a:endCxn id="110" idx="1"/>
          </p:cNvCxnSpPr>
          <p:nvPr/>
        </p:nvCxnSpPr>
        <p:spPr>
          <a:xfrm flipH="1">
            <a:off x="3341511" y="4670290"/>
            <a:ext cx="3853374" cy="572688"/>
          </a:xfrm>
          <a:prstGeom prst="curvedConnector5">
            <a:avLst>
              <a:gd name="adj1" fmla="val -5932"/>
              <a:gd name="adj2" fmla="val -119524"/>
              <a:gd name="adj3" fmla="val 1059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3551082" y="2460859"/>
            <a:ext cx="93274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AGACT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73" name="直線單箭頭接點 172"/>
          <p:cNvCxnSpPr>
            <a:stCxn id="169" idx="3"/>
            <a:endCxn id="11" idx="1"/>
          </p:cNvCxnSpPr>
          <p:nvPr/>
        </p:nvCxnSpPr>
        <p:spPr>
          <a:xfrm flipV="1">
            <a:off x="4483822" y="2118387"/>
            <a:ext cx="1201189" cy="562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68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bubbles tips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54311" y="4006843"/>
            <a:ext cx="1151467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TAGACT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66684" y="3446723"/>
            <a:ext cx="93274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GGACT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97809" y="4595637"/>
            <a:ext cx="1235080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97810" y="3434155"/>
            <a:ext cx="1509875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GACTAGA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線單箭頭接點 18"/>
          <p:cNvCxnSpPr>
            <a:stCxn id="16" idx="3"/>
            <a:endCxn id="18" idx="1"/>
          </p:cNvCxnSpPr>
          <p:nvPr/>
        </p:nvCxnSpPr>
        <p:spPr>
          <a:xfrm flipV="1">
            <a:off x="5299424" y="3654289"/>
            <a:ext cx="1198386" cy="12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4" idx="3"/>
            <a:endCxn id="22" idx="1"/>
          </p:cNvCxnSpPr>
          <p:nvPr/>
        </p:nvCxnSpPr>
        <p:spPr>
          <a:xfrm flipV="1">
            <a:off x="5305778" y="4226976"/>
            <a:ext cx="12093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3"/>
            <a:endCxn id="18" idx="1"/>
          </p:cNvCxnSpPr>
          <p:nvPr/>
        </p:nvCxnSpPr>
        <p:spPr>
          <a:xfrm flipV="1">
            <a:off x="5305778" y="3654289"/>
            <a:ext cx="1192032" cy="572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515098" y="4006842"/>
            <a:ext cx="1002583" cy="440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GACTA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線單箭頭接點 22"/>
          <p:cNvCxnSpPr>
            <a:stCxn id="14" idx="3"/>
            <a:endCxn id="17" idx="1"/>
          </p:cNvCxnSpPr>
          <p:nvPr/>
        </p:nvCxnSpPr>
        <p:spPr>
          <a:xfrm>
            <a:off x="5305778" y="4226977"/>
            <a:ext cx="1192031" cy="58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弧形接點 23"/>
          <p:cNvCxnSpPr>
            <a:stCxn id="18" idx="3"/>
            <a:endCxn id="14" idx="1"/>
          </p:cNvCxnSpPr>
          <p:nvPr/>
        </p:nvCxnSpPr>
        <p:spPr>
          <a:xfrm flipH="1">
            <a:off x="4154311" y="3654289"/>
            <a:ext cx="3853374" cy="572688"/>
          </a:xfrm>
          <a:prstGeom prst="curvedConnector5">
            <a:avLst>
              <a:gd name="adj1" fmla="val -5932"/>
              <a:gd name="adj2" fmla="val -119524"/>
              <a:gd name="adj3" fmla="val 1059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橢圓 3"/>
          <p:cNvSpPr/>
          <p:nvPr/>
        </p:nvSpPr>
        <p:spPr>
          <a:xfrm>
            <a:off x="4070534" y="3310201"/>
            <a:ext cx="1490480" cy="713309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770488" y="2828458"/>
            <a:ext cx="1919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accent1"/>
                </a:solidFill>
              </a:rPr>
              <a:t>tip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04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4999" y="331258"/>
            <a:ext cx="10902244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bubbles with the Tour Bus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84"/>
          <a:stretch/>
        </p:blipFill>
        <p:spPr bwMode="auto">
          <a:xfrm>
            <a:off x="492739" y="1539169"/>
            <a:ext cx="5422638" cy="4579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15"/>
          <a:stretch/>
        </p:blipFill>
        <p:spPr bwMode="auto">
          <a:xfrm>
            <a:off x="5915377" y="1539169"/>
            <a:ext cx="5556654" cy="3563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915376" y="5826190"/>
                <a:ext cx="55566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Dijkstra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-like BFS :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2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𝑁𝑙𝑜𝑔𝑁</m:t>
                    </m:r>
                    <m:r>
                      <a:rPr lang="en-US" altLang="zh-TW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76" y="5826190"/>
                <a:ext cx="5556655" cy="584775"/>
              </a:xfrm>
              <a:prstGeom prst="rect">
                <a:avLst/>
              </a:prstGeom>
              <a:blipFill rotWithShape="0">
                <a:blip r:embed="rId4"/>
                <a:stretch>
                  <a:fillRect l="-2741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44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error removal on simulated data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29" y="1304131"/>
            <a:ext cx="6884988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92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error removal 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15" y="2235010"/>
            <a:ext cx="5833185" cy="2971623"/>
          </a:xfr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445" y="2269066"/>
            <a:ext cx="5743229" cy="292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coverage 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with experimental Streptococcus data.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848" y="1690687"/>
            <a:ext cx="5600085" cy="4926657"/>
          </a:xfrm>
        </p:spPr>
      </p:pic>
    </p:spTree>
    <p:extLst>
      <p:ext uri="{BB962C8B-B14F-4D97-AF65-F5344CB8AC3E}">
        <p14:creationId xmlns:p14="http://schemas.microsoft.com/office/powerpoint/2010/main" val="70361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Breadcrumb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42" y="1958181"/>
            <a:ext cx="8604250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9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433" y="342547"/>
            <a:ext cx="11015133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Breadcrumb performance on simulated data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40" y="1304131"/>
            <a:ext cx="6899275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146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Hashing the reads into k-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the graph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errors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repeats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49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433" y="342547"/>
            <a:ext cx="11015133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other very short read assemblers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9" y="2394576"/>
            <a:ext cx="11003807" cy="2775735"/>
          </a:xfrm>
        </p:spPr>
      </p:pic>
    </p:spTree>
    <p:extLst>
      <p:ext uri="{BB962C8B-B14F-4D97-AF65-F5344CB8AC3E}">
        <p14:creationId xmlns:p14="http://schemas.microsoft.com/office/powerpoint/2010/main" val="47955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7761</TotalTime>
  <Words>449</Words>
  <Application>Microsoft Office PowerPoint</Application>
  <PresentationFormat>寬螢幕</PresentationFormat>
  <Paragraphs>76</Paragraphs>
  <Slides>16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Velvet: Algorithms for de novo short read assembly using de Bruijn graphs</vt:lpstr>
      <vt:lpstr>Abstract</vt:lpstr>
      <vt:lpstr>Contig</vt:lpstr>
      <vt:lpstr>de Bruijn graphs</vt:lpstr>
      <vt:lpstr>Velvet parameters</vt:lpstr>
      <vt:lpstr>Construction</vt:lpstr>
      <vt:lpstr>Simplification</vt:lpstr>
      <vt:lpstr>Removing bubbles tips</vt:lpstr>
      <vt:lpstr>Removing bubbles with the Tour Bus algorithm</vt:lpstr>
      <vt:lpstr>Testing error removal on simulated data</vt:lpstr>
      <vt:lpstr>Testing error removal on experimental data</vt:lpstr>
      <vt:lpstr>Effect of coverage on contig length with experimental Streptococcus data.</vt:lpstr>
      <vt:lpstr>Breadcrumb algorithm</vt:lpstr>
      <vt:lpstr>Breadcrumb performance on simulated data sets </vt:lpstr>
      <vt:lpstr>Complexity</vt:lpstr>
      <vt:lpstr>Comparison to other very short read assemblers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pplab-class</cp:lastModifiedBy>
  <cp:revision>364</cp:revision>
  <dcterms:created xsi:type="dcterms:W3CDTF">2017-09-07T05:36:32Z</dcterms:created>
  <dcterms:modified xsi:type="dcterms:W3CDTF">2018-01-23T11:53:26Z</dcterms:modified>
</cp:coreProperties>
</file>