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9" r:id="rId5"/>
    <p:sldId id="268" r:id="rId6"/>
    <p:sldId id="260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0EBCA-0086-F048-B01F-3718B070CA76}" type="datetimeFigureOut">
              <a:rPr kumimoji="1" lang="zh-TW" altLang="en-US" smtClean="0"/>
              <a:t>2018/1/24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C06C9-D7E1-E04E-9D90-688C5AE939F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2644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31254-BE86-4F04-95D4-3ED68C515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44E6B9A-77F5-49C5-802B-B3585ED1C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CF44AD-5850-4D0B-B6C0-15A1B862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44203C-6C0A-4922-A723-B4812C218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2C53A3-0366-49A8-9255-F3D133AC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925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58167-A0DC-47E4-8959-B8BC193D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55C0B4-968C-454E-9155-CA52E8BE5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CEB00B-BB90-40DA-B841-971DE577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BC382F-A663-44A2-BACA-C9CEA6E6F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D13AD4-83E8-4A69-81E6-9FA601C2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793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2DB386-C89B-4B06-947E-519C34A5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993CD7-6D18-46A4-B81A-E66896D9D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3575C5-AEDD-4203-9381-33EA8713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C4E5B6-DD35-4634-8DF5-5182FB83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0CA801-7FBE-4D63-98E6-E2BA0BED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354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3D0861-46F5-4729-80B3-57DE16E6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E2B521-FBE0-4D26-9A33-9EF0C55ED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CE41B0D-10FB-4E36-9D7B-D40189CC6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A45F86-F63E-4A98-9B29-DBBF1E82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1DC692-2751-4D5D-BEFA-7F6EB7F8B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CA8617-2567-4060-ADBC-9D7430BA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75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B22B2-F0BB-4DE3-A92F-D3D35145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4D79BC-53D9-4E5E-B040-A454B2A66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A19C59-4FA2-4E9D-A070-192F9FA4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84B3E7-7545-4840-B596-BFF89E6E4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7BB37D6-6333-49A6-AC56-C37A25AE5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9800E2D-4073-42B2-A079-2BCB0467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D5C5292-B72E-4D4C-9219-D5D7F060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A23BCD7-5E7A-4688-8C91-3D2D0FE7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14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711E51-AA8A-412C-8CEA-1B183C6F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F1636F6-445F-4BAA-A392-D49EA53C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DD799D5-C525-45B3-978F-EE6D3096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30A5773-EEC8-4ABA-AAA3-72613E8A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8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7668496-9D2E-40F1-A29E-77DC4A0A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64D58C6-F75C-43CE-969C-623BDCE8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C04849-FF6F-4B3D-A9CF-492BA293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51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F517D0-723E-409B-BA90-B0FFDD8E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5DC24-5295-4C82-85AE-EA9A64C2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8B97225-453A-45DF-82D9-6E2E76CE9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AC0DF7-E785-49B5-B3DA-7958B01C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90B36B-7736-4C3A-9E4C-8CD4452B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676AFE-FC36-4C3A-AA03-679DBCDE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667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7E420-E630-4186-9190-5C9976EE0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1637418-1D0A-463B-ADEA-0FB6D63D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B5A3DC6-882C-4187-90AD-EC32E0EE3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38DA940-88E0-4CE3-9B9E-318148E0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BDFD3B-3E18-4D94-9A6E-F7B465FB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AB9A5B-1A8A-4593-9E41-9BD5C477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9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9BC847-C0B4-40F3-81E3-69E93983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098C4C8-F1AF-4D69-97CA-6B45E0397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D70C6E-A117-4ED3-95D5-0030FF3F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B68550-3407-4C1B-92B3-D6BC640F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EEFDC8-8257-4F3D-B61F-54EEF8C2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859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F93417-5BE7-46CA-8ECE-2F4AFFA10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862CC2C-0E31-4D96-9CB1-5EBCAB0A2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9F8236-EA1D-406E-BD94-0B207286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9B65BA-E6A8-4AD7-88C1-12618E0B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08A466-74D9-4DE2-AF27-2F175BB0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10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72600AE-0CC7-43D4-B837-0FBB9407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081984-B06C-4237-B11F-900F1AF4E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D76EFB-9897-4795-BDF7-983FE48B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930CE-1141-41E6-B9E7-048498F4294D}" type="datetimeFigureOut">
              <a:rPr lang="zh-TW" altLang="en-US" smtClean="0"/>
              <a:t>2018/1/24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F9E305-457A-4FFD-96C3-5597ED426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C712B-2F6F-4114-8E3D-B2567A20B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75F32-4F43-47B4-97E5-EF2C7F0B8C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22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3" Type="http://schemas.openxmlformats.org/officeDocument/2006/relationships/image" Target="../media/image3.png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.pn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0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ED9A74-8BA4-456A-A285-861A8CEA2D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 Deep Reinforcement Learning Framework for the</a:t>
            </a:r>
            <a:br>
              <a:rPr lang="en-US" altLang="zh-TW" dirty="0"/>
            </a:br>
            <a:r>
              <a:rPr lang="en-US" altLang="zh-TW" dirty="0"/>
              <a:t>Financial Portfolio Management Problem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465BF9C-9C4F-4620-B59B-0852BDBC4F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 err="1"/>
              <a:t>Zhengyao</a:t>
            </a:r>
            <a:r>
              <a:rPr lang="en-US" altLang="zh-TW" dirty="0"/>
              <a:t> Jiang, </a:t>
            </a:r>
            <a:r>
              <a:rPr lang="en-US" altLang="zh-TW" dirty="0" err="1"/>
              <a:t>Dixing</a:t>
            </a:r>
            <a:r>
              <a:rPr lang="en-US" altLang="zh-TW" dirty="0"/>
              <a:t> Xu, </a:t>
            </a:r>
            <a:r>
              <a:rPr lang="en-US" altLang="zh-TW" dirty="0" err="1"/>
              <a:t>Jinjun</a:t>
            </a:r>
            <a:r>
              <a:rPr lang="en-US" altLang="zh-TW" dirty="0"/>
              <a:t> Liang</a:t>
            </a:r>
          </a:p>
          <a:p>
            <a:r>
              <a:rPr lang="en-US" altLang="zh-TW" dirty="0"/>
              <a:t>Xi’an </a:t>
            </a:r>
            <a:r>
              <a:rPr lang="en-US" altLang="zh-TW" dirty="0" err="1"/>
              <a:t>Jiaotong</a:t>
            </a:r>
            <a:r>
              <a:rPr lang="en-US" altLang="zh-TW" dirty="0"/>
              <a:t>-Liverpool University(</a:t>
            </a:r>
            <a:r>
              <a:rPr lang="zh-TW" altLang="en-US" b="1" dirty="0"/>
              <a:t>西交利物浦大學</a:t>
            </a:r>
            <a:r>
              <a:rPr lang="en-US" altLang="zh-TW" b="1" dirty="0"/>
              <a:t>)</a:t>
            </a:r>
          </a:p>
          <a:p>
            <a:r>
              <a:rPr lang="en-US" altLang="zh-TW" dirty="0"/>
              <a:t>arxiv.org, 2017</a:t>
            </a:r>
          </a:p>
          <a:p>
            <a:endParaRPr lang="en-US" altLang="zh-TW" dirty="0"/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Jia-Hong Liu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2017/1/23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54252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9F6D19-8439-46AC-B64C-35CDC555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0D1100-BDF2-4478-9F47-A628175B7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dirty="0"/>
              <a:t>Financial portfolio management is the process of constant redistribution of a fund into different financial products. This paper presents a financial-model-free Reinforcement Learning framework to provide a deep machine learning solution to the portfolio management problem. The framework consists of the Ensemble of Identical Independent Evaluators(EIIE) topology, a Portfolio-Vector Memory (PVM), an Online Stochastic Batch Learning(OSBL) scheme, and a fully exploiting and explicit reward function. This framework is realized in three instants in this work with a Convolutional Neural Network (CNN), a basic Recurrent Neural Network (RNN), and a Long Short-Term Memory (LSTM). They are, along with a number of recently reviewed or published portfolio-selection strategies, examined in three back-test experiments with a trading period of 30 minutes in a cryptocurrency market. Cryptocurrencies are electronic and decentralized alternatives to government-issued money, with Bitcoin as the best-known example of a cryptocurrency. All three instances of the framework monopolize the top three positions in all experiments, outdistancing other compared trading algorithms. Although with a high commission rate of 0.25% in the </a:t>
            </a:r>
            <a:r>
              <a:rPr lang="en-US" altLang="zh-TW" sz="2000" dirty="0" err="1"/>
              <a:t>backtests</a:t>
            </a:r>
            <a:r>
              <a:rPr lang="en-US" altLang="zh-TW" sz="2000" dirty="0"/>
              <a:t>, the framework is able to achieve at least 4-fold returns in 50 days.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43742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95A513-3804-414E-8DEE-06484AD2D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Data Set</a:t>
            </a:r>
            <a:endParaRPr lang="zh-TW" altLang="en-US" dirty="0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B2E2FEC-B32B-4152-B460-38AEE96D304F}"/>
              </a:ext>
            </a:extLst>
          </p:cNvPr>
          <p:cNvCxnSpPr>
            <a:cxnSpLocks/>
          </p:cNvCxnSpPr>
          <p:nvPr/>
        </p:nvCxnSpPr>
        <p:spPr>
          <a:xfrm>
            <a:off x="3268387" y="2587888"/>
            <a:ext cx="7092017" cy="11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id="{CCCF9E8F-A510-4F08-85C3-90043FD07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392" y="5292150"/>
            <a:ext cx="7886700" cy="130492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9B50E07-C63D-4BEF-82DF-504C305CB2B2}"/>
              </a:ext>
            </a:extLst>
          </p:cNvPr>
          <p:cNvSpPr txBox="1"/>
          <p:nvPr/>
        </p:nvSpPr>
        <p:spPr>
          <a:xfrm>
            <a:off x="2729724" y="2801785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2014-07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278630-A7F6-4B78-9C39-9450B8C1B984}"/>
              </a:ext>
            </a:extLst>
          </p:cNvPr>
          <p:cNvSpPr txBox="1"/>
          <p:nvPr/>
        </p:nvSpPr>
        <p:spPr>
          <a:xfrm>
            <a:off x="10483934" y="2786703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2017-03</a:t>
            </a:r>
            <a:endParaRPr lang="zh-TW" alt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AFF272AA-7DF0-4A17-8EC8-140AB13C295A}"/>
              </a:ext>
            </a:extLst>
          </p:cNvPr>
          <p:cNvCxnSpPr>
            <a:cxnSpLocks/>
          </p:cNvCxnSpPr>
          <p:nvPr/>
        </p:nvCxnSpPr>
        <p:spPr>
          <a:xfrm flipV="1">
            <a:off x="3268387" y="2499103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E8D3C00-9025-4C85-872B-3234A82D5C74}"/>
              </a:ext>
            </a:extLst>
          </p:cNvPr>
          <p:cNvCxnSpPr>
            <a:cxnSpLocks/>
          </p:cNvCxnSpPr>
          <p:nvPr/>
        </p:nvCxnSpPr>
        <p:spPr>
          <a:xfrm flipV="1">
            <a:off x="7703690" y="2499099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B957E82-9130-4520-A950-803071B94E6F}"/>
              </a:ext>
            </a:extLst>
          </p:cNvPr>
          <p:cNvCxnSpPr>
            <a:cxnSpLocks/>
          </p:cNvCxnSpPr>
          <p:nvPr/>
        </p:nvCxnSpPr>
        <p:spPr>
          <a:xfrm flipV="1">
            <a:off x="6845647" y="2499102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8BF7F1D-113C-46B3-A299-8A9B1A76B3C5}"/>
              </a:ext>
            </a:extLst>
          </p:cNvPr>
          <p:cNvSpPr txBox="1"/>
          <p:nvPr/>
        </p:nvSpPr>
        <p:spPr>
          <a:xfrm>
            <a:off x="496406" y="2414889"/>
            <a:ext cx="2047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CV(cross-validation)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685EDFA-CDD3-4F1B-9EDB-B38DD1A65022}"/>
              </a:ext>
            </a:extLst>
          </p:cNvPr>
          <p:cNvSpPr txBox="1"/>
          <p:nvPr/>
        </p:nvSpPr>
        <p:spPr>
          <a:xfrm>
            <a:off x="6274712" y="2776620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2016-05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8455DE3-1686-410A-B5E8-88900D26E1CD}"/>
              </a:ext>
            </a:extLst>
          </p:cNvPr>
          <p:cNvSpPr txBox="1"/>
          <p:nvPr/>
        </p:nvSpPr>
        <p:spPr>
          <a:xfrm>
            <a:off x="4167992" y="2052419"/>
            <a:ext cx="1712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Trainng</a:t>
            </a:r>
            <a:r>
              <a:rPr lang="en-US" altLang="zh-TW" dirty="0"/>
              <a:t> Data Set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6B393EA-573F-4CC0-92BC-4BC899EF1BF5}"/>
              </a:ext>
            </a:extLst>
          </p:cNvPr>
          <p:cNvSpPr txBox="1"/>
          <p:nvPr/>
        </p:nvSpPr>
        <p:spPr>
          <a:xfrm>
            <a:off x="7232025" y="2786703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2016-06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9843FA4-4B4E-4769-ABDA-FD49FCCF2B86}"/>
              </a:ext>
            </a:extLst>
          </p:cNvPr>
          <p:cNvSpPr txBox="1"/>
          <p:nvPr/>
        </p:nvSpPr>
        <p:spPr>
          <a:xfrm>
            <a:off x="6605315" y="1999199"/>
            <a:ext cx="12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Data Range</a:t>
            </a:r>
            <a:endParaRPr lang="zh-TW" altLang="en-US" dirty="0"/>
          </a:p>
        </p:txBody>
      </p: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34C239DD-78E2-49C1-8424-3E44E9E39676}"/>
              </a:ext>
            </a:extLst>
          </p:cNvPr>
          <p:cNvCxnSpPr>
            <a:cxnSpLocks/>
          </p:cNvCxnSpPr>
          <p:nvPr/>
        </p:nvCxnSpPr>
        <p:spPr>
          <a:xfrm flipV="1">
            <a:off x="3268387" y="3980696"/>
            <a:ext cx="7092017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C2EEFA35-1260-4F8B-B3CD-762DB93A9E21}"/>
              </a:ext>
            </a:extLst>
          </p:cNvPr>
          <p:cNvSpPr txBox="1"/>
          <p:nvPr/>
        </p:nvSpPr>
        <p:spPr>
          <a:xfrm>
            <a:off x="2729724" y="4194594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2014-07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654A6A11-1D55-4635-A6A2-E0FF2282AAEC}"/>
              </a:ext>
            </a:extLst>
          </p:cNvPr>
          <p:cNvSpPr txBox="1"/>
          <p:nvPr/>
        </p:nvSpPr>
        <p:spPr>
          <a:xfrm>
            <a:off x="10493664" y="4158813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2017-03</a:t>
            </a:r>
            <a:endParaRPr lang="zh-TW" altLang="en-US" dirty="0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7D331FA9-AB60-4BA3-9840-E302314F45C4}"/>
              </a:ext>
            </a:extLst>
          </p:cNvPr>
          <p:cNvCxnSpPr>
            <a:cxnSpLocks/>
          </p:cNvCxnSpPr>
          <p:nvPr/>
        </p:nvCxnSpPr>
        <p:spPr>
          <a:xfrm flipV="1">
            <a:off x="3268387" y="3891912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105DA77C-A43D-417A-85BD-8B26F3BF3E14}"/>
              </a:ext>
            </a:extLst>
          </p:cNvPr>
          <p:cNvCxnSpPr>
            <a:cxnSpLocks/>
          </p:cNvCxnSpPr>
          <p:nvPr/>
        </p:nvCxnSpPr>
        <p:spPr>
          <a:xfrm flipV="1">
            <a:off x="8626479" y="3869747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8CBF73B6-B81B-4526-8EBA-8B7674BA6EED}"/>
              </a:ext>
            </a:extLst>
          </p:cNvPr>
          <p:cNvCxnSpPr>
            <a:cxnSpLocks/>
          </p:cNvCxnSpPr>
          <p:nvPr/>
        </p:nvCxnSpPr>
        <p:spPr>
          <a:xfrm flipV="1">
            <a:off x="5005413" y="3903579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5D5A346-067F-4029-98DC-87401731AA55}"/>
              </a:ext>
            </a:extLst>
          </p:cNvPr>
          <p:cNvSpPr txBox="1"/>
          <p:nvPr/>
        </p:nvSpPr>
        <p:spPr>
          <a:xfrm>
            <a:off x="496406" y="3807698"/>
            <a:ext cx="1233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Back-Test 1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0AC9430-6414-41F7-9E7E-BD68F175325B}"/>
              </a:ext>
            </a:extLst>
          </p:cNvPr>
          <p:cNvSpPr txBox="1"/>
          <p:nvPr/>
        </p:nvSpPr>
        <p:spPr>
          <a:xfrm>
            <a:off x="4545723" y="4189525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2014-11</a:t>
            </a:r>
            <a:endParaRPr lang="zh-TW" altLang="en-US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07F7B988-157F-4228-8E47-7875DCDE5CF8}"/>
              </a:ext>
            </a:extLst>
          </p:cNvPr>
          <p:cNvSpPr txBox="1"/>
          <p:nvPr/>
        </p:nvSpPr>
        <p:spPr>
          <a:xfrm>
            <a:off x="5621411" y="3520543"/>
            <a:ext cx="1712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Trainng</a:t>
            </a:r>
            <a:r>
              <a:rPr lang="en-US" altLang="zh-TW" dirty="0"/>
              <a:t> Data Set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A101782-7785-40FE-945F-CF41EFB987B2}"/>
              </a:ext>
            </a:extLst>
          </p:cNvPr>
          <p:cNvSpPr txBox="1"/>
          <p:nvPr/>
        </p:nvSpPr>
        <p:spPr>
          <a:xfrm>
            <a:off x="8147822" y="4186691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2016-09</a:t>
            </a:r>
            <a:endParaRPr lang="zh-TW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DFC5685-6127-44F3-B313-1E2BE350B0A7}"/>
              </a:ext>
            </a:extLst>
          </p:cNvPr>
          <p:cNvSpPr txBox="1"/>
          <p:nvPr/>
        </p:nvSpPr>
        <p:spPr>
          <a:xfrm>
            <a:off x="8506672" y="3541677"/>
            <a:ext cx="1253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Data Range</a:t>
            </a:r>
            <a:endParaRPr lang="zh-TW" altLang="en-US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74795521-BE31-4A22-B48B-6ACB28828775}"/>
              </a:ext>
            </a:extLst>
          </p:cNvPr>
          <p:cNvSpPr txBox="1"/>
          <p:nvPr/>
        </p:nvSpPr>
        <p:spPr>
          <a:xfrm>
            <a:off x="902493" y="4787269"/>
            <a:ext cx="461665" cy="2510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DBCC41C-1259-42D2-B556-01FE2BD6FC4D}"/>
              </a:ext>
            </a:extLst>
          </p:cNvPr>
          <p:cNvSpPr txBox="1"/>
          <p:nvPr/>
        </p:nvSpPr>
        <p:spPr>
          <a:xfrm>
            <a:off x="7103355" y="4805358"/>
            <a:ext cx="461665" cy="25103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90D9DC09-71B4-42A0-A812-AC37B5D4207C}"/>
              </a:ext>
            </a:extLst>
          </p:cNvPr>
          <p:cNvSpPr txBox="1"/>
          <p:nvPr/>
        </p:nvSpPr>
        <p:spPr>
          <a:xfrm>
            <a:off x="9133382" y="4168385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2016-10</a:t>
            </a:r>
            <a:endParaRPr lang="zh-TW" altLang="en-US" dirty="0"/>
          </a:p>
        </p:txBody>
      </p: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31D9AF1C-BF36-46A3-83B0-1E99C78E7B08}"/>
              </a:ext>
            </a:extLst>
          </p:cNvPr>
          <p:cNvCxnSpPr>
            <a:cxnSpLocks/>
          </p:cNvCxnSpPr>
          <p:nvPr/>
        </p:nvCxnSpPr>
        <p:spPr>
          <a:xfrm flipV="1">
            <a:off x="9542278" y="3882576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AE9F7AFF-5356-4DD3-A597-765DEA6748E8}"/>
              </a:ext>
            </a:extLst>
          </p:cNvPr>
          <p:cNvCxnSpPr>
            <a:cxnSpLocks/>
          </p:cNvCxnSpPr>
          <p:nvPr/>
        </p:nvCxnSpPr>
        <p:spPr>
          <a:xfrm>
            <a:off x="10422907" y="2596604"/>
            <a:ext cx="371366" cy="61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5482C660-3157-48E0-A746-9260466D5E23}"/>
              </a:ext>
            </a:extLst>
          </p:cNvPr>
          <p:cNvCxnSpPr>
            <a:cxnSpLocks/>
          </p:cNvCxnSpPr>
          <p:nvPr/>
        </p:nvCxnSpPr>
        <p:spPr>
          <a:xfrm>
            <a:off x="10422907" y="3980085"/>
            <a:ext cx="371366" cy="61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35C5A6A7-FBC4-4DC2-BF6D-DDE038F15915}"/>
              </a:ext>
            </a:extLst>
          </p:cNvPr>
          <p:cNvCxnSpPr>
            <a:cxnSpLocks/>
          </p:cNvCxnSpPr>
          <p:nvPr/>
        </p:nvCxnSpPr>
        <p:spPr>
          <a:xfrm flipV="1">
            <a:off x="10794273" y="2486485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CE3D01FE-A411-461F-ACB7-133F2090CEFB}"/>
              </a:ext>
            </a:extLst>
          </p:cNvPr>
          <p:cNvCxnSpPr>
            <a:cxnSpLocks/>
          </p:cNvCxnSpPr>
          <p:nvPr/>
        </p:nvCxnSpPr>
        <p:spPr>
          <a:xfrm flipV="1">
            <a:off x="10801702" y="3898600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B351F60-E1DB-4D6A-B3F4-BEA5D1C059D3}"/>
              </a:ext>
            </a:extLst>
          </p:cNvPr>
          <p:cNvSpPr txBox="1"/>
          <p:nvPr/>
        </p:nvSpPr>
        <p:spPr>
          <a:xfrm>
            <a:off x="4271161" y="1690688"/>
            <a:ext cx="1609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2 year 2 month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F2733A56-60D5-444C-8831-34B3040F35AF}"/>
              </a:ext>
            </a:extLst>
          </p:cNvPr>
          <p:cNvSpPr txBox="1"/>
          <p:nvPr/>
        </p:nvSpPr>
        <p:spPr>
          <a:xfrm>
            <a:off x="6724448" y="1697779"/>
            <a:ext cx="979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1 month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ACDF9945-E80C-4A01-988C-264520111733}"/>
              </a:ext>
            </a:extLst>
          </p:cNvPr>
          <p:cNvSpPr txBox="1"/>
          <p:nvPr/>
        </p:nvSpPr>
        <p:spPr>
          <a:xfrm>
            <a:off x="3257309" y="2130935"/>
            <a:ext cx="880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30 min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7" name="弧形 6">
            <a:extLst>
              <a:ext uri="{FF2B5EF4-FFF2-40B4-BE49-F238E27FC236}">
                <a16:creationId xmlns:a16="http://schemas.microsoft.com/office/drawing/2014/main" id="{3A5BCF8D-69EB-415B-BA3B-B15D7AE70BC2}"/>
              </a:ext>
            </a:extLst>
          </p:cNvPr>
          <p:cNvSpPr/>
          <p:nvPr/>
        </p:nvSpPr>
        <p:spPr>
          <a:xfrm>
            <a:off x="3226109" y="2385127"/>
            <a:ext cx="713714" cy="382695"/>
          </a:xfrm>
          <a:prstGeom prst="arc">
            <a:avLst>
              <a:gd name="adj1" fmla="val 20052733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弧形 44">
            <a:extLst>
              <a:ext uri="{FF2B5EF4-FFF2-40B4-BE49-F238E27FC236}">
                <a16:creationId xmlns:a16="http://schemas.microsoft.com/office/drawing/2014/main" id="{7857AE3B-EBD0-4643-9BB5-1943D5091ACA}"/>
              </a:ext>
            </a:extLst>
          </p:cNvPr>
          <p:cNvSpPr/>
          <p:nvPr/>
        </p:nvSpPr>
        <p:spPr>
          <a:xfrm flipH="1">
            <a:off x="3308262" y="2388772"/>
            <a:ext cx="787989" cy="382695"/>
          </a:xfrm>
          <a:prstGeom prst="arc">
            <a:avLst>
              <a:gd name="adj1" fmla="val 20052733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AF671CBC-D9C5-4515-99EF-DF75ED67D4CE}"/>
              </a:ext>
            </a:extLst>
          </p:cNvPr>
          <p:cNvSpPr txBox="1"/>
          <p:nvPr/>
        </p:nvSpPr>
        <p:spPr>
          <a:xfrm>
            <a:off x="3700709" y="3541676"/>
            <a:ext cx="104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</a:rPr>
              <a:t>4 month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7" name="弧形 46">
            <a:extLst>
              <a:ext uri="{FF2B5EF4-FFF2-40B4-BE49-F238E27FC236}">
                <a16:creationId xmlns:a16="http://schemas.microsoft.com/office/drawing/2014/main" id="{255E8E20-E170-417A-AA77-7DA9BB8869EF}"/>
              </a:ext>
            </a:extLst>
          </p:cNvPr>
          <p:cNvSpPr/>
          <p:nvPr/>
        </p:nvSpPr>
        <p:spPr>
          <a:xfrm>
            <a:off x="4277576" y="3794335"/>
            <a:ext cx="713714" cy="382695"/>
          </a:xfrm>
          <a:prstGeom prst="arc">
            <a:avLst>
              <a:gd name="adj1" fmla="val 20052733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弧形 47">
            <a:extLst>
              <a:ext uri="{FF2B5EF4-FFF2-40B4-BE49-F238E27FC236}">
                <a16:creationId xmlns:a16="http://schemas.microsoft.com/office/drawing/2014/main" id="{393CDA29-9170-4D97-9A87-1D21AAF94D5E}"/>
              </a:ext>
            </a:extLst>
          </p:cNvPr>
          <p:cNvSpPr/>
          <p:nvPr/>
        </p:nvSpPr>
        <p:spPr>
          <a:xfrm flipH="1">
            <a:off x="3303537" y="3756448"/>
            <a:ext cx="787989" cy="382695"/>
          </a:xfrm>
          <a:prstGeom prst="arc">
            <a:avLst>
              <a:gd name="adj1" fmla="val 20052733"/>
              <a:gd name="adj2" fmla="val 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2158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BB32891E-A7B4-4640-A753-764C76BF158B}"/>
              </a:ext>
            </a:extLst>
          </p:cNvPr>
          <p:cNvSpPr txBox="1"/>
          <p:nvPr/>
        </p:nvSpPr>
        <p:spPr>
          <a:xfrm>
            <a:off x="779477" y="1897464"/>
            <a:ext cx="537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Maximizing the average logarithmic cumulated return R</a:t>
            </a:r>
            <a:endParaRPr lang="zh-TW" altLang="en-US" dirty="0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A754EDB0-8602-40D2-B306-D243A5C9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Reward Function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5FF819E-884A-4EA3-A469-79E23583AFC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221878" y="2999518"/>
            <a:ext cx="0" cy="4172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圖片 19">
            <a:extLst>
              <a:ext uri="{FF2B5EF4-FFF2-40B4-BE49-F238E27FC236}">
                <a16:creationId xmlns:a16="http://schemas.microsoft.com/office/drawing/2014/main" id="{EDE27BE4-87B6-4E81-A9FC-B04ABF561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069" y="2455673"/>
            <a:ext cx="2828925" cy="60007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C61BB8F-3898-46C0-A49B-E6FB593615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27"/>
          <a:stretch/>
        </p:blipFill>
        <p:spPr>
          <a:xfrm>
            <a:off x="1111138" y="2617635"/>
            <a:ext cx="4140000" cy="3238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BC3C1F2-EC53-4C7A-8744-7123D36A3E4B}"/>
              </a:ext>
            </a:extLst>
          </p:cNvPr>
          <p:cNvSpPr/>
          <p:nvPr/>
        </p:nvSpPr>
        <p:spPr>
          <a:xfrm>
            <a:off x="1111139" y="2502785"/>
            <a:ext cx="4221478" cy="496733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105A31D-AA83-446B-8E7A-E428B24826F2}"/>
                  </a:ext>
                </a:extLst>
              </p:cNvPr>
              <p:cNvSpPr txBox="1"/>
              <p:nvPr/>
            </p:nvSpPr>
            <p:spPr>
              <a:xfrm>
                <a:off x="5332618" y="2619027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105A31D-AA83-446B-8E7A-E428B2482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618" y="2619027"/>
                <a:ext cx="226024" cy="276999"/>
              </a:xfrm>
              <a:prstGeom prst="rect">
                <a:avLst/>
              </a:prstGeom>
              <a:blipFill>
                <a:blip r:embed="rId9"/>
                <a:stretch>
                  <a:fillRect l="-13514" r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1823" y="5260839"/>
            <a:ext cx="2552700" cy="43180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6037" y="5754619"/>
            <a:ext cx="2755900" cy="482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799E005-B935-4F49-B352-0A43852B5B2A}"/>
                  </a:ext>
                </a:extLst>
              </p:cNvPr>
              <p:cNvSpPr/>
              <p:nvPr/>
            </p:nvSpPr>
            <p:spPr>
              <a:xfrm>
                <a:off x="1684645" y="3882372"/>
                <a:ext cx="2744982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 …)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99E005-B935-4F49-B352-0A43852B5B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645" y="3882372"/>
                <a:ext cx="2744982" cy="381515"/>
              </a:xfrm>
              <a:prstGeom prst="rect">
                <a:avLst/>
              </a:prstGeom>
              <a:blipFill rotWithShape="0">
                <a:blip r:embed="rId12"/>
                <a:stretch>
                  <a:fillRect t="-93548" b="-1177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/>
              <p:cNvSpPr txBox="1"/>
              <p:nvPr/>
            </p:nvSpPr>
            <p:spPr>
              <a:xfrm>
                <a:off x="1306037" y="3578556"/>
                <a:ext cx="1117870" cy="2706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charset="0"/>
                        </a:rPr>
                        <m:t>𝜋</m:t>
                      </m:r>
                      <m:r>
                        <a:rPr kumimoji="1" lang="en-US" altLang="zh-TW" b="0" i="1" baseline="-25000" smtClean="0">
                          <a:latin typeface="Cambria Math" charset="0"/>
                        </a:rPr>
                        <m:t>𝜃</m:t>
                      </m:r>
                      <m:d>
                        <m:dPr>
                          <m:ctrlPr>
                            <a:rPr kumimoji="1" lang="en-US" altLang="zh-TW" b="0" i="1" baseline="-2500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b="0" i="1" smtClean="0">
                              <a:latin typeface="Cambria Math" charset="0"/>
                            </a:rPr>
                            <m:t>𝑠</m:t>
                          </m:r>
                          <m:r>
                            <a:rPr kumimoji="1" lang="en-US" altLang="zh-TW" b="0" i="1" baseline="-25000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kumimoji="1" lang="en-US" altLang="zh-TW" b="0" i="0" smtClean="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baseline="-25000" dirty="0"/>
              </a:p>
            </p:txBody>
          </p:sp>
        </mc:Choice>
        <mc:Fallback xmlns="">
          <p:sp>
            <p:nvSpPr>
              <p:cNvPr id="24" name="文字方塊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037" y="3578556"/>
                <a:ext cx="1117870" cy="270652"/>
              </a:xfrm>
              <a:prstGeom prst="rect">
                <a:avLst/>
              </a:prstGeom>
              <a:blipFill>
                <a:blip r:embed="rId13"/>
                <a:stretch>
                  <a:fillRect l="-3261" r="-1630" b="-3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5106C462-D74B-47F3-ADDA-45031668C5B6}"/>
              </a:ext>
            </a:extLst>
          </p:cNvPr>
          <p:cNvSpPr/>
          <p:nvPr/>
        </p:nvSpPr>
        <p:spPr>
          <a:xfrm>
            <a:off x="1111136" y="3416782"/>
            <a:ext cx="9661869" cy="2882417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8E7F45F-957B-472F-BF7E-64E9C064928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1380" y="4301478"/>
            <a:ext cx="1727163" cy="327566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F689B1BD-E753-4B05-BE10-F95D3994D6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9627" y="3616360"/>
            <a:ext cx="6262747" cy="106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8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754EDB0-8602-40D2-B306-D243A5C9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Reward Function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992688-7E03-4692-880A-B5A61F08A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56" y="3966726"/>
            <a:ext cx="2743200" cy="22479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0A54843-8831-483D-8FCC-8EDDE7BF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317" y="3457889"/>
            <a:ext cx="5181600" cy="1752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6F46322-B63D-4591-A46B-DDA1B5A567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131" y="5225560"/>
            <a:ext cx="4972050" cy="2286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368901D-3DB3-418E-99B0-FB854191B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3181" y="5206510"/>
            <a:ext cx="2009775" cy="247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1D7766E-BCB2-4C2D-8C22-CD7A3D1B7282}"/>
                  </a:ext>
                </a:extLst>
              </p:cNvPr>
              <p:cNvSpPr/>
              <p:nvPr/>
            </p:nvSpPr>
            <p:spPr>
              <a:xfrm>
                <a:off x="4208208" y="5531724"/>
                <a:ext cx="3223683" cy="929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 …)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⊘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,…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D7766E-BCB2-4C2D-8C22-CD7A3D1B72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208" y="5531724"/>
                <a:ext cx="3223683" cy="929998"/>
              </a:xfrm>
              <a:prstGeom prst="rect">
                <a:avLst/>
              </a:prstGeom>
              <a:blipFill rotWithShape="0">
                <a:blip r:embed="rId6"/>
                <a:stretch>
                  <a:fillRect t="-372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BB32891E-A7B4-4640-A753-764C76BF158B}"/>
              </a:ext>
            </a:extLst>
          </p:cNvPr>
          <p:cNvSpPr txBox="1"/>
          <p:nvPr/>
        </p:nvSpPr>
        <p:spPr>
          <a:xfrm>
            <a:off x="779477" y="1897464"/>
            <a:ext cx="537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Maximizing the average logarithmic cumulated return R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DE27BE4-87B6-4E81-A9FC-B04ABF561E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069" y="2455673"/>
            <a:ext cx="2828925" cy="6000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C61BB8F-3898-46C0-A49B-E6FB5936152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2327"/>
          <a:stretch/>
        </p:blipFill>
        <p:spPr>
          <a:xfrm>
            <a:off x="1111138" y="2617635"/>
            <a:ext cx="4140000" cy="323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105A31D-AA83-446B-8E7A-E428B24826F2}"/>
                  </a:ext>
                </a:extLst>
              </p:cNvPr>
              <p:cNvSpPr txBox="1"/>
              <p:nvPr/>
            </p:nvSpPr>
            <p:spPr>
              <a:xfrm>
                <a:off x="5332618" y="2619027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05A31D-AA83-446B-8E7A-E428B2482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618" y="2619027"/>
                <a:ext cx="226024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3514" r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4">
            <a:extLst>
              <a:ext uri="{FF2B5EF4-FFF2-40B4-BE49-F238E27FC236}">
                <a16:creationId xmlns:a16="http://schemas.microsoft.com/office/drawing/2014/main" id="{65FF819E-884A-4EA3-A469-79E23583AFCB}"/>
              </a:ext>
            </a:extLst>
          </p:cNvPr>
          <p:cNvCxnSpPr>
            <a:cxnSpLocks/>
          </p:cNvCxnSpPr>
          <p:nvPr/>
        </p:nvCxnSpPr>
        <p:spPr>
          <a:xfrm flipH="1">
            <a:off x="3221877" y="2999518"/>
            <a:ext cx="1" cy="41726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2BC3C1F2-EC53-4C7A-8744-7123D36A3E4B}"/>
              </a:ext>
            </a:extLst>
          </p:cNvPr>
          <p:cNvSpPr/>
          <p:nvPr/>
        </p:nvSpPr>
        <p:spPr>
          <a:xfrm>
            <a:off x="1111139" y="2502785"/>
            <a:ext cx="4221478" cy="496733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06C462-D74B-47F3-ADDA-45031668C5B6}"/>
              </a:ext>
            </a:extLst>
          </p:cNvPr>
          <p:cNvSpPr/>
          <p:nvPr/>
        </p:nvSpPr>
        <p:spPr>
          <a:xfrm>
            <a:off x="1111137" y="3416782"/>
            <a:ext cx="10242663" cy="3271885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2ADC89A7-D905-4345-B499-733CEC4671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0180" y="3457889"/>
            <a:ext cx="1810958" cy="4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34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157DFD-4FE4-43B6-8E2F-EB4691FEC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Reward Function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8F4B6A3-EF60-4DB9-AED2-158F99B856E2}"/>
              </a:ext>
            </a:extLst>
          </p:cNvPr>
          <p:cNvSpPr txBox="1"/>
          <p:nvPr/>
        </p:nvSpPr>
        <p:spPr>
          <a:xfrm>
            <a:off x="779477" y="1897464"/>
            <a:ext cx="5379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Maximizing the average logarithmic cumulated return R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407C953-2E82-4E51-A42E-E24975BEC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069" y="2455673"/>
            <a:ext cx="2828925" cy="6000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8EE3C68-B41E-4CB3-A6A2-7CBF716DBC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27"/>
          <a:stretch/>
        </p:blipFill>
        <p:spPr>
          <a:xfrm>
            <a:off x="1111138" y="2617635"/>
            <a:ext cx="4140000" cy="3238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DE6C7DA-55C0-411E-A431-BC3B624C2C16}"/>
              </a:ext>
            </a:extLst>
          </p:cNvPr>
          <p:cNvSpPr/>
          <p:nvPr/>
        </p:nvSpPr>
        <p:spPr>
          <a:xfrm>
            <a:off x="5558642" y="2455673"/>
            <a:ext cx="3098073" cy="698587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DE6F36C-5986-4FF2-A997-2D4193877E3F}"/>
                  </a:ext>
                </a:extLst>
              </p:cNvPr>
              <p:cNvSpPr txBox="1"/>
              <p:nvPr/>
            </p:nvSpPr>
            <p:spPr>
              <a:xfrm>
                <a:off x="5332618" y="2619027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FDE6F36C-5986-4FF2-A997-2D4193877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618" y="2619027"/>
                <a:ext cx="226024" cy="276999"/>
              </a:xfrm>
              <a:prstGeom prst="rect">
                <a:avLst/>
              </a:prstGeom>
              <a:blipFill>
                <a:blip r:embed="rId4"/>
                <a:stretch>
                  <a:fillRect l="-13514" r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圖片 13">
            <a:extLst>
              <a:ext uri="{FF2B5EF4-FFF2-40B4-BE49-F238E27FC236}">
                <a16:creationId xmlns:a16="http://schemas.microsoft.com/office/drawing/2014/main" id="{94E8FA05-7C4C-41A1-B7D5-297073B25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499" y="3600030"/>
            <a:ext cx="4114800" cy="5715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2332D47-D206-4E7A-A339-C796526E85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499" y="4271979"/>
            <a:ext cx="895350" cy="23812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D59F2A8-760C-4CE9-8E3A-BFACCB2083FA}"/>
              </a:ext>
            </a:extLst>
          </p:cNvPr>
          <p:cNvSpPr/>
          <p:nvPr/>
        </p:nvSpPr>
        <p:spPr>
          <a:xfrm>
            <a:off x="1449198" y="3373772"/>
            <a:ext cx="9515211" cy="3277143"/>
          </a:xfrm>
          <a:prstGeom prst="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0362FF3-FDD9-4291-82FE-B66C3E991E70}"/>
              </a:ext>
            </a:extLst>
          </p:cNvPr>
          <p:cNvCxnSpPr>
            <a:cxnSpLocks/>
          </p:cNvCxnSpPr>
          <p:nvPr/>
        </p:nvCxnSpPr>
        <p:spPr>
          <a:xfrm>
            <a:off x="6892432" y="3146561"/>
            <a:ext cx="0" cy="19657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C06A56A-53DA-4CDF-B372-5E42E5038804}"/>
                  </a:ext>
                </a:extLst>
              </p:cNvPr>
              <p:cNvSpPr/>
              <p:nvPr/>
            </p:nvSpPr>
            <p:spPr>
              <a:xfrm>
                <a:off x="1717817" y="5660021"/>
                <a:ext cx="6096000" cy="92999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 …)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⊘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,…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C06A56A-53DA-4CDF-B372-5E42E5038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817" y="5660021"/>
                <a:ext cx="6096000" cy="929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FEB35D2-A729-426A-B987-D48706323E25}"/>
                  </a:ext>
                </a:extLst>
              </p:cNvPr>
              <p:cNvSpPr/>
              <p:nvPr/>
            </p:nvSpPr>
            <p:spPr>
              <a:xfrm>
                <a:off x="1714499" y="5278506"/>
                <a:ext cx="2744982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 …)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6FEB35D2-A729-426A-B987-D48706323E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499" y="5278506"/>
                <a:ext cx="2744982" cy="381515"/>
              </a:xfrm>
              <a:prstGeom prst="rect">
                <a:avLst/>
              </a:prstGeom>
              <a:blipFill>
                <a:blip r:embed="rId8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圖片 17">
            <a:extLst>
              <a:ext uri="{FF2B5EF4-FFF2-40B4-BE49-F238E27FC236}">
                <a16:creationId xmlns:a16="http://schemas.microsoft.com/office/drawing/2014/main" id="{E2559E75-8841-4D7A-A134-A069EDF2A1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1138" y="5391493"/>
            <a:ext cx="5462265" cy="92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55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47284E-288E-4129-B8E2-2FDAE2EB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Convolutional Neural Network(CNN)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F18B872-15EB-4BAB-837E-3E3629424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172494"/>
            <a:ext cx="9601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36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C36DC8-3492-4962-8BAE-E866AAD1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Recurrent Neural Network(RNN)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9984" y="2388393"/>
            <a:ext cx="9572032" cy="363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46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Results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7445" y="1825625"/>
            <a:ext cx="72171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37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/>
              <a:t>2016-09-07-4:00 to 2016-10-28-8:00 </a:t>
            </a:r>
            <a:endParaRPr kumimoji="1"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4329" y="1825625"/>
            <a:ext cx="82033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45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/>
              <a:t>2016-12-08-4:00 to 2017-01-28-8:00 </a:t>
            </a:r>
            <a:endParaRPr kumimoji="1"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057" y="1825625"/>
            <a:ext cx="7967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4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1CC342-3653-4711-8648-CCDE78D5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2EB54F-3E8C-4645-88B9-D2EB21C63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A140409D-09DA-4B20-A36C-1875B76BC26D}"/>
              </a:ext>
            </a:extLst>
          </p:cNvPr>
          <p:cNvCxnSpPr>
            <a:cxnSpLocks/>
          </p:cNvCxnSpPr>
          <p:nvPr/>
        </p:nvCxnSpPr>
        <p:spPr>
          <a:xfrm>
            <a:off x="6451314" y="4468591"/>
            <a:ext cx="24074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FEB246F7-A18C-40A3-AFA9-55F988CD7C21}"/>
              </a:ext>
            </a:extLst>
          </p:cNvPr>
          <p:cNvCxnSpPr>
            <a:cxnSpLocks/>
          </p:cNvCxnSpPr>
          <p:nvPr/>
        </p:nvCxnSpPr>
        <p:spPr>
          <a:xfrm flipV="1">
            <a:off x="6076308" y="4370838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4B29ABB-8992-4C08-B731-AB21D7E92641}"/>
              </a:ext>
            </a:extLst>
          </p:cNvPr>
          <p:cNvCxnSpPr>
            <a:cxnSpLocks/>
          </p:cNvCxnSpPr>
          <p:nvPr/>
        </p:nvCxnSpPr>
        <p:spPr>
          <a:xfrm>
            <a:off x="8886548" y="4474030"/>
            <a:ext cx="371366" cy="61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931E6A2C-0FED-4B87-8CD4-9A27EB2F57C6}"/>
              </a:ext>
            </a:extLst>
          </p:cNvPr>
          <p:cNvCxnSpPr>
            <a:cxnSpLocks/>
          </p:cNvCxnSpPr>
          <p:nvPr/>
        </p:nvCxnSpPr>
        <p:spPr>
          <a:xfrm flipV="1">
            <a:off x="9279549" y="4379807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9B835174-0B36-4C41-AEE4-80A0E787DE3F}"/>
              </a:ext>
            </a:extLst>
          </p:cNvPr>
          <p:cNvCxnSpPr>
            <a:cxnSpLocks/>
          </p:cNvCxnSpPr>
          <p:nvPr/>
        </p:nvCxnSpPr>
        <p:spPr>
          <a:xfrm>
            <a:off x="6083111" y="4474030"/>
            <a:ext cx="371366" cy="611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B4679E6-C2A8-4288-ADEB-DDFA5FA74691}"/>
              </a:ext>
            </a:extLst>
          </p:cNvPr>
          <p:cNvCxnSpPr>
            <a:cxnSpLocks/>
          </p:cNvCxnSpPr>
          <p:nvPr/>
        </p:nvCxnSpPr>
        <p:spPr>
          <a:xfrm flipV="1">
            <a:off x="7616035" y="4379807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2F9C3F5-EE03-4259-A962-B263E23ACBCE}"/>
                  </a:ext>
                </a:extLst>
              </p:cNvPr>
              <p:cNvSpPr txBox="1"/>
              <p:nvPr/>
            </p:nvSpPr>
            <p:spPr>
              <a:xfrm>
                <a:off x="5992541" y="4580991"/>
                <a:ext cx="181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2F9C3F5-EE03-4259-A962-B263E23AC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541" y="4580991"/>
                <a:ext cx="181140" cy="276999"/>
              </a:xfrm>
              <a:prstGeom prst="rect">
                <a:avLst/>
              </a:prstGeom>
              <a:blipFill>
                <a:blip r:embed="rId2"/>
                <a:stretch>
                  <a:fillRect l="-30000" r="-30000" b="-65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574FB2D-64D2-4646-B4CF-14E6D216BC14}"/>
              </a:ext>
            </a:extLst>
          </p:cNvPr>
          <p:cNvCxnSpPr>
            <a:cxnSpLocks/>
          </p:cNvCxnSpPr>
          <p:nvPr/>
        </p:nvCxnSpPr>
        <p:spPr>
          <a:xfrm flipV="1">
            <a:off x="6828869" y="4379807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660708E-04EF-4BF0-9DEE-00CD54F3C0B0}"/>
              </a:ext>
            </a:extLst>
          </p:cNvPr>
          <p:cNvCxnSpPr>
            <a:cxnSpLocks/>
          </p:cNvCxnSpPr>
          <p:nvPr/>
        </p:nvCxnSpPr>
        <p:spPr>
          <a:xfrm flipV="1">
            <a:off x="8382231" y="4379807"/>
            <a:ext cx="0" cy="177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C0F9054-26C7-4560-820C-45935B418280}"/>
              </a:ext>
            </a:extLst>
          </p:cNvPr>
          <p:cNvSpPr txBox="1"/>
          <p:nvPr/>
        </p:nvSpPr>
        <p:spPr>
          <a:xfrm>
            <a:off x="7596757" y="4590086"/>
            <a:ext cx="7694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A86EB50-AD09-442E-A6F4-8E401FE33B95}"/>
              </a:ext>
            </a:extLst>
          </p:cNvPr>
          <p:cNvSpPr txBox="1"/>
          <p:nvPr/>
        </p:nvSpPr>
        <p:spPr>
          <a:xfrm>
            <a:off x="9148427" y="4543919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</a:t>
            </a:r>
            <a:r>
              <a:rPr lang="en-US" altLang="zh-TW" baseline="-25000" dirty="0"/>
              <a:t>f+1</a:t>
            </a:r>
            <a:endParaRPr lang="zh-TW" altLang="en-US" baseline="-25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74BB914-C62C-4D1A-B730-AD0082C43BA5}"/>
              </a:ext>
            </a:extLst>
          </p:cNvPr>
          <p:cNvSpPr txBox="1"/>
          <p:nvPr/>
        </p:nvSpPr>
        <p:spPr>
          <a:xfrm>
            <a:off x="6746424" y="4580990"/>
            <a:ext cx="26449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dirty="0"/>
              <a:t>t-1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A2086A2-10C7-4EBF-8663-F0289C4714E6}"/>
              </a:ext>
            </a:extLst>
          </p:cNvPr>
          <p:cNvSpPr txBox="1"/>
          <p:nvPr/>
        </p:nvSpPr>
        <p:spPr>
          <a:xfrm>
            <a:off x="8259538" y="4601767"/>
            <a:ext cx="30938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TW" dirty="0"/>
              <a:t>t+1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4368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398</Words>
  <Application>Microsoft Office PowerPoint</Application>
  <PresentationFormat>寬螢幕</PresentationFormat>
  <Paragraphs>57</Paragraphs>
  <Slides>12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Deep Reinforcement Learning Framework for the Financial Portfolio Management Problem</vt:lpstr>
      <vt:lpstr>Abstract</vt:lpstr>
      <vt:lpstr>Data Set</vt:lpstr>
      <vt:lpstr>Reward Function</vt:lpstr>
      <vt:lpstr>Reward Function</vt:lpstr>
      <vt:lpstr>Reward Function</vt:lpstr>
      <vt:lpstr>Convolutional Neural Network(CNN)</vt:lpstr>
      <vt:lpstr>Recurrent Neural Network(RNN)</vt:lpstr>
      <vt:lpstr>Results</vt:lpstr>
      <vt:lpstr>2016-09-07-4:00 to 2016-10-28-8:00 </vt:lpstr>
      <vt:lpstr>2016-12-08-4:00 to 2017-01-28-8:00 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Deep Reinforcement Learning Framework for the Financial Portfolio Management Problem</dc:title>
  <dc:creator>ike.liu</dc:creator>
  <cp:lastModifiedBy>ike.liu</cp:lastModifiedBy>
  <cp:revision>45</cp:revision>
  <dcterms:created xsi:type="dcterms:W3CDTF">2018-01-19T05:07:05Z</dcterms:created>
  <dcterms:modified xsi:type="dcterms:W3CDTF">2018-01-24T09:31:56Z</dcterms:modified>
</cp:coreProperties>
</file>