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5" r:id="rId7"/>
    <p:sldId id="266" r:id="rId8"/>
    <p:sldId id="261" r:id="rId9"/>
    <p:sldId id="262" r:id="rId10"/>
    <p:sldId id="263" r:id="rId11"/>
    <p:sldId id="264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80" autoAdjust="0"/>
    <p:restoredTop sz="88592" autoAdjust="0"/>
  </p:normalViewPr>
  <p:slideViewPr>
    <p:cSldViewPr snapToGrid="0">
      <p:cViewPr varScale="1">
        <p:scale>
          <a:sx n="61" d="100"/>
          <a:sy n="61" d="100"/>
        </p:scale>
        <p:origin x="900" y="4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B1F98-CDCA-4E1F-B89C-7712647B005A}" type="datetimeFigureOut">
              <a:rPr lang="zh-TW" altLang="en-US" smtClean="0"/>
              <a:t>2018/11/11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E0A4FA-366C-40B7-9E40-EFBC7A72D85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0661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https://www.google.com.tw/maps/search/Bar+Ilan+University,/@32.0615398,34.8034257,11.85z</a:t>
            </a:r>
          </a:p>
          <a:p>
            <a:r>
              <a:rPr lang="en-US" altLang="zh-TW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https://www.google.com.tw/maps/place/Jerusalem+College+of+Technology/@31.8419654,34.9372047,11.15z/data=!4m5!3m4!1s0x0:0x8a4bb3db69092450!8m2!3d31.7650581!4d35.1911581</a:t>
            </a:r>
            <a:endParaRPr lang="en-US" altLang="zh-TW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12154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48804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14515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 smtClean="0"/>
              <a:t>原理：把資料中重複多次的內容，記錄其內容細節與出現的次數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2594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2018/11/11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5846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2018/11/11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7946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2018/11/11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3438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2018/11/11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0689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2018/11/11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3240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2018/11/11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6587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2018/11/11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6154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2018/11/11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7834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2018/11/11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4832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2018/11/11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6856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EFCFE-425C-4696-9D05-22E06C3112FC}" type="datetimeFigureOut">
              <a:rPr lang="zh-TW" altLang="en-US" smtClean="0"/>
              <a:t>2018/11/11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9145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6EFCFE-425C-4696-9D05-22E06C3112FC}" type="datetimeFigureOut">
              <a:rPr lang="zh-TW" altLang="en-US" smtClean="0"/>
              <a:t>2018/11/11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633CA-77E0-4863-94F8-E28139DFB2B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8622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447A32-0D96-4B57-86B2-82EC84E899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922" y="1064304"/>
            <a:ext cx="8366235" cy="1605324"/>
          </a:xfrm>
        </p:spPr>
        <p:txBody>
          <a:bodyPr>
            <a:no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Parallel Huffman Decoding with</a:t>
            </a:r>
            <a:b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to JPEG </a:t>
            </a: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Files*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1456E59-5D91-4093-B1A4-6F308EA967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0202" y="3451415"/>
            <a:ext cx="8526955" cy="433133"/>
          </a:xfrm>
        </p:spPr>
        <p:txBody>
          <a:bodyPr>
            <a:noAutofit/>
          </a:bodyPr>
          <a:lstStyle/>
          <a:p>
            <a:r>
              <a:rPr lang="en-US" altLang="zh-TW" dirty="0"/>
              <a:t>Shmuel </a:t>
            </a:r>
            <a:r>
              <a:rPr lang="en-US" altLang="zh-TW" dirty="0" err="1"/>
              <a:t>Tomi</a:t>
            </a:r>
            <a:r>
              <a:rPr lang="en-US" altLang="zh-TW" dirty="0"/>
              <a:t> Klein </a:t>
            </a:r>
            <a:r>
              <a:rPr lang="en-US" altLang="zh-TW" dirty="0" smtClean="0"/>
              <a:t>,</a:t>
            </a:r>
            <a:r>
              <a:rPr lang="en-US" altLang="zh-TW" dirty="0"/>
              <a:t> </a:t>
            </a:r>
            <a:r>
              <a:rPr lang="en-US" altLang="zh-TW" dirty="0" err="1" smtClean="0"/>
              <a:t>Yair</a:t>
            </a:r>
            <a:r>
              <a:rPr lang="en-US" altLang="zh-TW" dirty="0" smtClean="0"/>
              <a:t> Wiseman</a:t>
            </a:r>
            <a:endParaRPr lang="zh-TW" altLang="en-US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A64E0364-4674-4930-835E-A413D880DCDB}"/>
              </a:ext>
            </a:extLst>
          </p:cNvPr>
          <p:cNvSpPr txBox="1">
            <a:spLocks/>
          </p:cNvSpPr>
          <p:nvPr/>
        </p:nvSpPr>
        <p:spPr>
          <a:xfrm>
            <a:off x="4785516" y="5485626"/>
            <a:ext cx="3264031" cy="856478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</a:t>
            </a:r>
            <a:r>
              <a:rPr lang="en-US" altLang="zh-TW" sz="1800" dirty="0"/>
              <a:t> </a:t>
            </a:r>
            <a:r>
              <a:rPr lang="en-US" altLang="zh-TW" sz="1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lang="en-US" altLang="zh-TW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Feng-Yang</a:t>
            </a:r>
            <a:r>
              <a:rPr lang="en-US" altLang="zh-TW" sz="1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Tsai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r"/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Date: </a:t>
            </a:r>
            <a:r>
              <a:rPr lang="en-US" altLang="zh-TW" sz="18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2018.11.11</a:t>
            </a:r>
            <a:endParaRPr lang="zh-TW" altLang="en-US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76243CF-D414-4295-8B1E-9BF6541E940C}"/>
              </a:ext>
            </a:extLst>
          </p:cNvPr>
          <p:cNvSpPr/>
          <p:nvPr/>
        </p:nvSpPr>
        <p:spPr>
          <a:xfrm>
            <a:off x="578066" y="4081903"/>
            <a:ext cx="807194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Computer Journal, Volume 46, Issue 5, 1 January 2003, Pages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487–497</a:t>
            </a:r>
            <a:endParaRPr lang="zh-TW" altLang="en-US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72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19"/>
    </mc:Choice>
    <mc:Fallback xmlns="">
      <p:transition spd="slow" advTm="2519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906" y="644700"/>
            <a:ext cx="7886700" cy="583367"/>
          </a:xfrm>
        </p:spPr>
        <p:txBody>
          <a:bodyPr>
            <a:normAutofit/>
          </a:bodyPr>
          <a:lstStyle/>
          <a:p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26DCC3-1991-4383-BF81-99FF89553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906" y="1353683"/>
            <a:ext cx="8335931" cy="5131633"/>
          </a:xfrm>
        </p:spPr>
        <p:txBody>
          <a:bodyPr>
            <a:noAutofit/>
          </a:bodyPr>
          <a:lstStyle/>
          <a:p>
            <a:pPr marL="0" indent="0" algn="just">
              <a:lnSpc>
                <a:spcPts val="3000"/>
              </a:lnSpc>
              <a:spcBef>
                <a:spcPts val="0"/>
              </a:spcBef>
              <a:buNone/>
            </a:pP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 simple parallel algorithm for decoding a Huffman encoded ﬁle is presented, exploiting </a:t>
            </a:r>
            <a:r>
              <a:rPr lang="en-US" altLang="zh-TW" sz="26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the tendency 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of Huffman codes to resynchronize quickly, i.e. recovering after possible decoding </a:t>
            </a:r>
            <a:r>
              <a:rPr lang="en-US" altLang="zh-TW" sz="26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errors, in 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most </a:t>
            </a:r>
            <a:r>
              <a:rPr lang="en-US" altLang="zh-TW" sz="26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cases. 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The average number of bits that have to be processed until synchronization </a:t>
            </a:r>
            <a:r>
              <a:rPr lang="en-US" altLang="zh-TW" sz="26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is analyzed 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and shows good agreement with empirical data. As Huffman coding is also a part </a:t>
            </a:r>
            <a:r>
              <a:rPr lang="en-US" altLang="zh-TW" sz="26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of the 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JPEG image compression standard, the suggested algorithm is then adapted to the </a:t>
            </a:r>
            <a:r>
              <a:rPr lang="en-US" altLang="zh-TW" sz="2600" dirty="0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parallel decoding 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of JPEG ﬁles.</a:t>
            </a:r>
            <a:endParaRPr lang="zh-TW" altLang="en-US" sz="2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78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1124608" y="1681656"/>
            <a:ext cx="56020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0.299R + 0.587G + 0.114B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56746" y="633998"/>
            <a:ext cx="144783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pt-BR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CbCr</a:t>
            </a:r>
            <a:endParaRPr lang="zh-TW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24608" y="4892593"/>
            <a:ext cx="620703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Cb = 0.1687R – 0.3313G + 0.5B </a:t>
            </a:r>
            <a:endParaRPr lang="pt-BR" altLang="zh-TW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Cr </a:t>
            </a:r>
            <a:r>
              <a:rPr lang="pt-BR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0.5R – 0.4187G – 0.0813B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/>
              <p:cNvSpPr/>
              <p:nvPr/>
            </p:nvSpPr>
            <p:spPr>
              <a:xfrm>
                <a:off x="1124608" y="2762686"/>
                <a:ext cx="5134304" cy="144405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pt-BR" altLang="zh-TW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Cb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altLang="zh-TW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pt-BR" altLang="zh-TW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pt-BR" altLang="zh-TW" sz="2800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altLang="zh-TW" sz="280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pt-BR" altLang="zh-TW" sz="2800" i="0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altLang="zh-TW" sz="280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pt-BR" altLang="zh-TW" sz="2800" i="0" dirty="0" smtClean="0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pt-BR" altLang="zh-TW" sz="2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altLang="zh-TW" sz="2800" i="1" dirty="0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pt-BR" altLang="zh-TW" sz="2800" i="1" dirty="0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den>
                    </m:f>
                  </m:oMath>
                </a14:m>
                <a:endParaRPr lang="pt-BR" altLang="zh-TW" sz="28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pt-BR" altLang="zh-TW" sz="28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Cr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altLang="zh-TW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TW" sz="28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pt-BR" altLang="zh-TW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pt-BR" altLang="zh-TW" sz="28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TW" sz="2800" b="0" i="0" dirty="0" smtClean="0"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a:rPr lang="pt-BR" altLang="zh-TW" sz="2800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altLang="zh-TW" sz="2800" i="1" dirty="0">
                            <a:latin typeface="Cambria Math" panose="02040503050406030204" pitchFamily="18" charset="0"/>
                          </a:rPr>
                          <m:t>𝑌</m:t>
                        </m:r>
                      </m:num>
                      <m:den>
                        <m:r>
                          <a:rPr lang="pt-BR" altLang="zh-TW" sz="2800" dirty="0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pt-BR" altLang="zh-TW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altLang="zh-TW" sz="2800" i="1" dirty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altLang="zh-TW" sz="2800" b="0" i="1" dirty="0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den>
                    </m:f>
                  </m:oMath>
                </a14:m>
                <a:endParaRPr lang="zh-TW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608" y="2762686"/>
                <a:ext cx="5134304" cy="1444050"/>
              </a:xfrm>
              <a:prstGeom prst="rect">
                <a:avLst/>
              </a:prstGeom>
              <a:blipFill>
                <a:blip r:embed="rId3"/>
                <a:stretch>
                  <a:fillRect l="-237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993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55" y="866712"/>
            <a:ext cx="8855459" cy="5070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623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25669" y="366328"/>
            <a:ext cx="533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Discrete cosine </a:t>
            </a:r>
            <a:r>
              <a:rPr lang="en-US" altLang="zh-TW" sz="32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</a:t>
            </a:r>
            <a:endParaRPr lang="en-US" altLang="zh-TW" sz="3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815" y="3111377"/>
            <a:ext cx="7740869" cy="1241460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43" y="2082599"/>
            <a:ext cx="6442351" cy="1192595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604345" y="1316213"/>
            <a:ext cx="287129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[x</a:t>
            </a:r>
            <a:r>
              <a:rPr lang="en-US" altLang="zh-TW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,x</a:t>
            </a:r>
            <a:r>
              <a:rPr lang="en-US" altLang="zh-TW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,x</a:t>
            </a:r>
            <a:r>
              <a:rPr lang="en-US" altLang="zh-TW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,…,x</a:t>
            </a:r>
            <a:r>
              <a:rPr lang="en-US" altLang="zh-TW" sz="32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n-1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815" y="4498283"/>
            <a:ext cx="8698133" cy="205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063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093418" y="523351"/>
            <a:ext cx="39869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[50,55,67,80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,-10,-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5,20,30]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093418" y="1753478"/>
            <a:ext cx="765764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[287.0, 106.3 , 14.2 , -110.8 , 9.2 , 65.7, -8.2 , -43.9]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44" y="2298066"/>
            <a:ext cx="9077156" cy="2145982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857" y="4386487"/>
            <a:ext cx="2886075" cy="1543050"/>
          </a:xfrm>
          <a:prstGeom prst="rect">
            <a:avLst/>
          </a:prstGeom>
        </p:spPr>
      </p:pic>
      <p:sp>
        <p:nvSpPr>
          <p:cNvPr id="12" name="向下箭號 11"/>
          <p:cNvSpPr/>
          <p:nvPr/>
        </p:nvSpPr>
        <p:spPr>
          <a:xfrm>
            <a:off x="1693096" y="1165291"/>
            <a:ext cx="851338" cy="58077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2653994" y="1162907"/>
            <a:ext cx="12297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66857" y="5910219"/>
            <a:ext cx="30059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35.9,35.9,……..,35.9</a:t>
            </a:r>
            <a:r>
              <a:rPr lang="en-US" altLang="zh-TW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圖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594" y="4529094"/>
            <a:ext cx="2952750" cy="1381125"/>
          </a:xfrm>
          <a:prstGeom prst="rect">
            <a:avLst/>
          </a:prstGeom>
        </p:spPr>
      </p:pic>
      <p:sp>
        <p:nvSpPr>
          <p:cNvPr id="16" name="文字方塊 15"/>
          <p:cNvSpPr txBox="1"/>
          <p:nvPr/>
        </p:nvSpPr>
        <p:spPr>
          <a:xfrm>
            <a:off x="273269" y="550967"/>
            <a:ext cx="9252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Xm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804077" y="5929537"/>
            <a:ext cx="53399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[26.0,22.1,14.8,5.2,-5.2,-14.8,-22.1,-26.1]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305143" y="1774852"/>
            <a:ext cx="8659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TW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5549460" y="612522"/>
            <a:ext cx="23858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m=0,1,…..,n-1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3563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769" y="1134958"/>
            <a:ext cx="8287735" cy="3994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61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649" y="2350128"/>
            <a:ext cx="1628775" cy="504825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870" y="2243794"/>
            <a:ext cx="3667125" cy="695325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072" y="953822"/>
            <a:ext cx="8494494" cy="992716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11" y="3648568"/>
            <a:ext cx="9363075" cy="231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238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13" y="624051"/>
            <a:ext cx="4086225" cy="838200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8731" y="1807280"/>
            <a:ext cx="4845269" cy="1936255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49" y="4163627"/>
            <a:ext cx="9016398" cy="1777983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395" y="1628551"/>
            <a:ext cx="4905375" cy="2200275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1851532" y="6045578"/>
            <a:ext cx="53864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round(-415.38/16)=round(-25.96125)=-26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5191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19336" y="536028"/>
            <a:ext cx="325898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zh-TW" alt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igzag</a:t>
            </a:r>
            <a:r>
              <a:rPr lang="zh-TW" alt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TW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encoding</a:t>
            </a:r>
            <a:endParaRPr lang="zh-TW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336" y="1305909"/>
            <a:ext cx="3639207" cy="3639207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619336" y="5392981"/>
            <a:ext cx="11293366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-26,-3,0,-3,-2,-6,2,-4,1,-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3,0,1,5,1,2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,-1,1,-1,2,0,0,0,0,0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1,-</a:t>
            </a:r>
            <a:r>
              <a:rPr lang="en-US" altLang="zh-TW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1,0,0,0,0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,…,0,0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5075" y="1650123"/>
            <a:ext cx="4478925" cy="2186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395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73116" y="462456"/>
            <a:ext cx="124284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35,7,0,0,0,-6,-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2,0,0,-9,0,0,0,0,0,0,0,0,0,0,0,0,0,0,0,0,0,0,8,0,0,0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,…,0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6694089"/>
              </p:ext>
            </p:extLst>
          </p:nvPr>
        </p:nvGraphicFramePr>
        <p:xfrm>
          <a:off x="546535" y="1716346"/>
          <a:ext cx="8397767" cy="457200"/>
        </p:xfrm>
        <a:graphic>
          <a:graphicData uri="http://schemas.openxmlformats.org/drawingml/2006/table">
            <a:tbl>
              <a:tblPr/>
              <a:tblGrid>
                <a:gridCol w="875224">
                  <a:extLst>
                    <a:ext uri="{9D8B030D-6E8A-4147-A177-3AD203B41FA5}">
                      <a16:colId xmlns:a16="http://schemas.microsoft.com/office/drawing/2014/main" val="56455596"/>
                    </a:ext>
                  </a:extLst>
                </a:gridCol>
                <a:gridCol w="727458">
                  <a:extLst>
                    <a:ext uri="{9D8B030D-6E8A-4147-A177-3AD203B41FA5}">
                      <a16:colId xmlns:a16="http://schemas.microsoft.com/office/drawing/2014/main" val="436368696"/>
                    </a:ext>
                  </a:extLst>
                </a:gridCol>
                <a:gridCol w="1284414">
                  <a:extLst>
                    <a:ext uri="{9D8B030D-6E8A-4147-A177-3AD203B41FA5}">
                      <a16:colId xmlns:a16="http://schemas.microsoft.com/office/drawing/2014/main" val="2663221288"/>
                    </a:ext>
                  </a:extLst>
                </a:gridCol>
                <a:gridCol w="1261683">
                  <a:extLst>
                    <a:ext uri="{9D8B030D-6E8A-4147-A177-3AD203B41FA5}">
                      <a16:colId xmlns:a16="http://schemas.microsoft.com/office/drawing/2014/main" val="379529011"/>
                    </a:ext>
                  </a:extLst>
                </a:gridCol>
                <a:gridCol w="1327798">
                  <a:extLst>
                    <a:ext uri="{9D8B030D-6E8A-4147-A177-3AD203B41FA5}">
                      <a16:colId xmlns:a16="http://schemas.microsoft.com/office/drawing/2014/main" val="785435733"/>
                    </a:ext>
                  </a:extLst>
                </a:gridCol>
                <a:gridCol w="1657884">
                  <a:extLst>
                    <a:ext uri="{9D8B030D-6E8A-4147-A177-3AD203B41FA5}">
                      <a16:colId xmlns:a16="http://schemas.microsoft.com/office/drawing/2014/main" val="1293581852"/>
                    </a:ext>
                  </a:extLst>
                </a:gridCol>
                <a:gridCol w="1263306">
                  <a:extLst>
                    <a:ext uri="{9D8B030D-6E8A-4147-A177-3AD203B41FA5}">
                      <a16:colId xmlns:a16="http://schemas.microsoft.com/office/drawing/2014/main" val="24484327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zh-TW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0,0,0</a:t>
                      </a:r>
                      <a:r>
                        <a:rPr lang="en-US" altLang="zh-TW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,-6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-</a:t>
                      </a:r>
                      <a:r>
                        <a:rPr lang="en-US" altLang="zh-TW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0,0,-9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0,0,…,0,8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0,0,…,0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787659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3617085" y="1135567"/>
            <a:ext cx="36856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Length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Encoding(RLE)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向下箭號 7"/>
          <p:cNvSpPr/>
          <p:nvPr/>
        </p:nvSpPr>
        <p:spPr>
          <a:xfrm>
            <a:off x="2765747" y="1084935"/>
            <a:ext cx="851338" cy="58077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9891073"/>
              </p:ext>
            </p:extLst>
          </p:nvPr>
        </p:nvGraphicFramePr>
        <p:xfrm>
          <a:off x="399390" y="2186950"/>
          <a:ext cx="8544912" cy="457200"/>
        </p:xfrm>
        <a:graphic>
          <a:graphicData uri="http://schemas.openxmlformats.org/drawingml/2006/table">
            <a:tbl>
              <a:tblPr/>
              <a:tblGrid>
                <a:gridCol w="1068114">
                  <a:extLst>
                    <a:ext uri="{9D8B030D-6E8A-4147-A177-3AD203B41FA5}">
                      <a16:colId xmlns:a16="http://schemas.microsoft.com/office/drawing/2014/main" val="2910737062"/>
                    </a:ext>
                  </a:extLst>
                </a:gridCol>
                <a:gridCol w="1068114">
                  <a:extLst>
                    <a:ext uri="{9D8B030D-6E8A-4147-A177-3AD203B41FA5}">
                      <a16:colId xmlns:a16="http://schemas.microsoft.com/office/drawing/2014/main" val="1634105705"/>
                    </a:ext>
                  </a:extLst>
                </a:gridCol>
                <a:gridCol w="1068114">
                  <a:extLst>
                    <a:ext uri="{9D8B030D-6E8A-4147-A177-3AD203B41FA5}">
                      <a16:colId xmlns:a16="http://schemas.microsoft.com/office/drawing/2014/main" val="2743188082"/>
                    </a:ext>
                  </a:extLst>
                </a:gridCol>
                <a:gridCol w="1068114">
                  <a:extLst>
                    <a:ext uri="{9D8B030D-6E8A-4147-A177-3AD203B41FA5}">
                      <a16:colId xmlns:a16="http://schemas.microsoft.com/office/drawing/2014/main" val="531110070"/>
                    </a:ext>
                  </a:extLst>
                </a:gridCol>
                <a:gridCol w="1203437">
                  <a:extLst>
                    <a:ext uri="{9D8B030D-6E8A-4147-A177-3AD203B41FA5}">
                      <a16:colId xmlns:a16="http://schemas.microsoft.com/office/drawing/2014/main" val="3185664644"/>
                    </a:ext>
                  </a:extLst>
                </a:gridCol>
                <a:gridCol w="861848">
                  <a:extLst>
                    <a:ext uri="{9D8B030D-6E8A-4147-A177-3AD203B41FA5}">
                      <a16:colId xmlns:a16="http://schemas.microsoft.com/office/drawing/2014/main" val="301085857"/>
                    </a:ext>
                  </a:extLst>
                </a:gridCol>
                <a:gridCol w="1086346">
                  <a:extLst>
                    <a:ext uri="{9D8B030D-6E8A-4147-A177-3AD203B41FA5}">
                      <a16:colId xmlns:a16="http://schemas.microsoft.com/office/drawing/2014/main" val="1040958591"/>
                    </a:ext>
                  </a:extLst>
                </a:gridCol>
                <a:gridCol w="1120825">
                  <a:extLst>
                    <a:ext uri="{9D8B030D-6E8A-4147-A177-3AD203B41FA5}">
                      <a16:colId xmlns:a16="http://schemas.microsoft.com/office/drawing/2014/main" val="398376188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lang="en-US" altLang="zh-TW" sz="24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(0,35)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(0,7)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(3,-6)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(0,-2)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(2,-9)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(15,0)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altLang="zh-TW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2,8)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EOB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202170"/>
                  </a:ext>
                </a:extLst>
              </a:tr>
            </a:tbl>
          </a:graphicData>
        </a:graphic>
      </p:graphicFrame>
      <p:graphicFrame>
        <p:nvGraphicFramePr>
          <p:cNvPr id="20" name="表格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8934895"/>
              </p:ext>
            </p:extLst>
          </p:nvPr>
        </p:nvGraphicFramePr>
        <p:xfrm>
          <a:off x="-292315" y="3451091"/>
          <a:ext cx="9633720" cy="396240"/>
        </p:xfrm>
        <a:graphic>
          <a:graphicData uri="http://schemas.openxmlformats.org/drawingml/2006/table">
            <a:tbl>
              <a:tblPr/>
              <a:tblGrid>
                <a:gridCol w="228307">
                  <a:extLst>
                    <a:ext uri="{9D8B030D-6E8A-4147-A177-3AD203B41FA5}">
                      <a16:colId xmlns:a16="http://schemas.microsoft.com/office/drawing/2014/main" val="2988725811"/>
                    </a:ext>
                  </a:extLst>
                </a:gridCol>
                <a:gridCol w="1651490">
                  <a:extLst>
                    <a:ext uri="{9D8B030D-6E8A-4147-A177-3AD203B41FA5}">
                      <a16:colId xmlns:a16="http://schemas.microsoft.com/office/drawing/2014/main" val="157010972"/>
                    </a:ext>
                  </a:extLst>
                </a:gridCol>
                <a:gridCol w="1225750">
                  <a:extLst>
                    <a:ext uri="{9D8B030D-6E8A-4147-A177-3AD203B41FA5}">
                      <a16:colId xmlns:a16="http://schemas.microsoft.com/office/drawing/2014/main" val="2650133889"/>
                    </a:ext>
                  </a:extLst>
                </a:gridCol>
                <a:gridCol w="1251935">
                  <a:extLst>
                    <a:ext uri="{9D8B030D-6E8A-4147-A177-3AD203B41FA5}">
                      <a16:colId xmlns:a16="http://schemas.microsoft.com/office/drawing/2014/main" val="3934329258"/>
                    </a:ext>
                  </a:extLst>
                </a:gridCol>
                <a:gridCol w="1140877">
                  <a:extLst>
                    <a:ext uri="{9D8B030D-6E8A-4147-A177-3AD203B41FA5}">
                      <a16:colId xmlns:a16="http://schemas.microsoft.com/office/drawing/2014/main" val="2313444011"/>
                    </a:ext>
                  </a:extLst>
                </a:gridCol>
                <a:gridCol w="1255525">
                  <a:extLst>
                    <a:ext uri="{9D8B030D-6E8A-4147-A177-3AD203B41FA5}">
                      <a16:colId xmlns:a16="http://schemas.microsoft.com/office/drawing/2014/main" val="1039381262"/>
                    </a:ext>
                  </a:extLst>
                </a:gridCol>
                <a:gridCol w="714704">
                  <a:extLst>
                    <a:ext uri="{9D8B030D-6E8A-4147-A177-3AD203B41FA5}">
                      <a16:colId xmlns:a16="http://schemas.microsoft.com/office/drawing/2014/main" val="3970999360"/>
                    </a:ext>
                  </a:extLst>
                </a:gridCol>
                <a:gridCol w="1397875">
                  <a:extLst>
                    <a:ext uri="{9D8B030D-6E8A-4147-A177-3AD203B41FA5}">
                      <a16:colId xmlns:a16="http://schemas.microsoft.com/office/drawing/2014/main" val="2942704271"/>
                    </a:ext>
                  </a:extLst>
                </a:gridCol>
                <a:gridCol w="767257">
                  <a:extLst>
                    <a:ext uri="{9D8B030D-6E8A-4147-A177-3AD203B41FA5}">
                      <a16:colId xmlns:a16="http://schemas.microsoft.com/office/drawing/2014/main" val="38556679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zh-TW" alt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(0,6, </a:t>
                      </a:r>
                      <a:r>
                        <a:rPr lang="en-US" altLang="zh-TW" sz="2000" b="1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100011</a:t>
                      </a:r>
                      <a:r>
                        <a:rPr lang="en-US" altLang="zh-TW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(0,3, </a:t>
                      </a:r>
                      <a:r>
                        <a:rPr lang="en-US" altLang="zh-TW" sz="2000" b="1" i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</a:t>
                      </a:r>
                      <a:r>
                        <a:rPr lang="en-US" altLang="zh-TW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(3,3, </a:t>
                      </a:r>
                      <a:r>
                        <a:rPr lang="en-US" altLang="zh-TW" sz="2000" b="1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001</a:t>
                      </a:r>
                      <a:r>
                        <a:rPr lang="en-US" altLang="zh-TW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(0,2, </a:t>
                      </a:r>
                      <a:r>
                        <a:rPr lang="en-US" altLang="zh-TW" sz="2000" b="1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</a:t>
                      </a:r>
                      <a:r>
                        <a:rPr lang="en-US" altLang="zh-TW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(2,4, </a:t>
                      </a:r>
                      <a:r>
                        <a:rPr lang="en-US" altLang="zh-TW" sz="2000" b="1" i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0110</a:t>
                      </a:r>
                      <a:r>
                        <a:rPr lang="en-US" altLang="zh-TW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(15,-)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(2,4, </a:t>
                      </a:r>
                      <a:r>
                        <a:rPr lang="en-US" altLang="zh-TW" sz="2000" b="1" i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</a:t>
                      </a:r>
                      <a:r>
                        <a:rPr lang="en-US" altLang="zh-TW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EOB</a:t>
                      </a:r>
                      <a:endParaRPr lang="en-US" sz="20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7875631"/>
                  </a:ext>
                </a:extLst>
              </a:tr>
            </a:tbl>
          </a:graphicData>
        </a:graphic>
      </p:graphicFrame>
      <p:sp>
        <p:nvSpPr>
          <p:cNvPr id="21" name="向下箭號 20"/>
          <p:cNvSpPr/>
          <p:nvPr/>
        </p:nvSpPr>
        <p:spPr>
          <a:xfrm>
            <a:off x="2765747" y="2749794"/>
            <a:ext cx="851338" cy="58077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617085" y="2775347"/>
            <a:ext cx="18149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Bit Encoding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向下箭號 22"/>
          <p:cNvSpPr/>
          <p:nvPr/>
        </p:nvSpPr>
        <p:spPr>
          <a:xfrm>
            <a:off x="2765747" y="3978528"/>
            <a:ext cx="851338" cy="58077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3617085" y="3995010"/>
            <a:ext cx="2272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Huffman Coding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5" name="表格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7973797"/>
              </p:ext>
            </p:extLst>
          </p:nvPr>
        </p:nvGraphicFramePr>
        <p:xfrm>
          <a:off x="0" y="4575789"/>
          <a:ext cx="8954760" cy="916211"/>
        </p:xfrm>
        <a:graphic>
          <a:graphicData uri="http://schemas.openxmlformats.org/drawingml/2006/table">
            <a:tbl>
              <a:tblPr/>
              <a:tblGrid>
                <a:gridCol w="649903">
                  <a:extLst>
                    <a:ext uri="{9D8B030D-6E8A-4147-A177-3AD203B41FA5}">
                      <a16:colId xmlns:a16="http://schemas.microsoft.com/office/drawing/2014/main" val="506996999"/>
                    </a:ext>
                  </a:extLst>
                </a:gridCol>
                <a:gridCol w="1157876">
                  <a:extLst>
                    <a:ext uri="{9D8B030D-6E8A-4147-A177-3AD203B41FA5}">
                      <a16:colId xmlns:a16="http://schemas.microsoft.com/office/drawing/2014/main" val="3319509300"/>
                    </a:ext>
                  </a:extLst>
                </a:gridCol>
                <a:gridCol w="683173">
                  <a:extLst>
                    <a:ext uri="{9D8B030D-6E8A-4147-A177-3AD203B41FA5}">
                      <a16:colId xmlns:a16="http://schemas.microsoft.com/office/drawing/2014/main" val="3503112688"/>
                    </a:ext>
                  </a:extLst>
                </a:gridCol>
                <a:gridCol w="735724">
                  <a:extLst>
                    <a:ext uri="{9D8B030D-6E8A-4147-A177-3AD203B41FA5}">
                      <a16:colId xmlns:a16="http://schemas.microsoft.com/office/drawing/2014/main" val="2432557492"/>
                    </a:ext>
                  </a:extLst>
                </a:gridCol>
                <a:gridCol w="1532253">
                  <a:extLst>
                    <a:ext uri="{9D8B030D-6E8A-4147-A177-3AD203B41FA5}">
                      <a16:colId xmlns:a16="http://schemas.microsoft.com/office/drawing/2014/main" val="2440658130"/>
                    </a:ext>
                  </a:extLst>
                </a:gridCol>
                <a:gridCol w="884195">
                  <a:extLst>
                    <a:ext uri="{9D8B030D-6E8A-4147-A177-3AD203B41FA5}">
                      <a16:colId xmlns:a16="http://schemas.microsoft.com/office/drawing/2014/main" val="55404427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622601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79301065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119580996"/>
                    </a:ext>
                  </a:extLst>
                </a:gridCol>
                <a:gridCol w="530988">
                  <a:extLst>
                    <a:ext uri="{9D8B030D-6E8A-4147-A177-3AD203B41FA5}">
                      <a16:colId xmlns:a16="http://schemas.microsoft.com/office/drawing/2014/main" val="2105321221"/>
                    </a:ext>
                  </a:extLst>
                </a:gridCol>
                <a:gridCol w="530988">
                  <a:extLst>
                    <a:ext uri="{9D8B030D-6E8A-4147-A177-3AD203B41FA5}">
                      <a16:colId xmlns:a16="http://schemas.microsoft.com/office/drawing/2014/main" val="3357501457"/>
                    </a:ext>
                  </a:extLst>
                </a:gridCol>
                <a:gridCol w="530988">
                  <a:extLst>
                    <a:ext uri="{9D8B030D-6E8A-4147-A177-3AD203B41FA5}">
                      <a16:colId xmlns:a16="http://schemas.microsoft.com/office/drawing/2014/main" val="135082691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824471515"/>
                    </a:ext>
                  </a:extLst>
                </a:gridCol>
                <a:gridCol w="885552">
                  <a:extLst>
                    <a:ext uri="{9D8B030D-6E8A-4147-A177-3AD203B41FA5}">
                      <a16:colId xmlns:a16="http://schemas.microsoft.com/office/drawing/2014/main" val="3951975342"/>
                    </a:ext>
                  </a:extLst>
                </a:gridCol>
              </a:tblGrid>
              <a:tr h="91621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i="0" u="non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zh-TW" altLang="en-US" sz="2400" b="0" i="0" u="none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i="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100011</a:t>
                      </a:r>
                      <a:endParaRPr lang="zh-TW" altLang="en-US" sz="2400" b="0" i="0" u="non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i="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endParaRPr lang="zh-TW" altLang="en-US" sz="2400" b="0" i="0" u="non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i="0" u="non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</a:t>
                      </a:r>
                      <a:endParaRPr lang="zh-TW" altLang="en-US" sz="2400" b="0" i="0" u="non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i="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1111 1111 0101</a:t>
                      </a:r>
                      <a:endParaRPr lang="zh-TW" altLang="en-US" sz="2400" b="0" i="0" u="non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i="0" u="non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001</a:t>
                      </a:r>
                      <a:endParaRPr lang="zh-TW" altLang="en-US" sz="2400" b="0" i="0" u="non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i="0" u="non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i="0" u="non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i="0" u="non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i="0" u="non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2400" b="0" i="0" u="non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i="0" u="non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i="0" u="non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400" b="0" i="0" u="non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b="0" i="0" u="none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1010</a:t>
                      </a:r>
                      <a:endParaRPr lang="zh-TW" altLang="en-US" sz="2400" b="0" i="0" u="none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612328"/>
                  </a:ext>
                </a:extLst>
              </a:tr>
            </a:tbl>
          </a:graphicData>
        </a:graphic>
      </p:graphicFrame>
      <p:graphicFrame>
        <p:nvGraphicFramePr>
          <p:cNvPr id="26" name="表格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1527886"/>
              </p:ext>
            </p:extLst>
          </p:nvPr>
        </p:nvGraphicFramePr>
        <p:xfrm>
          <a:off x="443299" y="5577840"/>
          <a:ext cx="8068161" cy="1280160"/>
        </p:xfrm>
        <a:graphic>
          <a:graphicData uri="http://schemas.openxmlformats.org/drawingml/2006/table">
            <a:tbl>
              <a:tblPr/>
              <a:tblGrid>
                <a:gridCol w="8068161">
                  <a:extLst>
                    <a:ext uri="{9D8B030D-6E8A-4147-A177-3AD203B41FA5}">
                      <a16:colId xmlns:a16="http://schemas.microsoft.com/office/drawing/2014/main" val="19828450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100100011100111111111110101001010111111111010001101111111100111111111010010001010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5236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 CF FE A5 7F D1 BF CF FA 45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8022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3443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21" grpId="0" animBg="1"/>
      <p:bldP spid="23" grpId="0" animBg="1"/>
      <p:bldP spid="2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1195860"/>
              </p:ext>
            </p:extLst>
          </p:nvPr>
        </p:nvGraphicFramePr>
        <p:xfrm>
          <a:off x="-178345" y="462454"/>
          <a:ext cx="9322345" cy="5918954"/>
        </p:xfrm>
        <a:graphic>
          <a:graphicData uri="http://schemas.openxmlformats.org/drawingml/2006/table">
            <a:tbl>
              <a:tblPr/>
              <a:tblGrid>
                <a:gridCol w="1864469">
                  <a:extLst>
                    <a:ext uri="{9D8B030D-6E8A-4147-A177-3AD203B41FA5}">
                      <a16:colId xmlns:a16="http://schemas.microsoft.com/office/drawing/2014/main" val="2160808045"/>
                    </a:ext>
                  </a:extLst>
                </a:gridCol>
                <a:gridCol w="1864469">
                  <a:extLst>
                    <a:ext uri="{9D8B030D-6E8A-4147-A177-3AD203B41FA5}">
                      <a16:colId xmlns:a16="http://schemas.microsoft.com/office/drawing/2014/main" val="1707202472"/>
                    </a:ext>
                  </a:extLst>
                </a:gridCol>
                <a:gridCol w="1864469">
                  <a:extLst>
                    <a:ext uri="{9D8B030D-6E8A-4147-A177-3AD203B41FA5}">
                      <a16:colId xmlns:a16="http://schemas.microsoft.com/office/drawing/2014/main" val="3773043466"/>
                    </a:ext>
                  </a:extLst>
                </a:gridCol>
                <a:gridCol w="1864469">
                  <a:extLst>
                    <a:ext uri="{9D8B030D-6E8A-4147-A177-3AD203B41FA5}">
                      <a16:colId xmlns:a16="http://schemas.microsoft.com/office/drawing/2014/main" val="2334690952"/>
                    </a:ext>
                  </a:extLst>
                </a:gridCol>
                <a:gridCol w="1864469">
                  <a:extLst>
                    <a:ext uri="{9D8B030D-6E8A-4147-A177-3AD203B41FA5}">
                      <a16:colId xmlns:a16="http://schemas.microsoft.com/office/drawing/2014/main" val="3462829954"/>
                    </a:ext>
                  </a:extLst>
                </a:gridCol>
              </a:tblGrid>
              <a:tr h="345333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Bits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638813"/>
                  </a:ext>
                </a:extLst>
              </a:tr>
              <a:tr h="345333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effectLst/>
                        </a:rPr>
                        <a:t>0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effectLst/>
                        </a:rPr>
                        <a:t>0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effectLst/>
                        </a:rPr>
                        <a:t>–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39420"/>
                  </a:ext>
                </a:extLst>
              </a:tr>
              <a:tr h="345333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>
                          <a:effectLst/>
                        </a:rPr>
                        <a:t>-1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>
                          <a:effectLst/>
                        </a:rPr>
                        <a:t>1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effectLst/>
                        </a:rPr>
                        <a:t>1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>
                          <a:effectLst/>
                        </a:rPr>
                        <a:t>0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>
                          <a:effectLst/>
                        </a:rPr>
                        <a:t>1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92236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>
                          <a:effectLst/>
                        </a:rPr>
                        <a:t>-3,-2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>
                          <a:effectLst/>
                        </a:rPr>
                        <a:t>2,3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effectLst/>
                        </a:rPr>
                        <a:t>2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>
                          <a:effectLst/>
                        </a:rPr>
                        <a:t>00,01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>
                          <a:effectLst/>
                        </a:rPr>
                        <a:t>10,11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4989802"/>
                  </a:ext>
                </a:extLst>
              </a:tr>
              <a:tr h="604332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>
                          <a:effectLst/>
                        </a:rPr>
                        <a:t>-7,-6,-5,-4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 dirty="0">
                          <a:effectLst/>
                        </a:rPr>
                        <a:t>4,5,6,7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effectLst/>
                        </a:rPr>
                        <a:t>3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>
                          <a:effectLst/>
                        </a:rPr>
                        <a:t>000,001,010,011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>
                          <a:effectLst/>
                        </a:rPr>
                        <a:t>100,101,110,111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3380004"/>
                  </a:ext>
                </a:extLst>
              </a:tr>
              <a:tr h="345333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>
                          <a:effectLst/>
                        </a:rPr>
                        <a:t>-15,…,-8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>
                          <a:effectLst/>
                        </a:rPr>
                        <a:t>8,…,15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effectLst/>
                        </a:rPr>
                        <a:t>4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>
                          <a:effectLst/>
                        </a:rPr>
                        <a:t>0000,…,0111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>
                          <a:effectLst/>
                        </a:rPr>
                        <a:t>1000,…,1111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285581"/>
                  </a:ext>
                </a:extLst>
              </a:tr>
              <a:tr h="604332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>
                          <a:effectLst/>
                        </a:rPr>
                        <a:t>-31,…,-16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>
                          <a:effectLst/>
                        </a:rPr>
                        <a:t>16,…,31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effectLst/>
                        </a:rPr>
                        <a:t>5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>
                          <a:effectLst/>
                        </a:rPr>
                        <a:t>0 0000,…,0 1111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>
                          <a:effectLst/>
                        </a:rPr>
                        <a:t>1 0000,…,1 1111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3949692"/>
                  </a:ext>
                </a:extLst>
              </a:tr>
              <a:tr h="345333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>
                          <a:effectLst/>
                        </a:rPr>
                        <a:t>-63,…,-32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>
                          <a:effectLst/>
                        </a:rPr>
                        <a:t>32,…,63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effectLst/>
                        </a:rPr>
                        <a:t>6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>
                          <a:effectLst/>
                        </a:rPr>
                        <a:t>00 0000,…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>
                          <a:effectLst/>
                        </a:rPr>
                        <a:t>…,11 1111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219690"/>
                  </a:ext>
                </a:extLst>
              </a:tr>
              <a:tr h="345333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>
                          <a:effectLst/>
                        </a:rPr>
                        <a:t>-127,…,-64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>
                          <a:effectLst/>
                        </a:rPr>
                        <a:t>64,…,127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effectLst/>
                        </a:rPr>
                        <a:t>7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>
                          <a:effectLst/>
                        </a:rPr>
                        <a:t>000 0000,…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>
                          <a:effectLst/>
                        </a:rPr>
                        <a:t>…,111 1111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3531621"/>
                  </a:ext>
                </a:extLst>
              </a:tr>
              <a:tr h="345333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>
                          <a:effectLst/>
                        </a:rPr>
                        <a:t>-255,…,-128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>
                          <a:effectLst/>
                        </a:rPr>
                        <a:t>128,…,255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effectLst/>
                        </a:rPr>
                        <a:t>8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>
                          <a:effectLst/>
                        </a:rPr>
                        <a:t>0000 0000,…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>
                          <a:effectLst/>
                        </a:rPr>
                        <a:t>…,1111 1111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8526559"/>
                  </a:ext>
                </a:extLst>
              </a:tr>
              <a:tr h="345333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>
                          <a:effectLst/>
                        </a:rPr>
                        <a:t>-511,…,-256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>
                          <a:effectLst/>
                        </a:rPr>
                        <a:t>256,…,511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effectLst/>
                        </a:rPr>
                        <a:t>9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>
                          <a:effectLst/>
                        </a:rPr>
                        <a:t>0 0000 0000,…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>
                          <a:effectLst/>
                        </a:rPr>
                        <a:t>…,1 1111 1111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7929169"/>
                  </a:ext>
                </a:extLst>
              </a:tr>
              <a:tr h="604332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>
                          <a:effectLst/>
                        </a:rPr>
                        <a:t>-1023,…,-512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>
                          <a:effectLst/>
                        </a:rPr>
                        <a:t>512,…,1023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effectLst/>
                        </a:rPr>
                        <a:t>10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>
                          <a:effectLst/>
                        </a:rPr>
                        <a:t>00 0000 0000,…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>
                          <a:effectLst/>
                        </a:rPr>
                        <a:t>…,11 1111 1111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6931059"/>
                  </a:ext>
                </a:extLst>
              </a:tr>
              <a:tr h="604332"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>
                          <a:effectLst/>
                        </a:rPr>
                        <a:t>-2047,…,-1024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>
                          <a:effectLst/>
                        </a:rPr>
                        <a:t>1024,…,2047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effectLst/>
                        </a:rPr>
                        <a:t>11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2000">
                          <a:effectLst/>
                        </a:rPr>
                        <a:t>000 0000 0000,…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TW" sz="2000" dirty="0">
                          <a:effectLst/>
                        </a:rPr>
                        <a:t>…,111 1111 1111</a:t>
                      </a:r>
                    </a:p>
                  </a:txBody>
                  <a:tcPr marL="67990" marR="67990" marT="33995" marB="339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97002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0971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3508998"/>
              </p:ext>
            </p:extLst>
          </p:nvPr>
        </p:nvGraphicFramePr>
        <p:xfrm>
          <a:off x="1318108" y="578070"/>
          <a:ext cx="6081174" cy="5270606"/>
        </p:xfrm>
        <a:graphic>
          <a:graphicData uri="http://schemas.openxmlformats.org/drawingml/2006/table">
            <a:tbl>
              <a:tblPr/>
              <a:tblGrid>
                <a:gridCol w="2027058">
                  <a:extLst>
                    <a:ext uri="{9D8B030D-6E8A-4147-A177-3AD203B41FA5}">
                      <a16:colId xmlns:a16="http://schemas.microsoft.com/office/drawing/2014/main" val="2362854291"/>
                    </a:ext>
                  </a:extLst>
                </a:gridCol>
                <a:gridCol w="2027058">
                  <a:extLst>
                    <a:ext uri="{9D8B030D-6E8A-4147-A177-3AD203B41FA5}">
                      <a16:colId xmlns:a16="http://schemas.microsoft.com/office/drawing/2014/main" val="64503012"/>
                    </a:ext>
                  </a:extLst>
                </a:gridCol>
                <a:gridCol w="2027058">
                  <a:extLst>
                    <a:ext uri="{9D8B030D-6E8A-4147-A177-3AD203B41FA5}">
                      <a16:colId xmlns:a16="http://schemas.microsoft.com/office/drawing/2014/main" val="2191257543"/>
                    </a:ext>
                  </a:extLst>
                </a:gridCol>
              </a:tblGrid>
              <a:tr h="406610"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Length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Bits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7112432"/>
                  </a:ext>
                </a:extLst>
              </a:tr>
              <a:tr h="230816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bits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04</a:t>
                      </a:r>
                      <a:br>
                        <a:rPr lang="de-DE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de-DE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05</a:t>
                      </a:r>
                      <a:br>
                        <a:rPr lang="de-DE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de-DE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03</a:t>
                      </a:r>
                      <a:br>
                        <a:rPr lang="de-DE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de-DE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</a:t>
                      </a:r>
                      <a:br>
                        <a:rPr lang="de-DE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de-DE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06</a:t>
                      </a:r>
                      <a:br>
                        <a:rPr lang="de-DE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de-DE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</a:t>
                      </a:r>
                      <a:br>
                        <a:rPr lang="de-DE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de-DE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 (EOB)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000</a:t>
                      </a:r>
                      <a:br>
                        <a:rPr lang="en-US" altLang="zh-TW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altLang="zh-TW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001</a:t>
                      </a:r>
                      <a:br>
                        <a:rPr lang="en-US" altLang="zh-TW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altLang="zh-TW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010</a:t>
                      </a:r>
                      <a:br>
                        <a:rPr lang="en-US" altLang="zh-TW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altLang="zh-TW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011</a:t>
                      </a:r>
                      <a:br>
                        <a:rPr lang="en-US" altLang="zh-TW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altLang="zh-TW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  <a:br>
                        <a:rPr lang="en-US" altLang="zh-TW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altLang="zh-TW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</a:t>
                      </a:r>
                      <a:br>
                        <a:rPr lang="en-US" altLang="zh-TW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altLang="zh-TW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090035"/>
                  </a:ext>
                </a:extLst>
              </a:tr>
              <a:tr h="406610"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bits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07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1110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255380"/>
                  </a:ext>
                </a:extLst>
              </a:tr>
              <a:tr h="406610"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bits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08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1111 0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255569"/>
                  </a:ext>
                </a:extLst>
              </a:tr>
              <a:tr h="406610"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 bits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09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1111 10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956913"/>
                  </a:ext>
                </a:extLst>
              </a:tr>
              <a:tr h="580871"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 bits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0A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1111 110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4772090"/>
                  </a:ext>
                </a:extLst>
              </a:tr>
              <a:tr h="755133"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 bits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0B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1111 1110</a:t>
                      </a:r>
                    </a:p>
                  </a:txBody>
                  <a:tcPr marL="55080" marR="55080" marT="27540" marB="2754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5423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3737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312105"/>
              </p:ext>
            </p:extLst>
          </p:nvPr>
        </p:nvGraphicFramePr>
        <p:xfrm>
          <a:off x="469404" y="194634"/>
          <a:ext cx="7812747" cy="6571115"/>
        </p:xfrm>
        <a:graphic>
          <a:graphicData uri="http://schemas.openxmlformats.org/drawingml/2006/table">
            <a:tbl>
              <a:tblPr/>
              <a:tblGrid>
                <a:gridCol w="2604249">
                  <a:extLst>
                    <a:ext uri="{9D8B030D-6E8A-4147-A177-3AD203B41FA5}">
                      <a16:colId xmlns:a16="http://schemas.microsoft.com/office/drawing/2014/main" val="3219879168"/>
                    </a:ext>
                  </a:extLst>
                </a:gridCol>
                <a:gridCol w="2604249">
                  <a:extLst>
                    <a:ext uri="{9D8B030D-6E8A-4147-A177-3AD203B41FA5}">
                      <a16:colId xmlns:a16="http://schemas.microsoft.com/office/drawing/2014/main" val="3141654331"/>
                    </a:ext>
                  </a:extLst>
                </a:gridCol>
                <a:gridCol w="2604249">
                  <a:extLst>
                    <a:ext uri="{9D8B030D-6E8A-4147-A177-3AD203B41FA5}">
                      <a16:colId xmlns:a16="http://schemas.microsoft.com/office/drawing/2014/main" val="536552727"/>
                    </a:ext>
                  </a:extLst>
                </a:gridCol>
              </a:tblGrid>
              <a:tr h="136589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Length</a:t>
                      </a:r>
                    </a:p>
                  </a:txBody>
                  <a:tcPr marL="19513" marR="19513" marT="9756" marB="9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 marL="19513" marR="19513" marT="9756" marB="9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Bits</a:t>
                      </a:r>
                    </a:p>
                  </a:txBody>
                  <a:tcPr marL="19513" marR="19513" marT="9756" marB="9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014753"/>
                  </a:ext>
                </a:extLst>
              </a:tr>
              <a:tr h="136589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bits</a:t>
                      </a:r>
                    </a:p>
                  </a:txBody>
                  <a:tcPr marL="19513" marR="19513" marT="9756" marB="9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</a:t>
                      </a:r>
                      <a:br>
                        <a:rPr lang="en-US" altLang="zh-TW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altLang="zh-TW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</a:t>
                      </a:r>
                    </a:p>
                  </a:txBody>
                  <a:tcPr marL="19513" marR="19513" marT="9756" marB="9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</a:t>
                      </a:r>
                      <a:br>
                        <a:rPr lang="en-US" altLang="zh-TW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altLang="zh-TW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</a:t>
                      </a:r>
                    </a:p>
                  </a:txBody>
                  <a:tcPr marL="19513" marR="19513" marT="9756" marB="9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0053899"/>
                  </a:ext>
                </a:extLst>
              </a:tr>
              <a:tr h="136589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bits</a:t>
                      </a:r>
                    </a:p>
                  </a:txBody>
                  <a:tcPr marL="19513" marR="19513" marT="9756" marB="9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03</a:t>
                      </a:r>
                    </a:p>
                  </a:txBody>
                  <a:tcPr marL="19513" marR="19513" marT="9756" marB="9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</a:t>
                      </a:r>
                    </a:p>
                  </a:txBody>
                  <a:tcPr marL="19513" marR="19513" marT="9756" marB="9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44575"/>
                  </a:ext>
                </a:extLst>
              </a:tr>
              <a:tr h="370742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 bits</a:t>
                      </a:r>
                    </a:p>
                  </a:txBody>
                  <a:tcPr marL="19513" marR="19513" marT="9756" marB="9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 (EOB)</a:t>
                      </a:r>
                      <a:b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04</a:t>
                      </a:r>
                      <a:b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19513" marR="19513" marT="9756" marB="9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1010</a:t>
                      </a:r>
                      <a:br>
                        <a:rPr lang="en-US" altLang="zh-TW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altLang="zh-TW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1011</a:t>
                      </a:r>
                      <a:br>
                        <a:rPr lang="en-US" altLang="zh-TW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altLang="zh-TW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1100</a:t>
                      </a:r>
                    </a:p>
                  </a:txBody>
                  <a:tcPr marL="19513" marR="19513" marT="9756" marB="9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9008335"/>
                  </a:ext>
                </a:extLst>
              </a:tr>
              <a:tr h="370742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 bits</a:t>
                      </a:r>
                    </a:p>
                  </a:txBody>
                  <a:tcPr marL="19513" marR="19513" marT="9756" marB="9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05</a:t>
                      </a:r>
                      <a:br>
                        <a:rPr lang="en-US" altLang="zh-TW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altLang="zh-TW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br>
                        <a:rPr lang="en-US" altLang="zh-TW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altLang="zh-TW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</a:p>
                  </a:txBody>
                  <a:tcPr marL="19513" marR="19513" marT="9756" marB="9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1101 0</a:t>
                      </a:r>
                      <a:br>
                        <a:rPr lang="en-US" altLang="zh-TW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altLang="zh-TW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1101 1</a:t>
                      </a:r>
                      <a:br>
                        <a:rPr lang="en-US" altLang="zh-TW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altLang="zh-TW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1110 0</a:t>
                      </a:r>
                    </a:p>
                  </a:txBody>
                  <a:tcPr marL="19513" marR="19513" marT="9756" marB="9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948535"/>
                  </a:ext>
                </a:extLst>
              </a:tr>
              <a:tr h="253665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 bits</a:t>
                      </a:r>
                    </a:p>
                  </a:txBody>
                  <a:tcPr marL="19513" marR="19513" marT="9756" marB="9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</a:t>
                      </a:r>
                      <a:br>
                        <a:rPr lang="en-US" altLang="zh-TW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altLang="zh-TW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</a:p>
                  </a:txBody>
                  <a:tcPr marL="19513" marR="19513" marT="9756" marB="9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1110 10</a:t>
                      </a:r>
                      <a:br>
                        <a:rPr lang="en-US" altLang="zh-TW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altLang="zh-TW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1110 11</a:t>
                      </a:r>
                    </a:p>
                  </a:txBody>
                  <a:tcPr marL="19513" marR="19513" marT="9756" marB="9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4833241"/>
                  </a:ext>
                </a:extLst>
              </a:tr>
              <a:tr h="780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</a:p>
                  </a:txBody>
                  <a:tcPr marL="19513" marR="19513" marT="9756" marB="9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</a:p>
                  </a:txBody>
                  <a:tcPr marL="19513" marR="19513" marT="9756" marB="9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</a:p>
                  </a:txBody>
                  <a:tcPr marL="19513" marR="19513" marT="9756" marB="9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601932"/>
                  </a:ext>
                </a:extLst>
              </a:tr>
              <a:tr h="1424429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 bits</a:t>
                      </a:r>
                    </a:p>
                  </a:txBody>
                  <a:tcPr marL="19513" marR="19513" marT="9756" marB="9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br>
                        <a:rPr lang="en-US" altLang="zh-TW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altLang="zh-TW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br>
                        <a:rPr lang="en-US" altLang="zh-TW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altLang="zh-TW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</a:t>
                      </a:r>
                      <a:br>
                        <a:rPr lang="en-US" altLang="zh-TW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altLang="zh-TW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</a:p>
                  </a:txBody>
                  <a:tcPr marL="19513" marR="19513" marT="9756" marB="9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1111 1111 0100</a:t>
                      </a:r>
                      <a:br>
                        <a:rPr lang="en-US" altLang="zh-TW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altLang="zh-TW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1111 1111 0101</a:t>
                      </a:r>
                      <a:br>
                        <a:rPr lang="en-US" altLang="zh-TW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altLang="zh-TW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1111 1111 0110</a:t>
                      </a:r>
                      <a:br>
                        <a:rPr lang="en-US" altLang="zh-TW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altLang="zh-TW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1111 1111 0111</a:t>
                      </a:r>
                    </a:p>
                  </a:txBody>
                  <a:tcPr marL="19513" marR="19513" marT="9756" marB="9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500072"/>
                  </a:ext>
                </a:extLst>
              </a:tr>
              <a:tr h="429280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 bits</a:t>
                      </a:r>
                    </a:p>
                  </a:txBody>
                  <a:tcPr marL="19513" marR="19513" marT="9756" marB="9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</a:t>
                      </a:r>
                    </a:p>
                  </a:txBody>
                  <a:tcPr marL="19513" marR="19513" marT="9756" marB="9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1111 1111 1000 000</a:t>
                      </a:r>
                    </a:p>
                  </a:txBody>
                  <a:tcPr marL="19513" marR="19513" marT="9756" marB="9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150234"/>
                  </a:ext>
                </a:extLst>
              </a:tr>
              <a:tr h="1014662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 bits</a:t>
                      </a:r>
                    </a:p>
                  </a:txBody>
                  <a:tcPr marL="19513" marR="19513" marT="9756" marB="9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09</a:t>
                      </a:r>
                      <a:b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b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</a:t>
                      </a:r>
                    </a:p>
                  </a:txBody>
                  <a:tcPr marL="19513" marR="19513" marT="9756" marB="9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1111 1111 1000 0010</a:t>
                      </a:r>
                      <a:br>
                        <a:rPr lang="en-US" altLang="zh-TW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altLang="zh-TW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br>
                        <a:rPr lang="en-US" altLang="zh-TW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altLang="zh-TW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1111 1111 1111 1110</a:t>
                      </a:r>
                    </a:p>
                  </a:txBody>
                  <a:tcPr marL="19513" marR="19513" marT="9756" marB="97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55917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6551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32744</TotalTime>
  <Words>613</Words>
  <Application>Microsoft Office PowerPoint</Application>
  <PresentationFormat>如螢幕大小 (4:3)</PresentationFormat>
  <Paragraphs>183</Paragraphs>
  <Slides>14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2" baseType="lpstr">
      <vt:lpstr>新細明體</vt:lpstr>
      <vt:lpstr>標楷體</vt:lpstr>
      <vt:lpstr>Arial</vt:lpstr>
      <vt:lpstr>Calibri</vt:lpstr>
      <vt:lpstr>Calibri Light</vt:lpstr>
      <vt:lpstr>Cambria Math</vt:lpstr>
      <vt:lpstr>Times New Roman</vt:lpstr>
      <vt:lpstr>Office 佈景主題</vt:lpstr>
      <vt:lpstr>Parallel Huffman Decoding with Applications to JPEG Files*</vt:lpstr>
      <vt:lpstr>Abstract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fast algorithm for computing a longest common increasing subsequence</dc:title>
  <dc:creator>GaryC</dc:creator>
  <cp:lastModifiedBy>豐仰 蔡</cp:lastModifiedBy>
  <cp:revision>278</cp:revision>
  <dcterms:created xsi:type="dcterms:W3CDTF">2017-09-25T08:45:50Z</dcterms:created>
  <dcterms:modified xsi:type="dcterms:W3CDTF">2018-11-13T09:10:09Z</dcterms:modified>
</cp:coreProperties>
</file>