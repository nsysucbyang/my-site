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307" r:id="rId4"/>
    <p:sldId id="317" r:id="rId5"/>
    <p:sldId id="318" r:id="rId6"/>
    <p:sldId id="319" r:id="rId7"/>
    <p:sldId id="320" r:id="rId8"/>
    <p:sldId id="322" r:id="rId9"/>
    <p:sldId id="324"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06" autoAdjust="0"/>
    <p:restoredTop sz="95048" autoAdjust="0"/>
  </p:normalViewPr>
  <p:slideViewPr>
    <p:cSldViewPr snapToGrid="0">
      <p:cViewPr varScale="1">
        <p:scale>
          <a:sx n="77" d="100"/>
          <a:sy n="77" d="100"/>
        </p:scale>
        <p:origin x="414"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2018/11/13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TX MTX</a:t>
            </a:r>
            <a:r>
              <a:rPr lang="zh-TW" altLang="en-US" dirty="0"/>
              <a:t> </a:t>
            </a:r>
            <a:r>
              <a:rPr lang="en-US" altLang="zh-TW" dirty="0"/>
              <a:t>main diff is at daily close price</a:t>
            </a:r>
            <a:endParaRPr lang="zh-TW" altLang="en-US" dirty="0"/>
          </a:p>
        </p:txBody>
      </p:sp>
      <p:sp>
        <p:nvSpPr>
          <p:cNvPr id="4" name="投影片編號版面配置區 3"/>
          <p:cNvSpPr>
            <a:spLocks noGrp="1"/>
          </p:cNvSpPr>
          <p:nvPr>
            <p:ph type="sldNum" sz="quarter" idx="5"/>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4077200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647296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3158038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1281056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1754400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892545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2018/11/13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2018/11/13</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73878" y="373289"/>
            <a:ext cx="9044241"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Developing Arbitrage Strategy in High-frequency Pairs Trading with </a:t>
            </a:r>
            <a:r>
              <a:rPr lang="en-US" altLang="zh-TW" sz="4800" b="1" dirty="0" err="1">
                <a:latin typeface="Times New Roman" panose="02020603050405020304" pitchFamily="18" charset="0"/>
                <a:cs typeface="Times New Roman" panose="02020603050405020304" pitchFamily="18" charset="0"/>
              </a:rPr>
              <a:t>Filterbank</a:t>
            </a:r>
            <a:r>
              <a:rPr lang="en-US" altLang="zh-TW" sz="4800" b="1" dirty="0">
                <a:latin typeface="Times New Roman" panose="02020603050405020304" pitchFamily="18" charset="0"/>
                <a:cs typeface="Times New Roman" panose="02020603050405020304" pitchFamily="18" charset="0"/>
              </a:rPr>
              <a:t> CNN Algorithm</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867248" y="3852626"/>
            <a:ext cx="10457502" cy="2719740"/>
          </a:xfrm>
        </p:spPr>
        <p:txBody>
          <a:bodyPr>
            <a:normAutofit/>
          </a:bodyPr>
          <a:lstStyle/>
          <a:p>
            <a:r>
              <a:rPr lang="en-US" altLang="zh-TW" dirty="0">
                <a:latin typeface="Times New Roman" panose="02020603050405020304" pitchFamily="18" charset="0"/>
                <a:cs typeface="Times New Roman" panose="02020603050405020304" pitchFamily="18" charset="0"/>
              </a:rPr>
              <a:t>Yu-Ying Chen(</a:t>
            </a:r>
            <a:r>
              <a:rPr lang="zh-TW" altLang="en-US" dirty="0">
                <a:latin typeface="Times New Roman" panose="02020603050405020304" pitchFamily="18" charset="0"/>
                <a:cs typeface="Times New Roman" panose="02020603050405020304" pitchFamily="18" charset="0"/>
              </a:rPr>
              <a:t>陳盈伃</a:t>
            </a:r>
            <a:r>
              <a:rPr lang="en-US" altLang="zh-TW" dirty="0">
                <a:latin typeface="Times New Roman" panose="02020603050405020304" pitchFamily="18" charset="0"/>
                <a:cs typeface="Times New Roman" panose="02020603050405020304" pitchFamily="18" charset="0"/>
              </a:rPr>
              <a:t>), Wei-</a:t>
            </a:r>
            <a:r>
              <a:rPr lang="en-US" altLang="zh-TW" dirty="0" err="1">
                <a:latin typeface="Times New Roman" panose="02020603050405020304" pitchFamily="18" charset="0"/>
                <a:cs typeface="Times New Roman" panose="02020603050405020304" pitchFamily="18" charset="0"/>
              </a:rPr>
              <a:t>Lun</a:t>
            </a:r>
            <a:r>
              <a:rPr lang="en-US" altLang="zh-TW" dirty="0">
                <a:latin typeface="Times New Roman" panose="02020603050405020304" pitchFamily="18" charset="0"/>
                <a:cs typeface="Times New Roman" panose="02020603050405020304" pitchFamily="18" charset="0"/>
              </a:rPr>
              <a:t> Chen(</a:t>
            </a:r>
            <a:r>
              <a:rPr lang="zh-TW" altLang="en-US" dirty="0"/>
              <a:t>陳韋綸</a:t>
            </a:r>
            <a:r>
              <a:rPr lang="en-US" altLang="zh-TW" dirty="0">
                <a:latin typeface="Times New Roman" panose="02020603050405020304" pitchFamily="18" charset="0"/>
                <a:cs typeface="Times New Roman" panose="02020603050405020304" pitchFamily="18" charset="0"/>
              </a:rPr>
              <a:t>), and </a:t>
            </a:r>
            <a:r>
              <a:rPr lang="en-US" altLang="zh-TW" dirty="0" err="1">
                <a:latin typeface="Times New Roman" panose="02020603050405020304" pitchFamily="18" charset="0"/>
                <a:cs typeface="Times New Roman" panose="02020603050405020304" pitchFamily="18" charset="0"/>
              </a:rPr>
              <a:t>Szu</a:t>
            </a:r>
            <a:r>
              <a:rPr lang="en-US" altLang="zh-TW" dirty="0">
                <a:latin typeface="Times New Roman" panose="02020603050405020304" pitchFamily="18" charset="0"/>
                <a:cs typeface="Times New Roman" panose="02020603050405020304" pitchFamily="18" charset="0"/>
              </a:rPr>
              <a:t>-Hao Huang(</a:t>
            </a:r>
            <a:r>
              <a:rPr lang="zh-TW" altLang="en-US" dirty="0"/>
              <a:t>黃思皓</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2018 IEEE International Conference on Agents</a:t>
            </a:r>
          </a:p>
          <a:p>
            <a:r>
              <a:rPr lang="en-US" altLang="zh-TW" dirty="0">
                <a:latin typeface="Times New Roman" panose="02020603050405020304" pitchFamily="18" charset="0"/>
                <a:cs typeface="Times New Roman" panose="02020603050405020304" pitchFamily="18" charset="0"/>
              </a:rPr>
              <a:t>2018 July 28-31, Singapore, Singapore</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Date:2018/11/12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595054"/>
          </a:xfrm>
        </p:spPr>
        <p:txBody>
          <a:bodyPr>
            <a:normAutofit/>
          </a:bodyPr>
          <a:lstStyle/>
          <a:p>
            <a:pPr marL="0" indent="0" algn="just">
              <a:buNone/>
            </a:pPr>
            <a:r>
              <a:rPr lang="en-US" altLang="zh-TW" dirty="0">
                <a:latin typeface="Times New Roman" panose="02020603050405020304" pitchFamily="18" charset="0"/>
                <a:cs typeface="Times New Roman" panose="02020603050405020304" pitchFamily="18" charset="0"/>
              </a:rPr>
              <a:t>Pairs trading is a statistical arbitrage strategy, which selects a set of assets with similar performance and produces profits during these asset prices far away from rational equilibrium. Once this phenomenon exists, traders can earn the spread by longing the underperforming asset and shorting the outperforming asset. This paper proposed a novel intelligent high-frequency pairs trading system in Taiwan Stock Index Futures (TX) and Mini Index Futures (MTX) market based on deep learning techniques. This research utilized the improved time series visualization method to transfer historical volatilities with different time frames into 2D images which are helpful in capturing arbitrage signals.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595054"/>
          </a:xfrm>
        </p:spPr>
        <p:txBody>
          <a:bodyPr>
            <a:normAutofit/>
          </a:bodyPr>
          <a:lstStyle/>
          <a:p>
            <a:pPr marL="0" indent="0" algn="just">
              <a:buNone/>
            </a:pPr>
            <a:r>
              <a:rPr lang="en-US" altLang="zh-TW" dirty="0">
                <a:latin typeface="Times New Roman" panose="02020603050405020304" pitchFamily="18" charset="0"/>
                <a:cs typeface="Times New Roman" panose="02020603050405020304" pitchFamily="18" charset="0"/>
              </a:rPr>
              <a:t>Moreover, this research improved convolutional neural networks (CNN) model by combining the financial domain knowledge and </a:t>
            </a:r>
            <a:r>
              <a:rPr lang="en-US" altLang="zh-TW" dirty="0" err="1">
                <a:latin typeface="Times New Roman" panose="02020603050405020304" pitchFamily="18" charset="0"/>
                <a:cs typeface="Times New Roman" panose="02020603050405020304" pitchFamily="18" charset="0"/>
              </a:rPr>
              <a:t>filterbank</a:t>
            </a:r>
            <a:r>
              <a:rPr lang="en-US" altLang="zh-TW" dirty="0">
                <a:latin typeface="Times New Roman" panose="02020603050405020304" pitchFamily="18" charset="0"/>
                <a:cs typeface="Times New Roman" panose="02020603050405020304" pitchFamily="18" charset="0"/>
              </a:rPr>
              <a:t> mechanism. We proposed </a:t>
            </a:r>
            <a:r>
              <a:rPr lang="en-US" altLang="zh-TW" dirty="0" err="1">
                <a:latin typeface="Times New Roman" panose="02020603050405020304" pitchFamily="18" charset="0"/>
                <a:cs typeface="Times New Roman" panose="02020603050405020304" pitchFamily="18" charset="0"/>
              </a:rPr>
              <a:t>Filterbank</a:t>
            </a:r>
            <a:r>
              <a:rPr lang="en-US" altLang="zh-TW" dirty="0">
                <a:latin typeface="Times New Roman" panose="02020603050405020304" pitchFamily="18" charset="0"/>
                <a:cs typeface="Times New Roman" panose="02020603050405020304" pitchFamily="18" charset="0"/>
              </a:rPr>
              <a:t> CNN to extract high-quality features by replacing the random-generating filters with the arbitrage knowledge filters. In summary, the accuracy is enhanced through the proposed method, and it proves that the integrated information technology and financial knowledge could create the better pairs trading system.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74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Tick Data</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35A7A9E2-2399-45F5-AE25-793958067413}"/>
              </a:ext>
            </a:extLst>
          </p:cNvPr>
          <p:cNvSpPr>
            <a:spLocks noGrp="1"/>
          </p:cNvSpPr>
          <p:nvPr>
            <p:ph idx="1"/>
          </p:nvPr>
        </p:nvSpPr>
        <p:spPr>
          <a:xfrm>
            <a:off x="838200" y="1897821"/>
            <a:ext cx="10515600" cy="4595054"/>
          </a:xfrm>
        </p:spPr>
        <p:txBody>
          <a:bodyPr>
            <a:normAutofit/>
          </a:bodyPr>
          <a:lstStyle/>
          <a:p>
            <a:r>
              <a:rPr lang="en-US" altLang="zh-TW" dirty="0">
                <a:latin typeface="Times New Roman" panose="02020603050405020304" pitchFamily="18" charset="0"/>
                <a:cs typeface="Times New Roman" panose="02020603050405020304" pitchFamily="18" charset="0"/>
              </a:rPr>
              <a:t>Taiwan Stock Index Futures (TX) : </a:t>
            </a:r>
            <a:r>
              <a:rPr lang="zh-TW" altLang="en-US" dirty="0"/>
              <a:t>臺股期貨</a:t>
            </a:r>
            <a:endParaRPr lang="en-US" altLang="zh-TW" dirty="0"/>
          </a:p>
          <a:p>
            <a:r>
              <a:rPr lang="en-US" altLang="zh-TW" dirty="0">
                <a:latin typeface="Times New Roman" panose="02020603050405020304" pitchFamily="18" charset="0"/>
                <a:cs typeface="Times New Roman" panose="02020603050405020304" pitchFamily="18" charset="0"/>
              </a:rPr>
              <a:t>Mini Index Futures (MTX) : </a:t>
            </a:r>
            <a:r>
              <a:rPr lang="zh-TW" altLang="en-US" dirty="0">
                <a:latin typeface="Times New Roman" panose="02020603050405020304" pitchFamily="18" charset="0"/>
                <a:cs typeface="Times New Roman" panose="02020603050405020304" pitchFamily="18" charset="0"/>
              </a:rPr>
              <a:t>小型臺指期貨 </a:t>
            </a:r>
            <a:endParaRPr lang="en-US" altLang="zh-TW"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trading time = 17 million</a:t>
            </a:r>
          </a:p>
          <a:p>
            <a:r>
              <a:rPr lang="en-US" altLang="zh-TW" dirty="0">
                <a:latin typeface="Times New Roman" panose="02020603050405020304" pitchFamily="18" charset="0"/>
                <a:cs typeface="Times New Roman" panose="02020603050405020304" pitchFamily="18" charset="0"/>
              </a:rPr>
              <a:t>Date : 2012~2014</a:t>
            </a:r>
          </a:p>
          <a:p>
            <a:r>
              <a:rPr lang="en-US" altLang="zh-TW" dirty="0">
                <a:latin typeface="Times New Roman" panose="02020603050405020304" pitchFamily="18" charset="0"/>
                <a:cs typeface="Times New Roman" panose="02020603050405020304" pitchFamily="18" charset="0"/>
              </a:rPr>
              <a:t>Sliding window with 6 months for training and 1 month for testing</a:t>
            </a:r>
          </a:p>
          <a:p>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2134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Rule-based Strategy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內容版面配置區 2">
                <a:extLst>
                  <a:ext uri="{FF2B5EF4-FFF2-40B4-BE49-F238E27FC236}">
                    <a16:creationId xmlns:a16="http://schemas.microsoft.com/office/drawing/2014/main" id="{35A7A9E2-2399-45F5-AE25-793958067413}"/>
                  </a:ext>
                </a:extLst>
              </p:cNvPr>
              <p:cNvSpPr>
                <a:spLocks noGrp="1"/>
              </p:cNvSpPr>
              <p:nvPr>
                <p:ph idx="1"/>
              </p:nvPr>
            </p:nvSpPr>
            <p:spPr>
              <a:xfrm>
                <a:off x="838200" y="1897821"/>
                <a:ext cx="10515600" cy="4595054"/>
              </a:xfrm>
            </p:spPr>
            <p:txBody>
              <a:bodyPr>
                <a:normAutofit/>
              </a:bodyPr>
              <a:lstStyle/>
              <a:p>
                <a:r>
                  <a:rPr lang="en-US" altLang="zh-TW" dirty="0">
                    <a:latin typeface="Cambria Math" panose="02040503050406030204" pitchFamily="18" charset="0"/>
                    <a:cs typeface="Times New Roman" panose="02020603050405020304" pitchFamily="18" charset="0"/>
                  </a:rPr>
                  <a:t>Bollinger bands</a:t>
                </a:r>
              </a:p>
              <a:p>
                <a:pPr lvl="1"/>
                <a14:m>
                  <m:oMath xmlns:m="http://schemas.openxmlformats.org/officeDocument/2006/math">
                    <m:r>
                      <a:rPr lang="en-US" altLang="zh-TW" sz="2800" i="1" dirty="0" smtClean="0">
                        <a:latin typeface="Cambria Math" panose="02040503050406030204" pitchFamily="18" charset="0"/>
                        <a:cs typeface="Times New Roman" panose="02020603050405020304" pitchFamily="18" charset="0"/>
                      </a:rPr>
                      <m:t>𝑈𝑝𝑝𝑒𝑟</m:t>
                    </m:r>
                    <m:r>
                      <a:rPr lang="en-US" altLang="zh-TW" sz="2800" i="1" dirty="0">
                        <a:latin typeface="Cambria Math" panose="02040503050406030204" pitchFamily="18" charset="0"/>
                        <a:cs typeface="Times New Roman" panose="02020603050405020304" pitchFamily="18" charset="0"/>
                      </a:rPr>
                      <m:t> </m:t>
                    </m:r>
                    <m:r>
                      <a:rPr lang="en-US" altLang="zh-TW" sz="2800" i="1" dirty="0" smtClean="0">
                        <a:latin typeface="Cambria Math" panose="02040503050406030204" pitchFamily="18" charset="0"/>
                        <a:cs typeface="Times New Roman" panose="02020603050405020304" pitchFamily="18" charset="0"/>
                      </a:rPr>
                      <m:t>𝐵𝑜𝑛𝑑</m:t>
                    </m:r>
                    <m:r>
                      <a:rPr lang="en-US" altLang="zh-TW" sz="2800" i="1" dirty="0" smtClean="0">
                        <a:latin typeface="Cambria Math" panose="02040503050406030204" pitchFamily="18" charset="0"/>
                        <a:cs typeface="Times New Roman" panose="02020603050405020304" pitchFamily="18" charset="0"/>
                      </a:rPr>
                      <m:t> = </m:t>
                    </m:r>
                    <m:sSub>
                      <m:sSubPr>
                        <m:ctrlPr>
                          <a:rPr lang="en-US" altLang="zh-TW" sz="2800" b="0" i="1" dirty="0" smtClean="0">
                            <a:latin typeface="Cambria Math" panose="02040503050406030204" pitchFamily="18" charset="0"/>
                            <a:cs typeface="Times New Roman" panose="02020603050405020304" pitchFamily="18" charset="0"/>
                          </a:rPr>
                        </m:ctrlPr>
                      </m:sSubPr>
                      <m:e>
                        <m:r>
                          <a:rPr lang="zh-TW" altLang="en-US" sz="2800" i="1" dirty="0" smtClean="0">
                            <a:latin typeface="Cambria Math" panose="02040503050406030204" pitchFamily="18" charset="0"/>
                            <a:cs typeface="Times New Roman" panose="02020603050405020304" pitchFamily="18" charset="0"/>
                          </a:rPr>
                          <m:t>𝜇</m:t>
                        </m:r>
                      </m:e>
                      <m:sub>
                        <m:r>
                          <a:rPr lang="en-US" altLang="zh-TW" sz="2800" b="0" i="1" dirty="0" smtClean="0">
                            <a:latin typeface="Cambria Math" panose="02040503050406030204" pitchFamily="18" charset="0"/>
                            <a:cs typeface="Times New Roman" panose="02020603050405020304" pitchFamily="18" charset="0"/>
                          </a:rPr>
                          <m:t>𝑅</m:t>
                        </m:r>
                        <m:r>
                          <a:rPr lang="en-US" altLang="zh-TW" sz="2800" b="0" i="1" dirty="0" smtClean="0">
                            <a:latin typeface="Cambria Math" panose="02040503050406030204" pitchFamily="18" charset="0"/>
                            <a:cs typeface="Times New Roman" panose="02020603050405020304" pitchFamily="18" charset="0"/>
                          </a:rPr>
                          <m:t>,</m:t>
                        </m:r>
                        <m:r>
                          <a:rPr lang="en-US" altLang="zh-TW" sz="2800" b="0" i="1" dirty="0" smtClean="0">
                            <a:latin typeface="Cambria Math" panose="02040503050406030204" pitchFamily="18" charset="0"/>
                            <a:cs typeface="Times New Roman" panose="02020603050405020304" pitchFamily="18" charset="0"/>
                          </a:rPr>
                          <m:t>𝑇</m:t>
                        </m:r>
                      </m:sub>
                    </m:sSub>
                    <m:r>
                      <a:rPr lang="en-US" altLang="zh-TW" sz="2800" b="0" i="1" dirty="0" smtClean="0">
                        <a:latin typeface="Cambria Math" panose="02040503050406030204" pitchFamily="18" charset="0"/>
                        <a:cs typeface="Times New Roman" panose="02020603050405020304" pitchFamily="18" charset="0"/>
                      </a:rPr>
                      <m:t>+</m:t>
                    </m:r>
                    <m:r>
                      <a:rPr lang="en-US" altLang="zh-TW" sz="2800" b="0" i="1" dirty="0" smtClean="0">
                        <a:latin typeface="Cambria Math" panose="02040503050406030204" pitchFamily="18" charset="0"/>
                        <a:cs typeface="Times New Roman" panose="02020603050405020304" pitchFamily="18" charset="0"/>
                      </a:rPr>
                      <m:t>𝑚𝑢𝑙𝑡𝑖𝑝𝑙𝑒</m:t>
                    </m:r>
                    <m:r>
                      <a:rPr lang="en-US" altLang="zh-TW" sz="2800" b="0" i="1" dirty="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800" b="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a:rPr lang="zh-TW" altLang="en-US" sz="2800" b="0" i="1" dirty="0"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US" altLang="zh-TW" sz="2800" b="0" i="1" dirty="0" smtClean="0">
                            <a:latin typeface="Cambria Math" panose="02040503050406030204" pitchFamily="18" charset="0"/>
                            <a:ea typeface="Cambria Math" panose="02040503050406030204" pitchFamily="18" charset="0"/>
                            <a:cs typeface="Times New Roman" panose="02020603050405020304" pitchFamily="18" charset="0"/>
                          </a:rPr>
                          <m:t>𝑅</m:t>
                        </m:r>
                        <m:r>
                          <a:rPr lang="en-US" altLang="zh-TW" sz="28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800" b="0" i="1" dirty="0" smtClean="0">
                            <a:latin typeface="Cambria Math" panose="02040503050406030204" pitchFamily="18" charset="0"/>
                            <a:ea typeface="Cambria Math" panose="02040503050406030204" pitchFamily="18" charset="0"/>
                            <a:cs typeface="Times New Roman" panose="02020603050405020304" pitchFamily="18" charset="0"/>
                          </a:rPr>
                          <m:t>𝑇</m:t>
                        </m:r>
                      </m:sub>
                    </m:sSub>
                  </m:oMath>
                </a14:m>
                <a:endParaRPr lang="en-US" altLang="zh-TW" sz="2800" dirty="0">
                  <a:latin typeface="Times New Roman" panose="02020603050405020304" pitchFamily="18" charset="0"/>
                  <a:cs typeface="Times New Roman" panose="02020603050405020304" pitchFamily="18" charset="0"/>
                </a:endParaRPr>
              </a:p>
              <a:p>
                <a:pPr lvl="1"/>
                <a14:m>
                  <m:oMath xmlns:m="http://schemas.openxmlformats.org/officeDocument/2006/math">
                    <m:r>
                      <a:rPr lang="en-US" altLang="zh-TW" sz="2800" b="0" i="1" dirty="0" smtClean="0">
                        <a:latin typeface="Cambria Math" panose="02040503050406030204" pitchFamily="18" charset="0"/>
                        <a:cs typeface="Times New Roman" panose="02020603050405020304" pitchFamily="18" charset="0"/>
                      </a:rPr>
                      <m:t>𝐿𝑜𝑤</m:t>
                    </m:r>
                    <m:r>
                      <a:rPr lang="en-US" altLang="zh-TW" sz="2800" i="1" dirty="0">
                        <a:latin typeface="Cambria Math" panose="02040503050406030204" pitchFamily="18" charset="0"/>
                        <a:cs typeface="Times New Roman" panose="02020603050405020304" pitchFamily="18" charset="0"/>
                      </a:rPr>
                      <m:t>𝑒𝑟</m:t>
                    </m:r>
                    <m:r>
                      <a:rPr lang="en-US" altLang="zh-TW" sz="2800" i="1" dirty="0">
                        <a:latin typeface="Cambria Math" panose="02040503050406030204" pitchFamily="18" charset="0"/>
                        <a:cs typeface="Times New Roman" panose="02020603050405020304" pitchFamily="18" charset="0"/>
                      </a:rPr>
                      <m:t> </m:t>
                    </m:r>
                    <m:r>
                      <a:rPr lang="en-US" altLang="zh-TW" sz="2800" i="1" dirty="0">
                        <a:latin typeface="Cambria Math" panose="02040503050406030204" pitchFamily="18" charset="0"/>
                        <a:cs typeface="Times New Roman" panose="02020603050405020304" pitchFamily="18" charset="0"/>
                      </a:rPr>
                      <m:t>𝐵𝑜𝑛𝑑</m:t>
                    </m:r>
                    <m:r>
                      <a:rPr lang="en-US" altLang="zh-TW" sz="2800" i="1" dirty="0">
                        <a:latin typeface="Cambria Math" panose="02040503050406030204" pitchFamily="18" charset="0"/>
                        <a:cs typeface="Times New Roman" panose="02020603050405020304" pitchFamily="18" charset="0"/>
                      </a:rPr>
                      <m:t> = </m:t>
                    </m:r>
                    <m:sSub>
                      <m:sSubPr>
                        <m:ctrlPr>
                          <a:rPr lang="en-US" altLang="zh-TW" sz="2800" i="1" dirty="0">
                            <a:latin typeface="Cambria Math" panose="02040503050406030204" pitchFamily="18" charset="0"/>
                            <a:cs typeface="Times New Roman" panose="02020603050405020304" pitchFamily="18" charset="0"/>
                          </a:rPr>
                        </m:ctrlPr>
                      </m:sSubPr>
                      <m:e>
                        <m:r>
                          <a:rPr lang="zh-TW" altLang="en-US" sz="2800" i="1" dirty="0">
                            <a:latin typeface="Cambria Math" panose="02040503050406030204" pitchFamily="18" charset="0"/>
                            <a:cs typeface="Times New Roman" panose="02020603050405020304" pitchFamily="18" charset="0"/>
                          </a:rPr>
                          <m:t>𝜇</m:t>
                        </m:r>
                      </m:e>
                      <m:sub>
                        <m:r>
                          <a:rPr lang="en-US" altLang="zh-TW" sz="2800" i="1" dirty="0">
                            <a:latin typeface="Cambria Math" panose="02040503050406030204" pitchFamily="18" charset="0"/>
                            <a:cs typeface="Times New Roman" panose="02020603050405020304" pitchFamily="18" charset="0"/>
                          </a:rPr>
                          <m:t>𝑅</m:t>
                        </m:r>
                        <m:r>
                          <a:rPr lang="en-US" altLang="zh-TW" sz="2800" i="1" dirty="0">
                            <a:latin typeface="Cambria Math" panose="02040503050406030204" pitchFamily="18" charset="0"/>
                            <a:cs typeface="Times New Roman" panose="02020603050405020304" pitchFamily="18" charset="0"/>
                          </a:rPr>
                          <m:t>,</m:t>
                        </m:r>
                        <m:r>
                          <a:rPr lang="en-US" altLang="zh-TW" sz="2800" i="1" dirty="0">
                            <a:latin typeface="Cambria Math" panose="02040503050406030204" pitchFamily="18" charset="0"/>
                            <a:cs typeface="Times New Roman" panose="02020603050405020304" pitchFamily="18" charset="0"/>
                          </a:rPr>
                          <m:t>𝑇</m:t>
                        </m:r>
                      </m:sub>
                    </m:sSub>
                    <m:r>
                      <a:rPr lang="en-US" altLang="zh-TW" sz="2800" b="0" i="1" dirty="0" smtClean="0">
                        <a:latin typeface="Cambria Math" panose="02040503050406030204" pitchFamily="18" charset="0"/>
                        <a:cs typeface="Times New Roman" panose="02020603050405020304" pitchFamily="18" charset="0"/>
                      </a:rPr>
                      <m:t>−</m:t>
                    </m:r>
                    <m:r>
                      <a:rPr lang="en-US" altLang="zh-TW" sz="2800" i="1" dirty="0">
                        <a:latin typeface="Cambria Math" panose="02040503050406030204" pitchFamily="18" charset="0"/>
                        <a:cs typeface="Times New Roman" panose="02020603050405020304" pitchFamily="18" charset="0"/>
                      </a:rPr>
                      <m:t>𝑚𝑢𝑙𝑡𝑖𝑝𝑙𝑒</m:t>
                    </m:r>
                    <m:r>
                      <a:rPr lang="en-US" altLang="zh-TW" sz="2800" i="1" dirty="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800" i="1" dirty="0">
                            <a:latin typeface="Cambria Math" panose="02040503050406030204" pitchFamily="18" charset="0"/>
                            <a:ea typeface="Cambria Math" panose="02040503050406030204" pitchFamily="18" charset="0"/>
                            <a:cs typeface="Times New Roman" panose="02020603050405020304" pitchFamily="18" charset="0"/>
                          </a:rPr>
                        </m:ctrlPr>
                      </m:sSubPr>
                      <m:e>
                        <m:r>
                          <a:rPr lang="zh-TW" altLang="en-US" sz="2800" i="1" dirty="0">
                            <a:latin typeface="Cambria Math" panose="02040503050406030204" pitchFamily="18" charset="0"/>
                            <a:ea typeface="Cambria Math" panose="02040503050406030204" pitchFamily="18" charset="0"/>
                            <a:cs typeface="Times New Roman" panose="02020603050405020304" pitchFamily="18" charset="0"/>
                          </a:rPr>
                          <m:t>𝜎</m:t>
                        </m:r>
                      </m:e>
                      <m:sub>
                        <m:r>
                          <a:rPr lang="en-US" altLang="zh-TW" sz="2800" i="1" dirty="0">
                            <a:latin typeface="Cambria Math" panose="02040503050406030204" pitchFamily="18" charset="0"/>
                            <a:ea typeface="Cambria Math" panose="02040503050406030204" pitchFamily="18" charset="0"/>
                            <a:cs typeface="Times New Roman" panose="02020603050405020304" pitchFamily="18" charset="0"/>
                          </a:rPr>
                          <m:t>𝑅</m:t>
                        </m:r>
                        <m:r>
                          <a:rPr lang="en-US" altLang="zh-TW" sz="28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TW" sz="2800" i="1" dirty="0">
                            <a:latin typeface="Cambria Math" panose="02040503050406030204" pitchFamily="18" charset="0"/>
                            <a:ea typeface="Cambria Math" panose="02040503050406030204" pitchFamily="18" charset="0"/>
                            <a:cs typeface="Times New Roman" panose="02020603050405020304" pitchFamily="18" charset="0"/>
                          </a:rPr>
                          <m:t>𝑇</m:t>
                        </m:r>
                      </m:sub>
                    </m:sSub>
                  </m:oMath>
                </a14:m>
                <a:endParaRPr lang="en-US" altLang="zh-TW" sz="2800" dirty="0">
                  <a:latin typeface="Times New Roman" panose="02020603050405020304" pitchFamily="18" charset="0"/>
                  <a:cs typeface="Times New Roman" panose="02020603050405020304" pitchFamily="18" charset="0"/>
                </a:endParaRPr>
              </a:p>
              <a:p>
                <a:pPr lvl="1"/>
                <a14:m>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𝑅</m:t>
                        </m:r>
                      </m:e>
                      <m:sub>
                        <m:r>
                          <a:rPr lang="en-US" altLang="zh-TW" sz="2800" b="0" i="1" smtClean="0">
                            <a:latin typeface="Cambria Math" panose="02040503050406030204" pitchFamily="18" charset="0"/>
                            <a:cs typeface="Times New Roman" panose="02020603050405020304" pitchFamily="18" charset="0"/>
                          </a:rPr>
                          <m:t>𝑇</m:t>
                        </m:r>
                      </m:sub>
                    </m:sSub>
                    <m:r>
                      <a:rPr lang="en-US" altLang="zh-TW" sz="2800" b="0" i="1" smtClean="0">
                        <a:latin typeface="Cambria Math" panose="02040503050406030204" pitchFamily="18" charset="0"/>
                        <a:cs typeface="Times New Roman" panose="02020603050405020304" pitchFamily="18" charset="0"/>
                      </a:rPr>
                      <m:t>=</m:t>
                    </m:r>
                    <m:f>
                      <m:fPr>
                        <m:ctrlPr>
                          <a:rPr lang="en-US" altLang="zh-TW" sz="2800" b="0" i="1" smtClean="0">
                            <a:latin typeface="Cambria Math" panose="02040503050406030204" pitchFamily="18" charset="0"/>
                            <a:cs typeface="Times New Roman" panose="02020603050405020304" pitchFamily="18" charset="0"/>
                          </a:rPr>
                        </m:ctrlPr>
                      </m:fPr>
                      <m:num>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𝑃</m:t>
                            </m:r>
                          </m:e>
                          <m:sub>
                            <m:r>
                              <a:rPr lang="en-US" altLang="zh-TW" sz="2800" b="0" i="1" smtClean="0">
                                <a:latin typeface="Cambria Math" panose="02040503050406030204" pitchFamily="18" charset="0"/>
                                <a:cs typeface="Times New Roman" panose="02020603050405020304" pitchFamily="18" charset="0"/>
                              </a:rPr>
                              <m:t>𝑇𝑋</m:t>
                            </m:r>
                            <m:r>
                              <a:rPr lang="en-US" altLang="zh-TW" sz="2800" b="0" i="1" smtClean="0">
                                <a:latin typeface="Cambria Math" panose="02040503050406030204" pitchFamily="18" charset="0"/>
                                <a:cs typeface="Times New Roman" panose="02020603050405020304" pitchFamily="18" charset="0"/>
                              </a:rPr>
                              <m:t>,</m:t>
                            </m:r>
                            <m:r>
                              <a:rPr lang="en-US" altLang="zh-TW" sz="2800" b="0" i="1" smtClean="0">
                                <a:latin typeface="Cambria Math" panose="02040503050406030204" pitchFamily="18" charset="0"/>
                                <a:cs typeface="Times New Roman" panose="02020603050405020304" pitchFamily="18" charset="0"/>
                              </a:rPr>
                              <m:t>𝑇</m:t>
                            </m:r>
                          </m:sub>
                        </m:sSub>
                      </m:num>
                      <m:den>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𝑃</m:t>
                            </m:r>
                          </m:e>
                          <m:sub>
                            <m:r>
                              <a:rPr lang="en-US" altLang="zh-TW" sz="2800" b="0" i="1" smtClean="0">
                                <a:latin typeface="Cambria Math" panose="02040503050406030204" pitchFamily="18" charset="0"/>
                                <a:cs typeface="Times New Roman" panose="02020603050405020304" pitchFamily="18" charset="0"/>
                              </a:rPr>
                              <m:t>𝑀𝑇𝑋</m:t>
                            </m:r>
                            <m:r>
                              <a:rPr lang="en-US" altLang="zh-TW" sz="2800" b="0" i="1" smtClean="0">
                                <a:latin typeface="Cambria Math" panose="02040503050406030204" pitchFamily="18" charset="0"/>
                                <a:cs typeface="Times New Roman" panose="02020603050405020304" pitchFamily="18" charset="0"/>
                              </a:rPr>
                              <m:t>,</m:t>
                            </m:r>
                            <m:r>
                              <a:rPr lang="en-US" altLang="zh-TW" sz="2800" b="0" i="1" smtClean="0">
                                <a:latin typeface="Cambria Math" panose="02040503050406030204" pitchFamily="18" charset="0"/>
                                <a:cs typeface="Times New Roman" panose="02020603050405020304" pitchFamily="18" charset="0"/>
                              </a:rPr>
                              <m:t>𝑇</m:t>
                            </m:r>
                          </m:sub>
                        </m:sSub>
                      </m:den>
                    </m:f>
                  </m:oMath>
                </a14:m>
                <a:endParaRPr lang="en-US" altLang="zh-TW" sz="2800" b="0"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𝑇</m:t>
                    </m:r>
                    <m:r>
                      <a:rPr lang="en-US" altLang="zh-TW" i="1" dirty="0" smtClean="0">
                        <a:latin typeface="Cambria Math" panose="02040503050406030204" pitchFamily="18" charset="0"/>
                        <a:cs typeface="Times New Roman" panose="02020603050405020304" pitchFamily="18" charset="0"/>
                      </a:rPr>
                      <m:t>=160</m:t>
                    </m:r>
                  </m:oMath>
                </a14:m>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r>
                      <a:rPr lang="en-US" altLang="zh-TW" i="1" dirty="0">
                        <a:latin typeface="Cambria Math" panose="02040503050406030204" pitchFamily="18" charset="0"/>
                        <a:cs typeface="Times New Roman" panose="02020603050405020304" pitchFamily="18" charset="0"/>
                      </a:rPr>
                      <m:t>𝑚𝑢𝑙𝑡𝑖𝑝𝑙𝑒</m:t>
                    </m:r>
                  </m:oMath>
                </a14:m>
                <a:r>
                  <a:rPr lang="en-US" altLang="zh-TW" dirty="0">
                    <a:latin typeface="Times New Roman" panose="02020603050405020304" pitchFamily="18" charset="0"/>
                    <a:cs typeface="Times New Roman" panose="02020603050405020304" pitchFamily="18" charset="0"/>
                  </a:rPr>
                  <a:t>=2</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8" name="內容版面配置區 2">
                <a:extLst>
                  <a:ext uri="{FF2B5EF4-FFF2-40B4-BE49-F238E27FC236}">
                    <a16:creationId xmlns:a16="http://schemas.microsoft.com/office/drawing/2014/main" id="{35A7A9E2-2399-45F5-AE25-793958067413}"/>
                  </a:ext>
                </a:extLst>
              </p:cNvPr>
              <p:cNvSpPr>
                <a:spLocks noGrp="1" noRot="1" noChangeAspect="1" noMove="1" noResize="1" noEditPoints="1" noAdjustHandles="1" noChangeArrowheads="1" noChangeShapeType="1" noTextEdit="1"/>
              </p:cNvSpPr>
              <p:nvPr>
                <p:ph idx="1"/>
              </p:nvPr>
            </p:nvSpPr>
            <p:spPr>
              <a:xfrm>
                <a:off x="838200" y="1897821"/>
                <a:ext cx="10515600" cy="4595054"/>
              </a:xfrm>
              <a:blipFill>
                <a:blip r:embed="rId3"/>
                <a:stretch>
                  <a:fillRect l="-1043" t="-2255"/>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E0D3899E-852D-4716-9B2A-250E52D7DBCF}"/>
              </a:ext>
            </a:extLst>
          </p:cNvPr>
          <p:cNvPicPr>
            <a:picLocks noChangeAspect="1"/>
          </p:cNvPicPr>
          <p:nvPr/>
        </p:nvPicPr>
        <p:blipFill rotWithShape="1">
          <a:blip r:embed="rId4">
            <a:extLst>
              <a:ext uri="{28A0092B-C50C-407E-A947-70E740481C1C}">
                <a14:useLocalDpi xmlns:a14="http://schemas.microsoft.com/office/drawing/2010/main" val="0"/>
              </a:ext>
            </a:extLst>
          </a:blip>
          <a:srcRect r="845" b="49589"/>
          <a:stretch/>
        </p:blipFill>
        <p:spPr>
          <a:xfrm>
            <a:off x="4800600" y="3692525"/>
            <a:ext cx="6159202" cy="2505074"/>
          </a:xfrm>
          <a:prstGeom prst="rect">
            <a:avLst/>
          </a:prstGeom>
        </p:spPr>
      </p:pic>
    </p:spTree>
    <p:extLst>
      <p:ext uri="{BB962C8B-B14F-4D97-AF65-F5344CB8AC3E}">
        <p14:creationId xmlns:p14="http://schemas.microsoft.com/office/powerpoint/2010/main" val="3897508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Time Series Visualization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內容版面配置區 2">
                <a:extLst>
                  <a:ext uri="{FF2B5EF4-FFF2-40B4-BE49-F238E27FC236}">
                    <a16:creationId xmlns:a16="http://schemas.microsoft.com/office/drawing/2014/main" id="{35A7A9E2-2399-45F5-AE25-793958067413}"/>
                  </a:ext>
                </a:extLst>
              </p:cNvPr>
              <p:cNvSpPr>
                <a:spLocks noGrp="1"/>
              </p:cNvSpPr>
              <p:nvPr>
                <p:ph idx="1"/>
              </p:nvPr>
            </p:nvSpPr>
            <p:spPr>
              <a:xfrm>
                <a:off x="838200" y="1897821"/>
                <a:ext cx="10515600" cy="4595054"/>
              </a:xfrm>
            </p:spPr>
            <p:txBody>
              <a:bodyPr>
                <a:normAutofit/>
              </a:bodyPr>
              <a:lstStyle/>
              <a:p>
                <a14:m>
                  <m:oMath xmlns:m="http://schemas.openxmlformats.org/officeDocument/2006/math">
                    <m:r>
                      <a:rPr lang="en-US" altLang="zh-TW" b="0" i="1" dirty="0" smtClean="0">
                        <a:latin typeface="Cambria Math" panose="02040503050406030204" pitchFamily="18" charset="0"/>
                        <a:cs typeface="Times New Roman" panose="02020603050405020304" pitchFamily="18" charset="0"/>
                      </a:rPr>
                      <m:t>𝑉𝑜𝑙</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𝑖</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𝑗</m:t>
                    </m:r>
                    <m:r>
                      <a:rPr lang="en-US" altLang="zh-TW" b="0" i="1" dirty="0" smtClean="0">
                        <a:latin typeface="Cambria Math" panose="02040503050406030204" pitchFamily="18" charset="0"/>
                        <a:cs typeface="Times New Roman" panose="02020603050405020304" pitchFamily="18" charset="0"/>
                      </a:rPr>
                      <m:t>)= </m:t>
                    </m:r>
                    <m:rad>
                      <m:radPr>
                        <m:degHide m:val="on"/>
                        <m:ctrlPr>
                          <a:rPr lang="en-US" altLang="zh-TW" i="1" dirty="0" smtClean="0">
                            <a:latin typeface="Cambria Math" panose="02040503050406030204" pitchFamily="18" charset="0"/>
                            <a:cs typeface="Times New Roman" panose="02020603050405020304" pitchFamily="18" charset="0"/>
                          </a:rPr>
                        </m:ctrlPr>
                      </m:radPr>
                      <m:deg/>
                      <m:e>
                        <m:f>
                          <m:fPr>
                            <m:ctrlPr>
                              <a:rPr lang="en-US" altLang="zh-TW" i="1" dirty="0" smtClean="0">
                                <a:latin typeface="Cambria Math" panose="02040503050406030204" pitchFamily="18" charset="0"/>
                                <a:cs typeface="Times New Roman" panose="02020603050405020304" pitchFamily="18" charset="0"/>
                              </a:rPr>
                            </m:ctrlPr>
                          </m:fPr>
                          <m:num>
                            <m:nary>
                              <m:naryPr>
                                <m:chr m:val="∑"/>
                                <m:ctrlPr>
                                  <a:rPr lang="en-US" altLang="zh-TW" i="1" dirty="0" smtClean="0">
                                    <a:latin typeface="Cambria Math" panose="02040503050406030204" pitchFamily="18" charset="0"/>
                                    <a:cs typeface="Times New Roman" panose="02020603050405020304" pitchFamily="18" charset="0"/>
                                  </a:rPr>
                                </m:ctrlPr>
                              </m:naryPr>
                              <m:sub>
                                <m:r>
                                  <m:rPr>
                                    <m:brk m:alnAt="23"/>
                                  </m:rPr>
                                  <a:rPr lang="en-US" altLang="zh-TW" b="0" i="1" dirty="0" smtClean="0">
                                    <a:latin typeface="Cambria Math" panose="02040503050406030204" pitchFamily="18" charset="0"/>
                                    <a:cs typeface="Times New Roman" panose="02020603050405020304" pitchFamily="18" charset="0"/>
                                  </a:rPr>
                                  <m:t>𝑇</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𝑡</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𝑗</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𝑖</m:t>
                                </m:r>
                              </m:sub>
                              <m:sup>
                                <m:r>
                                  <a:rPr lang="en-US" altLang="zh-TW" b="0" i="1" dirty="0" smtClean="0">
                                    <a:latin typeface="Cambria Math" panose="02040503050406030204" pitchFamily="18" charset="0"/>
                                    <a:cs typeface="Times New Roman" panose="02020603050405020304" pitchFamily="18" charset="0"/>
                                  </a:rPr>
                                  <m:t>𝑡</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𝑗</m:t>
                                </m:r>
                              </m:sup>
                              <m:e>
                                <m:sSup>
                                  <m:sSupPr>
                                    <m:ctrlPr>
                                      <a:rPr lang="en-US" altLang="zh-TW" b="0" i="1" dirty="0" smtClean="0">
                                        <a:latin typeface="Cambria Math" panose="02040503050406030204" pitchFamily="18" charset="0"/>
                                        <a:cs typeface="Times New Roman" panose="02020603050405020304" pitchFamily="18" charset="0"/>
                                      </a:rPr>
                                    </m:ctrlPr>
                                  </m:sSupPr>
                                  <m:e>
                                    <m:d>
                                      <m:dPr>
                                        <m:ctrlPr>
                                          <a:rPr lang="en-US" altLang="zh-TW" b="0" i="1" dirty="0" smtClean="0">
                                            <a:latin typeface="Cambria Math" panose="02040503050406030204" pitchFamily="18" charset="0"/>
                                            <a:cs typeface="Times New Roman" panose="02020603050405020304" pitchFamily="18" charset="0"/>
                                          </a:rPr>
                                        </m:ctrlPr>
                                      </m:d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𝑃</m:t>
                                            </m:r>
                                          </m:e>
                                          <m:sub>
                                            <m:r>
                                              <a:rPr lang="en-US" altLang="zh-TW" b="0" i="1" dirty="0" smtClean="0">
                                                <a:latin typeface="Cambria Math" panose="02040503050406030204" pitchFamily="18" charset="0"/>
                                                <a:cs typeface="Times New Roman" panose="02020603050405020304" pitchFamily="18" charset="0"/>
                                              </a:rPr>
                                              <m:t>𝑇</m:t>
                                            </m:r>
                                          </m:sub>
                                        </m:sSub>
                                        <m:r>
                                          <a:rPr lang="en-US" altLang="zh-TW" b="0" i="1" dirty="0" smtClean="0">
                                            <a:latin typeface="Cambria Math" panose="02040503050406030204" pitchFamily="18" charset="0"/>
                                            <a:cs typeface="Times New Roman" panose="02020603050405020304" pitchFamily="18" charset="0"/>
                                          </a:rPr>
                                          <m:t>−</m:t>
                                        </m:r>
                                        <m:acc>
                                          <m:accPr>
                                            <m:chr m:val="̅"/>
                                            <m:ctrlPr>
                                              <a:rPr lang="en-US" altLang="zh-TW" b="0" i="1" dirty="0" smtClean="0">
                                                <a:latin typeface="Cambria Math" panose="02040503050406030204" pitchFamily="18" charset="0"/>
                                                <a:cs typeface="Times New Roman" panose="02020603050405020304" pitchFamily="18" charset="0"/>
                                              </a:rPr>
                                            </m:ctrlPr>
                                          </m:accPr>
                                          <m:e>
                                            <m:r>
                                              <a:rPr lang="en-US" altLang="zh-TW" b="0" i="1" dirty="0" smtClean="0">
                                                <a:latin typeface="Cambria Math" panose="02040503050406030204" pitchFamily="18" charset="0"/>
                                                <a:cs typeface="Times New Roman" panose="02020603050405020304" pitchFamily="18" charset="0"/>
                                              </a:rPr>
                                              <m:t>𝑃</m:t>
                                            </m:r>
                                          </m:e>
                                        </m:acc>
                                      </m:e>
                                    </m:d>
                                  </m:e>
                                  <m:sup>
                                    <m:r>
                                      <a:rPr lang="en-US" altLang="zh-TW" b="0" i="1" dirty="0" smtClean="0">
                                        <a:latin typeface="Cambria Math" panose="02040503050406030204" pitchFamily="18" charset="0"/>
                                        <a:cs typeface="Times New Roman" panose="02020603050405020304" pitchFamily="18" charset="0"/>
                                      </a:rPr>
                                      <m:t>2</m:t>
                                    </m:r>
                                  </m:sup>
                                </m:sSup>
                              </m:e>
                            </m:nary>
                          </m:num>
                          <m:den>
                            <m:r>
                              <a:rPr lang="en-US" altLang="zh-TW" b="0" i="1" dirty="0" smtClean="0">
                                <a:latin typeface="Cambria Math" panose="02040503050406030204" pitchFamily="18" charset="0"/>
                                <a:cs typeface="Times New Roman" panose="02020603050405020304" pitchFamily="18" charset="0"/>
                              </a:rPr>
                              <m:t>𝑖</m:t>
                            </m:r>
                          </m:den>
                        </m:f>
                      </m:e>
                    </m:rad>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𝐼𝑚𝑎𝑔𝑒</m:t>
                    </m:r>
                    <m:r>
                      <a:rPr lang="en-US" altLang="zh-TW" b="0" i="1" smtClean="0">
                        <a:latin typeface="Cambria Math" panose="02040503050406030204" pitchFamily="18" charset="0"/>
                        <a:cs typeface="Times New Roman" panose="02020603050405020304" pitchFamily="18" charset="0"/>
                      </a:rPr>
                      <m:t>=</m:t>
                    </m:r>
                    <m:d>
                      <m:dPr>
                        <m:begChr m:val="["/>
                        <m:endChr m:val="]"/>
                        <m:ctrlPr>
                          <a:rPr lang="en-US" altLang="zh-TW" b="0" i="1" smtClean="0">
                            <a:latin typeface="Cambria Math" panose="02040503050406030204" pitchFamily="18" charset="0"/>
                            <a:cs typeface="Times New Roman" panose="02020603050405020304" pitchFamily="18" charset="0"/>
                          </a:rPr>
                        </m:ctrlPr>
                      </m:dPr>
                      <m:e>
                        <m:m>
                          <m:mPr>
                            <m:mcs>
                              <m:mc>
                                <m:mcPr>
                                  <m:count m:val="3"/>
                                  <m:mcJc m:val="center"/>
                                </m:mcPr>
                              </m:mc>
                            </m:mcs>
                            <m:ctrlPr>
                              <a:rPr lang="en-US" altLang="zh-TW" b="0" i="1" smtClean="0">
                                <a:latin typeface="Cambria Math" panose="02040503050406030204" pitchFamily="18" charset="0"/>
                                <a:cs typeface="Times New Roman" panose="02020603050405020304" pitchFamily="18" charset="0"/>
                              </a:rPr>
                            </m:ctrlPr>
                          </m:mPr>
                          <m:mr>
                            <m:e>
                              <m:r>
                                <m:rPr>
                                  <m:brk m:alnAt="7"/>
                                </m:rPr>
                                <a:rPr lang="en-US" altLang="zh-TW" b="0" i="1" smtClean="0">
                                  <a:latin typeface="Cambria Math" panose="02040503050406030204" pitchFamily="18" charset="0"/>
                                  <a:cs typeface="Times New Roman" panose="02020603050405020304" pitchFamily="18" charset="0"/>
                                </a:rPr>
                                <m:t>𝑉</m:t>
                              </m:r>
                              <m:r>
                                <a:rPr lang="en-US" altLang="zh-TW" b="0" i="1" smtClean="0">
                                  <a:latin typeface="Cambria Math" panose="02040503050406030204" pitchFamily="18" charset="0"/>
                                  <a:cs typeface="Times New Roman" panose="02020603050405020304" pitchFamily="18" charset="0"/>
                                </a:rPr>
                                <m:t>𝑜𝑙</m:t>
                              </m:r>
                              <m:r>
                                <a:rPr lang="en-US" altLang="zh-TW" b="0" i="1" smtClean="0">
                                  <a:latin typeface="Cambria Math" panose="02040503050406030204" pitchFamily="18" charset="0"/>
                                  <a:cs typeface="Times New Roman" panose="02020603050405020304" pitchFamily="18" charset="0"/>
                                </a:rPr>
                                <m:t>(1,1)</m:t>
                              </m:r>
                            </m:e>
                            <m:e>
                              <m:r>
                                <a:rPr lang="en-US" altLang="zh-TW" b="0" i="1" smtClean="0">
                                  <a:latin typeface="Cambria Math" panose="02040503050406030204" pitchFamily="18" charset="0"/>
                                  <a:cs typeface="Times New Roman" panose="02020603050405020304" pitchFamily="18" charset="0"/>
                                </a:rPr>
                                <m:t>⋯</m:t>
                              </m:r>
                            </m:e>
                            <m:e>
                              <m:r>
                                <a:rPr lang="en-US" altLang="zh-TW" b="0" i="1" smtClean="0">
                                  <a:latin typeface="Cambria Math" panose="02040503050406030204" pitchFamily="18" charset="0"/>
                                  <a:cs typeface="Times New Roman" panose="02020603050405020304" pitchFamily="18" charset="0"/>
                                </a:rPr>
                                <m:t>𝑉𝑜𝑙</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,1)</m:t>
                              </m:r>
                            </m:e>
                          </m:mr>
                          <m:mr>
                            <m:e>
                              <m:r>
                                <a:rPr lang="en-US" altLang="zh-TW" b="0" i="1" smtClean="0">
                                  <a:latin typeface="Cambria Math" panose="02040503050406030204" pitchFamily="18" charset="0"/>
                                  <a:cs typeface="Times New Roman" panose="02020603050405020304" pitchFamily="18" charset="0"/>
                                </a:rPr>
                                <m:t>⋮</m:t>
                              </m:r>
                            </m:e>
                            <m:e>
                              <m:r>
                                <a:rPr lang="en-US" altLang="zh-TW" b="0" i="1" smtClean="0">
                                  <a:latin typeface="Cambria Math" panose="02040503050406030204" pitchFamily="18" charset="0"/>
                                  <a:cs typeface="Times New Roman" panose="02020603050405020304" pitchFamily="18" charset="0"/>
                                </a:rPr>
                                <m:t>⋱</m:t>
                              </m:r>
                            </m:e>
                            <m:e>
                              <m:r>
                                <a:rPr lang="en-US" altLang="zh-TW" b="0" i="1" smtClean="0">
                                  <a:latin typeface="Cambria Math" panose="02040503050406030204" pitchFamily="18" charset="0"/>
                                  <a:cs typeface="Times New Roman" panose="02020603050405020304" pitchFamily="18" charset="0"/>
                                </a:rPr>
                                <m:t>⋮</m:t>
                              </m:r>
                            </m:e>
                          </m:mr>
                          <m:mr>
                            <m:e>
                              <m:r>
                                <a:rPr lang="en-US" altLang="zh-TW" b="0" i="1" smtClean="0">
                                  <a:latin typeface="Cambria Math" panose="02040503050406030204" pitchFamily="18" charset="0"/>
                                  <a:cs typeface="Times New Roman" panose="02020603050405020304" pitchFamily="18" charset="0"/>
                                </a:rPr>
                                <m:t>𝑉𝑜𝑙</m:t>
                              </m:r>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𝑗</m:t>
                              </m:r>
                              <m:r>
                                <a:rPr lang="en-US" altLang="zh-TW" b="0" i="1" smtClean="0">
                                  <a:latin typeface="Cambria Math" panose="02040503050406030204" pitchFamily="18" charset="0"/>
                                  <a:cs typeface="Times New Roman" panose="02020603050405020304" pitchFamily="18" charset="0"/>
                                </a:rPr>
                                <m:t>)</m:t>
                              </m:r>
                            </m:e>
                            <m:e>
                              <m:r>
                                <a:rPr lang="en-US" altLang="zh-TW" b="0" i="1" smtClean="0">
                                  <a:latin typeface="Cambria Math" panose="02040503050406030204" pitchFamily="18" charset="0"/>
                                  <a:cs typeface="Times New Roman" panose="02020603050405020304" pitchFamily="18" charset="0"/>
                                </a:rPr>
                                <m:t>⋯</m:t>
                              </m:r>
                            </m:e>
                            <m:e>
                              <m:r>
                                <a:rPr lang="en-US" altLang="zh-TW" b="0" i="1" smtClean="0">
                                  <a:latin typeface="Cambria Math" panose="02040503050406030204" pitchFamily="18" charset="0"/>
                                  <a:cs typeface="Times New Roman" panose="02020603050405020304" pitchFamily="18" charset="0"/>
                                </a:rPr>
                                <m:t>𝑉𝑜𝑙</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𝑗</m:t>
                              </m:r>
                              <m:r>
                                <a:rPr lang="en-US" altLang="zh-TW" b="0" i="1" smtClean="0">
                                  <a:latin typeface="Cambria Math" panose="02040503050406030204" pitchFamily="18" charset="0"/>
                                  <a:cs typeface="Times New Roman" panose="02020603050405020304" pitchFamily="18" charset="0"/>
                                </a:rPr>
                                <m:t>)</m:t>
                              </m:r>
                            </m:e>
                          </m:mr>
                        </m:m>
                      </m:e>
                    </m:d>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≤15</m:t>
                    </m:r>
                  </m:oMath>
                </a14:m>
                <a:endParaRPr lang="en-US" altLang="zh-TW" dirty="0">
                  <a:latin typeface="Times New Roman" panose="02020603050405020304" pitchFamily="18" charset="0"/>
                  <a:ea typeface="Cambria Math" panose="02040503050406030204" pitchFamily="18" charset="0"/>
                  <a:cs typeface="Times New Roman" panose="02020603050405020304" pitchFamily="18" charset="0"/>
                </a:endParaRPr>
              </a:p>
              <a:p>
                <a:pPr lvl="1"/>
                <a:r>
                  <a:rPr lang="en-US" altLang="zh-TW" dirty="0">
                    <a:latin typeface="Times New Roman" panose="02020603050405020304" pitchFamily="18" charset="0"/>
                    <a:ea typeface="Cambria Math" panose="02040503050406030204" pitchFamily="18" charset="0"/>
                    <a:cs typeface="Times New Roman" panose="02020603050405020304" pitchFamily="18" charset="0"/>
                  </a:rPr>
                  <a:t>Row for different timeframes</a:t>
                </a:r>
              </a:p>
              <a:p>
                <a:pPr lvl="1"/>
                <a:r>
                  <a:rPr lang="en-US" altLang="zh-TW" dirty="0">
                    <a:latin typeface="Times New Roman" panose="02020603050405020304" pitchFamily="18" charset="0"/>
                    <a:ea typeface="Cambria Math" panose="02040503050406030204" pitchFamily="18" charset="0"/>
                    <a:cs typeface="Times New Roman" panose="02020603050405020304" pitchFamily="18" charset="0"/>
                  </a:rPr>
                  <a:t>Column for different ticks</a:t>
                </a: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8" name="內容版面配置區 2">
                <a:extLst>
                  <a:ext uri="{FF2B5EF4-FFF2-40B4-BE49-F238E27FC236}">
                    <a16:creationId xmlns:a16="http://schemas.microsoft.com/office/drawing/2014/main" id="{35A7A9E2-2399-45F5-AE25-793958067413}"/>
                  </a:ext>
                </a:extLst>
              </p:cNvPr>
              <p:cNvSpPr>
                <a:spLocks noGrp="1" noRot="1" noChangeAspect="1" noMove="1" noResize="1" noEditPoints="1" noAdjustHandles="1" noChangeArrowheads="1" noChangeShapeType="1" noTextEdit="1"/>
              </p:cNvSpPr>
              <p:nvPr>
                <p:ph idx="1"/>
              </p:nvPr>
            </p:nvSpPr>
            <p:spPr>
              <a:xfrm>
                <a:off x="838200" y="1897821"/>
                <a:ext cx="10515600" cy="4595054"/>
              </a:xfr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3625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err="1">
                <a:latin typeface="Times New Roman" panose="02020603050405020304" pitchFamily="18" charset="0"/>
                <a:cs typeface="Times New Roman" panose="02020603050405020304" pitchFamily="18" charset="0"/>
              </a:rPr>
              <a:t>Filterbank</a:t>
            </a:r>
            <a:r>
              <a:rPr lang="en-US" altLang="zh-TW" dirty="0">
                <a:latin typeface="Times New Roman" panose="02020603050405020304" pitchFamily="18" charset="0"/>
                <a:cs typeface="Times New Roman" panose="02020603050405020304" pitchFamily="18" charset="0"/>
              </a:rPr>
              <a:t> CNN</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35A7A9E2-2399-45F5-AE25-793958067413}"/>
              </a:ext>
            </a:extLst>
          </p:cNvPr>
          <p:cNvSpPr>
            <a:spLocks noGrp="1"/>
          </p:cNvSpPr>
          <p:nvPr>
            <p:ph idx="1"/>
          </p:nvPr>
        </p:nvSpPr>
        <p:spPr>
          <a:xfrm>
            <a:off x="838200" y="1897821"/>
            <a:ext cx="10515600" cy="4595054"/>
          </a:xfrm>
        </p:spPr>
        <p:txBody>
          <a:bodyPr>
            <a:normAutofit/>
          </a:bodyPr>
          <a:lstStyle/>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82729F8C-F470-403B-BE6D-330398708A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7989" y="1690688"/>
            <a:ext cx="4936021" cy="4718754"/>
          </a:xfrm>
          <a:prstGeom prst="rect">
            <a:avLst/>
          </a:prstGeom>
        </p:spPr>
      </p:pic>
    </p:spTree>
    <p:extLst>
      <p:ext uri="{BB962C8B-B14F-4D97-AF65-F5344CB8AC3E}">
        <p14:creationId xmlns:p14="http://schemas.microsoft.com/office/powerpoint/2010/main" val="1963552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err="1">
                <a:latin typeface="Times New Roman" panose="02020603050405020304" pitchFamily="18" charset="0"/>
                <a:cs typeface="Times New Roman" panose="02020603050405020304" pitchFamily="18" charset="0"/>
              </a:rPr>
              <a:t>Haar</a:t>
            </a:r>
            <a:r>
              <a:rPr lang="en-US" altLang="zh-TW" dirty="0">
                <a:latin typeface="Times New Roman" panose="02020603050405020304" pitchFamily="18" charset="0"/>
                <a:cs typeface="Times New Roman" panose="02020603050405020304" pitchFamily="18" charset="0"/>
              </a:rPr>
              <a:t>-like filter</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內容版面配置區 2">
                <a:extLst>
                  <a:ext uri="{FF2B5EF4-FFF2-40B4-BE49-F238E27FC236}">
                    <a16:creationId xmlns:a16="http://schemas.microsoft.com/office/drawing/2014/main" id="{35A7A9E2-2399-45F5-AE25-793958067413}"/>
                  </a:ext>
                </a:extLst>
              </p:cNvPr>
              <p:cNvSpPr>
                <a:spLocks noGrp="1"/>
              </p:cNvSpPr>
              <p:nvPr>
                <p:ph idx="1"/>
              </p:nvPr>
            </p:nvSpPr>
            <p:spPr>
              <a:xfrm>
                <a:off x="838200" y="1897821"/>
                <a:ext cx="10515600" cy="4595054"/>
              </a:xfrm>
            </p:spPr>
            <p:txBody>
              <a:bodyPr>
                <a:normAutofit/>
              </a:bodyPr>
              <a:lstStyle/>
              <a:p>
                <a14:m>
                  <m:oMath xmlns:m="http://schemas.openxmlformats.org/officeDocument/2006/math">
                    <m:r>
                      <a:rPr lang="en-US" altLang="zh-TW" b="0" i="1" dirty="0" smtClean="0">
                        <a:latin typeface="Cambria Math" panose="02040503050406030204" pitchFamily="18" charset="0"/>
                        <a:cs typeface="Times New Roman" panose="02020603050405020304" pitchFamily="18" charset="0"/>
                      </a:rPr>
                      <m:t>𝐹𝑒𝑎𝑡𝑢𝑟</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𝑒</m:t>
                        </m:r>
                      </m:e>
                      <m:sub>
                        <m:r>
                          <a:rPr lang="en-US" altLang="zh-TW" b="0" i="1" dirty="0" smtClean="0">
                            <a:latin typeface="Cambria Math" panose="02040503050406030204" pitchFamily="18" charset="0"/>
                            <a:cs typeface="Times New Roman" panose="02020603050405020304" pitchFamily="18" charset="0"/>
                          </a:rPr>
                          <m:t>𝐾𝑛𝑜𝑤𝑙𝑒𝑑𝑔𝑒</m:t>
                        </m:r>
                      </m:sub>
                    </m:sSub>
                    <m:r>
                      <a:rPr lang="en-US" altLang="zh-TW" i="1" dirty="0" smtClean="0">
                        <a:latin typeface="Cambria Math" panose="02040503050406030204" pitchFamily="18" charset="0"/>
                        <a:cs typeface="Times New Roman" panose="02020603050405020304" pitchFamily="18" charset="0"/>
                      </a:rPr>
                      <m:t>= </m:t>
                    </m:r>
                    <m:sSubSup>
                      <m:sSubSupPr>
                        <m:ctrlPr>
                          <a:rPr lang="en-US" altLang="zh-TW" b="0" i="1" dirty="0" smtClean="0">
                            <a:latin typeface="Cambria Math" panose="02040503050406030204" pitchFamily="18" charset="0"/>
                            <a:cs typeface="Times New Roman" panose="02020603050405020304" pitchFamily="18" charset="0"/>
                          </a:rPr>
                        </m:ctrlPr>
                      </m:sSubSupPr>
                      <m:e>
                        <m:r>
                          <a:rPr lang="en-US" altLang="zh-TW" b="0" i="1" dirty="0" smtClean="0">
                            <a:latin typeface="Cambria Math" panose="02040503050406030204" pitchFamily="18" charset="0"/>
                            <a:cs typeface="Times New Roman" panose="02020603050405020304" pitchFamily="18" charset="0"/>
                          </a:rPr>
                          <m:t>𝑓𝑖𝑙𝑡𝑒𝑟</m:t>
                        </m:r>
                      </m:e>
                      <m:sub>
                        <m:r>
                          <a:rPr lang="en-US" altLang="zh-TW" b="0" i="1" dirty="0" smtClean="0">
                            <a:latin typeface="Cambria Math" panose="02040503050406030204" pitchFamily="18" charset="0"/>
                            <a:cs typeface="Times New Roman" panose="02020603050405020304" pitchFamily="18" charset="0"/>
                          </a:rPr>
                          <m:t>𝐾𝑛𝑜𝑤𝑙𝑒𝑑𝑔𝑒</m:t>
                        </m:r>
                      </m:sub>
                      <m:sup>
                        <m:r>
                          <a:rPr lang="en-US" altLang="zh-TW" b="0" i="1" dirty="0" smtClean="0">
                            <a:latin typeface="Cambria Math" panose="02040503050406030204" pitchFamily="18" charset="0"/>
                            <a:cs typeface="Times New Roman" panose="02020603050405020304" pitchFamily="18" charset="0"/>
                          </a:rPr>
                          <m:t>𝑇</m:t>
                        </m:r>
                      </m:sup>
                    </m:sSubSup>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𝐼𝑚𝑎𝑔𝑒</m:t>
                    </m:r>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b="0" i="1" dirty="0" smtClean="0">
                        <a:latin typeface="Cambria Math" panose="02040503050406030204" pitchFamily="18" charset="0"/>
                        <a:cs typeface="Times New Roman" panose="02020603050405020304" pitchFamily="18" charset="0"/>
                      </a:rPr>
                      <m:t>𝐿𝑜𝑔</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𝐹𝑒𝑎𝑡𝑢𝑟</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𝑒</m:t>
                        </m:r>
                      </m:e>
                      <m:sub>
                        <m:r>
                          <a:rPr lang="en-US" altLang="zh-TW" b="0" i="1" dirty="0" smtClean="0">
                            <a:latin typeface="Cambria Math" panose="02040503050406030204" pitchFamily="18" charset="0"/>
                            <a:cs typeface="Times New Roman" panose="02020603050405020304" pitchFamily="18" charset="0"/>
                          </a:rPr>
                          <m:t>𝐾𝑛𝑜𝑤𝑙𝑒𝑑𝑔𝑒</m:t>
                        </m:r>
                      </m:sub>
                    </m:sSub>
                    <m:r>
                      <a:rPr lang="en-US" altLang="zh-TW" i="1" dirty="0">
                        <a:latin typeface="Cambria Math" panose="02040503050406030204" pitchFamily="18" charset="0"/>
                        <a:cs typeface="Times New Roman" panose="02020603050405020304" pitchFamily="18" charset="0"/>
                      </a:rPr>
                      <m:t>=</m:t>
                    </m:r>
                    <m:r>
                      <m:rPr>
                        <m:sty m:val="p"/>
                      </m:rPr>
                      <a:rPr lang="en-US" altLang="zh-TW" b="0" i="0" dirty="0" smtClean="0">
                        <a:latin typeface="Cambria Math" panose="02040503050406030204" pitchFamily="18" charset="0"/>
                        <a:cs typeface="Times New Roman" panose="02020603050405020304" pitchFamily="18" charset="0"/>
                      </a:rPr>
                      <m:t>log</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𝐹𝑒𝑎𝑡𝑢𝑟</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𝑒</m:t>
                        </m:r>
                      </m:e>
                      <m:sub>
                        <m:r>
                          <a:rPr lang="en-US" altLang="zh-TW" b="0" i="1" dirty="0" smtClean="0">
                            <a:latin typeface="Cambria Math" panose="02040503050406030204" pitchFamily="18" charset="0"/>
                            <a:cs typeface="Times New Roman" panose="02020603050405020304" pitchFamily="18" charset="0"/>
                          </a:rPr>
                          <m:t>𝐾𝑛𝑜𝑤𝑙𝑒𝑑𝑔𝑒</m:t>
                        </m:r>
                      </m:sub>
                    </m:sSub>
                    <m:r>
                      <a:rPr lang="en-US" altLang="zh-TW" b="0" i="1" dirty="0" smtClean="0">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p:sp>
            <p:nvSpPr>
              <p:cNvPr id="8" name="內容版面配置區 2">
                <a:extLst>
                  <a:ext uri="{FF2B5EF4-FFF2-40B4-BE49-F238E27FC236}">
                    <a16:creationId xmlns:a16="http://schemas.microsoft.com/office/drawing/2014/main" id="{35A7A9E2-2399-45F5-AE25-793958067413}"/>
                  </a:ext>
                </a:extLst>
              </p:cNvPr>
              <p:cNvSpPr>
                <a:spLocks noGrp="1" noRot="1" noChangeAspect="1" noMove="1" noResize="1" noEditPoints="1" noAdjustHandles="1" noChangeArrowheads="1" noChangeShapeType="1" noTextEdit="1"/>
              </p:cNvSpPr>
              <p:nvPr>
                <p:ph idx="1"/>
              </p:nvPr>
            </p:nvSpPr>
            <p:spPr>
              <a:xfrm>
                <a:off x="838200" y="1897821"/>
                <a:ext cx="10515600" cy="4595054"/>
              </a:xfrm>
              <a:blipFill>
                <a:blip r:embed="rId3"/>
                <a:stretch>
                  <a:fillRect/>
                </a:stretch>
              </a:blipFill>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051CD108-D34A-4B5B-A44A-219E7F2E936C}"/>
              </a:ext>
            </a:extLst>
          </p:cNvPr>
          <p:cNvSpPr/>
          <p:nvPr/>
        </p:nvSpPr>
        <p:spPr>
          <a:xfrm>
            <a:off x="3886200" y="3473599"/>
            <a:ext cx="1481667" cy="14816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a:extLst>
              <a:ext uri="{FF2B5EF4-FFF2-40B4-BE49-F238E27FC236}">
                <a16:creationId xmlns:a16="http://schemas.microsoft.com/office/drawing/2014/main" id="{E3F9DFFE-13E3-4A61-AE2D-13A142686A96}"/>
              </a:ext>
            </a:extLst>
          </p:cNvPr>
          <p:cNvSpPr/>
          <p:nvPr/>
        </p:nvSpPr>
        <p:spPr>
          <a:xfrm>
            <a:off x="4627033" y="3473598"/>
            <a:ext cx="740834" cy="7408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dirty="0"/>
          </a:p>
        </p:txBody>
      </p:sp>
      <p:sp>
        <p:nvSpPr>
          <p:cNvPr id="6" name="矩形 5">
            <a:extLst>
              <a:ext uri="{FF2B5EF4-FFF2-40B4-BE49-F238E27FC236}">
                <a16:creationId xmlns:a16="http://schemas.microsoft.com/office/drawing/2014/main" id="{E116735E-D0B3-4A46-BC8D-423084654123}"/>
              </a:ext>
            </a:extLst>
          </p:cNvPr>
          <p:cNvSpPr/>
          <p:nvPr/>
        </p:nvSpPr>
        <p:spPr>
          <a:xfrm>
            <a:off x="3886200" y="4214433"/>
            <a:ext cx="740833" cy="74083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8457C313-59A5-443D-8F9E-2E018F23C848}"/>
              </a:ext>
            </a:extLst>
          </p:cNvPr>
          <p:cNvSpPr/>
          <p:nvPr/>
        </p:nvSpPr>
        <p:spPr>
          <a:xfrm>
            <a:off x="3886200" y="3473598"/>
            <a:ext cx="2912533" cy="29125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2384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2.91667E-6 -1.85185E-6 L 0.11758 -0.00023 " pathEditMode="relative" rAng="0" ptsTypes="AA">
                                      <p:cBhvr>
                                        <p:cTn id="6" dur="2000" fill="hold"/>
                                        <p:tgtEl>
                                          <p:spTgt spid="3"/>
                                        </p:tgtEl>
                                        <p:attrNameLst>
                                          <p:attrName>ppt_x</p:attrName>
                                          <p:attrName>ppt_y</p:attrName>
                                        </p:attrNameLst>
                                      </p:cBhvr>
                                      <p:rCtr x="5872" y="-23"/>
                                    </p:animMotion>
                                  </p:childTnLst>
                                </p:cTn>
                              </p:par>
                              <p:par>
                                <p:cTn id="7" presetID="63" presetClass="path" presetSubtype="0" accel="50000" decel="50000" fill="hold" grpId="0" nodeType="withEffect">
                                  <p:stCondLst>
                                    <p:cond delay="0"/>
                                  </p:stCondLst>
                                  <p:childTnLst>
                                    <p:animMotion origin="layout" path="M 4.16667E-6 3.33333E-6 L 0.11666 -0.00023 " pathEditMode="relative" rAng="0" ptsTypes="AA">
                                      <p:cBhvr>
                                        <p:cTn id="8" dur="2000" fill="hold"/>
                                        <p:tgtEl>
                                          <p:spTgt spid="4"/>
                                        </p:tgtEl>
                                        <p:attrNameLst>
                                          <p:attrName>ppt_x</p:attrName>
                                          <p:attrName>ppt_y</p:attrName>
                                        </p:attrNameLst>
                                      </p:cBhvr>
                                      <p:rCtr x="5833" y="-23"/>
                                    </p:animMotion>
                                  </p:childTnLst>
                                </p:cTn>
                              </p:par>
                              <p:par>
                                <p:cTn id="9" presetID="63" presetClass="path" presetSubtype="0" accel="50000" decel="50000" fill="hold" grpId="0" nodeType="withEffect">
                                  <p:stCondLst>
                                    <p:cond delay="0"/>
                                  </p:stCondLst>
                                  <p:childTnLst>
                                    <p:animMotion origin="layout" path="M 1.45833E-6 1.48148E-6 L 0.1168 -0.00046 " pathEditMode="relative" rAng="0" ptsTypes="AA">
                                      <p:cBhvr>
                                        <p:cTn id="10" dur="2000" fill="hold"/>
                                        <p:tgtEl>
                                          <p:spTgt spid="6"/>
                                        </p:tgtEl>
                                        <p:attrNameLst>
                                          <p:attrName>ppt_x</p:attrName>
                                          <p:attrName>ppt_y</p:attrName>
                                        </p:attrNameLst>
                                      </p:cBhvr>
                                      <p:rCtr x="5833"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Experimental Result</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7E123028-63BC-4293-AD9A-B29E1684401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98750" y="1532750"/>
            <a:ext cx="6394500" cy="4165115"/>
          </a:xfrm>
        </p:spPr>
      </p:pic>
    </p:spTree>
    <p:extLst>
      <p:ext uri="{BB962C8B-B14F-4D97-AF65-F5344CB8AC3E}">
        <p14:creationId xmlns:p14="http://schemas.microsoft.com/office/powerpoint/2010/main" val="401416410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28043</TotalTime>
  <Words>385</Words>
  <Application>Microsoft Office PowerPoint</Application>
  <PresentationFormat>寬螢幕</PresentationFormat>
  <Paragraphs>43</Paragraphs>
  <Slides>9</Slides>
  <Notes>7</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9</vt:i4>
      </vt:variant>
    </vt:vector>
  </HeadingPairs>
  <TitlesOfParts>
    <vt:vector size="16" baseType="lpstr">
      <vt:lpstr>新細明體</vt:lpstr>
      <vt:lpstr>Arial</vt:lpstr>
      <vt:lpstr>Calibri</vt:lpstr>
      <vt:lpstr>Calibri Light</vt:lpstr>
      <vt:lpstr>Cambria Math</vt:lpstr>
      <vt:lpstr>Times New Roman</vt:lpstr>
      <vt:lpstr>Office 佈景主題</vt:lpstr>
      <vt:lpstr>Developing Arbitrage Strategy in High-frequency Pairs Trading with Filterbank CNN Algorithm</vt:lpstr>
      <vt:lpstr>Abstract(1/2)</vt:lpstr>
      <vt:lpstr>Abstract(2/2)</vt:lpstr>
      <vt:lpstr>Tick Data</vt:lpstr>
      <vt:lpstr>Rule-based Strategy</vt:lpstr>
      <vt:lpstr>Time Series Visualization</vt:lpstr>
      <vt:lpstr>Filterbank CNN</vt:lpstr>
      <vt:lpstr>Haar-like filter</vt:lpstr>
      <vt:lpstr>Experimental 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p:lastModifiedBy>
  <cp:revision>764</cp:revision>
  <dcterms:created xsi:type="dcterms:W3CDTF">2017-09-07T05:36:32Z</dcterms:created>
  <dcterms:modified xsi:type="dcterms:W3CDTF">2018-11-13T10:26:58Z</dcterms:modified>
</cp:coreProperties>
</file>