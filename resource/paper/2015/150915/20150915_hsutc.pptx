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259" r:id="rId5"/>
    <p:sldId id="256" r:id="rId6"/>
    <p:sldId id="260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61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11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53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9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80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40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29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99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2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9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88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28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A4D6-5592-4349-9702-90934762B61F}" type="datetimeFigureOut">
              <a:rPr lang="zh-TW" altLang="en-US" smtClean="0"/>
              <a:t>2015/9/15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94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2015/9/15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86821" y="4978792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2015/09/15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271245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+mn-lt"/>
              </a:rPr>
              <a:t>Efficient string-matching allowing for non-overlapping inversions</a:t>
            </a:r>
            <a:endParaRPr lang="zh-TW" altLang="en-US" sz="4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511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sz="3000" dirty="0" smtClean="0">
              <a:solidFill>
                <a:prstClr val="black"/>
              </a:solidFill>
            </a:endParaRPr>
          </a:p>
          <a:p>
            <a:pPr fontAlgn="base"/>
            <a:r>
              <a:rPr lang="it-IT" altLang="zh-TW" sz="3000" dirty="0" smtClean="0">
                <a:solidFill>
                  <a:prstClr val="black"/>
                </a:solidFill>
              </a:rPr>
              <a:t>Domenico </a:t>
            </a:r>
            <a:r>
              <a:rPr lang="it-IT" altLang="zh-TW" sz="3000" dirty="0">
                <a:solidFill>
                  <a:prstClr val="black"/>
                </a:solidFill>
              </a:rPr>
              <a:t>Cantone, Salvatore Cristofaro, Simone </a:t>
            </a:r>
            <a:r>
              <a:rPr lang="it-IT" altLang="zh-TW" sz="3000" dirty="0" smtClean="0">
                <a:solidFill>
                  <a:prstClr val="black"/>
                </a:solidFill>
              </a:rPr>
              <a:t>Faro</a:t>
            </a:r>
          </a:p>
          <a:p>
            <a:pPr fontAlgn="base"/>
            <a:endParaRPr lang="pt-BR" altLang="zh-TW" sz="700" dirty="0" smtClean="0">
              <a:solidFill>
                <a:prstClr val="black"/>
              </a:solidFill>
            </a:endParaRPr>
          </a:p>
          <a:p>
            <a:pPr fontAlgn="base"/>
            <a:r>
              <a:rPr lang="pt-BR" altLang="zh-TW" sz="700" dirty="0" smtClean="0">
                <a:solidFill>
                  <a:prstClr val="black"/>
                </a:solidFill>
              </a:rPr>
              <a:t> </a:t>
            </a:r>
            <a:endParaRPr lang="en-US" altLang="zh-TW" sz="700" dirty="0" smtClean="0">
              <a:solidFill>
                <a:prstClr val="black"/>
              </a:solidFill>
            </a:endParaRPr>
          </a:p>
          <a:p>
            <a:r>
              <a:rPr lang="en-US" altLang="zh-TW" sz="2800" b="1" dirty="0">
                <a:solidFill>
                  <a:prstClr val="black"/>
                </a:solidFill>
                <a:latin typeface="Calibri Light" panose="020F0302020204030204"/>
              </a:rPr>
              <a:t>Theoretical Computer </a:t>
            </a:r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Science, Vol. </a:t>
            </a:r>
            <a:r>
              <a:rPr lang="en-US" altLang="zh-TW" sz="2800" b="1" dirty="0">
                <a:solidFill>
                  <a:prstClr val="black"/>
                </a:solidFill>
                <a:latin typeface="Calibri Light" panose="020F0302020204030204"/>
              </a:rPr>
              <a:t>483, </a:t>
            </a:r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pp. 85–95 (2013)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/>
              <a:t>Inversions are a class of chromosomal mutations, widely regarded as one of the major mechanisms for reorganizing the </a:t>
            </a:r>
            <a:r>
              <a:rPr lang="en-US" altLang="zh-TW" sz="3200" dirty="0" smtClean="0"/>
              <a:t>genome. In </a:t>
            </a:r>
            <a:r>
              <a:rPr lang="en-US" altLang="zh-TW" sz="3200" dirty="0"/>
              <a:t>this paper we present a new algorithm for the approximate string matching problem allowing for </a:t>
            </a:r>
            <a:r>
              <a:rPr lang="en-US" altLang="zh-TW" sz="3200" dirty="0" smtClean="0"/>
              <a:t>non-overlapping </a:t>
            </a:r>
            <a:r>
              <a:rPr lang="en-US" altLang="zh-TW" sz="3200" dirty="0"/>
              <a:t>inversions which runs in </a:t>
            </a:r>
            <a:r>
              <a:rPr lang="en-US" altLang="zh-TW" sz="3200" dirty="0" smtClean="0"/>
              <a:t>O(nm) </a:t>
            </a:r>
            <a:r>
              <a:rPr lang="en-US" altLang="zh-TW" sz="3200" dirty="0"/>
              <a:t>worst-case time and </a:t>
            </a:r>
            <a:r>
              <a:rPr lang="en-US" altLang="zh-TW" sz="3200" dirty="0" smtClean="0"/>
              <a:t>O(m</a:t>
            </a:r>
            <a:r>
              <a:rPr lang="en-US" altLang="zh-TW" sz="3200" baseline="30000" dirty="0" smtClean="0"/>
              <a:t>2</a:t>
            </a:r>
            <a:r>
              <a:rPr lang="en-US" altLang="zh-TW" sz="3200" dirty="0" smtClean="0"/>
              <a:t>)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space</a:t>
            </a:r>
            <a:r>
              <a:rPr lang="en-US" altLang="zh-TW" sz="3200" dirty="0"/>
              <a:t>, for a character sequence of size </a:t>
            </a:r>
            <a:r>
              <a:rPr lang="en-US" altLang="zh-TW" sz="3200" dirty="0" smtClean="0"/>
              <a:t>n </a:t>
            </a:r>
            <a:r>
              <a:rPr lang="en-US" altLang="zh-TW" sz="3200" dirty="0"/>
              <a:t>and pattern of size </a:t>
            </a:r>
            <a:r>
              <a:rPr lang="en-US" altLang="zh-TW" sz="3200" dirty="0" smtClean="0"/>
              <a:t>m.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 smtClean="0"/>
              <a:t>This </a:t>
            </a:r>
            <a:r>
              <a:rPr lang="en-US" altLang="zh-TW" sz="3200" dirty="0"/>
              <a:t>improves upon a previous </a:t>
            </a:r>
            <a:r>
              <a:rPr lang="en-US" altLang="zh-TW" sz="3200" dirty="0" smtClean="0"/>
              <a:t>O(nm</a:t>
            </a:r>
            <a:r>
              <a:rPr lang="en-US" altLang="zh-TW" sz="3200" baseline="30000" dirty="0" smtClean="0"/>
              <a:t>2</a:t>
            </a:r>
            <a:r>
              <a:rPr lang="en-US" altLang="zh-TW" sz="3200" dirty="0" smtClean="0"/>
              <a:t>)-time </a:t>
            </a:r>
            <a:r>
              <a:rPr lang="en-US" altLang="zh-TW" sz="3200" dirty="0"/>
              <a:t>algorithm.</a:t>
            </a:r>
          </a:p>
          <a:p>
            <a:pPr marL="0" indent="0">
              <a:buNone/>
            </a:pPr>
            <a:r>
              <a:rPr lang="en-US" altLang="zh-TW" sz="3200" dirty="0"/>
              <a:t>In addition we present a variant of our algorithm with the same complexity in the worst case, but with a </a:t>
            </a:r>
            <a:r>
              <a:rPr lang="en-US" altLang="zh-TW" sz="3200" dirty="0" smtClean="0"/>
              <a:t>O(n) </a:t>
            </a:r>
            <a:r>
              <a:rPr lang="en-US" altLang="zh-TW" sz="3200" dirty="0"/>
              <a:t>time complexity in the average case.</a:t>
            </a:r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60253" y="1781134"/>
            <a:ext cx="76757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non-overlapping inversion 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22529" y="553226"/>
            <a:ext cx="24009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reversal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 rot="16200000">
            <a:off x="6452442" y="1167180"/>
            <a:ext cx="5411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=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19630" y="2704464"/>
            <a:ext cx="3018840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attagcct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>
              <a:lnSpc>
                <a:spcPct val="200000"/>
              </a:lnSpc>
            </a:pP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atcgatct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62697" y="3429342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180115" y="5101608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881154" y="4335034"/>
            <a:ext cx="0" cy="61830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69446" y="3146287"/>
            <a:ext cx="412164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5304" y="1065127"/>
            <a:ext cx="82688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pproximate string matching problem</a:t>
            </a:r>
          </a:p>
          <a:p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allowing fo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r non-overlapping inversions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619" y="3146287"/>
            <a:ext cx="245810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text:</a:t>
            </a:r>
          </a:p>
          <a:p>
            <a:pPr algn="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pattern: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46358" y="3216442"/>
            <a:ext cx="1411705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358063" y="3216442"/>
            <a:ext cx="994611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52675" y="3216441"/>
            <a:ext cx="489284" cy="15881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合併 15"/>
          <p:cNvSpPr/>
          <p:nvPr/>
        </p:nvSpPr>
        <p:spPr>
          <a:xfrm>
            <a:off x="4042610" y="2929969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9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476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0489" y="1072055"/>
            <a:ext cx="1143001" cy="1032642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43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50438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0490" y="1072055"/>
            <a:ext cx="882870" cy="102475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36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03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515290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513024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49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515290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513024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809118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809118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合併 13"/>
          <p:cNvSpPr/>
          <p:nvPr/>
        </p:nvSpPr>
        <p:spPr>
          <a:xfrm>
            <a:off x="441428" y="858210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04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88626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4318" y="2991458"/>
            <a:ext cx="850976" cy="101448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21733" y="2999780"/>
            <a:ext cx="550907" cy="100616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072640" y="2999780"/>
            <a:ext cx="287383" cy="100616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合併 18"/>
          <p:cNvSpPr/>
          <p:nvPr/>
        </p:nvSpPr>
        <p:spPr>
          <a:xfrm>
            <a:off x="737520" y="2801364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2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87108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4284" y="4904021"/>
            <a:ext cx="563590" cy="100909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04588" y="4904020"/>
            <a:ext cx="811892" cy="10091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合併 17"/>
          <p:cNvSpPr/>
          <p:nvPr/>
        </p:nvSpPr>
        <p:spPr>
          <a:xfrm>
            <a:off x="737520" y="2801364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合併 18"/>
          <p:cNvSpPr/>
          <p:nvPr/>
        </p:nvSpPr>
        <p:spPr>
          <a:xfrm>
            <a:off x="441428" y="858210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/>
          <p:cNvSpPr/>
          <p:nvPr/>
        </p:nvSpPr>
        <p:spPr>
          <a:xfrm>
            <a:off x="5042263" y="5408023"/>
            <a:ext cx="381074" cy="8273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>
            <a:off x="1504588" y="4740704"/>
            <a:ext cx="10557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16480" y="6081824"/>
            <a:ext cx="2438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72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160457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2044519" y="5020152"/>
            <a:ext cx="274320" cy="2873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1495879" y="5566438"/>
            <a:ext cx="274320" cy="2873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665151" y="3565479"/>
            <a:ext cx="243840" cy="2180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4665151" y="5490353"/>
            <a:ext cx="243840" cy="2180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1524000" y="3126377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1524000" y="3631134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504588" y="5020152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1778908" y="5590672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456518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0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/>
          <p:cNvSpPr/>
          <p:nvPr/>
        </p:nvSpPr>
        <p:spPr>
          <a:xfrm>
            <a:off x="685982" y="1156909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685982" y="1723381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3423180" y="1575028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3423180" y="3238585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685981" y="3081523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966650" y="3631956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966650" y="3081523"/>
            <a:ext cx="280669" cy="3141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679266" y="3631956"/>
            <a:ext cx="280669" cy="3141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129741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4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1502" y="1030232"/>
            <a:ext cx="8302566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DPInversionMatcher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p,m,t,n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zh-TW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 for j := 0 to m-1 do</a:t>
            </a:r>
          </a:p>
          <a:p>
            <a:pPr marL="514350" indent="-514350">
              <a:buAutoNum type="arabicPeriod" startAt="2"/>
            </a:pP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R[j] := {0}</a:t>
            </a:r>
          </a:p>
          <a:p>
            <a:pPr marL="514350" indent="-514350">
              <a:buAutoNum type="arabicPeriod" startAt="3"/>
            </a:pP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:= -m+1 to n-m do</a:t>
            </a:r>
          </a:p>
          <a:p>
            <a:pPr marL="514350" indent="-514350">
              <a:buAutoNum type="arabicPeriod" startAt="4"/>
            </a:pP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M := {-1}</a:t>
            </a:r>
          </a:p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5.     for j:= max(-i,0) to m-1 do</a:t>
            </a:r>
          </a:p>
          <a:p>
            <a:pPr marL="457200" indent="-457200">
              <a:buAutoNum type="arabicPeriod" startAt="6"/>
            </a:pP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R[j] := {0}</a:t>
            </a:r>
            <a:r>
              <a:rPr lang="zh-TW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∪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+1: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zh-TW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R[j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]\{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j+1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 AND 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p[j-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 = t[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]}</a:t>
            </a:r>
          </a:p>
          <a:p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      if 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∃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R[j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]: j-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M) then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8.         M := M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∪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{j}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9.     if (m-1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M) then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10.      output(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0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63471" y="542578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63471" y="448090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63471" y="353602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63471" y="2587126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63471" y="1643267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63471" y="694373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2719334" y="5154885"/>
            <a:ext cx="1027611" cy="880495"/>
            <a:chOff x="2370991" y="4937171"/>
            <a:chExt cx="1027611" cy="880495"/>
          </a:xfrm>
        </p:grpSpPr>
        <p:sp>
          <p:nvSpPr>
            <p:cNvPr id="19" name="弧形 18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649665" y="4127810"/>
            <a:ext cx="1027611" cy="880495"/>
            <a:chOff x="2370991" y="4937171"/>
            <a:chExt cx="1027611" cy="880495"/>
          </a:xfrm>
        </p:grpSpPr>
        <p:sp>
          <p:nvSpPr>
            <p:cNvPr id="24" name="弧形 23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599405" y="3147592"/>
            <a:ext cx="1027611" cy="880495"/>
            <a:chOff x="2370991" y="4937171"/>
            <a:chExt cx="1027611" cy="880495"/>
          </a:xfrm>
        </p:grpSpPr>
        <p:sp>
          <p:nvSpPr>
            <p:cNvPr id="27" name="弧形 26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2649665" y="2161568"/>
            <a:ext cx="1027611" cy="880495"/>
            <a:chOff x="2370991" y="4937171"/>
            <a:chExt cx="1027611" cy="880495"/>
          </a:xfrm>
        </p:grpSpPr>
        <p:sp>
          <p:nvSpPr>
            <p:cNvPr id="30" name="弧形 29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2581987" y="1181350"/>
            <a:ext cx="1027611" cy="880495"/>
            <a:chOff x="2370991" y="4937171"/>
            <a:chExt cx="1027611" cy="880495"/>
          </a:xfrm>
        </p:grpSpPr>
        <p:sp>
          <p:nvSpPr>
            <p:cNvPr id="33" name="弧形 32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5" name="矩形 34"/>
          <p:cNvSpPr/>
          <p:nvPr/>
        </p:nvSpPr>
        <p:spPr>
          <a:xfrm>
            <a:off x="6398462" y="5425780"/>
            <a:ext cx="9749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-5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12487" y="4547623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2487" y="356907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-3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2488" y="2581820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95779" y="164224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412488" y="688046"/>
            <a:ext cx="12009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40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TW" sz="44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4400" b="0" cap="none" spc="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3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91882" y="853440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591882" y="2813756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626718" y="4731879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553098" y="853440"/>
            <a:ext cx="3056707" cy="138466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4828904" y="2845466"/>
            <a:ext cx="1780901" cy="135295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6249100" y="4708876"/>
            <a:ext cx="384263" cy="140766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953690" y="2813756"/>
            <a:ext cx="823509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005396" y="4720044"/>
            <a:ext cx="865026" cy="139649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340138" y="4716024"/>
            <a:ext cx="823509" cy="140051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500844" y="2813756"/>
            <a:ext cx="452846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544114" y="4731878"/>
            <a:ext cx="452846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4870422" y="4722878"/>
            <a:ext cx="469716" cy="1393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6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/>
          <p:cNvSpPr/>
          <p:nvPr/>
        </p:nvSpPr>
        <p:spPr>
          <a:xfrm>
            <a:off x="4554583" y="2755032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087189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632974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algn="ctr"/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6148251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794068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208142" y="4824378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61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6253" y="1225620"/>
            <a:ext cx="73212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Morris-Pratt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Algorithm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3830" y="3019587"/>
            <a:ext cx="461376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01231234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65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10588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1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1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9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658225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7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7074373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01231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7074373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01231234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/>
          <p:cNvSpPr/>
          <p:nvPr/>
        </p:nvSpPr>
        <p:spPr>
          <a:xfrm>
            <a:off x="4554583" y="2755032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087189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632974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algn="ctr"/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6148251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794068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208142" y="4824378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13593" y="1177536"/>
            <a:ext cx="2339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en-US" altLang="zh-TW" sz="4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00123</a:t>
            </a:r>
            <a:r>
              <a:rPr lang="en-US" altLang="zh-TW" sz="40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TW" altLang="en-US" sz="4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3593" y="3019394"/>
            <a:ext cx="2339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en-US" altLang="zh-TW" sz="4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00</a:t>
            </a:r>
            <a:r>
              <a:rPr lang="en-US" altLang="zh-TW" sz="4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40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54"/>
            <a:ext cx="9144000" cy="498487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04300" y="5440569"/>
            <a:ext cx="18501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O(m</a:t>
            </a:r>
            <a:r>
              <a:rPr lang="en-US" altLang="zh-TW" sz="5400" b="0" cap="none" spc="0" baseline="30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)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92591" y="5440569"/>
            <a:ext cx="22605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O(nm)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0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</TotalTime>
  <Words>776</Words>
  <Application>Microsoft Office PowerPoint</Application>
  <PresentationFormat>如螢幕大小 (4:3)</PresentationFormat>
  <Paragraphs>482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30</vt:i4>
      </vt:variant>
    </vt:vector>
  </HeadingPairs>
  <TitlesOfParts>
    <vt:vector size="42" baseType="lpstr">
      <vt:lpstr>微軟正黑體</vt:lpstr>
      <vt:lpstr>新細明體</vt:lpstr>
      <vt:lpstr>Arial</vt:lpstr>
      <vt:lpstr>Calibri</vt:lpstr>
      <vt:lpstr>Calibri Light</vt:lpstr>
      <vt:lpstr>Courier New</vt:lpstr>
      <vt:lpstr>Ebrima</vt:lpstr>
      <vt:lpstr>Georgia</vt:lpstr>
      <vt:lpstr>Gigi</vt:lpstr>
      <vt:lpstr>Times New Roman</vt:lpstr>
      <vt:lpstr>Office 佈景主題</vt:lpstr>
      <vt:lpstr>1_Office 佈景主題</vt:lpstr>
      <vt:lpstr>Efficient string-matching allowing for non-overlapping inversions</vt:lpstr>
      <vt:lpstr>Abstract (1/2)</vt:lpstr>
      <vt:lpstr>Abstract (1/2)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M033040055</cp:lastModifiedBy>
  <cp:revision>98</cp:revision>
  <dcterms:created xsi:type="dcterms:W3CDTF">2015-09-15T02:34:25Z</dcterms:created>
  <dcterms:modified xsi:type="dcterms:W3CDTF">2015-09-15T11:09:30Z</dcterms:modified>
</cp:coreProperties>
</file>