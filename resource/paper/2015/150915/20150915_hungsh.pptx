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洪祥懷" initials="洪祥懷" lastIdx="1" clrIdx="0">
    <p:extLst>
      <p:ext uri="{19B8F6BF-5375-455C-9EA6-DF929625EA0E}">
        <p15:presenceInfo xmlns:p15="http://schemas.microsoft.com/office/powerpoint/2012/main" userId="960f10985fdb1efd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4" autoAdjust="0"/>
    <p:restoredTop sz="94622" autoAdjust="0"/>
  </p:normalViewPr>
  <p:slideViewPr>
    <p:cSldViewPr snapToGrid="0">
      <p:cViewPr varScale="1">
        <p:scale>
          <a:sx n="103" d="100"/>
          <a:sy n="103" d="100"/>
        </p:scale>
        <p:origin x="258" y="102"/>
      </p:cViewPr>
      <p:guideLst/>
    </p:cSldViewPr>
  </p:slideViewPr>
  <p:outlineViewPr>
    <p:cViewPr>
      <p:scale>
        <a:sx n="33" d="100"/>
        <a:sy n="33" d="100"/>
      </p:scale>
      <p:origin x="0" y="-4374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2E5D80-7D44-435E-9236-AAA335510AFC}" type="datetimeFigureOut">
              <a:rPr lang="zh-TW" altLang="en-US" smtClean="0"/>
              <a:t>2015/9/15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6567E7-B2F1-4F5B-A573-DAF88E957DB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653241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6567E7-B2F1-4F5B-A573-DAF88E957DBE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265080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E7AE4-40F9-45E2-8C76-30D95755224E}" type="datetime1">
              <a:rPr lang="zh-TW" altLang="en-US" smtClean="0"/>
              <a:t>2015/9/15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09F33-ADF7-407E-A05A-7E566D16922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174153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0E8BC-D5D9-45FA-A773-A7CB0B206CF1}" type="datetime1">
              <a:rPr lang="zh-TW" altLang="en-US" smtClean="0"/>
              <a:t>2015/9/15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09F33-ADF7-407E-A05A-7E566D16922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76591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C0E39-8BFF-48BE-AF33-3F45EFA5C749}" type="datetime1">
              <a:rPr lang="zh-TW" altLang="en-US" smtClean="0"/>
              <a:t>2015/9/15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09F33-ADF7-407E-A05A-7E566D16922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819280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77AD7-8638-4443-B2B6-7B01CD04DD06}" type="datetime1">
              <a:rPr lang="zh-TW" altLang="en-US" smtClean="0"/>
              <a:t>2015/9/15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09F33-ADF7-407E-A05A-7E566D16922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597939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EF201-F886-4BF8-A76F-D95A980D4BB9}" type="datetime1">
              <a:rPr lang="zh-TW" altLang="en-US" smtClean="0"/>
              <a:t>2015/9/15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09F33-ADF7-407E-A05A-7E566D16922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293226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288ED-5F5D-4559-9AB6-FF20091A499E}" type="datetime1">
              <a:rPr lang="zh-TW" altLang="en-US" smtClean="0"/>
              <a:t>2015/9/15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09F33-ADF7-407E-A05A-7E566D16922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204943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A3D9A-6524-4500-A7B3-6E9C46B6C5B4}" type="datetime1">
              <a:rPr lang="zh-TW" altLang="en-US" smtClean="0"/>
              <a:t>2015/9/15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09F33-ADF7-407E-A05A-7E566D16922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865260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CFCA1-27DA-43E2-A2C2-64CD2123AF00}" type="datetime1">
              <a:rPr lang="zh-TW" altLang="en-US" smtClean="0"/>
              <a:t>2015/9/15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09F33-ADF7-407E-A05A-7E566D16922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806616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2FB9D-B135-48D5-BDB8-EBB3B8C551F2}" type="datetime1">
              <a:rPr lang="zh-TW" altLang="en-US" smtClean="0"/>
              <a:t>2015/9/15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09F33-ADF7-407E-A05A-7E566D16922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351080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68204-AA0B-4C6A-B77D-960FAC48803A}" type="datetime1">
              <a:rPr lang="zh-TW" altLang="en-US" smtClean="0"/>
              <a:t>2015/9/15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09F33-ADF7-407E-A05A-7E566D16922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348848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BEF21-15A6-466C-A14B-2FA4D6EA06CF}" type="datetime1">
              <a:rPr lang="zh-TW" altLang="en-US" smtClean="0"/>
              <a:t>2015/9/15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09F33-ADF7-407E-A05A-7E566D16922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8977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E1E51F-87D3-4AE4-9B7C-F729DD3F4614}" type="datetime1">
              <a:rPr lang="zh-TW" altLang="en-US" smtClean="0"/>
              <a:t>2015/9/15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509F33-ADF7-407E-A05A-7E566D16922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073369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143000" y="1200259"/>
            <a:ext cx="6858000" cy="1371491"/>
          </a:xfrm>
        </p:spPr>
        <p:txBody>
          <a:bodyPr>
            <a:normAutofit/>
          </a:bodyPr>
          <a:lstStyle/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Solving Cyclic Longest Common Subsequence in Quadratic Time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143000" y="2922281"/>
            <a:ext cx="6858000" cy="478090"/>
          </a:xfrm>
        </p:spPr>
        <p:txBody>
          <a:bodyPr>
            <a:normAutofit/>
          </a:bodyPr>
          <a:lstStyle/>
          <a:p>
            <a:r>
              <a:rPr lang="en-US" altLang="zh-TW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Andy Nguyen</a:t>
            </a:r>
            <a:endParaRPr lang="zh-TW" altLang="en-US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字方塊 6"/>
          <p:cNvSpPr txBox="1">
            <a:spLocks noChangeArrowheads="1"/>
          </p:cNvSpPr>
          <p:nvPr/>
        </p:nvSpPr>
        <p:spPr bwMode="auto">
          <a:xfrm>
            <a:off x="3031266" y="4537580"/>
            <a:ext cx="3369534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Presenter:  Siang-</a:t>
            </a:r>
            <a:r>
              <a:rPr lang="en-US" altLang="zh-TW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Huai</a:t>
            </a: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Hung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Date:</a:t>
            </a:r>
            <a:fld id="{F3590F60-3E7B-48AD-979A-345F224951B5}" type="datetime1">
              <a:rPr lang="zh-TW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2015/9/15</a:t>
            </a:fld>
            <a:endParaRPr lang="zh-TW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982829" y="3358486"/>
            <a:ext cx="5178341" cy="623248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Science, Stanford University</a:t>
            </a:r>
          </a:p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August 17, 2012</a:t>
            </a:r>
            <a:endParaRPr lang="zh-TW" altLang="en-US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09F33-ADF7-407E-A05A-7E566D169229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397103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 present a practical algorithm for the cyclic longest common subsequence (CLCS) problem that runs in O(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mn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time, where m and n are the lengths of the two input strings. While this is not necessarily an asymptotic improvement over the existing record, it is far simpler to understand and to implement.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09F33-ADF7-407E-A05A-7E566D169229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49813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CLCS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Given a string A of length n and an integer k, 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 ≤ k &lt; n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endParaRPr lang="en-US" altLang="zh-TW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define 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cut(</a:t>
            </a:r>
            <a:r>
              <a:rPr lang="en-US" altLang="zh-TW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A,k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substring(</a:t>
            </a:r>
            <a:r>
              <a:rPr lang="en-US" altLang="zh-TW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A,k,n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)+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substring(A,0,k).</a:t>
            </a:r>
          </a:p>
          <a:p>
            <a:pPr marL="0" indent="0">
              <a:buNone/>
            </a:pPr>
            <a:endParaRPr lang="en-US" altLang="zh-TW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marL="0" indent="0">
              <a:buNone/>
            </a:pPr>
            <a:r>
              <a:rPr lang="de-DE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cut(“</a:t>
            </a:r>
            <a:r>
              <a:rPr lang="de-DE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abcd”,2</a:t>
            </a:r>
            <a:r>
              <a:rPr lang="de-DE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“cd”+“ab” = “cdab</a:t>
            </a:r>
            <a:r>
              <a:rPr lang="de-DE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</a:p>
          <a:p>
            <a:pPr marL="0" indent="0">
              <a:buNone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cut(“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abcd”,0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“</a:t>
            </a:r>
            <a:r>
              <a:rPr lang="en-US" altLang="zh-TW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abcd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”+“” = “</a:t>
            </a:r>
            <a:r>
              <a:rPr lang="en-US" altLang="zh-TW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abcd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</a:p>
          <a:p>
            <a:pPr marL="0" indent="0">
              <a:buNone/>
            </a:pPr>
            <a:endParaRPr lang="en-US" altLang="zh-TW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can extend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definition to any integer k by defining 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cut(A, k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cut(A, k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 n) when k &lt; 0 or k 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≥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n.</a:t>
            </a:r>
            <a:endParaRPr lang="en-US" altLang="zh-TW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09F33-ADF7-407E-A05A-7E566D169229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688852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 1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 A and B be strings of length m and n respectively, where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m ≤ 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n. A cyclic longest common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subsequence of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and B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CLCS(A, B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is a string that satisfies the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following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properties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>
              <a:buNone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implies that we have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solution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CLCS that runs in O(m</a:t>
            </a:r>
            <a:r>
              <a:rPr lang="en-US" altLang="zh-TW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time.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3022023"/>
            <a:ext cx="8077200" cy="1104900"/>
          </a:xfrm>
          <a:prstGeom prst="rect">
            <a:avLst/>
          </a:prstGeom>
        </p:spPr>
      </p:pic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09F33-ADF7-407E-A05A-7E566D169229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524011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some cyclic longest common subsequence of A and B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CLCS(A,B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that satisfies the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following properties:</a:t>
            </a:r>
          </a:p>
          <a:p>
            <a:pPr marL="0" indent="0">
              <a:buNone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runtime of O(m</a:t>
            </a:r>
            <a:r>
              <a:rPr lang="en-US" altLang="zh-TW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n)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2941493"/>
            <a:ext cx="8181975" cy="1162050"/>
          </a:xfrm>
          <a:prstGeom prst="rect">
            <a:avLst/>
          </a:prstGeom>
        </p:spPr>
      </p:pic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09F33-ADF7-407E-A05A-7E566D169229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66857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607" y="319002"/>
            <a:ext cx="4244892" cy="3120809"/>
          </a:xfr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6593" y="309115"/>
            <a:ext cx="4309311" cy="3130696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864511" y="4068772"/>
            <a:ext cx="7323525" cy="2308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Finding an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LCS(A,B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is equivalent to finding a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shortest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path from (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0,0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to (</a:t>
            </a:r>
            <a:r>
              <a:rPr lang="en-US" altLang="zh-TW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m,n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in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TW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A,B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altLang="zh-TW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set of parent pointers computed by any DP solution to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LCS(A,B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(when treated as undirected edges)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forms a shortest path tree of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TW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A,B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rooted at (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0,0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lang="zh-TW" altLang="en-US" sz="2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09F33-ADF7-407E-A05A-7E566D169229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938726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solve CLCS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solving m shortest-path problems, one for each cut of A. These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shortest-path</a:t>
            </a: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problems are closely related, as we see when we construct the graph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TW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AA,B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(Figure 2). Then the shortest paths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 want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find are the ones from (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0,0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to (</a:t>
            </a:r>
            <a:r>
              <a:rPr lang="en-US" altLang="zh-TW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m,n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from (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1,0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to (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m+1,n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…,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from (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m-1,0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to (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2m-1,n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09F33-ADF7-407E-A05A-7E566D169229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451006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9914" y="0"/>
            <a:ext cx="6024172" cy="6858000"/>
          </a:xfrm>
          <a:prstGeom prst="rect">
            <a:avLst/>
          </a:prstGeom>
        </p:spPr>
      </p:pic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09F33-ADF7-407E-A05A-7E566D169229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342056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 2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lowest shortest path tree of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TW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A,B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 shortest path tree where for every node v, the path from the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root to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 contained in the shortest path tree is lower than any other shortest path from the root to the node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en-US" altLang="zh-TW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 The </a:t>
            </a: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of parent pointers computed by the DP solution that </a:t>
            </a:r>
            <a:r>
              <a:rPr lang="en-US" altLang="zh-TW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favors ← first</a:t>
            </a: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then  </a:t>
            </a:r>
            <a:r>
              <a:rPr lang="en-US" altLang="zh-TW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↖   , </a:t>
            </a: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finally </a:t>
            </a:r>
            <a:r>
              <a:rPr lang="en-US" altLang="zh-TW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↑ </a:t>
            </a: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altLang="zh-TW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case of </a:t>
            </a: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ties forms a lowest shortest path tree of </a:t>
            </a:r>
            <a:r>
              <a:rPr lang="en-US" altLang="zh-TW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TW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A,B</a:t>
            </a:r>
            <a:r>
              <a:rPr lang="en-US" altLang="zh-TW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rooted </a:t>
            </a:r>
            <a:r>
              <a:rPr lang="en-US" altLang="zh-TW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at (0,0).</a:t>
            </a:r>
          </a:p>
          <a:p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we remove the top row of nodes from the lowest shortest path tree rooted at (</a:t>
            </a:r>
            <a:r>
              <a:rPr lang="en-US" altLang="zh-TW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0,0</a:t>
            </a: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we are left with </a:t>
            </a:r>
            <a:r>
              <a:rPr lang="en-US" altLang="zh-TW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at most </a:t>
            </a: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</a:t>
            </a:r>
            <a:r>
              <a:rPr lang="en-US" altLang="zh-TW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subtrees</a:t>
            </a: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 and (possibly) R</a:t>
            </a:r>
            <a:r>
              <a:rPr lang="en-US" altLang="zh-TW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altLang="zh-TW" sz="1800" dirty="0"/>
              <a:t>For any entry </a:t>
            </a:r>
            <a:r>
              <a:rPr lang="en-US" altLang="zh-TW" sz="1800" dirty="0" smtClean="0"/>
              <a:t>(</a:t>
            </a:r>
            <a:r>
              <a:rPr lang="en-US" altLang="zh-TW" sz="1800" dirty="0" err="1" smtClean="0"/>
              <a:t>i</a:t>
            </a:r>
            <a:r>
              <a:rPr lang="en-US" altLang="zh-TW" sz="1800" dirty="0" smtClean="0"/>
              <a:t>, </a:t>
            </a:r>
            <a:r>
              <a:rPr lang="en-US" altLang="zh-TW" sz="1800" dirty="0"/>
              <a:t>j) in the table, 0 </a:t>
            </a:r>
            <a:r>
              <a:rPr lang="en-US" altLang="zh-TW" sz="1800" dirty="0" smtClean="0"/>
              <a:t>≤ </a:t>
            </a:r>
            <a:r>
              <a:rPr lang="en-US" altLang="zh-TW" sz="1800" dirty="0" err="1" smtClean="0"/>
              <a:t>len</a:t>
            </a:r>
            <a:r>
              <a:rPr lang="en-US" altLang="zh-TW" sz="1800" dirty="0" smtClean="0"/>
              <a:t>(</a:t>
            </a:r>
            <a:r>
              <a:rPr lang="en-US" altLang="zh-TW" sz="1800" dirty="0" err="1" smtClean="0"/>
              <a:t>i</a:t>
            </a:r>
            <a:r>
              <a:rPr lang="en-US" altLang="zh-TW" sz="1800" dirty="0" smtClean="0"/>
              <a:t>, </a:t>
            </a:r>
            <a:r>
              <a:rPr lang="en-US" altLang="zh-TW" sz="1800" dirty="0"/>
              <a:t>j</a:t>
            </a:r>
            <a:r>
              <a:rPr lang="en-US" altLang="zh-TW" sz="1800" dirty="0" smtClean="0"/>
              <a:t>) - </a:t>
            </a:r>
            <a:r>
              <a:rPr lang="en-US" altLang="zh-TW" sz="1800" dirty="0" err="1" smtClean="0"/>
              <a:t>len</a:t>
            </a:r>
            <a:r>
              <a:rPr lang="en-US" altLang="zh-TW" sz="1800" dirty="0" smtClean="0"/>
              <a:t>(</a:t>
            </a:r>
            <a:r>
              <a:rPr lang="en-US" altLang="zh-TW" sz="1800" dirty="0" err="1" smtClean="0"/>
              <a:t>i</a:t>
            </a:r>
            <a:r>
              <a:rPr lang="en-US" altLang="zh-TW" sz="1800" dirty="0" smtClean="0"/>
              <a:t>, j - 1) ≤ </a:t>
            </a:r>
            <a:r>
              <a:rPr lang="en-US" altLang="zh-TW" sz="1800" dirty="0"/>
              <a:t>1.</a:t>
            </a:r>
            <a:endParaRPr lang="en-US" altLang="zh-TW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09F33-ADF7-407E-A05A-7E566D169229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872796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Corollary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Let 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TW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j) be such that 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TW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j)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</m:oMath>
                </a14:m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 but 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TW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j - 1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L. Then </a:t>
                </a:r>
                <a:r>
                  <a:rPr lang="en-US" altLang="zh-TW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len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TW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j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= </a:t>
                </a:r>
                <a:r>
                  <a:rPr lang="en-US" altLang="zh-TW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len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TW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j - 1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)+1.</a:t>
                </a:r>
                <a:endParaRPr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546" t="-2381" r="-54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09F33-ADF7-407E-A05A-7E566D169229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88842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8650" y="94964"/>
            <a:ext cx="7886700" cy="507710"/>
          </a:xfrm>
        </p:spPr>
        <p:txBody>
          <a:bodyPr>
            <a:normAutofit/>
          </a:bodyPr>
          <a:lstStyle/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assume that the input tree is rooted at (root 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– 1,0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09F33-ADF7-407E-A05A-7E566D169229}" type="slidenum">
              <a:rPr lang="zh-TW" altLang="en-US" smtClean="0"/>
              <a:t>11</a:t>
            </a:fld>
            <a:endParaRPr lang="zh-TW" altLang="en-US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449840"/>
            <a:ext cx="4733059" cy="6409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8209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09F33-ADF7-407E-A05A-7E566D169229}" type="slidenum">
              <a:rPr lang="zh-TW" altLang="en-US" smtClean="0"/>
              <a:t>12</a:t>
            </a:fld>
            <a:endParaRPr lang="zh-TW" altLang="en-US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236" y="371907"/>
            <a:ext cx="8534400" cy="4867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25825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have presented a practical algorithm that solves CLCS in O(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mn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time. Note that the proof of correctness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relies heavily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the fact that all edges in the graph have weight 1. This means that this algorithm does not naturally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apply to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usual extensions of the problem, such as edit distance and dynamic time warping. It may be worth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investigating whether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algorithm can be adapted to certain classes of edge weights.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09F33-ADF7-407E-A05A-7E566D169229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181712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133</TotalTime>
  <Words>685</Words>
  <Application>Microsoft Office PowerPoint</Application>
  <PresentationFormat>如螢幕大小 (4:3)</PresentationFormat>
  <Paragraphs>60</Paragraphs>
  <Slides>13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13</vt:i4>
      </vt:variant>
    </vt:vector>
  </HeadingPairs>
  <TitlesOfParts>
    <vt:vector size="20" baseType="lpstr">
      <vt:lpstr>新細明體</vt:lpstr>
      <vt:lpstr>Arial</vt:lpstr>
      <vt:lpstr>Calibri</vt:lpstr>
      <vt:lpstr>Calibri Light</vt:lpstr>
      <vt:lpstr>Cambria Math</vt:lpstr>
      <vt:lpstr>Times New Roman</vt:lpstr>
      <vt:lpstr>Office 佈景主題</vt:lpstr>
      <vt:lpstr>Solving Cyclic Longest Common Subsequence in Quadratic Time</vt:lpstr>
      <vt:lpstr>Abstract</vt:lpstr>
      <vt:lpstr>CLCS</vt:lpstr>
      <vt:lpstr>Definition 1</vt:lpstr>
      <vt:lpstr>PowerPoint 簡報</vt:lpstr>
      <vt:lpstr>PowerPoint 簡報</vt:lpstr>
      <vt:lpstr>Algorithm</vt:lpstr>
      <vt:lpstr>PowerPoint 簡報</vt:lpstr>
      <vt:lpstr>Definition 2</vt:lpstr>
      <vt:lpstr>Corollary</vt:lpstr>
      <vt:lpstr>assume that the input tree is rooted at (root – 1,0)</vt:lpstr>
      <vt:lpstr>PowerPoint 簡報</vt:lpstr>
      <vt:lpstr>Conclusions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Solving Cyclic Longest Common Subsequence in Quadratic Time</dc:title>
  <dc:creator>洪祥懷</dc:creator>
  <cp:lastModifiedBy>cse5012</cp:lastModifiedBy>
  <cp:revision>17</cp:revision>
  <dcterms:created xsi:type="dcterms:W3CDTF">2015-09-14T16:57:10Z</dcterms:created>
  <dcterms:modified xsi:type="dcterms:W3CDTF">2015-09-15T11:07:47Z</dcterms:modified>
</cp:coreProperties>
</file>