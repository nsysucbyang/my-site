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bin" ContentType="application/vnd.openxmlformats-officedocument.oleObject"/>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3" r:id="rId8"/>
    <p:sldId id="264" r:id="rId9"/>
    <p:sldId id="262"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770" autoAdjust="0"/>
  </p:normalViewPr>
  <p:slideViewPr>
    <p:cSldViewPr>
      <p:cViewPr varScale="1">
        <p:scale>
          <a:sx n="101" d="100"/>
          <a:sy n="101" d="100"/>
        </p:scale>
        <p:origin x="-264"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5" Type="http://schemas.openxmlformats.org/officeDocument/2006/relationships/image" Target="../media/image17.wmf"/><Relationship Id="rId4"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4FB124-382E-4D5D-9BD9-E9F7FA6D65F3}" type="datetimeFigureOut">
              <a:rPr lang="zh-TW" altLang="en-US" smtClean="0"/>
              <a:pPr/>
              <a:t>2015/1/13</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16F85FC-67D2-47DE-ABE6-49A5C5853995}"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E12173BA-CB1B-4FEE-8911-63AE2CC2B31B}" type="datetime1">
              <a:rPr lang="zh-TW" altLang="en-US" smtClean="0"/>
              <a:pPr/>
              <a:t>2015/1/13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15943611-A90E-443F-B41E-CD43B1F321B1}" type="datetime1">
              <a:rPr lang="zh-TW" altLang="en-US" smtClean="0"/>
              <a:pPr/>
              <a:t>2015/1/13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8DAE9019-7D01-4FB7-AC10-64778E4F7C5A}" type="datetime1">
              <a:rPr lang="zh-TW" altLang="en-US" smtClean="0"/>
              <a:pPr/>
              <a:t>2015/1/13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F05A4BFC-5F62-4D7B-A2C2-4820A766AC9C}" type="datetime1">
              <a:rPr lang="zh-TW" altLang="en-US" smtClean="0"/>
              <a:pPr/>
              <a:t>2015/1/13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17EF8DF-72DD-4191-ABA3-BC096F697D31}" type="datetime1">
              <a:rPr lang="zh-TW" altLang="en-US" smtClean="0"/>
              <a:pPr/>
              <a:t>2015/1/13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DACD2EEC-9E63-4B8A-AE34-973EDC6BA819}" type="datetime1">
              <a:rPr lang="zh-TW" altLang="en-US" smtClean="0"/>
              <a:pPr/>
              <a:t>2015/1/13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A33B2FB-D855-4F34-AF67-C986C2B2249D}" type="datetime1">
              <a:rPr lang="zh-TW" altLang="en-US" smtClean="0"/>
              <a:pPr/>
              <a:t>2015/1/13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8168B64-84D4-4D21-8208-753EDDBCD17A}" type="datetime1">
              <a:rPr lang="zh-TW" altLang="en-US" smtClean="0"/>
              <a:pPr/>
              <a:t>2015/1/13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FE326F0-2302-4B96-AA16-C3B6AC86AAD3}" type="datetime1">
              <a:rPr lang="zh-TW" altLang="en-US" smtClean="0"/>
              <a:pPr/>
              <a:t>2015/1/13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8AB1EB0-6005-4174-967C-0AD2FADDC457}" type="datetime1">
              <a:rPr lang="zh-TW" altLang="en-US" smtClean="0"/>
              <a:pPr/>
              <a:t>2015/1/13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C580732-F447-4E81-A7AD-E26A313FE186}" type="datetime1">
              <a:rPr lang="zh-TW" altLang="en-US" smtClean="0"/>
              <a:pPr/>
              <a:t>2015/1/13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C74CBF-CEB8-47D1-B2D9-17C16C778797}" type="datetime1">
              <a:rPr lang="zh-TW" altLang="en-US" smtClean="0"/>
              <a:pPr/>
              <a:t>2015/1/13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8101042" cy="1470025"/>
          </a:xfrm>
        </p:spPr>
        <p:txBody>
          <a:bodyPr>
            <a:normAutofit fontScale="90000"/>
          </a:bodyPr>
          <a:lstStyle/>
          <a:p>
            <a:r>
              <a:rPr lang="en-US" altLang="zh-TW" b="1" dirty="0" smtClean="0"/>
              <a:t>Time and Space Efficient Algorithms for Constrained Sequence Alignment</a:t>
            </a:r>
            <a:endParaRPr lang="zh-TW" altLang="en-US" dirty="0"/>
          </a:p>
        </p:txBody>
      </p:sp>
      <p:sp>
        <p:nvSpPr>
          <p:cNvPr id="3" name="副標題 2"/>
          <p:cNvSpPr>
            <a:spLocks noGrp="1"/>
          </p:cNvSpPr>
          <p:nvPr>
            <p:ph type="subTitle" idx="1"/>
          </p:nvPr>
        </p:nvSpPr>
        <p:spPr/>
        <p:txBody>
          <a:bodyPr/>
          <a:lstStyle/>
          <a:p>
            <a:r>
              <a:rPr lang="en-US" altLang="zh-TW" dirty="0" smtClean="0"/>
              <a:t>Z.S. </a:t>
            </a:r>
            <a:r>
              <a:rPr lang="en-US" altLang="zh-TW" dirty="0" err="1" smtClean="0"/>
              <a:t>Peng</a:t>
            </a:r>
            <a:r>
              <a:rPr lang="en-US" altLang="zh-TW" dirty="0" smtClean="0"/>
              <a:t> and H.F. Ting</a:t>
            </a:r>
          </a:p>
          <a:p>
            <a:r>
              <a:rPr lang="en-US" altLang="zh-TW" dirty="0" smtClean="0"/>
              <a:t>CIAA 2004, LNCS 3317, pp. 237–246, 2005.</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a:t>
            </a:fld>
            <a:endParaRPr lang="zh-TW" altLang="en-US"/>
          </a:p>
        </p:txBody>
      </p:sp>
      <p:sp>
        <p:nvSpPr>
          <p:cNvPr id="5" name="文字方塊 4"/>
          <p:cNvSpPr txBox="1"/>
          <p:nvPr/>
        </p:nvSpPr>
        <p:spPr>
          <a:xfrm>
            <a:off x="6357950" y="5500702"/>
            <a:ext cx="2536656" cy="923330"/>
          </a:xfrm>
          <a:prstGeom prst="rect">
            <a:avLst/>
          </a:prstGeom>
          <a:noFill/>
        </p:spPr>
        <p:txBody>
          <a:bodyPr wrap="none" rtlCol="0">
            <a:spAutoFit/>
          </a:bodyPr>
          <a:lstStyle/>
          <a:p>
            <a:r>
              <a:rPr lang="en-US" altLang="zh-TW" dirty="0" err="1" smtClean="0">
                <a:latin typeface="Calibri" pitchFamily="34" charset="0"/>
              </a:rPr>
              <a:t>Presenter:</a:t>
            </a:r>
            <a:r>
              <a:rPr lang="en-US" dirty="0" err="1" smtClean="0"/>
              <a:t>De-Sheng</a:t>
            </a:r>
            <a:r>
              <a:rPr lang="en-US" dirty="0" smtClean="0"/>
              <a:t> </a:t>
            </a:r>
            <a:r>
              <a:rPr lang="en-US" dirty="0" err="1" smtClean="0"/>
              <a:t>Jhan</a:t>
            </a:r>
            <a:endParaRPr lang="en-US" altLang="zh-TW" dirty="0" smtClean="0">
              <a:latin typeface="Calibri" pitchFamily="34" charset="0"/>
            </a:endParaRPr>
          </a:p>
          <a:p>
            <a:r>
              <a:rPr lang="en-US" altLang="zh-TW" dirty="0" smtClean="0">
                <a:latin typeface="Calibri" pitchFamily="34" charset="0"/>
              </a:rPr>
              <a:t>              </a:t>
            </a:r>
            <a:r>
              <a:rPr lang="en-US" altLang="zh-TW" dirty="0" smtClean="0">
                <a:latin typeface="Calibri" pitchFamily="34" charset="0"/>
              </a:rPr>
              <a:t>2015/01/13</a:t>
            </a:r>
            <a:endParaRPr lang="zh-TW" altLang="en-US" dirty="0" smtClean="0">
              <a:latin typeface="Calibri" pitchFamily="34" charset="0"/>
            </a:endParaRPr>
          </a:p>
          <a:p>
            <a:endParaRPr lang="zh-TW"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171448" y="1214422"/>
            <a:ext cx="8472518" cy="4911741"/>
          </a:xfrm>
        </p:spPr>
        <p:txBody>
          <a:bodyPr>
            <a:noAutofit/>
          </a:bodyPr>
          <a:lstStyle/>
          <a:p>
            <a:pPr algn="just">
              <a:buNone/>
            </a:pPr>
            <a:r>
              <a:rPr lang="en-US" altLang="zh-TW" sz="2200" dirty="0" smtClean="0"/>
              <a:t>	</a:t>
            </a:r>
            <a:r>
              <a:rPr lang="en-US" altLang="zh-TW" sz="2400" dirty="0" smtClean="0"/>
              <a:t>In this paper, we study the constrained sequence alignment problem, which is a generalization of the classical sequence alignment problem with the additional constraint that some characters in the alignment must be positioned at the same columns. The problem finds important applications in Bioinformatics. Our major result is an </a:t>
            </a:r>
            <a:r>
              <a:rPr lang="en-US" altLang="zh-TW" sz="2400" dirty="0" smtClean="0">
                <a:solidFill>
                  <a:srgbClr val="FF0000"/>
                </a:solidFill>
              </a:rPr>
              <a:t>O(</a:t>
            </a:r>
            <a:r>
              <a:rPr lang="en-US" altLang="zh-TW" sz="2400" i="1" dirty="0" smtClean="0">
                <a:solidFill>
                  <a:srgbClr val="FF0000"/>
                </a:solidFill>
                <a:latin typeface="Times New Roman" pitchFamily="18" charset="0"/>
                <a:cs typeface="Times New Roman" pitchFamily="18" charset="0"/>
              </a:rPr>
              <a:t>ln</a:t>
            </a:r>
            <a:r>
              <a:rPr lang="en-US" altLang="zh-TW" sz="2400" baseline="30000" dirty="0" smtClean="0">
                <a:solidFill>
                  <a:srgbClr val="FF0000"/>
                </a:solidFill>
              </a:rPr>
              <a:t>2</a:t>
            </a:r>
            <a:r>
              <a:rPr lang="en-US" altLang="zh-TW" sz="2400" dirty="0" smtClean="0">
                <a:solidFill>
                  <a:srgbClr val="FF0000"/>
                </a:solidFill>
              </a:rPr>
              <a:t>)-time</a:t>
            </a:r>
            <a:r>
              <a:rPr lang="en-US" altLang="zh-TW" sz="2400" dirty="0" smtClean="0"/>
              <a:t> and </a:t>
            </a:r>
            <a:r>
              <a:rPr lang="en-US" altLang="zh-TW" sz="2400" dirty="0" smtClean="0">
                <a:solidFill>
                  <a:srgbClr val="FF0000"/>
                </a:solidFill>
              </a:rPr>
              <a:t>O(</a:t>
            </a:r>
            <a:r>
              <a:rPr lang="en-US" altLang="zh-TW" sz="2400" i="1" dirty="0" err="1" smtClean="0">
                <a:solidFill>
                  <a:srgbClr val="FF0000"/>
                </a:solidFill>
                <a:latin typeface="Times New Roman" pitchFamily="18" charset="0"/>
                <a:cs typeface="Times New Roman" pitchFamily="18" charset="0"/>
              </a:rPr>
              <a:t>ln</a:t>
            </a:r>
            <a:r>
              <a:rPr lang="en-US" altLang="zh-TW" sz="2400" dirty="0" smtClean="0">
                <a:solidFill>
                  <a:srgbClr val="FF0000"/>
                </a:solidFill>
              </a:rPr>
              <a:t>)-space</a:t>
            </a:r>
            <a:r>
              <a:rPr lang="en-US" altLang="zh-TW" sz="2400" dirty="0" smtClean="0"/>
              <a:t> algorithm for constructing an optimal constrained alignment of two sequences where </a:t>
            </a:r>
            <a:r>
              <a:rPr lang="en-US" altLang="zh-TW" sz="2400" i="1" dirty="0" smtClean="0">
                <a:latin typeface="Times New Roman" pitchFamily="18" charset="0"/>
                <a:cs typeface="Times New Roman" pitchFamily="18" charset="0"/>
              </a:rPr>
              <a:t>n</a:t>
            </a:r>
            <a:r>
              <a:rPr lang="en-US" altLang="zh-TW" sz="2400" dirty="0" smtClean="0"/>
              <a:t> is the length of the longer sequence and </a:t>
            </a:r>
            <a:r>
              <a:rPr lang="en-US" altLang="zh-TW" sz="2400" i="1" dirty="0" smtClean="0">
                <a:latin typeface="Times New Roman" pitchFamily="18" charset="0"/>
                <a:cs typeface="Times New Roman" pitchFamily="18" charset="0"/>
              </a:rPr>
              <a:t>l</a:t>
            </a:r>
            <a:r>
              <a:rPr lang="en-US" altLang="zh-TW" sz="2400" dirty="0" smtClean="0"/>
              <a:t> is the length of the constraint. Our algorithm matches the best known time complexity and reduces the best known space complexity by a factor of </a:t>
            </a:r>
            <a:r>
              <a:rPr lang="en-US" altLang="zh-TW" sz="2400" i="1" dirty="0" smtClean="0">
                <a:latin typeface="Times New Roman" pitchFamily="18" charset="0"/>
                <a:cs typeface="Times New Roman" pitchFamily="18" charset="0"/>
              </a:rPr>
              <a:t>n</a:t>
            </a:r>
            <a:r>
              <a:rPr lang="en-US" altLang="zh-TW" sz="2400" dirty="0" smtClean="0"/>
              <a:t> for solving the problem. We also apply our technique to design time and space efficient heuristic and approximation algorithm for aligning multiple sequences.</a:t>
            </a:r>
            <a:endParaRPr lang="zh-TW" altLang="en-US" sz="2400"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2</a:t>
            </a:fld>
            <a:endParaRPr lang="zh-TW"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Sequence Alignment(SA)</a:t>
            </a:r>
            <a:endParaRPr lang="zh-TW" altLang="en-US" dirty="0"/>
          </a:p>
        </p:txBody>
      </p:sp>
      <p:sp>
        <p:nvSpPr>
          <p:cNvPr id="3" name="內容版面配置區 2"/>
          <p:cNvSpPr>
            <a:spLocks noGrp="1"/>
          </p:cNvSpPr>
          <p:nvPr>
            <p:ph idx="1"/>
          </p:nvPr>
        </p:nvSpPr>
        <p:spPr/>
        <p:txBody>
          <a:bodyPr/>
          <a:lstStyle/>
          <a:p>
            <a:r>
              <a:rPr lang="en-US" altLang="zh-TW" i="1" dirty="0" smtClean="0">
                <a:latin typeface="Times New Roman" pitchFamily="18" charset="0"/>
                <a:cs typeface="Times New Roman" pitchFamily="18" charset="0"/>
              </a:rPr>
              <a:t>S</a:t>
            </a:r>
            <a:r>
              <a:rPr lang="en-US" altLang="zh-TW" dirty="0" smtClean="0"/>
              <a:t>  = </a:t>
            </a:r>
            <a:r>
              <a:rPr lang="en-US" altLang="zh-TW" dirty="0" smtClean="0">
                <a:latin typeface="+mn-ea"/>
                <a:cs typeface="Times New Roman" pitchFamily="18" charset="0"/>
              </a:rPr>
              <a:t>ACDCBABCBDBA, </a:t>
            </a:r>
            <a:r>
              <a:rPr lang="en-US" altLang="zh-TW" i="1" dirty="0" smtClean="0">
                <a:latin typeface="Times New Roman" pitchFamily="18" charset="0"/>
                <a:cs typeface="Times New Roman" pitchFamily="18" charset="0"/>
              </a:rPr>
              <a:t>S</a:t>
            </a:r>
            <a:r>
              <a:rPr lang="en-US" altLang="zh-TW" dirty="0" smtClean="0">
                <a:latin typeface="Times New Roman" pitchFamily="18" charset="0"/>
                <a:cs typeface="Times New Roman" pitchFamily="18" charset="0"/>
              </a:rPr>
              <a:t>[1..</a:t>
            </a:r>
            <a:r>
              <a:rPr lang="en-US" altLang="zh-TW" i="1" dirty="0" smtClean="0">
                <a:latin typeface="Times New Roman" pitchFamily="18" charset="0"/>
                <a:cs typeface="Times New Roman" pitchFamily="18" charset="0"/>
              </a:rPr>
              <a:t>m</a:t>
            </a:r>
            <a:r>
              <a:rPr lang="en-US" altLang="zh-TW" dirty="0" smtClean="0">
                <a:latin typeface="Times New Roman" pitchFamily="18" charset="0"/>
                <a:cs typeface="Times New Roman" pitchFamily="18" charset="0"/>
              </a:rPr>
              <a:t>]</a:t>
            </a:r>
            <a:endParaRPr lang="en-US" altLang="zh-TW" dirty="0" smtClean="0">
              <a:latin typeface="+mn-ea"/>
              <a:cs typeface="Times New Roman" pitchFamily="18" charset="0"/>
            </a:endParaRPr>
          </a:p>
          <a:p>
            <a:r>
              <a:rPr lang="en-US" altLang="zh-TW" i="1" dirty="0" smtClean="0">
                <a:latin typeface="Times New Roman" pitchFamily="18" charset="0"/>
                <a:cs typeface="Times New Roman" pitchFamily="18" charset="0"/>
              </a:rPr>
              <a:t>S’ </a:t>
            </a:r>
            <a:r>
              <a:rPr lang="en-US" altLang="zh-TW" dirty="0" smtClean="0"/>
              <a:t>= </a:t>
            </a:r>
            <a:r>
              <a:rPr lang="en-US" altLang="zh-TW" dirty="0" smtClean="0">
                <a:latin typeface="+mn-ea"/>
                <a:cs typeface="Times New Roman" pitchFamily="18" charset="0"/>
              </a:rPr>
              <a:t>BACABBCDCADA, </a:t>
            </a:r>
            <a:r>
              <a:rPr lang="en-US" altLang="zh-TW" i="1" dirty="0" smtClean="0">
                <a:latin typeface="Times New Roman" pitchFamily="18" charset="0"/>
                <a:cs typeface="Times New Roman" pitchFamily="18" charset="0"/>
              </a:rPr>
              <a:t>S’</a:t>
            </a:r>
            <a:r>
              <a:rPr lang="en-US" altLang="zh-TW" dirty="0" smtClean="0">
                <a:latin typeface="Times New Roman" pitchFamily="18" charset="0"/>
                <a:cs typeface="Times New Roman" pitchFamily="18" charset="0"/>
              </a:rPr>
              <a:t>[1..</a:t>
            </a:r>
            <a:r>
              <a:rPr lang="en-US" altLang="zh-TW" i="1" dirty="0" smtClean="0">
                <a:latin typeface="Times New Roman" pitchFamily="18" charset="0"/>
                <a:cs typeface="Times New Roman" pitchFamily="18" charset="0"/>
              </a:rPr>
              <a:t>n</a:t>
            </a:r>
            <a:r>
              <a:rPr lang="en-US" altLang="zh-TW" dirty="0" smtClean="0">
                <a:latin typeface="Times New Roman" pitchFamily="18" charset="0"/>
                <a:cs typeface="Times New Roman" pitchFamily="18" charset="0"/>
              </a:rPr>
              <a:t>]</a:t>
            </a:r>
            <a:endParaRPr lang="en-US" altLang="zh-TW" dirty="0" smtClean="0">
              <a:latin typeface="+mn-ea"/>
              <a:cs typeface="Times New Roman" pitchFamily="18" charset="0"/>
            </a:endParaRPr>
          </a:p>
          <a:p>
            <a:endParaRPr lang="en-US" altLang="zh-TW" dirty="0" smtClean="0">
              <a:latin typeface="+mn-ea"/>
              <a:cs typeface="Times New Roman" pitchFamily="18" charset="0"/>
            </a:endParaRPr>
          </a:p>
          <a:p>
            <a:endParaRPr lang="en-US" altLang="zh-TW" dirty="0" smtClean="0">
              <a:latin typeface="+mn-ea"/>
              <a:cs typeface="Times New Roman" pitchFamily="18" charset="0"/>
            </a:endParaRPr>
          </a:p>
          <a:p>
            <a:endParaRPr lang="zh-TW" altLang="en-US" dirty="0">
              <a:latin typeface="+mn-ea"/>
              <a:cs typeface="Times New Roman" pitchFamily="18" charset="0"/>
            </a:endParaRPr>
          </a:p>
        </p:txBody>
      </p:sp>
      <p:graphicFrame>
        <p:nvGraphicFramePr>
          <p:cNvPr id="4" name="表格 3"/>
          <p:cNvGraphicFramePr>
            <a:graphicFrameLocks noGrp="1"/>
          </p:cNvGraphicFramePr>
          <p:nvPr/>
        </p:nvGraphicFramePr>
        <p:xfrm>
          <a:off x="357158" y="5357826"/>
          <a:ext cx="5214976" cy="1158240"/>
        </p:xfrm>
        <a:graphic>
          <a:graphicData uri="http://schemas.openxmlformats.org/drawingml/2006/table">
            <a:tbl>
              <a:tblPr firstRow="1" bandRow="1">
                <a:tableStyleId>{2D5ABB26-0587-4C30-8999-92F81FD0307C}</a:tableStyleId>
              </a:tblPr>
              <a:tblGrid>
                <a:gridCol w="401152"/>
                <a:gridCol w="401152"/>
                <a:gridCol w="401152"/>
                <a:gridCol w="401152"/>
                <a:gridCol w="401152"/>
                <a:gridCol w="401152"/>
                <a:gridCol w="401152"/>
                <a:gridCol w="401152"/>
                <a:gridCol w="401152"/>
                <a:gridCol w="401152"/>
                <a:gridCol w="401152"/>
                <a:gridCol w="401152"/>
                <a:gridCol w="401152"/>
              </a:tblGrid>
              <a:tr h="57150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t>
                      </a:r>
                      <a:endParaRPr lang="zh-TW" altLang="en-US" sz="3200" dirty="0" smtClean="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A</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C</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D</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C</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B</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A</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B</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C</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B</a:t>
                      </a:r>
                      <a:endParaRPr lang="zh-TW" altLang="en-US" sz="3200" dirty="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D</a:t>
                      </a:r>
                      <a:endParaRPr lang="zh-TW" altLang="en-US" sz="3200" dirty="0" smtClean="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mn-ea"/>
                          <a:ea typeface="+mn-ea"/>
                          <a:cs typeface="Times New Roman" pitchFamily="18" charset="0"/>
                        </a:rPr>
                        <a:t>B</a:t>
                      </a:r>
                      <a:endParaRPr lang="zh-TW" altLang="en-US" sz="3200" dirty="0" smtClean="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a:t>
                      </a:r>
                      <a:endParaRPr lang="zh-TW" altLang="en-US" sz="3200" dirty="0" smtClean="0">
                        <a:latin typeface="+mn-ea"/>
                        <a:ea typeface="+mn-ea"/>
                        <a:cs typeface="Times New Roman" pitchFamily="18" charset="0"/>
                      </a:endParaRPr>
                    </a:p>
                  </a:txBody>
                  <a:tcPr/>
                </a:tc>
              </a:tr>
              <a:tr h="571504">
                <a:tc>
                  <a:txBody>
                    <a:bodyPr/>
                    <a:lstStyle/>
                    <a:p>
                      <a:pPr algn="ctr"/>
                      <a:r>
                        <a:rPr lang="en-US" altLang="zh-TW" sz="3200" dirty="0" smtClean="0">
                          <a:latin typeface="+mn-ea"/>
                          <a:ea typeface="+mn-ea"/>
                          <a:cs typeface="Times New Roman" pitchFamily="18" charset="0"/>
                        </a:rPr>
                        <a:t>B</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A</a:t>
                      </a:r>
                      <a:endParaRPr lang="zh-TW" altLang="en-US" sz="3200" dirty="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mn-ea"/>
                          <a:ea typeface="+mn-ea"/>
                          <a:cs typeface="Times New Roman" pitchFamily="18" charset="0"/>
                        </a:rPr>
                        <a:t>C</a:t>
                      </a:r>
                      <a:endParaRPr lang="zh-TW" altLang="en-US" sz="3200" dirty="0" smtClean="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a:t>
                      </a:r>
                      <a:endParaRPr lang="zh-TW" altLang="en-US" sz="3200" dirty="0" smtClean="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mn-ea"/>
                          <a:ea typeface="+mn-ea"/>
                          <a:cs typeface="Times New Roman" pitchFamily="18" charset="0"/>
                        </a:rPr>
                        <a:t>B</a:t>
                      </a:r>
                      <a:endParaRPr lang="zh-TW" altLang="en-US" sz="3200" dirty="0" smtClean="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B</a:t>
                      </a:r>
                      <a:endParaRPr lang="zh-TW" altLang="en-US" sz="3200" dirty="0" smtClean="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C</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D</a:t>
                      </a:r>
                      <a:endParaRPr lang="zh-TW" altLang="en-US" sz="3200" dirty="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C</a:t>
                      </a:r>
                      <a:endParaRPr lang="zh-TW" altLang="en-US" sz="3200" dirty="0" smtClean="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A</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D</a:t>
                      </a:r>
                      <a:endParaRPr lang="zh-TW" altLang="en-US" sz="3200" dirty="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t>
                      </a:r>
                      <a:endParaRPr lang="zh-TW" altLang="en-US" sz="3200" dirty="0" smtClean="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A</a:t>
                      </a:r>
                      <a:endParaRPr lang="zh-TW" altLang="en-US" sz="3200" dirty="0">
                        <a:latin typeface="+mn-ea"/>
                        <a:ea typeface="+mn-ea"/>
                        <a:cs typeface="Times New Roman" pitchFamily="18" charset="0"/>
                      </a:endParaRPr>
                    </a:p>
                  </a:txBody>
                  <a:tcPr/>
                </a:tc>
              </a:tr>
            </a:tbl>
          </a:graphicData>
        </a:graphic>
      </p:graphicFrame>
      <p:graphicFrame>
        <p:nvGraphicFramePr>
          <p:cNvPr id="7" name="Object 2"/>
          <p:cNvGraphicFramePr>
            <a:graphicFrameLocks noChangeAspect="1"/>
          </p:cNvGraphicFramePr>
          <p:nvPr/>
        </p:nvGraphicFramePr>
        <p:xfrm>
          <a:off x="428596" y="3143248"/>
          <a:ext cx="5557838" cy="1571625"/>
        </p:xfrm>
        <a:graphic>
          <a:graphicData uri="http://schemas.openxmlformats.org/presentationml/2006/ole">
            <p:oleObj spid="_x0000_s5121" name="Equation" r:id="rId3" imgW="2603160" imgH="736560" progId="Equation.3">
              <p:embed/>
            </p:oleObj>
          </a:graphicData>
        </a:graphic>
      </p:graphicFrame>
      <p:sp>
        <p:nvSpPr>
          <p:cNvPr id="9" name="投影片編號版面配置區 8"/>
          <p:cNvSpPr>
            <a:spLocks noGrp="1"/>
          </p:cNvSpPr>
          <p:nvPr>
            <p:ph type="sldNum" sz="quarter" idx="12"/>
          </p:nvPr>
        </p:nvSpPr>
        <p:spPr/>
        <p:txBody>
          <a:bodyPr/>
          <a:lstStyle/>
          <a:p>
            <a:fld id="{73DA0BB7-265A-403C-9275-D587AB510EDC}" type="slidenum">
              <a:rPr lang="zh-TW" altLang="en-US" smtClean="0"/>
              <a:pPr/>
              <a:t>3</a:t>
            </a:fld>
            <a:endParaRPr lang="zh-TW" altLang="en-US"/>
          </a:p>
        </p:txBody>
      </p:sp>
      <p:graphicFrame>
        <p:nvGraphicFramePr>
          <p:cNvPr id="10" name="物件 9"/>
          <p:cNvGraphicFramePr>
            <a:graphicFrameLocks noChangeAspect="1"/>
          </p:cNvGraphicFramePr>
          <p:nvPr/>
        </p:nvGraphicFramePr>
        <p:xfrm>
          <a:off x="5921358" y="4643446"/>
          <a:ext cx="3222642" cy="928121"/>
        </p:xfrm>
        <a:graphic>
          <a:graphicData uri="http://schemas.openxmlformats.org/presentationml/2006/ole">
            <p:oleObj spid="_x0000_s5122" name="Equation" r:id="rId4" imgW="1587240" imgH="457200" progId="Equation.3">
              <p:embed/>
            </p:oleObj>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Constrained Sequence Alignment(CSA)</a:t>
            </a:r>
            <a:endParaRPr lang="zh-TW" altLang="en-US" dirty="0"/>
          </a:p>
        </p:txBody>
      </p:sp>
      <p:sp>
        <p:nvSpPr>
          <p:cNvPr id="3" name="內容版面配置區 2"/>
          <p:cNvSpPr>
            <a:spLocks noGrp="1"/>
          </p:cNvSpPr>
          <p:nvPr>
            <p:ph idx="1"/>
          </p:nvPr>
        </p:nvSpPr>
        <p:spPr/>
        <p:txBody>
          <a:bodyPr/>
          <a:lstStyle/>
          <a:p>
            <a:r>
              <a:rPr lang="en-US" altLang="zh-TW" i="1" dirty="0" smtClean="0">
                <a:latin typeface="Times New Roman" pitchFamily="18" charset="0"/>
                <a:cs typeface="Times New Roman" pitchFamily="18" charset="0"/>
              </a:rPr>
              <a:t>S</a:t>
            </a:r>
            <a:r>
              <a:rPr lang="en-US" altLang="zh-TW" dirty="0" smtClean="0"/>
              <a:t>  = </a:t>
            </a:r>
            <a:r>
              <a:rPr lang="en-US" altLang="zh-TW" dirty="0" smtClean="0">
                <a:latin typeface="+mn-ea"/>
                <a:cs typeface="Times New Roman" pitchFamily="18" charset="0"/>
              </a:rPr>
              <a:t>ACDCBABCBDBA, </a:t>
            </a:r>
            <a:r>
              <a:rPr lang="en-US" altLang="zh-TW" i="1" dirty="0" smtClean="0">
                <a:latin typeface="Times New Roman" pitchFamily="18" charset="0"/>
                <a:cs typeface="Times New Roman" pitchFamily="18" charset="0"/>
              </a:rPr>
              <a:t>S</a:t>
            </a:r>
            <a:r>
              <a:rPr lang="en-US" altLang="zh-TW" dirty="0" smtClean="0">
                <a:latin typeface="Times New Roman" pitchFamily="18" charset="0"/>
                <a:cs typeface="Times New Roman" pitchFamily="18" charset="0"/>
              </a:rPr>
              <a:t>[1..</a:t>
            </a:r>
            <a:r>
              <a:rPr lang="en-US" altLang="zh-TW" i="1" dirty="0" smtClean="0">
                <a:latin typeface="Times New Roman" pitchFamily="18" charset="0"/>
                <a:cs typeface="Times New Roman" pitchFamily="18" charset="0"/>
              </a:rPr>
              <a:t>m</a:t>
            </a:r>
            <a:r>
              <a:rPr lang="en-US" altLang="zh-TW" dirty="0" smtClean="0">
                <a:latin typeface="Times New Roman" pitchFamily="18" charset="0"/>
                <a:cs typeface="Times New Roman" pitchFamily="18" charset="0"/>
              </a:rPr>
              <a:t>]</a:t>
            </a:r>
            <a:endParaRPr lang="en-US" altLang="zh-TW" dirty="0" smtClean="0">
              <a:latin typeface="+mn-ea"/>
              <a:cs typeface="Times New Roman" pitchFamily="18" charset="0"/>
            </a:endParaRPr>
          </a:p>
          <a:p>
            <a:r>
              <a:rPr lang="en-US" altLang="zh-TW" i="1" dirty="0" smtClean="0">
                <a:latin typeface="Times New Roman" pitchFamily="18" charset="0"/>
                <a:cs typeface="Times New Roman" pitchFamily="18" charset="0"/>
              </a:rPr>
              <a:t>S’ </a:t>
            </a:r>
            <a:r>
              <a:rPr lang="en-US" altLang="zh-TW" dirty="0" smtClean="0"/>
              <a:t>= </a:t>
            </a:r>
            <a:r>
              <a:rPr lang="en-US" altLang="zh-TW" dirty="0" smtClean="0">
                <a:latin typeface="+mn-ea"/>
                <a:cs typeface="Times New Roman" pitchFamily="18" charset="0"/>
              </a:rPr>
              <a:t>BACABBCDCADA, </a:t>
            </a:r>
            <a:r>
              <a:rPr lang="en-US" altLang="zh-TW" i="1" dirty="0" smtClean="0">
                <a:latin typeface="Times New Roman" pitchFamily="18" charset="0"/>
                <a:cs typeface="Times New Roman" pitchFamily="18" charset="0"/>
              </a:rPr>
              <a:t>S’</a:t>
            </a:r>
            <a:r>
              <a:rPr lang="en-US" altLang="zh-TW" dirty="0" smtClean="0">
                <a:latin typeface="Times New Roman" pitchFamily="18" charset="0"/>
                <a:cs typeface="Times New Roman" pitchFamily="18" charset="0"/>
              </a:rPr>
              <a:t>[1..</a:t>
            </a:r>
            <a:r>
              <a:rPr lang="en-US" altLang="zh-TW" i="1" dirty="0" smtClean="0">
                <a:latin typeface="Times New Roman" pitchFamily="18" charset="0"/>
                <a:cs typeface="Times New Roman" pitchFamily="18" charset="0"/>
              </a:rPr>
              <a:t>n</a:t>
            </a:r>
            <a:r>
              <a:rPr lang="en-US" altLang="zh-TW" dirty="0" smtClean="0">
                <a:latin typeface="Times New Roman" pitchFamily="18" charset="0"/>
                <a:cs typeface="Times New Roman" pitchFamily="18" charset="0"/>
              </a:rPr>
              <a:t>]</a:t>
            </a:r>
            <a:endParaRPr lang="en-US" altLang="zh-TW" dirty="0" smtClean="0">
              <a:latin typeface="+mn-ea"/>
              <a:cs typeface="Times New Roman" pitchFamily="18" charset="0"/>
            </a:endParaRPr>
          </a:p>
          <a:p>
            <a:r>
              <a:rPr lang="en-US" altLang="zh-TW" i="1" dirty="0" smtClean="0">
                <a:latin typeface="Times New Roman" pitchFamily="18" charset="0"/>
                <a:cs typeface="Times New Roman" pitchFamily="18" charset="0"/>
              </a:rPr>
              <a:t>P</a:t>
            </a:r>
            <a:r>
              <a:rPr lang="en-US" altLang="zh-TW" dirty="0" smtClean="0"/>
              <a:t>  = </a:t>
            </a:r>
            <a:r>
              <a:rPr lang="en-US" altLang="zh-TW" dirty="0" smtClean="0">
                <a:latin typeface="+mn-ea"/>
              </a:rPr>
              <a:t>BAD, </a:t>
            </a:r>
            <a:r>
              <a:rPr lang="en-US" altLang="zh-TW" i="1" dirty="0" smtClean="0">
                <a:latin typeface="Times New Roman" pitchFamily="18" charset="0"/>
                <a:cs typeface="Times New Roman" pitchFamily="18" charset="0"/>
              </a:rPr>
              <a:t>P</a:t>
            </a:r>
            <a:r>
              <a:rPr lang="en-US" altLang="zh-TW" dirty="0" smtClean="0">
                <a:latin typeface="Times New Roman" pitchFamily="18" charset="0"/>
                <a:cs typeface="Times New Roman" pitchFamily="18" charset="0"/>
              </a:rPr>
              <a:t>[1..</a:t>
            </a:r>
            <a:r>
              <a:rPr lang="en-US" altLang="zh-TW" i="1" dirty="0" smtClean="0">
                <a:latin typeface="Times New Roman" pitchFamily="18" charset="0"/>
                <a:cs typeface="Times New Roman" pitchFamily="18" charset="0"/>
              </a:rPr>
              <a:t>l </a:t>
            </a:r>
            <a:r>
              <a:rPr lang="en-US" altLang="zh-TW" dirty="0" smtClean="0">
                <a:latin typeface="Times New Roman" pitchFamily="18" charset="0"/>
                <a:cs typeface="Times New Roman" pitchFamily="18" charset="0"/>
              </a:rPr>
              <a:t>]</a:t>
            </a:r>
            <a:endParaRPr lang="zh-TW" altLang="en-US" dirty="0">
              <a:latin typeface="+mn-ea"/>
            </a:endParaRPr>
          </a:p>
        </p:txBody>
      </p:sp>
      <p:graphicFrame>
        <p:nvGraphicFramePr>
          <p:cNvPr id="4" name="表格 3"/>
          <p:cNvGraphicFramePr>
            <a:graphicFrameLocks noGrp="1"/>
          </p:cNvGraphicFramePr>
          <p:nvPr/>
        </p:nvGraphicFramePr>
        <p:xfrm>
          <a:off x="642910" y="3842396"/>
          <a:ext cx="6500858" cy="1158240"/>
        </p:xfrm>
        <a:graphic>
          <a:graphicData uri="http://schemas.openxmlformats.org/drawingml/2006/table">
            <a:tbl>
              <a:tblPr firstRow="1" bandRow="1">
                <a:tableStyleId>{2D5ABB26-0587-4C30-8999-92F81FD0307C}</a:tableStyleId>
              </a:tblPr>
              <a:tblGrid>
                <a:gridCol w="361159"/>
                <a:gridCol w="361159"/>
                <a:gridCol w="361159"/>
                <a:gridCol w="361159"/>
                <a:gridCol w="361159"/>
                <a:gridCol w="361159"/>
                <a:gridCol w="361159"/>
                <a:gridCol w="361159"/>
                <a:gridCol w="361159"/>
                <a:gridCol w="361159"/>
                <a:gridCol w="361159"/>
                <a:gridCol w="361159"/>
                <a:gridCol w="361159"/>
                <a:gridCol w="361159"/>
                <a:gridCol w="361159"/>
                <a:gridCol w="361159"/>
                <a:gridCol w="361159"/>
                <a:gridCol w="361155"/>
              </a:tblGrid>
              <a:tr h="571504">
                <a:tc>
                  <a:txBody>
                    <a:bodyPr/>
                    <a:lstStyle/>
                    <a:p>
                      <a:pPr algn="ctr"/>
                      <a:r>
                        <a:rPr lang="en-US" altLang="zh-TW" sz="3200" dirty="0" smtClean="0">
                          <a:latin typeface="+mn-ea"/>
                          <a:ea typeface="+mn-ea"/>
                          <a:cs typeface="Times New Roman" pitchFamily="18" charset="0"/>
                        </a:rPr>
                        <a:t>A</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C</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D</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C</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B</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A</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B</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C</a:t>
                      </a:r>
                      <a:endParaRPr lang="zh-TW" altLang="en-US" sz="3200" dirty="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t>
                      </a:r>
                      <a:endParaRPr lang="zh-TW" altLang="en-US" sz="3200" dirty="0" smtClean="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B</a:t>
                      </a:r>
                      <a:endParaRPr lang="zh-TW" altLang="en-US" sz="3200" dirty="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t>
                      </a:r>
                      <a:endParaRPr lang="zh-TW" altLang="en-US" sz="3200" dirty="0" smtClean="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t>
                      </a:r>
                      <a:endParaRPr lang="zh-TW" altLang="en-US" sz="3200" dirty="0" smtClean="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D</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B</a:t>
                      </a:r>
                      <a:endParaRPr lang="zh-TW" altLang="en-US" sz="3200" dirty="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t>
                      </a:r>
                      <a:endParaRPr lang="zh-TW" altLang="en-US" sz="3200" dirty="0" smtClean="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mn-ea"/>
                          <a:ea typeface="+mn-ea"/>
                          <a:cs typeface="Times New Roman" pitchFamily="18" charset="0"/>
                        </a:rPr>
                        <a:t>A</a:t>
                      </a:r>
                      <a:endParaRPr lang="zh-TW" altLang="en-US" sz="3200" dirty="0" smtClean="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t>
                      </a:r>
                      <a:endParaRPr lang="zh-TW" altLang="en-US" sz="3200" dirty="0" smtClean="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t>
                      </a:r>
                      <a:endParaRPr lang="zh-TW" altLang="en-US" sz="3200" dirty="0" smtClean="0">
                        <a:latin typeface="+mn-ea"/>
                        <a:ea typeface="+mn-ea"/>
                        <a:cs typeface="Times New Roman" pitchFamily="18" charset="0"/>
                      </a:endParaRPr>
                    </a:p>
                  </a:txBody>
                  <a:tcPr/>
                </a:tc>
              </a:tr>
              <a:tr h="57150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t>
                      </a:r>
                      <a:endParaRPr lang="zh-TW" altLang="en-US" sz="3200" dirty="0" smtClean="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t>
                      </a:r>
                      <a:endParaRPr lang="zh-TW" altLang="en-US" sz="3200" dirty="0" smtClean="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t>
                      </a:r>
                      <a:endParaRPr lang="zh-TW" altLang="en-US" sz="3200" dirty="0" smtClean="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t>
                      </a:r>
                      <a:endParaRPr lang="zh-TW" altLang="en-US" sz="3200" dirty="0" smtClean="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B</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A</a:t>
                      </a:r>
                      <a:endParaRPr lang="zh-TW" altLang="en-US" sz="3200" dirty="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t>
                      </a:r>
                      <a:endParaRPr lang="zh-TW" altLang="en-US" sz="3200" dirty="0" smtClean="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C</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A</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B</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B</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C</a:t>
                      </a:r>
                      <a:endParaRPr lang="zh-TW" altLang="en-US" sz="3200" dirty="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D</a:t>
                      </a:r>
                      <a:endParaRPr lang="zh-TW" altLang="en-US" sz="3200" dirty="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新細明體"/>
                          <a:ea typeface="+mn-ea"/>
                          <a:cs typeface="Times New Roman" pitchFamily="18" charset="0"/>
                        </a:rPr>
                        <a:t>–</a:t>
                      </a:r>
                      <a:endParaRPr lang="zh-TW" altLang="en-US" sz="3200" dirty="0" smtClean="0">
                        <a:latin typeface="+mn-ea"/>
                        <a:ea typeface="+mn-ea"/>
                        <a:cs typeface="Times New Roman" pitchFamily="18" charset="0"/>
                      </a:endParaRPr>
                    </a:p>
                  </a:txBody>
                  <a:tcPr/>
                </a:tc>
                <a:tc>
                  <a:txBody>
                    <a:bodyPr/>
                    <a:lstStyle/>
                    <a:p>
                      <a:pPr algn="ctr"/>
                      <a:r>
                        <a:rPr lang="en-US" altLang="zh-TW" sz="3200" dirty="0" smtClean="0">
                          <a:latin typeface="+mn-ea"/>
                          <a:ea typeface="+mn-ea"/>
                          <a:cs typeface="Times New Roman" pitchFamily="18" charset="0"/>
                        </a:rPr>
                        <a:t>C</a:t>
                      </a:r>
                      <a:endParaRPr lang="zh-TW" altLang="en-US" sz="3200" dirty="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mn-ea"/>
                          <a:ea typeface="+mn-ea"/>
                          <a:cs typeface="Times New Roman" pitchFamily="18" charset="0"/>
                        </a:rPr>
                        <a:t>A</a:t>
                      </a:r>
                      <a:endParaRPr lang="zh-TW" altLang="en-US" sz="3200" dirty="0" smtClean="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mn-ea"/>
                          <a:ea typeface="+mn-ea"/>
                          <a:cs typeface="Times New Roman" pitchFamily="18" charset="0"/>
                        </a:rPr>
                        <a:t>D</a:t>
                      </a:r>
                      <a:endParaRPr lang="zh-TW" altLang="en-US" sz="3200" dirty="0" smtClean="0">
                        <a:latin typeface="+mn-ea"/>
                        <a:ea typeface="+mn-ea"/>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3200" dirty="0" smtClean="0">
                          <a:latin typeface="+mn-ea"/>
                          <a:ea typeface="+mn-ea"/>
                          <a:cs typeface="Times New Roman" pitchFamily="18" charset="0"/>
                        </a:rPr>
                        <a:t>A</a:t>
                      </a:r>
                      <a:endParaRPr lang="zh-TW" altLang="en-US" sz="3200" dirty="0" smtClean="0">
                        <a:latin typeface="+mn-ea"/>
                        <a:ea typeface="+mn-ea"/>
                        <a:cs typeface="Times New Roman" pitchFamily="18" charset="0"/>
                      </a:endParaRPr>
                    </a:p>
                  </a:txBody>
                  <a:tcPr/>
                </a:tc>
              </a:tr>
            </a:tbl>
          </a:graphicData>
        </a:graphic>
      </p:graphicFrame>
      <p:sp>
        <p:nvSpPr>
          <p:cNvPr id="5" name="矩形 4"/>
          <p:cNvSpPr/>
          <p:nvPr/>
        </p:nvSpPr>
        <p:spPr>
          <a:xfrm>
            <a:off x="2071670" y="3786190"/>
            <a:ext cx="357190" cy="1285884"/>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2462974" y="3786190"/>
            <a:ext cx="357190" cy="1285884"/>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4981966" y="3786190"/>
            <a:ext cx="357190" cy="1285884"/>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投影片編號版面配置區 7"/>
          <p:cNvSpPr>
            <a:spLocks noGrp="1"/>
          </p:cNvSpPr>
          <p:nvPr>
            <p:ph type="sldNum" sz="quarter" idx="12"/>
          </p:nvPr>
        </p:nvSpPr>
        <p:spPr/>
        <p:txBody>
          <a:bodyPr/>
          <a:lstStyle/>
          <a:p>
            <a:fld id="{73DA0BB7-265A-403C-9275-D587AB510EDC}" type="slidenum">
              <a:rPr lang="zh-TW" altLang="en-US" smtClean="0"/>
              <a:pPr/>
              <a:t>4</a:t>
            </a:fld>
            <a:endParaRPr lang="zh-TW"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Definitions</a:t>
            </a:r>
            <a:endParaRPr lang="zh-TW" altLang="en-US" dirty="0"/>
          </a:p>
        </p:txBody>
      </p:sp>
      <p:sp>
        <p:nvSpPr>
          <p:cNvPr id="3" name="內容版面配置區 2"/>
          <p:cNvSpPr>
            <a:spLocks noGrp="1"/>
          </p:cNvSpPr>
          <p:nvPr>
            <p:ph idx="1"/>
          </p:nvPr>
        </p:nvSpPr>
        <p:spPr>
          <a:xfrm>
            <a:off x="428596" y="1500174"/>
            <a:ext cx="8229600" cy="4525963"/>
          </a:xfrm>
        </p:spPr>
        <p:txBody>
          <a:bodyPr/>
          <a:lstStyle/>
          <a:p>
            <a:r>
              <a:rPr lang="el-GR" i="1" dirty="0" smtClean="0">
                <a:latin typeface="Times New Roman" pitchFamily="18" charset="0"/>
                <a:cs typeface="Times New Roman" pitchFamily="18" charset="0"/>
              </a:rPr>
              <a:t>δ</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sym typeface="Wingdings" pitchFamily="2" charset="2"/>
              </a:rPr>
              <a:t>(a, b) : distance of any two characters</a:t>
            </a:r>
          </a:p>
          <a:p>
            <a:r>
              <a:rPr lang="el-GR" i="1" dirty="0" smtClean="0">
                <a:latin typeface="Times New Roman" pitchFamily="18" charset="0"/>
                <a:cs typeface="Times New Roman" pitchFamily="18" charset="0"/>
              </a:rPr>
              <a:t>δ</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sym typeface="Wingdings" pitchFamily="2" charset="2"/>
              </a:rPr>
              <a:t>(-, -) = 0</a:t>
            </a:r>
          </a:p>
          <a:p>
            <a:r>
              <a:rPr lang="el-GR" i="1" dirty="0" smtClean="0">
                <a:latin typeface="Times New Roman" pitchFamily="18" charset="0"/>
                <a:cs typeface="Times New Roman" pitchFamily="18" charset="0"/>
              </a:rPr>
              <a:t>δ</a:t>
            </a:r>
            <a:r>
              <a:rPr lang="en-US" baseline="-25000" dirty="0" smtClean="0">
                <a:latin typeface="Times New Roman" pitchFamily="18" charset="0"/>
                <a:cs typeface="Times New Roman" pitchFamily="18" charset="0"/>
              </a:rPr>
              <a:t>opt</a:t>
            </a:r>
            <a:r>
              <a:rPr lang="en-US" dirty="0" smtClean="0">
                <a:latin typeface="Times New Roman" pitchFamily="18" charset="0"/>
                <a:cs typeface="Times New Roman" pitchFamily="18" charset="0"/>
                <a:sym typeface="Wingdings" pitchFamily="2" charset="2"/>
              </a:rPr>
              <a:t>(</a:t>
            </a:r>
            <a:r>
              <a:rPr lang="en-US" i="1" dirty="0" smtClean="0">
                <a:latin typeface="Times New Roman" pitchFamily="18" charset="0"/>
                <a:cs typeface="Times New Roman" pitchFamily="18" charset="0"/>
                <a:sym typeface="Wingdings" pitchFamily="2" charset="2"/>
              </a:rPr>
              <a:t>S</a:t>
            </a:r>
            <a:r>
              <a:rPr lang="en-US" dirty="0" smtClean="0">
                <a:latin typeface="Times New Roman" pitchFamily="18" charset="0"/>
                <a:cs typeface="Times New Roman" pitchFamily="18" charset="0"/>
                <a:sym typeface="Wingdings" pitchFamily="2" charset="2"/>
              </a:rPr>
              <a:t>, </a:t>
            </a:r>
            <a:r>
              <a:rPr lang="en-US" i="1" dirty="0" smtClean="0">
                <a:latin typeface="Times New Roman" pitchFamily="18" charset="0"/>
                <a:cs typeface="Times New Roman" pitchFamily="18" charset="0"/>
                <a:sym typeface="Wingdings" pitchFamily="2" charset="2"/>
              </a:rPr>
              <a:t>S’</a:t>
            </a:r>
            <a:r>
              <a:rPr lang="en-US" dirty="0" smtClean="0">
                <a:latin typeface="Times New Roman" pitchFamily="18" charset="0"/>
                <a:cs typeface="Times New Roman" pitchFamily="18" charset="0"/>
                <a:sym typeface="Wingdings" pitchFamily="2" charset="2"/>
              </a:rPr>
              <a:t>,</a:t>
            </a:r>
            <a:r>
              <a:rPr lang="en-US" i="1" dirty="0" smtClean="0">
                <a:latin typeface="Times New Roman" pitchFamily="18" charset="0"/>
                <a:cs typeface="Times New Roman" pitchFamily="18" charset="0"/>
                <a:sym typeface="Wingdings" pitchFamily="2" charset="2"/>
              </a:rPr>
              <a:t> P</a:t>
            </a:r>
            <a:r>
              <a:rPr lang="en-US" dirty="0" smtClean="0">
                <a:latin typeface="Times New Roman" pitchFamily="18" charset="0"/>
                <a:cs typeface="Times New Roman" pitchFamily="18" charset="0"/>
                <a:sym typeface="Wingdings" pitchFamily="2" charset="2"/>
              </a:rPr>
              <a:t>) : the score of an optimal CSA</a:t>
            </a:r>
            <a:endParaRPr lang="zh-TW" altLang="en-US" dirty="0">
              <a:latin typeface="Times New Roman" pitchFamily="18" charset="0"/>
              <a:cs typeface="Times New Roman" pitchFamily="18" charset="0"/>
            </a:endParaRPr>
          </a:p>
        </p:txBody>
      </p:sp>
      <p:graphicFrame>
        <p:nvGraphicFramePr>
          <p:cNvPr id="3074" name="Object 2"/>
          <p:cNvGraphicFramePr>
            <a:graphicFrameLocks noChangeAspect="1"/>
          </p:cNvGraphicFramePr>
          <p:nvPr/>
        </p:nvGraphicFramePr>
        <p:xfrm>
          <a:off x="642910" y="4041783"/>
          <a:ext cx="5572135" cy="458787"/>
        </p:xfrm>
        <a:graphic>
          <a:graphicData uri="http://schemas.openxmlformats.org/presentationml/2006/ole">
            <p:oleObj spid="_x0000_s3074" name="Equation" r:id="rId3" imgW="2323800" imgH="203040" progId="Equation.3">
              <p:embed/>
            </p:oleObj>
          </a:graphicData>
        </a:graphic>
      </p:graphicFrame>
      <p:graphicFrame>
        <p:nvGraphicFramePr>
          <p:cNvPr id="3075" name="Object 3"/>
          <p:cNvGraphicFramePr>
            <a:graphicFrameLocks noChangeAspect="1"/>
          </p:cNvGraphicFramePr>
          <p:nvPr/>
        </p:nvGraphicFramePr>
        <p:xfrm>
          <a:off x="0" y="4714888"/>
          <a:ext cx="9144000" cy="571500"/>
        </p:xfrm>
        <a:graphic>
          <a:graphicData uri="http://schemas.openxmlformats.org/presentationml/2006/ole">
            <p:oleObj spid="_x0000_s3075" name="Equation" r:id="rId4" imgW="4698720" imgH="291960" progId="Equation.3">
              <p:embed/>
            </p:oleObj>
          </a:graphicData>
        </a:graphic>
      </p:graphicFrame>
      <p:sp>
        <p:nvSpPr>
          <p:cNvPr id="6" name="投影片編號版面配置區 5"/>
          <p:cNvSpPr>
            <a:spLocks noGrp="1"/>
          </p:cNvSpPr>
          <p:nvPr>
            <p:ph type="sldNum" sz="quarter" idx="12"/>
          </p:nvPr>
        </p:nvSpPr>
        <p:spPr/>
        <p:txBody>
          <a:bodyPr/>
          <a:lstStyle/>
          <a:p>
            <a:fld id="{73DA0BB7-265A-403C-9275-D587AB510EDC}" type="slidenum">
              <a:rPr lang="zh-TW" altLang="en-US" smtClean="0"/>
              <a:pPr/>
              <a:t>5</a:t>
            </a:fld>
            <a:endParaRPr lang="zh-TW"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Recursive Algorithm</a:t>
            </a:r>
            <a:endParaRPr lang="zh-TW" altLang="en-US" dirty="0"/>
          </a:p>
        </p:txBody>
      </p:sp>
      <p:pic>
        <p:nvPicPr>
          <p:cNvPr id="1026" name="Picture 2"/>
          <p:cNvPicPr>
            <a:picLocks noChangeAspect="1" noChangeArrowheads="1"/>
          </p:cNvPicPr>
          <p:nvPr/>
        </p:nvPicPr>
        <p:blipFill>
          <a:blip r:embed="rId2"/>
          <a:srcRect/>
          <a:stretch>
            <a:fillRect/>
          </a:stretch>
        </p:blipFill>
        <p:spPr bwMode="auto">
          <a:xfrm>
            <a:off x="285720" y="1643050"/>
            <a:ext cx="8572560" cy="4357718"/>
          </a:xfrm>
          <a:prstGeom prst="rect">
            <a:avLst/>
          </a:prstGeom>
          <a:noFill/>
          <a:ln w="9525">
            <a:noFill/>
            <a:miter lim="800000"/>
            <a:headEnd/>
            <a:tailEnd/>
          </a:ln>
          <a:effectLst/>
        </p:spPr>
      </p:pic>
      <p:sp>
        <p:nvSpPr>
          <p:cNvPr id="4" name="投影片編號版面配置區 3"/>
          <p:cNvSpPr>
            <a:spLocks noGrp="1"/>
          </p:cNvSpPr>
          <p:nvPr>
            <p:ph type="sldNum" sz="quarter" idx="12"/>
          </p:nvPr>
        </p:nvSpPr>
        <p:spPr/>
        <p:txBody>
          <a:bodyPr/>
          <a:lstStyle/>
          <a:p>
            <a:fld id="{73DA0BB7-265A-403C-9275-D587AB510EDC}" type="slidenum">
              <a:rPr lang="zh-TW" altLang="en-US" smtClean="0"/>
              <a:pPr/>
              <a:t>6</a:t>
            </a:fld>
            <a:endParaRPr lang="zh-TW"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i="1" dirty="0" smtClean="0">
                <a:latin typeface="Times New Roman" pitchFamily="18" charset="0"/>
                <a:cs typeface="Times New Roman" pitchFamily="18" charset="0"/>
              </a:rPr>
              <a:t>Chin et al</a:t>
            </a:r>
            <a:r>
              <a:rPr lang="en-US" altLang="zh-TW" dirty="0" smtClean="0"/>
              <a:t>.</a:t>
            </a:r>
            <a:endParaRPr lang="zh-TW" altLang="en-US" dirty="0"/>
          </a:p>
        </p:txBody>
      </p:sp>
      <p:pic>
        <p:nvPicPr>
          <p:cNvPr id="20482" name="Picture 2"/>
          <p:cNvPicPr>
            <a:picLocks noChangeAspect="1" noChangeArrowheads="1"/>
          </p:cNvPicPr>
          <p:nvPr/>
        </p:nvPicPr>
        <p:blipFill>
          <a:blip r:embed="rId3"/>
          <a:srcRect/>
          <a:stretch>
            <a:fillRect/>
          </a:stretch>
        </p:blipFill>
        <p:spPr bwMode="auto">
          <a:xfrm>
            <a:off x="428596" y="1928802"/>
            <a:ext cx="7929586" cy="2000250"/>
          </a:xfrm>
          <a:prstGeom prst="rect">
            <a:avLst/>
          </a:prstGeom>
          <a:noFill/>
          <a:ln w="9525">
            <a:noFill/>
            <a:miter lim="800000"/>
            <a:headEnd/>
            <a:tailEnd/>
          </a:ln>
          <a:effectLst/>
        </p:spPr>
      </p:pic>
      <p:graphicFrame>
        <p:nvGraphicFramePr>
          <p:cNvPr id="5" name="物件 4"/>
          <p:cNvGraphicFramePr>
            <a:graphicFrameLocks noChangeAspect="1"/>
          </p:cNvGraphicFramePr>
          <p:nvPr/>
        </p:nvGraphicFramePr>
        <p:xfrm>
          <a:off x="398463" y="6000771"/>
          <a:ext cx="6156325" cy="500063"/>
        </p:xfrm>
        <a:graphic>
          <a:graphicData uri="http://schemas.openxmlformats.org/presentationml/2006/ole">
            <p:oleObj spid="_x0000_s20484" name="Equation" r:id="rId4" imgW="2501640" imgH="203040" progId="Equation.3">
              <p:embed/>
            </p:oleObj>
          </a:graphicData>
        </a:graphic>
      </p:graphicFrame>
      <p:sp>
        <p:nvSpPr>
          <p:cNvPr id="6" name="矩形 5"/>
          <p:cNvSpPr/>
          <p:nvPr/>
        </p:nvSpPr>
        <p:spPr>
          <a:xfrm>
            <a:off x="571472" y="4844489"/>
            <a:ext cx="6500858" cy="584775"/>
          </a:xfrm>
          <a:prstGeom prst="rect">
            <a:avLst/>
          </a:prstGeom>
        </p:spPr>
        <p:txBody>
          <a:bodyPr wrap="square">
            <a:spAutoFit/>
          </a:bodyPr>
          <a:lstStyle/>
          <a:p>
            <a:r>
              <a:rPr lang="en-US" sz="3200" i="1" dirty="0" smtClean="0">
                <a:latin typeface="Times New Roman" pitchFamily="18" charset="0"/>
                <a:cs typeface="Times New Roman" pitchFamily="18" charset="0"/>
              </a:rPr>
              <a:t>D</a:t>
            </a:r>
            <a:r>
              <a:rPr lang="en-US" sz="3200" dirty="0" smtClean="0">
                <a:latin typeface="Times New Roman" pitchFamily="18" charset="0"/>
                <a:cs typeface="Times New Roman" pitchFamily="18" charset="0"/>
              </a:rPr>
              <a:t>(</a:t>
            </a:r>
            <a:r>
              <a:rPr lang="en-US" sz="3200" i="1" dirty="0" err="1" smtClean="0">
                <a:latin typeface="Times New Roman" pitchFamily="18" charset="0"/>
                <a:cs typeface="Times New Roman" pitchFamily="18" charset="0"/>
              </a:rPr>
              <a:t>i</a:t>
            </a:r>
            <a:r>
              <a:rPr lang="en-US" sz="3200" dirty="0" smtClean="0">
                <a:latin typeface="Times New Roman" pitchFamily="18" charset="0"/>
                <a:cs typeface="Times New Roman" pitchFamily="18" charset="0"/>
              </a:rPr>
              <a:t>, </a:t>
            </a:r>
            <a:r>
              <a:rPr lang="en-US" sz="3200" i="1" dirty="0" smtClean="0">
                <a:latin typeface="Times New Roman" pitchFamily="18" charset="0"/>
                <a:cs typeface="Times New Roman" pitchFamily="18" charset="0"/>
              </a:rPr>
              <a:t>j</a:t>
            </a:r>
            <a:r>
              <a:rPr lang="en-US" sz="3200" dirty="0" smtClean="0">
                <a:latin typeface="Times New Roman" pitchFamily="18" charset="0"/>
                <a:cs typeface="Times New Roman" pitchFamily="18" charset="0"/>
              </a:rPr>
              <a:t>, </a:t>
            </a:r>
            <a:r>
              <a:rPr lang="en-US" sz="3200" i="1" dirty="0" smtClean="0">
                <a:latin typeface="Times New Roman" pitchFamily="18" charset="0"/>
                <a:cs typeface="Times New Roman" pitchFamily="18" charset="0"/>
              </a:rPr>
              <a:t>k</a:t>
            </a:r>
            <a:r>
              <a:rPr lang="en-US" sz="3200" dirty="0" smtClean="0">
                <a:latin typeface="Times New Roman" pitchFamily="18" charset="0"/>
                <a:cs typeface="Times New Roman" pitchFamily="18" charset="0"/>
              </a:rPr>
              <a:t>) = </a:t>
            </a:r>
            <a:r>
              <a:rPr lang="el-GR" sz="3200" i="1" dirty="0" smtClean="0">
                <a:latin typeface="Times New Roman" pitchFamily="18" charset="0"/>
                <a:cs typeface="Times New Roman" pitchFamily="18" charset="0"/>
              </a:rPr>
              <a:t>δ</a:t>
            </a:r>
            <a:r>
              <a:rPr lang="en-US" sz="3200" baseline="-25000" dirty="0" smtClean="0">
                <a:latin typeface="Times New Roman" pitchFamily="18" charset="0"/>
                <a:cs typeface="Times New Roman" pitchFamily="18" charset="0"/>
              </a:rPr>
              <a:t>opt</a:t>
            </a:r>
            <a:r>
              <a:rPr lang="en-US" sz="3200" dirty="0" smtClean="0">
                <a:latin typeface="Times New Roman" pitchFamily="18" charset="0"/>
                <a:cs typeface="Times New Roman" pitchFamily="18" charset="0"/>
                <a:sym typeface="Wingdings" pitchFamily="2" charset="2"/>
              </a:rPr>
              <a:t>(</a:t>
            </a:r>
            <a:r>
              <a:rPr lang="en-US" sz="3200" i="1" dirty="0" smtClean="0">
                <a:latin typeface="Times New Roman" pitchFamily="18" charset="0"/>
                <a:cs typeface="Times New Roman" pitchFamily="18" charset="0"/>
                <a:sym typeface="Wingdings" pitchFamily="2" charset="2"/>
              </a:rPr>
              <a:t>S</a:t>
            </a:r>
            <a:r>
              <a:rPr lang="en-US" sz="3200" dirty="0" smtClean="0">
                <a:latin typeface="Times New Roman" pitchFamily="18" charset="0"/>
                <a:cs typeface="Times New Roman" pitchFamily="18" charset="0"/>
                <a:sym typeface="Wingdings" pitchFamily="2" charset="2"/>
              </a:rPr>
              <a:t>[1..</a:t>
            </a:r>
            <a:r>
              <a:rPr lang="en-US" sz="3200" i="1" dirty="0" smtClean="0">
                <a:latin typeface="Times New Roman" pitchFamily="18" charset="0"/>
                <a:cs typeface="Times New Roman" pitchFamily="18" charset="0"/>
                <a:sym typeface="Wingdings" pitchFamily="2" charset="2"/>
              </a:rPr>
              <a:t>i</a:t>
            </a:r>
            <a:r>
              <a:rPr lang="en-US" sz="3200" dirty="0" smtClean="0">
                <a:latin typeface="Times New Roman" pitchFamily="18" charset="0"/>
                <a:cs typeface="Times New Roman" pitchFamily="18" charset="0"/>
                <a:sym typeface="Wingdings" pitchFamily="2" charset="2"/>
              </a:rPr>
              <a:t>], </a:t>
            </a:r>
            <a:r>
              <a:rPr lang="en-US" sz="3200" i="1" dirty="0" smtClean="0">
                <a:latin typeface="Times New Roman" pitchFamily="18" charset="0"/>
                <a:cs typeface="Times New Roman" pitchFamily="18" charset="0"/>
                <a:sym typeface="Wingdings" pitchFamily="2" charset="2"/>
              </a:rPr>
              <a:t>S’</a:t>
            </a:r>
            <a:r>
              <a:rPr lang="en-US" sz="3200" dirty="0" smtClean="0">
                <a:latin typeface="Times New Roman" pitchFamily="18" charset="0"/>
                <a:cs typeface="Times New Roman" pitchFamily="18" charset="0"/>
                <a:sym typeface="Wingdings" pitchFamily="2" charset="2"/>
              </a:rPr>
              <a:t>[1..</a:t>
            </a:r>
            <a:r>
              <a:rPr lang="en-US" sz="3200" i="1" dirty="0" smtClean="0">
                <a:latin typeface="Times New Roman" pitchFamily="18" charset="0"/>
                <a:cs typeface="Times New Roman" pitchFamily="18" charset="0"/>
                <a:sym typeface="Wingdings" pitchFamily="2" charset="2"/>
              </a:rPr>
              <a:t>j</a:t>
            </a:r>
            <a:r>
              <a:rPr lang="en-US" sz="3200" dirty="0" smtClean="0">
                <a:latin typeface="Times New Roman" pitchFamily="18" charset="0"/>
                <a:cs typeface="Times New Roman" pitchFamily="18" charset="0"/>
                <a:sym typeface="Wingdings" pitchFamily="2" charset="2"/>
              </a:rPr>
              <a:t>],</a:t>
            </a:r>
            <a:r>
              <a:rPr lang="en-US" sz="3200" i="1" dirty="0" smtClean="0">
                <a:latin typeface="Times New Roman" pitchFamily="18" charset="0"/>
                <a:cs typeface="Times New Roman" pitchFamily="18" charset="0"/>
                <a:sym typeface="Wingdings" pitchFamily="2" charset="2"/>
              </a:rPr>
              <a:t> P</a:t>
            </a:r>
            <a:r>
              <a:rPr lang="en-US" sz="3200" dirty="0" smtClean="0">
                <a:latin typeface="Times New Roman" pitchFamily="18" charset="0"/>
                <a:cs typeface="Times New Roman" pitchFamily="18" charset="0"/>
                <a:sym typeface="Wingdings" pitchFamily="2" charset="2"/>
              </a:rPr>
              <a:t>[1</a:t>
            </a:r>
            <a:r>
              <a:rPr lang="en-US" sz="3200" i="1" dirty="0" smtClean="0">
                <a:latin typeface="Times New Roman" pitchFamily="18" charset="0"/>
                <a:cs typeface="Times New Roman" pitchFamily="18" charset="0"/>
                <a:sym typeface="Wingdings" pitchFamily="2" charset="2"/>
              </a:rPr>
              <a:t>..</a:t>
            </a:r>
            <a:r>
              <a:rPr lang="en-US" sz="3200" dirty="0" smtClean="0">
                <a:latin typeface="Times New Roman" pitchFamily="18" charset="0"/>
                <a:cs typeface="Times New Roman" pitchFamily="18" charset="0"/>
                <a:sym typeface="Wingdings" pitchFamily="2" charset="2"/>
              </a:rPr>
              <a:t>k]) </a:t>
            </a:r>
            <a:endParaRPr lang="zh-TW" altLang="en-US" sz="3200" dirty="0"/>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7</a:t>
            </a:fld>
            <a:endParaRPr lang="zh-TW"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Formula</a:t>
            </a:r>
            <a:endParaRPr lang="zh-TW" altLang="en-US" dirty="0"/>
          </a:p>
        </p:txBody>
      </p:sp>
      <p:pic>
        <p:nvPicPr>
          <p:cNvPr id="22530" name="Picture 2"/>
          <p:cNvPicPr>
            <a:picLocks noChangeAspect="1" noChangeArrowheads="1"/>
          </p:cNvPicPr>
          <p:nvPr/>
        </p:nvPicPr>
        <p:blipFill>
          <a:blip r:embed="rId3"/>
          <a:srcRect/>
          <a:stretch>
            <a:fillRect/>
          </a:stretch>
        </p:blipFill>
        <p:spPr bwMode="auto">
          <a:xfrm>
            <a:off x="785786" y="2214554"/>
            <a:ext cx="7215238" cy="1943100"/>
          </a:xfrm>
          <a:prstGeom prst="rect">
            <a:avLst/>
          </a:prstGeom>
          <a:noFill/>
          <a:ln w="9525">
            <a:noFill/>
            <a:miter lim="800000"/>
            <a:headEnd/>
            <a:tailEnd/>
          </a:ln>
          <a:effectLst/>
        </p:spPr>
      </p:pic>
      <p:graphicFrame>
        <p:nvGraphicFramePr>
          <p:cNvPr id="5" name="物件 4"/>
          <p:cNvGraphicFramePr>
            <a:graphicFrameLocks noChangeAspect="1"/>
          </p:cNvGraphicFramePr>
          <p:nvPr/>
        </p:nvGraphicFramePr>
        <p:xfrm>
          <a:off x="142844" y="5929330"/>
          <a:ext cx="8656638" cy="500063"/>
        </p:xfrm>
        <a:graphic>
          <a:graphicData uri="http://schemas.openxmlformats.org/presentationml/2006/ole">
            <p:oleObj spid="_x0000_s22531" name="Equation" r:id="rId4" imgW="3517560" imgH="203040" progId="Equation.3">
              <p:embed/>
            </p:oleObj>
          </a:graphicData>
        </a:graphic>
      </p:graphicFrame>
      <p:sp>
        <p:nvSpPr>
          <p:cNvPr id="6" name="矩形 5"/>
          <p:cNvSpPr/>
          <p:nvPr/>
        </p:nvSpPr>
        <p:spPr>
          <a:xfrm>
            <a:off x="571472" y="4844489"/>
            <a:ext cx="6500858" cy="584775"/>
          </a:xfrm>
          <a:prstGeom prst="rect">
            <a:avLst/>
          </a:prstGeom>
        </p:spPr>
        <p:txBody>
          <a:bodyPr wrap="square">
            <a:spAutoFit/>
          </a:bodyPr>
          <a:lstStyle/>
          <a:p>
            <a:r>
              <a:rPr lang="en-US" sz="3200" i="1" dirty="0" smtClean="0">
                <a:latin typeface="Times New Roman" pitchFamily="18" charset="0"/>
                <a:cs typeface="Times New Roman" pitchFamily="18" charset="0"/>
              </a:rPr>
              <a:t>Q</a:t>
            </a:r>
            <a:r>
              <a:rPr lang="en-US" sz="3200" dirty="0" smtClean="0">
                <a:latin typeface="Times New Roman" pitchFamily="18" charset="0"/>
                <a:cs typeface="Times New Roman" pitchFamily="18" charset="0"/>
              </a:rPr>
              <a:t>(</a:t>
            </a:r>
            <a:r>
              <a:rPr lang="en-US" sz="3200" i="1" dirty="0" err="1" smtClean="0">
                <a:latin typeface="Times New Roman" pitchFamily="18" charset="0"/>
                <a:cs typeface="Times New Roman" pitchFamily="18" charset="0"/>
              </a:rPr>
              <a:t>i</a:t>
            </a:r>
            <a:r>
              <a:rPr lang="en-US" sz="3200" dirty="0" smtClean="0">
                <a:latin typeface="Times New Roman" pitchFamily="18" charset="0"/>
                <a:cs typeface="Times New Roman" pitchFamily="18" charset="0"/>
              </a:rPr>
              <a:t>, </a:t>
            </a:r>
            <a:r>
              <a:rPr lang="en-US" sz="3200" i="1" dirty="0" smtClean="0">
                <a:latin typeface="Times New Roman" pitchFamily="18" charset="0"/>
                <a:cs typeface="Times New Roman" pitchFamily="18" charset="0"/>
              </a:rPr>
              <a:t>j</a:t>
            </a:r>
            <a:r>
              <a:rPr lang="en-US" sz="3200" dirty="0" smtClean="0">
                <a:latin typeface="Times New Roman" pitchFamily="18" charset="0"/>
                <a:cs typeface="Times New Roman" pitchFamily="18" charset="0"/>
              </a:rPr>
              <a:t>, </a:t>
            </a:r>
            <a:r>
              <a:rPr lang="en-US" sz="3200" i="1" dirty="0" smtClean="0">
                <a:latin typeface="Times New Roman" pitchFamily="18" charset="0"/>
                <a:cs typeface="Times New Roman" pitchFamily="18" charset="0"/>
              </a:rPr>
              <a:t>k</a:t>
            </a:r>
            <a:r>
              <a:rPr lang="en-US" sz="3200" dirty="0" smtClean="0">
                <a:latin typeface="Times New Roman" pitchFamily="18" charset="0"/>
                <a:cs typeface="Times New Roman" pitchFamily="18" charset="0"/>
              </a:rPr>
              <a:t>) = </a:t>
            </a:r>
            <a:r>
              <a:rPr lang="el-GR" sz="3200" i="1" dirty="0" smtClean="0">
                <a:latin typeface="Times New Roman" pitchFamily="18" charset="0"/>
                <a:cs typeface="Times New Roman" pitchFamily="18" charset="0"/>
              </a:rPr>
              <a:t>δ</a:t>
            </a:r>
            <a:r>
              <a:rPr lang="en-US" sz="3200" baseline="-25000" dirty="0" smtClean="0">
                <a:latin typeface="Times New Roman" pitchFamily="18" charset="0"/>
                <a:cs typeface="Times New Roman" pitchFamily="18" charset="0"/>
              </a:rPr>
              <a:t>opt</a:t>
            </a:r>
            <a:r>
              <a:rPr lang="en-US" sz="3200" dirty="0" smtClean="0">
                <a:latin typeface="Times New Roman" pitchFamily="18" charset="0"/>
                <a:cs typeface="Times New Roman" pitchFamily="18" charset="0"/>
                <a:sym typeface="Wingdings" pitchFamily="2" charset="2"/>
              </a:rPr>
              <a:t>(</a:t>
            </a:r>
            <a:r>
              <a:rPr lang="en-US" sz="3200" i="1" dirty="0" smtClean="0">
                <a:latin typeface="Times New Roman" pitchFamily="18" charset="0"/>
                <a:cs typeface="Times New Roman" pitchFamily="18" charset="0"/>
                <a:sym typeface="Wingdings" pitchFamily="2" charset="2"/>
              </a:rPr>
              <a:t>S</a:t>
            </a:r>
            <a:r>
              <a:rPr lang="en-US" sz="3200" dirty="0" smtClean="0">
                <a:latin typeface="Times New Roman" pitchFamily="18" charset="0"/>
                <a:cs typeface="Times New Roman" pitchFamily="18" charset="0"/>
                <a:sym typeface="Wingdings" pitchFamily="2" charset="2"/>
              </a:rPr>
              <a:t>[</a:t>
            </a:r>
            <a:r>
              <a:rPr lang="en-US" sz="3200" i="1" dirty="0" err="1" smtClean="0">
                <a:latin typeface="Times New Roman" pitchFamily="18" charset="0"/>
                <a:cs typeface="Times New Roman" pitchFamily="18" charset="0"/>
                <a:sym typeface="Wingdings" pitchFamily="2" charset="2"/>
              </a:rPr>
              <a:t>i</a:t>
            </a:r>
            <a:r>
              <a:rPr lang="en-US" sz="3200" i="1" dirty="0" smtClean="0">
                <a:latin typeface="Times New Roman" pitchFamily="18" charset="0"/>
                <a:cs typeface="Times New Roman" pitchFamily="18" charset="0"/>
                <a:sym typeface="Wingdings" pitchFamily="2" charset="2"/>
              </a:rPr>
              <a:t>..m</a:t>
            </a:r>
            <a:r>
              <a:rPr lang="en-US" sz="3200" dirty="0" smtClean="0">
                <a:latin typeface="Times New Roman" pitchFamily="18" charset="0"/>
                <a:cs typeface="Times New Roman" pitchFamily="18" charset="0"/>
                <a:sym typeface="Wingdings" pitchFamily="2" charset="2"/>
              </a:rPr>
              <a:t>], </a:t>
            </a:r>
            <a:r>
              <a:rPr lang="en-US" sz="3200" i="1" dirty="0" smtClean="0">
                <a:latin typeface="Times New Roman" pitchFamily="18" charset="0"/>
                <a:cs typeface="Times New Roman" pitchFamily="18" charset="0"/>
                <a:sym typeface="Wingdings" pitchFamily="2" charset="2"/>
              </a:rPr>
              <a:t>S’</a:t>
            </a:r>
            <a:r>
              <a:rPr lang="en-US" sz="3200" dirty="0" smtClean="0">
                <a:latin typeface="Times New Roman" pitchFamily="18" charset="0"/>
                <a:cs typeface="Times New Roman" pitchFamily="18" charset="0"/>
                <a:sym typeface="Wingdings" pitchFamily="2" charset="2"/>
              </a:rPr>
              <a:t>[</a:t>
            </a:r>
            <a:r>
              <a:rPr lang="en-US" sz="3200" i="1" dirty="0" smtClean="0">
                <a:latin typeface="Times New Roman" pitchFamily="18" charset="0"/>
                <a:cs typeface="Times New Roman" pitchFamily="18" charset="0"/>
                <a:sym typeface="Wingdings" pitchFamily="2" charset="2"/>
              </a:rPr>
              <a:t>j..n</a:t>
            </a:r>
            <a:r>
              <a:rPr lang="en-US" sz="3200" dirty="0" smtClean="0">
                <a:latin typeface="Times New Roman" pitchFamily="18" charset="0"/>
                <a:cs typeface="Times New Roman" pitchFamily="18" charset="0"/>
                <a:sym typeface="Wingdings" pitchFamily="2" charset="2"/>
              </a:rPr>
              <a:t>],</a:t>
            </a:r>
            <a:r>
              <a:rPr lang="en-US" sz="3200" i="1" dirty="0" smtClean="0">
                <a:latin typeface="Times New Roman" pitchFamily="18" charset="0"/>
                <a:cs typeface="Times New Roman" pitchFamily="18" charset="0"/>
                <a:sym typeface="Wingdings" pitchFamily="2" charset="2"/>
              </a:rPr>
              <a:t> P</a:t>
            </a:r>
            <a:r>
              <a:rPr lang="en-US" sz="3200" dirty="0" smtClean="0">
                <a:latin typeface="Times New Roman" pitchFamily="18" charset="0"/>
                <a:cs typeface="Times New Roman" pitchFamily="18" charset="0"/>
                <a:sym typeface="Wingdings" pitchFamily="2" charset="2"/>
              </a:rPr>
              <a:t>[k..</a:t>
            </a:r>
            <a:r>
              <a:rPr lang="en-US" sz="3200" i="1" dirty="0" smtClean="0">
                <a:latin typeface="Times New Roman" pitchFamily="18" charset="0"/>
                <a:cs typeface="Times New Roman" pitchFamily="18" charset="0"/>
                <a:sym typeface="Wingdings" pitchFamily="2" charset="2"/>
              </a:rPr>
              <a:t>l</a:t>
            </a:r>
            <a:r>
              <a:rPr lang="en-US" sz="3200" dirty="0" smtClean="0">
                <a:latin typeface="Times New Roman" pitchFamily="18" charset="0"/>
                <a:cs typeface="Times New Roman" pitchFamily="18" charset="0"/>
                <a:sym typeface="Wingdings" pitchFamily="2" charset="2"/>
              </a:rPr>
              <a:t>]) </a:t>
            </a:r>
            <a:endParaRPr lang="zh-TW" altLang="en-US" sz="3200" dirty="0"/>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8</a:t>
            </a:fld>
            <a:endParaRPr lang="zh-TW"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Step 1</a:t>
            </a:r>
            <a:endParaRPr lang="zh-TW" altLang="en-US" dirty="0"/>
          </a:p>
        </p:txBody>
      </p:sp>
      <p:pic>
        <p:nvPicPr>
          <p:cNvPr id="21506" name="Picture 2"/>
          <p:cNvPicPr>
            <a:picLocks noChangeAspect="1" noChangeArrowheads="1"/>
          </p:cNvPicPr>
          <p:nvPr/>
        </p:nvPicPr>
        <p:blipFill>
          <a:blip r:embed="rId2"/>
          <a:srcRect/>
          <a:stretch>
            <a:fillRect/>
          </a:stretch>
        </p:blipFill>
        <p:spPr bwMode="auto">
          <a:xfrm>
            <a:off x="428596" y="1785926"/>
            <a:ext cx="7786710" cy="928694"/>
          </a:xfrm>
          <a:prstGeom prst="rect">
            <a:avLst/>
          </a:prstGeom>
          <a:noFill/>
          <a:ln w="9525">
            <a:noFill/>
            <a:miter lim="800000"/>
            <a:headEnd/>
            <a:tailEnd/>
          </a:ln>
          <a:effectLst/>
        </p:spPr>
      </p:pic>
      <p:sp>
        <p:nvSpPr>
          <p:cNvPr id="4" name="投影片編號版面配置區 3"/>
          <p:cNvSpPr>
            <a:spLocks noGrp="1"/>
          </p:cNvSpPr>
          <p:nvPr>
            <p:ph type="sldNum" sz="quarter" idx="12"/>
          </p:nvPr>
        </p:nvSpPr>
        <p:spPr/>
        <p:txBody>
          <a:bodyPr/>
          <a:lstStyle/>
          <a:p>
            <a:fld id="{73DA0BB7-265A-403C-9275-D587AB510EDC}" type="slidenum">
              <a:rPr lang="zh-TW" altLang="en-US" smtClean="0"/>
              <a:pPr/>
              <a:t>9</a:t>
            </a:fld>
            <a:endParaRPr lang="zh-TW" altLang="en-US"/>
          </a:p>
        </p:txBody>
      </p:sp>
      <p:sp>
        <p:nvSpPr>
          <p:cNvPr id="5" name="矩形 4"/>
          <p:cNvSpPr/>
          <p:nvPr/>
        </p:nvSpPr>
        <p:spPr>
          <a:xfrm>
            <a:off x="571472" y="2786058"/>
            <a:ext cx="6500858" cy="584775"/>
          </a:xfrm>
          <a:prstGeom prst="rect">
            <a:avLst/>
          </a:prstGeom>
        </p:spPr>
        <p:txBody>
          <a:bodyPr wrap="square">
            <a:spAutoFit/>
          </a:bodyPr>
          <a:lstStyle/>
          <a:p>
            <a:r>
              <a:rPr lang="en-US" sz="3200" i="1" dirty="0" smtClean="0">
                <a:latin typeface="Times New Roman" pitchFamily="18" charset="0"/>
                <a:cs typeface="Times New Roman" pitchFamily="18" charset="0"/>
              </a:rPr>
              <a:t>D</a:t>
            </a:r>
            <a:r>
              <a:rPr lang="en-US" sz="3200" dirty="0" smtClean="0">
                <a:latin typeface="Times New Roman" pitchFamily="18" charset="0"/>
                <a:cs typeface="Times New Roman" pitchFamily="18" charset="0"/>
              </a:rPr>
              <a:t>(</a:t>
            </a:r>
            <a:r>
              <a:rPr lang="en-US" sz="3200" i="1" dirty="0" err="1" smtClean="0">
                <a:latin typeface="Times New Roman" pitchFamily="18" charset="0"/>
                <a:cs typeface="Times New Roman" pitchFamily="18" charset="0"/>
              </a:rPr>
              <a:t>i</a:t>
            </a:r>
            <a:r>
              <a:rPr lang="en-US" sz="3200" dirty="0" smtClean="0">
                <a:latin typeface="Times New Roman" pitchFamily="18" charset="0"/>
                <a:cs typeface="Times New Roman" pitchFamily="18" charset="0"/>
              </a:rPr>
              <a:t>, </a:t>
            </a:r>
            <a:r>
              <a:rPr lang="en-US" sz="3200" i="1" dirty="0" smtClean="0">
                <a:latin typeface="Times New Roman" pitchFamily="18" charset="0"/>
                <a:cs typeface="Times New Roman" pitchFamily="18" charset="0"/>
              </a:rPr>
              <a:t>j</a:t>
            </a:r>
            <a:r>
              <a:rPr lang="en-US" sz="3200" dirty="0" smtClean="0">
                <a:latin typeface="Times New Roman" pitchFamily="18" charset="0"/>
                <a:cs typeface="Times New Roman" pitchFamily="18" charset="0"/>
              </a:rPr>
              <a:t>, </a:t>
            </a:r>
            <a:r>
              <a:rPr lang="en-US" sz="3200" i="1" dirty="0" smtClean="0">
                <a:latin typeface="Times New Roman" pitchFamily="18" charset="0"/>
                <a:cs typeface="Times New Roman" pitchFamily="18" charset="0"/>
              </a:rPr>
              <a:t>k</a:t>
            </a:r>
            <a:r>
              <a:rPr lang="en-US" sz="3200" dirty="0" smtClean="0">
                <a:latin typeface="Times New Roman" pitchFamily="18" charset="0"/>
                <a:cs typeface="Times New Roman" pitchFamily="18" charset="0"/>
              </a:rPr>
              <a:t>) = </a:t>
            </a:r>
            <a:r>
              <a:rPr lang="el-GR" sz="3200" i="1" dirty="0" smtClean="0">
                <a:latin typeface="Times New Roman" pitchFamily="18" charset="0"/>
                <a:cs typeface="Times New Roman" pitchFamily="18" charset="0"/>
              </a:rPr>
              <a:t>δ</a:t>
            </a:r>
            <a:r>
              <a:rPr lang="en-US" sz="3200" baseline="-25000" dirty="0" smtClean="0">
                <a:latin typeface="Times New Roman" pitchFamily="18" charset="0"/>
                <a:cs typeface="Times New Roman" pitchFamily="18" charset="0"/>
              </a:rPr>
              <a:t>opt</a:t>
            </a:r>
            <a:r>
              <a:rPr lang="en-US" sz="3200" dirty="0" smtClean="0">
                <a:latin typeface="Times New Roman" pitchFamily="18" charset="0"/>
                <a:cs typeface="Times New Roman" pitchFamily="18" charset="0"/>
                <a:sym typeface="Wingdings" pitchFamily="2" charset="2"/>
              </a:rPr>
              <a:t>(</a:t>
            </a:r>
            <a:r>
              <a:rPr lang="en-US" sz="3200" i="1" dirty="0" smtClean="0">
                <a:latin typeface="Times New Roman" pitchFamily="18" charset="0"/>
                <a:cs typeface="Times New Roman" pitchFamily="18" charset="0"/>
                <a:sym typeface="Wingdings" pitchFamily="2" charset="2"/>
              </a:rPr>
              <a:t>S</a:t>
            </a:r>
            <a:r>
              <a:rPr lang="en-US" sz="3200" dirty="0" smtClean="0">
                <a:latin typeface="Times New Roman" pitchFamily="18" charset="0"/>
                <a:cs typeface="Times New Roman" pitchFamily="18" charset="0"/>
                <a:sym typeface="Wingdings" pitchFamily="2" charset="2"/>
              </a:rPr>
              <a:t>[1..</a:t>
            </a:r>
            <a:r>
              <a:rPr lang="en-US" sz="3200" i="1" dirty="0" smtClean="0">
                <a:latin typeface="Times New Roman" pitchFamily="18" charset="0"/>
                <a:cs typeface="Times New Roman" pitchFamily="18" charset="0"/>
                <a:sym typeface="Wingdings" pitchFamily="2" charset="2"/>
              </a:rPr>
              <a:t>i</a:t>
            </a:r>
            <a:r>
              <a:rPr lang="en-US" sz="3200" dirty="0" smtClean="0">
                <a:latin typeface="Times New Roman" pitchFamily="18" charset="0"/>
                <a:cs typeface="Times New Roman" pitchFamily="18" charset="0"/>
                <a:sym typeface="Wingdings" pitchFamily="2" charset="2"/>
              </a:rPr>
              <a:t>], </a:t>
            </a:r>
            <a:r>
              <a:rPr lang="en-US" sz="3200" i="1" dirty="0" smtClean="0">
                <a:latin typeface="Times New Roman" pitchFamily="18" charset="0"/>
                <a:cs typeface="Times New Roman" pitchFamily="18" charset="0"/>
                <a:sym typeface="Wingdings" pitchFamily="2" charset="2"/>
              </a:rPr>
              <a:t>S’</a:t>
            </a:r>
            <a:r>
              <a:rPr lang="en-US" sz="3200" dirty="0" smtClean="0">
                <a:latin typeface="Times New Roman" pitchFamily="18" charset="0"/>
                <a:cs typeface="Times New Roman" pitchFamily="18" charset="0"/>
                <a:sym typeface="Wingdings" pitchFamily="2" charset="2"/>
              </a:rPr>
              <a:t>[1..</a:t>
            </a:r>
            <a:r>
              <a:rPr lang="en-US" sz="3200" i="1" dirty="0" smtClean="0">
                <a:latin typeface="Times New Roman" pitchFamily="18" charset="0"/>
                <a:cs typeface="Times New Roman" pitchFamily="18" charset="0"/>
                <a:sym typeface="Wingdings" pitchFamily="2" charset="2"/>
              </a:rPr>
              <a:t>j</a:t>
            </a:r>
            <a:r>
              <a:rPr lang="en-US" sz="3200" dirty="0" smtClean="0">
                <a:latin typeface="Times New Roman" pitchFamily="18" charset="0"/>
                <a:cs typeface="Times New Roman" pitchFamily="18" charset="0"/>
                <a:sym typeface="Wingdings" pitchFamily="2" charset="2"/>
              </a:rPr>
              <a:t>],</a:t>
            </a:r>
            <a:r>
              <a:rPr lang="en-US" sz="3200" i="1" dirty="0" smtClean="0">
                <a:latin typeface="Times New Roman" pitchFamily="18" charset="0"/>
                <a:cs typeface="Times New Roman" pitchFamily="18" charset="0"/>
                <a:sym typeface="Wingdings" pitchFamily="2" charset="2"/>
              </a:rPr>
              <a:t> P</a:t>
            </a:r>
            <a:r>
              <a:rPr lang="en-US" sz="3200" dirty="0" smtClean="0">
                <a:latin typeface="Times New Roman" pitchFamily="18" charset="0"/>
                <a:cs typeface="Times New Roman" pitchFamily="18" charset="0"/>
                <a:sym typeface="Wingdings" pitchFamily="2" charset="2"/>
              </a:rPr>
              <a:t>[1</a:t>
            </a:r>
            <a:r>
              <a:rPr lang="en-US" sz="3200" i="1" dirty="0" smtClean="0">
                <a:latin typeface="Times New Roman" pitchFamily="18" charset="0"/>
                <a:cs typeface="Times New Roman" pitchFamily="18" charset="0"/>
                <a:sym typeface="Wingdings" pitchFamily="2" charset="2"/>
              </a:rPr>
              <a:t>..</a:t>
            </a:r>
            <a:r>
              <a:rPr lang="en-US" sz="3200" dirty="0" smtClean="0">
                <a:latin typeface="Times New Roman" pitchFamily="18" charset="0"/>
                <a:cs typeface="Times New Roman" pitchFamily="18" charset="0"/>
                <a:sym typeface="Wingdings" pitchFamily="2" charset="2"/>
              </a:rPr>
              <a:t>k]) </a:t>
            </a:r>
            <a:endParaRPr lang="zh-TW" altLang="en-US" sz="3200" dirty="0"/>
          </a:p>
        </p:txBody>
      </p:sp>
      <p:sp>
        <p:nvSpPr>
          <p:cNvPr id="6" name="矩形 5"/>
          <p:cNvSpPr/>
          <p:nvPr/>
        </p:nvSpPr>
        <p:spPr>
          <a:xfrm>
            <a:off x="571472" y="3357562"/>
            <a:ext cx="6500858" cy="584775"/>
          </a:xfrm>
          <a:prstGeom prst="rect">
            <a:avLst/>
          </a:prstGeom>
        </p:spPr>
        <p:txBody>
          <a:bodyPr wrap="square">
            <a:spAutoFit/>
          </a:bodyPr>
          <a:lstStyle/>
          <a:p>
            <a:r>
              <a:rPr lang="en-US" sz="3200" i="1" dirty="0" smtClean="0">
                <a:latin typeface="Times New Roman" pitchFamily="18" charset="0"/>
                <a:cs typeface="Times New Roman" pitchFamily="18" charset="0"/>
              </a:rPr>
              <a:t>Q</a:t>
            </a:r>
            <a:r>
              <a:rPr lang="en-US" sz="3200" dirty="0" smtClean="0">
                <a:latin typeface="Times New Roman" pitchFamily="18" charset="0"/>
                <a:cs typeface="Times New Roman" pitchFamily="18" charset="0"/>
              </a:rPr>
              <a:t>(</a:t>
            </a:r>
            <a:r>
              <a:rPr lang="en-US" sz="3200" i="1" dirty="0" err="1" smtClean="0">
                <a:latin typeface="Times New Roman" pitchFamily="18" charset="0"/>
                <a:cs typeface="Times New Roman" pitchFamily="18" charset="0"/>
              </a:rPr>
              <a:t>i</a:t>
            </a:r>
            <a:r>
              <a:rPr lang="en-US" sz="3200" dirty="0" smtClean="0">
                <a:latin typeface="Times New Roman" pitchFamily="18" charset="0"/>
                <a:cs typeface="Times New Roman" pitchFamily="18" charset="0"/>
              </a:rPr>
              <a:t>, </a:t>
            </a:r>
            <a:r>
              <a:rPr lang="en-US" sz="3200" i="1" dirty="0" smtClean="0">
                <a:latin typeface="Times New Roman" pitchFamily="18" charset="0"/>
                <a:cs typeface="Times New Roman" pitchFamily="18" charset="0"/>
              </a:rPr>
              <a:t>j</a:t>
            </a:r>
            <a:r>
              <a:rPr lang="en-US" sz="3200" dirty="0" smtClean="0">
                <a:latin typeface="Times New Roman" pitchFamily="18" charset="0"/>
                <a:cs typeface="Times New Roman" pitchFamily="18" charset="0"/>
              </a:rPr>
              <a:t>, </a:t>
            </a:r>
            <a:r>
              <a:rPr lang="en-US" sz="3200" i="1" dirty="0" smtClean="0">
                <a:latin typeface="Times New Roman" pitchFamily="18" charset="0"/>
                <a:cs typeface="Times New Roman" pitchFamily="18" charset="0"/>
              </a:rPr>
              <a:t>k</a:t>
            </a:r>
            <a:r>
              <a:rPr lang="en-US" sz="3200" dirty="0" smtClean="0">
                <a:latin typeface="Times New Roman" pitchFamily="18" charset="0"/>
                <a:cs typeface="Times New Roman" pitchFamily="18" charset="0"/>
              </a:rPr>
              <a:t>) = </a:t>
            </a:r>
            <a:r>
              <a:rPr lang="el-GR" sz="3200" i="1" dirty="0" smtClean="0">
                <a:latin typeface="Times New Roman" pitchFamily="18" charset="0"/>
                <a:cs typeface="Times New Roman" pitchFamily="18" charset="0"/>
              </a:rPr>
              <a:t>δ</a:t>
            </a:r>
            <a:r>
              <a:rPr lang="en-US" sz="3200" baseline="-25000" dirty="0" smtClean="0">
                <a:latin typeface="Times New Roman" pitchFamily="18" charset="0"/>
                <a:cs typeface="Times New Roman" pitchFamily="18" charset="0"/>
              </a:rPr>
              <a:t>opt</a:t>
            </a:r>
            <a:r>
              <a:rPr lang="en-US" sz="3200" dirty="0" smtClean="0">
                <a:latin typeface="Times New Roman" pitchFamily="18" charset="0"/>
                <a:cs typeface="Times New Roman" pitchFamily="18" charset="0"/>
                <a:sym typeface="Wingdings" pitchFamily="2" charset="2"/>
              </a:rPr>
              <a:t>(</a:t>
            </a:r>
            <a:r>
              <a:rPr lang="en-US" sz="3200" i="1" dirty="0" smtClean="0">
                <a:latin typeface="Times New Roman" pitchFamily="18" charset="0"/>
                <a:cs typeface="Times New Roman" pitchFamily="18" charset="0"/>
                <a:sym typeface="Wingdings" pitchFamily="2" charset="2"/>
              </a:rPr>
              <a:t>S</a:t>
            </a:r>
            <a:r>
              <a:rPr lang="en-US" sz="3200" dirty="0" smtClean="0">
                <a:latin typeface="Times New Roman" pitchFamily="18" charset="0"/>
                <a:cs typeface="Times New Roman" pitchFamily="18" charset="0"/>
                <a:sym typeface="Wingdings" pitchFamily="2" charset="2"/>
              </a:rPr>
              <a:t>[</a:t>
            </a:r>
            <a:r>
              <a:rPr lang="en-US" sz="3200" i="1" dirty="0" err="1" smtClean="0">
                <a:latin typeface="Times New Roman" pitchFamily="18" charset="0"/>
                <a:cs typeface="Times New Roman" pitchFamily="18" charset="0"/>
                <a:sym typeface="Wingdings" pitchFamily="2" charset="2"/>
              </a:rPr>
              <a:t>i</a:t>
            </a:r>
            <a:r>
              <a:rPr lang="en-US" sz="3200" i="1" dirty="0" smtClean="0">
                <a:latin typeface="Times New Roman" pitchFamily="18" charset="0"/>
                <a:cs typeface="Times New Roman" pitchFamily="18" charset="0"/>
                <a:sym typeface="Wingdings" pitchFamily="2" charset="2"/>
              </a:rPr>
              <a:t>..m</a:t>
            </a:r>
            <a:r>
              <a:rPr lang="en-US" sz="3200" dirty="0" smtClean="0">
                <a:latin typeface="Times New Roman" pitchFamily="18" charset="0"/>
                <a:cs typeface="Times New Roman" pitchFamily="18" charset="0"/>
                <a:sym typeface="Wingdings" pitchFamily="2" charset="2"/>
              </a:rPr>
              <a:t>], </a:t>
            </a:r>
            <a:r>
              <a:rPr lang="en-US" sz="3200" i="1" dirty="0" smtClean="0">
                <a:latin typeface="Times New Roman" pitchFamily="18" charset="0"/>
                <a:cs typeface="Times New Roman" pitchFamily="18" charset="0"/>
                <a:sym typeface="Wingdings" pitchFamily="2" charset="2"/>
              </a:rPr>
              <a:t>S’</a:t>
            </a:r>
            <a:r>
              <a:rPr lang="en-US" sz="3200" dirty="0" smtClean="0">
                <a:latin typeface="Times New Roman" pitchFamily="18" charset="0"/>
                <a:cs typeface="Times New Roman" pitchFamily="18" charset="0"/>
                <a:sym typeface="Wingdings" pitchFamily="2" charset="2"/>
              </a:rPr>
              <a:t>[</a:t>
            </a:r>
            <a:r>
              <a:rPr lang="en-US" sz="3200" i="1" dirty="0" smtClean="0">
                <a:latin typeface="Times New Roman" pitchFamily="18" charset="0"/>
                <a:cs typeface="Times New Roman" pitchFamily="18" charset="0"/>
                <a:sym typeface="Wingdings" pitchFamily="2" charset="2"/>
              </a:rPr>
              <a:t>j..n</a:t>
            </a:r>
            <a:r>
              <a:rPr lang="en-US" sz="3200" dirty="0" smtClean="0">
                <a:latin typeface="Times New Roman" pitchFamily="18" charset="0"/>
                <a:cs typeface="Times New Roman" pitchFamily="18" charset="0"/>
                <a:sym typeface="Wingdings" pitchFamily="2" charset="2"/>
              </a:rPr>
              <a:t>],</a:t>
            </a:r>
            <a:r>
              <a:rPr lang="en-US" sz="3200" i="1" dirty="0" smtClean="0">
                <a:latin typeface="Times New Roman" pitchFamily="18" charset="0"/>
                <a:cs typeface="Times New Roman" pitchFamily="18" charset="0"/>
                <a:sym typeface="Wingdings" pitchFamily="2" charset="2"/>
              </a:rPr>
              <a:t> P</a:t>
            </a:r>
            <a:r>
              <a:rPr lang="en-US" sz="3200" dirty="0" smtClean="0">
                <a:latin typeface="Times New Roman" pitchFamily="18" charset="0"/>
                <a:cs typeface="Times New Roman" pitchFamily="18" charset="0"/>
                <a:sym typeface="Wingdings" pitchFamily="2" charset="2"/>
              </a:rPr>
              <a:t>[k..</a:t>
            </a:r>
            <a:r>
              <a:rPr lang="en-US" sz="3200" i="1" dirty="0" smtClean="0">
                <a:latin typeface="Times New Roman" pitchFamily="18" charset="0"/>
                <a:cs typeface="Times New Roman" pitchFamily="18" charset="0"/>
                <a:sym typeface="Wingdings" pitchFamily="2" charset="2"/>
              </a:rPr>
              <a:t>l</a:t>
            </a:r>
            <a:r>
              <a:rPr lang="en-US" sz="3200" dirty="0" smtClean="0">
                <a:latin typeface="Times New Roman" pitchFamily="18" charset="0"/>
                <a:cs typeface="Times New Roman" pitchFamily="18" charset="0"/>
                <a:sym typeface="Wingdings" pitchFamily="2" charset="2"/>
              </a:rPr>
              <a:t>]) </a:t>
            </a:r>
            <a:endParaRPr lang="zh-TW" altLang="en-US" sz="3200" dirty="0"/>
          </a:p>
        </p:txBody>
      </p:sp>
      <p:sp>
        <p:nvSpPr>
          <p:cNvPr id="7" name="矩形 6"/>
          <p:cNvSpPr/>
          <p:nvPr/>
        </p:nvSpPr>
        <p:spPr>
          <a:xfrm>
            <a:off x="20187" y="4572008"/>
            <a:ext cx="8552341" cy="461665"/>
          </a:xfrm>
          <a:prstGeom prst="rect">
            <a:avLst/>
          </a:prstGeom>
        </p:spPr>
        <p:txBody>
          <a:bodyPr wrap="none">
            <a:spAutoFit/>
          </a:bodyPr>
          <a:lstStyle/>
          <a:p>
            <a:r>
              <a:rPr lang="en-US" sz="2400" i="1" dirty="0" smtClean="0">
                <a:latin typeface="Times New Roman" pitchFamily="18" charset="0"/>
                <a:cs typeface="Times New Roman" pitchFamily="18" charset="0"/>
              </a:rPr>
              <a:t>D</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0</a:t>
            </a: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D</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D</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m</a:t>
            </a:r>
            <a:r>
              <a:rPr lang="en-US" sz="2400" dirty="0" smtClean="0">
                <a:latin typeface="Times New Roman" pitchFamily="18" charset="0"/>
                <a:cs typeface="Times New Roman" pitchFamily="18" charset="0"/>
              </a:rPr>
              <a:t>/2, *, *) : O(</a:t>
            </a:r>
            <a:r>
              <a:rPr lang="en-US" sz="2400" i="1" dirty="0" err="1" smtClean="0">
                <a:latin typeface="Times New Roman" pitchFamily="18" charset="0"/>
                <a:cs typeface="Times New Roman" pitchFamily="18" charset="0"/>
              </a:rPr>
              <a:t>lmn</a:t>
            </a:r>
            <a:r>
              <a:rPr lang="en-US" sz="2400" dirty="0" smtClean="0">
                <a:latin typeface="Times New Roman" pitchFamily="18" charset="0"/>
                <a:cs typeface="Times New Roman" pitchFamily="18" charset="0"/>
              </a:rPr>
              <a:t>) time and O(</a:t>
            </a:r>
            <a:r>
              <a:rPr lang="en-US" sz="2400" i="1" dirty="0" err="1" smtClean="0">
                <a:latin typeface="Times New Roman" pitchFamily="18" charset="0"/>
                <a:cs typeface="Times New Roman" pitchFamily="18" charset="0"/>
              </a:rPr>
              <a:t>ln</a:t>
            </a:r>
            <a:r>
              <a:rPr lang="en-US" sz="2400" dirty="0" smtClean="0">
                <a:latin typeface="Times New Roman" pitchFamily="18" charset="0"/>
                <a:cs typeface="Times New Roman" pitchFamily="18" charset="0"/>
              </a:rPr>
              <a:t>) space</a:t>
            </a:r>
            <a:endParaRPr lang="zh-TW" altLang="en-US" sz="2400" dirty="0"/>
          </a:p>
        </p:txBody>
      </p:sp>
      <p:sp>
        <p:nvSpPr>
          <p:cNvPr id="8" name="矩形 7"/>
          <p:cNvSpPr/>
          <p:nvPr/>
        </p:nvSpPr>
        <p:spPr>
          <a:xfrm>
            <a:off x="9606" y="5214950"/>
            <a:ext cx="7882286" cy="830997"/>
          </a:xfrm>
          <a:prstGeom prst="rect">
            <a:avLst/>
          </a:prstGeom>
        </p:spPr>
        <p:txBody>
          <a:bodyPr wrap="none">
            <a:spAutoFit/>
          </a:bodyPr>
          <a:lstStyle/>
          <a:p>
            <a:r>
              <a:rPr lang="en-US" sz="2400" dirty="0" smtClean="0">
                <a:latin typeface="Times New Roman" pitchFamily="18" charset="0"/>
                <a:cs typeface="Times New Roman" pitchFamily="18" charset="0"/>
              </a:rPr>
              <a:t>Q(</a:t>
            </a:r>
            <a:r>
              <a:rPr lang="en-US" sz="2400" i="1" dirty="0" smtClean="0">
                <a:latin typeface="Times New Roman" pitchFamily="18" charset="0"/>
                <a:cs typeface="Times New Roman" pitchFamily="18" charset="0"/>
              </a:rPr>
              <a:t>m</a:t>
            </a:r>
            <a:r>
              <a:rPr lang="en-US" sz="2400" dirty="0" smtClean="0">
                <a:latin typeface="Times New Roman" pitchFamily="18" charset="0"/>
                <a:cs typeface="Times New Roman" pitchFamily="18" charset="0"/>
              </a:rPr>
              <a:t>, *, *), </a:t>
            </a:r>
            <a:r>
              <a:rPr lang="en-US" sz="2400" i="1" dirty="0" smtClean="0">
                <a:latin typeface="Times New Roman" pitchFamily="18" charset="0"/>
                <a:cs typeface="Times New Roman" pitchFamily="18" charset="0"/>
              </a:rPr>
              <a:t>Q</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m</a:t>
            </a:r>
            <a:r>
              <a:rPr lang="en-US" sz="2400" dirty="0" smtClean="0">
                <a:latin typeface="Times New Roman" pitchFamily="18" charset="0"/>
                <a:cs typeface="Times New Roman" pitchFamily="18" charset="0"/>
              </a:rPr>
              <a:t>-1, </a:t>
            </a:r>
            <a:r>
              <a:rPr lang="en-US" sz="2400" i="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 </a:t>
            </a:r>
            <a:r>
              <a:rPr lang="en-US" sz="2400" i="1" dirty="0" smtClean="0">
                <a:latin typeface="Times New Roman" pitchFamily="18" charset="0"/>
                <a:cs typeface="Times New Roman" pitchFamily="18" charset="0"/>
              </a:rPr>
              <a:t>Q</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m/2+1</a:t>
            </a: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 O(</a:t>
            </a:r>
            <a:r>
              <a:rPr lang="en-US" sz="2400" i="1" dirty="0" err="1" smtClean="0">
                <a:latin typeface="Times New Roman" pitchFamily="18" charset="0"/>
                <a:cs typeface="Times New Roman" pitchFamily="18" charset="0"/>
              </a:rPr>
              <a:t>lmn</a:t>
            </a:r>
            <a:r>
              <a:rPr lang="en-US" sz="2400" dirty="0" smtClean="0">
                <a:latin typeface="Times New Roman" pitchFamily="18" charset="0"/>
                <a:cs typeface="Times New Roman" pitchFamily="18" charset="0"/>
              </a:rPr>
              <a:t>) time and</a:t>
            </a:r>
          </a:p>
          <a:p>
            <a:r>
              <a:rPr lang="en-US" sz="2400" dirty="0" smtClean="0">
                <a:latin typeface="Times New Roman" pitchFamily="18" charset="0"/>
                <a:cs typeface="Times New Roman" pitchFamily="18" charset="0"/>
              </a:rPr>
              <a:t>						  O(</a:t>
            </a:r>
            <a:r>
              <a:rPr lang="en-US" sz="2400" i="1" dirty="0" err="1" smtClean="0">
                <a:latin typeface="Times New Roman" pitchFamily="18" charset="0"/>
                <a:cs typeface="Times New Roman" pitchFamily="18" charset="0"/>
              </a:rPr>
              <a:t>ln</a:t>
            </a:r>
            <a:r>
              <a:rPr lang="en-US" sz="2400" dirty="0" smtClean="0">
                <a:latin typeface="Times New Roman" pitchFamily="18" charset="0"/>
                <a:cs typeface="Times New Roman" pitchFamily="18" charset="0"/>
              </a:rPr>
              <a:t>) space</a:t>
            </a:r>
            <a:endParaRPr lang="zh-TW" alt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 </a:t>
            </a:r>
            <a:r>
              <a:rPr lang="en-US" altLang="zh-TW" i="1" dirty="0" smtClean="0">
                <a:latin typeface="Times New Roman" pitchFamily="18" charset="0"/>
                <a:cs typeface="Times New Roman" pitchFamily="18" charset="0"/>
              </a:rPr>
              <a:t>CSA</a:t>
            </a:r>
            <a:r>
              <a:rPr lang="en-US" altLang="zh-TW" i="1" dirty="0" smtClean="0"/>
              <a:t> </a:t>
            </a:r>
            <a:r>
              <a:rPr lang="en-US" altLang="zh-TW" dirty="0" smtClean="0"/>
              <a:t>runs</a:t>
            </a:r>
            <a:r>
              <a:rPr lang="en-US" altLang="zh-TW" i="1" dirty="0" smtClean="0"/>
              <a:t> </a:t>
            </a:r>
            <a:r>
              <a:rPr lang="en-US" altLang="zh-TW" dirty="0" smtClean="0"/>
              <a:t>in</a:t>
            </a:r>
            <a:r>
              <a:rPr lang="en-US" altLang="zh-TW" i="1" dirty="0" smtClean="0"/>
              <a:t> </a:t>
            </a:r>
            <a:r>
              <a:rPr lang="en-US" altLang="zh-TW" dirty="0" smtClean="0"/>
              <a:t>O(</a:t>
            </a:r>
            <a:r>
              <a:rPr lang="en-US" altLang="zh-TW" i="1" dirty="0" err="1" smtClean="0">
                <a:latin typeface="Times New Roman" pitchFamily="18" charset="0"/>
                <a:cs typeface="Times New Roman" pitchFamily="18" charset="0"/>
              </a:rPr>
              <a:t>lmn</a:t>
            </a:r>
            <a:r>
              <a:rPr lang="en-US" altLang="zh-TW" dirty="0" smtClean="0"/>
              <a:t>)</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10</a:t>
            </a:fld>
            <a:endParaRPr lang="zh-TW" altLang="en-US"/>
          </a:p>
        </p:txBody>
      </p:sp>
      <p:pic>
        <p:nvPicPr>
          <p:cNvPr id="23554" name="Picture 2"/>
          <p:cNvPicPr>
            <a:picLocks noChangeAspect="1" noChangeArrowheads="1"/>
          </p:cNvPicPr>
          <p:nvPr/>
        </p:nvPicPr>
        <p:blipFill>
          <a:blip r:embed="rId2"/>
          <a:srcRect/>
          <a:stretch>
            <a:fillRect/>
          </a:stretch>
        </p:blipFill>
        <p:spPr bwMode="auto">
          <a:xfrm>
            <a:off x="1000100" y="1785926"/>
            <a:ext cx="7072330" cy="26432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The center-star alignment approximation for CMSA</a:t>
            </a:r>
            <a:endParaRPr lang="zh-TW" altLang="en-US" dirty="0"/>
          </a:p>
        </p:txBody>
      </p:sp>
      <p:sp>
        <p:nvSpPr>
          <p:cNvPr id="3" name="內容版面配置區 2"/>
          <p:cNvSpPr>
            <a:spLocks noGrp="1"/>
          </p:cNvSpPr>
          <p:nvPr>
            <p:ph idx="1"/>
          </p:nvPr>
        </p:nvSpPr>
        <p:spPr/>
        <p:txBody>
          <a:bodyPr/>
          <a:lstStyle/>
          <a:p>
            <a:pPr>
              <a:buNone/>
            </a:pPr>
            <a:r>
              <a:rPr lang="en-US" altLang="zh-TW" i="1" dirty="0" smtClean="0">
                <a:latin typeface="Times New Roman" pitchFamily="18" charset="0"/>
                <a:cs typeface="Times New Roman" pitchFamily="18" charset="0"/>
              </a:rPr>
              <a:t>S</a:t>
            </a:r>
            <a:r>
              <a:rPr lang="en-US" altLang="zh-TW" dirty="0" smtClean="0"/>
              <a:t> = (</a:t>
            </a:r>
            <a:r>
              <a:rPr lang="en-US" altLang="zh-TW" i="1" dirty="0" smtClean="0">
                <a:latin typeface="Times New Roman" pitchFamily="18" charset="0"/>
                <a:cs typeface="Times New Roman" pitchFamily="18" charset="0"/>
              </a:rPr>
              <a:t>S</a:t>
            </a:r>
            <a:r>
              <a:rPr lang="en-US" altLang="zh-TW" baseline="-25000" dirty="0" smtClean="0"/>
              <a:t>1</a:t>
            </a:r>
            <a:r>
              <a:rPr lang="en-US" altLang="zh-TW" dirty="0" smtClean="0"/>
              <a:t>, </a:t>
            </a:r>
            <a:r>
              <a:rPr lang="en-US" altLang="zh-TW" i="1" dirty="0" smtClean="0">
                <a:latin typeface="Times New Roman" pitchFamily="18" charset="0"/>
                <a:cs typeface="Times New Roman" pitchFamily="18" charset="0"/>
              </a:rPr>
              <a:t>S </a:t>
            </a:r>
            <a:r>
              <a:rPr lang="en-US" altLang="zh-TW" baseline="-25000" dirty="0" smtClean="0"/>
              <a:t>2</a:t>
            </a:r>
            <a:r>
              <a:rPr lang="en-US" altLang="zh-TW" dirty="0" smtClean="0"/>
              <a:t>,…, </a:t>
            </a:r>
            <a:r>
              <a:rPr lang="en-US" altLang="zh-TW" i="1" dirty="0" smtClean="0">
                <a:latin typeface="Times New Roman" pitchFamily="18" charset="0"/>
                <a:cs typeface="Times New Roman" pitchFamily="18" charset="0"/>
              </a:rPr>
              <a:t>S </a:t>
            </a:r>
            <a:r>
              <a:rPr lang="en-US" altLang="zh-TW" baseline="-25000" dirty="0" smtClean="0"/>
              <a:t>k</a:t>
            </a:r>
            <a:r>
              <a:rPr lang="en-US" altLang="zh-TW" dirty="0" smtClean="0"/>
              <a:t>)</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11</a:t>
            </a:fld>
            <a:endParaRPr lang="zh-TW" altLang="en-US"/>
          </a:p>
        </p:txBody>
      </p:sp>
      <p:pic>
        <p:nvPicPr>
          <p:cNvPr id="24578" name="Picture 2"/>
          <p:cNvPicPr>
            <a:picLocks noChangeAspect="1" noChangeArrowheads="1"/>
          </p:cNvPicPr>
          <p:nvPr/>
        </p:nvPicPr>
        <p:blipFill>
          <a:blip r:embed="rId2"/>
          <a:srcRect/>
          <a:stretch>
            <a:fillRect/>
          </a:stretch>
        </p:blipFill>
        <p:spPr bwMode="auto">
          <a:xfrm>
            <a:off x="571472" y="2857496"/>
            <a:ext cx="8215370" cy="221457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0" y="0"/>
            <a:ext cx="8686800" cy="6715148"/>
          </a:xfrm>
        </p:spPr>
        <p:txBody>
          <a:bodyPr/>
          <a:lstStyle/>
          <a:p>
            <a:pPr>
              <a:buNone/>
            </a:pPr>
            <a:r>
              <a:rPr lang="en-US" altLang="zh-TW" dirty="0" smtClean="0"/>
              <a:t>S</a:t>
            </a:r>
            <a:r>
              <a:rPr lang="en-US" altLang="zh-TW" baseline="-25000" dirty="0" smtClean="0"/>
              <a:t>1</a:t>
            </a:r>
            <a:r>
              <a:rPr lang="en-US" altLang="zh-TW" dirty="0" smtClean="0"/>
              <a:t>:CCTGCTGCAG</a:t>
            </a:r>
          </a:p>
          <a:p>
            <a:pPr>
              <a:buNone/>
            </a:pPr>
            <a:r>
              <a:rPr lang="en-US" altLang="zh-TW" dirty="0" smtClean="0"/>
              <a:t>S</a:t>
            </a:r>
            <a:r>
              <a:rPr lang="en-US" altLang="zh-TW" baseline="-25000" dirty="0" smtClean="0"/>
              <a:t>2</a:t>
            </a:r>
            <a:r>
              <a:rPr lang="en-US" altLang="zh-TW" dirty="0" smtClean="0"/>
              <a:t>:GATGTGCCG</a:t>
            </a:r>
          </a:p>
          <a:p>
            <a:pPr>
              <a:buNone/>
            </a:pPr>
            <a:r>
              <a:rPr lang="en-US" altLang="zh-TW" dirty="0" smtClean="0"/>
              <a:t>S</a:t>
            </a:r>
            <a:r>
              <a:rPr lang="en-US" altLang="zh-TW" baseline="-25000" dirty="0" smtClean="0"/>
              <a:t>3</a:t>
            </a:r>
            <a:r>
              <a:rPr lang="en-US" altLang="zh-TW" dirty="0" smtClean="0"/>
              <a:t>:GATGTGCAG</a:t>
            </a:r>
          </a:p>
          <a:p>
            <a:pPr>
              <a:buNone/>
            </a:pPr>
            <a:r>
              <a:rPr lang="en-US" altLang="zh-TW" dirty="0" smtClean="0"/>
              <a:t>S</a:t>
            </a:r>
            <a:r>
              <a:rPr lang="en-US" altLang="zh-TW" baseline="-25000" dirty="0" smtClean="0"/>
              <a:t>4</a:t>
            </a:r>
            <a:r>
              <a:rPr lang="en-US" altLang="zh-TW" dirty="0" smtClean="0"/>
              <a:t>:CCGCTAGCAG</a:t>
            </a:r>
          </a:p>
          <a:p>
            <a:pPr>
              <a:buNone/>
            </a:pPr>
            <a:r>
              <a:rPr lang="en-US" altLang="zh-TW" dirty="0" smtClean="0"/>
              <a:t>S</a:t>
            </a:r>
            <a:r>
              <a:rPr lang="en-US" altLang="zh-TW" baseline="-25000" dirty="0" smtClean="0"/>
              <a:t>5</a:t>
            </a:r>
            <a:r>
              <a:rPr lang="en-US" altLang="zh-TW" dirty="0" smtClean="0"/>
              <a:t>:CCTGTAGG</a:t>
            </a:r>
          </a:p>
          <a:p>
            <a:pPr>
              <a:buNone/>
            </a:pPr>
            <a:r>
              <a:rPr lang="en-US" altLang="zh-TW" dirty="0" smtClean="0"/>
              <a:t>P: GTG</a:t>
            </a:r>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12</a:t>
            </a:fld>
            <a:endParaRPr lang="zh-TW" altLang="en-US"/>
          </a:p>
        </p:txBody>
      </p:sp>
      <p:graphicFrame>
        <p:nvGraphicFramePr>
          <p:cNvPr id="6" name="表格 5"/>
          <p:cNvGraphicFramePr>
            <a:graphicFrameLocks noGrp="1"/>
          </p:cNvGraphicFramePr>
          <p:nvPr/>
        </p:nvGraphicFramePr>
        <p:xfrm>
          <a:off x="3000364" y="1785926"/>
          <a:ext cx="2428890" cy="2551752"/>
        </p:xfrm>
        <a:graphic>
          <a:graphicData uri="http://schemas.openxmlformats.org/drawingml/2006/table">
            <a:tbl>
              <a:tblPr firstRow="1" bandRow="1">
                <a:tableStyleId>{5940675A-B579-460E-94D1-54222C63F5DA}</a:tableStyleId>
              </a:tblPr>
              <a:tblGrid>
                <a:gridCol w="404815"/>
                <a:gridCol w="404815"/>
                <a:gridCol w="404815"/>
                <a:gridCol w="404815"/>
                <a:gridCol w="404815"/>
                <a:gridCol w="404815"/>
              </a:tblGrid>
              <a:tr h="425292">
                <a:tc>
                  <a:txBody>
                    <a:bodyPr/>
                    <a:lstStyle/>
                    <a:p>
                      <a:pPr algn="ctr"/>
                      <a:endParaRPr lang="zh-TW" altLang="en-US" dirty="0"/>
                    </a:p>
                  </a:txBody>
                  <a:tcPr/>
                </a:tc>
                <a:tc>
                  <a:txBody>
                    <a:bodyPr/>
                    <a:lstStyle/>
                    <a:p>
                      <a:pPr algn="ctr"/>
                      <a:r>
                        <a:rPr lang="en-US" altLang="zh-TW" dirty="0" smtClean="0"/>
                        <a:t>S</a:t>
                      </a:r>
                      <a:r>
                        <a:rPr lang="en-US" altLang="zh-TW" baseline="-25000" dirty="0" smtClean="0"/>
                        <a:t>1</a:t>
                      </a:r>
                      <a:endParaRPr lang="zh-TW" altLang="en-US" dirty="0"/>
                    </a:p>
                  </a:txBody>
                  <a:tcPr/>
                </a:tc>
                <a:tc>
                  <a:txBody>
                    <a:bodyPr/>
                    <a:lstStyle/>
                    <a:p>
                      <a:pPr algn="ctr"/>
                      <a:r>
                        <a:rPr lang="en-US" altLang="zh-TW" dirty="0" smtClean="0"/>
                        <a:t>S</a:t>
                      </a:r>
                      <a:r>
                        <a:rPr lang="en-US" altLang="zh-TW" baseline="-25000" dirty="0" smtClean="0"/>
                        <a:t>2</a:t>
                      </a:r>
                      <a:endParaRPr lang="zh-TW" altLang="en-US" dirty="0"/>
                    </a:p>
                  </a:txBody>
                  <a:tcPr/>
                </a:tc>
                <a:tc>
                  <a:txBody>
                    <a:bodyPr/>
                    <a:lstStyle/>
                    <a:p>
                      <a:pPr algn="ctr"/>
                      <a:r>
                        <a:rPr lang="en-US" altLang="zh-TW" dirty="0" smtClean="0"/>
                        <a:t>S</a:t>
                      </a:r>
                      <a:r>
                        <a:rPr lang="en-US" altLang="zh-TW" baseline="-25000" dirty="0" smtClean="0"/>
                        <a:t>3</a:t>
                      </a:r>
                      <a:endParaRPr lang="zh-TW" altLang="en-US" dirty="0"/>
                    </a:p>
                  </a:txBody>
                  <a:tcPr/>
                </a:tc>
                <a:tc>
                  <a:txBody>
                    <a:bodyPr/>
                    <a:lstStyle/>
                    <a:p>
                      <a:pPr algn="ctr"/>
                      <a:r>
                        <a:rPr lang="en-US" altLang="zh-TW" dirty="0" smtClean="0"/>
                        <a:t>S</a:t>
                      </a:r>
                      <a:r>
                        <a:rPr lang="en-US" altLang="zh-TW" baseline="-25000" dirty="0" smtClean="0"/>
                        <a:t>4</a:t>
                      </a:r>
                      <a:endParaRPr lang="zh-TW" altLang="en-US" dirty="0"/>
                    </a:p>
                  </a:txBody>
                  <a:tcPr/>
                </a:tc>
                <a:tc>
                  <a:txBody>
                    <a:bodyPr/>
                    <a:lstStyle/>
                    <a:p>
                      <a:pPr algn="ctr"/>
                      <a:r>
                        <a:rPr lang="en-US" altLang="zh-TW" dirty="0" smtClean="0"/>
                        <a:t>S</a:t>
                      </a:r>
                      <a:r>
                        <a:rPr lang="en-US" altLang="zh-TW" baseline="-25000" dirty="0" smtClean="0"/>
                        <a:t>5</a:t>
                      </a:r>
                      <a:endParaRPr lang="zh-TW" altLang="en-US" dirty="0"/>
                    </a:p>
                  </a:txBody>
                  <a:tcPr/>
                </a:tc>
              </a:tr>
              <a:tr h="425292">
                <a:tc>
                  <a:txBody>
                    <a:bodyPr/>
                    <a:lstStyle/>
                    <a:p>
                      <a:pPr algn="ctr"/>
                      <a:r>
                        <a:rPr lang="en-US" altLang="zh-TW" dirty="0" smtClean="0"/>
                        <a:t>S</a:t>
                      </a:r>
                      <a:r>
                        <a:rPr lang="en-US" altLang="zh-TW" baseline="-25000"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4</a:t>
                      </a:r>
                      <a:endParaRPr lang="zh-TW" altLang="en-US" dirty="0"/>
                    </a:p>
                  </a:txBody>
                  <a:tcPr/>
                </a:tc>
              </a:tr>
              <a:tr h="425292">
                <a:tc>
                  <a:txBody>
                    <a:bodyPr/>
                    <a:lstStyle/>
                    <a:p>
                      <a:pPr algn="ctr"/>
                      <a:r>
                        <a:rPr lang="en-US" altLang="zh-TW" dirty="0" smtClean="0"/>
                        <a:t>S</a:t>
                      </a:r>
                      <a:r>
                        <a:rPr lang="en-US" altLang="zh-TW" baseline="-25000" dirty="0" smtClean="0"/>
                        <a:t>2</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5</a:t>
                      </a:r>
                      <a:endParaRPr lang="zh-TW" altLang="en-US" dirty="0"/>
                    </a:p>
                  </a:txBody>
                  <a:tcPr/>
                </a:tc>
              </a:tr>
              <a:tr h="425292">
                <a:tc>
                  <a:txBody>
                    <a:bodyPr/>
                    <a:lstStyle/>
                    <a:p>
                      <a:pPr algn="ctr"/>
                      <a:r>
                        <a:rPr lang="en-US" altLang="zh-TW" dirty="0" smtClean="0"/>
                        <a:t>S</a:t>
                      </a:r>
                      <a:r>
                        <a:rPr lang="en-US" altLang="zh-TW" baseline="-25000"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r>
              <a:tr h="425292">
                <a:tc>
                  <a:txBody>
                    <a:bodyPr/>
                    <a:lstStyle/>
                    <a:p>
                      <a:pPr algn="ctr"/>
                      <a:r>
                        <a:rPr lang="en-US" altLang="zh-TW" dirty="0" smtClean="0"/>
                        <a:t>S</a:t>
                      </a:r>
                      <a:r>
                        <a:rPr lang="en-US" altLang="zh-TW" baseline="-25000" dirty="0" smtClean="0"/>
                        <a:t>4</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4</a:t>
                      </a:r>
                      <a:endParaRPr lang="zh-TW" altLang="en-US" dirty="0"/>
                    </a:p>
                  </a:txBody>
                  <a:tcPr/>
                </a:tc>
              </a:tr>
              <a:tr h="425292">
                <a:tc>
                  <a:txBody>
                    <a:bodyPr/>
                    <a:lstStyle/>
                    <a:p>
                      <a:pPr algn="ctr"/>
                      <a:r>
                        <a:rPr lang="en-US" altLang="zh-TW" dirty="0" smtClean="0"/>
                        <a:t>S</a:t>
                      </a:r>
                      <a:r>
                        <a:rPr lang="en-US" altLang="zh-TW" baseline="-25000" dirty="0" smtClean="0"/>
                        <a:t>5</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0</a:t>
                      </a:r>
                      <a:endParaRPr lang="zh-TW" altLang="en-US" dirty="0"/>
                    </a:p>
                  </a:txBody>
                  <a:tcPr/>
                </a:tc>
              </a:tr>
            </a:tbl>
          </a:graphicData>
        </a:graphic>
      </p:graphicFrame>
      <p:graphicFrame>
        <p:nvGraphicFramePr>
          <p:cNvPr id="7" name="物件 6"/>
          <p:cNvGraphicFramePr>
            <a:graphicFrameLocks noChangeAspect="1"/>
          </p:cNvGraphicFramePr>
          <p:nvPr/>
        </p:nvGraphicFramePr>
        <p:xfrm>
          <a:off x="6072198" y="1400165"/>
          <a:ext cx="2256378" cy="742954"/>
        </p:xfrm>
        <a:graphic>
          <a:graphicData uri="http://schemas.openxmlformats.org/presentationml/2006/ole">
            <p:oleObj spid="_x0000_s25602" name="Equation" r:id="rId3" imgW="1041120" imgH="342720" progId="Equation.3">
              <p:embed/>
            </p:oleObj>
          </a:graphicData>
        </a:graphic>
      </p:graphicFrame>
      <p:graphicFrame>
        <p:nvGraphicFramePr>
          <p:cNvPr id="25603" name="Object 3"/>
          <p:cNvGraphicFramePr>
            <a:graphicFrameLocks noChangeAspect="1"/>
          </p:cNvGraphicFramePr>
          <p:nvPr/>
        </p:nvGraphicFramePr>
        <p:xfrm>
          <a:off x="6072198" y="2186001"/>
          <a:ext cx="2311400" cy="742950"/>
        </p:xfrm>
        <a:graphic>
          <a:graphicData uri="http://schemas.openxmlformats.org/presentationml/2006/ole">
            <p:oleObj spid="_x0000_s25603" name="Equation" r:id="rId4" imgW="1066680" imgH="342720" progId="Equation.3">
              <p:embed/>
            </p:oleObj>
          </a:graphicData>
        </a:graphic>
      </p:graphicFrame>
      <p:graphicFrame>
        <p:nvGraphicFramePr>
          <p:cNvPr id="25604" name="Object 4"/>
          <p:cNvGraphicFramePr>
            <a:graphicFrameLocks noChangeAspect="1"/>
          </p:cNvGraphicFramePr>
          <p:nvPr/>
        </p:nvGraphicFramePr>
        <p:xfrm>
          <a:off x="6072198" y="3043251"/>
          <a:ext cx="2311400" cy="742950"/>
        </p:xfrm>
        <a:graphic>
          <a:graphicData uri="http://schemas.openxmlformats.org/presentationml/2006/ole">
            <p:oleObj spid="_x0000_s25604" name="Equation" r:id="rId5" imgW="1066680" imgH="342720" progId="Equation.3">
              <p:embed/>
            </p:oleObj>
          </a:graphicData>
        </a:graphic>
      </p:graphicFrame>
      <p:graphicFrame>
        <p:nvGraphicFramePr>
          <p:cNvPr id="25605" name="Object 5"/>
          <p:cNvGraphicFramePr>
            <a:graphicFrameLocks noChangeAspect="1"/>
          </p:cNvGraphicFramePr>
          <p:nvPr/>
        </p:nvGraphicFramePr>
        <p:xfrm>
          <a:off x="6099196" y="3900501"/>
          <a:ext cx="2311400" cy="742950"/>
        </p:xfrm>
        <a:graphic>
          <a:graphicData uri="http://schemas.openxmlformats.org/presentationml/2006/ole">
            <p:oleObj spid="_x0000_s25605" name="Equation" r:id="rId6" imgW="1066680" imgH="342720" progId="Equation.3">
              <p:embed/>
            </p:oleObj>
          </a:graphicData>
        </a:graphic>
      </p:graphicFrame>
      <p:graphicFrame>
        <p:nvGraphicFramePr>
          <p:cNvPr id="25606" name="Object 6"/>
          <p:cNvGraphicFramePr>
            <a:graphicFrameLocks noChangeAspect="1"/>
          </p:cNvGraphicFramePr>
          <p:nvPr/>
        </p:nvGraphicFramePr>
        <p:xfrm>
          <a:off x="6072198" y="4686314"/>
          <a:ext cx="2311400" cy="742950"/>
        </p:xfrm>
        <a:graphic>
          <a:graphicData uri="http://schemas.openxmlformats.org/presentationml/2006/ole">
            <p:oleObj spid="_x0000_s25606" name="Equation" r:id="rId7" imgW="1066680" imgH="342720" progId="Equation.3">
              <p:embed/>
            </p:oleObj>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73DA0BB7-265A-403C-9275-D587AB510EDC}" type="slidenum">
              <a:rPr lang="zh-TW" altLang="en-US" smtClean="0"/>
              <a:pPr/>
              <a:t>13</a:t>
            </a:fld>
            <a:endParaRPr lang="zh-TW" altLang="en-US"/>
          </a:p>
        </p:txBody>
      </p:sp>
      <p:sp>
        <p:nvSpPr>
          <p:cNvPr id="5" name="文字方塊 4"/>
          <p:cNvSpPr txBox="1"/>
          <p:nvPr/>
        </p:nvSpPr>
        <p:spPr>
          <a:xfrm>
            <a:off x="428596" y="500042"/>
            <a:ext cx="7786742" cy="5509200"/>
          </a:xfrm>
          <a:prstGeom prst="rect">
            <a:avLst/>
          </a:prstGeom>
          <a:noFill/>
        </p:spPr>
        <p:txBody>
          <a:bodyPr wrap="square" rtlCol="0">
            <a:spAutoFit/>
          </a:bodyPr>
          <a:lstStyle/>
          <a:p>
            <a:r>
              <a:rPr lang="en-US" altLang="zh-TW" sz="3200" dirty="0" smtClean="0">
                <a:latin typeface="標楷體" pitchFamily="65" charset="-120"/>
                <a:ea typeface="標楷體" pitchFamily="65" charset="-120"/>
              </a:rPr>
              <a:t>S</a:t>
            </a:r>
            <a:r>
              <a:rPr lang="en-US" altLang="zh-TW" sz="3200" baseline="-25000" dirty="0" smtClean="0">
                <a:latin typeface="標楷體" pitchFamily="65" charset="-120"/>
                <a:ea typeface="標楷體" pitchFamily="65" charset="-120"/>
              </a:rPr>
              <a:t>1</a:t>
            </a:r>
            <a:r>
              <a:rPr lang="en-US" altLang="zh-TW" sz="3200" dirty="0" smtClean="0">
                <a:latin typeface="標楷體" pitchFamily="65" charset="-120"/>
                <a:ea typeface="標楷體" pitchFamily="65" charset="-120"/>
              </a:rPr>
              <a:t>:CCTGCTGCAG</a:t>
            </a:r>
          </a:p>
          <a:p>
            <a:r>
              <a:rPr lang="en-US" altLang="zh-TW" sz="3200" dirty="0" smtClean="0">
                <a:latin typeface="標楷體" pitchFamily="65" charset="-120"/>
                <a:ea typeface="標楷體" pitchFamily="65" charset="-120"/>
              </a:rPr>
              <a:t>S</a:t>
            </a:r>
            <a:r>
              <a:rPr lang="en-US" altLang="zh-TW" sz="3200" baseline="-25000" dirty="0" smtClean="0">
                <a:latin typeface="標楷體" pitchFamily="65" charset="-120"/>
                <a:ea typeface="標楷體" pitchFamily="65" charset="-120"/>
              </a:rPr>
              <a:t>2</a:t>
            </a:r>
            <a:r>
              <a:rPr lang="en-US" altLang="zh-TW" sz="3200" dirty="0" smtClean="0">
                <a:latin typeface="標楷體" pitchFamily="65" charset="-120"/>
                <a:ea typeface="標楷體" pitchFamily="65" charset="-120"/>
              </a:rPr>
              <a:t>:GATG</a:t>
            </a:r>
            <a:r>
              <a:rPr lang="en-US" altLang="zh-TW" sz="3200" dirty="0" smtClean="0"/>
              <a:t>–</a:t>
            </a:r>
            <a:r>
              <a:rPr lang="en-US" altLang="zh-TW" sz="3200" dirty="0" smtClean="0">
                <a:latin typeface="標楷體" pitchFamily="65" charset="-120"/>
                <a:ea typeface="標楷體" pitchFamily="65" charset="-120"/>
              </a:rPr>
              <a:t>TGCCG</a:t>
            </a:r>
          </a:p>
          <a:p>
            <a:endParaRPr lang="en-US" altLang="zh-TW" sz="3200" dirty="0" smtClean="0">
              <a:latin typeface="標楷體" pitchFamily="65" charset="-120"/>
              <a:ea typeface="標楷體" pitchFamily="65" charset="-120"/>
            </a:endParaRPr>
          </a:p>
          <a:p>
            <a:r>
              <a:rPr lang="en-US" altLang="zh-TW" sz="3200" dirty="0" smtClean="0">
                <a:latin typeface="標楷體" pitchFamily="65" charset="-120"/>
                <a:ea typeface="標楷體" pitchFamily="65" charset="-120"/>
              </a:rPr>
              <a:t>S</a:t>
            </a:r>
            <a:r>
              <a:rPr lang="en-US" altLang="zh-TW" sz="3200" baseline="-25000" dirty="0" smtClean="0">
                <a:latin typeface="標楷體" pitchFamily="65" charset="-120"/>
                <a:ea typeface="標楷體" pitchFamily="65" charset="-120"/>
              </a:rPr>
              <a:t>1</a:t>
            </a:r>
            <a:r>
              <a:rPr lang="en-US" altLang="zh-TW" sz="3200" dirty="0" smtClean="0">
                <a:latin typeface="標楷體" pitchFamily="65" charset="-120"/>
                <a:ea typeface="標楷體" pitchFamily="65" charset="-120"/>
              </a:rPr>
              <a:t>:CCTGCTGCAG</a:t>
            </a:r>
          </a:p>
          <a:p>
            <a:r>
              <a:rPr lang="en-US" altLang="zh-TW" sz="3200" dirty="0" smtClean="0">
                <a:latin typeface="標楷體" pitchFamily="65" charset="-120"/>
                <a:ea typeface="標楷體" pitchFamily="65" charset="-120"/>
              </a:rPr>
              <a:t>S</a:t>
            </a:r>
            <a:r>
              <a:rPr lang="en-US" altLang="zh-TW" sz="3200" baseline="-25000" dirty="0" smtClean="0">
                <a:latin typeface="標楷體" pitchFamily="65" charset="-120"/>
                <a:ea typeface="標楷體" pitchFamily="65" charset="-120"/>
              </a:rPr>
              <a:t>3</a:t>
            </a:r>
            <a:r>
              <a:rPr lang="en-US" altLang="zh-TW" sz="3200" dirty="0" smtClean="0">
                <a:latin typeface="標楷體" pitchFamily="65" charset="-120"/>
                <a:ea typeface="標楷體" pitchFamily="65" charset="-120"/>
              </a:rPr>
              <a:t>:GATG</a:t>
            </a:r>
            <a:r>
              <a:rPr lang="en-US" altLang="zh-TW" sz="3200" dirty="0" smtClean="0"/>
              <a:t>–</a:t>
            </a:r>
            <a:r>
              <a:rPr lang="en-US" altLang="zh-TW" sz="3200" dirty="0" smtClean="0">
                <a:latin typeface="標楷體" pitchFamily="65" charset="-120"/>
                <a:ea typeface="標楷體" pitchFamily="65" charset="-120"/>
              </a:rPr>
              <a:t>TGCAG</a:t>
            </a:r>
          </a:p>
          <a:p>
            <a:endParaRPr lang="en-US" altLang="zh-TW" sz="3200" dirty="0" smtClean="0">
              <a:latin typeface="標楷體" pitchFamily="65" charset="-120"/>
              <a:ea typeface="標楷體" pitchFamily="65" charset="-120"/>
            </a:endParaRPr>
          </a:p>
          <a:p>
            <a:r>
              <a:rPr lang="en-US" altLang="zh-TW" sz="3200" dirty="0" smtClean="0">
                <a:latin typeface="標楷體" pitchFamily="65" charset="-120"/>
                <a:ea typeface="標楷體" pitchFamily="65" charset="-120"/>
              </a:rPr>
              <a:t>S</a:t>
            </a:r>
            <a:r>
              <a:rPr lang="en-US" altLang="zh-TW" sz="3200" baseline="-25000" dirty="0" smtClean="0">
                <a:latin typeface="標楷體" pitchFamily="65" charset="-120"/>
                <a:ea typeface="標楷體" pitchFamily="65" charset="-120"/>
              </a:rPr>
              <a:t>1</a:t>
            </a:r>
            <a:r>
              <a:rPr lang="en-US" altLang="zh-TW" sz="3200" dirty="0" smtClean="0">
                <a:latin typeface="標楷體" pitchFamily="65" charset="-120"/>
                <a:ea typeface="標楷體" pitchFamily="65" charset="-120"/>
              </a:rPr>
              <a:t>:CCTGCT</a:t>
            </a:r>
            <a:r>
              <a:rPr lang="en-US" altLang="zh-TW" sz="3200" dirty="0" smtClean="0"/>
              <a:t>–</a:t>
            </a:r>
            <a:r>
              <a:rPr lang="en-US" altLang="zh-TW" sz="3200" dirty="0" smtClean="0">
                <a:latin typeface="標楷體" pitchFamily="65" charset="-120"/>
                <a:ea typeface="標楷體" pitchFamily="65" charset="-120"/>
              </a:rPr>
              <a:t>GCAG</a:t>
            </a:r>
          </a:p>
          <a:p>
            <a:r>
              <a:rPr lang="en-US" altLang="zh-TW" sz="3200" dirty="0" smtClean="0">
                <a:latin typeface="標楷體" pitchFamily="65" charset="-120"/>
                <a:ea typeface="標楷體" pitchFamily="65" charset="-120"/>
              </a:rPr>
              <a:t>S</a:t>
            </a:r>
            <a:r>
              <a:rPr lang="en-US" altLang="zh-TW" sz="3200" baseline="-25000" dirty="0" smtClean="0">
                <a:latin typeface="標楷體" pitchFamily="65" charset="-120"/>
                <a:ea typeface="標楷體" pitchFamily="65" charset="-120"/>
              </a:rPr>
              <a:t>4</a:t>
            </a:r>
            <a:r>
              <a:rPr lang="en-US" altLang="zh-TW" sz="3200" dirty="0" smtClean="0">
                <a:latin typeface="標楷體" pitchFamily="65" charset="-120"/>
                <a:ea typeface="標楷體" pitchFamily="65" charset="-120"/>
              </a:rPr>
              <a:t>:CC</a:t>
            </a:r>
            <a:r>
              <a:rPr lang="en-US" altLang="zh-TW" sz="3200" dirty="0" smtClean="0"/>
              <a:t>–</a:t>
            </a:r>
            <a:r>
              <a:rPr lang="en-US" altLang="zh-TW" sz="3200" dirty="0" smtClean="0">
                <a:latin typeface="標楷體" pitchFamily="65" charset="-120"/>
                <a:ea typeface="標楷體" pitchFamily="65" charset="-120"/>
              </a:rPr>
              <a:t>GCTAGCAG</a:t>
            </a:r>
          </a:p>
          <a:p>
            <a:endParaRPr lang="en-US" altLang="zh-TW" sz="3200" dirty="0" smtClean="0">
              <a:latin typeface="標楷體" pitchFamily="65" charset="-120"/>
              <a:ea typeface="標楷體" pitchFamily="65" charset="-120"/>
            </a:endParaRPr>
          </a:p>
          <a:p>
            <a:r>
              <a:rPr lang="en-US" altLang="zh-TW" sz="3200" dirty="0" smtClean="0">
                <a:latin typeface="標楷體" pitchFamily="65" charset="-120"/>
                <a:ea typeface="標楷體" pitchFamily="65" charset="-120"/>
              </a:rPr>
              <a:t>S</a:t>
            </a:r>
            <a:r>
              <a:rPr lang="en-US" altLang="zh-TW" sz="3200" baseline="-25000" dirty="0" smtClean="0">
                <a:latin typeface="標楷體" pitchFamily="65" charset="-120"/>
                <a:ea typeface="標楷體" pitchFamily="65" charset="-120"/>
              </a:rPr>
              <a:t>1</a:t>
            </a:r>
            <a:r>
              <a:rPr lang="en-US" altLang="zh-TW" sz="3200" dirty="0" smtClean="0">
                <a:latin typeface="標楷體" pitchFamily="65" charset="-120"/>
                <a:ea typeface="標楷體" pitchFamily="65" charset="-120"/>
              </a:rPr>
              <a:t>:CCTGCT</a:t>
            </a:r>
            <a:r>
              <a:rPr lang="en-US" altLang="zh-TW" sz="3200" dirty="0" smtClean="0"/>
              <a:t>–</a:t>
            </a:r>
            <a:r>
              <a:rPr lang="en-US" altLang="zh-TW" sz="3200" dirty="0" smtClean="0">
                <a:latin typeface="標楷體" pitchFamily="65" charset="-120"/>
                <a:ea typeface="標楷體" pitchFamily="65" charset="-120"/>
              </a:rPr>
              <a:t>GCAG</a:t>
            </a:r>
          </a:p>
          <a:p>
            <a:r>
              <a:rPr lang="en-US" altLang="zh-TW" sz="3200" dirty="0" smtClean="0">
                <a:latin typeface="標楷體" pitchFamily="65" charset="-120"/>
                <a:ea typeface="標楷體" pitchFamily="65" charset="-120"/>
              </a:rPr>
              <a:t>S</a:t>
            </a:r>
            <a:r>
              <a:rPr lang="en-US" altLang="zh-TW" sz="3200" baseline="-25000" dirty="0" smtClean="0">
                <a:latin typeface="標楷體" pitchFamily="65" charset="-120"/>
                <a:ea typeface="標楷體" pitchFamily="65" charset="-120"/>
              </a:rPr>
              <a:t>5</a:t>
            </a:r>
            <a:r>
              <a:rPr lang="en-US" altLang="zh-TW" sz="3200" dirty="0" smtClean="0">
                <a:latin typeface="標楷體" pitchFamily="65" charset="-120"/>
                <a:ea typeface="標楷體" pitchFamily="65" charset="-120"/>
              </a:rPr>
              <a:t>:CCTG</a:t>
            </a:r>
            <a:r>
              <a:rPr lang="en-US" altLang="zh-TW" sz="3200" dirty="0" smtClean="0"/>
              <a:t>–</a:t>
            </a:r>
            <a:r>
              <a:rPr lang="en-US" altLang="zh-TW" sz="3200" dirty="0" smtClean="0">
                <a:latin typeface="標楷體" pitchFamily="65" charset="-120"/>
                <a:ea typeface="標楷體" pitchFamily="65" charset="-120"/>
              </a:rPr>
              <a:t>TAG</a:t>
            </a:r>
            <a:r>
              <a:rPr lang="en-US" altLang="zh-TW" sz="3200" dirty="0" smtClean="0"/>
              <a:t>––</a:t>
            </a:r>
            <a:r>
              <a:rPr lang="en-US" altLang="zh-TW" sz="3200" dirty="0" smtClean="0">
                <a:latin typeface="標楷體" pitchFamily="65" charset="-120"/>
                <a:ea typeface="標楷體" pitchFamily="65" charset="-120"/>
              </a:rPr>
              <a:t>G</a:t>
            </a:r>
            <a:endParaRPr lang="zh-TW" altLang="en-US" sz="3200" dirty="0">
              <a:latin typeface="標楷體" pitchFamily="65" charset="-120"/>
              <a:ea typeface="標楷體" pitchFamily="65" charset="-120"/>
            </a:endParaRPr>
          </a:p>
        </p:txBody>
      </p:sp>
      <p:sp>
        <p:nvSpPr>
          <p:cNvPr id="6" name="文字方塊 5"/>
          <p:cNvSpPr txBox="1"/>
          <p:nvPr/>
        </p:nvSpPr>
        <p:spPr>
          <a:xfrm>
            <a:off x="4929190" y="2071678"/>
            <a:ext cx="3057247" cy="2554545"/>
          </a:xfrm>
          <a:prstGeom prst="rect">
            <a:avLst/>
          </a:prstGeom>
          <a:noFill/>
        </p:spPr>
        <p:txBody>
          <a:bodyPr wrap="none" rtlCol="0">
            <a:spAutoFit/>
          </a:bodyPr>
          <a:lstStyle/>
          <a:p>
            <a:r>
              <a:rPr lang="en-US" altLang="zh-TW" sz="3200" dirty="0" smtClean="0">
                <a:latin typeface="標楷體" pitchFamily="65" charset="-120"/>
                <a:ea typeface="標楷體" pitchFamily="65" charset="-120"/>
                <a:cs typeface="Times New Roman" pitchFamily="18" charset="0"/>
              </a:rPr>
              <a:t>S1:CCTGCT</a:t>
            </a:r>
            <a:r>
              <a:rPr lang="en-US" altLang="zh-TW" sz="3200" dirty="0" smtClean="0"/>
              <a:t>–</a:t>
            </a:r>
            <a:r>
              <a:rPr lang="en-US" altLang="zh-TW" sz="3200" dirty="0" smtClean="0">
                <a:latin typeface="標楷體" pitchFamily="65" charset="-120"/>
                <a:ea typeface="標楷體" pitchFamily="65" charset="-120"/>
                <a:cs typeface="Times New Roman" pitchFamily="18" charset="0"/>
              </a:rPr>
              <a:t>GCAG</a:t>
            </a:r>
          </a:p>
          <a:p>
            <a:r>
              <a:rPr lang="en-US" altLang="zh-TW" sz="3200" dirty="0" smtClean="0">
                <a:latin typeface="標楷體" pitchFamily="65" charset="-120"/>
                <a:ea typeface="標楷體" pitchFamily="65" charset="-120"/>
                <a:cs typeface="Times New Roman" pitchFamily="18" charset="0"/>
              </a:rPr>
              <a:t>S2:GATG</a:t>
            </a:r>
            <a:r>
              <a:rPr lang="en-US" altLang="zh-TW" sz="3200" dirty="0" smtClean="0"/>
              <a:t>–</a:t>
            </a:r>
            <a:r>
              <a:rPr lang="en-US" altLang="zh-TW" sz="3200" dirty="0" smtClean="0">
                <a:latin typeface="標楷體" pitchFamily="65" charset="-120"/>
                <a:ea typeface="標楷體" pitchFamily="65" charset="-120"/>
                <a:cs typeface="Times New Roman" pitchFamily="18" charset="0"/>
              </a:rPr>
              <a:t>T</a:t>
            </a:r>
            <a:r>
              <a:rPr lang="en-US" altLang="zh-TW" sz="3200" dirty="0" smtClean="0"/>
              <a:t>–</a:t>
            </a:r>
            <a:r>
              <a:rPr lang="en-US" altLang="zh-TW" sz="3200" dirty="0" smtClean="0">
                <a:latin typeface="標楷體" pitchFamily="65" charset="-120"/>
                <a:ea typeface="標楷體" pitchFamily="65" charset="-120"/>
                <a:cs typeface="Times New Roman" pitchFamily="18" charset="0"/>
              </a:rPr>
              <a:t>GCCG</a:t>
            </a:r>
          </a:p>
          <a:p>
            <a:r>
              <a:rPr lang="en-US" altLang="zh-TW" sz="3200" dirty="0" smtClean="0">
                <a:latin typeface="標楷體" pitchFamily="65" charset="-120"/>
                <a:ea typeface="標楷體" pitchFamily="65" charset="-120"/>
                <a:cs typeface="Times New Roman" pitchFamily="18" charset="0"/>
              </a:rPr>
              <a:t>S3:GATG</a:t>
            </a:r>
            <a:r>
              <a:rPr lang="en-US" altLang="zh-TW" sz="3200" dirty="0" smtClean="0"/>
              <a:t>–</a:t>
            </a:r>
            <a:r>
              <a:rPr lang="en-US" altLang="zh-TW" sz="3200" dirty="0" smtClean="0">
                <a:latin typeface="標楷體" pitchFamily="65" charset="-120"/>
                <a:ea typeface="標楷體" pitchFamily="65" charset="-120"/>
                <a:cs typeface="Times New Roman" pitchFamily="18" charset="0"/>
              </a:rPr>
              <a:t>T</a:t>
            </a:r>
            <a:r>
              <a:rPr lang="en-US" altLang="zh-TW" sz="3200" dirty="0" smtClean="0"/>
              <a:t>–</a:t>
            </a:r>
            <a:r>
              <a:rPr lang="en-US" altLang="zh-TW" sz="3200" dirty="0" smtClean="0">
                <a:latin typeface="標楷體" pitchFamily="65" charset="-120"/>
                <a:ea typeface="標楷體" pitchFamily="65" charset="-120"/>
                <a:cs typeface="Times New Roman" pitchFamily="18" charset="0"/>
              </a:rPr>
              <a:t>GCAG</a:t>
            </a:r>
          </a:p>
          <a:p>
            <a:r>
              <a:rPr lang="en-US" altLang="zh-TW" sz="3200" dirty="0" smtClean="0">
                <a:latin typeface="標楷體" pitchFamily="65" charset="-120"/>
                <a:ea typeface="標楷體" pitchFamily="65" charset="-120"/>
                <a:cs typeface="Times New Roman" pitchFamily="18" charset="0"/>
              </a:rPr>
              <a:t>S4:CC</a:t>
            </a:r>
            <a:r>
              <a:rPr lang="en-US" altLang="zh-TW" sz="3200" dirty="0" smtClean="0"/>
              <a:t>–</a:t>
            </a:r>
            <a:r>
              <a:rPr lang="en-US" altLang="zh-TW" sz="3200" dirty="0" smtClean="0">
                <a:latin typeface="標楷體" pitchFamily="65" charset="-120"/>
                <a:ea typeface="標楷體" pitchFamily="65" charset="-120"/>
                <a:cs typeface="Times New Roman" pitchFamily="18" charset="0"/>
              </a:rPr>
              <a:t>GCTAGCAG</a:t>
            </a:r>
          </a:p>
          <a:p>
            <a:r>
              <a:rPr lang="en-US" altLang="zh-TW" sz="3200" dirty="0" smtClean="0">
                <a:latin typeface="標楷體" pitchFamily="65" charset="-120"/>
                <a:ea typeface="標楷體" pitchFamily="65" charset="-120"/>
                <a:cs typeface="Times New Roman" pitchFamily="18" charset="0"/>
              </a:rPr>
              <a:t>S5:CCTG</a:t>
            </a:r>
            <a:r>
              <a:rPr lang="en-US" altLang="zh-TW" sz="3200" dirty="0" smtClean="0"/>
              <a:t>–</a:t>
            </a:r>
            <a:r>
              <a:rPr lang="en-US" altLang="zh-TW" sz="3200" dirty="0" smtClean="0">
                <a:latin typeface="標楷體" pitchFamily="65" charset="-120"/>
                <a:ea typeface="標楷體" pitchFamily="65" charset="-120"/>
                <a:cs typeface="Times New Roman" pitchFamily="18" charset="0"/>
              </a:rPr>
              <a:t>TAG</a:t>
            </a:r>
            <a:r>
              <a:rPr lang="en-US" altLang="zh-TW" sz="3200" dirty="0" smtClean="0"/>
              <a:t>––</a:t>
            </a:r>
            <a:r>
              <a:rPr lang="en-US" altLang="zh-TW" sz="3200" dirty="0" smtClean="0">
                <a:latin typeface="標楷體" pitchFamily="65" charset="-120"/>
                <a:ea typeface="標楷體" pitchFamily="65" charset="-120"/>
                <a:cs typeface="Times New Roman" pitchFamily="18" charset="0"/>
              </a:rPr>
              <a:t>G</a:t>
            </a:r>
            <a:endParaRPr lang="zh-TW" altLang="en-US" sz="3200" dirty="0">
              <a:latin typeface="標楷體" pitchFamily="65" charset="-120"/>
              <a:ea typeface="標楷體" pitchFamily="65" charset="-120"/>
              <a:cs typeface="Times New Roman" pitchFamily="18" charset="0"/>
            </a:endParaRPr>
          </a:p>
        </p:txBody>
      </p:sp>
      <p:sp>
        <p:nvSpPr>
          <p:cNvPr id="7" name="文字方塊 6"/>
          <p:cNvSpPr txBox="1"/>
          <p:nvPr/>
        </p:nvSpPr>
        <p:spPr>
          <a:xfrm>
            <a:off x="5572132" y="285728"/>
            <a:ext cx="1305807" cy="584775"/>
          </a:xfrm>
          <a:prstGeom prst="rect">
            <a:avLst/>
          </a:prstGeom>
          <a:noFill/>
        </p:spPr>
        <p:txBody>
          <a:bodyPr wrap="none" rtlCol="0">
            <a:spAutoFit/>
          </a:bodyPr>
          <a:lstStyle/>
          <a:p>
            <a:r>
              <a:rPr lang="en-US" altLang="zh-TW" sz="3200" dirty="0" smtClean="0"/>
              <a:t>P: GTG</a:t>
            </a:r>
          </a:p>
        </p:txBody>
      </p:sp>
      <p:sp>
        <p:nvSpPr>
          <p:cNvPr id="8" name="矩形 7"/>
          <p:cNvSpPr/>
          <p:nvPr/>
        </p:nvSpPr>
        <p:spPr>
          <a:xfrm>
            <a:off x="6239857" y="2164988"/>
            <a:ext cx="207596" cy="2335582"/>
          </a:xfrm>
          <a:prstGeom prst="rect">
            <a:avLst/>
          </a:prstGeom>
          <a:noFill/>
          <a:ln>
            <a:solidFill>
              <a:srgbClr val="FF0000">
                <a:alpha val="75000"/>
              </a:srgb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6650420" y="2164988"/>
            <a:ext cx="207596" cy="2335582"/>
          </a:xfrm>
          <a:prstGeom prst="rect">
            <a:avLst/>
          </a:prstGeom>
          <a:noFill/>
          <a:ln>
            <a:solidFill>
              <a:srgbClr val="FF0000">
                <a:alpha val="75000"/>
              </a:srgb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7690489" y="2158568"/>
            <a:ext cx="207596" cy="2335582"/>
          </a:xfrm>
          <a:prstGeom prst="rect">
            <a:avLst/>
          </a:prstGeom>
          <a:noFill/>
          <a:ln>
            <a:solidFill>
              <a:srgbClr val="FF0000">
                <a:alpha val="75000"/>
              </a:srgb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Reducing the Space Complexity</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14</a:t>
            </a:fld>
            <a:endParaRPr lang="zh-TW" altLang="en-US"/>
          </a:p>
        </p:txBody>
      </p:sp>
      <p:pic>
        <p:nvPicPr>
          <p:cNvPr id="26626" name="Picture 2"/>
          <p:cNvPicPr>
            <a:picLocks noGrp="1" noChangeAspect="1" noChangeArrowheads="1"/>
          </p:cNvPicPr>
          <p:nvPr>
            <p:ph idx="1"/>
          </p:nvPr>
        </p:nvPicPr>
        <p:blipFill>
          <a:blip r:embed="rId2"/>
          <a:srcRect/>
          <a:stretch>
            <a:fillRect/>
          </a:stretch>
        </p:blipFill>
        <p:spPr bwMode="auto">
          <a:xfrm>
            <a:off x="500034" y="1857364"/>
            <a:ext cx="8229600" cy="646155"/>
          </a:xfrm>
          <a:prstGeom prst="rect">
            <a:avLst/>
          </a:prstGeom>
          <a:noFill/>
          <a:ln w="9525">
            <a:noFill/>
            <a:miter lim="800000"/>
            <a:headEnd/>
            <a:tailEnd/>
          </a:ln>
          <a:effectLst/>
        </p:spPr>
      </p:pic>
      <p:sp>
        <p:nvSpPr>
          <p:cNvPr id="6" name="文字方塊 5"/>
          <p:cNvSpPr txBox="1"/>
          <p:nvPr/>
        </p:nvSpPr>
        <p:spPr>
          <a:xfrm>
            <a:off x="571472" y="3429000"/>
            <a:ext cx="5214974" cy="1384995"/>
          </a:xfrm>
          <a:prstGeom prst="rect">
            <a:avLst/>
          </a:prstGeom>
          <a:noFill/>
        </p:spPr>
        <p:txBody>
          <a:bodyPr wrap="square" rtlCol="0">
            <a:spAutoFit/>
          </a:bodyPr>
          <a:lstStyle/>
          <a:p>
            <a:r>
              <a:rPr lang="en-US" altLang="zh-TW" sz="2800" dirty="0" smtClean="0"/>
              <a:t>O(</a:t>
            </a:r>
            <a:r>
              <a:rPr lang="en-US" altLang="zh-TW" sz="2800" i="1" dirty="0" smtClean="0">
                <a:latin typeface="Times New Roman" pitchFamily="18" charset="0"/>
                <a:cs typeface="Times New Roman" pitchFamily="18" charset="0"/>
              </a:rPr>
              <a:t>ln</a:t>
            </a:r>
            <a:r>
              <a:rPr lang="en-US" altLang="zh-TW" sz="2800" baseline="30000" dirty="0" smtClean="0"/>
              <a:t>2</a:t>
            </a:r>
            <a:r>
              <a:rPr lang="en-US" altLang="zh-TW" sz="2800" dirty="0" smtClean="0"/>
              <a:t>) time and O(</a:t>
            </a:r>
            <a:r>
              <a:rPr lang="en-US" altLang="zh-TW" sz="2800" i="1" dirty="0" smtClean="0">
                <a:latin typeface="Times New Roman" pitchFamily="18" charset="0"/>
                <a:cs typeface="Times New Roman" pitchFamily="18" charset="0"/>
              </a:rPr>
              <a:t>ln</a:t>
            </a:r>
            <a:r>
              <a:rPr lang="en-US" altLang="zh-TW" sz="2800" baseline="30000" dirty="0" smtClean="0">
                <a:latin typeface="Times New Roman" pitchFamily="18" charset="0"/>
                <a:cs typeface="Times New Roman" pitchFamily="18" charset="0"/>
              </a:rPr>
              <a:t>2</a:t>
            </a:r>
            <a:r>
              <a:rPr lang="en-US" altLang="zh-TW" sz="2800" dirty="0" smtClean="0"/>
              <a:t>) space</a:t>
            </a:r>
          </a:p>
          <a:p>
            <a:r>
              <a:rPr lang="en-US" altLang="zh-TW" sz="2800" dirty="0" smtClean="0"/>
              <a:t> </a:t>
            </a:r>
          </a:p>
          <a:p>
            <a:r>
              <a:rPr lang="en-US" altLang="zh-TW" sz="2800" dirty="0" smtClean="0"/>
              <a:t>O(</a:t>
            </a:r>
            <a:r>
              <a:rPr lang="en-US" altLang="zh-TW" sz="2800" i="1" dirty="0" smtClean="0">
                <a:latin typeface="Times New Roman" pitchFamily="18" charset="0"/>
                <a:cs typeface="Times New Roman" pitchFamily="18" charset="0"/>
              </a:rPr>
              <a:t>ln</a:t>
            </a:r>
            <a:r>
              <a:rPr lang="en-US" altLang="zh-TW" sz="2800" baseline="30000" dirty="0" smtClean="0"/>
              <a:t>2</a:t>
            </a:r>
            <a:r>
              <a:rPr lang="en-US" altLang="zh-TW" sz="2800" dirty="0" smtClean="0"/>
              <a:t>) time and O(</a:t>
            </a:r>
            <a:r>
              <a:rPr lang="en-US" altLang="zh-TW" sz="2800" i="1" dirty="0" err="1" smtClean="0">
                <a:solidFill>
                  <a:srgbClr val="FF0000"/>
                </a:solidFill>
                <a:latin typeface="Times New Roman" pitchFamily="18" charset="0"/>
                <a:cs typeface="Times New Roman" pitchFamily="18" charset="0"/>
              </a:rPr>
              <a:t>ln</a:t>
            </a:r>
            <a:r>
              <a:rPr lang="en-US" altLang="zh-TW" sz="2800" dirty="0" smtClean="0"/>
              <a:t>) space </a:t>
            </a:r>
            <a:endParaRPr lang="zh-TW"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 CSAP</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15</a:t>
            </a:fld>
            <a:endParaRPr lang="zh-TW" altLang="en-US"/>
          </a:p>
        </p:txBody>
      </p:sp>
      <p:pic>
        <p:nvPicPr>
          <p:cNvPr id="27650" name="Picture 2"/>
          <p:cNvPicPr>
            <a:picLocks noChangeAspect="1" noChangeArrowheads="1"/>
          </p:cNvPicPr>
          <p:nvPr/>
        </p:nvPicPr>
        <p:blipFill>
          <a:blip r:embed="rId2"/>
          <a:srcRect/>
          <a:stretch>
            <a:fillRect/>
          </a:stretch>
        </p:blipFill>
        <p:spPr bwMode="auto">
          <a:xfrm>
            <a:off x="571504" y="1500174"/>
            <a:ext cx="8001024" cy="37719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Reducing the Space Complexity</a:t>
            </a:r>
            <a:endParaRPr lang="zh-TW" altLang="en-US" dirty="0"/>
          </a:p>
        </p:txBody>
      </p:sp>
      <p:sp>
        <p:nvSpPr>
          <p:cNvPr id="3" name="內容版面配置區 2"/>
          <p:cNvSpPr>
            <a:spLocks noGrp="1"/>
          </p:cNvSpPr>
          <p:nvPr>
            <p:ph idx="1"/>
          </p:nvPr>
        </p:nvSpPr>
        <p:spPr/>
        <p:txBody>
          <a:bodyPr/>
          <a:lstStyle/>
          <a:p>
            <a:r>
              <a:rPr lang="en-US" altLang="zh-TW" dirty="0" smtClean="0"/>
              <a:t>Space complexity of the Center-star algorithm from O(</a:t>
            </a:r>
            <a:r>
              <a:rPr lang="en-US" altLang="zh-TW" i="1" dirty="0" smtClean="0">
                <a:latin typeface="Times New Roman" pitchFamily="18" charset="0"/>
                <a:cs typeface="Times New Roman" pitchFamily="18" charset="0"/>
              </a:rPr>
              <a:t>lk</a:t>
            </a:r>
            <a:r>
              <a:rPr lang="en-US" altLang="zh-TW" baseline="30000" dirty="0" smtClean="0"/>
              <a:t>2</a:t>
            </a:r>
            <a:r>
              <a:rPr lang="en-US" altLang="zh-TW" i="1" dirty="0" smtClean="0">
                <a:latin typeface="Times New Roman" pitchFamily="18" charset="0"/>
                <a:cs typeface="Times New Roman" pitchFamily="18" charset="0"/>
              </a:rPr>
              <a:t>n</a:t>
            </a:r>
            <a:r>
              <a:rPr lang="en-US" altLang="zh-TW" baseline="30000" dirty="0" smtClean="0"/>
              <a:t>2</a:t>
            </a:r>
            <a:r>
              <a:rPr lang="en-US" altLang="zh-TW" dirty="0" smtClean="0"/>
              <a:t>) to O(</a:t>
            </a:r>
            <a:r>
              <a:rPr lang="en-US" altLang="zh-TW" i="1" dirty="0" smtClean="0">
                <a:solidFill>
                  <a:srgbClr val="FF0000"/>
                </a:solidFill>
                <a:latin typeface="Times New Roman" pitchFamily="18" charset="0"/>
                <a:cs typeface="Times New Roman" pitchFamily="18" charset="0"/>
              </a:rPr>
              <a:t>lk</a:t>
            </a:r>
            <a:r>
              <a:rPr lang="en-US" altLang="zh-TW" baseline="30000" dirty="0" smtClean="0">
                <a:solidFill>
                  <a:srgbClr val="FF0000"/>
                </a:solidFill>
              </a:rPr>
              <a:t>2</a:t>
            </a:r>
            <a:r>
              <a:rPr lang="en-US" altLang="zh-TW" i="1" dirty="0" smtClean="0">
                <a:solidFill>
                  <a:srgbClr val="FF0000"/>
                </a:solidFill>
                <a:latin typeface="Times New Roman" pitchFamily="18" charset="0"/>
                <a:cs typeface="Times New Roman" pitchFamily="18" charset="0"/>
              </a:rPr>
              <a:t>n</a:t>
            </a:r>
            <a:r>
              <a:rPr lang="en-US" altLang="zh-TW" dirty="0" smtClean="0"/>
              <a:t>).</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73DA0BB7-265A-403C-9275-D587AB510EDC}" type="slidenum">
              <a:rPr lang="zh-TW" altLang="en-US" smtClean="0"/>
              <a:pPr/>
              <a:t>17</a:t>
            </a:fld>
            <a:endParaRPr lang="zh-TW" altLang="en-US"/>
          </a:p>
        </p:txBody>
      </p:sp>
      <p:sp>
        <p:nvSpPr>
          <p:cNvPr id="6" name="內容版面配置區 2"/>
          <p:cNvSpPr txBox="1">
            <a:spLocks/>
          </p:cNvSpPr>
          <p:nvPr/>
        </p:nvSpPr>
        <p:spPr>
          <a:xfrm>
            <a:off x="609600" y="1752600"/>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TW" sz="32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TW" sz="32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TW" sz="32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altLang="zh-TW" sz="3200" b="0" i="0" u="none" strike="noStrike" kern="1200" cap="none" spc="0" normalizeH="0" baseline="0" noProof="0" smtClean="0">
                <a:ln>
                  <a:noFill/>
                </a:ln>
                <a:solidFill>
                  <a:schemeClr val="tx1"/>
                </a:solidFill>
                <a:effectLst/>
                <a:uLnTx/>
                <a:uFillTx/>
                <a:latin typeface="+mn-lt"/>
                <a:ea typeface="+mn-ea"/>
                <a:cs typeface="+mn-cs"/>
              </a:rPr>
              <a:t>Thanks for listening</a:t>
            </a:r>
            <a:endParaRPr kumimoji="0" lang="zh-TW" alt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2009</TotalTime>
  <Words>458</Words>
  <PresentationFormat>如螢幕大小 (4:3)</PresentationFormat>
  <Paragraphs>181</Paragraphs>
  <Slides>17</Slides>
  <Notes>0</Notes>
  <HiddenSlides>0</HiddenSlides>
  <MMClips>0</MMClips>
  <ScaleCrop>false</ScaleCrop>
  <HeadingPairs>
    <vt:vector size="6" baseType="variant">
      <vt:variant>
        <vt:lpstr>佈景主題</vt:lpstr>
      </vt:variant>
      <vt:variant>
        <vt:i4>1</vt:i4>
      </vt:variant>
      <vt:variant>
        <vt:lpstr>內嵌 OLE 伺服程式</vt:lpstr>
      </vt:variant>
      <vt:variant>
        <vt:i4>2</vt:i4>
      </vt:variant>
      <vt:variant>
        <vt:lpstr>投影片標題</vt:lpstr>
      </vt:variant>
      <vt:variant>
        <vt:i4>17</vt:i4>
      </vt:variant>
    </vt:vector>
  </HeadingPairs>
  <TitlesOfParts>
    <vt:vector size="20" baseType="lpstr">
      <vt:lpstr>Office 佈景主題</vt:lpstr>
      <vt:lpstr>Microsoft Equation 3.0</vt:lpstr>
      <vt:lpstr>Equation</vt:lpstr>
      <vt:lpstr>Time and Space Efficient Algorithms for Constrained Sequence Alignment</vt:lpstr>
      <vt:lpstr>Abstract</vt:lpstr>
      <vt:lpstr>Sequence Alignment(SA)</vt:lpstr>
      <vt:lpstr>Constrained Sequence Alignment(CSA)</vt:lpstr>
      <vt:lpstr>Definitions</vt:lpstr>
      <vt:lpstr>Recursive Algorithm</vt:lpstr>
      <vt:lpstr>Chin et al.</vt:lpstr>
      <vt:lpstr>Formula</vt:lpstr>
      <vt:lpstr>Step 1</vt:lpstr>
      <vt:lpstr>Algorithm CSA runs in O(lmn)</vt:lpstr>
      <vt:lpstr>The center-star alignment approximation for CMSA</vt:lpstr>
      <vt:lpstr>投影片 12</vt:lpstr>
      <vt:lpstr>投影片 13</vt:lpstr>
      <vt:lpstr>Reducing the Space Complexity</vt:lpstr>
      <vt:lpstr>Algorithm CSAP</vt:lpstr>
      <vt:lpstr>Reducing the Space Complexity</vt:lpstr>
      <vt:lpstr>投影片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and Space Efficient Algorithms for Constrained Sequence Alignment</dc:title>
  <cp:lastModifiedBy>user</cp:lastModifiedBy>
  <cp:revision>175</cp:revision>
  <dcterms:modified xsi:type="dcterms:W3CDTF">2015-01-13T10:17:11Z</dcterms:modified>
</cp:coreProperties>
</file>