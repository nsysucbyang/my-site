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8" r:id="rId4"/>
    <p:sldId id="274" r:id="rId5"/>
    <p:sldId id="276" r:id="rId6"/>
    <p:sldId id="277" r:id="rId7"/>
    <p:sldId id="278" r:id="rId8"/>
    <p:sldId id="260" r:id="rId9"/>
    <p:sldId id="282" r:id="rId10"/>
    <p:sldId id="281" r:id="rId11"/>
    <p:sldId id="283" r:id="rId12"/>
    <p:sldId id="280" r:id="rId13"/>
    <p:sldId id="279" r:id="rId14"/>
    <p:sldId id="261" r:id="rId15"/>
    <p:sldId id="263" r:id="rId16"/>
    <p:sldId id="264" r:id="rId17"/>
    <p:sldId id="265" r:id="rId18"/>
    <p:sldId id="266" r:id="rId19"/>
    <p:sldId id="267" r:id="rId20"/>
    <p:sldId id="268" r:id="rId21"/>
    <p:sldId id="269" r:id="rId22"/>
    <p:sldId id="284" r:id="rId2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548" autoAdjust="0"/>
    <p:restoredTop sz="94424" autoAdjust="0"/>
  </p:normalViewPr>
  <p:slideViewPr>
    <p:cSldViewPr snapToGrid="0">
      <p:cViewPr>
        <p:scale>
          <a:sx n="100" d="100"/>
          <a:sy n="100" d="100"/>
        </p:scale>
        <p:origin x="444" y="-360"/>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A20AA0-97C0-4ABC-8C93-7B9F8690B7D6}" type="datetimeFigureOut">
              <a:rPr lang="zh-TW" altLang="en-US" smtClean="0"/>
              <a:t>2015/1/13</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5077AA-CF40-46AC-BE06-EAC77ECBBC42}" type="slidenum">
              <a:rPr lang="zh-TW" altLang="en-US" smtClean="0"/>
              <a:t>‹#›</a:t>
            </a:fld>
            <a:endParaRPr lang="zh-TW" altLang="en-US"/>
          </a:p>
        </p:txBody>
      </p:sp>
    </p:spTree>
    <p:extLst>
      <p:ext uri="{BB962C8B-B14F-4D97-AF65-F5344CB8AC3E}">
        <p14:creationId xmlns:p14="http://schemas.microsoft.com/office/powerpoint/2010/main" val="552081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30068AF-0EE9-47C4-8AA9-10FB371C69F4}" type="slidenum">
              <a:rPr lang="zh-TW" altLang="en-US" smtClean="0"/>
              <a:t>6</a:t>
            </a:fld>
            <a:endParaRPr lang="zh-TW" altLang="en-US"/>
          </a:p>
        </p:txBody>
      </p:sp>
    </p:spTree>
    <p:extLst>
      <p:ext uri="{BB962C8B-B14F-4D97-AF65-F5344CB8AC3E}">
        <p14:creationId xmlns:p14="http://schemas.microsoft.com/office/powerpoint/2010/main" val="224365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PSSM</a:t>
            </a:r>
            <a:r>
              <a:rPr lang="zh-TW" altLang="en-US" sz="1200" b="0" i="0" kern="1200" dirty="0" smtClean="0">
                <a:solidFill>
                  <a:schemeClr val="tx1"/>
                </a:solidFill>
                <a:effectLst/>
                <a:latin typeface="+mn-lt"/>
                <a:ea typeface="+mn-ea"/>
                <a:cs typeface="+mn-cs"/>
              </a:rPr>
              <a:t>位置加權矩陣 </a:t>
            </a:r>
            <a:endParaRPr lang="en-US" altLang="zh-TW" dirty="0" smtClean="0"/>
          </a:p>
          <a:p>
            <a:r>
              <a:rPr lang="en-US" altLang="zh-TW" dirty="0" smtClean="0"/>
              <a:t>Second</a:t>
            </a:r>
            <a:r>
              <a:rPr lang="en-US" altLang="zh-TW" baseline="0" dirty="0" smtClean="0"/>
              <a:t> </a:t>
            </a:r>
            <a:r>
              <a:rPr lang="en-US" altLang="zh-TW" dirty="0" smtClean="0"/>
              <a:t>structure</a:t>
            </a:r>
          </a:p>
          <a:p>
            <a:r>
              <a:rPr lang="en-US" altLang="zh-TW" dirty="0" smtClean="0"/>
              <a:t>Solvent</a:t>
            </a:r>
            <a:r>
              <a:rPr lang="en-US" altLang="zh-TW" baseline="0" dirty="0" smtClean="0"/>
              <a:t> accessibility</a:t>
            </a:r>
            <a:r>
              <a:rPr lang="zh-TW" altLang="en-US" sz="1200" b="0" i="0" kern="1200" dirty="0" smtClean="0">
                <a:solidFill>
                  <a:schemeClr val="tx1"/>
                </a:solidFill>
                <a:effectLst/>
                <a:latin typeface="+mn-lt"/>
                <a:ea typeface="+mn-ea"/>
                <a:cs typeface="+mn-cs"/>
              </a:rPr>
              <a:t>溶劑可接觸性</a:t>
            </a:r>
            <a:endParaRPr lang="en-US" altLang="zh-TW" sz="1200" b="0" i="0" kern="1200" dirty="0" smtClean="0">
              <a:solidFill>
                <a:schemeClr val="tx1"/>
              </a:solidFill>
              <a:effectLst/>
              <a:latin typeface="+mn-lt"/>
              <a:ea typeface="+mn-ea"/>
              <a:cs typeface="+mn-cs"/>
            </a:endParaRPr>
          </a:p>
          <a:p>
            <a:r>
              <a:rPr lang="en-US" altLang="zh-TW" dirty="0" smtClean="0"/>
              <a:t>Native</a:t>
            </a:r>
            <a:r>
              <a:rPr lang="en-US" altLang="zh-TW" baseline="0" dirty="0" smtClean="0"/>
              <a:t> </a:t>
            </a:r>
            <a:r>
              <a:rPr lang="en-US" altLang="zh-TW" dirty="0" smtClean="0"/>
              <a:t>disorder </a:t>
            </a:r>
            <a:r>
              <a:rPr lang="zh-TW" altLang="en-US" dirty="0" smtClean="0"/>
              <a:t>天然非穩定</a:t>
            </a:r>
          </a:p>
          <a:p>
            <a:endParaRPr lang="zh-TW" altLang="en-US" dirty="0"/>
          </a:p>
        </p:txBody>
      </p:sp>
      <p:sp>
        <p:nvSpPr>
          <p:cNvPr id="4" name="投影片編號版面配置區 3"/>
          <p:cNvSpPr>
            <a:spLocks noGrp="1"/>
          </p:cNvSpPr>
          <p:nvPr>
            <p:ph type="sldNum" sz="quarter" idx="10"/>
          </p:nvPr>
        </p:nvSpPr>
        <p:spPr/>
        <p:txBody>
          <a:bodyPr/>
          <a:lstStyle/>
          <a:p>
            <a:fld id="{F55077AA-CF40-46AC-BE06-EAC77ECBBC42}" type="slidenum">
              <a:rPr lang="zh-TW" altLang="en-US" smtClean="0"/>
              <a:t>8</a:t>
            </a:fld>
            <a:endParaRPr lang="zh-TW" altLang="en-US"/>
          </a:p>
        </p:txBody>
      </p:sp>
    </p:spTree>
    <p:extLst>
      <p:ext uri="{BB962C8B-B14F-4D97-AF65-F5344CB8AC3E}">
        <p14:creationId xmlns:p14="http://schemas.microsoft.com/office/powerpoint/2010/main" val="343358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20</a:t>
            </a:r>
            <a:r>
              <a:rPr lang="zh-TW" altLang="en-US" dirty="0" smtClean="0"/>
              <a:t>種胺基酸出現在第</a:t>
            </a:r>
            <a:r>
              <a:rPr lang="en-US" altLang="zh-TW" dirty="0" err="1" smtClean="0"/>
              <a:t>i</a:t>
            </a:r>
            <a:r>
              <a:rPr lang="zh-TW" altLang="en-US" dirty="0" smtClean="0"/>
              <a:t>個位置的可能得分</a:t>
            </a:r>
            <a:endParaRPr lang="zh-TW" altLang="en-US" dirty="0"/>
          </a:p>
        </p:txBody>
      </p:sp>
      <p:sp>
        <p:nvSpPr>
          <p:cNvPr id="4" name="投影片編號版面配置區 3"/>
          <p:cNvSpPr>
            <a:spLocks noGrp="1"/>
          </p:cNvSpPr>
          <p:nvPr>
            <p:ph type="sldNum" sz="quarter" idx="10"/>
          </p:nvPr>
        </p:nvSpPr>
        <p:spPr/>
        <p:txBody>
          <a:bodyPr/>
          <a:lstStyle/>
          <a:p>
            <a:fld id="{F55077AA-CF40-46AC-BE06-EAC77ECBBC42}" type="slidenum">
              <a:rPr lang="zh-TW" altLang="en-US" smtClean="0"/>
              <a:t>9</a:t>
            </a:fld>
            <a:endParaRPr lang="zh-TW" altLang="en-US"/>
          </a:p>
        </p:txBody>
      </p:sp>
    </p:spTree>
    <p:extLst>
      <p:ext uri="{BB962C8B-B14F-4D97-AF65-F5344CB8AC3E}">
        <p14:creationId xmlns:p14="http://schemas.microsoft.com/office/powerpoint/2010/main" val="9474242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穩定不穩定機率</a:t>
            </a:r>
            <a:endParaRPr lang="en-US" altLang="zh-TW" dirty="0" smtClean="0"/>
          </a:p>
        </p:txBody>
      </p:sp>
      <p:sp>
        <p:nvSpPr>
          <p:cNvPr id="4" name="投影片編號版面配置區 3"/>
          <p:cNvSpPr>
            <a:spLocks noGrp="1"/>
          </p:cNvSpPr>
          <p:nvPr>
            <p:ph type="sldNum" sz="quarter" idx="10"/>
          </p:nvPr>
        </p:nvSpPr>
        <p:spPr/>
        <p:txBody>
          <a:bodyPr/>
          <a:lstStyle/>
          <a:p>
            <a:fld id="{F55077AA-CF40-46AC-BE06-EAC77ECBBC42}" type="slidenum">
              <a:rPr lang="zh-TW" altLang="en-US" smtClean="0"/>
              <a:t>10</a:t>
            </a:fld>
            <a:endParaRPr lang="zh-TW" altLang="en-US"/>
          </a:p>
        </p:txBody>
      </p:sp>
    </p:spTree>
    <p:extLst>
      <p:ext uri="{BB962C8B-B14F-4D97-AF65-F5344CB8AC3E}">
        <p14:creationId xmlns:p14="http://schemas.microsoft.com/office/powerpoint/2010/main" val="3405763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對於蛋白質預測的頻率</a:t>
            </a:r>
            <a:endParaRPr lang="zh-TW" altLang="en-US" dirty="0"/>
          </a:p>
        </p:txBody>
      </p:sp>
      <p:sp>
        <p:nvSpPr>
          <p:cNvPr id="4" name="投影片編號版面配置區 3"/>
          <p:cNvSpPr>
            <a:spLocks noGrp="1"/>
          </p:cNvSpPr>
          <p:nvPr>
            <p:ph type="sldNum" sz="quarter" idx="10"/>
          </p:nvPr>
        </p:nvSpPr>
        <p:spPr/>
        <p:txBody>
          <a:bodyPr/>
          <a:lstStyle/>
          <a:p>
            <a:fld id="{F55077AA-CF40-46AC-BE06-EAC77ECBBC42}" type="slidenum">
              <a:rPr lang="zh-TW" altLang="en-US" smtClean="0"/>
              <a:t>11</a:t>
            </a:fld>
            <a:endParaRPr lang="zh-TW" altLang="en-US"/>
          </a:p>
        </p:txBody>
      </p:sp>
    </p:spTree>
    <p:extLst>
      <p:ext uri="{BB962C8B-B14F-4D97-AF65-F5344CB8AC3E}">
        <p14:creationId xmlns:p14="http://schemas.microsoft.com/office/powerpoint/2010/main" val="3300341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0C205A69-7ECB-4201-8997-E37476BCDA4C}" type="datetimeFigureOut">
              <a:rPr lang="zh-TW" altLang="en-US" smtClean="0"/>
              <a:t>2015/1/13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E21B21F-E35F-4302-8F22-67B903DF9F9E}" type="slidenum">
              <a:rPr lang="zh-TW" altLang="en-US" smtClean="0"/>
              <a:t>‹#›</a:t>
            </a:fld>
            <a:endParaRPr lang="zh-TW" altLang="en-US"/>
          </a:p>
        </p:txBody>
      </p:sp>
    </p:spTree>
    <p:extLst>
      <p:ext uri="{BB962C8B-B14F-4D97-AF65-F5344CB8AC3E}">
        <p14:creationId xmlns:p14="http://schemas.microsoft.com/office/powerpoint/2010/main" val="2164667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0C205A69-7ECB-4201-8997-E37476BCDA4C}" type="datetimeFigureOut">
              <a:rPr lang="zh-TW" altLang="en-US" smtClean="0"/>
              <a:t>2015/1/13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E21B21F-E35F-4302-8F22-67B903DF9F9E}" type="slidenum">
              <a:rPr lang="zh-TW" altLang="en-US" smtClean="0"/>
              <a:t>‹#›</a:t>
            </a:fld>
            <a:endParaRPr lang="zh-TW" altLang="en-US"/>
          </a:p>
        </p:txBody>
      </p:sp>
    </p:spTree>
    <p:extLst>
      <p:ext uri="{BB962C8B-B14F-4D97-AF65-F5344CB8AC3E}">
        <p14:creationId xmlns:p14="http://schemas.microsoft.com/office/powerpoint/2010/main" val="716035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0C205A69-7ECB-4201-8997-E37476BCDA4C}" type="datetimeFigureOut">
              <a:rPr lang="zh-TW" altLang="en-US" smtClean="0"/>
              <a:t>2015/1/13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E21B21F-E35F-4302-8F22-67B903DF9F9E}" type="slidenum">
              <a:rPr lang="zh-TW" altLang="en-US" smtClean="0"/>
              <a:t>‹#›</a:t>
            </a:fld>
            <a:endParaRPr lang="zh-TW" altLang="en-US"/>
          </a:p>
        </p:txBody>
      </p:sp>
    </p:spTree>
    <p:extLst>
      <p:ext uri="{BB962C8B-B14F-4D97-AF65-F5344CB8AC3E}">
        <p14:creationId xmlns:p14="http://schemas.microsoft.com/office/powerpoint/2010/main" val="3728795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0C205A69-7ECB-4201-8997-E37476BCDA4C}" type="datetimeFigureOut">
              <a:rPr lang="zh-TW" altLang="en-US" smtClean="0"/>
              <a:t>2015/1/13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E21B21F-E35F-4302-8F22-67B903DF9F9E}" type="slidenum">
              <a:rPr lang="zh-TW" altLang="en-US" smtClean="0"/>
              <a:t>‹#›</a:t>
            </a:fld>
            <a:endParaRPr lang="zh-TW" altLang="en-US"/>
          </a:p>
        </p:txBody>
      </p:sp>
    </p:spTree>
    <p:extLst>
      <p:ext uri="{BB962C8B-B14F-4D97-AF65-F5344CB8AC3E}">
        <p14:creationId xmlns:p14="http://schemas.microsoft.com/office/powerpoint/2010/main" val="2081628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0C205A69-7ECB-4201-8997-E37476BCDA4C}" type="datetimeFigureOut">
              <a:rPr lang="zh-TW" altLang="en-US" smtClean="0"/>
              <a:t>2015/1/13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FE21B21F-E35F-4302-8F22-67B903DF9F9E}" type="slidenum">
              <a:rPr lang="zh-TW" altLang="en-US" smtClean="0"/>
              <a:t>‹#›</a:t>
            </a:fld>
            <a:endParaRPr lang="zh-TW" altLang="en-US"/>
          </a:p>
        </p:txBody>
      </p:sp>
    </p:spTree>
    <p:extLst>
      <p:ext uri="{BB962C8B-B14F-4D97-AF65-F5344CB8AC3E}">
        <p14:creationId xmlns:p14="http://schemas.microsoft.com/office/powerpoint/2010/main" val="4192057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0C205A69-7ECB-4201-8997-E37476BCDA4C}" type="datetimeFigureOut">
              <a:rPr lang="zh-TW" altLang="en-US" smtClean="0"/>
              <a:t>2015/1/13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FE21B21F-E35F-4302-8F22-67B903DF9F9E}" type="slidenum">
              <a:rPr lang="zh-TW" altLang="en-US" smtClean="0"/>
              <a:t>‹#›</a:t>
            </a:fld>
            <a:endParaRPr lang="zh-TW" altLang="en-US"/>
          </a:p>
        </p:txBody>
      </p:sp>
    </p:spTree>
    <p:extLst>
      <p:ext uri="{BB962C8B-B14F-4D97-AF65-F5344CB8AC3E}">
        <p14:creationId xmlns:p14="http://schemas.microsoft.com/office/powerpoint/2010/main" val="4101986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205A69-7ECB-4201-8997-E37476BCDA4C}" type="datetimeFigureOut">
              <a:rPr lang="zh-TW" altLang="en-US" smtClean="0"/>
              <a:t>2015/1/13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FE21B21F-E35F-4302-8F22-67B903DF9F9E}" type="slidenum">
              <a:rPr lang="zh-TW" altLang="en-US" smtClean="0"/>
              <a:t>‹#›</a:t>
            </a:fld>
            <a:endParaRPr lang="zh-TW" altLang="en-US"/>
          </a:p>
        </p:txBody>
      </p:sp>
    </p:spTree>
    <p:extLst>
      <p:ext uri="{BB962C8B-B14F-4D97-AF65-F5344CB8AC3E}">
        <p14:creationId xmlns:p14="http://schemas.microsoft.com/office/powerpoint/2010/main" val="1103797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0C205A69-7ECB-4201-8997-E37476BCDA4C}" type="datetimeFigureOut">
              <a:rPr lang="zh-TW" altLang="en-US" smtClean="0"/>
              <a:t>2015/1/13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E21B21F-E35F-4302-8F22-67B903DF9F9E}" type="slidenum">
              <a:rPr lang="zh-TW" altLang="en-US" smtClean="0"/>
              <a:t>‹#›</a:t>
            </a:fld>
            <a:endParaRPr lang="zh-TW" altLang="en-US"/>
          </a:p>
        </p:txBody>
      </p:sp>
    </p:spTree>
    <p:extLst>
      <p:ext uri="{BB962C8B-B14F-4D97-AF65-F5344CB8AC3E}">
        <p14:creationId xmlns:p14="http://schemas.microsoft.com/office/powerpoint/2010/main" val="1086894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0C205A69-7ECB-4201-8997-E37476BCDA4C}" type="datetimeFigureOut">
              <a:rPr lang="zh-TW" altLang="en-US" smtClean="0"/>
              <a:t>2015/1/13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E21B21F-E35F-4302-8F22-67B903DF9F9E}" type="slidenum">
              <a:rPr lang="zh-TW" altLang="en-US" smtClean="0"/>
              <a:t>‹#›</a:t>
            </a:fld>
            <a:endParaRPr lang="zh-TW" altLang="en-US"/>
          </a:p>
        </p:txBody>
      </p:sp>
    </p:spTree>
    <p:extLst>
      <p:ext uri="{BB962C8B-B14F-4D97-AF65-F5344CB8AC3E}">
        <p14:creationId xmlns:p14="http://schemas.microsoft.com/office/powerpoint/2010/main" val="2190325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0C205A69-7ECB-4201-8997-E37476BCDA4C}" type="datetimeFigureOut">
              <a:rPr lang="zh-TW" altLang="en-US" smtClean="0"/>
              <a:t>2015/1/13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E21B21F-E35F-4302-8F22-67B903DF9F9E}" type="slidenum">
              <a:rPr lang="zh-TW" altLang="en-US" smtClean="0"/>
              <a:t>‹#›</a:t>
            </a:fld>
            <a:endParaRPr lang="zh-TW" altLang="en-US"/>
          </a:p>
        </p:txBody>
      </p:sp>
    </p:spTree>
    <p:extLst>
      <p:ext uri="{BB962C8B-B14F-4D97-AF65-F5344CB8AC3E}">
        <p14:creationId xmlns:p14="http://schemas.microsoft.com/office/powerpoint/2010/main" val="1453478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0C205A69-7ECB-4201-8997-E37476BCDA4C}" type="datetimeFigureOut">
              <a:rPr lang="zh-TW" altLang="en-US" smtClean="0"/>
              <a:t>2015/1/13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E21B21F-E35F-4302-8F22-67B903DF9F9E}" type="slidenum">
              <a:rPr lang="zh-TW" altLang="en-US" smtClean="0"/>
              <a:t>‹#›</a:t>
            </a:fld>
            <a:endParaRPr lang="zh-TW" altLang="en-US"/>
          </a:p>
        </p:txBody>
      </p:sp>
    </p:spTree>
    <p:extLst>
      <p:ext uri="{BB962C8B-B14F-4D97-AF65-F5344CB8AC3E}">
        <p14:creationId xmlns:p14="http://schemas.microsoft.com/office/powerpoint/2010/main" val="393007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205A69-7ECB-4201-8997-E37476BCDA4C}" type="datetimeFigureOut">
              <a:rPr lang="zh-TW" altLang="en-US" smtClean="0"/>
              <a:t>2015/1/13</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21B21F-E35F-4302-8F22-67B903DF9F9E}" type="slidenum">
              <a:rPr lang="zh-TW" altLang="en-US" smtClean="0"/>
              <a:t>‹#›</a:t>
            </a:fld>
            <a:endParaRPr lang="zh-TW" altLang="en-US"/>
          </a:p>
        </p:txBody>
      </p:sp>
    </p:spTree>
    <p:extLst>
      <p:ext uri="{BB962C8B-B14F-4D97-AF65-F5344CB8AC3E}">
        <p14:creationId xmlns:p14="http://schemas.microsoft.com/office/powerpoint/2010/main" val="16141783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unflower.kuicr.kyoto-u.ac.jp/~sjn/TANGLE/link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3200" b="1" dirty="0"/>
              <a:t>TANGLE: </a:t>
            </a:r>
            <a:r>
              <a:rPr lang="en-US" altLang="zh-TW" sz="3200" b="1" dirty="0" smtClean="0"/>
              <a:t>Two-Level </a:t>
            </a:r>
            <a:r>
              <a:rPr lang="en-US" altLang="zh-TW" sz="3200" b="1" dirty="0"/>
              <a:t>Support Vector Regression </a:t>
            </a:r>
            <a:r>
              <a:rPr lang="en-US" altLang="zh-TW" sz="3200" b="1" dirty="0" smtClean="0"/>
              <a:t>Approach for </a:t>
            </a:r>
            <a:r>
              <a:rPr lang="en-US" altLang="zh-TW" sz="3200" b="1" dirty="0"/>
              <a:t>Protein Backbone Torsion Angle Prediction </a:t>
            </a:r>
            <a:r>
              <a:rPr lang="en-US" altLang="zh-TW" sz="3200" b="1" dirty="0" smtClean="0"/>
              <a:t>from Primary </a:t>
            </a:r>
            <a:r>
              <a:rPr lang="en-US" altLang="zh-TW" sz="3200" b="1" dirty="0"/>
              <a:t>Sequences</a:t>
            </a:r>
            <a:endParaRPr lang="zh-TW" altLang="en-US" sz="3200" b="1" dirty="0"/>
          </a:p>
        </p:txBody>
      </p:sp>
      <p:sp>
        <p:nvSpPr>
          <p:cNvPr id="3" name="副標題 2"/>
          <p:cNvSpPr>
            <a:spLocks noGrp="1"/>
          </p:cNvSpPr>
          <p:nvPr>
            <p:ph type="subTitle" idx="1"/>
          </p:nvPr>
        </p:nvSpPr>
        <p:spPr/>
        <p:txBody>
          <a:bodyPr>
            <a:normAutofit fontScale="92500" lnSpcReduction="20000"/>
          </a:bodyPr>
          <a:lstStyle/>
          <a:p>
            <a:pPr algn="r"/>
            <a:r>
              <a:rPr lang="en-US" altLang="zh-TW" sz="2000" dirty="0" err="1"/>
              <a:t>Jiangning</a:t>
            </a:r>
            <a:r>
              <a:rPr lang="en-US" altLang="zh-TW" sz="2000" dirty="0"/>
              <a:t> Song, </a:t>
            </a:r>
            <a:r>
              <a:rPr lang="en-US" altLang="zh-TW" sz="2000" dirty="0" err="1"/>
              <a:t>Hao</a:t>
            </a:r>
            <a:r>
              <a:rPr lang="en-US" altLang="zh-TW" sz="2000" dirty="0"/>
              <a:t> Tan, </a:t>
            </a:r>
            <a:r>
              <a:rPr lang="en-US" altLang="zh-TW" sz="2000" dirty="0" err="1"/>
              <a:t>Mingjun</a:t>
            </a:r>
            <a:r>
              <a:rPr lang="en-US" altLang="zh-TW" sz="2000" dirty="0"/>
              <a:t> Wang,</a:t>
            </a:r>
          </a:p>
          <a:p>
            <a:pPr algn="r"/>
            <a:r>
              <a:rPr lang="en-US" altLang="zh-TW" sz="2000" dirty="0"/>
              <a:t> Geoffrey I. Webb, Tatsuya </a:t>
            </a:r>
            <a:r>
              <a:rPr lang="en-US" altLang="zh-TW" sz="2000" dirty="0" err="1" smtClean="0"/>
              <a:t>Akutsu</a:t>
            </a:r>
            <a:endParaRPr lang="en-US" altLang="zh-TW" sz="2000" dirty="0" smtClean="0"/>
          </a:p>
          <a:p>
            <a:pPr algn="r"/>
            <a:r>
              <a:rPr lang="en-US" altLang="zh-TW" sz="2000" dirty="0" err="1" smtClean="0"/>
              <a:t>PLoS</a:t>
            </a:r>
            <a:r>
              <a:rPr lang="en-US" altLang="zh-TW" sz="2000" dirty="0" smtClean="0"/>
              <a:t> </a:t>
            </a:r>
            <a:r>
              <a:rPr lang="en-US" altLang="zh-TW" sz="2000" dirty="0"/>
              <a:t>One 2012 2;7(2):e30361. </a:t>
            </a:r>
            <a:r>
              <a:rPr lang="en-US" altLang="zh-TW" sz="2000" dirty="0" err="1"/>
              <a:t>Epub</a:t>
            </a:r>
            <a:r>
              <a:rPr lang="en-US" altLang="zh-TW" sz="2000" dirty="0"/>
              <a:t> 2012 Feb 2</a:t>
            </a:r>
            <a:r>
              <a:rPr lang="en-US" altLang="zh-TW" sz="2000" dirty="0" smtClean="0"/>
              <a:t>.</a:t>
            </a:r>
          </a:p>
          <a:p>
            <a:pPr algn="r"/>
            <a:r>
              <a:rPr lang="en-US" altLang="zh-TW" sz="2000" dirty="0" smtClean="0"/>
              <a:t>Presenter: Ding-Yao Huang </a:t>
            </a:r>
          </a:p>
          <a:p>
            <a:pPr algn="r"/>
            <a:r>
              <a:rPr lang="en-US" altLang="zh-TW" sz="2000" dirty="0" smtClean="0"/>
              <a:t>Date:2015/01/13</a:t>
            </a:r>
          </a:p>
        </p:txBody>
      </p:sp>
    </p:spTree>
    <p:extLst>
      <p:ext uri="{BB962C8B-B14F-4D97-AF65-F5344CB8AC3E}">
        <p14:creationId xmlns:p14="http://schemas.microsoft.com/office/powerpoint/2010/main" val="27399922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Arial Rounded MT Bold" panose="020F0704030504030204" pitchFamily="34" charset="0"/>
                <a:ea typeface="Gungsuh" panose="02030600000101010101" pitchFamily="18" charset="-127"/>
              </a:rPr>
              <a:t>Abstract</a:t>
            </a:r>
            <a:endParaRPr lang="zh-TW" altLang="en-US" b="1" dirty="0">
              <a:latin typeface="Arial Rounded MT Bold" panose="020F0704030504030204" pitchFamily="34" charset="0"/>
            </a:endParaRPr>
          </a:p>
        </p:txBody>
      </p:sp>
      <p:sp>
        <p:nvSpPr>
          <p:cNvPr id="3" name="內容版面配置區 2"/>
          <p:cNvSpPr>
            <a:spLocks noGrp="1"/>
          </p:cNvSpPr>
          <p:nvPr>
            <p:ph idx="1"/>
          </p:nvPr>
        </p:nvSpPr>
        <p:spPr/>
        <p:txBody>
          <a:bodyPr>
            <a:noAutofit/>
          </a:bodyPr>
          <a:lstStyle/>
          <a:p>
            <a:pPr marL="0" indent="0">
              <a:buNone/>
            </a:pPr>
            <a:r>
              <a:rPr lang="en-US" altLang="zh-TW" sz="2000" dirty="0"/>
              <a:t>Protein backbone torsion angles (Phi) and (Psi) involve two rotation angles rotating around the Ca-N bond (Phi) and </a:t>
            </a:r>
            <a:r>
              <a:rPr lang="en-US" altLang="zh-TW" sz="2000" dirty="0" smtClean="0"/>
              <a:t>the Ca-C </a:t>
            </a:r>
            <a:r>
              <a:rPr lang="en-US" altLang="zh-TW" sz="2000" dirty="0"/>
              <a:t>bond (Psi). Due to the planarity of the linked rigid peptide bonds, these </a:t>
            </a:r>
            <a:r>
              <a:rPr lang="en-US" altLang="zh-TW" sz="2000" b="1" dirty="0"/>
              <a:t>two angles </a:t>
            </a:r>
            <a:r>
              <a:rPr lang="en-US" altLang="zh-TW" sz="2000" dirty="0"/>
              <a:t>can essentially determine </a:t>
            </a:r>
            <a:r>
              <a:rPr lang="en-US" altLang="zh-TW" sz="2000" dirty="0" smtClean="0"/>
              <a:t>the backbone </a:t>
            </a:r>
            <a:r>
              <a:rPr lang="en-US" altLang="zh-TW" sz="2000" dirty="0"/>
              <a:t>geometry of proteins. </a:t>
            </a:r>
            <a:endParaRPr lang="en-US" altLang="zh-TW" sz="2000" dirty="0" smtClean="0"/>
          </a:p>
          <a:p>
            <a:pPr marL="0" indent="0">
              <a:buNone/>
            </a:pPr>
            <a:r>
              <a:rPr lang="en-US" altLang="zh-TW" sz="2000" dirty="0" smtClean="0"/>
              <a:t>Accordingly</a:t>
            </a:r>
            <a:r>
              <a:rPr lang="en-US" altLang="zh-TW" sz="2000" dirty="0"/>
              <a:t>, the accurate prediction of protein backbone torsion angle from </a:t>
            </a:r>
            <a:r>
              <a:rPr lang="en-US" altLang="zh-TW" sz="2000" dirty="0" smtClean="0"/>
              <a:t>sequence information </a:t>
            </a:r>
            <a:r>
              <a:rPr lang="en-US" altLang="zh-TW" sz="2000" dirty="0"/>
              <a:t>can assist the prediction of protein structures. In this study, we develop a new approach called </a:t>
            </a:r>
            <a:r>
              <a:rPr lang="en-US" altLang="zh-TW" sz="2000" b="1" dirty="0"/>
              <a:t>TANGLE</a:t>
            </a:r>
            <a:r>
              <a:rPr lang="en-US" altLang="zh-TW" sz="2000" dirty="0"/>
              <a:t> (</a:t>
            </a:r>
            <a:r>
              <a:rPr lang="en-US" altLang="zh-TW" sz="2000" dirty="0" smtClean="0"/>
              <a:t>Torsion ANGLE </a:t>
            </a:r>
            <a:r>
              <a:rPr lang="en-US" altLang="zh-TW" sz="2000" dirty="0"/>
              <a:t>predictor) to predict the protein backbone torsion angles </a:t>
            </a:r>
            <a:r>
              <a:rPr lang="en-US" altLang="zh-TW" sz="2000" b="1" dirty="0"/>
              <a:t>from amino acid sequences. </a:t>
            </a:r>
            <a:endParaRPr lang="en-US" altLang="zh-TW" sz="2000" b="1" dirty="0" smtClean="0"/>
          </a:p>
          <a:p>
            <a:pPr marL="0" indent="0">
              <a:buNone/>
            </a:pPr>
            <a:r>
              <a:rPr lang="en-US" altLang="zh-TW" sz="2000" dirty="0" smtClean="0"/>
              <a:t>TANGLE </a:t>
            </a:r>
            <a:r>
              <a:rPr lang="en-US" altLang="zh-TW" sz="2000" dirty="0"/>
              <a:t>uses a </a:t>
            </a:r>
            <a:r>
              <a:rPr lang="en-US" altLang="zh-TW" sz="2000" b="1" dirty="0" smtClean="0"/>
              <a:t>two-level support </a:t>
            </a:r>
            <a:r>
              <a:rPr lang="en-US" altLang="zh-TW" sz="2000" b="1" dirty="0"/>
              <a:t>vector regression approach </a:t>
            </a:r>
            <a:r>
              <a:rPr lang="en-US" altLang="zh-TW" sz="2000" dirty="0"/>
              <a:t>to perform real-value torsion angle prediction using a variety of features derived </a:t>
            </a:r>
            <a:r>
              <a:rPr lang="en-US" altLang="zh-TW" sz="2000" dirty="0" smtClean="0"/>
              <a:t>from amino </a:t>
            </a:r>
            <a:r>
              <a:rPr lang="en-US" altLang="zh-TW" sz="2000" dirty="0"/>
              <a:t>acid sequences, including the evolutionary profiles in the form of </a:t>
            </a:r>
            <a:r>
              <a:rPr lang="en-US" altLang="zh-TW" sz="2000" b="1" dirty="0"/>
              <a:t>position-specific scoring matrices</a:t>
            </a:r>
            <a:r>
              <a:rPr lang="en-US" altLang="zh-TW" sz="2000" dirty="0"/>
              <a:t>, </a:t>
            </a:r>
            <a:r>
              <a:rPr lang="en-US" altLang="zh-TW" sz="2000" dirty="0" smtClean="0"/>
              <a:t>predicted </a:t>
            </a:r>
            <a:r>
              <a:rPr lang="en-US" altLang="zh-TW" sz="2000" b="1" dirty="0" smtClean="0"/>
              <a:t>secondary </a:t>
            </a:r>
            <a:r>
              <a:rPr lang="en-US" altLang="zh-TW" sz="2000" b="1" dirty="0"/>
              <a:t>structure</a:t>
            </a:r>
            <a:r>
              <a:rPr lang="en-US" altLang="zh-TW" sz="2000" dirty="0"/>
              <a:t>, </a:t>
            </a:r>
            <a:r>
              <a:rPr lang="en-US" altLang="zh-TW" sz="2000" b="1" dirty="0"/>
              <a:t>solvent accessibility </a:t>
            </a:r>
            <a:r>
              <a:rPr lang="en-US" altLang="zh-TW" sz="2000" dirty="0"/>
              <a:t>and </a:t>
            </a:r>
            <a:r>
              <a:rPr lang="en-US" altLang="zh-TW" sz="2000" b="1" dirty="0"/>
              <a:t>natively disordered region</a:t>
            </a:r>
            <a:r>
              <a:rPr lang="en-US" altLang="zh-TW" sz="2000" dirty="0"/>
              <a:t> as well as </a:t>
            </a:r>
            <a:r>
              <a:rPr lang="en-US" altLang="zh-TW" sz="2000" b="1" dirty="0"/>
              <a:t>other global sequence features</a:t>
            </a:r>
            <a:r>
              <a:rPr lang="en-US" altLang="zh-TW" sz="2000" dirty="0" smtClean="0"/>
              <a:t>.</a:t>
            </a:r>
          </a:p>
          <a:p>
            <a:pPr marL="0" indent="0">
              <a:buNone/>
            </a:pPr>
            <a:endParaRPr lang="en-US" altLang="zh-TW" sz="1600" b="1" dirty="0"/>
          </a:p>
        </p:txBody>
      </p:sp>
    </p:spTree>
    <p:extLst>
      <p:ext uri="{BB962C8B-B14F-4D97-AF65-F5344CB8AC3E}">
        <p14:creationId xmlns:p14="http://schemas.microsoft.com/office/powerpoint/2010/main" val="32861426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Arial Rounded MT Bold" panose="020F0704030504030204" pitchFamily="34" charset="0"/>
                <a:ea typeface="Gungsuh" panose="02030600000101010101" pitchFamily="18" charset="-127"/>
              </a:rPr>
              <a:t>Abstract</a:t>
            </a:r>
            <a:endParaRPr lang="zh-TW" altLang="en-US" dirty="0"/>
          </a:p>
        </p:txBody>
      </p:sp>
      <p:sp>
        <p:nvSpPr>
          <p:cNvPr id="3" name="內容版面配置區 2"/>
          <p:cNvSpPr>
            <a:spLocks noGrp="1"/>
          </p:cNvSpPr>
          <p:nvPr>
            <p:ph idx="1"/>
          </p:nvPr>
        </p:nvSpPr>
        <p:spPr/>
        <p:txBody>
          <a:bodyPr>
            <a:normAutofit fontScale="92500" lnSpcReduction="10000"/>
          </a:bodyPr>
          <a:lstStyle/>
          <a:p>
            <a:pPr marL="0" indent="0">
              <a:buNone/>
            </a:pPr>
            <a:r>
              <a:rPr lang="en-US" altLang="zh-TW" sz="2200" dirty="0"/>
              <a:t>When evaluated based on a large benchmark dataset of 1,526 non-homologous proteins, the mean absolute errors (MAEs) of the Phi and Psi angle prediction </a:t>
            </a:r>
            <a:r>
              <a:rPr lang="en-US" altLang="zh-TW" sz="2200" b="1" dirty="0"/>
              <a:t>are 27.8u and 44.6u</a:t>
            </a:r>
            <a:r>
              <a:rPr lang="en-US" altLang="zh-TW" sz="2200" dirty="0"/>
              <a:t>, respectively, which are 1% and 3% respectively lower than that using one of the state-of-the-art prediction tools ANGLOR. </a:t>
            </a:r>
            <a:endParaRPr lang="en-US" altLang="zh-TW" sz="2200" dirty="0" smtClean="0"/>
          </a:p>
          <a:p>
            <a:pPr marL="0" indent="0">
              <a:buNone/>
            </a:pPr>
            <a:r>
              <a:rPr lang="en-US" altLang="zh-TW" sz="2200" dirty="0" smtClean="0"/>
              <a:t>Moreover</a:t>
            </a:r>
            <a:r>
              <a:rPr lang="en-US" altLang="zh-TW" sz="2200" dirty="0"/>
              <a:t>, the prediction of TANGLE is significantly better than a random predictor that was built on the amino acid-specific basis, with the p-value,1.46e-147 and 7.97e-150, respectively by the Wilcoxon signed rank test. </a:t>
            </a:r>
          </a:p>
          <a:p>
            <a:pPr marL="0" indent="0">
              <a:buNone/>
            </a:pPr>
            <a:r>
              <a:rPr lang="en-US" altLang="zh-TW" sz="2200" dirty="0"/>
              <a:t>As a complementary approach to the current torsion angle prediction algorithms, TANGLE should prove useful in predicting protein structural properties and assisting protein fold recognition by applying the predicted torsion angles as useful restraints.</a:t>
            </a:r>
          </a:p>
          <a:p>
            <a:pPr marL="0" indent="0">
              <a:buNone/>
            </a:pPr>
            <a:r>
              <a:rPr lang="en-US" altLang="zh-TW" sz="2200" dirty="0"/>
              <a:t> </a:t>
            </a:r>
            <a:endParaRPr lang="en-US" altLang="zh-TW" sz="2200" dirty="0" smtClean="0"/>
          </a:p>
          <a:p>
            <a:pPr marL="0" indent="0">
              <a:buNone/>
            </a:pPr>
            <a:r>
              <a:rPr lang="en-US" altLang="zh-TW" sz="1900" dirty="0" smtClean="0"/>
              <a:t>TANGLE </a:t>
            </a:r>
            <a:r>
              <a:rPr lang="en-US" altLang="zh-TW" sz="1900" dirty="0"/>
              <a:t>is freely accessible at http://sunflower.kuicr.kyoto-u.ac.jp/,</a:t>
            </a:r>
            <a:r>
              <a:rPr lang="en-US" altLang="zh-TW" sz="1900" dirty="0" smtClean="0"/>
              <a:t>sjn/TANGLE</a:t>
            </a:r>
            <a:r>
              <a:rPr lang="en-US" altLang="zh-TW" sz="1900" dirty="0"/>
              <a:t>/.</a:t>
            </a:r>
            <a:endParaRPr lang="zh-TW" altLang="en-US" sz="1900" dirty="0"/>
          </a:p>
          <a:p>
            <a:endParaRPr lang="zh-TW" altLang="en-US" b="1" dirty="0"/>
          </a:p>
        </p:txBody>
      </p:sp>
    </p:spTree>
    <p:extLst>
      <p:ext uri="{BB962C8B-B14F-4D97-AF65-F5344CB8AC3E}">
        <p14:creationId xmlns:p14="http://schemas.microsoft.com/office/powerpoint/2010/main" val="38446058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Arial Rounded MT Bold" panose="020F0704030504030204" pitchFamily="34" charset="0"/>
              </a:rPr>
              <a:t>Introduction</a:t>
            </a:r>
            <a:endParaRPr lang="zh-TW" altLang="en-US"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2"/>
          <a:stretch>
            <a:fillRect/>
          </a:stretch>
        </p:blipFill>
        <p:spPr>
          <a:xfrm>
            <a:off x="628649" y="2097625"/>
            <a:ext cx="8236793" cy="2557501"/>
          </a:xfrm>
          <a:prstGeom prst="rect">
            <a:avLst/>
          </a:prstGeom>
        </p:spPr>
      </p:pic>
      <p:pic>
        <p:nvPicPr>
          <p:cNvPr id="5" name="圖片 4"/>
          <p:cNvPicPr>
            <a:picLocks noChangeAspect="1"/>
          </p:cNvPicPr>
          <p:nvPr/>
        </p:nvPicPr>
        <p:blipFill>
          <a:blip r:embed="rId3"/>
          <a:stretch>
            <a:fillRect/>
          </a:stretch>
        </p:blipFill>
        <p:spPr>
          <a:xfrm>
            <a:off x="2149013" y="4655126"/>
            <a:ext cx="4438650" cy="2009775"/>
          </a:xfrm>
          <a:prstGeom prst="rect">
            <a:avLst/>
          </a:prstGeom>
        </p:spPr>
      </p:pic>
      <p:sp>
        <p:nvSpPr>
          <p:cNvPr id="6" name="矩形 5"/>
          <p:cNvSpPr/>
          <p:nvPr/>
        </p:nvSpPr>
        <p:spPr>
          <a:xfrm>
            <a:off x="475708" y="1596851"/>
            <a:ext cx="3270792" cy="400110"/>
          </a:xfrm>
          <a:prstGeom prst="rect">
            <a:avLst/>
          </a:prstGeom>
        </p:spPr>
        <p:txBody>
          <a:bodyPr wrap="square">
            <a:spAutoFit/>
          </a:bodyPr>
          <a:lstStyle/>
          <a:p>
            <a:r>
              <a:rPr lang="en-US" altLang="zh-TW" sz="2000" dirty="0" smtClean="0">
                <a:latin typeface="Arial Rounded MT Bold" panose="020F0704030504030204" pitchFamily="34" charset="0"/>
              </a:rPr>
              <a:t>Secondary structure</a:t>
            </a:r>
            <a:endParaRPr lang="zh-TW" altLang="en-US" sz="2000" dirty="0"/>
          </a:p>
        </p:txBody>
      </p:sp>
      <p:grpSp>
        <p:nvGrpSpPr>
          <p:cNvPr id="19" name="群組 18"/>
          <p:cNvGrpSpPr/>
          <p:nvPr/>
        </p:nvGrpSpPr>
        <p:grpSpPr>
          <a:xfrm>
            <a:off x="1212186" y="4218710"/>
            <a:ext cx="2816888" cy="935530"/>
            <a:chOff x="1212186" y="4218710"/>
            <a:chExt cx="2816888" cy="935530"/>
          </a:xfrm>
        </p:grpSpPr>
        <p:cxnSp>
          <p:nvCxnSpPr>
            <p:cNvPr id="7" name="直線單箭頭接點 6"/>
            <p:cNvCxnSpPr/>
            <p:nvPr/>
          </p:nvCxnSpPr>
          <p:spPr>
            <a:xfrm flipV="1">
              <a:off x="1496291" y="4218710"/>
              <a:ext cx="433819" cy="633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1212186" y="4784908"/>
              <a:ext cx="501014" cy="369332"/>
            </a:xfrm>
            <a:prstGeom prst="rect">
              <a:avLst/>
            </a:prstGeom>
            <a:noFill/>
          </p:spPr>
          <p:txBody>
            <a:bodyPr wrap="square" rtlCol="0">
              <a:spAutoFit/>
            </a:bodyPr>
            <a:lstStyle/>
            <a:p>
              <a:r>
                <a:rPr lang="en-US" altLang="zh-TW" dirty="0" smtClean="0"/>
                <a:t>Phi</a:t>
              </a:r>
              <a:endParaRPr lang="zh-TW" altLang="en-US" dirty="0"/>
            </a:p>
          </p:txBody>
        </p:sp>
        <p:cxnSp>
          <p:nvCxnSpPr>
            <p:cNvPr id="11" name="直線單箭頭接點 10"/>
            <p:cNvCxnSpPr/>
            <p:nvPr/>
          </p:nvCxnSpPr>
          <p:spPr>
            <a:xfrm flipH="1" flipV="1">
              <a:off x="2317173" y="4218710"/>
              <a:ext cx="187036" cy="353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字方塊 11"/>
            <p:cNvSpPr txBox="1"/>
            <p:nvPr/>
          </p:nvSpPr>
          <p:spPr>
            <a:xfrm>
              <a:off x="2351075" y="4569175"/>
              <a:ext cx="501014" cy="369332"/>
            </a:xfrm>
            <a:prstGeom prst="rect">
              <a:avLst/>
            </a:prstGeom>
            <a:noFill/>
          </p:spPr>
          <p:txBody>
            <a:bodyPr wrap="square" rtlCol="0">
              <a:spAutoFit/>
            </a:bodyPr>
            <a:lstStyle/>
            <a:p>
              <a:r>
                <a:rPr lang="en-US" altLang="zh-TW" dirty="0" smtClean="0"/>
                <a:t>Psi</a:t>
              </a:r>
              <a:endParaRPr lang="zh-TW" altLang="en-US" dirty="0"/>
            </a:p>
          </p:txBody>
        </p:sp>
        <p:cxnSp>
          <p:nvCxnSpPr>
            <p:cNvPr id="16" name="直線單箭頭接點 15"/>
            <p:cNvCxnSpPr/>
            <p:nvPr/>
          </p:nvCxnSpPr>
          <p:spPr>
            <a:xfrm flipH="1" flipV="1">
              <a:off x="2852090" y="4286251"/>
              <a:ext cx="379482" cy="2337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字方塊 17"/>
            <p:cNvSpPr txBox="1"/>
            <p:nvPr/>
          </p:nvSpPr>
          <p:spPr>
            <a:xfrm>
              <a:off x="3142083" y="4495025"/>
              <a:ext cx="886991" cy="369332"/>
            </a:xfrm>
            <a:prstGeom prst="rect">
              <a:avLst/>
            </a:prstGeom>
            <a:noFill/>
          </p:spPr>
          <p:txBody>
            <a:bodyPr wrap="square" rtlCol="0">
              <a:spAutoFit/>
            </a:bodyPr>
            <a:lstStyle/>
            <a:p>
              <a:r>
                <a:rPr lang="en-US" altLang="zh-TW" dirty="0" smtClean="0"/>
                <a:t>Omega</a:t>
              </a:r>
              <a:endParaRPr lang="zh-TW" altLang="en-US" dirty="0"/>
            </a:p>
          </p:txBody>
        </p:sp>
      </p:grpSp>
    </p:spTree>
    <p:extLst>
      <p:ext uri="{BB962C8B-B14F-4D97-AF65-F5344CB8AC3E}">
        <p14:creationId xmlns:p14="http://schemas.microsoft.com/office/powerpoint/2010/main" val="36480554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Introduction </a:t>
            </a:r>
            <a:r>
              <a:rPr lang="en-US" altLang="zh-TW" sz="2400" b="1" dirty="0" smtClean="0">
                <a:latin typeface="Arial Rounded MT Bold" panose="020F0704030504030204" pitchFamily="34" charset="0"/>
              </a:rPr>
              <a:t>(Support Vector Regression)</a:t>
            </a:r>
            <a:endParaRPr lang="zh-TW" altLang="en-US" sz="2400" b="1" dirty="0">
              <a:latin typeface="Arial Rounded MT Bold" panose="020F0704030504030204" pitchFamily="34" charset="0"/>
            </a:endParaRPr>
          </a:p>
        </p:txBody>
      </p:sp>
      <p:pic>
        <p:nvPicPr>
          <p:cNvPr id="7" name="圖片 6"/>
          <p:cNvPicPr>
            <a:picLocks noChangeAspect="1"/>
          </p:cNvPicPr>
          <p:nvPr/>
        </p:nvPicPr>
        <p:blipFill>
          <a:blip r:embed="rId2"/>
          <a:stretch>
            <a:fillRect/>
          </a:stretch>
        </p:blipFill>
        <p:spPr>
          <a:xfrm>
            <a:off x="4787561" y="1690689"/>
            <a:ext cx="4008870" cy="2320925"/>
          </a:xfrm>
          <a:prstGeom prst="rect">
            <a:avLst/>
          </a:prstGeom>
        </p:spPr>
      </p:pic>
      <p:pic>
        <p:nvPicPr>
          <p:cNvPr id="10" name="圖片 9"/>
          <p:cNvPicPr>
            <a:picLocks noChangeAspect="1"/>
          </p:cNvPicPr>
          <p:nvPr/>
        </p:nvPicPr>
        <p:blipFill>
          <a:blip r:embed="rId3"/>
          <a:stretch>
            <a:fillRect/>
          </a:stretch>
        </p:blipFill>
        <p:spPr>
          <a:xfrm>
            <a:off x="256300" y="2919187"/>
            <a:ext cx="4531261" cy="1416695"/>
          </a:xfrm>
          <a:prstGeom prst="rect">
            <a:avLst/>
          </a:prstGeom>
        </p:spPr>
      </p:pic>
      <p:sp>
        <p:nvSpPr>
          <p:cNvPr id="12" name="文字方塊 11"/>
          <p:cNvSpPr txBox="1"/>
          <p:nvPr/>
        </p:nvSpPr>
        <p:spPr>
          <a:xfrm>
            <a:off x="454479" y="4829345"/>
            <a:ext cx="6033407" cy="1015663"/>
          </a:xfrm>
          <a:prstGeom prst="rect">
            <a:avLst/>
          </a:prstGeom>
          <a:noFill/>
        </p:spPr>
        <p:txBody>
          <a:bodyPr wrap="square" rtlCol="0">
            <a:spAutoFit/>
          </a:bodyPr>
          <a:lstStyle/>
          <a:p>
            <a:r>
              <a:rPr lang="en-US" altLang="zh-TW" sz="2000" dirty="0" smtClean="0">
                <a:latin typeface="+mj-ea"/>
                <a:ea typeface="+mj-ea"/>
              </a:rPr>
              <a:t>x</a:t>
            </a:r>
            <a:r>
              <a:rPr lang="en-US" altLang="zh-TW" sz="2000" baseline="-25000" dirty="0" smtClean="0">
                <a:latin typeface="+mj-ea"/>
                <a:ea typeface="+mj-ea"/>
              </a:rPr>
              <a:t>i</a:t>
            </a:r>
            <a:r>
              <a:rPr lang="en-US" altLang="zh-TW" sz="2000" dirty="0" smtClean="0">
                <a:latin typeface="+mj-ea"/>
                <a:ea typeface="+mj-ea"/>
              </a:rPr>
              <a:t> </a:t>
            </a:r>
            <a:r>
              <a:rPr lang="zh-TW" altLang="en-US" sz="2000" dirty="0" smtClean="0">
                <a:latin typeface="+mj-ea"/>
                <a:ea typeface="+mj-ea"/>
              </a:rPr>
              <a:t>是輸入向量，</a:t>
            </a:r>
            <a:r>
              <a:rPr lang="en-US" altLang="zh-TW" sz="2000" dirty="0" err="1" smtClean="0">
                <a:latin typeface="+mj-ea"/>
                <a:ea typeface="+mj-ea"/>
              </a:rPr>
              <a:t>y</a:t>
            </a:r>
            <a:r>
              <a:rPr lang="en-US" altLang="zh-TW" sz="2000" baseline="-25000" dirty="0" err="1" smtClean="0">
                <a:latin typeface="+mj-ea"/>
                <a:ea typeface="+mj-ea"/>
              </a:rPr>
              <a:t>i</a:t>
            </a:r>
            <a:r>
              <a:rPr lang="en-US" altLang="zh-TW" sz="2000" baseline="-25000" dirty="0" smtClean="0">
                <a:latin typeface="+mj-ea"/>
                <a:ea typeface="+mj-ea"/>
              </a:rPr>
              <a:t> </a:t>
            </a:r>
            <a:r>
              <a:rPr lang="zh-TW" altLang="en-US" sz="2000" baseline="-25000" dirty="0" smtClean="0">
                <a:latin typeface="+mj-ea"/>
                <a:ea typeface="+mj-ea"/>
              </a:rPr>
              <a:t> </a:t>
            </a:r>
            <a:r>
              <a:rPr lang="zh-TW" altLang="en-US" sz="2000" dirty="0" smtClean="0">
                <a:latin typeface="+mj-ea"/>
                <a:ea typeface="+mj-ea"/>
              </a:rPr>
              <a:t>是實際目標值</a:t>
            </a:r>
            <a:endParaRPr lang="en-US" altLang="zh-TW" sz="2000" dirty="0" smtClean="0">
              <a:latin typeface="+mj-ea"/>
              <a:ea typeface="+mj-ea"/>
            </a:endParaRPr>
          </a:p>
          <a:p>
            <a:r>
              <a:rPr lang="en-US" altLang="zh-TW" sz="2000" dirty="0" smtClean="0"/>
              <a:t>                 </a:t>
            </a:r>
          </a:p>
          <a:p>
            <a:r>
              <a:rPr lang="en-US" altLang="zh-TW" sz="2000" dirty="0"/>
              <a:t>	</a:t>
            </a:r>
            <a:r>
              <a:rPr lang="zh-TW" altLang="en-US" sz="2000" dirty="0" smtClean="0"/>
              <a:t>               </a:t>
            </a:r>
            <a:r>
              <a:rPr lang="en-US" altLang="zh-TW" sz="2000" dirty="0" smtClean="0"/>
              <a:t> </a:t>
            </a:r>
            <a:r>
              <a:rPr lang="zh-TW" altLang="en-US" sz="2000" dirty="0"/>
              <a:t>是經驗誤差風險</a:t>
            </a:r>
            <a:r>
              <a:rPr lang="en-US" altLang="zh-TW" sz="2000" dirty="0"/>
              <a:t>(empirical </a:t>
            </a:r>
            <a:r>
              <a:rPr lang="en-US" altLang="zh-TW" sz="2000" dirty="0" smtClean="0"/>
              <a:t>error </a:t>
            </a:r>
            <a:r>
              <a:rPr lang="en-US" altLang="zh-TW" sz="2000" dirty="0"/>
              <a:t>risk)      </a:t>
            </a:r>
            <a:endParaRPr lang="zh-TW" altLang="en-US" sz="2000" baseline="-25000" dirty="0"/>
          </a:p>
        </p:txBody>
      </p:sp>
      <p:pic>
        <p:nvPicPr>
          <p:cNvPr id="13" name="圖片 12"/>
          <p:cNvPicPr>
            <a:picLocks noChangeAspect="1"/>
          </p:cNvPicPr>
          <p:nvPr/>
        </p:nvPicPr>
        <p:blipFill>
          <a:blip r:embed="rId4"/>
          <a:stretch>
            <a:fillRect/>
          </a:stretch>
        </p:blipFill>
        <p:spPr>
          <a:xfrm>
            <a:off x="454479" y="1619592"/>
            <a:ext cx="2493612" cy="800701"/>
          </a:xfrm>
          <a:prstGeom prst="rect">
            <a:avLst/>
          </a:prstGeom>
        </p:spPr>
      </p:pic>
      <p:pic>
        <p:nvPicPr>
          <p:cNvPr id="15" name="圖片 14"/>
          <p:cNvPicPr>
            <a:picLocks noChangeAspect="1"/>
          </p:cNvPicPr>
          <p:nvPr/>
        </p:nvPicPr>
        <p:blipFill>
          <a:blip r:embed="rId5"/>
          <a:stretch>
            <a:fillRect/>
          </a:stretch>
        </p:blipFill>
        <p:spPr>
          <a:xfrm>
            <a:off x="454479" y="5337176"/>
            <a:ext cx="1695450" cy="619125"/>
          </a:xfrm>
          <a:prstGeom prst="rect">
            <a:avLst/>
          </a:prstGeom>
        </p:spPr>
      </p:pic>
    </p:spTree>
    <p:extLst>
      <p:ext uri="{BB962C8B-B14F-4D97-AF65-F5344CB8AC3E}">
        <p14:creationId xmlns:p14="http://schemas.microsoft.com/office/powerpoint/2010/main" val="7602330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Introduction </a:t>
            </a:r>
            <a:r>
              <a:rPr lang="en-US" altLang="zh-TW" sz="2400" b="1" dirty="0" smtClean="0">
                <a:latin typeface="Arial Rounded MT Bold" panose="020F0704030504030204" pitchFamily="34" charset="0"/>
              </a:rPr>
              <a:t>(Support Vector Regression)</a:t>
            </a:r>
            <a:endParaRPr lang="zh-TW" altLang="en-US" sz="2400" b="1" dirty="0">
              <a:latin typeface="Arial Rounded MT Bold" panose="020F0704030504030204" pitchFamily="34" charset="0"/>
            </a:endParaRPr>
          </a:p>
        </p:txBody>
      </p:sp>
      <p:pic>
        <p:nvPicPr>
          <p:cNvPr id="5" name="內容版面配置區 4"/>
          <p:cNvPicPr>
            <a:picLocks noGrp="1" noChangeAspect="1"/>
          </p:cNvPicPr>
          <p:nvPr>
            <p:ph idx="1"/>
          </p:nvPr>
        </p:nvPicPr>
        <p:blipFill>
          <a:blip r:embed="rId3"/>
          <a:stretch>
            <a:fillRect/>
          </a:stretch>
        </p:blipFill>
        <p:spPr>
          <a:xfrm>
            <a:off x="561068" y="5481862"/>
            <a:ext cx="7886700" cy="1376138"/>
          </a:xfrm>
          <a:prstGeom prst="rect">
            <a:avLst/>
          </a:prstGeom>
        </p:spPr>
      </p:pic>
      <p:pic>
        <p:nvPicPr>
          <p:cNvPr id="4" name="圖片 3"/>
          <p:cNvPicPr>
            <a:picLocks noChangeAspect="1"/>
          </p:cNvPicPr>
          <p:nvPr/>
        </p:nvPicPr>
        <p:blipFill>
          <a:blip r:embed="rId4"/>
          <a:stretch>
            <a:fillRect/>
          </a:stretch>
        </p:blipFill>
        <p:spPr>
          <a:xfrm>
            <a:off x="730250" y="3529398"/>
            <a:ext cx="2686050" cy="1809750"/>
          </a:xfrm>
          <a:prstGeom prst="rect">
            <a:avLst/>
          </a:prstGeom>
        </p:spPr>
      </p:pic>
      <p:pic>
        <p:nvPicPr>
          <p:cNvPr id="11" name="圖片 10"/>
          <p:cNvPicPr>
            <a:picLocks noChangeAspect="1"/>
          </p:cNvPicPr>
          <p:nvPr/>
        </p:nvPicPr>
        <p:blipFill>
          <a:blip r:embed="rId5"/>
          <a:stretch>
            <a:fillRect/>
          </a:stretch>
        </p:blipFill>
        <p:spPr>
          <a:xfrm>
            <a:off x="5086804" y="4434273"/>
            <a:ext cx="3360964" cy="464604"/>
          </a:xfrm>
          <a:prstGeom prst="rect">
            <a:avLst/>
          </a:prstGeom>
        </p:spPr>
      </p:pic>
      <p:pic>
        <p:nvPicPr>
          <p:cNvPr id="12" name="圖片 11"/>
          <p:cNvPicPr>
            <a:picLocks noChangeAspect="1"/>
          </p:cNvPicPr>
          <p:nvPr/>
        </p:nvPicPr>
        <p:blipFill>
          <a:blip r:embed="rId6"/>
          <a:stretch>
            <a:fillRect/>
          </a:stretch>
        </p:blipFill>
        <p:spPr>
          <a:xfrm>
            <a:off x="382577" y="1656885"/>
            <a:ext cx="4007768" cy="1795028"/>
          </a:xfrm>
          <a:prstGeom prst="rect">
            <a:avLst/>
          </a:prstGeom>
        </p:spPr>
      </p:pic>
      <p:cxnSp>
        <p:nvCxnSpPr>
          <p:cNvPr id="14" name="直線接點 13"/>
          <p:cNvCxnSpPr/>
          <p:nvPr/>
        </p:nvCxnSpPr>
        <p:spPr>
          <a:xfrm>
            <a:off x="561068" y="5448295"/>
            <a:ext cx="802186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31848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b="1" dirty="0">
                <a:latin typeface="Arial Rounded MT Bold" panose="020F0704030504030204" pitchFamily="34" charset="0"/>
              </a:rPr>
              <a:t>Support Vector Regression </a:t>
            </a:r>
            <a:r>
              <a:rPr lang="en-US" altLang="zh-TW" sz="2000" b="1" dirty="0" smtClean="0">
                <a:latin typeface="Arial Rounded MT Bold" panose="020F0704030504030204" pitchFamily="34" charset="0"/>
              </a:rPr>
              <a:t>(kernel function)</a:t>
            </a:r>
            <a:endParaRPr lang="zh-TW" altLang="en-US" sz="2400" b="1" dirty="0">
              <a:latin typeface="Arial Rounded MT Bold" panose="020F0704030504030204" pitchFamily="34" charset="0"/>
            </a:endParaRPr>
          </a:p>
        </p:txBody>
      </p:sp>
      <p:pic>
        <p:nvPicPr>
          <p:cNvPr id="6" name="圖片 5"/>
          <p:cNvPicPr>
            <a:picLocks noChangeAspect="1"/>
          </p:cNvPicPr>
          <p:nvPr/>
        </p:nvPicPr>
        <p:blipFill>
          <a:blip r:embed="rId2"/>
          <a:stretch>
            <a:fillRect/>
          </a:stretch>
        </p:blipFill>
        <p:spPr>
          <a:xfrm>
            <a:off x="416379" y="1997129"/>
            <a:ext cx="3545785" cy="812347"/>
          </a:xfrm>
          <a:prstGeom prst="rect">
            <a:avLst/>
          </a:prstGeom>
        </p:spPr>
      </p:pic>
      <p:pic>
        <p:nvPicPr>
          <p:cNvPr id="8" name="圖片 7"/>
          <p:cNvPicPr>
            <a:picLocks noChangeAspect="1"/>
          </p:cNvPicPr>
          <p:nvPr/>
        </p:nvPicPr>
        <p:blipFill>
          <a:blip r:embed="rId3"/>
          <a:stretch>
            <a:fillRect/>
          </a:stretch>
        </p:blipFill>
        <p:spPr>
          <a:xfrm>
            <a:off x="4702629" y="1997129"/>
            <a:ext cx="3385234" cy="776313"/>
          </a:xfrm>
          <a:prstGeom prst="rect">
            <a:avLst/>
          </a:prstGeom>
        </p:spPr>
      </p:pic>
      <p:sp>
        <p:nvSpPr>
          <p:cNvPr id="9" name="向右箭號 8"/>
          <p:cNvSpPr/>
          <p:nvPr/>
        </p:nvSpPr>
        <p:spPr>
          <a:xfrm>
            <a:off x="3860965" y="2308266"/>
            <a:ext cx="841664" cy="140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Rectangle 2"/>
          <p:cNvSpPr>
            <a:spLocks noChangeArrowheads="1"/>
          </p:cNvSpPr>
          <p:nvPr/>
        </p:nvSpPr>
        <p:spPr bwMode="auto">
          <a:xfrm>
            <a:off x="655292" y="3677507"/>
            <a:ext cx="550022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TW" altLang="zh-TW" sz="2000" b="0" i="0" u="none" strike="noStrike" cap="none" normalizeH="0" baseline="0" dirty="0" smtClean="0">
                <a:ln>
                  <a:noFill/>
                </a:ln>
                <a:solidFill>
                  <a:srgbClr val="000000"/>
                </a:solidFill>
                <a:effectLst/>
                <a:latin typeface="Arial Unicode MS" panose="020B0604020202020204" pitchFamily="34" charset="-120"/>
              </a:rPr>
              <a:t>linear: u'*v </a:t>
            </a:r>
            <a:endParaRPr kumimoji="0" lang="en-US" altLang="zh-TW" sz="2000" b="0" i="0" u="none" strike="noStrike" cap="none" normalizeH="0" baseline="0" dirty="0" smtClean="0">
              <a:ln>
                <a:noFill/>
              </a:ln>
              <a:solidFill>
                <a:srgbClr val="000000"/>
              </a:solidFill>
              <a:effectLst/>
              <a:latin typeface="Arial Unicode MS" panose="020B0604020202020204" pitchFamily="34" charset="-12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TW" altLang="zh-TW" sz="2000" b="0" i="0" u="none" strike="noStrike" cap="none" normalizeH="0" baseline="0" dirty="0" smtClean="0">
                <a:ln>
                  <a:noFill/>
                </a:ln>
                <a:solidFill>
                  <a:srgbClr val="000000"/>
                </a:solidFill>
                <a:effectLst/>
                <a:latin typeface="Arial Unicode MS" panose="020B0604020202020204" pitchFamily="34" charset="-120"/>
              </a:rPr>
              <a:t>polynomial: (gamma*u'*v + coef0)^degree</a:t>
            </a:r>
            <a:endParaRPr kumimoji="0" lang="en-US" altLang="zh-TW" sz="2000" b="0" i="0" u="none" strike="noStrike" cap="none" normalizeH="0" baseline="0" dirty="0" smtClean="0">
              <a:ln>
                <a:noFill/>
              </a:ln>
              <a:solidFill>
                <a:srgbClr val="000000"/>
              </a:solidFill>
              <a:effectLst/>
              <a:latin typeface="Arial Unicode MS" panose="020B0604020202020204" pitchFamily="34" charset="-12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TW" altLang="zh-TW" sz="2000" b="0" i="0" u="none" strike="noStrike" cap="none" normalizeH="0" baseline="0" dirty="0" smtClean="0">
                <a:ln>
                  <a:noFill/>
                </a:ln>
                <a:solidFill>
                  <a:srgbClr val="000000"/>
                </a:solidFill>
                <a:effectLst/>
                <a:latin typeface="Arial Unicode MS" panose="020B0604020202020204" pitchFamily="34" charset="-120"/>
              </a:rPr>
              <a:t>radial basis function: exp(-gamma*|u-v|^2) </a:t>
            </a:r>
            <a:endParaRPr kumimoji="0" lang="en-US" altLang="zh-TW" sz="2000" b="0" i="0" u="none" strike="noStrike" cap="none" normalizeH="0" baseline="0" dirty="0" smtClean="0">
              <a:ln>
                <a:noFill/>
              </a:ln>
              <a:solidFill>
                <a:srgbClr val="000000"/>
              </a:solidFill>
              <a:effectLst/>
              <a:latin typeface="Arial Unicode MS" panose="020B0604020202020204" pitchFamily="34" charset="-12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TW" altLang="zh-TW" sz="2000" b="0" i="0" u="none" strike="noStrike" cap="none" normalizeH="0" baseline="0" dirty="0" smtClean="0">
                <a:ln>
                  <a:noFill/>
                </a:ln>
                <a:solidFill>
                  <a:srgbClr val="000000"/>
                </a:solidFill>
                <a:effectLst/>
                <a:latin typeface="Arial Unicode MS" panose="020B0604020202020204" pitchFamily="34" charset="-120"/>
              </a:rPr>
              <a:t>sigmoid: tanh(gamma*u'*v + coef0)</a:t>
            </a:r>
            <a:r>
              <a:rPr kumimoji="0" lang="zh-TW" altLang="zh-TW" sz="1600" b="0" i="0" u="none" strike="noStrike" cap="none" normalizeH="0" baseline="0" dirty="0" smtClean="0">
                <a:ln>
                  <a:noFill/>
                </a:ln>
                <a:solidFill>
                  <a:schemeClr val="tx1"/>
                </a:solidFill>
                <a:effectLst/>
              </a:rPr>
              <a:t> </a:t>
            </a:r>
            <a:endParaRPr kumimoji="0" lang="zh-TW" altLang="zh-TW" sz="4400" b="0" i="0" u="none" strike="noStrike" cap="none" normalizeH="0" baseline="0" dirty="0" smtClean="0">
              <a:ln>
                <a:noFill/>
              </a:ln>
              <a:solidFill>
                <a:schemeClr val="tx1"/>
              </a:solidFill>
              <a:effectLst/>
              <a:latin typeface="Arial" panose="020B0604020202020204" pitchFamily="34" charset="0"/>
            </a:endParaRPr>
          </a:p>
        </p:txBody>
      </p:sp>
      <p:sp>
        <p:nvSpPr>
          <p:cNvPr id="12" name="文字方塊 11"/>
          <p:cNvSpPr txBox="1"/>
          <p:nvPr/>
        </p:nvSpPr>
        <p:spPr>
          <a:xfrm>
            <a:off x="628650" y="3204131"/>
            <a:ext cx="2593521" cy="369332"/>
          </a:xfrm>
          <a:prstGeom prst="rect">
            <a:avLst/>
          </a:prstGeom>
          <a:noFill/>
        </p:spPr>
        <p:txBody>
          <a:bodyPr wrap="square" rtlCol="0">
            <a:spAutoFit/>
          </a:bodyPr>
          <a:lstStyle/>
          <a:p>
            <a:r>
              <a:rPr lang="en-US" altLang="zh-TW" b="1" dirty="0">
                <a:latin typeface="Arial Rounded MT Bold" panose="020F0704030504030204" pitchFamily="34" charset="0"/>
              </a:rPr>
              <a:t>kernel function</a:t>
            </a:r>
            <a:endParaRPr lang="zh-TW" altLang="en-US" dirty="0"/>
          </a:p>
        </p:txBody>
      </p:sp>
      <p:cxnSp>
        <p:nvCxnSpPr>
          <p:cNvPr id="10" name="直線單箭頭接點 9"/>
          <p:cNvCxnSpPr/>
          <p:nvPr/>
        </p:nvCxnSpPr>
        <p:spPr>
          <a:xfrm>
            <a:off x="1895707" y="1851102"/>
            <a:ext cx="223025" cy="345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225667" y="1425401"/>
            <a:ext cx="7270595" cy="369332"/>
          </a:xfrm>
          <a:prstGeom prst="rect">
            <a:avLst/>
          </a:prstGeom>
          <a:noFill/>
        </p:spPr>
        <p:txBody>
          <a:bodyPr wrap="square" rtlCol="0">
            <a:spAutoFit/>
          </a:bodyPr>
          <a:lstStyle/>
          <a:p>
            <a:r>
              <a:rPr lang="en-US" altLang="zh-TW" dirty="0"/>
              <a:t>Support Vector (</a:t>
            </a:r>
            <a:r>
              <a:rPr lang="el-GR" altLang="zh-TW" dirty="0"/>
              <a:t>α</a:t>
            </a:r>
            <a:r>
              <a:rPr lang="en-US" altLang="zh-TW" baseline="-25000" dirty="0" err="1"/>
              <a:t>i</a:t>
            </a:r>
            <a:r>
              <a:rPr lang="en-US" altLang="zh-TW" dirty="0"/>
              <a:t> − </a:t>
            </a:r>
            <a:r>
              <a:rPr lang="el-GR" altLang="zh-TW" dirty="0"/>
              <a:t>α</a:t>
            </a:r>
            <a:r>
              <a:rPr lang="en-US" altLang="zh-TW" baseline="-25000" dirty="0" err="1"/>
              <a:t>i</a:t>
            </a:r>
            <a:r>
              <a:rPr lang="en-US" altLang="zh-TW" baseline="30000" dirty="0"/>
              <a:t>∗</a:t>
            </a:r>
            <a:r>
              <a:rPr lang="en-US" altLang="zh-TW" dirty="0"/>
              <a:t> </a:t>
            </a:r>
            <a:r>
              <a:rPr lang="zh-TW" altLang="en-US" dirty="0"/>
              <a:t>不為零的 </a:t>
            </a:r>
            <a:r>
              <a:rPr lang="en-US" altLang="zh-TW" dirty="0"/>
              <a:t>instances) </a:t>
            </a:r>
            <a:r>
              <a:rPr lang="zh-TW" altLang="en-US" dirty="0"/>
              <a:t>的個數有關</a:t>
            </a:r>
          </a:p>
        </p:txBody>
      </p:sp>
    </p:spTree>
    <p:extLst>
      <p:ext uri="{BB962C8B-B14F-4D97-AF65-F5344CB8AC3E}">
        <p14:creationId xmlns:p14="http://schemas.microsoft.com/office/powerpoint/2010/main" val="38752513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86388" y="212143"/>
            <a:ext cx="7886700" cy="1325563"/>
          </a:xfrm>
        </p:spPr>
        <p:txBody>
          <a:bodyPr/>
          <a:lstStyle/>
          <a:p>
            <a:r>
              <a:rPr lang="en-US" altLang="zh-TW" dirty="0">
                <a:latin typeface="Arial Rounded MT Bold" panose="020F0704030504030204" pitchFamily="34" charset="0"/>
              </a:rPr>
              <a:t>Flow diagram of TANGLE</a:t>
            </a:r>
            <a:endParaRPr lang="zh-TW" altLang="en-US" dirty="0">
              <a:latin typeface="Arial Rounded MT Bold" panose="020F0704030504030204" pitchFamily="34" charset="0"/>
            </a:endParaRPr>
          </a:p>
        </p:txBody>
      </p:sp>
      <p:grpSp>
        <p:nvGrpSpPr>
          <p:cNvPr id="49" name="群組 48"/>
          <p:cNvGrpSpPr/>
          <p:nvPr/>
        </p:nvGrpSpPr>
        <p:grpSpPr>
          <a:xfrm>
            <a:off x="94389" y="1331660"/>
            <a:ext cx="8955221" cy="5432713"/>
            <a:chOff x="79641" y="1417385"/>
            <a:chExt cx="8955221" cy="5432713"/>
          </a:xfrm>
        </p:grpSpPr>
        <p:sp>
          <p:nvSpPr>
            <p:cNvPr id="3" name="圓角矩形 2"/>
            <p:cNvSpPr/>
            <p:nvPr/>
          </p:nvSpPr>
          <p:spPr>
            <a:xfrm>
              <a:off x="2745593" y="1417385"/>
              <a:ext cx="2105025" cy="45243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dirty="0" smtClean="0"/>
                <a:t>Protein sequence </a:t>
              </a:r>
              <a:endParaRPr lang="zh-TW" altLang="en-US" dirty="0"/>
            </a:p>
          </p:txBody>
        </p:sp>
        <p:sp>
          <p:nvSpPr>
            <p:cNvPr id="5" name="圓角矩形 4"/>
            <p:cNvSpPr/>
            <p:nvPr/>
          </p:nvSpPr>
          <p:spPr>
            <a:xfrm>
              <a:off x="79641" y="2088334"/>
              <a:ext cx="1147265" cy="441821"/>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dirty="0" smtClean="0"/>
                <a:t>PSI-BLAST </a:t>
              </a:r>
              <a:endParaRPr lang="zh-TW" altLang="en-US" dirty="0"/>
            </a:p>
          </p:txBody>
        </p:sp>
        <p:sp>
          <p:nvSpPr>
            <p:cNvPr id="6" name="圓角矩形 5"/>
            <p:cNvSpPr/>
            <p:nvPr/>
          </p:nvSpPr>
          <p:spPr>
            <a:xfrm>
              <a:off x="1590798" y="2088334"/>
              <a:ext cx="1013600" cy="45243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dirty="0" smtClean="0"/>
                <a:t>PSIPRED </a:t>
              </a:r>
              <a:endParaRPr lang="zh-TW" altLang="en-US" dirty="0"/>
            </a:p>
          </p:txBody>
        </p:sp>
        <p:sp>
          <p:nvSpPr>
            <p:cNvPr id="8" name="圓角矩形 7"/>
            <p:cNvSpPr/>
            <p:nvPr/>
          </p:nvSpPr>
          <p:spPr>
            <a:xfrm>
              <a:off x="3252969" y="2088334"/>
              <a:ext cx="1090275" cy="43857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dirty="0" smtClean="0"/>
                <a:t>SCRATCH</a:t>
              </a:r>
              <a:endParaRPr lang="zh-TW" altLang="en-US" dirty="0"/>
            </a:p>
          </p:txBody>
        </p:sp>
        <p:sp>
          <p:nvSpPr>
            <p:cNvPr id="9" name="圓角矩形 8"/>
            <p:cNvSpPr/>
            <p:nvPr/>
          </p:nvSpPr>
          <p:spPr>
            <a:xfrm>
              <a:off x="4802854" y="2098183"/>
              <a:ext cx="1561852" cy="45243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dirty="0" smtClean="0"/>
                <a:t>DISORDERED2</a:t>
              </a:r>
              <a:endParaRPr lang="zh-TW" altLang="en-US" dirty="0"/>
            </a:p>
          </p:txBody>
        </p:sp>
        <p:sp>
          <p:nvSpPr>
            <p:cNvPr id="10" name="矩形 9"/>
            <p:cNvSpPr/>
            <p:nvPr/>
          </p:nvSpPr>
          <p:spPr>
            <a:xfrm>
              <a:off x="180463" y="2908882"/>
              <a:ext cx="782354" cy="3616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PSSM</a:t>
              </a:r>
              <a:endParaRPr lang="zh-TW" altLang="en-US" dirty="0"/>
            </a:p>
          </p:txBody>
        </p:sp>
        <p:sp>
          <p:nvSpPr>
            <p:cNvPr id="11" name="矩形 10"/>
            <p:cNvSpPr/>
            <p:nvPr/>
          </p:nvSpPr>
          <p:spPr>
            <a:xfrm>
              <a:off x="1495080" y="2892658"/>
              <a:ext cx="1205036" cy="4977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Secondary</a:t>
              </a:r>
            </a:p>
            <a:p>
              <a:pPr algn="ctr"/>
              <a:r>
                <a:rPr lang="en-US" altLang="zh-TW" dirty="0" smtClean="0"/>
                <a:t>structure</a:t>
              </a:r>
              <a:endParaRPr lang="zh-TW" altLang="en-US" dirty="0"/>
            </a:p>
          </p:txBody>
        </p:sp>
        <p:sp>
          <p:nvSpPr>
            <p:cNvPr id="12" name="矩形 11"/>
            <p:cNvSpPr/>
            <p:nvPr/>
          </p:nvSpPr>
          <p:spPr>
            <a:xfrm>
              <a:off x="3146001" y="2926437"/>
              <a:ext cx="1304212" cy="4925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Solvent</a:t>
              </a:r>
            </a:p>
            <a:p>
              <a:pPr algn="ctr"/>
              <a:r>
                <a:rPr lang="en-US" altLang="zh-TW" dirty="0" smtClean="0"/>
                <a:t>accessibility</a:t>
              </a:r>
              <a:endParaRPr lang="zh-TW" altLang="en-US" dirty="0"/>
            </a:p>
          </p:txBody>
        </p:sp>
        <p:sp>
          <p:nvSpPr>
            <p:cNvPr id="13" name="矩形 12"/>
            <p:cNvSpPr/>
            <p:nvPr/>
          </p:nvSpPr>
          <p:spPr>
            <a:xfrm>
              <a:off x="4896098" y="2908882"/>
              <a:ext cx="1059719" cy="4925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Native</a:t>
              </a:r>
            </a:p>
            <a:p>
              <a:pPr algn="ctr"/>
              <a:r>
                <a:rPr lang="en-US" altLang="zh-TW" dirty="0" smtClean="0"/>
                <a:t>disorder</a:t>
              </a:r>
              <a:endParaRPr lang="zh-TW" altLang="en-US" dirty="0"/>
            </a:p>
          </p:txBody>
        </p:sp>
        <p:sp>
          <p:nvSpPr>
            <p:cNvPr id="14" name="矩形 13"/>
            <p:cNvSpPr/>
            <p:nvPr/>
          </p:nvSpPr>
          <p:spPr>
            <a:xfrm>
              <a:off x="6559817" y="2892658"/>
              <a:ext cx="1148600" cy="5096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Sequence</a:t>
              </a:r>
            </a:p>
            <a:p>
              <a:pPr algn="ctr"/>
              <a:r>
                <a:rPr lang="en-US" altLang="zh-TW" dirty="0" smtClean="0"/>
                <a:t>length</a:t>
              </a:r>
              <a:endParaRPr lang="zh-TW" altLang="en-US" dirty="0"/>
            </a:p>
          </p:txBody>
        </p:sp>
        <p:sp>
          <p:nvSpPr>
            <p:cNvPr id="15" name="矩形 14"/>
            <p:cNvSpPr/>
            <p:nvPr/>
          </p:nvSpPr>
          <p:spPr>
            <a:xfrm>
              <a:off x="7925022" y="2908882"/>
              <a:ext cx="1109840" cy="4925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Sequence</a:t>
              </a:r>
            </a:p>
            <a:p>
              <a:pPr algn="ctr"/>
              <a:r>
                <a:rPr lang="en-US" altLang="zh-TW" dirty="0" smtClean="0"/>
                <a:t>weight</a:t>
              </a:r>
              <a:endParaRPr lang="zh-TW" altLang="en-US" dirty="0"/>
            </a:p>
          </p:txBody>
        </p:sp>
        <p:sp>
          <p:nvSpPr>
            <p:cNvPr id="16" name="圓角矩形 15"/>
            <p:cNvSpPr/>
            <p:nvPr/>
          </p:nvSpPr>
          <p:spPr>
            <a:xfrm>
              <a:off x="2956258" y="3893925"/>
              <a:ext cx="1845469" cy="53026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dirty="0" smtClean="0"/>
                <a:t>First-stage SVR</a:t>
              </a:r>
              <a:endParaRPr lang="zh-TW" altLang="en-US" dirty="0"/>
            </a:p>
          </p:txBody>
        </p:sp>
        <p:sp>
          <p:nvSpPr>
            <p:cNvPr id="17" name="矩形 16"/>
            <p:cNvSpPr/>
            <p:nvPr/>
          </p:nvSpPr>
          <p:spPr>
            <a:xfrm>
              <a:off x="3194564" y="4788927"/>
              <a:ext cx="1361837" cy="50878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dirty="0" smtClean="0"/>
                <a:t>Prediction</a:t>
              </a:r>
            </a:p>
            <a:p>
              <a:pPr algn="ctr"/>
              <a:r>
                <a:rPr lang="en-US" altLang="zh-TW" dirty="0" smtClean="0"/>
                <a:t>outputs</a:t>
              </a:r>
              <a:endParaRPr lang="zh-TW" altLang="en-US" dirty="0"/>
            </a:p>
          </p:txBody>
        </p:sp>
        <p:sp>
          <p:nvSpPr>
            <p:cNvPr id="18" name="圓角矩形 17"/>
            <p:cNvSpPr/>
            <p:nvPr/>
          </p:nvSpPr>
          <p:spPr>
            <a:xfrm>
              <a:off x="2956258" y="5561123"/>
              <a:ext cx="1916283" cy="530262"/>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dirty="0" smtClean="0"/>
                <a:t>Second-stage SVR</a:t>
              </a:r>
              <a:endParaRPr lang="zh-TW" altLang="en-US" dirty="0"/>
            </a:p>
          </p:txBody>
        </p:sp>
        <p:sp>
          <p:nvSpPr>
            <p:cNvPr id="19" name="矩形 18"/>
            <p:cNvSpPr/>
            <p:nvPr/>
          </p:nvSpPr>
          <p:spPr>
            <a:xfrm>
              <a:off x="3210163" y="6341315"/>
              <a:ext cx="1361837" cy="50878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dirty="0" smtClean="0"/>
                <a:t>Prediction</a:t>
              </a:r>
            </a:p>
            <a:p>
              <a:pPr algn="ctr"/>
              <a:r>
                <a:rPr lang="en-US" altLang="zh-TW" dirty="0" smtClean="0"/>
                <a:t>results</a:t>
              </a:r>
              <a:endParaRPr lang="zh-TW" altLang="en-US" dirty="0"/>
            </a:p>
          </p:txBody>
        </p:sp>
        <p:cxnSp>
          <p:nvCxnSpPr>
            <p:cNvPr id="21" name="直線單箭頭接點 20"/>
            <p:cNvCxnSpPr>
              <a:stCxn id="3" idx="2"/>
              <a:endCxn id="8" idx="0"/>
            </p:cNvCxnSpPr>
            <p:nvPr/>
          </p:nvCxnSpPr>
          <p:spPr>
            <a:xfrm>
              <a:off x="3798106" y="1869821"/>
              <a:ext cx="1" cy="218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flipV="1">
              <a:off x="653273" y="1940619"/>
              <a:ext cx="7826669" cy="384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線單箭頭接點 27"/>
            <p:cNvCxnSpPr>
              <a:endCxn id="5" idx="0"/>
            </p:cNvCxnSpPr>
            <p:nvPr/>
          </p:nvCxnSpPr>
          <p:spPr>
            <a:xfrm>
              <a:off x="653273" y="1979077"/>
              <a:ext cx="1" cy="109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a:endCxn id="6" idx="0"/>
            </p:cNvCxnSpPr>
            <p:nvPr/>
          </p:nvCxnSpPr>
          <p:spPr>
            <a:xfrm>
              <a:off x="2097598" y="1979077"/>
              <a:ext cx="0" cy="109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p:nvPr/>
          </p:nvCxnSpPr>
          <p:spPr>
            <a:xfrm>
              <a:off x="5583780" y="1979077"/>
              <a:ext cx="0" cy="119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a:endCxn id="14" idx="0"/>
            </p:cNvCxnSpPr>
            <p:nvPr/>
          </p:nvCxnSpPr>
          <p:spPr>
            <a:xfrm>
              <a:off x="7134117" y="1959848"/>
              <a:ext cx="0" cy="932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p:nvPr/>
          </p:nvCxnSpPr>
          <p:spPr>
            <a:xfrm>
              <a:off x="8479942" y="1959848"/>
              <a:ext cx="0" cy="932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向下箭號 39"/>
            <p:cNvSpPr/>
            <p:nvPr/>
          </p:nvSpPr>
          <p:spPr>
            <a:xfrm>
              <a:off x="3731375" y="3474267"/>
              <a:ext cx="202395" cy="413501"/>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1" name="向下箭號 40"/>
            <p:cNvSpPr/>
            <p:nvPr/>
          </p:nvSpPr>
          <p:spPr>
            <a:xfrm>
              <a:off x="571640" y="2620494"/>
              <a:ext cx="161785" cy="218513"/>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2" name="向下箭號 41"/>
            <p:cNvSpPr/>
            <p:nvPr/>
          </p:nvSpPr>
          <p:spPr>
            <a:xfrm>
              <a:off x="2016705" y="2624974"/>
              <a:ext cx="161785" cy="218513"/>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3" name="向下箭號 42"/>
            <p:cNvSpPr/>
            <p:nvPr/>
          </p:nvSpPr>
          <p:spPr>
            <a:xfrm>
              <a:off x="3691093" y="2620494"/>
              <a:ext cx="161785" cy="218513"/>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4" name="向下箭號 43"/>
            <p:cNvSpPr/>
            <p:nvPr/>
          </p:nvSpPr>
          <p:spPr>
            <a:xfrm>
              <a:off x="5431142" y="2620494"/>
              <a:ext cx="161785" cy="218513"/>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5" name="向下箭號 44"/>
            <p:cNvSpPr/>
            <p:nvPr/>
          </p:nvSpPr>
          <p:spPr>
            <a:xfrm>
              <a:off x="3747866" y="4508860"/>
              <a:ext cx="161785" cy="218513"/>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6" name="向下箭號 45"/>
            <p:cNvSpPr/>
            <p:nvPr/>
          </p:nvSpPr>
          <p:spPr>
            <a:xfrm>
              <a:off x="3750425" y="5342610"/>
              <a:ext cx="161785" cy="218513"/>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47" name="向下箭號 46"/>
            <p:cNvSpPr/>
            <p:nvPr/>
          </p:nvSpPr>
          <p:spPr>
            <a:xfrm>
              <a:off x="3733830" y="6107093"/>
              <a:ext cx="161785" cy="218513"/>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grpSp>
      <p:sp>
        <p:nvSpPr>
          <p:cNvPr id="7" name="文字方塊 6"/>
          <p:cNvSpPr txBox="1"/>
          <p:nvPr/>
        </p:nvSpPr>
        <p:spPr>
          <a:xfrm>
            <a:off x="5445890" y="5391150"/>
            <a:ext cx="2088385" cy="646331"/>
          </a:xfrm>
          <a:prstGeom prst="rect">
            <a:avLst/>
          </a:prstGeom>
          <a:noFill/>
        </p:spPr>
        <p:txBody>
          <a:bodyPr wrap="square" rtlCol="0">
            <a:spAutoFit/>
          </a:bodyPr>
          <a:lstStyle/>
          <a:p>
            <a:pPr algn="ctr"/>
            <a:r>
              <a:rPr lang="en-US" altLang="zh-TW" dirty="0" smtClean="0"/>
              <a:t>Solvent</a:t>
            </a:r>
            <a:r>
              <a:rPr lang="zh-TW" altLang="en-US" dirty="0" smtClean="0"/>
              <a:t> </a:t>
            </a:r>
            <a:r>
              <a:rPr lang="en-US" altLang="zh-TW" dirty="0" smtClean="0"/>
              <a:t>accessibility</a:t>
            </a:r>
          </a:p>
          <a:p>
            <a:pPr algn="ctr"/>
            <a:r>
              <a:rPr lang="en-US" altLang="zh-TW" dirty="0"/>
              <a:t>B </a:t>
            </a:r>
            <a:r>
              <a:rPr lang="en-US" altLang="zh-TW" dirty="0" smtClean="0"/>
              <a:t>factor</a:t>
            </a:r>
          </a:p>
        </p:txBody>
      </p:sp>
    </p:spTree>
    <p:extLst>
      <p:ext uri="{BB962C8B-B14F-4D97-AF65-F5344CB8AC3E}">
        <p14:creationId xmlns:p14="http://schemas.microsoft.com/office/powerpoint/2010/main" val="2173405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b="1" dirty="0" smtClean="0">
                <a:latin typeface="Arial Rounded MT Bold" panose="020F0704030504030204" pitchFamily="34" charset="0"/>
              </a:rPr>
              <a:t>Sequence </a:t>
            </a:r>
            <a:r>
              <a:rPr lang="en-US" altLang="zh-TW" sz="3200" b="1" dirty="0">
                <a:latin typeface="Arial Rounded MT Bold" panose="020F0704030504030204" pitchFamily="34" charset="0"/>
              </a:rPr>
              <a:t>encoding </a:t>
            </a:r>
            <a:r>
              <a:rPr lang="en-US" altLang="zh-TW" sz="3200" b="1" dirty="0" smtClean="0">
                <a:latin typeface="Arial Rounded MT Bold" panose="020F0704030504030204" pitchFamily="34" charset="0"/>
              </a:rPr>
              <a:t>schemes</a:t>
            </a:r>
            <a:endParaRPr lang="zh-TW" altLang="en-US" sz="6000" b="1" dirty="0"/>
          </a:p>
        </p:txBody>
      </p:sp>
      <p:pic>
        <p:nvPicPr>
          <p:cNvPr id="4" name="內容版面配置區 3"/>
          <p:cNvPicPr>
            <a:picLocks noGrp="1" noChangeAspect="1"/>
          </p:cNvPicPr>
          <p:nvPr>
            <p:ph idx="1"/>
          </p:nvPr>
        </p:nvPicPr>
        <p:blipFill>
          <a:blip r:embed="rId3"/>
          <a:stretch>
            <a:fillRect/>
          </a:stretch>
        </p:blipFill>
        <p:spPr>
          <a:xfrm>
            <a:off x="628650" y="1549400"/>
            <a:ext cx="7925332" cy="4775200"/>
          </a:xfrm>
          <a:prstGeom prst="rect">
            <a:avLst/>
          </a:prstGeom>
        </p:spPr>
      </p:pic>
      <p:sp>
        <p:nvSpPr>
          <p:cNvPr id="3" name="矩形 2"/>
          <p:cNvSpPr/>
          <p:nvPr/>
        </p:nvSpPr>
        <p:spPr>
          <a:xfrm>
            <a:off x="714375" y="2333625"/>
            <a:ext cx="1409700" cy="391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p:cNvSpPr/>
          <p:nvPr/>
        </p:nvSpPr>
        <p:spPr>
          <a:xfrm>
            <a:off x="6143625" y="2362200"/>
            <a:ext cx="2286000" cy="38766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單箭頭接點 7"/>
          <p:cNvCxnSpPr/>
          <p:nvPr/>
        </p:nvCxnSpPr>
        <p:spPr>
          <a:xfrm flipH="1" flipV="1">
            <a:off x="5610225" y="4300537"/>
            <a:ext cx="1257301" cy="25003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0" name="文字方塊 9"/>
          <p:cNvSpPr txBox="1"/>
          <p:nvPr/>
        </p:nvSpPr>
        <p:spPr>
          <a:xfrm>
            <a:off x="6867526" y="4086225"/>
            <a:ext cx="838199" cy="552450"/>
          </a:xfrm>
          <a:prstGeom prst="rect">
            <a:avLst/>
          </a:prstGeom>
          <a:noFill/>
        </p:spPr>
        <p:txBody>
          <a:bodyPr wrap="square" rtlCol="0">
            <a:spAutoFit/>
          </a:bodyPr>
          <a:lstStyle/>
          <a:p>
            <a:endParaRPr lang="zh-TW" altLang="en-US" dirty="0"/>
          </a:p>
        </p:txBody>
      </p:sp>
      <p:sp>
        <p:nvSpPr>
          <p:cNvPr id="11" name="文字方塊 10"/>
          <p:cNvSpPr txBox="1"/>
          <p:nvPr/>
        </p:nvSpPr>
        <p:spPr>
          <a:xfrm>
            <a:off x="6238874" y="4602360"/>
            <a:ext cx="2647951" cy="646331"/>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en-US" altLang="zh-TW" dirty="0"/>
              <a:t>20</a:t>
            </a:r>
            <a:r>
              <a:rPr lang="zh-TW" altLang="en-US" dirty="0"/>
              <a:t>種胺基酸出現在第</a:t>
            </a:r>
            <a:r>
              <a:rPr lang="en-US" altLang="zh-TW" dirty="0" err="1"/>
              <a:t>i</a:t>
            </a:r>
            <a:r>
              <a:rPr lang="zh-TW" altLang="en-US" dirty="0"/>
              <a:t>個位置的可能得分</a:t>
            </a:r>
            <a:endParaRPr lang="zh-TW" altLang="en-US" dirty="0"/>
          </a:p>
        </p:txBody>
      </p:sp>
    </p:spTree>
    <p:extLst>
      <p:ext uri="{BB962C8B-B14F-4D97-AF65-F5344CB8AC3E}">
        <p14:creationId xmlns:p14="http://schemas.microsoft.com/office/powerpoint/2010/main" val="19664275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b="1" dirty="0" smtClean="0">
                <a:latin typeface="Arial Rounded MT Bold" panose="020F0704030504030204" pitchFamily="34" charset="0"/>
              </a:rPr>
              <a:t>Sequence </a:t>
            </a:r>
            <a:r>
              <a:rPr lang="en-US" altLang="zh-TW" sz="3200" b="1" dirty="0">
                <a:latin typeface="Arial Rounded MT Bold" panose="020F0704030504030204" pitchFamily="34" charset="0"/>
              </a:rPr>
              <a:t>encoding </a:t>
            </a:r>
            <a:r>
              <a:rPr lang="en-US" altLang="zh-TW" sz="3200" b="1" dirty="0" smtClean="0">
                <a:latin typeface="Arial Rounded MT Bold" panose="020F0704030504030204" pitchFamily="34" charset="0"/>
              </a:rPr>
              <a:t>schemes</a:t>
            </a:r>
            <a:endParaRPr lang="zh-TW" altLang="en-US" sz="6000" b="1" dirty="0"/>
          </a:p>
        </p:txBody>
      </p:sp>
      <p:pic>
        <p:nvPicPr>
          <p:cNvPr id="4" name="內容版面配置區 3"/>
          <p:cNvPicPr>
            <a:picLocks noGrp="1" noChangeAspect="1"/>
          </p:cNvPicPr>
          <p:nvPr>
            <p:ph idx="1"/>
          </p:nvPr>
        </p:nvPicPr>
        <p:blipFill>
          <a:blip r:embed="rId3"/>
          <a:stretch>
            <a:fillRect/>
          </a:stretch>
        </p:blipFill>
        <p:spPr>
          <a:xfrm>
            <a:off x="628650" y="1549400"/>
            <a:ext cx="7925332" cy="4775200"/>
          </a:xfrm>
          <a:prstGeom prst="rect">
            <a:avLst/>
          </a:prstGeom>
        </p:spPr>
      </p:pic>
      <p:sp>
        <p:nvSpPr>
          <p:cNvPr id="5" name="矩形 4"/>
          <p:cNvSpPr/>
          <p:nvPr/>
        </p:nvSpPr>
        <p:spPr>
          <a:xfrm>
            <a:off x="2133600" y="2352675"/>
            <a:ext cx="6296025" cy="3886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單箭頭接點 5"/>
          <p:cNvCxnSpPr/>
          <p:nvPr/>
        </p:nvCxnSpPr>
        <p:spPr>
          <a:xfrm flipH="1">
            <a:off x="2009243" y="3274219"/>
            <a:ext cx="1781174" cy="31670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文字方塊 11"/>
          <p:cNvSpPr txBox="1"/>
          <p:nvPr/>
        </p:nvSpPr>
        <p:spPr>
          <a:xfrm>
            <a:off x="3790417" y="3003828"/>
            <a:ext cx="1924050" cy="369332"/>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zh-TW" altLang="en-US" dirty="0" smtClean="0"/>
              <a:t>預測結</a:t>
            </a:r>
            <a:r>
              <a:rPr lang="zh-TW" altLang="en-US" dirty="0"/>
              <a:t>構</a:t>
            </a:r>
            <a:r>
              <a:rPr lang="zh-TW" altLang="en-US" dirty="0" smtClean="0"/>
              <a:t>穩定性</a:t>
            </a:r>
            <a:endParaRPr lang="zh-TW" altLang="en-US" dirty="0"/>
          </a:p>
        </p:txBody>
      </p:sp>
    </p:spTree>
    <p:extLst>
      <p:ext uri="{BB962C8B-B14F-4D97-AF65-F5344CB8AC3E}">
        <p14:creationId xmlns:p14="http://schemas.microsoft.com/office/powerpoint/2010/main" val="5330249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b="1" dirty="0" smtClean="0">
                <a:latin typeface="Arial Rounded MT Bold" panose="020F0704030504030204" pitchFamily="34" charset="0"/>
              </a:rPr>
              <a:t>Sequence </a:t>
            </a:r>
            <a:r>
              <a:rPr lang="en-US" altLang="zh-TW" sz="3200" b="1" dirty="0">
                <a:latin typeface="Arial Rounded MT Bold" panose="020F0704030504030204" pitchFamily="34" charset="0"/>
              </a:rPr>
              <a:t>encoding </a:t>
            </a:r>
            <a:r>
              <a:rPr lang="en-US" altLang="zh-TW" sz="3200" b="1" dirty="0" smtClean="0">
                <a:latin typeface="Arial Rounded MT Bold" panose="020F0704030504030204" pitchFamily="34" charset="0"/>
              </a:rPr>
              <a:t>schemes</a:t>
            </a:r>
            <a:endParaRPr lang="zh-TW" altLang="en-US" sz="6000" b="1" dirty="0"/>
          </a:p>
        </p:txBody>
      </p:sp>
      <p:pic>
        <p:nvPicPr>
          <p:cNvPr id="4" name="內容版面配置區 3"/>
          <p:cNvPicPr>
            <a:picLocks noGrp="1" noChangeAspect="1"/>
          </p:cNvPicPr>
          <p:nvPr>
            <p:ph idx="1"/>
          </p:nvPr>
        </p:nvPicPr>
        <p:blipFill>
          <a:blip r:embed="rId3"/>
          <a:stretch>
            <a:fillRect/>
          </a:stretch>
        </p:blipFill>
        <p:spPr>
          <a:xfrm>
            <a:off x="628650" y="1549400"/>
            <a:ext cx="7925332" cy="4775200"/>
          </a:xfrm>
          <a:prstGeom prst="rect">
            <a:avLst/>
          </a:prstGeom>
        </p:spPr>
      </p:pic>
      <p:sp>
        <p:nvSpPr>
          <p:cNvPr id="3" name="矩形 2"/>
          <p:cNvSpPr/>
          <p:nvPr/>
        </p:nvSpPr>
        <p:spPr>
          <a:xfrm>
            <a:off x="721258" y="2381250"/>
            <a:ext cx="5419725" cy="3943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0" name="群組 19"/>
          <p:cNvGrpSpPr/>
          <p:nvPr/>
        </p:nvGrpSpPr>
        <p:grpSpPr>
          <a:xfrm>
            <a:off x="6140983" y="2011918"/>
            <a:ext cx="2178051" cy="369332"/>
            <a:chOff x="6464299" y="6464300"/>
            <a:chExt cx="2178051" cy="369332"/>
          </a:xfrm>
        </p:grpSpPr>
        <p:sp>
          <p:nvSpPr>
            <p:cNvPr id="17" name="文字方塊 16"/>
            <p:cNvSpPr txBox="1"/>
            <p:nvPr/>
          </p:nvSpPr>
          <p:spPr>
            <a:xfrm>
              <a:off x="6464299" y="6464300"/>
              <a:ext cx="635000" cy="369332"/>
            </a:xfrm>
            <a:prstGeom prst="rect">
              <a:avLst/>
            </a:prstGeom>
            <a:noFill/>
          </p:spPr>
          <p:txBody>
            <a:bodyPr wrap="square" rtlCol="0">
              <a:spAutoFit/>
            </a:bodyPr>
            <a:lstStyle/>
            <a:p>
              <a:r>
                <a:rPr lang="en-US" altLang="zh-TW" dirty="0" smtClean="0"/>
                <a:t>helix</a:t>
              </a:r>
              <a:endParaRPr lang="zh-TW" altLang="en-US" dirty="0"/>
            </a:p>
          </p:txBody>
        </p:sp>
        <p:sp>
          <p:nvSpPr>
            <p:cNvPr id="18" name="文字方塊 17"/>
            <p:cNvSpPr txBox="1"/>
            <p:nvPr/>
          </p:nvSpPr>
          <p:spPr>
            <a:xfrm>
              <a:off x="7080250" y="6464300"/>
              <a:ext cx="844550" cy="369332"/>
            </a:xfrm>
            <a:prstGeom prst="rect">
              <a:avLst/>
            </a:prstGeom>
            <a:noFill/>
          </p:spPr>
          <p:txBody>
            <a:bodyPr wrap="square" rtlCol="0">
              <a:spAutoFit/>
            </a:bodyPr>
            <a:lstStyle/>
            <a:p>
              <a:r>
                <a:rPr lang="en-US" altLang="zh-TW" dirty="0" smtClean="0"/>
                <a:t>strand</a:t>
              </a:r>
              <a:endParaRPr lang="zh-TW" altLang="en-US" dirty="0"/>
            </a:p>
          </p:txBody>
        </p:sp>
        <p:sp>
          <p:nvSpPr>
            <p:cNvPr id="19" name="文字方塊 18"/>
            <p:cNvSpPr txBox="1"/>
            <p:nvPr/>
          </p:nvSpPr>
          <p:spPr>
            <a:xfrm>
              <a:off x="7797800" y="6464300"/>
              <a:ext cx="844550" cy="369332"/>
            </a:xfrm>
            <a:prstGeom prst="rect">
              <a:avLst/>
            </a:prstGeom>
            <a:noFill/>
          </p:spPr>
          <p:txBody>
            <a:bodyPr wrap="square" rtlCol="0">
              <a:spAutoFit/>
            </a:bodyPr>
            <a:lstStyle/>
            <a:p>
              <a:r>
                <a:rPr lang="en-US" altLang="zh-TW" dirty="0" smtClean="0"/>
                <a:t>coil</a:t>
              </a:r>
              <a:endParaRPr lang="zh-TW" altLang="en-US" dirty="0"/>
            </a:p>
          </p:txBody>
        </p:sp>
      </p:grpSp>
      <p:cxnSp>
        <p:nvCxnSpPr>
          <p:cNvPr id="12" name="直線單箭頭接點 11"/>
          <p:cNvCxnSpPr/>
          <p:nvPr/>
        </p:nvCxnSpPr>
        <p:spPr>
          <a:xfrm>
            <a:off x="3905250" y="2874963"/>
            <a:ext cx="2447925" cy="8112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文字方塊 14"/>
          <p:cNvSpPr txBox="1"/>
          <p:nvPr/>
        </p:nvSpPr>
        <p:spPr>
          <a:xfrm>
            <a:off x="1769008" y="2535564"/>
            <a:ext cx="1924050" cy="369332"/>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zh-TW" altLang="en-US" dirty="0" smtClean="0"/>
              <a:t>預測二級結構</a:t>
            </a:r>
            <a:endParaRPr lang="zh-TW" altLang="en-US" dirty="0"/>
          </a:p>
        </p:txBody>
      </p:sp>
      <p:cxnSp>
        <p:nvCxnSpPr>
          <p:cNvPr id="11" name="直線單箭頭接點 10"/>
          <p:cNvCxnSpPr/>
          <p:nvPr/>
        </p:nvCxnSpPr>
        <p:spPr>
          <a:xfrm flipV="1">
            <a:off x="6010275" y="4438652"/>
            <a:ext cx="2190750" cy="125544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1" name="文字方塊 20"/>
          <p:cNvSpPr txBox="1"/>
          <p:nvPr/>
        </p:nvSpPr>
        <p:spPr>
          <a:xfrm>
            <a:off x="4167187" y="5694093"/>
            <a:ext cx="1924050" cy="369332"/>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zh-TW" altLang="en-US" dirty="0" smtClean="0"/>
              <a:t>溶劑可接觸性</a:t>
            </a:r>
            <a:endParaRPr lang="zh-TW" altLang="en-US" dirty="0"/>
          </a:p>
        </p:txBody>
      </p:sp>
      <p:pic>
        <p:nvPicPr>
          <p:cNvPr id="16" name="圖片 15"/>
          <p:cNvPicPr>
            <a:picLocks noChangeAspect="1"/>
          </p:cNvPicPr>
          <p:nvPr/>
        </p:nvPicPr>
        <p:blipFill>
          <a:blip r:embed="rId4"/>
          <a:stretch>
            <a:fillRect/>
          </a:stretch>
        </p:blipFill>
        <p:spPr>
          <a:xfrm>
            <a:off x="880530" y="2979877"/>
            <a:ext cx="2933700" cy="3269742"/>
          </a:xfrm>
          <a:prstGeom prst="rect">
            <a:avLst/>
          </a:prstGeom>
        </p:spPr>
      </p:pic>
    </p:spTree>
    <p:extLst>
      <p:ext uri="{BB962C8B-B14F-4D97-AF65-F5344CB8AC3E}">
        <p14:creationId xmlns:p14="http://schemas.microsoft.com/office/powerpoint/2010/main" val="20171249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b="1" dirty="0" smtClean="0">
                <a:latin typeface="Arial Rounded MT Bold" panose="020F0704030504030204" pitchFamily="34" charset="0"/>
              </a:rPr>
              <a:t>Sliding window </a:t>
            </a:r>
            <a:endParaRPr lang="zh-TW" altLang="en-US" sz="3600" b="1"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2"/>
          <a:stretch>
            <a:fillRect/>
          </a:stretch>
        </p:blipFill>
        <p:spPr>
          <a:xfrm>
            <a:off x="628650" y="1690689"/>
            <a:ext cx="7713027" cy="4647281"/>
          </a:xfrm>
          <a:prstGeom prst="rect">
            <a:avLst/>
          </a:prstGeom>
        </p:spPr>
      </p:pic>
    </p:spTree>
    <p:extLst>
      <p:ext uri="{BB962C8B-B14F-4D97-AF65-F5344CB8AC3E}">
        <p14:creationId xmlns:p14="http://schemas.microsoft.com/office/powerpoint/2010/main" val="29488252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253617" y="365126"/>
            <a:ext cx="8636766" cy="5946774"/>
          </a:xfrm>
          <a:prstGeom prst="rect">
            <a:avLst/>
          </a:prstGeom>
        </p:spPr>
      </p:pic>
    </p:spTree>
    <p:extLst>
      <p:ext uri="{BB962C8B-B14F-4D97-AF65-F5344CB8AC3E}">
        <p14:creationId xmlns:p14="http://schemas.microsoft.com/office/powerpoint/2010/main" val="41814605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Arial Rounded MT Bold" panose="020F0704030504030204" pitchFamily="34" charset="0"/>
              </a:rPr>
              <a:t>Performance Evaluation</a:t>
            </a:r>
            <a:endParaRPr lang="zh-TW" altLang="en-US"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2"/>
          <a:stretch>
            <a:fillRect/>
          </a:stretch>
        </p:blipFill>
        <p:spPr>
          <a:xfrm>
            <a:off x="393700" y="1576390"/>
            <a:ext cx="4191000" cy="1632744"/>
          </a:xfrm>
          <a:prstGeom prst="rect">
            <a:avLst/>
          </a:prstGeom>
        </p:spPr>
      </p:pic>
      <p:pic>
        <p:nvPicPr>
          <p:cNvPr id="5" name="圖片 4"/>
          <p:cNvPicPr>
            <a:picLocks noChangeAspect="1"/>
          </p:cNvPicPr>
          <p:nvPr/>
        </p:nvPicPr>
        <p:blipFill>
          <a:blip r:embed="rId3"/>
          <a:stretch>
            <a:fillRect/>
          </a:stretch>
        </p:blipFill>
        <p:spPr>
          <a:xfrm>
            <a:off x="508000" y="3637993"/>
            <a:ext cx="2771775" cy="971459"/>
          </a:xfrm>
          <a:prstGeom prst="rect">
            <a:avLst/>
          </a:prstGeom>
        </p:spPr>
      </p:pic>
      <p:pic>
        <p:nvPicPr>
          <p:cNvPr id="6" name="圖片 5"/>
          <p:cNvPicPr>
            <a:picLocks noChangeAspect="1"/>
          </p:cNvPicPr>
          <p:nvPr/>
        </p:nvPicPr>
        <p:blipFill>
          <a:blip r:embed="rId4"/>
          <a:stretch>
            <a:fillRect/>
          </a:stretch>
        </p:blipFill>
        <p:spPr>
          <a:xfrm>
            <a:off x="508000" y="4860511"/>
            <a:ext cx="3590925" cy="1152525"/>
          </a:xfrm>
          <a:prstGeom prst="rect">
            <a:avLst/>
          </a:prstGeom>
        </p:spPr>
      </p:pic>
      <p:sp>
        <p:nvSpPr>
          <p:cNvPr id="3" name="文字方塊 2"/>
          <p:cNvSpPr txBox="1"/>
          <p:nvPr/>
        </p:nvSpPr>
        <p:spPr>
          <a:xfrm>
            <a:off x="6010275" y="3477391"/>
            <a:ext cx="1714500" cy="646331"/>
          </a:xfrm>
          <a:prstGeom prst="rect">
            <a:avLst/>
          </a:prstGeom>
          <a:noFill/>
        </p:spPr>
        <p:txBody>
          <a:bodyPr wrap="square" rtlCol="0">
            <a:spAutoFit/>
          </a:bodyPr>
          <a:lstStyle/>
          <a:p>
            <a:r>
              <a:rPr lang="en-US" altLang="zh-TW" dirty="0" smtClean="0"/>
              <a:t>X</a:t>
            </a:r>
            <a:r>
              <a:rPr lang="en-US" altLang="zh-TW" baseline="-25000" dirty="0" smtClean="0"/>
              <a:t>i</a:t>
            </a:r>
            <a:r>
              <a:rPr lang="en-US" altLang="zh-TW" dirty="0" smtClean="0"/>
              <a:t> </a:t>
            </a:r>
            <a:r>
              <a:rPr lang="zh-TW" altLang="en-US" dirty="0" smtClean="0"/>
              <a:t>是實際值</a:t>
            </a:r>
            <a:endParaRPr lang="en-US" altLang="zh-TW" dirty="0" smtClean="0"/>
          </a:p>
          <a:p>
            <a:r>
              <a:rPr lang="en-US" altLang="zh-TW" dirty="0" err="1"/>
              <a:t>y</a:t>
            </a:r>
            <a:r>
              <a:rPr lang="en-US" altLang="zh-TW" baseline="-25000" dirty="0" err="1" smtClean="0"/>
              <a:t>i</a:t>
            </a:r>
            <a:r>
              <a:rPr lang="en-US" altLang="zh-TW" baseline="-25000" dirty="0" smtClean="0"/>
              <a:t> </a:t>
            </a:r>
            <a:r>
              <a:rPr lang="zh-TW" altLang="en-US" dirty="0" smtClean="0"/>
              <a:t>是預測值</a:t>
            </a:r>
            <a:endParaRPr lang="zh-TW" altLang="en-US" dirty="0"/>
          </a:p>
        </p:txBody>
      </p:sp>
    </p:spTree>
    <p:extLst>
      <p:ext uri="{BB962C8B-B14F-4D97-AF65-F5344CB8AC3E}">
        <p14:creationId xmlns:p14="http://schemas.microsoft.com/office/powerpoint/2010/main" val="27357828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Arial Rounded MT Bold" panose="020F0704030504030204" pitchFamily="34" charset="0"/>
              </a:rPr>
              <a:t>Results</a:t>
            </a:r>
            <a:endParaRPr lang="zh-TW" altLang="en-US"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2"/>
          <a:stretch>
            <a:fillRect/>
          </a:stretch>
        </p:blipFill>
        <p:spPr>
          <a:xfrm>
            <a:off x="449120" y="1574800"/>
            <a:ext cx="8449337" cy="4809855"/>
          </a:xfrm>
          <a:prstGeom prst="rect">
            <a:avLst/>
          </a:prstGeom>
        </p:spPr>
      </p:pic>
    </p:spTree>
    <p:extLst>
      <p:ext uri="{BB962C8B-B14F-4D97-AF65-F5344CB8AC3E}">
        <p14:creationId xmlns:p14="http://schemas.microsoft.com/office/powerpoint/2010/main" val="24934084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p:cNvPicPr>
            <a:picLocks noGrp="1" noChangeAspect="1"/>
          </p:cNvPicPr>
          <p:nvPr>
            <p:ph idx="1"/>
          </p:nvPr>
        </p:nvPicPr>
        <p:blipFill>
          <a:blip r:embed="rId2"/>
          <a:stretch>
            <a:fillRect/>
          </a:stretch>
        </p:blipFill>
        <p:spPr>
          <a:xfrm>
            <a:off x="61206" y="1690689"/>
            <a:ext cx="9021588" cy="4963073"/>
          </a:xfrm>
          <a:prstGeom prst="rect">
            <a:avLst/>
          </a:prstGeom>
        </p:spPr>
      </p:pic>
      <p:sp>
        <p:nvSpPr>
          <p:cNvPr id="3" name="標題 2"/>
          <p:cNvSpPr>
            <a:spLocks noGrp="1"/>
          </p:cNvSpPr>
          <p:nvPr>
            <p:ph type="title"/>
          </p:nvPr>
        </p:nvSpPr>
        <p:spPr/>
        <p:txBody>
          <a:bodyPr>
            <a:noAutofit/>
          </a:bodyPr>
          <a:lstStyle/>
          <a:p>
            <a:r>
              <a:rPr lang="en-US" altLang="zh-TW" sz="2800" dirty="0">
                <a:latin typeface="Arial Rounded MT Bold" panose="020F0704030504030204" pitchFamily="34" charset="0"/>
              </a:rPr>
              <a:t>Effect of different local window size on the </a:t>
            </a:r>
            <a:r>
              <a:rPr lang="en-US" altLang="zh-TW" sz="2800" dirty="0" smtClean="0">
                <a:latin typeface="Arial Rounded MT Bold" panose="020F0704030504030204" pitchFamily="34" charset="0"/>
              </a:rPr>
              <a:t>prediction performance</a:t>
            </a:r>
            <a:endParaRPr lang="zh-TW" altLang="en-US" sz="2800" dirty="0">
              <a:latin typeface="Arial Rounded MT Bold" panose="020F0704030504030204" pitchFamily="34" charset="0"/>
            </a:endParaRPr>
          </a:p>
        </p:txBody>
      </p:sp>
    </p:spTree>
    <p:extLst>
      <p:ext uri="{BB962C8B-B14F-4D97-AF65-F5344CB8AC3E}">
        <p14:creationId xmlns:p14="http://schemas.microsoft.com/office/powerpoint/2010/main" val="16591799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68350" y="352426"/>
            <a:ext cx="7886700" cy="1325563"/>
          </a:xfrm>
        </p:spPr>
        <p:txBody>
          <a:bodyPr>
            <a:noAutofit/>
          </a:bodyPr>
          <a:lstStyle/>
          <a:p>
            <a:r>
              <a:rPr lang="en-US" altLang="zh-TW" sz="2800" dirty="0">
                <a:latin typeface="Arial Rounded MT Bold" panose="020F0704030504030204" pitchFamily="34" charset="0"/>
              </a:rPr>
              <a:t>Effect of different sequence encoding schemes on </a:t>
            </a:r>
            <a:r>
              <a:rPr lang="en-US" altLang="zh-TW" sz="2800" dirty="0" smtClean="0">
                <a:latin typeface="Arial Rounded MT Bold" panose="020F0704030504030204" pitchFamily="34" charset="0"/>
              </a:rPr>
              <a:t>the predictive performance</a:t>
            </a:r>
            <a:endParaRPr lang="zh-TW" altLang="en-US" sz="2800"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2"/>
          <a:stretch>
            <a:fillRect/>
          </a:stretch>
        </p:blipFill>
        <p:spPr>
          <a:xfrm>
            <a:off x="948598" y="185134"/>
            <a:ext cx="6988901" cy="6672866"/>
          </a:xfrm>
          <a:prstGeom prst="rect">
            <a:avLst/>
          </a:prstGeom>
        </p:spPr>
      </p:pic>
    </p:spTree>
    <p:extLst>
      <p:ext uri="{BB962C8B-B14F-4D97-AF65-F5344CB8AC3E}">
        <p14:creationId xmlns:p14="http://schemas.microsoft.com/office/powerpoint/2010/main" val="249533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Arial Rounded MT Bold" panose="020F0704030504030204" pitchFamily="34" charset="0"/>
              </a:rPr>
              <a:t>Correlation Coefficient</a:t>
            </a:r>
            <a:endParaRPr lang="zh-TW" altLang="en-US"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2"/>
          <a:stretch>
            <a:fillRect/>
          </a:stretch>
        </p:blipFill>
        <p:spPr>
          <a:xfrm>
            <a:off x="628650" y="2021930"/>
            <a:ext cx="8283966" cy="3464470"/>
          </a:xfrm>
          <a:prstGeom prst="rect">
            <a:avLst/>
          </a:prstGeom>
        </p:spPr>
      </p:pic>
    </p:spTree>
    <p:extLst>
      <p:ext uri="{BB962C8B-B14F-4D97-AF65-F5344CB8AC3E}">
        <p14:creationId xmlns:p14="http://schemas.microsoft.com/office/powerpoint/2010/main" val="2903919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Arial Rounded MT Bold" panose="020F0704030504030204" pitchFamily="34" charset="0"/>
              </a:rPr>
              <a:t>Mean Absolute Error</a:t>
            </a:r>
            <a:endParaRPr lang="zh-TW" altLang="en-US"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2"/>
          <a:stretch>
            <a:fillRect/>
          </a:stretch>
        </p:blipFill>
        <p:spPr>
          <a:xfrm>
            <a:off x="141118" y="2102493"/>
            <a:ext cx="8672682" cy="3142607"/>
          </a:xfrm>
          <a:prstGeom prst="rect">
            <a:avLst/>
          </a:prstGeom>
        </p:spPr>
      </p:pic>
    </p:spTree>
    <p:extLst>
      <p:ext uri="{BB962C8B-B14F-4D97-AF65-F5344CB8AC3E}">
        <p14:creationId xmlns:p14="http://schemas.microsoft.com/office/powerpoint/2010/main" val="24347963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179043" y="303215"/>
            <a:ext cx="8791207" cy="6397695"/>
          </a:xfrm>
          <a:prstGeom prst="rect">
            <a:avLst/>
          </a:prstGeom>
        </p:spPr>
      </p:pic>
    </p:spTree>
    <p:extLst>
      <p:ext uri="{BB962C8B-B14F-4D97-AF65-F5344CB8AC3E}">
        <p14:creationId xmlns:p14="http://schemas.microsoft.com/office/powerpoint/2010/main" val="3848886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266779" y="1027907"/>
            <a:ext cx="8610441" cy="5225858"/>
          </a:xfrm>
          <a:prstGeom prst="rect">
            <a:avLst/>
          </a:prstGeom>
        </p:spPr>
      </p:pic>
    </p:spTree>
    <p:extLst>
      <p:ext uri="{BB962C8B-B14F-4D97-AF65-F5344CB8AC3E}">
        <p14:creationId xmlns:p14="http://schemas.microsoft.com/office/powerpoint/2010/main" val="42662258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Arial Rounded MT Bold" panose="020F0704030504030204" pitchFamily="34" charset="0"/>
              </a:rPr>
              <a:t>Conclusion</a:t>
            </a:r>
            <a:endParaRPr lang="zh-TW" altLang="en-US" b="1" dirty="0">
              <a:latin typeface="Arial Rounded MT Bold" panose="020F0704030504030204" pitchFamily="34" charset="0"/>
            </a:endParaRPr>
          </a:p>
        </p:txBody>
      </p:sp>
      <p:sp>
        <p:nvSpPr>
          <p:cNvPr id="3" name="內容版面配置區 2"/>
          <p:cNvSpPr>
            <a:spLocks noGrp="1"/>
          </p:cNvSpPr>
          <p:nvPr>
            <p:ph idx="1"/>
          </p:nvPr>
        </p:nvSpPr>
        <p:spPr/>
        <p:txBody>
          <a:bodyPr>
            <a:normAutofit/>
          </a:bodyPr>
          <a:lstStyle/>
          <a:p>
            <a:r>
              <a:rPr lang="en-US" altLang="zh-TW" dirty="0"/>
              <a:t>In this article, we have developed a new approach TANGLE </a:t>
            </a:r>
            <a:r>
              <a:rPr lang="en-US" altLang="zh-TW" dirty="0" smtClean="0"/>
              <a:t>to predict </a:t>
            </a:r>
            <a:r>
              <a:rPr lang="en-US" altLang="zh-TW" dirty="0"/>
              <a:t>real-valued torsion angles from primary sequences by </a:t>
            </a:r>
            <a:r>
              <a:rPr lang="en-US" altLang="zh-TW" dirty="0" smtClean="0"/>
              <a:t>using a </a:t>
            </a:r>
            <a:r>
              <a:rPr lang="en-US" altLang="zh-TW" dirty="0"/>
              <a:t>two-stage support vector regression approach. TANGLE used </a:t>
            </a:r>
            <a:r>
              <a:rPr lang="en-US" altLang="zh-TW" dirty="0" smtClean="0"/>
              <a:t>a variety </a:t>
            </a:r>
            <a:r>
              <a:rPr lang="en-US" altLang="zh-TW" dirty="0"/>
              <a:t>of multiple sequence-derived </a:t>
            </a:r>
            <a:r>
              <a:rPr lang="en-US" altLang="zh-TW" dirty="0" smtClean="0"/>
              <a:t>features</a:t>
            </a:r>
          </a:p>
          <a:p>
            <a:r>
              <a:rPr lang="en-US" altLang="zh-TW" dirty="0" smtClean="0"/>
              <a:t>Our work provides </a:t>
            </a:r>
            <a:r>
              <a:rPr lang="en-US" altLang="zh-TW" dirty="0"/>
              <a:t>a complementary and </a:t>
            </a:r>
            <a:r>
              <a:rPr lang="en-US" altLang="zh-TW" dirty="0" smtClean="0"/>
              <a:t>useful approach </a:t>
            </a:r>
            <a:r>
              <a:rPr lang="en-US" altLang="zh-TW" dirty="0"/>
              <a:t>towards the more accurate prediction of </a:t>
            </a:r>
            <a:r>
              <a:rPr lang="en-US" altLang="zh-TW" dirty="0" smtClean="0"/>
              <a:t>protein backbone </a:t>
            </a:r>
            <a:r>
              <a:rPr lang="en-US" altLang="zh-TW" dirty="0"/>
              <a:t>torsion angles and complements the current </a:t>
            </a:r>
            <a:r>
              <a:rPr lang="en-US" altLang="zh-TW" dirty="0" smtClean="0"/>
              <a:t>torsion angle </a:t>
            </a:r>
            <a:r>
              <a:rPr lang="en-US" altLang="zh-TW" dirty="0"/>
              <a:t>prediction </a:t>
            </a:r>
            <a:r>
              <a:rPr lang="en-US" altLang="zh-TW" dirty="0" smtClean="0"/>
              <a:t>algorithms</a:t>
            </a:r>
          </a:p>
          <a:p>
            <a:pPr marL="0" indent="0">
              <a:buNone/>
            </a:pPr>
            <a:r>
              <a:rPr lang="en-US" altLang="zh-TW" sz="2000" dirty="0">
                <a:hlinkClick r:id="rId2"/>
              </a:rPr>
              <a:t>http://</a:t>
            </a:r>
            <a:r>
              <a:rPr lang="en-US" altLang="zh-TW" sz="2000" dirty="0" smtClean="0">
                <a:hlinkClick r:id="rId2"/>
              </a:rPr>
              <a:t>sunflower.kuicr.kyoto-u.ac.jp</a:t>
            </a:r>
            <a:r>
              <a:rPr lang="en-US" altLang="zh-TW" sz="2000" dirty="0">
                <a:hlinkClick r:id="rId2"/>
              </a:rPr>
              <a:t>/~sjn/TANGLE/links.html</a:t>
            </a:r>
            <a:endParaRPr lang="zh-TW" altLang="en-US" sz="2000" dirty="0"/>
          </a:p>
        </p:txBody>
      </p:sp>
    </p:spTree>
    <p:extLst>
      <p:ext uri="{BB962C8B-B14F-4D97-AF65-F5344CB8AC3E}">
        <p14:creationId xmlns:p14="http://schemas.microsoft.com/office/powerpoint/2010/main" val="34416849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4025</TotalTime>
  <Words>660</Words>
  <Application>Microsoft Office PowerPoint</Application>
  <PresentationFormat>如螢幕大小 (4:3)</PresentationFormat>
  <Paragraphs>93</Paragraphs>
  <Slides>22</Slides>
  <Notes>5</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22</vt:i4>
      </vt:variant>
    </vt:vector>
  </HeadingPairs>
  <TitlesOfParts>
    <vt:vector size="30" baseType="lpstr">
      <vt:lpstr>Arial Unicode MS</vt:lpstr>
      <vt:lpstr>Gungsuh</vt:lpstr>
      <vt:lpstr>新細明體</vt:lpstr>
      <vt:lpstr>Arial</vt:lpstr>
      <vt:lpstr>Arial Rounded MT Bold</vt:lpstr>
      <vt:lpstr>Calibri</vt:lpstr>
      <vt:lpstr>Calibri Light</vt:lpstr>
      <vt:lpstr>Office 佈景主題</vt:lpstr>
      <vt:lpstr>TANGLE: Two-Level Support Vector Regression Approach for Protein Backbone Torsion Angle Prediction from Primary Sequences</vt:lpstr>
      <vt:lpstr>Abstract</vt:lpstr>
      <vt:lpstr>Abstract</vt:lpstr>
      <vt:lpstr>Introduction</vt:lpstr>
      <vt:lpstr>Introduction (Support Vector Regression)</vt:lpstr>
      <vt:lpstr>Introduction (Support Vector Regression)</vt:lpstr>
      <vt:lpstr>Support Vector Regression (kernel function)</vt:lpstr>
      <vt:lpstr>Flow diagram of TANGLE</vt:lpstr>
      <vt:lpstr>Sequence encoding schemes</vt:lpstr>
      <vt:lpstr>Sequence encoding schemes</vt:lpstr>
      <vt:lpstr>Sequence encoding schemes</vt:lpstr>
      <vt:lpstr>Sliding window </vt:lpstr>
      <vt:lpstr>PowerPoint 簡報</vt:lpstr>
      <vt:lpstr>Performance Evaluation</vt:lpstr>
      <vt:lpstr>Results</vt:lpstr>
      <vt:lpstr>Effect of different local window size on the prediction performance</vt:lpstr>
      <vt:lpstr>Effect of different sequence encoding schemes on the predictive performance</vt:lpstr>
      <vt:lpstr>Correlation Coefficient</vt:lpstr>
      <vt:lpstr>Mean Absolute Error</vt:lpstr>
      <vt:lpstr>PowerPoint 簡報</vt:lpstr>
      <vt:lpstr>PowerPoint 簡報</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TANGLE: Two-Level Support Vector Regression Approach for Protein Backbone Torsion Angle Prediction from Primary Sequences</dc:title>
  <dc:creator>Huang</dc:creator>
  <cp:lastModifiedBy>Huang</cp:lastModifiedBy>
  <cp:revision>145</cp:revision>
  <dcterms:created xsi:type="dcterms:W3CDTF">2015-01-07T11:58:34Z</dcterms:created>
  <dcterms:modified xsi:type="dcterms:W3CDTF">2015-01-13T07:50:41Z</dcterms:modified>
</cp:coreProperties>
</file>