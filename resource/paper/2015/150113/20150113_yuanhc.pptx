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charts/style2.xml" ContentType="application/vnd.ms-office.chartstyl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Default Extension="vsdx" ContentType="application/vnd.ms-visio.drawing"/>
  <Override PartName="/ppt/charts/colors2.xml" ContentType="application/vnd.ms-office.chartcolorstyl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Default Extension="xlsx" ContentType="application/vnd.openxmlformats-officedocument.spreadsheetml.sheet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charts/style1.xml" ContentType="application/vnd.ms-office.chartstyl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Default Extension="wdp" ContentType="image/vnd.ms-photo"/>
  <Override PartName="/ppt/charts/colors1.xml" ContentType="application/vnd.ms-office.chartcolorstyle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6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5"/>
  </p:notesMasterIdLst>
  <p:handoutMasterIdLst>
    <p:handoutMasterId r:id="rId36"/>
  </p:handoutMasterIdLst>
  <p:sldIdLst>
    <p:sldId id="256" r:id="rId2"/>
    <p:sldId id="333" r:id="rId3"/>
    <p:sldId id="308" r:id="rId4"/>
    <p:sldId id="309" r:id="rId5"/>
    <p:sldId id="310" r:id="rId6"/>
    <p:sldId id="311" r:id="rId7"/>
    <p:sldId id="315" r:id="rId8"/>
    <p:sldId id="332" r:id="rId9"/>
    <p:sldId id="328" r:id="rId10"/>
    <p:sldId id="358" r:id="rId11"/>
    <p:sldId id="341" r:id="rId12"/>
    <p:sldId id="317" r:id="rId13"/>
    <p:sldId id="357" r:id="rId14"/>
    <p:sldId id="329" r:id="rId15"/>
    <p:sldId id="335" r:id="rId16"/>
    <p:sldId id="330" r:id="rId17"/>
    <p:sldId id="323" r:id="rId18"/>
    <p:sldId id="336" r:id="rId19"/>
    <p:sldId id="337" r:id="rId20"/>
    <p:sldId id="322" r:id="rId21"/>
    <p:sldId id="338" r:id="rId22"/>
    <p:sldId id="339" r:id="rId23"/>
    <p:sldId id="342" r:id="rId24"/>
    <p:sldId id="344" r:id="rId25"/>
    <p:sldId id="356" r:id="rId26"/>
    <p:sldId id="353" r:id="rId27"/>
    <p:sldId id="355" r:id="rId28"/>
    <p:sldId id="347" r:id="rId29"/>
    <p:sldId id="348" r:id="rId30"/>
    <p:sldId id="349" r:id="rId31"/>
    <p:sldId id="345" r:id="rId32"/>
    <p:sldId id="351" r:id="rId33"/>
    <p:sldId id="325" r:id="rId34"/>
  </p:sldIdLst>
  <p:sldSz cx="9144000" cy="6858000" type="screen4x3"/>
  <p:notesSz cx="10234613" cy="70993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3300"/>
    <a:srgbClr val="0000FF"/>
    <a:srgbClr val="7B93DF"/>
    <a:srgbClr val="6F84EB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淺色樣式 1 - 輔色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8799B23B-EC83-4686-B30A-512413B5E67A}" styleName="淺色樣式 3 - 輔色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FECB4D8-DB02-4DC6-A0A2-4F2EBAE1DC90}" styleName="中等深淺樣式 1 - 輔色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727" autoAdjust="0"/>
    <p:restoredTop sz="94424" autoAdjust="0"/>
  </p:normalViewPr>
  <p:slideViewPr>
    <p:cSldViewPr>
      <p:cViewPr varScale="1">
        <p:scale>
          <a:sx n="69" d="100"/>
          <a:sy n="69" d="100"/>
        </p:scale>
        <p:origin x="-546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966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8" d="100"/>
          <a:sy n="88" d="100"/>
        </p:scale>
        <p:origin x="3822" y="102"/>
      </p:cViewPr>
      <p:guideLst/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Style" Target="style1.xml"/><Relationship Id="rId2" Type="http://schemas.microsoft.com/office/2011/relationships/chartColorStyle" Target="colors1.xml"/><Relationship Id="rId1" Type="http://schemas.openxmlformats.org/officeDocument/2006/relationships/oleObject" Target="file:///D:\Dropbox\&#35506;&#26989;\&#20854;&#20182;\Fisher%20score.xlsx" TargetMode="External"/></Relationships>
</file>

<file path=ppt/charts/_rels/chart2.xml.rels><?xml version="1.0" encoding="UTF-8" standalone="yes"?>
<Relationships xmlns="http://schemas.openxmlformats.org/package/2006/relationships"><Relationship Id="rId3" Type="http://schemas.microsoft.com/office/2011/relationships/chartStyle" Target="style2.xml"/><Relationship Id="rId2" Type="http://schemas.microsoft.com/office/2011/relationships/chartColorStyle" Target="colors2.xml"/><Relationship Id="rId1" Type="http://schemas.openxmlformats.org/officeDocument/2006/relationships/package" Target="../embeddings/Microsoft_Office_Excel____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zh-TW"/>
  <c:chart>
    <c:autoTitleDeleted val="1"/>
    <c:plotArea>
      <c:layout/>
      <c:barChart>
        <c:barDir val="col"/>
        <c:grouping val="clustered"/>
        <c:ser>
          <c:idx val="0"/>
          <c:order val="0"/>
          <c:tx>
            <c:strRef>
              <c:f>TOP7結果!$A$2</c:f>
              <c:strCache>
                <c:ptCount val="1"/>
                <c:pt idx="0">
                  <c:v>TOP2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cat>
            <c:strRef>
              <c:f>TOP7結果!$B$1:$J$1</c:f>
              <c:strCache>
                <c:ptCount val="9"/>
                <c:pt idx="0">
                  <c:v>7-7</c:v>
                </c:pt>
                <c:pt idx="1">
                  <c:v>7-8</c:v>
                </c:pt>
                <c:pt idx="2">
                  <c:v>7-9</c:v>
                </c:pt>
                <c:pt idx="3">
                  <c:v>8-7</c:v>
                </c:pt>
                <c:pt idx="4">
                  <c:v>8-8</c:v>
                </c:pt>
                <c:pt idx="5">
                  <c:v>8-9</c:v>
                </c:pt>
                <c:pt idx="6">
                  <c:v>9-7</c:v>
                </c:pt>
                <c:pt idx="7">
                  <c:v>9-8</c:v>
                </c:pt>
                <c:pt idx="8">
                  <c:v>9-9</c:v>
                </c:pt>
              </c:strCache>
            </c:strRef>
          </c:cat>
          <c:val>
            <c:numRef>
              <c:f>TOP7結果!$B$2:$J$2</c:f>
              <c:numCache>
                <c:formatCode>General</c:formatCode>
                <c:ptCount val="9"/>
                <c:pt idx="0">
                  <c:v>0.34233582336809232</c:v>
                </c:pt>
                <c:pt idx="1">
                  <c:v>0.45967778373523077</c:v>
                </c:pt>
                <c:pt idx="2">
                  <c:v>0.42995285583942866</c:v>
                </c:pt>
                <c:pt idx="3">
                  <c:v>0.35872768802956934</c:v>
                </c:pt>
                <c:pt idx="4">
                  <c:v>0.44879299607451922</c:v>
                </c:pt>
                <c:pt idx="5">
                  <c:v>0.43175579769676192</c:v>
                </c:pt>
                <c:pt idx="6">
                  <c:v>0.36744321150324621</c:v>
                </c:pt>
                <c:pt idx="7">
                  <c:v>0.45577729669840389</c:v>
                </c:pt>
                <c:pt idx="8">
                  <c:v>0.41900990742114291</c:v>
                </c:pt>
              </c:numCache>
            </c:numRef>
          </c:val>
        </c:ser>
        <c:ser>
          <c:idx val="1"/>
          <c:order val="1"/>
          <c:tx>
            <c:strRef>
              <c:f>TOP7結果!$A$3</c:f>
              <c:strCache>
                <c:ptCount val="1"/>
                <c:pt idx="0">
                  <c:v>TOP3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cat>
            <c:strRef>
              <c:f>TOP7結果!$B$1:$J$1</c:f>
              <c:strCache>
                <c:ptCount val="9"/>
                <c:pt idx="0">
                  <c:v>7-7</c:v>
                </c:pt>
                <c:pt idx="1">
                  <c:v>7-8</c:v>
                </c:pt>
                <c:pt idx="2">
                  <c:v>7-9</c:v>
                </c:pt>
                <c:pt idx="3">
                  <c:v>8-7</c:v>
                </c:pt>
                <c:pt idx="4">
                  <c:v>8-8</c:v>
                </c:pt>
                <c:pt idx="5">
                  <c:v>8-9</c:v>
                </c:pt>
                <c:pt idx="6">
                  <c:v>9-7</c:v>
                </c:pt>
                <c:pt idx="7">
                  <c:v>9-8</c:v>
                </c:pt>
                <c:pt idx="8">
                  <c:v>9-9</c:v>
                </c:pt>
              </c:strCache>
            </c:strRef>
          </c:cat>
          <c:val>
            <c:numRef>
              <c:f>TOP7結果!$B$3:$J$3</c:f>
              <c:numCache>
                <c:formatCode>General</c:formatCode>
                <c:ptCount val="9"/>
                <c:pt idx="0">
                  <c:v>0.34179885634246149</c:v>
                </c:pt>
                <c:pt idx="1">
                  <c:v>0.46483035202607675</c:v>
                </c:pt>
                <c:pt idx="2">
                  <c:v>0.43037183090857156</c:v>
                </c:pt>
                <c:pt idx="3">
                  <c:v>0.36060520638055382</c:v>
                </c:pt>
                <c:pt idx="4">
                  <c:v>0.44418701764482682</c:v>
                </c:pt>
                <c:pt idx="5">
                  <c:v>0.43089312837534932</c:v>
                </c:pt>
                <c:pt idx="6">
                  <c:v>0.36622096901592321</c:v>
                </c:pt>
                <c:pt idx="7">
                  <c:v>0.45450851490450017</c:v>
                </c:pt>
                <c:pt idx="8">
                  <c:v>0.41002551547507959</c:v>
                </c:pt>
              </c:numCache>
            </c:numRef>
          </c:val>
        </c:ser>
        <c:ser>
          <c:idx val="2"/>
          <c:order val="2"/>
          <c:tx>
            <c:strRef>
              <c:f>TOP7結果!$A$4</c:f>
              <c:strCache>
                <c:ptCount val="1"/>
                <c:pt idx="0">
                  <c:v>TOP4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cat>
            <c:strRef>
              <c:f>TOP7結果!$B$1:$J$1</c:f>
              <c:strCache>
                <c:ptCount val="9"/>
                <c:pt idx="0">
                  <c:v>7-7</c:v>
                </c:pt>
                <c:pt idx="1">
                  <c:v>7-8</c:v>
                </c:pt>
                <c:pt idx="2">
                  <c:v>7-9</c:v>
                </c:pt>
                <c:pt idx="3">
                  <c:v>8-7</c:v>
                </c:pt>
                <c:pt idx="4">
                  <c:v>8-8</c:v>
                </c:pt>
                <c:pt idx="5">
                  <c:v>8-9</c:v>
                </c:pt>
                <c:pt idx="6">
                  <c:v>9-7</c:v>
                </c:pt>
                <c:pt idx="7">
                  <c:v>9-8</c:v>
                </c:pt>
                <c:pt idx="8">
                  <c:v>9-9</c:v>
                </c:pt>
              </c:strCache>
            </c:strRef>
          </c:cat>
          <c:val>
            <c:numRef>
              <c:f>TOP7結果!$B$4:$J$4</c:f>
              <c:numCache>
                <c:formatCode>General</c:formatCode>
                <c:ptCount val="9"/>
                <c:pt idx="0">
                  <c:v>0.33361352767503083</c:v>
                </c:pt>
                <c:pt idx="1">
                  <c:v>0.46564203579217317</c:v>
                </c:pt>
                <c:pt idx="2">
                  <c:v>0.4301900079760953</c:v>
                </c:pt>
                <c:pt idx="3">
                  <c:v>0.36139944691024617</c:v>
                </c:pt>
                <c:pt idx="4">
                  <c:v>0.43404262322571147</c:v>
                </c:pt>
                <c:pt idx="5">
                  <c:v>0.42301345575795246</c:v>
                </c:pt>
                <c:pt idx="6">
                  <c:v>0.36660602211052329</c:v>
                </c:pt>
                <c:pt idx="7">
                  <c:v>0.463324457450904</c:v>
                </c:pt>
                <c:pt idx="8">
                  <c:v>0.4038096158610478</c:v>
                </c:pt>
              </c:numCache>
            </c:numRef>
          </c:val>
        </c:ser>
        <c:ser>
          <c:idx val="3"/>
          <c:order val="3"/>
          <c:tx>
            <c:strRef>
              <c:f>TOP7結果!$A$5</c:f>
              <c:strCache>
                <c:ptCount val="1"/>
                <c:pt idx="0">
                  <c:v>TOP5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cat>
            <c:strRef>
              <c:f>TOP7結果!$B$1:$J$1</c:f>
              <c:strCache>
                <c:ptCount val="9"/>
                <c:pt idx="0">
                  <c:v>7-7</c:v>
                </c:pt>
                <c:pt idx="1">
                  <c:v>7-8</c:v>
                </c:pt>
                <c:pt idx="2">
                  <c:v>7-9</c:v>
                </c:pt>
                <c:pt idx="3">
                  <c:v>8-7</c:v>
                </c:pt>
                <c:pt idx="4">
                  <c:v>8-8</c:v>
                </c:pt>
                <c:pt idx="5">
                  <c:v>8-9</c:v>
                </c:pt>
                <c:pt idx="6">
                  <c:v>9-7</c:v>
                </c:pt>
                <c:pt idx="7">
                  <c:v>9-8</c:v>
                </c:pt>
                <c:pt idx="8">
                  <c:v>9-9</c:v>
                </c:pt>
              </c:strCache>
            </c:strRef>
          </c:cat>
          <c:val>
            <c:numRef>
              <c:f>TOP7結果!$B$5:$J$5</c:f>
              <c:numCache>
                <c:formatCode>General</c:formatCode>
                <c:ptCount val="9"/>
                <c:pt idx="0">
                  <c:v>0.32687108137235393</c:v>
                </c:pt>
                <c:pt idx="1">
                  <c:v>0.46841796678605774</c:v>
                </c:pt>
                <c:pt idx="2">
                  <c:v>0.42680328105307946</c:v>
                </c:pt>
                <c:pt idx="3">
                  <c:v>0.36274138991683075</c:v>
                </c:pt>
                <c:pt idx="4">
                  <c:v>0.43192144389032688</c:v>
                </c:pt>
                <c:pt idx="5">
                  <c:v>0.41987258040987313</c:v>
                </c:pt>
                <c:pt idx="6">
                  <c:v>0.3681275724687384</c:v>
                </c:pt>
                <c:pt idx="7">
                  <c:v>0.45819606366044235</c:v>
                </c:pt>
                <c:pt idx="8">
                  <c:v>0.40031658477357146</c:v>
                </c:pt>
              </c:numCache>
            </c:numRef>
          </c:val>
        </c:ser>
        <c:ser>
          <c:idx val="4"/>
          <c:order val="4"/>
          <c:tx>
            <c:strRef>
              <c:f>TOP7結果!$A$6</c:f>
              <c:strCache>
                <c:ptCount val="1"/>
                <c:pt idx="0">
                  <c:v>TOP6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cat>
            <c:strRef>
              <c:f>TOP7結果!$B$1:$J$1</c:f>
              <c:strCache>
                <c:ptCount val="9"/>
                <c:pt idx="0">
                  <c:v>7-7</c:v>
                </c:pt>
                <c:pt idx="1">
                  <c:v>7-8</c:v>
                </c:pt>
                <c:pt idx="2">
                  <c:v>7-9</c:v>
                </c:pt>
                <c:pt idx="3">
                  <c:v>8-7</c:v>
                </c:pt>
                <c:pt idx="4">
                  <c:v>8-8</c:v>
                </c:pt>
                <c:pt idx="5">
                  <c:v>8-9</c:v>
                </c:pt>
                <c:pt idx="6">
                  <c:v>9-7</c:v>
                </c:pt>
                <c:pt idx="7">
                  <c:v>9-8</c:v>
                </c:pt>
                <c:pt idx="8">
                  <c:v>9-9</c:v>
                </c:pt>
              </c:strCache>
            </c:strRef>
          </c:cat>
          <c:val>
            <c:numRef>
              <c:f>TOP7結果!$B$6:$J$6</c:f>
              <c:numCache>
                <c:formatCode>General</c:formatCode>
                <c:ptCount val="9"/>
                <c:pt idx="0">
                  <c:v>0.3234998335473539</c:v>
                </c:pt>
                <c:pt idx="1">
                  <c:v>0.42736680791614307</c:v>
                </c:pt>
                <c:pt idx="2">
                  <c:v>0.46753672825361536</c:v>
                </c:pt>
                <c:pt idx="3">
                  <c:v>0.36232761358129234</c:v>
                </c:pt>
                <c:pt idx="4">
                  <c:v>0.4297042184676732</c:v>
                </c:pt>
                <c:pt idx="5">
                  <c:v>0.42713386564707939</c:v>
                </c:pt>
                <c:pt idx="6">
                  <c:v>0.37006670396792329</c:v>
                </c:pt>
                <c:pt idx="7">
                  <c:v>0.45778541403709616</c:v>
                </c:pt>
                <c:pt idx="8">
                  <c:v>0.38716233519704796</c:v>
                </c:pt>
              </c:numCache>
            </c:numRef>
          </c:val>
        </c:ser>
        <c:ser>
          <c:idx val="5"/>
          <c:order val="5"/>
          <c:tx>
            <c:strRef>
              <c:f>TOP7結果!$A$7</c:f>
              <c:strCache>
                <c:ptCount val="1"/>
                <c:pt idx="0">
                  <c:v>TOP7</c:v>
                </c:pt>
              </c:strCache>
            </c:strRef>
          </c:tx>
          <c:spPr>
            <a:solidFill>
              <a:schemeClr val="accent6"/>
            </a:solidFill>
            <a:ln>
              <a:noFill/>
            </a:ln>
            <a:effectLst/>
          </c:spPr>
          <c:cat>
            <c:strRef>
              <c:f>TOP7結果!$B$1:$J$1</c:f>
              <c:strCache>
                <c:ptCount val="9"/>
                <c:pt idx="0">
                  <c:v>7-7</c:v>
                </c:pt>
                <c:pt idx="1">
                  <c:v>7-8</c:v>
                </c:pt>
                <c:pt idx="2">
                  <c:v>7-9</c:v>
                </c:pt>
                <c:pt idx="3">
                  <c:v>8-7</c:v>
                </c:pt>
                <c:pt idx="4">
                  <c:v>8-8</c:v>
                </c:pt>
                <c:pt idx="5">
                  <c:v>8-9</c:v>
                </c:pt>
                <c:pt idx="6">
                  <c:v>9-7</c:v>
                </c:pt>
                <c:pt idx="7">
                  <c:v>9-8</c:v>
                </c:pt>
                <c:pt idx="8">
                  <c:v>9-9</c:v>
                </c:pt>
              </c:strCache>
            </c:strRef>
          </c:cat>
          <c:val>
            <c:numRef>
              <c:f>TOP7結果!$B$7:$J$7</c:f>
              <c:numCache>
                <c:formatCode>General</c:formatCode>
                <c:ptCount val="9"/>
                <c:pt idx="0">
                  <c:v>0.32003944795544614</c:v>
                </c:pt>
                <c:pt idx="1">
                  <c:v>0.46786581116521148</c:v>
                </c:pt>
                <c:pt idx="2">
                  <c:v>0.4181691214997143</c:v>
                </c:pt>
                <c:pt idx="3">
                  <c:v>0.36582157914072316</c:v>
                </c:pt>
                <c:pt idx="4">
                  <c:v>0.41059797983428847</c:v>
                </c:pt>
                <c:pt idx="5">
                  <c:v>0.42646556180693657</c:v>
                </c:pt>
                <c:pt idx="6">
                  <c:v>0.37164097326980022</c:v>
                </c:pt>
                <c:pt idx="7">
                  <c:v>0.45679804765149989</c:v>
                </c:pt>
                <c:pt idx="8">
                  <c:v>0.37593892737496842</c:v>
                </c:pt>
              </c:numCache>
            </c:numRef>
          </c:val>
        </c:ser>
        <c:ser>
          <c:idx val="6"/>
          <c:order val="6"/>
          <c:tx>
            <c:strRef>
              <c:f>TOP7結果!$A$8</c:f>
              <c:strCache>
                <c:ptCount val="1"/>
                <c:pt idx="0">
                  <c:v>ALL</c:v>
                </c:pt>
              </c:strCache>
            </c:strRef>
          </c:tx>
          <c:spPr>
            <a:solidFill>
              <a:schemeClr val="accent1">
                <a:lumMod val="60000"/>
              </a:schemeClr>
            </a:solidFill>
            <a:ln>
              <a:noFill/>
            </a:ln>
            <a:effectLst/>
          </c:spPr>
          <c:cat>
            <c:strRef>
              <c:f>TOP7結果!$B$1:$J$1</c:f>
              <c:strCache>
                <c:ptCount val="9"/>
                <c:pt idx="0">
                  <c:v>7-7</c:v>
                </c:pt>
                <c:pt idx="1">
                  <c:v>7-8</c:v>
                </c:pt>
                <c:pt idx="2">
                  <c:v>7-9</c:v>
                </c:pt>
                <c:pt idx="3">
                  <c:v>8-7</c:v>
                </c:pt>
                <c:pt idx="4">
                  <c:v>8-8</c:v>
                </c:pt>
                <c:pt idx="5">
                  <c:v>8-9</c:v>
                </c:pt>
                <c:pt idx="6">
                  <c:v>9-7</c:v>
                </c:pt>
                <c:pt idx="7">
                  <c:v>9-8</c:v>
                </c:pt>
                <c:pt idx="8">
                  <c:v>9-9</c:v>
                </c:pt>
              </c:strCache>
            </c:strRef>
          </c:cat>
          <c:val>
            <c:numRef>
              <c:f>TOP7結果!$B$8:$J$8</c:f>
              <c:numCache>
                <c:formatCode>General</c:formatCode>
                <c:ptCount val="9"/>
                <c:pt idx="0">
                  <c:v>0.26605154600963582</c:v>
                </c:pt>
                <c:pt idx="1">
                  <c:v>0.44248623009909621</c:v>
                </c:pt>
                <c:pt idx="2">
                  <c:v>0.42794850918272404</c:v>
                </c:pt>
                <c:pt idx="3">
                  <c:v>0.36186558426801008</c:v>
                </c:pt>
                <c:pt idx="4">
                  <c:v>0.34024858061676044</c:v>
                </c:pt>
                <c:pt idx="5">
                  <c:v>0.42881537084527194</c:v>
                </c:pt>
                <c:pt idx="6">
                  <c:v>0.36370726900691092</c:v>
                </c:pt>
                <c:pt idx="7">
                  <c:v>0.43989465263477268</c:v>
                </c:pt>
                <c:pt idx="8">
                  <c:v>0.30622755528808132</c:v>
                </c:pt>
              </c:numCache>
            </c:numRef>
          </c:val>
        </c:ser>
        <c:dLbls/>
        <c:gapWidth val="219"/>
        <c:overlap val="-27"/>
        <c:axId val="80867712"/>
        <c:axId val="80869248"/>
      </c:barChart>
      <c:catAx>
        <c:axId val="80867712"/>
        <c:scaling>
          <c:orientation val="minMax"/>
        </c:scaling>
        <c:axPos val="b"/>
        <c:numFmt formatCode="General" sourceLinked="1"/>
        <c:maj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80869248"/>
        <c:crosses val="autoZero"/>
        <c:auto val="1"/>
        <c:lblAlgn val="ctr"/>
        <c:lblOffset val="100"/>
      </c:catAx>
      <c:valAx>
        <c:axId val="80869248"/>
        <c:scaling>
          <c:orientation val="minMax"/>
        </c:scaling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808677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4287472583072491"/>
          <c:y val="0.87410891838763871"/>
          <c:w val="0.71425054833855017"/>
          <c:h val="0.12589108161236132"/>
        </c:manualLayout>
      </c:layout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1"/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lang val="zh-TW"/>
  <c:chart>
    <c:autoTitleDeleted val="1"/>
    <c:plotArea>
      <c:layout/>
      <c:lineChart>
        <c:grouping val="standard"/>
        <c:ser>
          <c:idx val="0"/>
          <c:order val="0"/>
          <c:tx>
            <c:strRef>
              <c:f>工作表1!$B$1</c:f>
              <c:strCache>
                <c:ptCount val="1"/>
                <c:pt idx="0">
                  <c:v>7 7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strRef>
              <c:f>工作表1!$A$2:$A$5</c:f>
              <c:strCache>
                <c:ptCount val="4"/>
                <c:pt idx="0">
                  <c:v>No threshold</c:v>
                </c:pt>
                <c:pt idx="1">
                  <c:v>Thresh=0.05</c:v>
                </c:pt>
                <c:pt idx="2">
                  <c:v>Thresh=0.10</c:v>
                </c:pt>
                <c:pt idx="3">
                  <c:v>Thresh=0.20</c:v>
                </c:pt>
              </c:strCache>
            </c:strRef>
          </c:cat>
          <c:val>
            <c:numRef>
              <c:f>工作表1!$B$2:$B$5</c:f>
              <c:numCache>
                <c:formatCode>General</c:formatCode>
                <c:ptCount val="4"/>
                <c:pt idx="0">
                  <c:v>0.35840150043223085</c:v>
                </c:pt>
                <c:pt idx="1">
                  <c:v>0.35459551566701558</c:v>
                </c:pt>
                <c:pt idx="2">
                  <c:v>0.34473902827818464</c:v>
                </c:pt>
                <c:pt idx="3">
                  <c:v>0.33445644485620007</c:v>
                </c:pt>
              </c:numCache>
            </c:numRef>
          </c:val>
        </c:ser>
        <c:ser>
          <c:idx val="1"/>
          <c:order val="1"/>
          <c:tx>
            <c:strRef>
              <c:f>工作表1!$C$1</c:f>
              <c:strCache>
                <c:ptCount val="1"/>
                <c:pt idx="0">
                  <c:v>8 8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工作表1!$A$2:$A$5</c:f>
              <c:strCache>
                <c:ptCount val="4"/>
                <c:pt idx="0">
                  <c:v>No threshold</c:v>
                </c:pt>
                <c:pt idx="1">
                  <c:v>Thresh=0.05</c:v>
                </c:pt>
                <c:pt idx="2">
                  <c:v>Thresh=0.10</c:v>
                </c:pt>
                <c:pt idx="3">
                  <c:v>Thresh=0.20</c:v>
                </c:pt>
              </c:strCache>
            </c:strRef>
          </c:cat>
          <c:val>
            <c:numRef>
              <c:f>工作表1!$C$2:$C$5</c:f>
              <c:numCache>
                <c:formatCode>General</c:formatCode>
                <c:ptCount val="4"/>
                <c:pt idx="0">
                  <c:v>0.44591625762757697</c:v>
                </c:pt>
                <c:pt idx="1">
                  <c:v>0.44417206845807689</c:v>
                </c:pt>
                <c:pt idx="2">
                  <c:v>0.41837867043507693</c:v>
                </c:pt>
                <c:pt idx="3">
                  <c:v>0.4234805150720003</c:v>
                </c:pt>
              </c:numCache>
            </c:numRef>
          </c:val>
        </c:ser>
        <c:ser>
          <c:idx val="2"/>
          <c:order val="2"/>
          <c:tx>
            <c:strRef>
              <c:f>工作表1!$D$1</c:f>
              <c:strCache>
                <c:ptCount val="1"/>
                <c:pt idx="0">
                  <c:v>9 9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工作表1!$A$2:$A$5</c:f>
              <c:strCache>
                <c:ptCount val="4"/>
                <c:pt idx="0">
                  <c:v>No threshold</c:v>
                </c:pt>
                <c:pt idx="1">
                  <c:v>Thresh=0.05</c:v>
                </c:pt>
                <c:pt idx="2">
                  <c:v>Thresh=0.10</c:v>
                </c:pt>
                <c:pt idx="3">
                  <c:v>Thresh=0.20</c:v>
                </c:pt>
              </c:strCache>
            </c:strRef>
          </c:cat>
          <c:val>
            <c:numRef>
              <c:f>工作表1!$D$2:$D$5</c:f>
              <c:numCache>
                <c:formatCode>General</c:formatCode>
                <c:ptCount val="4"/>
                <c:pt idx="0">
                  <c:v>0.42539135191696781</c:v>
                </c:pt>
                <c:pt idx="1">
                  <c:v>0.42950044285723815</c:v>
                </c:pt>
                <c:pt idx="2">
                  <c:v>0.4226182922343969</c:v>
                </c:pt>
                <c:pt idx="3">
                  <c:v>0.41534669560450793</c:v>
                </c:pt>
              </c:numCache>
            </c:numRef>
          </c:val>
        </c:ser>
        <c:ser>
          <c:idx val="3"/>
          <c:order val="3"/>
          <c:tx>
            <c:strRef>
              <c:f>工作表1!$E$1</c:f>
              <c:strCache>
                <c:ptCount val="1"/>
                <c:pt idx="0">
                  <c:v>10 10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strRef>
              <c:f>工作表1!$A$2:$A$5</c:f>
              <c:strCache>
                <c:ptCount val="4"/>
                <c:pt idx="0">
                  <c:v>No threshold</c:v>
                </c:pt>
                <c:pt idx="1">
                  <c:v>Thresh=0.05</c:v>
                </c:pt>
                <c:pt idx="2">
                  <c:v>Thresh=0.10</c:v>
                </c:pt>
                <c:pt idx="3">
                  <c:v>Thresh=0.20</c:v>
                </c:pt>
              </c:strCache>
            </c:strRef>
          </c:cat>
          <c:val>
            <c:numRef>
              <c:f>工作表1!$E$2:$E$5</c:f>
              <c:numCache>
                <c:formatCode>General</c:formatCode>
                <c:ptCount val="4"/>
                <c:pt idx="0">
                  <c:v>0.3577778925201025</c:v>
                </c:pt>
                <c:pt idx="1">
                  <c:v>0.35731608254764113</c:v>
                </c:pt>
                <c:pt idx="2">
                  <c:v>0.34639474179433333</c:v>
                </c:pt>
                <c:pt idx="3">
                  <c:v>0.34370392558356411</c:v>
                </c:pt>
              </c:numCache>
            </c:numRef>
          </c:val>
        </c:ser>
        <c:dLbls/>
        <c:marker val="1"/>
        <c:axId val="82384768"/>
        <c:axId val="82386304"/>
      </c:lineChart>
      <c:catAx>
        <c:axId val="82384768"/>
        <c:scaling>
          <c:orientation val="minMax"/>
        </c:scaling>
        <c:axPos val="b"/>
        <c:numFmt formatCode="General" sourceLinked="1"/>
        <c:maj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82386304"/>
        <c:crosses val="autoZero"/>
        <c:auto val="1"/>
        <c:lblAlgn val="ctr"/>
        <c:lblOffset val="100"/>
      </c:catAx>
      <c:valAx>
        <c:axId val="82386304"/>
        <c:scaling>
          <c:orientation val="minMax"/>
          <c:max val="0.46"/>
          <c:min val="0.32000000000000012"/>
        </c:scaling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8238476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1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4999" cy="35496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5797246" y="0"/>
            <a:ext cx="4434999" cy="35496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B9A1E9FC-490C-4865-A082-2CA8BB7D5A91}" type="datetimeFigureOut">
              <a:rPr lang="zh-TW" altLang="en-US" smtClean="0"/>
              <a:pPr/>
              <a:t>2015/2/5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6743103"/>
            <a:ext cx="4434999" cy="35496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5797246" y="6743103"/>
            <a:ext cx="4434999" cy="35496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79BA81C7-1ECC-4CF7-ABF1-426C762021BC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9910503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4999" cy="35496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5797246" y="0"/>
            <a:ext cx="4434999" cy="354965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542458AF-C11A-4B8D-B5DF-F124E30CB17B}" type="datetimeFigureOut">
              <a:rPr lang="zh-TW" altLang="en-US" smtClean="0"/>
              <a:pPr/>
              <a:t>2015/2/5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341688" y="531813"/>
            <a:ext cx="3551237" cy="26622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1023462" y="3372168"/>
            <a:ext cx="8187690" cy="3194685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6743103"/>
            <a:ext cx="4434999" cy="35496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5797246" y="6743103"/>
            <a:ext cx="4434999" cy="354965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08879042-3193-49F2-8086-409E581C9D3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913517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altLang="en-US" sz="1300" dirty="0"/>
              <a:t>利用工具偏好分類與特徵選取之蛋白質骨幹重建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879042-3193-49F2-8086-409E581C9D3A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2979989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879042-3193-49F2-8086-409E581C9D3A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6597074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879042-3193-49F2-8086-409E581C9D3A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2320673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879042-3193-49F2-8086-409E581C9D3A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8745290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879042-3193-49F2-8086-409E581C9D3A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0370198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879042-3193-49F2-8086-409E581C9D3A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3165197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879042-3193-49F2-8086-409E581C9D3A}" type="slidenum">
              <a:rPr lang="zh-TW" altLang="en-US" smtClean="0"/>
              <a:pPr/>
              <a:t>26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9294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879042-3193-49F2-8086-409E581C9D3A}" type="slidenum">
              <a:rPr lang="zh-TW" altLang="en-US" smtClean="0"/>
              <a:pPr/>
              <a:t>27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23679695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879042-3193-49F2-8086-409E581C9D3A}" type="slidenum">
              <a:rPr lang="zh-TW" altLang="en-US" smtClean="0"/>
              <a:pPr/>
              <a:t>28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417053621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879042-3193-49F2-8086-409E581C9D3A}" type="slidenum">
              <a:rPr lang="zh-TW" altLang="en-US" smtClean="0"/>
              <a:pPr/>
              <a:t>29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257062473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879042-3193-49F2-8086-409E581C9D3A}" type="slidenum">
              <a:rPr lang="zh-TW" altLang="en-US" smtClean="0"/>
              <a:pPr/>
              <a:t>30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5736758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879042-3193-49F2-8086-409E581C9D3A}" type="slidenum">
              <a:rPr lang="zh-TW" altLang="en-US" smtClean="0"/>
              <a:pPr/>
              <a:t>31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161828094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8879042-3193-49F2-8086-409E581C9D3A}" type="slidenum">
              <a:rPr lang="zh-TW" altLang="en-US" smtClean="0"/>
              <a:pPr/>
              <a:t>32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xmlns="" val="3229843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ctrTitle"/>
          </p:nvPr>
        </p:nvSpPr>
        <p:spPr>
          <a:xfrm>
            <a:off x="1242392" y="1556792"/>
            <a:ext cx="6858000" cy="1440160"/>
          </a:xfrm>
        </p:spPr>
        <p:txBody>
          <a:bodyPr anchor="t" anchorCtr="0"/>
          <a:lstStyle>
            <a:lvl1pPr algn="r">
              <a:defRPr sz="3200" b="1">
                <a:solidFill>
                  <a:schemeClr val="tx1"/>
                </a:solidFill>
              </a:defRPr>
            </a:lvl1pPr>
          </a:lstStyle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9" name="副標題 8"/>
          <p:cNvSpPr>
            <a:spLocks noGrp="1"/>
          </p:cNvSpPr>
          <p:nvPr>
            <p:ph type="subTitle" idx="1"/>
          </p:nvPr>
        </p:nvSpPr>
        <p:spPr>
          <a:xfrm>
            <a:off x="1219200" y="3228979"/>
            <a:ext cx="6858000" cy="2200243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TW" altLang="en-US" smtClean="0"/>
              <a:t>按一下以編輯母片副標題樣式</a:t>
            </a:r>
            <a:endParaRPr kumimoji="0" lang="en-US"/>
          </a:p>
        </p:txBody>
      </p:sp>
      <p:sp>
        <p:nvSpPr>
          <p:cNvPr id="28" name="日期版面配置區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r>
              <a:rPr lang="en-US" altLang="zh-TW" smtClean="0"/>
              <a:t>2015/1/13</a:t>
            </a:r>
            <a:endParaRPr lang="zh-TW" altLang="en-US"/>
          </a:p>
        </p:txBody>
      </p:sp>
      <p:sp>
        <p:nvSpPr>
          <p:cNvPr id="17" name="頁尾版面配置區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1" name="矩形 20"/>
          <p:cNvSpPr/>
          <p:nvPr/>
        </p:nvSpPr>
        <p:spPr>
          <a:xfrm>
            <a:off x="904875" y="980728"/>
            <a:ext cx="7315200" cy="2088232"/>
          </a:xfrm>
          <a:prstGeom prst="rect">
            <a:avLst/>
          </a:prstGeom>
          <a:noFill/>
          <a:ln w="6350" cap="rnd" cmpd="sng" algn="ctr">
            <a:solidFill>
              <a:schemeClr val="accent1">
                <a:lumMod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矩形 32"/>
          <p:cNvSpPr/>
          <p:nvPr/>
        </p:nvSpPr>
        <p:spPr>
          <a:xfrm>
            <a:off x="914400" y="3140968"/>
            <a:ext cx="7305675" cy="2376264"/>
          </a:xfrm>
          <a:prstGeom prst="rect">
            <a:avLst/>
          </a:prstGeom>
          <a:noFill/>
          <a:ln w="6350" cap="rnd" cmpd="sng" algn="ctr">
            <a:solidFill>
              <a:schemeClr val="accent3">
                <a:lumMod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矩形 21"/>
          <p:cNvSpPr/>
          <p:nvPr/>
        </p:nvSpPr>
        <p:spPr>
          <a:xfrm>
            <a:off x="904875" y="980728"/>
            <a:ext cx="228600" cy="2088232"/>
          </a:xfrm>
          <a:prstGeom prst="rect">
            <a:avLst/>
          </a:prstGeom>
          <a:solidFill>
            <a:schemeClr val="accent1">
              <a:lumMod val="75000"/>
            </a:schemeClr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矩形 31"/>
          <p:cNvSpPr/>
          <p:nvPr/>
        </p:nvSpPr>
        <p:spPr>
          <a:xfrm>
            <a:off x="904875" y="3140968"/>
            <a:ext cx="238125" cy="2376264"/>
          </a:xfrm>
          <a:prstGeom prst="rect">
            <a:avLst/>
          </a:prstGeom>
          <a:solidFill>
            <a:schemeClr val="accent3">
              <a:lumMod val="75000"/>
            </a:schemeClr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+mj-lt"/>
                <a:ea typeface="微軟正黑體" panose="020B0604030504040204" pitchFamily="34" charset="-120"/>
              </a:defRPr>
            </a:lvl1pPr>
          </a:lstStyle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en-US" altLang="zh-TW" smtClean="0"/>
              <a:t>2015/1/13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>
            <a:lvl1pPr>
              <a:defRPr>
                <a:latin typeface="+mj-lt"/>
                <a:ea typeface="微軟正黑體" panose="020B0604030504040204" pitchFamily="34" charset="-120"/>
              </a:defRPr>
            </a:lvl1pPr>
            <a:lvl2pPr>
              <a:defRPr>
                <a:latin typeface="+mj-lt"/>
                <a:ea typeface="微軟正黑體" panose="020B0604030504040204" pitchFamily="34" charset="-120"/>
              </a:defRPr>
            </a:lvl2pPr>
            <a:lvl3pPr>
              <a:defRPr>
                <a:latin typeface="+mj-lt"/>
                <a:ea typeface="微軟正黑體" panose="020B0604030504040204" pitchFamily="34" charset="-120"/>
              </a:defRPr>
            </a:lvl3pPr>
            <a:lvl4pPr>
              <a:defRPr>
                <a:latin typeface="+mj-lt"/>
                <a:ea typeface="微軟正黑體" panose="020B0604030504040204" pitchFamily="34" charset="-120"/>
              </a:defRPr>
            </a:lvl4pPr>
            <a:lvl5pPr>
              <a:defRPr>
                <a:latin typeface="+mj-lt"/>
                <a:ea typeface="微軟正黑體" panose="020B0604030504040204" pitchFamily="34" charset="-120"/>
              </a:defRPr>
            </a:lvl5pPr>
          </a:lstStyle>
          <a:p>
            <a:pPr lvl="0" eaLnBrk="1" latinLnBrk="0" hangingPunct="1"/>
            <a:r>
              <a:rPr lang="zh-TW" altLang="en-US" dirty="0" smtClean="0"/>
              <a:t>按一下以編輯母片文字樣式</a:t>
            </a:r>
          </a:p>
          <a:p>
            <a:pPr lvl="1" eaLnBrk="1" latinLnBrk="0" hangingPunct="1"/>
            <a:r>
              <a:rPr lang="zh-TW" altLang="en-US" dirty="0" smtClean="0"/>
              <a:t>第二層</a:t>
            </a:r>
          </a:p>
          <a:p>
            <a:pPr lvl="2" eaLnBrk="1" latinLnBrk="0" hangingPunct="1"/>
            <a:r>
              <a:rPr lang="zh-TW" altLang="en-US" dirty="0" smtClean="0"/>
              <a:t>第三層</a:t>
            </a:r>
          </a:p>
          <a:p>
            <a:pPr lvl="3" eaLnBrk="1" latinLnBrk="0" hangingPunct="1"/>
            <a:r>
              <a:rPr lang="zh-TW" altLang="en-US" dirty="0" smtClean="0"/>
              <a:t>第四層</a:t>
            </a:r>
          </a:p>
          <a:p>
            <a:pPr lvl="4" eaLnBrk="1" latinLnBrk="0" hangingPunct="1"/>
            <a:r>
              <a:rPr lang="zh-TW" altLang="en-US" dirty="0" smtClean="0"/>
              <a:t>第五層</a:t>
            </a:r>
            <a:endParaRPr kumimoji="0"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r>
              <a:rPr lang="en-US" altLang="zh-TW" smtClean="0"/>
              <a:t>2015/1/13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矩形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2015/1/13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9" name="內容版面配置區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2015/1/13</a:t>
            </a:r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11" name="內容版面配置區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13" name="內容版面配置區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2015/1/13</a:t>
            </a:r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6" name="等腰三角形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2015/1/13</a:t>
            </a:r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5" name="直線接點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等腰三角形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2015/1/13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直線接點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等腰三角形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內容版面配置區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zh-TW" altLang="en-US" smtClean="0"/>
              <a:t>按一下圖示以新增圖片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2015/1/13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直線接點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等腰三角形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矩形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2015/1/13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2015/1/13</a:t>
            </a:r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7" name="直線接點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等腰三角形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直線接點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標題及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62000" y="533400"/>
            <a:ext cx="7620000" cy="769938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表格版面配置區 2"/>
          <p:cNvSpPr>
            <a:spLocks noGrp="1"/>
          </p:cNvSpPr>
          <p:nvPr>
            <p:ph type="tbl" idx="1"/>
          </p:nvPr>
        </p:nvSpPr>
        <p:spPr>
          <a:xfrm>
            <a:off x="762000" y="1524000"/>
            <a:ext cx="7772400" cy="41148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9144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2015/1/13</a:t>
            </a: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2362200" y="6324600"/>
            <a:ext cx="4876800" cy="457200"/>
          </a:xfrm>
        </p:spPr>
        <p:txBody>
          <a:bodyPr/>
          <a:lstStyle>
            <a:lvl1pPr>
              <a:defRPr/>
            </a:lvl1pPr>
          </a:lstStyle>
          <a:p>
            <a:endParaRPr lang="zh-TW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781800" y="63246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/>
              <a:t>4 -</a:t>
            </a:r>
            <a:fld id="{D006B8F7-737D-4A54-86E7-4A80C1E61F93}" type="slidenum">
              <a:rPr lang="en-US" altLang="zh-TW"/>
              <a:pPr/>
              <a:t>‹#›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xmlns="" val="2017361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標題版面配置區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13" name="文字版面配置區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 dirty="0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dirty="0" smtClean="0"/>
              <a:t>第二層</a:t>
            </a:r>
          </a:p>
          <a:p>
            <a:pPr lvl="2" eaLnBrk="1" latinLnBrk="0" hangingPunct="1"/>
            <a:r>
              <a:rPr kumimoji="0" lang="zh-TW" altLang="en-US" dirty="0" smtClean="0"/>
              <a:t>第三層</a:t>
            </a:r>
          </a:p>
          <a:p>
            <a:pPr lvl="3" eaLnBrk="1" latinLnBrk="0" hangingPunct="1"/>
            <a:r>
              <a:rPr kumimoji="0" lang="zh-TW" altLang="en-US" dirty="0" smtClean="0"/>
              <a:t>第四層</a:t>
            </a:r>
          </a:p>
          <a:p>
            <a:pPr lvl="4" eaLnBrk="1" latinLnBrk="0" hangingPunct="1"/>
            <a:r>
              <a:rPr kumimoji="0" lang="zh-TW" altLang="en-US" dirty="0" smtClean="0"/>
              <a:t>第五層</a:t>
            </a:r>
            <a:endParaRPr kumimoji="0" lang="en-US" dirty="0"/>
          </a:p>
        </p:txBody>
      </p:sp>
      <p:sp>
        <p:nvSpPr>
          <p:cNvPr id="14" name="日期版面配置區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 altLang="zh-TW" smtClean="0"/>
              <a:t>2015/1/13</a:t>
            </a:r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23" name="投影片編號版面配置區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61A04B93-F247-42E5-95CE-B8478AD23DB7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28" name="直線接點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直線接點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等腰三角形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iming>
    <p:tnLst>
      <p:par>
        <p:cTn id="1" dur="indefinite" restart="never" nodeType="tmRoot"/>
      </p:par>
    </p:tnLst>
  </p:timing>
  <p:hf hdr="0" ftr="0"/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Visio___11.vsd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259632" y="1325890"/>
            <a:ext cx="6858000" cy="1440160"/>
          </a:xfrm>
        </p:spPr>
        <p:txBody>
          <a:bodyPr>
            <a:noAutofit/>
          </a:bodyPr>
          <a:lstStyle/>
          <a:p>
            <a:pPr algn="l"/>
            <a:r>
              <a:rPr lang="en-US" altLang="zh-TW" dirty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Protein Backbone Reconstruction with Tool Preference </a:t>
            </a: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Classification and Feature Selection</a:t>
            </a:r>
            <a:r>
              <a:rPr lang="en-US" altLang="zh-TW" dirty="0"/>
              <a:t/>
            </a:r>
            <a:br>
              <a:rPr lang="en-US" altLang="zh-TW" dirty="0"/>
            </a:br>
            <a:endParaRPr lang="zh-TW" altLang="en-US" sz="2000" dirty="0">
              <a:ea typeface="微軟正黑體" pitchFamily="34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Autofit/>
          </a:bodyPr>
          <a:lstStyle/>
          <a:p>
            <a:pPr algn="l"/>
            <a:r>
              <a:rPr lang="en-US" altLang="zh-TW" sz="2400" dirty="0" smtClean="0">
                <a:solidFill>
                  <a:schemeClr val="tx1"/>
                </a:solidFill>
                <a:latin typeface="+mn-lt"/>
              </a:rPr>
              <a:t>Student</a:t>
            </a:r>
            <a:r>
              <a:rPr lang="en-US" altLang="zh-TW" sz="2400" dirty="0" smtClean="0">
                <a:latin typeface="+mn-lt"/>
                <a:cs typeface="Times New Roman" panose="02020603050405020304" pitchFamily="18" charset="0"/>
              </a:rPr>
              <a:t>: </a:t>
            </a:r>
            <a:r>
              <a:rPr lang="en-US" altLang="zh-TW" sz="2400" dirty="0" smtClean="0">
                <a:solidFill>
                  <a:schemeClr val="tx1"/>
                </a:solidFill>
                <a:latin typeface="+mn-lt"/>
              </a:rPr>
              <a:t>Hsin-Chuan Yuan</a:t>
            </a:r>
            <a:r>
              <a:rPr lang="zh-TW" altLang="en-US" sz="2400" dirty="0">
                <a:solidFill>
                  <a:schemeClr val="tx1"/>
                </a:solidFill>
                <a:latin typeface="+mn-lt"/>
              </a:rPr>
              <a:t> </a:t>
            </a:r>
            <a:r>
              <a:rPr lang="en-US" altLang="zh-TW" sz="2400" dirty="0" smtClean="0">
                <a:solidFill>
                  <a:schemeClr val="tx1"/>
                </a:solidFill>
                <a:latin typeface="+mn-lt"/>
              </a:rPr>
              <a:t>(</a:t>
            </a:r>
            <a:r>
              <a:rPr lang="zh-TW" altLang="en-US" sz="2400" dirty="0">
                <a:latin typeface="+mn-lt"/>
                <a:ea typeface="標楷體" panose="03000509000000000000" pitchFamily="65" charset="-120"/>
              </a:rPr>
              <a:t>袁信全</a:t>
            </a:r>
            <a:r>
              <a:rPr lang="en-US" altLang="zh-TW" sz="2400" dirty="0" smtClean="0">
                <a:solidFill>
                  <a:schemeClr val="tx1"/>
                </a:solidFill>
                <a:latin typeface="+mn-lt"/>
              </a:rPr>
              <a:t>)</a:t>
            </a:r>
          </a:p>
          <a:p>
            <a:pPr algn="l"/>
            <a:r>
              <a:rPr lang="en-US" altLang="zh-TW" sz="2400" dirty="0">
                <a:latin typeface="+mn-lt"/>
                <a:cs typeface="Times New Roman" panose="02020603050405020304" pitchFamily="18" charset="0"/>
              </a:rPr>
              <a:t>Advisor: </a:t>
            </a:r>
            <a:r>
              <a:rPr lang="en-US" altLang="zh-TW" sz="2400" dirty="0">
                <a:latin typeface="+mn-lt"/>
                <a:ea typeface="標楷體" panose="03000509000000000000" pitchFamily="65" charset="-120"/>
              </a:rPr>
              <a:t>Prof. Chang-</a:t>
            </a:r>
            <a:r>
              <a:rPr lang="en-US" altLang="zh-TW" sz="2400" dirty="0" err="1">
                <a:latin typeface="+mn-lt"/>
                <a:ea typeface="標楷體" panose="03000509000000000000" pitchFamily="65" charset="-120"/>
              </a:rPr>
              <a:t>Biau</a:t>
            </a:r>
            <a:r>
              <a:rPr lang="en-US" altLang="zh-TW" sz="2400" dirty="0">
                <a:latin typeface="+mn-lt"/>
                <a:ea typeface="標楷體" panose="03000509000000000000" pitchFamily="65" charset="-120"/>
              </a:rPr>
              <a:t> </a:t>
            </a:r>
            <a:r>
              <a:rPr lang="en-US" altLang="zh-TW" sz="2400" dirty="0" smtClean="0">
                <a:latin typeface="+mn-lt"/>
                <a:ea typeface="標楷體" panose="03000509000000000000" pitchFamily="65" charset="-120"/>
              </a:rPr>
              <a:t>Yang</a:t>
            </a:r>
            <a:r>
              <a:rPr lang="zh-TW" altLang="en-US" sz="2400" dirty="0" smtClean="0">
                <a:latin typeface="+mn-lt"/>
                <a:ea typeface="標楷體" panose="03000509000000000000" pitchFamily="65" charset="-120"/>
              </a:rPr>
              <a:t> </a:t>
            </a:r>
            <a:r>
              <a:rPr lang="en-US" altLang="zh-TW" sz="2400" dirty="0" smtClean="0">
                <a:latin typeface="+mn-lt"/>
                <a:ea typeface="標楷體" panose="03000509000000000000" pitchFamily="65" charset="-120"/>
              </a:rPr>
              <a:t>(</a:t>
            </a:r>
            <a:r>
              <a:rPr lang="zh-TW" altLang="en-US" sz="2400" dirty="0" smtClean="0">
                <a:latin typeface="+mn-lt"/>
                <a:ea typeface="標楷體" panose="03000509000000000000" pitchFamily="65" charset="-120"/>
              </a:rPr>
              <a:t>楊昌彪</a:t>
            </a:r>
            <a:r>
              <a:rPr lang="en-US" altLang="zh-TW" sz="2400" dirty="0" smtClean="0">
                <a:latin typeface="+mn-lt"/>
                <a:ea typeface="標楷體" panose="03000509000000000000" pitchFamily="65" charset="-120"/>
              </a:rPr>
              <a:t>)</a:t>
            </a:r>
          </a:p>
          <a:p>
            <a:pPr algn="l"/>
            <a:endParaRPr lang="zh-TW" altLang="en-US" sz="24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>
                <a:latin typeface="+mj-ea"/>
                <a:ea typeface="+mj-ea"/>
              </a:rPr>
              <a:t>2015/1/13</a:t>
            </a:r>
            <a:endParaRPr lang="zh-TW" altLang="en-US" dirty="0">
              <a:latin typeface="+mj-ea"/>
              <a:ea typeface="+mj-ea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1</a:t>
            </a:fld>
            <a:endParaRPr lang="zh-TW" altLang="en-US" dirty="0"/>
          </a:p>
        </p:txBody>
      </p:sp>
      <p:sp>
        <p:nvSpPr>
          <p:cNvPr id="6" name="副標題 2"/>
          <p:cNvSpPr txBox="1">
            <a:spLocks/>
          </p:cNvSpPr>
          <p:nvPr/>
        </p:nvSpPr>
        <p:spPr>
          <a:xfrm>
            <a:off x="1259632" y="5649613"/>
            <a:ext cx="6817568" cy="413196"/>
          </a:xfrm>
          <a:prstGeom prst="rect">
            <a:avLst/>
          </a:prstGeom>
        </p:spPr>
        <p:txBody>
          <a:bodyPr vert="horz">
            <a:noAutofit/>
          </a:bodyPr>
          <a:lstStyle>
            <a:lvl1pPr marL="0" indent="0" algn="r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None/>
              <a:defRPr kumimoji="0" sz="2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None/>
              <a:defRPr kumimoji="0" sz="23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None/>
              <a:defRPr kumimoji="0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None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None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None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endParaRPr lang="zh-TW" alt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6631364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Introduction (</a:t>
            </a: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1/4)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2015/1/13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2</a:t>
            </a:fld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5018112"/>
          </a:xfrm>
        </p:spPr>
        <p:txBody>
          <a:bodyPr>
            <a:normAutofit lnSpcReduction="10000"/>
          </a:bodyPr>
          <a:lstStyle/>
          <a:p>
            <a:r>
              <a:rPr lang="en-US" altLang="zh-TW" sz="2700" dirty="0">
                <a:cs typeface="Times New Roman" panose="02020603050405020304" pitchFamily="18" charset="0"/>
              </a:rPr>
              <a:t>Protein Backbone Reconstruction Problem (PBRP)</a:t>
            </a:r>
          </a:p>
          <a:p>
            <a:pPr lvl="1"/>
            <a:r>
              <a:rPr lang="en-US" altLang="zh-TW" dirty="0">
                <a:cs typeface="Times New Roman" panose="02020603050405020304" pitchFamily="18" charset="0"/>
              </a:rPr>
              <a:t>Input: A protein sequence and its all C</a:t>
            </a:r>
            <a:r>
              <a:rPr lang="el-GR" altLang="zh-TW" dirty="0">
                <a:cs typeface="Times New Roman" panose="02020603050405020304" pitchFamily="18" charset="0"/>
              </a:rPr>
              <a:t>α</a:t>
            </a:r>
            <a:r>
              <a:rPr lang="en-US" altLang="zh-TW" dirty="0"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cs typeface="Times New Roman" panose="02020603050405020304" pitchFamily="18" charset="0"/>
              </a:rPr>
              <a:t>coordinates</a:t>
            </a:r>
            <a:endParaRPr lang="en-US" altLang="zh-TW" dirty="0">
              <a:cs typeface="Times New Roman" panose="02020603050405020304" pitchFamily="18" charset="0"/>
            </a:endParaRPr>
          </a:p>
          <a:p>
            <a:pPr lvl="1"/>
            <a:r>
              <a:rPr lang="en-US" altLang="zh-TW" dirty="0">
                <a:cs typeface="Times New Roman" panose="02020603050405020304" pitchFamily="18" charset="0"/>
              </a:rPr>
              <a:t>Output: The coordinates of  N, C and O atoms on the                     </a:t>
            </a:r>
          </a:p>
          <a:p>
            <a:pPr lvl="1">
              <a:buFont typeface="Verdana" panose="020B0604030504040204" pitchFamily="34" charset="0"/>
              <a:buNone/>
            </a:pPr>
            <a:r>
              <a:rPr lang="en-US" altLang="zh-TW" dirty="0">
                <a:cs typeface="Times New Roman" panose="02020603050405020304" pitchFamily="18" charset="0"/>
              </a:rPr>
              <a:t>              </a:t>
            </a:r>
            <a:r>
              <a:rPr lang="en-US" altLang="zh-TW" dirty="0" smtClean="0">
                <a:cs typeface="Times New Roman" panose="02020603050405020304" pitchFamily="18" charset="0"/>
              </a:rPr>
              <a:t>     backbone</a:t>
            </a:r>
          </a:p>
          <a:p>
            <a:pPr lvl="1">
              <a:buFont typeface="Verdana" panose="020B0604030504040204" pitchFamily="34" charset="0"/>
              <a:buNone/>
            </a:pPr>
            <a:endParaRPr lang="en-US" altLang="zh-TW" sz="1600" dirty="0" smtClean="0">
              <a:cs typeface="Times New Roman" panose="02020603050405020304" pitchFamily="18" charset="0"/>
            </a:endParaRPr>
          </a:p>
          <a:p>
            <a:r>
              <a:rPr lang="en-US" altLang="zh-TW" dirty="0" smtClean="0"/>
              <a:t>Previous works:</a:t>
            </a:r>
          </a:p>
          <a:p>
            <a:pPr lvl="1"/>
            <a:r>
              <a:rPr lang="en-US" altLang="zh-TW" dirty="0"/>
              <a:t>SABBAC</a:t>
            </a:r>
          </a:p>
          <a:p>
            <a:pPr lvl="1"/>
            <a:r>
              <a:rPr lang="en-US" altLang="zh-TW" dirty="0">
                <a:solidFill>
                  <a:srgbClr val="C00000"/>
                </a:solidFill>
              </a:rPr>
              <a:t>BBQ (Backbone Building from Quadrilaterals) </a:t>
            </a:r>
          </a:p>
          <a:p>
            <a:pPr lvl="1"/>
            <a:r>
              <a:rPr lang="en-US" altLang="zh-TW" dirty="0"/>
              <a:t>Wang’s method </a:t>
            </a:r>
          </a:p>
          <a:p>
            <a:pPr lvl="1"/>
            <a:r>
              <a:rPr lang="en-US" altLang="zh-TW" dirty="0"/>
              <a:t>Chang’s </a:t>
            </a:r>
            <a:r>
              <a:rPr lang="en-US" altLang="zh-TW" dirty="0" smtClean="0"/>
              <a:t>method</a:t>
            </a:r>
          </a:p>
          <a:p>
            <a:pPr lvl="1"/>
            <a:r>
              <a:rPr lang="en-US" altLang="zh-TW" dirty="0" smtClean="0">
                <a:solidFill>
                  <a:srgbClr val="C00000"/>
                </a:solidFill>
              </a:rPr>
              <a:t>PD2</a:t>
            </a:r>
            <a:endParaRPr lang="en-US" altLang="zh-TW" dirty="0">
              <a:solidFill>
                <a:srgbClr val="C00000"/>
              </a:solidFill>
            </a:endParaRPr>
          </a:p>
          <a:p>
            <a:pPr lvl="1"/>
            <a:r>
              <a:rPr lang="en-US" altLang="zh-TW" dirty="0"/>
              <a:t>Chen’s method</a:t>
            </a:r>
          </a:p>
          <a:p>
            <a:pPr lvl="1"/>
            <a:r>
              <a:rPr lang="en-US" altLang="zh-TW" dirty="0" smtClean="0"/>
              <a:t>Wu’s method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xmlns="" val="3157989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latin typeface="+mj-lt"/>
                <a:cs typeface="Times New Roman" pitchFamily="18" charset="0"/>
              </a:rPr>
              <a:t>Introduction (2/4)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latin typeface="+mj-lt"/>
              <a:cs typeface="Times New Roman" pitchFamily="18" charset="0"/>
            </a:endParaRPr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2015/1/13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851A24BB-DCE6-4956-8107-5DCB428DD48C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3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7171" name="內容版面配置區 2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5194920" cy="4937760"/>
          </a:xfrm>
        </p:spPr>
        <p:txBody>
          <a:bodyPr>
            <a:normAutofit/>
          </a:bodyPr>
          <a:lstStyle/>
          <a:p>
            <a:r>
              <a:rPr lang="en-US" altLang="zh-TW" sz="2700" dirty="0" smtClean="0">
                <a:latin typeface="+mj-lt"/>
                <a:cs typeface="Times New Roman" panose="02020603050405020304" pitchFamily="18" charset="0"/>
              </a:rPr>
              <a:t>A protein is a consecutive chain of amino acids.</a:t>
            </a:r>
          </a:p>
          <a:p>
            <a:pPr>
              <a:buFont typeface="Wingdings 2" panose="05020102010507070707" pitchFamily="18" charset="2"/>
              <a:buNone/>
            </a:pPr>
            <a:endParaRPr lang="zh-TW" altLang="en-US" sz="2700" dirty="0" smtClean="0">
              <a:latin typeface="+mj-lt"/>
              <a:cs typeface="Times New Roman" panose="02020603050405020304" pitchFamily="18" charset="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084860686"/>
              </p:ext>
            </p:extLst>
          </p:nvPr>
        </p:nvGraphicFramePr>
        <p:xfrm>
          <a:off x="5652120" y="247218"/>
          <a:ext cx="3465429" cy="613411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247814"/>
                <a:gridCol w="1129383"/>
                <a:gridCol w="1008112"/>
                <a:gridCol w="1080120"/>
              </a:tblGrid>
              <a:tr h="64135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zh-TW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  Amino Acid</a:t>
                      </a:r>
                      <a:endParaRPr kumimoji="0" lang="zh-TW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Three-letter Abbreviation</a:t>
                      </a:r>
                      <a:endParaRPr kumimoji="0" lang="zh-TW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One-letter Abbreviation</a:t>
                      </a:r>
                      <a:endParaRPr kumimoji="0" lang="zh-TW" altLang="en-US" sz="13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 dirty="0">
                          <a:effectLst/>
                        </a:rPr>
                        <a:t>  Alanine  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Ala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A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Arginine 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Arg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R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Asparagine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Asn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N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en-US" altLang="zh-TW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Aspartic Acid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 dirty="0">
                          <a:effectLst/>
                        </a:rPr>
                        <a:t>Asp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D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5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Cysteine 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Cys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C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6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Glutamic Acid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Glu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E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7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Glutamine 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Gln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 dirty="0">
                          <a:effectLst/>
                        </a:rPr>
                        <a:t>Q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8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Glycine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Gly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G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9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Histidine 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His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H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10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Isoleucine 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Ile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I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11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Leucine 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Leu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 dirty="0">
                          <a:effectLst/>
                        </a:rPr>
                        <a:t>L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12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Lysine 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Lys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K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13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Methionine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Met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M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14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Phenylalanine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Phe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F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15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Proline 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Pro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P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16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Serine 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Ser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S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17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Threonine 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Thr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T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18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Tryptophan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Trp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W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19</a:t>
                      </a:r>
                      <a:endParaRPr kumimoji="0" lang="en-US" altLang="zh-TW" sz="13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Tyrosine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Tyr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Y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  <a:tr h="274638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95000"/>
                        <a:buFont typeface="Wingdings 2" panose="05020102010507070707" pitchFamily="18" charset="2"/>
                        <a:defRPr sz="22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85000"/>
                        <a:buFont typeface="Wingdings 2" panose="05020102010507070707" pitchFamily="18" charset="2"/>
                        <a:defRPr sz="20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 2" panose="05020102010507070707" pitchFamily="18" charset="2"/>
                        <a:defRPr sz="1900"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Clr>
                          <a:srgbClr val="0BD0D9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10CF9B"/>
                        </a:buClr>
                        <a:buSzPct val="65000"/>
                        <a:buFont typeface="Wingdings 2" panose="05020102010507070707" pitchFamily="18" charset="2"/>
                        <a:defRPr>
                          <a:solidFill>
                            <a:schemeClr val="tx1"/>
                          </a:solidFill>
                          <a:latin typeface="Constantia" panose="02030602050306030303" pitchFamily="18" charset="0"/>
                          <a:ea typeface="新細明體" panose="02020500000000000000" pitchFamily="18" charset="-12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TW" sz="13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20</a:t>
                      </a:r>
                      <a:endParaRPr kumimoji="0" lang="en-US" altLang="zh-TW" sz="13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300" u="none" strike="noStrike">
                          <a:effectLst/>
                        </a:rPr>
                        <a:t>  Valine  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>
                          <a:effectLst/>
                        </a:rPr>
                        <a:t>Val</a:t>
                      </a:r>
                      <a:endParaRPr lang="en-US" sz="1300" b="0" i="0" u="none" strike="noStrike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300" u="none" strike="noStrike" dirty="0">
                          <a:effectLst/>
                        </a:rPr>
                        <a:t>V</a:t>
                      </a:r>
                      <a:endParaRPr lang="en-US" sz="1300" b="0" i="0" u="none" strike="noStrike" dirty="0">
                        <a:solidFill>
                          <a:srgbClr val="000000"/>
                        </a:solidFill>
                        <a:effectLst/>
                        <a:latin typeface="Constantia" panose="02030602050306030303" pitchFamily="18" charset="0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285" name="文字方塊 7"/>
          <p:cNvSpPr txBox="1">
            <a:spLocks noChangeArrowheads="1"/>
          </p:cNvSpPr>
          <p:nvPr/>
        </p:nvSpPr>
        <p:spPr bwMode="auto">
          <a:xfrm>
            <a:off x="1979712" y="5986463"/>
            <a:ext cx="367240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r>
              <a:rPr lang="en-US" altLang="zh-TW" dirty="0">
                <a:latin typeface="+mj-lt"/>
                <a:cs typeface="Times New Roman" panose="02020603050405020304" pitchFamily="18" charset="0"/>
              </a:rPr>
              <a:t>The fundamental structure of </a:t>
            </a:r>
            <a:r>
              <a:rPr lang="en-US" altLang="zh-TW" dirty="0" smtClean="0">
                <a:latin typeface="+mj-lt"/>
                <a:cs typeface="Times New Roman" panose="02020603050405020304" pitchFamily="18" charset="0"/>
              </a:rPr>
              <a:t>Alanine.</a:t>
            </a:r>
            <a:endParaRPr lang="zh-TW" altLang="en-US" dirty="0">
              <a:latin typeface="+mj-lt"/>
              <a:cs typeface="Times New Roman" panose="02020603050405020304" pitchFamily="18" charset="0"/>
            </a:endParaRPr>
          </a:p>
        </p:txBody>
      </p:sp>
      <p:graphicFrame>
        <p:nvGraphicFramePr>
          <p:cNvPr id="4" name="物件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413739942"/>
              </p:ext>
            </p:extLst>
          </p:nvPr>
        </p:nvGraphicFramePr>
        <p:xfrm>
          <a:off x="2880172" y="4473848"/>
          <a:ext cx="2555924" cy="1651520"/>
        </p:xfrm>
        <a:graphic>
          <a:graphicData uri="http://schemas.openxmlformats.org/presentationml/2006/ole">
            <p:oleObj spid="_x0000_s1225" name="Visio" r:id="rId3" imgW="3095774" imgH="2000402" progId="">
              <p:embed/>
            </p:oleObj>
          </a:graphicData>
        </a:graphic>
      </p:graphicFrame>
      <p:pic>
        <p:nvPicPr>
          <p:cNvPr id="7189" name="圖片 718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30" y="2044700"/>
            <a:ext cx="3820390" cy="281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87064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latin typeface="+mn-lt"/>
                <a:cs typeface="Times New Roman" pitchFamily="18" charset="0"/>
              </a:rPr>
              <a:t>Introduction (3/4)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latin typeface="+mn-lt"/>
              <a:cs typeface="Times New Roman" pitchFamily="18" charset="0"/>
            </a:endParaRPr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2015/1/13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8EF545FD-5CDB-40AD-9FE3-AF0AB5BE1918}" type="slidenum">
              <a:rPr kumimoji="0" lang="zh-TW" altLang="en-US">
                <a:solidFill>
                  <a:srgbClr val="045C75"/>
                </a:solidFill>
                <a:latin typeface="+mn-lt"/>
              </a:rPr>
              <a:pPr eaLnBrk="1" hangingPunct="1"/>
              <a:t>4</a:t>
            </a:fld>
            <a:endParaRPr kumimoji="0" lang="zh-TW" altLang="en-US">
              <a:solidFill>
                <a:srgbClr val="045C75"/>
              </a:solidFill>
              <a:latin typeface="+mn-lt"/>
            </a:endParaRPr>
          </a:p>
        </p:txBody>
      </p:sp>
      <p:sp>
        <p:nvSpPr>
          <p:cNvPr id="8195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sz="2700" dirty="0" smtClean="0">
                <a:latin typeface="+mn-lt"/>
                <a:cs typeface="Times New Roman" panose="02020603050405020304" pitchFamily="18" charset="0"/>
              </a:rPr>
              <a:t>Peptide bond and backbone</a:t>
            </a: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0574" y="2340536"/>
            <a:ext cx="5682851" cy="381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21225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標題 1"/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Introduction (</a:t>
            </a:r>
            <a:r>
              <a:rPr lang="en-US" altLang="zh-TW" dirty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4</a:t>
            </a: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/4)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2015/1/13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F2D4784D-9477-4206-A6E4-590B961B7069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5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9219" name="內容版面配置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zh-TW" sz="2400" dirty="0" smtClean="0"/>
              <a:t>Critical </a:t>
            </a:r>
            <a:r>
              <a:rPr lang="en-US" altLang="zh-TW" sz="2400" dirty="0"/>
              <a:t>assessment of protein structure </a:t>
            </a:r>
            <a:r>
              <a:rPr lang="en-US" altLang="zh-TW" sz="2400" dirty="0" smtClean="0"/>
              <a:t>prediction (</a:t>
            </a:r>
            <a:r>
              <a:rPr lang="en-US" altLang="zh-TW" sz="2400" dirty="0" smtClean="0">
                <a:cs typeface="Times New Roman" panose="02020603050405020304" pitchFamily="18" charset="0"/>
              </a:rPr>
              <a:t>CASP)</a:t>
            </a:r>
            <a:r>
              <a:rPr lang="en-US" altLang="zh-TW" sz="2400" dirty="0"/>
              <a:t> is a </a:t>
            </a:r>
            <a:r>
              <a:rPr lang="en-US" altLang="zh-TW" sz="2400" dirty="0" smtClean="0"/>
              <a:t>world-wide </a:t>
            </a:r>
            <a:r>
              <a:rPr lang="en-US" altLang="zh-TW" sz="2400" dirty="0"/>
              <a:t>experiments and contest for protein structure </a:t>
            </a:r>
            <a:r>
              <a:rPr lang="en-US" altLang="zh-TW" sz="2400" dirty="0" smtClean="0"/>
              <a:t>prediction.</a:t>
            </a:r>
            <a:endParaRPr lang="en-US" altLang="zh-TW" sz="2400" dirty="0" smtClean="0">
              <a:cs typeface="Times New Roman" panose="02020603050405020304" pitchFamily="18" charset="0"/>
            </a:endParaRPr>
          </a:p>
          <a:p>
            <a:r>
              <a:rPr lang="en-US" altLang="zh-TW" sz="2400" dirty="0" smtClean="0"/>
              <a:t>Protein </a:t>
            </a:r>
            <a:r>
              <a:rPr lang="en-US" altLang="zh-TW" sz="2400" dirty="0"/>
              <a:t>data bank </a:t>
            </a:r>
            <a:r>
              <a:rPr lang="en-US" altLang="zh-TW" sz="2400" dirty="0" smtClean="0"/>
              <a:t>(</a:t>
            </a:r>
            <a:r>
              <a:rPr lang="en-US" altLang="zh-TW" sz="2400" dirty="0" smtClean="0">
                <a:cs typeface="Times New Roman" panose="02020603050405020304" pitchFamily="18" charset="0"/>
              </a:rPr>
              <a:t>PDB)</a:t>
            </a:r>
            <a:r>
              <a:rPr lang="en-US" altLang="zh-TW" sz="2400" dirty="0"/>
              <a:t> </a:t>
            </a:r>
            <a:r>
              <a:rPr lang="en-US" altLang="zh-TW" sz="2400" dirty="0" smtClean="0"/>
              <a:t>archive</a:t>
            </a:r>
            <a:r>
              <a:rPr lang="en-US" altLang="zh-TW" sz="2400" dirty="0"/>
              <a:t> contains </a:t>
            </a:r>
            <a:r>
              <a:rPr lang="en-US" altLang="zh-TW" sz="2400" dirty="0" smtClean="0"/>
              <a:t>information about </a:t>
            </a:r>
            <a:r>
              <a:rPr lang="en-US" altLang="zh-TW" sz="2400" dirty="0"/>
              <a:t>the 3D structures of proteins and nucleic acids.</a:t>
            </a:r>
            <a:endParaRPr lang="en-US" altLang="zh-TW" sz="2400" dirty="0">
              <a:cs typeface="Times New Roman" panose="02020603050405020304" pitchFamily="18" charset="0"/>
            </a:endParaRPr>
          </a:p>
          <a:p>
            <a:pPr lvl="1">
              <a:buFont typeface="Verdana" panose="020B0604030504040204" pitchFamily="34" charset="0"/>
              <a:buNone/>
            </a:pPr>
            <a:endParaRPr lang="en-US" altLang="zh-TW" sz="2400" dirty="0" smtClean="0">
              <a:cs typeface="Times New Roman" panose="02020603050405020304" pitchFamily="18" charset="0"/>
            </a:endParaRPr>
          </a:p>
          <a:p>
            <a:pPr lvl="1"/>
            <a:endParaRPr lang="en-US" altLang="zh-TW" sz="2400" dirty="0" smtClean="0">
              <a:cs typeface="Times New Roman" panose="02020603050405020304" pitchFamily="18" charset="0"/>
            </a:endParaRPr>
          </a:p>
          <a:p>
            <a:endParaRPr lang="en-US" altLang="zh-TW" sz="2400" dirty="0" smtClean="0">
              <a:cs typeface="Times New Roman" panose="02020603050405020304" pitchFamily="18" charset="0"/>
            </a:endParaRPr>
          </a:p>
          <a:p>
            <a:endParaRPr lang="en-US" altLang="zh-TW" sz="2400" dirty="0" smtClean="0">
              <a:cs typeface="Times New Roman" panose="02020603050405020304" pitchFamily="18" charset="0"/>
            </a:endParaRPr>
          </a:p>
          <a:p>
            <a:pPr>
              <a:buFont typeface="Wingdings 2" panose="05020102010507070707" pitchFamily="18" charset="2"/>
              <a:buNone/>
            </a:pPr>
            <a:endParaRPr lang="en-US" altLang="zh-TW" sz="2400" dirty="0" smtClean="0">
              <a:cs typeface="Times New Roman" panose="02020603050405020304" pitchFamily="18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7744" y="3412865"/>
            <a:ext cx="4956795" cy="2539292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1691680" y="5949280"/>
            <a:ext cx="626469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dirty="0">
                <a:latin typeface="+mj-lt"/>
              </a:rPr>
              <a:t>The numbers of the protein structures deposited to PDB per </a:t>
            </a:r>
            <a:r>
              <a:rPr lang="en-US" altLang="zh-TW" dirty="0" smtClean="0">
                <a:latin typeface="+mj-lt"/>
              </a:rPr>
              <a:t>year.</a:t>
            </a:r>
            <a:endParaRPr lang="zh-TW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91021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latin typeface="+mn-lt"/>
                <a:cs typeface="Times New Roman" pitchFamily="18" charset="0"/>
              </a:rPr>
              <a:t>Root Mean Square Deviation (RMSD)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latin typeface="+mn-lt"/>
              <a:cs typeface="Times New Roman" pitchFamily="18" charset="0"/>
            </a:endParaRP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2015/1/13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6ABDA60-A55B-4C14-9C65-C80651196F69}" type="slidenum">
              <a:rPr kumimoji="0" lang="zh-TW" altLang="en-US">
                <a:solidFill>
                  <a:srgbClr val="045C75"/>
                </a:solidFill>
                <a:latin typeface="+mn-lt"/>
              </a:rPr>
              <a:pPr eaLnBrk="1" hangingPunct="1"/>
              <a:t>6</a:t>
            </a:fld>
            <a:endParaRPr kumimoji="0" lang="zh-TW" altLang="en-US">
              <a:solidFill>
                <a:srgbClr val="045C75"/>
              </a:solidFill>
              <a:latin typeface="+mn-lt"/>
            </a:endParaRPr>
          </a:p>
        </p:txBody>
      </p:sp>
      <p:sp>
        <p:nvSpPr>
          <p:cNvPr id="1028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sz="2800" dirty="0" smtClean="0">
                <a:latin typeface="+mn-lt"/>
                <a:cs typeface="Times New Roman" panose="02020603050405020304" pitchFamily="18" charset="0"/>
              </a:rPr>
              <a:t>The RMSD is a measure of similarity between a predicted structure and a real one.</a:t>
            </a:r>
          </a:p>
          <a:p>
            <a:r>
              <a:rPr lang="en-US" altLang="zh-TW" sz="2800" dirty="0" smtClean="0">
                <a:latin typeface="+mn-lt"/>
                <a:cs typeface="Times New Roman" panose="02020603050405020304" pitchFamily="18" charset="0"/>
              </a:rPr>
              <a:t>RMSD formula:</a:t>
            </a:r>
          </a:p>
          <a:p>
            <a:endParaRPr lang="en-US" altLang="zh-TW" sz="2800" dirty="0" smtClean="0">
              <a:latin typeface="+mn-lt"/>
              <a:cs typeface="Times New Roman" panose="02020603050405020304" pitchFamily="18" charset="0"/>
            </a:endParaRPr>
          </a:p>
          <a:p>
            <a:endParaRPr lang="zh-TW" altLang="en-US" sz="2800" dirty="0" smtClean="0">
              <a:latin typeface="+mn-lt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2" name="文字方塊 1"/>
              <p:cNvSpPr txBox="1"/>
              <p:nvPr/>
            </p:nvSpPr>
            <p:spPr>
              <a:xfrm>
                <a:off x="457200" y="2780928"/>
                <a:ext cx="3826768" cy="1197379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000" b="0" i="1" smtClean="0">
                          <a:latin typeface="Cambria Math" panose="02040503050406030204" pitchFamily="18" charset="0"/>
                        </a:rPr>
                        <m:t>𝑅𝑀𝑆𝐷</m:t>
                      </m:r>
                      <m:r>
                        <a:rPr lang="en-US" altLang="zh-TW" sz="2000" i="1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altLang="zh-TW" sz="20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den>
                          </m:f>
                          <m:nary>
                            <m:naryPr>
                              <m:chr m:val="∑"/>
                              <m:ctrlPr>
                                <a:rPr lang="en-US" altLang="zh-TW" sz="200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en-US" altLang="zh-TW" sz="20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sSup>
                                <m:sSupPr>
                                  <m:ctrlPr>
                                    <a:rPr lang="en-US" altLang="zh-TW" sz="20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Sup>
                                        <m:sSubSup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𝐴</m:t>
                                          </m:r>
                                        </m:sup>
                                      </m:sSubSup>
                                      <m:r>
                                        <a:rPr lang="en-US" altLang="zh-TW" sz="2000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𝑋</m:t>
                                          </m:r>
                                        </m:e>
                                        <m:sub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altLang="zh-TW" sz="2000" i="1">
                                              <a:latin typeface="Cambria Math" panose="02040503050406030204" pitchFamily="18" charset="0"/>
                                            </a:rPr>
                                            <m:t>𝐵</m:t>
                                          </m:r>
                                        </m:sup>
                                      </m:sSubSup>
                                    </m:e>
                                  </m:d>
                                </m:e>
                                <m:sup>
                                  <m:r>
                                    <a:rPr lang="en-US" altLang="zh-TW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nary>
                        </m:e>
                      </m:rad>
                    </m:oMath>
                  </m:oMathPara>
                </a14:m>
                <a:endParaRPr lang="zh-TW" altLang="en-US" sz="2000" dirty="0"/>
              </a:p>
            </p:txBody>
          </p:sp>
        </mc:Choice>
        <mc:Fallback>
          <p:sp>
            <p:nvSpPr>
              <p:cNvPr id="2" name="文字方塊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7200" y="2780928"/>
                <a:ext cx="3826768" cy="1197379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5991" y="2403649"/>
            <a:ext cx="4138786" cy="3753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198338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Support Vector Machine (SVM)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2015/1/13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0DA8CE4E-83FD-4749-8274-A90665781FDD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7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3315" name="內容版面配置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n-US" altLang="zh-TW" sz="2800" dirty="0" smtClean="0"/>
              <a:t>SVM </a:t>
            </a:r>
            <a:r>
              <a:rPr lang="en-US" altLang="zh-TW" sz="2800" dirty="0"/>
              <a:t>is a supervised learning model which can be applied to classification or regression.</a:t>
            </a:r>
            <a:endParaRPr lang="en-US" altLang="zh-TW" sz="2800" dirty="0" smtClean="0"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7536" y="2391974"/>
            <a:ext cx="3886698" cy="3841186"/>
          </a:xfrm>
          <a:prstGeom prst="rect">
            <a:avLst/>
          </a:prstGeom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277" y="2924944"/>
            <a:ext cx="3270658" cy="3101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14848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Previous Work (1/2)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2015/1/13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E441B26-F980-4D78-8906-8A71B8F21814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8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4339" name="內容版面配置區 2"/>
          <p:cNvSpPr>
            <a:spLocks noGrp="1"/>
          </p:cNvSpPr>
          <p:nvPr>
            <p:ph sz="quarter" idx="1"/>
          </p:nvPr>
        </p:nvSpPr>
        <p:spPr>
          <a:xfrm>
            <a:off x="0" y="1219200"/>
            <a:ext cx="3707904" cy="4937760"/>
          </a:xfrm>
        </p:spPr>
        <p:txBody>
          <a:bodyPr>
            <a:normAutofit/>
          </a:bodyPr>
          <a:lstStyle/>
          <a:p>
            <a:r>
              <a:rPr lang="en-US" altLang="zh-TW" sz="2800" dirty="0" smtClean="0">
                <a:cs typeface="Times New Roman" panose="02020603050405020304" pitchFamily="18" charset="0"/>
              </a:rPr>
              <a:t>Chen determines the tool to be used on N, C and O atoms of each protein. </a:t>
            </a:r>
          </a:p>
          <a:p>
            <a:r>
              <a:rPr lang="en-US" altLang="zh-TW" sz="2800" dirty="0" smtClean="0">
                <a:cs typeface="Times New Roman" panose="02020603050405020304" pitchFamily="18" charset="0"/>
              </a:rPr>
              <a:t>The feature vector are derived from a coding rule which applied on the 9 common properties of amino </a:t>
            </a:r>
            <a:r>
              <a:rPr lang="en-US" altLang="zh-TW" sz="2800" dirty="0">
                <a:cs typeface="Times New Roman" panose="02020603050405020304" pitchFamily="18" charset="0"/>
              </a:rPr>
              <a:t>acids of each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protein.</a:t>
            </a:r>
          </a:p>
        </p:txBody>
      </p:sp>
      <p:grpSp>
        <p:nvGrpSpPr>
          <p:cNvPr id="7" name="群組 6"/>
          <p:cNvGrpSpPr/>
          <p:nvPr/>
        </p:nvGrpSpPr>
        <p:grpSpPr>
          <a:xfrm>
            <a:off x="3579494" y="653179"/>
            <a:ext cx="5572126" cy="6204821"/>
            <a:chOff x="3579494" y="653179"/>
            <a:chExt cx="5572126" cy="6204821"/>
          </a:xfrm>
        </p:grpSpPr>
        <p:pic>
          <p:nvPicPr>
            <p:cNvPr id="14341" name="Picture 6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BEBA8EAE-BF5A-486C-A8C5-ECC9F3942E4B}">
                  <a14:imgProps xmlns:a14="http://schemas.microsoft.com/office/drawing/2010/main" xmlns="">
                    <a14:imgLayer r:embed="rId3">
                      <a14:imgEffect>
                        <a14:backgroundRemoval t="0" b="100000" l="0" r="100000">
                          <a14:backgroundMark x1="1979" y1="8412" x2="20449" y2="8175"/>
                          <a14:backgroundMark x1="19393" y1="8175" x2="25462" y2="237"/>
                          <a14:backgroundMark x1="24934" y1="237" x2="13456" y2="0"/>
                          <a14:backgroundMark x1="792" y1="11137" x2="1055" y2="237"/>
                          <a14:backgroundMark x1="3298" y1="8649" x2="0" y2="8649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xmlns="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79494" y="653179"/>
              <a:ext cx="5572126" cy="62048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5" name="圖片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465194" y="4240826"/>
              <a:ext cx="360040" cy="108849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xmlns="" val="4187964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Previous Work (2/2</a:t>
            </a:r>
            <a:r>
              <a:rPr lang="en-US" altLang="zh-TW" dirty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2015/1/13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E441B26-F980-4D78-8906-8A71B8F21814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9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4339" name="內容版面配置區 2"/>
          <p:cNvSpPr>
            <a:spLocks noGrp="1"/>
          </p:cNvSpPr>
          <p:nvPr>
            <p:ph sz="quarter" idx="1"/>
          </p:nvPr>
        </p:nvSpPr>
        <p:spPr>
          <a:xfrm>
            <a:off x="0" y="1219200"/>
            <a:ext cx="4788024" cy="4937760"/>
          </a:xfrm>
        </p:spPr>
        <p:txBody>
          <a:bodyPr/>
          <a:lstStyle/>
          <a:p>
            <a:r>
              <a:rPr lang="en-US" altLang="zh-TW" sz="2800" dirty="0" smtClean="0">
                <a:cs typeface="Times New Roman" panose="02020603050405020304" pitchFamily="18" charset="0"/>
              </a:rPr>
              <a:t>Wu </a:t>
            </a:r>
            <a:r>
              <a:rPr lang="en-US" altLang="zh-TW" sz="2800" dirty="0">
                <a:cs typeface="Times New Roman" panose="02020603050405020304" pitchFamily="18" charset="0"/>
              </a:rPr>
              <a:t>modified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the Chen’s method.</a:t>
            </a:r>
          </a:p>
          <a:p>
            <a:r>
              <a:rPr lang="en-US" altLang="zh-TW" sz="2800" dirty="0">
                <a:cs typeface="Times New Roman" panose="02020603050405020304" pitchFamily="18" charset="0"/>
              </a:rPr>
              <a:t>The feature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vector </a:t>
            </a:r>
            <a:r>
              <a:rPr lang="en-US" altLang="zh-TW" sz="2800" dirty="0">
                <a:cs typeface="Times New Roman" panose="02020603050405020304" pitchFamily="18" charset="0"/>
              </a:rPr>
              <a:t>were derived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from 13 common properties of amino </a:t>
            </a:r>
            <a:r>
              <a:rPr lang="en-US" altLang="zh-TW" sz="2800" dirty="0">
                <a:cs typeface="Times New Roman" panose="02020603050405020304" pitchFamily="18" charset="0"/>
              </a:rPr>
              <a:t>acids of each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protein and </a:t>
            </a:r>
            <a:r>
              <a:rPr lang="en-US" altLang="zh-TW" sz="2800" dirty="0">
                <a:cs typeface="Times New Roman" panose="02020603050405020304" pitchFamily="18" charset="0"/>
              </a:rPr>
              <a:t>the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properties of </a:t>
            </a:r>
            <a:r>
              <a:rPr lang="en-US" altLang="zh-TW" sz="2800" dirty="0">
                <a:cs typeface="Times New Roman" panose="02020603050405020304" pitchFamily="18" charset="0"/>
              </a:rPr>
              <a:t>the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adjacent </a:t>
            </a:r>
            <a:r>
              <a:rPr lang="en-US" altLang="zh-TW" sz="2800" dirty="0">
                <a:cs typeface="Times New Roman" panose="02020603050405020304" pitchFamily="18" charset="0"/>
              </a:rPr>
              <a:t>amino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acids.</a:t>
            </a:r>
            <a:endParaRPr lang="en-US" altLang="zh-TW" sz="2800" dirty="0">
              <a:cs typeface="Times New Roman" panose="02020603050405020304" pitchFamily="18" charset="0"/>
            </a:endParaRPr>
          </a:p>
          <a:p>
            <a:endParaRPr lang="en-US" altLang="zh-TW" sz="2800" dirty="0" smtClean="0">
              <a:cs typeface="Times New Roman" panose="02020603050405020304" pitchFamily="18" charset="0"/>
            </a:endParaRPr>
          </a:p>
        </p:txBody>
      </p:sp>
      <p:pic>
        <p:nvPicPr>
          <p:cNvPr id="7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4617720" y="0"/>
            <a:ext cx="4530725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xmlns="" val="145004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Model Example</a:t>
            </a:r>
            <a:endParaRPr lang="zh-TW" altLang="en-US" dirty="0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2015/1/13</a:t>
            </a:r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A04B93-F247-42E5-95CE-B8478AD23DB7}" type="slidenum">
              <a:rPr lang="zh-TW" altLang="en-US" smtClean="0"/>
              <a:pPr/>
              <a:t>10</a:t>
            </a:fld>
            <a:endParaRPr lang="zh-TW" altLang="en-US"/>
          </a:p>
        </p:txBody>
      </p:sp>
      <p:sp>
        <p:nvSpPr>
          <p:cNvPr id="5" name="內容版面配置區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 smtClean="0"/>
              <a:t>Models</a:t>
            </a:r>
            <a:r>
              <a:rPr lang="zh-TW" altLang="en-US" dirty="0" smtClean="0"/>
              <a:t>分別以胺基酸和原子作為擷取的依據，即</a:t>
            </a:r>
            <a:r>
              <a:rPr lang="en-US" altLang="zh-TW" dirty="0" smtClean="0"/>
              <a:t>20</a:t>
            </a:r>
            <a:r>
              <a:rPr lang="en-US" altLang="zh-TW" dirty="0" smtClean="0">
                <a:latin typeface="Calibri" panose="020F0502020204030204" pitchFamily="34" charset="0"/>
              </a:rPr>
              <a:t>*3</a:t>
            </a:r>
            <a:r>
              <a:rPr lang="zh-TW" altLang="en-US" dirty="0" smtClean="0">
                <a:latin typeface="Calibri" panose="020F0502020204030204" pitchFamily="34" charset="0"/>
              </a:rPr>
              <a:t>個</a:t>
            </a:r>
            <a:r>
              <a:rPr lang="en-US" altLang="zh-TW" dirty="0" smtClean="0">
                <a:latin typeface="Calibri" panose="020F0502020204030204" pitchFamily="34" charset="0"/>
              </a:rPr>
              <a:t>models.</a:t>
            </a:r>
          </a:p>
          <a:p>
            <a:endParaRPr lang="en-US" altLang="zh-TW" dirty="0" smtClean="0">
              <a:latin typeface="Calibri" panose="020F0502020204030204" pitchFamily="34" charset="0"/>
            </a:endParaRPr>
          </a:p>
          <a:p>
            <a:r>
              <a:rPr lang="en-US" altLang="zh-TW" dirty="0" smtClean="0">
                <a:latin typeface="Calibri" panose="020F0502020204030204" pitchFamily="34" charset="0"/>
              </a:rPr>
              <a:t>P</a:t>
            </a:r>
            <a:r>
              <a:rPr lang="en-US" altLang="zh-TW" baseline="-25000" dirty="0" smtClean="0">
                <a:latin typeface="Calibri" panose="020F0502020204030204" pitchFamily="34" charset="0"/>
              </a:rPr>
              <a:t>1</a:t>
            </a:r>
            <a:r>
              <a:rPr lang="en-US" altLang="zh-TW" dirty="0" smtClean="0">
                <a:latin typeface="Calibri" panose="020F0502020204030204" pitchFamily="34" charset="0"/>
              </a:rPr>
              <a:t> 	A:0.3, C:0.4, D:0.5, E:0.6…</a:t>
            </a:r>
            <a:endParaRPr lang="en-US" altLang="zh-TW" baseline="-25000" dirty="0">
              <a:latin typeface="Calibri" panose="020F0502020204030204" pitchFamily="34" charset="0"/>
            </a:endParaRPr>
          </a:p>
          <a:p>
            <a:r>
              <a:rPr lang="en-US" altLang="zh-TW" dirty="0" smtClean="0">
                <a:latin typeface="Calibri" panose="020F0502020204030204" pitchFamily="34" charset="0"/>
              </a:rPr>
              <a:t>E-C-</a:t>
            </a:r>
            <a:r>
              <a:rPr lang="en-US" altLang="zh-TW" dirty="0" smtClean="0">
                <a:solidFill>
                  <a:srgbClr val="C00000"/>
                </a:solidFill>
                <a:latin typeface="Calibri" panose="020F0502020204030204" pitchFamily="34" charset="0"/>
              </a:rPr>
              <a:t>D</a:t>
            </a:r>
            <a:r>
              <a:rPr lang="en-US" altLang="zh-TW" dirty="0" smtClean="0">
                <a:latin typeface="Calibri" panose="020F0502020204030204" pitchFamily="34" charset="0"/>
              </a:rPr>
              <a:t>-E-C-</a:t>
            </a:r>
            <a:r>
              <a:rPr lang="en-US" altLang="zh-TW" dirty="0" smtClean="0">
                <a:solidFill>
                  <a:srgbClr val="C00000"/>
                </a:solidFill>
                <a:latin typeface="Calibri" panose="020F0502020204030204" pitchFamily="34" charset="0"/>
              </a:rPr>
              <a:t>D</a:t>
            </a:r>
            <a:r>
              <a:rPr lang="en-US" altLang="zh-TW" dirty="0" smtClean="0">
                <a:latin typeface="Calibri" panose="020F0502020204030204" pitchFamily="34" charset="0"/>
              </a:rPr>
              <a:t>-</a:t>
            </a:r>
            <a:r>
              <a:rPr lang="en-US" altLang="zh-TW" dirty="0" smtClean="0">
                <a:solidFill>
                  <a:srgbClr val="C00000"/>
                </a:solidFill>
                <a:latin typeface="Calibri" panose="020F0502020204030204" pitchFamily="34" charset="0"/>
              </a:rPr>
              <a:t>D</a:t>
            </a:r>
            <a:r>
              <a:rPr lang="en-US" altLang="zh-TW" dirty="0" smtClean="0">
                <a:latin typeface="Calibri" panose="020F0502020204030204" pitchFamily="34" charset="0"/>
              </a:rPr>
              <a:t>-C</a:t>
            </a:r>
          </a:p>
          <a:p>
            <a:r>
              <a:rPr lang="en-US" altLang="zh-TW" dirty="0" smtClean="0">
                <a:latin typeface="Calibri" panose="020F0502020204030204" pitchFamily="34" charset="0"/>
              </a:rPr>
              <a:t>Window size = 3</a:t>
            </a:r>
          </a:p>
          <a:p>
            <a:endParaRPr lang="zh-TW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163133219"/>
              </p:ext>
            </p:extLst>
          </p:nvPr>
        </p:nvGraphicFramePr>
        <p:xfrm>
          <a:off x="827584" y="4221088"/>
          <a:ext cx="6096000" cy="14833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524000"/>
                <a:gridCol w="1524000"/>
                <a:gridCol w="1524000"/>
                <a:gridCol w="1524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label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v2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V3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0.6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0.4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0.5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0.5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0.4</a:t>
                      </a:r>
                      <a:endParaRPr lang="zh-TW" altLang="en-US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40273547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Previous Work (2/2</a:t>
            </a:r>
            <a:r>
              <a:rPr lang="en-US" altLang="zh-TW" dirty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2015/1/13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5E441B26-F980-4D78-8906-8A71B8F21814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11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pic>
        <p:nvPicPr>
          <p:cNvPr id="8" name="圖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7868" y="4767234"/>
            <a:ext cx="6725214" cy="2088435"/>
          </a:xfrm>
          <a:prstGeom prst="rect">
            <a:avLst/>
          </a:prstGeom>
        </p:spPr>
      </p:pic>
      <p:sp>
        <p:nvSpPr>
          <p:cNvPr id="5" name="內容版面配置區 4"/>
          <p:cNvSpPr>
            <a:spLocks noGrp="1"/>
          </p:cNvSpPr>
          <p:nvPr>
            <p:ph sz="quarter" idx="1"/>
          </p:nvPr>
        </p:nvSpPr>
        <p:spPr>
          <a:xfrm>
            <a:off x="0" y="1219200"/>
            <a:ext cx="3203848" cy="4937760"/>
          </a:xfrm>
        </p:spPr>
        <p:txBody>
          <a:bodyPr/>
          <a:lstStyle/>
          <a:p>
            <a:r>
              <a:rPr lang="en-US" altLang="zh-TW" dirty="0" smtClean="0"/>
              <a:t> Wu extracts the </a:t>
            </a:r>
            <a:r>
              <a:rPr lang="en-US" altLang="zh-TW" dirty="0"/>
              <a:t>feature sets by </a:t>
            </a:r>
            <a:r>
              <a:rPr lang="en-US" altLang="zh-TW" dirty="0" smtClean="0"/>
              <a:t>5 different </a:t>
            </a:r>
            <a:r>
              <a:rPr lang="en-US" altLang="zh-TW" dirty="0"/>
              <a:t>combinations which are selected arbitrarily.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9832" y="152400"/>
            <a:ext cx="6059394" cy="4614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1776498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Our Method (1/5)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2015/1/13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D8DC7A06-82B7-4DED-93BE-CCD9A0C12253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12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536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sz="2800" dirty="0">
                <a:cs typeface="Times New Roman" panose="02020603050405020304" pitchFamily="18" charset="0"/>
              </a:rPr>
              <a:t>Our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Method is based on Wu’s </a:t>
            </a:r>
            <a:r>
              <a:rPr lang="en-US" altLang="zh-TW" sz="2800" dirty="0">
                <a:cs typeface="Times New Roman" panose="02020603050405020304" pitchFamily="18" charset="0"/>
              </a:rPr>
              <a:t>method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which determines the tool to be used on prediction.</a:t>
            </a:r>
          </a:p>
          <a:p>
            <a:r>
              <a:rPr lang="en-US" altLang="zh-TW" sz="2800" dirty="0">
                <a:cs typeface="Times New Roman" panose="02020603050405020304" pitchFamily="18" charset="0"/>
              </a:rPr>
              <a:t>We aim to </a:t>
            </a:r>
            <a:r>
              <a:rPr lang="en-US" altLang="zh-TW" sz="2800" dirty="0">
                <a:solidFill>
                  <a:srgbClr val="FF0000"/>
                </a:solidFill>
                <a:cs typeface="Times New Roman" panose="02020603050405020304" pitchFamily="18" charset="0"/>
              </a:rPr>
              <a:t>select significant features</a:t>
            </a:r>
            <a:r>
              <a:rPr lang="en-US" altLang="zh-TW" sz="2800" dirty="0">
                <a:cs typeface="Times New Roman" panose="02020603050405020304" pitchFamily="18" charset="0"/>
              </a:rPr>
              <a:t> to obtain higher accuracy and </a:t>
            </a:r>
            <a:r>
              <a:rPr lang="en-US" altLang="zh-TW" sz="2800" dirty="0"/>
              <a:t>increase the </a:t>
            </a:r>
            <a:r>
              <a:rPr lang="en-US" altLang="zh-TW" sz="2800" dirty="0" smtClean="0"/>
              <a:t>efficiency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.</a:t>
            </a:r>
            <a:endParaRPr lang="zh-TW" altLang="en-US" sz="2800" dirty="0">
              <a:cs typeface="Times New Roman" panose="02020603050405020304" pitchFamily="18" charset="0"/>
            </a:endParaRPr>
          </a:p>
          <a:p>
            <a:r>
              <a:rPr lang="en-US" altLang="zh-TW" sz="2800" dirty="0" smtClean="0">
                <a:cs typeface="Times New Roman" panose="02020603050405020304" pitchFamily="18" charset="0"/>
              </a:rPr>
              <a:t>We further use </a:t>
            </a:r>
            <a:r>
              <a:rPr lang="en-US" altLang="zh-TW" sz="28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136 properties of amino acids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(from </a:t>
            </a:r>
            <a:r>
              <a:rPr lang="en-US" altLang="zh-TW" sz="2800" dirty="0" err="1" smtClean="0">
                <a:cs typeface="Times New Roman" panose="02020603050405020304" pitchFamily="18" charset="0"/>
              </a:rPr>
              <a:t>AAindex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 </a:t>
            </a:r>
            <a:r>
              <a:rPr lang="en-US" altLang="zh-TW" sz="2800" dirty="0"/>
              <a:t>ver.9.1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) as the training features.</a:t>
            </a:r>
          </a:p>
          <a:p>
            <a:r>
              <a:rPr lang="en-US" altLang="zh-TW" sz="2800" dirty="0" smtClean="0">
                <a:cs typeface="Times New Roman" panose="02020603050405020304" pitchFamily="18" charset="0"/>
              </a:rPr>
              <a:t>In order to </a:t>
            </a:r>
            <a:r>
              <a:rPr lang="en-US" altLang="zh-TW" sz="2800" dirty="0">
                <a:cs typeface="Times New Roman" panose="02020603050405020304" pitchFamily="18" charset="0"/>
              </a:rPr>
              <a:t>balance the significance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of each property of </a:t>
            </a:r>
            <a:r>
              <a:rPr lang="en-US" altLang="zh-TW" sz="2800" dirty="0">
                <a:cs typeface="Times New Roman" panose="02020603050405020304" pitchFamily="18" charset="0"/>
              </a:rPr>
              <a:t>amino acids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, we modified </a:t>
            </a:r>
            <a:r>
              <a:rPr lang="en-US" altLang="zh-TW" sz="2800" dirty="0">
                <a:cs typeface="Times New Roman" panose="02020603050405020304" pitchFamily="18" charset="0"/>
              </a:rPr>
              <a:t>Wu’s method 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on the feature vectors </a:t>
            </a:r>
            <a:r>
              <a:rPr lang="en-US" altLang="zh-TW" sz="2800" dirty="0">
                <a:cs typeface="Times New Roman" panose="02020603050405020304" pitchFamily="18" charset="0"/>
              </a:rPr>
              <a:t>by </a:t>
            </a:r>
            <a:r>
              <a:rPr lang="en-US" altLang="zh-TW" sz="2800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normalizing the properties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.</a:t>
            </a:r>
          </a:p>
          <a:p>
            <a:endParaRPr lang="zh-TW" altLang="en-US" sz="2800" dirty="0" smtClean="0">
              <a:cs typeface="Times New Roman" panose="02020603050405020304" pitchFamily="18" charset="0"/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6400800" y="332656"/>
            <a:ext cx="2286000" cy="1656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12357259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err="1" smtClean="0">
                <a:cs typeface="Times New Roman" panose="02020603050405020304" pitchFamily="18" charset="0"/>
              </a:rPr>
              <a:t>AAindex</a:t>
            </a:r>
            <a:r>
              <a:rPr lang="en-US" altLang="zh-TW" dirty="0" smtClean="0">
                <a:cs typeface="Times New Roman" panose="02020603050405020304" pitchFamily="18" charset="0"/>
              </a:rPr>
              <a:t> example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2015/1/13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D8DC7A06-82B7-4DED-93BE-CCD9A0C12253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13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5363" name="內容版面配置區 2"/>
          <p:cNvSpPr>
            <a:spLocks noGrp="1"/>
          </p:cNvSpPr>
          <p:nvPr>
            <p:ph sz="quarter" idx="1"/>
          </p:nvPr>
        </p:nvSpPr>
        <p:spPr>
          <a:xfrm>
            <a:off x="0" y="1484784"/>
            <a:ext cx="12780912" cy="467217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pt-BR" altLang="zh-TW" sz="2000" dirty="0" smtClean="0">
                <a:cs typeface="Times New Roman" panose="02020603050405020304" pitchFamily="18" charset="0"/>
              </a:rPr>
              <a:t>Property</a:t>
            </a:r>
            <a:r>
              <a:rPr lang="pt-BR" altLang="zh-TW" sz="2000" dirty="0">
                <a:cs typeface="Times New Roman" panose="02020603050405020304" pitchFamily="18" charset="0"/>
              </a:rPr>
              <a:t> </a:t>
            </a:r>
            <a:r>
              <a:rPr lang="pt-BR" altLang="zh-TW" sz="2000" dirty="0" smtClean="0">
                <a:cs typeface="Times New Roman" panose="02020603050405020304" pitchFamily="18" charset="0"/>
              </a:rPr>
              <a:t>         A  </a:t>
            </a:r>
            <a:r>
              <a:rPr lang="pt-BR" altLang="zh-TW" sz="2000" dirty="0">
                <a:cs typeface="Times New Roman" panose="02020603050405020304" pitchFamily="18" charset="0"/>
              </a:rPr>
              <a:t>L  R  K  N  M  D  F  C  P  Q  S  E  T  G  W  H  Y  I  V</a:t>
            </a:r>
          </a:p>
          <a:p>
            <a:pPr marL="0" indent="0">
              <a:buNone/>
            </a:pPr>
            <a:r>
              <a:rPr lang="pt-BR" altLang="zh-TW" sz="2000" dirty="0">
                <a:cs typeface="Times New Roman" panose="02020603050405020304" pitchFamily="18" charset="0"/>
              </a:rPr>
              <a:t>ANDN920101  4.35  4.17  4.38  4.36  4.75  4.52  4.76  4.66  4.65  4.44  4.37  4.5  4.29  4.35  3.97  4.7  4.63  4.6  3.95  3.95</a:t>
            </a:r>
          </a:p>
          <a:p>
            <a:pPr marL="0" indent="0">
              <a:buNone/>
            </a:pPr>
            <a:r>
              <a:rPr lang="pt-BR" altLang="zh-TW" sz="2000" dirty="0">
                <a:cs typeface="Times New Roman" panose="02020603050405020304" pitchFamily="18" charset="0"/>
              </a:rPr>
              <a:t>ARGP820101  0.61  1.53  0.6  1.15  0.06  1.18  0.46  2.02  1.07  1.95  0  0.05  0.47  0.05  0.07  2.65  0.61  1.88  2.22  1.32</a:t>
            </a:r>
          </a:p>
          <a:p>
            <a:pPr marL="0" indent="0">
              <a:buNone/>
            </a:pPr>
            <a:r>
              <a:rPr lang="pt-BR" altLang="zh-TW" sz="2000" dirty="0">
                <a:cs typeface="Times New Roman" panose="02020603050405020304" pitchFamily="18" charset="0"/>
              </a:rPr>
              <a:t>ARGP820102  1.18  3.23  0.2  0.06  0.23  2.67  0.05  1.96  1.89  0.76  0.72  0.97  0.11  0.84  0.49  0.77  0.31  0.39  1.45  1.08</a:t>
            </a:r>
          </a:p>
        </p:txBody>
      </p:sp>
      <p:sp>
        <p:nvSpPr>
          <p:cNvPr id="3" name="文字方塊 2"/>
          <p:cNvSpPr txBox="1"/>
          <p:nvPr/>
        </p:nvSpPr>
        <p:spPr>
          <a:xfrm>
            <a:off x="6400800" y="332656"/>
            <a:ext cx="2286000" cy="16561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xmlns="" val="39417405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Our Method (2/5)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2015/1/13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D8DC7A06-82B7-4DED-93BE-CCD9A0C12253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14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536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sz="2800" dirty="0"/>
              <a:t>A </a:t>
            </a:r>
            <a:r>
              <a:rPr lang="en-US" altLang="zh-TW" sz="2800" dirty="0">
                <a:solidFill>
                  <a:srgbClr val="FF0000"/>
                </a:solidFill>
              </a:rPr>
              <a:t>grid-search</a:t>
            </a:r>
            <a:r>
              <a:rPr lang="en-US" altLang="zh-TW" sz="2800" dirty="0"/>
              <a:t> technique was used to determine the best parameters</a:t>
            </a:r>
            <a:r>
              <a:rPr lang="en-US" altLang="zh-TW" sz="2800" dirty="0" smtClean="0"/>
              <a:t>, </a:t>
            </a:r>
            <a:r>
              <a:rPr lang="en-US" altLang="zh-TW" sz="2800" i="1" dirty="0" smtClean="0"/>
              <a:t>cost</a:t>
            </a:r>
            <a:r>
              <a:rPr lang="en-US" altLang="zh-TW" sz="2800" dirty="0" smtClean="0"/>
              <a:t> and </a:t>
            </a:r>
            <a:r>
              <a:rPr lang="el-GR" altLang="zh-TW" sz="2800" i="1" dirty="0" smtClean="0">
                <a:latin typeface="Calibri" panose="020F0502020204030204" pitchFamily="34" charset="0"/>
              </a:rPr>
              <a:t>γ</a:t>
            </a:r>
            <a:r>
              <a:rPr lang="en-US" altLang="zh-TW" sz="2800" dirty="0" smtClean="0"/>
              <a:t>. </a:t>
            </a:r>
            <a:r>
              <a:rPr lang="en-US" altLang="zh-TW" sz="2800" dirty="0"/>
              <a:t>The two parameters were limit in </a:t>
            </a:r>
            <a:r>
              <a:rPr lang="en-US" altLang="zh-TW" sz="2800" dirty="0" smtClean="0"/>
              <a:t>2</a:t>
            </a:r>
            <a:r>
              <a:rPr lang="en-US" altLang="zh-TW" sz="2800" baseline="30000" dirty="0" smtClean="0"/>
              <a:t>-10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to </a:t>
            </a:r>
            <a:r>
              <a:rPr lang="en-US" altLang="zh-TW" sz="2800" dirty="0" smtClean="0"/>
              <a:t>2</a:t>
            </a:r>
            <a:r>
              <a:rPr lang="en-US" altLang="zh-TW" sz="2800" baseline="30000" dirty="0" smtClean="0"/>
              <a:t>-5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and </a:t>
            </a:r>
            <a:r>
              <a:rPr lang="en-US" altLang="zh-TW" sz="2800" dirty="0" smtClean="0"/>
              <a:t>2</a:t>
            </a:r>
            <a:r>
              <a:rPr lang="en-US" altLang="zh-TW" sz="2800" baseline="30000" dirty="0" smtClean="0"/>
              <a:t>-3</a:t>
            </a:r>
            <a:r>
              <a:rPr lang="en-US" altLang="zh-TW" sz="2800" dirty="0" smtClean="0"/>
              <a:t> </a:t>
            </a:r>
            <a:r>
              <a:rPr lang="en-US" altLang="zh-TW" sz="2800" dirty="0"/>
              <a:t>to </a:t>
            </a:r>
            <a:r>
              <a:rPr lang="en-US" altLang="zh-TW" sz="2800" dirty="0" smtClean="0"/>
              <a:t>2</a:t>
            </a:r>
            <a:r>
              <a:rPr lang="en-US" altLang="zh-TW" sz="2800" baseline="30000" dirty="0" smtClean="0"/>
              <a:t>2</a:t>
            </a:r>
            <a:r>
              <a:rPr lang="en-US" altLang="zh-TW" sz="2800" dirty="0" smtClean="0"/>
              <a:t>, </a:t>
            </a:r>
            <a:r>
              <a:rPr lang="en-US" altLang="zh-TW" sz="2800" dirty="0"/>
              <a:t>respectively.</a:t>
            </a:r>
            <a:endParaRPr lang="zh-TW" altLang="en-US" sz="2800" dirty="0" smtClean="0"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2636511"/>
            <a:ext cx="5167114" cy="3709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57568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Our Method (</a:t>
            </a:r>
            <a:r>
              <a:rPr lang="en-US" altLang="zh-TW" dirty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3</a:t>
            </a: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/5)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2015/1/13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D8DC7A06-82B7-4DED-93BE-CCD9A0C12253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15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536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sz="2800" dirty="0"/>
              <a:t>S</a:t>
            </a:r>
            <a:r>
              <a:rPr lang="en-US" altLang="zh-TW" sz="2800" dirty="0" smtClean="0"/>
              <a:t>ingular </a:t>
            </a:r>
            <a:r>
              <a:rPr lang="en-US" altLang="zh-TW" sz="2800" dirty="0"/>
              <a:t>value </a:t>
            </a:r>
            <a:r>
              <a:rPr lang="en-US" altLang="zh-TW" sz="2800" dirty="0" smtClean="0"/>
              <a:t>decomposition (SVD)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is used in our method for </a:t>
            </a:r>
            <a:r>
              <a:rPr lang="en-US" altLang="zh-TW" sz="2800" dirty="0" smtClean="0">
                <a:solidFill>
                  <a:srgbClr val="FF0000"/>
                </a:solidFill>
              </a:rPr>
              <a:t>dimensionality reduction</a:t>
            </a:r>
            <a:r>
              <a:rPr lang="en-US" altLang="zh-TW" sz="2800" dirty="0" smtClean="0"/>
              <a:t>.</a:t>
            </a:r>
            <a:endParaRPr lang="zh-TW" altLang="en-US" sz="2800" dirty="0" smtClean="0">
              <a:cs typeface="Times New Roman" panose="02020603050405020304" pitchFamily="18" charset="0"/>
            </a:endParaRPr>
          </a:p>
        </p:txBody>
      </p:sp>
      <p:pic>
        <p:nvPicPr>
          <p:cNvPr id="2052" name="Picture 4" descr="http://ccjou.files.wordpress.com/2009/09/svd1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t="15923" b="25398"/>
          <a:stretch/>
        </p:blipFill>
        <p:spPr bwMode="auto">
          <a:xfrm>
            <a:off x="606414" y="2262836"/>
            <a:ext cx="3860654" cy="1699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6414" y="4085065"/>
            <a:ext cx="4420558" cy="2271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759824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Our Method (4/5)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2015/1/13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D8DC7A06-82B7-4DED-93BE-CCD9A0C12253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16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536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sz="2800" dirty="0"/>
              <a:t>Fisher score </a:t>
            </a:r>
            <a:r>
              <a:rPr lang="en-US" altLang="zh-TW" sz="2800" dirty="0" smtClean="0"/>
              <a:t>measure each </a:t>
            </a:r>
            <a:r>
              <a:rPr lang="en-US" altLang="zh-TW" sz="2800" dirty="0"/>
              <a:t>feature independently according to their scores under the Fisher criterion.</a:t>
            </a:r>
            <a:endParaRPr lang="en-US" altLang="zh-TW" sz="2800" dirty="0" smtClean="0"/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4" name="文字方塊 3"/>
              <p:cNvSpPr txBox="1"/>
              <p:nvPr/>
            </p:nvSpPr>
            <p:spPr>
              <a:xfrm>
                <a:off x="612648" y="3717032"/>
                <a:ext cx="2310441" cy="76181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zh-TW" altLang="en-US" sz="2400" b="0" i="1" smtClean="0">
                          <a:latin typeface="Cambria Math" panose="02040503050406030204" pitchFamily="18" charset="0"/>
                        </a:rPr>
                        <m:t>𝜔</m:t>
                      </m:r>
                      <m:r>
                        <a:rPr lang="en-US" altLang="zh-TW" sz="2400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altLang="zh-TW" sz="2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TW" sz="2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b="0" i="1" smtClean="0">
                                  <a:latin typeface="Cambria Math" panose="02040503050406030204" pitchFamily="18" charset="0"/>
                                </a:rPr>
                                <m:t>𝜇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num>
                        <m:den>
                          <m:sSub>
                            <m:sSubPr>
                              <m:ctrlPr>
                                <a:rPr lang="en-US" altLang="zh-TW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sz="24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zh-TW" altLang="en-US" sz="2400" b="0" i="1" smtClean="0"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e>
                            <m:sub>
                              <m:r>
                                <a:rPr lang="en-US" altLang="zh-TW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zh-TW" altLang="en-US" sz="2400" dirty="0"/>
              </a:p>
            </p:txBody>
          </p:sp>
        </mc:Choice>
        <mc:Fallback>
          <p:sp>
            <p:nvSpPr>
              <p:cNvPr id="4" name="文字方塊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648" y="3717032"/>
                <a:ext cx="2310441" cy="761812"/>
              </a:xfrm>
              <a:prstGeom prst="rect">
                <a:avLst/>
              </a:prstGeom>
              <a:blipFill rotWithShape="0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圖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3928" y="2980029"/>
            <a:ext cx="4860032" cy="3341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89530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2015/1/13</a:t>
            </a:r>
            <a:endParaRPr lang="zh-TW" altLang="en-US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E0D26033-F937-4ACC-BF84-29256C53D356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17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21506" name="內容版面配置區 4"/>
          <p:cNvSpPr>
            <a:spLocks noGrp="1"/>
          </p:cNvSpPr>
          <p:nvPr>
            <p:ph sz="quarter" idx="1"/>
          </p:nvPr>
        </p:nvSpPr>
        <p:spPr>
          <a:xfrm>
            <a:off x="-1" y="1219200"/>
            <a:ext cx="3538245" cy="4937760"/>
          </a:xfrm>
        </p:spPr>
        <p:txBody>
          <a:bodyPr/>
          <a:lstStyle/>
          <a:p>
            <a:r>
              <a:rPr lang="en-US" altLang="zh-TW" dirty="0"/>
              <a:t>The Fisher score of the 136 features for CASP7, CASP8 and CASP9.</a:t>
            </a:r>
            <a:endParaRPr lang="zh-TW" altLang="en-US" dirty="0" smtClean="0">
              <a:cs typeface="Times New Roman" panose="02020603050405020304" pitchFamily="18" charset="0"/>
            </a:endParaRPr>
          </a:p>
        </p:txBody>
      </p:sp>
      <p:sp>
        <p:nvSpPr>
          <p:cNvPr id="14" name="標題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3178696" cy="972344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Experimental </a:t>
            </a: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Results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245" y="0"/>
            <a:ext cx="560575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1008118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cs typeface="Times New Roman" pitchFamily="18" charset="0"/>
              </a:rPr>
              <a:t>Our Method (5/5)</a:t>
            </a:r>
            <a:endParaRPr lang="zh-TW" altLang="en-US" dirty="0" smtClean="0">
              <a:solidFill>
                <a:schemeClr val="tx2">
                  <a:satMod val="130000"/>
                </a:schemeClr>
              </a:solidFill>
              <a:cs typeface="Times New Roman" pitchFamily="18" charset="0"/>
            </a:endParaRPr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2015/1/13</a:t>
            </a: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D8DC7A06-82B7-4DED-93BE-CCD9A0C12253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18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5363" name="內容版面配置區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sz="2800" dirty="0"/>
              <a:t>Distance correlation is another method used to </a:t>
            </a:r>
            <a:r>
              <a:rPr lang="en-US" altLang="zh-TW" sz="2800" dirty="0">
                <a:solidFill>
                  <a:srgbClr val="FF0000"/>
                </a:solidFill>
              </a:rPr>
              <a:t>measure the statistical </a:t>
            </a:r>
            <a:r>
              <a:rPr lang="en-US" altLang="zh-TW" sz="2800" dirty="0" smtClean="0">
                <a:solidFill>
                  <a:srgbClr val="FF0000"/>
                </a:solidFill>
              </a:rPr>
              <a:t>dependence </a:t>
            </a:r>
            <a:r>
              <a:rPr lang="en-US" altLang="zh-TW" sz="2800" dirty="0"/>
              <a:t>between two </a:t>
            </a:r>
            <a:r>
              <a:rPr lang="en-US" altLang="zh-TW" sz="2800" dirty="0" smtClean="0"/>
              <a:t>vectors.</a:t>
            </a:r>
          </a:p>
          <a:p>
            <a:r>
              <a:rPr lang="en-US" altLang="zh-TW" sz="2800" dirty="0" smtClean="0"/>
              <a:t>Not </a:t>
            </a:r>
            <a:r>
              <a:rPr lang="en-US" altLang="zh-TW" sz="2800" dirty="0"/>
              <a:t>necessarily equal </a:t>
            </a:r>
            <a:r>
              <a:rPr lang="en-US" altLang="zh-TW" sz="2800" dirty="0" smtClean="0"/>
              <a:t>dimension</a:t>
            </a:r>
            <a:r>
              <a:rPr lang="en-US" altLang="zh-TW" sz="2800" dirty="0"/>
              <a:t>.</a:t>
            </a:r>
            <a:endParaRPr lang="en-US" altLang="zh-TW" sz="2800" dirty="0" smtClean="0"/>
          </a:p>
        </p:txBody>
      </p:sp>
      <p:pic>
        <p:nvPicPr>
          <p:cNvPr id="7" name="圖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3221355"/>
            <a:ext cx="4157933" cy="816588"/>
          </a:xfrm>
          <a:prstGeom prst="rect">
            <a:avLst/>
          </a:prstGeom>
        </p:spPr>
      </p:pic>
      <p:pic>
        <p:nvPicPr>
          <p:cNvPr id="8" name="圖片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4231005"/>
            <a:ext cx="5949428" cy="799923"/>
          </a:xfrm>
          <a:prstGeom prst="rect">
            <a:avLst/>
          </a:prstGeom>
        </p:spPr>
      </p:pic>
      <p:pic>
        <p:nvPicPr>
          <p:cNvPr id="9" name="圖片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577" y="5190362"/>
            <a:ext cx="4824536" cy="808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4121366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2015/1/13</a:t>
            </a:r>
            <a:endParaRPr lang="zh-TW" altLang="en-US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E0D26033-F937-4ACC-BF84-29256C53D356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19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21506" name="內容版面配置區 4"/>
          <p:cNvSpPr>
            <a:spLocks noGrp="1"/>
          </p:cNvSpPr>
          <p:nvPr>
            <p:ph sz="quarter" idx="1"/>
          </p:nvPr>
        </p:nvSpPr>
        <p:spPr>
          <a:xfrm>
            <a:off x="0" y="1219200"/>
            <a:ext cx="3707904" cy="4937760"/>
          </a:xfrm>
        </p:spPr>
        <p:txBody>
          <a:bodyPr/>
          <a:lstStyle/>
          <a:p>
            <a:r>
              <a:rPr lang="en-US" altLang="zh-TW" dirty="0"/>
              <a:t>The distance correlation of the 136 features in CASP7, CASP8 </a:t>
            </a:r>
            <a:r>
              <a:rPr lang="en-US" altLang="zh-TW" dirty="0" smtClean="0"/>
              <a:t>and CASP9</a:t>
            </a:r>
            <a:r>
              <a:rPr lang="en-US" altLang="zh-TW" dirty="0"/>
              <a:t>.</a:t>
            </a:r>
            <a:endParaRPr lang="zh-TW" altLang="en-US" dirty="0" smtClean="0">
              <a:cs typeface="Times New Roman" panose="02020603050405020304" pitchFamily="18" charset="0"/>
            </a:endParaRPr>
          </a:p>
        </p:txBody>
      </p:sp>
      <p:sp>
        <p:nvSpPr>
          <p:cNvPr id="14" name="標題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3178696" cy="972344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Experimental </a:t>
            </a: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Results</a:t>
            </a:r>
            <a:endParaRPr lang="zh-TW" altLang="en-US" dirty="0"/>
          </a:p>
        </p:txBody>
      </p:sp>
      <p:pic>
        <p:nvPicPr>
          <p:cNvPr id="4" name="圖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5492" y="0"/>
            <a:ext cx="554138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04579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>
          <a:xfrm>
            <a:off x="457200" y="125985"/>
            <a:ext cx="8229600" cy="990600"/>
          </a:xfrm>
        </p:spPr>
        <p:txBody>
          <a:bodyPr>
            <a:normAutofit/>
          </a:bodyPr>
          <a:lstStyle/>
          <a:p>
            <a:r>
              <a:rPr lang="en-US" altLang="zh-TW" dirty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Experimental </a:t>
            </a: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Results</a:t>
            </a:r>
            <a:endParaRPr lang="zh-TW" altLang="en-US" dirty="0"/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2015/1/13</a:t>
            </a:r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B557DE00-8D85-4E77-B7F6-3B2DD4C7DFD2}" type="slidenum">
              <a:rPr kumimoji="0" lang="zh-TW" altLang="en-US">
                <a:solidFill>
                  <a:srgbClr val="045C75"/>
                </a:solidFill>
                <a:latin typeface="+mn-lt"/>
                <a:cs typeface="Times New Roman" panose="02020603050405020304" pitchFamily="18" charset="0"/>
              </a:rPr>
              <a:pPr eaLnBrk="1" hangingPunct="1"/>
              <a:t>20</a:t>
            </a:fld>
            <a:endParaRPr kumimoji="0" lang="zh-TW" altLang="en-US">
              <a:solidFill>
                <a:srgbClr val="045C75"/>
              </a:solidFill>
              <a:latin typeface="+mn-lt"/>
              <a:cs typeface="Times New Roman" panose="02020603050405020304" pitchFamily="18" charset="0"/>
            </a:endParaRPr>
          </a:p>
        </p:txBody>
      </p:sp>
      <p:sp>
        <p:nvSpPr>
          <p:cNvPr id="4" name="內容版面配置區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 smtClean="0"/>
              <a:t>We adopt Wu’s method with all of the 136 properties for predicting.</a:t>
            </a:r>
            <a:endParaRPr lang="zh-TW" altLang="en-US" dirty="0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" y="2938486"/>
            <a:ext cx="9142462" cy="2222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619381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2015/1/13</a:t>
            </a:r>
            <a:endParaRPr lang="zh-TW" altLang="en-US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E0D26033-F937-4ACC-BF84-29256C53D356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21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21506" name="內容版面配置區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US" altLang="zh-TW" dirty="0"/>
              <a:t>The correlation coefficient and Spearman’s rank correlation </a:t>
            </a:r>
            <a:r>
              <a:rPr lang="en-US" altLang="zh-TW" dirty="0" smtClean="0"/>
              <a:t>coefficient between </a:t>
            </a:r>
            <a:r>
              <a:rPr lang="en-US" altLang="zh-TW" dirty="0"/>
              <a:t>two Fisher scores in </a:t>
            </a:r>
            <a:r>
              <a:rPr lang="en-US" altLang="zh-TW" dirty="0" smtClean="0"/>
              <a:t>CASPs.</a:t>
            </a:r>
            <a:endParaRPr lang="zh-TW" altLang="en-US" dirty="0" smtClean="0">
              <a:cs typeface="Times New Roman" panose="02020603050405020304" pitchFamily="18" charset="0"/>
            </a:endParaRPr>
          </a:p>
        </p:txBody>
      </p:sp>
      <p:sp>
        <p:nvSpPr>
          <p:cNvPr id="14" name="標題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3178696" cy="972344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Experimental </a:t>
            </a: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Results</a:t>
            </a:r>
            <a:endParaRPr lang="zh-TW" altLang="en-US" dirty="0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046" y="2986076"/>
            <a:ext cx="7623908" cy="1404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729018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2015/1/13</a:t>
            </a:r>
            <a:endParaRPr lang="zh-TW" altLang="en-US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E0D26033-F937-4ACC-BF84-29256C53D356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22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4" name="標題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3178696" cy="972344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Experimental </a:t>
            </a: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Results</a:t>
            </a:r>
            <a:endParaRPr lang="zh-TW" altLang="en-US" dirty="0"/>
          </a:p>
        </p:txBody>
      </p:sp>
      <p:pic>
        <p:nvPicPr>
          <p:cNvPr id="4" name="內容版面配置區 3"/>
          <p:cNvPicPr>
            <a:picLocks noGrp="1" noChangeAspect="1"/>
          </p:cNvPicPr>
          <p:nvPr>
            <p:ph sz="quarter" idx="1"/>
          </p:nvPr>
        </p:nvPicPr>
        <p:blipFill>
          <a:blip r:embed="rId3"/>
          <a:stretch>
            <a:fillRect/>
          </a:stretch>
        </p:blipFill>
        <p:spPr>
          <a:xfrm>
            <a:off x="2745917" y="3062569"/>
            <a:ext cx="3643083" cy="1251021"/>
          </a:xfrm>
          <a:prstGeom prst="rect">
            <a:avLst/>
          </a:prstGeom>
        </p:spPr>
      </p:pic>
      <p:sp>
        <p:nvSpPr>
          <p:cNvPr id="8" name="內容版面配置區 4"/>
          <p:cNvSpPr txBox="1">
            <a:spLocks/>
          </p:cNvSpPr>
          <p:nvPr/>
        </p:nvSpPr>
        <p:spPr>
          <a:xfrm>
            <a:off x="457200" y="1219200"/>
            <a:ext cx="8232648" cy="493776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The correlation coefficient between two </a:t>
            </a:r>
            <a:r>
              <a:rPr lang="en-US" altLang="zh-TW" dirty="0" smtClean="0"/>
              <a:t>results </a:t>
            </a:r>
            <a:r>
              <a:rPr lang="en-US" altLang="zh-TW" dirty="0"/>
              <a:t>of distance correlation </a:t>
            </a:r>
            <a:r>
              <a:rPr lang="en-US" altLang="zh-TW" dirty="0" smtClean="0"/>
              <a:t>in CASPs</a:t>
            </a:r>
            <a:r>
              <a:rPr lang="en-US" altLang="zh-TW" dirty="0"/>
              <a:t>.</a:t>
            </a:r>
            <a:endParaRPr lang="zh-TW" altLang="en-US" dirty="0" smtClean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86325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2015/1/13</a:t>
            </a:r>
            <a:endParaRPr lang="zh-TW" altLang="en-US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E0D26033-F937-4ACC-BF84-29256C53D356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23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4" name="標題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4474840" cy="972344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Single feature testing</a:t>
            </a:r>
            <a:endParaRPr lang="zh-TW" altLang="en-US" dirty="0"/>
          </a:p>
        </p:txBody>
      </p:sp>
      <p:sp>
        <p:nvSpPr>
          <p:cNvPr id="8" name="內容版面配置區 4"/>
          <p:cNvSpPr txBox="1">
            <a:spLocks/>
          </p:cNvSpPr>
          <p:nvPr/>
        </p:nvSpPr>
        <p:spPr>
          <a:xfrm>
            <a:off x="457200" y="1219200"/>
            <a:ext cx="8232648" cy="493776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 smtClean="0">
                <a:cs typeface="Times New Roman" panose="02020603050405020304" pitchFamily="18" charset="0"/>
              </a:rPr>
              <a:t>訓練單一</a:t>
            </a:r>
            <a:r>
              <a:rPr lang="en-US" altLang="zh-TW" dirty="0" smtClean="0">
                <a:cs typeface="Times New Roman" panose="02020603050405020304" pitchFamily="18" charset="0"/>
              </a:rPr>
              <a:t>feature</a:t>
            </a:r>
            <a:r>
              <a:rPr lang="zh-TW" altLang="en-US" dirty="0">
                <a:cs typeface="Times New Roman" panose="02020603050405020304" pitchFamily="18" charset="0"/>
              </a:rPr>
              <a:t>，</a:t>
            </a:r>
            <a:r>
              <a:rPr lang="zh-TW" altLang="en-US" dirty="0" smtClean="0">
                <a:cs typeface="Times New Roman" panose="02020603050405020304" pitchFamily="18" charset="0"/>
              </a:rPr>
              <a:t>觀察各</a:t>
            </a:r>
            <a:r>
              <a:rPr lang="en-US" altLang="zh-TW" dirty="0" smtClean="0">
                <a:cs typeface="Times New Roman" panose="02020603050405020304" pitchFamily="18" charset="0"/>
              </a:rPr>
              <a:t>feature</a:t>
            </a:r>
            <a:r>
              <a:rPr lang="zh-TW" altLang="en-US" dirty="0" smtClean="0">
                <a:cs typeface="Times New Roman" panose="02020603050405020304" pitchFamily="18" charset="0"/>
              </a:rPr>
              <a:t>所得出的</a:t>
            </a:r>
            <a:r>
              <a:rPr lang="en-US" altLang="zh-TW" dirty="0" smtClean="0">
                <a:cs typeface="Times New Roman" panose="02020603050405020304" pitchFamily="18" charset="0"/>
              </a:rPr>
              <a:t>RMSD</a:t>
            </a:r>
            <a:r>
              <a:rPr lang="zh-TW" altLang="en-US" dirty="0" smtClean="0">
                <a:cs typeface="Times New Roman" panose="02020603050405020304" pitchFamily="18" charset="0"/>
              </a:rPr>
              <a:t>結果</a:t>
            </a:r>
            <a:endParaRPr lang="en-US" altLang="zh-TW" dirty="0" smtClean="0">
              <a:cs typeface="Times New Roman" panose="02020603050405020304" pitchFamily="18" charset="0"/>
            </a:endParaRPr>
          </a:p>
          <a:p>
            <a:r>
              <a:rPr lang="zh-TW" altLang="en-US" dirty="0" smtClean="0">
                <a:cs typeface="Times New Roman" panose="02020603050405020304" pitchFamily="18" charset="0"/>
              </a:rPr>
              <a:t>以排</a:t>
            </a:r>
            <a:r>
              <a:rPr lang="zh-TW" altLang="en-US" dirty="0">
                <a:cs typeface="Times New Roman" panose="02020603050405020304" pitchFamily="18" charset="0"/>
              </a:rPr>
              <a:t>名</a:t>
            </a:r>
            <a:r>
              <a:rPr lang="zh-TW" altLang="en-US" dirty="0" smtClean="0">
                <a:cs typeface="Times New Roman" panose="02020603050405020304" pitchFamily="18" charset="0"/>
              </a:rPr>
              <a:t>選出較佳的</a:t>
            </a:r>
            <a:r>
              <a:rPr lang="en-US" altLang="zh-TW" dirty="0" smtClean="0">
                <a:cs typeface="Times New Roman" panose="02020603050405020304" pitchFamily="18" charset="0"/>
              </a:rPr>
              <a:t>features – Top 7 features</a:t>
            </a:r>
          </a:p>
          <a:p>
            <a:r>
              <a:rPr lang="zh-TW" altLang="en-US" dirty="0" smtClean="0">
                <a:cs typeface="Times New Roman" panose="02020603050405020304" pitchFamily="18" charset="0"/>
              </a:rPr>
              <a:t>以</a:t>
            </a:r>
            <a:r>
              <a:rPr lang="en-US" altLang="zh-TW" dirty="0" smtClean="0">
                <a:cs typeface="Times New Roman" panose="02020603050405020304" pitchFamily="18" charset="0"/>
              </a:rPr>
              <a:t>case</a:t>
            </a:r>
            <a:r>
              <a:rPr lang="zh-TW" altLang="en-US" dirty="0" smtClean="0">
                <a:cs typeface="Times New Roman" panose="02020603050405020304" pitchFamily="18" charset="0"/>
              </a:rPr>
              <a:t>為</a:t>
            </a:r>
            <a:r>
              <a:rPr lang="zh-TW" altLang="en-US" dirty="0">
                <a:cs typeface="Times New Roman" panose="02020603050405020304" pitchFamily="18" charset="0"/>
              </a:rPr>
              <a:t>單位做測試</a:t>
            </a:r>
            <a:endParaRPr lang="en-US" altLang="zh-TW" dirty="0">
              <a:cs typeface="Times New Roman" panose="02020603050405020304" pitchFamily="18" charset="0"/>
            </a:endParaRPr>
          </a:p>
          <a:p>
            <a:endParaRPr lang="en-US" altLang="zh-TW" dirty="0" smtClean="0">
              <a:cs typeface="Times New Roman" panose="02020603050405020304" pitchFamily="18" charset="0"/>
            </a:endParaRPr>
          </a:p>
          <a:p>
            <a:endParaRPr lang="zh-TW" altLang="en-US" dirty="0" smtClean="0">
              <a:cs typeface="Times New Roman" panose="02020603050405020304" pitchFamily="18" charset="0"/>
            </a:endParaRPr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594545"/>
            <a:ext cx="4421240" cy="4506863"/>
          </a:xfrm>
          <a:prstGeom prst="rect">
            <a:avLst/>
          </a:prstGeom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8807" y="2564904"/>
            <a:ext cx="4360760" cy="4500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588952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2015/1/13</a:t>
            </a:r>
            <a:endParaRPr lang="zh-TW" altLang="en-US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E0D26033-F937-4ACC-BF84-29256C53D356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24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4" name="標題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4474840" cy="972344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Single feature testing</a:t>
            </a:r>
            <a:endParaRPr lang="zh-TW" altLang="en-US" dirty="0"/>
          </a:p>
        </p:txBody>
      </p:sp>
      <p:sp>
        <p:nvSpPr>
          <p:cNvPr id="8" name="內容版面配置區 4"/>
          <p:cNvSpPr txBox="1">
            <a:spLocks/>
          </p:cNvSpPr>
          <p:nvPr/>
        </p:nvSpPr>
        <p:spPr>
          <a:xfrm>
            <a:off x="457200" y="1219200"/>
            <a:ext cx="8232648" cy="493776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 smtClean="0">
                <a:cs typeface="Times New Roman" panose="02020603050405020304" pitchFamily="18" charset="0"/>
              </a:rPr>
              <a:t>訓練單一</a:t>
            </a:r>
            <a:r>
              <a:rPr lang="en-US" altLang="zh-TW" dirty="0" smtClean="0">
                <a:cs typeface="Times New Roman" panose="02020603050405020304" pitchFamily="18" charset="0"/>
              </a:rPr>
              <a:t>feature</a:t>
            </a:r>
            <a:r>
              <a:rPr lang="zh-TW" altLang="en-US" dirty="0">
                <a:cs typeface="Times New Roman" panose="02020603050405020304" pitchFamily="18" charset="0"/>
              </a:rPr>
              <a:t>，</a:t>
            </a:r>
            <a:r>
              <a:rPr lang="zh-TW" altLang="en-US" dirty="0" smtClean="0">
                <a:cs typeface="Times New Roman" panose="02020603050405020304" pitchFamily="18" charset="0"/>
              </a:rPr>
              <a:t>觀察各</a:t>
            </a:r>
            <a:r>
              <a:rPr lang="en-US" altLang="zh-TW" dirty="0" smtClean="0">
                <a:cs typeface="Times New Roman" panose="02020603050405020304" pitchFamily="18" charset="0"/>
              </a:rPr>
              <a:t>feature</a:t>
            </a:r>
            <a:r>
              <a:rPr lang="zh-TW" altLang="en-US" dirty="0" smtClean="0">
                <a:cs typeface="Times New Roman" panose="02020603050405020304" pitchFamily="18" charset="0"/>
              </a:rPr>
              <a:t>所得出的</a:t>
            </a:r>
            <a:r>
              <a:rPr lang="en-US" altLang="zh-TW" dirty="0" smtClean="0">
                <a:cs typeface="Times New Roman" panose="02020603050405020304" pitchFamily="18" charset="0"/>
              </a:rPr>
              <a:t>RMSD</a:t>
            </a:r>
            <a:r>
              <a:rPr lang="zh-TW" altLang="en-US" dirty="0" smtClean="0">
                <a:cs typeface="Times New Roman" panose="02020603050405020304" pitchFamily="18" charset="0"/>
              </a:rPr>
              <a:t>結果</a:t>
            </a:r>
            <a:endParaRPr lang="en-US" altLang="zh-TW" dirty="0" smtClean="0">
              <a:cs typeface="Times New Roman" panose="02020603050405020304" pitchFamily="18" charset="0"/>
            </a:endParaRPr>
          </a:p>
          <a:p>
            <a:r>
              <a:rPr lang="zh-TW" altLang="en-US" dirty="0" smtClean="0">
                <a:cs typeface="Times New Roman" panose="02020603050405020304" pitchFamily="18" charset="0"/>
              </a:rPr>
              <a:t>以排</a:t>
            </a:r>
            <a:r>
              <a:rPr lang="zh-TW" altLang="en-US" dirty="0">
                <a:cs typeface="Times New Roman" panose="02020603050405020304" pitchFamily="18" charset="0"/>
              </a:rPr>
              <a:t>名</a:t>
            </a:r>
            <a:r>
              <a:rPr lang="zh-TW" altLang="en-US" dirty="0" smtClean="0">
                <a:cs typeface="Times New Roman" panose="02020603050405020304" pitchFamily="18" charset="0"/>
              </a:rPr>
              <a:t>選出較佳的</a:t>
            </a:r>
            <a:r>
              <a:rPr lang="en-US" altLang="zh-TW" dirty="0" smtClean="0">
                <a:cs typeface="Times New Roman" panose="02020603050405020304" pitchFamily="18" charset="0"/>
              </a:rPr>
              <a:t>features – Top 7 features</a:t>
            </a:r>
          </a:p>
          <a:p>
            <a:endParaRPr lang="zh-TW" altLang="en-US" dirty="0" smtClean="0">
              <a:cs typeface="Times New Roman" panose="02020603050405020304" pitchFamily="18" charset="0"/>
            </a:endParaRPr>
          </a:p>
        </p:txBody>
      </p:sp>
      <p:graphicFrame>
        <p:nvGraphicFramePr>
          <p:cNvPr id="11" name="圖表 1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xmlns="" val="1383586286"/>
              </p:ext>
            </p:extLst>
          </p:nvPr>
        </p:nvGraphicFramePr>
        <p:xfrm>
          <a:off x="323528" y="3717032"/>
          <a:ext cx="8506606" cy="26659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xmlns="" val="2994238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2015/1/13</a:t>
            </a:r>
            <a:endParaRPr lang="zh-TW" altLang="en-US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E0D26033-F937-4ACC-BF84-29256C53D356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25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4" name="標題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4474840" cy="972344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cs typeface="Times New Roman" panose="02020603050405020304" pitchFamily="18" charset="0"/>
              </a:rPr>
              <a:t>Leave-one-protein-out</a:t>
            </a:r>
            <a:endParaRPr lang="zh-TW" altLang="en-US" dirty="0"/>
          </a:p>
        </p:txBody>
      </p:sp>
      <p:sp>
        <p:nvSpPr>
          <p:cNvPr id="8" name="內容版面配置區 4"/>
          <p:cNvSpPr txBox="1">
            <a:spLocks/>
          </p:cNvSpPr>
          <p:nvPr/>
        </p:nvSpPr>
        <p:spPr>
          <a:xfrm>
            <a:off x="457200" y="1219200"/>
            <a:ext cx="7931224" cy="493776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 smtClean="0">
                <a:cs typeface="Times New Roman" panose="02020603050405020304" pitchFamily="18" charset="0"/>
              </a:rPr>
              <a:t>我們將目標放在自我預測，</a:t>
            </a:r>
            <a:r>
              <a:rPr lang="en-US" altLang="zh-TW" dirty="0">
                <a:cs typeface="Times New Roman" panose="02020603050405020304" pitchFamily="18" charset="0"/>
              </a:rPr>
              <a:t/>
            </a:r>
            <a:br>
              <a:rPr lang="en-US" altLang="zh-TW" dirty="0">
                <a:cs typeface="Times New Roman" panose="02020603050405020304" pitchFamily="18" charset="0"/>
              </a:rPr>
            </a:br>
            <a:r>
              <a:rPr lang="zh-TW" altLang="en-US" dirty="0" smtClean="0">
                <a:cs typeface="Times New Roman" panose="02020603050405020304" pitchFamily="18" charset="0"/>
              </a:rPr>
              <a:t>即</a:t>
            </a:r>
            <a:r>
              <a:rPr lang="en-US" altLang="zh-TW" dirty="0" smtClean="0">
                <a:cs typeface="Times New Roman" panose="02020603050405020304" pitchFamily="18" charset="0"/>
              </a:rPr>
              <a:t>	CASP7</a:t>
            </a:r>
            <a:r>
              <a:rPr lang="zh-TW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cs typeface="Times New Roman" panose="02020603050405020304" pitchFamily="18" charset="0"/>
              </a:rPr>
              <a:t>– CASP7</a:t>
            </a:r>
            <a:br>
              <a:rPr lang="en-US" altLang="zh-TW" dirty="0" smtClean="0">
                <a:cs typeface="Times New Roman" panose="02020603050405020304" pitchFamily="18" charset="0"/>
              </a:rPr>
            </a:br>
            <a:r>
              <a:rPr lang="en-US" altLang="zh-TW" dirty="0">
                <a:cs typeface="Times New Roman" panose="02020603050405020304" pitchFamily="18" charset="0"/>
              </a:rPr>
              <a:t>	</a:t>
            </a:r>
            <a:r>
              <a:rPr lang="en-US" altLang="zh-TW" dirty="0" smtClean="0">
                <a:cs typeface="Times New Roman" panose="02020603050405020304" pitchFamily="18" charset="0"/>
              </a:rPr>
              <a:t>CASP8</a:t>
            </a:r>
            <a:r>
              <a:rPr lang="zh-TW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zh-TW" dirty="0">
                <a:cs typeface="Times New Roman" panose="02020603050405020304" pitchFamily="18" charset="0"/>
              </a:rPr>
              <a:t>– </a:t>
            </a:r>
            <a:r>
              <a:rPr lang="en-US" altLang="zh-TW" dirty="0" smtClean="0">
                <a:cs typeface="Times New Roman" panose="02020603050405020304" pitchFamily="18" charset="0"/>
              </a:rPr>
              <a:t>CASP8</a:t>
            </a:r>
            <a:br>
              <a:rPr lang="en-US" altLang="zh-TW" dirty="0" smtClean="0">
                <a:cs typeface="Times New Roman" panose="02020603050405020304" pitchFamily="18" charset="0"/>
              </a:rPr>
            </a:br>
            <a:r>
              <a:rPr lang="en-US" altLang="zh-TW" dirty="0" smtClean="0">
                <a:cs typeface="Times New Roman" panose="02020603050405020304" pitchFamily="18" charset="0"/>
              </a:rPr>
              <a:t>	CASP9</a:t>
            </a:r>
            <a:r>
              <a:rPr lang="zh-TW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zh-TW" dirty="0">
                <a:cs typeface="Times New Roman" panose="02020603050405020304" pitchFamily="18" charset="0"/>
              </a:rPr>
              <a:t>– </a:t>
            </a:r>
            <a:r>
              <a:rPr lang="en-US" altLang="zh-TW" dirty="0" smtClean="0">
                <a:cs typeface="Times New Roman" panose="02020603050405020304" pitchFamily="18" charset="0"/>
              </a:rPr>
              <a:t>CASP9</a:t>
            </a:r>
            <a:br>
              <a:rPr lang="en-US" altLang="zh-TW" dirty="0" smtClean="0">
                <a:cs typeface="Times New Roman" panose="02020603050405020304" pitchFamily="18" charset="0"/>
              </a:rPr>
            </a:br>
            <a:r>
              <a:rPr lang="en-US" altLang="zh-TW" dirty="0" smtClean="0">
                <a:cs typeface="Times New Roman" panose="02020603050405020304" pitchFamily="18" charset="0"/>
              </a:rPr>
              <a:t>	CASP10</a:t>
            </a:r>
            <a:r>
              <a:rPr lang="zh-TW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zh-TW" dirty="0">
                <a:cs typeface="Times New Roman" panose="02020603050405020304" pitchFamily="18" charset="0"/>
              </a:rPr>
              <a:t>– </a:t>
            </a:r>
            <a:r>
              <a:rPr lang="en-US" altLang="zh-TW" dirty="0" smtClean="0">
                <a:cs typeface="Times New Roman" panose="02020603050405020304" pitchFamily="18" charset="0"/>
              </a:rPr>
              <a:t>CASP10</a:t>
            </a:r>
          </a:p>
          <a:p>
            <a:r>
              <a:rPr lang="zh-TW" altLang="en-US" dirty="0" smtClean="0">
                <a:cs typeface="Times New Roman" panose="02020603050405020304" pitchFamily="18" charset="0"/>
              </a:rPr>
              <a:t>在預測過程中，一次拿掉一條蛋白質資料做訓練，在將欲預測的蛋白質做測試。</a:t>
            </a:r>
            <a:endParaRPr lang="zh-TW" altLang="en-US" dirty="0">
              <a:cs typeface="Times New Roman" panose="02020603050405020304" pitchFamily="18" charset="0"/>
            </a:endParaRPr>
          </a:p>
          <a:p>
            <a:endParaRPr lang="zh-TW" altLang="en-US" dirty="0" smtClean="0">
              <a:cs typeface="Times New Roman" panose="02020603050405020304" pitchFamily="18" charset="0"/>
            </a:endParaRPr>
          </a:p>
          <a:p>
            <a:endParaRPr lang="zh-TW" altLang="en-US" dirty="0" smtClean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6597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2015/1/13</a:t>
            </a:r>
            <a:endParaRPr lang="zh-TW" altLang="en-US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E0D26033-F937-4ACC-BF84-29256C53D356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26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4" name="標題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4474840" cy="972344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cs typeface="Times New Roman" panose="02020603050405020304" pitchFamily="18" charset="0"/>
              </a:rPr>
              <a:t>Threshold</a:t>
            </a:r>
            <a:r>
              <a:rPr lang="zh-TW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cs typeface="Times New Roman" panose="02020603050405020304" pitchFamily="18" charset="0"/>
              </a:rPr>
              <a:t>Tuning</a:t>
            </a:r>
            <a:endParaRPr lang="zh-TW" altLang="en-US" dirty="0"/>
          </a:p>
        </p:txBody>
      </p:sp>
      <p:sp>
        <p:nvSpPr>
          <p:cNvPr id="8" name="內容版面配置區 4"/>
          <p:cNvSpPr txBox="1">
            <a:spLocks/>
          </p:cNvSpPr>
          <p:nvPr/>
        </p:nvSpPr>
        <p:spPr>
          <a:xfrm>
            <a:off x="457200" y="1219200"/>
            <a:ext cx="3466728" cy="4937760"/>
          </a:xfrm>
          <a:prstGeom prst="rect">
            <a:avLst/>
          </a:prstGeom>
        </p:spPr>
        <p:txBody>
          <a:bodyPr vert="horz">
            <a:normAutofit lnSpcReduction="10000"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>
                <a:cs typeface="Times New Roman" panose="02020603050405020304" pitchFamily="18" charset="0"/>
              </a:rPr>
              <a:t>Top 7 </a:t>
            </a:r>
            <a:r>
              <a:rPr lang="en-US" altLang="zh-TW" dirty="0" smtClean="0">
                <a:cs typeface="Times New Roman" panose="02020603050405020304" pitchFamily="18" charset="0"/>
              </a:rPr>
              <a:t>features</a:t>
            </a:r>
            <a:endParaRPr lang="en-US" altLang="zh-TW" dirty="0" smtClean="0">
              <a:solidFill>
                <a:schemeClr val="tx2">
                  <a:satMod val="130000"/>
                </a:schemeClr>
              </a:solidFill>
              <a:ea typeface="新細明體" charset="-120"/>
              <a:cs typeface="Times New Roman" pitchFamily="18" charset="0"/>
            </a:endParaRPr>
          </a:p>
          <a:p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BBQ</a:t>
            </a:r>
            <a:r>
              <a:rPr lang="zh-TW" altLang="en-US" dirty="0" smtClean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 </a:t>
            </a:r>
            <a:r>
              <a:rPr lang="en-US" altLang="zh-TW" dirty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–</a:t>
            </a:r>
            <a:r>
              <a:rPr lang="zh-TW" altLang="en-US" dirty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 </a:t>
            </a: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PD2</a:t>
            </a:r>
          </a:p>
          <a:p>
            <a:r>
              <a:rPr lang="en-US" altLang="zh-TW" dirty="0" smtClean="0">
                <a:cs typeface="Times New Roman" panose="02020603050405020304" pitchFamily="18" charset="0"/>
              </a:rPr>
              <a:t>Threshold = 0.05~0.20</a:t>
            </a:r>
          </a:p>
          <a:p>
            <a:endParaRPr lang="en-US" altLang="zh-TW" dirty="0">
              <a:cs typeface="Times New Roman" panose="02020603050405020304" pitchFamily="18" charset="0"/>
            </a:endParaRPr>
          </a:p>
          <a:p>
            <a:endParaRPr lang="en-US" altLang="zh-TW" dirty="0" smtClean="0">
              <a:cs typeface="Times New Roman" panose="02020603050405020304" pitchFamily="18" charset="0"/>
            </a:endParaRPr>
          </a:p>
          <a:p>
            <a:r>
              <a:rPr lang="zh-TW" altLang="en-US" dirty="0">
                <a:cs typeface="Times New Roman" panose="02020603050405020304" pitchFamily="18" charset="0"/>
              </a:rPr>
              <a:t>針對不同的原子設定合適的</a:t>
            </a:r>
            <a:r>
              <a:rPr lang="en-US" altLang="zh-TW" dirty="0">
                <a:cs typeface="Times New Roman" panose="02020603050405020304" pitchFamily="18" charset="0"/>
              </a:rPr>
              <a:t>Threshold</a:t>
            </a:r>
          </a:p>
          <a:p>
            <a:r>
              <a:rPr lang="zh-TW" altLang="en-US" dirty="0">
                <a:cs typeface="Times New Roman" panose="02020603050405020304" pitchFamily="18" charset="0"/>
              </a:rPr>
              <a:t>對於不同的</a:t>
            </a:r>
            <a:r>
              <a:rPr lang="en-US" altLang="zh-TW" dirty="0">
                <a:cs typeface="Times New Roman" panose="02020603050405020304" pitchFamily="18" charset="0"/>
              </a:rPr>
              <a:t>Threshold</a:t>
            </a:r>
            <a:r>
              <a:rPr lang="zh-TW" altLang="en-US" dirty="0">
                <a:cs typeface="Times New Roman" panose="02020603050405020304" pitchFamily="18" charset="0"/>
              </a:rPr>
              <a:t>組合，我們最後得到原子</a:t>
            </a:r>
            <a:r>
              <a:rPr lang="en-US" altLang="zh-TW" dirty="0">
                <a:cs typeface="Times New Roman" panose="02020603050405020304" pitchFamily="18" charset="0"/>
              </a:rPr>
              <a:t>N, C</a:t>
            </a:r>
            <a:r>
              <a:rPr lang="zh-TW" altLang="en-US" dirty="0">
                <a:cs typeface="Times New Roman" panose="02020603050405020304" pitchFamily="18" charset="0"/>
              </a:rPr>
              <a:t>門檻設為</a:t>
            </a:r>
            <a:r>
              <a:rPr lang="en-US" altLang="zh-TW" dirty="0">
                <a:cs typeface="Times New Roman" panose="02020603050405020304" pitchFamily="18" charset="0"/>
              </a:rPr>
              <a:t>0.1</a:t>
            </a:r>
            <a:r>
              <a:rPr lang="zh-TW" altLang="en-US" dirty="0">
                <a:cs typeface="Times New Roman" panose="02020603050405020304" pitchFamily="18" charset="0"/>
              </a:rPr>
              <a:t>，門檻設為</a:t>
            </a:r>
            <a:r>
              <a:rPr lang="en-US" altLang="zh-TW" dirty="0">
                <a:cs typeface="Times New Roman" panose="02020603050405020304" pitchFamily="18" charset="0"/>
              </a:rPr>
              <a:t>0.15</a:t>
            </a:r>
            <a:r>
              <a:rPr lang="zh-TW" altLang="en-US" dirty="0">
                <a:cs typeface="Times New Roman" panose="02020603050405020304" pitchFamily="18" charset="0"/>
              </a:rPr>
              <a:t>，得到較好的結果如下。</a:t>
            </a:r>
          </a:p>
          <a:p>
            <a:endParaRPr lang="zh-TW" altLang="en-US" dirty="0" smtClean="0">
              <a:cs typeface="Times New Roman" panose="02020603050405020304" pitchFamily="18" charset="0"/>
            </a:endParaRPr>
          </a:p>
        </p:txBody>
      </p:sp>
      <p:graphicFrame>
        <p:nvGraphicFramePr>
          <p:cNvPr id="13" name="圖表 12"/>
          <p:cNvGraphicFramePr/>
          <p:nvPr>
            <p:extLst>
              <p:ext uri="{D42A27DB-BD31-4B8C-83A1-F6EECF244321}">
                <p14:modId xmlns:p14="http://schemas.microsoft.com/office/powerpoint/2010/main" xmlns="" val="2016208945"/>
              </p:ext>
            </p:extLst>
          </p:nvPr>
        </p:nvGraphicFramePr>
        <p:xfrm>
          <a:off x="3779912" y="3316238"/>
          <a:ext cx="5422673" cy="30401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向左箭號 14"/>
          <p:cNvSpPr/>
          <p:nvPr/>
        </p:nvSpPr>
        <p:spPr>
          <a:xfrm>
            <a:off x="8532171" y="5229200"/>
            <a:ext cx="720080" cy="447356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PD2</a:t>
            </a:r>
            <a:endParaRPr lang="zh-TW" altLang="en-US" dirty="0"/>
          </a:p>
        </p:txBody>
      </p:sp>
      <p:sp>
        <p:nvSpPr>
          <p:cNvPr id="16" name="向左箭號 15"/>
          <p:cNvSpPr/>
          <p:nvPr/>
        </p:nvSpPr>
        <p:spPr>
          <a:xfrm>
            <a:off x="8532440" y="4141983"/>
            <a:ext cx="720080" cy="401910"/>
          </a:xfrm>
          <a:prstGeom prst="leftArrow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PD2</a:t>
            </a:r>
            <a:endParaRPr lang="zh-TW" altLang="en-US" dirty="0"/>
          </a:p>
        </p:txBody>
      </p:sp>
      <p:sp>
        <p:nvSpPr>
          <p:cNvPr id="17" name="向左箭號 16"/>
          <p:cNvSpPr/>
          <p:nvPr/>
        </p:nvSpPr>
        <p:spPr>
          <a:xfrm>
            <a:off x="8532171" y="4054906"/>
            <a:ext cx="720080" cy="410606"/>
          </a:xfrm>
          <a:prstGeom prst="left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PD2</a:t>
            </a:r>
            <a:endParaRPr lang="zh-TW" altLang="en-US" dirty="0"/>
          </a:p>
        </p:txBody>
      </p:sp>
      <p:sp>
        <p:nvSpPr>
          <p:cNvPr id="18" name="向左箭號 17"/>
          <p:cNvSpPr/>
          <p:nvPr/>
        </p:nvSpPr>
        <p:spPr>
          <a:xfrm>
            <a:off x="8532171" y="5150819"/>
            <a:ext cx="720080" cy="447356"/>
          </a:xfrm>
          <a:prstGeom prst="lef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 smtClean="0"/>
              <a:t>PD2</a:t>
            </a:r>
            <a:endParaRPr lang="zh-TW" altLang="en-US" dirty="0"/>
          </a:p>
        </p:txBody>
      </p:sp>
      <p:graphicFrame>
        <p:nvGraphicFramePr>
          <p:cNvPr id="21" name="表格 2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784576868"/>
              </p:ext>
            </p:extLst>
          </p:nvPr>
        </p:nvGraphicFramePr>
        <p:xfrm>
          <a:off x="3858419" y="35099"/>
          <a:ext cx="5256584" cy="1854200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1540724"/>
                <a:gridCol w="928965"/>
                <a:gridCol w="928965"/>
                <a:gridCol w="928965"/>
                <a:gridCol w="928965"/>
              </a:tblGrid>
              <a:tr h="37084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>
                          <a:cs typeface="Times New Roman" panose="02020603050405020304" pitchFamily="18" charset="0"/>
                        </a:rPr>
                        <a:t>Leave-one-out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dirty="0" smtClean="0"/>
                        <a:t>7-7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8-8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9-9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10-10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No Thresh</a:t>
                      </a:r>
                    </a:p>
                  </a:txBody>
                  <a:tcPr marL="0" marR="0" marT="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0.3584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0.4460</a:t>
                      </a:r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0.4254</a:t>
                      </a:r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0.3578</a:t>
                      </a:r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Thresh=0.05</a:t>
                      </a:r>
                    </a:p>
                  </a:txBody>
                  <a:tcPr marL="0" marR="0" marT="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0.3546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0.4442</a:t>
                      </a:r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0.4295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0.3573</a:t>
                      </a:r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Thresh=0.10</a:t>
                      </a:r>
                    </a:p>
                  </a:txBody>
                  <a:tcPr marL="0" marR="0" marT="0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0.3447</a:t>
                      </a:r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0.4184</a:t>
                      </a:r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0.4226</a:t>
                      </a:r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0.3464</a:t>
                      </a:r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r" fontAlgn="b"/>
                      <a:r>
                        <a:rPr lang="en-US" sz="1800" b="1" i="0" u="none" strike="noStrike" dirty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Thresh=0.20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0.3345</a:t>
                      </a:r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0.4235</a:t>
                      </a:r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0.4154</a:t>
                      </a:r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0.3437</a:t>
                      </a: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22" name="表格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649844467"/>
              </p:ext>
            </p:extLst>
          </p:nvPr>
        </p:nvGraphicFramePr>
        <p:xfrm>
          <a:off x="3856541" y="2132856"/>
          <a:ext cx="5256584" cy="370840"/>
        </p:xfrm>
        <a:graphic>
          <a:graphicData uri="http://schemas.openxmlformats.org/drawingml/2006/table">
            <a:tbl>
              <a:tblPr firstCol="1" bandRow="1">
                <a:tableStyleId>{69012ECD-51FC-41F1-AA8D-1B2483CD663E}</a:tableStyleId>
              </a:tblPr>
              <a:tblGrid>
                <a:gridCol w="1540724"/>
                <a:gridCol w="928965"/>
                <a:gridCol w="928965"/>
                <a:gridCol w="928965"/>
                <a:gridCol w="928965"/>
              </a:tblGrid>
              <a:tr h="370840">
                <a:tc>
                  <a:txBody>
                    <a:bodyPr/>
                    <a:lstStyle/>
                    <a:p>
                      <a:pPr algn="r" fontAlgn="b"/>
                      <a:r>
                        <a:rPr kumimoji="0" lang="en-US" altLang="zh-TW" sz="1800" b="1" i="0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  <a:cs typeface="+mn-cs"/>
                        </a:rPr>
                        <a:t>PD2</a:t>
                      </a:r>
                      <a:endParaRPr kumimoji="0" lang="en-US" altLang="zh-TW" sz="1800" b="1" i="0" u="none" strike="noStrike" kern="1200" dirty="0">
                        <a:solidFill>
                          <a:schemeClr val="tx2"/>
                        </a:solidFill>
                        <a:effectLst/>
                        <a:latin typeface="+mn-lt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0.3335</a:t>
                      </a:r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0.4042</a:t>
                      </a:r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0.4096</a:t>
                      </a:r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0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0.3386</a:t>
                      </a:r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</a:tr>
            </a:tbl>
          </a:graphicData>
        </a:graphic>
      </p:graphicFrame>
      <p:graphicFrame>
        <p:nvGraphicFramePr>
          <p:cNvPr id="19" name="表格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100726537"/>
              </p:ext>
            </p:extLst>
          </p:nvPr>
        </p:nvGraphicFramePr>
        <p:xfrm>
          <a:off x="2987823" y="2780928"/>
          <a:ext cx="6124917" cy="558165"/>
        </p:xfrm>
        <a:graphic>
          <a:graphicData uri="http://schemas.openxmlformats.org/drawingml/2006/table">
            <a:tbl>
              <a:tblPr firstCol="1" bandRow="1">
                <a:tableStyleId>{69012ECD-51FC-41F1-AA8D-1B2483CD663E}</a:tableStyleId>
              </a:tblPr>
              <a:tblGrid>
                <a:gridCol w="2376265"/>
                <a:gridCol w="937163"/>
                <a:gridCol w="937163"/>
                <a:gridCol w="937163"/>
                <a:gridCol w="937163"/>
              </a:tblGrid>
              <a:tr h="370840"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  <a:cs typeface="+mn-cs"/>
                        </a:rPr>
                        <a:t>Atom O Thresh=0.15</a:t>
                      </a:r>
                    </a:p>
                    <a:p>
                      <a:pPr algn="r" fontAlgn="b"/>
                      <a:r>
                        <a:rPr kumimoji="0" lang="en-US" altLang="zh-TW" sz="1800" b="1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  <a:cs typeface="+mn-cs"/>
                        </a:rPr>
                        <a:t>Atom N,C Thresh=0.10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kumimoji="0" lang="en-US" altLang="zh-TW" sz="18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  <a:cs typeface="+mn-cs"/>
                        </a:rPr>
                        <a:t>0.3420</a:t>
                      </a:r>
                      <a:endParaRPr lang="en-US" altLang="zh-TW" sz="18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kumimoji="0" lang="en-US" altLang="zh-TW" sz="1800" b="0" i="0" u="none" strike="noStrike" kern="1200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  <a:cs typeface="+mn-cs"/>
                        </a:rPr>
                        <a:t>0.4032</a:t>
                      </a:r>
                      <a:endParaRPr lang="en-US" altLang="zh-TW" sz="1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kumimoji="0" lang="en-US" altLang="zh-TW" sz="1800" b="0" i="0" u="none" strike="noStrike" kern="1200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  <a:cs typeface="+mn-cs"/>
                        </a:rPr>
                        <a:t>0.4089</a:t>
                      </a:r>
                      <a:endParaRPr lang="en-US" altLang="zh-TW" sz="1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kumimoji="0" lang="en-US" altLang="zh-TW" sz="1800" b="0" i="0" u="none" strike="noStrike" kern="1200" dirty="0" smtClean="0">
                          <a:solidFill>
                            <a:srgbClr val="C00000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  <a:cs typeface="+mn-cs"/>
                        </a:rPr>
                        <a:t>0.3368</a:t>
                      </a:r>
                      <a:endParaRPr lang="en-US" altLang="zh-TW" sz="1800" b="0" i="0" u="none" strike="noStrike" dirty="0">
                        <a:solidFill>
                          <a:srgbClr val="C00000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77598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>
          <a:xfrm>
            <a:off x="6362426" y="7652494"/>
            <a:ext cx="2289048" cy="365760"/>
          </a:xfrm>
        </p:spPr>
        <p:txBody>
          <a:bodyPr/>
          <a:lstStyle/>
          <a:p>
            <a:r>
              <a:rPr lang="en-US" altLang="zh-TW" smtClean="0"/>
              <a:t>2015/1/13</a:t>
            </a:r>
            <a:endParaRPr lang="zh-TW" altLang="en-US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>
          <a:xfrm>
            <a:off x="574274" y="7652494"/>
            <a:ext cx="1981200" cy="365760"/>
          </a:xfrm>
        </p:spPr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E0D26033-F937-4ACC-BF84-29256C53D356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27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4" name="標題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4474840" cy="972344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Single feature testing</a:t>
            </a:r>
            <a:endParaRPr lang="zh-TW" altLang="en-US" dirty="0"/>
          </a:p>
        </p:txBody>
      </p:sp>
      <p:sp>
        <p:nvSpPr>
          <p:cNvPr id="8" name="內容版面配置區 4"/>
          <p:cNvSpPr txBox="1">
            <a:spLocks/>
          </p:cNvSpPr>
          <p:nvPr/>
        </p:nvSpPr>
        <p:spPr>
          <a:xfrm>
            <a:off x="457200" y="1219200"/>
            <a:ext cx="8686800" cy="493776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 smtClean="0">
                <a:cs typeface="Times New Roman" panose="02020603050405020304" pitchFamily="18" charset="0"/>
              </a:rPr>
              <a:t>排名選出較佳的</a:t>
            </a:r>
            <a:r>
              <a:rPr lang="en-US" altLang="zh-TW" dirty="0" smtClean="0">
                <a:cs typeface="Times New Roman" panose="02020603050405020304" pitchFamily="18" charset="0"/>
              </a:rPr>
              <a:t>features – Top 10 features</a:t>
            </a:r>
          </a:p>
          <a:p>
            <a:r>
              <a:rPr lang="zh-TW" altLang="en-US" dirty="0" smtClean="0">
                <a:cs typeface="Times New Roman" panose="02020603050405020304" pitchFamily="18" charset="0"/>
              </a:rPr>
              <a:t>由於測試資料以胺基酸分割，所以將胺基酸為單位測試</a:t>
            </a:r>
            <a:endParaRPr lang="en-US" altLang="zh-TW" dirty="0" smtClean="0">
              <a:cs typeface="Times New Roman" panose="02020603050405020304" pitchFamily="18" charset="0"/>
            </a:endParaRPr>
          </a:p>
          <a:p>
            <a:r>
              <a:rPr lang="zh-TW" altLang="en-US" dirty="0">
                <a:cs typeface="Times New Roman" panose="02020603050405020304" pitchFamily="18" charset="0"/>
              </a:rPr>
              <a:t>由於之前選出的</a:t>
            </a:r>
            <a:r>
              <a:rPr lang="en-US" altLang="zh-TW" dirty="0">
                <a:cs typeface="Times New Roman" panose="02020603050405020304" pitchFamily="18" charset="0"/>
              </a:rPr>
              <a:t>top</a:t>
            </a:r>
            <a:r>
              <a:rPr lang="zh-TW" altLang="en-US" dirty="0">
                <a:cs typeface="Times New Roman" panose="02020603050405020304" pitchFamily="18" charset="0"/>
              </a:rPr>
              <a:t> </a:t>
            </a:r>
            <a:r>
              <a:rPr lang="en-US" altLang="zh-TW" dirty="0">
                <a:cs typeface="Times New Roman" panose="02020603050405020304" pitchFamily="18" charset="0"/>
              </a:rPr>
              <a:t>7</a:t>
            </a:r>
            <a:r>
              <a:rPr lang="zh-TW" altLang="en-US" dirty="0">
                <a:cs typeface="Times New Roman" panose="02020603050405020304" pitchFamily="18" charset="0"/>
              </a:rPr>
              <a:t> </a:t>
            </a:r>
            <a:r>
              <a:rPr lang="en-US" altLang="zh-TW" dirty="0">
                <a:cs typeface="Times New Roman" panose="02020603050405020304" pitchFamily="18" charset="0"/>
              </a:rPr>
              <a:t>features</a:t>
            </a:r>
            <a:r>
              <a:rPr lang="zh-TW" altLang="en-US" dirty="0">
                <a:cs typeface="Times New Roman" panose="02020603050405020304" pitchFamily="18" charset="0"/>
              </a:rPr>
              <a:t>套用在所有</a:t>
            </a:r>
            <a:r>
              <a:rPr lang="en-US" altLang="zh-TW" dirty="0">
                <a:cs typeface="Times New Roman" panose="02020603050405020304" pitchFamily="18" charset="0"/>
              </a:rPr>
              <a:t>SVMs</a:t>
            </a:r>
            <a:r>
              <a:rPr lang="zh-TW" altLang="en-US" dirty="0">
                <a:cs typeface="Times New Roman" panose="02020603050405020304" pitchFamily="18" charset="0"/>
              </a:rPr>
              <a:t>，我們調整為</a:t>
            </a:r>
            <a:r>
              <a:rPr lang="en-US" altLang="zh-TW" dirty="0">
                <a:cs typeface="Times New Roman" panose="02020603050405020304" pitchFamily="18" charset="0"/>
              </a:rPr>
              <a:t>60</a:t>
            </a:r>
            <a:r>
              <a:rPr lang="zh-TW" altLang="en-US" dirty="0">
                <a:cs typeface="Times New Roman" panose="02020603050405020304" pitchFamily="18" charset="0"/>
              </a:rPr>
              <a:t>個</a:t>
            </a:r>
            <a:r>
              <a:rPr lang="en-US" altLang="zh-TW" dirty="0">
                <a:cs typeface="Times New Roman" panose="02020603050405020304" pitchFamily="18" charset="0"/>
              </a:rPr>
              <a:t>SVM</a:t>
            </a:r>
            <a:r>
              <a:rPr lang="zh-TW" altLang="en-US" dirty="0">
                <a:cs typeface="Times New Roman" panose="02020603050405020304" pitchFamily="18" charset="0"/>
              </a:rPr>
              <a:t>各自選出自己的</a:t>
            </a:r>
            <a:r>
              <a:rPr lang="en-US" altLang="zh-TW" dirty="0">
                <a:cs typeface="Times New Roman" panose="02020603050405020304" pitchFamily="18" charset="0"/>
              </a:rPr>
              <a:t>top 10 features</a:t>
            </a:r>
          </a:p>
          <a:p>
            <a:endParaRPr lang="en-US" altLang="zh-TW" dirty="0" smtClean="0">
              <a:cs typeface="Times New Roman" panose="02020603050405020304" pitchFamily="18" charset="0"/>
            </a:endParaRPr>
          </a:p>
          <a:p>
            <a:endParaRPr lang="en-US" altLang="zh-TW" dirty="0" smtClean="0">
              <a:cs typeface="Times New Roman" panose="02020603050405020304" pitchFamily="18" charset="0"/>
            </a:endParaRPr>
          </a:p>
          <a:p>
            <a:endParaRPr lang="zh-TW" altLang="en-US" dirty="0" smtClean="0">
              <a:cs typeface="Times New Roman" panose="02020603050405020304" pitchFamily="18" charset="0"/>
            </a:endParaRPr>
          </a:p>
        </p:txBody>
      </p:sp>
      <p:pic>
        <p:nvPicPr>
          <p:cNvPr id="3" name="圖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5" y="3212976"/>
            <a:ext cx="8187987" cy="4654449"/>
          </a:xfrm>
          <a:prstGeom prst="rect">
            <a:avLst/>
          </a:prstGeom>
        </p:spPr>
      </p:pic>
      <p:graphicFrame>
        <p:nvGraphicFramePr>
          <p:cNvPr id="11" name="表格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70573756"/>
              </p:ext>
            </p:extLst>
          </p:nvPr>
        </p:nvGraphicFramePr>
        <p:xfrm>
          <a:off x="3019083" y="5930308"/>
          <a:ext cx="6124917" cy="929005"/>
        </p:xfrm>
        <a:graphic>
          <a:graphicData uri="http://schemas.openxmlformats.org/drawingml/2006/table">
            <a:tbl>
              <a:tblPr firstCol="1" bandRow="1">
                <a:tableStyleId>{69012ECD-51FC-41F1-AA8D-1B2483CD663E}</a:tableStyleId>
              </a:tblPr>
              <a:tblGrid>
                <a:gridCol w="2376265"/>
                <a:gridCol w="937163"/>
                <a:gridCol w="937163"/>
                <a:gridCol w="937163"/>
                <a:gridCol w="937163"/>
              </a:tblGrid>
              <a:tr h="370840">
                <a:tc>
                  <a:txBody>
                    <a:bodyPr/>
                    <a:lstStyle/>
                    <a:p>
                      <a:pPr marL="0" marR="0" indent="0" algn="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  <a:cs typeface="+mn-cs"/>
                        </a:rPr>
                        <a:t>Atom O Thresh=0.15</a:t>
                      </a:r>
                    </a:p>
                    <a:p>
                      <a:pPr marL="0" algn="r" rtl="0" eaLnBrk="1" fontAlgn="b" latinLnBrk="0" hangingPunct="1"/>
                      <a:r>
                        <a:rPr kumimoji="0" lang="en-US" altLang="zh-TW" sz="18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  <a:cs typeface="+mn-cs"/>
                        </a:rPr>
                        <a:t>Atom N,C Thresh=0.10</a:t>
                      </a: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/>
                      <a:r>
                        <a:rPr kumimoji="0" lang="en-US" altLang="zh-TW" sz="18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  <a:cs typeface="+mn-cs"/>
                        </a:rPr>
                        <a:t>0.34168</a:t>
                      </a:r>
                      <a:endParaRPr kumimoji="0" lang="zh-TW" altLang="en-US" sz="1800" b="1" i="0" u="none" strike="noStrike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/>
                      <a:r>
                        <a:rPr kumimoji="0" lang="en-US" altLang="zh-TW" sz="1800" b="1" i="0" u="none" strike="noStrike" kern="1200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  <a:cs typeface="+mn-cs"/>
                        </a:rPr>
                        <a:t>0.40119</a:t>
                      </a:r>
                      <a:endParaRPr kumimoji="0" lang="zh-TW" altLang="en-US" sz="1800" b="1" i="0" u="none" strike="noStrike" kern="1200" dirty="0">
                        <a:solidFill>
                          <a:srgbClr val="C00000"/>
                        </a:solidFill>
                        <a:effectLst/>
                        <a:latin typeface="+mj-lt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/>
                      <a:r>
                        <a:rPr kumimoji="0" lang="en-US" altLang="zh-TW" sz="1800" b="1" i="0" u="none" strike="noStrike" kern="1200" dirty="0" smtClean="0">
                          <a:solidFill>
                            <a:srgbClr val="C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  <a:cs typeface="+mn-cs"/>
                        </a:rPr>
                        <a:t>0.39979</a:t>
                      </a:r>
                      <a:endParaRPr kumimoji="0" lang="zh-TW" altLang="en-US" sz="1800" b="1" i="0" u="none" strike="noStrike" kern="1200" dirty="0">
                        <a:solidFill>
                          <a:srgbClr val="C00000"/>
                        </a:solidFill>
                        <a:effectLst/>
                        <a:latin typeface="+mj-lt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/>
                      <a:r>
                        <a:rPr kumimoji="0" lang="en-US" altLang="zh-TW" sz="18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  <a:cs typeface="+mn-cs"/>
                        </a:rPr>
                        <a:t>0.34693</a:t>
                      </a:r>
                      <a:r>
                        <a:rPr kumimoji="0" lang="zh-TW" altLang="en-US" sz="1800" b="1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  <a:cs typeface="+mn-cs"/>
                        </a:rPr>
                        <a:t> </a:t>
                      </a:r>
                      <a:endParaRPr kumimoji="0" lang="zh-TW" altLang="en-US" sz="1800" b="1" i="0" u="none" strike="noStrike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 fontAlgn="b"/>
                      <a:r>
                        <a:rPr kumimoji="0" lang="en-US" altLang="zh-TW" sz="1800" b="1" i="0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  <a:cs typeface="+mn-cs"/>
                        </a:rPr>
                        <a:t>PD2</a:t>
                      </a:r>
                      <a:endParaRPr kumimoji="0" lang="en-US" altLang="zh-TW" sz="1800" b="1" i="0" u="none" strike="noStrike" kern="1200" dirty="0">
                        <a:solidFill>
                          <a:schemeClr val="tx2"/>
                        </a:solidFill>
                        <a:effectLst/>
                        <a:latin typeface="+mn-lt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0.3335</a:t>
                      </a:r>
                      <a:endParaRPr lang="en-US" altLang="zh-TW" sz="18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0.4042</a:t>
                      </a:r>
                      <a:endParaRPr lang="en-US" altLang="zh-TW" sz="18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0.4096</a:t>
                      </a:r>
                      <a:endParaRPr lang="en-US" altLang="zh-TW" sz="18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0.3386</a:t>
                      </a:r>
                      <a:endParaRPr lang="en-US" altLang="zh-TW" sz="18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5" name="矩形 4"/>
          <p:cNvSpPr/>
          <p:nvPr/>
        </p:nvSpPr>
        <p:spPr>
          <a:xfrm>
            <a:off x="364957" y="3118520"/>
            <a:ext cx="6768752" cy="31048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364957" y="3789040"/>
            <a:ext cx="6768752" cy="646331"/>
          </a:xfrm>
          <a:prstGeom prst="rect">
            <a:avLst/>
          </a:prstGeom>
          <a:solidFill>
            <a:schemeClr val="bg1"/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b="1" dirty="0" smtClean="0">
                <a:solidFill>
                  <a:srgbClr val="C00000"/>
                </a:solidFill>
              </a:rPr>
              <a:t>A   C    D   E     F    G    H     I      K    L    M   O    P    Q   R     S    T    V   W   Y</a:t>
            </a:r>
          </a:p>
          <a:p>
            <a:r>
              <a:rPr lang="en-US" altLang="zh-TW" b="1" dirty="0" smtClean="0">
                <a:solidFill>
                  <a:srgbClr val="C00000"/>
                </a:solidFill>
              </a:rPr>
              <a:t>CASP7-CASP7</a:t>
            </a:r>
            <a:endParaRPr lang="zh-TW" alt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952970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2015/1/13</a:t>
            </a:r>
            <a:endParaRPr lang="zh-TW" altLang="en-US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E0D26033-F937-4ACC-BF84-29256C53D356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28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4" name="標題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4474840" cy="972344"/>
          </a:xfrm>
        </p:spPr>
        <p:txBody>
          <a:bodyPr>
            <a:normAutofit/>
          </a:bodyPr>
          <a:lstStyle/>
          <a:p>
            <a:r>
              <a:rPr lang="en-US" altLang="zh-TW" dirty="0"/>
              <a:t>Probability estimation</a:t>
            </a:r>
            <a:endParaRPr lang="zh-TW" altLang="en-US" dirty="0"/>
          </a:p>
        </p:txBody>
      </p:sp>
      <p:sp>
        <p:nvSpPr>
          <p:cNvPr id="8" name="內容版面配置區 4"/>
          <p:cNvSpPr txBox="1">
            <a:spLocks/>
          </p:cNvSpPr>
          <p:nvPr/>
        </p:nvSpPr>
        <p:spPr>
          <a:xfrm>
            <a:off x="457200" y="1219200"/>
            <a:ext cx="8232648" cy="493776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 smtClean="0">
                <a:cs typeface="Times New Roman" panose="02020603050405020304" pitchFamily="18" charset="0"/>
              </a:rPr>
              <a:t>SVM –b 1</a:t>
            </a:r>
          </a:p>
          <a:p>
            <a:r>
              <a:rPr lang="zh-TW" altLang="en-US" dirty="0" smtClean="0">
                <a:cs typeface="Times New Roman" panose="02020603050405020304" pitchFamily="18" charset="0"/>
              </a:rPr>
              <a:t>由於我們發現</a:t>
            </a:r>
            <a:r>
              <a:rPr lang="en-US" altLang="zh-TW" dirty="0" smtClean="0">
                <a:cs typeface="Times New Roman" panose="02020603050405020304" pitchFamily="18" charset="0"/>
              </a:rPr>
              <a:t>PD2</a:t>
            </a:r>
            <a:r>
              <a:rPr lang="zh-TW" altLang="en-US" dirty="0" smtClean="0">
                <a:cs typeface="Times New Roman" panose="02020603050405020304" pitchFamily="18" charset="0"/>
              </a:rPr>
              <a:t>的預測結果較好</a:t>
            </a:r>
            <a:r>
              <a:rPr lang="en-US" altLang="zh-TW" dirty="0" smtClean="0">
                <a:cs typeface="Times New Roman" panose="02020603050405020304" pitchFamily="18" charset="0"/>
              </a:rPr>
              <a:t>(RMSD</a:t>
            </a:r>
            <a:r>
              <a:rPr lang="zh-TW" altLang="en-US" dirty="0" smtClean="0">
                <a:cs typeface="Times New Roman" panose="02020603050405020304" pitchFamily="18" charset="0"/>
              </a:rPr>
              <a:t>較</a:t>
            </a:r>
            <a:r>
              <a:rPr lang="en-US" altLang="zh-TW" dirty="0" smtClean="0">
                <a:cs typeface="Times New Roman" panose="02020603050405020304" pitchFamily="18" charset="0"/>
              </a:rPr>
              <a:t>BBQ</a:t>
            </a:r>
            <a:r>
              <a:rPr lang="zh-TW" altLang="en-US" dirty="0" smtClean="0">
                <a:cs typeface="Times New Roman" panose="02020603050405020304" pitchFamily="18" charset="0"/>
              </a:rPr>
              <a:t>小</a:t>
            </a:r>
            <a:r>
              <a:rPr lang="en-US" altLang="zh-TW" dirty="0" smtClean="0">
                <a:cs typeface="Times New Roman" panose="02020603050405020304" pitchFamily="18" charset="0"/>
              </a:rPr>
              <a:t>)</a:t>
            </a:r>
            <a:r>
              <a:rPr lang="zh-TW" altLang="en-US" dirty="0" smtClean="0">
                <a:cs typeface="Times New Roman" panose="02020603050405020304" pitchFamily="18" charset="0"/>
              </a:rPr>
              <a:t>，因此利用機率預測將預測結果偏向</a:t>
            </a:r>
            <a:r>
              <a:rPr lang="en-US" altLang="zh-TW" dirty="0" smtClean="0">
                <a:cs typeface="Times New Roman" panose="02020603050405020304" pitchFamily="18" charset="0"/>
              </a:rPr>
              <a:t>PD2</a:t>
            </a:r>
            <a:r>
              <a:rPr lang="zh-TW" altLang="en-US" dirty="0" smtClean="0">
                <a:cs typeface="Times New Roman" panose="02020603050405020304" pitchFamily="18" charset="0"/>
              </a:rPr>
              <a:t>。</a:t>
            </a:r>
            <a:endParaRPr lang="en-US" altLang="zh-TW" dirty="0" smtClean="0">
              <a:cs typeface="Times New Roman" panose="02020603050405020304" pitchFamily="18" charset="0"/>
            </a:endParaRPr>
          </a:p>
          <a:p>
            <a:r>
              <a:rPr lang="en-US" altLang="zh-TW" sz="2800" dirty="0" smtClean="0">
                <a:cs typeface="Times New Roman" panose="02020603050405020304" pitchFamily="18" charset="0"/>
              </a:rPr>
              <a:t>Threshold</a:t>
            </a:r>
            <a:r>
              <a:rPr lang="zh-TW" altLang="en-US" sz="2800" dirty="0" smtClean="0">
                <a:cs typeface="Times New Roman" panose="02020603050405020304" pitchFamily="18" charset="0"/>
              </a:rPr>
              <a:t>介於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0</a:t>
            </a:r>
            <a:r>
              <a:rPr lang="zh-TW" altLang="en-US" sz="2800" dirty="0" smtClean="0">
                <a:cs typeface="Times New Roman" panose="02020603050405020304" pitchFamily="18" charset="0"/>
              </a:rPr>
              <a:t>～</a:t>
            </a:r>
            <a:r>
              <a:rPr lang="en-US" altLang="zh-TW" sz="2800" dirty="0" smtClean="0">
                <a:cs typeface="Times New Roman" panose="02020603050405020304" pitchFamily="18" charset="0"/>
              </a:rPr>
              <a:t>1</a:t>
            </a:r>
            <a:endParaRPr lang="en-US" altLang="zh-TW" dirty="0" smtClean="0">
              <a:cs typeface="Times New Roman" panose="02020603050405020304" pitchFamily="18" charset="0"/>
            </a:endParaRPr>
          </a:p>
          <a:p>
            <a:endParaRPr lang="zh-TW" altLang="en-US" dirty="0" smtClean="0"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246546463"/>
              </p:ext>
            </p:extLst>
          </p:nvPr>
        </p:nvGraphicFramePr>
        <p:xfrm>
          <a:off x="612646" y="3284984"/>
          <a:ext cx="8077201" cy="1854200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2367457"/>
                <a:gridCol w="1427436"/>
                <a:gridCol w="1427436"/>
                <a:gridCol w="1427436"/>
                <a:gridCol w="1427436"/>
              </a:tblGrid>
              <a:tr h="37084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>
                          <a:cs typeface="Times New Roman" panose="02020603050405020304" pitchFamily="18" charset="0"/>
                        </a:rPr>
                        <a:t>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dirty="0" smtClean="0"/>
                        <a:t>7-7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8-8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9-9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10-10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 smtClean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Non</a:t>
                      </a:r>
                      <a:endParaRPr lang="en-US" sz="1800" b="1" i="0" u="none" strike="noStrike" dirty="0">
                        <a:solidFill>
                          <a:schemeClr val="tx2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0.34168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0.40119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0.39979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0.34693</a:t>
                      </a:r>
                    </a:p>
                  </a:txBody>
                  <a:tcPr marL="0" marR="0" marT="0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 smtClean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0.55</a:t>
                      </a:r>
                      <a:endParaRPr lang="en-US" sz="1800" b="1" i="0" u="none" strike="noStrike" dirty="0">
                        <a:solidFill>
                          <a:schemeClr val="tx2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0.33544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>
                          <a:solidFill>
                            <a:srgbClr val="C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0.40353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>
                          <a:solidFill>
                            <a:srgbClr val="C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0.39997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0.34495</a:t>
                      </a: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 smtClean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0.60</a:t>
                      </a:r>
                      <a:endParaRPr lang="en-US" sz="1800" b="1" i="0" u="none" strike="noStrike" dirty="0">
                        <a:solidFill>
                          <a:schemeClr val="tx2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0.33391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0.40478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0.40956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0.33929</a:t>
                      </a: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 smtClean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0.65</a:t>
                      </a:r>
                      <a:endParaRPr lang="en-US" sz="1800" b="1" i="0" u="none" strike="noStrike" dirty="0">
                        <a:solidFill>
                          <a:schemeClr val="tx2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0.33396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0.40168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0.40494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chemeClr val="accent1">
                              <a:lumMod val="75000"/>
                            </a:schemeClr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0.34238</a:t>
                      </a: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1018323865"/>
              </p:ext>
            </p:extLst>
          </p:nvPr>
        </p:nvGraphicFramePr>
        <p:xfrm>
          <a:off x="612648" y="5517232"/>
          <a:ext cx="8077201" cy="370840"/>
        </p:xfrm>
        <a:graphic>
          <a:graphicData uri="http://schemas.openxmlformats.org/drawingml/2006/table">
            <a:tbl>
              <a:tblPr firstCol="1" bandRow="1">
                <a:tableStyleId>{69012ECD-51FC-41F1-AA8D-1B2483CD663E}</a:tableStyleId>
              </a:tblPr>
              <a:tblGrid>
                <a:gridCol w="2367457"/>
                <a:gridCol w="1427436"/>
                <a:gridCol w="1427436"/>
                <a:gridCol w="1427436"/>
                <a:gridCol w="1427436"/>
              </a:tblGrid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 smtClean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PD2</a:t>
                      </a:r>
                      <a:endParaRPr lang="en-US" sz="1800" b="1" i="0" u="none" strike="noStrike" dirty="0">
                        <a:solidFill>
                          <a:schemeClr val="tx2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0.3335</a:t>
                      </a:r>
                      <a:endParaRPr lang="en-US" altLang="zh-TW" sz="18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0.4042</a:t>
                      </a:r>
                      <a:endParaRPr lang="en-US" altLang="zh-TW" sz="18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0.4096</a:t>
                      </a:r>
                      <a:endParaRPr lang="en-US" altLang="zh-TW" sz="18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0.3386</a:t>
                      </a:r>
                      <a:endParaRPr lang="en-US" altLang="zh-TW" sz="18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814758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2015/1/13</a:t>
            </a:r>
            <a:endParaRPr lang="zh-TW" altLang="en-US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E0D26033-F937-4ACC-BF84-29256C53D356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29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4" name="標題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4474840" cy="972344"/>
          </a:xfrm>
        </p:spPr>
        <p:txBody>
          <a:bodyPr>
            <a:normAutofit/>
          </a:bodyPr>
          <a:lstStyle/>
          <a:p>
            <a:r>
              <a:rPr lang="en-US" altLang="zh-TW" dirty="0"/>
              <a:t>Probability estimation</a:t>
            </a:r>
            <a:endParaRPr lang="zh-TW" altLang="en-US" dirty="0"/>
          </a:p>
        </p:txBody>
      </p:sp>
      <p:sp>
        <p:nvSpPr>
          <p:cNvPr id="8" name="內容版面配置區 4"/>
          <p:cNvSpPr txBox="1">
            <a:spLocks/>
          </p:cNvSpPr>
          <p:nvPr/>
        </p:nvSpPr>
        <p:spPr>
          <a:xfrm>
            <a:off x="457200" y="1219200"/>
            <a:ext cx="8232648" cy="493776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 smtClean="0">
                <a:cs typeface="Times New Roman" panose="02020603050405020304" pitchFamily="18" charset="0"/>
              </a:rPr>
              <a:t>New top10 features</a:t>
            </a:r>
          </a:p>
          <a:p>
            <a:r>
              <a:rPr lang="zh-TW" altLang="en-US" dirty="0" smtClean="0">
                <a:cs typeface="Times New Roman" panose="02020603050405020304" pitchFamily="18" charset="0"/>
              </a:rPr>
              <a:t>由於之前選出的</a:t>
            </a:r>
            <a:r>
              <a:rPr lang="en-US" altLang="zh-TW" dirty="0" smtClean="0">
                <a:cs typeface="Times New Roman" panose="02020603050405020304" pitchFamily="18" charset="0"/>
              </a:rPr>
              <a:t>top</a:t>
            </a:r>
            <a:r>
              <a:rPr lang="zh-TW" altLang="en-US" dirty="0"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cs typeface="Times New Roman" panose="02020603050405020304" pitchFamily="18" charset="0"/>
              </a:rPr>
              <a:t>7</a:t>
            </a:r>
            <a:r>
              <a:rPr lang="zh-TW" altLang="en-US" dirty="0"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cs typeface="Times New Roman" panose="02020603050405020304" pitchFamily="18" charset="0"/>
              </a:rPr>
              <a:t>features</a:t>
            </a:r>
            <a:r>
              <a:rPr lang="zh-TW" altLang="en-US" dirty="0" smtClean="0">
                <a:cs typeface="Times New Roman" panose="02020603050405020304" pitchFamily="18" charset="0"/>
              </a:rPr>
              <a:t>套用在所有</a:t>
            </a:r>
            <a:r>
              <a:rPr lang="en-US" altLang="zh-TW" dirty="0" smtClean="0">
                <a:cs typeface="Times New Roman" panose="02020603050405020304" pitchFamily="18" charset="0"/>
              </a:rPr>
              <a:t>SVMs</a:t>
            </a:r>
            <a:r>
              <a:rPr lang="zh-TW" altLang="en-US" dirty="0" smtClean="0">
                <a:cs typeface="Times New Roman" panose="02020603050405020304" pitchFamily="18" charset="0"/>
              </a:rPr>
              <a:t>，我們調整</a:t>
            </a:r>
            <a:r>
              <a:rPr lang="zh-TW" altLang="en-US" dirty="0">
                <a:cs typeface="Times New Roman" panose="02020603050405020304" pitchFamily="18" charset="0"/>
              </a:rPr>
              <a:t>為</a:t>
            </a:r>
            <a:r>
              <a:rPr lang="en-US" altLang="zh-TW" dirty="0" smtClean="0">
                <a:cs typeface="Times New Roman" panose="02020603050405020304" pitchFamily="18" charset="0"/>
              </a:rPr>
              <a:t>60</a:t>
            </a:r>
            <a:r>
              <a:rPr lang="zh-TW" altLang="en-US" dirty="0" smtClean="0">
                <a:cs typeface="Times New Roman" panose="02020603050405020304" pitchFamily="18" charset="0"/>
              </a:rPr>
              <a:t>個</a:t>
            </a:r>
            <a:r>
              <a:rPr lang="en-US" altLang="zh-TW" dirty="0" smtClean="0">
                <a:cs typeface="Times New Roman" panose="02020603050405020304" pitchFamily="18" charset="0"/>
              </a:rPr>
              <a:t>SVM</a:t>
            </a:r>
            <a:r>
              <a:rPr lang="zh-TW" altLang="en-US" dirty="0" smtClean="0">
                <a:cs typeface="Times New Roman" panose="02020603050405020304" pitchFamily="18" charset="0"/>
              </a:rPr>
              <a:t>各自選出自己的</a:t>
            </a:r>
            <a:r>
              <a:rPr lang="en-US" altLang="zh-TW" dirty="0" smtClean="0">
                <a:cs typeface="Times New Roman" panose="02020603050405020304" pitchFamily="18" charset="0"/>
              </a:rPr>
              <a:t>top 10 features</a:t>
            </a:r>
            <a:endParaRPr lang="en-US" altLang="zh-TW" dirty="0">
              <a:cs typeface="Times New Roman" panose="02020603050405020304" pitchFamily="18" charset="0"/>
            </a:endParaRPr>
          </a:p>
          <a:p>
            <a:endParaRPr lang="en-US" altLang="zh-TW" dirty="0" smtClean="0">
              <a:cs typeface="Times New Roman" panose="02020603050405020304" pitchFamily="18" charset="0"/>
            </a:endParaRPr>
          </a:p>
          <a:p>
            <a:endParaRPr lang="zh-TW" altLang="en-US" dirty="0" smtClean="0"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688825982"/>
              </p:ext>
            </p:extLst>
          </p:nvPr>
        </p:nvGraphicFramePr>
        <p:xfrm>
          <a:off x="612646" y="3284984"/>
          <a:ext cx="8077201" cy="741680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2367457"/>
                <a:gridCol w="1427436"/>
                <a:gridCol w="1427436"/>
                <a:gridCol w="1427436"/>
                <a:gridCol w="1427436"/>
              </a:tblGrid>
              <a:tr h="370840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>
                          <a:cs typeface="Times New Roman" panose="02020603050405020304" pitchFamily="18" charset="0"/>
                        </a:rPr>
                        <a:t>parameters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dirty="0" smtClean="0"/>
                        <a:t>7-7</a:t>
                      </a:r>
                      <a:endParaRPr lang="zh-TW" alt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8-8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9-9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10-10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 smtClean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NC</a:t>
                      </a:r>
                      <a:r>
                        <a:rPr lang="en-US" altLang="zh-TW" sz="1800" b="1" i="0" u="none" strike="noStrike" dirty="0" smtClean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=</a:t>
                      </a:r>
                      <a:r>
                        <a:rPr lang="en-US" sz="1800" b="1" i="0" u="none" strike="noStrike" dirty="0" smtClean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0.1,</a:t>
                      </a:r>
                      <a:r>
                        <a:rPr lang="zh-TW" altLang="en-US" sz="1800" b="1" i="0" u="none" strike="noStrike" dirty="0" smtClean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 </a:t>
                      </a:r>
                      <a:r>
                        <a:rPr lang="en-US" sz="1800" b="1" i="0" u="none" strike="noStrike" dirty="0" smtClean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O</a:t>
                      </a:r>
                      <a:r>
                        <a:rPr lang="en-US" altLang="zh-TW" sz="1800" b="1" i="0" u="none" strike="noStrike" dirty="0" smtClean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=</a:t>
                      </a:r>
                      <a:r>
                        <a:rPr lang="en-US" sz="1800" b="1" i="0" u="none" strike="noStrike" dirty="0" smtClean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0.15,</a:t>
                      </a:r>
                      <a:r>
                        <a:rPr lang="zh-TW" altLang="en-US" sz="1800" b="1" i="0" u="none" strike="noStrike" dirty="0" smtClean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 </a:t>
                      </a:r>
                      <a:r>
                        <a:rPr lang="en-US" sz="1800" b="1" i="0" u="none" strike="noStrike" dirty="0" smtClean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-b 0</a:t>
                      </a:r>
                      <a:endParaRPr lang="en-US" sz="1800" b="1" i="0" u="none" strike="noStrike" dirty="0">
                        <a:solidFill>
                          <a:schemeClr val="tx2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rgbClr val="FA7D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0.34168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0.40119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0.39979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rgbClr val="FA7D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0.34693</a:t>
                      </a:r>
                    </a:p>
                  </a:txBody>
                  <a:tcPr marL="0" marR="0" marT="0" marB="0" anchor="b"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221842534"/>
              </p:ext>
            </p:extLst>
          </p:nvPr>
        </p:nvGraphicFramePr>
        <p:xfrm>
          <a:off x="612648" y="4293096"/>
          <a:ext cx="8077201" cy="370840"/>
        </p:xfrm>
        <a:graphic>
          <a:graphicData uri="http://schemas.openxmlformats.org/drawingml/2006/table">
            <a:tbl>
              <a:tblPr firstCol="1" bandRow="1">
                <a:tableStyleId>{69012ECD-51FC-41F1-AA8D-1B2483CD663E}</a:tableStyleId>
              </a:tblPr>
              <a:tblGrid>
                <a:gridCol w="2367457"/>
                <a:gridCol w="1427436"/>
                <a:gridCol w="1427436"/>
                <a:gridCol w="1427436"/>
                <a:gridCol w="1427436"/>
              </a:tblGrid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 smtClean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PD2</a:t>
                      </a:r>
                      <a:endParaRPr lang="en-US" sz="1800" b="1" i="0" u="none" strike="noStrike" dirty="0">
                        <a:solidFill>
                          <a:schemeClr val="tx2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0.3335</a:t>
                      </a:r>
                      <a:endParaRPr lang="en-US" altLang="zh-TW" sz="18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0.4042</a:t>
                      </a:r>
                      <a:endParaRPr lang="en-US" altLang="zh-TW" sz="18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0.4096</a:t>
                      </a:r>
                      <a:endParaRPr lang="en-US" altLang="zh-TW" sz="18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0.3386</a:t>
                      </a:r>
                      <a:endParaRPr lang="en-US" altLang="zh-TW" sz="18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5890093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2015/1/13</a:t>
            </a:r>
            <a:endParaRPr lang="zh-TW" altLang="en-US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E0D26033-F937-4ACC-BF84-29256C53D356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30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4" name="標題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4474840" cy="972344"/>
          </a:xfrm>
        </p:spPr>
        <p:txBody>
          <a:bodyPr>
            <a:normAutofit/>
          </a:bodyPr>
          <a:lstStyle/>
          <a:p>
            <a:r>
              <a:rPr lang="en-US" altLang="zh-TW" dirty="0" smtClean="0"/>
              <a:t>Window size</a:t>
            </a:r>
            <a:endParaRPr lang="zh-TW" altLang="en-US" dirty="0"/>
          </a:p>
        </p:txBody>
      </p:sp>
      <p:sp>
        <p:nvSpPr>
          <p:cNvPr id="8" name="內容版面配置區 4"/>
          <p:cNvSpPr txBox="1">
            <a:spLocks/>
          </p:cNvSpPr>
          <p:nvPr/>
        </p:nvSpPr>
        <p:spPr>
          <a:xfrm>
            <a:off x="457200" y="1219200"/>
            <a:ext cx="8232648" cy="493776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dirty="0" smtClean="0">
              <a:cs typeface="Times New Roman" panose="02020603050405020304" pitchFamily="18" charset="0"/>
            </a:endParaRPr>
          </a:p>
        </p:txBody>
      </p:sp>
      <p:graphicFrame>
        <p:nvGraphicFramePr>
          <p:cNvPr id="6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241394609"/>
              </p:ext>
            </p:extLst>
          </p:nvPr>
        </p:nvGraphicFramePr>
        <p:xfrm>
          <a:off x="179512" y="2060848"/>
          <a:ext cx="8892483" cy="1691640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3096347"/>
                <a:gridCol w="1449034"/>
                <a:gridCol w="1449034"/>
                <a:gridCol w="1449034"/>
                <a:gridCol w="1449034"/>
              </a:tblGrid>
              <a:tr h="507112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600" dirty="0" smtClean="0">
                          <a:cs typeface="Times New Roman" panose="02020603050405020304" pitchFamily="18" charset="0"/>
                        </a:rPr>
                        <a:t>Parameters </a:t>
                      </a:r>
                      <a:r>
                        <a:rPr kumimoji="0" lang="en-US" altLang="zh-TW" sz="1600" b="1" i="0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  <a:cs typeface="+mn-cs"/>
                        </a:rPr>
                        <a:t>NC=0.1,</a:t>
                      </a:r>
                      <a:r>
                        <a:rPr kumimoji="0" lang="zh-TW" altLang="en-US" sz="1600" b="1" i="0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  <a:cs typeface="+mn-cs"/>
                        </a:rPr>
                        <a:t> </a:t>
                      </a:r>
                      <a:r>
                        <a:rPr kumimoji="0" lang="en-US" altLang="zh-TW" sz="1600" b="1" i="0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  <a:cs typeface="+mn-cs"/>
                        </a:rPr>
                        <a:t>O=0.15,</a:t>
                      </a:r>
                      <a:r>
                        <a:rPr kumimoji="0" lang="zh-TW" altLang="en-US" sz="1600" b="1" i="0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  <a:cs typeface="+mn-cs"/>
                        </a:rPr>
                        <a:t> </a:t>
                      </a:r>
                      <a:r>
                        <a:rPr kumimoji="0" lang="en-US" altLang="zh-TW" sz="1600" b="1" i="0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  <a:cs typeface="+mn-cs"/>
                        </a:rPr>
                        <a:t>-b 0</a:t>
                      </a:r>
                    </a:p>
                    <a:p>
                      <a:pPr marL="0" marR="0" indent="0" algn="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600" dirty="0" smtClean="0"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600" b="1" dirty="0" smtClean="0"/>
                        <a:t>7-7</a:t>
                      </a:r>
                      <a:endParaRPr lang="zh-TW" alt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8-8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9-9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dirty="0" smtClean="0"/>
                        <a:t>10-10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 smtClean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Window</a:t>
                      </a:r>
                      <a:r>
                        <a:rPr lang="en-US" sz="1800" b="1" i="0" u="none" strike="noStrike" baseline="0" dirty="0" smtClean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 size = 25</a:t>
                      </a:r>
                      <a:endParaRPr lang="en-US" sz="1800" b="1" i="0" u="none" strike="noStrike" dirty="0">
                        <a:solidFill>
                          <a:schemeClr val="tx2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rgbClr val="FA7D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0.34168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0.40119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rgbClr val="C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0.39979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rgbClr val="FA7D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0.34693</a:t>
                      </a:r>
                    </a:p>
                  </a:txBody>
                  <a:tcPr marL="0" marR="0" marT="0" marB="0" anchor="b"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  <a:cs typeface="+mn-cs"/>
                        </a:rPr>
                        <a:t>Window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  <a:cs typeface="+mn-cs"/>
                        </a:rPr>
                        <a:t> size = 13</a:t>
                      </a:r>
                      <a:endParaRPr kumimoji="0" lang="en-US" altLang="zh-TW" sz="1800" b="1" i="0" u="none" strike="noStrike" kern="1200" dirty="0" smtClean="0">
                        <a:solidFill>
                          <a:schemeClr val="tx2"/>
                        </a:solidFill>
                        <a:effectLst/>
                        <a:latin typeface="+mn-lt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rgbClr val="FA7D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0.33871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>
                          <a:solidFill>
                            <a:srgbClr val="C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0.40215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>
                          <a:solidFill>
                            <a:srgbClr val="C000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0.39847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rgbClr val="FA7D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0.34367</a:t>
                      </a: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800" b="1" i="0" u="none" strike="noStrike" kern="120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  <a:cs typeface="+mn-cs"/>
                        </a:rPr>
                        <a:t>Window</a:t>
                      </a:r>
                      <a:r>
                        <a:rPr kumimoji="0" lang="en-US" altLang="zh-TW" sz="1800" b="1" i="0" u="none" strike="noStrike" kern="1200" baseline="0" dirty="0" smtClean="0">
                          <a:solidFill>
                            <a:schemeClr val="tx2"/>
                          </a:solidFill>
                          <a:effectLst/>
                          <a:latin typeface="+mn-lt"/>
                          <a:ea typeface="新細明體" panose="02020500000000000000" pitchFamily="18" charset="-120"/>
                          <a:cs typeface="+mn-cs"/>
                        </a:rPr>
                        <a:t> size = 7</a:t>
                      </a:r>
                      <a:endParaRPr kumimoji="0" lang="en-US" altLang="zh-TW" sz="1800" b="1" i="0" u="none" strike="noStrike" kern="1200" dirty="0" smtClean="0">
                        <a:solidFill>
                          <a:schemeClr val="tx2"/>
                        </a:solidFill>
                        <a:effectLst/>
                        <a:latin typeface="+mn-lt"/>
                        <a:ea typeface="新細明體" panose="02020500000000000000" pitchFamily="18" charset="-120"/>
                        <a:cs typeface="+mn-cs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rgbClr val="FA7D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0.34084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>
                          <a:solidFill>
                            <a:srgbClr val="FA7D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0.40366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>
                          <a:solidFill>
                            <a:srgbClr val="FA7D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0.39706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rgbClr val="FA7D00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0.34453</a:t>
                      </a: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4203311801"/>
              </p:ext>
            </p:extLst>
          </p:nvPr>
        </p:nvGraphicFramePr>
        <p:xfrm>
          <a:off x="612648" y="4293096"/>
          <a:ext cx="8423848" cy="370840"/>
        </p:xfrm>
        <a:graphic>
          <a:graphicData uri="http://schemas.openxmlformats.org/drawingml/2006/table">
            <a:tbl>
              <a:tblPr firstCol="1" bandRow="1">
                <a:tableStyleId>{69012ECD-51FC-41F1-AA8D-1B2483CD663E}</a:tableStyleId>
              </a:tblPr>
              <a:tblGrid>
                <a:gridCol w="2735216"/>
                <a:gridCol w="1273049"/>
                <a:gridCol w="1507695"/>
                <a:gridCol w="1507695"/>
                <a:gridCol w="1400193"/>
              </a:tblGrid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 smtClean="0">
                          <a:solidFill>
                            <a:schemeClr val="tx2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PD2</a:t>
                      </a:r>
                      <a:endParaRPr lang="en-US" sz="1800" b="1" i="0" u="none" strike="noStrike" dirty="0">
                        <a:solidFill>
                          <a:schemeClr val="tx2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0.3335</a:t>
                      </a:r>
                      <a:endParaRPr lang="en-US" altLang="zh-TW" sz="18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0.4042</a:t>
                      </a:r>
                      <a:endParaRPr lang="en-US" altLang="zh-TW" sz="18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0.4096</a:t>
                      </a:r>
                      <a:endParaRPr lang="en-US" altLang="zh-TW" sz="18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j-lt"/>
                          <a:ea typeface="新細明體" panose="02020500000000000000" pitchFamily="18" charset="-120"/>
                        </a:rPr>
                        <a:t>0.3386</a:t>
                      </a:r>
                      <a:endParaRPr lang="en-US" altLang="zh-TW" sz="1800" b="1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新細明體" panose="02020500000000000000" pitchFamily="18" charset="-120"/>
                      </a:endParaRPr>
                    </a:p>
                  </a:txBody>
                  <a:tcPr marL="0" marR="0" marT="0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3414013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2015/1/13</a:t>
            </a:r>
            <a:endParaRPr lang="zh-TW" altLang="en-US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E0D26033-F937-4ACC-BF84-29256C53D356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31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4" name="標題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32648" cy="972344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cs typeface="Times New Roman" panose="02020603050405020304" pitchFamily="18" charset="0"/>
              </a:rPr>
              <a:t>The </a:t>
            </a:r>
            <a:r>
              <a:rPr lang="en-US" altLang="zh-TW" dirty="0">
                <a:cs typeface="Times New Roman" panose="02020603050405020304" pitchFamily="18" charset="0"/>
              </a:rPr>
              <a:t>Behavior-Knowledge Space Method</a:t>
            </a:r>
            <a:endParaRPr lang="zh-TW" altLang="en-US" dirty="0"/>
          </a:p>
        </p:txBody>
      </p:sp>
      <p:sp>
        <p:nvSpPr>
          <p:cNvPr id="8" name="內容版面配置區 4"/>
          <p:cNvSpPr txBox="1">
            <a:spLocks/>
          </p:cNvSpPr>
          <p:nvPr/>
        </p:nvSpPr>
        <p:spPr>
          <a:xfrm>
            <a:off x="457200" y="1219200"/>
            <a:ext cx="8232648" cy="493776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TW" altLang="en-US" dirty="0" smtClean="0">
                <a:cs typeface="Times New Roman" panose="02020603050405020304" pitchFamily="18" charset="0"/>
              </a:rPr>
              <a:t>使用三種不同分類器，彼此之間預測結果相異，透過</a:t>
            </a:r>
            <a:r>
              <a:rPr lang="en-US" altLang="zh-TW" dirty="0" smtClean="0">
                <a:cs typeface="Times New Roman" panose="02020603050405020304" pitchFamily="18" charset="0"/>
              </a:rPr>
              <a:t>BKS</a:t>
            </a:r>
            <a:r>
              <a:rPr lang="zh-TW" altLang="en-US" dirty="0" smtClean="0">
                <a:cs typeface="Times New Roman" panose="02020603050405020304" pitchFamily="18" charset="0"/>
              </a:rPr>
              <a:t>修正預測結果。</a:t>
            </a:r>
            <a:endParaRPr lang="en-US" altLang="zh-TW" dirty="0" smtClean="0">
              <a:cs typeface="Times New Roman" panose="02020603050405020304" pitchFamily="18" charset="0"/>
            </a:endParaRPr>
          </a:p>
        </p:txBody>
      </p:sp>
      <p:graphicFrame>
        <p:nvGraphicFramePr>
          <p:cNvPr id="3" name="表格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3666015741"/>
              </p:ext>
            </p:extLst>
          </p:nvPr>
        </p:nvGraphicFramePr>
        <p:xfrm>
          <a:off x="1043608" y="2636912"/>
          <a:ext cx="6096000" cy="3566160"/>
        </p:xfrm>
        <a:graphic>
          <a:graphicData uri="http://schemas.openxmlformats.org/drawingml/2006/table">
            <a:tbl>
              <a:tblPr firstRow="1" bandRow="1">
                <a:tableStyleId>{616DA210-FB5B-4158-B5E0-FEB733F419BA}</a:tableStyleId>
              </a:tblPr>
              <a:tblGrid>
                <a:gridCol w="1219200"/>
                <a:gridCol w="1219200"/>
                <a:gridCol w="1219200"/>
                <a:gridCol w="1219200"/>
                <a:gridCol w="1219200"/>
              </a:tblGrid>
              <a:tr h="139040">
                <a:tc>
                  <a:txBody>
                    <a:bodyPr/>
                    <a:lstStyle/>
                    <a:p>
                      <a:r>
                        <a:rPr lang="en-US" altLang="zh-TW" sz="2000" b="1" dirty="0" smtClean="0"/>
                        <a:t>C1 C2 C3</a:t>
                      </a:r>
                      <a:endParaRPr lang="zh-TW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2000" b="1" dirty="0" smtClean="0"/>
                        <a:t>訓練集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000" b="1" dirty="0"/>
                    </a:p>
                  </a:txBody>
                  <a:tcPr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zh-TW" altLang="en-US" sz="2000" b="1" dirty="0" smtClean="0"/>
                        <a:t>測試集</a:t>
                      </a:r>
                      <a:endParaRPr lang="zh-TW" altLang="en-US" sz="20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TW" altLang="en-US" sz="2000" b="1" dirty="0"/>
                    </a:p>
                  </a:txBody>
                  <a:tcP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b="1" dirty="0" smtClean="0"/>
                        <a:t>0    0    0</a:t>
                      </a:r>
                      <a:endParaRPr lang="zh-TW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b="1" dirty="0" smtClean="0"/>
                        <a:t>250</a:t>
                      </a:r>
                      <a:endParaRPr lang="zh-TW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b="1" dirty="0" smtClean="0"/>
                        <a:t>11</a:t>
                      </a:r>
                      <a:endParaRPr lang="zh-TW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b="1" dirty="0" smtClean="0"/>
                        <a:t>2</a:t>
                      </a:r>
                      <a:endParaRPr lang="zh-TW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b="1" dirty="0" smtClean="0"/>
                        <a:t>7</a:t>
                      </a:r>
                      <a:endParaRPr lang="zh-TW" altLang="en-US" sz="20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b="1" dirty="0" smtClean="0"/>
                        <a:t>0    0    1</a:t>
                      </a:r>
                      <a:endParaRPr lang="zh-TW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b="1" dirty="0" smtClean="0"/>
                        <a:t>13</a:t>
                      </a:r>
                      <a:endParaRPr lang="zh-TW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b="1" dirty="0" smtClean="0"/>
                        <a:t>17</a:t>
                      </a:r>
                      <a:endParaRPr lang="zh-TW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b="1" dirty="0" smtClean="0"/>
                        <a:t>0</a:t>
                      </a:r>
                      <a:endParaRPr lang="zh-TW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b="1" dirty="0" smtClean="0"/>
                        <a:t>0</a:t>
                      </a:r>
                      <a:endParaRPr lang="zh-TW" altLang="en-US" sz="20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b="1" dirty="0" smtClean="0"/>
                        <a:t>0    1    0</a:t>
                      </a:r>
                      <a:endParaRPr lang="zh-TW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b="1" dirty="0" smtClean="0"/>
                        <a:t>118</a:t>
                      </a:r>
                      <a:endParaRPr lang="zh-TW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b="1" dirty="0" smtClean="0"/>
                        <a:t>2</a:t>
                      </a:r>
                      <a:endParaRPr lang="zh-TW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b="1" dirty="0" smtClean="0"/>
                        <a:t>0</a:t>
                      </a:r>
                      <a:endParaRPr lang="zh-TW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b="1" dirty="0" smtClean="0"/>
                        <a:t>0</a:t>
                      </a:r>
                      <a:endParaRPr lang="zh-TW" altLang="en-US" sz="20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b="1" dirty="0" smtClean="0"/>
                        <a:t>0    1    1</a:t>
                      </a:r>
                      <a:endParaRPr lang="zh-TW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b="1" dirty="0" smtClean="0"/>
                        <a:t>32</a:t>
                      </a:r>
                      <a:endParaRPr lang="zh-TW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b="1" dirty="0" smtClean="0"/>
                        <a:t>12</a:t>
                      </a:r>
                      <a:endParaRPr lang="zh-TW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b="1" dirty="0" smtClean="0"/>
                        <a:t>2</a:t>
                      </a:r>
                      <a:endParaRPr lang="zh-TW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b="1" dirty="0" smtClean="0"/>
                        <a:t>3</a:t>
                      </a:r>
                      <a:endParaRPr lang="zh-TW" altLang="en-US" sz="20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b="1" dirty="0" smtClean="0"/>
                        <a:t>1    0    0</a:t>
                      </a:r>
                      <a:endParaRPr lang="zh-TW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b="1" dirty="0" smtClean="0"/>
                        <a:t>15</a:t>
                      </a:r>
                      <a:endParaRPr lang="zh-TW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b="1" dirty="0" smtClean="0"/>
                        <a:t>16</a:t>
                      </a:r>
                      <a:endParaRPr lang="zh-TW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b="1" dirty="0" smtClean="0"/>
                        <a:t>5</a:t>
                      </a:r>
                      <a:endParaRPr lang="zh-TW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b="1" dirty="0" smtClean="0"/>
                        <a:t>1</a:t>
                      </a:r>
                      <a:endParaRPr lang="zh-TW" altLang="en-US" sz="20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b="1" dirty="0" smtClean="0"/>
                        <a:t>1    0    1</a:t>
                      </a:r>
                      <a:endParaRPr lang="zh-TW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b="1" dirty="0" smtClean="0"/>
                        <a:t>3</a:t>
                      </a:r>
                      <a:endParaRPr lang="zh-TW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b="1" dirty="0" smtClean="0"/>
                        <a:t>127</a:t>
                      </a:r>
                      <a:endParaRPr lang="zh-TW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b="1" dirty="0" smtClean="0"/>
                        <a:t>1</a:t>
                      </a:r>
                      <a:endParaRPr lang="zh-TW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b="1" dirty="0" smtClean="0"/>
                        <a:t>0</a:t>
                      </a:r>
                      <a:endParaRPr lang="zh-TW" altLang="en-US" sz="20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b="1" dirty="0" smtClean="0"/>
                        <a:t>1    1    0</a:t>
                      </a:r>
                      <a:endParaRPr lang="zh-TW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b="1" dirty="0" smtClean="0"/>
                        <a:t>16</a:t>
                      </a:r>
                      <a:endParaRPr lang="zh-TW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b="1" dirty="0" smtClean="0"/>
                        <a:t>8</a:t>
                      </a:r>
                      <a:endParaRPr lang="zh-TW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b="1" dirty="0" smtClean="0"/>
                        <a:t>1</a:t>
                      </a:r>
                      <a:endParaRPr lang="zh-TW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b="1" dirty="0" smtClean="0"/>
                        <a:t>3</a:t>
                      </a:r>
                      <a:endParaRPr lang="zh-TW" altLang="en-US" sz="20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sz="2000" b="1" dirty="0" smtClean="0"/>
                        <a:t>1    1    1</a:t>
                      </a:r>
                      <a:endParaRPr lang="zh-TW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b="1" dirty="0" smtClean="0"/>
                        <a:t>8</a:t>
                      </a:r>
                      <a:endParaRPr lang="zh-TW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b="1" dirty="0" smtClean="0"/>
                        <a:t>270</a:t>
                      </a:r>
                      <a:endParaRPr lang="zh-TW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b="1" dirty="0" smtClean="0"/>
                        <a:t>4</a:t>
                      </a:r>
                      <a:endParaRPr lang="zh-TW" altLang="en-US" sz="20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2000" b="1" dirty="0" smtClean="0"/>
                        <a:t>2</a:t>
                      </a:r>
                      <a:endParaRPr lang="zh-TW" altLang="en-US" sz="2000" b="1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23869478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2015/1/13</a:t>
            </a:r>
            <a:endParaRPr lang="zh-TW" altLang="en-US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>
            <a:norm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E0D26033-F937-4ACC-BF84-29256C53D356}" type="slidenum">
              <a:rPr kumimoji="0" lang="zh-TW" altLang="en-US">
                <a:solidFill>
                  <a:srgbClr val="045C75"/>
                </a:solidFill>
                <a:latin typeface="+mj-lt"/>
              </a:rPr>
              <a:pPr eaLnBrk="1" hangingPunct="1"/>
              <a:t>32</a:t>
            </a:fld>
            <a:endParaRPr kumimoji="0" lang="zh-TW" altLang="en-US">
              <a:solidFill>
                <a:srgbClr val="045C75"/>
              </a:solidFill>
              <a:latin typeface="+mj-lt"/>
            </a:endParaRPr>
          </a:p>
        </p:txBody>
      </p:sp>
      <p:sp>
        <p:nvSpPr>
          <p:cNvPr id="14" name="標題 2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32648" cy="972344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>
                <a:cs typeface="Times New Roman" panose="02020603050405020304" pitchFamily="18" charset="0"/>
              </a:rPr>
              <a:t>The </a:t>
            </a:r>
            <a:r>
              <a:rPr lang="en-US" altLang="zh-TW" dirty="0">
                <a:cs typeface="Times New Roman" panose="02020603050405020304" pitchFamily="18" charset="0"/>
              </a:rPr>
              <a:t>Behavior-Knowledge Space </a:t>
            </a:r>
            <a:r>
              <a:rPr lang="en-US" altLang="zh-TW" dirty="0" smtClean="0">
                <a:cs typeface="Times New Roman" panose="02020603050405020304" pitchFamily="18" charset="0"/>
              </a:rPr>
              <a:t>Method</a:t>
            </a:r>
            <a:r>
              <a:rPr lang="zh-TW" altLang="en-US" dirty="0" smtClean="0">
                <a:cs typeface="Times New Roman" panose="02020603050405020304" pitchFamily="18" charset="0"/>
              </a:rPr>
              <a:t> </a:t>
            </a:r>
            <a:r>
              <a:rPr lang="en-US" altLang="zh-TW" dirty="0" smtClean="0">
                <a:cs typeface="Times New Roman" panose="02020603050405020304" pitchFamily="18" charset="0"/>
              </a:rPr>
              <a:t>and </a:t>
            </a:r>
            <a:r>
              <a:rPr lang="en-US" altLang="zh-TW" dirty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Experimental Results</a:t>
            </a:r>
            <a:endParaRPr lang="zh-TW" altLang="en-US" dirty="0"/>
          </a:p>
        </p:txBody>
      </p:sp>
      <p:sp>
        <p:nvSpPr>
          <p:cNvPr id="8" name="內容版面配置區 4"/>
          <p:cNvSpPr txBox="1">
            <a:spLocks/>
          </p:cNvSpPr>
          <p:nvPr/>
        </p:nvSpPr>
        <p:spPr>
          <a:xfrm>
            <a:off x="457200" y="1219200"/>
            <a:ext cx="8232648" cy="493776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274320" indent="-274320" algn="l" rtl="0" eaLnBrk="1" latinLnBrk="0" hangingPunct="1">
              <a:spcBef>
                <a:spcPts val="600"/>
              </a:spcBef>
              <a:buClr>
                <a:schemeClr val="accent1"/>
              </a:buClr>
              <a:buSzPct val="76000"/>
              <a:buFont typeface="Wingdings 3"/>
              <a:buChar char=""/>
              <a:defRPr kumimoji="0" sz="2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1pPr>
            <a:lvl2pPr marL="548640" indent="-274320" algn="l" rtl="0" eaLnBrk="1" latinLnBrk="0" hangingPunct="1">
              <a:spcBef>
                <a:spcPts val="500"/>
              </a:spcBef>
              <a:buClr>
                <a:schemeClr val="accent2"/>
              </a:buClr>
              <a:buSzPct val="76000"/>
              <a:buFont typeface="Wingdings 3"/>
              <a:buChar char=""/>
              <a:defRPr kumimoji="0" sz="2300" kern="1200">
                <a:solidFill>
                  <a:schemeClr val="tx2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2pPr>
            <a:lvl3pPr marL="822960" indent="-228600" algn="l" rtl="0" eaLnBrk="1" latinLnBrk="0" hangingPunct="1">
              <a:spcBef>
                <a:spcPts val="500"/>
              </a:spcBef>
              <a:buClr>
                <a:schemeClr val="bg1">
                  <a:shade val="50000"/>
                </a:schemeClr>
              </a:buClr>
              <a:buSzPct val="76000"/>
              <a:buFont typeface="Wingdings 3"/>
              <a:buChar char=""/>
              <a:defRPr kumimoji="0" sz="20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3pPr>
            <a:lvl4pPr marL="1097280" indent="-228600" algn="l" rtl="0" eaLnBrk="1" latinLnBrk="0" hangingPunct="1">
              <a:spcBef>
                <a:spcPts val="400"/>
              </a:spcBef>
              <a:buClr>
                <a:schemeClr val="accent2">
                  <a:shade val="75000"/>
                </a:schemeClr>
              </a:buClr>
              <a:buSzPct val="70000"/>
              <a:buFont typeface="Wingdings"/>
              <a:buChar char=""/>
              <a:defRPr kumimoji="0" sz="18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4pPr>
            <a:lvl5pPr marL="1371600" indent="-228600" algn="l" rtl="0" eaLnBrk="1" latinLnBrk="0" hangingPunct="1">
              <a:spcBef>
                <a:spcPts val="300"/>
              </a:spcBef>
              <a:buClr>
                <a:schemeClr val="accent2"/>
              </a:buClr>
              <a:buSzPct val="70000"/>
              <a:buFont typeface="Wingdings"/>
              <a:buChar char=""/>
              <a:defRPr kumimoji="0" sz="1600" kern="1200">
                <a:solidFill>
                  <a:schemeClr val="tx1"/>
                </a:solidFill>
                <a:latin typeface="+mj-lt"/>
                <a:ea typeface="微軟正黑體" panose="020B0604030504040204" pitchFamily="34" charset="-120"/>
                <a:cs typeface="+mn-cs"/>
              </a:defRPr>
            </a:lvl5pPr>
            <a:lvl6pPr marL="1645920" indent="-182880" algn="l" rtl="0" eaLnBrk="1" latinLnBrk="0" hangingPunct="1">
              <a:spcBef>
                <a:spcPts val="300"/>
              </a:spcBef>
              <a:buClr>
                <a:srgbClr val="9FB8CD">
                  <a:shade val="75000"/>
                </a:srgbClr>
              </a:buClr>
              <a:buSzPct val="75000"/>
              <a:buFont typeface="Wingdings 3"/>
              <a:buChar char=""/>
              <a:defRPr kumimoji="0" lang="en-US" sz="16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0" indent="-182880" algn="l" rtl="0" eaLnBrk="1" latinLnBrk="0" hangingPunct="1">
              <a:spcBef>
                <a:spcPts val="300"/>
              </a:spcBef>
              <a:buClr>
                <a:srgbClr val="727CA3">
                  <a:shade val="75000"/>
                </a:srgb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011680" indent="-182880" algn="l" rtl="0" eaLnBrk="1" latinLnBrk="0" hangingPunct="1">
              <a:spcBef>
                <a:spcPts val="300"/>
              </a:spcBef>
              <a:buClr>
                <a:prstClr val="white">
                  <a:shade val="50000"/>
                </a:prstClr>
              </a:buClr>
              <a:buSzPct val="75000"/>
              <a:buFont typeface="Wingdings 3"/>
              <a:buChar char=""/>
              <a:defRPr kumimoji="0" lang="en-US" sz="14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194560" indent="-182880" algn="l" rtl="0" eaLnBrk="1" latinLnBrk="0" hangingPunct="1">
              <a:spcBef>
                <a:spcPts val="300"/>
              </a:spcBef>
              <a:buClr>
                <a:srgbClr val="9FB8CD"/>
              </a:buClr>
              <a:buSzPct val="75000"/>
              <a:buFont typeface="Wingdings 3"/>
              <a:buChar char=""/>
              <a:defRPr kumimoji="0" lang="en-US" sz="12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TW" dirty="0" smtClean="0">
              <a:cs typeface="Times New Roman" panose="02020603050405020304" pitchFamily="18" charset="0"/>
            </a:endParaRPr>
          </a:p>
        </p:txBody>
      </p:sp>
      <p:graphicFrame>
        <p:nvGraphicFramePr>
          <p:cNvPr id="4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996373072"/>
              </p:ext>
            </p:extLst>
          </p:nvPr>
        </p:nvGraphicFramePr>
        <p:xfrm>
          <a:off x="251520" y="1243123"/>
          <a:ext cx="8856984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56384"/>
                <a:gridCol w="1350150"/>
                <a:gridCol w="1350150"/>
                <a:gridCol w="1350150"/>
                <a:gridCol w="1350150"/>
              </a:tblGrid>
              <a:tr h="37084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7-7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8-8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9-9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10-10</a:t>
                      </a:r>
                      <a:endParaRPr lang="zh-TW" alt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i="0" dirty="0" smtClean="0"/>
                        <a:t>PSSM, Top10, WU (features set)</a:t>
                      </a:r>
                      <a:endParaRPr lang="zh-TW" altLang="en-US" b="1" i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0.3465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0.43562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0.42217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endParaRPr lang="zh-TW" altLang="en-US" sz="1800" b="1" i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i="0" dirty="0" smtClean="0"/>
                        <a:t>PSSM, Top10, Btm10 (features set)</a:t>
                      </a:r>
                      <a:endParaRPr lang="zh-TW" altLang="en-US" b="1" i="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0.34625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0.44081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0.41811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0.3522</a:t>
                      </a:r>
                    </a:p>
                  </a:txBody>
                  <a:tcPr marL="9525" marR="9525" marT="9525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b="1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SVM KERNEL=0(</a:t>
                      </a:r>
                      <a:r>
                        <a:rPr lang="en-US" altLang="zh-TW" b="1" i="0" dirty="0" smtClean="0"/>
                        <a:t>linear</a:t>
                      </a:r>
                      <a:r>
                        <a:rPr kumimoji="0" lang="en-US" b="1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0" lang="en-US" b="1" i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0.35249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0.428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+mj-ea"/>
                          <a:ea typeface="+mj-ea"/>
                        </a:rPr>
                        <a:t>0.40849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0.34544</a:t>
                      </a:r>
                    </a:p>
                  </a:txBody>
                  <a:tcPr marL="0" marR="0" marT="0" marB="0" anchor="b"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b="1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SVM KERNEL=1(</a:t>
                      </a:r>
                      <a:r>
                        <a:rPr lang="en-US" altLang="zh-TW" b="1" i="0" dirty="0" smtClean="0"/>
                        <a:t>polynomial</a:t>
                      </a:r>
                      <a:r>
                        <a:rPr kumimoji="0" lang="en-US" altLang="zh-TW" b="1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0.34745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0.4288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+mj-ea"/>
                          <a:ea typeface="+mj-ea"/>
                        </a:rPr>
                        <a:t>0.40551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endParaRPr lang="zh-TW" altLang="en-US" sz="1800" b="1" i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b="1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SVM KERNEL=3(</a:t>
                      </a:r>
                      <a:r>
                        <a:rPr lang="en-US" altLang="zh-TW" b="1" i="0" dirty="0" smtClean="0"/>
                        <a:t>sigmoid</a:t>
                      </a:r>
                      <a:r>
                        <a:rPr kumimoji="0" lang="en-US" altLang="zh-TW" b="1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0.3546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0.42699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0.42847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endParaRPr lang="zh-TW" altLang="en-US" sz="1800" b="1" i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b="1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SVM KERNEL=0,</a:t>
                      </a:r>
                      <a:r>
                        <a:rPr kumimoji="0" lang="en-US" altLang="zh-TW" b="1" i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1, 2(</a:t>
                      </a:r>
                      <a:r>
                        <a:rPr lang="en-US" altLang="zh-TW" b="1" i="0" dirty="0" smtClean="0"/>
                        <a:t>radial basis</a:t>
                      </a:r>
                      <a:r>
                        <a:rPr kumimoji="0" lang="en-US" altLang="zh-TW" b="1" i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kumimoji="0" lang="en-US" altLang="zh-TW" b="1" i="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0.34819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0.42697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0.41235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0.3572</a:t>
                      </a:r>
                    </a:p>
                  </a:txBody>
                  <a:tcPr marL="0" marR="0" marT="0" marB="0" anchor="b"/>
                </a:tc>
              </a:tr>
              <a:tr h="370840">
                <a:tc>
                  <a:txBody>
                    <a:bodyPr/>
                    <a:lstStyle/>
                    <a:p>
                      <a:pPr algn="l" fontAlgn="b"/>
                      <a:r>
                        <a:rPr kumimoji="0" lang="en-US" b="1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WEKA,</a:t>
                      </a:r>
                      <a:r>
                        <a:rPr kumimoji="0" lang="en-US" b="1" i="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kumimoji="0" lang="en-US" b="1" i="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SVM</a:t>
                      </a:r>
                      <a:endParaRPr kumimoji="0" lang="en-US" b="1" i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altLang="zh-TW" sz="1800" b="1" i="0" dirty="0" smtClean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0.34387</a:t>
                      </a:r>
                      <a:endParaRPr lang="zh-TW" altLang="en-US" sz="1800" b="1" i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0.42528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rgbClr val="FF0000"/>
                          </a:solidFill>
                          <a:effectLst/>
                          <a:latin typeface="+mj-ea"/>
                          <a:ea typeface="+mj-ea"/>
                        </a:rPr>
                        <a:t>0.40828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altLang="zh-TW" sz="1800" b="1" i="0" u="none" strike="noStrike" dirty="0"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0.35993</a:t>
                      </a:r>
                    </a:p>
                  </a:txBody>
                  <a:tcPr marL="0" marR="0" marT="0" marB="0" anchor="b"/>
                </a:tc>
              </a:tr>
            </a:tbl>
          </a:graphicData>
        </a:graphic>
      </p:graphicFrame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xmlns="" val="2625483588"/>
              </p:ext>
            </p:extLst>
          </p:nvPr>
        </p:nvGraphicFramePr>
        <p:xfrm>
          <a:off x="179510" y="4437112"/>
          <a:ext cx="7848873" cy="18542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96168"/>
                <a:gridCol w="4236414"/>
                <a:gridCol w="2616291"/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WEKA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 smtClean="0"/>
                        <a:t>Method 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dirty="0" smtClean="0"/>
                        <a:t>Method 2</a:t>
                      </a:r>
                      <a:endParaRPr lang="zh-TW" alt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CASP7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err="1" smtClean="0"/>
                        <a:t>rules.PART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err="1" smtClean="0"/>
                        <a:t>rules.ZeroR</a:t>
                      </a:r>
                      <a:endParaRPr lang="zh-TW" altLang="en-US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CASP8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err="1" smtClean="0"/>
                        <a:t>meta.AttributeSelectedClassifier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err="1" smtClean="0"/>
                        <a:t>meta.RandomCommittee</a:t>
                      </a:r>
                      <a:endParaRPr lang="zh-TW" altLang="en-US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CASP9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b="1" dirty="0" err="1" smtClean="0"/>
                        <a:t>meta.AttributeSelectedClassifier</a:t>
                      </a:r>
                      <a:endParaRPr lang="zh-TW" altLang="en-US" b="1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err="1" smtClean="0"/>
                        <a:t>meta.FilteredClassifier</a:t>
                      </a:r>
                      <a:endParaRPr lang="zh-TW" altLang="en-US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b="1" dirty="0" smtClean="0"/>
                        <a:t>CASP10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err="1" smtClean="0"/>
                        <a:t>meta.RandomCommittee</a:t>
                      </a:r>
                      <a:endParaRPr lang="zh-TW" altLang="en-US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b="1" dirty="0" err="1" smtClean="0"/>
                        <a:t>trees.RandomForest</a:t>
                      </a:r>
                      <a:endParaRPr lang="zh-TW" altLang="en-US" b="1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xmlns="" val="40814391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標題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auto">
              <a:spcAft>
                <a:spcPts val="0"/>
              </a:spcAft>
              <a:defRPr/>
            </a:pPr>
            <a:r>
              <a:rPr lang="en-US" altLang="zh-TW" dirty="0" smtClean="0">
                <a:solidFill>
                  <a:schemeClr val="tx2">
                    <a:satMod val="130000"/>
                  </a:schemeClr>
                </a:solidFill>
                <a:latin typeface="+mn-lt"/>
                <a:ea typeface="新細明體" charset="-120"/>
                <a:cs typeface="Times New Roman" pitchFamily="18" charset="0"/>
              </a:rPr>
              <a:t>Conclusions and </a:t>
            </a:r>
            <a:r>
              <a:rPr lang="en-US" altLang="zh-TW" dirty="0">
                <a:solidFill>
                  <a:schemeClr val="tx2">
                    <a:satMod val="130000"/>
                  </a:schemeClr>
                </a:solidFill>
                <a:ea typeface="新細明體" charset="-120"/>
                <a:cs typeface="Times New Roman" pitchFamily="18" charset="0"/>
              </a:rPr>
              <a:t>Future Work</a:t>
            </a:r>
            <a:endParaRPr lang="zh-TW" altLang="en-US" dirty="0">
              <a:solidFill>
                <a:schemeClr val="tx2">
                  <a:satMod val="130000"/>
                </a:schemeClr>
              </a:solidFill>
              <a:latin typeface="+mn-lt"/>
              <a:cs typeface="Times New Roman" pitchFamily="18" charset="0"/>
            </a:endParaRPr>
          </a:p>
        </p:txBody>
      </p:sp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2015/1/13</a:t>
            </a:r>
            <a:endParaRPr lang="zh-TW" altLang="en-US"/>
          </a:p>
        </p:txBody>
      </p:sp>
      <p:sp>
        <p:nvSpPr>
          <p:cNvPr id="10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</a:defRPr>
            </a:lvl9pPr>
          </a:lstStyle>
          <a:p>
            <a:pPr eaLnBrk="1" hangingPunct="1"/>
            <a:fld id="{3CB2E518-B8FF-42DB-86C0-00539530B634}" type="slidenum">
              <a:rPr kumimoji="0" lang="zh-TW" altLang="en-US">
                <a:solidFill>
                  <a:srgbClr val="045C75"/>
                </a:solidFill>
              </a:rPr>
              <a:pPr eaLnBrk="1" hangingPunct="1"/>
              <a:t>33</a:t>
            </a:fld>
            <a:endParaRPr kumimoji="0" lang="zh-TW" altLang="en-US">
              <a:solidFill>
                <a:srgbClr val="045C75"/>
              </a:solidFill>
            </a:endParaRPr>
          </a:p>
        </p:txBody>
      </p:sp>
      <p:sp>
        <p:nvSpPr>
          <p:cNvPr id="23554" name="內容版面配置區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endParaRPr lang="en-US" altLang="zh-TW" sz="2400" dirty="0" smtClean="0">
              <a:solidFill>
                <a:schemeClr val="tx2">
                  <a:satMod val="130000"/>
                </a:schemeClr>
              </a:solidFill>
              <a:ea typeface="+mj-ea"/>
              <a:cs typeface="Times New Roman" pitchFamily="18" charset="0"/>
            </a:endParaRPr>
          </a:p>
          <a:p>
            <a:endParaRPr lang="en-US" altLang="zh-TW" sz="2400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378377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NULL"/></Relationships>
</file>

<file path=ppt/theme/theme1.xml><?xml version="1.0" encoding="utf-8"?>
<a:theme xmlns:a="http://schemas.openxmlformats.org/drawingml/2006/main" name="原創">
  <a:themeElements>
    <a:clrScheme name="自訂 3">
      <a:dk1>
        <a:sysClr val="windowText" lastClr="000000"/>
      </a:dk1>
      <a:lt1>
        <a:sysClr val="window" lastClr="FFFFFF"/>
      </a:lt1>
      <a:dk2>
        <a:srgbClr val="000000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0000"/>
      </a:hlink>
      <a:folHlink>
        <a:srgbClr val="0000FF"/>
      </a:folHlink>
    </a:clrScheme>
    <a:fontScheme name="自訂 1">
      <a:majorFont>
        <a:latin typeface="Calibri"/>
        <a:ea typeface="微軟正黑體"/>
        <a:cs typeface=""/>
      </a:majorFont>
      <a:minorFont>
        <a:latin typeface="Calibri"/>
        <a:ea typeface="微軟正黑體"/>
        <a:cs typeface=""/>
      </a:minorFont>
    </a:fontScheme>
    <a:fmtScheme name="原創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15797</TotalTime>
  <Words>1487</Words>
  <Application>Microsoft Office PowerPoint</Application>
  <PresentationFormat>如螢幕大小 (4:3)</PresentationFormat>
  <Paragraphs>510</Paragraphs>
  <Slides>33</Slides>
  <Notes>13</Notes>
  <HiddenSlides>2</HiddenSlides>
  <MMClips>0</MMClips>
  <ScaleCrop>false</ScaleCrop>
  <HeadingPairs>
    <vt:vector size="6" baseType="variant"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33</vt:i4>
      </vt:variant>
    </vt:vector>
  </HeadingPairs>
  <TitlesOfParts>
    <vt:vector size="35" baseType="lpstr">
      <vt:lpstr>原創</vt:lpstr>
      <vt:lpstr>Visio</vt:lpstr>
      <vt:lpstr>Protein Backbone Reconstruction with Tool Preference Classification and Feature Selection </vt:lpstr>
      <vt:lpstr>Introduction (1/4)</vt:lpstr>
      <vt:lpstr>Introduction (2/4)</vt:lpstr>
      <vt:lpstr>Introduction (3/4)</vt:lpstr>
      <vt:lpstr>Introduction (4/4)</vt:lpstr>
      <vt:lpstr>Root Mean Square Deviation (RMSD)</vt:lpstr>
      <vt:lpstr>Support Vector Machine (SVM)</vt:lpstr>
      <vt:lpstr>Previous Work (1/2)</vt:lpstr>
      <vt:lpstr>Previous Work (2/2)</vt:lpstr>
      <vt:lpstr>Model Example</vt:lpstr>
      <vt:lpstr>Previous Work (2/2)</vt:lpstr>
      <vt:lpstr>Our Method (1/5)</vt:lpstr>
      <vt:lpstr>AAindex example</vt:lpstr>
      <vt:lpstr>Our Method (2/5)</vt:lpstr>
      <vt:lpstr>Our Method (3/5)</vt:lpstr>
      <vt:lpstr>Our Method (4/5)</vt:lpstr>
      <vt:lpstr>Experimental Results</vt:lpstr>
      <vt:lpstr>Our Method (5/5)</vt:lpstr>
      <vt:lpstr>Experimental Results</vt:lpstr>
      <vt:lpstr>Experimental Results</vt:lpstr>
      <vt:lpstr>Experimental Results</vt:lpstr>
      <vt:lpstr>Experimental Results</vt:lpstr>
      <vt:lpstr>Single feature testing</vt:lpstr>
      <vt:lpstr>Single feature testing</vt:lpstr>
      <vt:lpstr>Leave-one-protein-out</vt:lpstr>
      <vt:lpstr>Threshold Tuning</vt:lpstr>
      <vt:lpstr>Single feature testing</vt:lpstr>
      <vt:lpstr>Probability estimation</vt:lpstr>
      <vt:lpstr>Probability estimation</vt:lpstr>
      <vt:lpstr>Window size</vt:lpstr>
      <vt:lpstr>The Behavior-Knowledge Space Method</vt:lpstr>
      <vt:lpstr>The Behavior-Knowledge Space Method and Experimental Results</vt:lpstr>
      <vt:lpstr>Conclusions and Future Work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Quadratic-time algorithm for a string constrained LCS problem</dc:title>
  <dc:creator>Robert</dc:creator>
  <cp:lastModifiedBy>admin</cp:lastModifiedBy>
  <cp:revision>596</cp:revision>
  <cp:lastPrinted>2012-09-10T21:31:19Z</cp:lastPrinted>
  <dcterms:created xsi:type="dcterms:W3CDTF">2012-09-10T08:29:10Z</dcterms:created>
  <dcterms:modified xsi:type="dcterms:W3CDTF">2015-02-05T11:32:14Z</dcterms:modified>
</cp:coreProperties>
</file>