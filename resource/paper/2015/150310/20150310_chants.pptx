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91CA1-5980-4FDE-8AF6-8035FD3163B2}" type="datetimeFigureOut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9B208-BC99-4DBF-A772-95FBE371E2F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69B208-BC99-4DBF-A772-95FBE371E2F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4F8E-2C0C-4F26-8F9B-7250BE59AC5C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F8E2-3758-4FF4-9350-EA0137A22053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43CFC-C5CE-41D8-BBF1-5F12FDF27FC9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5717-92EF-490A-8886-1D2949554123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557F9-376E-4CE1-AFE0-F7E7F942C0AB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EFFC-BD8C-42EB-8C25-6F2C20C4A89B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4814-6BB4-4D25-81CF-6975B34BCC4F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E981-0761-4AF1-91F7-0D5C55E8E30A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7869-7876-42EC-9C56-1EBFEDA93332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B351-707E-44AD-810B-9650EF0A69B2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938AE-6A59-4564-B9EF-9BC73BECF41F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47FC2-9CA6-44DD-B1D7-270984B1C25A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 O(NP) Sequence Comparison Algorithm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00800" cy="1752600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Sun WU, </a:t>
            </a:r>
            <a:r>
              <a:rPr lang="en-US" altLang="zh-TW" dirty="0" err="1" smtClean="0"/>
              <a:t>Udi</a:t>
            </a:r>
            <a:r>
              <a:rPr lang="en-US" altLang="zh-TW" dirty="0" smtClean="0"/>
              <a:t> MANBER *, Gene MYERS * *</a:t>
            </a:r>
          </a:p>
          <a:p>
            <a:r>
              <a:rPr lang="en-US" altLang="zh-TW" dirty="0" smtClean="0"/>
              <a:t>Information Processing Letters 35 (1990) 317-323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5" name="文字方塊 3"/>
          <p:cNvSpPr txBox="1"/>
          <p:nvPr/>
        </p:nvSpPr>
        <p:spPr>
          <a:xfrm>
            <a:off x="6588224" y="5877272"/>
            <a:ext cx="25863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Chan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2015/03/10</a:t>
            </a:r>
            <a:endParaRPr lang="zh-TW" altLang="en-US" dirty="0" smtClean="0">
              <a:latin typeface="Calibri" pitchFamily="34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altLang="zh-TW" dirty="0" smtClean="0"/>
              <a:t>               </a:t>
            </a:r>
            <a:r>
              <a:rPr lang="en-US" altLang="zh-TW" sz="11200" dirty="0" smtClean="0"/>
              <a:t>Let 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11200" dirty="0" smtClean="0"/>
              <a:t> and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11200" dirty="0" smtClean="0"/>
              <a:t> be two sequences </a:t>
            </a:r>
            <a:r>
              <a:rPr lang="en-US" altLang="zh-TW" sz="11200" dirty="0" smtClean="0"/>
              <a:t>of length</a:t>
            </a:r>
            <a:r>
              <a:rPr lang="en-US" altLang="zh-TW" sz="11200" dirty="0" smtClean="0"/>
              <a:t>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11200" dirty="0" smtClean="0"/>
              <a:t> and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11200" dirty="0" smtClean="0"/>
              <a:t> respectively, where without loss of generality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11200" dirty="0" smtClean="0"/>
              <a:t> </a:t>
            </a:r>
            <a:r>
              <a:rPr lang="zh-TW" altLang="en-US" sz="11200" dirty="0" smtClean="0"/>
              <a:t>≧</a:t>
            </a:r>
            <a:r>
              <a:rPr lang="en-US" altLang="zh-TW" sz="11200" dirty="0" smtClean="0"/>
              <a:t>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11200" dirty="0" smtClean="0"/>
              <a:t>, and let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11200" dirty="0" smtClean="0"/>
              <a:t> be the length of a shortest edit script (consisting of insertions and deletions) between them. A parameter related to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11200" dirty="0" smtClean="0"/>
              <a:t> is the number of deletions in such a script,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11200" dirty="0" smtClean="0"/>
              <a:t>=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11200" dirty="0" smtClean="0"/>
              <a:t>/2-(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11200" dirty="0" smtClean="0"/>
              <a:t>-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11200" dirty="0" smtClean="0"/>
              <a:t>)/2. We present an algorithm for finding a shortest edit distance of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11200" dirty="0" smtClean="0"/>
              <a:t> and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11200" dirty="0" smtClean="0"/>
              <a:t> whose worst-case running time is O(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en-US" altLang="zh-TW" sz="11200" dirty="0" smtClean="0"/>
              <a:t>) and whose expected running time is O(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11200" dirty="0" smtClean="0"/>
              <a:t>+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PD</a:t>
            </a:r>
            <a:r>
              <a:rPr lang="en-US" altLang="zh-TW" sz="11200" dirty="0" smtClean="0"/>
              <a:t>). The algorithm is simple and is very efficient whenever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11200" dirty="0" smtClean="0"/>
              <a:t> is similar to a subsequence of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11200" dirty="0" smtClean="0"/>
              <a:t>. It is nearly twice as fast as the O(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altLang="zh-TW" sz="11200" dirty="0" smtClean="0"/>
              <a:t>) algorithm of Myers, and much more efficient when 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11200" dirty="0" smtClean="0"/>
              <a:t> and </a:t>
            </a:r>
            <a:r>
              <a:rPr lang="en-US" altLang="zh-TW" sz="11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11200" dirty="0" smtClean="0"/>
              <a:t> differ substantially in length.</a:t>
            </a:r>
            <a:endParaRPr lang="zh-TW" altLang="en-US" sz="1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Shortest Edit Script (SES)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acbdeacbed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acebdabbabed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,     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 = 10, N = 12, M</a:t>
            </a:r>
            <a:r>
              <a:rPr lang="zh-TW" altLang="en-US" dirty="0" smtClean="0"/>
              <a:t> ≦ </a:t>
            </a:r>
            <a:r>
              <a:rPr lang="en-US" altLang="zh-TW" dirty="0" smtClean="0"/>
              <a:t>N</a:t>
            </a:r>
            <a:endParaRPr lang="en-US" altLang="zh-TW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insert</a:t>
            </a:r>
          </a:p>
          <a:p>
            <a:pPr>
              <a:buNone/>
            </a:pPr>
            <a:endParaRPr lang="en-US" altLang="zh-TW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SES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6</a:t>
            </a:r>
            <a:r>
              <a:rPr lang="en-US" altLang="zh-TW" dirty="0" smtClean="0">
                <a:cs typeface="Times New Roman" pitchFamily="18" charset="0"/>
              </a:rPr>
              <a:t>,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2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/2 – 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)/2</a:t>
            </a:r>
          </a:p>
          <a:p>
            <a:pPr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because there are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insertions and deletions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more insertions than deletions.</a:t>
            </a: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201181" y="3924345"/>
            <a:ext cx="2945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zh-TW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US" altLang="zh-TW" sz="3200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ed</a:t>
            </a:r>
            <a:endParaRPr lang="zh-TW" altLang="en-US" sz="3200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5297525" y="4212377"/>
            <a:ext cx="648072" cy="0"/>
          </a:xfrm>
          <a:prstGeom prst="straightConnector1">
            <a:avLst/>
          </a:prstGeom>
          <a:ln w="41275" cmpd="dbl">
            <a:solidFill>
              <a:schemeClr val="tx1"/>
            </a:solidFill>
            <a:prstDash val="solid"/>
            <a:headEnd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6168912" y="3924345"/>
            <a:ext cx="2579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acebdabbabed</a:t>
            </a:r>
            <a:endParaRPr lang="zh-TW" altLang="en-US" sz="3200" dirty="0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60648"/>
            <a:ext cx="7006952" cy="5921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6291457"/>
            <a:ext cx="3431084" cy="566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Diagonal k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92224" y="2628201"/>
          <a:ext cx="60960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直線接點 9"/>
          <p:cNvCxnSpPr/>
          <p:nvPr/>
        </p:nvCxnSpPr>
        <p:spPr>
          <a:xfrm>
            <a:off x="467544" y="2610783"/>
            <a:ext cx="5112568" cy="374441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07504" y="225945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0</a:t>
            </a:r>
            <a:endParaRPr lang="zh-TW" altLang="en-US" sz="32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-36512" y="2700209"/>
            <a:ext cx="518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-1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-36512" y="3051538"/>
            <a:ext cx="518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-2</a:t>
            </a:r>
            <a:endParaRPr lang="zh-TW" altLang="en-US" sz="32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-114921" y="5940569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-10</a:t>
            </a:r>
            <a:endParaRPr lang="zh-TW" altLang="en-US" sz="32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94568" y="21874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331640" y="21874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</a:t>
            </a:r>
            <a:endParaRPr lang="zh-TW" altLang="en-US" sz="3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51520" y="836712"/>
            <a:ext cx="27446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 = 10,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 = 12</a:t>
            </a:r>
          </a:p>
          <a:p>
            <a:r>
              <a:rPr lang="zh-TW" altLang="en-US" sz="3200" dirty="0" smtClean="0"/>
              <a:t>∆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3200" dirty="0" smtClean="0"/>
              <a:t> –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 = 2</a:t>
            </a:r>
          </a:p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Diagonal </a:t>
            </a:r>
            <a:r>
              <a:rPr lang="zh-TW" altLang="en-US" sz="3200" dirty="0" smtClean="0"/>
              <a:t>∆</a:t>
            </a:r>
            <a:r>
              <a:rPr lang="en-US" altLang="zh-TW" sz="3200" dirty="0" smtClean="0"/>
              <a:t> = 2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300192" y="2124145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12</a:t>
            </a:r>
            <a:endParaRPr lang="zh-TW" altLang="en-US" sz="3200" dirty="0"/>
          </a:p>
        </p:txBody>
      </p:sp>
      <p:cxnSp>
        <p:nvCxnSpPr>
          <p:cNvPr id="19" name="直線接點 18"/>
          <p:cNvCxnSpPr/>
          <p:nvPr/>
        </p:nvCxnSpPr>
        <p:spPr>
          <a:xfrm>
            <a:off x="1504119" y="2619494"/>
            <a:ext cx="5112568" cy="3744416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53162" y="3717032"/>
            <a:ext cx="288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.</a:t>
            </a:r>
          </a:p>
          <a:p>
            <a:r>
              <a:rPr lang="en-US" altLang="zh-TW" sz="3200" dirty="0" smtClean="0"/>
              <a:t>.</a:t>
            </a:r>
          </a:p>
          <a:p>
            <a:r>
              <a:rPr lang="en-US" altLang="zh-TW" sz="3200" dirty="0" smtClean="0"/>
              <a:t>.</a:t>
            </a:r>
            <a:endParaRPr lang="zh-TW" altLang="en-US" sz="32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2483768" y="2132856"/>
            <a:ext cx="1612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.      .      .</a:t>
            </a:r>
            <a:endParaRPr lang="zh-TW" altLang="en-US" sz="3200" dirty="0"/>
          </a:p>
        </p:txBody>
      </p:sp>
      <p:cxnSp>
        <p:nvCxnSpPr>
          <p:cNvPr id="22" name="直線接點 21"/>
          <p:cNvCxnSpPr/>
          <p:nvPr/>
        </p:nvCxnSpPr>
        <p:spPr>
          <a:xfrm>
            <a:off x="1020558" y="2636912"/>
            <a:ext cx="5112568" cy="374441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2" idx="3"/>
          </p:cNvCxnSpPr>
          <p:nvPr/>
        </p:nvCxnSpPr>
        <p:spPr>
          <a:xfrm>
            <a:off x="481579" y="2992597"/>
            <a:ext cx="4594477" cy="33887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/>
          <p:cNvSpPr/>
          <p:nvPr/>
        </p:nvSpPr>
        <p:spPr>
          <a:xfrm>
            <a:off x="3976182" y="3671151"/>
            <a:ext cx="144016" cy="14401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6588224" y="3212976"/>
            <a:ext cx="26398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Vertex(3, 7) on</a:t>
            </a:r>
          </a:p>
          <a:p>
            <a:r>
              <a:rPr lang="en-US" altLang="zh-TW" sz="3200" dirty="0" smtClean="0"/>
              <a:t> diagonal 4.</a:t>
            </a:r>
            <a:endParaRPr lang="zh-TW" altLang="en-US" sz="32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D-band and P-band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96752"/>
            <a:ext cx="9144000" cy="47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-46824" y="5877272"/>
            <a:ext cx="4906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Myers, An O(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altLang="zh-TW" sz="2400" dirty="0" smtClean="0"/>
              <a:t>) difference algorithm</a:t>
            </a:r>
          </a:p>
          <a:p>
            <a:r>
              <a:rPr lang="en-US" altLang="zh-TW" sz="2400" dirty="0" smtClean="0"/>
              <a:t>and  its variations.</a:t>
            </a:r>
            <a:endParaRPr lang="zh-TW" altLang="en-US" sz="24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/>
              <a:t>-values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-values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484784"/>
            <a:ext cx="4427983" cy="4038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2659" y="1484784"/>
            <a:ext cx="4651341" cy="3955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1259632" y="5733256"/>
            <a:ext cx="1658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3200" dirty="0" smtClean="0"/>
              <a:t>-values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68144" y="5661248"/>
            <a:ext cx="1611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3200" dirty="0" smtClean="0"/>
              <a:t>-values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292080" y="6334780"/>
            <a:ext cx="286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/2 – (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)/2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Compressed Distance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96752"/>
            <a:ext cx="4651341" cy="3955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2420888"/>
            <a:ext cx="4644008" cy="1442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直線接點 9"/>
          <p:cNvCxnSpPr/>
          <p:nvPr/>
        </p:nvCxnSpPr>
        <p:spPr>
          <a:xfrm flipH="1" flipV="1">
            <a:off x="1043608" y="1484784"/>
            <a:ext cx="3600400" cy="3672408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716016" y="4365104"/>
            <a:ext cx="4627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dirty="0" smtClean="0"/>
              <a:t>, 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dirty="0" smtClean="0"/>
              <a:t>) : the number of vertical </a:t>
            </a:r>
          </a:p>
          <a:p>
            <a:r>
              <a:rPr lang="en-US" altLang="zh-TW" sz="2400" smtClean="0"/>
              <a:t>          </a:t>
            </a:r>
            <a:r>
              <a:rPr lang="en-US" altLang="zh-TW" sz="2400" smtClean="0"/>
              <a:t> edges in </a:t>
            </a:r>
            <a:r>
              <a:rPr lang="en-US" altLang="zh-TW" sz="2400" dirty="0" smtClean="0"/>
              <a:t>a short path to (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400" dirty="0" smtClean="0"/>
              <a:t>,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Farthest p-points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00808"/>
            <a:ext cx="358267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896" y="1700808"/>
            <a:ext cx="5508104" cy="50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2227753"/>
            <a:ext cx="6480720" cy="48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1" y="2780928"/>
            <a:ext cx="4794283" cy="4077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/>
          <p:cNvSpPr txBox="1"/>
          <p:nvPr/>
        </p:nvSpPr>
        <p:spPr>
          <a:xfrm>
            <a:off x="4860032" y="2996952"/>
            <a:ext cx="444544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(0, 0) = 2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(1, 0) = 5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(2, 0) = 6</a:t>
            </a:r>
          </a:p>
          <a:p>
            <a:r>
              <a:rPr lang="en-US" altLang="zh-TW" sz="2800" i="1" dirty="0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(0)   = {(2, 2), (4, 5), (4, 6)}</a:t>
            </a:r>
            <a:endParaRPr lang="zh-TW" altLang="en-US" sz="2800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1161497" y="4149080"/>
            <a:ext cx="2160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195736" y="4797152"/>
            <a:ext cx="2160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509895" y="4805861"/>
            <a:ext cx="2160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snake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276872"/>
            <a:ext cx="5387009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539552" y="1484784"/>
            <a:ext cx="73639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snake</a:t>
            </a:r>
            <a:r>
              <a:rPr lang="en-US" altLang="zh-TW" sz="3200" dirty="0" smtClean="0"/>
              <a:t>(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3200" dirty="0" smtClean="0"/>
              <a:t>) = max{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sz="3200" dirty="0" smtClean="0"/>
              <a:t>: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i="1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3200" baseline="-25000" dirty="0" smtClean="0"/>
              <a:t>+1-</a:t>
            </a:r>
            <a:r>
              <a:rPr lang="en-US" altLang="zh-TW" sz="32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 … 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200" i="1" baseline="-250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sz="3200" baseline="-25000" dirty="0" smtClean="0"/>
              <a:t>-</a:t>
            </a:r>
            <a:r>
              <a:rPr lang="en-US" altLang="zh-TW" sz="32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200" dirty="0" smtClean="0"/>
              <a:t> =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i="1" baseline="-250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3200" baseline="-25000" dirty="0" smtClean="0"/>
              <a:t>+1</a:t>
            </a:r>
            <a:r>
              <a:rPr lang="en-US" altLang="zh-TW" sz="3200" dirty="0" smtClean="0"/>
              <a:t> … </a:t>
            </a:r>
            <a:r>
              <a:rPr lang="en-US" altLang="zh-TW" sz="3200" i="1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200" i="1" baseline="-250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TW" sz="3200" dirty="0" smtClean="0"/>
              <a:t>}.</a:t>
            </a:r>
            <a:endParaRPr lang="zh-TW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6084168" y="2564904"/>
            <a:ext cx="257634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snake</a:t>
            </a:r>
            <a:r>
              <a:rPr lang="en-US" altLang="zh-TW" sz="3200" dirty="0" smtClean="0"/>
              <a:t>(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3200" dirty="0" smtClean="0"/>
              <a:t>, 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sz="3200" dirty="0" smtClean="0"/>
              <a:t>) = 5</a:t>
            </a:r>
          </a:p>
          <a:p>
            <a:endParaRPr lang="zh-TW" altLang="en-US" sz="32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1663217" y="3754204"/>
            <a:ext cx="28803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907704" y="3717032"/>
            <a:ext cx="216024" cy="216024"/>
          </a:xfrm>
          <a:prstGeom prst="straightConnector1">
            <a:avLst/>
          </a:prstGeom>
          <a:ln w="31750" cmpd="dbl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2267744" y="4077072"/>
            <a:ext cx="216024" cy="216024"/>
          </a:xfrm>
          <a:prstGeom prst="straightConnector1">
            <a:avLst/>
          </a:prstGeom>
          <a:ln w="31750" cmpd="dbl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996952"/>
            <a:ext cx="4540257" cy="386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接點 6"/>
          <p:cNvCxnSpPr/>
          <p:nvPr/>
        </p:nvCxnSpPr>
        <p:spPr>
          <a:xfrm flipH="1" flipV="1">
            <a:off x="2339752" y="3284984"/>
            <a:ext cx="3528392" cy="3573016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564904"/>
            <a:ext cx="9144001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dirty="0" smtClean="0"/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24744"/>
            <a:ext cx="9144000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786552" y="3861048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66672" y="3348281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915816" y="3212976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p-1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203848" y="4437112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228184" y="2564904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p-1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156176" y="3564305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092280" y="4365104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436096" y="4797152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zh-TW" alt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O(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en-US" altLang="zh-TW" dirty="0" smtClean="0"/>
              <a:t>)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124744"/>
            <a:ext cx="5364088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acbdeacbed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acebdabbabed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04864"/>
            <a:ext cx="4540257" cy="386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4788024" y="2060848"/>
            <a:ext cx="46085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 = </a:t>
            </a:r>
            <a:r>
              <a:rPr lang="en-US" altLang="zh-TW" sz="2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[0] = 2,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[1] = 5,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[2] = 6</a:t>
            </a:r>
          </a:p>
          <a:p>
            <a:endParaRPr lang="en-US" altLang="zh-TW" sz="2800" dirty="0" smtClean="0">
              <a:solidFill>
                <a:srgbClr val="0070C0"/>
              </a:solidFill>
            </a:endParaRPr>
          </a:p>
          <a:p>
            <a:r>
              <a:rPr lang="en-US" altLang="zh-TW" sz="28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 = </a:t>
            </a:r>
            <a:r>
              <a:rPr lang="en-US" altLang="zh-TW" sz="2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[-1] = 2,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[0] = 6,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[1] = 7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[2] = 8,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[3] = 7</a:t>
            </a:r>
          </a:p>
          <a:p>
            <a:endParaRPr lang="en-US" altLang="zh-TW" sz="2800" dirty="0" smtClean="0">
              <a:solidFill>
                <a:srgbClr val="0070C0"/>
              </a:solidFill>
            </a:endParaRPr>
          </a:p>
          <a:p>
            <a:r>
              <a:rPr lang="en-US" altLang="zh-TW" sz="28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 = </a:t>
            </a:r>
            <a:r>
              <a:rPr lang="en-US" altLang="zh-TW" sz="2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[-2] = 3,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[-1] = 7,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[0] = 8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[1] = 9, </a:t>
            </a:r>
            <a:r>
              <a:rPr lang="en-US" altLang="zh-TW" sz="28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>
                <a:solidFill>
                  <a:srgbClr val="FF0000"/>
                </a:solidFill>
              </a:rPr>
              <a:t>[2] = 12</a:t>
            </a:r>
            <a:r>
              <a:rPr lang="en-US" altLang="zh-TW" sz="2800" dirty="0" smtClean="0"/>
              <a:t>, </a:t>
            </a:r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[3] = 9</a:t>
            </a:r>
          </a:p>
          <a:p>
            <a:r>
              <a:rPr lang="en-US" altLang="zh-TW" sz="2800" i="1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altLang="zh-TW" sz="2800" dirty="0" smtClean="0"/>
              <a:t>[4] =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268760"/>
            <a:ext cx="7884368" cy="474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/>
        </p:nvSpPr>
        <p:spPr>
          <a:xfrm>
            <a:off x="457200" y="116601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4219</TotalTime>
  <Words>390</Words>
  <Application>Microsoft Office PowerPoint</Application>
  <PresentationFormat>如螢幕大小 (4:3)</PresentationFormat>
  <Paragraphs>99</Paragraphs>
  <Slides>16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An O(NP) Sequence Comparison Algorithm</vt:lpstr>
      <vt:lpstr>Abstract</vt:lpstr>
      <vt:lpstr>Shortest Edit Script (SES)</vt:lpstr>
      <vt:lpstr>投影片 4</vt:lpstr>
      <vt:lpstr>Diagonal k</vt:lpstr>
      <vt:lpstr>D-band and P-band</vt:lpstr>
      <vt:lpstr>D-values and P-values</vt:lpstr>
      <vt:lpstr>Compressed Distance</vt:lpstr>
      <vt:lpstr>Farthest p-points</vt:lpstr>
      <vt:lpstr>snake(k, y)</vt:lpstr>
      <vt:lpstr>fp(k, p)</vt:lpstr>
      <vt:lpstr>fp(k, p)</vt:lpstr>
      <vt:lpstr>The O(NP) algorithm</vt:lpstr>
      <vt:lpstr>Example</vt:lpstr>
      <vt:lpstr>Experimental Results</vt:lpstr>
      <vt:lpstr>投影片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O(NP) Sequence Comparison Algorithm</dc:title>
  <dc:creator>User</dc:creator>
  <cp:lastModifiedBy>user</cp:lastModifiedBy>
  <cp:revision>146</cp:revision>
  <dcterms:created xsi:type="dcterms:W3CDTF">2015-03-07T09:16:36Z</dcterms:created>
  <dcterms:modified xsi:type="dcterms:W3CDTF">2015-03-10T08:27:53Z</dcterms:modified>
</cp:coreProperties>
</file>