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76" r:id="rId5"/>
    <p:sldId id="277" r:id="rId6"/>
    <p:sldId id="274" r:id="rId7"/>
    <p:sldId id="275" r:id="rId8"/>
    <p:sldId id="266" r:id="rId9"/>
    <p:sldId id="267" r:id="rId10"/>
    <p:sldId id="268" r:id="rId11"/>
    <p:sldId id="261" r:id="rId12"/>
    <p:sldId id="262" r:id="rId13"/>
    <p:sldId id="269" r:id="rId14"/>
    <p:sldId id="260" r:id="rId15"/>
    <p:sldId id="263" r:id="rId16"/>
    <p:sldId id="265" r:id="rId17"/>
    <p:sldId id="270" r:id="rId18"/>
    <p:sldId id="264"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0116" autoAdjust="0"/>
  </p:normalViewPr>
  <p:slideViewPr>
    <p:cSldViewPr snapToGrid="0">
      <p:cViewPr varScale="1">
        <p:scale>
          <a:sx n="65" d="100"/>
          <a:sy n="65" d="100"/>
        </p:scale>
        <p:origin x="-542" y="-67"/>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98A9D-7A7E-4B9E-897D-6A0D1B3F624C}" type="datetimeFigureOut">
              <a:rPr lang="zh-TW" altLang="en-US" smtClean="0"/>
              <a:pPr/>
              <a:t>2015/3/10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574A1-47CD-43D6-8701-7FCD8082176C}" type="slidenum">
              <a:rPr lang="zh-TW" altLang="en-US" smtClean="0"/>
              <a:pPr/>
              <a:t>‹#›</a:t>
            </a:fld>
            <a:endParaRPr lang="zh-TW" altLang="en-US"/>
          </a:p>
        </p:txBody>
      </p:sp>
    </p:spTree>
    <p:extLst>
      <p:ext uri="{BB962C8B-B14F-4D97-AF65-F5344CB8AC3E}">
        <p14:creationId xmlns:p14="http://schemas.microsoft.com/office/powerpoint/2010/main" xmlns="" val="308268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30068AF-0EE9-47C4-8AA9-10FB371C69F4}" type="slidenum">
              <a:rPr lang="zh-TW" altLang="en-US" smtClean="0"/>
              <a:pPr/>
              <a:t>5</a:t>
            </a:fld>
            <a:endParaRPr lang="zh-TW" altLang="en-US"/>
          </a:p>
        </p:txBody>
      </p:sp>
    </p:spTree>
    <p:extLst>
      <p:ext uri="{BB962C8B-B14F-4D97-AF65-F5344CB8AC3E}">
        <p14:creationId xmlns:p14="http://schemas.microsoft.com/office/powerpoint/2010/main" xmlns="" val="3254738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30068AF-0EE9-47C4-8AA9-10FB371C69F4}" type="slidenum">
              <a:rPr lang="zh-TW" altLang="en-US" smtClean="0"/>
              <a:pPr/>
              <a:t>6</a:t>
            </a:fld>
            <a:endParaRPr lang="zh-TW" altLang="en-US"/>
          </a:p>
        </p:txBody>
      </p:sp>
    </p:spTree>
    <p:extLst>
      <p:ext uri="{BB962C8B-B14F-4D97-AF65-F5344CB8AC3E}">
        <p14:creationId xmlns:p14="http://schemas.microsoft.com/office/powerpoint/2010/main" xmlns="" val="1963160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QSPR QSAR </a:t>
            </a:r>
            <a:r>
              <a:rPr lang="zh-TW" altLang="en-US" smtClean="0"/>
              <a:t>指的是化合物結構參數跟生物活性數據以一定的數學模型關聯起來的定量關係</a:t>
            </a:r>
          </a:p>
          <a:p>
            <a:endParaRPr lang="zh-TW" altLang="en-US" dirty="0"/>
          </a:p>
        </p:txBody>
      </p:sp>
      <p:sp>
        <p:nvSpPr>
          <p:cNvPr id="4" name="投影片編號版面配置區 3"/>
          <p:cNvSpPr>
            <a:spLocks noGrp="1"/>
          </p:cNvSpPr>
          <p:nvPr>
            <p:ph type="sldNum" sz="quarter" idx="10"/>
          </p:nvPr>
        </p:nvSpPr>
        <p:spPr/>
        <p:txBody>
          <a:bodyPr/>
          <a:lstStyle/>
          <a:p>
            <a:fld id="{4A8574A1-47CD-43D6-8701-7FCD8082176C}" type="slidenum">
              <a:rPr lang="zh-TW" altLang="en-US" smtClean="0"/>
              <a:pPr/>
              <a:t>18</a:t>
            </a:fld>
            <a:endParaRPr lang="zh-TW" altLang="en-US"/>
          </a:p>
        </p:txBody>
      </p:sp>
    </p:spTree>
    <p:extLst>
      <p:ext uri="{BB962C8B-B14F-4D97-AF65-F5344CB8AC3E}">
        <p14:creationId xmlns:p14="http://schemas.microsoft.com/office/powerpoint/2010/main" xmlns="" val="1959609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250563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3929648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4085275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5791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998525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915188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704763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222201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833501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247491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1513262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689E6-C008-40BE-90A3-1826FCB5D165}" type="datetimeFigureOut">
              <a:rPr lang="zh-TW" altLang="en-US" smtClean="0"/>
              <a:pPr/>
              <a:t>2015/3/10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ED071-885D-4AED-B56C-07D44789BF85}" type="slidenum">
              <a:rPr lang="zh-TW" altLang="en-US" smtClean="0"/>
              <a:pPr/>
              <a:t>‹#›</a:t>
            </a:fld>
            <a:endParaRPr lang="zh-TW" altLang="en-US"/>
          </a:p>
        </p:txBody>
      </p:sp>
    </p:spTree>
    <p:extLst>
      <p:ext uri="{BB962C8B-B14F-4D97-AF65-F5344CB8AC3E}">
        <p14:creationId xmlns:p14="http://schemas.microsoft.com/office/powerpoint/2010/main" xmlns="" val="469160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789854"/>
            <a:ext cx="7772400" cy="2387600"/>
          </a:xfrm>
        </p:spPr>
        <p:txBody>
          <a:bodyPr>
            <a:noAutofit/>
          </a:bodyPr>
          <a:lstStyle/>
          <a:p>
            <a:r>
              <a:rPr lang="en-US" altLang="zh-TW" sz="3200" dirty="0" smtClean="0">
                <a:latin typeface="Arial Rounded MT Bold" panose="020F0704030504030204" pitchFamily="34" charset="0"/>
                <a:cs typeface="Times New Roman" panose="02020603050405020304" pitchFamily="18" charset="0"/>
              </a:rPr>
              <a:t>Fast </a:t>
            </a:r>
            <a:r>
              <a:rPr lang="en-US" altLang="zh-TW" sz="3200" dirty="0">
                <a:latin typeface="Arial Rounded MT Bold" panose="020F0704030504030204" pitchFamily="34" charset="0"/>
                <a:cs typeface="Times New Roman" panose="02020603050405020304" pitchFamily="18" charset="0"/>
              </a:rPr>
              <a:t>optimization </a:t>
            </a:r>
            <a:r>
              <a:rPr lang="en-US" altLang="zh-TW" sz="3200" dirty="0" smtClean="0">
                <a:latin typeface="Arial Rounded MT Bold" panose="020F0704030504030204" pitchFamily="34" charset="0"/>
                <a:cs typeface="Times New Roman" panose="02020603050405020304" pitchFamily="18" charset="0"/>
              </a:rPr>
              <a:t>of </a:t>
            </a:r>
            <a:r>
              <a:rPr lang="en-US" altLang="zh-TW" sz="3200" dirty="0" err="1" smtClean="0">
                <a:latin typeface="Arial Rounded MT Bold" panose="020F0704030504030204" pitchFamily="34" charset="0"/>
                <a:cs typeface="Times New Roman" panose="02020603050405020304" pitchFamily="18" charset="0"/>
              </a:rPr>
              <a:t>hyperparameters</a:t>
            </a:r>
            <a:r>
              <a:rPr lang="en-US" altLang="zh-TW" sz="3200" dirty="0" smtClean="0">
                <a:latin typeface="Arial Rounded MT Bold" panose="020F0704030504030204" pitchFamily="34" charset="0"/>
                <a:cs typeface="Times New Roman" panose="02020603050405020304" pitchFamily="18" charset="0"/>
              </a:rPr>
              <a:t> for support vector regression models </a:t>
            </a:r>
            <a:br>
              <a:rPr lang="en-US" altLang="zh-TW" sz="3200" dirty="0" smtClean="0">
                <a:latin typeface="Arial Rounded MT Bold" panose="020F0704030504030204" pitchFamily="34" charset="0"/>
                <a:cs typeface="Times New Roman" panose="02020603050405020304" pitchFamily="18" charset="0"/>
              </a:rPr>
            </a:br>
            <a:r>
              <a:rPr lang="en-US" altLang="zh-TW" sz="3200" dirty="0" smtClean="0">
                <a:latin typeface="Arial Rounded MT Bold" panose="020F0704030504030204" pitchFamily="34" charset="0"/>
                <a:cs typeface="Times New Roman" panose="02020603050405020304" pitchFamily="18" charset="0"/>
              </a:rPr>
              <a:t>with </a:t>
            </a:r>
            <a:r>
              <a:rPr lang="en-US" altLang="zh-TW" sz="3200" dirty="0">
                <a:latin typeface="Arial Rounded MT Bold" panose="020F0704030504030204" pitchFamily="34" charset="0"/>
                <a:cs typeface="Times New Roman" panose="02020603050405020304" pitchFamily="18" charset="0"/>
              </a:rPr>
              <a:t>highly predictive ability</a:t>
            </a:r>
            <a:endParaRPr lang="zh-TW" altLang="en-US" sz="3200" dirty="0">
              <a:latin typeface="Arial Rounded MT Bold" panose="020F0704030504030204" pitchFamily="34" charset="0"/>
              <a:cs typeface="Times New Roman" panose="02020603050405020304" pitchFamily="18" charset="0"/>
            </a:endParaRPr>
          </a:p>
        </p:txBody>
      </p:sp>
      <p:sp>
        <p:nvSpPr>
          <p:cNvPr id="3" name="副標題 2"/>
          <p:cNvSpPr>
            <a:spLocks noGrp="1"/>
          </p:cNvSpPr>
          <p:nvPr>
            <p:ph type="subTitle" idx="1"/>
          </p:nvPr>
        </p:nvSpPr>
        <p:spPr>
          <a:xfrm>
            <a:off x="1143000" y="3841029"/>
            <a:ext cx="6858000" cy="1655762"/>
          </a:xfrm>
        </p:spPr>
        <p:txBody>
          <a:bodyPr>
            <a:normAutofit lnSpcReduction="10000"/>
          </a:bodyPr>
          <a:lstStyle/>
          <a:p>
            <a:pPr algn="r"/>
            <a:r>
              <a:rPr lang="en-US" altLang="zh-TW" sz="1800" b="1" dirty="0" err="1">
                <a:latin typeface="Arial Rounded MT Bold" panose="020F0704030504030204" pitchFamily="34" charset="0"/>
                <a:cs typeface="Times New Roman" panose="02020603050405020304" pitchFamily="18" charset="0"/>
              </a:rPr>
              <a:t>Hiromasa</a:t>
            </a:r>
            <a:r>
              <a:rPr lang="en-US" altLang="zh-TW" sz="1800" b="1" dirty="0">
                <a:latin typeface="Arial Rounded MT Bold" panose="020F0704030504030204" pitchFamily="34" charset="0"/>
                <a:cs typeface="Times New Roman" panose="02020603050405020304" pitchFamily="18" charset="0"/>
              </a:rPr>
              <a:t> Kaneko, </a:t>
            </a:r>
            <a:r>
              <a:rPr lang="en-US" altLang="zh-TW" sz="1800" b="1" dirty="0" err="1">
                <a:latin typeface="Arial Rounded MT Bold" panose="020F0704030504030204" pitchFamily="34" charset="0"/>
                <a:cs typeface="Times New Roman" panose="02020603050405020304" pitchFamily="18" charset="0"/>
              </a:rPr>
              <a:t>Kimito</a:t>
            </a:r>
            <a:r>
              <a:rPr lang="en-US" altLang="zh-TW" sz="1800" b="1" dirty="0">
                <a:latin typeface="Arial Rounded MT Bold" panose="020F0704030504030204" pitchFamily="34" charset="0"/>
                <a:cs typeface="Times New Roman" panose="02020603050405020304" pitchFamily="18" charset="0"/>
              </a:rPr>
              <a:t> </a:t>
            </a:r>
            <a:r>
              <a:rPr lang="en-US" altLang="zh-TW" sz="1800" b="1" dirty="0" err="1" smtClean="0">
                <a:latin typeface="Arial Rounded MT Bold" panose="020F0704030504030204" pitchFamily="34" charset="0"/>
                <a:cs typeface="Times New Roman" panose="02020603050405020304" pitchFamily="18" charset="0"/>
              </a:rPr>
              <a:t>Funatsu</a:t>
            </a:r>
            <a:endParaRPr lang="en-US" altLang="zh-TW" sz="1800" b="1" dirty="0" smtClean="0">
              <a:latin typeface="Arial Rounded MT Bold" panose="020F0704030504030204" pitchFamily="34" charset="0"/>
              <a:cs typeface="Times New Roman" panose="02020603050405020304" pitchFamily="18" charset="0"/>
            </a:endParaRPr>
          </a:p>
          <a:p>
            <a:pPr algn="r"/>
            <a:r>
              <a:rPr lang="en-US" altLang="zh-TW" sz="1800" b="1" dirty="0" err="1">
                <a:latin typeface="Arial Rounded MT Bold" panose="020F0704030504030204" pitchFamily="34" charset="0"/>
                <a:cs typeface="Times New Roman" panose="02020603050405020304" pitchFamily="18" charset="0"/>
              </a:rPr>
              <a:t>Chemometrics</a:t>
            </a:r>
            <a:r>
              <a:rPr lang="en-US" altLang="zh-TW" sz="1800" b="1" dirty="0">
                <a:latin typeface="Arial Rounded MT Bold" panose="020F0704030504030204" pitchFamily="34" charset="0"/>
                <a:cs typeface="Times New Roman" panose="02020603050405020304" pitchFamily="18" charset="0"/>
              </a:rPr>
              <a:t> and Intelligent Laboratory Systems 142 (2015</a:t>
            </a:r>
            <a:r>
              <a:rPr lang="en-US" altLang="zh-TW" sz="1800" b="1">
                <a:latin typeface="Arial Rounded MT Bold" panose="020F0704030504030204" pitchFamily="34" charset="0"/>
                <a:cs typeface="Times New Roman" panose="02020603050405020304" pitchFamily="18" charset="0"/>
              </a:rPr>
              <a:t>) </a:t>
            </a:r>
            <a:r>
              <a:rPr lang="en-US" altLang="zh-TW" sz="1800" b="1" smtClean="0">
                <a:latin typeface="Arial Rounded MT Bold" panose="020F0704030504030204" pitchFamily="34" charset="0"/>
                <a:cs typeface="Times New Roman" panose="02020603050405020304" pitchFamily="18" charset="0"/>
              </a:rPr>
              <a:t>pp. 64–69</a:t>
            </a:r>
            <a:endParaRPr lang="en-US" altLang="zh-TW" sz="1800" b="1" dirty="0" smtClean="0">
              <a:latin typeface="Arial Rounded MT Bold" panose="020F0704030504030204" pitchFamily="34" charset="0"/>
              <a:cs typeface="Times New Roman" panose="02020603050405020304" pitchFamily="18" charset="0"/>
            </a:endParaRPr>
          </a:p>
          <a:p>
            <a:pPr algn="r"/>
            <a:r>
              <a:rPr lang="en-US" altLang="zh-TW" sz="1800" b="1" dirty="0" smtClean="0">
                <a:latin typeface="Arial Rounded MT Bold" panose="020F0704030504030204" pitchFamily="34" charset="0"/>
                <a:cs typeface="Times New Roman" panose="02020603050405020304" pitchFamily="18" charset="0"/>
              </a:rPr>
              <a:t>Presenter: Ding Yao, Huang</a:t>
            </a:r>
          </a:p>
          <a:p>
            <a:pPr algn="r"/>
            <a:r>
              <a:rPr lang="en-US" altLang="zh-TW" sz="1800" b="1" dirty="0" smtClean="0">
                <a:latin typeface="Arial Rounded MT Bold" panose="020F0704030504030204" pitchFamily="34" charset="0"/>
                <a:cs typeface="Times New Roman" panose="02020603050405020304" pitchFamily="18" charset="0"/>
              </a:rPr>
              <a:t>Date:2015/3/10</a:t>
            </a:r>
            <a:endParaRPr lang="zh-TW" altLang="en-US" sz="1800" b="1" dirty="0">
              <a:latin typeface="Arial Rounded MT Bold" panose="020F0704030504030204" pitchFamily="34" charset="0"/>
              <a:cs typeface="Times New Roman" panose="02020603050405020304" pitchFamily="18" charset="0"/>
            </a:endParaRPr>
          </a:p>
        </p:txBody>
      </p:sp>
    </p:spTree>
    <p:extLst>
      <p:ext uri="{BB962C8B-B14F-4D97-AF65-F5344CB8AC3E}">
        <p14:creationId xmlns:p14="http://schemas.microsoft.com/office/powerpoint/2010/main" xmlns="" val="19508830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ea typeface="Gungsuh" panose="02030600000101010101" pitchFamily="18" charset="-127"/>
              </a:rPr>
              <a:t>Abstract</a:t>
            </a:r>
            <a:endParaRPr lang="zh-TW" altLang="en-US" sz="4000" dirty="0">
              <a:latin typeface="Arial Rounded MT Bold" panose="020F0704030504030204" pitchFamily="34" charset="0"/>
            </a:endParaRPr>
          </a:p>
        </p:txBody>
      </p:sp>
      <p:sp>
        <p:nvSpPr>
          <p:cNvPr id="3" name="內容版面配置區 2"/>
          <p:cNvSpPr>
            <a:spLocks noGrp="1"/>
          </p:cNvSpPr>
          <p:nvPr>
            <p:ph idx="1"/>
          </p:nvPr>
        </p:nvSpPr>
        <p:spPr/>
        <p:txBody>
          <a:bodyPr>
            <a:noAutofit/>
          </a:bodyPr>
          <a:lstStyle/>
          <a:p>
            <a:pPr marL="0" indent="0">
              <a:buNone/>
            </a:pPr>
            <a:r>
              <a:rPr lang="en-US" altLang="zh-TW" sz="2000" dirty="0">
                <a:latin typeface="Arial Rounded MT Bold" panose="020F0704030504030204" pitchFamily="34" charset="0"/>
              </a:rPr>
              <a:t>Support vector regression (SVR) attracts much attention in </a:t>
            </a:r>
            <a:r>
              <a:rPr lang="en-US" altLang="zh-TW" sz="2000" dirty="0" err="1">
                <a:latin typeface="Arial Rounded MT Bold" panose="020F0704030504030204" pitchFamily="34" charset="0"/>
              </a:rPr>
              <a:t>chemometrics</a:t>
            </a:r>
            <a:r>
              <a:rPr lang="en-US" altLang="zh-TW" sz="2000" dirty="0">
                <a:latin typeface="Arial Rounded MT Bold" panose="020F0704030504030204" pitchFamily="34" charset="0"/>
              </a:rPr>
              <a:t> as a nonlinear regression method due </a:t>
            </a:r>
            <a:r>
              <a:rPr lang="en-US" altLang="zh-TW" sz="2000" dirty="0" smtClean="0">
                <a:latin typeface="Arial Rounded MT Bold" panose="020F0704030504030204" pitchFamily="34" charset="0"/>
              </a:rPr>
              <a:t>to its </a:t>
            </a:r>
            <a:r>
              <a:rPr lang="en-US" altLang="zh-TW" sz="2000" dirty="0">
                <a:latin typeface="Arial Rounded MT Bold" panose="020F0704030504030204" pitchFamily="34" charset="0"/>
              </a:rPr>
              <a:t>theoretical background. In SVR modeling, three </a:t>
            </a:r>
            <a:r>
              <a:rPr lang="en-US" altLang="zh-TW" sz="2000" dirty="0" err="1">
                <a:latin typeface="Arial Rounded MT Bold" panose="020F0704030504030204" pitchFamily="34" charset="0"/>
              </a:rPr>
              <a:t>hyperparameters</a:t>
            </a:r>
            <a:r>
              <a:rPr lang="en-US" altLang="zh-TW" sz="2000" dirty="0">
                <a:latin typeface="Arial Rounded MT Bold" panose="020F0704030504030204" pitchFamily="34" charset="0"/>
              </a:rPr>
              <a:t> must be set beforehand. </a:t>
            </a:r>
            <a:endParaRPr lang="en-US" altLang="zh-TW" sz="2000" dirty="0" smtClean="0">
              <a:latin typeface="Arial Rounded MT Bold" panose="020F0704030504030204" pitchFamily="34" charset="0"/>
            </a:endParaRPr>
          </a:p>
          <a:p>
            <a:pPr marL="0" indent="0">
              <a:buNone/>
            </a:pPr>
            <a:endParaRPr lang="en-US" altLang="zh-TW" sz="2000" dirty="0" smtClean="0">
              <a:latin typeface="Arial Rounded MT Bold" panose="020F0704030504030204" pitchFamily="34" charset="0"/>
            </a:endParaRPr>
          </a:p>
          <a:p>
            <a:pPr marL="0" indent="0">
              <a:buNone/>
            </a:pPr>
            <a:r>
              <a:rPr lang="en-US" altLang="zh-TW" sz="2000" dirty="0" smtClean="0">
                <a:latin typeface="Arial Rounded MT Bold" panose="020F0704030504030204" pitchFamily="34" charset="0"/>
              </a:rPr>
              <a:t>The optimization method </a:t>
            </a:r>
            <a:r>
              <a:rPr lang="en-US" altLang="zh-TW" sz="2000" dirty="0">
                <a:latin typeface="Arial Rounded MT Bold" panose="020F0704030504030204" pitchFamily="34" charset="0"/>
              </a:rPr>
              <a:t>based on </a:t>
            </a:r>
            <a:r>
              <a:rPr lang="en-US" altLang="zh-TW" sz="2000" dirty="0">
                <a:solidFill>
                  <a:srgbClr val="FF0000"/>
                </a:solidFill>
                <a:latin typeface="Arial Rounded MT Bold" panose="020F0704030504030204" pitchFamily="34" charset="0"/>
              </a:rPr>
              <a:t>grid search (GS) </a:t>
            </a:r>
            <a:r>
              <a:rPr lang="en-US" altLang="zh-TW" sz="2000" dirty="0">
                <a:latin typeface="Arial Rounded MT Bold" panose="020F0704030504030204" pitchFamily="34" charset="0"/>
              </a:rPr>
              <a:t>and </a:t>
            </a:r>
            <a:r>
              <a:rPr lang="en-US" altLang="zh-TW" sz="2000" dirty="0">
                <a:solidFill>
                  <a:srgbClr val="FF0000"/>
                </a:solidFill>
                <a:latin typeface="Arial Rounded MT Bold" panose="020F0704030504030204" pitchFamily="34" charset="0"/>
              </a:rPr>
              <a:t>cross-validation (CV) </a:t>
            </a:r>
            <a:r>
              <a:rPr lang="en-US" altLang="zh-TW" sz="2000" dirty="0">
                <a:latin typeface="Arial Rounded MT Bold" panose="020F0704030504030204" pitchFamily="34" charset="0"/>
              </a:rPr>
              <a:t>is employed normally in the selection of the </a:t>
            </a:r>
            <a:r>
              <a:rPr lang="en-US" altLang="zh-TW" sz="2000" dirty="0" smtClean="0">
                <a:latin typeface="Arial Rounded MT Bold" panose="020F0704030504030204" pitchFamily="34" charset="0"/>
              </a:rPr>
              <a:t>SVR </a:t>
            </a:r>
            <a:r>
              <a:rPr lang="en-US" altLang="zh-TW" sz="2000" dirty="0" err="1" smtClean="0">
                <a:latin typeface="Arial Rounded MT Bold" panose="020F0704030504030204" pitchFamily="34" charset="0"/>
              </a:rPr>
              <a:t>hyperparameters</a:t>
            </a:r>
            <a:r>
              <a:rPr lang="en-US" altLang="zh-TW" sz="2000" dirty="0">
                <a:latin typeface="Arial Rounded MT Bold" panose="020F0704030504030204" pitchFamily="34" charset="0"/>
              </a:rPr>
              <a:t>. However, this takes enormous time. </a:t>
            </a:r>
            <a:endParaRPr lang="en-US" altLang="zh-TW" sz="2000" dirty="0" smtClean="0">
              <a:latin typeface="Arial Rounded MT Bold" panose="020F0704030504030204" pitchFamily="34" charset="0"/>
            </a:endParaRPr>
          </a:p>
          <a:p>
            <a:pPr marL="0" indent="0">
              <a:buNone/>
            </a:pPr>
            <a:endParaRPr lang="en-US" altLang="zh-TW" sz="2000" dirty="0" smtClean="0">
              <a:latin typeface="Arial Rounded MT Bold" panose="020F0704030504030204" pitchFamily="34" charset="0"/>
            </a:endParaRPr>
          </a:p>
          <a:p>
            <a:pPr marL="0" indent="0">
              <a:buNone/>
            </a:pPr>
            <a:r>
              <a:rPr lang="en-US" altLang="zh-TW" sz="2000" dirty="0" smtClean="0">
                <a:latin typeface="Arial Rounded MT Bold" panose="020F0704030504030204" pitchFamily="34" charset="0"/>
              </a:rPr>
              <a:t>Although </a:t>
            </a:r>
            <a:r>
              <a:rPr lang="en-US" altLang="zh-TW" sz="2000" dirty="0">
                <a:latin typeface="Arial Rounded MT Bold" panose="020F0704030504030204" pitchFamily="34" charset="0"/>
              </a:rPr>
              <a:t>theoretical techniques exist to decide the </a:t>
            </a:r>
            <a:r>
              <a:rPr lang="en-US" altLang="zh-TW" sz="2000" dirty="0" smtClean="0">
                <a:latin typeface="Arial Rounded MT Bold" panose="020F0704030504030204" pitchFamily="34" charset="0"/>
              </a:rPr>
              <a:t>values of </a:t>
            </a:r>
            <a:r>
              <a:rPr lang="en-US" altLang="zh-TW" sz="2000" dirty="0">
                <a:latin typeface="Arial Rounded MT Bold" panose="020F0704030504030204" pitchFamily="34" charset="0"/>
              </a:rPr>
              <a:t>the SVR </a:t>
            </a:r>
            <a:r>
              <a:rPr lang="en-US" altLang="zh-TW" sz="2000" dirty="0" err="1">
                <a:latin typeface="Arial Rounded MT Bold" panose="020F0704030504030204" pitchFamily="34" charset="0"/>
              </a:rPr>
              <a:t>hyperparameters</a:t>
            </a:r>
            <a:r>
              <a:rPr lang="en-US" altLang="zh-TW" sz="2000" dirty="0">
                <a:latin typeface="Arial Rounded MT Bold" panose="020F0704030504030204" pitchFamily="34" charset="0"/>
              </a:rPr>
              <a:t>, predictive ability of SVR models is not considered in the </a:t>
            </a:r>
            <a:r>
              <a:rPr lang="en-US" altLang="zh-TW" sz="2000" dirty="0" smtClean="0">
                <a:latin typeface="Arial Rounded MT Bold" panose="020F0704030504030204" pitchFamily="34" charset="0"/>
              </a:rPr>
              <a:t>decision.</a:t>
            </a:r>
          </a:p>
        </p:txBody>
      </p:sp>
    </p:spTree>
    <p:extLst>
      <p:ext uri="{BB962C8B-B14F-4D97-AF65-F5344CB8AC3E}">
        <p14:creationId xmlns:p14="http://schemas.microsoft.com/office/powerpoint/2010/main" xmlns="" val="2337464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ea typeface="Gungsuh" panose="02030600000101010101" pitchFamily="18" charset="-127"/>
              </a:rPr>
              <a:t>Abstract</a:t>
            </a:r>
            <a:endParaRPr lang="zh-TW" altLang="en-US" sz="4000" dirty="0">
              <a:latin typeface="Arial Rounded MT Bold" panose="020F0704030504030204" pitchFamily="34" charset="0"/>
            </a:endParaRPr>
          </a:p>
        </p:txBody>
      </p:sp>
      <p:sp>
        <p:nvSpPr>
          <p:cNvPr id="3" name="內容版面配置區 2"/>
          <p:cNvSpPr>
            <a:spLocks noGrp="1"/>
          </p:cNvSpPr>
          <p:nvPr>
            <p:ph idx="1"/>
          </p:nvPr>
        </p:nvSpPr>
        <p:spPr/>
        <p:txBody>
          <a:bodyPr>
            <a:normAutofit/>
          </a:bodyPr>
          <a:lstStyle/>
          <a:p>
            <a:pPr marL="0" indent="0">
              <a:buNone/>
            </a:pPr>
            <a:r>
              <a:rPr lang="en-US" altLang="zh-TW" sz="2000" dirty="0" smtClean="0">
                <a:latin typeface="Arial Rounded MT Bold" panose="020F0704030504030204" pitchFamily="34" charset="0"/>
              </a:rPr>
              <a:t>We therefore proposed a </a:t>
            </a:r>
            <a:r>
              <a:rPr lang="en-US" altLang="zh-TW" sz="2000" dirty="0">
                <a:latin typeface="Arial Rounded MT Bold" panose="020F0704030504030204" pitchFamily="34" charset="0"/>
              </a:rPr>
              <a:t>method based on the </a:t>
            </a:r>
            <a:r>
              <a:rPr lang="en-US" altLang="zh-TW" sz="2000" dirty="0">
                <a:solidFill>
                  <a:srgbClr val="FF0000"/>
                </a:solidFill>
                <a:latin typeface="Arial Rounded MT Bold" panose="020F0704030504030204" pitchFamily="34" charset="0"/>
              </a:rPr>
              <a:t>GS </a:t>
            </a:r>
            <a:r>
              <a:rPr lang="en-US" altLang="zh-TW" sz="2000" dirty="0">
                <a:latin typeface="Arial Rounded MT Bold" panose="020F0704030504030204" pitchFamily="34" charset="0"/>
              </a:rPr>
              <a:t>and</a:t>
            </a:r>
            <a:r>
              <a:rPr lang="en-US" altLang="zh-TW" sz="2000" dirty="0">
                <a:solidFill>
                  <a:srgbClr val="FF0000"/>
                </a:solidFill>
                <a:latin typeface="Arial Rounded MT Bold" panose="020F0704030504030204" pitchFamily="34" charset="0"/>
              </a:rPr>
              <a:t> CV method</a:t>
            </a:r>
            <a:r>
              <a:rPr lang="en-US" altLang="zh-TW" sz="2000" dirty="0">
                <a:latin typeface="Arial Rounded MT Bold" panose="020F0704030504030204" pitchFamily="34" charset="0"/>
              </a:rPr>
              <a:t> and </a:t>
            </a:r>
            <a:r>
              <a:rPr lang="en-US" altLang="zh-TW" sz="2000" dirty="0">
                <a:solidFill>
                  <a:srgbClr val="FF0000"/>
                </a:solidFill>
                <a:latin typeface="Arial Rounded MT Bold" panose="020F0704030504030204" pitchFamily="34" charset="0"/>
              </a:rPr>
              <a:t>theoretical techniques </a:t>
            </a:r>
            <a:r>
              <a:rPr lang="en-US" altLang="zh-TW" sz="2000" dirty="0">
                <a:latin typeface="Arial Rounded MT Bold" panose="020F0704030504030204" pitchFamily="34" charset="0"/>
              </a:rPr>
              <a:t>for fast optimization of the </a:t>
            </a:r>
            <a:r>
              <a:rPr lang="en-US" altLang="zh-TW" sz="2000" dirty="0" smtClean="0">
                <a:latin typeface="Arial Rounded MT Bold" panose="020F0704030504030204" pitchFamily="34" charset="0"/>
              </a:rPr>
              <a:t>SVR </a:t>
            </a:r>
            <a:r>
              <a:rPr lang="en-US" altLang="zh-TW" sz="2000" dirty="0" err="1" smtClean="0">
                <a:latin typeface="Arial Rounded MT Bold" panose="020F0704030504030204" pitchFamily="34" charset="0"/>
              </a:rPr>
              <a:t>hyperparameters</a:t>
            </a:r>
            <a:r>
              <a:rPr lang="en-US" altLang="zh-TW" sz="2000" dirty="0">
                <a:latin typeface="Arial Rounded MT Bold" panose="020F0704030504030204" pitchFamily="34" charset="0"/>
              </a:rPr>
              <a:t>, considering predictive ability of SVR models. </a:t>
            </a:r>
            <a:endParaRPr lang="en-US" altLang="zh-TW" sz="2000" dirty="0" smtClean="0">
              <a:latin typeface="Arial Rounded MT Bold" panose="020F0704030504030204" pitchFamily="34" charset="0"/>
            </a:endParaRPr>
          </a:p>
          <a:p>
            <a:pPr marL="0" indent="0">
              <a:buNone/>
            </a:pPr>
            <a:endParaRPr lang="en-US" altLang="zh-TW" sz="2000" dirty="0" smtClean="0">
              <a:latin typeface="Arial Rounded MT Bold" panose="020F0704030504030204" pitchFamily="34" charset="0"/>
            </a:endParaRPr>
          </a:p>
          <a:p>
            <a:pPr marL="0" indent="0">
              <a:buNone/>
            </a:pPr>
            <a:r>
              <a:rPr lang="en-US" altLang="zh-TW" sz="2000" dirty="0" smtClean="0">
                <a:latin typeface="Arial Rounded MT Bold" panose="020F0704030504030204" pitchFamily="34" charset="0"/>
              </a:rPr>
              <a:t>After </a:t>
            </a:r>
            <a:r>
              <a:rPr lang="en-US" altLang="zh-TW" sz="2000" dirty="0">
                <a:latin typeface="Arial Rounded MT Bold" panose="020F0704030504030204" pitchFamily="34" charset="0"/>
              </a:rPr>
              <a:t>values of two </a:t>
            </a:r>
            <a:r>
              <a:rPr lang="en-US" altLang="zh-TW" sz="2000" dirty="0" err="1">
                <a:latin typeface="Arial Rounded MT Bold" panose="020F0704030504030204" pitchFamily="34" charset="0"/>
              </a:rPr>
              <a:t>hyperparameters</a:t>
            </a:r>
            <a:r>
              <a:rPr lang="en-US" altLang="zh-TW" sz="2000" dirty="0">
                <a:latin typeface="Arial Rounded MT Bold" panose="020F0704030504030204" pitchFamily="34" charset="0"/>
              </a:rPr>
              <a:t> are </a:t>
            </a:r>
            <a:r>
              <a:rPr lang="en-US" altLang="zh-TW" sz="2000" dirty="0" smtClean="0">
                <a:latin typeface="Arial Rounded MT Bold" panose="020F0704030504030204" pitchFamily="34" charset="0"/>
              </a:rPr>
              <a:t>decided theoretically</a:t>
            </a:r>
            <a:r>
              <a:rPr lang="en-US" altLang="zh-TW" sz="2000" dirty="0">
                <a:latin typeface="Arial Rounded MT Bold" panose="020F0704030504030204" pitchFamily="34" charset="0"/>
              </a:rPr>
              <a:t>, </a:t>
            </a:r>
            <a:r>
              <a:rPr lang="en-US" altLang="zh-TW" sz="2000" dirty="0" smtClean="0">
                <a:latin typeface="Arial Rounded MT Bold" panose="020F0704030504030204" pitchFamily="34" charset="0"/>
              </a:rPr>
              <a:t>each </a:t>
            </a:r>
            <a:r>
              <a:rPr lang="en-US" altLang="zh-TW" sz="2000" dirty="0" err="1" smtClean="0">
                <a:latin typeface="Arial Rounded MT Bold" panose="020F0704030504030204" pitchFamily="34" charset="0"/>
              </a:rPr>
              <a:t>hyperparameter</a:t>
            </a:r>
            <a:r>
              <a:rPr lang="en-US" altLang="zh-TW" sz="2000" dirty="0" smtClean="0">
                <a:latin typeface="Arial Rounded MT Bold" panose="020F0704030504030204" pitchFamily="34" charset="0"/>
              </a:rPr>
              <a:t> </a:t>
            </a:r>
            <a:r>
              <a:rPr lang="en-US" altLang="zh-TW" sz="2000" dirty="0">
                <a:latin typeface="Arial Rounded MT Bold" panose="020F0704030504030204" pitchFamily="34" charset="0"/>
              </a:rPr>
              <a:t>is optimized independently with GS and CV. The highly predictive ability </a:t>
            </a:r>
            <a:r>
              <a:rPr lang="en-US" altLang="zh-TW" sz="2000" dirty="0" smtClean="0">
                <a:latin typeface="Arial Rounded MT Bold" panose="020F0704030504030204" pitchFamily="34" charset="0"/>
              </a:rPr>
              <a:t>of SVR </a:t>
            </a:r>
            <a:r>
              <a:rPr lang="en-US" altLang="zh-TW" sz="2000" dirty="0">
                <a:latin typeface="Arial Rounded MT Bold" panose="020F0704030504030204" pitchFamily="34" charset="0"/>
              </a:rPr>
              <a:t>models and small computational time for the proposed method are confirmed through the case studies </a:t>
            </a:r>
            <a:r>
              <a:rPr lang="en-US" altLang="zh-TW" sz="2000" dirty="0" smtClean="0">
                <a:latin typeface="Arial Rounded MT Bold" panose="020F0704030504030204" pitchFamily="34" charset="0"/>
              </a:rPr>
              <a:t>using real </a:t>
            </a:r>
            <a:r>
              <a:rPr lang="en-US" altLang="zh-TW" sz="2000" dirty="0">
                <a:latin typeface="Arial Rounded MT Bold" panose="020F0704030504030204" pitchFamily="34" charset="0"/>
              </a:rPr>
              <a:t>data sets.</a:t>
            </a:r>
            <a:endParaRPr lang="zh-TW" altLang="en-US" sz="2000" dirty="0">
              <a:latin typeface="Arial Rounded MT Bold" panose="020F0704030504030204" pitchFamily="34" charset="0"/>
            </a:endParaRPr>
          </a:p>
        </p:txBody>
      </p:sp>
    </p:spTree>
    <p:extLst>
      <p:ext uri="{BB962C8B-B14F-4D97-AF65-F5344CB8AC3E}">
        <p14:creationId xmlns:p14="http://schemas.microsoft.com/office/powerpoint/2010/main" xmlns="" val="985360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7" name="圖片 6"/>
          <p:cNvPicPr>
            <a:picLocks noChangeAspect="1"/>
          </p:cNvPicPr>
          <p:nvPr/>
        </p:nvPicPr>
        <p:blipFill>
          <a:blip r:embed="rId2" cstate="print"/>
          <a:stretch>
            <a:fillRect/>
          </a:stretch>
        </p:blipFill>
        <p:spPr>
          <a:xfrm>
            <a:off x="4811945" y="2395905"/>
            <a:ext cx="4008870" cy="2320925"/>
          </a:xfrm>
          <a:prstGeom prst="rect">
            <a:avLst/>
          </a:prstGeom>
        </p:spPr>
      </p:pic>
      <p:pic>
        <p:nvPicPr>
          <p:cNvPr id="10" name="圖片 9"/>
          <p:cNvPicPr>
            <a:picLocks noChangeAspect="1"/>
          </p:cNvPicPr>
          <p:nvPr/>
        </p:nvPicPr>
        <p:blipFill>
          <a:blip r:embed="rId3" cstate="print"/>
          <a:stretch>
            <a:fillRect/>
          </a:stretch>
        </p:blipFill>
        <p:spPr>
          <a:xfrm>
            <a:off x="280684" y="3931641"/>
            <a:ext cx="4531261" cy="1416695"/>
          </a:xfrm>
          <a:prstGeom prst="rect">
            <a:avLst/>
          </a:prstGeom>
        </p:spPr>
      </p:pic>
      <p:grpSp>
        <p:nvGrpSpPr>
          <p:cNvPr id="6" name="群組 5"/>
          <p:cNvGrpSpPr/>
          <p:nvPr/>
        </p:nvGrpSpPr>
        <p:grpSpPr>
          <a:xfrm>
            <a:off x="478863" y="5534561"/>
            <a:ext cx="6033407" cy="1323439"/>
            <a:chOff x="454479" y="4829345"/>
            <a:chExt cx="6033407" cy="1323439"/>
          </a:xfrm>
        </p:grpSpPr>
        <p:sp>
          <p:nvSpPr>
            <p:cNvPr id="12" name="文字方塊 11"/>
            <p:cNvSpPr txBox="1"/>
            <p:nvPr/>
          </p:nvSpPr>
          <p:spPr>
            <a:xfrm>
              <a:off x="454479" y="4829345"/>
              <a:ext cx="6033407" cy="1323439"/>
            </a:xfrm>
            <a:prstGeom prst="rect">
              <a:avLst/>
            </a:prstGeom>
            <a:noFill/>
          </p:spPr>
          <p:txBody>
            <a:bodyPr wrap="square" rtlCol="0">
              <a:spAutoFit/>
            </a:bodyPr>
            <a:lstStyle/>
            <a:p>
              <a:r>
                <a:rPr lang="en-US" altLang="zh-TW" sz="2000" dirty="0" smtClean="0">
                  <a:latin typeface="+mj-ea"/>
                  <a:ea typeface="+mj-ea"/>
                </a:rPr>
                <a:t>x</a:t>
              </a:r>
              <a:r>
                <a:rPr lang="en-US" altLang="zh-TW" sz="2000" baseline="-25000" dirty="0" smtClean="0">
                  <a:latin typeface="+mj-ea"/>
                  <a:ea typeface="+mj-ea"/>
                </a:rPr>
                <a:t>i</a:t>
              </a:r>
              <a:r>
                <a:rPr lang="en-US" altLang="zh-TW" sz="2000" dirty="0" smtClean="0">
                  <a:latin typeface="+mj-ea"/>
                  <a:ea typeface="+mj-ea"/>
                </a:rPr>
                <a:t> </a:t>
              </a:r>
              <a:r>
                <a:rPr lang="zh-TW" altLang="en-US" sz="2000" dirty="0" smtClean="0">
                  <a:latin typeface="+mj-ea"/>
                  <a:ea typeface="+mj-ea"/>
                </a:rPr>
                <a:t>是輸入向量，</a:t>
              </a:r>
              <a:r>
                <a:rPr lang="en-US" altLang="zh-TW" sz="2000" dirty="0" err="1" smtClean="0">
                  <a:latin typeface="+mj-ea"/>
                  <a:ea typeface="+mj-ea"/>
                </a:rPr>
                <a:t>y</a:t>
              </a:r>
              <a:r>
                <a:rPr lang="en-US" altLang="zh-TW" sz="2000" baseline="-25000" dirty="0" err="1" smtClean="0">
                  <a:latin typeface="+mj-ea"/>
                  <a:ea typeface="+mj-ea"/>
                </a:rPr>
                <a:t>i</a:t>
              </a:r>
              <a:r>
                <a:rPr lang="en-US" altLang="zh-TW" sz="2000" baseline="-25000" dirty="0" smtClean="0">
                  <a:latin typeface="+mj-ea"/>
                  <a:ea typeface="+mj-ea"/>
                </a:rPr>
                <a:t> </a:t>
              </a:r>
              <a:r>
                <a:rPr lang="zh-TW" altLang="en-US" sz="2000" baseline="-25000" dirty="0" smtClean="0">
                  <a:latin typeface="+mj-ea"/>
                  <a:ea typeface="+mj-ea"/>
                </a:rPr>
                <a:t> </a:t>
              </a:r>
              <a:r>
                <a:rPr lang="zh-TW" altLang="en-US" sz="2000" dirty="0" smtClean="0">
                  <a:latin typeface="+mj-ea"/>
                  <a:ea typeface="+mj-ea"/>
                </a:rPr>
                <a:t>是實際目標值</a:t>
              </a:r>
              <a:endParaRPr lang="en-US" altLang="zh-TW" sz="2000" dirty="0" smtClean="0">
                <a:latin typeface="+mj-ea"/>
                <a:ea typeface="+mj-ea"/>
              </a:endParaRPr>
            </a:p>
            <a:p>
              <a:r>
                <a:rPr lang="en-US" altLang="zh-TW" sz="2000" dirty="0" smtClean="0"/>
                <a:t>                 </a:t>
              </a:r>
            </a:p>
            <a:p>
              <a:r>
                <a:rPr lang="en-US" altLang="zh-TW" sz="2000" dirty="0"/>
                <a:t>	</a:t>
              </a:r>
              <a:r>
                <a:rPr lang="zh-TW" altLang="en-US" sz="2000" dirty="0" smtClean="0"/>
                <a:t>               </a:t>
              </a:r>
              <a:r>
                <a:rPr lang="en-US" altLang="zh-TW" sz="2000" dirty="0" smtClean="0"/>
                <a:t> </a:t>
              </a:r>
              <a:r>
                <a:rPr lang="zh-TW" altLang="en-US" sz="2000" dirty="0"/>
                <a:t>是經驗誤差風險</a:t>
              </a:r>
              <a:r>
                <a:rPr lang="en-US" altLang="zh-TW" sz="2000" dirty="0"/>
                <a:t>(empirical </a:t>
              </a:r>
              <a:r>
                <a:rPr lang="en-US" altLang="zh-TW" sz="2000" dirty="0" smtClean="0"/>
                <a:t>error </a:t>
              </a:r>
              <a:r>
                <a:rPr lang="en-US" altLang="zh-TW" sz="2000" dirty="0"/>
                <a:t>risk) </a:t>
              </a:r>
              <a:endParaRPr lang="en-US" altLang="zh-TW" sz="2000" dirty="0" smtClean="0"/>
            </a:p>
            <a:p>
              <a:endParaRPr lang="en-US" altLang="zh-TW" sz="2000" dirty="0"/>
            </a:p>
          </p:txBody>
        </p:sp>
        <p:pic>
          <p:nvPicPr>
            <p:cNvPr id="15" name="圖片 14"/>
            <p:cNvPicPr>
              <a:picLocks noChangeAspect="1"/>
            </p:cNvPicPr>
            <p:nvPr/>
          </p:nvPicPr>
          <p:blipFill>
            <a:blip r:embed="rId4" cstate="print"/>
            <a:stretch>
              <a:fillRect/>
            </a:stretch>
          </p:blipFill>
          <p:spPr>
            <a:xfrm>
              <a:off x="454479" y="5337176"/>
              <a:ext cx="1695450" cy="619125"/>
            </a:xfrm>
            <a:prstGeom prst="rect">
              <a:avLst/>
            </a:prstGeom>
          </p:spPr>
        </p:pic>
      </p:grpSp>
      <p:grpSp>
        <p:nvGrpSpPr>
          <p:cNvPr id="5" name="群組 4"/>
          <p:cNvGrpSpPr/>
          <p:nvPr/>
        </p:nvGrpSpPr>
        <p:grpSpPr>
          <a:xfrm>
            <a:off x="478863" y="2623109"/>
            <a:ext cx="2493612" cy="800701"/>
            <a:chOff x="454479" y="1619592"/>
            <a:chExt cx="2493612" cy="800701"/>
          </a:xfrm>
        </p:grpSpPr>
        <p:pic>
          <p:nvPicPr>
            <p:cNvPr id="13" name="圖片 12"/>
            <p:cNvPicPr>
              <a:picLocks noChangeAspect="1"/>
            </p:cNvPicPr>
            <p:nvPr/>
          </p:nvPicPr>
          <p:blipFill>
            <a:blip r:embed="rId5" cstate="print"/>
            <a:stretch>
              <a:fillRect/>
            </a:stretch>
          </p:blipFill>
          <p:spPr>
            <a:xfrm>
              <a:off x="454479" y="1619592"/>
              <a:ext cx="2493612" cy="800701"/>
            </a:xfrm>
            <a:prstGeom prst="rect">
              <a:avLst/>
            </a:prstGeom>
          </p:spPr>
        </p:pic>
        <p:cxnSp>
          <p:nvCxnSpPr>
            <p:cNvPr id="4" name="直線接點 3"/>
            <p:cNvCxnSpPr/>
            <p:nvPr/>
          </p:nvCxnSpPr>
          <p:spPr>
            <a:xfrm flipV="1">
              <a:off x="1231392" y="1926336"/>
              <a:ext cx="195072" cy="12192"/>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文字方塊 7"/>
          <p:cNvSpPr txBox="1"/>
          <p:nvPr/>
        </p:nvSpPr>
        <p:spPr>
          <a:xfrm>
            <a:off x="280684" y="1533939"/>
            <a:ext cx="7887956" cy="923330"/>
          </a:xfrm>
          <a:prstGeom prst="rect">
            <a:avLst/>
          </a:prstGeom>
          <a:noFill/>
        </p:spPr>
        <p:txBody>
          <a:bodyPr wrap="square" rtlCol="0">
            <a:spAutoFit/>
          </a:bodyPr>
          <a:lstStyle/>
          <a:p>
            <a:r>
              <a:rPr lang="en-US" altLang="zh-TW" b="1" dirty="0">
                <a:latin typeface="Arial Rounded MT Bold" panose="020F0704030504030204" pitchFamily="34" charset="0"/>
              </a:rPr>
              <a:t>Support Vector </a:t>
            </a:r>
            <a:r>
              <a:rPr lang="en-US" altLang="zh-TW" b="1" dirty="0" smtClean="0">
                <a:latin typeface="Arial Rounded MT Bold" panose="020F0704030504030204" pitchFamily="34" charset="0"/>
              </a:rPr>
              <a:t>Regression</a:t>
            </a:r>
            <a:r>
              <a:rPr lang="zh-TW" altLang="en-US" b="1" dirty="0" smtClean="0">
                <a:latin typeface="Arial Rounded MT Bold" panose="020F0704030504030204" pitchFamily="34" charset="0"/>
              </a:rPr>
              <a:t> </a:t>
            </a:r>
            <a:r>
              <a:rPr lang="zh-TW" altLang="en-US" dirty="0" smtClean="0"/>
              <a:t>是</a:t>
            </a:r>
            <a:r>
              <a:rPr lang="zh-TW" altLang="en-US" dirty="0"/>
              <a:t>結構誤差</a:t>
            </a:r>
            <a:r>
              <a:rPr lang="zh-TW" altLang="en-US" dirty="0" smtClean="0"/>
              <a:t>風險最小化原則，</a:t>
            </a:r>
            <a:r>
              <a:rPr lang="zh-TW" altLang="en-US" dirty="0"/>
              <a:t>兼具經驗誤差風險和信賴區間雙方</a:t>
            </a:r>
            <a:r>
              <a:rPr lang="zh-TW" altLang="en-US" dirty="0" smtClean="0"/>
              <a:t>影響，而不是單方面求經驗誤差最小化</a:t>
            </a:r>
            <a:endParaRPr lang="zh-TW" altLang="en-US" baseline="-25000" dirty="0"/>
          </a:p>
          <a:p>
            <a:endParaRPr lang="zh-TW" altLang="en-US" dirty="0"/>
          </a:p>
        </p:txBody>
      </p:sp>
    </p:spTree>
    <p:extLst>
      <p:ext uri="{BB962C8B-B14F-4D97-AF65-F5344CB8AC3E}">
        <p14:creationId xmlns:p14="http://schemas.microsoft.com/office/powerpoint/2010/main" xmlns="" val="39227610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11" name="圖片 10"/>
          <p:cNvPicPr>
            <a:picLocks noChangeAspect="1"/>
          </p:cNvPicPr>
          <p:nvPr/>
        </p:nvPicPr>
        <p:blipFill>
          <a:blip r:embed="rId3" cstate="print"/>
          <a:stretch>
            <a:fillRect/>
          </a:stretch>
        </p:blipFill>
        <p:spPr>
          <a:xfrm>
            <a:off x="4833696" y="6112783"/>
            <a:ext cx="3360964" cy="464604"/>
          </a:xfrm>
          <a:prstGeom prst="rect">
            <a:avLst/>
          </a:prstGeom>
        </p:spPr>
      </p:pic>
      <p:pic>
        <p:nvPicPr>
          <p:cNvPr id="12" name="圖片 11"/>
          <p:cNvPicPr>
            <a:picLocks noChangeAspect="1"/>
          </p:cNvPicPr>
          <p:nvPr/>
        </p:nvPicPr>
        <p:blipFill>
          <a:blip r:embed="rId4" cstate="print"/>
          <a:stretch>
            <a:fillRect/>
          </a:stretch>
        </p:blipFill>
        <p:spPr>
          <a:xfrm>
            <a:off x="3980199" y="4019888"/>
            <a:ext cx="4007768" cy="1795028"/>
          </a:xfrm>
          <a:prstGeom prst="rect">
            <a:avLst/>
          </a:prstGeom>
        </p:spPr>
      </p:pic>
      <p:sp>
        <p:nvSpPr>
          <p:cNvPr id="3" name="向下箭號 2"/>
          <p:cNvSpPr/>
          <p:nvPr/>
        </p:nvSpPr>
        <p:spPr>
          <a:xfrm rot="19800831">
            <a:off x="3645532" y="3515548"/>
            <a:ext cx="669335" cy="852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p:cNvPicPr>
            <a:picLocks noChangeAspect="1"/>
          </p:cNvPicPr>
          <p:nvPr/>
        </p:nvPicPr>
        <p:blipFill>
          <a:blip r:embed="rId5" cstate="print"/>
          <a:stretch>
            <a:fillRect/>
          </a:stretch>
        </p:blipFill>
        <p:spPr>
          <a:xfrm>
            <a:off x="730689" y="1479944"/>
            <a:ext cx="3429000" cy="2009775"/>
          </a:xfrm>
          <a:prstGeom prst="rect">
            <a:avLst/>
          </a:prstGeom>
        </p:spPr>
      </p:pic>
      <p:sp>
        <p:nvSpPr>
          <p:cNvPr id="9" name="文字方塊 8"/>
          <p:cNvSpPr txBox="1"/>
          <p:nvPr/>
        </p:nvSpPr>
        <p:spPr>
          <a:xfrm>
            <a:off x="4261728" y="3305053"/>
            <a:ext cx="2946400" cy="369332"/>
          </a:xfrm>
          <a:prstGeom prst="rect">
            <a:avLst/>
          </a:prstGeom>
          <a:noFill/>
        </p:spPr>
        <p:txBody>
          <a:bodyPr wrap="square" rtlCol="0">
            <a:spAutoFit/>
          </a:bodyPr>
          <a:lstStyle/>
          <a:p>
            <a:r>
              <a:rPr lang="zh-TW" altLang="en-US" dirty="0"/>
              <a:t>利用 </a:t>
            </a:r>
            <a:r>
              <a:rPr lang="en-US" altLang="zh-TW" dirty="0"/>
              <a:t>Lagrange multiplier</a:t>
            </a:r>
            <a:endParaRPr lang="zh-TW" altLang="en-US" dirty="0"/>
          </a:p>
        </p:txBody>
      </p:sp>
    </p:spTree>
    <p:extLst>
      <p:ext uri="{BB962C8B-B14F-4D97-AF65-F5344CB8AC3E}">
        <p14:creationId xmlns:p14="http://schemas.microsoft.com/office/powerpoint/2010/main" xmlns="" val="41135273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cstate="print"/>
          <a:stretch>
            <a:fillRect/>
          </a:stretch>
        </p:blipFill>
        <p:spPr>
          <a:xfrm>
            <a:off x="493486" y="5298886"/>
            <a:ext cx="7886700" cy="1376138"/>
          </a:xfrm>
          <a:prstGeom prst="rect">
            <a:avLst/>
          </a:prstGeom>
        </p:spPr>
      </p:pic>
      <p:pic>
        <p:nvPicPr>
          <p:cNvPr id="4" name="圖片 3"/>
          <p:cNvPicPr>
            <a:picLocks noChangeAspect="1"/>
          </p:cNvPicPr>
          <p:nvPr/>
        </p:nvPicPr>
        <p:blipFill>
          <a:blip r:embed="rId4" cstate="print"/>
          <a:stretch>
            <a:fillRect/>
          </a:stretch>
        </p:blipFill>
        <p:spPr>
          <a:xfrm>
            <a:off x="5425912" y="2026246"/>
            <a:ext cx="2686050" cy="1809750"/>
          </a:xfrm>
          <a:prstGeom prst="rect">
            <a:avLst/>
          </a:prstGeom>
        </p:spPr>
      </p:pic>
      <p:pic>
        <p:nvPicPr>
          <p:cNvPr id="11" name="圖片 10"/>
          <p:cNvPicPr>
            <a:picLocks noChangeAspect="1"/>
          </p:cNvPicPr>
          <p:nvPr/>
        </p:nvPicPr>
        <p:blipFill>
          <a:blip r:embed="rId5" cstate="print"/>
          <a:stretch>
            <a:fillRect/>
          </a:stretch>
        </p:blipFill>
        <p:spPr>
          <a:xfrm>
            <a:off x="1143454" y="3718252"/>
            <a:ext cx="3360964" cy="464604"/>
          </a:xfrm>
          <a:prstGeom prst="rect">
            <a:avLst/>
          </a:prstGeom>
        </p:spPr>
      </p:pic>
      <p:pic>
        <p:nvPicPr>
          <p:cNvPr id="12" name="圖片 11"/>
          <p:cNvPicPr>
            <a:picLocks noChangeAspect="1"/>
          </p:cNvPicPr>
          <p:nvPr/>
        </p:nvPicPr>
        <p:blipFill>
          <a:blip r:embed="rId6" cstate="print"/>
          <a:stretch>
            <a:fillRect/>
          </a:stretch>
        </p:blipFill>
        <p:spPr>
          <a:xfrm>
            <a:off x="382577" y="1656885"/>
            <a:ext cx="4007768" cy="1795028"/>
          </a:xfrm>
          <a:prstGeom prst="rect">
            <a:avLst/>
          </a:prstGeom>
        </p:spPr>
      </p:pic>
      <p:sp>
        <p:nvSpPr>
          <p:cNvPr id="3" name="向下箭號 2"/>
          <p:cNvSpPr/>
          <p:nvPr/>
        </p:nvSpPr>
        <p:spPr>
          <a:xfrm>
            <a:off x="4390345" y="4317452"/>
            <a:ext cx="669335" cy="852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p:cNvSpPr txBox="1"/>
          <p:nvPr/>
        </p:nvSpPr>
        <p:spPr>
          <a:xfrm>
            <a:off x="6961632" y="4985226"/>
            <a:ext cx="1759930" cy="369332"/>
          </a:xfrm>
          <a:prstGeom prst="rect">
            <a:avLst/>
          </a:prstGeom>
          <a:noFill/>
        </p:spPr>
        <p:txBody>
          <a:bodyPr wrap="square" rtlCol="0">
            <a:spAutoFit/>
          </a:bodyPr>
          <a:lstStyle/>
          <a:p>
            <a:r>
              <a:rPr lang="zh-TW" altLang="en-US" dirty="0"/>
              <a:t>對偶最大化</a:t>
            </a:r>
          </a:p>
        </p:txBody>
      </p:sp>
    </p:spTree>
    <p:extLst>
      <p:ext uri="{BB962C8B-B14F-4D97-AF65-F5344CB8AC3E}">
        <p14:creationId xmlns:p14="http://schemas.microsoft.com/office/powerpoint/2010/main" xmlns="" val="16008897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a:latin typeface="Arial Rounded MT Bold" panose="020F0704030504030204" pitchFamily="34" charset="0"/>
              </a:rPr>
              <a:t>Support </a:t>
            </a:r>
            <a:r>
              <a:rPr lang="en-US" altLang="zh-TW" sz="3200" b="1" dirty="0" smtClean="0">
                <a:latin typeface="Arial Rounded MT Bold" panose="020F0704030504030204" pitchFamily="34" charset="0"/>
              </a:rPr>
              <a:t>vector regression </a:t>
            </a:r>
            <a:r>
              <a:rPr lang="en-US" altLang="zh-TW" sz="2000" b="1" dirty="0" smtClean="0">
                <a:latin typeface="Arial Rounded MT Bold" panose="020F0704030504030204" pitchFamily="34" charset="0"/>
              </a:rPr>
              <a:t>(kernel function)</a:t>
            </a:r>
            <a:endParaRPr lang="zh-TW" altLang="en-US" sz="2400" b="1" dirty="0">
              <a:latin typeface="Arial Rounded MT Bold" panose="020F0704030504030204" pitchFamily="34" charset="0"/>
            </a:endParaRPr>
          </a:p>
        </p:txBody>
      </p:sp>
      <p:grpSp>
        <p:nvGrpSpPr>
          <p:cNvPr id="4" name="群組 3"/>
          <p:cNvGrpSpPr/>
          <p:nvPr/>
        </p:nvGrpSpPr>
        <p:grpSpPr>
          <a:xfrm>
            <a:off x="679440" y="4106339"/>
            <a:ext cx="5526866" cy="1796815"/>
            <a:chOff x="628650" y="3204131"/>
            <a:chExt cx="5526866" cy="1796815"/>
          </a:xfrm>
        </p:grpSpPr>
        <p:sp>
          <p:nvSpPr>
            <p:cNvPr id="11" name="Rectangle 2"/>
            <p:cNvSpPr>
              <a:spLocks noChangeArrowheads="1"/>
            </p:cNvSpPr>
            <p:nvPr/>
          </p:nvSpPr>
          <p:spPr bwMode="auto">
            <a:xfrm>
              <a:off x="655292" y="3677507"/>
              <a:ext cx="5500224" cy="13234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linear: u'*v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polynomial: (gamma*u'*v + coef0)^degree</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radial basis function: exp(-gamma*|u-v|^2)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sigmoid: tanh(gamma*u'*v + coef0)</a:t>
              </a:r>
              <a:r>
                <a:rPr kumimoji="0" lang="zh-TW" altLang="zh-TW" sz="1600" b="0" i="0" u="none" strike="noStrike" cap="none" normalizeH="0" baseline="0" dirty="0" smtClean="0">
                  <a:ln>
                    <a:noFill/>
                  </a:ln>
                  <a:solidFill>
                    <a:schemeClr val="tx1"/>
                  </a:solidFill>
                  <a:effectLst/>
                </a:rPr>
                <a:t> </a:t>
              </a:r>
              <a:endParaRPr kumimoji="0" lang="zh-TW" altLang="zh-TW" sz="4400" b="0" i="0" u="none" strike="noStrike" cap="none" normalizeH="0" baseline="0" dirty="0" smtClean="0">
                <a:ln>
                  <a:noFill/>
                </a:ln>
                <a:solidFill>
                  <a:schemeClr val="tx1"/>
                </a:solidFill>
                <a:effectLst/>
                <a:latin typeface="Arial" panose="020B0604020202020204" pitchFamily="34" charset="0"/>
              </a:endParaRPr>
            </a:p>
          </p:txBody>
        </p:sp>
        <p:sp>
          <p:nvSpPr>
            <p:cNvPr id="12" name="文字方塊 11"/>
            <p:cNvSpPr txBox="1"/>
            <p:nvPr/>
          </p:nvSpPr>
          <p:spPr>
            <a:xfrm>
              <a:off x="628650" y="3204131"/>
              <a:ext cx="2593521" cy="369332"/>
            </a:xfrm>
            <a:prstGeom prst="rect">
              <a:avLst/>
            </a:prstGeom>
            <a:noFill/>
          </p:spPr>
          <p:txBody>
            <a:bodyPr wrap="square" rtlCol="0">
              <a:spAutoFit/>
            </a:bodyPr>
            <a:lstStyle/>
            <a:p>
              <a:r>
                <a:rPr lang="en-US" altLang="zh-TW" b="1" dirty="0">
                  <a:latin typeface="Arial Rounded MT Bold" panose="020F0704030504030204" pitchFamily="34" charset="0"/>
                </a:rPr>
                <a:t>kernel function</a:t>
              </a:r>
              <a:endParaRPr lang="zh-TW" altLang="en-US" dirty="0"/>
            </a:p>
          </p:txBody>
        </p:sp>
      </p:grpSp>
      <p:grpSp>
        <p:nvGrpSpPr>
          <p:cNvPr id="5" name="群組 4"/>
          <p:cNvGrpSpPr/>
          <p:nvPr/>
        </p:nvGrpSpPr>
        <p:grpSpPr>
          <a:xfrm>
            <a:off x="628650" y="1289044"/>
            <a:ext cx="7671484" cy="2258236"/>
            <a:chOff x="416379" y="933233"/>
            <a:chExt cx="7671484" cy="2258236"/>
          </a:xfrm>
        </p:grpSpPr>
        <p:pic>
          <p:nvPicPr>
            <p:cNvPr id="6" name="圖片 5"/>
            <p:cNvPicPr>
              <a:picLocks noChangeAspect="1"/>
            </p:cNvPicPr>
            <p:nvPr/>
          </p:nvPicPr>
          <p:blipFill>
            <a:blip r:embed="rId2" cstate="print"/>
            <a:stretch>
              <a:fillRect/>
            </a:stretch>
          </p:blipFill>
          <p:spPr>
            <a:xfrm>
              <a:off x="416379" y="1997129"/>
              <a:ext cx="3545785" cy="812347"/>
            </a:xfrm>
            <a:prstGeom prst="rect">
              <a:avLst/>
            </a:prstGeom>
          </p:spPr>
        </p:pic>
        <p:pic>
          <p:nvPicPr>
            <p:cNvPr id="8" name="圖片 7"/>
            <p:cNvPicPr>
              <a:picLocks noChangeAspect="1"/>
            </p:cNvPicPr>
            <p:nvPr/>
          </p:nvPicPr>
          <p:blipFill>
            <a:blip r:embed="rId3" cstate="print"/>
            <a:stretch>
              <a:fillRect/>
            </a:stretch>
          </p:blipFill>
          <p:spPr>
            <a:xfrm>
              <a:off x="4702629" y="1997129"/>
              <a:ext cx="3385234" cy="776313"/>
            </a:xfrm>
            <a:prstGeom prst="rect">
              <a:avLst/>
            </a:prstGeom>
          </p:spPr>
        </p:pic>
        <p:sp>
          <p:nvSpPr>
            <p:cNvPr id="9" name="向右箭號 8"/>
            <p:cNvSpPr/>
            <p:nvPr/>
          </p:nvSpPr>
          <p:spPr>
            <a:xfrm>
              <a:off x="3860965" y="2308266"/>
              <a:ext cx="841664" cy="140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單箭頭接點 9"/>
            <p:cNvCxnSpPr/>
            <p:nvPr/>
          </p:nvCxnSpPr>
          <p:spPr>
            <a:xfrm>
              <a:off x="1966246" y="1846482"/>
              <a:ext cx="223025" cy="345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66607" y="933233"/>
              <a:ext cx="7270595" cy="923330"/>
            </a:xfrm>
            <a:prstGeom prst="rect">
              <a:avLst/>
            </a:prstGeom>
            <a:noFill/>
          </p:spPr>
          <p:txBody>
            <a:bodyPr wrap="square" rtlCol="0">
              <a:spAutoFit/>
            </a:bodyPr>
            <a:lstStyle/>
            <a:p>
              <a:r>
                <a:rPr lang="zh-TW" altLang="en-US" dirty="0" smtClean="0"/>
                <a:t>根據</a:t>
              </a:r>
              <a:r>
                <a:rPr lang="en-US" altLang="zh-TW" dirty="0" err="1" smtClean="0"/>
                <a:t>Karush</a:t>
              </a:r>
              <a:r>
                <a:rPr lang="en-US" altLang="zh-TW" dirty="0" smtClean="0"/>
                <a:t>-Kuhn-Tucker(KKT)</a:t>
              </a:r>
              <a:r>
                <a:rPr lang="zh-TW" altLang="en-US" dirty="0" smtClean="0"/>
                <a:t> </a:t>
              </a:r>
              <a:r>
                <a:rPr lang="en-US" altLang="zh-TW" dirty="0" smtClean="0"/>
                <a:t>conditions </a:t>
              </a:r>
              <a:r>
                <a:rPr lang="zh-TW" altLang="en-US" dirty="0" smtClean="0"/>
                <a:t>解</a:t>
              </a:r>
              <a:r>
                <a:rPr lang="en-US" altLang="zh-TW" dirty="0" smtClean="0"/>
                <a:t>b</a:t>
              </a:r>
            </a:p>
            <a:p>
              <a:r>
                <a:rPr lang="zh-TW" altLang="en-US" dirty="0"/>
                <a:t>可發現計算 </a:t>
              </a:r>
              <a:r>
                <a:rPr lang="en-US" altLang="zh-TW" dirty="0"/>
                <a:t>f(x) </a:t>
              </a:r>
              <a:r>
                <a:rPr lang="zh-TW" altLang="en-US" dirty="0"/>
                <a:t>的複雜度和 </a:t>
              </a:r>
              <a:r>
                <a:rPr lang="en-US" altLang="zh-TW" dirty="0"/>
                <a:t>x </a:t>
              </a:r>
              <a:r>
                <a:rPr lang="zh-TW" altLang="en-US" dirty="0"/>
                <a:t>的維度 </a:t>
              </a:r>
              <a:r>
                <a:rPr lang="zh-TW" altLang="en-US" dirty="0" smtClean="0"/>
                <a:t>無關，</a:t>
              </a:r>
              <a:r>
                <a:rPr lang="en-US" altLang="zh-TW" dirty="0" smtClean="0"/>
                <a:t>Support </a:t>
              </a:r>
              <a:r>
                <a:rPr lang="en-US" altLang="zh-TW" dirty="0"/>
                <a:t>Vector (</a:t>
              </a:r>
              <a:r>
                <a:rPr lang="el-GR" altLang="zh-TW" dirty="0"/>
                <a:t>α</a:t>
              </a:r>
              <a:r>
                <a:rPr lang="en-US" altLang="zh-TW" baseline="-25000" dirty="0" err="1"/>
                <a:t>i</a:t>
              </a:r>
              <a:r>
                <a:rPr lang="en-US" altLang="zh-TW" dirty="0"/>
                <a:t> − </a:t>
              </a:r>
              <a:r>
                <a:rPr lang="el-GR" altLang="zh-TW" dirty="0"/>
                <a:t>α</a:t>
              </a:r>
              <a:r>
                <a:rPr lang="en-US" altLang="zh-TW" baseline="-25000" dirty="0" err="1"/>
                <a:t>i</a:t>
              </a:r>
              <a:r>
                <a:rPr lang="en-US" altLang="zh-TW" baseline="30000" dirty="0"/>
                <a:t>∗</a:t>
              </a:r>
              <a:r>
                <a:rPr lang="en-US" altLang="zh-TW" dirty="0"/>
                <a:t> </a:t>
              </a:r>
              <a:r>
                <a:rPr lang="zh-TW" altLang="en-US" dirty="0"/>
                <a:t>不為零的 </a:t>
              </a:r>
              <a:r>
                <a:rPr lang="en-US" altLang="zh-TW" dirty="0"/>
                <a:t>instances) </a:t>
              </a:r>
              <a:r>
                <a:rPr lang="zh-TW" altLang="en-US" dirty="0"/>
                <a:t>的個數有關</a:t>
              </a:r>
            </a:p>
          </p:txBody>
        </p:sp>
        <p:sp>
          <p:nvSpPr>
            <p:cNvPr id="3" name="文字方塊 2"/>
            <p:cNvSpPr txBox="1"/>
            <p:nvPr/>
          </p:nvSpPr>
          <p:spPr>
            <a:xfrm>
              <a:off x="655292" y="2822137"/>
              <a:ext cx="5879220" cy="369332"/>
            </a:xfrm>
            <a:prstGeom prst="rect">
              <a:avLst/>
            </a:prstGeom>
            <a:noFill/>
          </p:spPr>
          <p:txBody>
            <a:bodyPr wrap="square" rtlCol="0">
              <a:spAutoFit/>
            </a:bodyPr>
            <a:lstStyle/>
            <a:p>
              <a:r>
                <a:rPr lang="zh-TW" altLang="en-US" dirty="0" smtClean="0"/>
                <a:t>將線性系統 轉成 非線性系統</a:t>
              </a:r>
              <a:endParaRPr lang="zh-TW" altLang="en-US" dirty="0"/>
            </a:p>
          </p:txBody>
        </p:sp>
      </p:grpSp>
    </p:spTree>
    <p:extLst>
      <p:ext uri="{BB962C8B-B14F-4D97-AF65-F5344CB8AC3E}">
        <p14:creationId xmlns:p14="http://schemas.microsoft.com/office/powerpoint/2010/main" xmlns="" val="4854764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Introduction(GS)</a:t>
            </a:r>
            <a:endParaRPr lang="zh-TW" altLang="en-US" sz="40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cstate="print"/>
          <a:stretch>
            <a:fillRect/>
          </a:stretch>
        </p:blipFill>
        <p:spPr>
          <a:xfrm>
            <a:off x="546821" y="2356066"/>
            <a:ext cx="7572375" cy="1066800"/>
          </a:xfrm>
          <a:prstGeom prst="rect">
            <a:avLst/>
          </a:prstGeom>
        </p:spPr>
      </p:pic>
      <p:sp>
        <p:nvSpPr>
          <p:cNvPr id="3" name="文字方塊 2"/>
          <p:cNvSpPr txBox="1"/>
          <p:nvPr/>
        </p:nvSpPr>
        <p:spPr>
          <a:xfrm>
            <a:off x="716973" y="1783932"/>
            <a:ext cx="4229100" cy="369332"/>
          </a:xfrm>
          <a:prstGeom prst="rect">
            <a:avLst/>
          </a:prstGeom>
          <a:noFill/>
        </p:spPr>
        <p:txBody>
          <a:bodyPr wrap="square" rtlCol="0">
            <a:spAutoFit/>
          </a:bodyPr>
          <a:lstStyle/>
          <a:p>
            <a:r>
              <a:rPr lang="en-US" altLang="zh-TW" dirty="0">
                <a:latin typeface="Arial Rounded MT Bold" panose="020F0704030504030204" pitchFamily="34" charset="0"/>
              </a:rPr>
              <a:t>G</a:t>
            </a:r>
            <a:r>
              <a:rPr lang="en-US" altLang="zh-TW" dirty="0" smtClean="0">
                <a:latin typeface="Arial Rounded MT Bold" panose="020F0704030504030204" pitchFamily="34" charset="0"/>
              </a:rPr>
              <a:t>rid </a:t>
            </a:r>
            <a:r>
              <a:rPr lang="en-US" altLang="zh-TW" dirty="0">
                <a:latin typeface="Arial Rounded MT Bold" panose="020F0704030504030204" pitchFamily="34" charset="0"/>
              </a:rPr>
              <a:t>search</a:t>
            </a: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xmlns="" val="518473447"/>
              </p:ext>
            </p:extLst>
          </p:nvPr>
        </p:nvGraphicFramePr>
        <p:xfrm>
          <a:off x="1149927" y="3722483"/>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3131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a:t>
                      </a:r>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6">
                        <a:lumMod val="40000"/>
                        <a:lumOff val="60000"/>
                      </a:schemeClr>
                    </a:solidFill>
                  </a:tcPr>
                </a:tc>
                <a:tc>
                  <a:txBody>
                    <a:bodyPr/>
                    <a:lstStyle/>
                    <a:p>
                      <a:r>
                        <a:rPr lang="en-US" altLang="zh-TW" dirty="0" smtClean="0"/>
                        <a:t>2</a:t>
                      </a:r>
                      <a:r>
                        <a:rPr lang="en-US" altLang="zh-TW" baseline="30000" dirty="0" smtClean="0"/>
                        <a:t>-5</a:t>
                      </a:r>
                      <a:endParaRPr lang="zh-TW" altLang="en-US" baseline="30000" dirty="0"/>
                    </a:p>
                  </a:txBody>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xmlns="" val="4231842532"/>
              </p:ext>
            </p:extLst>
          </p:nvPr>
        </p:nvGraphicFramePr>
        <p:xfrm>
          <a:off x="1149927" y="437955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0">
                <a:tc>
                  <a:txBody>
                    <a:bodyPr/>
                    <a:lstStyle/>
                    <a:p>
                      <a:r>
                        <a:rPr lang="el-GR" altLang="zh-TW" dirty="0" smtClean="0"/>
                        <a:t>ε</a:t>
                      </a:r>
                      <a:endParaRPr lang="en-US" altLang="zh-TW" dirty="0" smtClean="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6">
                        <a:lumMod val="40000"/>
                        <a:lumOff val="60000"/>
                      </a:schemeClr>
                    </a:solidFill>
                  </a:tcPr>
                </a:tc>
                <a:tc>
                  <a:txBody>
                    <a:bodyPr/>
                    <a:lstStyle/>
                    <a:p>
                      <a:r>
                        <a:rPr lang="en-US" altLang="zh-TW" dirty="0" smtClean="0"/>
                        <a:t>2</a:t>
                      </a:r>
                      <a:r>
                        <a:rPr lang="en-US" altLang="zh-TW" baseline="30000" dirty="0" smtClean="0"/>
                        <a:t>-5</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xmlns="" val="3117149179"/>
              </p:ext>
            </p:extLst>
          </p:nvPr>
        </p:nvGraphicFramePr>
        <p:xfrm>
          <a:off x="1149927" y="509570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246378">
                <a:tc>
                  <a:txBody>
                    <a:bodyPr/>
                    <a:lstStyle/>
                    <a:p>
                      <a:r>
                        <a:rPr lang="el-GR" altLang="zh-TW" dirty="0" smtClean="0"/>
                        <a:t>γ</a:t>
                      </a:r>
                      <a:endParaRPr lang="zh-TW" altLang="en-US" dirty="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6">
                        <a:lumMod val="40000"/>
                        <a:lumOff val="60000"/>
                      </a:schemeClr>
                    </a:solidFill>
                  </a:tcPr>
                </a:tc>
                <a:tc>
                  <a:txBody>
                    <a:bodyPr/>
                    <a:lstStyle/>
                    <a:p>
                      <a:r>
                        <a:rPr lang="en-US" altLang="zh-TW" dirty="0" smtClean="0"/>
                        <a:t>2</a:t>
                      </a:r>
                      <a:r>
                        <a:rPr lang="en-US" altLang="zh-TW" baseline="30000" dirty="0" smtClean="0"/>
                        <a:t>-5</a:t>
                      </a:r>
                      <a:endParaRPr lang="zh-TW" altLang="en-US" baseline="30000" dirty="0"/>
                    </a:p>
                  </a:txBody>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spTree>
    <p:extLst>
      <p:ext uri="{BB962C8B-B14F-4D97-AF65-F5344CB8AC3E}">
        <p14:creationId xmlns:p14="http://schemas.microsoft.com/office/powerpoint/2010/main" xmlns="" val="441043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Introduction(GS)</a:t>
            </a:r>
            <a:endParaRPr lang="zh-TW" altLang="en-US" sz="40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cstate="print"/>
          <a:stretch>
            <a:fillRect/>
          </a:stretch>
        </p:blipFill>
        <p:spPr>
          <a:xfrm>
            <a:off x="546821" y="2356066"/>
            <a:ext cx="7572375" cy="1066800"/>
          </a:xfrm>
          <a:prstGeom prst="rect">
            <a:avLst/>
          </a:prstGeom>
        </p:spPr>
      </p:pic>
      <p:sp>
        <p:nvSpPr>
          <p:cNvPr id="3" name="文字方塊 2"/>
          <p:cNvSpPr txBox="1"/>
          <p:nvPr/>
        </p:nvSpPr>
        <p:spPr>
          <a:xfrm>
            <a:off x="716973" y="1783932"/>
            <a:ext cx="4229100" cy="369332"/>
          </a:xfrm>
          <a:prstGeom prst="rect">
            <a:avLst/>
          </a:prstGeom>
          <a:noFill/>
        </p:spPr>
        <p:txBody>
          <a:bodyPr wrap="square" rtlCol="0">
            <a:spAutoFit/>
          </a:bodyPr>
          <a:lstStyle/>
          <a:p>
            <a:r>
              <a:rPr lang="en-US" altLang="zh-TW" dirty="0">
                <a:latin typeface="Arial Rounded MT Bold" panose="020F0704030504030204" pitchFamily="34" charset="0"/>
              </a:rPr>
              <a:t>G</a:t>
            </a:r>
            <a:r>
              <a:rPr lang="en-US" altLang="zh-TW" dirty="0" smtClean="0">
                <a:latin typeface="Arial Rounded MT Bold" panose="020F0704030504030204" pitchFamily="34" charset="0"/>
              </a:rPr>
              <a:t>rid </a:t>
            </a:r>
            <a:r>
              <a:rPr lang="en-US" altLang="zh-TW" dirty="0">
                <a:latin typeface="Arial Rounded MT Bold" panose="020F0704030504030204" pitchFamily="34" charset="0"/>
              </a:rPr>
              <a:t>search</a:t>
            </a:r>
            <a:endParaRPr lang="zh-TW" altLang="en-US" dirty="0"/>
          </a:p>
        </p:txBody>
      </p:sp>
      <p:graphicFrame>
        <p:nvGraphicFramePr>
          <p:cNvPr id="6" name="表格 5"/>
          <p:cNvGraphicFramePr>
            <a:graphicFrameLocks noGrp="1"/>
          </p:cNvGraphicFramePr>
          <p:nvPr/>
        </p:nvGraphicFramePr>
        <p:xfrm>
          <a:off x="1149927" y="3722483"/>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3131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a:t>
                      </a:r>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6">
                        <a:lumMod val="40000"/>
                        <a:lumOff val="60000"/>
                      </a:schemeClr>
                    </a:solidFill>
                  </a:tcPr>
                </a:tc>
                <a:tc>
                  <a:txBody>
                    <a:bodyPr/>
                    <a:lstStyle/>
                    <a:p>
                      <a:r>
                        <a:rPr lang="en-US" altLang="zh-TW" dirty="0" smtClean="0"/>
                        <a:t>2</a:t>
                      </a:r>
                      <a:r>
                        <a:rPr lang="en-US" altLang="zh-TW" baseline="30000" dirty="0" smtClean="0"/>
                        <a:t>-5</a:t>
                      </a:r>
                      <a:endParaRPr lang="zh-TW" altLang="en-US" baseline="30000" dirty="0"/>
                    </a:p>
                  </a:txBody>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xmlns="" val="3539087662"/>
              </p:ext>
            </p:extLst>
          </p:nvPr>
        </p:nvGraphicFramePr>
        <p:xfrm>
          <a:off x="1149927" y="437955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0">
                <a:tc>
                  <a:txBody>
                    <a:bodyPr/>
                    <a:lstStyle/>
                    <a:p>
                      <a:r>
                        <a:rPr lang="el-GR" altLang="zh-TW" dirty="0" smtClean="0"/>
                        <a:t>ε</a:t>
                      </a:r>
                      <a:endParaRPr lang="en-US" altLang="zh-TW" dirty="0" smtClean="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-5</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0</a:t>
                      </a:r>
                      <a:endParaRPr lang="zh-TW" altLang="en-US" baseline="30000" dirty="0"/>
                    </a:p>
                  </a:txBody>
                  <a:tcPr>
                    <a:solidFill>
                      <a:schemeClr val="accent6">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xmlns="" val="3008651625"/>
              </p:ext>
            </p:extLst>
          </p:nvPr>
        </p:nvGraphicFramePr>
        <p:xfrm>
          <a:off x="1149927" y="509570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246378">
                <a:tc>
                  <a:txBody>
                    <a:bodyPr/>
                    <a:lstStyle/>
                    <a:p>
                      <a:r>
                        <a:rPr lang="el-GR" altLang="zh-TW" dirty="0" smtClean="0"/>
                        <a:t>γ</a:t>
                      </a:r>
                      <a:endParaRPr lang="zh-TW" altLang="en-US" dirty="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-5</a:t>
                      </a:r>
                      <a:endParaRPr lang="zh-TW" altLang="en-US" baseline="30000" dirty="0"/>
                    </a:p>
                  </a:txBody>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solidFill>
                      <a:schemeClr val="accent6">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tc>
              </a:tr>
            </a:tbl>
          </a:graphicData>
        </a:graphic>
      </p:graphicFrame>
    </p:spTree>
    <p:extLst>
      <p:ext uri="{BB962C8B-B14F-4D97-AF65-F5344CB8AC3E}">
        <p14:creationId xmlns:p14="http://schemas.microsoft.com/office/powerpoint/2010/main" xmlns="" val="2088518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Introduction(GS)</a:t>
            </a:r>
            <a:endParaRPr lang="zh-TW" altLang="en-US" sz="40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cstate="print"/>
          <a:stretch>
            <a:fillRect/>
          </a:stretch>
        </p:blipFill>
        <p:spPr>
          <a:xfrm>
            <a:off x="546821" y="2356066"/>
            <a:ext cx="7572375" cy="1066800"/>
          </a:xfrm>
          <a:prstGeom prst="rect">
            <a:avLst/>
          </a:prstGeom>
        </p:spPr>
      </p:pic>
      <p:sp>
        <p:nvSpPr>
          <p:cNvPr id="3" name="文字方塊 2"/>
          <p:cNvSpPr txBox="1"/>
          <p:nvPr/>
        </p:nvSpPr>
        <p:spPr>
          <a:xfrm>
            <a:off x="716973" y="1783932"/>
            <a:ext cx="4229100" cy="369332"/>
          </a:xfrm>
          <a:prstGeom prst="rect">
            <a:avLst/>
          </a:prstGeom>
          <a:noFill/>
        </p:spPr>
        <p:txBody>
          <a:bodyPr wrap="square" rtlCol="0">
            <a:spAutoFit/>
          </a:bodyPr>
          <a:lstStyle/>
          <a:p>
            <a:r>
              <a:rPr lang="en-US" altLang="zh-TW" dirty="0">
                <a:latin typeface="Arial Rounded MT Bold" panose="020F0704030504030204" pitchFamily="34" charset="0"/>
              </a:rPr>
              <a:t>G</a:t>
            </a:r>
            <a:r>
              <a:rPr lang="en-US" altLang="zh-TW" dirty="0" smtClean="0">
                <a:latin typeface="Arial Rounded MT Bold" panose="020F0704030504030204" pitchFamily="34" charset="0"/>
              </a:rPr>
              <a:t>rid </a:t>
            </a:r>
            <a:r>
              <a:rPr lang="en-US" altLang="zh-TW" dirty="0">
                <a:latin typeface="Arial Rounded MT Bold" panose="020F0704030504030204" pitchFamily="34" charset="0"/>
              </a:rPr>
              <a:t>search</a:t>
            </a: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xmlns="" val="2621904535"/>
              </p:ext>
            </p:extLst>
          </p:nvPr>
        </p:nvGraphicFramePr>
        <p:xfrm>
          <a:off x="1149927" y="3722483"/>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3131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a:t>
                      </a:r>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-5</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solidFill>
                      <a:schemeClr val="accent6">
                        <a:lumMod val="40000"/>
                        <a:lumOff val="60000"/>
                      </a:schemeClr>
                    </a:solidFill>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xmlns="" val="538842974"/>
              </p:ext>
            </p:extLst>
          </p:nvPr>
        </p:nvGraphicFramePr>
        <p:xfrm>
          <a:off x="1149927" y="437955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0">
                <a:tc>
                  <a:txBody>
                    <a:bodyPr/>
                    <a:lstStyle/>
                    <a:p>
                      <a:r>
                        <a:rPr lang="el-GR" altLang="zh-TW" dirty="0" smtClean="0"/>
                        <a:t>ε</a:t>
                      </a:r>
                      <a:endParaRPr lang="en-US" altLang="zh-TW" dirty="0" smtClean="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-5</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0</a:t>
                      </a:r>
                      <a:endParaRPr lang="zh-TW" altLang="en-US" baseline="30000" dirty="0"/>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solidFill>
                      <a:schemeClr val="accent6">
                        <a:lumMod val="40000"/>
                        <a:lumOff val="60000"/>
                      </a:schemeClr>
                    </a:solidFill>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xmlns="" val="719450670"/>
              </p:ext>
            </p:extLst>
          </p:nvPr>
        </p:nvGraphicFramePr>
        <p:xfrm>
          <a:off x="1149927" y="5095702"/>
          <a:ext cx="6096000" cy="36576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246378">
                <a:tc>
                  <a:txBody>
                    <a:bodyPr/>
                    <a:lstStyle/>
                    <a:p>
                      <a:r>
                        <a:rPr lang="el-GR" altLang="zh-TW" dirty="0" smtClean="0"/>
                        <a:t>γ</a:t>
                      </a:r>
                      <a:endParaRPr lang="zh-TW" altLang="en-US" dirty="0"/>
                    </a:p>
                  </a:txBody>
                  <a:tcPr/>
                </a:tc>
                <a:tc>
                  <a:txBody>
                    <a:bodyPr/>
                    <a:lstStyle/>
                    <a:p>
                      <a:r>
                        <a:rPr lang="en-US" altLang="zh-TW" dirty="0" smtClean="0"/>
                        <a:t>2</a:t>
                      </a:r>
                      <a:r>
                        <a:rPr lang="en-US" altLang="zh-TW" baseline="30000" dirty="0" smtClean="0"/>
                        <a:t>-10</a:t>
                      </a:r>
                      <a:endParaRPr lang="zh-TW" altLang="en-US" baseline="30000" dirty="0"/>
                    </a:p>
                  </a:txBody>
                  <a:tcPr>
                    <a:solidFill>
                      <a:schemeClr val="accent1"/>
                    </a:solidFill>
                  </a:tcPr>
                </a:tc>
                <a:tc>
                  <a:txBody>
                    <a:bodyPr/>
                    <a:lstStyle/>
                    <a:p>
                      <a:r>
                        <a:rPr lang="en-US" altLang="zh-TW" dirty="0" smtClean="0"/>
                        <a:t>2</a:t>
                      </a:r>
                      <a:r>
                        <a:rPr lang="en-US" altLang="zh-TW" baseline="30000" dirty="0" smtClean="0"/>
                        <a:t>-5</a:t>
                      </a:r>
                      <a:endParaRPr lang="zh-TW" altLang="en-US" baseline="30000" dirty="0"/>
                    </a:p>
                  </a:txBody>
                  <a:tcPr/>
                </a:tc>
                <a:tc>
                  <a:txBody>
                    <a:bodyPr/>
                    <a:lstStyle/>
                    <a:p>
                      <a:r>
                        <a:rPr lang="en-US" altLang="zh-TW" dirty="0" smtClean="0"/>
                        <a:t>2</a:t>
                      </a:r>
                      <a:r>
                        <a:rPr lang="en-US" altLang="zh-TW" baseline="30000" dirty="0" smtClean="0"/>
                        <a:t>0</a:t>
                      </a:r>
                      <a:endParaRPr lang="zh-TW" altLang="en-US" baseline="30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5</a:t>
                      </a:r>
                      <a:endParaRPr lang="zh-TW" altLang="en-US" baseline="30000" dirty="0" smtClean="0"/>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en-US" altLang="zh-TW" baseline="30000" dirty="0" smtClean="0"/>
                        <a:t>10</a:t>
                      </a:r>
                      <a:endParaRPr lang="zh-TW" altLang="en-US" baseline="30000" dirty="0" smtClean="0"/>
                    </a:p>
                  </a:txBody>
                  <a:tcPr>
                    <a:solidFill>
                      <a:schemeClr val="accent6">
                        <a:lumMod val="40000"/>
                        <a:lumOff val="60000"/>
                      </a:schemeClr>
                    </a:solidFill>
                  </a:tcPr>
                </a:tc>
              </a:tr>
            </a:tbl>
          </a:graphicData>
        </a:graphic>
      </p:graphicFrame>
      <p:sp>
        <p:nvSpPr>
          <p:cNvPr id="5" name="文字方塊 4"/>
          <p:cNvSpPr txBox="1"/>
          <p:nvPr/>
        </p:nvSpPr>
        <p:spPr>
          <a:xfrm>
            <a:off x="1423555" y="5808518"/>
            <a:ext cx="6141027" cy="369332"/>
          </a:xfrm>
          <a:prstGeom prst="rect">
            <a:avLst/>
          </a:prstGeom>
          <a:noFill/>
        </p:spPr>
        <p:txBody>
          <a:bodyPr wrap="square" rtlCol="0">
            <a:spAutoFit/>
          </a:bodyPr>
          <a:lstStyle/>
          <a:p>
            <a:pPr algn="ctr"/>
            <a:r>
              <a:rPr lang="en-US" altLang="zh-TW" dirty="0" smtClean="0"/>
              <a:t>Total : 26*16*31=12896</a:t>
            </a:r>
            <a:endParaRPr lang="zh-TW" altLang="en-US" dirty="0"/>
          </a:p>
        </p:txBody>
      </p:sp>
    </p:spTree>
    <p:extLst>
      <p:ext uri="{BB962C8B-B14F-4D97-AF65-F5344CB8AC3E}">
        <p14:creationId xmlns:p14="http://schemas.microsoft.com/office/powerpoint/2010/main" xmlns="" val="1275145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Introduction(CV)</a:t>
            </a:r>
            <a:endParaRPr lang="zh-TW" altLang="en-US" sz="4000" dirty="0">
              <a:latin typeface="Arial Rounded MT Bold" panose="020F0704030504030204" pitchFamily="34" charset="0"/>
            </a:endParaRPr>
          </a:p>
        </p:txBody>
      </p:sp>
      <p:sp>
        <p:nvSpPr>
          <p:cNvPr id="3" name="內容版面配置區 2"/>
          <p:cNvSpPr>
            <a:spLocks noGrp="1"/>
          </p:cNvSpPr>
          <p:nvPr>
            <p:ph idx="1"/>
          </p:nvPr>
        </p:nvSpPr>
        <p:spPr>
          <a:xfrm>
            <a:off x="628650" y="1825625"/>
            <a:ext cx="7886700" cy="605848"/>
          </a:xfrm>
        </p:spPr>
        <p:txBody>
          <a:bodyPr>
            <a:normAutofit fontScale="92500" lnSpcReduction="20000"/>
          </a:bodyPr>
          <a:lstStyle/>
          <a:p>
            <a:pPr marL="0" indent="0">
              <a:buNone/>
            </a:pPr>
            <a:r>
              <a:rPr lang="en-US" altLang="zh-TW" sz="1800" b="1" dirty="0" smtClean="0"/>
              <a:t>Cross validation:</a:t>
            </a:r>
          </a:p>
          <a:p>
            <a:pPr marL="0" indent="0">
              <a:buNone/>
            </a:pPr>
            <a:r>
              <a:rPr lang="en-US" altLang="zh-TW" sz="1800" b="1" dirty="0" smtClean="0"/>
              <a:t>     </a:t>
            </a:r>
            <a:r>
              <a:rPr lang="en-US" altLang="zh-TW" sz="1800" dirty="0" smtClean="0"/>
              <a:t>Evaluating the predictive ability  of SVR model</a:t>
            </a:r>
            <a:endParaRPr lang="zh-TW" altLang="en-US" sz="1800" dirty="0"/>
          </a:p>
        </p:txBody>
      </p:sp>
      <p:graphicFrame>
        <p:nvGraphicFramePr>
          <p:cNvPr id="4" name="表格 3"/>
          <p:cNvGraphicFramePr>
            <a:graphicFrameLocks noGrp="1"/>
          </p:cNvGraphicFramePr>
          <p:nvPr>
            <p:extLst>
              <p:ext uri="{D42A27DB-BD31-4B8C-83A1-F6EECF244321}">
                <p14:modId xmlns:p14="http://schemas.microsoft.com/office/powerpoint/2010/main" xmlns="" val="4035336681"/>
              </p:ext>
            </p:extLst>
          </p:nvPr>
        </p:nvGraphicFramePr>
        <p:xfrm>
          <a:off x="1295401" y="2587191"/>
          <a:ext cx="6096000" cy="365760"/>
        </p:xfrm>
        <a:graphic>
          <a:graphicData uri="http://schemas.openxmlformats.org/drawingml/2006/table">
            <a:tbl>
              <a:tblPr firstRow="1" bandRow="1">
                <a:tableStyleId>{5C22544A-7EE6-4342-B048-85BDC9FD1C3A}</a:tableStyleId>
              </a:tblPr>
              <a:tblGrid>
                <a:gridCol w="1016000"/>
                <a:gridCol w="5080000"/>
              </a:tblGrid>
              <a:tr h="313113">
                <a:tc>
                  <a:txBody>
                    <a:bodyPr/>
                    <a:lstStyle/>
                    <a:p>
                      <a:endParaRPr lang="zh-TW" altLang="en-US" dirty="0"/>
                    </a:p>
                  </a:txBody>
                  <a:tcPr>
                    <a:solidFill>
                      <a:schemeClr val="accent4">
                        <a:lumMod val="60000"/>
                        <a:lumOff val="40000"/>
                      </a:schemeClr>
                    </a:solidFill>
                  </a:tcPr>
                </a:tc>
                <a:tc>
                  <a:txBody>
                    <a:bodyPr/>
                    <a:lstStyle/>
                    <a:p>
                      <a:endParaRPr lang="zh-TW" altLang="en-US" dirty="0"/>
                    </a:p>
                  </a:txBody>
                  <a:tcPr>
                    <a:solidFill>
                      <a:schemeClr val="accent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xmlns="" val="1189170831"/>
              </p:ext>
            </p:extLst>
          </p:nvPr>
        </p:nvGraphicFramePr>
        <p:xfrm>
          <a:off x="1295401" y="3244260"/>
          <a:ext cx="6096000" cy="365760"/>
        </p:xfrm>
        <a:graphic>
          <a:graphicData uri="http://schemas.openxmlformats.org/drawingml/2006/table">
            <a:tbl>
              <a:tblPr firstRow="1" bandRow="1">
                <a:tableStyleId>{5C22544A-7EE6-4342-B048-85BDC9FD1C3A}</a:tableStyleId>
              </a:tblPr>
              <a:tblGrid>
                <a:gridCol w="1016000"/>
                <a:gridCol w="1016000"/>
                <a:gridCol w="4064000"/>
              </a:tblGrid>
              <a:tr h="0">
                <a:tc>
                  <a:txBody>
                    <a:bodyPr/>
                    <a:lstStyle/>
                    <a:p>
                      <a:endParaRPr lang="zh-TW" altLang="en-US" dirty="0"/>
                    </a:p>
                  </a:txBody>
                  <a:tcPr/>
                </a:tc>
                <a:tc>
                  <a:txBody>
                    <a:bodyPr/>
                    <a:lstStyle/>
                    <a:p>
                      <a:endParaRPr lang="zh-TW" altLang="en-US" dirty="0"/>
                    </a:p>
                  </a:txBody>
                  <a:tcPr>
                    <a:solidFill>
                      <a:schemeClr val="accent4">
                        <a:lumMod val="60000"/>
                        <a:lumOff val="40000"/>
                      </a:schemeClr>
                    </a:solidFill>
                  </a:tcPr>
                </a:tc>
                <a:tc>
                  <a:txBody>
                    <a:bodyPr/>
                    <a:lstStyle/>
                    <a:p>
                      <a:endParaRPr lang="zh-TW" altLang="en-US" dirty="0"/>
                    </a:p>
                  </a:txBody>
                  <a:tcPr>
                    <a:solidFill>
                      <a:schemeClr val="accent1"/>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xmlns="" val="1383170981"/>
              </p:ext>
            </p:extLst>
          </p:nvPr>
        </p:nvGraphicFramePr>
        <p:xfrm>
          <a:off x="1295401" y="3960410"/>
          <a:ext cx="6096000" cy="365760"/>
        </p:xfrm>
        <a:graphic>
          <a:graphicData uri="http://schemas.openxmlformats.org/drawingml/2006/table">
            <a:tbl>
              <a:tblPr firstRow="1" bandRow="1">
                <a:tableStyleId>{5C22544A-7EE6-4342-B048-85BDC9FD1C3A}</a:tableStyleId>
              </a:tblPr>
              <a:tblGrid>
                <a:gridCol w="2032000"/>
                <a:gridCol w="1016000"/>
                <a:gridCol w="3048000"/>
              </a:tblGrid>
              <a:tr h="246378">
                <a:tc>
                  <a:txBody>
                    <a:bodyPr/>
                    <a:lstStyle/>
                    <a:p>
                      <a:endParaRPr lang="zh-TW" altLang="en-US" dirty="0"/>
                    </a:p>
                  </a:txBody>
                  <a:tcPr/>
                </a:tc>
                <a:tc>
                  <a:txBody>
                    <a:bodyPr/>
                    <a:lstStyle/>
                    <a:p>
                      <a:endParaRPr lang="zh-TW" altLang="en-US" dirty="0"/>
                    </a:p>
                  </a:txBody>
                  <a:tcPr>
                    <a:solidFill>
                      <a:schemeClr val="accent4">
                        <a:lumMod val="60000"/>
                        <a:lumOff val="40000"/>
                      </a:schemeClr>
                    </a:solidFill>
                  </a:tcPr>
                </a:tc>
                <a:tc>
                  <a:txBody>
                    <a:bodyPr/>
                    <a:lstStyle/>
                    <a:p>
                      <a:endParaRPr lang="zh-TW" altLang="en-US" dirty="0"/>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xmlns="" val="541059876"/>
              </p:ext>
            </p:extLst>
          </p:nvPr>
        </p:nvGraphicFramePr>
        <p:xfrm>
          <a:off x="1312720" y="4599564"/>
          <a:ext cx="6096000" cy="365760"/>
        </p:xfrm>
        <a:graphic>
          <a:graphicData uri="http://schemas.openxmlformats.org/drawingml/2006/table">
            <a:tbl>
              <a:tblPr firstRow="1" bandRow="1">
                <a:tableStyleId>{5C22544A-7EE6-4342-B048-85BDC9FD1C3A}</a:tableStyleId>
              </a:tblPr>
              <a:tblGrid>
                <a:gridCol w="3048000"/>
                <a:gridCol w="1016000"/>
                <a:gridCol w="2032000"/>
              </a:tblGrid>
              <a:tr h="313113">
                <a:tc>
                  <a:txBody>
                    <a:bodyPr/>
                    <a:lstStyle/>
                    <a:p>
                      <a:endParaRPr lang="zh-TW" altLang="en-US" dirty="0"/>
                    </a:p>
                  </a:txBody>
                  <a:tcPr/>
                </a:tc>
                <a:tc>
                  <a:txBody>
                    <a:bodyPr/>
                    <a:lstStyle/>
                    <a:p>
                      <a:endParaRPr lang="zh-TW" altLang="en-US" dirty="0"/>
                    </a:p>
                  </a:txBody>
                  <a:tcPr>
                    <a:solidFill>
                      <a:schemeClr val="accent4">
                        <a:lumMod val="60000"/>
                        <a:lumOff val="40000"/>
                      </a:schemeClr>
                    </a:solidFill>
                  </a:tcPr>
                </a:tc>
                <a:tc>
                  <a:txBody>
                    <a:bodyPr/>
                    <a:lstStyle/>
                    <a:p>
                      <a:endParaRPr lang="zh-TW" altLang="en-US" dirty="0"/>
                    </a:p>
                  </a:txBody>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xmlns="" val="565730174"/>
              </p:ext>
            </p:extLst>
          </p:nvPr>
        </p:nvGraphicFramePr>
        <p:xfrm>
          <a:off x="1319647" y="5219555"/>
          <a:ext cx="6096000" cy="365760"/>
        </p:xfrm>
        <a:graphic>
          <a:graphicData uri="http://schemas.openxmlformats.org/drawingml/2006/table">
            <a:tbl>
              <a:tblPr firstRow="1" bandRow="1">
                <a:tableStyleId>{5C22544A-7EE6-4342-B048-85BDC9FD1C3A}</a:tableStyleId>
              </a:tblPr>
              <a:tblGrid>
                <a:gridCol w="4064000"/>
                <a:gridCol w="1016000"/>
                <a:gridCol w="1016000"/>
              </a:tblGrid>
              <a:tr h="313113">
                <a:tc>
                  <a:txBody>
                    <a:bodyPr/>
                    <a:lstStyle/>
                    <a:p>
                      <a:endParaRPr lang="zh-TW" altLang="en-US" dirty="0"/>
                    </a:p>
                  </a:txBody>
                  <a:tcPr/>
                </a:tc>
                <a:tc>
                  <a:txBody>
                    <a:bodyPr/>
                    <a:lstStyle/>
                    <a:p>
                      <a:endParaRPr lang="zh-TW" altLang="en-US" dirty="0"/>
                    </a:p>
                  </a:txBody>
                  <a:tcPr>
                    <a:solidFill>
                      <a:schemeClr val="accent4">
                        <a:lumMod val="60000"/>
                        <a:lumOff val="40000"/>
                      </a:schemeClr>
                    </a:solidFill>
                  </a:tcPr>
                </a:tc>
                <a:tc>
                  <a:txBody>
                    <a:bodyPr/>
                    <a:lstStyle/>
                    <a:p>
                      <a:endParaRPr lang="zh-TW" altLang="en-US" dirty="0"/>
                    </a:p>
                  </a:txBody>
                  <a:tcPr>
                    <a:solidFill>
                      <a:schemeClr val="accent1"/>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xmlns="" val="884929048"/>
              </p:ext>
            </p:extLst>
          </p:nvPr>
        </p:nvGraphicFramePr>
        <p:xfrm>
          <a:off x="1330039" y="5770273"/>
          <a:ext cx="6096000" cy="365760"/>
        </p:xfrm>
        <a:graphic>
          <a:graphicData uri="http://schemas.openxmlformats.org/drawingml/2006/table">
            <a:tbl>
              <a:tblPr firstRow="1" bandRow="1">
                <a:tableStyleId>{5C22544A-7EE6-4342-B048-85BDC9FD1C3A}</a:tableStyleId>
              </a:tblPr>
              <a:tblGrid>
                <a:gridCol w="5080000"/>
                <a:gridCol w="1016000"/>
              </a:tblGrid>
              <a:tr h="313113">
                <a:tc>
                  <a:txBody>
                    <a:bodyPr/>
                    <a:lstStyle/>
                    <a:p>
                      <a:endParaRPr lang="zh-TW" altLang="en-US" dirty="0"/>
                    </a:p>
                  </a:txBody>
                  <a:tcPr/>
                </a:tc>
                <a:tc>
                  <a:txBody>
                    <a:bodyPr/>
                    <a:lstStyle/>
                    <a:p>
                      <a:endParaRPr lang="zh-TW" altLang="en-US" dirty="0"/>
                    </a:p>
                  </a:txBody>
                  <a:tcPr>
                    <a:solidFill>
                      <a:schemeClr val="accent4">
                        <a:lumMod val="60000"/>
                        <a:lumOff val="40000"/>
                      </a:schemeClr>
                    </a:solidFill>
                  </a:tcPr>
                </a:tc>
              </a:tr>
            </a:tbl>
          </a:graphicData>
        </a:graphic>
      </p:graphicFrame>
      <p:sp>
        <p:nvSpPr>
          <p:cNvPr id="11" name="文字方塊 10"/>
          <p:cNvSpPr txBox="1"/>
          <p:nvPr/>
        </p:nvSpPr>
        <p:spPr>
          <a:xfrm>
            <a:off x="5777345" y="1825625"/>
            <a:ext cx="1984664" cy="646331"/>
          </a:xfrm>
          <a:prstGeom prst="rect">
            <a:avLst/>
          </a:prstGeom>
          <a:noFill/>
        </p:spPr>
        <p:txBody>
          <a:bodyPr wrap="square" rtlCol="0">
            <a:spAutoFit/>
          </a:bodyPr>
          <a:lstStyle/>
          <a:p>
            <a:r>
              <a:rPr lang="en-US" altLang="zh-TW" dirty="0" smtClean="0"/>
              <a:t>Blue : training data  Yellow : test data</a:t>
            </a:r>
            <a:endParaRPr lang="zh-TW" altLang="en-US" dirty="0"/>
          </a:p>
        </p:txBody>
      </p:sp>
    </p:spTree>
    <p:extLst>
      <p:ext uri="{BB962C8B-B14F-4D97-AF65-F5344CB8AC3E}">
        <p14:creationId xmlns:p14="http://schemas.microsoft.com/office/powerpoint/2010/main" xmlns="" val="40406450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a:t>
            </a:r>
            <a:r>
              <a:rPr lang="en-US" altLang="zh-TW" sz="4000" dirty="0" err="1" smtClean="0">
                <a:latin typeface="Arial Rounded MT Bold" panose="020F0704030504030204" pitchFamily="34" charset="0"/>
              </a:rPr>
              <a:t>ThD</a:t>
            </a:r>
            <a:r>
              <a:rPr lang="en-US" altLang="zh-TW" sz="4000" dirty="0" smtClean="0">
                <a:latin typeface="Arial Rounded MT Bold" panose="020F0704030504030204" pitchFamily="34" charset="0"/>
              </a:rPr>
              <a:t>)</a:t>
            </a:r>
            <a:endParaRPr lang="zh-TW" altLang="en-US" sz="4000" dirty="0">
              <a:latin typeface="Arial Rounded MT Bold" panose="020F0704030504030204" pitchFamily="34" charset="0"/>
            </a:endParaRPr>
          </a:p>
        </p:txBody>
      </p:sp>
      <p:sp>
        <p:nvSpPr>
          <p:cNvPr id="3" name="文字方塊 2"/>
          <p:cNvSpPr txBox="1"/>
          <p:nvPr/>
        </p:nvSpPr>
        <p:spPr>
          <a:xfrm>
            <a:off x="280987" y="6368761"/>
            <a:ext cx="8541327" cy="276999"/>
          </a:xfrm>
          <a:prstGeom prst="rect">
            <a:avLst/>
          </a:prstGeom>
          <a:noFill/>
        </p:spPr>
        <p:txBody>
          <a:bodyPr wrap="square" rtlCol="0">
            <a:spAutoFit/>
          </a:bodyPr>
          <a:lstStyle/>
          <a:p>
            <a:r>
              <a:rPr lang="en-US" altLang="zh-TW" sz="1200" dirty="0"/>
              <a:t>V. </a:t>
            </a:r>
            <a:r>
              <a:rPr lang="en-US" altLang="zh-TW" sz="1200" dirty="0" err="1"/>
              <a:t>Cherkassky</a:t>
            </a:r>
            <a:r>
              <a:rPr lang="en-US" altLang="zh-TW" sz="1200" dirty="0"/>
              <a:t>, </a:t>
            </a:r>
            <a:r>
              <a:rPr lang="en-US" altLang="zh-TW" sz="1200" dirty="0" err="1"/>
              <a:t>Y.Ma</a:t>
            </a:r>
            <a:r>
              <a:rPr lang="en-US" altLang="zh-TW" sz="1200" dirty="0"/>
              <a:t>, Practical selection of </a:t>
            </a:r>
            <a:r>
              <a:rPr lang="en-US" altLang="zh-TW" sz="1200" dirty="0" smtClean="0"/>
              <a:t>SVM parameters </a:t>
            </a:r>
            <a:r>
              <a:rPr lang="en-US" altLang="zh-TW" sz="1200" dirty="0"/>
              <a:t>and noise estimation </a:t>
            </a:r>
            <a:r>
              <a:rPr lang="en-US" altLang="zh-TW" sz="1200" dirty="0" smtClean="0"/>
              <a:t>for </a:t>
            </a:r>
            <a:r>
              <a:rPr lang="fr-FR" altLang="zh-TW" sz="1200" dirty="0" smtClean="0"/>
              <a:t>SVM </a:t>
            </a:r>
            <a:r>
              <a:rPr lang="fr-FR" altLang="zh-TW" sz="1200" dirty="0"/>
              <a:t>regression, Neural Netw. 17 (2004) </a:t>
            </a:r>
            <a:r>
              <a:rPr lang="fr-FR" altLang="zh-TW" sz="1200" dirty="0" smtClean="0"/>
              <a:t>113–126</a:t>
            </a:r>
            <a:endParaRPr lang="zh-TW" altLang="en-US" sz="1200" dirty="0"/>
          </a:p>
        </p:txBody>
      </p:sp>
      <p:sp>
        <p:nvSpPr>
          <p:cNvPr id="8" name="文字方塊 7"/>
          <p:cNvSpPr txBox="1"/>
          <p:nvPr/>
        </p:nvSpPr>
        <p:spPr>
          <a:xfrm>
            <a:off x="628650" y="1579555"/>
            <a:ext cx="6057900" cy="369332"/>
          </a:xfrm>
          <a:prstGeom prst="rect">
            <a:avLst/>
          </a:prstGeom>
          <a:noFill/>
        </p:spPr>
        <p:txBody>
          <a:bodyPr wrap="square" rtlCol="0">
            <a:spAutoFit/>
          </a:bodyPr>
          <a:lstStyle/>
          <a:p>
            <a:r>
              <a:rPr lang="en-US" altLang="zh-TW" dirty="0" smtClean="0"/>
              <a:t>Analytical selection C directly from the training data</a:t>
            </a:r>
            <a:endParaRPr lang="zh-TW" altLang="en-US" dirty="0"/>
          </a:p>
        </p:txBody>
      </p:sp>
      <p:sp>
        <p:nvSpPr>
          <p:cNvPr id="9" name="文字方塊 8"/>
          <p:cNvSpPr txBox="1"/>
          <p:nvPr/>
        </p:nvSpPr>
        <p:spPr>
          <a:xfrm>
            <a:off x="628649" y="2171178"/>
            <a:ext cx="4031673" cy="400110"/>
          </a:xfrm>
          <a:prstGeom prst="rect">
            <a:avLst/>
          </a:prstGeom>
          <a:noFill/>
        </p:spPr>
        <p:txBody>
          <a:bodyPr wrap="square" rtlCol="0">
            <a:spAutoFit/>
          </a:bodyPr>
          <a:lstStyle/>
          <a:p>
            <a:r>
              <a:rPr lang="en-US" altLang="zh-TW" sz="2000" dirty="0" smtClean="0"/>
              <a:t>C = max(|m</a:t>
            </a:r>
            <a:r>
              <a:rPr lang="en-US" altLang="zh-TW" sz="2000" baseline="-25000" dirty="0" smtClean="0"/>
              <a:t>y </a:t>
            </a:r>
            <a:r>
              <a:rPr lang="en-US" altLang="zh-TW" sz="2000" dirty="0" smtClean="0"/>
              <a:t>+ 3S</a:t>
            </a:r>
            <a:r>
              <a:rPr lang="en-US" altLang="zh-TW" sz="2000" baseline="-25000" dirty="0" smtClean="0"/>
              <a:t>y</a:t>
            </a:r>
            <a:r>
              <a:rPr lang="en-US" altLang="zh-TW" sz="2000" dirty="0" smtClean="0"/>
              <a:t>|,|</a:t>
            </a:r>
            <a:r>
              <a:rPr lang="en-US" altLang="zh-TW" sz="2000" dirty="0"/>
              <a:t> m</a:t>
            </a:r>
            <a:r>
              <a:rPr lang="en-US" altLang="zh-TW" sz="2000" baseline="-25000" dirty="0"/>
              <a:t>y </a:t>
            </a:r>
            <a:r>
              <a:rPr lang="en-US" altLang="zh-TW" sz="2000" baseline="-25000" dirty="0" smtClean="0"/>
              <a:t> </a:t>
            </a:r>
            <a:r>
              <a:rPr lang="en-US" altLang="zh-TW" sz="2000" dirty="0" smtClean="0"/>
              <a:t>- 3S</a:t>
            </a:r>
            <a:r>
              <a:rPr lang="en-US" altLang="zh-TW" sz="2000" baseline="-25000" dirty="0" smtClean="0"/>
              <a:t>y </a:t>
            </a:r>
            <a:r>
              <a:rPr lang="en-US" altLang="zh-TW" sz="2000" dirty="0" smtClean="0"/>
              <a:t>|)</a:t>
            </a:r>
            <a:endParaRPr lang="zh-TW" altLang="en-US" sz="2000" dirty="0"/>
          </a:p>
        </p:txBody>
      </p:sp>
      <mc:AlternateContent xmlns:mc="http://schemas.openxmlformats.org/markup-compatibility/2006">
        <mc:Choice xmlns:a14="http://schemas.microsoft.com/office/drawing/2010/main" xmlns="" Requires="a14">
          <p:sp>
            <p:nvSpPr>
              <p:cNvPr id="10" name="文字方塊 9"/>
              <p:cNvSpPr txBox="1"/>
              <p:nvPr/>
            </p:nvSpPr>
            <p:spPr>
              <a:xfrm>
                <a:off x="628648" y="3347575"/>
                <a:ext cx="4031673" cy="843885"/>
              </a:xfrm>
              <a:prstGeom prst="rect">
                <a:avLst/>
              </a:prstGeom>
              <a:noFill/>
            </p:spPr>
            <p:txBody>
              <a:bodyPr wrap="square" rtlCol="0">
                <a:spAutoFit/>
              </a:bodyPr>
              <a:lstStyle/>
              <a:p>
                <a:r>
                  <a:rPr lang="el-GR" altLang="zh-TW" sz="2400" dirty="0" smtClean="0"/>
                  <a:t>ε</a:t>
                </a:r>
                <a:r>
                  <a:rPr lang="en-US" altLang="zh-TW" sz="2400" dirty="0" smtClean="0"/>
                  <a:t> = 3</a:t>
                </a:r>
                <a:r>
                  <a:rPr lang="el-GR" altLang="zh-TW" sz="2400" dirty="0" smtClean="0"/>
                  <a:t>σ</a:t>
                </a:r>
                <a14:m>
                  <m:oMath xmlns:m="http://schemas.openxmlformats.org/officeDocument/2006/math">
                    <m:rad>
                      <m:radPr>
                        <m:degHide m:val="on"/>
                        <m:ctrlPr>
                          <a:rPr lang="el-GR" altLang="zh-TW" sz="2400" i="1" smtClean="0">
                            <a:latin typeface="Cambria Math" panose="02040503050406030204" pitchFamily="18" charset="0"/>
                            <a:ea typeface="Cambria Math" panose="02040503050406030204" pitchFamily="18" charset="0"/>
                          </a:rPr>
                        </m:ctrlPr>
                      </m:radPr>
                      <m:deg/>
                      <m:e>
                        <m:f>
                          <m:fPr>
                            <m:ctrlPr>
                              <a:rPr lang="en-US" altLang="zh-TW" sz="2400" b="0" i="1" smtClean="0">
                                <a:latin typeface="Cambria Math" panose="02040503050406030204" pitchFamily="18" charset="0"/>
                                <a:ea typeface="Cambria Math" panose="02040503050406030204" pitchFamily="18" charset="0"/>
                              </a:rPr>
                            </m:ctrlPr>
                          </m:fPr>
                          <m:num>
                            <m:func>
                              <m:funcPr>
                                <m:ctrlPr>
                                  <a:rPr lang="en-US" altLang="zh-TW" sz="2400" b="0" i="1" smtClean="0">
                                    <a:latin typeface="Cambria Math" panose="02040503050406030204" pitchFamily="18" charset="0"/>
                                    <a:ea typeface="Cambria Math" panose="02040503050406030204" pitchFamily="18" charset="0"/>
                                  </a:rPr>
                                </m:ctrlPr>
                              </m:funcPr>
                              <m:fName>
                                <m:r>
                                  <m:rPr>
                                    <m:sty m:val="p"/>
                                  </m:rPr>
                                  <a:rPr lang="en-US" altLang="zh-TW" sz="2400" b="0" i="0" smtClean="0">
                                    <a:latin typeface="Cambria Math" panose="02040503050406030204" pitchFamily="18" charset="0"/>
                                    <a:ea typeface="Cambria Math" panose="02040503050406030204" pitchFamily="18" charset="0"/>
                                  </a:rPr>
                                  <m:t>ln</m:t>
                                </m:r>
                              </m:fName>
                              <m:e>
                                <m:r>
                                  <a:rPr lang="en-US" altLang="zh-TW" sz="2400" b="0" i="1" smtClean="0">
                                    <a:latin typeface="Cambria Math" panose="02040503050406030204" pitchFamily="18" charset="0"/>
                                    <a:ea typeface="Cambria Math" panose="02040503050406030204" pitchFamily="18" charset="0"/>
                                  </a:rPr>
                                  <m:t>𝑛</m:t>
                                </m:r>
                              </m:e>
                            </m:func>
                          </m:num>
                          <m:den>
                            <m:r>
                              <a:rPr lang="en-US" altLang="zh-TW" sz="2400" b="0" i="1" smtClean="0">
                                <a:latin typeface="Cambria Math" panose="02040503050406030204" pitchFamily="18" charset="0"/>
                                <a:ea typeface="Cambria Math" panose="02040503050406030204" pitchFamily="18" charset="0"/>
                              </a:rPr>
                              <m:t>𝑛</m:t>
                            </m:r>
                          </m:den>
                        </m:f>
                      </m:e>
                    </m:rad>
                  </m:oMath>
                </a14:m>
                <a:endParaRPr lang="zh-TW" altLang="en-US" sz="2400" dirty="0"/>
              </a:p>
            </p:txBody>
          </p:sp>
        </mc:Choice>
        <mc:Fallback>
          <p:sp>
            <p:nvSpPr>
              <p:cNvPr id="10" name="文字方塊 9"/>
              <p:cNvSpPr txBox="1">
                <a:spLocks noRot="1" noChangeAspect="1" noMove="1" noResize="1" noEditPoints="1" noAdjustHandles="1" noChangeArrowheads="1" noChangeShapeType="1" noTextEdit="1"/>
              </p:cNvSpPr>
              <p:nvPr/>
            </p:nvSpPr>
            <p:spPr>
              <a:xfrm>
                <a:off x="628648" y="3347575"/>
                <a:ext cx="4031673" cy="843885"/>
              </a:xfrm>
              <a:prstGeom prst="rect">
                <a:avLst/>
              </a:prstGeom>
              <a:blipFill rotWithShape="0">
                <a:blip r:embed="rId2" cstate="print"/>
                <a:stretch>
                  <a:fillRect l="-2269"/>
                </a:stretch>
              </a:blipFill>
            </p:spPr>
            <p:txBody>
              <a:bodyPr/>
              <a:lstStyle/>
              <a:p>
                <a:r>
                  <a:rPr lang="zh-TW" altLang="en-US">
                    <a:noFill/>
                  </a:rPr>
                  <a:t> </a:t>
                </a:r>
              </a:p>
            </p:txBody>
          </p:sp>
        </mc:Fallback>
      </mc:AlternateContent>
      <p:sp>
        <p:nvSpPr>
          <p:cNvPr id="11" name="內容版面配置區 10"/>
          <p:cNvSpPr>
            <a:spLocks noGrp="1"/>
          </p:cNvSpPr>
          <p:nvPr>
            <p:ph idx="1"/>
          </p:nvPr>
        </p:nvSpPr>
        <p:spPr>
          <a:xfrm>
            <a:off x="6868391" y="5413664"/>
            <a:ext cx="1646958" cy="763298"/>
          </a:xfrm>
        </p:spPr>
        <p:txBody>
          <a:bodyPr/>
          <a:lstStyle/>
          <a:p>
            <a:endParaRPr lang="zh-TW" altLang="en-US" dirty="0"/>
          </a:p>
        </p:txBody>
      </p:sp>
      <p:sp>
        <p:nvSpPr>
          <p:cNvPr id="12" name="文字方塊 11"/>
          <p:cNvSpPr txBox="1"/>
          <p:nvPr/>
        </p:nvSpPr>
        <p:spPr>
          <a:xfrm>
            <a:off x="5517573" y="2103532"/>
            <a:ext cx="3179618" cy="646331"/>
          </a:xfrm>
          <a:prstGeom prst="rect">
            <a:avLst/>
          </a:prstGeom>
          <a:noFill/>
        </p:spPr>
        <p:txBody>
          <a:bodyPr wrap="square" rtlCol="0">
            <a:spAutoFit/>
          </a:bodyPr>
          <a:lstStyle/>
          <a:p>
            <a:r>
              <a:rPr lang="en-US" altLang="zh-TW" dirty="0"/>
              <a:t>m</a:t>
            </a:r>
            <a:r>
              <a:rPr lang="en-US" altLang="zh-TW" baseline="-25000" dirty="0" smtClean="0"/>
              <a:t>y</a:t>
            </a:r>
            <a:r>
              <a:rPr lang="en-US" altLang="zh-TW" dirty="0" smtClean="0"/>
              <a:t> is the average of y  </a:t>
            </a:r>
          </a:p>
          <a:p>
            <a:r>
              <a:rPr lang="en-US" altLang="zh-TW" dirty="0" err="1" smtClean="0"/>
              <a:t>S</a:t>
            </a:r>
            <a:r>
              <a:rPr lang="en-US" altLang="zh-TW" baseline="-25000" dirty="0" err="1" smtClean="0"/>
              <a:t>y</a:t>
            </a:r>
            <a:r>
              <a:rPr lang="zh-TW" altLang="en-US" dirty="0" smtClean="0"/>
              <a:t> </a:t>
            </a:r>
            <a:r>
              <a:rPr lang="en-US" altLang="zh-TW" dirty="0" smtClean="0"/>
              <a:t>is the standard deviation of y</a:t>
            </a:r>
            <a:endParaRPr lang="zh-TW" altLang="en-US" baseline="-25000" dirty="0"/>
          </a:p>
        </p:txBody>
      </p:sp>
      <p:sp>
        <p:nvSpPr>
          <p:cNvPr id="13" name="文字方塊 12"/>
          <p:cNvSpPr txBox="1"/>
          <p:nvPr/>
        </p:nvSpPr>
        <p:spPr>
          <a:xfrm>
            <a:off x="5517573" y="3769517"/>
            <a:ext cx="3179618" cy="923330"/>
          </a:xfrm>
          <a:prstGeom prst="rect">
            <a:avLst/>
          </a:prstGeom>
          <a:noFill/>
        </p:spPr>
        <p:txBody>
          <a:bodyPr wrap="square" rtlCol="0">
            <a:spAutoFit/>
          </a:bodyPr>
          <a:lstStyle/>
          <a:p>
            <a:endParaRPr lang="en-US" altLang="zh-TW" dirty="0" smtClean="0"/>
          </a:p>
          <a:p>
            <a:r>
              <a:rPr lang="en-US" altLang="zh-TW" dirty="0" smtClean="0"/>
              <a:t>n is the number of training data</a:t>
            </a:r>
          </a:p>
          <a:p>
            <a:r>
              <a:rPr lang="en-US" altLang="zh-TW" dirty="0" smtClean="0"/>
              <a:t>k is recommended to be 3</a:t>
            </a:r>
            <a:endParaRPr lang="zh-TW" altLang="en-US" dirty="0"/>
          </a:p>
        </p:txBody>
      </p:sp>
      <mc:AlternateContent xmlns:mc="http://schemas.openxmlformats.org/markup-compatibility/2006">
        <mc:Choice xmlns:a14="http://schemas.microsoft.com/office/drawing/2010/main" xmlns="" Requires="a14">
          <p:sp>
            <p:nvSpPr>
              <p:cNvPr id="15" name="文字方塊 14"/>
              <p:cNvSpPr txBox="1"/>
              <p:nvPr/>
            </p:nvSpPr>
            <p:spPr>
              <a:xfrm>
                <a:off x="628648" y="4967747"/>
                <a:ext cx="4031673" cy="737894"/>
              </a:xfrm>
              <a:prstGeom prst="rect">
                <a:avLst/>
              </a:prstGeom>
              <a:noFill/>
            </p:spPr>
            <p:txBody>
              <a:bodyPr wrap="square" rtlCol="0">
                <a:spAutoFit/>
              </a:bodyPr>
              <a:lstStyle/>
              <a:p>
                <a:r>
                  <a:rPr lang="el-GR" altLang="zh-TW" sz="2400" dirty="0" smtClean="0"/>
                  <a:t>σ</a:t>
                </a:r>
                <a:r>
                  <a:rPr lang="en-US" altLang="zh-TW" sz="2400" baseline="30000" dirty="0" smtClean="0"/>
                  <a:t>2</a:t>
                </a:r>
                <a:r>
                  <a:rPr lang="en-US" altLang="zh-TW" sz="2400" dirty="0"/>
                  <a:t> </a:t>
                </a:r>
                <a:r>
                  <a:rPr lang="en-US" altLang="zh-TW" sz="2400" dirty="0" smtClean="0"/>
                  <a:t>= </a:t>
                </a:r>
                <a14:m>
                  <m:oMath xmlns:m="http://schemas.openxmlformats.org/officeDocument/2006/math">
                    <m:f>
                      <m:fPr>
                        <m:ctrlPr>
                          <a:rPr lang="en-US" altLang="zh-TW" sz="2400" i="1" smtClean="0">
                            <a:latin typeface="Cambria Math" panose="02040503050406030204" pitchFamily="18" charset="0"/>
                          </a:rPr>
                        </m:ctrlPr>
                      </m:fPr>
                      <m:num>
                        <m:rad>
                          <m:radPr>
                            <m:ctrlPr>
                              <a:rPr lang="en-US" altLang="zh-TW" sz="2400" i="1" smtClean="0">
                                <a:latin typeface="Cambria Math" panose="02040503050406030204" pitchFamily="18" charset="0"/>
                              </a:rPr>
                            </m:ctrlPr>
                          </m:radPr>
                          <m:deg>
                            <m:r>
                              <m:rPr>
                                <m:brk m:alnAt="7"/>
                              </m:rPr>
                              <a:rPr lang="en-US" altLang="zh-TW" sz="2400" b="0" i="1" smtClean="0">
                                <a:latin typeface="Cambria Math" panose="02040503050406030204" pitchFamily="18" charset="0"/>
                              </a:rPr>
                              <m:t>5</m:t>
                            </m:r>
                          </m:deg>
                          <m:e>
                            <m:r>
                              <a:rPr lang="en-US" altLang="zh-TW" sz="2400" b="0" i="1" smtClean="0">
                                <a:latin typeface="Cambria Math" panose="02040503050406030204" pitchFamily="18" charset="0"/>
                              </a:rPr>
                              <m:t>𝑛</m:t>
                            </m:r>
                          </m:e>
                        </m:rad>
                        <m:r>
                          <a:rPr lang="en-US" altLang="zh-TW" sz="2400" b="0" i="1" smtClean="0">
                            <a:latin typeface="Cambria Math" panose="02040503050406030204" pitchFamily="18" charset="0"/>
                          </a:rPr>
                          <m:t>𝑘</m:t>
                        </m:r>
                      </m:num>
                      <m:den>
                        <m:rad>
                          <m:radPr>
                            <m:ctrlPr>
                              <a:rPr lang="en-US" altLang="zh-TW" sz="2400" i="1">
                                <a:latin typeface="Cambria Math" panose="02040503050406030204" pitchFamily="18" charset="0"/>
                              </a:rPr>
                            </m:ctrlPr>
                          </m:radPr>
                          <m:deg>
                            <m:r>
                              <m:rPr>
                                <m:brk m:alnAt="7"/>
                              </m:rPr>
                              <a:rPr lang="en-US" altLang="zh-TW" sz="2400" i="1">
                                <a:latin typeface="Cambria Math" panose="02040503050406030204" pitchFamily="18" charset="0"/>
                              </a:rPr>
                              <m:t>5</m:t>
                            </m:r>
                          </m:deg>
                          <m:e>
                            <m:r>
                              <a:rPr lang="en-US" altLang="zh-TW" sz="2400" i="1">
                                <a:latin typeface="Cambria Math" panose="02040503050406030204" pitchFamily="18" charset="0"/>
                              </a:rPr>
                              <m:t>𝑛</m:t>
                            </m:r>
                          </m:e>
                        </m:ra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−1</m:t>
                        </m:r>
                      </m:den>
                    </m:f>
                    <m:r>
                      <a:rPr lang="en-US" altLang="zh-TW" sz="2400" i="1" smtClean="0">
                        <a:latin typeface="Cambria Math" panose="02040503050406030204" pitchFamily="18" charset="0"/>
                        <a:ea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𝑛</m:t>
                        </m:r>
                      </m:den>
                    </m:f>
                    <m:nary>
                      <m:naryPr>
                        <m:chr m:val="∑"/>
                        <m:ctrlPr>
                          <a:rPr lang="en-US" altLang="zh-TW" sz="240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𝑛</m:t>
                        </m:r>
                      </m:sup>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𝑦</m:t>
                            </m:r>
                            <m:r>
                              <a:rPr lang="en-US" altLang="zh-TW" sz="2400" b="0" i="1" baseline="-25000" smtClean="0">
                                <a:latin typeface="Cambria Math" panose="02040503050406030204" pitchFamily="18" charset="0"/>
                              </a:rPr>
                              <m:t>𝑖</m:t>
                            </m:r>
                            <m:r>
                              <a:rPr lang="en-US" altLang="zh-TW" sz="2400" b="0" i="1" smtClean="0">
                                <a:latin typeface="Cambria Math" panose="02040503050406030204" pitchFamily="18" charset="0"/>
                              </a:rPr>
                              <m:t>−</m:t>
                            </m:r>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𝑦</m:t>
                                </m:r>
                                <m:r>
                                  <a:rPr lang="en-US" altLang="zh-TW" sz="2400" b="0" i="1" baseline="-25000" smtClean="0">
                                    <a:latin typeface="Cambria Math" panose="02040503050406030204" pitchFamily="18" charset="0"/>
                                  </a:rPr>
                                  <m:t>𝑖</m:t>
                                </m:r>
                              </m:e>
                            </m:acc>
                          </m:e>
                        </m:d>
                        <m:r>
                          <a:rPr lang="en-US" altLang="zh-TW" sz="2400" b="0" i="1" baseline="30000" smtClean="0">
                            <a:latin typeface="Cambria Math" panose="02040503050406030204" pitchFamily="18" charset="0"/>
                          </a:rPr>
                          <m:t>2</m:t>
                        </m:r>
                      </m:e>
                    </m:nary>
                  </m:oMath>
                </a14:m>
                <a:endParaRPr lang="en-US" altLang="zh-TW" sz="2400" baseline="-25000" dirty="0" smtClean="0"/>
              </a:p>
            </p:txBody>
          </p:sp>
        </mc:Choice>
        <mc:Fallback>
          <p:sp>
            <p:nvSpPr>
              <p:cNvPr id="15" name="文字方塊 14"/>
              <p:cNvSpPr txBox="1">
                <a:spLocks noRot="1" noChangeAspect="1" noMove="1" noResize="1" noEditPoints="1" noAdjustHandles="1" noChangeArrowheads="1" noChangeShapeType="1" noTextEdit="1"/>
              </p:cNvSpPr>
              <p:nvPr/>
            </p:nvSpPr>
            <p:spPr>
              <a:xfrm>
                <a:off x="628648" y="4967747"/>
                <a:ext cx="4031673" cy="737894"/>
              </a:xfrm>
              <a:prstGeom prst="rect">
                <a:avLst/>
              </a:prstGeom>
              <a:blipFill rotWithShape="0">
                <a:blip r:embed="rId3" cstate="print"/>
                <a:stretch>
                  <a:fillRect l="-2269" b="-165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4540070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Introduction(</a:t>
            </a:r>
            <a:r>
              <a:rPr lang="en-US" altLang="zh-TW" sz="4000" dirty="0" err="1" smtClean="0">
                <a:latin typeface="Arial Rounded MT Bold" panose="020F0704030504030204" pitchFamily="34" charset="0"/>
              </a:rPr>
              <a:t>ThD</a:t>
            </a:r>
            <a:r>
              <a:rPr lang="en-US" altLang="zh-TW" sz="4000" dirty="0" smtClean="0">
                <a:latin typeface="Arial Rounded MT Bold" panose="020F0704030504030204" pitchFamily="34" charset="0"/>
              </a:rPr>
              <a:t>)</a:t>
            </a:r>
            <a:endParaRPr lang="zh-TW" altLang="en-US" sz="4000" dirty="0">
              <a:latin typeface="Arial Rounded MT Bold" panose="020F0704030504030204" pitchFamily="34" charset="0"/>
            </a:endParaRPr>
          </a:p>
        </p:txBody>
      </p:sp>
      <p:pic>
        <p:nvPicPr>
          <p:cNvPr id="6" name="圖片 5"/>
          <p:cNvPicPr>
            <a:picLocks noChangeAspect="1"/>
          </p:cNvPicPr>
          <p:nvPr/>
        </p:nvPicPr>
        <p:blipFill>
          <a:blip r:embed="rId2" cstate="print"/>
          <a:stretch>
            <a:fillRect/>
          </a:stretch>
        </p:blipFill>
        <p:spPr>
          <a:xfrm>
            <a:off x="782132" y="1746510"/>
            <a:ext cx="3270106" cy="813334"/>
          </a:xfrm>
          <a:prstGeom prst="rect">
            <a:avLst/>
          </a:prstGeom>
        </p:spPr>
      </p:pic>
      <p:pic>
        <p:nvPicPr>
          <p:cNvPr id="7" name="圖片 6"/>
          <p:cNvPicPr>
            <a:picLocks noChangeAspect="1"/>
          </p:cNvPicPr>
          <p:nvPr/>
        </p:nvPicPr>
        <p:blipFill>
          <a:blip r:embed="rId3" cstate="print"/>
          <a:stretch>
            <a:fillRect/>
          </a:stretch>
        </p:blipFill>
        <p:spPr>
          <a:xfrm>
            <a:off x="782132" y="2926819"/>
            <a:ext cx="2646218" cy="668328"/>
          </a:xfrm>
          <a:prstGeom prst="rect">
            <a:avLst/>
          </a:prstGeom>
        </p:spPr>
      </p:pic>
      <p:sp>
        <p:nvSpPr>
          <p:cNvPr id="3" name="文字方塊 2"/>
          <p:cNvSpPr txBox="1"/>
          <p:nvPr/>
        </p:nvSpPr>
        <p:spPr>
          <a:xfrm>
            <a:off x="280987" y="6368761"/>
            <a:ext cx="8541327" cy="276999"/>
          </a:xfrm>
          <a:prstGeom prst="rect">
            <a:avLst/>
          </a:prstGeom>
          <a:noFill/>
        </p:spPr>
        <p:txBody>
          <a:bodyPr wrap="square" rtlCol="0">
            <a:spAutoFit/>
          </a:bodyPr>
          <a:lstStyle/>
          <a:p>
            <a:r>
              <a:rPr lang="en-US" altLang="zh-TW" sz="1200" dirty="0"/>
              <a:t>V. </a:t>
            </a:r>
            <a:r>
              <a:rPr lang="en-US" altLang="zh-TW" sz="1200" dirty="0" err="1"/>
              <a:t>Cherkassky</a:t>
            </a:r>
            <a:r>
              <a:rPr lang="en-US" altLang="zh-TW" sz="1200" dirty="0"/>
              <a:t>, </a:t>
            </a:r>
            <a:r>
              <a:rPr lang="en-US" altLang="zh-TW" sz="1200" dirty="0" err="1"/>
              <a:t>Y.Ma</a:t>
            </a:r>
            <a:r>
              <a:rPr lang="en-US" altLang="zh-TW" sz="1200" dirty="0"/>
              <a:t>, Practical selection of </a:t>
            </a:r>
            <a:r>
              <a:rPr lang="en-US" altLang="zh-TW" sz="1200" dirty="0" smtClean="0"/>
              <a:t>SVM parameters </a:t>
            </a:r>
            <a:r>
              <a:rPr lang="en-US" altLang="zh-TW" sz="1200" dirty="0"/>
              <a:t>and noise estimation </a:t>
            </a:r>
            <a:r>
              <a:rPr lang="en-US" altLang="zh-TW" sz="1200" dirty="0" smtClean="0"/>
              <a:t>for </a:t>
            </a:r>
            <a:r>
              <a:rPr lang="fr-FR" altLang="zh-TW" sz="1200" dirty="0" smtClean="0"/>
              <a:t>SVM </a:t>
            </a:r>
            <a:r>
              <a:rPr lang="fr-FR" altLang="zh-TW" sz="1200" dirty="0"/>
              <a:t>regression, Neural Netw. 17 (2004) </a:t>
            </a:r>
            <a:r>
              <a:rPr lang="fr-FR" altLang="zh-TW" sz="1200" dirty="0" smtClean="0"/>
              <a:t>113–126</a:t>
            </a:r>
            <a:endParaRPr lang="zh-TW" altLang="en-US" sz="1200" dirty="0"/>
          </a:p>
        </p:txBody>
      </p:sp>
      <p:sp>
        <p:nvSpPr>
          <p:cNvPr id="8" name="內容版面配置區 7"/>
          <p:cNvSpPr>
            <a:spLocks noGrp="1"/>
          </p:cNvSpPr>
          <p:nvPr>
            <p:ph idx="1"/>
          </p:nvPr>
        </p:nvSpPr>
        <p:spPr>
          <a:xfrm>
            <a:off x="706583" y="4759577"/>
            <a:ext cx="7808767" cy="1147762"/>
          </a:xfrm>
        </p:spPr>
        <p:txBody>
          <a:bodyPr>
            <a:normAutofit/>
          </a:bodyPr>
          <a:lstStyle/>
          <a:p>
            <a:pPr marL="0" indent="0">
              <a:buNone/>
            </a:pPr>
            <a:r>
              <a:rPr lang="en-US" altLang="zh-TW" sz="2000" dirty="0"/>
              <a:t>Although this theoretical decision takes little time because CV is </a:t>
            </a:r>
            <a:r>
              <a:rPr lang="en-US" altLang="zh-TW" sz="2000" dirty="0" smtClean="0"/>
              <a:t>not required </a:t>
            </a:r>
            <a:r>
              <a:rPr lang="en-US" altLang="zh-TW" sz="2000" dirty="0"/>
              <a:t>and no SVR model is constructed, predictive ability of </a:t>
            </a:r>
            <a:r>
              <a:rPr lang="en-US" altLang="zh-TW" sz="2000" dirty="0" smtClean="0"/>
              <a:t>SVR models </a:t>
            </a:r>
            <a:r>
              <a:rPr lang="en-US" altLang="zh-TW" sz="2000" dirty="0"/>
              <a:t>is not considered through the decision procedure.</a:t>
            </a:r>
            <a:endParaRPr lang="zh-TW" altLang="en-US" sz="2000" dirty="0"/>
          </a:p>
        </p:txBody>
      </p:sp>
    </p:spTree>
    <p:extLst>
      <p:ext uri="{BB962C8B-B14F-4D97-AF65-F5344CB8AC3E}">
        <p14:creationId xmlns:p14="http://schemas.microsoft.com/office/powerpoint/2010/main" xmlns="" val="9616575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Arial Rounded MT Bold" panose="020F0704030504030204" pitchFamily="34" charset="0"/>
              </a:rPr>
              <a:t>Proposed method</a:t>
            </a:r>
            <a:endParaRPr lang="zh-TW" altLang="en-US" sz="4000" dirty="0">
              <a:latin typeface="Arial Rounded MT Bold" panose="020F0704030504030204" pitchFamily="34" charset="0"/>
            </a:endParaRPr>
          </a:p>
        </p:txBody>
      </p:sp>
      <p:pic>
        <p:nvPicPr>
          <p:cNvPr id="6" name="內容版面配置區 5"/>
          <p:cNvPicPr>
            <a:picLocks noGrp="1" noChangeAspect="1"/>
          </p:cNvPicPr>
          <p:nvPr>
            <p:ph idx="1"/>
          </p:nvPr>
        </p:nvPicPr>
        <p:blipFill>
          <a:blip r:embed="rId2" cstate="print"/>
          <a:stretch>
            <a:fillRect/>
          </a:stretch>
        </p:blipFill>
        <p:spPr>
          <a:xfrm>
            <a:off x="1891145" y="1690689"/>
            <a:ext cx="5029200" cy="3857625"/>
          </a:xfrm>
          <a:prstGeom prst="rect">
            <a:avLst/>
          </a:prstGeom>
        </p:spPr>
      </p:pic>
    </p:spTree>
    <p:extLst>
      <p:ext uri="{BB962C8B-B14F-4D97-AF65-F5344CB8AC3E}">
        <p14:creationId xmlns:p14="http://schemas.microsoft.com/office/powerpoint/2010/main" xmlns="" val="40921959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Arial Rounded MT Bold" panose="020F0704030504030204" pitchFamily="34" charset="0"/>
              </a:rPr>
              <a:t>Results</a:t>
            </a:r>
            <a:endParaRPr lang="zh-TW" altLang="en-US" sz="40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cstate="print"/>
          <a:stretch>
            <a:fillRect/>
          </a:stretch>
        </p:blipFill>
        <p:spPr>
          <a:xfrm>
            <a:off x="3931203" y="359552"/>
            <a:ext cx="5074276" cy="3317494"/>
          </a:xfrm>
          <a:prstGeom prst="rect">
            <a:avLst/>
          </a:prstGeom>
        </p:spPr>
      </p:pic>
      <p:pic>
        <p:nvPicPr>
          <p:cNvPr id="5" name="圖片 4"/>
          <p:cNvPicPr>
            <a:picLocks noChangeAspect="1"/>
          </p:cNvPicPr>
          <p:nvPr/>
        </p:nvPicPr>
        <p:blipFill>
          <a:blip r:embed="rId3" cstate="print"/>
          <a:stretch>
            <a:fillRect/>
          </a:stretch>
        </p:blipFill>
        <p:spPr>
          <a:xfrm>
            <a:off x="770317" y="3682620"/>
            <a:ext cx="7391400" cy="2752725"/>
          </a:xfrm>
          <a:prstGeom prst="rect">
            <a:avLst/>
          </a:prstGeom>
        </p:spPr>
      </p:pic>
      <p:sp>
        <p:nvSpPr>
          <p:cNvPr id="3" name="文字方塊 2"/>
          <p:cNvSpPr txBox="1"/>
          <p:nvPr/>
        </p:nvSpPr>
        <p:spPr>
          <a:xfrm>
            <a:off x="260627" y="1478976"/>
            <a:ext cx="2346956" cy="369332"/>
          </a:xfrm>
          <a:prstGeom prst="rect">
            <a:avLst/>
          </a:prstGeom>
          <a:noFill/>
        </p:spPr>
        <p:txBody>
          <a:bodyPr wrap="square" rtlCol="0">
            <a:spAutoFit/>
          </a:bodyPr>
          <a:lstStyle/>
          <a:p>
            <a:r>
              <a:rPr lang="en-US" altLang="zh-TW" dirty="0" smtClean="0"/>
              <a:t>Randomly 10 times </a:t>
            </a:r>
            <a:endParaRPr lang="zh-TW" altLang="en-US" dirty="0"/>
          </a:p>
        </p:txBody>
      </p:sp>
      <p:sp>
        <p:nvSpPr>
          <p:cNvPr id="6" name="文字方塊 5"/>
          <p:cNvSpPr txBox="1"/>
          <p:nvPr/>
        </p:nvSpPr>
        <p:spPr>
          <a:xfrm>
            <a:off x="2524991" y="843241"/>
            <a:ext cx="2161309" cy="369332"/>
          </a:xfrm>
          <a:prstGeom prst="rect">
            <a:avLst/>
          </a:prstGeom>
          <a:noFill/>
        </p:spPr>
        <p:txBody>
          <a:bodyPr wrap="square" rtlCol="0">
            <a:spAutoFit/>
          </a:bodyPr>
          <a:lstStyle/>
          <a:p>
            <a:r>
              <a:rPr lang="en-US" altLang="zh-TW" dirty="0" smtClean="0">
                <a:solidFill>
                  <a:srgbClr val="FF0000"/>
                </a:solidFill>
              </a:rPr>
              <a:t>(aqueous solubility)</a:t>
            </a:r>
            <a:endParaRPr lang="zh-TW" altLang="en-US" dirty="0">
              <a:solidFill>
                <a:srgbClr val="FF0000"/>
              </a:solidFill>
            </a:endParaRPr>
          </a:p>
        </p:txBody>
      </p:sp>
      <p:pic>
        <p:nvPicPr>
          <p:cNvPr id="7" name="圖片 6"/>
          <p:cNvPicPr>
            <a:picLocks noChangeAspect="1"/>
          </p:cNvPicPr>
          <p:nvPr/>
        </p:nvPicPr>
        <p:blipFill>
          <a:blip r:embed="rId4" cstate="print"/>
          <a:stretch>
            <a:fillRect/>
          </a:stretch>
        </p:blipFill>
        <p:spPr>
          <a:xfrm>
            <a:off x="156717" y="2079456"/>
            <a:ext cx="4038600" cy="1676400"/>
          </a:xfrm>
          <a:prstGeom prst="rect">
            <a:avLst/>
          </a:prstGeom>
        </p:spPr>
      </p:pic>
    </p:spTree>
    <p:extLst>
      <p:ext uri="{BB962C8B-B14F-4D97-AF65-F5344CB8AC3E}">
        <p14:creationId xmlns:p14="http://schemas.microsoft.com/office/powerpoint/2010/main" xmlns="" val="33773958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Arial Rounded MT Bold" panose="020F0704030504030204" pitchFamily="34" charset="0"/>
              </a:rPr>
              <a:t>Results</a:t>
            </a:r>
            <a:endParaRPr lang="zh-TW" altLang="en-US" dirty="0"/>
          </a:p>
        </p:txBody>
      </p:sp>
      <p:pic>
        <p:nvPicPr>
          <p:cNvPr id="4" name="內容版面配置區 3"/>
          <p:cNvPicPr>
            <a:picLocks noGrp="1" noChangeAspect="1"/>
          </p:cNvPicPr>
          <p:nvPr>
            <p:ph idx="1"/>
          </p:nvPr>
        </p:nvPicPr>
        <p:blipFill>
          <a:blip r:embed="rId2" cstate="print"/>
          <a:stretch>
            <a:fillRect/>
          </a:stretch>
        </p:blipFill>
        <p:spPr>
          <a:xfrm>
            <a:off x="4116965" y="489816"/>
            <a:ext cx="4905375" cy="3028950"/>
          </a:xfrm>
          <a:prstGeom prst="rect">
            <a:avLst/>
          </a:prstGeom>
        </p:spPr>
      </p:pic>
      <p:pic>
        <p:nvPicPr>
          <p:cNvPr id="5" name="圖片 4"/>
          <p:cNvPicPr>
            <a:picLocks noChangeAspect="1"/>
          </p:cNvPicPr>
          <p:nvPr/>
        </p:nvPicPr>
        <p:blipFill>
          <a:blip r:embed="rId3" cstate="print"/>
          <a:stretch>
            <a:fillRect/>
          </a:stretch>
        </p:blipFill>
        <p:spPr>
          <a:xfrm>
            <a:off x="809625" y="3621914"/>
            <a:ext cx="7524750" cy="2705100"/>
          </a:xfrm>
          <a:prstGeom prst="rect">
            <a:avLst/>
          </a:prstGeom>
        </p:spPr>
      </p:pic>
      <p:sp>
        <p:nvSpPr>
          <p:cNvPr id="6" name="文字方塊 5"/>
          <p:cNvSpPr txBox="1"/>
          <p:nvPr/>
        </p:nvSpPr>
        <p:spPr>
          <a:xfrm>
            <a:off x="2701637" y="843241"/>
            <a:ext cx="2161309" cy="369332"/>
          </a:xfrm>
          <a:prstGeom prst="rect">
            <a:avLst/>
          </a:prstGeom>
          <a:noFill/>
        </p:spPr>
        <p:txBody>
          <a:bodyPr wrap="square" rtlCol="0">
            <a:spAutoFit/>
          </a:bodyPr>
          <a:lstStyle/>
          <a:p>
            <a:r>
              <a:rPr lang="en-US" altLang="zh-TW" dirty="0" smtClean="0">
                <a:solidFill>
                  <a:srgbClr val="FF0000"/>
                </a:solidFill>
              </a:rPr>
              <a:t>(</a:t>
            </a:r>
            <a:r>
              <a:rPr lang="en-US" altLang="zh-TW" dirty="0">
                <a:solidFill>
                  <a:srgbClr val="FF0000"/>
                </a:solidFill>
              </a:rPr>
              <a:t>pIGC50</a:t>
            </a:r>
            <a:r>
              <a:rPr lang="en-US" altLang="zh-TW" dirty="0" smtClean="0">
                <a:solidFill>
                  <a:srgbClr val="FF0000"/>
                </a:solidFill>
              </a:rPr>
              <a:t>)</a:t>
            </a:r>
            <a:endParaRPr lang="zh-TW" altLang="en-US" dirty="0">
              <a:solidFill>
                <a:srgbClr val="FF0000"/>
              </a:solidFill>
            </a:endParaRPr>
          </a:p>
        </p:txBody>
      </p:sp>
      <p:pic>
        <p:nvPicPr>
          <p:cNvPr id="7" name="圖片 6"/>
          <p:cNvPicPr>
            <a:picLocks noChangeAspect="1"/>
          </p:cNvPicPr>
          <p:nvPr/>
        </p:nvPicPr>
        <p:blipFill>
          <a:blip r:embed="rId4" cstate="print"/>
          <a:stretch>
            <a:fillRect/>
          </a:stretch>
        </p:blipFill>
        <p:spPr>
          <a:xfrm>
            <a:off x="156717" y="2079456"/>
            <a:ext cx="4038600" cy="1676400"/>
          </a:xfrm>
          <a:prstGeom prst="rect">
            <a:avLst/>
          </a:prstGeom>
        </p:spPr>
      </p:pic>
    </p:spTree>
    <p:extLst>
      <p:ext uri="{BB962C8B-B14F-4D97-AF65-F5344CB8AC3E}">
        <p14:creationId xmlns:p14="http://schemas.microsoft.com/office/powerpoint/2010/main" xmlns="" val="22214738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Arial Rounded MT Bold" panose="020F0704030504030204" pitchFamily="34" charset="0"/>
              </a:rPr>
              <a:t>Results(time)</a:t>
            </a:r>
            <a:endParaRPr lang="zh-TW" altLang="en-US" dirty="0"/>
          </a:p>
        </p:txBody>
      </p:sp>
      <p:pic>
        <p:nvPicPr>
          <p:cNvPr id="7" name="內容版面配置區 6"/>
          <p:cNvPicPr>
            <a:picLocks noGrp="1" noChangeAspect="1"/>
          </p:cNvPicPr>
          <p:nvPr>
            <p:ph idx="1"/>
          </p:nvPr>
        </p:nvPicPr>
        <p:blipFill>
          <a:blip r:embed="rId2" cstate="print"/>
          <a:stretch>
            <a:fillRect/>
          </a:stretch>
        </p:blipFill>
        <p:spPr>
          <a:xfrm>
            <a:off x="1186294" y="2437463"/>
            <a:ext cx="5981700" cy="1257300"/>
          </a:xfrm>
          <a:prstGeom prst="rect">
            <a:avLst/>
          </a:prstGeom>
        </p:spPr>
      </p:pic>
    </p:spTree>
    <p:extLst>
      <p:ext uri="{BB962C8B-B14F-4D97-AF65-F5344CB8AC3E}">
        <p14:creationId xmlns:p14="http://schemas.microsoft.com/office/powerpoint/2010/main" xmlns="" val="2049052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Arial Rounded MT Bold" panose="020F0704030504030204" pitchFamily="34" charset="0"/>
              </a:rPr>
              <a:t>Conclusions</a:t>
            </a:r>
            <a:endParaRPr lang="zh-TW" altLang="en-US" sz="4000" dirty="0">
              <a:latin typeface="Arial Rounded MT Bold" panose="020F0704030504030204" pitchFamily="34" charset="0"/>
            </a:endParaRPr>
          </a:p>
        </p:txBody>
      </p:sp>
      <p:sp>
        <p:nvSpPr>
          <p:cNvPr id="3" name="內容版面配置區 2"/>
          <p:cNvSpPr>
            <a:spLocks noGrp="1"/>
          </p:cNvSpPr>
          <p:nvPr>
            <p:ph idx="1"/>
          </p:nvPr>
        </p:nvSpPr>
        <p:spPr/>
        <p:txBody>
          <a:bodyPr>
            <a:normAutofit fontScale="85000" lnSpcReduction="20000"/>
          </a:bodyPr>
          <a:lstStyle/>
          <a:p>
            <a:pPr marL="0" indent="0">
              <a:buNone/>
            </a:pPr>
            <a:r>
              <a:rPr lang="en-US" altLang="zh-TW" dirty="0"/>
              <a:t>In this paper, a fast optimization method of the SVR </a:t>
            </a:r>
            <a:r>
              <a:rPr lang="en-US" altLang="zh-TW" dirty="0" err="1" smtClean="0"/>
              <a:t>hyperparameters</a:t>
            </a:r>
            <a:r>
              <a:rPr lang="en-US" altLang="zh-TW" dirty="0"/>
              <a:t> </a:t>
            </a:r>
            <a:r>
              <a:rPr lang="en-US" altLang="zh-TW" dirty="0" smtClean="0"/>
              <a:t>is </a:t>
            </a:r>
            <a:r>
              <a:rPr lang="en-US" altLang="zh-TW" dirty="0"/>
              <a:t>proposed by combining the theoretical techniques and the </a:t>
            </a:r>
            <a:r>
              <a:rPr lang="en-US" altLang="zh-TW" dirty="0" smtClean="0"/>
              <a:t>GS and </a:t>
            </a:r>
            <a:r>
              <a:rPr lang="en-US" altLang="zh-TW" dirty="0"/>
              <a:t>CV method. </a:t>
            </a:r>
            <a:endParaRPr lang="en-US" altLang="zh-TW" dirty="0" smtClean="0"/>
          </a:p>
          <a:p>
            <a:pPr marL="0" indent="0">
              <a:buNone/>
            </a:pPr>
            <a:r>
              <a:rPr lang="en-US" altLang="zh-TW" dirty="0" smtClean="0"/>
              <a:t>After </a:t>
            </a:r>
            <a:r>
              <a:rPr lang="en-US" altLang="zh-TW" dirty="0"/>
              <a:t>C and γ are decided theoretically, ε, C and γ </a:t>
            </a:r>
            <a:r>
              <a:rPr lang="en-US" altLang="zh-TW" dirty="0" smtClean="0"/>
              <a:t>are optimized </a:t>
            </a:r>
            <a:r>
              <a:rPr lang="en-US" altLang="zh-TW" dirty="0"/>
              <a:t>with GS and CV independently. Therefore the </a:t>
            </a:r>
            <a:r>
              <a:rPr lang="en-US" altLang="zh-TW" dirty="0" smtClean="0"/>
              <a:t>proposed method </a:t>
            </a:r>
            <a:r>
              <a:rPr lang="en-US" altLang="zh-TW" dirty="0"/>
              <a:t>can consider predictive ability of SVR models and needs </a:t>
            </a:r>
            <a:r>
              <a:rPr lang="en-US" altLang="zh-TW" dirty="0" smtClean="0"/>
              <a:t>little time </a:t>
            </a:r>
            <a:r>
              <a:rPr lang="en-US" altLang="zh-TW" dirty="0"/>
              <a:t>for optimizing the SVR </a:t>
            </a:r>
            <a:r>
              <a:rPr lang="en-US" altLang="zh-TW" dirty="0" err="1"/>
              <a:t>hyperparameters</a:t>
            </a:r>
            <a:r>
              <a:rPr lang="en-US" altLang="zh-TW" dirty="0"/>
              <a:t>. </a:t>
            </a:r>
            <a:endParaRPr lang="en-US" altLang="zh-TW" dirty="0" smtClean="0"/>
          </a:p>
          <a:p>
            <a:pPr marL="0" indent="0">
              <a:buNone/>
            </a:pPr>
            <a:r>
              <a:rPr lang="en-US" altLang="zh-TW" dirty="0" smtClean="0"/>
              <a:t>Through </a:t>
            </a:r>
            <a:r>
              <a:rPr lang="en-US" altLang="zh-TW" dirty="0"/>
              <a:t>the case </a:t>
            </a:r>
            <a:r>
              <a:rPr lang="en-US" altLang="zh-TW" dirty="0" smtClean="0"/>
              <a:t>studies using </a:t>
            </a:r>
            <a:r>
              <a:rPr lang="en-US" altLang="zh-TW" dirty="0"/>
              <a:t>the QSPR data and QSAR data, it was confirmed that the </a:t>
            </a:r>
            <a:r>
              <a:rPr lang="en-US" altLang="zh-TW" dirty="0" smtClean="0"/>
              <a:t>SVR </a:t>
            </a:r>
            <a:r>
              <a:rPr lang="en-US" altLang="zh-TW" dirty="0" err="1" smtClean="0"/>
              <a:t>hyperparameters</a:t>
            </a:r>
            <a:r>
              <a:rPr lang="en-US" altLang="zh-TW" dirty="0" smtClean="0"/>
              <a:t> </a:t>
            </a:r>
            <a:r>
              <a:rPr lang="en-US" altLang="zh-TW" dirty="0"/>
              <a:t>with which the predictive SVR models could be </a:t>
            </a:r>
            <a:r>
              <a:rPr lang="en-US" altLang="zh-TW" dirty="0" smtClean="0"/>
              <a:t>constructed were able </a:t>
            </a:r>
            <a:r>
              <a:rPr lang="en-US" altLang="zh-TW" dirty="0"/>
              <a:t>to be quickly selected by using the proposed </a:t>
            </a:r>
            <a:r>
              <a:rPr lang="en-US" altLang="zh-TW" dirty="0" smtClean="0"/>
              <a:t>method. </a:t>
            </a:r>
          </a:p>
          <a:p>
            <a:pPr marL="0" indent="0">
              <a:buNone/>
            </a:pPr>
            <a:r>
              <a:rPr lang="en-US" altLang="zh-TW" dirty="0" smtClean="0"/>
              <a:t>As </a:t>
            </a:r>
            <a:r>
              <a:rPr lang="en-US" altLang="zh-TW" dirty="0"/>
              <a:t>is mentioned </a:t>
            </a:r>
            <a:r>
              <a:rPr lang="en-US" altLang="zh-TW" dirty="0" smtClean="0"/>
              <a:t>in “Proposed </a:t>
            </a:r>
            <a:r>
              <a:rPr lang="en-US" altLang="zh-TW" dirty="0"/>
              <a:t>method”, the proposed method can </a:t>
            </a:r>
            <a:r>
              <a:rPr lang="en-US" altLang="zh-TW" dirty="0" smtClean="0"/>
              <a:t>be combined </a:t>
            </a:r>
            <a:r>
              <a:rPr lang="en-US" altLang="zh-TW" dirty="0"/>
              <a:t>with external validation instead of CV.</a:t>
            </a:r>
            <a:endParaRPr lang="zh-TW" altLang="en-US" dirty="0"/>
          </a:p>
        </p:txBody>
      </p:sp>
    </p:spTree>
    <p:extLst>
      <p:ext uri="{BB962C8B-B14F-4D97-AF65-F5344CB8AC3E}">
        <p14:creationId xmlns:p14="http://schemas.microsoft.com/office/powerpoint/2010/main" xmlns="" val="27466727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556</TotalTime>
  <Words>765</Words>
  <Application>Microsoft Office PowerPoint</Application>
  <PresentationFormat>如螢幕大小 (4:3)</PresentationFormat>
  <Paragraphs>128</Paragraphs>
  <Slides>18</Slides>
  <Notes>3</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Fast optimization of hyperparameters for support vector regression models  with highly predictive ability</vt:lpstr>
      <vt:lpstr>Abstract</vt:lpstr>
      <vt:lpstr>Abstract</vt:lpstr>
      <vt:lpstr>Introduction (Support Vector Regression)</vt:lpstr>
      <vt:lpstr>Introduction (Support Vector Regression)</vt:lpstr>
      <vt:lpstr>Introduction (Support Vector Regression)</vt:lpstr>
      <vt:lpstr>Support vector regression (kernel function)</vt:lpstr>
      <vt:lpstr>Introduction(GS)</vt:lpstr>
      <vt:lpstr>Introduction(GS)</vt:lpstr>
      <vt:lpstr>Introduction(GS)</vt:lpstr>
      <vt:lpstr>Introduction(CV)</vt:lpstr>
      <vt:lpstr>Introduction(ThD)</vt:lpstr>
      <vt:lpstr>Introduction(ThD)</vt:lpstr>
      <vt:lpstr>Proposed method</vt:lpstr>
      <vt:lpstr>Results</vt:lpstr>
      <vt:lpstr>Results</vt:lpstr>
      <vt:lpstr>Results(time)</vt:lpstr>
      <vt:lpstr>Conclusions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optimization of hyperparameters  for support vector regression models  with highly predictive ability</dc:title>
  <dc:creator>Huang</dc:creator>
  <cp:lastModifiedBy>cse</cp:lastModifiedBy>
  <cp:revision>86</cp:revision>
  <dcterms:created xsi:type="dcterms:W3CDTF">2015-03-05T13:23:04Z</dcterms:created>
  <dcterms:modified xsi:type="dcterms:W3CDTF">2015-03-10T10:32:05Z</dcterms:modified>
</cp:coreProperties>
</file>