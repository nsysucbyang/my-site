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3"/>
  </p:notesMasterIdLst>
  <p:sldIdLst>
    <p:sldId id="265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6" r:id="rId11"/>
    <p:sldId id="259" r:id="rId12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490" y="-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imes New Roman" pitchFamily="18" charset="0"/>
              </a:defRPr>
            </a:lvl1pPr>
          </a:lstStyle>
          <a:p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fld id="{908906FD-486D-4705-AEB9-7E1B2EB747EB}" type="datetimeFigureOut">
              <a:rPr lang="zh-TW" altLang="en-US" smtClean="0"/>
              <a:pPr/>
              <a:t>2015/3/10</a:t>
            </a:fld>
            <a:endParaRPr lang="zh-TW" altLang="en-US" dirty="0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 dirty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imes New Roman" pitchFamily="18" charset="0"/>
              </a:defRPr>
            </a:lvl1pPr>
          </a:lstStyle>
          <a:p>
            <a:endParaRPr lang="zh-TW" alt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fld id="{8558A920-2E22-4F30-A2D9-CB83CACEFDBA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3274589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58A920-2E22-4F30-A2D9-CB83CACEFDBA}" type="slidenum">
              <a:rPr lang="zh-TW" altLang="en-US" smtClean="0">
                <a:solidFill>
                  <a:prstClr val="black"/>
                </a:solidFill>
              </a:rPr>
              <a:pPr/>
              <a:t>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897191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http://en.wikipedia.org/wiki/Parameterized_complexity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58A920-2E22-4F30-A2D9-CB83CACEFDBA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279498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5D621-25C4-4752-9C66-AF51F3F80637}" type="datetime1">
              <a:rPr lang="zh-TW" altLang="en-US" smtClean="0"/>
              <a:pPr/>
              <a:t>2015/3/10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E120A-65F0-4ECC-A539-61AA8271784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637760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577BC-03FF-4EE5-B005-388E3A2AB89C}" type="datetime1">
              <a:rPr lang="zh-TW" altLang="en-US" smtClean="0"/>
              <a:pPr/>
              <a:t>2015/3/10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E120A-65F0-4ECC-A539-61AA8271784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850045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EC9AA-8722-4A41-8EBA-81AD858B269E}" type="datetime1">
              <a:rPr lang="zh-TW" altLang="en-US" smtClean="0"/>
              <a:pPr/>
              <a:t>2015/3/10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E120A-65F0-4ECC-A539-61AA8271784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869415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FCB31-5D2C-49FD-B6A5-D3F42CB1714C}" type="datetime1">
              <a:rPr lang="zh-TW" altLang="en-US" smtClean="0"/>
              <a:pPr/>
              <a:t>2015/3/10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E120A-65F0-4ECC-A539-61AA8271784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834337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B16D7-FA7D-40C2-893A-D55A4C5DA631}" type="datetime1">
              <a:rPr lang="zh-TW" altLang="en-US" smtClean="0"/>
              <a:pPr/>
              <a:t>2015/3/10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E120A-65F0-4ECC-A539-61AA8271784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880912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47B13-2580-44AA-AA07-52A2FC10A7DC}" type="datetime1">
              <a:rPr lang="zh-TW" altLang="en-US" smtClean="0"/>
              <a:pPr/>
              <a:t>2015/3/10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E120A-65F0-4ECC-A539-61AA8271784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704506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29107-ABDC-4D4E-97A9-AB9A7C5D38AE}" type="datetime1">
              <a:rPr lang="zh-TW" altLang="en-US" smtClean="0"/>
              <a:pPr/>
              <a:t>2015/3/10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E120A-65F0-4ECC-A539-61AA8271784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772542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0AF10-88A9-4DAA-8849-E9A86620036A}" type="datetime1">
              <a:rPr lang="zh-TW" altLang="en-US" smtClean="0"/>
              <a:pPr/>
              <a:t>2015/3/10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E120A-65F0-4ECC-A539-61AA8271784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422425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1742-EB57-474F-94CE-F89A359F6109}" type="datetime1">
              <a:rPr lang="zh-TW" altLang="en-US" smtClean="0"/>
              <a:pPr/>
              <a:t>2015/3/10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E120A-65F0-4ECC-A539-61AA8271784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448776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BC2F0-DC1F-4924-8DDF-96A2EA46494A}" type="datetime1">
              <a:rPr lang="zh-TW" altLang="en-US" smtClean="0"/>
              <a:pPr/>
              <a:t>2015/3/10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E120A-65F0-4ECC-A539-61AA8271784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76254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D72D1-CA12-45C5-898F-281BB540BAA9}" type="datetime1">
              <a:rPr lang="zh-TW" altLang="en-US" smtClean="0"/>
              <a:pPr/>
              <a:t>2015/3/10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E120A-65F0-4ECC-A539-61AA8271784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9174856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55D3F-7178-4BA2-A7C5-B5AFBC111DC1}" type="datetime1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2015/3/10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E120A-65F0-4ECC-A539-61AA8271784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528299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416C7-8333-47A3-980F-6AA3F73DB96F}" type="datetime1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2015/3/10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E120A-65F0-4ECC-A539-61AA8271784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794574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26F7B-B11B-4FF3-8603-E49E90D8F4E5}" type="datetime1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2015/3/10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E120A-65F0-4ECC-A539-61AA8271784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3649217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0B022-08B7-4689-99C1-3F164EC6121D}" type="datetime1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2015/3/10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E120A-65F0-4ECC-A539-61AA8271784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696822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213D1-D829-41BE-94E7-19C339B0F3BC}" type="datetime1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2015/3/10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E120A-65F0-4ECC-A539-61AA8271784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892706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C851D-18C1-45CB-82B5-E4F5BB18AA81}" type="datetime1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2015/3/10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E120A-65F0-4ECC-A539-61AA8271784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23040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07B93-3FF7-4663-82C2-4D8A6474BD2D}" type="datetime1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2015/3/10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E120A-65F0-4ECC-A539-61AA8271784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3837596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50D6A-879C-4B71-880C-469BA49A7515}" type="datetime1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2015/3/10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E120A-65F0-4ECC-A539-61AA8271784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47480048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34540-134E-49CC-952C-98F81386DD0B}" type="datetime1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2015/3/10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E120A-65F0-4ECC-A539-61AA8271784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655878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9E1CA-75D5-47E3-9323-FF0DCDD7668B}" type="datetime1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2015/3/10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E120A-65F0-4ECC-A539-61AA8271784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15888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3E312-DB85-426E-B7B9-6A60E7ED37C4}" type="datetime1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2015/3/10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E120A-65F0-4ECC-A539-61AA8271784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43175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</a:defRPr>
            </a:lvl1pPr>
          </a:lstStyle>
          <a:p>
            <a:fld id="{5DAFA78A-ED50-4742-8B03-BF45D15B8027}" type="datetime1">
              <a:rPr lang="zh-TW" altLang="en-US" smtClean="0"/>
              <a:pPr/>
              <a:t>2015/3/10</a:t>
            </a:fld>
            <a:endParaRPr lang="zh-TW" alt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</a:defRPr>
            </a:lvl1pPr>
          </a:lstStyle>
          <a:p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</a:defRPr>
            </a:lvl1pPr>
          </a:lstStyle>
          <a:p>
            <a:fld id="{641E120A-65F0-4ECC-A539-61AA82717845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3587110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Times New Roman" pitchFamily="18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Times New Roman" pitchFamily="18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Times New Roman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Times New Roman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Times New Roman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Times New Roman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</a:defRPr>
            </a:lvl1pPr>
          </a:lstStyle>
          <a:p>
            <a:fld id="{85210633-1E1A-40A0-923A-F3CD9F6B1341}" type="datetime1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2015/3/10</a:t>
            </a:fld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</a:defRPr>
            </a:lvl1pPr>
          </a:lstStyle>
          <a:p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</a:defRPr>
            </a:lvl1pPr>
          </a:lstStyle>
          <a:p>
            <a:fld id="{641E120A-65F0-4ECC-A539-61AA8271784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1803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Times New Roman" pitchFamily="18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Times New Roman" pitchFamily="18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Times New Roman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Times New Roman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Times New Roman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Times New Roman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Restricted</a:t>
            </a:r>
            <a:r>
              <a:rPr lang="en-US" altLang="zh-TW" dirty="0"/>
              <a:t> LCS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971600" y="3573016"/>
            <a:ext cx="7272808" cy="1296144"/>
          </a:xfrm>
        </p:spPr>
        <p:txBody>
          <a:bodyPr>
            <a:normAutofit/>
          </a:bodyPr>
          <a:lstStyle/>
          <a:p>
            <a:r>
              <a:rPr lang="en-US" altLang="zh-TW" dirty="0" err="1">
                <a:latin typeface="Times New Roman" pitchFamily="18" charset="0"/>
                <a:cs typeface="Times New Roman" pitchFamily="18" charset="0"/>
              </a:rPr>
              <a:t>Zvi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dirty="0" err="1" smtClean="0">
                <a:latin typeface="Times New Roman" pitchFamily="18" charset="0"/>
                <a:cs typeface="Times New Roman" pitchFamily="18" charset="0"/>
              </a:rPr>
              <a:t>Gotthilf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Danny </a:t>
            </a:r>
            <a:r>
              <a:rPr lang="en-US" altLang="zh-TW" dirty="0" err="1" smtClean="0">
                <a:latin typeface="Times New Roman" pitchFamily="18" charset="0"/>
                <a:cs typeface="Times New Roman" pitchFamily="18" charset="0"/>
              </a:rPr>
              <a:t>Hermelin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, </a:t>
            </a:r>
          </a:p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Gad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M.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Landau,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and Moshe </a:t>
            </a:r>
            <a:r>
              <a:rPr lang="en-US" altLang="zh-TW" dirty="0" err="1" smtClean="0">
                <a:latin typeface="Times New Roman" pitchFamily="18" charset="0"/>
                <a:cs typeface="Times New Roman" pitchFamily="18" charset="0"/>
              </a:rPr>
              <a:t>Lewenstein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444208" y="6309320"/>
            <a:ext cx="26853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Presenter: </a:t>
            </a:r>
            <a:r>
              <a:rPr lang="en-US" altLang="zh-TW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Shian</a:t>
            </a:r>
            <a:r>
              <a:rPr lang="en-US" altLang="zh-TW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-Liang Lin</a:t>
            </a:r>
            <a:endParaRPr lang="zh-TW" altLang="en-US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547664" y="5085184"/>
            <a:ext cx="67687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/>
            <a:r>
              <a:rPr lang="en-US" altLang="zh-TW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String Processing and Information Retrieval</a:t>
            </a:r>
          </a:p>
          <a:p>
            <a:pPr algn="ctr"/>
            <a:r>
              <a:rPr lang="en-US" altLang="zh-TW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Lecture Notes in Computer Science Volume 6393</a:t>
            </a:r>
            <a:r>
              <a:rPr lang="en-US" altLang="zh-TW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,,pp. 250-257(2010)</a:t>
            </a:r>
            <a:endParaRPr lang="zh-TW" altLang="en-US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日期版面配置區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315AD-32B5-4C26-BF54-C639AFC50BDB}" type="datetime1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2015/3/10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77233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Abstract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2000" dirty="0"/>
              <a:t>The </a:t>
            </a:r>
            <a:r>
              <a:rPr lang="en-US" altLang="zh-TW" sz="2000" i="1" dirty="0"/>
              <a:t>Longest Common Subsequence </a:t>
            </a:r>
            <a:r>
              <a:rPr lang="en-US" altLang="zh-TW" sz="2000" dirty="0"/>
              <a:t>(LCS) of two or </a:t>
            </a:r>
            <a:r>
              <a:rPr lang="en-US" altLang="zh-TW" sz="2000" dirty="0" smtClean="0"/>
              <a:t>more strings </a:t>
            </a:r>
            <a:r>
              <a:rPr lang="en-US" altLang="zh-TW" sz="2000" dirty="0"/>
              <a:t>is a fundamental well-studied problem which has a wide range </a:t>
            </a:r>
            <a:r>
              <a:rPr lang="en-US" altLang="zh-TW" sz="2000" dirty="0" smtClean="0"/>
              <a:t>of applications </a:t>
            </a:r>
            <a:r>
              <a:rPr lang="en-US" altLang="zh-TW" sz="2000" dirty="0"/>
              <a:t>throughout computational sciences. </a:t>
            </a:r>
            <a:endParaRPr lang="en-US" altLang="zh-TW" sz="2000" dirty="0" smtClean="0"/>
          </a:p>
          <a:p>
            <a:pPr marL="0" indent="0">
              <a:buNone/>
            </a:pPr>
            <a:r>
              <a:rPr lang="en-US" altLang="zh-TW" sz="2000" dirty="0" smtClean="0"/>
              <a:t>When </a:t>
            </a:r>
            <a:r>
              <a:rPr lang="en-US" altLang="zh-TW" sz="2000" dirty="0"/>
              <a:t>the common </a:t>
            </a:r>
            <a:r>
              <a:rPr lang="en-US" altLang="zh-TW" sz="2000" dirty="0" smtClean="0"/>
              <a:t>sub-sequence </a:t>
            </a:r>
            <a:r>
              <a:rPr lang="en-US" altLang="zh-TW" sz="2000" dirty="0"/>
              <a:t>must contain one or more </a:t>
            </a:r>
            <a:r>
              <a:rPr lang="en-US" altLang="zh-TW" sz="2000" i="1" dirty="0"/>
              <a:t>constraint strings </a:t>
            </a:r>
            <a:r>
              <a:rPr lang="en-US" altLang="zh-TW" sz="2000" dirty="0"/>
              <a:t>as </a:t>
            </a:r>
            <a:r>
              <a:rPr lang="en-US" altLang="zh-TW" sz="2000" dirty="0" err="1" smtClean="0"/>
              <a:t>subsequences,the</a:t>
            </a:r>
            <a:r>
              <a:rPr lang="en-US" altLang="zh-TW" sz="2000" dirty="0" smtClean="0"/>
              <a:t> problem becomes the </a:t>
            </a:r>
            <a:r>
              <a:rPr lang="en-US" altLang="zh-TW" sz="2000" i="1" dirty="0" smtClean="0"/>
              <a:t>Constrained LCS </a:t>
            </a:r>
            <a:r>
              <a:rPr lang="en-US" altLang="zh-TW" sz="2000" dirty="0" smtClean="0"/>
              <a:t>(CLCS) problem. </a:t>
            </a:r>
          </a:p>
          <a:p>
            <a:pPr marL="0" indent="0">
              <a:buNone/>
            </a:pPr>
            <a:r>
              <a:rPr lang="en-US" altLang="zh-TW" sz="2000" dirty="0" smtClean="0"/>
              <a:t>In this paper we consider the </a:t>
            </a:r>
            <a:r>
              <a:rPr lang="en-US" altLang="zh-TW" sz="2000" i="1" dirty="0" smtClean="0"/>
              <a:t>Restricted LCS </a:t>
            </a:r>
            <a:r>
              <a:rPr lang="en-US" altLang="zh-TW" sz="2000" dirty="0" smtClean="0"/>
              <a:t>(RLCS) problem, where our goal is finding a longest common subsequence between two or more strings that</a:t>
            </a:r>
          </a:p>
          <a:p>
            <a:pPr marL="0" indent="0">
              <a:buNone/>
            </a:pPr>
            <a:r>
              <a:rPr lang="en-US" altLang="zh-TW" sz="2000" dirty="0" smtClean="0"/>
              <a:t>does </a:t>
            </a:r>
            <a:r>
              <a:rPr lang="en-US" altLang="zh-TW" sz="2000" dirty="0"/>
              <a:t>not contain a given set of </a:t>
            </a:r>
            <a:r>
              <a:rPr lang="en-US" altLang="zh-TW" sz="2000" i="1" dirty="0"/>
              <a:t>restriction strings </a:t>
            </a:r>
            <a:r>
              <a:rPr lang="en-US" altLang="zh-TW" sz="2000" dirty="0"/>
              <a:t>as subsequences. </a:t>
            </a:r>
            <a:endParaRPr lang="en-US" altLang="zh-TW" sz="2000" dirty="0" smtClean="0"/>
          </a:p>
          <a:p>
            <a:pPr marL="0" indent="0">
              <a:buNone/>
            </a:pPr>
            <a:r>
              <a:rPr lang="en-US" altLang="zh-TW" sz="2000" dirty="0" smtClean="0"/>
              <a:t>First we </a:t>
            </a:r>
            <a:r>
              <a:rPr lang="en-US" altLang="zh-TW" sz="2000" dirty="0"/>
              <a:t>show that in case of two input strings and an arbitrary number of re-</a:t>
            </a:r>
          </a:p>
          <a:p>
            <a:pPr marL="0" indent="0">
              <a:buNone/>
            </a:pPr>
            <a:r>
              <a:rPr lang="en-US" altLang="zh-TW" sz="2000" dirty="0" err="1"/>
              <a:t>striction</a:t>
            </a:r>
            <a:r>
              <a:rPr lang="en-US" altLang="zh-TW" sz="2000" dirty="0"/>
              <a:t> strings the RLCS problem is NP-hard. </a:t>
            </a:r>
            <a:endParaRPr lang="en-US" altLang="zh-TW" sz="2000" dirty="0" smtClean="0"/>
          </a:p>
          <a:p>
            <a:pPr marL="0" indent="0">
              <a:buNone/>
            </a:pPr>
            <a:r>
              <a:rPr lang="en-US" altLang="zh-TW" sz="2000" dirty="0" smtClean="0"/>
              <a:t>Afterwards</a:t>
            </a:r>
            <a:r>
              <a:rPr lang="en-US" altLang="zh-TW" sz="2000" dirty="0"/>
              <a:t>, we </a:t>
            </a:r>
            <a:r>
              <a:rPr lang="en-US" altLang="zh-TW" sz="2000" dirty="0" smtClean="0"/>
              <a:t>present a </a:t>
            </a:r>
            <a:r>
              <a:rPr lang="en-US" altLang="zh-TW" sz="2000" dirty="0"/>
              <a:t>dynamic programming solution for RLCS and we show that this </a:t>
            </a:r>
            <a:r>
              <a:rPr lang="en-US" altLang="zh-TW" sz="2000" dirty="0" smtClean="0"/>
              <a:t>algorithm </a:t>
            </a:r>
            <a:r>
              <a:rPr lang="en-US" altLang="zh-TW" sz="2000" dirty="0"/>
              <a:t>implies that RLCS is in FPT when parameterized by the </a:t>
            </a:r>
            <a:r>
              <a:rPr lang="en-US" altLang="zh-TW" sz="2000" dirty="0" smtClean="0"/>
              <a:t>total length </a:t>
            </a:r>
            <a:r>
              <a:rPr lang="en-US" altLang="zh-TW" sz="2000" dirty="0"/>
              <a:t>of the restriction strings. In the last part of this paper we </a:t>
            </a:r>
            <a:r>
              <a:rPr lang="en-US" altLang="zh-TW" sz="2000" dirty="0" smtClean="0"/>
              <a:t>present two </a:t>
            </a:r>
            <a:r>
              <a:rPr lang="en-US" altLang="zh-TW" sz="2000" dirty="0"/>
              <a:t>approximation algorithms for the hard variants of the problem.</a:t>
            </a:r>
            <a:endParaRPr lang="zh-TW" altLang="en-US" sz="2000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9A953-D54F-4667-AEE8-E95B8951664F}" type="datetime1">
              <a:rPr lang="zh-TW" altLang="en-US" smtClean="0"/>
              <a:pPr/>
              <a:t>2015/3/10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E120A-65F0-4ECC-A539-61AA82717845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226179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Definition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altLang="zh-TW" i="1" dirty="0"/>
              <a:t>Given </a:t>
            </a:r>
            <a:r>
              <a:rPr lang="en-US" altLang="zh-TW" b="1" i="1" dirty="0"/>
              <a:t>m</a:t>
            </a:r>
            <a:r>
              <a:rPr lang="en-US" altLang="zh-TW" i="1" dirty="0"/>
              <a:t> input strings </a:t>
            </a:r>
            <a:r>
              <a:rPr lang="en-US" altLang="zh-TW" i="1" dirty="0" smtClean="0"/>
              <a:t>A</a:t>
            </a:r>
            <a:r>
              <a:rPr lang="en-US" altLang="zh-TW" i="1" baseline="-25000" dirty="0" smtClean="0"/>
              <a:t>1</a:t>
            </a:r>
            <a:r>
              <a:rPr lang="en-US" altLang="zh-TW" i="1" dirty="0" smtClean="0"/>
              <a:t>,…,A</a:t>
            </a:r>
            <a:r>
              <a:rPr lang="en-US" altLang="zh-TW" i="1" baseline="-25000" dirty="0" smtClean="0"/>
              <a:t>m</a:t>
            </a:r>
            <a:r>
              <a:rPr lang="en-US" altLang="zh-TW" i="1" dirty="0" smtClean="0"/>
              <a:t> </a:t>
            </a:r>
            <a:r>
              <a:rPr lang="en-US" altLang="zh-TW" i="1" dirty="0"/>
              <a:t>and </a:t>
            </a:r>
            <a:r>
              <a:rPr lang="en-US" altLang="zh-TW" b="1" i="1" dirty="0" smtClean="0"/>
              <a:t>l</a:t>
            </a:r>
            <a:endParaRPr lang="en-US" altLang="zh-TW" b="1" i="1" dirty="0"/>
          </a:p>
          <a:p>
            <a:pPr marL="0" indent="0">
              <a:buNone/>
            </a:pPr>
            <a:r>
              <a:rPr lang="en-US" altLang="zh-TW" i="1" dirty="0"/>
              <a:t>restriction strings </a:t>
            </a:r>
            <a:r>
              <a:rPr lang="en-US" altLang="zh-TW" i="1" dirty="0" smtClean="0"/>
              <a:t>B</a:t>
            </a:r>
            <a:r>
              <a:rPr lang="en-US" altLang="zh-TW" i="1" baseline="-25000" dirty="0" smtClean="0"/>
              <a:t>1</a:t>
            </a:r>
            <a:r>
              <a:rPr lang="en-US" altLang="zh-TW" i="1" dirty="0" smtClean="0"/>
              <a:t>,…,</a:t>
            </a:r>
            <a:r>
              <a:rPr lang="en-US" altLang="zh-TW" i="1" dirty="0" err="1" smtClean="0"/>
              <a:t>B</a:t>
            </a:r>
            <a:r>
              <a:rPr lang="en-US" altLang="zh-TW" i="1" baseline="-25000" dirty="0" err="1" smtClean="0"/>
              <a:t>l</a:t>
            </a:r>
            <a:r>
              <a:rPr lang="en-US" altLang="zh-TW" i="1" dirty="0" smtClean="0"/>
              <a:t>, </a:t>
            </a:r>
            <a:r>
              <a:rPr lang="en-US" altLang="zh-TW" i="1" dirty="0"/>
              <a:t>the Restricted LCS (RLCS) problem is the </a:t>
            </a:r>
            <a:r>
              <a:rPr lang="en-US" altLang="zh-TW" i="1" dirty="0" smtClean="0"/>
              <a:t>problem of </a:t>
            </a:r>
            <a:r>
              <a:rPr lang="en-US" altLang="zh-TW" i="1" dirty="0"/>
              <a:t>computing the (length of the) longest common subsequence of </a:t>
            </a:r>
            <a:r>
              <a:rPr lang="en-US" altLang="zh-TW" i="1" dirty="0" smtClean="0"/>
              <a:t>A</a:t>
            </a:r>
            <a:r>
              <a:rPr lang="en-US" altLang="zh-TW" i="1" baseline="-25000" dirty="0" smtClean="0"/>
              <a:t>1</a:t>
            </a:r>
            <a:r>
              <a:rPr lang="en-US" altLang="zh-TW" i="1" dirty="0" smtClean="0"/>
              <a:t>,…,A</a:t>
            </a:r>
            <a:r>
              <a:rPr lang="en-US" altLang="zh-TW" i="1" baseline="-25000" dirty="0" smtClean="0"/>
              <a:t>m</a:t>
            </a:r>
            <a:r>
              <a:rPr lang="en-US" altLang="zh-TW" i="1" dirty="0" smtClean="0"/>
              <a:t> that does </a:t>
            </a:r>
            <a:r>
              <a:rPr lang="en-US" altLang="zh-TW" b="1" i="1" dirty="0"/>
              <a:t>not contains </a:t>
            </a:r>
            <a:r>
              <a:rPr lang="en-US" altLang="zh-TW" i="1" dirty="0"/>
              <a:t>each of </a:t>
            </a:r>
            <a:r>
              <a:rPr lang="en-US" altLang="zh-TW" i="1" dirty="0" smtClean="0"/>
              <a:t>B</a:t>
            </a:r>
            <a:r>
              <a:rPr lang="en-US" altLang="zh-TW" i="1" baseline="-25000" dirty="0" smtClean="0"/>
              <a:t>1</a:t>
            </a:r>
            <a:r>
              <a:rPr lang="en-US" altLang="zh-TW" i="1" dirty="0" smtClean="0"/>
              <a:t>,…,</a:t>
            </a:r>
            <a:r>
              <a:rPr lang="en-US" altLang="zh-TW" i="1" dirty="0" err="1" smtClean="0"/>
              <a:t>B</a:t>
            </a:r>
            <a:r>
              <a:rPr lang="en-US" altLang="zh-TW" i="1" baseline="-25000" dirty="0" err="1" smtClean="0"/>
              <a:t>l</a:t>
            </a:r>
            <a:r>
              <a:rPr lang="en-US" altLang="zh-TW" i="1" dirty="0" smtClean="0"/>
              <a:t> </a:t>
            </a:r>
            <a:r>
              <a:rPr lang="en-US" altLang="zh-TW" i="1" dirty="0"/>
              <a:t>as a </a:t>
            </a:r>
            <a:r>
              <a:rPr lang="en-US" altLang="zh-TW" b="1" i="1" dirty="0"/>
              <a:t>subsequence</a:t>
            </a:r>
            <a:r>
              <a:rPr lang="en-US" altLang="zh-TW" i="1" dirty="0" smtClean="0"/>
              <a:t>.</a:t>
            </a:r>
          </a:p>
          <a:p>
            <a:pPr marL="0" indent="0">
              <a:buNone/>
            </a:pPr>
            <a:endParaRPr lang="en-US" altLang="zh-TW" i="1" dirty="0" smtClean="0"/>
          </a:p>
          <a:p>
            <a:pPr marL="0" indent="0">
              <a:buNone/>
            </a:pPr>
            <a:r>
              <a:rPr lang="en-US" altLang="zh-TW" i="1" dirty="0" smtClean="0"/>
              <a:t>Example:</a:t>
            </a:r>
          </a:p>
          <a:p>
            <a:pPr marL="0" indent="0">
              <a:buNone/>
            </a:pPr>
            <a:r>
              <a:rPr lang="en-US" altLang="zh-TW" dirty="0" smtClean="0"/>
              <a:t>A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: a b </a:t>
            </a:r>
            <a:r>
              <a:rPr lang="en-US" altLang="zh-TW" dirty="0" err="1" smtClean="0"/>
              <a:t>b</a:t>
            </a:r>
            <a:r>
              <a:rPr lang="en-US" altLang="zh-TW" dirty="0" smtClean="0"/>
              <a:t> a </a:t>
            </a:r>
            <a:r>
              <a:rPr lang="en-US" altLang="zh-TW" dirty="0" err="1" smtClean="0"/>
              <a:t>a</a:t>
            </a:r>
            <a:r>
              <a:rPr lang="en-US" altLang="zh-TW" dirty="0"/>
              <a:t>	</a:t>
            </a:r>
            <a:r>
              <a:rPr lang="en-US" altLang="zh-TW" dirty="0" smtClean="0"/>
              <a:t>A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: a b a b a</a:t>
            </a:r>
          </a:p>
          <a:p>
            <a:pPr marL="0" indent="0">
              <a:buNone/>
            </a:pPr>
            <a:r>
              <a:rPr lang="en-US" altLang="zh-TW" dirty="0" smtClean="0"/>
              <a:t>B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: a b</a:t>
            </a:r>
          </a:p>
          <a:p>
            <a:pPr marL="0" indent="0">
              <a:buNone/>
            </a:pPr>
            <a:r>
              <a:rPr lang="en-US" altLang="zh-TW" dirty="0" smtClean="0"/>
              <a:t>RLCS : b </a:t>
            </a:r>
            <a:r>
              <a:rPr lang="en-US" altLang="zh-TW" dirty="0" err="1" smtClean="0"/>
              <a:t>b</a:t>
            </a:r>
            <a:r>
              <a:rPr lang="en-US" altLang="zh-TW" dirty="0" smtClean="0"/>
              <a:t> a (</a:t>
            </a:r>
            <a:r>
              <a:rPr lang="en-US" altLang="zh-TW" dirty="0"/>
              <a:t>3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981A2-B126-4AED-9BEE-E8C21730600F}" type="datetime1">
              <a:rPr lang="zh-TW" altLang="en-US" smtClean="0"/>
              <a:pPr/>
              <a:t>2015/3/10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E120A-65F0-4ECC-A539-61AA82717845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570426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Preliminaries(1/2)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:r>
                  <a:rPr lang="en-US" altLang="zh-TW" i="1" dirty="0" smtClean="0"/>
                  <a:t>Example:</a:t>
                </a:r>
              </a:p>
              <a:p>
                <a:pPr marL="0" indent="0">
                  <a:buNone/>
                </a:pPr>
                <a:r>
                  <a:rPr lang="en-US" altLang="zh-TW" dirty="0" smtClean="0"/>
                  <a:t>A</a:t>
                </a:r>
                <a:r>
                  <a:rPr lang="en-US" altLang="zh-TW" baseline="-25000" dirty="0" smtClean="0"/>
                  <a:t>1</a:t>
                </a:r>
                <a:r>
                  <a:rPr lang="en-US" altLang="zh-TW" dirty="0" smtClean="0"/>
                  <a:t>: a b </a:t>
                </a:r>
                <a:r>
                  <a:rPr lang="en-US" altLang="zh-TW" dirty="0" err="1" smtClean="0"/>
                  <a:t>b</a:t>
                </a:r>
                <a:r>
                  <a:rPr lang="en-US" altLang="zh-TW" dirty="0" smtClean="0"/>
                  <a:t> a </a:t>
                </a:r>
                <a:r>
                  <a:rPr lang="en-US" altLang="zh-TW" dirty="0" err="1" smtClean="0"/>
                  <a:t>a</a:t>
                </a:r>
                <a:r>
                  <a:rPr lang="en-US" altLang="zh-TW" dirty="0" smtClean="0"/>
                  <a:t>	A</a:t>
                </a:r>
                <a:r>
                  <a:rPr lang="en-US" altLang="zh-TW" baseline="-25000" dirty="0" smtClean="0"/>
                  <a:t>2</a:t>
                </a:r>
                <a:r>
                  <a:rPr lang="en-US" altLang="zh-TW" dirty="0" smtClean="0"/>
                  <a:t>: a b a b a</a:t>
                </a:r>
              </a:p>
              <a:p>
                <a:pPr marL="0" indent="0">
                  <a:buNone/>
                </a:pPr>
                <a:r>
                  <a:rPr lang="en-US" altLang="zh-TW" dirty="0" smtClean="0"/>
                  <a:t>B</a:t>
                </a:r>
                <a:r>
                  <a:rPr lang="en-US" altLang="zh-TW" baseline="-25000" dirty="0" smtClean="0"/>
                  <a:t>1</a:t>
                </a:r>
                <a:r>
                  <a:rPr lang="en-US" altLang="zh-TW" dirty="0" smtClean="0"/>
                  <a:t>: a b</a:t>
                </a:r>
              </a:p>
              <a:p>
                <a:pPr marL="0" indent="0">
                  <a:buNone/>
                </a:pPr>
                <a:r>
                  <a:rPr lang="en-US" altLang="zh-TW" dirty="0" smtClean="0"/>
                  <a:t>RLCS : b </a:t>
                </a:r>
                <a:r>
                  <a:rPr lang="en-US" altLang="zh-TW" dirty="0" err="1" smtClean="0"/>
                  <a:t>b</a:t>
                </a:r>
                <a:r>
                  <a:rPr lang="en-US" altLang="zh-TW" dirty="0" smtClean="0"/>
                  <a:t> a (</a:t>
                </a:r>
                <a:r>
                  <a:rPr lang="en-US" altLang="zh-TW" dirty="0"/>
                  <a:t>3</a:t>
                </a:r>
                <a:r>
                  <a:rPr lang="en-US" altLang="zh-TW" dirty="0" smtClean="0"/>
                  <a:t>)</a:t>
                </a:r>
                <a:endParaRPr lang="zh-TW" altLang="en-US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=&gt;</a:t>
                </a:r>
              </a:p>
              <a:p>
                <a:pPr marL="0" indent="0">
                  <a:buNone/>
                </a:pPr>
                <a:r>
                  <a:rPr lang="en-US" altLang="zh-TW" i="1" dirty="0" smtClean="0"/>
                  <a:t>m</a:t>
                </a:r>
                <a:r>
                  <a:rPr lang="en-US" altLang="zh-TW" dirty="0" smtClean="0"/>
                  <a:t>=2(comparison strings) </a:t>
                </a:r>
              </a:p>
              <a:p>
                <a:pPr marL="0" indent="0">
                  <a:buNone/>
                </a:pPr>
                <a:r>
                  <a:rPr lang="en-US" altLang="zh-TW" i="1" dirty="0" smtClean="0"/>
                  <a:t>l</a:t>
                </a:r>
                <a:r>
                  <a:rPr lang="en-US" altLang="zh-TW" dirty="0" smtClean="0"/>
                  <a:t>=1(restriction strings)</a:t>
                </a:r>
              </a:p>
              <a:p>
                <a:pPr marL="0" indent="0">
                  <a:buNone/>
                </a:pPr>
                <a:r>
                  <a:rPr lang="en-US" altLang="zh-TW" i="1" dirty="0" smtClean="0"/>
                  <a:t>n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altLang="zh-TW" i="1" smtClean="0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TW" b="0" i="1" smtClean="0">
                            <a:latin typeface="Cambria Math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altLang="zh-TW" b="0" i="1" smtClean="0">
                            <a:latin typeface="Cambria Math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en-US" altLang="zh-TW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altLang="zh-TW" dirty="0" smtClean="0"/>
                  <a:t> = 10(total length of the comparison strings)</a:t>
                </a:r>
              </a:p>
              <a:p>
                <a:pPr marL="0" indent="0">
                  <a:buNone/>
                </a:pPr>
                <a:r>
                  <a:rPr lang="en-US" altLang="zh-TW" i="1" dirty="0" smtClean="0"/>
                  <a:t>k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altLang="zh-TW" i="1" smtClean="0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1"/>
                          </m:rPr>
                          <a:rPr lang="en-US" altLang="zh-TW" b="0" i="1" smtClean="0">
                            <a:latin typeface="Cambria Math"/>
                          </a:rPr>
                          <m:t>𝑗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altLang="zh-TW" b="0" i="1" smtClean="0">
                            <a:latin typeface="Cambria Math"/>
                          </a:rPr>
                          <m:t>𝑙</m:t>
                        </m:r>
                      </m:sup>
                      <m:e>
                        <m:sSub>
                          <m:sSubPr>
                            <m:ctrlPr>
                              <a:rPr lang="en-US" altLang="zh-TW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= 2(total length of the restriction strings)</a:t>
                </a:r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 cstate="print"/>
                <a:stretch>
                  <a:fillRect l="-1333" t="-20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8459C-32B2-470E-85EE-A7100D9C5CEB}" type="datetime1">
              <a:rPr lang="zh-TW" altLang="en-US" smtClean="0"/>
              <a:pPr/>
              <a:t>2015/3/10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E120A-65F0-4ECC-A539-61AA82717845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180107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Preliminaries(2/2)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/>
              <a:t>The </a:t>
            </a:r>
            <a:r>
              <a:rPr lang="en-US" altLang="zh-TW" dirty="0" smtClean="0"/>
              <a:t>first </a:t>
            </a:r>
            <a:r>
              <a:rPr lang="en-US" altLang="zh-TW" dirty="0"/>
              <a:t>assumption </a:t>
            </a:r>
            <a:r>
              <a:rPr lang="en-US" altLang="zh-TW" dirty="0" smtClean="0"/>
              <a:t>:</a:t>
            </a:r>
          </a:p>
          <a:p>
            <a:pPr marL="0" indent="0">
              <a:buNone/>
            </a:pPr>
            <a:r>
              <a:rPr lang="en-US" altLang="zh-TW" dirty="0"/>
              <a:t>a</a:t>
            </a:r>
            <a:r>
              <a:rPr lang="en-US" altLang="zh-TW" dirty="0" smtClean="0"/>
              <a:t>ll restriction </a:t>
            </a:r>
            <a:r>
              <a:rPr lang="en-US" altLang="zh-TW" dirty="0"/>
              <a:t>strings have length at least </a:t>
            </a:r>
            <a:r>
              <a:rPr lang="en-US" altLang="zh-TW" dirty="0" smtClean="0"/>
              <a:t>2</a:t>
            </a:r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The </a:t>
            </a:r>
            <a:r>
              <a:rPr lang="en-US" altLang="zh-TW" dirty="0"/>
              <a:t>second assumption </a:t>
            </a:r>
            <a:r>
              <a:rPr lang="en-US" altLang="zh-TW" dirty="0" smtClean="0"/>
              <a:t>: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 smtClean="0"/>
              <a:t>all </a:t>
            </a:r>
            <a:r>
              <a:rPr lang="en-US" altLang="zh-TW" i="1" dirty="0" smtClean="0"/>
              <a:t>i </a:t>
            </a:r>
            <a:r>
              <a:rPr lang="zh-TW" altLang="en-US" dirty="0" smtClean="0"/>
              <a:t>∈</a:t>
            </a:r>
            <a:r>
              <a:rPr lang="zh-TW" altLang="en-US" i="1" dirty="0" smtClean="0"/>
              <a:t> </a:t>
            </a:r>
            <a:r>
              <a:rPr lang="en-US" altLang="zh-TW" dirty="0" smtClean="0"/>
              <a:t>{</a:t>
            </a:r>
            <a:r>
              <a:rPr lang="en-US" altLang="zh-TW" i="1" dirty="0" smtClean="0"/>
              <a:t>1,…,m</a:t>
            </a:r>
            <a:r>
              <a:rPr lang="en-US" altLang="zh-TW" dirty="0" smtClean="0"/>
              <a:t>}</a:t>
            </a:r>
            <a:r>
              <a:rPr lang="en-US" altLang="zh-TW" i="1" dirty="0" smtClean="0"/>
              <a:t> </a:t>
            </a:r>
            <a:r>
              <a:rPr lang="en-US" altLang="zh-TW" dirty="0" smtClean="0"/>
              <a:t>and </a:t>
            </a:r>
            <a:r>
              <a:rPr lang="en-US" altLang="zh-TW" dirty="0"/>
              <a:t>all </a:t>
            </a:r>
            <a:r>
              <a:rPr lang="en-US" altLang="zh-TW" i="1" dirty="0" smtClean="0"/>
              <a:t>j</a:t>
            </a:r>
            <a:r>
              <a:rPr lang="zh-TW" altLang="en-US" dirty="0" smtClean="0"/>
              <a:t> ∈</a:t>
            </a:r>
            <a:r>
              <a:rPr lang="en-US" altLang="zh-TW" dirty="0" smtClean="0"/>
              <a:t> {</a:t>
            </a:r>
            <a:r>
              <a:rPr lang="en-US" altLang="zh-TW" i="1" dirty="0" smtClean="0"/>
              <a:t>1,…,l</a:t>
            </a:r>
            <a:r>
              <a:rPr lang="en-US" altLang="zh-TW" dirty="0" smtClean="0"/>
              <a:t>}</a:t>
            </a:r>
            <a:r>
              <a:rPr lang="en-US" altLang="zh-TW" i="1" dirty="0" smtClean="0"/>
              <a:t>, </a:t>
            </a:r>
            <a:r>
              <a:rPr lang="en-US" altLang="zh-TW" dirty="0"/>
              <a:t>we have </a:t>
            </a:r>
            <a:r>
              <a:rPr lang="en-US" altLang="zh-TW" i="1" dirty="0" err="1"/>
              <a:t>k</a:t>
            </a:r>
            <a:r>
              <a:rPr lang="en-US" altLang="zh-TW" i="1" baseline="-25000" dirty="0" err="1"/>
              <a:t>j</a:t>
            </a:r>
            <a:r>
              <a:rPr lang="en-US" altLang="zh-TW" i="1" dirty="0"/>
              <a:t> </a:t>
            </a:r>
            <a:r>
              <a:rPr lang="zh-TW" altLang="en-US" dirty="0" smtClean="0"/>
              <a:t>≤</a:t>
            </a:r>
            <a:r>
              <a:rPr lang="en-US" altLang="zh-TW" i="1" dirty="0" err="1" smtClean="0"/>
              <a:t>n</a:t>
            </a:r>
            <a:r>
              <a:rPr lang="en-US" altLang="zh-TW" i="1" baseline="-25000" dirty="0" err="1" smtClean="0"/>
              <a:t>i</a:t>
            </a:r>
            <a:endParaRPr lang="zh-TW" altLang="en-US" baseline="-25000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261B3-6FC7-427B-BE25-2D8825425650}" type="datetime1">
              <a:rPr lang="zh-TW" altLang="en-US" smtClean="0"/>
              <a:pPr/>
              <a:t>2015/3/10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E120A-65F0-4ECC-A539-61AA82717845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404688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Exact Algorithms</a:t>
            </a: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16024" y="1340769"/>
            <a:ext cx="7668344" cy="217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3"/>
          <p:cNvSpPr/>
          <p:nvPr/>
        </p:nvSpPr>
        <p:spPr>
          <a:xfrm>
            <a:off x="216024" y="3514027"/>
            <a:ext cx="800426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: a b </a:t>
            </a:r>
            <a:r>
              <a:rPr lang="en-US" altLang="zh-TW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altLang="zh-TW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: a b a b a</a:t>
            </a:r>
          </a:p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: a b</a:t>
            </a:r>
          </a:p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RLCS : b </a:t>
            </a:r>
            <a:r>
              <a:rPr lang="en-US" altLang="zh-TW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a (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altLang="zh-TW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098320319"/>
              </p:ext>
            </p:extLst>
          </p:nvPr>
        </p:nvGraphicFramePr>
        <p:xfrm>
          <a:off x="2411760" y="3676836"/>
          <a:ext cx="2645008" cy="2776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626"/>
                <a:gridCol w="330626"/>
                <a:gridCol w="330626"/>
                <a:gridCol w="330626"/>
                <a:gridCol w="330626"/>
                <a:gridCol w="330626"/>
                <a:gridCol w="330626"/>
                <a:gridCol w="330626"/>
              </a:tblGrid>
              <a:tr h="341789">
                <a:tc rowSpan="2" gridSpan="2"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r>
                        <a:rPr lang="en-US" altLang="zh-TW" baseline="-25000" dirty="0" smtClean="0"/>
                        <a:t>1</a:t>
                      </a:r>
                      <a:r>
                        <a:rPr lang="en-US" altLang="zh-TW" baseline="0" dirty="0" smtClean="0"/>
                        <a:t>[1]</a:t>
                      </a:r>
                      <a:r>
                        <a:rPr lang="en-US" altLang="zh-TW" dirty="0" smtClean="0"/>
                        <a:t>=a</a:t>
                      </a:r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marL="0" marR="0" marT="0" marB="0"/>
                </a:tc>
              </a:tr>
              <a:tr h="383977">
                <a:tc gridSpan="2"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</a:tr>
              <a:tr h="341789"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</a:tr>
              <a:tr h="34178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endParaRPr lang="zh-TW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4178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chemeClr val="bg1"/>
                          </a:solidFill>
                        </a:rPr>
                        <a:t>b</a:t>
                      </a:r>
                      <a:endParaRPr lang="zh-TW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4178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chemeClr val="bg1"/>
                          </a:solidFill>
                        </a:rPr>
                        <a:t>b</a:t>
                      </a:r>
                      <a:endParaRPr lang="zh-TW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4178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endParaRPr lang="zh-TW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4178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endParaRPr lang="zh-TW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749760056"/>
              </p:ext>
            </p:extLst>
          </p:nvPr>
        </p:nvGraphicFramePr>
        <p:xfrm>
          <a:off x="5436096" y="3687429"/>
          <a:ext cx="2712184" cy="27659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023"/>
                <a:gridCol w="339023"/>
                <a:gridCol w="339023"/>
                <a:gridCol w="339023"/>
                <a:gridCol w="339023"/>
                <a:gridCol w="339023"/>
                <a:gridCol w="339023"/>
                <a:gridCol w="339023"/>
              </a:tblGrid>
              <a:tr h="340485">
                <a:tc rowSpan="2" gridSpan="2"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r>
                        <a:rPr lang="en-US" altLang="zh-TW" baseline="-25000" dirty="0" smtClean="0"/>
                        <a:t>1</a:t>
                      </a:r>
                      <a:r>
                        <a:rPr lang="en-US" altLang="zh-TW" baseline="0" dirty="0" smtClean="0"/>
                        <a:t>[2]</a:t>
                      </a:r>
                      <a:r>
                        <a:rPr lang="en-US" altLang="zh-TW" dirty="0" smtClean="0"/>
                        <a:t>=b</a:t>
                      </a:r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marL="0" marR="0" marT="0" marB="0"/>
                </a:tc>
              </a:tr>
              <a:tr h="382512">
                <a:tc gridSpan="2"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</a:tr>
              <a:tr h="340485"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</a:tr>
              <a:tr h="34048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endParaRPr lang="zh-TW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4048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chemeClr val="bg1"/>
                          </a:solidFill>
                        </a:rPr>
                        <a:t>b</a:t>
                      </a:r>
                      <a:endParaRPr lang="zh-TW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4048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chemeClr val="bg1"/>
                          </a:solidFill>
                        </a:rPr>
                        <a:t>b</a:t>
                      </a:r>
                      <a:endParaRPr lang="zh-TW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4048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endParaRPr lang="zh-TW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4048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endParaRPr lang="zh-TW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3</a:t>
                      </a:r>
                      <a:endParaRPr lang="zh-TW" altLang="en-US" b="1" dirty="0"/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10" name="直線單箭頭接點 9"/>
          <p:cNvCxnSpPr/>
          <p:nvPr/>
        </p:nvCxnSpPr>
        <p:spPr>
          <a:xfrm>
            <a:off x="3707904" y="4991355"/>
            <a:ext cx="3096344" cy="9382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236480" y="6133946"/>
            <a:ext cx="13805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O(</a:t>
            </a:r>
            <a:r>
              <a:rPr lang="en-US" altLang="zh-TW" b="1" i="1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TW" b="1" i="1" baseline="30000" dirty="0" err="1" smtClean="0">
                <a:latin typeface="Times New Roman" pitchFamily="18" charset="0"/>
                <a:cs typeface="Times New Roman" pitchFamily="18" charset="0"/>
              </a:rPr>
              <a:t>m+l</a:t>
            </a:r>
            <a:r>
              <a:rPr lang="en-US" altLang="zh-TW" b="1" i="1" baseline="30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)time</a:t>
            </a:r>
            <a:endParaRPr lang="zh-TW" altLang="en-US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03A0D-D40A-4244-97E7-984AB421C48F}" type="datetime1">
              <a:rPr lang="zh-TW" altLang="en-US" smtClean="0"/>
              <a:pPr/>
              <a:t>2015/3/10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E120A-65F0-4ECC-A539-61AA82717845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901946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Approximation Algorithms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1"/>
            <a:ext cx="8219256" cy="298092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altLang="zh-TW" dirty="0" smtClean="0"/>
              <a:t>Algorithm I:</a:t>
            </a:r>
          </a:p>
          <a:p>
            <a:pPr marL="0" indent="0">
              <a:buNone/>
            </a:pPr>
            <a:r>
              <a:rPr lang="en-US" altLang="zh-TW" dirty="0" smtClean="0"/>
              <a:t>1. For every s </a:t>
            </a:r>
            <a:r>
              <a:rPr lang="zh-TW" altLang="en-US" dirty="0" smtClean="0"/>
              <a:t>∈ </a:t>
            </a:r>
            <a:r>
              <a:rPr lang="el-GR" altLang="zh-TW" dirty="0"/>
              <a:t>Σ</a:t>
            </a:r>
            <a:r>
              <a:rPr lang="en-US" altLang="zh-TW" dirty="0" smtClean="0"/>
              <a:t> and every </a:t>
            </a:r>
            <a:r>
              <a:rPr lang="en-US" altLang="zh-TW" i="1" dirty="0" smtClean="0"/>
              <a:t>i </a:t>
            </a:r>
            <a:r>
              <a:rPr lang="zh-TW" altLang="en-US" dirty="0" smtClean="0"/>
              <a:t>∈</a:t>
            </a:r>
            <a:r>
              <a:rPr lang="zh-TW" altLang="en-US" i="1" dirty="0" smtClean="0"/>
              <a:t> </a:t>
            </a:r>
            <a:r>
              <a:rPr lang="en-US" altLang="zh-TW" dirty="0" smtClean="0"/>
              <a:t>{</a:t>
            </a:r>
            <a:r>
              <a:rPr lang="en-US" altLang="zh-TW" i="1" dirty="0" smtClean="0"/>
              <a:t>1,…,m</a:t>
            </a:r>
            <a:r>
              <a:rPr lang="en-US" altLang="zh-TW" dirty="0" smtClean="0"/>
              <a:t>}</a:t>
            </a:r>
            <a:r>
              <a:rPr lang="en-US" altLang="zh-TW" i="1" dirty="0" smtClean="0"/>
              <a:t> </a:t>
            </a:r>
            <a:r>
              <a:rPr lang="en-US" altLang="zh-TW" dirty="0" smtClean="0"/>
              <a:t>, compute the number of occurrences </a:t>
            </a:r>
            <a:r>
              <a:rPr lang="en-US" altLang="zh-TW" dirty="0" err="1" smtClean="0"/>
              <a:t>Occ</a:t>
            </a:r>
            <a:r>
              <a:rPr lang="en-US" altLang="zh-TW" baseline="-25000" dirty="0" err="1" smtClean="0"/>
              <a:t>i</a:t>
            </a:r>
            <a:r>
              <a:rPr lang="en-US" altLang="zh-TW" dirty="0" smtClean="0"/>
              <a:t>(s) of s in A</a:t>
            </a:r>
            <a:r>
              <a:rPr lang="en-US" altLang="zh-TW" baseline="-25000" dirty="0" smtClean="0"/>
              <a:t>i</a:t>
            </a:r>
            <a:r>
              <a:rPr lang="en-US" altLang="zh-TW" dirty="0" smtClean="0"/>
              <a:t>.</a:t>
            </a:r>
          </a:p>
          <a:p>
            <a:pPr marL="0" indent="0">
              <a:buNone/>
            </a:pPr>
            <a:r>
              <a:rPr lang="en-US" altLang="zh-TW" dirty="0" smtClean="0"/>
              <a:t>2. For every s </a:t>
            </a:r>
            <a:r>
              <a:rPr lang="zh-TW" altLang="en-US" dirty="0" smtClean="0"/>
              <a:t>∈ </a:t>
            </a:r>
            <a:r>
              <a:rPr lang="el-GR" altLang="zh-TW" dirty="0" smtClean="0"/>
              <a:t>Σ</a:t>
            </a:r>
            <a:r>
              <a:rPr lang="en-US" altLang="zh-TW" dirty="0" smtClean="0"/>
              <a:t> compute:</a:t>
            </a:r>
          </a:p>
          <a:p>
            <a:pPr marL="0" indent="0">
              <a:buNone/>
            </a:pPr>
            <a:r>
              <a:rPr lang="en-US" altLang="zh-TW" dirty="0"/>
              <a:t> </a:t>
            </a:r>
            <a:r>
              <a:rPr lang="en-US" altLang="zh-TW" dirty="0" smtClean="0"/>
              <a:t>  - </a:t>
            </a:r>
            <a:r>
              <a:rPr lang="en-US" altLang="zh-TW" dirty="0" err="1" smtClean="0"/>
              <a:t>Occ</a:t>
            </a:r>
            <a:r>
              <a:rPr lang="en-US" altLang="zh-TW" dirty="0" smtClean="0"/>
              <a:t>(s), the minimum between Occ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(s),…,</a:t>
            </a:r>
            <a:r>
              <a:rPr lang="en-US" altLang="zh-TW" dirty="0" err="1" smtClean="0"/>
              <a:t>Occ</a:t>
            </a:r>
            <a:r>
              <a:rPr lang="en-US" altLang="zh-TW" baseline="-25000" dirty="0" err="1" smtClean="0"/>
              <a:t>m</a:t>
            </a:r>
            <a:r>
              <a:rPr lang="en-US" altLang="zh-TW" dirty="0" smtClean="0"/>
              <a:t>(s).</a:t>
            </a:r>
          </a:p>
          <a:p>
            <a:pPr marL="0" indent="0">
              <a:buNone/>
            </a:pPr>
            <a:r>
              <a:rPr lang="en-US" altLang="zh-TW" dirty="0" smtClean="0"/>
              <a:t>   - Cons(s), the length of the shortest restriction string that    	does not contain any symbol besides s. If no such restriction string exists, Cons(s) =</a:t>
            </a:r>
            <a:r>
              <a:rPr lang="zh-TW" altLang="en-US" dirty="0" smtClean="0"/>
              <a:t>∞</a:t>
            </a:r>
            <a:r>
              <a:rPr lang="en-US" altLang="zh-TW" dirty="0" smtClean="0"/>
              <a:t>.</a:t>
            </a:r>
          </a:p>
          <a:p>
            <a:pPr marL="0" indent="0">
              <a:buNone/>
            </a:pPr>
            <a:r>
              <a:rPr lang="en-US" altLang="zh-TW" dirty="0" smtClean="0"/>
              <a:t>   -Val(s), the minimum between </a:t>
            </a:r>
            <a:r>
              <a:rPr lang="en-US" altLang="zh-TW" dirty="0" err="1" smtClean="0"/>
              <a:t>Occ</a:t>
            </a:r>
            <a:r>
              <a:rPr lang="en-US" altLang="zh-TW" dirty="0" smtClean="0"/>
              <a:t>(s) and Cons(s).</a:t>
            </a:r>
          </a:p>
          <a:p>
            <a:pPr marL="0" indent="0">
              <a:buNone/>
            </a:pPr>
            <a:r>
              <a:rPr lang="en-US" altLang="zh-TW" dirty="0" smtClean="0"/>
              <a:t>3. Find s </a:t>
            </a:r>
            <a:r>
              <a:rPr lang="zh-TW" altLang="en-US" dirty="0" smtClean="0"/>
              <a:t>∈ </a:t>
            </a:r>
            <a:r>
              <a:rPr lang="el-GR" altLang="zh-TW" dirty="0" smtClean="0"/>
              <a:t>Σ</a:t>
            </a:r>
            <a:r>
              <a:rPr lang="en-US" altLang="zh-TW" dirty="0" smtClean="0"/>
              <a:t> with maximal Val(s) and return </a:t>
            </a:r>
            <a:r>
              <a:rPr lang="en-US" altLang="zh-TW" dirty="0" err="1" smtClean="0"/>
              <a:t>s</a:t>
            </a:r>
            <a:r>
              <a:rPr lang="en-US" altLang="zh-TW" baseline="30000" dirty="0" err="1" smtClean="0"/>
              <a:t>Val</a:t>
            </a:r>
            <a:r>
              <a:rPr lang="en-US" altLang="zh-TW" baseline="30000" dirty="0" smtClean="0"/>
              <a:t>(s)</a:t>
            </a:r>
            <a:r>
              <a:rPr lang="en-US" altLang="zh-TW" dirty="0" smtClean="0"/>
              <a:t>.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251520" y="4581128"/>
            <a:ext cx="194421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dirty="0"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r>
              <a:rPr lang="en-US" altLang="zh-TW" sz="20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sz="20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TW" sz="2000" dirty="0">
                <a:latin typeface="Times New Roman" pitchFamily="18" charset="0"/>
                <a:cs typeface="Times New Roman" pitchFamily="18" charset="0"/>
              </a:rPr>
              <a:t>: a b </a:t>
            </a:r>
            <a:r>
              <a:rPr lang="en-US" altLang="zh-TW" sz="2000" dirty="0" err="1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sz="2000" dirty="0"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altLang="zh-TW" sz="2000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altLang="zh-TW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TW" sz="20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sz="20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TW" sz="2000" dirty="0">
                <a:latin typeface="Times New Roman" pitchFamily="18" charset="0"/>
                <a:cs typeface="Times New Roman" pitchFamily="18" charset="0"/>
              </a:rPr>
              <a:t>: a b a b a</a:t>
            </a:r>
          </a:p>
          <a:p>
            <a:r>
              <a:rPr lang="en-US" altLang="zh-TW" sz="2000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sz="20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TW" sz="2000" dirty="0">
                <a:latin typeface="Times New Roman" pitchFamily="18" charset="0"/>
                <a:cs typeface="Times New Roman" pitchFamily="18" charset="0"/>
              </a:rPr>
              <a:t>: a b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029244893"/>
              </p:ext>
            </p:extLst>
          </p:nvPr>
        </p:nvGraphicFramePr>
        <p:xfrm>
          <a:off x="1763689" y="4365104"/>
          <a:ext cx="2520281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103"/>
                <a:gridCol w="792088"/>
                <a:gridCol w="792090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s=‘a’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s=‘b’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Occ</a:t>
                      </a:r>
                      <a:r>
                        <a:rPr lang="en-US" altLang="zh-TW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lang="en-US" altLang="zh-TW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(s)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Occ</a:t>
                      </a:r>
                      <a:r>
                        <a:rPr lang="en-US" altLang="zh-TW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lang="en-US" altLang="zh-TW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(s)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 smtClean="0">
                          <a:latin typeface="Times New Roman" pitchFamily="18" charset="0"/>
                          <a:cs typeface="Times New Roman" pitchFamily="18" charset="0"/>
                        </a:rPr>
                        <a:t>Occ</a:t>
                      </a:r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(s)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Cons(s)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∞</a:t>
                      </a:r>
                      <a:endParaRPr lang="en-US" altLang="zh-TW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∞</a:t>
                      </a:r>
                      <a:endParaRPr lang="en-US" altLang="zh-TW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Val(s)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6760615" y="5092007"/>
            <a:ext cx="1728192" cy="5539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sz="3000" dirty="0" err="1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TW" sz="3000" baseline="30000" dirty="0" err="1" smtClean="0">
                <a:latin typeface="Times New Roman" pitchFamily="18" charset="0"/>
                <a:cs typeface="Times New Roman" pitchFamily="18" charset="0"/>
              </a:rPr>
              <a:t>Val</a:t>
            </a:r>
            <a:r>
              <a:rPr lang="en-US" altLang="zh-TW" sz="3000" baseline="30000" dirty="0" smtClean="0">
                <a:latin typeface="Times New Roman" pitchFamily="18" charset="0"/>
                <a:cs typeface="Times New Roman" pitchFamily="18" charset="0"/>
              </a:rPr>
              <a:t>(s)</a:t>
            </a:r>
            <a:r>
              <a:rPr lang="en-US" altLang="zh-TW" sz="3000" dirty="0" smtClean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altLang="zh-TW" sz="3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aaa</a:t>
            </a:r>
            <a:endParaRPr lang="zh-TW" altLang="en-US" sz="30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139952" y="4869159"/>
            <a:ext cx="936104" cy="54006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</a:rPr>
              <a:t>S</a:t>
            </a:r>
            <a:r>
              <a:rPr lang="en-US" altLang="zh-TW" dirty="0" smtClean="0">
                <a:solidFill>
                  <a:sysClr val="windowText" lastClr="000000"/>
                </a:solidFill>
              </a:rPr>
              <a:t>tep1</a:t>
            </a:r>
            <a:endParaRPr lang="zh-TW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139952" y="5791617"/>
            <a:ext cx="936104" cy="51770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ysClr val="windowText" lastClr="000000"/>
                </a:solidFill>
              </a:rPr>
              <a:t>Step2</a:t>
            </a:r>
            <a:endParaRPr lang="zh-TW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156659" y="4365103"/>
            <a:ext cx="936104" cy="54016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ysClr val="windowText" lastClr="000000"/>
                </a:solidFill>
              </a:rPr>
              <a:t>Step3</a:t>
            </a:r>
            <a:endParaRPr lang="zh-TW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2" name="向右箭號 11"/>
          <p:cNvSpPr/>
          <p:nvPr/>
        </p:nvSpPr>
        <p:spPr>
          <a:xfrm>
            <a:off x="5580112" y="5242847"/>
            <a:ext cx="1008112" cy="3327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13" name="矩形 12"/>
              <p:cNvSpPr/>
              <p:nvPr/>
            </p:nvSpPr>
            <p:spPr>
              <a:xfrm>
                <a:off x="5320455" y="1196752"/>
                <a:ext cx="3672408" cy="659411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TW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lit/>
                            </m:rPr>
                            <a:rPr lang="en-US" altLang="zh-TW" b="0" i="1" smtClean="0">
                              <a:latin typeface="Cambria Math"/>
                            </a:rPr>
                            <m:t>|∑</m:t>
                          </m:r>
                          <m:r>
                            <a:rPr lang="en-US" altLang="zh-TW" b="0" i="1" smtClean="0">
                              <a:latin typeface="Cambria Math"/>
                            </a:rPr>
                            <m:t>|</m:t>
                          </m:r>
                        </m:den>
                      </m:f>
                      <m:r>
                        <a:rPr lang="en-US" altLang="zh-TW" b="0" i="1" smtClean="0">
                          <a:latin typeface="Cambria Math"/>
                        </a:rPr>
                        <m:t> </m:t>
                      </m:r>
                      <m:r>
                        <a:rPr lang="en-US" altLang="zh-TW" b="0" i="1" smtClean="0">
                          <a:latin typeface="Cambria Math"/>
                        </a:rPr>
                        <m:t>𝑎𝑝𝑝𝑟𝑜𝑥𝑖𝑚𝑎𝑡𝑖𝑜𝑛</m:t>
                      </m:r>
                      <m:r>
                        <a:rPr lang="en-US" altLang="zh-TW" b="0" i="1" smtClean="0">
                          <a:latin typeface="Cambria Math"/>
                        </a:rPr>
                        <m:t> </m:t>
                      </m:r>
                      <m:r>
                        <a:rPr lang="en-US" altLang="zh-TW" b="0" i="1" smtClean="0">
                          <a:latin typeface="Cambria Math"/>
                        </a:rPr>
                        <m:t>𝑟𝑎𝑡𝑖𝑜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0455" y="1196752"/>
                <a:ext cx="3672408" cy="659411"/>
              </a:xfrm>
              <a:prstGeom prst="rect">
                <a:avLst/>
              </a:prstGeom>
              <a:blipFill rotWithShape="1">
                <a:blip r:embed="rId2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B7EEE-99D8-4C1B-81E5-D73D142E2CCC}" type="datetime1">
              <a:rPr lang="zh-TW" altLang="en-US" smtClean="0"/>
              <a:pPr/>
              <a:t>2015/3/10</a:t>
            </a:fld>
            <a:endParaRPr lang="zh-TW" altLang="en-US"/>
          </a:p>
        </p:txBody>
      </p:sp>
      <p:sp>
        <p:nvSpPr>
          <p:cNvPr id="16" name="投影片編號版面配置區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E120A-65F0-4ECC-A539-61AA82717845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938454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Approximation Algorithms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/>
              <a:t>Algorithm II:</a:t>
            </a:r>
          </a:p>
          <a:p>
            <a:pPr marL="0" indent="0">
              <a:buNone/>
            </a:pPr>
            <a:r>
              <a:rPr lang="en-US" altLang="zh-TW" dirty="0"/>
              <a:t>1. Compute the LCS </a:t>
            </a:r>
            <a:r>
              <a:rPr lang="en-US" altLang="zh-TW" i="1" dirty="0"/>
              <a:t>S </a:t>
            </a:r>
            <a:r>
              <a:rPr lang="en-US" altLang="zh-TW" dirty="0"/>
              <a:t>of </a:t>
            </a:r>
            <a:r>
              <a:rPr lang="en-US" altLang="zh-TW" i="1" dirty="0" smtClean="0"/>
              <a:t>A</a:t>
            </a:r>
            <a:r>
              <a:rPr lang="en-US" altLang="zh-TW" baseline="-25000" dirty="0" smtClean="0"/>
              <a:t>1</a:t>
            </a:r>
            <a:r>
              <a:rPr lang="en-US" altLang="zh-TW" i="1" dirty="0" smtClean="0"/>
              <a:t>,…,A</a:t>
            </a:r>
            <a:r>
              <a:rPr lang="en-US" altLang="zh-TW" i="1" baseline="-25000" dirty="0" smtClean="0"/>
              <a:t>m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2. Return the </a:t>
            </a:r>
            <a:r>
              <a:rPr lang="en-US" altLang="zh-TW" dirty="0" smtClean="0"/>
              <a:t>prefix </a:t>
            </a:r>
            <a:r>
              <a:rPr lang="en-US" altLang="zh-TW" dirty="0"/>
              <a:t>of length </a:t>
            </a:r>
            <a:r>
              <a:rPr lang="en-US" altLang="zh-TW" i="1" dirty="0" err="1"/>
              <a:t>k</a:t>
            </a:r>
            <a:r>
              <a:rPr lang="en-US" altLang="zh-TW" i="1" baseline="-25000" dirty="0" err="1"/>
              <a:t>min</a:t>
            </a:r>
            <a:r>
              <a:rPr lang="en-US" altLang="zh-TW" i="1" dirty="0"/>
              <a:t> </a:t>
            </a:r>
            <a:r>
              <a:rPr lang="en-US" altLang="zh-TW" i="1" dirty="0" smtClean="0"/>
              <a:t>- </a:t>
            </a:r>
            <a:r>
              <a:rPr lang="en-US" altLang="zh-TW" dirty="0"/>
              <a:t>1 of </a:t>
            </a:r>
            <a:r>
              <a:rPr lang="en-US" altLang="zh-TW" i="1" dirty="0" smtClean="0"/>
              <a:t>S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251520" y="3717032"/>
            <a:ext cx="309634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000" dirty="0"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r>
              <a:rPr lang="en-US" altLang="zh-TW" sz="30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sz="30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TW" sz="3000" dirty="0">
                <a:latin typeface="Times New Roman" pitchFamily="18" charset="0"/>
                <a:cs typeface="Times New Roman" pitchFamily="18" charset="0"/>
              </a:rPr>
              <a:t>: a b </a:t>
            </a:r>
            <a:r>
              <a:rPr lang="en-US" altLang="zh-TW" sz="3000" dirty="0" err="1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sz="3000" dirty="0"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altLang="zh-TW" sz="3000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US" altLang="zh-TW" sz="3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TW" sz="30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sz="30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TW" sz="3000" dirty="0">
                <a:latin typeface="Times New Roman" pitchFamily="18" charset="0"/>
                <a:cs typeface="Times New Roman" pitchFamily="18" charset="0"/>
              </a:rPr>
              <a:t>: a b a b a</a:t>
            </a:r>
          </a:p>
          <a:p>
            <a:r>
              <a:rPr lang="en-US" altLang="zh-TW" sz="3000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sz="30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TW" sz="3000" dirty="0">
                <a:latin typeface="Times New Roman" pitchFamily="18" charset="0"/>
                <a:cs typeface="Times New Roman" pitchFamily="18" charset="0"/>
              </a:rPr>
              <a:t>: a </a:t>
            </a:r>
            <a:r>
              <a:rPr lang="en-US" altLang="zh-TW" sz="3000" dirty="0" smtClean="0">
                <a:latin typeface="Times New Roman" pitchFamily="18" charset="0"/>
                <a:cs typeface="Times New Roman" pitchFamily="18" charset="0"/>
              </a:rPr>
              <a:t>b</a:t>
            </a:r>
            <a:endParaRPr lang="en-US" altLang="zh-TW" sz="3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483768" y="3723129"/>
            <a:ext cx="3206262" cy="7078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sz="2000" dirty="0" smtClean="0">
                <a:latin typeface="Times New Roman" pitchFamily="18" charset="0"/>
                <a:cs typeface="Times New Roman" pitchFamily="18" charset="0"/>
              </a:rPr>
              <a:t>Step1:</a:t>
            </a:r>
          </a:p>
          <a:p>
            <a:r>
              <a:rPr lang="en-US" altLang="zh-TW" sz="2000" dirty="0" smtClean="0">
                <a:latin typeface="Times New Roman" pitchFamily="18" charset="0"/>
                <a:cs typeface="Times New Roman" pitchFamily="18" charset="0"/>
              </a:rPr>
              <a:t>LCS=</a:t>
            </a:r>
            <a:r>
              <a:rPr lang="en-US" altLang="zh-TW" sz="2000" dirty="0" err="1" smtClean="0">
                <a:latin typeface="Times New Roman" pitchFamily="18" charset="0"/>
                <a:cs typeface="Times New Roman" pitchFamily="18" charset="0"/>
              </a:rPr>
              <a:t>abba,abaa</a:t>
            </a:r>
            <a:endParaRPr lang="en-US" altLang="zh-TW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483768" y="4797152"/>
            <a:ext cx="3206262" cy="132343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altLang="zh-TW" sz="2000" dirty="0" smtClean="0">
                <a:latin typeface="Times New Roman" pitchFamily="18" charset="0"/>
                <a:cs typeface="Times New Roman" pitchFamily="18" charset="0"/>
              </a:rPr>
              <a:t>Step2:</a:t>
            </a:r>
          </a:p>
          <a:p>
            <a:r>
              <a:rPr lang="en-US" altLang="zh-TW" sz="2000" dirty="0" err="1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altLang="zh-TW" sz="2000" baseline="-25000" dirty="0" err="1" smtClean="0">
                <a:latin typeface="Times New Roman" pitchFamily="18" charset="0"/>
                <a:cs typeface="Times New Roman" pitchFamily="18" charset="0"/>
              </a:rPr>
              <a:t>min</a:t>
            </a:r>
            <a:r>
              <a:rPr lang="en-US" altLang="zh-TW" sz="2000" dirty="0" smtClean="0">
                <a:latin typeface="Times New Roman" pitchFamily="18" charset="0"/>
                <a:cs typeface="Times New Roman" pitchFamily="18" charset="0"/>
              </a:rPr>
              <a:t>=2</a:t>
            </a:r>
          </a:p>
          <a:p>
            <a:r>
              <a:rPr lang="en-US" altLang="zh-TW" sz="2000" dirty="0"/>
              <a:t>prefix of length </a:t>
            </a:r>
            <a:r>
              <a:rPr lang="en-US" altLang="zh-TW" sz="2000" i="1" dirty="0" err="1"/>
              <a:t>k</a:t>
            </a:r>
            <a:r>
              <a:rPr lang="en-US" altLang="zh-TW" sz="2000" i="1" baseline="-25000" dirty="0" err="1"/>
              <a:t>min</a:t>
            </a:r>
            <a:r>
              <a:rPr lang="en-US" altLang="zh-TW" sz="2000" i="1" dirty="0"/>
              <a:t> - </a:t>
            </a:r>
            <a:r>
              <a:rPr lang="en-US" altLang="zh-TW" sz="2000" dirty="0"/>
              <a:t>1 of </a:t>
            </a:r>
            <a:r>
              <a:rPr lang="en-US" altLang="zh-TW" sz="2000" i="1" dirty="0" smtClean="0"/>
              <a:t>LCS</a:t>
            </a:r>
          </a:p>
          <a:p>
            <a:r>
              <a:rPr lang="en-US" altLang="zh-TW" sz="2000" i="1" dirty="0" smtClean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altLang="zh-TW" sz="20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endParaRPr lang="en-US" altLang="zh-TW" sz="20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7" name="矩形 6"/>
              <p:cNvSpPr/>
              <p:nvPr/>
            </p:nvSpPr>
            <p:spPr>
              <a:xfrm>
                <a:off x="5292080" y="1196752"/>
                <a:ext cx="3708776" cy="663580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i="1" smtClean="0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TW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/>
                                </a:rPr>
                                <m:t>𝑚𝑖𝑛</m:t>
                              </m:r>
                            </m:sub>
                          </m:sSub>
                          <m:r>
                            <a:rPr lang="en-US" altLang="zh-TW" b="0" i="1" smtClean="0">
                              <a:latin typeface="Cambria Math"/>
                            </a:rPr>
                            <m:t>−1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/>
                                </a:rPr>
                                <m:t>𝑚𝑖𝑛</m:t>
                              </m:r>
                            </m:sub>
                          </m:sSub>
                        </m:den>
                      </m:f>
                      <m:r>
                        <a:rPr lang="en-US" altLang="zh-TW" b="0" i="1" smtClean="0">
                          <a:latin typeface="Cambria Math"/>
                        </a:rPr>
                        <m:t> </m:t>
                      </m:r>
                      <m:r>
                        <a:rPr lang="en-US" altLang="zh-TW" b="0" i="1" smtClean="0">
                          <a:latin typeface="Cambria Math"/>
                        </a:rPr>
                        <m:t>𝑎𝑝𝑝𝑟𝑜𝑥𝑖𝑚𝑎𝑡𝑖𝑜𝑛</m:t>
                      </m:r>
                      <m:r>
                        <a:rPr lang="en-US" altLang="zh-TW" b="0" i="1" smtClean="0">
                          <a:latin typeface="Cambria Math"/>
                        </a:rPr>
                        <m:t> </m:t>
                      </m:r>
                      <m:r>
                        <a:rPr lang="en-US" altLang="zh-TW" b="0" i="1" smtClean="0">
                          <a:latin typeface="Cambria Math"/>
                        </a:rPr>
                        <m:t>𝑟𝑎𝑡𝑖𝑜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2080" y="1196752"/>
                <a:ext cx="3708776" cy="663580"/>
              </a:xfrm>
              <a:prstGeom prst="rect">
                <a:avLst/>
              </a:prstGeom>
              <a:blipFill rotWithShape="1">
                <a:blip r:embed="rId2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日期版面配置區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4B568-D0E4-43B8-89EE-6CECBB811523}" type="datetime1">
              <a:rPr lang="zh-TW" altLang="en-US" smtClean="0"/>
              <a:pPr/>
              <a:t>2015/3/10</a:t>
            </a:fld>
            <a:endParaRPr lang="zh-TW" altLang="en-US"/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E120A-65F0-4ECC-A539-61AA82717845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205630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altLang="zh-TW" dirty="0" smtClean="0"/>
          </a:p>
          <a:p>
            <a:pPr marL="0" indent="0" algn="ctr">
              <a:buNone/>
            </a:pPr>
            <a:endParaRPr lang="en-US" altLang="zh-TW" dirty="0"/>
          </a:p>
          <a:p>
            <a:pPr marL="0" indent="0" algn="ctr">
              <a:buNone/>
            </a:pPr>
            <a:r>
              <a:rPr lang="en-US" altLang="zh-TW" sz="5000" smtClean="0">
                <a:cs typeface="Times New Roman" pitchFamily="18" charset="0"/>
              </a:rPr>
              <a:t>thanks </a:t>
            </a:r>
            <a:r>
              <a:rPr lang="en-US" altLang="zh-TW" sz="5000" dirty="0">
                <a:cs typeface="Times New Roman" pitchFamily="18" charset="0"/>
              </a:rPr>
              <a:t>for your listening</a:t>
            </a:r>
            <a:endParaRPr lang="zh-TW" altLang="en-US" sz="5000" dirty="0">
              <a:cs typeface="Times New Roman" pitchFamily="18" charset="0"/>
            </a:endParaRPr>
          </a:p>
          <a:p>
            <a:pPr marL="0" indent="0">
              <a:buNone/>
            </a:pP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577BC-03FF-4EE5-B005-388E3A2AB89C}" type="datetime1">
              <a:rPr lang="zh-TW" altLang="en-US" smtClean="0"/>
              <a:pPr/>
              <a:t>2015/3/10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E120A-65F0-4ECC-A539-61AA82717845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37051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Preliminaries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altLang="zh-TW" dirty="0" smtClean="0"/>
                  <a:t>using </a:t>
                </a:r>
                <a:r>
                  <a:rPr lang="en-US" altLang="zh-TW" i="1" dirty="0" smtClean="0"/>
                  <a:t>A</a:t>
                </a:r>
                <a:r>
                  <a:rPr lang="en-US" altLang="zh-TW" i="1" baseline="-25000" dirty="0" smtClean="0"/>
                  <a:t>1</a:t>
                </a:r>
                <a:r>
                  <a:rPr lang="en-US" altLang="zh-TW" i="1" dirty="0" smtClean="0"/>
                  <a:t>,…,A</a:t>
                </a:r>
                <a:r>
                  <a:rPr lang="en-US" altLang="zh-TW" i="1" baseline="-25000" dirty="0" smtClean="0"/>
                  <a:t>m</a:t>
                </a:r>
                <a:r>
                  <a:rPr lang="en-US" altLang="zh-TW" i="1" dirty="0" smtClean="0"/>
                  <a:t> </a:t>
                </a:r>
                <a:r>
                  <a:rPr lang="en-US" altLang="zh-TW" dirty="0"/>
                  <a:t>and </a:t>
                </a:r>
                <a:r>
                  <a:rPr lang="en-US" altLang="zh-TW" i="1" dirty="0" smtClean="0"/>
                  <a:t>B</a:t>
                </a:r>
                <a:r>
                  <a:rPr lang="en-US" altLang="zh-TW" baseline="-25000" dirty="0" smtClean="0"/>
                  <a:t>1</a:t>
                </a:r>
                <a:r>
                  <a:rPr lang="en-US" altLang="zh-TW" i="1" dirty="0" smtClean="0"/>
                  <a:t>,…,</a:t>
                </a:r>
                <a:r>
                  <a:rPr lang="en-US" altLang="zh-TW" i="1" dirty="0" err="1" smtClean="0"/>
                  <a:t>B</a:t>
                </a:r>
                <a:r>
                  <a:rPr lang="en-US" altLang="zh-TW" i="1" baseline="-25000" dirty="0" err="1" smtClean="0"/>
                  <a:t>l</a:t>
                </a:r>
                <a:r>
                  <a:rPr lang="en-US" altLang="zh-TW" i="1" baseline="-25000" dirty="0" smtClean="0"/>
                  <a:t> </a:t>
                </a:r>
                <a:r>
                  <a:rPr lang="en-US" altLang="zh-TW" dirty="0" smtClean="0"/>
                  <a:t>to </a:t>
                </a:r>
                <a:r>
                  <a:rPr lang="en-US" altLang="zh-TW" dirty="0"/>
                  <a:t>denote the set of </a:t>
                </a:r>
                <a:r>
                  <a:rPr lang="en-US" altLang="zh-TW" i="1" dirty="0"/>
                  <a:t>comparison </a:t>
                </a:r>
                <a:r>
                  <a:rPr lang="en-US" altLang="zh-TW" dirty="0" smtClean="0"/>
                  <a:t>and </a:t>
                </a:r>
                <a:r>
                  <a:rPr lang="en-US" altLang="zh-TW" i="1" dirty="0" smtClean="0"/>
                  <a:t>restriction </a:t>
                </a:r>
                <a:r>
                  <a:rPr lang="en-US" altLang="zh-TW" dirty="0" smtClean="0"/>
                  <a:t>strings.</a:t>
                </a:r>
              </a:p>
              <a:p>
                <a:r>
                  <a:rPr lang="en-US" altLang="zh-TW" dirty="0" smtClean="0"/>
                  <a:t>using the letter </a:t>
                </a:r>
                <a:r>
                  <a:rPr lang="en-US" altLang="zh-TW" i="1" dirty="0"/>
                  <a:t>i</a:t>
                </a:r>
                <a:r>
                  <a:rPr lang="en-US" altLang="zh-TW" b="1" i="1" dirty="0"/>
                  <a:t> </a:t>
                </a:r>
                <a:r>
                  <a:rPr lang="en-US" altLang="zh-TW" dirty="0"/>
                  <a:t>to index the comparison strings, and the letter</a:t>
                </a:r>
                <a:r>
                  <a:rPr lang="en-US" altLang="zh-TW" i="1" dirty="0"/>
                  <a:t> j </a:t>
                </a:r>
                <a:r>
                  <a:rPr lang="en-US" altLang="zh-TW" dirty="0"/>
                  <a:t>to index the </a:t>
                </a:r>
                <a:r>
                  <a:rPr lang="en-US" altLang="zh-TW" dirty="0" smtClean="0"/>
                  <a:t>restriction strings</a:t>
                </a:r>
                <a:r>
                  <a:rPr lang="en-US" altLang="zh-TW" dirty="0"/>
                  <a:t>. For </a:t>
                </a:r>
                <a:r>
                  <a:rPr lang="en-US" altLang="zh-TW" i="1" dirty="0"/>
                  <a:t>i </a:t>
                </a:r>
                <a:r>
                  <a:rPr lang="zh-TW" altLang="en-US" dirty="0"/>
                  <a:t>∈ </a:t>
                </a:r>
                <a:r>
                  <a:rPr lang="en-US" altLang="zh-TW" dirty="0" smtClean="0"/>
                  <a:t>{1,…,m}, </a:t>
                </a:r>
                <a:r>
                  <a:rPr lang="en-US" altLang="zh-TW" dirty="0"/>
                  <a:t>we write </a:t>
                </a:r>
                <a:r>
                  <a:rPr lang="en-US" altLang="zh-TW" i="1" dirty="0" err="1" smtClean="0"/>
                  <a:t>n</a:t>
                </a:r>
                <a:r>
                  <a:rPr lang="en-US" altLang="zh-TW" i="1" baseline="-25000" dirty="0" err="1" smtClean="0"/>
                  <a:t>i</a:t>
                </a:r>
                <a:r>
                  <a:rPr lang="en-US" altLang="zh-TW" i="1" dirty="0" smtClean="0"/>
                  <a:t> </a:t>
                </a:r>
                <a:r>
                  <a:rPr lang="en-US" altLang="zh-TW" dirty="0" smtClean="0"/>
                  <a:t>for </a:t>
                </a:r>
                <a:r>
                  <a:rPr lang="en-US" altLang="zh-TW" i="1" dirty="0" smtClean="0"/>
                  <a:t>|A</a:t>
                </a:r>
                <a:r>
                  <a:rPr lang="en-US" altLang="zh-TW" i="1" baseline="-25000" dirty="0" smtClean="0"/>
                  <a:t>i</a:t>
                </a:r>
                <a:r>
                  <a:rPr lang="en-US" altLang="zh-TW" i="1" dirty="0" smtClean="0"/>
                  <a:t>|</a:t>
                </a:r>
                <a:r>
                  <a:rPr lang="en-US" altLang="zh-TW" dirty="0" smtClean="0"/>
                  <a:t>, </a:t>
                </a:r>
                <a:r>
                  <a:rPr lang="en-US" altLang="zh-TW" dirty="0"/>
                  <a:t>and for </a:t>
                </a:r>
                <a:r>
                  <a:rPr lang="en-US" altLang="zh-TW" i="1" dirty="0" smtClean="0"/>
                  <a:t>j</a:t>
                </a:r>
                <a:r>
                  <a:rPr lang="zh-TW" altLang="en-US" dirty="0"/>
                  <a:t> ∈</a:t>
                </a:r>
                <a:r>
                  <a:rPr lang="en-US" altLang="zh-TW" i="1" dirty="0" smtClean="0"/>
                  <a:t> </a:t>
                </a:r>
                <a:r>
                  <a:rPr lang="en-US" altLang="zh-TW" dirty="0" smtClean="0"/>
                  <a:t>{1,…,l}, </a:t>
                </a:r>
                <a:r>
                  <a:rPr lang="en-US" altLang="zh-TW" dirty="0"/>
                  <a:t>we use </a:t>
                </a:r>
                <a:r>
                  <a:rPr lang="en-US" altLang="zh-TW" i="1" dirty="0" err="1" smtClean="0"/>
                  <a:t>k</a:t>
                </a:r>
                <a:r>
                  <a:rPr lang="en-US" altLang="zh-TW" i="1" baseline="-25000" dirty="0" err="1" smtClean="0"/>
                  <a:t>j</a:t>
                </a:r>
                <a:r>
                  <a:rPr lang="en-US" altLang="zh-TW" i="1" baseline="-25000" dirty="0" smtClean="0"/>
                  <a:t> </a:t>
                </a:r>
                <a:r>
                  <a:rPr lang="en-US" altLang="zh-TW" dirty="0" smtClean="0"/>
                  <a:t>to </a:t>
                </a:r>
                <a:r>
                  <a:rPr lang="en-US" altLang="zh-TW" dirty="0"/>
                  <a:t>denote </a:t>
                </a:r>
                <a:r>
                  <a:rPr lang="en-US" altLang="zh-TW" i="1" dirty="0"/>
                  <a:t>|</a:t>
                </a:r>
                <a:r>
                  <a:rPr lang="en-US" altLang="zh-TW" i="1" dirty="0" err="1" smtClean="0"/>
                  <a:t>B</a:t>
                </a:r>
                <a:r>
                  <a:rPr lang="en-US" altLang="zh-TW" i="1" baseline="-25000" dirty="0" err="1" smtClean="0"/>
                  <a:t>j</a:t>
                </a:r>
                <a:r>
                  <a:rPr lang="en-US" altLang="zh-TW" i="1" dirty="0" smtClean="0"/>
                  <a:t>|</a:t>
                </a:r>
                <a:r>
                  <a:rPr lang="en-US" altLang="zh-TW" dirty="0" smtClean="0"/>
                  <a:t>.</a:t>
                </a:r>
              </a:p>
              <a:p>
                <a:r>
                  <a:rPr lang="en-US" altLang="zh-TW" i="1" dirty="0" smtClean="0"/>
                  <a:t>n </a:t>
                </a:r>
                <a:r>
                  <a:rPr lang="en-US" altLang="zh-TW" dirty="0"/>
                  <a:t>is used to denote the total length of the </a:t>
                </a:r>
                <a:r>
                  <a:rPr lang="en-US" altLang="zh-TW" dirty="0" smtClean="0"/>
                  <a:t>comparison strings</a:t>
                </a:r>
                <a:r>
                  <a:rPr lang="en-US" altLang="zh-TW" dirty="0"/>
                  <a:t>, </a:t>
                </a:r>
                <a:r>
                  <a:rPr lang="en-US" altLang="zh-TW" i="1" dirty="0"/>
                  <a:t>i.e. </a:t>
                </a:r>
                <a:r>
                  <a:rPr lang="en-US" altLang="zh-TW" i="1" dirty="0" smtClean="0"/>
                  <a:t>n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altLang="zh-TW" i="1" smtClean="0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TW" b="0" i="1" smtClean="0">
                            <a:latin typeface="Cambria Math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altLang="zh-TW" b="0" i="1" smtClean="0">
                            <a:latin typeface="Cambria Math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en-US" altLang="zh-TW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altLang="zh-TW" dirty="0" smtClean="0"/>
                  <a:t> and </a:t>
                </a:r>
                <a:r>
                  <a:rPr lang="en-US" altLang="zh-TW" i="1" dirty="0"/>
                  <a:t>k </a:t>
                </a:r>
                <a:r>
                  <a:rPr lang="en-US" altLang="zh-TW" dirty="0"/>
                  <a:t>to denote the total length of the </a:t>
                </a:r>
                <a:r>
                  <a:rPr lang="en-US" altLang="zh-TW" dirty="0" smtClean="0"/>
                  <a:t>restriction strings</a:t>
                </a:r>
                <a:r>
                  <a:rPr lang="en-US" altLang="zh-TW" dirty="0"/>
                  <a:t>, </a:t>
                </a:r>
                <a:r>
                  <a:rPr lang="en-US" altLang="zh-TW" i="1" dirty="0"/>
                  <a:t>i.e. k</a:t>
                </a:r>
                <a:r>
                  <a:rPr lang="en-US" altLang="zh-TW" i="1" dirty="0" smtClean="0"/>
                  <a:t>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altLang="zh-TW" i="1" smtClean="0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1"/>
                          </m:rPr>
                          <a:rPr lang="en-US" altLang="zh-TW" b="0" i="1" smtClean="0">
                            <a:latin typeface="Cambria Math"/>
                          </a:rPr>
                          <m:t>𝑗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altLang="zh-TW" b="0" i="1" smtClean="0">
                            <a:latin typeface="Cambria Math"/>
                          </a:rPr>
                          <m:t>𝑙</m:t>
                        </m:r>
                      </m:sup>
                      <m:e>
                        <m:sSub>
                          <m:sSubPr>
                            <m:ctrlPr>
                              <a:rPr lang="en-US" altLang="zh-TW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altLang="zh-TW" dirty="0" smtClean="0"/>
                  <a:t> </a:t>
                </a:r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 cstate="print"/>
                <a:stretch>
                  <a:fillRect l="-1481" t="-2695" r="-3852" b="-18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ADAB9-E4DE-4F9A-BF4C-5E2B1848064B}" type="datetime1">
              <a:rPr lang="zh-TW" altLang="en-US" smtClean="0"/>
              <a:pPr/>
              <a:t>2015/3/10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E120A-65F0-4ECC-A539-61AA82717845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967014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919</TotalTime>
  <Words>649</Words>
  <Application>Microsoft Office PowerPoint</Application>
  <PresentationFormat>如螢幕大小 (4:3)</PresentationFormat>
  <Paragraphs>231</Paragraphs>
  <Slides>10</Slides>
  <Notes>2</Notes>
  <HiddenSlides>0</HiddenSlides>
  <MMClips>0</MMClips>
  <ScaleCrop>false</ScaleCrop>
  <HeadingPairs>
    <vt:vector size="4" baseType="variant">
      <vt:variant>
        <vt:lpstr>佈景主題</vt:lpstr>
      </vt:variant>
      <vt:variant>
        <vt:i4>2</vt:i4>
      </vt:variant>
      <vt:variant>
        <vt:lpstr>投影片標題</vt:lpstr>
      </vt:variant>
      <vt:variant>
        <vt:i4>10</vt:i4>
      </vt:variant>
    </vt:vector>
  </HeadingPairs>
  <TitlesOfParts>
    <vt:vector size="12" baseType="lpstr">
      <vt:lpstr>Office 佈景主題</vt:lpstr>
      <vt:lpstr>1_Office 佈景主題</vt:lpstr>
      <vt:lpstr>Restricted LCS</vt:lpstr>
      <vt:lpstr>Abstract</vt:lpstr>
      <vt:lpstr>Definition</vt:lpstr>
      <vt:lpstr>Preliminaries(1/2)</vt:lpstr>
      <vt:lpstr>Preliminaries(2/2)</vt:lpstr>
      <vt:lpstr>Exact Algorithms</vt:lpstr>
      <vt:lpstr>Approximation Algorithms</vt:lpstr>
      <vt:lpstr>Approximation Algorithms</vt:lpstr>
      <vt:lpstr>投影片 9</vt:lpstr>
      <vt:lpstr>Preliminaries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Restricted LCS</dc:title>
  <dc:creator>Leo</dc:creator>
  <cp:lastModifiedBy>cse</cp:lastModifiedBy>
  <cp:revision>22</cp:revision>
  <dcterms:created xsi:type="dcterms:W3CDTF">2015-03-06T19:58:12Z</dcterms:created>
  <dcterms:modified xsi:type="dcterms:W3CDTF">2015-03-10T11:18:12Z</dcterms:modified>
</cp:coreProperties>
</file>