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2" r:id="rId6"/>
    <p:sldId id="274" r:id="rId7"/>
    <p:sldId id="261" r:id="rId8"/>
    <p:sldId id="263" r:id="rId9"/>
    <p:sldId id="265" r:id="rId10"/>
    <p:sldId id="266" r:id="rId11"/>
    <p:sldId id="267" r:id="rId12"/>
    <p:sldId id="268" r:id="rId13"/>
    <p:sldId id="271" r:id="rId14"/>
    <p:sldId id="269" r:id="rId15"/>
    <p:sldId id="270" r:id="rId16"/>
    <p:sldId id="272" r:id="rId17"/>
    <p:sldId id="273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2F7C6-800F-4DA5-B4AC-55DD923532D6}" type="datetimeFigureOut">
              <a:rPr lang="zh-TW" altLang="en-US" smtClean="0"/>
              <a:pPr/>
              <a:t>2015/7/28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4052B-BD35-41EE-8926-D4436174030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31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AAEF-8CD6-4FAB-BB83-EBA3B906C51C}" type="datetimeFigureOut">
              <a:rPr lang="zh-TW" altLang="en-US" smtClean="0"/>
              <a:pPr/>
              <a:t>2015/7/28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D33A-4167-4E7B-9AB6-33E7CA671A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AAEF-8CD6-4FAB-BB83-EBA3B906C51C}" type="datetimeFigureOut">
              <a:rPr lang="zh-TW" altLang="en-US" smtClean="0"/>
              <a:pPr/>
              <a:t>2015/7/28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D33A-4167-4E7B-9AB6-33E7CA671A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AAEF-8CD6-4FAB-BB83-EBA3B906C51C}" type="datetimeFigureOut">
              <a:rPr lang="zh-TW" altLang="en-US" smtClean="0"/>
              <a:pPr/>
              <a:t>2015/7/28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D33A-4167-4E7B-9AB6-33E7CA671A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AAEF-8CD6-4FAB-BB83-EBA3B906C51C}" type="datetimeFigureOut">
              <a:rPr lang="zh-TW" altLang="en-US" smtClean="0"/>
              <a:pPr/>
              <a:t>2015/7/28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D33A-4167-4E7B-9AB6-33E7CA671A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AAEF-8CD6-4FAB-BB83-EBA3B906C51C}" type="datetimeFigureOut">
              <a:rPr lang="zh-TW" altLang="en-US" smtClean="0"/>
              <a:pPr/>
              <a:t>2015/7/28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D33A-4167-4E7B-9AB6-33E7CA671A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AAEF-8CD6-4FAB-BB83-EBA3B906C51C}" type="datetimeFigureOut">
              <a:rPr lang="zh-TW" altLang="en-US" smtClean="0"/>
              <a:pPr/>
              <a:t>2015/7/28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D33A-4167-4E7B-9AB6-33E7CA671A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AAEF-8CD6-4FAB-BB83-EBA3B906C51C}" type="datetimeFigureOut">
              <a:rPr lang="zh-TW" altLang="en-US" smtClean="0"/>
              <a:pPr/>
              <a:t>2015/7/28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D33A-4167-4E7B-9AB6-33E7CA671A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AAEF-8CD6-4FAB-BB83-EBA3B906C51C}" type="datetimeFigureOut">
              <a:rPr lang="zh-TW" altLang="en-US" smtClean="0"/>
              <a:pPr/>
              <a:t>2015/7/28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D33A-4167-4E7B-9AB6-33E7CA671A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AAEF-8CD6-4FAB-BB83-EBA3B906C51C}" type="datetimeFigureOut">
              <a:rPr lang="zh-TW" altLang="en-US" smtClean="0"/>
              <a:pPr/>
              <a:t>2015/7/28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D33A-4167-4E7B-9AB6-33E7CA671A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AAEF-8CD6-4FAB-BB83-EBA3B906C51C}" type="datetimeFigureOut">
              <a:rPr lang="zh-TW" altLang="en-US" smtClean="0"/>
              <a:pPr/>
              <a:t>2015/7/28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D33A-4167-4E7B-9AB6-33E7CA671A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AAEF-8CD6-4FAB-BB83-EBA3B906C51C}" type="datetimeFigureOut">
              <a:rPr lang="zh-TW" altLang="en-US" smtClean="0"/>
              <a:pPr/>
              <a:t>2015/7/28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D33A-4167-4E7B-9AB6-33E7CA671A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1AAEF-8CD6-4FAB-BB83-EBA3B906C51C}" type="datetimeFigureOut">
              <a:rPr lang="zh-TW" altLang="en-US" smtClean="0"/>
              <a:pPr/>
              <a:t>2015/7/28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6D33A-4167-4E7B-9AB6-33E7CA671A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5.gif"/><Relationship Id="rId12" Type="http://schemas.openxmlformats.org/officeDocument/2006/relationships/image" Target="../media/image4.wmf"/><Relationship Id="rId1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8.bin"/><Relationship Id="rId10" Type="http://schemas.openxmlformats.org/officeDocument/2006/relationships/oleObject" Target="../embeddings/oleObject4.bin"/><Relationship Id="rId4" Type="http://schemas.openxmlformats.org/officeDocument/2006/relationships/image" Target="../media/image1.wmf"/><Relationship Id="rId9" Type="http://schemas.openxmlformats.org/officeDocument/2006/relationships/image" Target="../media/image3.wmf"/><Relationship Id="rId1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11.bin"/><Relationship Id="rId7" Type="http://schemas.openxmlformats.org/officeDocument/2006/relationships/image" Target="../media/image6.g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7.gif"/><Relationship Id="rId4" Type="http://schemas.openxmlformats.org/officeDocument/2006/relationships/image" Target="../media/image3.wmf"/><Relationship Id="rId9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/>
              <a:t>Efficient Time Series Matching </a:t>
            </a:r>
            <a:r>
              <a:rPr lang="en-US" altLang="zh-TW" b="1" dirty="0" smtClean="0"/>
              <a:t>by Wavelets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Kin-pong Chan ,</a:t>
            </a:r>
            <a:r>
              <a:rPr lang="en-US" altLang="zh-TW" dirty="0" smtClean="0"/>
              <a:t>Ada </a:t>
            </a:r>
            <a:r>
              <a:rPr lang="en-US" altLang="zh-TW" dirty="0" err="1"/>
              <a:t>Wai-chee</a:t>
            </a:r>
            <a:r>
              <a:rPr lang="en-US" altLang="zh-TW" dirty="0"/>
              <a:t> </a:t>
            </a:r>
            <a:r>
              <a:rPr lang="en-US" altLang="zh-TW" dirty="0" smtClean="0"/>
              <a:t>Fu,</a:t>
            </a:r>
            <a:r>
              <a:rPr lang="en-US" dirty="0"/>
              <a:t> </a:t>
            </a:r>
            <a:r>
              <a:rPr lang="en-US" altLang="zh-TW" dirty="0"/>
              <a:t>Proceedings of the 15th International Conference on Data </a:t>
            </a:r>
            <a:r>
              <a:rPr lang="en-US" altLang="zh-TW" dirty="0" smtClean="0"/>
              <a:t>,</a:t>
            </a:r>
            <a:r>
              <a:rPr lang="en-US" dirty="0" smtClean="0"/>
              <a:t>1999</a:t>
            </a:r>
            <a:r>
              <a:rPr lang="en-US" dirty="0"/>
              <a:t>. </a:t>
            </a:r>
            <a:r>
              <a:rPr lang="en-US" dirty="0" smtClean="0"/>
              <a:t>P.</a:t>
            </a:r>
            <a:r>
              <a:rPr lang="en-US" altLang="zh-TW" dirty="0" smtClean="0"/>
              <a:t>126 </a:t>
            </a:r>
            <a:r>
              <a:rPr lang="en-US" altLang="zh-TW" dirty="0" smtClean="0"/>
              <a:t>– P.133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429256" y="5715016"/>
            <a:ext cx="3570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Reporter: </a:t>
            </a:r>
            <a:r>
              <a:rPr lang="en-US" altLang="zh-TW" sz="2400" dirty="0" err="1" smtClean="0">
                <a:latin typeface="標楷體" pitchFamily="65" charset="-120"/>
                <a:ea typeface="標楷體" pitchFamily="65" charset="-120"/>
              </a:rPr>
              <a:t>Wen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-Chuan Ho</a:t>
            </a:r>
          </a:p>
          <a:p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Date:2015/07/28</a:t>
            </a:r>
            <a:endParaRPr lang="en-US" altLang="zh-TW" sz="24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57298"/>
            <a:ext cx="8329642" cy="5286412"/>
          </a:xfrm>
        </p:spPr>
        <p:txBody>
          <a:bodyPr>
            <a:normAutofit fontScale="92500" lnSpcReduction="10000"/>
          </a:bodyPr>
          <a:lstStyle/>
          <a:p>
            <a:pPr marL="0">
              <a:spcBef>
                <a:spcPts val="0"/>
              </a:spcBef>
              <a:buNone/>
            </a:pPr>
            <a:r>
              <a:rPr lang="en-US" altLang="zh-TW" dirty="0"/>
              <a:t>Time series stored as feature vectors can be indexed by </a:t>
            </a:r>
            <a:r>
              <a:rPr lang="en-US" altLang="zh-TW" dirty="0" smtClean="0"/>
              <a:t>multidimensional index </a:t>
            </a:r>
            <a:r>
              <a:rPr lang="en-US" altLang="zh-TW" dirty="0"/>
              <a:t>trees like R-Trees for fast retrieval. Due </a:t>
            </a:r>
            <a:r>
              <a:rPr lang="en-US" altLang="zh-TW" dirty="0" smtClean="0"/>
              <a:t>to the </a:t>
            </a:r>
            <a:r>
              <a:rPr lang="en-US" altLang="zh-TW" dirty="0"/>
              <a:t>dimensionality curse problem, transformations are applied </a:t>
            </a:r>
            <a:r>
              <a:rPr lang="en-US" altLang="zh-TW" dirty="0" smtClean="0"/>
              <a:t>to time </a:t>
            </a:r>
            <a:r>
              <a:rPr lang="en-US" altLang="zh-TW" dirty="0"/>
              <a:t>series to reduce the number of dimensions of the feature </a:t>
            </a:r>
            <a:r>
              <a:rPr lang="en-US" altLang="zh-TW" dirty="0" smtClean="0"/>
              <a:t>vectors. Different </a:t>
            </a:r>
            <a:r>
              <a:rPr lang="en-US" altLang="zh-TW" dirty="0"/>
              <a:t>transformations like Discrete Fourier </a:t>
            </a:r>
            <a:r>
              <a:rPr lang="en-US" altLang="zh-TW" dirty="0" smtClean="0"/>
              <a:t>Transform (DFT</a:t>
            </a:r>
            <a:r>
              <a:rPr lang="en-US" altLang="zh-TW" dirty="0"/>
              <a:t>), Discrete Wavelet Transform (DWT), </a:t>
            </a:r>
            <a:r>
              <a:rPr lang="en-US" altLang="zh-TW" dirty="0" err="1"/>
              <a:t>Karhunen-Loeve</a:t>
            </a:r>
            <a:r>
              <a:rPr lang="en-US" altLang="zh-TW" dirty="0"/>
              <a:t> (</a:t>
            </a:r>
            <a:r>
              <a:rPr lang="en-US" altLang="zh-TW" dirty="0" smtClean="0"/>
              <a:t>KL) transform </a:t>
            </a:r>
            <a:r>
              <a:rPr lang="en-US" altLang="zh-TW" dirty="0"/>
              <a:t>or Singular Value Decomposition (SVD) can be </a:t>
            </a:r>
            <a:r>
              <a:rPr lang="en-US" altLang="zh-TW" dirty="0" smtClean="0"/>
              <a:t>applied. While </a:t>
            </a:r>
            <a:r>
              <a:rPr lang="en-US" altLang="zh-TW" dirty="0"/>
              <a:t>the use of DFT and K-L transform or SVD have </a:t>
            </a:r>
            <a:r>
              <a:rPr lang="en-US" altLang="zh-TW" dirty="0" smtClean="0"/>
              <a:t>been studied </a:t>
            </a:r>
            <a:r>
              <a:rPr lang="en-US" altLang="zh-TW" dirty="0"/>
              <a:t>in the literature, to our knowledge, there is no </a:t>
            </a:r>
            <a:r>
              <a:rPr lang="en-US" altLang="zh-TW" dirty="0" smtClean="0"/>
              <a:t>in-depth study </a:t>
            </a:r>
            <a:r>
              <a:rPr lang="en-US" altLang="zh-TW" dirty="0"/>
              <a:t>on the application of DWT. 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900634"/>
          </a:xfrm>
        </p:spPr>
        <p:txBody>
          <a:bodyPr>
            <a:normAutofit fontScale="92500"/>
          </a:bodyPr>
          <a:lstStyle/>
          <a:p>
            <a:pPr marL="0">
              <a:spcBef>
                <a:spcPts val="0"/>
              </a:spcBef>
              <a:buNone/>
            </a:pPr>
            <a:r>
              <a:rPr lang="en-US" altLang="zh-TW" dirty="0" smtClean="0"/>
              <a:t>In this paper, we propose to use </a:t>
            </a:r>
            <a:r>
              <a:rPr lang="en-US" altLang="zh-TW" dirty="0" err="1" smtClean="0"/>
              <a:t>Haar</a:t>
            </a:r>
            <a:r>
              <a:rPr lang="en-US" altLang="zh-TW" dirty="0" smtClean="0"/>
              <a:t> Wavelet Transform for time series indexing. The major contributions are: (1) we show that Euclidean distance is preserved in the </a:t>
            </a:r>
            <a:r>
              <a:rPr lang="en-US" altLang="zh-TW" dirty="0" err="1" smtClean="0"/>
              <a:t>Haar</a:t>
            </a:r>
            <a:r>
              <a:rPr lang="en-US" altLang="zh-TW" dirty="0" smtClean="0"/>
              <a:t> transformed domain and no false dismissal will occur, (2) we show that </a:t>
            </a:r>
            <a:r>
              <a:rPr lang="en-US" altLang="zh-TW" dirty="0" err="1" smtClean="0"/>
              <a:t>Haar</a:t>
            </a:r>
            <a:r>
              <a:rPr lang="en-US" altLang="zh-TW" dirty="0" smtClean="0"/>
              <a:t> transform can outperform DFT through experiments, (3) a new similarity model is suggested to accommodate vertical shift of time series, and (4) a two-phase method is proposed for efficient -nearest neighbor query in time series databases.</a:t>
            </a:r>
            <a:endParaRPr lang="zh-TW" altLang="en-US" dirty="0" smtClean="0"/>
          </a:p>
          <a:p>
            <a:pPr marL="0">
              <a:spcBef>
                <a:spcPts val="0"/>
              </a:spcBef>
            </a:pP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Similarity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   = {x</a:t>
            </a:r>
            <a:r>
              <a:rPr lang="en-US" altLang="zh-TW" baseline="-25000" dirty="0" smtClean="0"/>
              <a:t>0</a:t>
            </a:r>
            <a:r>
              <a:rPr lang="en-US" altLang="zh-TW" dirty="0" smtClean="0"/>
              <a:t>, 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…, x</a:t>
            </a:r>
            <a:r>
              <a:rPr lang="en-US" altLang="zh-TW" baseline="-25000" dirty="0" smtClean="0"/>
              <a:t>n-1</a:t>
            </a:r>
            <a:r>
              <a:rPr lang="en-US" altLang="zh-TW" dirty="0" smtClean="0"/>
              <a:t>}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= {y</a:t>
            </a:r>
            <a:r>
              <a:rPr lang="en-US" altLang="zh-TW" baseline="-25000" dirty="0" smtClean="0"/>
              <a:t>0</a:t>
            </a:r>
            <a:r>
              <a:rPr lang="en-US" altLang="zh-TW" dirty="0" smtClean="0"/>
              <a:t>, 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…, y</a:t>
            </a:r>
            <a:r>
              <a:rPr lang="en-US" altLang="zh-TW" baseline="-25000" dirty="0" smtClean="0"/>
              <a:t>n-1</a:t>
            </a:r>
            <a:r>
              <a:rPr lang="en-US" altLang="zh-TW" dirty="0" smtClean="0"/>
              <a:t>}</a:t>
            </a:r>
          </a:p>
          <a:p>
            <a:pPr>
              <a:buNone/>
            </a:pPr>
            <a:endParaRPr lang="en-US" altLang="zh-TW" sz="1600" dirty="0" smtClean="0"/>
          </a:p>
          <a:p>
            <a:r>
              <a:rPr lang="en-US" altLang="zh-TW" dirty="0" smtClean="0"/>
              <a:t> </a:t>
            </a:r>
          </a:p>
          <a:p>
            <a:endParaRPr lang="en-US" altLang="zh-TW" sz="1050" dirty="0" smtClean="0"/>
          </a:p>
          <a:p>
            <a:r>
              <a:rPr lang="en-US" altLang="zh-TW" dirty="0" smtClean="0"/>
              <a:t>Ex:</a:t>
            </a:r>
          </a:p>
          <a:p>
            <a:pPr lvl="2">
              <a:buNone/>
            </a:pPr>
            <a:r>
              <a:rPr lang="en-US" altLang="zh-TW" sz="2800" dirty="0" smtClean="0"/>
              <a:t>    = {4, 5, 6, 7, 8 }                = {2, 4, 6, 8}</a:t>
            </a:r>
          </a:p>
          <a:p>
            <a:pPr lvl="2">
              <a:buNone/>
            </a:pPr>
            <a:r>
              <a:rPr lang="en-US" altLang="zh-TW" sz="2800" dirty="0" smtClean="0"/>
              <a:t>    = {4, 6, 6, 7 ,8 }                = {0, 2, 4, 6}</a:t>
            </a:r>
          </a:p>
          <a:p>
            <a:pPr lvl="2">
              <a:buNone/>
            </a:pPr>
            <a:r>
              <a:rPr lang="en-US" altLang="zh-TW" sz="2800" dirty="0" smtClean="0"/>
              <a:t>D(     ,      ) = 1                   D(    ,    ) = 4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714348" y="1643050"/>
          <a:ext cx="500066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方程式" r:id="rId3" imgW="126720" imgH="177480" progId="Equation.3">
                  <p:embed/>
                </p:oleObj>
              </mc:Choice>
              <mc:Fallback>
                <p:oleObj name="方程式" r:id="rId3" imgW="12672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8" y="1643050"/>
                        <a:ext cx="500066" cy="500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714348" y="2214558"/>
          <a:ext cx="5492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方程式" r:id="rId5" imgW="139680" imgH="203040" progId="Equation.3">
                  <p:embed/>
                </p:oleObj>
              </mc:Choice>
              <mc:Fallback>
                <p:oleObj name="方程式" r:id="rId5" imgW="13968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8" y="2214558"/>
                        <a:ext cx="5492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圖片 9" descr="Capture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24" y="2786058"/>
            <a:ext cx="3276600" cy="1066800"/>
          </a:xfrm>
          <a:prstGeom prst="rect">
            <a:avLst/>
          </a:prstGeom>
        </p:spPr>
      </p:pic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1357293" y="4357694"/>
          <a:ext cx="50006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" name="方程式" r:id="rId8" imgW="126720" imgH="177480" progId="Equation.3">
                  <p:embed/>
                </p:oleObj>
              </mc:Choice>
              <mc:Fallback>
                <p:oleObj name="方程式" r:id="rId8" imgW="126720" imgH="177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293" y="4357694"/>
                        <a:ext cx="500063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1308081" y="4857760"/>
          <a:ext cx="5492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" name="方程式" r:id="rId10" imgW="139680" imgH="203040" progId="Equation.3">
                  <p:embed/>
                </p:oleObj>
              </mc:Choice>
              <mc:Fallback>
                <p:oleObj name="方程式" r:id="rId10" imgW="139680" imgH="2030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081" y="4857760"/>
                        <a:ext cx="5492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1785918" y="5429268"/>
          <a:ext cx="50006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方程式" r:id="rId11" imgW="126720" imgH="177480" progId="Equation.3">
                  <p:embed/>
                </p:oleObj>
              </mc:Choice>
              <mc:Fallback>
                <p:oleObj name="方程式" r:id="rId11" imgW="126720" imgH="177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18" y="5429268"/>
                        <a:ext cx="500063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" name="Object 10"/>
          <p:cNvGraphicFramePr>
            <a:graphicFrameLocks noChangeAspect="1"/>
          </p:cNvGraphicFramePr>
          <p:nvPr/>
        </p:nvGraphicFramePr>
        <p:xfrm>
          <a:off x="2285984" y="5429268"/>
          <a:ext cx="5492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方程式" r:id="rId13" imgW="139680" imgH="203040" progId="Equation.3">
                  <p:embed/>
                </p:oleObj>
              </mc:Choice>
              <mc:Fallback>
                <p:oleObj name="方程式" r:id="rId13" imgW="139680" imgH="2030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984" y="5429268"/>
                        <a:ext cx="5492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5" name="Object 11"/>
          <p:cNvGraphicFramePr>
            <a:graphicFrameLocks noChangeAspect="1"/>
          </p:cNvGraphicFramePr>
          <p:nvPr/>
        </p:nvGraphicFramePr>
        <p:xfrm>
          <a:off x="4786318" y="4357694"/>
          <a:ext cx="5000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" name="方程式" r:id="rId14" imgW="126720" imgH="177480" progId="Equation.3">
                  <p:embed/>
                </p:oleObj>
              </mc:Choice>
              <mc:Fallback>
                <p:oleObj name="方程式" r:id="rId14" imgW="126720" imgH="1774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8" y="4357694"/>
                        <a:ext cx="50006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Object 12"/>
          <p:cNvGraphicFramePr>
            <a:graphicFrameLocks noChangeAspect="1"/>
          </p:cNvGraphicFramePr>
          <p:nvPr/>
        </p:nvGraphicFramePr>
        <p:xfrm>
          <a:off x="4786314" y="4857760"/>
          <a:ext cx="5492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" name="方程式" r:id="rId15" imgW="139680" imgH="203040" progId="Equation.3">
                  <p:embed/>
                </p:oleObj>
              </mc:Choice>
              <mc:Fallback>
                <p:oleObj name="方程式" r:id="rId15" imgW="139680" imgH="20304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4" y="4857760"/>
                        <a:ext cx="5492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" name="Object 13"/>
          <p:cNvGraphicFramePr>
            <a:graphicFrameLocks noChangeAspect="1"/>
          </p:cNvGraphicFramePr>
          <p:nvPr/>
        </p:nvGraphicFramePr>
        <p:xfrm>
          <a:off x="5214942" y="5429267"/>
          <a:ext cx="500062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" name="方程式" r:id="rId16" imgW="126720" imgH="177480" progId="Equation.3">
                  <p:embed/>
                </p:oleObj>
              </mc:Choice>
              <mc:Fallback>
                <p:oleObj name="方程式" r:id="rId16" imgW="126720" imgH="1774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42" y="5429267"/>
                        <a:ext cx="500062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8" name="Object 14"/>
          <p:cNvGraphicFramePr>
            <a:graphicFrameLocks noChangeAspect="1"/>
          </p:cNvGraphicFramePr>
          <p:nvPr/>
        </p:nvGraphicFramePr>
        <p:xfrm>
          <a:off x="5594361" y="5429264"/>
          <a:ext cx="5492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" name="方程式" r:id="rId17" imgW="139680" imgH="203040" progId="Equation.3">
                  <p:embed/>
                </p:oleObj>
              </mc:Choice>
              <mc:Fallback>
                <p:oleObj name="方程式" r:id="rId17" imgW="139680" imgH="20304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361" y="5429264"/>
                        <a:ext cx="5492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V-shift similar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TW" dirty="0" smtClean="0"/>
              <a:t>     = {2, 4, 6, 8}</a:t>
            </a:r>
          </a:p>
          <a:p>
            <a:pPr>
              <a:buNone/>
            </a:pPr>
            <a:r>
              <a:rPr lang="en-US" altLang="zh-TW" dirty="0" smtClean="0"/>
              <a:t>     = {0, 2, 4, 6}</a:t>
            </a:r>
          </a:p>
          <a:p>
            <a:pPr>
              <a:buNone/>
            </a:pPr>
            <a:r>
              <a:rPr lang="en-US" altLang="zh-TW" dirty="0" smtClean="0"/>
              <a:t>D</a:t>
            </a:r>
            <a:r>
              <a:rPr lang="en-US" altLang="zh-TW" dirty="0" smtClean="0"/>
              <a:t>(     ,      ) = 0</a:t>
            </a:r>
          </a:p>
          <a:p>
            <a:endParaRPr lang="zh-TW" altLang="en-US" dirty="0" smtClean="0"/>
          </a:p>
          <a:p>
            <a:pPr>
              <a:buNone/>
            </a:pPr>
            <a:endParaRPr lang="en-US" altLang="zh-TW" dirty="0" smtClean="0"/>
          </a:p>
          <a:p>
            <a:endParaRPr lang="en-US" altLang="zh-TW" dirty="0" smtClean="0"/>
          </a:p>
          <a:p>
            <a:pPr>
              <a:buNone/>
            </a:pPr>
            <a:endParaRPr lang="zh-TW" altLang="en-US" dirty="0"/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571472" y="1643050"/>
          <a:ext cx="5000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8" name="方程式" r:id="rId3" imgW="126720" imgH="177480" progId="Equation.3">
                  <p:embed/>
                </p:oleObj>
              </mc:Choice>
              <mc:Fallback>
                <p:oleObj name="方程式" r:id="rId3" imgW="12672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2" y="1643050"/>
                        <a:ext cx="50006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571472" y="2214554"/>
          <a:ext cx="5492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9" name="方程式" r:id="rId5" imgW="139680" imgH="203040" progId="Equation.3">
                  <p:embed/>
                </p:oleObj>
              </mc:Choice>
              <mc:Fallback>
                <p:oleObj name="方程式" r:id="rId5" imgW="13968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2" y="2214554"/>
                        <a:ext cx="5492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圖片 8" descr="3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7904" y="1472866"/>
            <a:ext cx="4612906" cy="2381126"/>
          </a:xfrm>
          <a:prstGeom prst="rect">
            <a:avLst/>
          </a:prstGeom>
        </p:spPr>
      </p:pic>
      <p:graphicFrame>
        <p:nvGraphicFramePr>
          <p:cNvPr id="18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918545"/>
              </p:ext>
            </p:extLst>
          </p:nvPr>
        </p:nvGraphicFramePr>
        <p:xfrm>
          <a:off x="870716" y="2850113"/>
          <a:ext cx="5000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0" name="方程式" r:id="rId8" imgW="126720" imgH="177480" progId="Equation.3">
                  <p:embed/>
                </p:oleObj>
              </mc:Choice>
              <mc:Fallback>
                <p:oleObj name="方程式" r:id="rId8" imgW="126720" imgH="177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716" y="2850113"/>
                        <a:ext cx="50006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514232"/>
              </p:ext>
            </p:extLst>
          </p:nvPr>
        </p:nvGraphicFramePr>
        <p:xfrm>
          <a:off x="1509656" y="2809321"/>
          <a:ext cx="5492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1" name="方程式" r:id="rId9" imgW="139680" imgH="203040" progId="Equation.3">
                  <p:embed/>
                </p:oleObj>
              </mc:Choice>
              <mc:Fallback>
                <p:oleObj name="方程式" r:id="rId9" imgW="139680" imgH="2030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656" y="2809321"/>
                        <a:ext cx="5492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圖片 12" descr="2.GI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632" y="3767144"/>
            <a:ext cx="464347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Haar</a:t>
            </a:r>
            <a:r>
              <a:rPr lang="en-US" altLang="zh-TW" dirty="0"/>
              <a:t> Wavelets (</a:t>
            </a:r>
            <a:r>
              <a:rPr lang="en-US" altLang="zh-TW" dirty="0" smtClean="0"/>
              <a:t>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 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Advantage</a:t>
            </a:r>
          </a:p>
          <a:p>
            <a:pPr lvl="1"/>
            <a:r>
              <a:rPr lang="en-US" altLang="zh-TW" dirty="0" smtClean="0"/>
              <a:t>It allows </a:t>
            </a:r>
            <a:r>
              <a:rPr lang="en-US" altLang="zh-TW" dirty="0"/>
              <a:t>good </a:t>
            </a:r>
            <a:r>
              <a:rPr lang="en-US" altLang="zh-TW" dirty="0" smtClean="0"/>
              <a:t>approximation with </a:t>
            </a:r>
            <a:r>
              <a:rPr lang="en-US" altLang="zh-TW" dirty="0"/>
              <a:t>a subset of </a:t>
            </a:r>
            <a:r>
              <a:rPr lang="en-US" altLang="zh-TW" dirty="0" smtClean="0"/>
              <a:t>coefficients.</a:t>
            </a:r>
          </a:p>
          <a:p>
            <a:pPr lvl="1"/>
            <a:r>
              <a:rPr lang="en-US" altLang="zh-TW" dirty="0" smtClean="0"/>
              <a:t>It can </a:t>
            </a:r>
            <a:r>
              <a:rPr lang="en-US" altLang="zh-TW" dirty="0"/>
              <a:t>be computed quickly </a:t>
            </a:r>
            <a:r>
              <a:rPr lang="en-US" altLang="zh-TW" dirty="0" smtClean="0"/>
              <a:t>and easily.</a:t>
            </a:r>
          </a:p>
          <a:p>
            <a:pPr lvl="1"/>
            <a:r>
              <a:rPr lang="en-US" altLang="zh-TW" dirty="0" smtClean="0"/>
              <a:t>It preserves </a:t>
            </a:r>
            <a:r>
              <a:rPr lang="en-US" altLang="zh-TW" dirty="0"/>
              <a:t>Euclidean </a:t>
            </a:r>
            <a:r>
              <a:rPr lang="en-US" altLang="zh-TW" dirty="0" smtClean="0"/>
              <a:t>distance.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798" y="1593736"/>
            <a:ext cx="3563888" cy="267291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772816"/>
            <a:ext cx="4295328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5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>
                <a:latin typeface="+mn-lt"/>
              </a:rPr>
              <a:t>Haar</a:t>
            </a:r>
            <a:r>
              <a:rPr lang="en-US" altLang="zh-TW" dirty="0" smtClean="0">
                <a:latin typeface="+mn-lt"/>
              </a:rPr>
              <a:t> Wavelets </a:t>
            </a:r>
            <a:r>
              <a:rPr lang="en-US" altLang="zh-TW" dirty="0" smtClean="0">
                <a:latin typeface="+mn-lt"/>
              </a:rPr>
              <a:t>(</a:t>
            </a:r>
            <a:r>
              <a:rPr lang="en-US" altLang="zh-TW" dirty="0" smtClean="0">
                <a:latin typeface="+mn-lt"/>
              </a:rPr>
              <a:t>2</a:t>
            </a:r>
            <a:r>
              <a:rPr lang="en-US" altLang="zh-TW" dirty="0" smtClean="0">
                <a:latin typeface="+mn-lt"/>
              </a:rPr>
              <a:t>/3)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f(x) = (9 7 3 5)      H(f(x)) = (6 2 1 -1)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        </a:t>
            </a:r>
            <a:r>
              <a:rPr lang="en-US" altLang="zh-TW" dirty="0" smtClean="0"/>
              <a:t>              </a:t>
            </a:r>
            <a:r>
              <a:rPr lang="en-US" altLang="zh-TW" dirty="0" smtClean="0"/>
              <a:t>= 1/2                          </a:t>
            </a:r>
            <a:r>
              <a:rPr lang="en-US" altLang="zh-TW" dirty="0" smtClean="0"/>
              <a:t>X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圖片 3" descr="4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290" y="2357430"/>
            <a:ext cx="6357982" cy="1071570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234565"/>
              </p:ext>
            </p:extLst>
          </p:nvPr>
        </p:nvGraphicFramePr>
        <p:xfrm>
          <a:off x="3619936" y="3789040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510228"/>
              </p:ext>
            </p:extLst>
          </p:nvPr>
        </p:nvGraphicFramePr>
        <p:xfrm>
          <a:off x="6294646" y="3789040"/>
          <a:ext cx="95656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540000"/>
                <a:gridCol w="208280"/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544051"/>
              </p:ext>
            </p:extLst>
          </p:nvPr>
        </p:nvGraphicFramePr>
        <p:xfrm>
          <a:off x="1619672" y="3789040"/>
          <a:ext cx="95656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540000"/>
                <a:gridCol w="208280"/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a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b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c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d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043608" y="6161282"/>
            <a:ext cx="2540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Complexity </a:t>
            </a:r>
            <a:r>
              <a:rPr lang="en-US" altLang="zh-TW" sz="2800" dirty="0"/>
              <a:t>O(n)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Haar</a:t>
            </a:r>
            <a:r>
              <a:rPr lang="en-US" altLang="zh-TW" dirty="0" smtClean="0"/>
              <a:t> Wavelets 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f(x) = (9 7 3 5)      H(f(x)) = (6 2 1 -1)</a:t>
            </a:r>
          </a:p>
          <a:p>
            <a:endParaRPr lang="en-US" altLang="zh-TW" dirty="0" smtClean="0"/>
          </a:p>
          <a:p>
            <a:pPr>
              <a:buNone/>
            </a:pPr>
            <a:r>
              <a:rPr lang="en-US" altLang="zh-TW" sz="1400" dirty="0" smtClean="0"/>
              <a:t> </a:t>
            </a:r>
          </a:p>
          <a:p>
            <a:pPr>
              <a:buNone/>
            </a:pPr>
            <a:r>
              <a:rPr lang="en-US" altLang="zh-TW" dirty="0" smtClean="0"/>
              <a:t>                  =1/2                           X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                 =1/2                           X          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155308" y="2285992"/>
          <a:ext cx="216000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830018" y="2285992"/>
          <a:ext cx="95656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540000"/>
                <a:gridCol w="208280"/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155044" y="2285992"/>
          <a:ext cx="95656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540000"/>
                <a:gridCol w="208280"/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143240" y="4642508"/>
          <a:ext cx="216000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817950" y="4642508"/>
          <a:ext cx="95656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540000"/>
                <a:gridCol w="208280"/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142976" y="4642508"/>
          <a:ext cx="95656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540000"/>
                <a:gridCol w="208280"/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Pre - Preprocessing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Step </a:t>
            </a:r>
            <a:r>
              <a:rPr lang="en-US" altLang="zh-TW" dirty="0" smtClean="0"/>
              <a:t>1 Similarity </a:t>
            </a:r>
            <a:r>
              <a:rPr lang="en-US" altLang="zh-TW" dirty="0" smtClean="0"/>
              <a:t>Model Selection</a:t>
            </a:r>
          </a:p>
          <a:p>
            <a:pPr lvl="1"/>
            <a:r>
              <a:rPr lang="en-US" altLang="zh-TW" dirty="0" smtClean="0"/>
              <a:t>simple Euclidean distance</a:t>
            </a:r>
          </a:p>
          <a:p>
            <a:pPr lvl="1"/>
            <a:r>
              <a:rPr lang="en-US" altLang="zh-TW" dirty="0" smtClean="0"/>
              <a:t>v-shift similarity</a:t>
            </a:r>
          </a:p>
          <a:p>
            <a:r>
              <a:rPr lang="en-US" altLang="zh-TW" dirty="0" smtClean="0"/>
              <a:t>Step 2 </a:t>
            </a:r>
            <a:r>
              <a:rPr lang="en-US" altLang="zh-TW" dirty="0" smtClean="0"/>
              <a:t>Index </a:t>
            </a:r>
            <a:r>
              <a:rPr lang="en-US" altLang="zh-TW" dirty="0" smtClean="0"/>
              <a:t>Construction</a:t>
            </a:r>
          </a:p>
          <a:p>
            <a:pPr lvl="1"/>
            <a:r>
              <a:rPr lang="en-US" altLang="zh-TW" dirty="0" smtClean="0"/>
              <a:t>obtain </a:t>
            </a:r>
            <a:r>
              <a:rPr lang="el-GR" altLang="zh-TW" dirty="0" smtClean="0"/>
              <a:t>ω</a:t>
            </a:r>
            <a:r>
              <a:rPr lang="en-US" altLang="zh-TW" dirty="0" smtClean="0"/>
              <a:t>-point </a:t>
            </a:r>
            <a:r>
              <a:rPr lang="en-US" altLang="zh-TW" dirty="0" err="1" smtClean="0"/>
              <a:t>Haar</a:t>
            </a:r>
            <a:r>
              <a:rPr lang="en-US" altLang="zh-TW" dirty="0" smtClean="0"/>
              <a:t> transform</a:t>
            </a:r>
          </a:p>
          <a:p>
            <a:pPr lvl="1"/>
            <a:r>
              <a:rPr lang="en-US" altLang="zh-TW" dirty="0"/>
              <a:t>u</a:t>
            </a:r>
            <a:r>
              <a:rPr lang="en-US" altLang="zh-TW" dirty="0" smtClean="0"/>
              <a:t>se </a:t>
            </a:r>
            <a:r>
              <a:rPr lang="en-US" altLang="zh-TW" dirty="0" err="1" smtClean="0"/>
              <a:t>h</a:t>
            </a:r>
            <a:r>
              <a:rPr lang="en-US" altLang="zh-TW" baseline="-25000" dirty="0" err="1" smtClean="0"/>
              <a:t>c</a:t>
            </a:r>
            <a:r>
              <a:rPr lang="en-US" altLang="zh-TW" dirty="0"/>
              <a:t> </a:t>
            </a:r>
            <a:r>
              <a:rPr lang="en-US" altLang="zh-TW" dirty="0" smtClean="0"/>
              <a:t>to build index </a:t>
            </a:r>
            <a:r>
              <a:rPr lang="en-US" altLang="zh-TW" dirty="0" smtClean="0"/>
              <a:t>structure such as an R-Tree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Range Query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Similar sequences with distances ≤ ԑ from the query are looked up in the index and returned.</a:t>
            </a:r>
          </a:p>
          <a:p>
            <a:r>
              <a:rPr lang="en-US" altLang="zh-TW" dirty="0" smtClean="0"/>
              <a:t>A post processing step is applied on these sequences to find the true distances in time domain to remove all false alarms</a:t>
            </a:r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Nearest Neighbor Query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Phase 1: </a:t>
            </a:r>
            <a:endParaRPr lang="en-US" altLang="zh-TW" sz="2800" dirty="0" smtClean="0"/>
          </a:p>
          <a:p>
            <a:pPr lvl="1"/>
            <a:r>
              <a:rPr lang="en-US" altLang="zh-TW" dirty="0" smtClean="0"/>
              <a:t>Find </a:t>
            </a:r>
            <a:r>
              <a:rPr lang="en-US" altLang="zh-TW" dirty="0" smtClean="0"/>
              <a:t>n nearest neighbors in R-Tree index.</a:t>
            </a:r>
          </a:p>
          <a:p>
            <a:pPr lvl="1"/>
            <a:r>
              <a:rPr lang="en-US" altLang="zh-TW" dirty="0" smtClean="0"/>
              <a:t>Compute the Euclidean distances between the query sequence and all nearest neighbors </a:t>
            </a:r>
            <a:endParaRPr lang="en-US" altLang="zh-TW" sz="2800" dirty="0" smtClean="0"/>
          </a:p>
          <a:p>
            <a:r>
              <a:rPr lang="en-US" altLang="zh-TW" sz="2800" dirty="0" smtClean="0"/>
              <a:t>Phase 2:</a:t>
            </a:r>
          </a:p>
          <a:p>
            <a:pPr lvl="1"/>
            <a:r>
              <a:rPr lang="en-US" altLang="zh-TW" dirty="0" smtClean="0"/>
              <a:t>A range query evaluation is then performed on the same index by setting ԑ =                .</a:t>
            </a:r>
          </a:p>
          <a:p>
            <a:pPr lvl="1"/>
            <a:r>
              <a:rPr lang="en-US" altLang="zh-TW" dirty="0" smtClean="0"/>
              <a:t>Keep a list of n nearest sequences       so far</a:t>
            </a:r>
          </a:p>
          <a:p>
            <a:pPr lvl="1"/>
            <a:r>
              <a:rPr lang="en-US" altLang="zh-TW" dirty="0" smtClean="0"/>
              <a:t>Keep a list of their Euclidean distances with </a:t>
            </a:r>
            <a:r>
              <a:rPr lang="en-US" altLang="zh-TW" dirty="0" smtClean="0"/>
              <a:t>query   </a:t>
            </a:r>
            <a:endParaRPr lang="en-US" altLang="zh-TW" dirty="0" smtClean="0"/>
          </a:p>
        </p:txBody>
      </p:sp>
      <p:pic>
        <p:nvPicPr>
          <p:cNvPr id="4" name="圖片 3" descr="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132" y="2681806"/>
            <a:ext cx="1171575" cy="438150"/>
          </a:xfrm>
          <a:prstGeom prst="rect">
            <a:avLst/>
          </a:prstGeom>
        </p:spPr>
      </p:pic>
      <p:pic>
        <p:nvPicPr>
          <p:cNvPr id="5" name="圖片 4" descr="7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691" y="4540974"/>
            <a:ext cx="1181100" cy="500066"/>
          </a:xfrm>
          <a:prstGeom prst="rect">
            <a:avLst/>
          </a:prstGeom>
        </p:spPr>
      </p:pic>
      <p:pic>
        <p:nvPicPr>
          <p:cNvPr id="6" name="圖片 5" descr="10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241" y="5072074"/>
            <a:ext cx="457200" cy="371475"/>
          </a:xfrm>
          <a:prstGeom prst="rect">
            <a:avLst/>
          </a:prstGeom>
        </p:spPr>
      </p:pic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180295"/>
              </p:ext>
            </p:extLst>
          </p:nvPr>
        </p:nvGraphicFramePr>
        <p:xfrm>
          <a:off x="8492112" y="5589240"/>
          <a:ext cx="357190" cy="408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方程式" r:id="rId6" imgW="126720" imgH="203040" progId="Equation.3">
                  <p:embed/>
                </p:oleObj>
              </mc:Choice>
              <mc:Fallback>
                <p:oleObj name="方程式" r:id="rId6" imgW="12672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2112" y="5589240"/>
                        <a:ext cx="357190" cy="408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Performance Evaluation(1/6)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Experiments data :</a:t>
            </a:r>
          </a:p>
          <a:p>
            <a:pPr lvl="1"/>
            <a:r>
              <a:rPr lang="en-US" altLang="zh-TW" dirty="0" smtClean="0"/>
              <a:t>Synthetic random walk data</a:t>
            </a:r>
          </a:p>
          <a:p>
            <a:pPr lvl="2"/>
            <a:r>
              <a:rPr lang="en-US" altLang="zh-TW" dirty="0" smtClean="0"/>
              <a:t>30k time sequences</a:t>
            </a:r>
          </a:p>
          <a:p>
            <a:pPr lvl="2"/>
            <a:r>
              <a:rPr lang="en-US" altLang="zh-TW" dirty="0" smtClean="0"/>
              <a:t>sliding window size </a:t>
            </a:r>
            <a:r>
              <a:rPr lang="el-GR" altLang="zh-TW" dirty="0" smtClean="0"/>
              <a:t>ω</a:t>
            </a:r>
            <a:r>
              <a:rPr lang="en-US" altLang="zh-TW" dirty="0" smtClean="0"/>
              <a:t> = 1024</a:t>
            </a:r>
          </a:p>
          <a:p>
            <a:pPr lvl="1"/>
            <a:r>
              <a:rPr lang="en-US" altLang="zh-TW" dirty="0" smtClean="0"/>
              <a:t>Real data :1990/12/7~1996/7/11Hong Kong stock</a:t>
            </a:r>
          </a:p>
          <a:p>
            <a:pPr lvl="2"/>
            <a:r>
              <a:rPr lang="en-US" altLang="zh-TW" dirty="0" smtClean="0"/>
              <a:t>Totally 10k feature vectors</a:t>
            </a:r>
          </a:p>
          <a:p>
            <a:pPr lvl="2"/>
            <a:r>
              <a:rPr lang="en-US" altLang="zh-TW" dirty="0" smtClean="0"/>
              <a:t>sliding window size </a:t>
            </a:r>
            <a:r>
              <a:rPr lang="el-GR" altLang="zh-TW" dirty="0" smtClean="0"/>
              <a:t>ω</a:t>
            </a:r>
            <a:r>
              <a:rPr lang="en-US" altLang="zh-TW" dirty="0" smtClean="0"/>
              <a:t> = 512</a:t>
            </a:r>
          </a:p>
          <a:p>
            <a:pPr marL="0" lvl="2">
              <a:spcBef>
                <a:spcPts val="0"/>
              </a:spcBef>
              <a:buNone/>
            </a:pPr>
            <a:endParaRPr lang="en-US" altLang="zh-TW" sz="3200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Performance Evaluation(2/6)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 </a:t>
            </a:r>
          </a:p>
          <a:p>
            <a:pPr>
              <a:buNone/>
            </a:pPr>
            <a:endParaRPr lang="en-US" altLang="zh-TW" dirty="0" smtClean="0"/>
          </a:p>
          <a:p>
            <a:pPr lvl="1"/>
            <a:r>
              <a:rPr lang="en-US" altLang="zh-TW" dirty="0" err="1" smtClean="0"/>
              <a:t>S</a:t>
            </a:r>
            <a:r>
              <a:rPr lang="en-US" altLang="zh-TW" baseline="-25000" dirty="0" err="1" smtClean="0"/>
              <a:t>time</a:t>
            </a:r>
            <a:r>
              <a:rPr lang="en-US" altLang="zh-TW" dirty="0" smtClean="0"/>
              <a:t> : the number of time sequences qualified in time domain</a:t>
            </a:r>
          </a:p>
          <a:p>
            <a:pPr lvl="1"/>
            <a:r>
              <a:rPr lang="en-US" altLang="zh-TW" dirty="0" err="1" smtClean="0"/>
              <a:t>S</a:t>
            </a:r>
            <a:r>
              <a:rPr lang="en-US" altLang="zh-TW" baseline="-25000" dirty="0" err="1" smtClean="0"/>
              <a:t>transform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: the number of time sequences qualified in the transformed domain </a:t>
            </a:r>
            <a:endParaRPr lang="zh-TW" altLang="en-US" dirty="0"/>
          </a:p>
        </p:txBody>
      </p:sp>
      <p:pic>
        <p:nvPicPr>
          <p:cNvPr id="5" name="圖片 4" descr="Captur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00" y="1785926"/>
            <a:ext cx="2524125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Performance Evaluation(3/6)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Precision of Range query</a:t>
            </a:r>
            <a:endParaRPr lang="zh-TW" altLang="en-US" dirty="0"/>
          </a:p>
        </p:txBody>
      </p:sp>
      <p:pic>
        <p:nvPicPr>
          <p:cNvPr id="4" name="圖片 3" descr="1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38" y="2143116"/>
            <a:ext cx="7048421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Performance Evaluation(4/6)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Precision of Range query (V-shift model)</a:t>
            </a:r>
            <a:endParaRPr lang="zh-TW" altLang="en-US" dirty="0"/>
          </a:p>
        </p:txBody>
      </p:sp>
      <p:pic>
        <p:nvPicPr>
          <p:cNvPr id="5" name="圖片 4" descr="14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2285992"/>
            <a:ext cx="7746207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Performance Evaluation(5/6)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Scalability in database size of NN query</a:t>
            </a:r>
            <a:endParaRPr lang="zh-TW" altLang="en-US" dirty="0"/>
          </a:p>
        </p:txBody>
      </p:sp>
      <p:pic>
        <p:nvPicPr>
          <p:cNvPr id="4" name="圖片 3" descr="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75" y="2214554"/>
            <a:ext cx="6713513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smtClean="0"/>
              <a:t>Performance Evaluation(6/6)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Scalability in sequence length of NN query</a:t>
            </a:r>
            <a:endParaRPr lang="zh-TW" altLang="en-US" dirty="0"/>
          </a:p>
        </p:txBody>
      </p:sp>
      <p:pic>
        <p:nvPicPr>
          <p:cNvPr id="4" name="圖片 3" descr="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068" y="2180834"/>
            <a:ext cx="6697766" cy="43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762</Words>
  <Application>Microsoft Office PowerPoint</Application>
  <PresentationFormat>如螢幕大小 (4:3)</PresentationFormat>
  <Paragraphs>163</Paragraphs>
  <Slides>17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新細明體</vt:lpstr>
      <vt:lpstr>標楷體</vt:lpstr>
      <vt:lpstr>Arial</vt:lpstr>
      <vt:lpstr>Calibri</vt:lpstr>
      <vt:lpstr>Office 佈景主題</vt:lpstr>
      <vt:lpstr>方程式</vt:lpstr>
      <vt:lpstr>Efficient Time Series Matching by Wavelets</vt:lpstr>
      <vt:lpstr>Abstract(1/2)</vt:lpstr>
      <vt:lpstr>Abstract(2/2)</vt:lpstr>
      <vt:lpstr>Similarity</vt:lpstr>
      <vt:lpstr>V-shift similar</vt:lpstr>
      <vt:lpstr>Haar Wavelets (1/3)</vt:lpstr>
      <vt:lpstr>Haar Wavelets (2/3)</vt:lpstr>
      <vt:lpstr>Haar Wavelets (3/3)</vt:lpstr>
      <vt:lpstr>Pre - Preprocessing</vt:lpstr>
      <vt:lpstr>Range Query</vt:lpstr>
      <vt:lpstr>Nearest Neighbor Query</vt:lpstr>
      <vt:lpstr>Performance Evaluation(1/6)</vt:lpstr>
      <vt:lpstr>Performance Evaluation(2/6)</vt:lpstr>
      <vt:lpstr>Performance Evaluation(3/6)</vt:lpstr>
      <vt:lpstr>Performance Evaluation(4/6)</vt:lpstr>
      <vt:lpstr>Performance Evaluation(5/6)</vt:lpstr>
      <vt:lpstr>Performance Evaluation(6/6)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Time Series Matching by Wavelets</dc:title>
  <dc:creator>AthenaHo</dc:creator>
  <cp:lastModifiedBy>AthenaHo</cp:lastModifiedBy>
  <cp:revision>30</cp:revision>
  <dcterms:created xsi:type="dcterms:W3CDTF">2015-07-27T10:47:06Z</dcterms:created>
  <dcterms:modified xsi:type="dcterms:W3CDTF">2015-07-28T10:27:28Z</dcterms:modified>
</cp:coreProperties>
</file>