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1" r:id="rId6"/>
    <p:sldId id="263" r:id="rId7"/>
    <p:sldId id="262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6" r:id="rId21"/>
    <p:sldId id="277" r:id="rId22"/>
    <p:sldId id="278" r:id="rId23"/>
    <p:sldId id="279" r:id="rId24"/>
    <p:sldId id="280" r:id="rId25"/>
    <p:sldId id="288" r:id="rId26"/>
    <p:sldId id="282" r:id="rId27"/>
    <p:sldId id="283" r:id="rId28"/>
    <p:sldId id="284" r:id="rId29"/>
    <p:sldId id="285" r:id="rId30"/>
    <p:sldId id="286" r:id="rId31"/>
    <p:sldId id="287" r:id="rId32"/>
    <p:sldId id="289" r:id="rId33"/>
    <p:sldId id="290" r:id="rId34"/>
    <p:sldId id="291" r:id="rId35"/>
    <p:sldId id="292" r:id="rId36"/>
    <p:sldId id="293" r:id="rId37"/>
    <p:sldId id="294" r:id="rId38"/>
  </p:sldIdLst>
  <p:sldSz cx="9144000" cy="6858000" type="screen4x3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3" d="100"/>
          <a:sy n="103" d="100"/>
        </p:scale>
        <p:origin x="234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presProps" Target="pres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zh-TW" altLang="en-US" smtClean="0"/>
              <a:t>按一下以編輯母片副標題樣式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79D007-DE51-447A-AFC9-E7B0AF63DE2B}" type="datetimeFigureOut">
              <a:rPr lang="zh-TW" altLang="en-US" smtClean="0"/>
              <a:t>2015/3/23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5AB2FA-982F-498A-BE49-F42E296BC36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597134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79D007-DE51-447A-AFC9-E7B0AF63DE2B}" type="datetimeFigureOut">
              <a:rPr lang="zh-TW" altLang="en-US" smtClean="0"/>
              <a:t>2015/3/23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5AB2FA-982F-498A-BE49-F42E296BC36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5473336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79D007-DE51-447A-AFC9-E7B0AF63DE2B}" type="datetimeFigureOut">
              <a:rPr lang="zh-TW" altLang="en-US" smtClean="0"/>
              <a:t>2015/3/23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5AB2FA-982F-498A-BE49-F42E296BC36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2961664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471487" y="1825625"/>
            <a:ext cx="2900363" cy="4351338"/>
          </a:xfrm>
        </p:spPr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3486150" y="1825625"/>
            <a:ext cx="2900363" cy="4351338"/>
          </a:xfrm>
        </p:spPr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79D007-DE51-447A-AFC9-E7B0AF63DE2B}" type="datetimeFigureOut">
              <a:rPr lang="zh-TW" altLang="en-US" smtClean="0"/>
              <a:t>2015/3/23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5AB2FA-982F-498A-BE49-F42E296BC36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82178447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7" name="日期版面配置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79D007-DE51-447A-AFC9-E7B0AF63DE2B}" type="datetimeFigureOut">
              <a:rPr lang="zh-TW" altLang="en-US" smtClean="0"/>
              <a:t>2015/3/23</a:t>
            </a:fld>
            <a:endParaRPr lang="zh-TW" altLang="en-US"/>
          </a:p>
        </p:txBody>
      </p:sp>
      <p:sp>
        <p:nvSpPr>
          <p:cNvPr id="8" name="頁尾版面配置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5AB2FA-982F-498A-BE49-F42E296BC36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35883754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79D007-DE51-447A-AFC9-E7B0AF63DE2B}" type="datetimeFigureOut">
              <a:rPr lang="zh-TW" altLang="en-US" smtClean="0"/>
              <a:t>2015/3/23</a:t>
            </a:fld>
            <a:endParaRPr lang="zh-TW" alt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5AB2FA-982F-498A-BE49-F42E296BC36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56875368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79D007-DE51-447A-AFC9-E7B0AF63DE2B}" type="datetimeFigureOut">
              <a:rPr lang="zh-TW" altLang="en-US" smtClean="0"/>
              <a:t>2015/3/23</a:t>
            </a:fld>
            <a:endParaRPr lang="zh-TW" altLang="en-US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5AB2FA-982F-498A-BE49-F42E296BC36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15703174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79D007-DE51-447A-AFC9-E7B0AF63DE2B}" type="datetimeFigureOut">
              <a:rPr lang="zh-TW" altLang="en-US" smtClean="0"/>
              <a:t>2015/3/23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5AB2FA-982F-498A-BE49-F42E296BC36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92521872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79D007-DE51-447A-AFC9-E7B0AF63DE2B}" type="datetimeFigureOut">
              <a:rPr lang="zh-TW" altLang="en-US" smtClean="0"/>
              <a:t>2015/3/23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5AB2FA-982F-498A-BE49-F42E296BC36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76983801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79D007-DE51-447A-AFC9-E7B0AF63DE2B}" type="datetimeFigureOut">
              <a:rPr lang="zh-TW" altLang="en-US" smtClean="0"/>
              <a:t>2015/3/23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5AB2FA-982F-498A-BE49-F42E296BC36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2412460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4907757" y="365125"/>
            <a:ext cx="1478756" cy="5811838"/>
          </a:xfrm>
        </p:spPr>
        <p:txBody>
          <a:bodyPr vert="eaVert"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471488" y="365125"/>
            <a:ext cx="4321969" cy="5811838"/>
          </a:xfrm>
        </p:spPr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79D007-DE51-447A-AFC9-E7B0AF63DE2B}" type="datetimeFigureOut">
              <a:rPr lang="zh-TW" altLang="en-US" smtClean="0"/>
              <a:t>2015/3/23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5AB2FA-982F-498A-BE49-F42E296BC36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3828632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879D007-DE51-447A-AFC9-E7B0AF63DE2B}" type="datetimeFigureOut">
              <a:rPr lang="zh-TW" altLang="en-US" smtClean="0"/>
              <a:t>2015/3/23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85AB2FA-982F-498A-BE49-F42E296BC36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9960642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G"/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JPG"/><Relationship Id="rId3" Type="http://schemas.openxmlformats.org/officeDocument/2006/relationships/image" Target="../media/image16.JPG"/><Relationship Id="rId7" Type="http://schemas.openxmlformats.org/officeDocument/2006/relationships/image" Target="../media/image20.JPG"/><Relationship Id="rId2" Type="http://schemas.openxmlformats.org/officeDocument/2006/relationships/image" Target="../media/image15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9.JPG"/><Relationship Id="rId5" Type="http://schemas.openxmlformats.org/officeDocument/2006/relationships/image" Target="../media/image18.JPG"/><Relationship Id="rId4" Type="http://schemas.openxmlformats.org/officeDocument/2006/relationships/image" Target="../media/image17.JP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JPG"/><Relationship Id="rId2" Type="http://schemas.openxmlformats.org/officeDocument/2006/relationships/image" Target="../media/image22.JP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JP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JPG"/><Relationship Id="rId2" Type="http://schemas.openxmlformats.org/officeDocument/2006/relationships/image" Target="../media/image26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9.JPG"/><Relationship Id="rId4" Type="http://schemas.openxmlformats.org/officeDocument/2006/relationships/image" Target="../media/image28.JP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JP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JPG"/><Relationship Id="rId2" Type="http://schemas.openxmlformats.org/officeDocument/2006/relationships/image" Target="../media/image31.JP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JPG"/><Relationship Id="rId2" Type="http://schemas.openxmlformats.org/officeDocument/2006/relationships/image" Target="../media/image33.JP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JP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JP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JP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JP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JP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JP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JPG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6.JPG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JP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JPG"/><Relationship Id="rId2" Type="http://schemas.openxmlformats.org/officeDocument/2006/relationships/image" Target="../media/image48.JP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JP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2.JP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JP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5.JP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JPG"/><Relationship Id="rId2" Type="http://schemas.openxmlformats.org/officeDocument/2006/relationships/image" Target="../media/image56.JP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1"/>
          <p:cNvSpPr txBox="1">
            <a:spLocks/>
          </p:cNvSpPr>
          <p:nvPr/>
        </p:nvSpPr>
        <p:spPr>
          <a:xfrm>
            <a:off x="608013" y="1571625"/>
            <a:ext cx="7772400" cy="1470025"/>
          </a:xfrm>
          <a:prstGeom prst="rect">
            <a:avLst/>
          </a:prstGeom>
        </p:spPr>
        <p:txBody>
          <a:bodyPr anchor="ctr">
            <a:normAutofit fontScale="82500" lnSpcReduction="200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fontAlgn="auto">
              <a:spcAft>
                <a:spcPts val="0"/>
              </a:spcAft>
              <a:defRPr/>
            </a:pPr>
            <a:r>
              <a:rPr kumimoji="0" lang="en-US" altLang="zh-TW" dirty="0" smtClean="0">
                <a:latin typeface="Arial Unicode MS" pitchFamily="34" charset="-120"/>
                <a:ea typeface="Arial Unicode MS" pitchFamily="34" charset="-120"/>
                <a:cs typeface="Arial Unicode MS" pitchFamily="34" charset="-120"/>
              </a:rPr>
              <a:t>Computing similarity of run-length encoded strings with affine gap penalty</a:t>
            </a:r>
            <a:endParaRPr kumimoji="0" lang="zh-TW" altLang="en-US" dirty="0">
              <a:latin typeface="Arial Unicode MS" pitchFamily="34" charset="-120"/>
              <a:ea typeface="Arial Unicode MS" pitchFamily="34" charset="-120"/>
              <a:cs typeface="Arial Unicode MS" pitchFamily="34" charset="-120"/>
            </a:endParaRPr>
          </a:p>
        </p:txBody>
      </p:sp>
      <p:sp>
        <p:nvSpPr>
          <p:cNvPr id="5" name="副標題 2"/>
          <p:cNvSpPr txBox="1">
            <a:spLocks/>
          </p:cNvSpPr>
          <p:nvPr/>
        </p:nvSpPr>
        <p:spPr>
          <a:xfrm>
            <a:off x="1406525" y="3019425"/>
            <a:ext cx="6400800" cy="479425"/>
          </a:xfrm>
          <a:prstGeom prst="rect">
            <a:avLst/>
          </a:prstGeom>
        </p:spPr>
        <p:txBody>
          <a:bodyPr>
            <a:normAutofit fontScale="62500" lnSpcReduction="20000"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auto">
              <a:spcAft>
                <a:spcPts val="0"/>
              </a:spcAft>
              <a:defRPr/>
            </a:pPr>
            <a:r>
              <a:rPr lang="en-US" altLang="zh-TW" sz="3100" dirty="0" err="1"/>
              <a:t>Jin</a:t>
            </a:r>
            <a:r>
              <a:rPr lang="en-US" altLang="zh-TW" sz="3100" dirty="0"/>
              <a:t> </a:t>
            </a:r>
            <a:r>
              <a:rPr lang="en-US" altLang="zh-TW" sz="3100" dirty="0" err="1"/>
              <a:t>Wook</a:t>
            </a:r>
            <a:r>
              <a:rPr lang="en-US" altLang="zh-TW" sz="3100" dirty="0"/>
              <a:t> </a:t>
            </a:r>
            <a:r>
              <a:rPr lang="en-US" altLang="zh-TW" sz="3100" dirty="0" smtClean="0"/>
              <a:t>Kim, </a:t>
            </a:r>
            <a:r>
              <a:rPr lang="en-US" altLang="zh-TW" sz="3100" dirty="0" err="1"/>
              <a:t>Amihood</a:t>
            </a:r>
            <a:r>
              <a:rPr lang="en-US" altLang="zh-TW" sz="3100" dirty="0"/>
              <a:t> </a:t>
            </a:r>
            <a:r>
              <a:rPr lang="en-US" altLang="zh-TW" sz="3100" dirty="0" smtClean="0"/>
              <a:t>Amir, </a:t>
            </a:r>
            <a:r>
              <a:rPr lang="en-US" altLang="zh-TW" sz="3100" dirty="0"/>
              <a:t>Gad M. </a:t>
            </a:r>
            <a:r>
              <a:rPr lang="en-US" altLang="zh-TW" sz="3100" dirty="0" smtClean="0"/>
              <a:t>Landau, </a:t>
            </a:r>
            <a:r>
              <a:rPr lang="en-US" altLang="zh-TW" sz="3100" dirty="0" err="1"/>
              <a:t>Kunsoo</a:t>
            </a:r>
            <a:r>
              <a:rPr lang="en-US" altLang="zh-TW" sz="3100" dirty="0"/>
              <a:t> </a:t>
            </a:r>
            <a:r>
              <a:rPr lang="en-US" altLang="zh-TW" sz="3100" dirty="0" smtClean="0"/>
              <a:t>Park</a:t>
            </a:r>
            <a:endParaRPr kumimoji="0" lang="zh-TW" altLang="en-US" dirty="0"/>
          </a:p>
        </p:txBody>
      </p:sp>
      <p:graphicFrame>
        <p:nvGraphicFramePr>
          <p:cNvPr id="6" name="表格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47827195"/>
              </p:ext>
            </p:extLst>
          </p:nvPr>
        </p:nvGraphicFramePr>
        <p:xfrm>
          <a:off x="2843213" y="3581400"/>
          <a:ext cx="3816350" cy="1220788"/>
        </p:xfrm>
        <a:graphic>
          <a:graphicData uri="http://schemas.openxmlformats.org/drawingml/2006/table">
            <a:tbl>
              <a:tblPr/>
              <a:tblGrid>
                <a:gridCol w="3816350"/>
              </a:tblGrid>
              <a:tr h="567543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800" kern="1200" dirty="0" smtClean="0"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  <a:ea typeface="+mn-ea"/>
                          <a:cs typeface="+mn-cs"/>
                        </a:rPr>
                        <a:t>Theoretical Computer Science</a:t>
                      </a:r>
                      <a:endParaRPr lang="en-US" sz="1800" kern="1200" dirty="0">
                        <a:solidFill>
                          <a:schemeClr val="tx1"/>
                        </a:solidFill>
                        <a:effectLst/>
                        <a:latin typeface="Verdana" panose="020B0604030504040204" pitchFamily="34" charset="0"/>
                        <a:ea typeface="+mn-ea"/>
                        <a:cs typeface="+mn-cs"/>
                      </a:endParaRPr>
                    </a:p>
                  </a:txBody>
                  <a:tcPr marL="95250" marR="9525" marT="9523" marB="9523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653245">
                <a:tc>
                  <a:txBody>
                    <a:bodyPr/>
                    <a:lstStyle/>
                    <a:p>
                      <a:r>
                        <a:rPr lang="en-US" altLang="zh-TW" sz="1400" kern="1200" dirty="0" smtClean="0"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  <a:ea typeface="+mn-ea"/>
                          <a:cs typeface="+mn-cs"/>
                        </a:rPr>
                        <a:t>Volume 395, Issues 2–3, 1 May 2008, Pages 268–282</a:t>
                      </a:r>
                      <a:endParaRPr lang="en-US" sz="1400" kern="1200" dirty="0">
                        <a:solidFill>
                          <a:schemeClr val="tx1"/>
                        </a:solidFill>
                        <a:effectLst/>
                        <a:latin typeface="Verdana" panose="020B0604030504040204" pitchFamily="34" charset="0"/>
                        <a:ea typeface="+mn-ea"/>
                        <a:cs typeface="+mn-cs"/>
                      </a:endParaRPr>
                    </a:p>
                  </a:txBody>
                  <a:tcPr marL="95250" marR="9525" marT="9523" marB="95225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079" name="文字方塊 6"/>
          <p:cNvSpPr txBox="1">
            <a:spLocks noChangeArrowheads="1"/>
          </p:cNvSpPr>
          <p:nvPr/>
        </p:nvSpPr>
        <p:spPr bwMode="auto">
          <a:xfrm>
            <a:off x="3132138" y="5229225"/>
            <a:ext cx="3248025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en-US" altLang="zh-TW" sz="1800" dirty="0"/>
              <a:t>Presenter:  Huang-Ting Chan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en-US" altLang="zh-TW" sz="1800" dirty="0"/>
              <a:t>Date:</a:t>
            </a:r>
            <a:fld id="{F3590F60-3E7B-48AD-979A-345F224951B5}" type="datetime1">
              <a:rPr kumimoji="0" lang="zh-TW" altLang="en-US" sz="1800"/>
              <a:pPr eaLnBrk="1" hangingPunct="1">
                <a:spcBef>
                  <a:spcPct val="0"/>
                </a:spcBef>
                <a:buFontTx/>
                <a:buNone/>
              </a:pPr>
              <a:t>2015/3/23</a:t>
            </a:fld>
            <a:endParaRPr kumimoji="0" lang="zh-TW" altLang="en-US" sz="1800" dirty="0"/>
          </a:p>
        </p:txBody>
      </p:sp>
    </p:spTree>
    <p:extLst>
      <p:ext uri="{BB962C8B-B14F-4D97-AF65-F5344CB8AC3E}">
        <p14:creationId xmlns:p14="http://schemas.microsoft.com/office/powerpoint/2010/main" val="35478795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Abstract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zh-TW" sz="2800" dirty="0"/>
              <a:t>The problem of computing the similarity of two run-length encoded strings has been studied for various scoring metrics. Many algorithms have been developed for the longest common subsequence metric and some algorithms for the </a:t>
            </a:r>
            <a:r>
              <a:rPr lang="en-US" altLang="zh-TW" sz="2800" dirty="0" err="1"/>
              <a:t>Levenshtein</a:t>
            </a:r>
            <a:r>
              <a:rPr lang="en-US" altLang="zh-TW" sz="2800" dirty="0"/>
              <a:t> distance metric and the weighted edit distance metric. In this paper we consider similarity based on the affine gap penalty metric which is a more general and rather complicated scoring metric than the weighted edit distance. </a:t>
            </a:r>
            <a:endParaRPr lang="zh-TW" altLang="en-US" sz="2800" dirty="0"/>
          </a:p>
        </p:txBody>
      </p:sp>
    </p:spTree>
    <p:extLst>
      <p:ext uri="{BB962C8B-B14F-4D97-AF65-F5344CB8AC3E}">
        <p14:creationId xmlns:p14="http://schemas.microsoft.com/office/powerpoint/2010/main" val="9688080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TW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內容版面配置區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altLang="zh-TW" sz="2800" dirty="0" smtClean="0"/>
                  <a:t>To compute the similarity in this model efficiently, we convert the problem into a path problem on a directed acyclic graph and use some properties of maximum paths in this graph. We present an </a:t>
                </a:r>
                <a14:m>
                  <m:oMath xmlns:m="http://schemas.openxmlformats.org/officeDocument/2006/math">
                    <m:r>
                      <a:rPr lang="en-US" altLang="zh-TW" sz="2800" b="0" i="1" smtClean="0"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US" altLang="zh-TW" sz="28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TW" sz="2800" b="0" i="1" smtClean="0">
                        <a:latin typeface="Cambria Math" panose="02040503050406030204" pitchFamily="18" charset="0"/>
                      </a:rPr>
                      <m:t>𝑛</m:t>
                    </m:r>
                    <m:sSup>
                      <m:sSupPr>
                        <m:ctrlPr>
                          <a:rPr lang="en-US" altLang="zh-TW" sz="28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TW" sz="2800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p>
                        <m:r>
                          <a:rPr lang="en-US" altLang="zh-TW" sz="2800" b="0" i="1" smtClean="0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en-US" altLang="zh-TW" sz="2800" b="0" i="1" smtClean="0">
                        <a:latin typeface="Cambria Math" panose="02040503050406030204" pitchFamily="18" charset="0"/>
                      </a:rPr>
                      <m:t>+</m:t>
                    </m:r>
                    <m:sSup>
                      <m:sSupPr>
                        <m:ctrlPr>
                          <a:rPr lang="en-US" altLang="zh-TW" sz="28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TW" sz="28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US" altLang="zh-TW" sz="2800" b="0" i="1" smtClean="0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en-US" altLang="zh-TW" sz="2800" b="0" i="1" smtClean="0"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US" altLang="zh-TW" sz="28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altLang="zh-TW" sz="2800" dirty="0" smtClean="0"/>
                  <a:t> time algorithm for computing the similarity of two run-length encoded strings in the affine gap penalty model, where n and m are the lengths of given two strings whose run-length encoded lengths are 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TW" sz="28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TW" sz="28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US" altLang="zh-TW" sz="2800" b="0" i="1" smtClean="0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</m:oMath>
                </a14:m>
                <a:r>
                  <a:rPr lang="en-US" altLang="zh-TW" sz="2800" dirty="0" smtClean="0"/>
                  <a:t> and 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TW" sz="28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TW" sz="2800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p>
                        <m:r>
                          <a:rPr lang="en-US" altLang="zh-TW" sz="2800" b="0" i="1" smtClean="0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</m:oMath>
                </a14:m>
                <a:r>
                  <a:rPr lang="en-US" altLang="zh-TW" sz="2800" dirty="0" smtClean="0"/>
                  <a:t>, respectively.</a:t>
                </a:r>
                <a:endParaRPr lang="zh-TW" altLang="en-US" sz="2800" dirty="0"/>
              </a:p>
            </p:txBody>
          </p:sp>
        </mc:Choice>
        <mc:Fallback xmlns="">
          <p:sp>
            <p:nvSpPr>
              <p:cNvPr id="3" name="內容版面配置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2"/>
                <a:stretch>
                  <a:fillRect l="-1546" t="-2241" r="-2396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9129892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Introduction </a:t>
            </a:r>
            <a:endParaRPr lang="zh-TW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內容版面配置區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altLang="zh-TW" sz="2600" dirty="0" smtClean="0"/>
                  <a:t>A string </a:t>
                </a:r>
                <a14:m>
                  <m:oMath xmlns:m="http://schemas.openxmlformats.org/officeDocument/2006/math">
                    <m:r>
                      <a:rPr lang="en-US" altLang="zh-TW" sz="2600" b="0" i="1" smtClean="0"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lang="en-US" altLang="zh-TW" sz="2600" dirty="0" smtClean="0"/>
                  <a:t> is run-length encoded if it is described as an ordered sequence of pairs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altLang="zh-TW" sz="26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zh-TW" altLang="en-US" sz="2600" b="0" i="1" smtClean="0">
                            <a:latin typeface="Cambria Math" panose="02040503050406030204" pitchFamily="18" charset="0"/>
                          </a:rPr>
                          <m:t>𝜎</m:t>
                        </m:r>
                        <m:r>
                          <a:rPr lang="en-US" altLang="zh-TW" sz="26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zh-TW" sz="26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</m:d>
                    <m:r>
                      <a:rPr lang="en-US" altLang="zh-TW" sz="2600" b="0" i="1" smtClean="0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r>
                  <a:rPr lang="en-US" altLang="zh-TW" sz="2600" dirty="0" smtClean="0"/>
                  <a:t> Each pair corresponds to a run in </a:t>
                </a:r>
                <a14:m>
                  <m:oMath xmlns:m="http://schemas.openxmlformats.org/officeDocument/2006/math">
                    <m:r>
                      <a:rPr lang="en-US" altLang="zh-TW" sz="2600" b="0" i="1" smtClean="0"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lang="en-US" altLang="zh-TW" sz="2600" dirty="0" smtClean="0"/>
                  <a:t>, consisting of </a:t>
                </a:r>
                <a:r>
                  <a:rPr lang="en-US" altLang="zh-TW" sz="2600" dirty="0" err="1" smtClean="0"/>
                  <a:t>i</a:t>
                </a:r>
                <a:r>
                  <a:rPr lang="en-US" altLang="zh-TW" sz="2600" dirty="0" smtClean="0"/>
                  <a:t> consecutive occurrences of</a:t>
                </a:r>
                <a14:m>
                  <m:oMath xmlns:m="http://schemas.openxmlformats.org/officeDocument/2006/math">
                    <m:r>
                      <a:rPr lang="en-US" altLang="zh-TW" sz="2600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zh-TW" altLang="en-US" sz="2600" b="0" i="1" smtClean="0">
                        <a:latin typeface="Cambria Math" panose="02040503050406030204" pitchFamily="18" charset="0"/>
                      </a:rPr>
                      <m:t>𝜎</m:t>
                    </m:r>
                  </m:oMath>
                </a14:m>
                <a:r>
                  <a:rPr lang="en-US" altLang="zh-TW" sz="2600" dirty="0" smtClean="0"/>
                  <a:t>.</a:t>
                </a:r>
              </a:p>
              <a:p>
                <a:pPr marL="0" indent="0">
                  <a:buNone/>
                </a:pPr>
                <a:r>
                  <a:rPr lang="en-US" altLang="zh-TW" sz="2600" dirty="0" smtClean="0"/>
                  <a:t>Let </a:t>
                </a:r>
                <a14:m>
                  <m:oMath xmlns:m="http://schemas.openxmlformats.org/officeDocument/2006/math">
                    <m:r>
                      <a:rPr lang="en-US" altLang="zh-TW" sz="2600" b="0" i="1" smtClean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US" altLang="zh-TW" sz="2600" dirty="0" smtClean="0"/>
                  <a:t> and </a:t>
                </a:r>
                <a14:m>
                  <m:oMath xmlns:m="http://schemas.openxmlformats.org/officeDocument/2006/math">
                    <m:r>
                      <a:rPr lang="en-US" altLang="zh-TW" sz="2600" b="0" i="1" smtClean="0"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lang="en-US" altLang="zh-TW" sz="2600" dirty="0" smtClean="0"/>
                  <a:t> be two strings with lengths </a:t>
                </a:r>
                <a14:m>
                  <m:oMath xmlns:m="http://schemas.openxmlformats.org/officeDocument/2006/math">
                    <m:r>
                      <a:rPr lang="en-US" altLang="zh-TW" sz="2600" b="0" i="1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altLang="zh-TW" sz="2600" dirty="0" smtClean="0"/>
                  <a:t> and </a:t>
                </a:r>
                <a14:m>
                  <m:oMath xmlns:m="http://schemas.openxmlformats.org/officeDocument/2006/math">
                    <m:r>
                      <a:rPr lang="en-US" altLang="zh-TW" sz="2600" b="0" i="1" smtClean="0"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lang="en-US" altLang="zh-TW" sz="2600" dirty="0" smtClean="0"/>
                  <a:t>,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TW" sz="26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TW" sz="2600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US" altLang="zh-TW" sz="2600" b="0" i="1" smtClean="0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</m:oMath>
                </a14:m>
                <a:r>
                  <a:rPr lang="en-US" altLang="zh-TW" sz="2600" dirty="0" smtClean="0"/>
                  <a:t> and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TW" sz="26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TW" sz="2600" b="0" i="1" smtClean="0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p>
                        <m:r>
                          <a:rPr lang="en-US" altLang="zh-TW" sz="2600" b="0" i="1" smtClean="0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</m:oMath>
                </a14:m>
                <a:r>
                  <a:rPr lang="en-US" altLang="zh-TW" sz="2600" dirty="0" smtClean="0"/>
                  <a:t> be two run-length encoded strings of </a:t>
                </a:r>
                <a14:m>
                  <m:oMath xmlns:m="http://schemas.openxmlformats.org/officeDocument/2006/math">
                    <m:r>
                      <a:rPr lang="en-US" altLang="zh-TW" sz="2600" b="0" i="1" smtClean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US" altLang="zh-TW" sz="2600" dirty="0" smtClean="0"/>
                  <a:t> and </a:t>
                </a:r>
                <a14:m>
                  <m:oMath xmlns:m="http://schemas.openxmlformats.org/officeDocument/2006/math">
                    <m:r>
                      <a:rPr lang="en-US" altLang="zh-TW" sz="2600" b="0" i="1" smtClean="0"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US" altLang="zh-TW" sz="2600" b="0" i="0" smtClean="0">
                        <a:latin typeface="Cambria Math" panose="02040503050406030204" pitchFamily="18" charset="0"/>
                      </a:rPr>
                      <m:t>,</m:t>
                    </m:r>
                  </m:oMath>
                </a14:m>
                <a:r>
                  <a:rPr lang="en-US" altLang="zh-TW" sz="2600" dirty="0" smtClean="0"/>
                  <a:t> and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TW" sz="260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TW" sz="26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US" altLang="zh-TW" sz="2600" b="0" i="1" smtClean="0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</m:oMath>
                </a14:m>
                <a:r>
                  <a:rPr lang="en-US" altLang="zh-TW" sz="2600" dirty="0" smtClean="0"/>
                  <a:t> and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TW" sz="26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TW" sz="2600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p>
                        <m:r>
                          <a:rPr lang="en-US" altLang="zh-TW" sz="2600" b="0" i="1" smtClean="0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</m:oMath>
                </a14:m>
                <a:endParaRPr lang="en-US" altLang="zh-TW" sz="2600" dirty="0" smtClean="0"/>
              </a:p>
              <a:p>
                <a:pPr marL="0" indent="0">
                  <a:buNone/>
                </a:pPr>
                <a:endParaRPr lang="en-US" altLang="zh-TW" sz="2600" dirty="0"/>
              </a:p>
              <a:p>
                <a:pPr marL="0" indent="0">
                  <a:buNone/>
                </a:pPr>
                <a:r>
                  <a:rPr lang="en-US" altLang="zh-TW" sz="2600" dirty="0" smtClean="0"/>
                  <a:t>Example.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600" b="0" i="1" smtClean="0">
                          <a:latin typeface="Cambria Math" panose="02040503050406030204" pitchFamily="18" charset="0"/>
                        </a:rPr>
                        <m:t>𝐴𝐴𝐴𝐶𝐶𝐺𝐺𝑇</m:t>
                      </m:r>
                      <m:r>
                        <a:rPr lang="en-US" altLang="zh-TW" sz="2600" b="0" i="1" smtClean="0">
                          <a:latin typeface="Cambria Math" panose="02040503050406030204" pitchFamily="18" charset="0"/>
                        </a:rPr>
                        <m:t>= </m:t>
                      </m:r>
                      <m:sSup>
                        <m:sSupPr>
                          <m:ctrlPr>
                            <a:rPr lang="en-US" altLang="zh-TW" sz="26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TW" sz="2600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p>
                          <m:r>
                            <a:rPr lang="en-US" altLang="zh-TW" sz="26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p>
                      </m:sSup>
                      <m:sSup>
                        <m:sSupPr>
                          <m:ctrlPr>
                            <a:rPr lang="en-US" altLang="zh-TW" sz="26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TW" sz="2600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p>
                          <m:r>
                            <a:rPr lang="en-US" altLang="zh-TW" sz="26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sSup>
                        <m:sSupPr>
                          <m:ctrlPr>
                            <a:rPr lang="en-US" altLang="zh-TW" sz="26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TW" sz="2600" b="0" i="1" smtClean="0">
                              <a:latin typeface="Cambria Math" panose="02040503050406030204" pitchFamily="18" charset="0"/>
                            </a:rPr>
                            <m:t>𝐺</m:t>
                          </m:r>
                        </m:e>
                        <m:sup>
                          <m:r>
                            <a:rPr lang="en-US" altLang="zh-TW" sz="26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altLang="zh-TW" sz="2600" b="0" i="1" smtClean="0">
                          <a:latin typeface="Cambria Math" panose="02040503050406030204" pitchFamily="18" charset="0"/>
                        </a:rPr>
                        <m:t>𝑇</m:t>
                      </m:r>
                    </m:oMath>
                  </m:oMathPara>
                </a14:m>
                <a:endParaRPr lang="en-US" altLang="zh-TW" sz="2600" dirty="0" smtClean="0"/>
              </a:p>
              <a:p>
                <a:pPr marL="0" indent="0">
                  <a:buNone/>
                </a:pPr>
                <a:endParaRPr lang="en-US" altLang="zh-TW" sz="2600" dirty="0"/>
              </a:p>
            </p:txBody>
          </p:sp>
        </mc:Choice>
        <mc:Fallback xmlns="">
          <p:sp>
            <p:nvSpPr>
              <p:cNvPr id="3" name="內容版面配置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2"/>
                <a:stretch>
                  <a:fillRect l="-1391" t="-2101" r="-177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0454618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3" name="內容版面配置區 2"/>
              <p:cNvSpPr>
                <a:spLocks noGrp="1"/>
              </p:cNvSpPr>
              <p:nvPr>
                <p:ph idx="1"/>
              </p:nvPr>
            </p:nvSpPr>
            <p:spPr>
              <a:xfrm>
                <a:off x="628650" y="1320528"/>
                <a:ext cx="7886700" cy="4351338"/>
              </a:xfrm>
            </p:spPr>
            <p:txBody>
              <a:bodyPr>
                <a:normAutofit lnSpcReduction="10000"/>
              </a:bodyPr>
              <a:lstStyle/>
              <a:p>
                <a:pPr marL="0" indent="0">
                  <a:buNone/>
                </a:pPr>
                <a:r>
                  <a:rPr lang="en-US" altLang="zh-TW" sz="2600" dirty="0" smtClean="0"/>
                  <a:t>Affine gap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26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600" b="0" i="1" smtClean="0">
                              <a:latin typeface="Cambria Math" panose="02040503050406030204" pitchFamily="18" charset="0"/>
                            </a:rPr>
                            <m:t>𝑔</m:t>
                          </m:r>
                        </m:e>
                        <m:sub>
                          <m:r>
                            <a:rPr lang="en-US" altLang="zh-TW" sz="2600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  <m:r>
                        <a:rPr lang="en-US" altLang="zh-TW" sz="26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zh-TW" altLang="en-US" sz="2600" b="0" i="1" smtClean="0">
                          <a:latin typeface="Cambria Math" panose="02040503050406030204" pitchFamily="18" charset="0"/>
                        </a:rPr>
                        <m:t>𝛾</m:t>
                      </m:r>
                      <m:r>
                        <a:rPr lang="en-US" altLang="zh-TW" sz="2600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zh-TW" sz="2600" b="0" i="1" smtClean="0"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zh-TW" altLang="en-US" sz="2600" b="0" i="1" smtClean="0">
                          <a:latin typeface="Cambria Math" panose="02040503050406030204" pitchFamily="18" charset="0"/>
                        </a:rPr>
                        <m:t>𝜇</m:t>
                      </m:r>
                    </m:oMath>
                  </m:oMathPara>
                </a14:m>
                <a:endParaRPr lang="en-US" altLang="zh-TW" sz="2600" dirty="0" smtClean="0"/>
              </a:p>
              <a:p>
                <a:pPr marL="0" indent="0">
                  <a:buNone/>
                </a:pPr>
                <a:r>
                  <a:rPr lang="en-US" altLang="zh-TW" sz="2600" dirty="0"/>
                  <a:t>	</a:t>
                </a:r>
                <a:r>
                  <a:rPr lang="en-US" altLang="zh-TW" sz="2600" dirty="0" smtClean="0"/>
                  <a:t>			</a:t>
                </a:r>
                <a14:m>
                  <m:oMath xmlns:m="http://schemas.openxmlformats.org/officeDocument/2006/math">
                    <m:r>
                      <a:rPr lang="en-US" altLang="zh-TW" sz="2600" b="0" i="1" smtClean="0">
                        <a:latin typeface="Cambria Math" panose="02040503050406030204" pitchFamily="18" charset="0"/>
                      </a:rPr>
                      <m:t>𝑠</m:t>
                    </m:r>
                    <m:d>
                      <m:dPr>
                        <m:ctrlPr>
                          <a:rPr lang="en-US" altLang="zh-TW" sz="26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TW" sz="26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2600" b="0" i="1" smtClean="0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US" altLang="zh-TW" sz="2600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altLang="zh-TW" sz="26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altLang="zh-TW" sz="26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2600" b="0" i="1" smtClean="0"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b>
                            <m:r>
                              <a:rPr lang="en-US" altLang="zh-TW" sz="2600" b="0" i="1" smtClean="0"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</m:e>
                    </m:d>
                    <m:r>
                      <a:rPr lang="en-US" altLang="zh-TW" sz="2600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"/>
                        <m:ctrlPr>
                          <a:rPr lang="en-US" altLang="zh-TW" sz="26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eqArr>
                          <m:eqArrPr>
                            <m:ctrlPr>
                              <a:rPr lang="en-US" altLang="zh-TW" sz="2600" b="0" i="1" smtClean="0">
                                <a:latin typeface="Cambria Math" panose="02040503050406030204" pitchFamily="18" charset="0"/>
                              </a:rPr>
                            </m:ctrlPr>
                          </m:eqArrPr>
                          <m:e>
                            <m:r>
                              <a:rPr lang="en-US" altLang="zh-TW" sz="2600" b="0" i="1" smtClean="0">
                                <a:latin typeface="Cambria Math" panose="02040503050406030204" pitchFamily="18" charset="0"/>
                              </a:rPr>
                              <m:t>1             </m:t>
                            </m:r>
                            <m:r>
                              <a:rPr lang="en-US" altLang="zh-TW" sz="2600" b="0" i="1" smtClean="0">
                                <a:latin typeface="Cambria Math" panose="02040503050406030204" pitchFamily="18" charset="0"/>
                              </a:rPr>
                              <m:t>𝑖𝑓</m:t>
                            </m:r>
                            <m:sSub>
                              <m:sSubPr>
                                <m:ctrlPr>
                                  <a:rPr lang="en-US" altLang="zh-TW" sz="26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TW" sz="2600" i="1"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e>
                              <m:sub>
                                <m:r>
                                  <a:rPr lang="en-US" altLang="zh-TW" sz="2600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  <m:r>
                              <a:rPr lang="en-US" altLang="zh-TW" sz="260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=</m:t>
                            </m:r>
                            <m:sSub>
                              <m:sSubPr>
                                <m:ctrlPr>
                                  <a:rPr lang="en-US" altLang="zh-TW" sz="26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TW" sz="2600" i="1">
                                    <a:latin typeface="Cambria Math" panose="02040503050406030204" pitchFamily="18" charset="0"/>
                                  </a:rPr>
                                  <m:t>𝑏</m:t>
                                </m:r>
                              </m:e>
                              <m:sub>
                                <m:r>
                                  <a:rPr lang="en-US" altLang="zh-TW" sz="2600" i="1">
                                    <a:latin typeface="Cambria Math" panose="02040503050406030204" pitchFamily="18" charset="0"/>
                                  </a:rPr>
                                  <m:t>𝑗</m:t>
                                </m:r>
                              </m:sub>
                            </m:sSub>
                          </m:e>
                          <m:e>
                            <m:r>
                              <a:rPr lang="en-US" altLang="zh-TW" sz="2600" b="0" i="1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zh-TW" altLang="en-US" sz="2600" b="0" i="1" smtClean="0">
                                <a:latin typeface="Cambria Math" panose="02040503050406030204" pitchFamily="18" charset="0"/>
                              </a:rPr>
                              <m:t>𝛿</m:t>
                            </m:r>
                            <m:r>
                              <a:rPr lang="en-US" altLang="zh-TW" sz="2600" b="0" i="1" smtClean="0">
                                <a:latin typeface="Cambria Math" panose="02040503050406030204" pitchFamily="18" charset="0"/>
                              </a:rPr>
                              <m:t>          </m:t>
                            </m:r>
                            <m:r>
                              <a:rPr lang="en-US" altLang="zh-TW" sz="2600" b="0" i="1" smtClean="0">
                                <a:latin typeface="Cambria Math" panose="02040503050406030204" pitchFamily="18" charset="0"/>
                              </a:rPr>
                              <m:t>𝑖𝑓</m:t>
                            </m:r>
                            <m:sSub>
                              <m:sSubPr>
                                <m:ctrlPr>
                                  <a:rPr lang="en-US" altLang="zh-TW" sz="26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TW" sz="2600" i="1"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e>
                              <m:sub>
                                <m:r>
                                  <a:rPr lang="en-US" altLang="zh-TW" sz="2600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  <m:r>
                              <a:rPr lang="en-US" altLang="zh-TW" sz="260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≠</m:t>
                            </m:r>
                            <m:sSub>
                              <m:sSubPr>
                                <m:ctrlPr>
                                  <a:rPr lang="en-US" altLang="zh-TW" sz="26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TW" sz="2600" i="1">
                                    <a:latin typeface="Cambria Math" panose="02040503050406030204" pitchFamily="18" charset="0"/>
                                  </a:rPr>
                                  <m:t>𝑏</m:t>
                                </m:r>
                              </m:e>
                              <m:sub>
                                <m:r>
                                  <a:rPr lang="en-US" altLang="zh-TW" sz="2600" i="1">
                                    <a:latin typeface="Cambria Math" panose="02040503050406030204" pitchFamily="18" charset="0"/>
                                  </a:rPr>
                                  <m:t>𝑗</m:t>
                                </m:r>
                              </m:sub>
                            </m:sSub>
                          </m:e>
                        </m:eqArr>
                      </m:e>
                    </m:d>
                  </m:oMath>
                </a14:m>
                <a:endParaRPr lang="en-US" altLang="zh-TW" sz="2600" dirty="0" smtClean="0"/>
              </a:p>
              <a:p>
                <a:pPr marL="0" indent="0">
                  <a:buNone/>
                </a:pPr>
                <a:endParaRPr lang="en-US" altLang="zh-TW" sz="2600" i="1" dirty="0" smtClean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26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600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n-US" altLang="zh-TW" sz="2600" b="0" i="1" smtClean="0">
                              <a:latin typeface="Cambria Math" panose="02040503050406030204" pitchFamily="18" charset="0"/>
                            </a:rPr>
                            <m:t>𝑖𝑗</m:t>
                          </m:r>
                        </m:sub>
                      </m:sSub>
                      <m:r>
                        <a:rPr lang="en-US" altLang="zh-TW" sz="26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altLang="zh-TW" sz="2600" b="0" i="0" smtClean="0">
                          <a:latin typeface="Cambria Math" panose="02040503050406030204" pitchFamily="18" charset="0"/>
                        </a:rPr>
                        <m:t>max</m:t>
                      </m:r>
                      <m:r>
                        <a:rPr lang="en-US" altLang="zh-TW" sz="2600" b="0" i="1" smtClean="0">
                          <a:latin typeface="Cambria Math" panose="02040503050406030204" pitchFamily="18" charset="0"/>
                        </a:rPr>
                        <m:t>⁡{</m:t>
                      </m:r>
                      <m:sSub>
                        <m:sSubPr>
                          <m:ctrlPr>
                            <a:rPr lang="en-US" altLang="zh-TW" sz="2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600" b="0" i="1" smtClean="0">
                              <a:latin typeface="Cambria Math" panose="02040503050406030204" pitchFamily="18" charset="0"/>
                            </a:rPr>
                            <m:t>𝐻</m:t>
                          </m:r>
                        </m:e>
                        <m:sub>
                          <m:r>
                            <a:rPr lang="en-US" altLang="zh-TW" sz="26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altLang="zh-TW" sz="2600" b="0" i="1" smtClean="0">
                              <a:latin typeface="Cambria Math" panose="02040503050406030204" pitchFamily="18" charset="0"/>
                            </a:rPr>
                            <m:t>−1,</m:t>
                          </m:r>
                          <m:r>
                            <a:rPr lang="en-US" altLang="zh-TW" sz="2600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  <m:r>
                        <a:rPr lang="en-US" altLang="zh-TW" sz="2600" b="0" i="1" smtClean="0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US" altLang="zh-TW" sz="2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600" b="0" i="1" smtClean="0">
                              <a:latin typeface="Cambria Math" panose="02040503050406030204" pitchFamily="18" charset="0"/>
                            </a:rPr>
                            <m:t>𝑔</m:t>
                          </m:r>
                        </m:e>
                        <m:sub>
                          <m:r>
                            <a:rPr lang="en-US" altLang="zh-TW" sz="26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altLang="zh-TW" sz="2600" b="0" i="1" smtClean="0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altLang="zh-TW" sz="2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600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n-US" altLang="zh-TW" sz="26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altLang="zh-TW" sz="2600" b="0" i="1" smtClean="0">
                              <a:latin typeface="Cambria Math" panose="02040503050406030204" pitchFamily="18" charset="0"/>
                            </a:rPr>
                            <m:t>−1,</m:t>
                          </m:r>
                          <m:r>
                            <a:rPr lang="en-US" altLang="zh-TW" sz="2600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  <m:r>
                        <a:rPr lang="en-US" altLang="zh-TW" sz="2600" b="0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zh-TW" altLang="en-US" sz="2600" b="0" i="1" smtClean="0">
                          <a:latin typeface="Cambria Math" panose="02040503050406030204" pitchFamily="18" charset="0"/>
                        </a:rPr>
                        <m:t>𝜇</m:t>
                      </m:r>
                      <m:r>
                        <a:rPr lang="en-US" altLang="zh-TW" sz="2600" b="0" i="1" smtClean="0">
                          <a:latin typeface="Cambria Math" panose="02040503050406030204" pitchFamily="18" charset="0"/>
                        </a:rPr>
                        <m:t>}</m:t>
                      </m:r>
                    </m:oMath>
                  </m:oMathPara>
                </a14:m>
                <a:endParaRPr lang="en-US" altLang="zh-TW" sz="2600" dirty="0" smtClean="0"/>
              </a:p>
              <a:p>
                <a:pPr marL="0" indent="0">
                  <a:buNone/>
                </a:pPr>
                <a:endParaRPr lang="en-US" altLang="zh-TW" sz="2600" dirty="0" smtClean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2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600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US" altLang="zh-TW" sz="2600" i="1">
                              <a:latin typeface="Cambria Math" panose="02040503050406030204" pitchFamily="18" charset="0"/>
                            </a:rPr>
                            <m:t>𝑖𝑗</m:t>
                          </m:r>
                        </m:sub>
                      </m:sSub>
                      <m:r>
                        <a:rPr lang="en-US" altLang="zh-TW" sz="2600" i="1"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US" altLang="zh-TW" sz="2600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altLang="zh-TW" sz="2600">
                              <a:latin typeface="Cambria Math" panose="02040503050406030204" pitchFamily="18" charset="0"/>
                            </a:rPr>
                            <m:t>max</m:t>
                          </m:r>
                        </m:fName>
                        <m:e>
                          <m:d>
                            <m:dPr>
                              <m:begChr m:val="{"/>
                              <m:endChr m:val="}"/>
                              <m:ctrlPr>
                                <a:rPr lang="en-US" altLang="zh-TW" sz="26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zh-TW" sz="26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TW" sz="2600" i="1">
                                      <a:latin typeface="Cambria Math" panose="02040503050406030204" pitchFamily="18" charset="0"/>
                                    </a:rPr>
                                    <m:t>𝐻</m:t>
                                  </m:r>
                                </m:e>
                                <m:sub>
                                  <m:r>
                                    <a:rPr lang="en-US" altLang="zh-TW" sz="26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  <m:r>
                                    <a:rPr lang="en-US" altLang="zh-TW" sz="2600" i="1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US" altLang="zh-TW" sz="2600" i="1"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  <m:r>
                                    <a:rPr lang="en-US" altLang="zh-TW" sz="2600" b="0" i="1" smtClean="0">
                                      <a:latin typeface="Cambria Math" panose="02040503050406030204" pitchFamily="18" charset="0"/>
                                    </a:rPr>
                                    <m:t>−1</m:t>
                                  </m:r>
                                </m:sub>
                              </m:sSub>
                              <m:r>
                                <a:rPr lang="en-US" altLang="zh-TW" sz="2600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altLang="zh-TW" sz="26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TW" sz="2600" i="1">
                                      <a:latin typeface="Cambria Math" panose="02040503050406030204" pitchFamily="18" charset="0"/>
                                    </a:rPr>
                                    <m:t>𝑔</m:t>
                                  </m:r>
                                </m:e>
                                <m:sub>
                                  <m:r>
                                    <a:rPr lang="en-US" altLang="zh-TW" sz="2600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US" altLang="zh-TW" sz="2600" i="1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sSub>
                                <m:sSubPr>
                                  <m:ctrlPr>
                                    <a:rPr lang="en-US" altLang="zh-TW" sz="26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TW" sz="2600" b="0" i="1" smtClean="0">
                                      <a:latin typeface="Cambria Math" panose="02040503050406030204" pitchFamily="18" charset="0"/>
                                    </a:rPr>
                                    <m:t>𝑅</m:t>
                                  </m:r>
                                </m:e>
                                <m:sub>
                                  <m:r>
                                    <a:rPr lang="en-US" altLang="zh-TW" sz="26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  <m:r>
                                    <a:rPr lang="en-US" altLang="zh-TW" sz="2600" i="1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US" altLang="zh-TW" sz="2600" i="1"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  <m:r>
                                    <a:rPr lang="en-US" altLang="zh-TW" sz="2600" b="0" i="1" smtClean="0">
                                      <a:latin typeface="Cambria Math" panose="02040503050406030204" pitchFamily="18" charset="0"/>
                                    </a:rPr>
                                    <m:t>−1</m:t>
                                  </m:r>
                                </m:sub>
                              </m:sSub>
                              <m:r>
                                <a:rPr lang="en-US" altLang="zh-TW" sz="2600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zh-TW" altLang="en-US" sz="2600" i="1">
                                  <a:latin typeface="Cambria Math" panose="02040503050406030204" pitchFamily="18" charset="0"/>
                                </a:rPr>
                                <m:t>𝜇</m:t>
                              </m:r>
                            </m:e>
                          </m:d>
                        </m:e>
                      </m:func>
                    </m:oMath>
                  </m:oMathPara>
                </a14:m>
                <a:endParaRPr lang="en-US" altLang="zh-TW" sz="2600" dirty="0" smtClean="0"/>
              </a:p>
              <a:p>
                <a:pPr marL="0" indent="0">
                  <a:buNone/>
                </a:pPr>
                <a:endParaRPr lang="en-US" altLang="zh-TW" sz="2600" dirty="0" smtClean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2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600" b="0" i="1" smtClean="0">
                              <a:latin typeface="Cambria Math" panose="02040503050406030204" pitchFamily="18" charset="0"/>
                            </a:rPr>
                            <m:t>𝐻</m:t>
                          </m:r>
                        </m:e>
                        <m:sub>
                          <m:r>
                            <a:rPr lang="en-US" altLang="zh-TW" sz="2600" i="1">
                              <a:latin typeface="Cambria Math" panose="02040503050406030204" pitchFamily="18" charset="0"/>
                            </a:rPr>
                            <m:t>𝑖𝑗</m:t>
                          </m:r>
                        </m:sub>
                      </m:sSub>
                      <m:r>
                        <a:rPr lang="en-US" altLang="zh-TW" sz="26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altLang="zh-TW" sz="2600">
                          <a:latin typeface="Cambria Math" panose="02040503050406030204" pitchFamily="18" charset="0"/>
                        </a:rPr>
                        <m:t>max</m:t>
                      </m:r>
                      <m:r>
                        <a:rPr lang="en-US" altLang="zh-TW" sz="2600" i="1">
                          <a:latin typeface="Cambria Math" panose="02040503050406030204" pitchFamily="18" charset="0"/>
                        </a:rPr>
                        <m:t>⁡{</m:t>
                      </m:r>
                      <m:sSub>
                        <m:sSubPr>
                          <m:ctrlPr>
                            <a:rPr lang="en-US" altLang="zh-TW" sz="2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600" i="1">
                              <a:latin typeface="Cambria Math" panose="02040503050406030204" pitchFamily="18" charset="0"/>
                            </a:rPr>
                            <m:t>𝐻</m:t>
                          </m:r>
                        </m:e>
                        <m:sub>
                          <m:r>
                            <a:rPr lang="en-US" altLang="zh-TW" sz="2600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altLang="zh-TW" sz="2600" i="1">
                              <a:latin typeface="Cambria Math" panose="02040503050406030204" pitchFamily="18" charset="0"/>
                            </a:rPr>
                            <m:t>−1,</m:t>
                          </m:r>
                          <m:r>
                            <a:rPr lang="en-US" altLang="zh-TW" sz="2600" i="1"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en-US" altLang="zh-TW" sz="2600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sub>
                      </m:sSub>
                      <m:r>
                        <a:rPr lang="en-US" altLang="zh-TW" sz="2600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zh-TW" sz="2600" b="0" i="1" smtClean="0">
                          <a:latin typeface="Cambria Math" panose="02040503050406030204" pitchFamily="18" charset="0"/>
                        </a:rPr>
                        <m:t>𝑠</m:t>
                      </m:r>
                      <m:r>
                        <a:rPr lang="en-US" altLang="zh-TW" sz="2600" b="0" i="1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altLang="zh-TW" sz="2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600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US" altLang="zh-TW" sz="26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altLang="zh-TW" sz="2600" b="0" i="1" smtClean="0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altLang="zh-TW" sz="2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600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en-US" altLang="zh-TW" sz="2600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  <m:r>
                        <a:rPr lang="en-US" altLang="zh-TW" sz="2600" b="0" i="1" smtClean="0">
                          <a:latin typeface="Cambria Math" panose="02040503050406030204" pitchFamily="18" charset="0"/>
                        </a:rPr>
                        <m:t>)</m:t>
                      </m:r>
                      <m:r>
                        <a:rPr lang="en-US" altLang="zh-TW" sz="2600" i="1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altLang="zh-TW" sz="2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600" i="1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n-US" altLang="zh-TW" sz="2600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altLang="zh-TW" sz="2600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TW" sz="2600" i="1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  <m:r>
                        <a:rPr lang="en-US" altLang="zh-TW" sz="2600" b="0" i="1" smtClean="0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altLang="zh-TW" sz="2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600" i="1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US" altLang="zh-TW" sz="2600" i="1">
                              <a:latin typeface="Cambria Math" panose="02040503050406030204" pitchFamily="18" charset="0"/>
                            </a:rPr>
                            <m:t>𝑖𝑗</m:t>
                          </m:r>
                        </m:sub>
                      </m:sSub>
                      <m:r>
                        <a:rPr lang="en-US" altLang="zh-TW" sz="2600" i="1">
                          <a:latin typeface="Cambria Math" panose="02040503050406030204" pitchFamily="18" charset="0"/>
                        </a:rPr>
                        <m:t>}</m:t>
                      </m:r>
                    </m:oMath>
                  </m:oMathPara>
                </a14:m>
                <a:endParaRPr lang="en-US" altLang="zh-TW" sz="2600" dirty="0"/>
              </a:p>
              <a:p>
                <a:pPr marL="0" indent="0">
                  <a:buNone/>
                </a:pPr>
                <a:endParaRPr lang="en-US" altLang="zh-TW" sz="2600" dirty="0"/>
              </a:p>
              <a:p>
                <a:pPr marL="0" indent="0">
                  <a:buNone/>
                </a:pPr>
                <a:endParaRPr lang="en-US" altLang="zh-TW" sz="2600" dirty="0"/>
              </a:p>
            </p:txBody>
          </p:sp>
        </mc:Choice>
        <mc:Fallback>
          <p:sp>
            <p:nvSpPr>
              <p:cNvPr id="3" name="內容版面配置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8650" y="1320528"/>
                <a:ext cx="7886700" cy="4351338"/>
              </a:xfrm>
              <a:blipFill rotWithShape="0">
                <a:blip r:embed="rId2"/>
                <a:stretch>
                  <a:fillRect l="-1391" t="-2945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2506540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4" name="文字方塊 3"/>
              <p:cNvSpPr txBox="1"/>
              <p:nvPr/>
            </p:nvSpPr>
            <p:spPr>
              <a:xfrm>
                <a:off x="121920" y="0"/>
                <a:ext cx="3013774" cy="76944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TW" sz="2600" dirty="0"/>
                  <a:t>If </a:t>
                </a:r>
                <a14:m>
                  <m:oMath xmlns:m="http://schemas.openxmlformats.org/officeDocument/2006/math">
                    <m:r>
                      <a:rPr lang="zh-TW" altLang="en-US" sz="2600" i="1">
                        <a:latin typeface="Cambria Math" panose="02040503050406030204" pitchFamily="18" charset="0"/>
                      </a:rPr>
                      <m:t>𝛿</m:t>
                    </m:r>
                    <m:r>
                      <a:rPr lang="en-US" altLang="zh-TW" sz="2600" i="1">
                        <a:latin typeface="Cambria Math" panose="02040503050406030204" pitchFamily="18" charset="0"/>
                      </a:rPr>
                      <m:t>=0 </m:t>
                    </m:r>
                    <m:r>
                      <a:rPr lang="zh-TW" altLang="en-US" sz="2600" i="1">
                        <a:latin typeface="Cambria Math" panose="02040503050406030204" pitchFamily="18" charset="0"/>
                      </a:rPr>
                      <m:t>𝜇</m:t>
                    </m:r>
                    <m:r>
                      <a:rPr lang="en-US" altLang="zh-TW" sz="2600" i="1">
                        <a:latin typeface="Cambria Math" panose="02040503050406030204" pitchFamily="18" charset="0"/>
                      </a:rPr>
                      <m:t>=1 </m:t>
                    </m:r>
                    <m:r>
                      <a:rPr lang="zh-TW" altLang="en-US" sz="2600" i="1">
                        <a:latin typeface="Cambria Math" panose="02040503050406030204" pitchFamily="18" charset="0"/>
                      </a:rPr>
                      <m:t>𝛾</m:t>
                    </m:r>
                    <m:r>
                      <a:rPr lang="en-US" altLang="zh-TW" sz="2600" i="1"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endParaRPr lang="zh-TW" altLang="en-US" sz="2600" dirty="0"/>
              </a:p>
              <a:p>
                <a:endParaRPr lang="zh-TW" altLang="en-US" dirty="0"/>
              </a:p>
            </p:txBody>
          </p:sp>
        </mc:Choice>
        <mc:Fallback>
          <p:sp>
            <p:nvSpPr>
              <p:cNvPr id="4" name="文字方塊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1920" y="0"/>
                <a:ext cx="3013774" cy="769441"/>
              </a:xfrm>
              <a:prstGeom prst="rect">
                <a:avLst/>
              </a:prstGeom>
              <a:blipFill rotWithShape="0">
                <a:blip r:embed="rId2"/>
                <a:stretch>
                  <a:fillRect l="-3644" t="-6349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5" name="內容版面配置區 3"/>
              <p:cNvGraphicFramePr>
                <a:graphicFrameLocks noGrp="1"/>
              </p:cNvGraphicFramePr>
              <p:nvPr>
                <p:ph idx="1"/>
                <p:extLst>
                  <p:ext uri="{D42A27DB-BD31-4B8C-83A1-F6EECF244321}">
                    <p14:modId xmlns:p14="http://schemas.microsoft.com/office/powerpoint/2010/main" val="2836936302"/>
                  </p:ext>
                </p:extLst>
              </p:nvPr>
            </p:nvGraphicFramePr>
            <p:xfrm>
              <a:off x="1567847" y="769441"/>
              <a:ext cx="6121392" cy="1829476"/>
            </p:xfrm>
            <a:graphic>
              <a:graphicData uri="http://schemas.openxmlformats.org/drawingml/2006/table">
                <a:tbl>
                  <a:tblPr firstRow="1" bandRow="1">
                    <a:tableStyleId>{9D7B26C5-4107-4FEC-AEDC-1716B250A1EF}</a:tableStyleId>
                  </a:tblPr>
                  <a:tblGrid>
                    <a:gridCol w="765174"/>
                    <a:gridCol w="765174"/>
                    <a:gridCol w="765174"/>
                    <a:gridCol w="765174"/>
                    <a:gridCol w="765174"/>
                    <a:gridCol w="765174"/>
                    <a:gridCol w="765174"/>
                    <a:gridCol w="765174"/>
                  </a:tblGrid>
                  <a:tr h="364286"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sz="1800" dirty="0"/>
                        </a:p>
                      </a:txBody>
                      <a:tcPr marL="91451" marR="91451" marT="45740" marB="45740"/>
                    </a:tc>
                    <a:tc>
                      <a:txBody>
                        <a:bodyPr/>
                        <a:lstStyle/>
                        <a:p>
                          <a:pPr marL="0" marR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zh-TW" altLang="en-US" sz="1800" dirty="0" smtClean="0"/>
                            <a:t>∆</a:t>
                          </a:r>
                        </a:p>
                      </a:txBody>
                      <a:tcPr marL="91451" marR="91451" marT="45740" marB="4574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dirty="0" smtClean="0"/>
                            <a:t>T</a:t>
                          </a:r>
                          <a:endParaRPr lang="zh-TW" altLang="en-US" sz="1800" dirty="0"/>
                        </a:p>
                      </a:txBody>
                      <a:tcPr marL="91451" marR="91451" marT="45740" marB="4574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dirty="0" smtClean="0"/>
                            <a:t>G</a:t>
                          </a:r>
                          <a:endParaRPr lang="zh-TW" altLang="en-US" sz="1800" dirty="0"/>
                        </a:p>
                      </a:txBody>
                      <a:tcPr marL="91451" marR="91451" marT="45740" marB="4574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dirty="0" smtClean="0"/>
                            <a:t>A</a:t>
                          </a:r>
                          <a:endParaRPr lang="zh-TW" altLang="en-US" sz="1800" dirty="0"/>
                        </a:p>
                      </a:txBody>
                      <a:tcPr marL="91451" marR="91451" marT="45740" marB="4574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dirty="0" smtClean="0"/>
                            <a:t>G</a:t>
                          </a:r>
                          <a:endParaRPr lang="zh-TW" altLang="en-US" sz="1800" dirty="0"/>
                        </a:p>
                      </a:txBody>
                      <a:tcPr marL="91451" marR="91451" marT="45740" marB="4574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dirty="0" smtClean="0"/>
                            <a:t>T</a:t>
                          </a:r>
                          <a:endParaRPr lang="zh-TW" altLang="en-US" sz="1800" dirty="0"/>
                        </a:p>
                      </a:txBody>
                      <a:tcPr marL="91451" marR="91451" marT="45740" marB="4574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dirty="0" smtClean="0"/>
                            <a:t>T</a:t>
                          </a:r>
                          <a:endParaRPr lang="zh-TW" altLang="en-US" sz="1800" dirty="0"/>
                        </a:p>
                      </a:txBody>
                      <a:tcPr marL="91451" marR="91451" marT="45740" marB="45740"/>
                    </a:tc>
                  </a:tr>
                  <a:tr h="365919"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zh-TW" altLang="en-US" sz="1800" dirty="0" smtClean="0"/>
                            <a:t>∆</a:t>
                          </a:r>
                        </a:p>
                      </a:txBody>
                      <a:tcPr marL="91451" marR="91451" marT="45740" marB="45740"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TW" sz="1800" dirty="0" smtClean="0"/>
                            <a:t>0</a:t>
                          </a:r>
                          <a:endParaRPr lang="zh-TW" altLang="en-US" sz="1800" dirty="0"/>
                        </a:p>
                      </a:txBody>
                      <a:tcPr marL="91451" marR="91451" marT="45740" marB="45740"/>
                    </a:tc>
                    <a:tc>
                      <a:txBody>
                        <a:bodyPr/>
                        <a:lstStyle/>
                        <a:p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TW" sz="1800" b="0" i="1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zh-TW" altLang="en-US" sz="1800" i="1" smtClean="0">
                                    <a:latin typeface="Cambria Math" panose="02040503050406030204" pitchFamily="18" charset="0"/>
                                  </a:rPr>
                                  <m:t>∞</m:t>
                                </m:r>
                              </m:oMath>
                            </m:oMathPara>
                          </a14:m>
                          <a:endParaRPr lang="zh-TW" altLang="en-US" sz="1800" dirty="0"/>
                        </a:p>
                      </a:txBody>
                      <a:tcPr marL="91451" marR="91451" marT="45740" marB="45740"/>
                    </a:tc>
                    <a:tc>
                      <a:txBody>
                        <a:bodyPr/>
                        <a:lstStyle/>
                        <a:p>
                          <a:pPr marL="0" marR="0" indent="0" algn="l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TW" sz="1800" b="0" i="1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zh-TW" altLang="en-US" sz="1800" i="1" smtClean="0">
                                    <a:latin typeface="Cambria Math" panose="02040503050406030204" pitchFamily="18" charset="0"/>
                                  </a:rPr>
                                  <m:t>∞</m:t>
                                </m:r>
                              </m:oMath>
                            </m:oMathPara>
                          </a14:m>
                          <a:endParaRPr lang="zh-TW" altLang="en-US" sz="1800" dirty="0"/>
                        </a:p>
                      </a:txBody>
                      <a:tcPr marL="91451" marR="91451" marT="45740" marB="45740"/>
                    </a:tc>
                    <a:tc>
                      <a:txBody>
                        <a:bodyPr/>
                        <a:lstStyle/>
                        <a:p>
                          <a:pPr marL="0" marR="0" indent="0" algn="l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TW" sz="1800" b="0" i="1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zh-TW" altLang="en-US" sz="1800" i="1" smtClean="0">
                                    <a:latin typeface="Cambria Math" panose="02040503050406030204" pitchFamily="18" charset="0"/>
                                  </a:rPr>
                                  <m:t>∞</m:t>
                                </m:r>
                              </m:oMath>
                            </m:oMathPara>
                          </a14:m>
                          <a:endParaRPr lang="zh-TW" altLang="en-US" sz="1800" dirty="0"/>
                        </a:p>
                      </a:txBody>
                      <a:tcPr marL="91451" marR="91451" marT="45740" marB="45740"/>
                    </a:tc>
                    <a:tc>
                      <a:txBody>
                        <a:bodyPr/>
                        <a:lstStyle/>
                        <a:p>
                          <a:pPr marL="0" marR="0" indent="0" algn="l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TW" sz="1800" b="0" i="1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zh-TW" altLang="en-US" sz="1800" i="1" smtClean="0">
                                    <a:latin typeface="Cambria Math" panose="02040503050406030204" pitchFamily="18" charset="0"/>
                                  </a:rPr>
                                  <m:t>∞</m:t>
                                </m:r>
                              </m:oMath>
                            </m:oMathPara>
                          </a14:m>
                          <a:endParaRPr lang="zh-TW" altLang="en-US" sz="1800" dirty="0"/>
                        </a:p>
                      </a:txBody>
                      <a:tcPr marL="91451" marR="91451" marT="45740" marB="45740"/>
                    </a:tc>
                    <a:tc>
                      <a:txBody>
                        <a:bodyPr/>
                        <a:lstStyle/>
                        <a:p>
                          <a:pPr marL="0" marR="0" indent="0" algn="l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TW" sz="1800" b="0" i="1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zh-TW" altLang="en-US" sz="1800" i="1" smtClean="0">
                                    <a:latin typeface="Cambria Math" panose="02040503050406030204" pitchFamily="18" charset="0"/>
                                  </a:rPr>
                                  <m:t>∞</m:t>
                                </m:r>
                              </m:oMath>
                            </m:oMathPara>
                          </a14:m>
                          <a:endParaRPr lang="zh-TW" altLang="en-US" sz="1800" dirty="0"/>
                        </a:p>
                      </a:txBody>
                      <a:tcPr marL="91451" marR="91451" marT="45740" marB="45740"/>
                    </a:tc>
                    <a:tc>
                      <a:txBody>
                        <a:bodyPr/>
                        <a:lstStyle/>
                        <a:p>
                          <a:pPr marL="0" marR="0" indent="0" algn="l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TW" sz="1800" b="0" i="1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zh-TW" altLang="en-US" sz="1800" i="1" smtClean="0">
                                    <a:latin typeface="Cambria Math" panose="02040503050406030204" pitchFamily="18" charset="0"/>
                                  </a:rPr>
                                  <m:t>∞</m:t>
                                </m:r>
                              </m:oMath>
                            </m:oMathPara>
                          </a14:m>
                          <a:endParaRPr lang="zh-TW" altLang="en-US" sz="1800" dirty="0"/>
                        </a:p>
                      </a:txBody>
                      <a:tcPr marL="91451" marR="91451" marT="45740" marB="45740"/>
                    </a:tc>
                  </a:tr>
                  <a:tr h="365919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dirty="0" smtClean="0"/>
                            <a:t>A</a:t>
                          </a:r>
                          <a:endParaRPr lang="zh-TW" altLang="en-US" sz="1800" dirty="0"/>
                        </a:p>
                      </a:txBody>
                      <a:tcPr marL="91451" marR="91451" marT="45740" marB="45740"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TW" sz="1800" dirty="0" smtClean="0"/>
                            <a:t>-</a:t>
                          </a:r>
                          <a:endParaRPr lang="zh-TW" altLang="en-US" sz="1800" dirty="0"/>
                        </a:p>
                      </a:txBody>
                      <a:tcPr marL="91451" marR="91451" marT="45740" marB="45740"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TW" sz="1800" dirty="0" smtClean="0"/>
                            <a:t>-4</a:t>
                          </a:r>
                          <a:endParaRPr lang="zh-TW" altLang="en-US" sz="1800" dirty="0"/>
                        </a:p>
                      </a:txBody>
                      <a:tcPr marL="91451" marR="91451" marT="45740" marB="45740"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TW" sz="1800" dirty="0" smtClean="0"/>
                            <a:t>-5</a:t>
                          </a:r>
                          <a:endParaRPr lang="zh-TW" altLang="en-US" sz="1800" dirty="0"/>
                        </a:p>
                      </a:txBody>
                      <a:tcPr marL="91451" marR="91451" marT="45740" marB="45740"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TW" sz="1800" dirty="0" smtClean="0"/>
                            <a:t>-6</a:t>
                          </a:r>
                          <a:endParaRPr lang="zh-TW" altLang="en-US" sz="1800" dirty="0"/>
                        </a:p>
                      </a:txBody>
                      <a:tcPr marL="91451" marR="91451" marT="45740" marB="45740"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TW" sz="1800" dirty="0" smtClean="0"/>
                            <a:t>-7</a:t>
                          </a:r>
                          <a:endParaRPr lang="zh-TW" altLang="en-US" sz="1800" dirty="0"/>
                        </a:p>
                      </a:txBody>
                      <a:tcPr marL="91451" marR="91451" marT="45740" marB="45740"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TW" sz="1800" dirty="0" smtClean="0"/>
                            <a:t>-8</a:t>
                          </a:r>
                          <a:endParaRPr lang="zh-TW" altLang="en-US" sz="1800" dirty="0"/>
                        </a:p>
                      </a:txBody>
                      <a:tcPr marL="91451" marR="91451" marT="45740" marB="45740"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TW" sz="1800" dirty="0" smtClean="0"/>
                            <a:t>-9</a:t>
                          </a:r>
                          <a:endParaRPr lang="zh-TW" altLang="en-US" sz="1800" dirty="0"/>
                        </a:p>
                      </a:txBody>
                      <a:tcPr marL="91451" marR="91451" marT="45740" marB="45740"/>
                    </a:tc>
                  </a:tr>
                  <a:tr h="365919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dirty="0" smtClean="0"/>
                            <a:t>G</a:t>
                          </a:r>
                          <a:endParaRPr lang="zh-TW" altLang="en-US" sz="1800" dirty="0"/>
                        </a:p>
                      </a:txBody>
                      <a:tcPr marL="91451" marR="91451" marT="45740" marB="45740"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TW" sz="1800" dirty="0" smtClean="0"/>
                            <a:t>-</a:t>
                          </a:r>
                          <a:endParaRPr lang="zh-TW" altLang="en-US" sz="1800" dirty="0"/>
                        </a:p>
                      </a:txBody>
                      <a:tcPr marL="91451" marR="91451" marT="45740" marB="45740"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TW" sz="1800" dirty="0" smtClean="0"/>
                            <a:t>-2</a:t>
                          </a:r>
                          <a:endParaRPr lang="zh-TW" altLang="en-US" sz="1800" dirty="0"/>
                        </a:p>
                      </a:txBody>
                      <a:tcPr marL="91451" marR="91451" marT="45740" marB="45740"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TW" sz="1800" dirty="0" smtClean="0"/>
                            <a:t>-4</a:t>
                          </a:r>
                          <a:endParaRPr lang="zh-TW" altLang="en-US" sz="1800" dirty="0"/>
                        </a:p>
                      </a:txBody>
                      <a:tcPr marL="91451" marR="91451" marT="45740" marB="45740"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TW" sz="1800" dirty="0" smtClean="0"/>
                            <a:t>-4</a:t>
                          </a:r>
                          <a:endParaRPr lang="zh-TW" altLang="en-US" sz="1800" dirty="0"/>
                        </a:p>
                      </a:txBody>
                      <a:tcPr marL="91451" marR="91451" marT="45740" marB="45740"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TW" sz="1800" dirty="0" smtClean="0"/>
                            <a:t>-6</a:t>
                          </a:r>
                          <a:endParaRPr lang="zh-TW" altLang="en-US" sz="1800" dirty="0"/>
                        </a:p>
                      </a:txBody>
                      <a:tcPr marL="91451" marR="91451" marT="45740" marB="45740"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TW" sz="1800" dirty="0" smtClean="0"/>
                            <a:t>-7</a:t>
                          </a:r>
                          <a:endParaRPr lang="zh-TW" altLang="en-US" sz="1800" dirty="0"/>
                        </a:p>
                      </a:txBody>
                      <a:tcPr marL="91451" marR="91451" marT="45740" marB="45740"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TW" sz="1800" dirty="0" smtClean="0"/>
                            <a:t>-8</a:t>
                          </a:r>
                          <a:endParaRPr lang="zh-TW" altLang="en-US" sz="1800" dirty="0"/>
                        </a:p>
                      </a:txBody>
                      <a:tcPr marL="91451" marR="91451" marT="45740" marB="45740"/>
                    </a:tc>
                  </a:tr>
                  <a:tr h="365919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dirty="0" smtClean="0"/>
                            <a:t>T</a:t>
                          </a:r>
                          <a:endParaRPr lang="zh-TW" altLang="en-US" sz="1800" dirty="0"/>
                        </a:p>
                      </a:txBody>
                      <a:tcPr marL="91451" marR="91451" marT="45740" marB="45740"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TW" sz="1800" dirty="0" smtClean="0"/>
                            <a:t>-</a:t>
                          </a:r>
                          <a:endParaRPr lang="zh-TW" altLang="en-US" sz="1800" dirty="0"/>
                        </a:p>
                      </a:txBody>
                      <a:tcPr marL="91451" marR="91451" marT="45740" marB="45740"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TW" sz="1800" dirty="0" smtClean="0"/>
                            <a:t>-3</a:t>
                          </a:r>
                          <a:endParaRPr lang="zh-TW" altLang="en-US" sz="1800" dirty="0"/>
                        </a:p>
                      </a:txBody>
                      <a:tcPr marL="91451" marR="91451" marT="45740" marB="45740"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TW" sz="1800" dirty="0" smtClean="0"/>
                            <a:t>-1</a:t>
                          </a:r>
                          <a:endParaRPr lang="zh-TW" altLang="en-US" sz="1800" dirty="0"/>
                        </a:p>
                      </a:txBody>
                      <a:tcPr marL="91451" marR="91451" marT="45740" marB="45740"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TW" sz="1800" dirty="0" smtClean="0"/>
                            <a:t>-3</a:t>
                          </a:r>
                          <a:endParaRPr lang="zh-TW" altLang="en-US" sz="1800" dirty="0"/>
                        </a:p>
                      </a:txBody>
                      <a:tcPr marL="91451" marR="91451" marT="45740" marB="45740"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TW" sz="1800" dirty="0" smtClean="0"/>
                            <a:t>-3</a:t>
                          </a:r>
                          <a:endParaRPr lang="zh-TW" altLang="en-US" sz="1800" dirty="0"/>
                        </a:p>
                      </a:txBody>
                      <a:tcPr marL="91451" marR="91451" marT="45740" marB="45740"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TW" sz="1800" dirty="0" smtClean="0"/>
                            <a:t>-5</a:t>
                          </a:r>
                          <a:endParaRPr lang="zh-TW" altLang="en-US" sz="1800" dirty="0"/>
                        </a:p>
                      </a:txBody>
                      <a:tcPr marL="91451" marR="91451" marT="45740" marB="45740"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TW" sz="1800" dirty="0" smtClean="0"/>
                            <a:t>-6</a:t>
                          </a:r>
                          <a:endParaRPr lang="zh-TW" altLang="en-US" sz="1800" dirty="0"/>
                        </a:p>
                      </a:txBody>
                      <a:tcPr marL="91451" marR="91451" marT="45740" marB="45740"/>
                    </a:tc>
                  </a:tr>
                </a:tbl>
              </a:graphicData>
            </a:graphic>
          </p:graphicFrame>
        </mc:Choice>
        <mc:Fallback>
          <p:graphicFrame>
            <p:nvGraphicFramePr>
              <p:cNvPr id="5" name="內容版面配置區 3"/>
              <p:cNvGraphicFramePr>
                <a:graphicFrameLocks noGrp="1"/>
              </p:cNvGraphicFramePr>
              <p:nvPr>
                <p:ph idx="1"/>
                <p:extLst>
                  <p:ext uri="{D42A27DB-BD31-4B8C-83A1-F6EECF244321}">
                    <p14:modId xmlns:p14="http://schemas.microsoft.com/office/powerpoint/2010/main" val="2836936302"/>
                  </p:ext>
                </p:extLst>
              </p:nvPr>
            </p:nvGraphicFramePr>
            <p:xfrm>
              <a:off x="1567847" y="769441"/>
              <a:ext cx="6121392" cy="1829476"/>
            </p:xfrm>
            <a:graphic>
              <a:graphicData uri="http://schemas.openxmlformats.org/drawingml/2006/table">
                <a:tbl>
                  <a:tblPr firstRow="1" bandRow="1">
                    <a:tableStyleId>{9D7B26C5-4107-4FEC-AEDC-1716B250A1EF}</a:tableStyleId>
                  </a:tblPr>
                  <a:tblGrid>
                    <a:gridCol w="765174"/>
                    <a:gridCol w="765174"/>
                    <a:gridCol w="765174"/>
                    <a:gridCol w="765174"/>
                    <a:gridCol w="765174"/>
                    <a:gridCol w="765174"/>
                    <a:gridCol w="765174"/>
                    <a:gridCol w="765174"/>
                  </a:tblGrid>
                  <a:tr h="365800"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sz="1800" dirty="0"/>
                        </a:p>
                      </a:txBody>
                      <a:tcPr marL="91451" marR="91451" marT="45740" marB="45740"/>
                    </a:tc>
                    <a:tc>
                      <a:txBody>
                        <a:bodyPr/>
                        <a:lstStyle/>
                        <a:p>
                          <a:pPr marL="0" marR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zh-TW" altLang="en-US" sz="1800" dirty="0" smtClean="0"/>
                            <a:t>∆</a:t>
                          </a:r>
                        </a:p>
                      </a:txBody>
                      <a:tcPr marL="91451" marR="91451" marT="45740" marB="4574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dirty="0" smtClean="0"/>
                            <a:t>T</a:t>
                          </a:r>
                          <a:endParaRPr lang="zh-TW" altLang="en-US" sz="1800" dirty="0"/>
                        </a:p>
                      </a:txBody>
                      <a:tcPr marL="91451" marR="91451" marT="45740" marB="4574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dirty="0" smtClean="0"/>
                            <a:t>G</a:t>
                          </a:r>
                          <a:endParaRPr lang="zh-TW" altLang="en-US" sz="1800" dirty="0"/>
                        </a:p>
                      </a:txBody>
                      <a:tcPr marL="91451" marR="91451" marT="45740" marB="4574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dirty="0" smtClean="0"/>
                            <a:t>A</a:t>
                          </a:r>
                          <a:endParaRPr lang="zh-TW" altLang="en-US" sz="1800" dirty="0"/>
                        </a:p>
                      </a:txBody>
                      <a:tcPr marL="91451" marR="91451" marT="45740" marB="4574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dirty="0" smtClean="0"/>
                            <a:t>G</a:t>
                          </a:r>
                          <a:endParaRPr lang="zh-TW" altLang="en-US" sz="1800" dirty="0"/>
                        </a:p>
                      </a:txBody>
                      <a:tcPr marL="91451" marR="91451" marT="45740" marB="4574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dirty="0" smtClean="0"/>
                            <a:t>T</a:t>
                          </a:r>
                          <a:endParaRPr lang="zh-TW" altLang="en-US" sz="1800" dirty="0"/>
                        </a:p>
                      </a:txBody>
                      <a:tcPr marL="91451" marR="91451" marT="45740" marB="4574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dirty="0" smtClean="0"/>
                            <a:t>T</a:t>
                          </a:r>
                          <a:endParaRPr lang="zh-TW" altLang="en-US" sz="1800" dirty="0"/>
                        </a:p>
                      </a:txBody>
                      <a:tcPr marL="91451" marR="91451" marT="45740" marB="45740"/>
                    </a:tc>
                  </a:tr>
                  <a:tr h="365919"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zh-TW" altLang="en-US" sz="1800" dirty="0" smtClean="0"/>
                            <a:t>∆</a:t>
                          </a:r>
                        </a:p>
                      </a:txBody>
                      <a:tcPr marL="91451" marR="91451" marT="45740" marB="45740"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TW" sz="1800" dirty="0" smtClean="0"/>
                            <a:t>0</a:t>
                          </a:r>
                          <a:endParaRPr lang="zh-TW" altLang="en-US" sz="1800" dirty="0"/>
                        </a:p>
                      </a:txBody>
                      <a:tcPr marL="91451" marR="91451" marT="45740" marB="45740"/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marL="91451" marR="91451" marT="45740" marB="45740">
                        <a:blipFill rotWithShape="0">
                          <a:blip r:embed="rId3"/>
                          <a:stretch>
                            <a:fillRect l="-199206" t="-108333" r="-499206" b="-32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marL="91451" marR="91451" marT="45740" marB="45740">
                        <a:blipFill rotWithShape="0">
                          <a:blip r:embed="rId3"/>
                          <a:stretch>
                            <a:fillRect l="-299206" t="-108333" r="-399206" b="-32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marL="91451" marR="91451" marT="45740" marB="45740">
                        <a:blipFill rotWithShape="0">
                          <a:blip r:embed="rId3"/>
                          <a:stretch>
                            <a:fillRect l="-402400" t="-108333" r="-302400" b="-32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marL="91451" marR="91451" marT="45740" marB="45740">
                        <a:blipFill rotWithShape="0">
                          <a:blip r:embed="rId3"/>
                          <a:stretch>
                            <a:fillRect l="-498413" t="-108333" r="-200000" b="-32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marL="91451" marR="91451" marT="45740" marB="45740">
                        <a:blipFill rotWithShape="0">
                          <a:blip r:embed="rId3"/>
                          <a:stretch>
                            <a:fillRect l="-603200" t="-108333" r="-101600" b="-32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marL="91451" marR="91451" marT="45740" marB="45740">
                        <a:blipFill rotWithShape="0">
                          <a:blip r:embed="rId3"/>
                          <a:stretch>
                            <a:fillRect l="-697619" t="-108333" r="-794" b="-326667"/>
                          </a:stretch>
                        </a:blipFill>
                      </a:tcPr>
                    </a:tc>
                  </a:tr>
                  <a:tr h="365919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dirty="0" smtClean="0"/>
                            <a:t>A</a:t>
                          </a:r>
                          <a:endParaRPr lang="zh-TW" altLang="en-US" sz="1800" dirty="0"/>
                        </a:p>
                      </a:txBody>
                      <a:tcPr marL="91451" marR="91451" marT="45740" marB="45740"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TW" sz="1800" dirty="0" smtClean="0"/>
                            <a:t>-</a:t>
                          </a:r>
                          <a:endParaRPr lang="zh-TW" altLang="en-US" sz="1800" dirty="0"/>
                        </a:p>
                      </a:txBody>
                      <a:tcPr marL="91451" marR="91451" marT="45740" marB="45740"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TW" sz="1800" dirty="0" smtClean="0"/>
                            <a:t>-4</a:t>
                          </a:r>
                          <a:endParaRPr lang="zh-TW" altLang="en-US" sz="1800" dirty="0"/>
                        </a:p>
                      </a:txBody>
                      <a:tcPr marL="91451" marR="91451" marT="45740" marB="45740"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TW" sz="1800" dirty="0" smtClean="0"/>
                            <a:t>-5</a:t>
                          </a:r>
                          <a:endParaRPr lang="zh-TW" altLang="en-US" sz="1800" dirty="0"/>
                        </a:p>
                      </a:txBody>
                      <a:tcPr marL="91451" marR="91451" marT="45740" marB="45740"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TW" sz="1800" dirty="0" smtClean="0"/>
                            <a:t>-6</a:t>
                          </a:r>
                          <a:endParaRPr lang="zh-TW" altLang="en-US" sz="1800" dirty="0"/>
                        </a:p>
                      </a:txBody>
                      <a:tcPr marL="91451" marR="91451" marT="45740" marB="45740"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TW" sz="1800" dirty="0" smtClean="0"/>
                            <a:t>-7</a:t>
                          </a:r>
                          <a:endParaRPr lang="zh-TW" altLang="en-US" sz="1800" dirty="0"/>
                        </a:p>
                      </a:txBody>
                      <a:tcPr marL="91451" marR="91451" marT="45740" marB="45740"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TW" sz="1800" dirty="0" smtClean="0"/>
                            <a:t>-8</a:t>
                          </a:r>
                          <a:endParaRPr lang="zh-TW" altLang="en-US" sz="1800" dirty="0"/>
                        </a:p>
                      </a:txBody>
                      <a:tcPr marL="91451" marR="91451" marT="45740" marB="45740"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TW" sz="1800" dirty="0" smtClean="0"/>
                            <a:t>-9</a:t>
                          </a:r>
                          <a:endParaRPr lang="zh-TW" altLang="en-US" sz="1800" dirty="0"/>
                        </a:p>
                      </a:txBody>
                      <a:tcPr marL="91451" marR="91451" marT="45740" marB="45740"/>
                    </a:tc>
                  </a:tr>
                  <a:tr h="365919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dirty="0" smtClean="0"/>
                            <a:t>G</a:t>
                          </a:r>
                          <a:endParaRPr lang="zh-TW" altLang="en-US" sz="1800" dirty="0"/>
                        </a:p>
                      </a:txBody>
                      <a:tcPr marL="91451" marR="91451" marT="45740" marB="45740"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TW" sz="1800" dirty="0" smtClean="0"/>
                            <a:t>-</a:t>
                          </a:r>
                          <a:endParaRPr lang="zh-TW" altLang="en-US" sz="1800" dirty="0"/>
                        </a:p>
                      </a:txBody>
                      <a:tcPr marL="91451" marR="91451" marT="45740" marB="45740"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TW" sz="1800" dirty="0" smtClean="0"/>
                            <a:t>-2</a:t>
                          </a:r>
                          <a:endParaRPr lang="zh-TW" altLang="en-US" sz="1800" dirty="0"/>
                        </a:p>
                      </a:txBody>
                      <a:tcPr marL="91451" marR="91451" marT="45740" marB="45740"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TW" sz="1800" dirty="0" smtClean="0"/>
                            <a:t>-4</a:t>
                          </a:r>
                          <a:endParaRPr lang="zh-TW" altLang="en-US" sz="1800" dirty="0"/>
                        </a:p>
                      </a:txBody>
                      <a:tcPr marL="91451" marR="91451" marT="45740" marB="45740"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TW" sz="1800" dirty="0" smtClean="0"/>
                            <a:t>-4</a:t>
                          </a:r>
                          <a:endParaRPr lang="zh-TW" altLang="en-US" sz="1800" dirty="0"/>
                        </a:p>
                      </a:txBody>
                      <a:tcPr marL="91451" marR="91451" marT="45740" marB="45740"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TW" sz="1800" dirty="0" smtClean="0"/>
                            <a:t>-6</a:t>
                          </a:r>
                          <a:endParaRPr lang="zh-TW" altLang="en-US" sz="1800" dirty="0"/>
                        </a:p>
                      </a:txBody>
                      <a:tcPr marL="91451" marR="91451" marT="45740" marB="45740"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TW" sz="1800" dirty="0" smtClean="0"/>
                            <a:t>-7</a:t>
                          </a:r>
                          <a:endParaRPr lang="zh-TW" altLang="en-US" sz="1800" dirty="0"/>
                        </a:p>
                      </a:txBody>
                      <a:tcPr marL="91451" marR="91451" marT="45740" marB="45740"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TW" sz="1800" dirty="0" smtClean="0"/>
                            <a:t>-8</a:t>
                          </a:r>
                          <a:endParaRPr lang="zh-TW" altLang="en-US" sz="1800" dirty="0"/>
                        </a:p>
                      </a:txBody>
                      <a:tcPr marL="91451" marR="91451" marT="45740" marB="45740"/>
                    </a:tc>
                  </a:tr>
                  <a:tr h="365919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dirty="0" smtClean="0"/>
                            <a:t>T</a:t>
                          </a:r>
                          <a:endParaRPr lang="zh-TW" altLang="en-US" sz="1800" dirty="0"/>
                        </a:p>
                      </a:txBody>
                      <a:tcPr marL="91451" marR="91451" marT="45740" marB="45740"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TW" sz="1800" dirty="0" smtClean="0"/>
                            <a:t>-</a:t>
                          </a:r>
                          <a:endParaRPr lang="zh-TW" altLang="en-US" sz="1800" dirty="0"/>
                        </a:p>
                      </a:txBody>
                      <a:tcPr marL="91451" marR="91451" marT="45740" marB="45740"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TW" sz="1800" dirty="0" smtClean="0"/>
                            <a:t>-3</a:t>
                          </a:r>
                          <a:endParaRPr lang="zh-TW" altLang="en-US" sz="1800" dirty="0"/>
                        </a:p>
                      </a:txBody>
                      <a:tcPr marL="91451" marR="91451" marT="45740" marB="45740"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TW" sz="1800" dirty="0" smtClean="0"/>
                            <a:t>-1</a:t>
                          </a:r>
                          <a:endParaRPr lang="zh-TW" altLang="en-US" sz="1800" dirty="0"/>
                        </a:p>
                      </a:txBody>
                      <a:tcPr marL="91451" marR="91451" marT="45740" marB="45740"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TW" sz="1800" dirty="0" smtClean="0"/>
                            <a:t>-3</a:t>
                          </a:r>
                          <a:endParaRPr lang="zh-TW" altLang="en-US" sz="1800" dirty="0"/>
                        </a:p>
                      </a:txBody>
                      <a:tcPr marL="91451" marR="91451" marT="45740" marB="45740"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TW" sz="1800" dirty="0" smtClean="0"/>
                            <a:t>-3</a:t>
                          </a:r>
                          <a:endParaRPr lang="zh-TW" altLang="en-US" sz="1800" dirty="0"/>
                        </a:p>
                      </a:txBody>
                      <a:tcPr marL="91451" marR="91451" marT="45740" marB="45740"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TW" sz="1800" dirty="0" smtClean="0"/>
                            <a:t>-5</a:t>
                          </a:r>
                          <a:endParaRPr lang="zh-TW" altLang="en-US" sz="1800" dirty="0"/>
                        </a:p>
                      </a:txBody>
                      <a:tcPr marL="91451" marR="91451" marT="45740" marB="45740"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TW" sz="1800" dirty="0" smtClean="0"/>
                            <a:t>-6</a:t>
                          </a:r>
                          <a:endParaRPr lang="zh-TW" altLang="en-US" sz="1800" dirty="0"/>
                        </a:p>
                      </a:txBody>
                      <a:tcPr marL="91451" marR="91451" marT="45740" marB="45740"/>
                    </a:tc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11" name="內容版面配置區 3"/>
              <p:cNvGraphicFramePr>
                <a:graphicFrameLocks/>
              </p:cNvGraphicFramePr>
              <p:nvPr>
                <p:extLst>
                  <p:ext uri="{D42A27DB-BD31-4B8C-83A1-F6EECF244321}">
                    <p14:modId xmlns:p14="http://schemas.microsoft.com/office/powerpoint/2010/main" val="1771022072"/>
                  </p:ext>
                </p:extLst>
              </p:nvPr>
            </p:nvGraphicFramePr>
            <p:xfrm>
              <a:off x="1567847" y="2863852"/>
              <a:ext cx="6121392" cy="1829476"/>
            </p:xfrm>
            <a:graphic>
              <a:graphicData uri="http://schemas.openxmlformats.org/drawingml/2006/table">
                <a:tbl>
                  <a:tblPr firstRow="1" bandRow="1">
                    <a:tableStyleId>{9D7B26C5-4107-4FEC-AEDC-1716B250A1EF}</a:tableStyleId>
                  </a:tblPr>
                  <a:tblGrid>
                    <a:gridCol w="765174"/>
                    <a:gridCol w="765174"/>
                    <a:gridCol w="765174"/>
                    <a:gridCol w="765174"/>
                    <a:gridCol w="765174"/>
                    <a:gridCol w="765174"/>
                    <a:gridCol w="765174"/>
                    <a:gridCol w="765174"/>
                  </a:tblGrid>
                  <a:tr h="364286"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sz="1800" dirty="0"/>
                        </a:p>
                      </a:txBody>
                      <a:tcPr marL="91451" marR="91451" marT="45740" marB="45740"/>
                    </a:tc>
                    <a:tc>
                      <a:txBody>
                        <a:bodyPr/>
                        <a:lstStyle/>
                        <a:p>
                          <a:pPr marL="0" marR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zh-TW" altLang="en-US" sz="1800" dirty="0" smtClean="0"/>
                            <a:t>∆</a:t>
                          </a:r>
                        </a:p>
                      </a:txBody>
                      <a:tcPr marL="91451" marR="91451" marT="45740" marB="4574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dirty="0" smtClean="0"/>
                            <a:t>T</a:t>
                          </a:r>
                          <a:endParaRPr lang="zh-TW" altLang="en-US" sz="1800" dirty="0"/>
                        </a:p>
                      </a:txBody>
                      <a:tcPr marL="91451" marR="91451" marT="45740" marB="4574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dirty="0" smtClean="0"/>
                            <a:t>G</a:t>
                          </a:r>
                          <a:endParaRPr lang="zh-TW" altLang="en-US" sz="1800" dirty="0"/>
                        </a:p>
                      </a:txBody>
                      <a:tcPr marL="91451" marR="91451" marT="45740" marB="4574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dirty="0" smtClean="0"/>
                            <a:t>A</a:t>
                          </a:r>
                          <a:endParaRPr lang="zh-TW" altLang="en-US" sz="1800" dirty="0"/>
                        </a:p>
                      </a:txBody>
                      <a:tcPr marL="91451" marR="91451" marT="45740" marB="4574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dirty="0" smtClean="0"/>
                            <a:t>G</a:t>
                          </a:r>
                          <a:endParaRPr lang="zh-TW" altLang="en-US" sz="1800" dirty="0"/>
                        </a:p>
                      </a:txBody>
                      <a:tcPr marL="91451" marR="91451" marT="45740" marB="4574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dirty="0" smtClean="0"/>
                            <a:t>T</a:t>
                          </a:r>
                          <a:endParaRPr lang="zh-TW" altLang="en-US" sz="1800" dirty="0"/>
                        </a:p>
                      </a:txBody>
                      <a:tcPr marL="91451" marR="91451" marT="45740" marB="4574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dirty="0" smtClean="0"/>
                            <a:t>T</a:t>
                          </a:r>
                          <a:endParaRPr lang="zh-TW" altLang="en-US" sz="1800" dirty="0"/>
                        </a:p>
                      </a:txBody>
                      <a:tcPr marL="91451" marR="91451" marT="45740" marB="45740"/>
                    </a:tc>
                  </a:tr>
                  <a:tr h="365919"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zh-TW" altLang="en-US" sz="1800" dirty="0" smtClean="0"/>
                            <a:t>∆</a:t>
                          </a:r>
                        </a:p>
                      </a:txBody>
                      <a:tcPr marL="91451" marR="91451" marT="45740" marB="45740"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TW" sz="1800" dirty="0" smtClean="0"/>
                            <a:t>0</a:t>
                          </a:r>
                          <a:endParaRPr lang="zh-TW" altLang="en-US" sz="1800" dirty="0"/>
                        </a:p>
                      </a:txBody>
                      <a:tcPr marL="91451" marR="91451" marT="45740" marB="45740"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TW" sz="1800" dirty="0" smtClean="0"/>
                            <a:t>-</a:t>
                          </a:r>
                          <a:endParaRPr lang="zh-TW" altLang="en-US" sz="1800" dirty="0"/>
                        </a:p>
                      </a:txBody>
                      <a:tcPr marL="91451" marR="91451" marT="45740" marB="45740"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TW" sz="1800" dirty="0" smtClean="0"/>
                            <a:t>-</a:t>
                          </a:r>
                          <a:endParaRPr lang="zh-TW" altLang="en-US" sz="1800" dirty="0"/>
                        </a:p>
                      </a:txBody>
                      <a:tcPr marL="91451" marR="91451" marT="45740" marB="45740"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TW" sz="1800" dirty="0" smtClean="0"/>
                            <a:t>-</a:t>
                          </a:r>
                          <a:endParaRPr lang="zh-TW" altLang="en-US" sz="1800" dirty="0"/>
                        </a:p>
                      </a:txBody>
                      <a:tcPr marL="91451" marR="91451" marT="45740" marB="45740"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TW" sz="1800" dirty="0" smtClean="0"/>
                            <a:t>-</a:t>
                          </a:r>
                          <a:endParaRPr lang="zh-TW" altLang="en-US" sz="1800" dirty="0"/>
                        </a:p>
                      </a:txBody>
                      <a:tcPr marL="91451" marR="91451" marT="45740" marB="45740"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TW" sz="1800" dirty="0" smtClean="0"/>
                            <a:t>-</a:t>
                          </a:r>
                          <a:endParaRPr lang="zh-TW" altLang="en-US" sz="1800" dirty="0"/>
                        </a:p>
                      </a:txBody>
                      <a:tcPr marL="91451" marR="91451" marT="45740" marB="45740"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TW" sz="1800" dirty="0" smtClean="0"/>
                            <a:t>-</a:t>
                          </a:r>
                          <a:endParaRPr lang="zh-TW" altLang="en-US" sz="1800" dirty="0"/>
                        </a:p>
                      </a:txBody>
                      <a:tcPr marL="91451" marR="91451" marT="45740" marB="45740"/>
                    </a:tc>
                  </a:tr>
                  <a:tr h="365919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dirty="0" smtClean="0"/>
                            <a:t>A</a:t>
                          </a:r>
                          <a:endParaRPr lang="zh-TW" altLang="en-US" sz="1800" dirty="0"/>
                        </a:p>
                      </a:txBody>
                      <a:tcPr marL="91451" marR="91451" marT="45740" marB="45740"/>
                    </a:tc>
                    <a:tc>
                      <a:txBody>
                        <a:bodyPr/>
                        <a:lstStyle/>
                        <a:p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TW" sz="1800" b="0" i="1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zh-TW" altLang="en-US" sz="1800" i="1" smtClean="0">
                                    <a:latin typeface="Cambria Math" panose="02040503050406030204" pitchFamily="18" charset="0"/>
                                  </a:rPr>
                                  <m:t>∞</m:t>
                                </m:r>
                              </m:oMath>
                            </m:oMathPara>
                          </a14:m>
                          <a:endParaRPr lang="zh-TW" altLang="en-US" sz="1800" dirty="0"/>
                        </a:p>
                      </a:txBody>
                      <a:tcPr marL="91451" marR="91451" marT="45740" marB="45740"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TW" sz="1800" dirty="0" smtClean="0"/>
                            <a:t>-4</a:t>
                          </a:r>
                          <a:endParaRPr lang="zh-TW" altLang="en-US" sz="1800" dirty="0"/>
                        </a:p>
                      </a:txBody>
                      <a:tcPr marL="91451" marR="91451" marT="45740" marB="45740"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TW" sz="1800" dirty="0" smtClean="0"/>
                            <a:t>-2</a:t>
                          </a:r>
                          <a:endParaRPr lang="zh-TW" altLang="en-US" sz="1800" dirty="0"/>
                        </a:p>
                      </a:txBody>
                      <a:tcPr marL="91451" marR="91451" marT="45740" marB="45740"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TW" sz="1800" dirty="0" smtClean="0"/>
                            <a:t>-3</a:t>
                          </a:r>
                          <a:endParaRPr lang="zh-TW" altLang="en-US" sz="1800" dirty="0"/>
                        </a:p>
                      </a:txBody>
                      <a:tcPr marL="91451" marR="91451" marT="45740" marB="45740"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TW" sz="1800" dirty="0" smtClean="0"/>
                            <a:t>-4</a:t>
                          </a:r>
                          <a:endParaRPr lang="zh-TW" altLang="en-US" sz="1800" dirty="0"/>
                        </a:p>
                      </a:txBody>
                      <a:tcPr marL="91451" marR="91451" marT="45740" marB="45740"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TW" sz="1800" dirty="0" smtClean="0"/>
                            <a:t>-5</a:t>
                          </a:r>
                          <a:endParaRPr lang="zh-TW" altLang="en-US" sz="1800" dirty="0"/>
                        </a:p>
                      </a:txBody>
                      <a:tcPr marL="91451" marR="91451" marT="45740" marB="45740"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TW" sz="1800" dirty="0" smtClean="0"/>
                            <a:t>-6</a:t>
                          </a:r>
                          <a:endParaRPr lang="zh-TW" altLang="en-US" sz="1800" dirty="0"/>
                        </a:p>
                      </a:txBody>
                      <a:tcPr marL="91451" marR="91451" marT="45740" marB="45740"/>
                    </a:tc>
                  </a:tr>
                  <a:tr h="365919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dirty="0" smtClean="0"/>
                            <a:t>G</a:t>
                          </a:r>
                          <a:endParaRPr lang="zh-TW" altLang="en-US" sz="1800" dirty="0"/>
                        </a:p>
                      </a:txBody>
                      <a:tcPr marL="91451" marR="91451" marT="45740" marB="45740"/>
                    </a:tc>
                    <a:tc>
                      <a:txBody>
                        <a:bodyPr/>
                        <a:lstStyle/>
                        <a:p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TW" sz="1800" b="0" i="1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zh-TW" altLang="en-US" sz="1800" i="1" smtClean="0">
                                    <a:latin typeface="Cambria Math" panose="02040503050406030204" pitchFamily="18" charset="0"/>
                                  </a:rPr>
                                  <m:t>∞</m:t>
                                </m:r>
                              </m:oMath>
                            </m:oMathPara>
                          </a14:m>
                          <a:endParaRPr lang="zh-TW" altLang="en-US" sz="1800" dirty="0"/>
                        </a:p>
                      </a:txBody>
                      <a:tcPr marL="91451" marR="91451" marT="45740" marB="45740"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TW" sz="1800" dirty="0" smtClean="0"/>
                            <a:t>-5</a:t>
                          </a:r>
                          <a:endParaRPr lang="zh-TW" altLang="en-US" sz="1800" dirty="0"/>
                        </a:p>
                      </a:txBody>
                      <a:tcPr marL="91451" marR="91451" marT="45740" marB="45740"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TW" sz="1800" dirty="0" smtClean="0"/>
                            <a:t>-4</a:t>
                          </a:r>
                          <a:endParaRPr lang="zh-TW" altLang="en-US" sz="1800" dirty="0"/>
                        </a:p>
                      </a:txBody>
                      <a:tcPr marL="91451" marR="91451" marT="45740" marB="45740"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TW" sz="1800" dirty="0" smtClean="0"/>
                            <a:t>-1</a:t>
                          </a:r>
                          <a:endParaRPr lang="zh-TW" altLang="en-US" sz="1800" dirty="0"/>
                        </a:p>
                      </a:txBody>
                      <a:tcPr marL="91451" marR="91451" marT="45740" marB="45740"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TW" sz="1800" dirty="0" smtClean="0"/>
                            <a:t>-2</a:t>
                          </a:r>
                          <a:endParaRPr lang="zh-TW" altLang="en-US" sz="1800" dirty="0"/>
                        </a:p>
                      </a:txBody>
                      <a:tcPr marL="91451" marR="91451" marT="45740" marB="45740"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TW" sz="1800" dirty="0" smtClean="0"/>
                            <a:t>-3</a:t>
                          </a:r>
                          <a:endParaRPr lang="zh-TW" altLang="en-US" sz="1800" dirty="0"/>
                        </a:p>
                      </a:txBody>
                      <a:tcPr marL="91451" marR="91451" marT="45740" marB="45740"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TW" sz="1800" dirty="0" smtClean="0"/>
                            <a:t>-4</a:t>
                          </a:r>
                          <a:endParaRPr lang="zh-TW" altLang="en-US" sz="1800" dirty="0"/>
                        </a:p>
                      </a:txBody>
                      <a:tcPr marL="91451" marR="91451" marT="45740" marB="45740"/>
                    </a:tc>
                  </a:tr>
                  <a:tr h="365919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dirty="0" smtClean="0"/>
                            <a:t>T</a:t>
                          </a:r>
                          <a:endParaRPr lang="zh-TW" altLang="en-US" sz="1800" dirty="0"/>
                        </a:p>
                      </a:txBody>
                      <a:tcPr marL="91451" marR="91451" marT="45740" marB="45740"/>
                    </a:tc>
                    <a:tc>
                      <a:txBody>
                        <a:bodyPr/>
                        <a:lstStyle/>
                        <a:p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TW" sz="1800" b="0" i="1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zh-TW" altLang="en-US" sz="1800" i="1" smtClean="0">
                                    <a:latin typeface="Cambria Math" panose="02040503050406030204" pitchFamily="18" charset="0"/>
                                  </a:rPr>
                                  <m:t>∞</m:t>
                                </m:r>
                              </m:oMath>
                            </m:oMathPara>
                          </a14:m>
                          <a:endParaRPr lang="zh-TW" altLang="en-US" sz="1800" dirty="0"/>
                        </a:p>
                      </a:txBody>
                      <a:tcPr marL="91451" marR="91451" marT="45740" marB="45740"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TW" sz="1800" dirty="0" smtClean="0"/>
                            <a:t>-6</a:t>
                          </a:r>
                          <a:endParaRPr lang="zh-TW" altLang="en-US" sz="1800" dirty="0"/>
                        </a:p>
                      </a:txBody>
                      <a:tcPr marL="91451" marR="91451" marT="45740" marB="45740"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TW" sz="1800" dirty="0" smtClean="0"/>
                            <a:t>-4</a:t>
                          </a:r>
                          <a:endParaRPr lang="zh-TW" altLang="en-US" sz="1800" dirty="0"/>
                        </a:p>
                      </a:txBody>
                      <a:tcPr marL="91451" marR="91451" marT="45740" marB="45740"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TW" sz="1800" dirty="0" smtClean="0"/>
                            <a:t>-3</a:t>
                          </a:r>
                          <a:endParaRPr lang="zh-TW" altLang="en-US" sz="1800" dirty="0"/>
                        </a:p>
                      </a:txBody>
                      <a:tcPr marL="91451" marR="91451" marT="45740" marB="45740"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TW" sz="1800" dirty="0" smtClean="0"/>
                            <a:t>-1</a:t>
                          </a:r>
                          <a:endParaRPr lang="zh-TW" altLang="en-US" sz="1800" dirty="0"/>
                        </a:p>
                      </a:txBody>
                      <a:tcPr marL="91451" marR="91451" marT="45740" marB="45740"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TW" sz="1800" dirty="0" smtClean="0"/>
                            <a:t>-2</a:t>
                          </a:r>
                          <a:endParaRPr lang="zh-TW" altLang="en-US" sz="1800" dirty="0"/>
                        </a:p>
                      </a:txBody>
                      <a:tcPr marL="91451" marR="91451" marT="45740" marB="45740"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TW" sz="1800" dirty="0" smtClean="0"/>
                            <a:t>-2</a:t>
                          </a:r>
                          <a:endParaRPr lang="zh-TW" altLang="en-US" sz="1800" dirty="0"/>
                        </a:p>
                      </a:txBody>
                      <a:tcPr marL="91451" marR="91451" marT="45740" marB="45740"/>
                    </a:tc>
                  </a:tr>
                </a:tbl>
              </a:graphicData>
            </a:graphic>
          </p:graphicFrame>
        </mc:Choice>
        <mc:Fallback>
          <p:graphicFrame>
            <p:nvGraphicFramePr>
              <p:cNvPr id="11" name="內容版面配置區 3"/>
              <p:cNvGraphicFramePr>
                <a:graphicFrameLocks/>
              </p:cNvGraphicFramePr>
              <p:nvPr>
                <p:extLst>
                  <p:ext uri="{D42A27DB-BD31-4B8C-83A1-F6EECF244321}">
                    <p14:modId xmlns:p14="http://schemas.microsoft.com/office/powerpoint/2010/main" val="1771022072"/>
                  </p:ext>
                </p:extLst>
              </p:nvPr>
            </p:nvGraphicFramePr>
            <p:xfrm>
              <a:off x="1567847" y="2863852"/>
              <a:ext cx="6121392" cy="1829476"/>
            </p:xfrm>
            <a:graphic>
              <a:graphicData uri="http://schemas.openxmlformats.org/drawingml/2006/table">
                <a:tbl>
                  <a:tblPr firstRow="1" bandRow="1">
                    <a:tableStyleId>{9D7B26C5-4107-4FEC-AEDC-1716B250A1EF}</a:tableStyleId>
                  </a:tblPr>
                  <a:tblGrid>
                    <a:gridCol w="765174"/>
                    <a:gridCol w="765174"/>
                    <a:gridCol w="765174"/>
                    <a:gridCol w="765174"/>
                    <a:gridCol w="765174"/>
                    <a:gridCol w="765174"/>
                    <a:gridCol w="765174"/>
                    <a:gridCol w="765174"/>
                  </a:tblGrid>
                  <a:tr h="365800"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 sz="1800" dirty="0"/>
                        </a:p>
                      </a:txBody>
                      <a:tcPr marL="91451" marR="91451" marT="45740" marB="45740"/>
                    </a:tc>
                    <a:tc>
                      <a:txBody>
                        <a:bodyPr/>
                        <a:lstStyle/>
                        <a:p>
                          <a:pPr marL="0" marR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zh-TW" altLang="en-US" sz="1800" dirty="0" smtClean="0"/>
                            <a:t>∆</a:t>
                          </a:r>
                        </a:p>
                      </a:txBody>
                      <a:tcPr marL="91451" marR="91451" marT="45740" marB="4574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dirty="0" smtClean="0"/>
                            <a:t>T</a:t>
                          </a:r>
                          <a:endParaRPr lang="zh-TW" altLang="en-US" sz="1800" dirty="0"/>
                        </a:p>
                      </a:txBody>
                      <a:tcPr marL="91451" marR="91451" marT="45740" marB="4574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dirty="0" smtClean="0"/>
                            <a:t>G</a:t>
                          </a:r>
                          <a:endParaRPr lang="zh-TW" altLang="en-US" sz="1800" dirty="0"/>
                        </a:p>
                      </a:txBody>
                      <a:tcPr marL="91451" marR="91451" marT="45740" marB="4574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dirty="0" smtClean="0"/>
                            <a:t>A</a:t>
                          </a:r>
                          <a:endParaRPr lang="zh-TW" altLang="en-US" sz="1800" dirty="0"/>
                        </a:p>
                      </a:txBody>
                      <a:tcPr marL="91451" marR="91451" marT="45740" marB="4574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dirty="0" smtClean="0"/>
                            <a:t>G</a:t>
                          </a:r>
                          <a:endParaRPr lang="zh-TW" altLang="en-US" sz="1800" dirty="0"/>
                        </a:p>
                      </a:txBody>
                      <a:tcPr marL="91451" marR="91451" marT="45740" marB="4574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dirty="0" smtClean="0"/>
                            <a:t>T</a:t>
                          </a:r>
                          <a:endParaRPr lang="zh-TW" altLang="en-US" sz="1800" dirty="0"/>
                        </a:p>
                      </a:txBody>
                      <a:tcPr marL="91451" marR="91451" marT="45740" marB="4574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dirty="0" smtClean="0"/>
                            <a:t>T</a:t>
                          </a:r>
                          <a:endParaRPr lang="zh-TW" altLang="en-US" sz="1800" dirty="0"/>
                        </a:p>
                      </a:txBody>
                      <a:tcPr marL="91451" marR="91451" marT="45740" marB="45740"/>
                    </a:tc>
                  </a:tr>
                  <a:tr h="365919"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zh-TW" altLang="en-US" sz="1800" dirty="0" smtClean="0"/>
                            <a:t>∆</a:t>
                          </a:r>
                        </a:p>
                      </a:txBody>
                      <a:tcPr marL="91451" marR="91451" marT="45740" marB="45740"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TW" sz="1800" dirty="0" smtClean="0"/>
                            <a:t>0</a:t>
                          </a:r>
                          <a:endParaRPr lang="zh-TW" altLang="en-US" sz="1800" dirty="0"/>
                        </a:p>
                      </a:txBody>
                      <a:tcPr marL="91451" marR="91451" marT="45740" marB="45740"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TW" sz="1800" dirty="0" smtClean="0"/>
                            <a:t>-</a:t>
                          </a:r>
                          <a:endParaRPr lang="zh-TW" altLang="en-US" sz="1800" dirty="0"/>
                        </a:p>
                      </a:txBody>
                      <a:tcPr marL="91451" marR="91451" marT="45740" marB="45740"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TW" sz="1800" dirty="0" smtClean="0"/>
                            <a:t>-</a:t>
                          </a:r>
                          <a:endParaRPr lang="zh-TW" altLang="en-US" sz="1800" dirty="0"/>
                        </a:p>
                      </a:txBody>
                      <a:tcPr marL="91451" marR="91451" marT="45740" marB="45740"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TW" sz="1800" dirty="0" smtClean="0"/>
                            <a:t>-</a:t>
                          </a:r>
                          <a:endParaRPr lang="zh-TW" altLang="en-US" sz="1800" dirty="0"/>
                        </a:p>
                      </a:txBody>
                      <a:tcPr marL="91451" marR="91451" marT="45740" marB="45740"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TW" sz="1800" dirty="0" smtClean="0"/>
                            <a:t>-</a:t>
                          </a:r>
                          <a:endParaRPr lang="zh-TW" altLang="en-US" sz="1800" dirty="0"/>
                        </a:p>
                      </a:txBody>
                      <a:tcPr marL="91451" marR="91451" marT="45740" marB="45740"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TW" sz="1800" dirty="0" smtClean="0"/>
                            <a:t>-</a:t>
                          </a:r>
                          <a:endParaRPr lang="zh-TW" altLang="en-US" sz="1800" dirty="0"/>
                        </a:p>
                      </a:txBody>
                      <a:tcPr marL="91451" marR="91451" marT="45740" marB="45740"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TW" sz="1800" dirty="0" smtClean="0"/>
                            <a:t>-</a:t>
                          </a:r>
                          <a:endParaRPr lang="zh-TW" altLang="en-US" sz="1800" dirty="0"/>
                        </a:p>
                      </a:txBody>
                      <a:tcPr marL="91451" marR="91451" marT="45740" marB="45740"/>
                    </a:tc>
                  </a:tr>
                  <a:tr h="365919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dirty="0" smtClean="0"/>
                            <a:t>A</a:t>
                          </a:r>
                          <a:endParaRPr lang="zh-TW" altLang="en-US" sz="1800" dirty="0"/>
                        </a:p>
                      </a:txBody>
                      <a:tcPr marL="91451" marR="91451" marT="45740" marB="45740"/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marL="91451" marR="91451" marT="45740" marB="45740">
                        <a:blipFill rotWithShape="0">
                          <a:blip r:embed="rId4"/>
                          <a:stretch>
                            <a:fillRect l="-100800" t="-204918" r="-604000" b="-2229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TW" sz="1800" dirty="0" smtClean="0"/>
                            <a:t>-4</a:t>
                          </a:r>
                          <a:endParaRPr lang="zh-TW" altLang="en-US" sz="1800" dirty="0"/>
                        </a:p>
                      </a:txBody>
                      <a:tcPr marL="91451" marR="91451" marT="45740" marB="45740"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TW" sz="1800" dirty="0" smtClean="0"/>
                            <a:t>-2</a:t>
                          </a:r>
                          <a:endParaRPr lang="zh-TW" altLang="en-US" sz="1800" dirty="0"/>
                        </a:p>
                      </a:txBody>
                      <a:tcPr marL="91451" marR="91451" marT="45740" marB="45740"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TW" sz="1800" dirty="0" smtClean="0"/>
                            <a:t>-3</a:t>
                          </a:r>
                          <a:endParaRPr lang="zh-TW" altLang="en-US" sz="1800" dirty="0"/>
                        </a:p>
                      </a:txBody>
                      <a:tcPr marL="91451" marR="91451" marT="45740" marB="45740"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TW" sz="1800" dirty="0" smtClean="0"/>
                            <a:t>-4</a:t>
                          </a:r>
                          <a:endParaRPr lang="zh-TW" altLang="en-US" sz="1800" dirty="0"/>
                        </a:p>
                      </a:txBody>
                      <a:tcPr marL="91451" marR="91451" marT="45740" marB="45740"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TW" sz="1800" dirty="0" smtClean="0"/>
                            <a:t>-5</a:t>
                          </a:r>
                          <a:endParaRPr lang="zh-TW" altLang="en-US" sz="1800" dirty="0"/>
                        </a:p>
                      </a:txBody>
                      <a:tcPr marL="91451" marR="91451" marT="45740" marB="45740"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TW" sz="1800" dirty="0" smtClean="0"/>
                            <a:t>-6</a:t>
                          </a:r>
                          <a:endParaRPr lang="zh-TW" altLang="en-US" sz="1800" dirty="0"/>
                        </a:p>
                      </a:txBody>
                      <a:tcPr marL="91451" marR="91451" marT="45740" marB="45740"/>
                    </a:tc>
                  </a:tr>
                  <a:tr h="365919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dirty="0" smtClean="0"/>
                            <a:t>G</a:t>
                          </a:r>
                          <a:endParaRPr lang="zh-TW" altLang="en-US" sz="1800" dirty="0"/>
                        </a:p>
                      </a:txBody>
                      <a:tcPr marL="91451" marR="91451" marT="45740" marB="45740"/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marL="91451" marR="91451" marT="45740" marB="45740">
                        <a:blipFill rotWithShape="0">
                          <a:blip r:embed="rId4"/>
                          <a:stretch>
                            <a:fillRect l="-100800" t="-310000" r="-604000" b="-12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TW" sz="1800" dirty="0" smtClean="0"/>
                            <a:t>-5</a:t>
                          </a:r>
                          <a:endParaRPr lang="zh-TW" altLang="en-US" sz="1800" dirty="0"/>
                        </a:p>
                      </a:txBody>
                      <a:tcPr marL="91451" marR="91451" marT="45740" marB="45740"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TW" sz="1800" dirty="0" smtClean="0"/>
                            <a:t>-4</a:t>
                          </a:r>
                          <a:endParaRPr lang="zh-TW" altLang="en-US" sz="1800" dirty="0"/>
                        </a:p>
                      </a:txBody>
                      <a:tcPr marL="91451" marR="91451" marT="45740" marB="45740"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TW" sz="1800" dirty="0" smtClean="0"/>
                            <a:t>-1</a:t>
                          </a:r>
                          <a:endParaRPr lang="zh-TW" altLang="en-US" sz="1800" dirty="0"/>
                        </a:p>
                      </a:txBody>
                      <a:tcPr marL="91451" marR="91451" marT="45740" marB="45740"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TW" sz="1800" dirty="0" smtClean="0"/>
                            <a:t>-2</a:t>
                          </a:r>
                          <a:endParaRPr lang="zh-TW" altLang="en-US" sz="1800" dirty="0"/>
                        </a:p>
                      </a:txBody>
                      <a:tcPr marL="91451" marR="91451" marT="45740" marB="45740"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TW" sz="1800" dirty="0" smtClean="0"/>
                            <a:t>-3</a:t>
                          </a:r>
                          <a:endParaRPr lang="zh-TW" altLang="en-US" sz="1800" dirty="0"/>
                        </a:p>
                      </a:txBody>
                      <a:tcPr marL="91451" marR="91451" marT="45740" marB="45740"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TW" sz="1800" dirty="0" smtClean="0"/>
                            <a:t>-4</a:t>
                          </a:r>
                          <a:endParaRPr lang="zh-TW" altLang="en-US" sz="1800" dirty="0"/>
                        </a:p>
                      </a:txBody>
                      <a:tcPr marL="91451" marR="91451" marT="45740" marB="45740"/>
                    </a:tc>
                  </a:tr>
                  <a:tr h="365919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sz="1800" dirty="0" smtClean="0"/>
                            <a:t>T</a:t>
                          </a:r>
                          <a:endParaRPr lang="zh-TW" altLang="en-US" sz="1800" dirty="0"/>
                        </a:p>
                      </a:txBody>
                      <a:tcPr marL="91451" marR="91451" marT="45740" marB="45740"/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marL="91451" marR="91451" marT="45740" marB="45740">
                        <a:blipFill rotWithShape="0">
                          <a:blip r:embed="rId4"/>
                          <a:stretch>
                            <a:fillRect l="-100800" t="-410000" r="-604000" b="-2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TW" sz="1800" dirty="0" smtClean="0"/>
                            <a:t>-6</a:t>
                          </a:r>
                          <a:endParaRPr lang="zh-TW" altLang="en-US" sz="1800" dirty="0"/>
                        </a:p>
                      </a:txBody>
                      <a:tcPr marL="91451" marR="91451" marT="45740" marB="45740"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TW" sz="1800" dirty="0" smtClean="0"/>
                            <a:t>-4</a:t>
                          </a:r>
                          <a:endParaRPr lang="zh-TW" altLang="en-US" sz="1800" dirty="0"/>
                        </a:p>
                      </a:txBody>
                      <a:tcPr marL="91451" marR="91451" marT="45740" marB="45740"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TW" sz="1800" dirty="0" smtClean="0"/>
                            <a:t>-3</a:t>
                          </a:r>
                          <a:endParaRPr lang="zh-TW" altLang="en-US" sz="1800" dirty="0"/>
                        </a:p>
                      </a:txBody>
                      <a:tcPr marL="91451" marR="91451" marT="45740" marB="45740"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TW" sz="1800" dirty="0" smtClean="0"/>
                            <a:t>-1</a:t>
                          </a:r>
                          <a:endParaRPr lang="zh-TW" altLang="en-US" sz="1800" dirty="0"/>
                        </a:p>
                      </a:txBody>
                      <a:tcPr marL="91451" marR="91451" marT="45740" marB="45740"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TW" sz="1800" dirty="0" smtClean="0"/>
                            <a:t>-2</a:t>
                          </a:r>
                          <a:endParaRPr lang="zh-TW" altLang="en-US" sz="1800" dirty="0"/>
                        </a:p>
                      </a:txBody>
                      <a:tcPr marL="91451" marR="91451" marT="45740" marB="45740"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TW" sz="1800" dirty="0" smtClean="0"/>
                            <a:t>-2</a:t>
                          </a:r>
                          <a:endParaRPr lang="zh-TW" altLang="en-US" sz="1800" dirty="0"/>
                        </a:p>
                      </a:txBody>
                      <a:tcPr marL="91451" marR="91451" marT="45740" marB="45740"/>
                    </a:tc>
                  </a:tr>
                </a:tbl>
              </a:graphicData>
            </a:graphic>
          </p:graphicFrame>
        </mc:Fallback>
      </mc:AlternateContent>
      <p:graphicFrame>
        <p:nvGraphicFramePr>
          <p:cNvPr id="12" name="內容版面配置區 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334234130"/>
              </p:ext>
            </p:extLst>
          </p:nvPr>
        </p:nvGraphicFramePr>
        <p:xfrm>
          <a:off x="1559138" y="4927783"/>
          <a:ext cx="6121392" cy="1829476"/>
        </p:xfrm>
        <a:graphic>
          <a:graphicData uri="http://schemas.openxmlformats.org/drawingml/2006/table">
            <a:tbl>
              <a:tblPr firstRow="1" bandRow="1">
                <a:tableStyleId>{9D7B26C5-4107-4FEC-AEDC-1716B250A1EF}</a:tableStyleId>
              </a:tblPr>
              <a:tblGrid>
                <a:gridCol w="765174"/>
                <a:gridCol w="765174"/>
                <a:gridCol w="765174"/>
                <a:gridCol w="765174"/>
                <a:gridCol w="765174"/>
                <a:gridCol w="765174"/>
                <a:gridCol w="765174"/>
                <a:gridCol w="765174"/>
              </a:tblGrid>
              <a:tr h="364286">
                <a:tc>
                  <a:txBody>
                    <a:bodyPr/>
                    <a:lstStyle/>
                    <a:p>
                      <a:pPr algn="ctr"/>
                      <a:endParaRPr lang="zh-TW" altLang="en-US" sz="1800" dirty="0"/>
                    </a:p>
                  </a:txBody>
                  <a:tcPr marL="91451" marR="91451" marT="45740" marB="45740"/>
                </a:tc>
                <a:tc>
                  <a:txBody>
                    <a:bodyPr/>
                    <a:lstStyle/>
                    <a:p>
                      <a:pPr marL="0" marR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800" dirty="0" smtClean="0"/>
                        <a:t>∆</a:t>
                      </a:r>
                    </a:p>
                  </a:txBody>
                  <a:tcPr marL="91451" marR="91451" marT="45740" marB="4574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T</a:t>
                      </a:r>
                      <a:endParaRPr lang="zh-TW" altLang="en-US" sz="1800" dirty="0"/>
                    </a:p>
                  </a:txBody>
                  <a:tcPr marL="91451" marR="91451" marT="45740" marB="4574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G</a:t>
                      </a:r>
                      <a:endParaRPr lang="zh-TW" altLang="en-US" sz="1800" dirty="0"/>
                    </a:p>
                  </a:txBody>
                  <a:tcPr marL="91451" marR="91451" marT="45740" marB="4574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A</a:t>
                      </a:r>
                      <a:endParaRPr lang="zh-TW" altLang="en-US" sz="1800" dirty="0"/>
                    </a:p>
                  </a:txBody>
                  <a:tcPr marL="91451" marR="91451" marT="45740" marB="4574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G</a:t>
                      </a:r>
                      <a:endParaRPr lang="zh-TW" altLang="en-US" sz="1800" dirty="0"/>
                    </a:p>
                  </a:txBody>
                  <a:tcPr marL="91451" marR="91451" marT="45740" marB="4574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T</a:t>
                      </a:r>
                      <a:endParaRPr lang="zh-TW" altLang="en-US" sz="1800" dirty="0"/>
                    </a:p>
                  </a:txBody>
                  <a:tcPr marL="91451" marR="91451" marT="45740" marB="4574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T</a:t>
                      </a:r>
                      <a:endParaRPr lang="zh-TW" altLang="en-US" sz="1800" dirty="0"/>
                    </a:p>
                  </a:txBody>
                  <a:tcPr marL="91451" marR="91451" marT="45740" marB="45740"/>
                </a:tc>
              </a:tr>
              <a:tr h="365919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800" dirty="0" smtClean="0"/>
                        <a:t>∆</a:t>
                      </a:r>
                    </a:p>
                  </a:txBody>
                  <a:tcPr marL="91451" marR="91451" marT="45740" marB="45740"/>
                </a:tc>
                <a:tc>
                  <a:txBody>
                    <a:bodyPr/>
                    <a:lstStyle/>
                    <a:p>
                      <a:r>
                        <a:rPr lang="en-US" altLang="zh-TW" sz="1800" dirty="0" smtClean="0"/>
                        <a:t>0</a:t>
                      </a:r>
                      <a:endParaRPr lang="zh-TW" altLang="en-US" sz="1800" dirty="0"/>
                    </a:p>
                  </a:txBody>
                  <a:tcPr marL="91451" marR="91451" marT="45740" marB="45740"/>
                </a:tc>
                <a:tc>
                  <a:txBody>
                    <a:bodyPr/>
                    <a:lstStyle/>
                    <a:p>
                      <a:r>
                        <a:rPr lang="en-US" altLang="zh-TW" sz="1800" dirty="0" smtClean="0"/>
                        <a:t>-2</a:t>
                      </a:r>
                      <a:endParaRPr lang="zh-TW" altLang="en-US" sz="1800" dirty="0"/>
                    </a:p>
                  </a:txBody>
                  <a:tcPr marL="91451" marR="91451" marT="45740" marB="45740"/>
                </a:tc>
                <a:tc>
                  <a:txBody>
                    <a:bodyPr/>
                    <a:lstStyle/>
                    <a:p>
                      <a:r>
                        <a:rPr lang="en-US" altLang="zh-TW" sz="1800" dirty="0" smtClean="0"/>
                        <a:t>-3</a:t>
                      </a:r>
                      <a:endParaRPr lang="zh-TW" altLang="en-US" sz="1800" dirty="0"/>
                    </a:p>
                  </a:txBody>
                  <a:tcPr marL="91451" marR="91451" marT="45740" marB="45740"/>
                </a:tc>
                <a:tc>
                  <a:txBody>
                    <a:bodyPr/>
                    <a:lstStyle/>
                    <a:p>
                      <a:r>
                        <a:rPr lang="en-US" altLang="zh-TW" sz="1800" dirty="0" smtClean="0"/>
                        <a:t>-4</a:t>
                      </a:r>
                      <a:endParaRPr lang="zh-TW" altLang="en-US" sz="1800" dirty="0"/>
                    </a:p>
                  </a:txBody>
                  <a:tcPr marL="91451" marR="91451" marT="45740" marB="45740"/>
                </a:tc>
                <a:tc>
                  <a:txBody>
                    <a:bodyPr/>
                    <a:lstStyle/>
                    <a:p>
                      <a:r>
                        <a:rPr lang="en-US" altLang="zh-TW" sz="1800" dirty="0" smtClean="0"/>
                        <a:t>-5</a:t>
                      </a:r>
                      <a:endParaRPr lang="zh-TW" altLang="en-US" sz="1800" dirty="0"/>
                    </a:p>
                  </a:txBody>
                  <a:tcPr marL="91451" marR="91451" marT="45740" marB="45740"/>
                </a:tc>
                <a:tc>
                  <a:txBody>
                    <a:bodyPr/>
                    <a:lstStyle/>
                    <a:p>
                      <a:r>
                        <a:rPr lang="en-US" altLang="zh-TW" sz="1800" dirty="0" smtClean="0"/>
                        <a:t>-6</a:t>
                      </a:r>
                      <a:endParaRPr lang="zh-TW" altLang="en-US" sz="1800" dirty="0"/>
                    </a:p>
                  </a:txBody>
                  <a:tcPr marL="91451" marR="91451" marT="45740" marB="45740"/>
                </a:tc>
                <a:tc>
                  <a:txBody>
                    <a:bodyPr/>
                    <a:lstStyle/>
                    <a:p>
                      <a:r>
                        <a:rPr lang="en-US" altLang="zh-TW" sz="1800" dirty="0" smtClean="0"/>
                        <a:t>-7</a:t>
                      </a:r>
                      <a:endParaRPr lang="zh-TW" altLang="en-US" sz="1800" dirty="0"/>
                    </a:p>
                  </a:txBody>
                  <a:tcPr marL="91451" marR="91451" marT="45740" marB="45740"/>
                </a:tc>
              </a:tr>
              <a:tr h="365919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A</a:t>
                      </a:r>
                      <a:endParaRPr lang="zh-TW" altLang="en-US" sz="1800" dirty="0"/>
                    </a:p>
                  </a:txBody>
                  <a:tcPr marL="91451" marR="91451" marT="45740" marB="45740"/>
                </a:tc>
                <a:tc>
                  <a:txBody>
                    <a:bodyPr/>
                    <a:lstStyle/>
                    <a:p>
                      <a:r>
                        <a:rPr lang="en-US" altLang="zh-TW" sz="1800" dirty="0" smtClean="0"/>
                        <a:t>-2</a:t>
                      </a:r>
                      <a:endParaRPr lang="zh-TW" altLang="en-US" sz="1800" dirty="0"/>
                    </a:p>
                  </a:txBody>
                  <a:tcPr marL="91451" marR="91451" marT="45740" marB="45740"/>
                </a:tc>
                <a:tc>
                  <a:txBody>
                    <a:bodyPr/>
                    <a:lstStyle/>
                    <a:p>
                      <a:r>
                        <a:rPr lang="en-US" altLang="zh-TW" sz="1800" dirty="0" smtClean="0"/>
                        <a:t>0</a:t>
                      </a:r>
                      <a:endParaRPr lang="zh-TW" altLang="en-US" sz="1800" dirty="0"/>
                    </a:p>
                  </a:txBody>
                  <a:tcPr marL="91451" marR="91451" marT="45740" marB="45740"/>
                </a:tc>
                <a:tc>
                  <a:txBody>
                    <a:bodyPr/>
                    <a:lstStyle/>
                    <a:p>
                      <a:r>
                        <a:rPr lang="en-US" altLang="zh-TW" sz="1800" dirty="0" smtClean="0"/>
                        <a:t>-2</a:t>
                      </a:r>
                      <a:endParaRPr lang="zh-TW" altLang="en-US" sz="1800" dirty="0"/>
                    </a:p>
                  </a:txBody>
                  <a:tcPr marL="91451" marR="91451" marT="45740" marB="45740"/>
                </a:tc>
                <a:tc>
                  <a:txBody>
                    <a:bodyPr/>
                    <a:lstStyle/>
                    <a:p>
                      <a:r>
                        <a:rPr lang="en-US" altLang="zh-TW" sz="1800" dirty="0" smtClean="0"/>
                        <a:t>-2</a:t>
                      </a:r>
                      <a:endParaRPr lang="zh-TW" altLang="en-US" sz="1800" dirty="0"/>
                    </a:p>
                  </a:txBody>
                  <a:tcPr marL="91451" marR="91451" marT="45740" marB="45740"/>
                </a:tc>
                <a:tc>
                  <a:txBody>
                    <a:bodyPr/>
                    <a:lstStyle/>
                    <a:p>
                      <a:r>
                        <a:rPr lang="en-US" altLang="zh-TW" sz="1800" dirty="0" smtClean="0"/>
                        <a:t>-4</a:t>
                      </a:r>
                      <a:endParaRPr lang="zh-TW" altLang="en-US" sz="1800" dirty="0"/>
                    </a:p>
                  </a:txBody>
                  <a:tcPr marL="91451" marR="91451" marT="45740" marB="45740"/>
                </a:tc>
                <a:tc>
                  <a:txBody>
                    <a:bodyPr/>
                    <a:lstStyle/>
                    <a:p>
                      <a:r>
                        <a:rPr lang="en-US" altLang="zh-TW" sz="1800" dirty="0" smtClean="0"/>
                        <a:t>-5</a:t>
                      </a:r>
                      <a:endParaRPr lang="zh-TW" altLang="en-US" sz="1800" dirty="0"/>
                    </a:p>
                  </a:txBody>
                  <a:tcPr marL="91451" marR="91451" marT="45740" marB="45740"/>
                </a:tc>
                <a:tc>
                  <a:txBody>
                    <a:bodyPr/>
                    <a:lstStyle/>
                    <a:p>
                      <a:r>
                        <a:rPr lang="en-US" altLang="zh-TW" sz="1800" dirty="0" smtClean="0"/>
                        <a:t>-6</a:t>
                      </a:r>
                      <a:endParaRPr lang="zh-TW" altLang="en-US" sz="1800" dirty="0"/>
                    </a:p>
                  </a:txBody>
                  <a:tcPr marL="91451" marR="91451" marT="45740" marB="45740"/>
                </a:tc>
              </a:tr>
              <a:tr h="365919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G</a:t>
                      </a:r>
                      <a:endParaRPr lang="zh-TW" altLang="en-US" sz="1800" dirty="0"/>
                    </a:p>
                  </a:txBody>
                  <a:tcPr marL="91451" marR="91451" marT="45740" marB="45740"/>
                </a:tc>
                <a:tc>
                  <a:txBody>
                    <a:bodyPr/>
                    <a:lstStyle/>
                    <a:p>
                      <a:r>
                        <a:rPr lang="en-US" altLang="zh-TW" sz="1800" dirty="0" smtClean="0"/>
                        <a:t>-3</a:t>
                      </a:r>
                      <a:endParaRPr lang="zh-TW" altLang="en-US" sz="1800" dirty="0"/>
                    </a:p>
                  </a:txBody>
                  <a:tcPr marL="91451" marR="91451" marT="45740" marB="45740"/>
                </a:tc>
                <a:tc>
                  <a:txBody>
                    <a:bodyPr/>
                    <a:lstStyle/>
                    <a:p>
                      <a:r>
                        <a:rPr lang="en-US" altLang="zh-TW" sz="1800" dirty="0" smtClean="0"/>
                        <a:t>-2</a:t>
                      </a:r>
                      <a:endParaRPr lang="zh-TW" altLang="en-US" sz="1800" dirty="0"/>
                    </a:p>
                  </a:txBody>
                  <a:tcPr marL="91451" marR="91451" marT="45740" marB="45740"/>
                </a:tc>
                <a:tc>
                  <a:txBody>
                    <a:bodyPr/>
                    <a:lstStyle/>
                    <a:p>
                      <a:r>
                        <a:rPr lang="en-US" altLang="zh-TW" sz="1800" dirty="0" smtClean="0"/>
                        <a:t>1</a:t>
                      </a:r>
                      <a:endParaRPr lang="zh-TW" altLang="en-US" sz="1800" dirty="0"/>
                    </a:p>
                  </a:txBody>
                  <a:tcPr marL="91451" marR="91451" marT="45740" marB="45740"/>
                </a:tc>
                <a:tc>
                  <a:txBody>
                    <a:bodyPr/>
                    <a:lstStyle/>
                    <a:p>
                      <a:r>
                        <a:rPr lang="en-US" altLang="zh-TW" sz="1800" dirty="0" smtClean="0"/>
                        <a:t>-1</a:t>
                      </a:r>
                      <a:endParaRPr lang="zh-TW" altLang="en-US" sz="1800" dirty="0"/>
                    </a:p>
                  </a:txBody>
                  <a:tcPr marL="91451" marR="91451" marT="45740" marB="45740"/>
                </a:tc>
                <a:tc>
                  <a:txBody>
                    <a:bodyPr/>
                    <a:lstStyle/>
                    <a:p>
                      <a:r>
                        <a:rPr lang="en-US" altLang="zh-TW" sz="1800" dirty="0" smtClean="0"/>
                        <a:t>-1</a:t>
                      </a:r>
                      <a:endParaRPr lang="zh-TW" altLang="en-US" sz="1800" dirty="0"/>
                    </a:p>
                  </a:txBody>
                  <a:tcPr marL="91451" marR="91451" marT="45740" marB="45740"/>
                </a:tc>
                <a:tc>
                  <a:txBody>
                    <a:bodyPr/>
                    <a:lstStyle/>
                    <a:p>
                      <a:r>
                        <a:rPr lang="en-US" altLang="zh-TW" sz="1800" dirty="0" smtClean="0"/>
                        <a:t>-3</a:t>
                      </a:r>
                      <a:endParaRPr lang="zh-TW" altLang="en-US" sz="1800" dirty="0"/>
                    </a:p>
                  </a:txBody>
                  <a:tcPr marL="91451" marR="91451" marT="45740" marB="45740"/>
                </a:tc>
                <a:tc>
                  <a:txBody>
                    <a:bodyPr/>
                    <a:lstStyle/>
                    <a:p>
                      <a:r>
                        <a:rPr lang="en-US" altLang="zh-TW" sz="1800" dirty="0" smtClean="0"/>
                        <a:t>-4</a:t>
                      </a:r>
                      <a:endParaRPr lang="zh-TW" altLang="en-US" sz="1800" dirty="0"/>
                    </a:p>
                  </a:txBody>
                  <a:tcPr marL="91451" marR="91451" marT="45740" marB="45740"/>
                </a:tc>
              </a:tr>
              <a:tr h="365919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/>
                        <a:t>T</a:t>
                      </a:r>
                      <a:endParaRPr lang="zh-TW" altLang="en-US" sz="1800" dirty="0"/>
                    </a:p>
                  </a:txBody>
                  <a:tcPr marL="91451" marR="91451" marT="45740" marB="45740"/>
                </a:tc>
                <a:tc>
                  <a:txBody>
                    <a:bodyPr/>
                    <a:lstStyle/>
                    <a:p>
                      <a:r>
                        <a:rPr lang="en-US" altLang="zh-TW" sz="1800" dirty="0" smtClean="0"/>
                        <a:t>-4</a:t>
                      </a:r>
                      <a:endParaRPr lang="zh-TW" altLang="en-US" sz="1800" dirty="0"/>
                    </a:p>
                  </a:txBody>
                  <a:tcPr marL="91451" marR="91451" marT="45740" marB="45740"/>
                </a:tc>
                <a:tc>
                  <a:txBody>
                    <a:bodyPr/>
                    <a:lstStyle/>
                    <a:p>
                      <a:r>
                        <a:rPr lang="en-US" altLang="zh-TW" sz="1800" dirty="0" smtClean="0"/>
                        <a:t>-2</a:t>
                      </a:r>
                      <a:endParaRPr lang="zh-TW" altLang="en-US" sz="1800" dirty="0"/>
                    </a:p>
                  </a:txBody>
                  <a:tcPr marL="91451" marR="91451" marT="45740" marB="45740"/>
                </a:tc>
                <a:tc>
                  <a:txBody>
                    <a:bodyPr/>
                    <a:lstStyle/>
                    <a:p>
                      <a:r>
                        <a:rPr lang="en-US" altLang="zh-TW" sz="1800" dirty="0" smtClean="0"/>
                        <a:t>-1</a:t>
                      </a:r>
                      <a:endParaRPr lang="zh-TW" altLang="en-US" sz="1800" dirty="0"/>
                    </a:p>
                  </a:txBody>
                  <a:tcPr marL="91451" marR="91451" marT="45740" marB="45740"/>
                </a:tc>
                <a:tc>
                  <a:txBody>
                    <a:bodyPr/>
                    <a:lstStyle/>
                    <a:p>
                      <a:r>
                        <a:rPr lang="en-US" altLang="zh-TW" sz="1800" dirty="0" smtClean="0"/>
                        <a:t>1</a:t>
                      </a:r>
                      <a:endParaRPr lang="zh-TW" altLang="en-US" sz="1800" dirty="0"/>
                    </a:p>
                  </a:txBody>
                  <a:tcPr marL="91451" marR="91451" marT="45740" marB="45740"/>
                </a:tc>
                <a:tc>
                  <a:txBody>
                    <a:bodyPr/>
                    <a:lstStyle/>
                    <a:p>
                      <a:r>
                        <a:rPr lang="en-US" altLang="zh-TW" sz="1800" dirty="0" smtClean="0"/>
                        <a:t>-1</a:t>
                      </a:r>
                      <a:endParaRPr lang="zh-TW" altLang="en-US" sz="1800" dirty="0"/>
                    </a:p>
                  </a:txBody>
                  <a:tcPr marL="91451" marR="91451" marT="45740" marB="45740"/>
                </a:tc>
                <a:tc>
                  <a:txBody>
                    <a:bodyPr/>
                    <a:lstStyle/>
                    <a:p>
                      <a:r>
                        <a:rPr lang="en-US" altLang="zh-TW" sz="1800" dirty="0" smtClean="0"/>
                        <a:t>0</a:t>
                      </a:r>
                      <a:endParaRPr lang="zh-TW" altLang="en-US" sz="1800" dirty="0"/>
                    </a:p>
                  </a:txBody>
                  <a:tcPr marL="91451" marR="91451" marT="45740" marB="45740"/>
                </a:tc>
                <a:tc>
                  <a:txBody>
                    <a:bodyPr/>
                    <a:lstStyle/>
                    <a:p>
                      <a:r>
                        <a:rPr lang="en-US" altLang="zh-TW" sz="1800" dirty="0" smtClean="0"/>
                        <a:t>-2</a:t>
                      </a:r>
                      <a:endParaRPr lang="zh-TW" altLang="en-US" sz="1800" dirty="0"/>
                    </a:p>
                  </a:txBody>
                  <a:tcPr marL="91451" marR="91451" marT="45740" marB="45740"/>
                </a:tc>
              </a:tr>
            </a:tbl>
          </a:graphicData>
        </a:graphic>
      </p:graphicFrame>
      <mc:AlternateContent xmlns:mc="http://schemas.openxmlformats.org/markup-compatibility/2006">
        <mc:Choice xmlns:a14="http://schemas.microsoft.com/office/drawing/2010/main" Requires="a14">
          <p:sp>
            <p:nvSpPr>
              <p:cNvPr id="13" name="文字方塊 12"/>
              <p:cNvSpPr txBox="1"/>
              <p:nvPr/>
            </p:nvSpPr>
            <p:spPr>
              <a:xfrm>
                <a:off x="374469" y="1506583"/>
                <a:ext cx="796565" cy="5579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2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2800" i="1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US" altLang="zh-TW" sz="2800" i="1">
                            <a:latin typeface="Cambria Math" panose="02040503050406030204" pitchFamily="18" charset="0"/>
                          </a:rPr>
                          <m:t>𝑖𝑗</m:t>
                        </m:r>
                      </m:sub>
                    </m:sSub>
                  </m:oMath>
                </a14:m>
                <a:r>
                  <a:rPr lang="en-US" altLang="zh-TW" sz="2800" dirty="0" smtClean="0"/>
                  <a:t>=</a:t>
                </a:r>
                <a:endParaRPr lang="zh-TW" altLang="en-US" sz="2800" dirty="0"/>
              </a:p>
            </p:txBody>
          </p:sp>
        </mc:Choice>
        <mc:Fallback>
          <p:sp>
            <p:nvSpPr>
              <p:cNvPr id="13" name="文字方塊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4469" y="1506583"/>
                <a:ext cx="796565" cy="557910"/>
              </a:xfrm>
              <a:prstGeom prst="rect">
                <a:avLst/>
              </a:prstGeom>
              <a:blipFill rotWithShape="0">
                <a:blip r:embed="rId5"/>
                <a:stretch>
                  <a:fillRect t="-9783" r="-14504" b="-23913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4" name="文字方塊 13"/>
              <p:cNvSpPr txBox="1"/>
              <p:nvPr/>
            </p:nvSpPr>
            <p:spPr>
              <a:xfrm>
                <a:off x="374468" y="3653246"/>
                <a:ext cx="825867" cy="5579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28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2800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altLang="zh-TW" sz="2800" i="1">
                            <a:latin typeface="Cambria Math" panose="02040503050406030204" pitchFamily="18" charset="0"/>
                          </a:rPr>
                          <m:t>𝑖𝑗</m:t>
                        </m:r>
                      </m:sub>
                    </m:sSub>
                  </m:oMath>
                </a14:m>
                <a:r>
                  <a:rPr lang="en-US" altLang="zh-TW" sz="2800" dirty="0" smtClean="0"/>
                  <a:t>=</a:t>
                </a:r>
                <a:endParaRPr lang="zh-TW" altLang="en-US" sz="2800" dirty="0"/>
              </a:p>
            </p:txBody>
          </p:sp>
        </mc:Choice>
        <mc:Fallback>
          <p:sp>
            <p:nvSpPr>
              <p:cNvPr id="14" name="文字方塊 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4468" y="3653246"/>
                <a:ext cx="825867" cy="557910"/>
              </a:xfrm>
              <a:prstGeom prst="rect">
                <a:avLst/>
              </a:prstGeom>
              <a:blipFill rotWithShape="0">
                <a:blip r:embed="rId6"/>
                <a:stretch>
                  <a:fillRect t="-9783" r="-13971" b="-23913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5" name="文字方塊 14"/>
              <p:cNvSpPr txBox="1"/>
              <p:nvPr/>
            </p:nvSpPr>
            <p:spPr>
              <a:xfrm>
                <a:off x="374468" y="5520954"/>
                <a:ext cx="843051" cy="5579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28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2800" b="0" i="1" smtClean="0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n-US" altLang="zh-TW" sz="2800" i="1">
                            <a:latin typeface="Cambria Math" panose="02040503050406030204" pitchFamily="18" charset="0"/>
                          </a:rPr>
                          <m:t>𝑖𝑗</m:t>
                        </m:r>
                      </m:sub>
                    </m:sSub>
                  </m:oMath>
                </a14:m>
                <a:r>
                  <a:rPr lang="en-US" altLang="zh-TW" sz="2800" dirty="0" smtClean="0"/>
                  <a:t>=</a:t>
                </a:r>
                <a:endParaRPr lang="zh-TW" altLang="en-US" sz="2800" dirty="0"/>
              </a:p>
            </p:txBody>
          </p:sp>
        </mc:Choice>
        <mc:Fallback>
          <p:sp>
            <p:nvSpPr>
              <p:cNvPr id="15" name="文字方塊 1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4468" y="5520954"/>
                <a:ext cx="843051" cy="557910"/>
              </a:xfrm>
              <a:prstGeom prst="rect">
                <a:avLst/>
              </a:prstGeom>
              <a:blipFill rotWithShape="0">
                <a:blip r:embed="rId7"/>
                <a:stretch>
                  <a:fillRect t="-10989" r="-13669" b="-25275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1456130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TW" altLang="en-US" dirty="0"/>
          </a:p>
        </p:txBody>
      </p:sp>
      <p:pic>
        <p:nvPicPr>
          <p:cNvPr id="4" name="內容版面配置區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8650" y="2339254"/>
            <a:ext cx="7886700" cy="2906068"/>
          </a:xfrm>
        </p:spPr>
      </p:pic>
    </p:spTree>
    <p:extLst>
      <p:ext uri="{BB962C8B-B14F-4D97-AF65-F5344CB8AC3E}">
        <p14:creationId xmlns:p14="http://schemas.microsoft.com/office/powerpoint/2010/main" val="9431248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3" name="內容版面配置區 2"/>
              <p:cNvSpPr>
                <a:spLocks noGrp="1"/>
              </p:cNvSpPr>
              <p:nvPr>
                <p:ph idx="1"/>
              </p:nvPr>
            </p:nvSpPr>
            <p:spPr>
              <a:xfrm>
                <a:off x="628650" y="1155065"/>
                <a:ext cx="7886700" cy="4351338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en-US" altLang="zh-TW" sz="2600" dirty="0" smtClean="0"/>
                  <a:t>Black and white blocks</a:t>
                </a:r>
              </a:p>
              <a:p>
                <a:pPr marL="0" indent="0">
                  <a:buNone/>
                </a:pPr>
                <a:endParaRPr lang="en-US" altLang="zh-TW" sz="2600" dirty="0"/>
              </a:p>
              <a:p>
                <a:pPr marL="0" indent="0">
                  <a:buNone/>
                </a:pPr>
                <a:r>
                  <a:rPr lang="en-US" altLang="zh-TW" sz="2600" dirty="0" smtClean="0"/>
                  <a:t>White block </a:t>
                </a:r>
              </a:p>
              <a:p>
                <a:pPr marL="0" indent="0">
                  <a:buNone/>
                </a:pPr>
                <a:r>
                  <a:rPr lang="en-US" altLang="zh-TW" sz="2600" dirty="0" smtClean="0"/>
                  <a:t>corresponding to a pair of distinct letters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26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2600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zh-TW" sz="26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sSub>
                      <m:sSubPr>
                        <m:ctrlPr>
                          <a:rPr lang="en-US" altLang="zh-TW" sz="26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26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≠</m:t>
                        </m:r>
                        <m:r>
                          <a:rPr lang="en-US" altLang="zh-TW" sz="2600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altLang="zh-TW" sz="2600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endParaRPr lang="en-US" altLang="zh-TW" sz="2600" dirty="0" smtClean="0"/>
              </a:p>
              <a:p>
                <a:pPr marL="0" indent="0">
                  <a:buNone/>
                </a:pPr>
                <a:endParaRPr lang="en-US" altLang="zh-TW" sz="2600" dirty="0" smtClean="0"/>
              </a:p>
              <a:p>
                <a:pPr marL="0" indent="0">
                  <a:buNone/>
                </a:pPr>
                <a:r>
                  <a:rPr lang="en-US" altLang="zh-TW" sz="2600" dirty="0" smtClean="0"/>
                  <a:t>Black block</a:t>
                </a:r>
              </a:p>
              <a:p>
                <a:pPr marL="0" indent="0">
                  <a:buNone/>
                </a:pPr>
                <a:r>
                  <a:rPr lang="en-US" altLang="zh-TW" sz="2600" dirty="0" smtClean="0"/>
                  <a:t>Corresponding to a pair of identical letters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2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2600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zh-TW" sz="26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sSub>
                      <m:sSubPr>
                        <m:ctrlPr>
                          <a:rPr lang="en-US" altLang="zh-TW" sz="2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26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=</m:t>
                        </m:r>
                        <m:r>
                          <a:rPr lang="en-US" altLang="zh-TW" sz="2600" i="1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altLang="zh-TW" sz="2600" i="1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endParaRPr lang="en-US" altLang="zh-TW" sz="2600" dirty="0" smtClean="0"/>
              </a:p>
              <a:p>
                <a:pPr marL="0" indent="0">
                  <a:buNone/>
                </a:pPr>
                <a:endParaRPr lang="en-US" altLang="zh-TW" sz="2600" dirty="0"/>
              </a:p>
              <a:p>
                <a:pPr marL="0" indent="0">
                  <a:buNone/>
                </a:pPr>
                <a:r>
                  <a:rPr lang="en-US" altLang="zh-TW" sz="2600" dirty="0" smtClean="0"/>
                  <a:t>H table is divided into exactly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TW" sz="260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TW" sz="26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US" altLang="zh-TW" sz="2600" b="0" i="1" smtClean="0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sSup>
                      <m:sSupPr>
                        <m:ctrlPr>
                          <a:rPr lang="en-US" altLang="zh-TW" sz="260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TW" sz="2600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p>
                        <m:r>
                          <a:rPr lang="en-US" altLang="zh-TW" sz="2600" b="0" i="1" smtClean="0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</m:oMath>
                </a14:m>
                <a:r>
                  <a:rPr lang="en-US" altLang="zh-TW" sz="2600" dirty="0" smtClean="0"/>
                  <a:t>blocks</a:t>
                </a:r>
                <a:endParaRPr lang="en-US" altLang="zh-TW" sz="2600" dirty="0"/>
              </a:p>
            </p:txBody>
          </p:sp>
        </mc:Choice>
        <mc:Fallback>
          <p:sp>
            <p:nvSpPr>
              <p:cNvPr id="3" name="內容版面配置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8650" y="1155065"/>
                <a:ext cx="7886700" cy="4351338"/>
              </a:xfrm>
              <a:blipFill rotWithShape="0">
                <a:blip r:embed="rId2"/>
                <a:stretch>
                  <a:fillRect l="-1391" t="-210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255793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558982" y="963477"/>
            <a:ext cx="7886700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zh-TW" sz="2600" dirty="0" smtClean="0"/>
              <a:t>Dependency of elements</a:t>
            </a:r>
            <a:endParaRPr lang="zh-TW" altLang="en-US" sz="2600" dirty="0"/>
          </a:p>
        </p:txBody>
      </p:sp>
      <p:pic>
        <p:nvPicPr>
          <p:cNvPr id="6" name="圖片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9392" y="1844040"/>
            <a:ext cx="6482302" cy="42395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54543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圖片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236617"/>
            <a:ext cx="9144000" cy="1288869"/>
          </a:xfrm>
          <a:prstGeom prst="rect">
            <a:avLst/>
          </a:prstGeom>
        </p:spPr>
      </p:pic>
      <p:pic>
        <p:nvPicPr>
          <p:cNvPr id="5" name="圖片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671" y="2525486"/>
            <a:ext cx="9144000" cy="14672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51959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圖片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69669" y="365352"/>
            <a:ext cx="7610475" cy="466725"/>
          </a:xfrm>
          <a:prstGeom prst="rect">
            <a:avLst/>
          </a:prstGeom>
        </p:spPr>
      </p:pic>
      <p:pic>
        <p:nvPicPr>
          <p:cNvPr id="5" name="圖片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69669" y="1001127"/>
            <a:ext cx="6448425" cy="447675"/>
          </a:xfrm>
          <a:prstGeom prst="rect">
            <a:avLst/>
          </a:prstGeom>
        </p:spPr>
      </p:pic>
      <p:pic>
        <p:nvPicPr>
          <p:cNvPr id="6" name="圖片 5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617852"/>
            <a:ext cx="3390900" cy="552450"/>
          </a:xfrm>
          <a:prstGeom prst="rect">
            <a:avLst/>
          </a:prstGeom>
        </p:spPr>
      </p:pic>
      <p:pic>
        <p:nvPicPr>
          <p:cNvPr id="7" name="圖片 6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39475" y="2315786"/>
            <a:ext cx="6553200" cy="571500"/>
          </a:xfrm>
          <a:prstGeom prst="rect">
            <a:avLst/>
          </a:prstGeom>
        </p:spPr>
      </p:pic>
      <p:pic>
        <p:nvPicPr>
          <p:cNvPr id="8" name="圖片 7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887286"/>
            <a:ext cx="8020050" cy="533400"/>
          </a:xfrm>
          <a:prstGeom prst="rect">
            <a:avLst/>
          </a:prstGeom>
        </p:spPr>
      </p:pic>
      <p:pic>
        <p:nvPicPr>
          <p:cNvPr id="9" name="圖片 8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204951"/>
            <a:ext cx="9144000" cy="332088"/>
          </a:xfrm>
          <a:prstGeom prst="rect">
            <a:avLst/>
          </a:prstGeom>
        </p:spPr>
      </p:pic>
      <p:pic>
        <p:nvPicPr>
          <p:cNvPr id="10" name="圖片 9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573145"/>
            <a:ext cx="9001125" cy="4286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09600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圖片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747884"/>
            <a:ext cx="9144000" cy="1089625"/>
          </a:xfrm>
          <a:prstGeom prst="rect">
            <a:avLst/>
          </a:prstGeom>
        </p:spPr>
      </p:pic>
      <p:pic>
        <p:nvPicPr>
          <p:cNvPr id="5" name="圖片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078613"/>
            <a:ext cx="9144000" cy="21677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1228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Algorithm – white blocks</a:t>
            </a:r>
            <a:endParaRPr lang="zh-TW" alt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內容版面配置區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85000" lnSpcReduction="20000"/>
              </a:bodyPr>
              <a:lstStyle/>
              <a:p>
                <a:pPr marL="0" indent="0">
                  <a:buNone/>
                </a:pPr>
                <a:r>
                  <a:rPr lang="en-US" altLang="zh-TW" sz="3300" dirty="0" smtClean="0"/>
                  <a:t>Compute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33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3300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US" altLang="zh-TW" sz="33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altLang="zh-TW" sz="3300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altLang="zh-TW" sz="3300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  <m:r>
                          <a:rPr lang="en-US" altLang="zh-TW" sz="33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zh-TW" sz="3300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  <m:r>
                          <a:rPr lang="en-US" altLang="zh-TW" sz="3300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altLang="zh-TW" sz="3300" b="0" i="1" smtClean="0">
                            <a:latin typeface="Cambria Math" panose="02040503050406030204" pitchFamily="18" charset="0"/>
                          </a:rPr>
                          <m:t>𝑙</m:t>
                        </m:r>
                      </m:sub>
                    </m:sSub>
                  </m:oMath>
                </a14:m>
                <a:endParaRPr lang="en-US" altLang="zh-TW" sz="2800" dirty="0" smtClean="0"/>
              </a:p>
              <a:p>
                <a:pPr marL="0" indent="0">
                  <a:buNone/>
                </a:pPr>
                <a:endParaRPr lang="en-US" altLang="zh-TW" dirty="0" smtClean="0"/>
              </a:p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32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3200" i="1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n-US" altLang="zh-TW" sz="3200" i="1">
                              <a:latin typeface="Cambria Math" panose="02040503050406030204" pitchFamily="18" charset="0"/>
                            </a:rPr>
                            <m:t>𝑖𝑗</m:t>
                          </m:r>
                        </m:sub>
                      </m:sSub>
                      <m:r>
                        <a:rPr lang="en-US" altLang="zh-TW" sz="32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altLang="zh-TW" sz="3200">
                          <a:latin typeface="Cambria Math" panose="02040503050406030204" pitchFamily="18" charset="0"/>
                        </a:rPr>
                        <m:t>max</m:t>
                      </m:r>
                      <m:r>
                        <a:rPr lang="en-US" altLang="zh-TW" sz="3200" i="1">
                          <a:latin typeface="Cambria Math" panose="02040503050406030204" pitchFamily="18" charset="0"/>
                        </a:rPr>
                        <m:t>⁡{</m:t>
                      </m:r>
                      <m:sSub>
                        <m:sSubPr>
                          <m:ctrlPr>
                            <a:rPr lang="en-US" altLang="zh-TW" sz="32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3200" i="1">
                              <a:latin typeface="Cambria Math" panose="02040503050406030204" pitchFamily="18" charset="0"/>
                            </a:rPr>
                            <m:t>𝐻</m:t>
                          </m:r>
                        </m:e>
                        <m:sub>
                          <m:r>
                            <a:rPr lang="en-US" altLang="zh-TW" sz="3200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altLang="zh-TW" sz="3200" i="1">
                              <a:latin typeface="Cambria Math" panose="02040503050406030204" pitchFamily="18" charset="0"/>
                            </a:rPr>
                            <m:t>−1,</m:t>
                          </m:r>
                          <m:r>
                            <a:rPr lang="en-US" altLang="zh-TW" sz="3200" i="1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  <m:r>
                        <a:rPr lang="en-US" altLang="zh-TW" sz="3200" i="1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US" altLang="zh-TW" sz="32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3200" i="1">
                              <a:latin typeface="Cambria Math" panose="02040503050406030204" pitchFamily="18" charset="0"/>
                            </a:rPr>
                            <m:t>𝑔</m:t>
                          </m:r>
                        </m:e>
                        <m:sub>
                          <m:r>
                            <a:rPr lang="en-US" altLang="zh-TW" sz="3200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altLang="zh-TW" sz="3200" i="1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altLang="zh-TW" sz="32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3200" i="1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n-US" altLang="zh-TW" sz="3200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altLang="zh-TW" sz="3200" i="1">
                              <a:latin typeface="Cambria Math" panose="02040503050406030204" pitchFamily="18" charset="0"/>
                            </a:rPr>
                            <m:t>−1,</m:t>
                          </m:r>
                          <m:r>
                            <a:rPr lang="en-US" altLang="zh-TW" sz="3200" i="1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  <m:r>
                        <a:rPr lang="en-US" altLang="zh-TW" sz="3200" i="1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zh-TW" altLang="en-US" sz="3200" i="1">
                          <a:latin typeface="Cambria Math" panose="02040503050406030204" pitchFamily="18" charset="0"/>
                        </a:rPr>
                        <m:t>𝜇</m:t>
                      </m:r>
                      <m:r>
                        <a:rPr lang="en-US" altLang="zh-TW" sz="3200" i="1">
                          <a:latin typeface="Cambria Math" panose="02040503050406030204" pitchFamily="18" charset="0"/>
                        </a:rPr>
                        <m:t>}</m:t>
                      </m:r>
                    </m:oMath>
                  </m:oMathPara>
                </a14:m>
                <a:endParaRPr lang="en-US" altLang="zh-TW" sz="3200" dirty="0"/>
              </a:p>
              <a:p>
                <a:pPr marL="0" indent="0" algn="ctr">
                  <a:buNone/>
                </a:pPr>
                <a:endParaRPr lang="en-US" altLang="zh-TW" sz="3200" dirty="0" smtClean="0"/>
              </a:p>
              <a:p>
                <a:pPr marL="0" indent="0" algn="ctr">
                  <a:buNone/>
                </a:pPr>
                <a:r>
                  <a:rPr lang="en-US" altLang="zh-TW" sz="3200" dirty="0" smtClean="0"/>
                  <a:t>CH-</a:t>
                </a:r>
                <a:r>
                  <a:rPr lang="en-US" altLang="zh-TW" sz="3200" dirty="0" err="1" smtClean="0"/>
                  <a:t>mp</a:t>
                </a:r>
                <a:endParaRPr lang="en-US" altLang="zh-TW" sz="3200" dirty="0" smtClean="0"/>
              </a:p>
              <a:p>
                <a:pPr marL="0" indent="0" algn="ctr">
                  <a:buNone/>
                </a:pPr>
                <a:endParaRPr lang="en-US" altLang="zh-TW" sz="3200" dirty="0" smtClean="0"/>
              </a:p>
              <a:p>
                <a:pPr marL="0" indent="0" algn="ctr">
                  <a:buNone/>
                </a:pPr>
                <a:r>
                  <a:rPr lang="en-US" altLang="zh-TW" sz="3200" dirty="0" smtClean="0"/>
                  <a:t>CC-</a:t>
                </a:r>
                <a:r>
                  <a:rPr lang="en-US" altLang="zh-TW" sz="3200" dirty="0" err="1" smtClean="0"/>
                  <a:t>mp</a:t>
                </a:r>
                <a:endParaRPr lang="en-US" altLang="zh-TW" sz="3200" dirty="0" smtClean="0"/>
              </a:p>
              <a:p>
                <a:pPr marL="0" indent="0" algn="ctr">
                  <a:buNone/>
                </a:pPr>
                <a:endParaRPr lang="en-US" altLang="zh-TW" sz="3200" dirty="0" smtClean="0"/>
              </a:p>
              <a:p>
                <a:pPr marL="0" indent="0" algn="ctr">
                  <a:buNone/>
                </a:pPr>
                <a:r>
                  <a:rPr lang="en-US" altLang="zh-TW" sz="3200" dirty="0" smtClean="0"/>
                  <a:t>RC-</a:t>
                </a:r>
                <a:r>
                  <a:rPr lang="en-US" altLang="zh-TW" sz="3200" dirty="0" err="1" smtClean="0"/>
                  <a:t>mp</a:t>
                </a:r>
                <a:endParaRPr lang="en-US" altLang="zh-TW" sz="3200" dirty="0" smtClean="0"/>
              </a:p>
              <a:p>
                <a:pPr marL="0" indent="0" algn="ctr">
                  <a:buNone/>
                </a:pPr>
                <a:endParaRPr lang="en-US" altLang="zh-TW" sz="3200" dirty="0" smtClean="0"/>
              </a:p>
              <a:p>
                <a:pPr marL="0" indent="0" algn="ctr">
                  <a:buNone/>
                </a:pPr>
                <a:r>
                  <a:rPr lang="en-US" altLang="zh-TW" sz="3200" dirty="0" smtClean="0"/>
                  <a:t>HC-</a:t>
                </a:r>
                <a:r>
                  <a:rPr lang="en-US" altLang="zh-TW" sz="3200" dirty="0" err="1" smtClean="0"/>
                  <a:t>mp</a:t>
                </a:r>
                <a:endParaRPr lang="en-US" altLang="zh-TW" sz="3200" dirty="0" smtClean="0"/>
              </a:p>
              <a:p>
                <a:pPr marL="0" indent="0" algn="ctr">
                  <a:buNone/>
                </a:pPr>
                <a:endParaRPr lang="en-US" altLang="zh-TW" sz="3200" dirty="0" smtClean="0"/>
              </a:p>
              <a:p>
                <a:pPr marL="0" indent="0">
                  <a:buNone/>
                </a:pPr>
                <a:endParaRPr lang="en-US" altLang="zh-TW" dirty="0"/>
              </a:p>
            </p:txBody>
          </p:sp>
        </mc:Choice>
        <mc:Fallback>
          <p:sp>
            <p:nvSpPr>
              <p:cNvPr id="3" name="內容版面配置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2"/>
                <a:stretch>
                  <a:fillRect l="-1546" t="-3641" b="-126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0040856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Algorithm- white blocks CH-</a:t>
            </a:r>
            <a:r>
              <a:rPr lang="en-US" altLang="zh-TW" dirty="0" err="1" smtClean="0"/>
              <a:t>mp</a:t>
            </a:r>
            <a:endParaRPr lang="zh-TW" altLang="en-US" dirty="0"/>
          </a:p>
        </p:txBody>
      </p:sp>
      <p:pic>
        <p:nvPicPr>
          <p:cNvPr id="4" name="圖片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51802" y="1474314"/>
            <a:ext cx="5780518" cy="53836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50810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內容版面配置區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0969" y="824731"/>
            <a:ext cx="7886700" cy="1685332"/>
          </a:xfrm>
        </p:spPr>
      </p:pic>
      <p:pic>
        <p:nvPicPr>
          <p:cNvPr id="5" name="圖片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782715"/>
            <a:ext cx="9144000" cy="1657310"/>
          </a:xfrm>
          <a:prstGeom prst="rect">
            <a:avLst/>
          </a:prstGeom>
        </p:spPr>
      </p:pic>
      <p:pic>
        <p:nvPicPr>
          <p:cNvPr id="6" name="圖片 5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780895"/>
            <a:ext cx="9144000" cy="473946"/>
          </a:xfrm>
          <a:prstGeom prst="rect">
            <a:avLst/>
          </a:prstGeom>
        </p:spPr>
      </p:pic>
      <p:pic>
        <p:nvPicPr>
          <p:cNvPr id="7" name="圖片 6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254841"/>
            <a:ext cx="5390606" cy="9519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88635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Algorithm- white blocks CC-</a:t>
            </a:r>
            <a:r>
              <a:rPr lang="en-US" altLang="zh-TW" dirty="0" err="1" smtClean="0"/>
              <a:t>mp</a:t>
            </a:r>
            <a:endParaRPr lang="zh-TW" altLang="en-US" dirty="0"/>
          </a:p>
        </p:txBody>
      </p:sp>
      <p:pic>
        <p:nvPicPr>
          <p:cNvPr id="4" name="圖片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3066" y="1910443"/>
            <a:ext cx="6793026" cy="34922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23015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圖片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506583"/>
            <a:ext cx="9144000" cy="666664"/>
          </a:xfrm>
          <a:prstGeom prst="rect">
            <a:avLst/>
          </a:prstGeom>
        </p:spPr>
      </p:pic>
      <p:pic>
        <p:nvPicPr>
          <p:cNvPr id="6" name="圖片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358398"/>
            <a:ext cx="9144000" cy="9856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45708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Algorithm- white blocks </a:t>
            </a:r>
            <a:r>
              <a:rPr lang="en-US" altLang="zh-TW" dirty="0" smtClean="0"/>
              <a:t>RC-</a:t>
            </a:r>
            <a:r>
              <a:rPr lang="en-US" altLang="zh-TW" dirty="0" err="1" smtClean="0"/>
              <a:t>mp</a:t>
            </a:r>
            <a:endParaRPr lang="zh-TW" altLang="en-US" dirty="0"/>
          </a:p>
        </p:txBody>
      </p:sp>
      <p:pic>
        <p:nvPicPr>
          <p:cNvPr id="4" name="圖片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124989"/>
            <a:ext cx="9144000" cy="2381599"/>
          </a:xfrm>
          <a:prstGeom prst="rect">
            <a:avLst/>
          </a:prstGeom>
        </p:spPr>
      </p:pic>
      <p:pic>
        <p:nvPicPr>
          <p:cNvPr id="5" name="圖片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97617" y="5469390"/>
            <a:ext cx="1304925" cy="4476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21705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圖片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079863"/>
            <a:ext cx="9144000" cy="49944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78744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Algorithm- white blocks HC-</a:t>
            </a:r>
            <a:r>
              <a:rPr lang="en-US" altLang="zh-TW" dirty="0" err="1" smtClean="0"/>
              <a:t>mp</a:t>
            </a:r>
            <a:endParaRPr lang="zh-TW" altLang="en-US" dirty="0"/>
          </a:p>
        </p:txBody>
      </p:sp>
      <p:pic>
        <p:nvPicPr>
          <p:cNvPr id="4" name="圖片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1500" y="2094139"/>
            <a:ext cx="7943850" cy="30829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83432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圖片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573476"/>
            <a:ext cx="9144000" cy="23002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1325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TW" alt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內容版面配置區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en-US" altLang="zh-TW" sz="2800" dirty="0"/>
                  <a:t>Compute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2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2800" i="1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US" altLang="zh-TW" sz="2800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altLang="zh-TW" sz="2800" i="1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altLang="zh-TW" sz="2800" i="1">
                            <a:latin typeface="Cambria Math" panose="02040503050406030204" pitchFamily="18" charset="0"/>
                          </a:rPr>
                          <m:t>𝑝</m:t>
                        </m:r>
                        <m:r>
                          <a:rPr lang="en-US" altLang="zh-TW" sz="2800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zh-TW" sz="2800" i="1">
                            <a:latin typeface="Cambria Math" panose="02040503050406030204" pitchFamily="18" charset="0"/>
                          </a:rPr>
                          <m:t>𝑗</m:t>
                        </m:r>
                        <m:r>
                          <a:rPr lang="en-US" altLang="zh-TW" sz="2800" i="1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altLang="zh-TW" sz="2800" i="1">
                            <a:latin typeface="Cambria Math" panose="02040503050406030204" pitchFamily="18" charset="0"/>
                          </a:rPr>
                          <m:t>𝑙</m:t>
                        </m:r>
                      </m:sub>
                    </m:sSub>
                  </m:oMath>
                </a14:m>
                <a:endParaRPr lang="zh-TW" altLang="en-US" dirty="0"/>
              </a:p>
            </p:txBody>
          </p:sp>
        </mc:Choice>
        <mc:Fallback>
          <p:sp>
            <p:nvSpPr>
              <p:cNvPr id="3" name="內容版面配置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2"/>
                <a:stretch>
                  <a:fillRect l="-1546" t="-196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圖片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8650" y="2861038"/>
            <a:ext cx="8153400" cy="20764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36343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TW" altLang="en-US"/>
          </a:p>
        </p:txBody>
      </p:sp>
      <p:pic>
        <p:nvPicPr>
          <p:cNvPr id="4" name="內容版面配置區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80908" y="1755957"/>
            <a:ext cx="6225429" cy="4351338"/>
          </a:xfrm>
        </p:spPr>
      </p:pic>
    </p:spTree>
    <p:extLst>
      <p:ext uri="{BB962C8B-B14F-4D97-AF65-F5344CB8AC3E}">
        <p14:creationId xmlns:p14="http://schemas.microsoft.com/office/powerpoint/2010/main" val="6300827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Algorithm- white block</a:t>
            </a:r>
            <a:endParaRPr lang="zh-TW" alt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內容版面配置區 4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en-US" altLang="zh-TW" sz="2800" dirty="0" smtClean="0"/>
                  <a:t>Compute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2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2800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altLang="zh-TW" sz="2800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altLang="zh-TW" sz="2800" i="1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altLang="zh-TW" sz="2800" i="1">
                            <a:latin typeface="Cambria Math" panose="02040503050406030204" pitchFamily="18" charset="0"/>
                          </a:rPr>
                          <m:t>𝑝</m:t>
                        </m:r>
                        <m:r>
                          <a:rPr lang="en-US" altLang="zh-TW" sz="2800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zh-TW" sz="2800" i="1">
                            <a:latin typeface="Cambria Math" panose="02040503050406030204" pitchFamily="18" charset="0"/>
                          </a:rPr>
                          <m:t>𝑗</m:t>
                        </m:r>
                        <m:r>
                          <a:rPr lang="en-US" altLang="zh-TW" sz="2800" i="1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altLang="zh-TW" sz="2800" i="1">
                            <a:latin typeface="Cambria Math" panose="02040503050406030204" pitchFamily="18" charset="0"/>
                          </a:rPr>
                          <m:t>𝑙</m:t>
                        </m:r>
                      </m:sub>
                    </m:sSub>
                  </m:oMath>
                </a14:m>
                <a:endParaRPr lang="zh-TW" altLang="en-US" dirty="0"/>
              </a:p>
            </p:txBody>
          </p:sp>
        </mc:Choice>
        <mc:Fallback>
          <p:sp>
            <p:nvSpPr>
              <p:cNvPr id="5" name="內容版面配置區 4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2"/>
                <a:stretch>
                  <a:fillRect l="-1546" t="-196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7" name="圖片 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8819" y="3107191"/>
            <a:ext cx="8267700" cy="1324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37258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Algorithm- white block</a:t>
            </a:r>
            <a:endParaRPr lang="zh-TW" alt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內容版面配置區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92500" lnSpcReduction="10000"/>
              </a:bodyPr>
              <a:lstStyle/>
              <a:p>
                <a:pPr marL="0" indent="0">
                  <a:buNone/>
                </a:pPr>
                <a:r>
                  <a:rPr lang="en-US" altLang="zh-TW" sz="2800" dirty="0"/>
                  <a:t>Compute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2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2800" i="1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n-US" altLang="zh-TW" sz="2800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altLang="zh-TW" sz="2800" i="1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altLang="zh-TW" sz="2800" i="1">
                            <a:latin typeface="Cambria Math" panose="02040503050406030204" pitchFamily="18" charset="0"/>
                          </a:rPr>
                          <m:t>𝑝</m:t>
                        </m:r>
                        <m:r>
                          <a:rPr lang="en-US" altLang="zh-TW" sz="2800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zh-TW" sz="2800" i="1">
                            <a:latin typeface="Cambria Math" panose="02040503050406030204" pitchFamily="18" charset="0"/>
                          </a:rPr>
                          <m:t>𝑗</m:t>
                        </m:r>
                        <m:r>
                          <a:rPr lang="en-US" altLang="zh-TW" sz="2800" i="1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altLang="zh-TW" sz="2800" i="1">
                            <a:latin typeface="Cambria Math" panose="02040503050406030204" pitchFamily="18" charset="0"/>
                          </a:rPr>
                          <m:t>𝑙</m:t>
                        </m:r>
                      </m:sub>
                    </m:sSub>
                  </m:oMath>
                </a14:m>
                <a:endParaRPr lang="en-US" altLang="zh-TW" sz="2800" dirty="0"/>
              </a:p>
              <a:p>
                <a:pPr marL="0" indent="0">
                  <a:buNone/>
                </a:pPr>
                <a:endParaRPr lang="en-US" altLang="zh-TW" sz="28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2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800" i="1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n-US" altLang="zh-TW" sz="2800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altLang="zh-TW" sz="2800" i="1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altLang="zh-TW" sz="2800" i="1">
                              <a:latin typeface="Cambria Math" panose="02040503050406030204" pitchFamily="18" charset="0"/>
                            </a:rPr>
                            <m:t>𝑝</m:t>
                          </m:r>
                          <m:r>
                            <a:rPr lang="en-US" altLang="zh-TW" sz="2800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TW" sz="2800" i="1"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en-US" altLang="zh-TW" sz="2800" i="1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altLang="zh-TW" sz="2800" i="1">
                              <a:latin typeface="Cambria Math" panose="02040503050406030204" pitchFamily="18" charset="0"/>
                            </a:rPr>
                            <m:t>𝑙</m:t>
                          </m:r>
                        </m:sub>
                      </m:sSub>
                    </m:oMath>
                  </m:oMathPara>
                </a14:m>
                <a:endParaRPr lang="en-US" altLang="zh-TW" sz="2800" dirty="0"/>
              </a:p>
              <a:p>
                <a:pPr marL="0" indent="0">
                  <a:buNone/>
                </a:pPr>
                <a:endParaRPr lang="en-US" altLang="zh-TW" sz="28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2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800" i="1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US" altLang="zh-TW" sz="2800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altLang="zh-TW" sz="2800" i="1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altLang="zh-TW" sz="2800" i="1">
                              <a:latin typeface="Cambria Math" panose="02040503050406030204" pitchFamily="18" charset="0"/>
                            </a:rPr>
                            <m:t>𝑝</m:t>
                          </m:r>
                          <m:r>
                            <a:rPr lang="en-US" altLang="zh-TW" sz="2800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TW" sz="2800" i="1"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en-US" altLang="zh-TW" sz="2800" i="1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altLang="zh-TW" sz="2800" i="1">
                              <a:latin typeface="Cambria Math" panose="02040503050406030204" pitchFamily="18" charset="0"/>
                            </a:rPr>
                            <m:t>𝑙</m:t>
                          </m:r>
                        </m:sub>
                      </m:sSub>
                    </m:oMath>
                  </m:oMathPara>
                </a14:m>
                <a:endParaRPr lang="en-US" altLang="zh-TW" sz="2800" dirty="0"/>
              </a:p>
              <a:p>
                <a:pPr marL="0" indent="0">
                  <a:buNone/>
                </a:pPr>
                <a:endParaRPr lang="en-US" altLang="zh-TW" sz="28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2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800" i="1">
                              <a:latin typeface="Cambria Math" panose="02040503050406030204" pitchFamily="18" charset="0"/>
                            </a:rPr>
                            <m:t>𝐻</m:t>
                          </m:r>
                        </m:e>
                        <m:sub>
                          <m:r>
                            <a:rPr lang="en-US" altLang="zh-TW" sz="2800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altLang="zh-TW" sz="2800" i="1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altLang="zh-TW" sz="2800" i="1">
                              <a:latin typeface="Cambria Math" panose="02040503050406030204" pitchFamily="18" charset="0"/>
                            </a:rPr>
                            <m:t>𝑝</m:t>
                          </m:r>
                          <m:r>
                            <a:rPr lang="en-US" altLang="zh-TW" sz="2800" i="1">
                              <a:latin typeface="Cambria Math" panose="02040503050406030204" pitchFamily="18" charset="0"/>
                            </a:rPr>
                            <m:t>−1</m:t>
                          </m:r>
                          <m:r>
                            <a:rPr lang="en-US" altLang="zh-TW" sz="2800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TW" sz="2800" i="1"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en-US" altLang="zh-TW" sz="2800" i="1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altLang="zh-TW" sz="2800" i="1">
                              <a:latin typeface="Cambria Math" panose="02040503050406030204" pitchFamily="18" charset="0"/>
                            </a:rPr>
                            <m:t>𝑙</m:t>
                          </m:r>
                          <m:r>
                            <a:rPr lang="en-US" altLang="zh-TW" sz="2800" i="1">
                              <a:latin typeface="Cambria Math" panose="02040503050406030204" pitchFamily="18" charset="0"/>
                            </a:rPr>
                            <m:t>−1</m:t>
                          </m:r>
                        </m:sub>
                      </m:sSub>
                    </m:oMath>
                  </m:oMathPara>
                </a14:m>
                <a:endParaRPr lang="en-US" altLang="zh-TW" sz="2800" dirty="0"/>
              </a:p>
              <a:p>
                <a:pPr marL="0" indent="0">
                  <a:buNone/>
                </a:pPr>
                <a:r>
                  <a:rPr lang="en-US" altLang="zh-TW" sz="2800" dirty="0"/>
                  <a:t>	</a:t>
                </a:r>
                <a:r>
                  <a:rPr lang="en-US" altLang="zh-TW" sz="2800" dirty="0"/>
                  <a:t>				RH-</a:t>
                </a:r>
                <a:r>
                  <a:rPr lang="en-US" altLang="zh-TW" sz="2800" dirty="0" err="1"/>
                  <a:t>mp</a:t>
                </a:r>
                <a:endParaRPr lang="en-US" altLang="zh-TW" sz="2800" dirty="0"/>
              </a:p>
              <a:p>
                <a:pPr marL="0" indent="0">
                  <a:buNone/>
                </a:pPr>
                <a:r>
                  <a:rPr lang="en-US" altLang="zh-TW" sz="2800" dirty="0"/>
                  <a:t>	</a:t>
                </a:r>
                <a:r>
                  <a:rPr lang="en-US" altLang="zh-TW" sz="2800" dirty="0"/>
                  <a:t>				CH-</a:t>
                </a:r>
                <a:r>
                  <a:rPr lang="en-US" altLang="zh-TW" sz="2800" dirty="0" err="1"/>
                  <a:t>mp</a:t>
                </a:r>
                <a:endParaRPr lang="en-US" altLang="zh-TW" sz="2800" dirty="0"/>
              </a:p>
              <a:p>
                <a:pPr marL="0" indent="0">
                  <a:buNone/>
                </a:pPr>
                <a:r>
                  <a:rPr lang="en-US" altLang="zh-TW" sz="2800" dirty="0"/>
                  <a:t>	</a:t>
                </a:r>
                <a:r>
                  <a:rPr lang="en-US" altLang="zh-TW" sz="2800" dirty="0"/>
                  <a:t>				HH-</a:t>
                </a:r>
                <a:r>
                  <a:rPr lang="en-US" altLang="zh-TW" sz="2800" dirty="0" err="1"/>
                  <a:t>mp</a:t>
                </a:r>
                <a:endParaRPr lang="zh-TW" altLang="en-US" sz="2800" dirty="0"/>
              </a:p>
              <a:p>
                <a:endParaRPr lang="zh-TW" altLang="en-US" dirty="0"/>
              </a:p>
            </p:txBody>
          </p:sp>
        </mc:Choice>
        <mc:Fallback>
          <p:sp>
            <p:nvSpPr>
              <p:cNvPr id="3" name="內容版面配置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2"/>
                <a:stretch>
                  <a:fillRect l="-1391" t="-252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34627525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Algorithm- white block RH-</a:t>
            </a:r>
            <a:r>
              <a:rPr lang="en-US" altLang="zh-TW" dirty="0" err="1" smtClean="0"/>
              <a:t>mp</a:t>
            </a:r>
            <a:endParaRPr lang="zh-TW" altLang="en-US" dirty="0"/>
          </a:p>
        </p:txBody>
      </p:sp>
      <p:pic>
        <p:nvPicPr>
          <p:cNvPr id="6" name="內容版面配置區 5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35359" y="1826350"/>
            <a:ext cx="3312297" cy="1989367"/>
          </a:xfrm>
        </p:spPr>
      </p:pic>
      <p:pic>
        <p:nvPicPr>
          <p:cNvPr id="7" name="圖片 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5787" y="4865778"/>
            <a:ext cx="8391525" cy="1600200"/>
          </a:xfrm>
          <a:prstGeom prst="rect">
            <a:avLst/>
          </a:prstGeom>
        </p:spPr>
      </p:pic>
      <p:pic>
        <p:nvPicPr>
          <p:cNvPr id="8" name="圖片 7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5787" y="3951378"/>
            <a:ext cx="83058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09866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Algorithm- white block </a:t>
            </a:r>
            <a:r>
              <a:rPr lang="en-US" altLang="zh-TW" dirty="0" smtClean="0"/>
              <a:t>CH-</a:t>
            </a:r>
            <a:r>
              <a:rPr lang="en-US" altLang="zh-TW" dirty="0" err="1" smtClean="0"/>
              <a:t>mp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zh-TW" sz="2800" dirty="0" smtClean="0"/>
              <a:t>Similar to the RH-</a:t>
            </a:r>
            <a:r>
              <a:rPr lang="en-US" altLang="zh-TW" sz="2800" dirty="0" err="1" smtClean="0"/>
              <a:t>mp</a:t>
            </a:r>
            <a:endParaRPr lang="zh-TW" altLang="en-US" sz="2800" dirty="0"/>
          </a:p>
        </p:txBody>
      </p:sp>
    </p:spTree>
    <p:extLst>
      <p:ext uri="{BB962C8B-B14F-4D97-AF65-F5344CB8AC3E}">
        <p14:creationId xmlns:p14="http://schemas.microsoft.com/office/powerpoint/2010/main" val="33297278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Algorithm- white block HH-</a:t>
            </a:r>
            <a:r>
              <a:rPr lang="en-US" altLang="zh-TW" dirty="0" err="1" smtClean="0"/>
              <a:t>mp</a:t>
            </a:r>
            <a:endParaRPr lang="zh-TW" altLang="en-US" dirty="0"/>
          </a:p>
        </p:txBody>
      </p:sp>
      <p:pic>
        <p:nvPicPr>
          <p:cNvPr id="4" name="內容版面配置區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36320" y="2244807"/>
            <a:ext cx="5110099" cy="2280540"/>
          </a:xfrm>
        </p:spPr>
      </p:pic>
    </p:spTree>
    <p:extLst>
      <p:ext uri="{BB962C8B-B14F-4D97-AF65-F5344CB8AC3E}">
        <p14:creationId xmlns:p14="http://schemas.microsoft.com/office/powerpoint/2010/main" val="36951538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圖片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1068" y="1261180"/>
            <a:ext cx="8258175" cy="2343150"/>
          </a:xfrm>
          <a:prstGeom prst="rect">
            <a:avLst/>
          </a:prstGeom>
        </p:spPr>
      </p:pic>
      <p:pic>
        <p:nvPicPr>
          <p:cNvPr id="8" name="圖片 7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2968" y="3604330"/>
            <a:ext cx="8296275" cy="495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66514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3" name="內容版面配置區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altLang="zh-TW" sz="2800" dirty="0" smtClean="0"/>
                  <a:t>Compute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2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2800" i="1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n-US" altLang="zh-TW" sz="2800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altLang="zh-TW" sz="2800" i="1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altLang="zh-TW" sz="2800" i="1">
                            <a:latin typeface="Cambria Math" panose="02040503050406030204" pitchFamily="18" charset="0"/>
                          </a:rPr>
                          <m:t>𝑝</m:t>
                        </m:r>
                        <m:r>
                          <a:rPr lang="en-US" altLang="zh-TW" sz="2800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zh-TW" sz="2800" i="1">
                            <a:latin typeface="Cambria Math" panose="02040503050406030204" pitchFamily="18" charset="0"/>
                          </a:rPr>
                          <m:t>𝑗</m:t>
                        </m:r>
                        <m:r>
                          <a:rPr lang="en-US" altLang="zh-TW" sz="2800" i="1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altLang="zh-TW" sz="2800" i="1">
                            <a:latin typeface="Cambria Math" panose="02040503050406030204" pitchFamily="18" charset="0"/>
                          </a:rPr>
                          <m:t>𝑙</m:t>
                        </m:r>
                      </m:sub>
                    </m:sSub>
                  </m:oMath>
                </a14:m>
                <a:endParaRPr lang="en-US" altLang="zh-TW" dirty="0" smtClean="0"/>
              </a:p>
              <a:p>
                <a:pPr marL="0" indent="0">
                  <a:buNone/>
                </a:pPr>
                <a:endParaRPr lang="en-US" altLang="zh-TW" dirty="0"/>
              </a:p>
              <a:p>
                <a:pPr marL="0" indent="0">
                  <a:buNone/>
                </a:pPr>
                <a:endParaRPr lang="en-US" altLang="zh-TW" dirty="0" smtClean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2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800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US" altLang="zh-TW" sz="2800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altLang="zh-TW" sz="2800" i="1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altLang="zh-TW" sz="2800" i="1">
                              <a:latin typeface="Cambria Math" panose="02040503050406030204" pitchFamily="18" charset="0"/>
                            </a:rPr>
                            <m:t>𝑝</m:t>
                          </m:r>
                          <m:r>
                            <a:rPr lang="en-US" altLang="zh-TW" sz="2800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TW" sz="2800" i="1"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en-US" altLang="zh-TW" sz="2800" i="1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altLang="zh-TW" sz="2800" i="1">
                              <a:latin typeface="Cambria Math" panose="02040503050406030204" pitchFamily="18" charset="0"/>
                            </a:rPr>
                            <m:t>𝑙</m:t>
                          </m:r>
                        </m:sub>
                      </m:sSub>
                    </m:oMath>
                  </m:oMathPara>
                </a14:m>
                <a:endParaRPr lang="en-US" altLang="zh-TW" sz="2800" dirty="0" smtClean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2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800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n-US" altLang="zh-TW" sz="2800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altLang="zh-TW" sz="2800" i="1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altLang="zh-TW" sz="2800" i="1">
                              <a:latin typeface="Cambria Math" panose="02040503050406030204" pitchFamily="18" charset="0"/>
                            </a:rPr>
                            <m:t>𝑝</m:t>
                          </m:r>
                          <m:r>
                            <a:rPr lang="en-US" altLang="zh-TW" sz="2800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TW" sz="2800" i="1"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en-US" altLang="zh-TW" sz="2800" i="1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altLang="zh-TW" sz="2800" i="1">
                              <a:latin typeface="Cambria Math" panose="02040503050406030204" pitchFamily="18" charset="0"/>
                            </a:rPr>
                            <m:t>𝑙</m:t>
                          </m:r>
                        </m:sub>
                      </m:sSub>
                    </m:oMath>
                  </m:oMathPara>
                </a14:m>
                <a:endParaRPr lang="en-US" altLang="zh-TW" sz="2800" dirty="0" smtClean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2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800" b="0" i="1" smtClean="0">
                              <a:latin typeface="Cambria Math" panose="02040503050406030204" pitchFamily="18" charset="0"/>
                            </a:rPr>
                            <m:t>𝐻</m:t>
                          </m:r>
                        </m:e>
                        <m:sub>
                          <m:r>
                            <a:rPr lang="en-US" altLang="zh-TW" sz="2800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altLang="zh-TW" sz="2800" i="1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altLang="zh-TW" sz="2800" i="1">
                              <a:latin typeface="Cambria Math" panose="02040503050406030204" pitchFamily="18" charset="0"/>
                            </a:rPr>
                            <m:t>𝑝</m:t>
                          </m:r>
                          <m:r>
                            <a:rPr lang="en-US" altLang="zh-TW" sz="2800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altLang="zh-TW" sz="2800" b="0" i="1" smtClean="0">
                              <a:latin typeface="Cambria Math" panose="02040503050406030204" pitchFamily="18" charset="0"/>
                            </a:rPr>
                            <m:t>𝑙</m:t>
                          </m:r>
                          <m:r>
                            <a:rPr lang="en-US" altLang="zh-TW" sz="2800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TW" sz="2800" i="1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  <m:r>
                        <a:rPr lang="en-US" altLang="zh-TW" sz="2800" b="0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altLang="zh-TW" sz="2800" b="0" i="1" smtClean="0">
                          <a:latin typeface="Cambria Math" panose="02040503050406030204" pitchFamily="18" charset="0"/>
                        </a:rPr>
                        <m:t>𝑙</m:t>
                      </m:r>
                      <m:r>
                        <a:rPr lang="zh-TW" altLang="en-US" sz="2800" b="0" i="1" smtClean="0">
                          <a:latin typeface="Cambria Math" panose="02040503050406030204" pitchFamily="18" charset="0"/>
                        </a:rPr>
                        <m:t>𝛿</m:t>
                      </m:r>
                    </m:oMath>
                  </m:oMathPara>
                </a14:m>
                <a:endParaRPr lang="en-US" altLang="zh-TW" sz="2800" dirty="0" smtClean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2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800" i="1">
                              <a:latin typeface="Cambria Math" panose="02040503050406030204" pitchFamily="18" charset="0"/>
                            </a:rPr>
                            <m:t>𝐻</m:t>
                          </m:r>
                        </m:e>
                        <m:sub>
                          <m:r>
                            <a:rPr lang="en-US" altLang="zh-TW" sz="2800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altLang="zh-TW" sz="2800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TW" sz="2800" i="1"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en-US" altLang="zh-TW" sz="2800" i="1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altLang="zh-TW" sz="2800" i="1">
                              <a:latin typeface="Cambria Math" panose="02040503050406030204" pitchFamily="18" charset="0"/>
                            </a:rPr>
                            <m:t>𝑙</m:t>
                          </m:r>
                          <m:r>
                            <a:rPr lang="en-US" altLang="zh-TW" sz="2800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altLang="zh-TW" sz="2800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sub>
                      </m:sSub>
                      <m:r>
                        <a:rPr lang="en-US" altLang="zh-TW" sz="2800" i="1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altLang="zh-TW" sz="2800" b="0" i="1" smtClean="0">
                          <a:latin typeface="Cambria Math" panose="02040503050406030204" pitchFamily="18" charset="0"/>
                        </a:rPr>
                        <m:t>𝑝</m:t>
                      </m:r>
                      <m:r>
                        <a:rPr lang="zh-TW" altLang="en-US" sz="2800" i="1">
                          <a:latin typeface="Cambria Math" panose="02040503050406030204" pitchFamily="18" charset="0"/>
                        </a:rPr>
                        <m:t>𝛿</m:t>
                      </m:r>
                    </m:oMath>
                  </m:oMathPara>
                </a14:m>
                <a:endParaRPr lang="zh-TW" altLang="en-US" sz="2800" dirty="0"/>
              </a:p>
              <a:p>
                <a:pPr marL="0" indent="0">
                  <a:buNone/>
                </a:pPr>
                <a:endParaRPr lang="zh-TW" altLang="en-US" dirty="0"/>
              </a:p>
            </p:txBody>
          </p:sp>
        </mc:Choice>
        <mc:Fallback>
          <p:sp>
            <p:nvSpPr>
              <p:cNvPr id="3" name="內容版面配置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2"/>
                <a:stretch>
                  <a:fillRect l="-1546" t="-196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452369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Algorithm- black block</a:t>
            </a:r>
            <a:endParaRPr lang="zh-TW" alt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內容版面配置區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en-US" altLang="zh-TW" sz="2800" dirty="0"/>
                  <a:t>Compute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2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2800" i="1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US" altLang="zh-TW" sz="2800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altLang="zh-TW" sz="2800" i="1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altLang="zh-TW" sz="2800" i="1">
                            <a:latin typeface="Cambria Math" panose="02040503050406030204" pitchFamily="18" charset="0"/>
                          </a:rPr>
                          <m:t>𝑝</m:t>
                        </m:r>
                        <m:r>
                          <a:rPr lang="en-US" altLang="zh-TW" sz="2800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zh-TW" sz="2800" i="1">
                            <a:latin typeface="Cambria Math" panose="02040503050406030204" pitchFamily="18" charset="0"/>
                          </a:rPr>
                          <m:t>𝑗</m:t>
                        </m:r>
                        <m:r>
                          <a:rPr lang="en-US" altLang="zh-TW" sz="2800" i="1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altLang="zh-TW" sz="2800" i="1">
                            <a:latin typeface="Cambria Math" panose="02040503050406030204" pitchFamily="18" charset="0"/>
                          </a:rPr>
                          <m:t>𝑙</m:t>
                        </m:r>
                      </m:sub>
                    </m:sSub>
                  </m:oMath>
                </a14:m>
                <a:endParaRPr lang="zh-TW" altLang="en-US" sz="2800" dirty="0"/>
              </a:p>
            </p:txBody>
          </p:sp>
        </mc:Choice>
        <mc:Fallback>
          <p:sp>
            <p:nvSpPr>
              <p:cNvPr id="3" name="內容版面配置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2"/>
                <a:stretch>
                  <a:fillRect l="-1546" t="-196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圖片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76625" y="1690689"/>
            <a:ext cx="5038725" cy="3514725"/>
          </a:xfrm>
          <a:prstGeom prst="rect">
            <a:avLst/>
          </a:prstGeom>
        </p:spPr>
      </p:pic>
      <p:pic>
        <p:nvPicPr>
          <p:cNvPr id="5" name="圖片 4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8650" y="5340350"/>
            <a:ext cx="5276850" cy="133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5489453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Algorithm- black block</a:t>
            </a:r>
            <a:endParaRPr lang="zh-TW" alt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內容版面配置區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en-US" altLang="zh-TW" sz="2800" dirty="0" smtClean="0"/>
                  <a:t>Compute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2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2800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altLang="zh-TW" sz="2800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altLang="zh-TW" sz="2800" i="1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altLang="zh-TW" sz="2800" i="1">
                            <a:latin typeface="Cambria Math" panose="02040503050406030204" pitchFamily="18" charset="0"/>
                          </a:rPr>
                          <m:t>𝑝</m:t>
                        </m:r>
                        <m:r>
                          <a:rPr lang="en-US" altLang="zh-TW" sz="2800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zh-TW" sz="2800" i="1">
                            <a:latin typeface="Cambria Math" panose="02040503050406030204" pitchFamily="18" charset="0"/>
                          </a:rPr>
                          <m:t>𝑗</m:t>
                        </m:r>
                        <m:r>
                          <a:rPr lang="en-US" altLang="zh-TW" sz="2800" i="1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altLang="zh-TW" sz="2800" i="1">
                            <a:latin typeface="Cambria Math" panose="02040503050406030204" pitchFamily="18" charset="0"/>
                          </a:rPr>
                          <m:t>𝑙</m:t>
                        </m:r>
                      </m:sub>
                    </m:sSub>
                  </m:oMath>
                </a14:m>
                <a:endParaRPr lang="zh-TW" altLang="en-US" dirty="0"/>
              </a:p>
            </p:txBody>
          </p:sp>
        </mc:Choice>
        <mc:Fallback>
          <p:sp>
            <p:nvSpPr>
              <p:cNvPr id="3" name="內容版面配置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2"/>
                <a:stretch>
                  <a:fillRect l="-1546" t="-196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圖片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7187" y="3205162"/>
            <a:ext cx="8429625" cy="4476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2053181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Algorithm- black block</a:t>
            </a:r>
            <a:endParaRPr lang="zh-TW" alt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內容版面配置區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altLang="zh-TW" sz="2800" dirty="0" smtClean="0"/>
                  <a:t>Compute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2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2800" b="0" i="1" smtClean="0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n-US" altLang="zh-TW" sz="2800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altLang="zh-TW" sz="2800" i="1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altLang="zh-TW" sz="2800" i="1">
                            <a:latin typeface="Cambria Math" panose="02040503050406030204" pitchFamily="18" charset="0"/>
                          </a:rPr>
                          <m:t>𝑝</m:t>
                        </m:r>
                        <m:r>
                          <a:rPr lang="en-US" altLang="zh-TW" sz="2800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zh-TW" sz="2800" i="1">
                            <a:latin typeface="Cambria Math" panose="02040503050406030204" pitchFamily="18" charset="0"/>
                          </a:rPr>
                          <m:t>𝑗</m:t>
                        </m:r>
                        <m:r>
                          <a:rPr lang="en-US" altLang="zh-TW" sz="2800" i="1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altLang="zh-TW" sz="2800" i="1">
                            <a:latin typeface="Cambria Math" panose="02040503050406030204" pitchFamily="18" charset="0"/>
                          </a:rPr>
                          <m:t>𝑙</m:t>
                        </m:r>
                      </m:sub>
                    </m:sSub>
                  </m:oMath>
                </a14:m>
                <a:endParaRPr lang="en-US" altLang="zh-TW" dirty="0" smtClean="0"/>
              </a:p>
              <a:p>
                <a:pPr marL="0" indent="0">
                  <a:buNone/>
                </a:pPr>
                <a:endParaRPr lang="en-US" altLang="zh-TW" sz="24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2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600" i="1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n-US" altLang="zh-TW" sz="2600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altLang="zh-TW" sz="2600" i="1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altLang="zh-TW" sz="2600" i="1">
                              <a:latin typeface="Cambria Math" panose="02040503050406030204" pitchFamily="18" charset="0"/>
                            </a:rPr>
                            <m:t>𝑝</m:t>
                          </m:r>
                          <m:r>
                            <a:rPr lang="en-US" altLang="zh-TW" sz="2600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TW" sz="2600" i="1"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en-US" altLang="zh-TW" sz="2600" i="1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altLang="zh-TW" sz="2600" i="1">
                              <a:latin typeface="Cambria Math" panose="02040503050406030204" pitchFamily="18" charset="0"/>
                            </a:rPr>
                            <m:t>𝑙</m:t>
                          </m:r>
                        </m:sub>
                      </m:sSub>
                    </m:oMath>
                  </m:oMathPara>
                </a14:m>
                <a:endParaRPr lang="en-US" altLang="zh-TW" sz="2600" dirty="0"/>
              </a:p>
              <a:p>
                <a:pPr marL="0" indent="0">
                  <a:buNone/>
                </a:pPr>
                <a:endParaRPr lang="en-US" altLang="zh-TW" sz="26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2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600" i="1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US" altLang="zh-TW" sz="2600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altLang="zh-TW" sz="2600" i="1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altLang="zh-TW" sz="2600" i="1">
                              <a:latin typeface="Cambria Math" panose="02040503050406030204" pitchFamily="18" charset="0"/>
                            </a:rPr>
                            <m:t>𝑝</m:t>
                          </m:r>
                          <m:r>
                            <a:rPr lang="en-US" altLang="zh-TW" sz="2600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TW" sz="2600" i="1"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en-US" altLang="zh-TW" sz="2600" i="1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altLang="zh-TW" sz="2600" i="1">
                              <a:latin typeface="Cambria Math" panose="02040503050406030204" pitchFamily="18" charset="0"/>
                            </a:rPr>
                            <m:t>𝑙</m:t>
                          </m:r>
                        </m:sub>
                      </m:sSub>
                    </m:oMath>
                  </m:oMathPara>
                </a14:m>
                <a:endParaRPr lang="en-US" altLang="zh-TW" sz="2600" dirty="0"/>
              </a:p>
              <a:p>
                <a:pPr marL="0" indent="0">
                  <a:buNone/>
                </a:pPr>
                <a:endParaRPr lang="en-US" altLang="zh-TW" sz="26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2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600" i="1">
                              <a:latin typeface="Cambria Math" panose="02040503050406030204" pitchFamily="18" charset="0"/>
                            </a:rPr>
                            <m:t>𝐻</m:t>
                          </m:r>
                        </m:e>
                        <m:sub>
                          <m:r>
                            <a:rPr lang="en-US" altLang="zh-TW" sz="2600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altLang="zh-TW" sz="2600" i="1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altLang="zh-TW" sz="2600" i="1">
                              <a:latin typeface="Cambria Math" panose="02040503050406030204" pitchFamily="18" charset="0"/>
                            </a:rPr>
                            <m:t>𝑝</m:t>
                          </m:r>
                          <m:r>
                            <a:rPr lang="en-US" altLang="zh-TW" sz="2600" i="1">
                              <a:latin typeface="Cambria Math" panose="02040503050406030204" pitchFamily="18" charset="0"/>
                            </a:rPr>
                            <m:t>−1,</m:t>
                          </m:r>
                          <m:r>
                            <a:rPr lang="en-US" altLang="zh-TW" sz="2600" i="1"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en-US" altLang="zh-TW" sz="2600" i="1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altLang="zh-TW" sz="2600" i="1">
                              <a:latin typeface="Cambria Math" panose="02040503050406030204" pitchFamily="18" charset="0"/>
                            </a:rPr>
                            <m:t>𝑙</m:t>
                          </m:r>
                          <m:r>
                            <a:rPr lang="en-US" altLang="zh-TW" sz="2600" i="1">
                              <a:latin typeface="Cambria Math" panose="02040503050406030204" pitchFamily="18" charset="0"/>
                            </a:rPr>
                            <m:t>−1</m:t>
                          </m:r>
                        </m:sub>
                      </m:sSub>
                    </m:oMath>
                  </m:oMathPara>
                </a14:m>
                <a:endParaRPr lang="en-US" altLang="zh-TW" sz="2600" dirty="0"/>
              </a:p>
              <a:p>
                <a:pPr marL="0" indent="0">
                  <a:buNone/>
                </a:pPr>
                <a:r>
                  <a:rPr lang="en-US" altLang="zh-TW" sz="2600" dirty="0"/>
                  <a:t>					RH-</a:t>
                </a:r>
                <a:r>
                  <a:rPr lang="en-US" altLang="zh-TW" sz="2600" dirty="0" err="1"/>
                  <a:t>mp</a:t>
                </a:r>
                <a:endParaRPr lang="en-US" altLang="zh-TW" sz="2600" dirty="0"/>
              </a:p>
              <a:p>
                <a:pPr marL="0" indent="0">
                  <a:buNone/>
                </a:pPr>
                <a:r>
                  <a:rPr lang="en-US" altLang="zh-TW" sz="2600" dirty="0"/>
                  <a:t>					</a:t>
                </a:r>
                <a:r>
                  <a:rPr lang="en-US" altLang="zh-TW" sz="2600" dirty="0" smtClean="0"/>
                  <a:t>CH-</a:t>
                </a:r>
                <a:r>
                  <a:rPr lang="en-US" altLang="zh-TW" sz="2600" dirty="0" err="1" smtClean="0"/>
                  <a:t>mp</a:t>
                </a:r>
                <a:endParaRPr lang="en-US" altLang="zh-TW" sz="2600" dirty="0"/>
              </a:p>
            </p:txBody>
          </p:sp>
        </mc:Choice>
        <mc:Fallback>
          <p:sp>
            <p:nvSpPr>
              <p:cNvPr id="3" name="內容版面配置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2"/>
                <a:stretch>
                  <a:fillRect l="-1546" t="-196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501368360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Algorithm- black blocks RH-</a:t>
            </a:r>
            <a:r>
              <a:rPr lang="en-US" altLang="zh-TW" dirty="0" err="1" smtClean="0"/>
              <a:t>mp</a:t>
            </a:r>
            <a:endParaRPr lang="zh-TW" altLang="en-US" dirty="0"/>
          </a:p>
        </p:txBody>
      </p:sp>
      <p:pic>
        <p:nvPicPr>
          <p:cNvPr id="4" name="內容版面配置區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8687" y="2222548"/>
            <a:ext cx="7286625" cy="1952625"/>
          </a:xfrm>
        </p:spPr>
      </p:pic>
    </p:spTree>
    <p:extLst>
      <p:ext uri="{BB962C8B-B14F-4D97-AF65-F5344CB8AC3E}">
        <p14:creationId xmlns:p14="http://schemas.microsoft.com/office/powerpoint/2010/main" val="3940087352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圖片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5988" y="171838"/>
            <a:ext cx="8382000" cy="1733550"/>
          </a:xfrm>
          <a:prstGeom prst="rect">
            <a:avLst/>
          </a:prstGeom>
        </p:spPr>
      </p:pic>
      <p:pic>
        <p:nvPicPr>
          <p:cNvPr id="5" name="圖片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4075" y="1905388"/>
            <a:ext cx="8505825" cy="472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740881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TW" alt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內容版面配置區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en-US" altLang="zh-TW" sz="2800" dirty="0" smtClean="0"/>
                  <a:t>Compute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2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2800" i="1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n-US" altLang="zh-TW" sz="2800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altLang="zh-TW" sz="2800" i="1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altLang="zh-TW" sz="2800" i="1">
                            <a:latin typeface="Cambria Math" panose="02040503050406030204" pitchFamily="18" charset="0"/>
                          </a:rPr>
                          <m:t>𝑝</m:t>
                        </m:r>
                        <m:r>
                          <a:rPr lang="en-US" altLang="zh-TW" sz="2800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zh-TW" sz="2800" i="1">
                            <a:latin typeface="Cambria Math" panose="02040503050406030204" pitchFamily="18" charset="0"/>
                          </a:rPr>
                          <m:t>𝑗</m:t>
                        </m:r>
                        <m:r>
                          <a:rPr lang="en-US" altLang="zh-TW" sz="2800" i="1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altLang="zh-TW" sz="2800" i="1">
                            <a:latin typeface="Cambria Math" panose="02040503050406030204" pitchFamily="18" charset="0"/>
                          </a:rPr>
                          <m:t>𝑙</m:t>
                        </m:r>
                      </m:sub>
                    </m:sSub>
                  </m:oMath>
                </a14:m>
                <a:endParaRPr lang="en-US" altLang="zh-TW" dirty="0" smtClean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2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800" i="1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US" altLang="zh-TW" sz="2800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altLang="zh-TW" sz="2800" i="1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altLang="zh-TW" sz="2800" i="1">
                              <a:latin typeface="Cambria Math" panose="02040503050406030204" pitchFamily="18" charset="0"/>
                            </a:rPr>
                            <m:t>𝑝</m:t>
                          </m:r>
                          <m:r>
                            <a:rPr lang="en-US" altLang="zh-TW" sz="2800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TW" sz="2800" i="1"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en-US" altLang="zh-TW" sz="2800" i="1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altLang="zh-TW" sz="2800" i="1">
                              <a:latin typeface="Cambria Math" panose="02040503050406030204" pitchFamily="18" charset="0"/>
                            </a:rPr>
                            <m:t>𝑙</m:t>
                          </m:r>
                        </m:sub>
                      </m:sSub>
                    </m:oMath>
                  </m:oMathPara>
                </a14:m>
                <a:endParaRPr lang="en-US" altLang="zh-TW" sz="28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2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800" i="1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n-US" altLang="zh-TW" sz="2800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altLang="zh-TW" sz="2800" i="1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altLang="zh-TW" sz="2800" i="1">
                              <a:latin typeface="Cambria Math" panose="02040503050406030204" pitchFamily="18" charset="0"/>
                            </a:rPr>
                            <m:t>𝑝</m:t>
                          </m:r>
                          <m:r>
                            <a:rPr lang="en-US" altLang="zh-TW" sz="2800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TW" sz="2800" i="1"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en-US" altLang="zh-TW" sz="2800" i="1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altLang="zh-TW" sz="2800" i="1">
                              <a:latin typeface="Cambria Math" panose="02040503050406030204" pitchFamily="18" charset="0"/>
                            </a:rPr>
                            <m:t>𝑙</m:t>
                          </m:r>
                        </m:sub>
                      </m:sSub>
                    </m:oMath>
                  </m:oMathPara>
                </a14:m>
                <a:endParaRPr lang="en-US" altLang="zh-TW" sz="28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2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800" i="1">
                              <a:latin typeface="Cambria Math" panose="02040503050406030204" pitchFamily="18" charset="0"/>
                            </a:rPr>
                            <m:t>𝐻</m:t>
                          </m:r>
                        </m:e>
                        <m:sub>
                          <m:r>
                            <a:rPr lang="en-US" altLang="zh-TW" sz="2800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altLang="zh-TW" sz="2800" i="1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altLang="zh-TW" sz="2800" i="1">
                              <a:latin typeface="Cambria Math" panose="02040503050406030204" pitchFamily="18" charset="0"/>
                            </a:rPr>
                            <m:t>𝑝</m:t>
                          </m:r>
                          <m:r>
                            <a:rPr lang="en-US" altLang="zh-TW" sz="2800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altLang="zh-TW" sz="2800" i="1">
                              <a:latin typeface="Cambria Math" panose="02040503050406030204" pitchFamily="18" charset="0"/>
                            </a:rPr>
                            <m:t>𝑙</m:t>
                          </m:r>
                          <m:r>
                            <a:rPr lang="en-US" altLang="zh-TW" sz="2800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TW" sz="2800" i="1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  <m:r>
                        <a:rPr lang="en-US" altLang="zh-TW" sz="2800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zh-TW" sz="2800" b="0" i="1" smtClean="0">
                          <a:latin typeface="Cambria Math" panose="02040503050406030204" pitchFamily="18" charset="0"/>
                        </a:rPr>
                        <m:t>𝑙</m:t>
                      </m:r>
                    </m:oMath>
                  </m:oMathPara>
                </a14:m>
                <a:endParaRPr lang="en-US" altLang="zh-TW" sz="28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2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800" i="1">
                              <a:latin typeface="Cambria Math" panose="02040503050406030204" pitchFamily="18" charset="0"/>
                            </a:rPr>
                            <m:t>𝐻</m:t>
                          </m:r>
                        </m:e>
                        <m:sub>
                          <m:r>
                            <a:rPr lang="en-US" altLang="zh-TW" sz="2800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altLang="zh-TW" sz="2800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TW" sz="2800" i="1"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en-US" altLang="zh-TW" sz="2800" i="1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altLang="zh-TW" sz="2800" i="1">
                              <a:latin typeface="Cambria Math" panose="02040503050406030204" pitchFamily="18" charset="0"/>
                            </a:rPr>
                            <m:t>𝑙</m:t>
                          </m:r>
                          <m:r>
                            <a:rPr lang="en-US" altLang="zh-TW" sz="2800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altLang="zh-TW" sz="2800" i="1">
                              <a:latin typeface="Cambria Math" panose="02040503050406030204" pitchFamily="18" charset="0"/>
                            </a:rPr>
                            <m:t>𝑝</m:t>
                          </m:r>
                        </m:sub>
                      </m:sSub>
                      <m:r>
                        <a:rPr lang="en-US" altLang="zh-TW" sz="2800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zh-TW" sz="2800" b="0" i="1" smtClean="0">
                          <a:latin typeface="Cambria Math" panose="02040503050406030204" pitchFamily="18" charset="0"/>
                        </a:rPr>
                        <m:t>𝑝</m:t>
                      </m:r>
                    </m:oMath>
                  </m:oMathPara>
                </a14:m>
                <a:endParaRPr lang="zh-TW" altLang="en-US" sz="2800" dirty="0"/>
              </a:p>
              <a:p>
                <a:pPr marL="0" indent="0">
                  <a:buNone/>
                </a:pPr>
                <a:endParaRPr lang="zh-TW" altLang="en-US" dirty="0"/>
              </a:p>
            </p:txBody>
          </p:sp>
        </mc:Choice>
        <mc:Fallback>
          <p:sp>
            <p:nvSpPr>
              <p:cNvPr id="3" name="內容版面配置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2"/>
                <a:stretch>
                  <a:fillRect l="-1546" t="-196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132525904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Conclusion</a:t>
            </a:r>
            <a:endParaRPr lang="zh-TW" alt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內容版面配置區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en-US" altLang="zh-TW" dirty="0" smtClean="0"/>
                  <a:t>Given a black block with </a:t>
                </a:r>
                <a14:m>
                  <m:oMath xmlns:m="http://schemas.openxmlformats.org/officeDocument/2006/math"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zh-TW" altLang="en-US" dirty="0" smtClean="0"/>
                  <a:t> </a:t>
                </a:r>
                <a:r>
                  <a:rPr lang="en-US" altLang="zh-TW" dirty="0" smtClean="0"/>
                  <a:t>row</a:t>
                </a:r>
                <a:r>
                  <a:rPr lang="zh-TW" altLang="en-US" dirty="0" smtClean="0"/>
                  <a:t> </a:t>
                </a:r>
                <a:r>
                  <a:rPr lang="en-US" altLang="zh-TW" dirty="0" smtClean="0"/>
                  <a:t>and </a:t>
                </a:r>
                <a14:m>
                  <m:oMath xmlns:m="http://schemas.openxmlformats.org/officeDocument/2006/math"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lang="zh-TW" altLang="en-US" dirty="0" smtClean="0"/>
                  <a:t> </a:t>
                </a:r>
                <a:r>
                  <a:rPr lang="en-US" altLang="zh-TW" dirty="0" smtClean="0"/>
                  <a:t>columns, the bottom row of the block is computed in </a:t>
                </a:r>
                <a14:m>
                  <m:oMath xmlns:m="http://schemas.openxmlformats.org/officeDocument/2006/math"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𝑂</m:t>
                    </m:r>
                    <m:d>
                      <m:dPr>
                        <m:ctrlPr>
                          <a:rPr lang="en-US" altLang="zh-TW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</m:d>
                  </m:oMath>
                </a14:m>
                <a:r>
                  <a:rPr lang="zh-TW" altLang="en-US" dirty="0" smtClean="0"/>
                  <a:t> </a:t>
                </a:r>
                <a:r>
                  <a:rPr lang="en-US" altLang="zh-TW" dirty="0" smtClean="0"/>
                  <a:t>time. The rightmost column of the block is also computed </a:t>
                </a:r>
                <a:r>
                  <a:rPr lang="en-US" altLang="zh-TW" dirty="0"/>
                  <a:t>in </a:t>
                </a:r>
                <a14:m>
                  <m:oMath xmlns:m="http://schemas.openxmlformats.org/officeDocument/2006/math">
                    <m:r>
                      <a:rPr lang="en-US" altLang="zh-TW" i="1">
                        <a:latin typeface="Cambria Math" panose="02040503050406030204" pitchFamily="18" charset="0"/>
                      </a:rPr>
                      <m:t>𝑂</m:t>
                    </m:r>
                    <m:d>
                      <m:dPr>
                        <m:ctrlPr>
                          <a:rPr lang="en-US" altLang="zh-TW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𝑝</m:t>
                        </m:r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</m:d>
                  </m:oMath>
                </a14:m>
                <a:r>
                  <a:rPr lang="zh-TW" altLang="en-US" dirty="0"/>
                  <a:t> </a:t>
                </a:r>
                <a:r>
                  <a:rPr lang="en-US" altLang="zh-TW" dirty="0" smtClean="0"/>
                  <a:t>time and thus the similarity of the black block can be computed </a:t>
                </a:r>
                <a:r>
                  <a:rPr lang="en-US" altLang="zh-TW" dirty="0"/>
                  <a:t>in </a:t>
                </a:r>
                <a14:m>
                  <m:oMath xmlns:m="http://schemas.openxmlformats.org/officeDocument/2006/math">
                    <m:r>
                      <a:rPr lang="en-US" altLang="zh-TW" i="1">
                        <a:latin typeface="Cambria Math" panose="02040503050406030204" pitchFamily="18" charset="0"/>
                      </a:rPr>
                      <m:t>𝑂</m:t>
                    </m:r>
                    <m:d>
                      <m:dPr>
                        <m:ctrlPr>
                          <a:rPr lang="en-US" altLang="zh-TW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𝑝</m:t>
                        </m:r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</m:d>
                  </m:oMath>
                </a14:m>
                <a:r>
                  <a:rPr lang="zh-TW" altLang="en-US" dirty="0"/>
                  <a:t> </a:t>
                </a:r>
                <a:r>
                  <a:rPr lang="en-US" altLang="zh-TW" dirty="0" smtClean="0"/>
                  <a:t>time.</a:t>
                </a:r>
              </a:p>
              <a:p>
                <a:pPr marL="0" indent="0">
                  <a:buNone/>
                </a:pPr>
                <a:r>
                  <a:rPr lang="en-US" altLang="zh-TW" dirty="0" smtClean="0"/>
                  <a:t>The time of white block is same as the black block.</a:t>
                </a:r>
              </a:p>
              <a:p>
                <a:pPr marL="0" indent="0">
                  <a:buNone/>
                </a:pPr>
                <a:endParaRPr lang="en-US" altLang="zh-TW" dirty="0"/>
              </a:p>
              <a:p>
                <a:pPr marL="0" indent="0">
                  <a:buNone/>
                </a:pPr>
                <a:r>
                  <a:rPr lang="en-US" altLang="zh-TW" dirty="0" smtClean="0"/>
                  <a:t>The  similarity of two run-length encoded strings in the affine gap penalty model can be computed in </a:t>
                </a:r>
                <a14:m>
                  <m:oMath xmlns:m="http://schemas.openxmlformats.org/officeDocument/2006/math">
                    <m:r>
                      <a:rPr lang="en-US" altLang="zh-TW" i="1">
                        <a:latin typeface="Cambria Math" panose="02040503050406030204" pitchFamily="18" charset="0"/>
                      </a:rPr>
                      <m:t>𝑂</m:t>
                    </m:r>
                    <m:d>
                      <m:dPr>
                        <m:ctrlPr>
                          <a:rPr lang="en-US" altLang="zh-TW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𝑛𝑚</m:t>
                        </m:r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′+</m:t>
                        </m:r>
                        <m:sSup>
                          <m:sSupPr>
                            <m:ctrlP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p>
                            <m: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</m:d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altLang="zh-TW" dirty="0" smtClean="0"/>
                  <a:t>time.</a:t>
                </a:r>
                <a:endParaRPr lang="zh-TW" altLang="en-US" dirty="0"/>
              </a:p>
            </p:txBody>
          </p:sp>
        </mc:Choice>
        <mc:Fallback>
          <p:sp>
            <p:nvSpPr>
              <p:cNvPr id="3" name="內容版面配置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2"/>
                <a:stretch>
                  <a:fillRect l="-927" t="-154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44169739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270</TotalTime>
  <Words>472</Words>
  <Application>Microsoft Office PowerPoint</Application>
  <PresentationFormat>如螢幕大小 (4:3)</PresentationFormat>
  <Paragraphs>221</Paragraphs>
  <Slides>37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7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37</vt:i4>
      </vt:variant>
    </vt:vector>
  </HeadingPairs>
  <TitlesOfParts>
    <vt:vector size="45" baseType="lpstr">
      <vt:lpstr>Arial Unicode MS</vt:lpstr>
      <vt:lpstr>新細明體</vt:lpstr>
      <vt:lpstr>Arial</vt:lpstr>
      <vt:lpstr>Calibri</vt:lpstr>
      <vt:lpstr>Calibri Light</vt:lpstr>
      <vt:lpstr>Cambria Math</vt:lpstr>
      <vt:lpstr>Verdana</vt:lpstr>
      <vt:lpstr>Office 佈景主題</vt:lpstr>
      <vt:lpstr>PowerPoint 簡報</vt:lpstr>
      <vt:lpstr>Abstract</vt:lpstr>
      <vt:lpstr>PowerPoint 簡報</vt:lpstr>
      <vt:lpstr>Introduction 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Algorithm – white blocks</vt:lpstr>
      <vt:lpstr>Algorithm- white blocks CH-mp</vt:lpstr>
      <vt:lpstr>PowerPoint 簡報</vt:lpstr>
      <vt:lpstr>Algorithm- white blocks CC-mp</vt:lpstr>
      <vt:lpstr>PowerPoint 簡報</vt:lpstr>
      <vt:lpstr>Algorithm- white blocks RC-mp</vt:lpstr>
      <vt:lpstr>PowerPoint 簡報</vt:lpstr>
      <vt:lpstr>Algorithm- white blocks HC-mp</vt:lpstr>
      <vt:lpstr>PowerPoint 簡報</vt:lpstr>
      <vt:lpstr>PowerPoint 簡報</vt:lpstr>
      <vt:lpstr>PowerPoint 簡報</vt:lpstr>
      <vt:lpstr>Algorithm- white block</vt:lpstr>
      <vt:lpstr>Algorithm- white block</vt:lpstr>
      <vt:lpstr>Algorithm- white block RH-mp</vt:lpstr>
      <vt:lpstr>Algorithm- white block CH-mp</vt:lpstr>
      <vt:lpstr>Algorithm- white block HH-mp</vt:lpstr>
      <vt:lpstr>PowerPoint 簡報</vt:lpstr>
      <vt:lpstr>PowerPoint 簡報</vt:lpstr>
      <vt:lpstr>Algorithm- black block</vt:lpstr>
      <vt:lpstr>Algorithm- black block</vt:lpstr>
      <vt:lpstr>Algorithm- black block</vt:lpstr>
      <vt:lpstr>Algorithm- black blocks RH-mp</vt:lpstr>
      <vt:lpstr>PowerPoint 簡報</vt:lpstr>
      <vt:lpstr>PowerPoint 簡報</vt:lpstr>
      <vt:lpstr>Conclusion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簡報</dc:title>
  <dc:creator>HUGO</dc:creator>
  <cp:lastModifiedBy>HUGO</cp:lastModifiedBy>
  <cp:revision>24</cp:revision>
  <dcterms:created xsi:type="dcterms:W3CDTF">2015-03-22T12:44:47Z</dcterms:created>
  <dcterms:modified xsi:type="dcterms:W3CDTF">2015-03-23T05:49:05Z</dcterms:modified>
</cp:coreProperties>
</file>