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7" r:id="rId10"/>
    <p:sldId id="269" r:id="rId11"/>
    <p:sldId id="270" r:id="rId12"/>
    <p:sldId id="272" r:id="rId13"/>
    <p:sldId id="273" r:id="rId14"/>
    <p:sldId id="275" r:id="rId15"/>
    <p:sldId id="276" r:id="rId16"/>
    <p:sldId id="277" r:id="rId17"/>
    <p:sldId id="278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9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808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72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49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2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60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75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77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86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17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25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35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19AF7-3B86-4537-A500-3C2A259826B3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608013" y="1571629"/>
            <a:ext cx="7772400" cy="1470025"/>
          </a:xfrm>
          <a:prstGeom prst="rect">
            <a:avLst/>
          </a:prstGeom>
        </p:spPr>
        <p:txBody>
          <a:bodyPr anchor="ctr"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b="1" dirty="0" smtClean="0"/>
              <a:t>Algorithms for Computing the Longest Parameterized Common Subsequence</a:t>
            </a:r>
            <a:endParaRPr lang="zh-TW" altLang="en-US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2907957"/>
            <a:ext cx="6400800" cy="8896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altLang="zh-TW" sz="2000" dirty="0"/>
              <a:t>Costas S. Iliopoulos, Marcin Kubica, M. Sohel Rahman, Tomasz Waleń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2988"/>
              </p:ext>
            </p:extLst>
          </p:nvPr>
        </p:nvGraphicFramePr>
        <p:xfrm>
          <a:off x="2843215" y="3581401"/>
          <a:ext cx="3816351" cy="1358091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Combinatorial Pattern Matching</a:t>
                      </a:r>
                      <a:endParaRPr lang="en-US" sz="19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Volume 4580 of the series Lecture Notes in Computer Science   2007</a:t>
                      </a:r>
                    </a:p>
                    <a:p>
                      <a:r>
                        <a:rPr lang="en-US" altLang="zh-TW" sz="15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pp 265-273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132142" y="522922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Huang-Ting Chan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2015/11/24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1715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 this paper, we revisit the classic and well-studied longest common subsequence (LCS) problem and study some new variants, first introduced and studied by Rahman and Iliopoulos [Algorithms for Computing Variants of the Longest Common Subsequence Problem, ISAAC 2006]. Here we define a generalization of these variants, the longest parameterized common subsequence (LPCS) problem, and show how to solve it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time</a:t>
                </a:r>
                <a:r>
                  <a:rPr lang="en-US" altLang="zh-TW" dirty="0"/>
                  <a:t>. Furthermore, we show how to compute two variants of LCS, RELAG and RIFIG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altLang="zh-TW" dirty="0" smtClean="0"/>
                  <a:t> time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3081" r="-232" b="-4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55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27710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𝑃𝐶𝑆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X = 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Y =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2771089"/>
              </a:xfrm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581886"/>
              </p:ext>
            </p:extLst>
          </p:nvPr>
        </p:nvGraphicFramePr>
        <p:xfrm>
          <a:off x="1524000" y="2797432"/>
          <a:ext cx="609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701908"/>
              </p:ext>
            </p:extLst>
          </p:nvPr>
        </p:nvGraphicFramePr>
        <p:xfrm>
          <a:off x="1524000" y="3831281"/>
          <a:ext cx="609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57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282875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𝑃𝐶𝑆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X = 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Y =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2828753"/>
              </a:xfrm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426649"/>
              </p:ext>
            </p:extLst>
          </p:nvPr>
        </p:nvGraphicFramePr>
        <p:xfrm>
          <a:off x="1524000" y="2377302"/>
          <a:ext cx="6096000" cy="931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13471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47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42710"/>
              </p:ext>
            </p:extLst>
          </p:nvPr>
        </p:nvGraphicFramePr>
        <p:xfrm>
          <a:off x="1524000" y="3831281"/>
          <a:ext cx="609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334528" y="5167931"/>
                <a:ext cx="24214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3−1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528" y="5167931"/>
                <a:ext cx="2421497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737182" y="5171295"/>
                <a:ext cx="24214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≤6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182" y="5171295"/>
                <a:ext cx="2421497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334528" y="5798165"/>
                <a:ext cx="24214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≤6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528" y="5798165"/>
                <a:ext cx="2421497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737183" y="5798165"/>
                <a:ext cx="24214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≤7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183" y="5798165"/>
                <a:ext cx="2421497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54679" y="4605271"/>
                <a:ext cx="22542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79" y="4605271"/>
                <a:ext cx="2254207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乘號 10"/>
          <p:cNvSpPr/>
          <p:nvPr/>
        </p:nvSpPr>
        <p:spPr>
          <a:xfrm>
            <a:off x="5408352" y="5699483"/>
            <a:ext cx="881448" cy="65902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14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282875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𝑃𝐶𝑆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X = 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Y =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2828753"/>
              </a:xfrm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714109"/>
              </p:ext>
            </p:extLst>
          </p:nvPr>
        </p:nvGraphicFramePr>
        <p:xfrm>
          <a:off x="1524000" y="2377302"/>
          <a:ext cx="6096000" cy="931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13471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47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524000" y="3831281"/>
          <a:ext cx="609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930873" y="5171295"/>
                <a:ext cx="33611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3−1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6−3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73" y="5171295"/>
                <a:ext cx="3361177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54679" y="4605271"/>
                <a:ext cx="10459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79" y="4605271"/>
                <a:ext cx="1045927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572000" y="5164180"/>
                <a:ext cx="33611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5−3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7−6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164180"/>
                <a:ext cx="3361177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81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288324"/>
                <a:ext cx="9061622" cy="65696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𝑃𝐶𝑆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,1,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𝐹𝐼𝐺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	LCS problem with fixed gap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𝑃𝐶𝑆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𝐸𝐿𝐴𝐺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        	LCS problem with elastic gap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𝐿𝑃𝐶𝑆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𝑅𝐼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𝐹𝐼𝐺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	LCS problem with rigid fixed gap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𝐿𝑃𝐶𝑆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𝐸𝐿𝐴𝐺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		        	LCS problem with </a:t>
                </a:r>
                <a:r>
                  <a:rPr lang="en-US" altLang="zh-TW" dirty="0" smtClean="0"/>
                  <a:t>rigid elastic </a:t>
                </a:r>
                <a:r>
                  <a:rPr lang="en-US" altLang="zh-TW" dirty="0"/>
                  <a:t>gap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88324"/>
                <a:ext cx="9061622" cy="6569675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277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Algorithm for LPCS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-1655804" y="2003727"/>
                <a:ext cx="10799804" cy="495411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⁡({0}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∪{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:(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)∈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:r>
                  <a:rPr lang="en-US" altLang="zh-TW" sz="24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:0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,|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655804" y="2003727"/>
                <a:ext cx="10799804" cy="4954116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7244371" y="1892371"/>
                <a:ext cx="18716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]≠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371" y="1892371"/>
                <a:ext cx="1871603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4886" t="-10526" r="-228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7244371" y="2341824"/>
                <a:ext cx="18722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371" y="2341824"/>
                <a:ext cx="1872244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870" t="-10526" r="-1948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94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9291"/>
              </p:ext>
            </p:extLst>
          </p:nvPr>
        </p:nvGraphicFramePr>
        <p:xfrm>
          <a:off x="1219200" y="988540"/>
          <a:ext cx="7199868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</a:tblGrid>
              <a:tr h="350933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59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640482"/>
              </p:ext>
            </p:extLst>
          </p:nvPr>
        </p:nvGraphicFramePr>
        <p:xfrm>
          <a:off x="1219200" y="988540"/>
          <a:ext cx="7199868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</a:tblGrid>
              <a:tr h="350933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左大括弧 2"/>
          <p:cNvSpPr/>
          <p:nvPr/>
        </p:nvSpPr>
        <p:spPr>
          <a:xfrm>
            <a:off x="2883243" y="1952366"/>
            <a:ext cx="74140" cy="1276865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左大括弧 9"/>
          <p:cNvSpPr/>
          <p:nvPr/>
        </p:nvSpPr>
        <p:spPr>
          <a:xfrm>
            <a:off x="2792627" y="2916192"/>
            <a:ext cx="90616" cy="1696997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2370315" y="362464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079157" y="6290956"/>
                <a:ext cx="71143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fun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157" y="6290956"/>
                <a:ext cx="7114319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2411504" y="235996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B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0025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6757" y="166155"/>
                <a:ext cx="7886700" cy="669184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=0,…,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b="0" dirty="0" smtClean="0"/>
              </a:p>
              <a:p>
                <a:pPr marL="0" indent="0">
                  <a:buNone/>
                </a:pPr>
                <a:endParaRPr lang="en-US" altLang="zh-TW" sz="32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=0,…,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)∈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=0,…,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>                        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)∈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6757" y="166155"/>
                <a:ext cx="7886700" cy="6691845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6819648" y="4582168"/>
                <a:ext cx="2150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]≠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48" y="4582168"/>
                <a:ext cx="2150589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5966" t="-11765" b="-341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819007" y="5043833"/>
                <a:ext cx="21519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07" y="5043833"/>
                <a:ext cx="2151999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5949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36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023295"/>
              </p:ext>
            </p:extLst>
          </p:nvPr>
        </p:nvGraphicFramePr>
        <p:xfrm>
          <a:off x="1219200" y="988540"/>
          <a:ext cx="7199868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</a:tblGrid>
              <a:tr h="350933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07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716661"/>
              </p:ext>
            </p:extLst>
          </p:nvPr>
        </p:nvGraphicFramePr>
        <p:xfrm>
          <a:off x="1219200" y="988540"/>
          <a:ext cx="7199868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</a:tblGrid>
              <a:tr h="350933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91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317486"/>
              </p:ext>
            </p:extLst>
          </p:nvPr>
        </p:nvGraphicFramePr>
        <p:xfrm>
          <a:off x="1219200" y="988540"/>
          <a:ext cx="7199868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  <a:gridCol w="599989"/>
              </a:tblGrid>
              <a:tr h="350933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3" y="305119"/>
                <a:ext cx="3181192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8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Max-Queue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949769"/>
            <a:ext cx="7886700" cy="48634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1</a:t>
            </a:r>
          </a:p>
          <a:p>
            <a:pPr marL="0" indent="0">
              <a:buNone/>
            </a:pPr>
            <a:r>
              <a:rPr lang="en-US" altLang="zh-TW" dirty="0" smtClean="0"/>
              <a:t>5</a:t>
            </a:r>
          </a:p>
          <a:p>
            <a:pPr marL="0" indent="0">
              <a:buNone/>
            </a:pPr>
            <a:r>
              <a:rPr lang="en-US" altLang="zh-TW" dirty="0" smtClean="0"/>
              <a:t>5 4</a:t>
            </a:r>
          </a:p>
          <a:p>
            <a:pPr marL="0" indent="0">
              <a:buNone/>
            </a:pPr>
            <a:r>
              <a:rPr lang="en-US" altLang="zh-TW" dirty="0" smtClean="0"/>
              <a:t>5 4 2</a:t>
            </a:r>
          </a:p>
          <a:p>
            <a:pPr marL="0" indent="0">
              <a:buNone/>
            </a:pPr>
            <a:r>
              <a:rPr lang="en-US" altLang="zh-TW" dirty="0" smtClean="0"/>
              <a:t>5 4 3</a:t>
            </a:r>
          </a:p>
          <a:p>
            <a:pPr marL="0" indent="0">
              <a:buNone/>
            </a:pPr>
            <a:r>
              <a:rPr lang="en-US" altLang="zh-TW" dirty="0" smtClean="0"/>
              <a:t>5 4</a:t>
            </a:r>
          </a:p>
          <a:p>
            <a:pPr marL="0" indent="0">
              <a:buNone/>
            </a:pPr>
            <a:r>
              <a:rPr lang="en-US" altLang="zh-TW" dirty="0" smtClean="0"/>
              <a:t>7</a:t>
            </a:r>
          </a:p>
          <a:p>
            <a:pPr marL="0" indent="0">
              <a:buNone/>
            </a:pPr>
            <a:r>
              <a:rPr lang="en-US" altLang="zh-TW" dirty="0" smtClean="0"/>
              <a:t>75</a:t>
            </a:r>
          </a:p>
          <a:p>
            <a:pPr marL="0" indent="0">
              <a:buNone/>
            </a:pPr>
            <a:r>
              <a:rPr lang="en-US" altLang="zh-TW" dirty="0" smtClean="0"/>
              <a:t>8</a:t>
            </a:r>
          </a:p>
          <a:p>
            <a:pPr marL="0" indent="0">
              <a:buNone/>
            </a:pPr>
            <a:r>
              <a:rPr lang="en-US" altLang="zh-TW" dirty="0"/>
              <a:t>9</a:t>
            </a:r>
            <a:endParaRPr lang="en-US" altLang="zh-TW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044480"/>
              </p:ext>
            </p:extLst>
          </p:nvPr>
        </p:nvGraphicFramePr>
        <p:xfrm>
          <a:off x="628650" y="1690689"/>
          <a:ext cx="609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2702012" y="4119908"/>
            <a:ext cx="5942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A</a:t>
            </a:r>
            <a:r>
              <a:rPr lang="en-US" altLang="zh-TW" sz="2800" dirty="0" smtClean="0"/>
              <a:t>mortized running time of insert is O(1)</a:t>
            </a:r>
            <a:endParaRPr lang="zh-TW" altLang="en-US" sz="28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8957"/>
            <a:ext cx="9144000" cy="242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5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0776"/>
            <a:ext cx="9144000" cy="465618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115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11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15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TW" sz="1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1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1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50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Algorithm for FIG and ELAG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 t="-13364" r="-1468" b="-211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2031570"/>
                <a:ext cx="9003957" cy="249100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C</a:t>
                </a:r>
                <a:r>
                  <a:rPr lang="en-US" altLang="zh-TW" dirty="0" smtClean="0"/>
                  <a:t>ompute only matches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set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,1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⁡({0}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∪{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type m:val="noBar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031570"/>
                <a:ext cx="9003957" cy="2491002"/>
              </a:xfrm>
              <a:blipFill rotWithShape="0">
                <a:blip r:embed="rId3"/>
                <a:stretch>
                  <a:fillRect l="-1354" t="-3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2316"/>
            <a:ext cx="9144000" cy="359881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36940"/>
            <a:ext cx="9144000" cy="40770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007387" y="3506909"/>
                <a:ext cx="512922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en-US" altLang="zh-TW" sz="6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6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6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60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387" y="3506909"/>
                <a:ext cx="5129225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27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1535"/>
            <a:ext cx="9144000" cy="4646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Algorithm for RIFIG and RELAG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3091" t="-13364" r="-618" b="-211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-727656" y="2421243"/>
                <a:ext cx="9243006" cy="110213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⁡{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27656" y="2421243"/>
                <a:ext cx="9243006" cy="1102133"/>
              </a:xfr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7100981" y="2328964"/>
                <a:ext cx="18716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]≠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981" y="2328964"/>
                <a:ext cx="1871603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5212" t="-10526" r="-1954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7100340" y="2790629"/>
                <a:ext cx="18722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340" y="2790629"/>
                <a:ext cx="1872244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5212" t="-10526" r="-1954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793534" y="3933084"/>
                <a:ext cx="309668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5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5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5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5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5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534" y="3933084"/>
                <a:ext cx="3096682" cy="9233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944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8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</TotalTime>
  <Words>458</Words>
  <Application>Microsoft Office PowerPoint</Application>
  <PresentationFormat>如螢幕大小 (4:3)</PresentationFormat>
  <Paragraphs>305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Arial Unicode MS</vt:lpstr>
      <vt:lpstr>新細明體</vt:lpstr>
      <vt:lpstr>Arial</vt:lpstr>
      <vt:lpstr>Calibri</vt:lpstr>
      <vt:lpstr>Calibri Light</vt:lpstr>
      <vt:lpstr>Cambria Math</vt:lpstr>
      <vt:lpstr>Verdana</vt:lpstr>
      <vt:lpstr>Office 佈景主題</vt:lpstr>
      <vt:lpstr>PowerPoint 簡報</vt:lpstr>
      <vt:lpstr>Abstract</vt:lpstr>
      <vt:lpstr>The problem</vt:lpstr>
      <vt:lpstr>The problem</vt:lpstr>
      <vt:lpstr>The problem</vt:lpstr>
      <vt:lpstr>PowerPoint 簡報</vt:lpstr>
      <vt:lpstr>An O(n^2) Algorithm for LPCS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Max-Queue</vt:lpstr>
      <vt:lpstr>Time complexity</vt:lpstr>
      <vt:lpstr>O(n+R log⁡n ) Algorithm for FIG and ELAG</vt:lpstr>
      <vt:lpstr>An O(n+R) Algorithm for RIFIG and RELAG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pplab-class</cp:lastModifiedBy>
  <cp:revision>37</cp:revision>
  <dcterms:created xsi:type="dcterms:W3CDTF">2015-07-07T05:45:41Z</dcterms:created>
  <dcterms:modified xsi:type="dcterms:W3CDTF">2015-11-24T12:36:32Z</dcterms:modified>
</cp:coreProperties>
</file>