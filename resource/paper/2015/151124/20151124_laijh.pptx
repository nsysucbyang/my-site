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8" r:id="rId9"/>
    <p:sldId id="265" r:id="rId10"/>
    <p:sldId id="266" r:id="rId11"/>
    <p:sldId id="267" r:id="rId12"/>
    <p:sldId id="269" r:id="rId13"/>
    <p:sldId id="270" r:id="rId14"/>
    <p:sldId id="274" r:id="rId15"/>
    <p:sldId id="275" r:id="rId16"/>
    <p:sldId id="279" r:id="rId17"/>
    <p:sldId id="271" r:id="rId18"/>
    <p:sldId id="277" r:id="rId19"/>
    <p:sldId id="278" r:id="rId20"/>
    <p:sldId id="273" r:id="rId21"/>
    <p:sldId id="276" r:id="rId22"/>
    <p:sldId id="280" r:id="rId23"/>
    <p:sldId id="285" r:id="rId24"/>
    <p:sldId id="286" r:id="rId25"/>
    <p:sldId id="287" r:id="rId26"/>
    <p:sldId id="288" r:id="rId27"/>
    <p:sldId id="289" r:id="rId28"/>
    <p:sldId id="290" r:id="rId29"/>
    <p:sldId id="294" r:id="rId30"/>
    <p:sldId id="291" r:id="rId31"/>
    <p:sldId id="292" r:id="rId32"/>
    <p:sldId id="293" r:id="rId33"/>
    <p:sldId id="298" r:id="rId34"/>
    <p:sldId id="295" r:id="rId35"/>
    <p:sldId id="296" r:id="rId36"/>
    <p:sldId id="300" r:id="rId37"/>
    <p:sldId id="299" r:id="rId3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89B67-1AD0-461D-ADEC-D630068BBCB2}" type="datetimeFigureOut">
              <a:rPr lang="zh-TW" altLang="en-US" smtClean="0"/>
              <a:t>2015/11/24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366C6-6B60-4755-BF4D-ABE54CE4F3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8164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rPr kern="0">
                <a:solidFill>
                  <a:srgbClr val="000000"/>
                </a:solidFill>
              </a:rPr>
              <a:pPr algn="r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400">
              <a:solidFill>
                <a:srgbClr val="000000"/>
              </a:solidFill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7251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ctrTitle"/>
          </p:nvPr>
        </p:nvSpPr>
        <p:spPr>
          <a:xfrm>
            <a:off x="1524477" y="1121876"/>
            <a:ext cx="9143038" cy="2387768"/>
          </a:xfrm>
        </p:spPr>
        <p:txBody>
          <a:bodyPr anchor="b"/>
          <a:lstStyle>
            <a:lvl1pPr>
              <a:defRPr lang="zh-TW" sz="5443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副標題 2"/>
          <p:cNvSpPr txBox="1">
            <a:spLocks noGrp="1"/>
          </p:cNvSpPr>
          <p:nvPr>
            <p:ph type="subTitle" idx="1"/>
          </p:nvPr>
        </p:nvSpPr>
        <p:spPr>
          <a:xfrm>
            <a:off x="1524477" y="3601814"/>
            <a:ext cx="9143038" cy="1656176"/>
          </a:xfrm>
        </p:spPr>
        <p:txBody>
          <a:bodyPr anchorCtr="1"/>
          <a:lstStyle>
            <a:lvl1pPr algn="ctr">
              <a:defRPr sz="2177"/>
            </a:lvl1pPr>
          </a:lstStyle>
          <a:p>
            <a:pPr lvl="0"/>
            <a:r>
              <a:rPr lang="zh-TW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E6BFC27-068B-4B72-92F7-9C821F0A3E7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19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68842836-F473-4F88-8FC5-E6506225DA8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1492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831364" y="1709456"/>
            <a:ext cx="10515838" cy="2852943"/>
          </a:xfrm>
        </p:spPr>
        <p:txBody>
          <a:bodyPr anchor="b"/>
          <a:lstStyle>
            <a:lvl1pPr>
              <a:defRPr lang="zh-TW" sz="5443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831364" y="4589766"/>
            <a:ext cx="10515838" cy="1499195"/>
          </a:xfrm>
        </p:spPr>
        <p:txBody>
          <a:bodyPr/>
          <a:lstStyle>
            <a:lvl1pPr>
              <a:defRPr sz="2177">
                <a:solidFill>
                  <a:srgbClr val="898989"/>
                </a:solidFill>
              </a:defRPr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F06D477E-DD58-4DE2-94A6-FBA23A9245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697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608644" y="1604330"/>
            <a:ext cx="5393284" cy="397769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6186240" y="1604330"/>
            <a:ext cx="5395196" cy="397769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72D141D-6966-43C1-8EB1-BB4818DFA3B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722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839038" y="365796"/>
            <a:ext cx="10515838" cy="1324936"/>
          </a:xfrm>
        </p:spPr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839039" y="1680654"/>
            <a:ext cx="5159038" cy="823770"/>
          </a:xfrm>
        </p:spPr>
        <p:txBody>
          <a:bodyPr anchor="b"/>
          <a:lstStyle>
            <a:lvl1pPr>
              <a:defRPr sz="2177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839039" y="2504425"/>
            <a:ext cx="5159038" cy="36853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文字版面配置區 4"/>
          <p:cNvSpPr txBox="1">
            <a:spLocks noGrp="1"/>
          </p:cNvSpPr>
          <p:nvPr>
            <p:ph type="body" idx="3"/>
          </p:nvPr>
        </p:nvSpPr>
        <p:spPr>
          <a:xfrm>
            <a:off x="6172803" y="1680654"/>
            <a:ext cx="5182075" cy="823770"/>
          </a:xfrm>
        </p:spPr>
        <p:txBody>
          <a:bodyPr anchor="b"/>
          <a:lstStyle>
            <a:lvl1pPr>
              <a:defRPr sz="2177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6" name="內容版面配置區 5"/>
          <p:cNvSpPr txBox="1">
            <a:spLocks noGrp="1"/>
          </p:cNvSpPr>
          <p:nvPr>
            <p:ph idx="4"/>
          </p:nvPr>
        </p:nvSpPr>
        <p:spPr>
          <a:xfrm>
            <a:off x="6172803" y="2504425"/>
            <a:ext cx="5182075" cy="36853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7" name="日期版面配置區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頁尾版面配置區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9" name="投影片編號版面配置區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4D382990-A4FF-4906-9C3D-CE47CFC3DCA5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612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C73CCA10-4506-4689-B9C6-7A25C650BAF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010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頁尾版面配置區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投影片編號版面配置區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DA413963-2284-408C-A1F3-BA9C90A14B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273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839038" y="456530"/>
            <a:ext cx="3932165" cy="1601452"/>
          </a:xfrm>
        </p:spPr>
        <p:txBody>
          <a:bodyPr anchor="b"/>
          <a:lstStyle>
            <a:lvl1pPr>
              <a:defRPr lang="zh-TW" sz="2903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183999" y="987941"/>
            <a:ext cx="6170878" cy="4873472"/>
          </a:xfrm>
        </p:spPr>
        <p:txBody>
          <a:bodyPr/>
          <a:lstStyle>
            <a:lvl1pPr>
              <a:defRPr/>
            </a:lvl1pPr>
            <a:lvl2pPr>
              <a:defRPr sz="2540"/>
            </a:lvl2pPr>
            <a:lvl3pPr>
              <a:defRPr sz="2177"/>
            </a:lvl3pPr>
            <a:lvl4pPr>
              <a:defRPr sz="1814"/>
            </a:lvl4pPr>
            <a:lvl5pPr>
              <a:defRPr sz="1814"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839038" y="2057973"/>
            <a:ext cx="3932165" cy="3810640"/>
          </a:xfrm>
        </p:spPr>
        <p:txBody>
          <a:bodyPr/>
          <a:lstStyle>
            <a:lvl1pPr>
              <a:defRPr sz="1452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8059FB30-6DA3-498A-B3E4-39789FBB385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70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839038" y="456530"/>
            <a:ext cx="3932165" cy="1601452"/>
          </a:xfrm>
        </p:spPr>
        <p:txBody>
          <a:bodyPr anchor="b"/>
          <a:lstStyle>
            <a:lvl1pPr>
              <a:defRPr lang="zh-TW" sz="2903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 txBox="1">
            <a:spLocks noGrp="1"/>
          </p:cNvSpPr>
          <p:nvPr>
            <p:ph type="pic" idx="1"/>
          </p:nvPr>
        </p:nvSpPr>
        <p:spPr>
          <a:xfrm>
            <a:off x="5183999" y="987941"/>
            <a:ext cx="6170878" cy="4873472"/>
          </a:xfrm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839038" y="2057973"/>
            <a:ext cx="3932165" cy="3810640"/>
          </a:xfrm>
        </p:spPr>
        <p:txBody>
          <a:bodyPr/>
          <a:lstStyle>
            <a:lvl1pPr>
              <a:defRPr sz="1452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62DDE591-0FAF-4F51-A0C1-3BEDC4250AE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537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30523178-8C3C-4D5B-987E-9C6DE9B0522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968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 txBox="1">
            <a:spLocks noGrp="1"/>
          </p:cNvSpPr>
          <p:nvPr>
            <p:ph type="title" orient="vert"/>
          </p:nvPr>
        </p:nvSpPr>
        <p:spPr>
          <a:xfrm>
            <a:off x="8839685" y="273627"/>
            <a:ext cx="2741764" cy="5308401"/>
          </a:xfrm>
        </p:spPr>
        <p:txBody>
          <a:bodyPr vert="eaVert"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>
          <a:xfrm>
            <a:off x="608643" y="273627"/>
            <a:ext cx="8046717" cy="5308401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0683D96B-BEA4-46BB-A345-50D7E40AC1B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725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 txBox="1">
            <a:spLocks noGrp="1"/>
          </p:cNvSpPr>
          <p:nvPr>
            <p:ph type="title"/>
          </p:nvPr>
        </p:nvSpPr>
        <p:spPr>
          <a:xfrm>
            <a:off x="609560" y="273354"/>
            <a:ext cx="10971688" cy="1145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09560" y="1604844"/>
            <a:ext cx="10971688" cy="39774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2"/>
          </p:nvPr>
        </p:nvSpPr>
        <p:spPr>
          <a:xfrm>
            <a:off x="609561" y="6247907"/>
            <a:ext cx="2840123" cy="4728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829544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7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endParaRPr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3"/>
          </p:nvPr>
        </p:nvSpPr>
        <p:spPr>
          <a:xfrm>
            <a:off x="4169407" y="6247907"/>
            <a:ext cx="3864183" cy="4728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829544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7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endParaRPr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4"/>
          </p:nvPr>
        </p:nvSpPr>
        <p:spPr>
          <a:xfrm>
            <a:off x="8741125" y="6247907"/>
            <a:ext cx="2840123" cy="4728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829544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7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fld id="{FA3188D1-A64F-4C0D-9118-94DC8B17CC6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728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marL="0" marR="0" lvl="0" indent="0" algn="ctr" defTabSz="829544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992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</p:titleStyle>
    <p:bodyStyle>
      <a:lvl1pPr marL="0" marR="0" lvl="0" indent="0" defTabSz="829544" rtl="0" fontAlgn="auto" hangingPunct="0">
        <a:lnSpc>
          <a:spcPct val="100000"/>
        </a:lnSpc>
        <a:spcBef>
          <a:spcPts val="1284"/>
        </a:spcBef>
        <a:spcAft>
          <a:spcPts val="0"/>
        </a:spcAft>
        <a:buNone/>
        <a:tabLst/>
        <a:defRPr lang="zh-TW" sz="2903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  <a:lvl2pPr marL="622158" marR="0" lvl="1" indent="-207386" algn="l" defTabSz="829544" rtl="0" fontAlgn="auto" hangingPunct="1">
        <a:lnSpc>
          <a:spcPct val="90000"/>
        </a:lnSpc>
        <a:spcBef>
          <a:spcPts val="454"/>
        </a:spcBef>
        <a:spcAft>
          <a:spcPts val="0"/>
        </a:spcAft>
        <a:buSzPct val="100000"/>
        <a:buFont typeface="Arial" pitchFamily="34"/>
        <a:buChar char="•"/>
        <a:tabLst/>
        <a:defRPr lang="zh-TW" sz="2177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2pPr>
      <a:lvl3pPr marL="1036930" marR="0" lvl="2" indent="-207386" algn="l" defTabSz="829544" rtl="0" fontAlgn="auto" hangingPunct="1">
        <a:lnSpc>
          <a:spcPct val="90000"/>
        </a:lnSpc>
        <a:spcBef>
          <a:spcPts val="454"/>
        </a:spcBef>
        <a:spcAft>
          <a:spcPts val="0"/>
        </a:spcAft>
        <a:buSzPct val="100000"/>
        <a:buFont typeface="Arial" pitchFamily="34"/>
        <a:buChar char="•"/>
        <a:tabLst/>
        <a:defRPr lang="zh-TW" sz="1814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3pPr>
      <a:lvl4pPr marL="1451701" marR="0" lvl="3" indent="-207386" algn="l" defTabSz="829544" rtl="0" fontAlgn="auto" hangingPunct="1">
        <a:lnSpc>
          <a:spcPct val="90000"/>
        </a:lnSpc>
        <a:spcBef>
          <a:spcPts val="454"/>
        </a:spcBef>
        <a:spcAft>
          <a:spcPts val="0"/>
        </a:spcAft>
        <a:buSzPct val="100000"/>
        <a:buFont typeface="Arial" pitchFamily="34"/>
        <a:buChar char="•"/>
        <a:tabLst/>
        <a:defRPr lang="zh-TW" sz="1633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4pPr>
      <a:lvl5pPr marL="1866473" marR="0" lvl="4" indent="-207386" algn="l" defTabSz="829544" rtl="0" fontAlgn="auto" hangingPunct="1">
        <a:lnSpc>
          <a:spcPct val="90000"/>
        </a:lnSpc>
        <a:spcBef>
          <a:spcPts val="454"/>
        </a:spcBef>
        <a:spcAft>
          <a:spcPts val="0"/>
        </a:spcAft>
        <a:buSzPct val="100000"/>
        <a:buFont typeface="Arial" pitchFamily="34"/>
        <a:buChar char="•"/>
        <a:tabLst/>
        <a:defRPr lang="zh-TW" sz="1633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5pPr>
      <a:lvl6pPr marL="2281245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696017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3110789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525561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772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544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316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9087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859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631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3403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8175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Suffix_tree" TargetMode="External"/><Relationship Id="rId3" Type="http://schemas.openxmlformats.org/officeDocument/2006/relationships/hyperlink" Target="https://en.wikipedia.org/wiki/People_of_the_United_States" TargetMode="External"/><Relationship Id="rId7" Type="http://schemas.openxmlformats.org/officeDocument/2006/relationships/hyperlink" Target="https://en.wikipedia.org/wiki/Boein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Rudolf_Bayer" TargetMode="External"/><Relationship Id="rId5" Type="http://schemas.openxmlformats.org/officeDocument/2006/relationships/hyperlink" Target="https://en.wikipedia.org/wiki/B-tree" TargetMode="External"/><Relationship Id="rId4" Type="http://schemas.openxmlformats.org/officeDocument/2006/relationships/hyperlink" Target="https://en.wikipedia.org/wiki/Computer_scientist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2046380" y="2890085"/>
            <a:ext cx="8229630" cy="2339102"/>
          </a:xfrm>
        </p:spPr>
        <p:txBody>
          <a:bodyPr>
            <a:spAutoFit/>
          </a:bodyPr>
          <a:lstStyle/>
          <a:p>
            <a:pPr lvl="0"/>
            <a:r>
              <a:rPr lang="en-US" altLang="zh-TW" sz="3200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Edward M. </a:t>
            </a:r>
            <a:r>
              <a:rPr lang="en-US" altLang="zh-TW" sz="3200" b="1" dirty="0" err="1" smtClean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McCreight</a:t>
            </a:r>
            <a:r>
              <a:rPr lang="en-US" altLang="zh-TW" sz="2400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/>
            </a:r>
            <a:br>
              <a:rPr lang="en-US" altLang="zh-TW" sz="2400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</a:br>
            <a:r>
              <a:rPr lang="en-US" altLang="zh-TW" sz="2400" b="1" dirty="0" smtClean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/>
            </a:r>
            <a:br>
              <a:rPr lang="en-US" altLang="zh-TW" sz="2400" b="1" dirty="0" smtClean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</a:br>
            <a:r>
              <a:rPr lang="en-US" altLang="zh-TW" sz="2400" b="1" dirty="0" smtClean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 </a:t>
            </a:r>
            <a:r>
              <a:rPr lang="en-US" altLang="zh-TW" sz="2400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Journal </a:t>
            </a:r>
            <a:r>
              <a:rPr lang="en-US" altLang="zh-TW" sz="2400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of </a:t>
            </a:r>
            <a:r>
              <a:rPr lang="en-US" altLang="zh-TW" sz="2400" b="1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the </a:t>
            </a:r>
            <a:r>
              <a:rPr lang="en-US" altLang="zh-TW" sz="2400" b="1" smtClean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Association </a:t>
            </a:r>
            <a:r>
              <a:rPr lang="en-US" altLang="zh-TW" sz="2400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for Computing Machinery, Vol. 23, No. 2, </a:t>
            </a:r>
            <a:r>
              <a:rPr lang="en-US" altLang="zh-TW" sz="2400" b="1" dirty="0" smtClean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April </a:t>
            </a:r>
            <a:r>
              <a:rPr lang="en-US" altLang="zh-TW" sz="2400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1976, pp. 262-272.</a:t>
            </a:r>
            <a:r>
              <a:rPr lang="en-US" sz="2400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/>
            </a:r>
            <a:br>
              <a:rPr lang="en-US" sz="2400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</a:br>
            <a:r>
              <a:rPr lang="en-US" altLang="zh-TW" sz="2400" b="1" dirty="0" smtClean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(</a:t>
            </a:r>
            <a:r>
              <a:rPr lang="en-US" altLang="zh-TW" sz="2400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1976)</a:t>
            </a:r>
            <a:br>
              <a:rPr lang="en-US" altLang="zh-TW" sz="2400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</a:br>
            <a:endParaRPr lang="en-US" sz="2400" b="1" dirty="0">
              <a:solidFill>
                <a:srgbClr val="898989"/>
              </a:solidFill>
              <a:latin typeface="Liberation Sans Narrow" pitchFamily="34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2046380" y="849121"/>
            <a:ext cx="8229630" cy="1897136"/>
          </a:xfrm>
        </p:spPr>
        <p:txBody>
          <a:bodyPr anchorCtr="1"/>
          <a:lstStyle/>
          <a:p>
            <a:pPr lvl="0" algn="ctr"/>
            <a:r>
              <a:rPr lang="en-US" altLang="zh-TW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A Space-Economical Suffix Tree Construction Algorithm</a:t>
            </a:r>
            <a:endParaRPr lang="en-US" sz="4800" b="1" dirty="0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2162522" y="4515041"/>
            <a:ext cx="8229630" cy="1897136"/>
          </a:xfrm>
        </p:spPr>
        <p:txBody>
          <a:bodyPr/>
          <a:lstStyle/>
          <a:p>
            <a:pPr lvl="1" algn="r" hangingPunct="0">
              <a:spcBef>
                <a:spcPts val="1284"/>
              </a:spcBef>
              <a:buNone/>
            </a:pPr>
            <a:endParaRPr lang="en-US" sz="2903" dirty="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284"/>
              </a:spcBef>
              <a:buNone/>
            </a:pPr>
            <a:endParaRPr lang="en-US" sz="2903" dirty="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284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Jyun-Hao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Lai</a:t>
            </a:r>
          </a:p>
          <a:p>
            <a:pPr lvl="1" algn="r" hangingPunct="0">
              <a:spcBef>
                <a:spcPts val="1284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104 / 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11 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/ 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24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27424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228166"/>
            <a:ext cx="10971688" cy="553510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A 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new algorithm is presented for constructing auxiliary digital </a:t>
            </a:r>
            <a:endParaRPr lang="en-US" altLang="zh-TW" sz="28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/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search 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trees to aid </a:t>
            </a: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in exact-match substring 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searching. </a:t>
            </a:r>
            <a:endParaRPr lang="en-US" altLang="zh-TW" sz="28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/>
            <a:endParaRPr lang="en-US" altLang="zh-TW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This algorithm 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has the same asymptotic running time bound </a:t>
            </a: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as </a:t>
            </a:r>
          </a:p>
          <a:p>
            <a:pPr algn="just"/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previously 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published algorithms, but is more economical in space. </a:t>
            </a:r>
            <a:endParaRPr lang="en-US" altLang="zh-TW" sz="28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/>
            <a:endParaRPr lang="en-US" altLang="zh-TW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Some 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implementation </a:t>
            </a: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considerations are 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discussed, and </a:t>
            </a: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new</a:t>
            </a:r>
          </a:p>
          <a:p>
            <a:pPr algn="just"/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work 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on the modification of these search </a:t>
            </a: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trees in response to </a:t>
            </a:r>
          </a:p>
          <a:p>
            <a:pPr algn="just"/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incremental changes in the strings they index is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presented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zh-TW" altLang="en-US" sz="28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53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Suffix Tree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sz="4000" dirty="0" smtClean="0"/>
              <a:t>S = </a:t>
            </a:r>
            <a:r>
              <a:rPr lang="en-US" altLang="zh-TW" sz="4000" dirty="0" err="1" smtClean="0"/>
              <a:t>bcabc</a:t>
            </a:r>
            <a:r>
              <a:rPr lang="en-US" altLang="zh-TW" sz="4000" dirty="0" smtClean="0"/>
              <a:t>$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6" name="Group 111"/>
          <p:cNvGrpSpPr>
            <a:grpSpLocks/>
          </p:cNvGrpSpPr>
          <p:nvPr/>
        </p:nvGrpSpPr>
        <p:grpSpPr bwMode="auto">
          <a:xfrm>
            <a:off x="609560" y="1993557"/>
            <a:ext cx="4769748" cy="4172595"/>
            <a:chOff x="3467" y="2442"/>
            <a:chExt cx="1553" cy="1191"/>
          </a:xfrm>
        </p:grpSpPr>
        <p:sp>
          <p:nvSpPr>
            <p:cNvPr id="7" name="Oval 77"/>
            <p:cNvSpPr>
              <a:spLocks noChangeArrowheads="1"/>
            </p:cNvSpPr>
            <p:nvPr/>
          </p:nvSpPr>
          <p:spPr bwMode="auto">
            <a:xfrm>
              <a:off x="4452" y="2766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" name="Line 78"/>
            <p:cNvSpPr>
              <a:spLocks noChangeShapeType="1"/>
            </p:cNvSpPr>
            <p:nvPr/>
          </p:nvSpPr>
          <p:spPr bwMode="auto">
            <a:xfrm>
              <a:off x="4511" y="2800"/>
              <a:ext cx="453" cy="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Oval 79"/>
            <p:cNvSpPr>
              <a:spLocks noChangeArrowheads="1"/>
            </p:cNvSpPr>
            <p:nvPr/>
          </p:nvSpPr>
          <p:spPr bwMode="auto">
            <a:xfrm>
              <a:off x="4964" y="2814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" name="Text Box 80"/>
            <p:cNvSpPr txBox="1">
              <a:spLocks noChangeArrowheads="1"/>
            </p:cNvSpPr>
            <p:nvPr/>
          </p:nvSpPr>
          <p:spPr bwMode="auto">
            <a:xfrm>
              <a:off x="4763" y="266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$</a:t>
              </a:r>
            </a:p>
          </p:txBody>
        </p:sp>
        <p:sp>
          <p:nvSpPr>
            <p:cNvPr id="11" name="Line 81"/>
            <p:cNvSpPr>
              <a:spLocks noChangeShapeType="1"/>
            </p:cNvSpPr>
            <p:nvPr/>
          </p:nvSpPr>
          <p:spPr bwMode="auto">
            <a:xfrm>
              <a:off x="4479" y="2806"/>
              <a:ext cx="203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 Box 82"/>
            <p:cNvSpPr txBox="1">
              <a:spLocks noChangeArrowheads="1"/>
            </p:cNvSpPr>
            <p:nvPr/>
          </p:nvSpPr>
          <p:spPr bwMode="auto">
            <a:xfrm>
              <a:off x="4465" y="2968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c</a:t>
              </a:r>
            </a:p>
          </p:txBody>
        </p:sp>
        <p:sp>
          <p:nvSpPr>
            <p:cNvPr id="13" name="Oval 83"/>
            <p:cNvSpPr>
              <a:spLocks noChangeArrowheads="1"/>
            </p:cNvSpPr>
            <p:nvPr/>
          </p:nvSpPr>
          <p:spPr bwMode="auto">
            <a:xfrm>
              <a:off x="4644" y="3204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4" name="Line 84"/>
            <p:cNvSpPr>
              <a:spLocks noChangeShapeType="1"/>
            </p:cNvSpPr>
            <p:nvPr/>
          </p:nvSpPr>
          <p:spPr bwMode="auto">
            <a:xfrm>
              <a:off x="4688" y="3244"/>
              <a:ext cx="171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Oval 85"/>
            <p:cNvSpPr>
              <a:spLocks noChangeArrowheads="1"/>
            </p:cNvSpPr>
            <p:nvPr/>
          </p:nvSpPr>
          <p:spPr bwMode="auto">
            <a:xfrm>
              <a:off x="4848" y="3518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6" name="Text Box 86"/>
            <p:cNvSpPr txBox="1">
              <a:spLocks noChangeArrowheads="1"/>
            </p:cNvSpPr>
            <p:nvPr/>
          </p:nvSpPr>
          <p:spPr bwMode="auto">
            <a:xfrm>
              <a:off x="4784" y="32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$</a:t>
              </a:r>
            </a:p>
          </p:txBody>
        </p:sp>
        <p:sp>
          <p:nvSpPr>
            <p:cNvPr id="17" name="Line 87"/>
            <p:cNvSpPr>
              <a:spLocks noChangeShapeType="1"/>
            </p:cNvSpPr>
            <p:nvPr/>
          </p:nvSpPr>
          <p:spPr bwMode="auto">
            <a:xfrm>
              <a:off x="4677" y="3260"/>
              <a:ext cx="0" cy="3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Text Box 88"/>
            <p:cNvSpPr txBox="1">
              <a:spLocks noChangeArrowheads="1"/>
            </p:cNvSpPr>
            <p:nvPr/>
          </p:nvSpPr>
          <p:spPr bwMode="auto">
            <a:xfrm>
              <a:off x="4406" y="3368"/>
              <a:ext cx="3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abc$</a:t>
              </a:r>
            </a:p>
          </p:txBody>
        </p:sp>
        <p:sp>
          <p:nvSpPr>
            <p:cNvPr id="19" name="Oval 89"/>
            <p:cNvSpPr>
              <a:spLocks noChangeArrowheads="1"/>
            </p:cNvSpPr>
            <p:nvPr/>
          </p:nvSpPr>
          <p:spPr bwMode="auto">
            <a:xfrm>
              <a:off x="4660" y="3577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" name="Line 90"/>
            <p:cNvSpPr>
              <a:spLocks noChangeShapeType="1"/>
            </p:cNvSpPr>
            <p:nvPr/>
          </p:nvSpPr>
          <p:spPr bwMode="auto">
            <a:xfrm flipH="1">
              <a:off x="4116" y="2801"/>
              <a:ext cx="347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Oval 91"/>
            <p:cNvSpPr>
              <a:spLocks noChangeArrowheads="1"/>
            </p:cNvSpPr>
            <p:nvPr/>
          </p:nvSpPr>
          <p:spPr bwMode="auto">
            <a:xfrm>
              <a:off x="4074" y="3028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" name="Text Box 92"/>
            <p:cNvSpPr txBox="1">
              <a:spLocks noChangeArrowheads="1"/>
            </p:cNvSpPr>
            <p:nvPr/>
          </p:nvSpPr>
          <p:spPr bwMode="auto">
            <a:xfrm>
              <a:off x="4161" y="2908"/>
              <a:ext cx="22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bc</a:t>
              </a:r>
            </a:p>
          </p:txBody>
        </p:sp>
        <p:sp>
          <p:nvSpPr>
            <p:cNvPr id="23" name="Line 93"/>
            <p:cNvSpPr>
              <a:spLocks noChangeShapeType="1"/>
            </p:cNvSpPr>
            <p:nvPr/>
          </p:nvSpPr>
          <p:spPr bwMode="auto">
            <a:xfrm>
              <a:off x="4111" y="3078"/>
              <a:ext cx="138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Text Box 94"/>
            <p:cNvSpPr txBox="1">
              <a:spLocks noChangeArrowheads="1"/>
            </p:cNvSpPr>
            <p:nvPr/>
          </p:nvSpPr>
          <p:spPr bwMode="auto">
            <a:xfrm>
              <a:off x="4181" y="316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$</a:t>
              </a:r>
            </a:p>
          </p:txBody>
        </p:sp>
        <p:sp>
          <p:nvSpPr>
            <p:cNvPr id="25" name="Oval 95"/>
            <p:cNvSpPr>
              <a:spLocks noChangeArrowheads="1"/>
            </p:cNvSpPr>
            <p:nvPr/>
          </p:nvSpPr>
          <p:spPr bwMode="auto">
            <a:xfrm>
              <a:off x="4229" y="3407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6" name="Line 96"/>
            <p:cNvSpPr>
              <a:spLocks noChangeShapeType="1"/>
            </p:cNvSpPr>
            <p:nvPr/>
          </p:nvSpPr>
          <p:spPr bwMode="auto">
            <a:xfrm flipH="1">
              <a:off x="3946" y="3078"/>
              <a:ext cx="133" cy="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Oval 97"/>
            <p:cNvSpPr>
              <a:spLocks noChangeArrowheads="1"/>
            </p:cNvSpPr>
            <p:nvPr/>
          </p:nvSpPr>
          <p:spPr bwMode="auto">
            <a:xfrm>
              <a:off x="3903" y="3413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" name="Text Box 98"/>
            <p:cNvSpPr txBox="1">
              <a:spLocks noChangeArrowheads="1"/>
            </p:cNvSpPr>
            <p:nvPr/>
          </p:nvSpPr>
          <p:spPr bwMode="auto">
            <a:xfrm>
              <a:off x="3722" y="3155"/>
              <a:ext cx="3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abc$</a:t>
              </a:r>
            </a:p>
          </p:txBody>
        </p:sp>
        <p:sp>
          <p:nvSpPr>
            <p:cNvPr id="29" name="Line 100"/>
            <p:cNvSpPr>
              <a:spLocks noChangeShapeType="1"/>
            </p:cNvSpPr>
            <p:nvPr/>
          </p:nvSpPr>
          <p:spPr bwMode="auto">
            <a:xfrm flipH="1">
              <a:off x="3525" y="2790"/>
              <a:ext cx="938" cy="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Oval 101"/>
            <p:cNvSpPr>
              <a:spLocks noChangeArrowheads="1"/>
            </p:cNvSpPr>
            <p:nvPr/>
          </p:nvSpPr>
          <p:spPr bwMode="auto">
            <a:xfrm>
              <a:off x="3467" y="2974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1" name="Text Box 102"/>
            <p:cNvSpPr txBox="1">
              <a:spLocks noChangeArrowheads="1"/>
            </p:cNvSpPr>
            <p:nvPr/>
          </p:nvSpPr>
          <p:spPr bwMode="auto">
            <a:xfrm>
              <a:off x="3663" y="2754"/>
              <a:ext cx="3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abc$</a:t>
              </a:r>
            </a:p>
          </p:txBody>
        </p:sp>
        <p:sp>
          <p:nvSpPr>
            <p:cNvPr id="32" name="Text Box 106"/>
            <p:cNvSpPr txBox="1">
              <a:spLocks noChangeArrowheads="1"/>
            </p:cNvSpPr>
            <p:nvPr/>
          </p:nvSpPr>
          <p:spPr bwMode="auto">
            <a:xfrm>
              <a:off x="3824" y="2442"/>
              <a:ext cx="5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400" b="1" i="1" dirty="0">
                  <a:solidFill>
                    <a:srgbClr val="FF5050"/>
                  </a:solidFill>
                  <a:ea typeface="新細明體" panose="02020500000000000000" pitchFamily="18" charset="-120"/>
                </a:rPr>
                <a:t>Tree</a:t>
              </a:r>
            </a:p>
          </p:txBody>
        </p:sp>
      </p:grp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789225"/>
              </p:ext>
            </p:extLst>
          </p:nvPr>
        </p:nvGraphicFramePr>
        <p:xfrm>
          <a:off x="8202549" y="2771320"/>
          <a:ext cx="2596838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9000"/>
                <a:gridCol w="617838"/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4000" dirty="0" err="1" smtClean="0"/>
                        <a:t>bcabc</a:t>
                      </a:r>
                      <a:r>
                        <a:rPr lang="en-US" altLang="zh-TW" sz="4000" dirty="0" smtClean="0"/>
                        <a:t>$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800" dirty="0" smtClean="0"/>
                        <a:t>S1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4000" dirty="0" err="1" smtClean="0"/>
                        <a:t>cabc</a:t>
                      </a:r>
                      <a:r>
                        <a:rPr lang="en-US" altLang="zh-TW" sz="4000" dirty="0" smtClean="0"/>
                        <a:t>$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800" dirty="0" smtClean="0"/>
                        <a:t>S2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4000" dirty="0" err="1" smtClean="0"/>
                        <a:t>abc</a:t>
                      </a:r>
                      <a:r>
                        <a:rPr lang="en-US" altLang="zh-TW" sz="4000" dirty="0" smtClean="0"/>
                        <a:t>$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800" dirty="0" smtClean="0"/>
                        <a:t>S3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4000" dirty="0" err="1" smtClean="0"/>
                        <a:t>bc</a:t>
                      </a:r>
                      <a:r>
                        <a:rPr lang="en-US" altLang="zh-TW" sz="4000" dirty="0" smtClean="0"/>
                        <a:t>$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800" dirty="0" smtClean="0"/>
                        <a:t>S4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4000" dirty="0" smtClean="0"/>
                        <a:t>c$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800" dirty="0" smtClean="0"/>
                        <a:t>S5</a:t>
                      </a:r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995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Suffix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Properties of a Suffix </a:t>
            </a:r>
            <a:r>
              <a:rPr lang="en-US" altLang="zh-TW" sz="3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Tree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Each tree edge is labeled by a substring of 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Each internal node has at least 2 children</a:t>
            </a:r>
            <a:r>
              <a:rPr lang="en-US" altLang="zh-TW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There are 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leaves</a:t>
            </a:r>
            <a:r>
              <a:rPr lang="en-US" altLang="zh-TW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</a:p>
          <a:p>
            <a:pPr marL="457200" lvl="1" indent="-457200" hangingPunct="0">
              <a:lnSpc>
                <a:spcPct val="150000"/>
              </a:lnSpc>
              <a:spcBef>
                <a:spcPts val="1284"/>
              </a:spcBef>
              <a:buSzTx/>
            </a:pPr>
            <a:r>
              <a:rPr lang="en-US" altLang="zh-TW" sz="2400" dirty="0" smtClean="0">
                <a:solidFill>
                  <a:schemeClr val="tx1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微軟正黑體" pitchFamily="2"/>
                <a:cs typeface="Mangal" pitchFamily="2"/>
              </a:rPr>
              <a:t>Sibling edges </a:t>
            </a:r>
            <a:r>
              <a:rPr lang="en-US" altLang="zh-TW" sz="2400" dirty="0">
                <a:solidFill>
                  <a:schemeClr val="tx1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微軟正黑體" pitchFamily="2"/>
                <a:cs typeface="Mangal" pitchFamily="2"/>
              </a:rPr>
              <a:t>begin with different characters</a:t>
            </a:r>
          </a:p>
          <a:p>
            <a:pPr>
              <a:lnSpc>
                <a:spcPct val="90000"/>
              </a:lnSpc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zh-TW" dirty="0">
              <a:latin typeface="Times New Roman" panose="02020603050405020304" pitchFamily="18" charset="0"/>
            </a:endParaRPr>
          </a:p>
          <a:p>
            <a:endParaRPr lang="zh-TW" altLang="en-US" dirty="0">
              <a:latin typeface="Cambria Math" panose="02040503050406030204" pitchFamily="18" charset="0"/>
            </a:endParaRPr>
          </a:p>
          <a:p>
            <a:endParaRPr lang="zh-TW" altLang="en-US" dirty="0"/>
          </a:p>
        </p:txBody>
      </p:sp>
      <p:grpSp>
        <p:nvGrpSpPr>
          <p:cNvPr id="4" name="Group 111"/>
          <p:cNvGrpSpPr>
            <a:grpSpLocks/>
          </p:cNvGrpSpPr>
          <p:nvPr/>
        </p:nvGrpSpPr>
        <p:grpSpPr bwMode="auto">
          <a:xfrm>
            <a:off x="7158680" y="1604844"/>
            <a:ext cx="4539049" cy="3760703"/>
            <a:chOff x="3467" y="2442"/>
            <a:chExt cx="1553" cy="1191"/>
          </a:xfrm>
        </p:grpSpPr>
        <p:sp>
          <p:nvSpPr>
            <p:cNvPr id="5" name="Oval 77"/>
            <p:cNvSpPr>
              <a:spLocks noChangeArrowheads="1"/>
            </p:cNvSpPr>
            <p:nvPr/>
          </p:nvSpPr>
          <p:spPr bwMode="auto">
            <a:xfrm>
              <a:off x="4452" y="2766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" name="Line 78"/>
            <p:cNvSpPr>
              <a:spLocks noChangeShapeType="1"/>
            </p:cNvSpPr>
            <p:nvPr/>
          </p:nvSpPr>
          <p:spPr bwMode="auto">
            <a:xfrm>
              <a:off x="4511" y="2800"/>
              <a:ext cx="453" cy="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Oval 79"/>
            <p:cNvSpPr>
              <a:spLocks noChangeArrowheads="1"/>
            </p:cNvSpPr>
            <p:nvPr/>
          </p:nvSpPr>
          <p:spPr bwMode="auto">
            <a:xfrm>
              <a:off x="4964" y="2814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" name="Text Box 80"/>
            <p:cNvSpPr txBox="1">
              <a:spLocks noChangeArrowheads="1"/>
            </p:cNvSpPr>
            <p:nvPr/>
          </p:nvSpPr>
          <p:spPr bwMode="auto">
            <a:xfrm>
              <a:off x="4763" y="2664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$</a:t>
              </a:r>
            </a:p>
          </p:txBody>
        </p:sp>
        <p:sp>
          <p:nvSpPr>
            <p:cNvPr id="9" name="Line 81"/>
            <p:cNvSpPr>
              <a:spLocks noChangeShapeType="1"/>
            </p:cNvSpPr>
            <p:nvPr/>
          </p:nvSpPr>
          <p:spPr bwMode="auto">
            <a:xfrm>
              <a:off x="4479" y="2806"/>
              <a:ext cx="203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 Box 82"/>
            <p:cNvSpPr txBox="1">
              <a:spLocks noChangeArrowheads="1"/>
            </p:cNvSpPr>
            <p:nvPr/>
          </p:nvSpPr>
          <p:spPr bwMode="auto">
            <a:xfrm>
              <a:off x="4465" y="2968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c</a:t>
              </a:r>
            </a:p>
          </p:txBody>
        </p:sp>
        <p:sp>
          <p:nvSpPr>
            <p:cNvPr id="11" name="Oval 83"/>
            <p:cNvSpPr>
              <a:spLocks noChangeArrowheads="1"/>
            </p:cNvSpPr>
            <p:nvPr/>
          </p:nvSpPr>
          <p:spPr bwMode="auto">
            <a:xfrm>
              <a:off x="4644" y="3204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2" name="Line 84"/>
            <p:cNvSpPr>
              <a:spLocks noChangeShapeType="1"/>
            </p:cNvSpPr>
            <p:nvPr/>
          </p:nvSpPr>
          <p:spPr bwMode="auto">
            <a:xfrm>
              <a:off x="4688" y="3244"/>
              <a:ext cx="171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Oval 85"/>
            <p:cNvSpPr>
              <a:spLocks noChangeArrowheads="1"/>
            </p:cNvSpPr>
            <p:nvPr/>
          </p:nvSpPr>
          <p:spPr bwMode="auto">
            <a:xfrm>
              <a:off x="4848" y="3518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4" name="Text Box 86"/>
            <p:cNvSpPr txBox="1">
              <a:spLocks noChangeArrowheads="1"/>
            </p:cNvSpPr>
            <p:nvPr/>
          </p:nvSpPr>
          <p:spPr bwMode="auto">
            <a:xfrm>
              <a:off x="4784" y="328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$</a:t>
              </a:r>
            </a:p>
          </p:txBody>
        </p:sp>
        <p:sp>
          <p:nvSpPr>
            <p:cNvPr id="15" name="Line 87"/>
            <p:cNvSpPr>
              <a:spLocks noChangeShapeType="1"/>
            </p:cNvSpPr>
            <p:nvPr/>
          </p:nvSpPr>
          <p:spPr bwMode="auto">
            <a:xfrm>
              <a:off x="4677" y="3260"/>
              <a:ext cx="0" cy="3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 Box 88"/>
            <p:cNvSpPr txBox="1">
              <a:spLocks noChangeArrowheads="1"/>
            </p:cNvSpPr>
            <p:nvPr/>
          </p:nvSpPr>
          <p:spPr bwMode="auto">
            <a:xfrm>
              <a:off x="4406" y="3368"/>
              <a:ext cx="3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abc$</a:t>
              </a:r>
            </a:p>
          </p:txBody>
        </p:sp>
        <p:sp>
          <p:nvSpPr>
            <p:cNvPr id="17" name="Oval 89"/>
            <p:cNvSpPr>
              <a:spLocks noChangeArrowheads="1"/>
            </p:cNvSpPr>
            <p:nvPr/>
          </p:nvSpPr>
          <p:spPr bwMode="auto">
            <a:xfrm>
              <a:off x="4660" y="3577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" name="Line 90"/>
            <p:cNvSpPr>
              <a:spLocks noChangeShapeType="1"/>
            </p:cNvSpPr>
            <p:nvPr/>
          </p:nvSpPr>
          <p:spPr bwMode="auto">
            <a:xfrm flipH="1">
              <a:off x="4116" y="2801"/>
              <a:ext cx="347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Oval 91"/>
            <p:cNvSpPr>
              <a:spLocks noChangeArrowheads="1"/>
            </p:cNvSpPr>
            <p:nvPr/>
          </p:nvSpPr>
          <p:spPr bwMode="auto">
            <a:xfrm>
              <a:off x="4074" y="3028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" name="Text Box 92"/>
            <p:cNvSpPr txBox="1">
              <a:spLocks noChangeArrowheads="1"/>
            </p:cNvSpPr>
            <p:nvPr/>
          </p:nvSpPr>
          <p:spPr bwMode="auto">
            <a:xfrm>
              <a:off x="4161" y="2908"/>
              <a:ext cx="22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bc</a:t>
              </a:r>
            </a:p>
          </p:txBody>
        </p:sp>
        <p:sp>
          <p:nvSpPr>
            <p:cNvPr id="21" name="Line 93"/>
            <p:cNvSpPr>
              <a:spLocks noChangeShapeType="1"/>
            </p:cNvSpPr>
            <p:nvPr/>
          </p:nvSpPr>
          <p:spPr bwMode="auto">
            <a:xfrm>
              <a:off x="4111" y="3078"/>
              <a:ext cx="138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Text Box 94"/>
            <p:cNvSpPr txBox="1">
              <a:spLocks noChangeArrowheads="1"/>
            </p:cNvSpPr>
            <p:nvPr/>
          </p:nvSpPr>
          <p:spPr bwMode="auto">
            <a:xfrm>
              <a:off x="4181" y="3160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$</a:t>
              </a:r>
            </a:p>
          </p:txBody>
        </p:sp>
        <p:sp>
          <p:nvSpPr>
            <p:cNvPr id="23" name="Oval 95"/>
            <p:cNvSpPr>
              <a:spLocks noChangeArrowheads="1"/>
            </p:cNvSpPr>
            <p:nvPr/>
          </p:nvSpPr>
          <p:spPr bwMode="auto">
            <a:xfrm>
              <a:off x="4229" y="3407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" name="Line 96"/>
            <p:cNvSpPr>
              <a:spLocks noChangeShapeType="1"/>
            </p:cNvSpPr>
            <p:nvPr/>
          </p:nvSpPr>
          <p:spPr bwMode="auto">
            <a:xfrm flipH="1">
              <a:off x="3946" y="3078"/>
              <a:ext cx="133" cy="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Oval 97"/>
            <p:cNvSpPr>
              <a:spLocks noChangeArrowheads="1"/>
            </p:cNvSpPr>
            <p:nvPr/>
          </p:nvSpPr>
          <p:spPr bwMode="auto">
            <a:xfrm>
              <a:off x="3903" y="3413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6" name="Text Box 98"/>
            <p:cNvSpPr txBox="1">
              <a:spLocks noChangeArrowheads="1"/>
            </p:cNvSpPr>
            <p:nvPr/>
          </p:nvSpPr>
          <p:spPr bwMode="auto">
            <a:xfrm>
              <a:off x="3722" y="3155"/>
              <a:ext cx="3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abc$</a:t>
              </a:r>
            </a:p>
          </p:txBody>
        </p:sp>
        <p:sp>
          <p:nvSpPr>
            <p:cNvPr id="27" name="Line 100"/>
            <p:cNvSpPr>
              <a:spLocks noChangeShapeType="1"/>
            </p:cNvSpPr>
            <p:nvPr/>
          </p:nvSpPr>
          <p:spPr bwMode="auto">
            <a:xfrm flipH="1">
              <a:off x="3525" y="2790"/>
              <a:ext cx="938" cy="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Oval 101"/>
            <p:cNvSpPr>
              <a:spLocks noChangeArrowheads="1"/>
            </p:cNvSpPr>
            <p:nvPr/>
          </p:nvSpPr>
          <p:spPr bwMode="auto">
            <a:xfrm>
              <a:off x="3467" y="2974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9" name="Text Box 102"/>
            <p:cNvSpPr txBox="1">
              <a:spLocks noChangeArrowheads="1"/>
            </p:cNvSpPr>
            <p:nvPr/>
          </p:nvSpPr>
          <p:spPr bwMode="auto">
            <a:xfrm>
              <a:off x="3663" y="2754"/>
              <a:ext cx="3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abc$</a:t>
              </a:r>
            </a:p>
          </p:txBody>
        </p:sp>
        <p:sp>
          <p:nvSpPr>
            <p:cNvPr id="30" name="Text Box 106"/>
            <p:cNvSpPr txBox="1">
              <a:spLocks noChangeArrowheads="1"/>
            </p:cNvSpPr>
            <p:nvPr/>
          </p:nvSpPr>
          <p:spPr bwMode="auto">
            <a:xfrm>
              <a:off x="3824" y="2442"/>
              <a:ext cx="5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2400" b="1" i="1" dirty="0">
                  <a:solidFill>
                    <a:srgbClr val="FF5050"/>
                  </a:solidFill>
                  <a:ea typeface="新細明體" panose="02020500000000000000" pitchFamily="18" charset="-120"/>
                </a:rPr>
                <a:t>Tree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760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ea typeface="新細明體" panose="02020500000000000000" pitchFamily="18" charset="-120"/>
              </a:rPr>
              <a:t>Definitions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604844"/>
            <a:ext cx="10971688" cy="505132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TW" sz="2000" i="1" dirty="0">
                <a:ea typeface="新細明體" panose="02020500000000000000" pitchFamily="18" charset="-120"/>
              </a:rPr>
              <a:t>S</a:t>
            </a:r>
            <a:r>
              <a:rPr lang="en-US" altLang="zh-TW" sz="2000" i="1" dirty="0" smtClean="0">
                <a:ea typeface="新細明體" panose="02020500000000000000" pitchFamily="18" charset="-120"/>
              </a:rPr>
              <a:t>uf</a:t>
            </a:r>
            <a:r>
              <a:rPr lang="en-US" altLang="zh-TW" sz="2000" i="1" baseline="-25000" dirty="0" smtClean="0">
                <a:ea typeface="新細明體" panose="02020500000000000000" pitchFamily="18" charset="-120"/>
              </a:rPr>
              <a:t>i</a:t>
            </a:r>
            <a:r>
              <a:rPr lang="en-US" altLang="zh-TW" sz="2000" i="1" dirty="0" smtClean="0">
                <a:ea typeface="新細明體" panose="02020500000000000000" pitchFamily="18" charset="-120"/>
              </a:rPr>
              <a:t> </a:t>
            </a:r>
            <a:r>
              <a:rPr lang="en-US" altLang="zh-TW" sz="2000" i="1" dirty="0">
                <a:ea typeface="新細明體" panose="02020500000000000000" pitchFamily="18" charset="-120"/>
              </a:rPr>
              <a:t>: </a:t>
            </a:r>
            <a:r>
              <a:rPr lang="en-US" altLang="zh-TW" sz="2000" i="1" dirty="0" smtClean="0">
                <a:ea typeface="新細明體" panose="02020500000000000000" pitchFamily="18" charset="-120"/>
              </a:rPr>
              <a:t>The suffix of S beginning at </a:t>
            </a:r>
            <a:r>
              <a:rPr lang="en-US" altLang="zh-TW" sz="2000" i="1" dirty="0" err="1" smtClean="0">
                <a:ea typeface="新細明體" panose="02020500000000000000" pitchFamily="18" charset="-120"/>
              </a:rPr>
              <a:t>cgaracter</a:t>
            </a:r>
            <a:r>
              <a:rPr lang="en-US" altLang="zh-TW" sz="2000" i="1" dirty="0" smtClean="0">
                <a:ea typeface="新細明體" panose="02020500000000000000" pitchFamily="18" charset="-120"/>
              </a:rPr>
              <a:t> position </a:t>
            </a:r>
            <a:r>
              <a:rPr lang="en-US" altLang="zh-TW" sz="2000" i="1" dirty="0" err="1" smtClean="0">
                <a:ea typeface="新細明體" panose="02020500000000000000" pitchFamily="18" charset="-120"/>
              </a:rPr>
              <a:t>i</a:t>
            </a:r>
            <a:r>
              <a:rPr lang="en-US" altLang="zh-TW" sz="2000" i="1" dirty="0" smtClean="0">
                <a:ea typeface="新細明體" panose="02020500000000000000" pitchFamily="18" charset="-120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zh-TW" sz="2000" i="1" dirty="0" smtClean="0">
              <a:ea typeface="新細明體" panose="02020500000000000000" pitchFamily="18" charset="-120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TW" sz="2000" i="1" dirty="0" err="1" smtClean="0">
                <a:ea typeface="新細明體" panose="02020500000000000000" pitchFamily="18" charset="-120"/>
              </a:rPr>
              <a:t>Head</a:t>
            </a:r>
            <a:r>
              <a:rPr lang="en-US" altLang="zh-TW" sz="2000" i="1" baseline="-25000" dirty="0" err="1" smtClean="0">
                <a:ea typeface="新細明體" panose="02020500000000000000" pitchFamily="18" charset="-120"/>
              </a:rPr>
              <a:t>i</a:t>
            </a:r>
            <a:r>
              <a:rPr lang="en-US" altLang="zh-TW" sz="2000" i="1" baseline="-25000" dirty="0" smtClean="0">
                <a:ea typeface="新細明體" panose="02020500000000000000" pitchFamily="18" charset="-120"/>
              </a:rPr>
              <a:t> </a:t>
            </a:r>
            <a:r>
              <a:rPr lang="en-US" altLang="zh-TW" sz="2000" i="1" dirty="0">
                <a:ea typeface="新細明體" panose="02020500000000000000" pitchFamily="18" charset="-120"/>
              </a:rPr>
              <a:t>: </a:t>
            </a:r>
            <a:r>
              <a:rPr lang="en-US" altLang="zh-TW" sz="2000" dirty="0">
                <a:ea typeface="新細明體" panose="02020500000000000000" pitchFamily="18" charset="-120"/>
              </a:rPr>
              <a:t>longest prefix of </a:t>
            </a:r>
            <a:r>
              <a:rPr lang="en-US" altLang="zh-TW" sz="2000" i="1" dirty="0" smtClean="0">
                <a:ea typeface="新細明體" panose="02020500000000000000" pitchFamily="18" charset="-120"/>
              </a:rPr>
              <a:t>S(</a:t>
            </a:r>
            <a:r>
              <a:rPr lang="en-US" altLang="zh-TW" sz="2000" i="1" dirty="0" err="1" smtClean="0">
                <a:ea typeface="新細明體" panose="02020500000000000000" pitchFamily="18" charset="-120"/>
              </a:rPr>
              <a:t>i</a:t>
            </a:r>
            <a:r>
              <a:rPr lang="en-US" altLang="zh-TW" sz="2000" i="1" dirty="0" smtClean="0">
                <a:ea typeface="新細明體" panose="02020500000000000000" pitchFamily="18" charset="-120"/>
              </a:rPr>
              <a:t>, n</a:t>
            </a:r>
            <a:r>
              <a:rPr lang="en-US" altLang="zh-TW" sz="2000" i="1" dirty="0">
                <a:ea typeface="新細明體" panose="02020500000000000000" pitchFamily="18" charset="-120"/>
              </a:rPr>
              <a:t>) </a:t>
            </a:r>
            <a:r>
              <a:rPr lang="en-US" altLang="zh-TW" sz="2000" dirty="0">
                <a:ea typeface="新細明體" panose="02020500000000000000" pitchFamily="18" charset="-120"/>
              </a:rPr>
              <a:t>which is a prefix of </a:t>
            </a:r>
            <a:r>
              <a:rPr lang="en-US" altLang="zh-TW" sz="2000" i="1" dirty="0" smtClean="0">
                <a:ea typeface="新細明體" panose="02020500000000000000" pitchFamily="18" charset="-120"/>
              </a:rPr>
              <a:t>S(j, n</a:t>
            </a:r>
            <a:r>
              <a:rPr lang="en-US" altLang="zh-TW" sz="2000" i="1" dirty="0">
                <a:ea typeface="新細明體" panose="02020500000000000000" pitchFamily="18" charset="-120"/>
              </a:rPr>
              <a:t>) </a:t>
            </a:r>
            <a:r>
              <a:rPr lang="en-US" altLang="zh-TW" sz="2000" dirty="0">
                <a:ea typeface="新細明體" panose="02020500000000000000" pitchFamily="18" charset="-120"/>
              </a:rPr>
              <a:t>for some </a:t>
            </a:r>
            <a:r>
              <a:rPr lang="en-US" altLang="zh-TW" sz="2000" i="1" dirty="0" smtClean="0">
                <a:ea typeface="新細明體" panose="02020500000000000000" pitchFamily="18" charset="-120"/>
              </a:rPr>
              <a:t>j &lt; </a:t>
            </a:r>
            <a:r>
              <a:rPr lang="en-US" altLang="zh-TW" sz="2000" i="1" dirty="0" err="1" smtClean="0">
                <a:ea typeface="新細明體" panose="02020500000000000000" pitchFamily="18" charset="-120"/>
              </a:rPr>
              <a:t>i</a:t>
            </a:r>
            <a:endParaRPr lang="en-US" altLang="zh-TW" sz="2000" i="1" dirty="0" smtClean="0">
              <a:ea typeface="新細明體" panose="02020500000000000000" pitchFamily="18" charset="-120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zh-TW" sz="2000" i="1" dirty="0" smtClean="0">
              <a:ea typeface="新細明體" panose="02020500000000000000" pitchFamily="18" charset="-120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TW" sz="2000" i="1" dirty="0" err="1" smtClean="0">
                <a:ea typeface="新細明體" panose="02020500000000000000" pitchFamily="18" charset="-120"/>
              </a:rPr>
              <a:t>Tail</a:t>
            </a:r>
            <a:r>
              <a:rPr lang="en-US" altLang="zh-TW" sz="2000" i="1" baseline="-25000" dirty="0" err="1" smtClean="0">
                <a:ea typeface="新細明體" panose="02020500000000000000" pitchFamily="18" charset="-120"/>
              </a:rPr>
              <a:t>i</a:t>
            </a:r>
            <a:r>
              <a:rPr lang="en-US" altLang="zh-TW" sz="2000" i="1" baseline="-25000" dirty="0" smtClean="0">
                <a:ea typeface="新細明體" panose="02020500000000000000" pitchFamily="18" charset="-120"/>
              </a:rPr>
              <a:t> </a:t>
            </a:r>
            <a:r>
              <a:rPr lang="en-US" altLang="zh-TW" sz="2000" i="1" dirty="0">
                <a:ea typeface="新細明體" panose="02020500000000000000" pitchFamily="18" charset="-120"/>
              </a:rPr>
              <a:t>: </a:t>
            </a:r>
            <a:r>
              <a:rPr lang="en-US" altLang="zh-TW" sz="2000" i="1" dirty="0" err="1" smtClean="0">
                <a:ea typeface="新細明體" panose="02020500000000000000" pitchFamily="18" charset="-120"/>
              </a:rPr>
              <a:t>suf</a:t>
            </a:r>
            <a:r>
              <a:rPr lang="en-US" altLang="zh-TW" sz="2000" i="1" baseline="-25000" dirty="0" err="1" smtClean="0">
                <a:ea typeface="新細明體" panose="02020500000000000000" pitchFamily="18" charset="-120"/>
              </a:rPr>
              <a:t>i</a:t>
            </a:r>
            <a:r>
              <a:rPr lang="en-US" altLang="zh-TW" sz="2000" i="1" baseline="-25000" dirty="0" smtClean="0">
                <a:ea typeface="新細明體" panose="02020500000000000000" pitchFamily="18" charset="-120"/>
              </a:rPr>
              <a:t> </a:t>
            </a:r>
            <a:r>
              <a:rPr lang="en-US" altLang="zh-TW" sz="2000" i="1" dirty="0" smtClean="0">
                <a:ea typeface="新細明體" panose="02020500000000000000" pitchFamily="18" charset="-120"/>
              </a:rPr>
              <a:t>- </a:t>
            </a:r>
            <a:r>
              <a:rPr lang="en-US" altLang="zh-TW" sz="2000" i="1" dirty="0" err="1" smtClean="0">
                <a:ea typeface="新細明體" panose="02020500000000000000" pitchFamily="18" charset="-120"/>
              </a:rPr>
              <a:t>head</a:t>
            </a:r>
            <a:r>
              <a:rPr lang="en-US" altLang="zh-TW" sz="2000" i="1" baseline="-25000" dirty="0" err="1" smtClean="0">
                <a:ea typeface="新細明體" panose="02020500000000000000" pitchFamily="18" charset="-120"/>
              </a:rPr>
              <a:t>i</a:t>
            </a:r>
            <a:endParaRPr lang="en-US" altLang="zh-TW" sz="2000" i="1" baseline="-25000" dirty="0">
              <a:ea typeface="新細明體" panose="02020500000000000000" pitchFamily="18" charset="-120"/>
            </a:endParaRP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endParaRPr lang="zh-TW" altLang="en-US" dirty="0"/>
          </a:p>
        </p:txBody>
      </p: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7913741" y="3131608"/>
            <a:ext cx="4012993" cy="3474434"/>
            <a:chOff x="3537" y="647"/>
            <a:chExt cx="1690" cy="2085"/>
          </a:xfrm>
        </p:grpSpPr>
        <p:grpSp>
          <p:nvGrpSpPr>
            <p:cNvPr id="5" name="Group 42"/>
            <p:cNvGrpSpPr>
              <a:grpSpLocks/>
            </p:cNvGrpSpPr>
            <p:nvPr/>
          </p:nvGrpSpPr>
          <p:grpSpPr bwMode="auto">
            <a:xfrm>
              <a:off x="3537" y="734"/>
              <a:ext cx="1690" cy="1998"/>
              <a:chOff x="3537" y="734"/>
              <a:chExt cx="1690" cy="1998"/>
            </a:xfrm>
          </p:grpSpPr>
          <p:sp>
            <p:nvSpPr>
              <p:cNvPr id="7" name="Oval 6"/>
              <p:cNvSpPr>
                <a:spLocks noChangeArrowheads="1"/>
              </p:cNvSpPr>
              <p:nvPr/>
            </p:nvSpPr>
            <p:spPr bwMode="auto">
              <a:xfrm>
                <a:off x="4374" y="734"/>
                <a:ext cx="56" cy="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8" name="Line 7"/>
              <p:cNvSpPr>
                <a:spLocks noChangeShapeType="1"/>
              </p:cNvSpPr>
              <p:nvPr/>
            </p:nvSpPr>
            <p:spPr bwMode="auto">
              <a:xfrm>
                <a:off x="4412" y="777"/>
                <a:ext cx="608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Oval 8"/>
              <p:cNvSpPr>
                <a:spLocks noChangeArrowheads="1"/>
              </p:cNvSpPr>
              <p:nvPr/>
            </p:nvSpPr>
            <p:spPr bwMode="auto">
              <a:xfrm>
                <a:off x="5007" y="1451"/>
                <a:ext cx="56" cy="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Text Box 9"/>
              <p:cNvSpPr txBox="1">
                <a:spLocks noChangeArrowheads="1"/>
              </p:cNvSpPr>
              <p:nvPr/>
            </p:nvSpPr>
            <p:spPr bwMode="auto">
              <a:xfrm>
                <a:off x="4777" y="1020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TW" sz="1400" b="1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$</a:t>
                </a:r>
              </a:p>
            </p:txBody>
          </p:sp>
          <p:sp>
            <p:nvSpPr>
              <p:cNvPr id="11" name="Line 10"/>
              <p:cNvSpPr>
                <a:spLocks noChangeShapeType="1"/>
              </p:cNvSpPr>
              <p:nvPr/>
            </p:nvSpPr>
            <p:spPr bwMode="auto">
              <a:xfrm>
                <a:off x="4408" y="797"/>
                <a:ext cx="196" cy="8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 Box 11"/>
              <p:cNvSpPr txBox="1">
                <a:spLocks noChangeArrowheads="1"/>
              </p:cNvSpPr>
              <p:nvPr/>
            </p:nvSpPr>
            <p:spPr bwMode="auto">
              <a:xfrm>
                <a:off x="4401" y="1339"/>
                <a:ext cx="16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TW" sz="1400" b="1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c</a:t>
                </a:r>
              </a:p>
            </p:txBody>
          </p:sp>
          <p:sp>
            <p:nvSpPr>
              <p:cNvPr id="13" name="Oval 12"/>
              <p:cNvSpPr>
                <a:spLocks noChangeArrowheads="1"/>
              </p:cNvSpPr>
              <p:nvPr/>
            </p:nvSpPr>
            <p:spPr bwMode="auto">
              <a:xfrm>
                <a:off x="4595" y="1645"/>
                <a:ext cx="56" cy="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Line 13"/>
              <p:cNvSpPr>
                <a:spLocks noChangeShapeType="1"/>
              </p:cNvSpPr>
              <p:nvPr/>
            </p:nvSpPr>
            <p:spPr bwMode="auto">
              <a:xfrm>
                <a:off x="4646" y="1692"/>
                <a:ext cx="550" cy="2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Oval 14"/>
              <p:cNvSpPr>
                <a:spLocks noChangeArrowheads="1"/>
              </p:cNvSpPr>
              <p:nvPr/>
            </p:nvSpPr>
            <p:spPr bwMode="auto">
              <a:xfrm>
                <a:off x="5171" y="1951"/>
                <a:ext cx="56" cy="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6" name="Text Box 15"/>
              <p:cNvSpPr txBox="1">
                <a:spLocks noChangeArrowheads="1"/>
              </p:cNvSpPr>
              <p:nvPr/>
            </p:nvSpPr>
            <p:spPr bwMode="auto">
              <a:xfrm>
                <a:off x="4819" y="1835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TW" sz="1400" b="1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$</a:t>
                </a:r>
              </a:p>
            </p:txBody>
          </p:sp>
          <p:sp>
            <p:nvSpPr>
              <p:cNvPr id="17" name="Line 16"/>
              <p:cNvSpPr>
                <a:spLocks noChangeShapeType="1"/>
              </p:cNvSpPr>
              <p:nvPr/>
            </p:nvSpPr>
            <p:spPr bwMode="auto">
              <a:xfrm>
                <a:off x="4614" y="1714"/>
                <a:ext cx="0" cy="3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Text Box 17"/>
              <p:cNvSpPr txBox="1">
                <a:spLocks noChangeArrowheads="1"/>
              </p:cNvSpPr>
              <p:nvPr/>
            </p:nvSpPr>
            <p:spPr bwMode="auto">
              <a:xfrm>
                <a:off x="4266" y="1836"/>
                <a:ext cx="4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TW" sz="1400" b="1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abc$</a:t>
                </a:r>
              </a:p>
            </p:txBody>
          </p:sp>
          <p:sp>
            <p:nvSpPr>
              <p:cNvPr id="19" name="Oval 18"/>
              <p:cNvSpPr>
                <a:spLocks noChangeArrowheads="1"/>
              </p:cNvSpPr>
              <p:nvPr/>
            </p:nvSpPr>
            <p:spPr bwMode="auto">
              <a:xfrm>
                <a:off x="4590" y="2020"/>
                <a:ext cx="56" cy="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0" name="Line 19"/>
              <p:cNvSpPr>
                <a:spLocks noChangeShapeType="1"/>
              </p:cNvSpPr>
              <p:nvPr/>
            </p:nvSpPr>
            <p:spPr bwMode="auto">
              <a:xfrm flipH="1">
                <a:off x="4019" y="783"/>
                <a:ext cx="374" cy="15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Oval 20"/>
              <p:cNvSpPr>
                <a:spLocks noChangeArrowheads="1"/>
              </p:cNvSpPr>
              <p:nvPr/>
            </p:nvSpPr>
            <p:spPr bwMode="auto">
              <a:xfrm>
                <a:off x="3969" y="2300"/>
                <a:ext cx="56" cy="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2" name="Text Box 21"/>
              <p:cNvSpPr txBox="1">
                <a:spLocks noChangeArrowheads="1"/>
              </p:cNvSpPr>
              <p:nvPr/>
            </p:nvSpPr>
            <p:spPr bwMode="auto">
              <a:xfrm>
                <a:off x="4041" y="1329"/>
                <a:ext cx="22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TW" sz="1400" b="1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bc</a:t>
                </a:r>
              </a:p>
            </p:txBody>
          </p:sp>
          <p:sp>
            <p:nvSpPr>
              <p:cNvPr id="23" name="Line 22"/>
              <p:cNvSpPr>
                <a:spLocks noChangeShapeType="1"/>
              </p:cNvSpPr>
              <p:nvPr/>
            </p:nvSpPr>
            <p:spPr bwMode="auto">
              <a:xfrm>
                <a:off x="4013" y="2361"/>
                <a:ext cx="138" cy="3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Text Box 23"/>
              <p:cNvSpPr txBox="1">
                <a:spLocks noChangeArrowheads="1"/>
              </p:cNvSpPr>
              <p:nvPr/>
            </p:nvSpPr>
            <p:spPr bwMode="auto">
              <a:xfrm>
                <a:off x="4117" y="2338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TW" sz="1400" b="1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$</a:t>
                </a:r>
              </a:p>
            </p:txBody>
          </p:sp>
          <p:sp>
            <p:nvSpPr>
              <p:cNvPr id="25" name="Oval 24"/>
              <p:cNvSpPr>
                <a:spLocks noChangeArrowheads="1"/>
              </p:cNvSpPr>
              <p:nvPr/>
            </p:nvSpPr>
            <p:spPr bwMode="auto">
              <a:xfrm>
                <a:off x="4116" y="2676"/>
                <a:ext cx="56" cy="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6" name="Oval 26"/>
              <p:cNvSpPr>
                <a:spLocks noChangeArrowheads="1"/>
              </p:cNvSpPr>
              <p:nvPr/>
            </p:nvSpPr>
            <p:spPr bwMode="auto">
              <a:xfrm>
                <a:off x="3762" y="2633"/>
                <a:ext cx="56" cy="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7" name="Text Box 27"/>
              <p:cNvSpPr txBox="1">
                <a:spLocks noChangeArrowheads="1"/>
              </p:cNvSpPr>
              <p:nvPr/>
            </p:nvSpPr>
            <p:spPr bwMode="auto">
              <a:xfrm>
                <a:off x="3617" y="2354"/>
                <a:ext cx="3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TW" sz="1400" b="1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abc$</a:t>
                </a:r>
              </a:p>
            </p:txBody>
          </p:sp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 flipH="1">
                <a:off x="3560" y="792"/>
                <a:ext cx="825" cy="8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Oval 29"/>
              <p:cNvSpPr>
                <a:spLocks noChangeArrowheads="1"/>
              </p:cNvSpPr>
              <p:nvPr/>
            </p:nvSpPr>
            <p:spPr bwMode="auto">
              <a:xfrm>
                <a:off x="3537" y="1591"/>
                <a:ext cx="56" cy="5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30" name="Text Box 33"/>
              <p:cNvSpPr txBox="1">
                <a:spLocks noChangeArrowheads="1"/>
              </p:cNvSpPr>
              <p:nvPr/>
            </p:nvSpPr>
            <p:spPr bwMode="auto">
              <a:xfrm>
                <a:off x="3757" y="1014"/>
                <a:ext cx="3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TW" sz="1400" b="1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abc$</a:t>
                </a:r>
              </a:p>
            </p:txBody>
          </p:sp>
          <p:sp>
            <p:nvSpPr>
              <p:cNvPr id="31" name="Line 36"/>
              <p:cNvSpPr>
                <a:spLocks noChangeShapeType="1"/>
              </p:cNvSpPr>
              <p:nvPr/>
            </p:nvSpPr>
            <p:spPr bwMode="auto">
              <a:xfrm flipH="1">
                <a:off x="3807" y="2360"/>
                <a:ext cx="190" cy="2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6" name="Text Box 43"/>
            <p:cNvSpPr txBox="1">
              <a:spLocks noChangeArrowheads="1"/>
            </p:cNvSpPr>
            <p:nvPr/>
          </p:nvSpPr>
          <p:spPr bwMode="auto">
            <a:xfrm>
              <a:off x="4454" y="647"/>
              <a:ext cx="6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en-US" altLang="zh-TW" i="1">
                  <a:ea typeface="新細明體" panose="02020500000000000000" pitchFamily="18" charset="-120"/>
                </a:rPr>
                <a:t>BCABC</a:t>
              </a:r>
            </a:p>
          </p:txBody>
        </p:sp>
      </p:grpSp>
      <p:sp>
        <p:nvSpPr>
          <p:cNvPr id="34" name="Text Box 41"/>
          <p:cNvSpPr txBox="1">
            <a:spLocks noChangeArrowheads="1"/>
          </p:cNvSpPr>
          <p:nvPr/>
        </p:nvSpPr>
        <p:spPr bwMode="auto">
          <a:xfrm>
            <a:off x="4664210" y="4809668"/>
            <a:ext cx="273387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dirty="0">
                <a:ea typeface="新細明體" panose="02020500000000000000" pitchFamily="18" charset="-120"/>
              </a:rPr>
              <a:t>	</a:t>
            </a:r>
            <a:r>
              <a:rPr lang="en-US" altLang="zh-TW" sz="2400" i="1" dirty="0" smtClean="0">
                <a:ea typeface="新細明體" panose="02020500000000000000" pitchFamily="18" charset="-120"/>
              </a:rPr>
              <a:t>Suf</a:t>
            </a:r>
            <a:r>
              <a:rPr lang="en-US" altLang="zh-TW" sz="2400" i="1" baseline="-25000" dirty="0" smtClean="0">
                <a:ea typeface="新細明體" panose="02020500000000000000" pitchFamily="18" charset="-120"/>
              </a:rPr>
              <a:t>4 </a:t>
            </a:r>
            <a:r>
              <a:rPr lang="en-US" altLang="zh-TW" sz="2400" i="1" dirty="0">
                <a:ea typeface="新細明體" panose="02020500000000000000" pitchFamily="18" charset="-120"/>
              </a:rPr>
              <a:t>= BC</a:t>
            </a:r>
            <a:endParaRPr lang="en-US" altLang="zh-TW" sz="2400" dirty="0">
              <a:ea typeface="新細明體" panose="02020500000000000000" pitchFamily="18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 dirty="0">
                <a:ea typeface="新細明體" panose="02020500000000000000" pitchFamily="18" charset="-120"/>
              </a:rPr>
              <a:t>	</a:t>
            </a:r>
            <a:r>
              <a:rPr lang="en-US" altLang="zh-TW" sz="2400" i="1" dirty="0" smtClean="0">
                <a:ea typeface="新細明體" panose="02020500000000000000" pitchFamily="18" charset="-120"/>
              </a:rPr>
              <a:t>Head</a:t>
            </a:r>
            <a:r>
              <a:rPr lang="en-US" altLang="zh-TW" sz="2400" i="1" baseline="-25000" dirty="0" smtClean="0">
                <a:ea typeface="新細明體" panose="02020500000000000000" pitchFamily="18" charset="-120"/>
              </a:rPr>
              <a:t>4</a:t>
            </a:r>
            <a:r>
              <a:rPr lang="en-US" altLang="zh-TW" sz="2400" i="1" dirty="0" smtClean="0">
                <a:ea typeface="新細明體" panose="02020500000000000000" pitchFamily="18" charset="-120"/>
              </a:rPr>
              <a:t>=BC</a:t>
            </a:r>
            <a:endParaRPr lang="en-US" altLang="zh-TW" sz="2400" i="1" dirty="0">
              <a:ea typeface="新細明體" panose="02020500000000000000" pitchFamily="18" charset="-12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 i="1" dirty="0">
                <a:ea typeface="新細明體" panose="02020500000000000000" pitchFamily="18" charset="-120"/>
              </a:rPr>
              <a:t>	</a:t>
            </a:r>
            <a:r>
              <a:rPr lang="en-US" altLang="zh-TW" sz="2400" i="1" dirty="0" smtClean="0">
                <a:ea typeface="新細明體" panose="02020500000000000000" pitchFamily="18" charset="-120"/>
              </a:rPr>
              <a:t>Tail</a:t>
            </a:r>
            <a:r>
              <a:rPr lang="en-US" altLang="zh-TW" sz="2400" i="1" baseline="-25000" dirty="0" smtClean="0">
                <a:ea typeface="新細明體" panose="02020500000000000000" pitchFamily="18" charset="-120"/>
              </a:rPr>
              <a:t>4</a:t>
            </a:r>
            <a:r>
              <a:rPr lang="en-US" altLang="zh-TW" sz="2400" i="1" dirty="0" smtClean="0">
                <a:ea typeface="新細明體" panose="02020500000000000000" pitchFamily="18" charset="-120"/>
              </a:rPr>
              <a:t> </a:t>
            </a:r>
            <a:r>
              <a:rPr lang="en-US" altLang="zh-TW" sz="2400" i="1" dirty="0">
                <a:ea typeface="新細明體" panose="02020500000000000000" pitchFamily="18" charset="-120"/>
              </a:rPr>
              <a:t>= $</a:t>
            </a:r>
            <a:r>
              <a:rPr lang="en-US" altLang="zh-TW" sz="2400" dirty="0">
                <a:ea typeface="新細明體" panose="02020500000000000000" pitchFamily="18" charset="-12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4782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Construction: Brute Force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604844"/>
            <a:ext cx="10971688" cy="5125470"/>
          </a:xfrm>
        </p:spPr>
        <p:txBody>
          <a:bodyPr/>
          <a:lstStyle/>
          <a:p>
            <a:r>
              <a:rPr lang="en-US" altLang="zh-TW" sz="2400" dirty="0">
                <a:ea typeface="新細明體" panose="02020500000000000000" pitchFamily="18" charset="-120"/>
              </a:rPr>
              <a:t>Stage </a:t>
            </a:r>
            <a:r>
              <a:rPr lang="en-US" altLang="zh-TW" sz="2400" i="1" dirty="0">
                <a:ea typeface="新細明體" panose="02020500000000000000" pitchFamily="18" charset="-120"/>
              </a:rPr>
              <a:t>i: </a:t>
            </a:r>
            <a:r>
              <a:rPr lang="en-US" altLang="zh-TW" sz="2400" dirty="0">
                <a:ea typeface="新細明體" panose="02020500000000000000" pitchFamily="18" charset="-120"/>
              </a:rPr>
              <a:t>insert </a:t>
            </a:r>
            <a:r>
              <a:rPr lang="en-US" altLang="zh-TW" sz="2400" i="1" dirty="0">
                <a:ea typeface="新細明體" panose="02020500000000000000" pitchFamily="18" charset="-120"/>
              </a:rPr>
              <a:t>S</a:t>
            </a:r>
            <a:r>
              <a:rPr lang="en-US" altLang="zh-TW" sz="2400" i="1" dirty="0" smtClean="0">
                <a:ea typeface="新細明體" panose="02020500000000000000" pitchFamily="18" charset="-120"/>
              </a:rPr>
              <a:t>(</a:t>
            </a:r>
            <a:r>
              <a:rPr lang="en-US" altLang="zh-TW" sz="2400" i="1" dirty="0" err="1" smtClean="0">
                <a:ea typeface="新細明體" panose="02020500000000000000" pitchFamily="18" charset="-120"/>
              </a:rPr>
              <a:t>i,n</a:t>
            </a:r>
            <a:r>
              <a:rPr lang="en-US" altLang="zh-TW" sz="2400" i="1" dirty="0">
                <a:ea typeface="新細明體" panose="02020500000000000000" pitchFamily="18" charset="-120"/>
              </a:rPr>
              <a:t>)</a:t>
            </a:r>
          </a:p>
          <a:p>
            <a:pPr lvl="1"/>
            <a:r>
              <a:rPr lang="en-US" altLang="zh-TW" sz="2400" dirty="0">
                <a:ea typeface="新細明體" panose="02020500000000000000" pitchFamily="18" charset="-120"/>
              </a:rPr>
              <a:t>Find extended locus of </a:t>
            </a:r>
            <a:r>
              <a:rPr lang="en-US" altLang="zh-TW" sz="2400" i="1" dirty="0" err="1">
                <a:ea typeface="新細明體" panose="02020500000000000000" pitchFamily="18" charset="-120"/>
              </a:rPr>
              <a:t>head</a:t>
            </a:r>
            <a:r>
              <a:rPr lang="en-US" altLang="zh-TW" sz="2400" i="1" baseline="-25000" dirty="0" err="1">
                <a:ea typeface="新細明體" panose="02020500000000000000" pitchFamily="18" charset="-120"/>
              </a:rPr>
              <a:t>i</a:t>
            </a:r>
            <a:r>
              <a:rPr lang="en-US" altLang="zh-TW" sz="2400" i="1" baseline="-25000" dirty="0"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ea typeface="新細明體" panose="02020500000000000000" pitchFamily="18" charset="-120"/>
              </a:rPr>
              <a:t>in Tree </a:t>
            </a:r>
            <a:r>
              <a:rPr lang="en-US" altLang="zh-TW" sz="2400" i="1" dirty="0" smtClean="0">
                <a:ea typeface="新細明體" panose="02020500000000000000" pitchFamily="18" charset="-120"/>
              </a:rPr>
              <a:t>S</a:t>
            </a:r>
            <a:r>
              <a:rPr lang="en-US" altLang="zh-TW" sz="2400" i="1" baseline="-25000" dirty="0" smtClean="0">
                <a:ea typeface="新細明體" panose="02020500000000000000" pitchFamily="18" charset="-120"/>
              </a:rPr>
              <a:t>i-1</a:t>
            </a:r>
            <a:endParaRPr lang="en-US" altLang="zh-TW" sz="2400" i="1" baseline="-25000" dirty="0">
              <a:ea typeface="新細明體" panose="02020500000000000000" pitchFamily="18" charset="-120"/>
            </a:endParaRPr>
          </a:p>
          <a:p>
            <a:pPr lvl="1"/>
            <a:r>
              <a:rPr lang="en-US" altLang="zh-TW" sz="2400" dirty="0">
                <a:ea typeface="新細明體" panose="02020500000000000000" pitchFamily="18" charset="-120"/>
              </a:rPr>
              <a:t>If string is not </a:t>
            </a:r>
            <a:r>
              <a:rPr lang="en-US" altLang="zh-TW" sz="2400" i="1" dirty="0" err="1">
                <a:ea typeface="新細明體" panose="02020500000000000000" pitchFamily="18" charset="-120"/>
              </a:rPr>
              <a:t>head</a:t>
            </a:r>
            <a:r>
              <a:rPr lang="en-US" altLang="zh-TW" sz="2400" i="1" baseline="-25000" dirty="0" err="1">
                <a:ea typeface="新細明體" panose="02020500000000000000" pitchFamily="18" charset="-120"/>
              </a:rPr>
              <a:t>i</a:t>
            </a:r>
            <a:r>
              <a:rPr lang="en-US" altLang="zh-TW" sz="2400" i="1" dirty="0">
                <a:ea typeface="新細明體" panose="02020500000000000000" pitchFamily="18" charset="-120"/>
              </a:rPr>
              <a:t>, </a:t>
            </a:r>
            <a:r>
              <a:rPr lang="en-US" altLang="zh-TW" sz="2400" dirty="0">
                <a:ea typeface="新細明體" panose="02020500000000000000" pitchFamily="18" charset="-120"/>
              </a:rPr>
              <a:t>break edge and insert internal node</a:t>
            </a:r>
          </a:p>
          <a:p>
            <a:pPr lvl="1"/>
            <a:r>
              <a:rPr lang="en-US" altLang="zh-TW" sz="2400" dirty="0">
                <a:ea typeface="新細明體" panose="02020500000000000000" pitchFamily="18" charset="-120"/>
              </a:rPr>
              <a:t>Add a new node for </a:t>
            </a:r>
            <a:r>
              <a:rPr lang="en-US" altLang="zh-TW" sz="2400" i="1" dirty="0" err="1">
                <a:ea typeface="新細明體" panose="02020500000000000000" pitchFamily="18" charset="-120"/>
              </a:rPr>
              <a:t>tail</a:t>
            </a:r>
            <a:r>
              <a:rPr lang="en-US" altLang="zh-TW" sz="2400" i="1" baseline="-25000" dirty="0" err="1">
                <a:ea typeface="新細明體" panose="02020500000000000000" pitchFamily="18" charset="-120"/>
              </a:rPr>
              <a:t>i</a:t>
            </a:r>
            <a:r>
              <a:rPr lang="en-US" altLang="zh-TW" sz="2400" i="1" baseline="-25000" dirty="0">
                <a:ea typeface="新細明體" panose="02020500000000000000" pitchFamily="18" charset="-120"/>
              </a:rPr>
              <a:t> </a:t>
            </a:r>
            <a:r>
              <a:rPr lang="en-US" altLang="zh-TW" sz="2400" i="1" dirty="0">
                <a:ea typeface="新細明體" panose="02020500000000000000" pitchFamily="18" charset="-120"/>
              </a:rPr>
              <a:t>, </a:t>
            </a:r>
            <a:r>
              <a:rPr lang="en-US" altLang="zh-TW" sz="2400" dirty="0">
                <a:ea typeface="新細明體" panose="02020500000000000000" pitchFamily="18" charset="-120"/>
              </a:rPr>
              <a:t>from locus of </a:t>
            </a:r>
            <a:r>
              <a:rPr lang="en-US" altLang="zh-TW" sz="2400" i="1" dirty="0" err="1" smtClean="0">
                <a:ea typeface="新細明體" panose="02020500000000000000" pitchFamily="18" charset="-120"/>
              </a:rPr>
              <a:t>head</a:t>
            </a:r>
            <a:r>
              <a:rPr lang="en-US" altLang="zh-TW" sz="2400" i="1" baseline="-25000" dirty="0" err="1" smtClean="0">
                <a:ea typeface="新細明體" panose="02020500000000000000" pitchFamily="18" charset="-120"/>
              </a:rPr>
              <a:t>i</a:t>
            </a:r>
            <a:endParaRPr lang="en-US" altLang="zh-TW" sz="2400" i="1" baseline="-25000" dirty="0" smtClean="0">
              <a:ea typeface="新細明體" panose="02020500000000000000" pitchFamily="18" charset="-120"/>
            </a:endParaRPr>
          </a:p>
          <a:p>
            <a:pPr algn="l"/>
            <a:r>
              <a:rPr lang="en-US" altLang="zh-TW" sz="28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S=</a:t>
            </a:r>
            <a:r>
              <a:rPr lang="en-US" altLang="zh-TW" sz="2800" b="1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bcabc</a:t>
            </a:r>
            <a:r>
              <a:rPr lang="en-US" altLang="zh-TW" sz="28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$</a:t>
            </a:r>
            <a:endParaRPr lang="en-US" altLang="zh-TW" sz="2800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zh-TW" altLang="en-US" dirty="0"/>
          </a:p>
        </p:txBody>
      </p:sp>
      <p:grpSp>
        <p:nvGrpSpPr>
          <p:cNvPr id="4" name="Group 73"/>
          <p:cNvGrpSpPr>
            <a:grpSpLocks/>
          </p:cNvGrpSpPr>
          <p:nvPr/>
        </p:nvGrpSpPr>
        <p:grpSpPr bwMode="auto">
          <a:xfrm>
            <a:off x="1108951" y="4167579"/>
            <a:ext cx="2923200" cy="2386800"/>
            <a:chOff x="576" y="2388"/>
            <a:chExt cx="1148" cy="766"/>
          </a:xfrm>
        </p:grpSpPr>
        <p:sp>
          <p:nvSpPr>
            <p:cNvPr id="5" name="Text Box 10"/>
            <p:cNvSpPr txBox="1">
              <a:spLocks noChangeArrowheads="1"/>
            </p:cNvSpPr>
            <p:nvPr/>
          </p:nvSpPr>
          <p:spPr bwMode="auto">
            <a:xfrm>
              <a:off x="576" y="2400"/>
              <a:ext cx="3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abc$</a:t>
              </a:r>
            </a:p>
          </p:txBody>
        </p:sp>
        <p:sp>
          <p:nvSpPr>
            <p:cNvPr id="6" name="Line 15"/>
            <p:cNvSpPr>
              <a:spLocks noChangeShapeType="1"/>
            </p:cNvSpPr>
            <p:nvPr/>
          </p:nvSpPr>
          <p:spPr bwMode="auto">
            <a:xfrm flipV="1">
              <a:off x="672" y="2395"/>
              <a:ext cx="417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Line 34"/>
            <p:cNvSpPr>
              <a:spLocks noChangeShapeType="1"/>
            </p:cNvSpPr>
            <p:nvPr/>
          </p:nvSpPr>
          <p:spPr bwMode="auto">
            <a:xfrm>
              <a:off x="1096" y="2388"/>
              <a:ext cx="0" cy="7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 Box 35"/>
            <p:cNvSpPr txBox="1">
              <a:spLocks noChangeArrowheads="1"/>
            </p:cNvSpPr>
            <p:nvPr/>
          </p:nvSpPr>
          <p:spPr bwMode="auto">
            <a:xfrm>
              <a:off x="1104" y="2832"/>
              <a:ext cx="45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bcabc$</a:t>
              </a:r>
            </a:p>
          </p:txBody>
        </p:sp>
        <p:sp>
          <p:nvSpPr>
            <p:cNvPr id="9" name="Line 36"/>
            <p:cNvSpPr>
              <a:spLocks noChangeShapeType="1"/>
            </p:cNvSpPr>
            <p:nvPr/>
          </p:nvSpPr>
          <p:spPr bwMode="auto">
            <a:xfrm>
              <a:off x="1096" y="2395"/>
              <a:ext cx="628" cy="5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 Box 38"/>
            <p:cNvSpPr txBox="1">
              <a:spLocks noChangeArrowheads="1"/>
            </p:cNvSpPr>
            <p:nvPr/>
          </p:nvSpPr>
          <p:spPr bwMode="auto">
            <a:xfrm>
              <a:off x="1252" y="2406"/>
              <a:ext cx="39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cabc$</a:t>
              </a:r>
            </a:p>
          </p:txBody>
        </p:sp>
      </p:grpSp>
      <p:grpSp>
        <p:nvGrpSpPr>
          <p:cNvPr id="20" name="Group 41"/>
          <p:cNvGrpSpPr>
            <a:grpSpLocks/>
          </p:cNvGrpSpPr>
          <p:nvPr/>
        </p:nvGrpSpPr>
        <p:grpSpPr bwMode="auto">
          <a:xfrm>
            <a:off x="5255370" y="4038718"/>
            <a:ext cx="1511300" cy="998537"/>
            <a:chOff x="2194" y="2339"/>
            <a:chExt cx="952" cy="629"/>
          </a:xfrm>
        </p:grpSpPr>
        <p:sp>
          <p:nvSpPr>
            <p:cNvPr id="21" name="Text Box 39"/>
            <p:cNvSpPr txBox="1">
              <a:spLocks noChangeArrowheads="1"/>
            </p:cNvSpPr>
            <p:nvPr/>
          </p:nvSpPr>
          <p:spPr bwMode="auto">
            <a:xfrm>
              <a:off x="2194" y="2339"/>
              <a:ext cx="9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dirty="0">
                  <a:ea typeface="新細明體" panose="02020500000000000000" pitchFamily="18" charset="-120"/>
                </a:rPr>
                <a:t>S</a:t>
              </a:r>
              <a:r>
                <a:rPr lang="en-US" altLang="zh-TW" sz="1800" baseline="-25000" dirty="0" smtClean="0">
                  <a:ea typeface="新細明體" panose="02020500000000000000" pitchFamily="18" charset="-120"/>
                </a:rPr>
                <a:t>4</a:t>
              </a:r>
              <a:r>
                <a:rPr lang="en-US" altLang="zh-TW" sz="1800" dirty="0" smtClean="0">
                  <a:ea typeface="新細明體" panose="02020500000000000000" pitchFamily="18" charset="-120"/>
                </a:rPr>
                <a:t> </a:t>
              </a:r>
              <a:r>
                <a:rPr lang="en-US" altLang="zh-TW" sz="1800" dirty="0">
                  <a:ea typeface="新細明體" panose="02020500000000000000" pitchFamily="18" charset="-120"/>
                </a:rPr>
                <a:t>– insert </a:t>
              </a:r>
              <a:r>
                <a:rPr lang="en-US" altLang="zh-TW" sz="1800" i="1" dirty="0" err="1">
                  <a:ea typeface="新細明體" panose="02020500000000000000" pitchFamily="18" charset="-120"/>
                </a:rPr>
                <a:t>bc</a:t>
              </a:r>
              <a:r>
                <a:rPr lang="en-US" altLang="zh-TW" sz="1800" i="1" dirty="0">
                  <a:ea typeface="新細明體" panose="02020500000000000000" pitchFamily="18" charset="-120"/>
                </a:rPr>
                <a:t>$</a:t>
              </a:r>
              <a:endParaRPr lang="en-US" altLang="zh-TW" sz="1800" dirty="0">
                <a:ea typeface="新細明體" panose="02020500000000000000" pitchFamily="18" charset="-120"/>
              </a:endParaRPr>
            </a:p>
          </p:txBody>
        </p:sp>
        <p:sp>
          <p:nvSpPr>
            <p:cNvPr id="22" name="AutoShape 40"/>
            <p:cNvSpPr>
              <a:spLocks noChangeArrowheads="1"/>
            </p:cNvSpPr>
            <p:nvPr/>
          </p:nvSpPr>
          <p:spPr bwMode="auto">
            <a:xfrm>
              <a:off x="2410" y="2662"/>
              <a:ext cx="615" cy="306"/>
            </a:xfrm>
            <a:prstGeom prst="rightArrow">
              <a:avLst>
                <a:gd name="adj1" fmla="val 50000"/>
                <a:gd name="adj2" fmla="val 50245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23" name="Text Box 42"/>
          <p:cNvSpPr txBox="1">
            <a:spLocks noChangeArrowheads="1"/>
          </p:cNvSpPr>
          <p:nvPr/>
        </p:nvSpPr>
        <p:spPr bwMode="auto">
          <a:xfrm>
            <a:off x="5337126" y="5289700"/>
            <a:ext cx="13477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i="1" dirty="0">
                <a:ea typeface="新細明體" panose="02020500000000000000" pitchFamily="18" charset="-120"/>
              </a:rPr>
              <a:t>Head = </a:t>
            </a:r>
            <a:r>
              <a:rPr lang="en-US" altLang="zh-TW" i="1" dirty="0" err="1">
                <a:ea typeface="新細明體" panose="02020500000000000000" pitchFamily="18" charset="-120"/>
              </a:rPr>
              <a:t>bc</a:t>
            </a:r>
            <a:endParaRPr lang="en-US" altLang="zh-TW" i="1" dirty="0">
              <a:ea typeface="新細明體" panose="02020500000000000000" pitchFamily="18" charset="-12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i="1" dirty="0">
                <a:ea typeface="新細明體" panose="02020500000000000000" pitchFamily="18" charset="-120"/>
              </a:rPr>
              <a:t>Tail = $</a:t>
            </a:r>
          </a:p>
        </p:txBody>
      </p:sp>
      <p:grpSp>
        <p:nvGrpSpPr>
          <p:cNvPr id="24" name="Group 74"/>
          <p:cNvGrpSpPr>
            <a:grpSpLocks/>
          </p:cNvGrpSpPr>
          <p:nvPr/>
        </p:nvGrpSpPr>
        <p:grpSpPr bwMode="auto">
          <a:xfrm>
            <a:off x="8113838" y="4166443"/>
            <a:ext cx="2921517" cy="2385412"/>
            <a:chOff x="3761" y="2540"/>
            <a:chExt cx="1255" cy="1067"/>
          </a:xfrm>
        </p:grpSpPr>
        <p:sp>
          <p:nvSpPr>
            <p:cNvPr id="25" name="Text Box 45"/>
            <p:cNvSpPr txBox="1">
              <a:spLocks noChangeArrowheads="1"/>
            </p:cNvSpPr>
            <p:nvPr/>
          </p:nvSpPr>
          <p:spPr bwMode="auto">
            <a:xfrm>
              <a:off x="3761" y="2614"/>
              <a:ext cx="3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abc$</a:t>
              </a:r>
            </a:p>
          </p:txBody>
        </p:sp>
        <p:sp>
          <p:nvSpPr>
            <p:cNvPr id="26" name="Line 46"/>
            <p:cNvSpPr>
              <a:spLocks noChangeShapeType="1"/>
            </p:cNvSpPr>
            <p:nvPr/>
          </p:nvSpPr>
          <p:spPr bwMode="auto">
            <a:xfrm flipV="1">
              <a:off x="3854" y="2547"/>
              <a:ext cx="527" cy="4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Line 47"/>
            <p:cNvSpPr>
              <a:spLocks noChangeShapeType="1"/>
            </p:cNvSpPr>
            <p:nvPr/>
          </p:nvSpPr>
          <p:spPr bwMode="auto">
            <a:xfrm>
              <a:off x="4388" y="2540"/>
              <a:ext cx="0" cy="7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Text Box 48"/>
            <p:cNvSpPr txBox="1">
              <a:spLocks noChangeArrowheads="1"/>
            </p:cNvSpPr>
            <p:nvPr/>
          </p:nvSpPr>
          <p:spPr bwMode="auto">
            <a:xfrm>
              <a:off x="4169" y="3000"/>
              <a:ext cx="22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bc</a:t>
              </a:r>
            </a:p>
          </p:txBody>
        </p:sp>
        <p:sp>
          <p:nvSpPr>
            <p:cNvPr id="29" name="Line 49"/>
            <p:cNvSpPr>
              <a:spLocks noChangeShapeType="1"/>
            </p:cNvSpPr>
            <p:nvPr/>
          </p:nvSpPr>
          <p:spPr bwMode="auto">
            <a:xfrm>
              <a:off x="4388" y="2547"/>
              <a:ext cx="628" cy="5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Text Box 50"/>
            <p:cNvSpPr txBox="1">
              <a:spLocks noChangeArrowheads="1"/>
            </p:cNvSpPr>
            <p:nvPr/>
          </p:nvSpPr>
          <p:spPr bwMode="auto">
            <a:xfrm>
              <a:off x="4544" y="2558"/>
              <a:ext cx="39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400" b="1">
                  <a:latin typeface="Times New Roman" panose="02020603050405020304" pitchFamily="18" charset="0"/>
                  <a:ea typeface="新細明體" panose="02020500000000000000" pitchFamily="18" charset="-120"/>
                </a:rPr>
                <a:t>cabc$</a:t>
              </a:r>
            </a:p>
          </p:txBody>
        </p:sp>
        <p:grpSp>
          <p:nvGrpSpPr>
            <p:cNvPr id="31" name="Group 56"/>
            <p:cNvGrpSpPr>
              <a:grpSpLocks/>
            </p:cNvGrpSpPr>
            <p:nvPr/>
          </p:nvGrpSpPr>
          <p:grpSpPr bwMode="auto">
            <a:xfrm>
              <a:off x="3895" y="3310"/>
              <a:ext cx="488" cy="271"/>
              <a:chOff x="3911" y="3316"/>
              <a:chExt cx="488" cy="271"/>
            </a:xfrm>
          </p:grpSpPr>
          <p:sp>
            <p:nvSpPr>
              <p:cNvPr id="35" name="Line 51"/>
              <p:cNvSpPr>
                <a:spLocks noChangeShapeType="1"/>
              </p:cNvSpPr>
              <p:nvPr/>
            </p:nvSpPr>
            <p:spPr bwMode="auto">
              <a:xfrm flipH="1">
                <a:off x="4238" y="3316"/>
                <a:ext cx="161" cy="2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6" name="Text Box 52"/>
              <p:cNvSpPr txBox="1">
                <a:spLocks noChangeArrowheads="1"/>
              </p:cNvSpPr>
              <p:nvPr/>
            </p:nvSpPr>
            <p:spPr bwMode="auto">
              <a:xfrm>
                <a:off x="3911" y="3354"/>
                <a:ext cx="3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TW" sz="1400" b="1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abc$</a:t>
                </a:r>
              </a:p>
            </p:txBody>
          </p:sp>
        </p:grpSp>
        <p:grpSp>
          <p:nvGrpSpPr>
            <p:cNvPr id="32" name="Group 57"/>
            <p:cNvGrpSpPr>
              <a:grpSpLocks/>
            </p:cNvGrpSpPr>
            <p:nvPr/>
          </p:nvGrpSpPr>
          <p:grpSpPr bwMode="auto">
            <a:xfrm>
              <a:off x="4393" y="3319"/>
              <a:ext cx="239" cy="288"/>
              <a:chOff x="4399" y="3322"/>
              <a:chExt cx="239" cy="288"/>
            </a:xfrm>
          </p:grpSpPr>
          <p:sp>
            <p:nvSpPr>
              <p:cNvPr id="33" name="Line 53"/>
              <p:cNvSpPr>
                <a:spLocks noChangeShapeType="1"/>
              </p:cNvSpPr>
              <p:nvPr/>
            </p:nvSpPr>
            <p:spPr bwMode="auto">
              <a:xfrm>
                <a:off x="4399" y="3322"/>
                <a:ext cx="184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4" name="Text Box 54"/>
              <p:cNvSpPr txBox="1">
                <a:spLocks noChangeArrowheads="1"/>
              </p:cNvSpPr>
              <p:nvPr/>
            </p:nvSpPr>
            <p:spPr bwMode="auto">
              <a:xfrm>
                <a:off x="4466" y="332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TW" sz="1400" b="1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$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8486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604844"/>
            <a:ext cx="10971688" cy="5075874"/>
          </a:xfrm>
        </p:spPr>
        <p:txBody>
          <a:bodyPr/>
          <a:lstStyle/>
          <a:p>
            <a:r>
              <a:rPr lang="en-US" altLang="zh-TW" sz="3600" dirty="0">
                <a:ea typeface="新細明體" panose="02020500000000000000" pitchFamily="18" charset="-120"/>
              </a:rPr>
              <a:t>Brute-force search: start from root and trace edges</a:t>
            </a:r>
          </a:p>
          <a:p>
            <a:pPr lvl="1">
              <a:lnSpc>
                <a:spcPct val="150000"/>
              </a:lnSpc>
            </a:pP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Worst-case: </a:t>
            </a:r>
            <a:r>
              <a:rPr lang="en-US" altLang="zh-TW" sz="3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AAAAAAA$. 	</a:t>
            </a:r>
          </a:p>
          <a:p>
            <a:pPr lvl="1">
              <a:lnSpc>
                <a:spcPct val="150000"/>
              </a:lnSpc>
            </a:pPr>
            <a:r>
              <a:rPr lang="en-US" altLang="zh-TW" sz="3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sz="36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US" altLang="zh-TW" sz="36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3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|=n-</a:t>
            </a:r>
            <a:r>
              <a:rPr lang="en-US" altLang="zh-TW" sz="36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3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for </a:t>
            </a:r>
            <a:r>
              <a:rPr lang="en-US" altLang="zh-TW" sz="3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1&lt; </a:t>
            </a:r>
            <a:r>
              <a:rPr lang="en-US" altLang="zh-TW" sz="36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3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 n, n-</a:t>
            </a:r>
            <a:r>
              <a:rPr lang="en-US" altLang="zh-TW" sz="36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3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comparisons for each search</a:t>
            </a:r>
          </a:p>
          <a:p>
            <a:pPr lvl="1">
              <a:lnSpc>
                <a:spcPct val="150000"/>
              </a:lnSpc>
            </a:pPr>
            <a:r>
              <a:rPr lang="en-US" altLang="zh-TW" sz="3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Θ (n</a:t>
            </a:r>
            <a:r>
              <a:rPr lang="en-US" altLang="zh-TW" sz="3600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TW" sz="360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en-US" altLang="zh-TW" sz="36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r>
              <a:rPr lang="en-US" altLang="zh-TW" sz="3200" dirty="0" err="1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McCreight</a:t>
            </a:r>
            <a:r>
              <a:rPr lang="en-US" altLang="zh-TW" sz="32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– </a:t>
            </a:r>
            <a:r>
              <a:rPr lang="en-US" altLang="zh-TW" sz="3200" i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suffix links </a:t>
            </a:r>
            <a:r>
              <a:rPr lang="en-US" altLang="zh-TW" sz="32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improve performance</a:t>
            </a:r>
            <a:endParaRPr lang="en-US" altLang="zh-TW" sz="3200" i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363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zh-TW" sz="7200" dirty="0" smtClean="0"/>
              <a:t>Algorithm M</a:t>
            </a:r>
            <a:endParaRPr lang="zh-TW" altLang="en-US" sz="7200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550" y="1674250"/>
            <a:ext cx="2623698" cy="39980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文字方塊 7"/>
          <p:cNvSpPr txBox="1"/>
          <p:nvPr/>
        </p:nvSpPr>
        <p:spPr>
          <a:xfrm>
            <a:off x="1112068" y="1674250"/>
            <a:ext cx="718343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Edward </a:t>
            </a:r>
            <a:r>
              <a:rPr lang="en-US" altLang="zh-TW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Meyers </a:t>
            </a:r>
            <a:r>
              <a:rPr lang="en-US" altLang="zh-TW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McCreight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 is an 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  <a:hlinkClick r:id="rId3" tooltip="People of the United States"/>
              </a:rPr>
              <a:t>American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 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  <a:hlinkClick r:id="rId4" tooltip="Computer scientist"/>
              </a:rPr>
              <a:t>computer scientist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  <a:endParaRPr lang="en-US" altLang="zh-TW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He 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co-invented the 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  <a:hlinkClick r:id="rId5" tooltip="B-tree"/>
              </a:rPr>
              <a:t>B-tree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 with 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  <a:hlinkClick r:id="rId6" tooltip="Rudolf Bayer"/>
              </a:rPr>
              <a:t>Rudolf Bayer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 while at </a:t>
            </a:r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  <a:hlinkClick r:id="rId7" tooltip="Boeing"/>
              </a:rPr>
              <a:t>Boeing</a:t>
            </a:r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US" altLang="zh-TW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and improved Weiner's 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algorithm to compute the 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  <a:hlinkClick r:id="rId8" tooltip="Suffix tree"/>
              </a:rPr>
              <a:t>suffix tree</a:t>
            </a:r>
            <a:r>
              <a:rPr lang="en-US" altLang="zh-TW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 of a string.</a:t>
            </a:r>
          </a:p>
          <a:p>
            <a:endParaRPr lang="en-US" altLang="zh-TW" sz="2400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372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Suffix Links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604844"/>
            <a:ext cx="10971688" cy="4814617"/>
          </a:xfrm>
        </p:spPr>
        <p:txBody>
          <a:bodyPr/>
          <a:lstStyle/>
          <a:p>
            <a:r>
              <a:rPr lang="en-US" altLang="zh-TW" dirty="0" smtClean="0"/>
              <a:t>	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In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the graph below, which is the suffix tree for 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ABABABC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, the yellow circle is the root, the grey, blue and green ones are internal nodes, and the small black ones are leaves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endParaRPr lang="zh-TW" altLang="zh-TW" dirty="0">
              <a:latin typeface="Cambria Math" panose="02040503050406030204" pitchFamily="18" charset="0"/>
            </a:endParaRP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472" y="3093234"/>
            <a:ext cx="5279864" cy="360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16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Suffix Links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604844"/>
            <a:ext cx="10971688" cy="4954576"/>
          </a:xfrm>
        </p:spPr>
        <p:txBody>
          <a:bodyPr/>
          <a:lstStyle/>
          <a:p>
            <a:r>
              <a:rPr lang="en-US" altLang="zh-TW" b="1" dirty="0"/>
              <a:t>A</a:t>
            </a:r>
            <a:r>
              <a:rPr lang="en-US" altLang="zh-TW" b="1" dirty="0" smtClean="0"/>
              <a:t>bout </a:t>
            </a:r>
            <a:r>
              <a:rPr lang="en-US" altLang="zh-TW" b="1" dirty="0"/>
              <a:t>suffix links:</a:t>
            </a:r>
            <a:endParaRPr lang="en-US" altLang="zh-TW" dirty="0"/>
          </a:p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If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the string s leading up to some internal node X is longer than 1 character, the same string minus the first character (call this s</a:t>
            </a:r>
            <a:r>
              <a:rPr lang="en-US" altLang="zh-TW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-1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) must be in the tree, too (it's a suffix tree, after all, so the suffix of any of its strings must be in the tree, too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).</a:t>
            </a:r>
          </a:p>
          <a:p>
            <a:endParaRPr lang="en-US" altLang="zh-TW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Example</a:t>
            </a:r>
            <a:r>
              <a:rPr lang="zh-TW" altLang="en-US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：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Let </a:t>
            </a:r>
            <a:r>
              <a:rPr lang="en-US" altLang="zh-TW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 = ABAB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the string leading to the blue. Then after removing the first character, </a:t>
            </a:r>
            <a:r>
              <a:rPr lang="en-US" altLang="zh-TW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altLang="zh-TW" baseline="-2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 </a:t>
            </a:r>
            <a:r>
              <a:rPr lang="en-US" altLang="zh-TW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BAB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. And indeed that string is found in the tree, too. It leads to the green node</a:t>
            </a:r>
            <a:endParaRPr lang="en-US" altLang="zh-TW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154" y="273354"/>
            <a:ext cx="2348094" cy="160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00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Suffix Links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60" y="3593585"/>
            <a:ext cx="4475624" cy="3058631"/>
          </a:xfrm>
          <a:prstGeom prst="rect">
            <a:avLst/>
          </a:prstGeom>
        </p:spPr>
      </p:pic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dotted lines indicate the suffix </a:t>
            </a:r>
            <a:r>
              <a:rPr lang="en-US" altLang="zh-TW" dirty="0" smtClean="0"/>
              <a:t>links</a:t>
            </a:r>
          </a:p>
          <a:p>
            <a:r>
              <a:rPr lang="en-US" altLang="zh-TW" dirty="0"/>
              <a:t> ABAB   -&gt;    BAB    -&gt;    AB    -&gt;    B</a:t>
            </a:r>
            <a:endParaRPr lang="zh-TW" altLang="zh-TW" dirty="0"/>
          </a:p>
          <a:p>
            <a:r>
              <a:rPr lang="en-US" altLang="zh-TW" dirty="0"/>
              <a:t>(blue)      (green)     (gray1)     (gray2)</a:t>
            </a:r>
            <a:endParaRPr lang="zh-TW" altLang="zh-TW" dirty="0"/>
          </a:p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633" y="3592216"/>
            <a:ext cx="4804615" cy="3060000"/>
          </a:xfrm>
          <a:prstGeom prst="rect">
            <a:avLst/>
          </a:prstGeom>
        </p:spPr>
      </p:pic>
      <p:sp>
        <p:nvSpPr>
          <p:cNvPr id="8" name="向右箭號 7"/>
          <p:cNvSpPr/>
          <p:nvPr/>
        </p:nvSpPr>
        <p:spPr>
          <a:xfrm>
            <a:off x="5317602" y="4759668"/>
            <a:ext cx="1306286" cy="90506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00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Another terminology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604844"/>
            <a:ext cx="10971688" cy="5150183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l"/>
            </a:pP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8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Locus: </a:t>
            </a:r>
            <a:endParaRPr lang="en-US" altLang="zh-TW" sz="2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lvl="1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US" altLang="zh-TW" sz="28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called the </a:t>
            </a:r>
            <a:r>
              <a:rPr lang="en-US" altLang="zh-TW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locus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of the string </a:t>
            </a:r>
            <a:r>
              <a:rPr lang="en-US" altLang="zh-TW" sz="2800" i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uv</a:t>
            </a:r>
            <a:r>
              <a:rPr lang="en-US" altLang="zh-TW" sz="28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the path from the root to </a:t>
            </a:r>
            <a:r>
              <a:rPr lang="en-US" altLang="zh-TW" sz="28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denotes </a:t>
            </a:r>
            <a:r>
              <a:rPr lang="en-US" altLang="zh-TW" sz="2800" i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uv</a:t>
            </a:r>
            <a:r>
              <a:rPr lang="en-US" altLang="zh-TW" sz="28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US" altLang="zh-TW" sz="2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lvl="1" indent="0">
              <a:buNone/>
            </a:pPr>
            <a:endParaRPr lang="en-US" altLang="zh-TW" sz="2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1" indent="0">
              <a:lnSpc>
                <a:spcPct val="100000"/>
              </a:lnSpc>
              <a:spcBef>
                <a:spcPts val="1284"/>
              </a:spcBef>
              <a:buSzTx/>
              <a:buFont typeface="Wingdings" panose="05000000000000000000" pitchFamily="2" charset="2"/>
              <a:buChar char="l"/>
            </a:pP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P</a:t>
            </a:r>
            <a:r>
              <a:rPr lang="en-US" altLang="zh-TW" sz="2800" i="1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ath(k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) </a:t>
            </a:r>
          </a:p>
          <a:p>
            <a:pPr marL="414772" lvl="2" indent="0">
              <a:lnSpc>
                <a:spcPct val="100000"/>
              </a:lnSpc>
              <a:spcBef>
                <a:spcPts val="1284"/>
              </a:spcBef>
              <a:buSzTx/>
              <a:buNone/>
            </a:pPr>
            <a:r>
              <a:rPr lang="en-US" altLang="zh-TW" sz="2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we 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denote the concatenation of the edge labels on the path from the root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of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T 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to the node </a:t>
            </a:r>
            <a:r>
              <a:rPr lang="en-US" altLang="zh-TW" sz="2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k.</a:t>
            </a:r>
            <a:endParaRPr lang="en-US" altLang="zh-TW" sz="2837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l" eaLnBrk="1" hangingPunct="1">
              <a:buFont typeface="Wingdings" panose="05000000000000000000" pitchFamily="2" charset="2"/>
              <a:buChar char="l"/>
            </a:pPr>
            <a:endParaRPr lang="en-US" altLang="zh-TW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l" eaLnBrk="1" hangingPunct="1">
              <a:buFont typeface="Wingdings" panose="05000000000000000000" pitchFamily="2" charset="2"/>
              <a:buChar char="l"/>
            </a:pPr>
            <a:endParaRPr lang="en-US" altLang="zh-TW" i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zh-TW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62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l"/>
            <a:r>
              <a:rPr lang="en-US" altLang="zh-TW" sz="6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Locus</a:t>
            </a:r>
            <a:endParaRPr lang="zh-TW" altLang="en-US" sz="6000" dirty="0"/>
          </a:p>
        </p:txBody>
      </p:sp>
      <p:grpSp>
        <p:nvGrpSpPr>
          <p:cNvPr id="61" name="群組 60"/>
          <p:cNvGrpSpPr/>
          <p:nvPr/>
        </p:nvGrpSpPr>
        <p:grpSpPr>
          <a:xfrm>
            <a:off x="2710853" y="1418358"/>
            <a:ext cx="7710011" cy="5040107"/>
            <a:chOff x="2070100" y="2133600"/>
            <a:chExt cx="6769100" cy="4316413"/>
          </a:xfrm>
        </p:grpSpPr>
        <p:sp>
          <p:nvSpPr>
            <p:cNvPr id="34" name="Oval 5"/>
            <p:cNvSpPr>
              <a:spLocks noChangeArrowheads="1"/>
            </p:cNvSpPr>
            <p:nvPr/>
          </p:nvSpPr>
          <p:spPr bwMode="auto">
            <a:xfrm>
              <a:off x="3352800" y="2362200"/>
              <a:ext cx="381000" cy="3048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35" name="Line 10"/>
            <p:cNvSpPr>
              <a:spLocks noChangeShapeType="1"/>
            </p:cNvSpPr>
            <p:nvPr/>
          </p:nvSpPr>
          <p:spPr bwMode="auto">
            <a:xfrm>
              <a:off x="3581400" y="2667000"/>
              <a:ext cx="533400" cy="1295400"/>
            </a:xfrm>
            <a:prstGeom prst="line">
              <a:avLst/>
            </a:prstGeom>
            <a:noFill/>
            <a:ln w="15875">
              <a:solidFill>
                <a:schemeClr val="folHlink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6" name="Oval 11"/>
            <p:cNvSpPr>
              <a:spLocks noChangeArrowheads="1"/>
            </p:cNvSpPr>
            <p:nvPr/>
          </p:nvSpPr>
          <p:spPr bwMode="auto">
            <a:xfrm>
              <a:off x="3962400" y="3962400"/>
              <a:ext cx="381000" cy="3810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37" name="Text Box 12"/>
            <p:cNvSpPr txBox="1">
              <a:spLocks noChangeArrowheads="1"/>
            </p:cNvSpPr>
            <p:nvPr/>
          </p:nvSpPr>
          <p:spPr bwMode="auto">
            <a:xfrm>
              <a:off x="3810000" y="2209800"/>
              <a:ext cx="685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dirty="0">
                  <a:solidFill>
                    <a:schemeClr val="accent1"/>
                  </a:solidFill>
                  <a:ea typeface="新細明體" panose="02020500000000000000" pitchFamily="18" charset="-120"/>
                </a:rPr>
                <a:t>root</a:t>
              </a:r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>
              <a:off x="4191000" y="4343400"/>
              <a:ext cx="304800" cy="914400"/>
            </a:xfrm>
            <a:prstGeom prst="line">
              <a:avLst/>
            </a:prstGeom>
            <a:noFill/>
            <a:ln w="15875">
              <a:solidFill>
                <a:schemeClr val="folHlink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9" name="Text Box 17"/>
            <p:cNvSpPr txBox="1">
              <a:spLocks noChangeArrowheads="1"/>
            </p:cNvSpPr>
            <p:nvPr/>
          </p:nvSpPr>
          <p:spPr bwMode="auto">
            <a:xfrm>
              <a:off x="3886200" y="3048000"/>
              <a:ext cx="533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>
                  <a:solidFill>
                    <a:schemeClr val="accent1"/>
                  </a:solidFill>
                  <a:ea typeface="新細明體" panose="02020500000000000000" pitchFamily="18" charset="-120"/>
                </a:rPr>
                <a:t>u</a:t>
              </a:r>
            </a:p>
          </p:txBody>
        </p:sp>
        <p:sp>
          <p:nvSpPr>
            <p:cNvPr id="40" name="Text Box 18"/>
            <p:cNvSpPr txBox="1">
              <a:spLocks noChangeArrowheads="1"/>
            </p:cNvSpPr>
            <p:nvPr/>
          </p:nvSpPr>
          <p:spPr bwMode="auto">
            <a:xfrm>
              <a:off x="4419600" y="4648200"/>
              <a:ext cx="533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>
                  <a:solidFill>
                    <a:schemeClr val="accent1"/>
                  </a:solidFill>
                  <a:ea typeface="新細明體" panose="02020500000000000000" pitchFamily="18" charset="-120"/>
                </a:rPr>
                <a:t>v</a:t>
              </a:r>
            </a:p>
          </p:txBody>
        </p:sp>
        <p:sp>
          <p:nvSpPr>
            <p:cNvPr id="41" name="Text Box 19"/>
            <p:cNvSpPr txBox="1">
              <a:spLocks noChangeArrowheads="1"/>
            </p:cNvSpPr>
            <p:nvPr/>
          </p:nvSpPr>
          <p:spPr bwMode="auto">
            <a:xfrm>
              <a:off x="4648200" y="5410200"/>
              <a:ext cx="685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u="sng">
                  <a:solidFill>
                    <a:schemeClr val="accent1"/>
                  </a:solidFill>
                  <a:ea typeface="新細明體" panose="02020500000000000000" pitchFamily="18" charset="-120"/>
                </a:rPr>
                <a:t>uv</a:t>
              </a:r>
            </a:p>
          </p:txBody>
        </p:sp>
        <p:sp>
          <p:nvSpPr>
            <p:cNvPr id="42" name="Text Box 20"/>
            <p:cNvSpPr txBox="1">
              <a:spLocks noChangeArrowheads="1"/>
            </p:cNvSpPr>
            <p:nvPr/>
          </p:nvSpPr>
          <p:spPr bwMode="auto">
            <a:xfrm>
              <a:off x="4343400" y="3810000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u="sng">
                  <a:solidFill>
                    <a:schemeClr val="accent1"/>
                  </a:solidFill>
                  <a:ea typeface="新細明體" panose="02020500000000000000" pitchFamily="18" charset="-120"/>
                </a:rPr>
                <a:t>u</a:t>
              </a:r>
            </a:p>
          </p:txBody>
        </p:sp>
        <p:sp>
          <p:nvSpPr>
            <p:cNvPr id="43" name="Line 21"/>
            <p:cNvSpPr>
              <a:spLocks noChangeShapeType="1"/>
            </p:cNvSpPr>
            <p:nvPr/>
          </p:nvSpPr>
          <p:spPr bwMode="auto">
            <a:xfrm flipH="1">
              <a:off x="3352800" y="4343400"/>
              <a:ext cx="685800" cy="838200"/>
            </a:xfrm>
            <a:prstGeom prst="line">
              <a:avLst/>
            </a:prstGeom>
            <a:noFill/>
            <a:ln w="15875">
              <a:solidFill>
                <a:schemeClr val="folHlink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4" name="Line 22"/>
            <p:cNvSpPr>
              <a:spLocks noChangeShapeType="1"/>
            </p:cNvSpPr>
            <p:nvPr/>
          </p:nvSpPr>
          <p:spPr bwMode="auto">
            <a:xfrm flipH="1">
              <a:off x="2590800" y="2667000"/>
              <a:ext cx="914400" cy="1447800"/>
            </a:xfrm>
            <a:prstGeom prst="line">
              <a:avLst/>
            </a:prstGeom>
            <a:noFill/>
            <a:ln w="15875">
              <a:solidFill>
                <a:schemeClr val="folHlink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5" name="Oval 23"/>
            <p:cNvSpPr>
              <a:spLocks noChangeArrowheads="1"/>
            </p:cNvSpPr>
            <p:nvPr/>
          </p:nvSpPr>
          <p:spPr bwMode="auto">
            <a:xfrm>
              <a:off x="2362200" y="4114800"/>
              <a:ext cx="381000" cy="3810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46" name="Oval 24"/>
            <p:cNvSpPr>
              <a:spLocks noChangeArrowheads="1"/>
            </p:cNvSpPr>
            <p:nvPr/>
          </p:nvSpPr>
          <p:spPr bwMode="auto">
            <a:xfrm>
              <a:off x="3048000" y="5181600"/>
              <a:ext cx="381000" cy="3810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48" name="Text Box 26"/>
            <p:cNvSpPr txBox="1">
              <a:spLocks noChangeArrowheads="1"/>
            </p:cNvSpPr>
            <p:nvPr/>
          </p:nvSpPr>
          <p:spPr bwMode="auto">
            <a:xfrm>
              <a:off x="5105400" y="2133600"/>
              <a:ext cx="35052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2800">
                  <a:ea typeface="新細明體" panose="02020500000000000000" pitchFamily="18" charset="-120"/>
                </a:rPr>
                <a:t>Path(k) = uv  </a:t>
              </a:r>
              <a:r>
                <a:rPr lang="en-US" altLang="zh-TW" sz="2800">
                  <a:ea typeface="新細明體" panose="02020500000000000000" pitchFamily="18" charset="-120"/>
                  <a:sym typeface="Wingdings" panose="05000000000000000000" pitchFamily="2" charset="2"/>
                </a:rPr>
                <a:t> k=</a:t>
              </a:r>
              <a:r>
                <a:rPr lang="en-US" altLang="zh-TW" sz="2800" u="sng">
                  <a:ea typeface="新細明體" panose="02020500000000000000" pitchFamily="18" charset="-120"/>
                  <a:sym typeface="Wingdings" panose="05000000000000000000" pitchFamily="2" charset="2"/>
                </a:rPr>
                <a:t>uv</a:t>
              </a:r>
              <a:endParaRPr lang="en-US" altLang="zh-TW" sz="2800">
                <a:ea typeface="新細明體" panose="02020500000000000000" pitchFamily="18" charset="-120"/>
              </a:endParaRPr>
            </a:p>
          </p:txBody>
        </p:sp>
        <p:sp>
          <p:nvSpPr>
            <p:cNvPr id="49" name="Freeform 29"/>
            <p:cNvSpPr>
              <a:spLocks/>
            </p:cNvSpPr>
            <p:nvPr/>
          </p:nvSpPr>
          <p:spPr bwMode="auto">
            <a:xfrm>
              <a:off x="4800600" y="4419600"/>
              <a:ext cx="2133600" cy="990600"/>
            </a:xfrm>
            <a:custGeom>
              <a:avLst/>
              <a:gdLst>
                <a:gd name="T0" fmla="*/ 0 w 1248"/>
                <a:gd name="T1" fmla="*/ 990600 h 864"/>
                <a:gd name="T2" fmla="*/ 1723292 w 1248"/>
                <a:gd name="T3" fmla="*/ 605367 h 864"/>
                <a:gd name="T4" fmla="*/ 2133600 w 1248"/>
                <a:gd name="T5" fmla="*/ 0 h 8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8" h="864">
                  <a:moveTo>
                    <a:pt x="0" y="864"/>
                  </a:moveTo>
                  <a:cubicBezTo>
                    <a:pt x="400" y="768"/>
                    <a:pt x="800" y="672"/>
                    <a:pt x="1008" y="528"/>
                  </a:cubicBezTo>
                  <a:cubicBezTo>
                    <a:pt x="1216" y="384"/>
                    <a:pt x="1208" y="104"/>
                    <a:pt x="1248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800000"/>
              <a:headEnd type="stealth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50" name="Text Box 30"/>
            <p:cNvSpPr txBox="1">
              <a:spLocks noChangeArrowheads="1"/>
            </p:cNvSpPr>
            <p:nvPr/>
          </p:nvSpPr>
          <p:spPr bwMode="auto">
            <a:xfrm>
              <a:off x="5943600" y="3733800"/>
              <a:ext cx="2895600" cy="395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99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dirty="0">
                  <a:ea typeface="新細明體" panose="02020500000000000000" pitchFamily="18" charset="-120"/>
                </a:rPr>
                <a:t>The locus of </a:t>
              </a:r>
              <a:r>
                <a:rPr lang="en-US" altLang="zh-TW" i="1" dirty="0" err="1">
                  <a:ea typeface="新細明體" panose="02020500000000000000" pitchFamily="18" charset="-120"/>
                </a:rPr>
                <a:t>uv</a:t>
              </a:r>
              <a:endParaRPr lang="en-US" altLang="zh-TW" i="1" dirty="0">
                <a:ea typeface="新細明體" panose="02020500000000000000" pitchFamily="18" charset="-120"/>
              </a:endParaRPr>
            </a:p>
          </p:txBody>
        </p:sp>
        <p:sp>
          <p:nvSpPr>
            <p:cNvPr id="51" name="Oval 31"/>
            <p:cNvSpPr>
              <a:spLocks noChangeArrowheads="1"/>
            </p:cNvSpPr>
            <p:nvPr/>
          </p:nvSpPr>
          <p:spPr bwMode="auto">
            <a:xfrm>
              <a:off x="5867400" y="3352800"/>
              <a:ext cx="2209800" cy="1066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zh-TW" altLang="en-US">
                <a:ea typeface="新細明體" panose="02020500000000000000" pitchFamily="18" charset="-120"/>
              </a:endParaRPr>
            </a:p>
          </p:txBody>
        </p:sp>
        <p:grpSp>
          <p:nvGrpSpPr>
            <p:cNvPr id="52" name="Group 33"/>
            <p:cNvGrpSpPr>
              <a:grpSpLocks/>
            </p:cNvGrpSpPr>
            <p:nvPr/>
          </p:nvGrpSpPr>
          <p:grpSpPr bwMode="auto">
            <a:xfrm>
              <a:off x="4495800" y="5638800"/>
              <a:ext cx="228600" cy="762000"/>
              <a:chOff x="376" y="2304"/>
              <a:chExt cx="368" cy="1440"/>
            </a:xfrm>
          </p:grpSpPr>
          <p:sp>
            <p:nvSpPr>
              <p:cNvPr id="53" name="Freeform 34"/>
              <p:cNvSpPr>
                <a:spLocks/>
              </p:cNvSpPr>
              <p:nvPr/>
            </p:nvSpPr>
            <p:spPr bwMode="auto">
              <a:xfrm>
                <a:off x="376" y="2304"/>
                <a:ext cx="368" cy="1392"/>
              </a:xfrm>
              <a:custGeom>
                <a:avLst/>
                <a:gdLst>
                  <a:gd name="T0" fmla="*/ 152 w 368"/>
                  <a:gd name="T1" fmla="*/ 0 h 1392"/>
                  <a:gd name="T2" fmla="*/ 8 w 368"/>
                  <a:gd name="T3" fmla="*/ 144 h 1392"/>
                  <a:gd name="T4" fmla="*/ 200 w 368"/>
                  <a:gd name="T5" fmla="*/ 288 h 1392"/>
                  <a:gd name="T6" fmla="*/ 56 w 368"/>
                  <a:gd name="T7" fmla="*/ 432 h 1392"/>
                  <a:gd name="T8" fmla="*/ 248 w 368"/>
                  <a:gd name="T9" fmla="*/ 576 h 1392"/>
                  <a:gd name="T10" fmla="*/ 104 w 368"/>
                  <a:gd name="T11" fmla="*/ 720 h 1392"/>
                  <a:gd name="T12" fmla="*/ 296 w 368"/>
                  <a:gd name="T13" fmla="*/ 864 h 1392"/>
                  <a:gd name="T14" fmla="*/ 104 w 368"/>
                  <a:gd name="T15" fmla="*/ 960 h 1392"/>
                  <a:gd name="T16" fmla="*/ 344 w 368"/>
                  <a:gd name="T17" fmla="*/ 1104 h 1392"/>
                  <a:gd name="T18" fmla="*/ 248 w 368"/>
                  <a:gd name="T19" fmla="*/ 1248 h 1392"/>
                  <a:gd name="T20" fmla="*/ 296 w 368"/>
                  <a:gd name="T21" fmla="*/ 1392 h 139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68" h="1392">
                    <a:moveTo>
                      <a:pt x="152" y="0"/>
                    </a:moveTo>
                    <a:cubicBezTo>
                      <a:pt x="76" y="48"/>
                      <a:pt x="0" y="96"/>
                      <a:pt x="8" y="144"/>
                    </a:cubicBezTo>
                    <a:cubicBezTo>
                      <a:pt x="16" y="192"/>
                      <a:pt x="192" y="240"/>
                      <a:pt x="200" y="288"/>
                    </a:cubicBezTo>
                    <a:cubicBezTo>
                      <a:pt x="208" y="336"/>
                      <a:pt x="48" y="384"/>
                      <a:pt x="56" y="432"/>
                    </a:cubicBezTo>
                    <a:cubicBezTo>
                      <a:pt x="64" y="480"/>
                      <a:pt x="240" y="528"/>
                      <a:pt x="248" y="576"/>
                    </a:cubicBezTo>
                    <a:cubicBezTo>
                      <a:pt x="256" y="624"/>
                      <a:pt x="96" y="672"/>
                      <a:pt x="104" y="720"/>
                    </a:cubicBezTo>
                    <a:cubicBezTo>
                      <a:pt x="112" y="768"/>
                      <a:pt x="296" y="824"/>
                      <a:pt x="296" y="864"/>
                    </a:cubicBezTo>
                    <a:cubicBezTo>
                      <a:pt x="296" y="904"/>
                      <a:pt x="96" y="920"/>
                      <a:pt x="104" y="960"/>
                    </a:cubicBezTo>
                    <a:cubicBezTo>
                      <a:pt x="112" y="1000"/>
                      <a:pt x="320" y="1056"/>
                      <a:pt x="344" y="1104"/>
                    </a:cubicBezTo>
                    <a:cubicBezTo>
                      <a:pt x="368" y="1152"/>
                      <a:pt x="256" y="1200"/>
                      <a:pt x="248" y="1248"/>
                    </a:cubicBezTo>
                    <a:cubicBezTo>
                      <a:pt x="240" y="1296"/>
                      <a:pt x="268" y="1344"/>
                      <a:pt x="296" y="1392"/>
                    </a:cubicBezTo>
                  </a:path>
                </a:pathLst>
              </a:custGeom>
              <a:noFill/>
              <a:ln w="9525" cap="flat" cmpd="sng">
                <a:solidFill>
                  <a:srgbClr val="969696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  <p:sp>
            <p:nvSpPr>
              <p:cNvPr id="54" name="Line 35"/>
              <p:cNvSpPr>
                <a:spLocks noChangeShapeType="1"/>
              </p:cNvSpPr>
              <p:nvPr/>
            </p:nvSpPr>
            <p:spPr bwMode="auto">
              <a:xfrm>
                <a:off x="648" y="3696"/>
                <a:ext cx="0" cy="48"/>
              </a:xfrm>
              <a:prstGeom prst="line">
                <a:avLst/>
              </a:prstGeom>
              <a:noFill/>
              <a:ln w="22225">
                <a:solidFill>
                  <a:srgbClr val="969696"/>
                </a:solidFill>
                <a:miter lim="800000"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</p:grpSp>
        <p:grpSp>
          <p:nvGrpSpPr>
            <p:cNvPr id="55" name="Group 39"/>
            <p:cNvGrpSpPr>
              <a:grpSpLocks/>
            </p:cNvGrpSpPr>
            <p:nvPr/>
          </p:nvGrpSpPr>
          <p:grpSpPr bwMode="auto">
            <a:xfrm rot="1495539">
              <a:off x="2070100" y="4457700"/>
              <a:ext cx="304800" cy="1181100"/>
              <a:chOff x="376" y="2304"/>
              <a:chExt cx="368" cy="1440"/>
            </a:xfrm>
          </p:grpSpPr>
          <p:sp>
            <p:nvSpPr>
              <p:cNvPr id="56" name="Freeform 40"/>
              <p:cNvSpPr>
                <a:spLocks/>
              </p:cNvSpPr>
              <p:nvPr/>
            </p:nvSpPr>
            <p:spPr bwMode="auto">
              <a:xfrm>
                <a:off x="376" y="2304"/>
                <a:ext cx="368" cy="1392"/>
              </a:xfrm>
              <a:custGeom>
                <a:avLst/>
                <a:gdLst>
                  <a:gd name="T0" fmla="*/ 152 w 368"/>
                  <a:gd name="T1" fmla="*/ 0 h 1392"/>
                  <a:gd name="T2" fmla="*/ 8 w 368"/>
                  <a:gd name="T3" fmla="*/ 144 h 1392"/>
                  <a:gd name="T4" fmla="*/ 200 w 368"/>
                  <a:gd name="T5" fmla="*/ 288 h 1392"/>
                  <a:gd name="T6" fmla="*/ 56 w 368"/>
                  <a:gd name="T7" fmla="*/ 432 h 1392"/>
                  <a:gd name="T8" fmla="*/ 248 w 368"/>
                  <a:gd name="T9" fmla="*/ 576 h 1392"/>
                  <a:gd name="T10" fmla="*/ 104 w 368"/>
                  <a:gd name="T11" fmla="*/ 720 h 1392"/>
                  <a:gd name="T12" fmla="*/ 296 w 368"/>
                  <a:gd name="T13" fmla="*/ 864 h 1392"/>
                  <a:gd name="T14" fmla="*/ 104 w 368"/>
                  <a:gd name="T15" fmla="*/ 960 h 1392"/>
                  <a:gd name="T16" fmla="*/ 344 w 368"/>
                  <a:gd name="T17" fmla="*/ 1104 h 1392"/>
                  <a:gd name="T18" fmla="*/ 248 w 368"/>
                  <a:gd name="T19" fmla="*/ 1248 h 1392"/>
                  <a:gd name="T20" fmla="*/ 296 w 368"/>
                  <a:gd name="T21" fmla="*/ 1392 h 139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68" h="1392">
                    <a:moveTo>
                      <a:pt x="152" y="0"/>
                    </a:moveTo>
                    <a:cubicBezTo>
                      <a:pt x="76" y="48"/>
                      <a:pt x="0" y="96"/>
                      <a:pt x="8" y="144"/>
                    </a:cubicBezTo>
                    <a:cubicBezTo>
                      <a:pt x="16" y="192"/>
                      <a:pt x="192" y="240"/>
                      <a:pt x="200" y="288"/>
                    </a:cubicBezTo>
                    <a:cubicBezTo>
                      <a:pt x="208" y="336"/>
                      <a:pt x="48" y="384"/>
                      <a:pt x="56" y="432"/>
                    </a:cubicBezTo>
                    <a:cubicBezTo>
                      <a:pt x="64" y="480"/>
                      <a:pt x="240" y="528"/>
                      <a:pt x="248" y="576"/>
                    </a:cubicBezTo>
                    <a:cubicBezTo>
                      <a:pt x="256" y="624"/>
                      <a:pt x="96" y="672"/>
                      <a:pt x="104" y="720"/>
                    </a:cubicBezTo>
                    <a:cubicBezTo>
                      <a:pt x="112" y="768"/>
                      <a:pt x="296" y="824"/>
                      <a:pt x="296" y="864"/>
                    </a:cubicBezTo>
                    <a:cubicBezTo>
                      <a:pt x="296" y="904"/>
                      <a:pt x="96" y="920"/>
                      <a:pt x="104" y="960"/>
                    </a:cubicBezTo>
                    <a:cubicBezTo>
                      <a:pt x="112" y="1000"/>
                      <a:pt x="320" y="1056"/>
                      <a:pt x="344" y="1104"/>
                    </a:cubicBezTo>
                    <a:cubicBezTo>
                      <a:pt x="368" y="1152"/>
                      <a:pt x="256" y="1200"/>
                      <a:pt x="248" y="1248"/>
                    </a:cubicBezTo>
                    <a:cubicBezTo>
                      <a:pt x="240" y="1296"/>
                      <a:pt x="268" y="1344"/>
                      <a:pt x="296" y="1392"/>
                    </a:cubicBezTo>
                  </a:path>
                </a:pathLst>
              </a:custGeom>
              <a:noFill/>
              <a:ln w="9525" cap="flat" cmpd="sng">
                <a:solidFill>
                  <a:srgbClr val="969696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  <p:sp>
            <p:nvSpPr>
              <p:cNvPr id="57" name="Line 41"/>
              <p:cNvSpPr>
                <a:spLocks noChangeShapeType="1"/>
              </p:cNvSpPr>
              <p:nvPr/>
            </p:nvSpPr>
            <p:spPr bwMode="auto">
              <a:xfrm>
                <a:off x="648" y="3696"/>
                <a:ext cx="0" cy="48"/>
              </a:xfrm>
              <a:prstGeom prst="line">
                <a:avLst/>
              </a:prstGeom>
              <a:noFill/>
              <a:ln w="22225">
                <a:solidFill>
                  <a:srgbClr val="969696"/>
                </a:solidFill>
                <a:miter lim="800000"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</p:grpSp>
        <p:grpSp>
          <p:nvGrpSpPr>
            <p:cNvPr id="58" name="Group 42"/>
            <p:cNvGrpSpPr>
              <a:grpSpLocks/>
            </p:cNvGrpSpPr>
            <p:nvPr/>
          </p:nvGrpSpPr>
          <p:grpSpPr bwMode="auto">
            <a:xfrm rot="1495539">
              <a:off x="2874963" y="5535613"/>
              <a:ext cx="304800" cy="914400"/>
              <a:chOff x="376" y="2304"/>
              <a:chExt cx="368" cy="1440"/>
            </a:xfrm>
          </p:grpSpPr>
          <p:sp>
            <p:nvSpPr>
              <p:cNvPr id="59" name="Freeform 43"/>
              <p:cNvSpPr>
                <a:spLocks/>
              </p:cNvSpPr>
              <p:nvPr/>
            </p:nvSpPr>
            <p:spPr bwMode="auto">
              <a:xfrm>
                <a:off x="376" y="2304"/>
                <a:ext cx="368" cy="1392"/>
              </a:xfrm>
              <a:custGeom>
                <a:avLst/>
                <a:gdLst>
                  <a:gd name="T0" fmla="*/ 152 w 368"/>
                  <a:gd name="T1" fmla="*/ 0 h 1392"/>
                  <a:gd name="T2" fmla="*/ 8 w 368"/>
                  <a:gd name="T3" fmla="*/ 144 h 1392"/>
                  <a:gd name="T4" fmla="*/ 200 w 368"/>
                  <a:gd name="T5" fmla="*/ 288 h 1392"/>
                  <a:gd name="T6" fmla="*/ 56 w 368"/>
                  <a:gd name="T7" fmla="*/ 432 h 1392"/>
                  <a:gd name="T8" fmla="*/ 248 w 368"/>
                  <a:gd name="T9" fmla="*/ 576 h 1392"/>
                  <a:gd name="T10" fmla="*/ 104 w 368"/>
                  <a:gd name="T11" fmla="*/ 720 h 1392"/>
                  <a:gd name="T12" fmla="*/ 296 w 368"/>
                  <a:gd name="T13" fmla="*/ 864 h 1392"/>
                  <a:gd name="T14" fmla="*/ 104 w 368"/>
                  <a:gd name="T15" fmla="*/ 960 h 1392"/>
                  <a:gd name="T16" fmla="*/ 344 w 368"/>
                  <a:gd name="T17" fmla="*/ 1104 h 1392"/>
                  <a:gd name="T18" fmla="*/ 248 w 368"/>
                  <a:gd name="T19" fmla="*/ 1248 h 1392"/>
                  <a:gd name="T20" fmla="*/ 296 w 368"/>
                  <a:gd name="T21" fmla="*/ 1392 h 139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68" h="1392">
                    <a:moveTo>
                      <a:pt x="152" y="0"/>
                    </a:moveTo>
                    <a:cubicBezTo>
                      <a:pt x="76" y="48"/>
                      <a:pt x="0" y="96"/>
                      <a:pt x="8" y="144"/>
                    </a:cubicBezTo>
                    <a:cubicBezTo>
                      <a:pt x="16" y="192"/>
                      <a:pt x="192" y="240"/>
                      <a:pt x="200" y="288"/>
                    </a:cubicBezTo>
                    <a:cubicBezTo>
                      <a:pt x="208" y="336"/>
                      <a:pt x="48" y="384"/>
                      <a:pt x="56" y="432"/>
                    </a:cubicBezTo>
                    <a:cubicBezTo>
                      <a:pt x="64" y="480"/>
                      <a:pt x="240" y="528"/>
                      <a:pt x="248" y="576"/>
                    </a:cubicBezTo>
                    <a:cubicBezTo>
                      <a:pt x="256" y="624"/>
                      <a:pt x="96" y="672"/>
                      <a:pt x="104" y="720"/>
                    </a:cubicBezTo>
                    <a:cubicBezTo>
                      <a:pt x="112" y="768"/>
                      <a:pt x="296" y="824"/>
                      <a:pt x="296" y="864"/>
                    </a:cubicBezTo>
                    <a:cubicBezTo>
                      <a:pt x="296" y="904"/>
                      <a:pt x="96" y="920"/>
                      <a:pt x="104" y="960"/>
                    </a:cubicBezTo>
                    <a:cubicBezTo>
                      <a:pt x="112" y="1000"/>
                      <a:pt x="320" y="1056"/>
                      <a:pt x="344" y="1104"/>
                    </a:cubicBezTo>
                    <a:cubicBezTo>
                      <a:pt x="368" y="1152"/>
                      <a:pt x="256" y="1200"/>
                      <a:pt x="248" y="1248"/>
                    </a:cubicBezTo>
                    <a:cubicBezTo>
                      <a:pt x="240" y="1296"/>
                      <a:pt x="268" y="1344"/>
                      <a:pt x="296" y="1392"/>
                    </a:cubicBezTo>
                  </a:path>
                </a:pathLst>
              </a:custGeom>
              <a:noFill/>
              <a:ln w="9525" cap="flat" cmpd="sng">
                <a:solidFill>
                  <a:srgbClr val="969696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  <p:sp>
            <p:nvSpPr>
              <p:cNvPr id="60" name="Line 44"/>
              <p:cNvSpPr>
                <a:spLocks noChangeShapeType="1"/>
              </p:cNvSpPr>
              <p:nvPr/>
            </p:nvSpPr>
            <p:spPr bwMode="auto">
              <a:xfrm>
                <a:off x="648" y="3696"/>
                <a:ext cx="0" cy="48"/>
              </a:xfrm>
              <a:prstGeom prst="line">
                <a:avLst/>
              </a:prstGeom>
              <a:noFill/>
              <a:ln w="22225">
                <a:solidFill>
                  <a:srgbClr val="969696"/>
                </a:solidFill>
                <a:miter lim="800000"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</p:grpSp>
      </p:grpSp>
      <p:sp>
        <p:nvSpPr>
          <p:cNvPr id="62" name="Oval 16"/>
          <p:cNvSpPr>
            <a:spLocks noChangeArrowheads="1"/>
          </p:cNvSpPr>
          <p:nvPr/>
        </p:nvSpPr>
        <p:spPr bwMode="auto">
          <a:xfrm>
            <a:off x="5309707" y="5098303"/>
            <a:ext cx="381000" cy="381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63" name="Text Box 25"/>
          <p:cNvSpPr txBox="1">
            <a:spLocks noChangeArrowheads="1"/>
          </p:cNvSpPr>
          <p:nvPr/>
        </p:nvSpPr>
        <p:spPr bwMode="auto">
          <a:xfrm>
            <a:off x="5361379" y="5066364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dirty="0">
                <a:ea typeface="新細明體" panose="02020500000000000000" pitchFamily="18" charset="-12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38665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24089" y="423861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6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Extended Locus</a:t>
            </a:r>
            <a:endParaRPr lang="en-US" altLang="zh-TW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9373" y="1600200"/>
            <a:ext cx="11104606" cy="4800600"/>
          </a:xfrm>
        </p:spPr>
        <p:txBody>
          <a:bodyPr anchor="t"/>
          <a:lstStyle/>
          <a:p>
            <a:pPr marL="457200" indent="-457200" algn="l" eaLnBrk="1" hangingPunct="1"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</a:t>
            </a:r>
            <a:r>
              <a:rPr lang="en-US" altLang="zh-TW" sz="2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Extended Locus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of a string </a:t>
            </a:r>
            <a:r>
              <a:rPr lang="en-US" altLang="zh-TW" sz="28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 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the locus of the shortest extension </a:t>
            </a:r>
            <a:r>
              <a:rPr lang="en-US" altLang="zh-TW" sz="28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of </a:t>
            </a:r>
            <a:r>
              <a:rPr lang="en-US" altLang="zh-TW" sz="28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u, </a:t>
            </a:r>
            <a:r>
              <a:rPr lang="en-US" altLang="zh-TW" sz="2800" i="1" dirty="0" err="1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uw</a:t>
            </a:r>
            <a:r>
              <a:rPr lang="en-US" altLang="zh-TW" sz="2800" i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8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US" altLang="zh-TW" sz="2800" dirty="0" err="1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s.t</a:t>
            </a:r>
            <a:r>
              <a:rPr lang="en-US" altLang="zh-TW" sz="28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800" i="1" u="sng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uw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 node in T.</a:t>
            </a:r>
          </a:p>
          <a:p>
            <a:pPr marL="457200" indent="-457200" algn="l" eaLnBrk="1" hangingPunct="1">
              <a:buFont typeface="Arial" panose="020B0604020202020204" pitchFamily="34" charset="0"/>
              <a:buChar char="•"/>
            </a:pPr>
            <a:r>
              <a:rPr lang="en-US" altLang="zh-TW" sz="28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Example: u=hello, w=p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1828800" y="228600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TW" sz="2800" i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7413" name="Oval 6"/>
          <p:cNvSpPr>
            <a:spLocks noChangeArrowheads="1"/>
          </p:cNvSpPr>
          <p:nvPr/>
        </p:nvSpPr>
        <p:spPr bwMode="auto">
          <a:xfrm>
            <a:off x="4492626" y="3446463"/>
            <a:ext cx="290513" cy="18891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7414" name="Line 7"/>
          <p:cNvSpPr>
            <a:spLocks noChangeShapeType="1"/>
          </p:cNvSpPr>
          <p:nvPr/>
        </p:nvSpPr>
        <p:spPr bwMode="auto">
          <a:xfrm>
            <a:off x="4665664" y="3635375"/>
            <a:ext cx="407987" cy="800100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7415" name="Oval 8"/>
          <p:cNvSpPr>
            <a:spLocks noChangeArrowheads="1"/>
          </p:cNvSpPr>
          <p:nvPr/>
        </p:nvSpPr>
        <p:spPr bwMode="auto">
          <a:xfrm>
            <a:off x="4956176" y="4435475"/>
            <a:ext cx="290513" cy="2365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7416" name="Text Box 9"/>
          <p:cNvSpPr txBox="1">
            <a:spLocks noChangeArrowheads="1"/>
          </p:cNvSpPr>
          <p:nvPr/>
        </p:nvSpPr>
        <p:spPr bwMode="auto">
          <a:xfrm>
            <a:off x="4738689" y="3276600"/>
            <a:ext cx="1042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chemeClr val="accent1"/>
                </a:solidFill>
                <a:ea typeface="新細明體" panose="02020500000000000000" pitchFamily="18" charset="-120"/>
              </a:rPr>
              <a:t>root</a:t>
            </a:r>
          </a:p>
        </p:txBody>
      </p:sp>
      <p:sp>
        <p:nvSpPr>
          <p:cNvPr id="17417" name="Line 10"/>
          <p:cNvSpPr>
            <a:spLocks noChangeShapeType="1"/>
          </p:cNvSpPr>
          <p:nvPr/>
        </p:nvSpPr>
        <p:spPr bwMode="auto">
          <a:xfrm>
            <a:off x="5130801" y="4672014"/>
            <a:ext cx="233363" cy="847725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7418" name="Oval 11"/>
          <p:cNvSpPr>
            <a:spLocks noChangeArrowheads="1"/>
          </p:cNvSpPr>
          <p:nvPr/>
        </p:nvSpPr>
        <p:spPr bwMode="auto">
          <a:xfrm>
            <a:off x="5229226" y="5519738"/>
            <a:ext cx="290513" cy="2349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7419" name="Text Box 14"/>
          <p:cNvSpPr txBox="1">
            <a:spLocks noChangeArrowheads="1"/>
          </p:cNvSpPr>
          <p:nvPr/>
        </p:nvSpPr>
        <p:spPr bwMode="auto">
          <a:xfrm>
            <a:off x="5029200" y="37338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chemeClr val="accent1"/>
                </a:solidFill>
                <a:ea typeface="新細明體" panose="02020500000000000000" pitchFamily="18" charset="-120"/>
              </a:rPr>
              <a:t>hell</a:t>
            </a:r>
          </a:p>
        </p:txBody>
      </p:sp>
      <p:sp>
        <p:nvSpPr>
          <p:cNvPr id="17420" name="Line 15"/>
          <p:cNvSpPr>
            <a:spLocks noChangeShapeType="1"/>
          </p:cNvSpPr>
          <p:nvPr/>
        </p:nvSpPr>
        <p:spPr bwMode="auto">
          <a:xfrm flipH="1">
            <a:off x="4608514" y="4672014"/>
            <a:ext cx="407987" cy="847725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7421" name="Line 16"/>
          <p:cNvSpPr>
            <a:spLocks noChangeShapeType="1"/>
          </p:cNvSpPr>
          <p:nvPr/>
        </p:nvSpPr>
        <p:spPr bwMode="auto">
          <a:xfrm flipH="1">
            <a:off x="3910013" y="3635375"/>
            <a:ext cx="698500" cy="895350"/>
          </a:xfrm>
          <a:prstGeom prst="line">
            <a:avLst/>
          </a:prstGeom>
          <a:noFill/>
          <a:ln w="1270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7422" name="Oval 17"/>
          <p:cNvSpPr>
            <a:spLocks noChangeArrowheads="1"/>
          </p:cNvSpPr>
          <p:nvPr/>
        </p:nvSpPr>
        <p:spPr bwMode="auto">
          <a:xfrm>
            <a:off x="4435476" y="5545138"/>
            <a:ext cx="290513" cy="2349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7423" name="Oval 20"/>
          <p:cNvSpPr>
            <a:spLocks noChangeArrowheads="1"/>
          </p:cNvSpPr>
          <p:nvPr/>
        </p:nvSpPr>
        <p:spPr bwMode="auto">
          <a:xfrm>
            <a:off x="3733801" y="4546600"/>
            <a:ext cx="290513" cy="2349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7424" name="Text Box 21"/>
          <p:cNvSpPr txBox="1">
            <a:spLocks noChangeArrowheads="1"/>
          </p:cNvSpPr>
          <p:nvPr/>
        </p:nvSpPr>
        <p:spPr bwMode="auto">
          <a:xfrm>
            <a:off x="5578476" y="5410200"/>
            <a:ext cx="75882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u="sng">
                <a:solidFill>
                  <a:schemeClr val="accent1"/>
                </a:solidFill>
                <a:ea typeface="新細明體" panose="02020500000000000000" pitchFamily="18" charset="-120"/>
              </a:rPr>
              <a:t>uw</a:t>
            </a:r>
          </a:p>
        </p:txBody>
      </p:sp>
      <p:sp>
        <p:nvSpPr>
          <p:cNvPr id="17425" name="Freeform 23"/>
          <p:cNvSpPr>
            <a:spLocks/>
          </p:cNvSpPr>
          <p:nvPr/>
        </p:nvSpPr>
        <p:spPr bwMode="auto">
          <a:xfrm>
            <a:off x="6110289" y="4495800"/>
            <a:ext cx="1743075" cy="1143000"/>
          </a:xfrm>
          <a:custGeom>
            <a:avLst/>
            <a:gdLst>
              <a:gd name="T0" fmla="*/ 0 w 1248"/>
              <a:gd name="T1" fmla="*/ 1143000 h 864"/>
              <a:gd name="T2" fmla="*/ 1407868 w 1248"/>
              <a:gd name="T3" fmla="*/ 698500 h 864"/>
              <a:gd name="T4" fmla="*/ 1743075 w 1248"/>
              <a:gd name="T5" fmla="*/ 0 h 8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48" h="864">
                <a:moveTo>
                  <a:pt x="0" y="864"/>
                </a:moveTo>
                <a:cubicBezTo>
                  <a:pt x="400" y="768"/>
                  <a:pt x="800" y="672"/>
                  <a:pt x="1008" y="528"/>
                </a:cubicBezTo>
                <a:cubicBezTo>
                  <a:pt x="1216" y="384"/>
                  <a:pt x="1208" y="104"/>
                  <a:pt x="1248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stealth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7426" name="Text Box 24"/>
          <p:cNvSpPr txBox="1">
            <a:spLocks noChangeArrowheads="1"/>
          </p:cNvSpPr>
          <p:nvPr/>
        </p:nvSpPr>
        <p:spPr bwMode="auto">
          <a:xfrm>
            <a:off x="7019926" y="3657601"/>
            <a:ext cx="18192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000" dirty="0">
                <a:ea typeface="新細明體" panose="02020500000000000000" pitchFamily="18" charset="-120"/>
              </a:rPr>
              <a:t>The extended locus of  </a:t>
            </a:r>
            <a:r>
              <a:rPr lang="en-US" altLang="zh-TW" sz="2000" i="1" dirty="0">
                <a:ea typeface="新細明體" panose="02020500000000000000" pitchFamily="18" charset="-120"/>
              </a:rPr>
              <a:t>u</a:t>
            </a:r>
          </a:p>
        </p:txBody>
      </p:sp>
      <p:sp>
        <p:nvSpPr>
          <p:cNvPr id="17427" name="Oval 25"/>
          <p:cNvSpPr>
            <a:spLocks noChangeArrowheads="1"/>
          </p:cNvSpPr>
          <p:nvPr/>
        </p:nvSpPr>
        <p:spPr bwMode="auto">
          <a:xfrm>
            <a:off x="6792914" y="3429000"/>
            <a:ext cx="2198687" cy="10668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grpSp>
        <p:nvGrpSpPr>
          <p:cNvPr id="17428" name="Group 39"/>
          <p:cNvGrpSpPr>
            <a:grpSpLocks/>
          </p:cNvGrpSpPr>
          <p:nvPr/>
        </p:nvGrpSpPr>
        <p:grpSpPr bwMode="auto">
          <a:xfrm>
            <a:off x="5359400" y="5753100"/>
            <a:ext cx="203200" cy="889000"/>
            <a:chOff x="376" y="2304"/>
            <a:chExt cx="368" cy="1440"/>
          </a:xfrm>
        </p:grpSpPr>
        <p:sp>
          <p:nvSpPr>
            <p:cNvPr id="17436" name="Freeform 40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7437" name="Line 41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17429" name="Text Box 42"/>
          <p:cNvSpPr txBox="1">
            <a:spLocks noChangeArrowheads="1"/>
          </p:cNvSpPr>
          <p:nvPr/>
        </p:nvSpPr>
        <p:spPr bwMode="auto">
          <a:xfrm>
            <a:off x="5181600" y="4648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chemeClr val="accent1"/>
                </a:solidFill>
                <a:ea typeface="新細明體" panose="02020500000000000000" pitchFamily="18" charset="-120"/>
              </a:rPr>
              <a:t>op</a:t>
            </a:r>
          </a:p>
        </p:txBody>
      </p:sp>
      <p:grpSp>
        <p:nvGrpSpPr>
          <p:cNvPr id="17430" name="Group 43"/>
          <p:cNvGrpSpPr>
            <a:grpSpLocks/>
          </p:cNvGrpSpPr>
          <p:nvPr/>
        </p:nvGrpSpPr>
        <p:grpSpPr bwMode="auto">
          <a:xfrm rot="1495539">
            <a:off x="4279900" y="5753100"/>
            <a:ext cx="152400" cy="901700"/>
            <a:chOff x="376" y="2304"/>
            <a:chExt cx="368" cy="1440"/>
          </a:xfrm>
        </p:grpSpPr>
        <p:sp>
          <p:nvSpPr>
            <p:cNvPr id="17434" name="Freeform 44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7435" name="Line 45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grpSp>
        <p:nvGrpSpPr>
          <p:cNvPr id="17431" name="Group 46"/>
          <p:cNvGrpSpPr>
            <a:grpSpLocks/>
          </p:cNvGrpSpPr>
          <p:nvPr/>
        </p:nvGrpSpPr>
        <p:grpSpPr bwMode="auto">
          <a:xfrm rot="1495539">
            <a:off x="3489325" y="4756150"/>
            <a:ext cx="304800" cy="1181100"/>
            <a:chOff x="376" y="2304"/>
            <a:chExt cx="368" cy="1440"/>
          </a:xfrm>
        </p:grpSpPr>
        <p:sp>
          <p:nvSpPr>
            <p:cNvPr id="17432" name="Freeform 47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7433" name="Line 48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289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414338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6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Contracted Locus</a:t>
            </a:r>
            <a:endParaRPr lang="en-US" altLang="zh-TW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1362" y="1447800"/>
            <a:ext cx="10560908" cy="2286000"/>
          </a:xfrm>
        </p:spPr>
        <p:txBody>
          <a:bodyPr anchor="t"/>
          <a:lstStyle/>
          <a:p>
            <a:pPr marL="457200" indent="-457200" algn="l" eaLnBrk="1" hangingPunct="1"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</a:t>
            </a:r>
            <a:r>
              <a:rPr lang="en-US" altLang="zh-TW" sz="2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Contracted Locus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of a string </a:t>
            </a:r>
            <a:r>
              <a:rPr lang="en-US" altLang="zh-TW" sz="28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 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the locus of the longest prefix of </a:t>
            </a:r>
            <a:r>
              <a:rPr lang="en-US" altLang="zh-TW" sz="28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u, x 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TW" sz="28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possibly empty), </a:t>
            </a:r>
            <a:r>
              <a:rPr lang="en-US" altLang="zh-TW" sz="28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s.t.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800" i="1" u="sng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altLang="zh-TW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 node in T.</a:t>
            </a:r>
          </a:p>
          <a:p>
            <a:pPr marL="457200" indent="-457200" algn="l" eaLnBrk="1" hangingPunct="1">
              <a:buFont typeface="Arial" panose="020B0604020202020204" pitchFamily="34" charset="0"/>
              <a:buChar char="•"/>
            </a:pPr>
            <a:r>
              <a:rPr lang="en-US" altLang="zh-TW" sz="28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Example:   u=hello, x=hell</a:t>
            </a:r>
          </a:p>
          <a:p>
            <a:pPr algn="l" eaLnBrk="1" hangingPunct="1"/>
            <a:endParaRPr lang="en-US" altLang="zh-TW" sz="2800" i="1" dirty="0">
              <a:ea typeface="新細明體" panose="02020500000000000000" pitchFamily="18" charset="-120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828800" y="228600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TW" sz="2800" i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8437" name="Oval 42"/>
          <p:cNvSpPr>
            <a:spLocks noChangeArrowheads="1"/>
          </p:cNvSpPr>
          <p:nvPr/>
        </p:nvSpPr>
        <p:spPr bwMode="auto">
          <a:xfrm>
            <a:off x="4492626" y="3446463"/>
            <a:ext cx="290513" cy="18891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8438" name="Line 43"/>
          <p:cNvSpPr>
            <a:spLocks noChangeShapeType="1"/>
          </p:cNvSpPr>
          <p:nvPr/>
        </p:nvSpPr>
        <p:spPr bwMode="auto">
          <a:xfrm>
            <a:off x="4665664" y="3635375"/>
            <a:ext cx="407987" cy="800100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8439" name="Oval 44"/>
          <p:cNvSpPr>
            <a:spLocks noChangeArrowheads="1"/>
          </p:cNvSpPr>
          <p:nvPr/>
        </p:nvSpPr>
        <p:spPr bwMode="auto">
          <a:xfrm>
            <a:off x="4956176" y="4435475"/>
            <a:ext cx="290513" cy="2365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8440" name="Text Box 45"/>
          <p:cNvSpPr txBox="1">
            <a:spLocks noChangeArrowheads="1"/>
          </p:cNvSpPr>
          <p:nvPr/>
        </p:nvSpPr>
        <p:spPr bwMode="auto">
          <a:xfrm>
            <a:off x="4738689" y="3276600"/>
            <a:ext cx="1042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chemeClr val="accent1"/>
                </a:solidFill>
                <a:ea typeface="新細明體" panose="02020500000000000000" pitchFamily="18" charset="-120"/>
              </a:rPr>
              <a:t>root</a:t>
            </a:r>
          </a:p>
        </p:txBody>
      </p:sp>
      <p:sp>
        <p:nvSpPr>
          <p:cNvPr id="18441" name="Line 46"/>
          <p:cNvSpPr>
            <a:spLocks noChangeShapeType="1"/>
          </p:cNvSpPr>
          <p:nvPr/>
        </p:nvSpPr>
        <p:spPr bwMode="auto">
          <a:xfrm>
            <a:off x="5130801" y="4672014"/>
            <a:ext cx="233363" cy="847725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8442" name="Oval 47"/>
          <p:cNvSpPr>
            <a:spLocks noChangeArrowheads="1"/>
          </p:cNvSpPr>
          <p:nvPr/>
        </p:nvSpPr>
        <p:spPr bwMode="auto">
          <a:xfrm>
            <a:off x="5307013" y="5519738"/>
            <a:ext cx="290512" cy="2349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8443" name="Text Box 48"/>
          <p:cNvSpPr txBox="1">
            <a:spLocks noChangeArrowheads="1"/>
          </p:cNvSpPr>
          <p:nvPr/>
        </p:nvSpPr>
        <p:spPr bwMode="auto">
          <a:xfrm>
            <a:off x="5029200" y="37338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chemeClr val="accent1"/>
                </a:solidFill>
                <a:ea typeface="新細明體" panose="02020500000000000000" pitchFamily="18" charset="-120"/>
              </a:rPr>
              <a:t>hell</a:t>
            </a:r>
          </a:p>
        </p:txBody>
      </p:sp>
      <p:sp>
        <p:nvSpPr>
          <p:cNvPr id="18444" name="Line 49"/>
          <p:cNvSpPr>
            <a:spLocks noChangeShapeType="1"/>
          </p:cNvSpPr>
          <p:nvPr/>
        </p:nvSpPr>
        <p:spPr bwMode="auto">
          <a:xfrm flipH="1">
            <a:off x="4608514" y="4672014"/>
            <a:ext cx="407987" cy="847725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8445" name="Line 50"/>
          <p:cNvSpPr>
            <a:spLocks noChangeShapeType="1"/>
          </p:cNvSpPr>
          <p:nvPr/>
        </p:nvSpPr>
        <p:spPr bwMode="auto">
          <a:xfrm flipH="1">
            <a:off x="3910013" y="3635375"/>
            <a:ext cx="698500" cy="895350"/>
          </a:xfrm>
          <a:prstGeom prst="line">
            <a:avLst/>
          </a:prstGeom>
          <a:noFill/>
          <a:ln w="1270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8446" name="Oval 51"/>
          <p:cNvSpPr>
            <a:spLocks noChangeArrowheads="1"/>
          </p:cNvSpPr>
          <p:nvPr/>
        </p:nvSpPr>
        <p:spPr bwMode="auto">
          <a:xfrm>
            <a:off x="4435476" y="5545138"/>
            <a:ext cx="290513" cy="2349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8447" name="Oval 52"/>
          <p:cNvSpPr>
            <a:spLocks noChangeArrowheads="1"/>
          </p:cNvSpPr>
          <p:nvPr/>
        </p:nvSpPr>
        <p:spPr bwMode="auto">
          <a:xfrm>
            <a:off x="3733801" y="4546600"/>
            <a:ext cx="290513" cy="2349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8448" name="Text Box 53"/>
          <p:cNvSpPr txBox="1">
            <a:spLocks noChangeArrowheads="1"/>
          </p:cNvSpPr>
          <p:nvPr/>
        </p:nvSpPr>
        <p:spPr bwMode="auto">
          <a:xfrm>
            <a:off x="5578476" y="5410200"/>
            <a:ext cx="75882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u="sng">
                <a:solidFill>
                  <a:schemeClr val="accent1"/>
                </a:solidFill>
                <a:ea typeface="新細明體" panose="02020500000000000000" pitchFamily="18" charset="-120"/>
              </a:rPr>
              <a:t>uw</a:t>
            </a:r>
          </a:p>
        </p:txBody>
      </p:sp>
      <p:sp>
        <p:nvSpPr>
          <p:cNvPr id="18449" name="Freeform 54"/>
          <p:cNvSpPr>
            <a:spLocks/>
          </p:cNvSpPr>
          <p:nvPr/>
        </p:nvSpPr>
        <p:spPr bwMode="auto">
          <a:xfrm>
            <a:off x="5257801" y="4495800"/>
            <a:ext cx="2595563" cy="76200"/>
          </a:xfrm>
          <a:custGeom>
            <a:avLst/>
            <a:gdLst>
              <a:gd name="T0" fmla="*/ 0 w 1248"/>
              <a:gd name="T1" fmla="*/ 76200 h 864"/>
              <a:gd name="T2" fmla="*/ 2096416 w 1248"/>
              <a:gd name="T3" fmla="*/ 46567 h 864"/>
              <a:gd name="T4" fmla="*/ 2595563 w 1248"/>
              <a:gd name="T5" fmla="*/ 0 h 8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48" h="864">
                <a:moveTo>
                  <a:pt x="0" y="864"/>
                </a:moveTo>
                <a:cubicBezTo>
                  <a:pt x="400" y="768"/>
                  <a:pt x="800" y="672"/>
                  <a:pt x="1008" y="528"/>
                </a:cubicBezTo>
                <a:cubicBezTo>
                  <a:pt x="1216" y="384"/>
                  <a:pt x="1208" y="104"/>
                  <a:pt x="1248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stealth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8450" name="Text Box 55"/>
          <p:cNvSpPr txBox="1">
            <a:spLocks noChangeArrowheads="1"/>
          </p:cNvSpPr>
          <p:nvPr/>
        </p:nvSpPr>
        <p:spPr bwMode="auto">
          <a:xfrm>
            <a:off x="7019926" y="3657601"/>
            <a:ext cx="18192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000" dirty="0">
                <a:ea typeface="新細明體" panose="02020500000000000000" pitchFamily="18" charset="-120"/>
              </a:rPr>
              <a:t>The contracted locus of  </a:t>
            </a:r>
            <a:r>
              <a:rPr lang="en-US" altLang="zh-TW" sz="2000" i="1" dirty="0">
                <a:ea typeface="新細明體" panose="02020500000000000000" pitchFamily="18" charset="-120"/>
              </a:rPr>
              <a:t>u</a:t>
            </a:r>
          </a:p>
        </p:txBody>
      </p:sp>
      <p:sp>
        <p:nvSpPr>
          <p:cNvPr id="18451" name="Oval 56"/>
          <p:cNvSpPr>
            <a:spLocks noChangeArrowheads="1"/>
          </p:cNvSpPr>
          <p:nvPr/>
        </p:nvSpPr>
        <p:spPr bwMode="auto">
          <a:xfrm>
            <a:off x="6792914" y="3429000"/>
            <a:ext cx="2198687" cy="10668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grpSp>
        <p:nvGrpSpPr>
          <p:cNvPr id="18452" name="Group 57"/>
          <p:cNvGrpSpPr>
            <a:grpSpLocks/>
          </p:cNvGrpSpPr>
          <p:nvPr/>
        </p:nvGrpSpPr>
        <p:grpSpPr bwMode="auto">
          <a:xfrm>
            <a:off x="5359400" y="5753100"/>
            <a:ext cx="203200" cy="889000"/>
            <a:chOff x="376" y="2304"/>
            <a:chExt cx="368" cy="1440"/>
          </a:xfrm>
        </p:grpSpPr>
        <p:sp>
          <p:nvSpPr>
            <p:cNvPr id="18460" name="Freeform 58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8461" name="Line 59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18453" name="Text Box 60"/>
          <p:cNvSpPr txBox="1">
            <a:spLocks noChangeArrowheads="1"/>
          </p:cNvSpPr>
          <p:nvPr/>
        </p:nvSpPr>
        <p:spPr bwMode="auto">
          <a:xfrm>
            <a:off x="5181600" y="4648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chemeClr val="accent1"/>
                </a:solidFill>
                <a:ea typeface="新細明體" panose="02020500000000000000" pitchFamily="18" charset="-120"/>
              </a:rPr>
              <a:t>op</a:t>
            </a:r>
          </a:p>
        </p:txBody>
      </p:sp>
      <p:grpSp>
        <p:nvGrpSpPr>
          <p:cNvPr id="18454" name="Group 61"/>
          <p:cNvGrpSpPr>
            <a:grpSpLocks/>
          </p:cNvGrpSpPr>
          <p:nvPr/>
        </p:nvGrpSpPr>
        <p:grpSpPr bwMode="auto">
          <a:xfrm rot="1495539">
            <a:off x="4279900" y="5753100"/>
            <a:ext cx="152400" cy="901700"/>
            <a:chOff x="376" y="2304"/>
            <a:chExt cx="368" cy="1440"/>
          </a:xfrm>
        </p:grpSpPr>
        <p:sp>
          <p:nvSpPr>
            <p:cNvPr id="18458" name="Freeform 62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8459" name="Line 63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grpSp>
        <p:nvGrpSpPr>
          <p:cNvPr id="18455" name="Group 64"/>
          <p:cNvGrpSpPr>
            <a:grpSpLocks/>
          </p:cNvGrpSpPr>
          <p:nvPr/>
        </p:nvGrpSpPr>
        <p:grpSpPr bwMode="auto">
          <a:xfrm rot="1495539">
            <a:off x="3489325" y="4756150"/>
            <a:ext cx="304800" cy="1181100"/>
            <a:chOff x="376" y="2304"/>
            <a:chExt cx="368" cy="1440"/>
          </a:xfrm>
        </p:grpSpPr>
        <p:sp>
          <p:nvSpPr>
            <p:cNvPr id="18456" name="Freeform 65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8457" name="Line 66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88958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schemeClr val="tx1"/>
                </a:solidFill>
                <a:ea typeface="新細明體" panose="02020500000000000000" pitchFamily="18" charset="-120"/>
              </a:rPr>
              <a:t>If </a:t>
            </a:r>
            <a:r>
              <a:rPr lang="en-US" altLang="zh-TW" sz="3200" i="1" dirty="0">
                <a:solidFill>
                  <a:schemeClr val="tx1"/>
                </a:solidFill>
                <a:ea typeface="新細明體" panose="02020500000000000000" pitchFamily="18" charset="-120"/>
              </a:rPr>
              <a:t>head</a:t>
            </a:r>
            <a:r>
              <a:rPr lang="en-US" altLang="zh-TW" sz="3200" i="1" baseline="-25000" dirty="0">
                <a:solidFill>
                  <a:schemeClr val="tx1"/>
                </a:solidFill>
                <a:ea typeface="新細明體" panose="02020500000000000000" pitchFamily="18" charset="-120"/>
              </a:rPr>
              <a:t>i-1 </a:t>
            </a:r>
            <a:r>
              <a:rPr lang="en-US" altLang="zh-TW" sz="3200" i="1" dirty="0">
                <a:solidFill>
                  <a:schemeClr val="tx1"/>
                </a:solidFill>
                <a:ea typeface="新細明體" panose="02020500000000000000" pitchFamily="18" charset="-120"/>
              </a:rPr>
              <a:t>= </a:t>
            </a:r>
            <a:r>
              <a:rPr lang="en-US" altLang="zh-TW" sz="3200" i="1" dirty="0" err="1">
                <a:solidFill>
                  <a:schemeClr val="tx1"/>
                </a:solidFill>
                <a:ea typeface="新細明體" panose="02020500000000000000" pitchFamily="18" charset="-120"/>
              </a:rPr>
              <a:t>xu</a:t>
            </a:r>
            <a:r>
              <a:rPr lang="en-US" altLang="zh-TW" sz="3200" dirty="0">
                <a:solidFill>
                  <a:schemeClr val="tx1"/>
                </a:solidFill>
                <a:ea typeface="新細明體" panose="02020500000000000000" pitchFamily="18" charset="-120"/>
              </a:rPr>
              <a:t>  for some character </a:t>
            </a:r>
            <a:r>
              <a:rPr lang="en-US" altLang="zh-TW" sz="3200" i="1" dirty="0">
                <a:solidFill>
                  <a:schemeClr val="tx1"/>
                </a:solidFill>
                <a:ea typeface="新細明體" panose="02020500000000000000" pitchFamily="18" charset="-120"/>
              </a:rPr>
              <a:t>x</a:t>
            </a:r>
            <a:r>
              <a:rPr lang="en-US" altLang="zh-TW" sz="3200" dirty="0">
                <a:solidFill>
                  <a:schemeClr val="tx1"/>
                </a:solidFill>
                <a:ea typeface="新細明體" panose="02020500000000000000" pitchFamily="18" charset="-120"/>
              </a:rPr>
              <a:t> and some string </a:t>
            </a:r>
            <a:r>
              <a:rPr lang="en-US" altLang="zh-TW" sz="3200" i="1" dirty="0">
                <a:solidFill>
                  <a:schemeClr val="tx1"/>
                </a:solidFill>
                <a:ea typeface="新細明體" panose="02020500000000000000" pitchFamily="18" charset="-120"/>
              </a:rPr>
              <a:t>u</a:t>
            </a:r>
            <a:r>
              <a:rPr lang="en-US" altLang="zh-TW" sz="3200" dirty="0">
                <a:solidFill>
                  <a:schemeClr val="tx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32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then </a:t>
            </a:r>
            <a:r>
              <a:rPr lang="en-US" altLang="zh-TW" sz="3200" dirty="0">
                <a:solidFill>
                  <a:schemeClr val="tx1"/>
                </a:solidFill>
                <a:ea typeface="新細明體" panose="02020500000000000000" pitchFamily="18" charset="-120"/>
              </a:rPr>
              <a:t>u is a prefix of </a:t>
            </a:r>
            <a:r>
              <a:rPr lang="en-US" altLang="zh-TW" sz="3200" i="1" dirty="0" err="1">
                <a:solidFill>
                  <a:schemeClr val="tx1"/>
                </a:solidFill>
                <a:ea typeface="新細明體" panose="02020500000000000000" pitchFamily="18" charset="-120"/>
              </a:rPr>
              <a:t>head</a:t>
            </a:r>
            <a:r>
              <a:rPr lang="en-US" altLang="zh-TW" sz="3200" i="1" baseline="-25000" dirty="0" err="1">
                <a:solidFill>
                  <a:schemeClr val="tx1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sz="3200" dirty="0">
                <a:solidFill>
                  <a:schemeClr val="tx1"/>
                </a:solidFill>
                <a:ea typeface="新細明體" panose="02020500000000000000" pitchFamily="18" charset="-120"/>
              </a:rPr>
              <a:t> 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02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Algorithm M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604844"/>
            <a:ext cx="10971688" cy="5158421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 build the suffix tree for </a:t>
            </a:r>
            <a:r>
              <a:rPr lang="en-US" altLang="zh-TW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ababc</a:t>
            </a:r>
            <a:r>
              <a:rPr lang="en-US" altLang="zh-TW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mcc</a:t>
            </a:r>
            <a:r>
              <a:rPr lang="en-US" altLang="zh-TW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inserts every step </a:t>
            </a:r>
            <a:r>
              <a:rPr lang="en-US" altLang="zh-TW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the </a:t>
            </a:r>
            <a:r>
              <a:rPr lang="en-US" altLang="zh-TW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suf</a:t>
            </a:r>
            <a:r>
              <a:rPr lang="en-US" altLang="zh-TW" baseline="-250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into tree T</a:t>
            </a:r>
            <a:r>
              <a:rPr lang="en-US" altLang="zh-TW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i-1</a:t>
            </a: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endParaRPr lang="en-US" altLang="zh-TW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TW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zh-TW" altLang="en-US" dirty="0">
              <a:latin typeface="Cambria Math" panose="020405030504060302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735690"/>
              </p:ext>
            </p:extLst>
          </p:nvPr>
        </p:nvGraphicFramePr>
        <p:xfrm>
          <a:off x="4495592" y="2886215"/>
          <a:ext cx="3199623" cy="3185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2376"/>
                <a:gridCol w="1987247"/>
              </a:tblGrid>
              <a:tr h="6370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Step1</a:t>
                      </a:r>
                      <a:endParaRPr lang="zh-TW" altLang="en-US" sz="3200" dirty="0">
                        <a:latin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ababc</a:t>
                      </a:r>
                      <a:r>
                        <a:rPr lang="en-US" altLang="zh-TW" sz="32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$</a:t>
                      </a:r>
                      <a:endParaRPr lang="zh-TW" altLang="en-US" sz="3200" dirty="0">
                        <a:latin typeface="Cambria Math" panose="02040503050406030204" pitchFamily="18" charset="0"/>
                      </a:endParaRPr>
                    </a:p>
                  </a:txBody>
                  <a:tcPr/>
                </a:tc>
              </a:tr>
              <a:tr h="6370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Step2</a:t>
                      </a:r>
                      <a:endParaRPr lang="zh-TW" altLang="en-US" sz="3200" dirty="0">
                        <a:latin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8295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babc</a:t>
                      </a:r>
                      <a:r>
                        <a:rPr lang="en-US" altLang="zh-TW" sz="32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$</a:t>
                      </a:r>
                      <a:endParaRPr lang="zh-TW" altLang="en-US" sz="3200" dirty="0" smtClean="0">
                        <a:latin typeface="Cambria Math" panose="02040503050406030204" pitchFamily="18" charset="0"/>
                      </a:endParaRPr>
                    </a:p>
                  </a:txBody>
                  <a:tcPr/>
                </a:tc>
              </a:tr>
              <a:tr h="6370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Step3</a:t>
                      </a:r>
                      <a:endParaRPr lang="zh-TW" altLang="en-US" sz="3200" dirty="0">
                        <a:latin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abc</a:t>
                      </a:r>
                      <a:r>
                        <a:rPr lang="en-US" altLang="zh-TW" sz="32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$</a:t>
                      </a:r>
                      <a:endParaRPr lang="zh-TW" altLang="en-US" sz="3200" dirty="0">
                        <a:latin typeface="Cambria Math" panose="02040503050406030204" pitchFamily="18" charset="0"/>
                      </a:endParaRPr>
                    </a:p>
                  </a:txBody>
                  <a:tcPr/>
                </a:tc>
              </a:tr>
              <a:tr h="6370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Step4</a:t>
                      </a:r>
                      <a:endParaRPr lang="zh-TW" altLang="en-US" sz="3200" dirty="0">
                        <a:latin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bc</a:t>
                      </a:r>
                      <a:r>
                        <a:rPr lang="en-US" altLang="zh-TW" sz="32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$</a:t>
                      </a:r>
                      <a:endParaRPr lang="zh-TW" altLang="en-US" sz="3200" dirty="0">
                        <a:latin typeface="Cambria Math" panose="02040503050406030204" pitchFamily="18" charset="0"/>
                      </a:endParaRPr>
                    </a:p>
                  </a:txBody>
                  <a:tcPr/>
                </a:tc>
              </a:tr>
              <a:tr h="6370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Step5</a:t>
                      </a:r>
                      <a:endParaRPr lang="zh-TW" altLang="en-US" sz="3200" dirty="0">
                        <a:latin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c$</a:t>
                      </a:r>
                      <a:endParaRPr lang="zh-TW" altLang="en-US" sz="3200" dirty="0">
                        <a:latin typeface="Cambria Math" panose="020405030504060302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14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36605" y="1981200"/>
            <a:ext cx="9545595" cy="2133600"/>
          </a:xfrm>
        </p:spPr>
        <p:txBody>
          <a:bodyPr/>
          <a:lstStyle/>
          <a:p>
            <a:pPr eaLnBrk="1" hangingPunct="1"/>
            <a:r>
              <a:rPr lang="en-US" altLang="zh-TW" sz="2400" dirty="0">
                <a:ea typeface="新細明體" panose="02020500000000000000" pitchFamily="18" charset="-120"/>
              </a:rPr>
              <a:t>To do this we have to insert every step </a:t>
            </a:r>
            <a:r>
              <a:rPr lang="en-US" altLang="zh-TW" sz="2400" dirty="0" err="1">
                <a:solidFill>
                  <a:schemeClr val="accent1"/>
                </a:solidFill>
                <a:ea typeface="新細明體" panose="02020500000000000000" pitchFamily="18" charset="-120"/>
              </a:rPr>
              <a:t>suf</a:t>
            </a:r>
            <a:r>
              <a:rPr lang="en-US" altLang="zh-TW" sz="2400" baseline="-25000" dirty="0" err="1">
                <a:solidFill>
                  <a:schemeClr val="accent1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sz="2400" dirty="0">
                <a:ea typeface="新細明體" panose="02020500000000000000" pitchFamily="18" charset="-120"/>
              </a:rPr>
              <a:t> without duplicating its prefix in the tree, so we need to find its longest prefix in the tree.</a:t>
            </a:r>
          </a:p>
          <a:p>
            <a:pPr eaLnBrk="1" hangingPunct="1"/>
            <a:r>
              <a:rPr lang="en-US" altLang="zh-TW" sz="2400" dirty="0" smtClean="0">
                <a:ea typeface="新細明體" panose="02020500000000000000" pitchFamily="18" charset="-120"/>
              </a:rPr>
              <a:t>Example</a:t>
            </a:r>
            <a:r>
              <a:rPr lang="en-US" altLang="zh-TW" sz="2400" dirty="0">
                <a:ea typeface="新細明體" panose="02020500000000000000" pitchFamily="18" charset="-120"/>
              </a:rPr>
              <a:t>:</a:t>
            </a:r>
          </a:p>
        </p:txBody>
      </p:sp>
      <p:sp>
        <p:nvSpPr>
          <p:cNvPr id="131075" name="Rectangle 3"/>
          <p:cNvSpPr>
            <a:spLocks noChangeArrowheads="1"/>
          </p:cNvSpPr>
          <p:nvPr/>
        </p:nvSpPr>
        <p:spPr bwMode="auto">
          <a:xfrm>
            <a:off x="1828800" y="228600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TW" sz="2800" i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title"/>
          </p:nvPr>
        </p:nvSpPr>
        <p:spPr>
          <a:xfrm>
            <a:off x="2590800" y="762000"/>
            <a:ext cx="7086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Algorithm M</a:t>
            </a:r>
            <a:endParaRPr lang="en-US" altLang="zh-TW" i="1" dirty="0" smtClean="0">
              <a:ea typeface="新細明體" panose="02020500000000000000" pitchFamily="18" charset="-120"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431008" y="5796908"/>
            <a:ext cx="8305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TW" sz="2000" dirty="0">
                <a:ea typeface="新細明體" panose="02020500000000000000" pitchFamily="18" charset="-120"/>
              </a:rPr>
              <a:t>So what we do is finding the extended locus of  </a:t>
            </a:r>
            <a:r>
              <a:rPr lang="en-US" altLang="zh-TW" sz="2000" dirty="0" err="1">
                <a:ea typeface="新細明體" panose="02020500000000000000" pitchFamily="18" charset="-120"/>
              </a:rPr>
              <a:t>head</a:t>
            </a:r>
            <a:r>
              <a:rPr lang="en-US" altLang="zh-TW" sz="2000" baseline="-25000" dirty="0" err="1">
                <a:ea typeface="新細明體" panose="02020500000000000000" pitchFamily="18" charset="-120"/>
              </a:rPr>
              <a:t>i</a:t>
            </a:r>
            <a:r>
              <a:rPr lang="en-US" altLang="zh-TW" sz="2000" dirty="0">
                <a:ea typeface="新細明體" panose="02020500000000000000" pitchFamily="18" charset="-120"/>
              </a:rPr>
              <a:t> in T</a:t>
            </a:r>
            <a:r>
              <a:rPr lang="en-US" altLang="zh-TW" sz="2000" baseline="-25000" dirty="0">
                <a:ea typeface="新細明體" panose="02020500000000000000" pitchFamily="18" charset="-120"/>
              </a:rPr>
              <a:t>i-1</a:t>
            </a:r>
            <a:r>
              <a:rPr lang="en-US" altLang="zh-TW" sz="2000" dirty="0">
                <a:ea typeface="新細明體" panose="02020500000000000000" pitchFamily="18" charset="-120"/>
              </a:rPr>
              <a:t> and its incoming edge is split by a new node which spawns a new edge labeled </a:t>
            </a:r>
            <a:r>
              <a:rPr lang="en-US" altLang="zh-TW" sz="2000" dirty="0" err="1">
                <a:ea typeface="新細明體" panose="02020500000000000000" pitchFamily="18" charset="-120"/>
              </a:rPr>
              <a:t>tail</a:t>
            </a:r>
            <a:r>
              <a:rPr lang="en-US" altLang="zh-TW" sz="2000" baseline="-25000" dirty="0" err="1">
                <a:ea typeface="新細明體" panose="02020500000000000000" pitchFamily="18" charset="-120"/>
              </a:rPr>
              <a:t>i</a:t>
            </a:r>
            <a:r>
              <a:rPr lang="en-US" altLang="zh-TW" sz="2000" dirty="0">
                <a:ea typeface="新細明體" panose="02020500000000000000" pitchFamily="18" charset="-120"/>
              </a:rPr>
              <a:t>.</a:t>
            </a:r>
            <a:endParaRPr lang="en-US" altLang="zh-TW" dirty="0">
              <a:ea typeface="新細明體" panose="02020500000000000000" pitchFamily="18" charset="-120"/>
            </a:endParaRPr>
          </a:p>
        </p:txBody>
      </p:sp>
      <p:sp>
        <p:nvSpPr>
          <p:cNvPr id="22534" name="Oval 7"/>
          <p:cNvSpPr>
            <a:spLocks noChangeArrowheads="1"/>
          </p:cNvSpPr>
          <p:nvPr/>
        </p:nvSpPr>
        <p:spPr bwMode="auto">
          <a:xfrm>
            <a:off x="8929689" y="3505200"/>
            <a:ext cx="155575" cy="1841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2535" name="Line 8"/>
          <p:cNvSpPr>
            <a:spLocks noChangeShapeType="1"/>
          </p:cNvSpPr>
          <p:nvPr/>
        </p:nvSpPr>
        <p:spPr bwMode="auto">
          <a:xfrm flipH="1">
            <a:off x="8512175" y="3659189"/>
            <a:ext cx="452438" cy="1169987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2536" name="Line 9"/>
          <p:cNvSpPr>
            <a:spLocks noChangeShapeType="1"/>
          </p:cNvSpPr>
          <p:nvPr/>
        </p:nvSpPr>
        <p:spPr bwMode="auto">
          <a:xfrm>
            <a:off x="9078913" y="3646489"/>
            <a:ext cx="412750" cy="1169987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2537" name="Text Box 10"/>
          <p:cNvSpPr txBox="1">
            <a:spLocks noChangeArrowheads="1"/>
          </p:cNvSpPr>
          <p:nvPr/>
        </p:nvSpPr>
        <p:spPr bwMode="auto">
          <a:xfrm>
            <a:off x="8001001" y="4114800"/>
            <a:ext cx="6588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000" i="1" dirty="0" err="1">
                <a:ea typeface="新細明體" panose="02020500000000000000" pitchFamily="18" charset="-120"/>
              </a:rPr>
              <a:t>ab</a:t>
            </a:r>
            <a:r>
              <a:rPr lang="en-US" altLang="zh-TW" sz="2000" i="1" dirty="0" err="1">
                <a:solidFill>
                  <a:srgbClr val="FF0000"/>
                </a:solidFill>
                <a:ea typeface="新細明體" panose="02020500000000000000" pitchFamily="18" charset="-120"/>
              </a:rPr>
              <a:t>abc</a:t>
            </a:r>
            <a:endParaRPr lang="en-US" altLang="zh-TW" sz="2000" i="1" dirty="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  <p:sp>
        <p:nvSpPr>
          <p:cNvPr id="22538" name="AutoShape 13"/>
          <p:cNvSpPr>
            <a:spLocks noChangeArrowheads="1"/>
          </p:cNvSpPr>
          <p:nvPr/>
        </p:nvSpPr>
        <p:spPr bwMode="auto">
          <a:xfrm>
            <a:off x="8383589" y="4821239"/>
            <a:ext cx="192087" cy="166687"/>
          </a:xfrm>
          <a:prstGeom prst="roundRect">
            <a:avLst>
              <a:gd name="adj" fmla="val 29690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2539" name="AutoShape 14"/>
          <p:cNvSpPr>
            <a:spLocks noChangeArrowheads="1"/>
          </p:cNvSpPr>
          <p:nvPr/>
        </p:nvSpPr>
        <p:spPr bwMode="auto">
          <a:xfrm>
            <a:off x="9423400" y="4827589"/>
            <a:ext cx="192088" cy="166687"/>
          </a:xfrm>
          <a:prstGeom prst="roundRect">
            <a:avLst>
              <a:gd name="adj" fmla="val 25523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2541" name="Text Box 16"/>
          <p:cNvSpPr txBox="1">
            <a:spLocks noChangeArrowheads="1"/>
          </p:cNvSpPr>
          <p:nvPr/>
        </p:nvSpPr>
        <p:spPr bwMode="auto">
          <a:xfrm>
            <a:off x="9296400" y="39624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000" i="1" dirty="0" err="1">
                <a:ea typeface="新細明體" panose="02020500000000000000" pitchFamily="18" charset="-120"/>
              </a:rPr>
              <a:t>babc</a:t>
            </a:r>
            <a:endParaRPr lang="en-US" altLang="zh-TW" sz="2000" i="1" dirty="0">
              <a:ea typeface="新細明體" panose="02020500000000000000" pitchFamily="18" charset="-120"/>
            </a:endParaRPr>
          </a:p>
        </p:txBody>
      </p:sp>
      <p:sp>
        <p:nvSpPr>
          <p:cNvPr id="22542" name="Text Box 17"/>
          <p:cNvSpPr txBox="1">
            <a:spLocks noChangeArrowheads="1"/>
          </p:cNvSpPr>
          <p:nvPr/>
        </p:nvSpPr>
        <p:spPr bwMode="auto">
          <a:xfrm>
            <a:off x="431008" y="3365157"/>
            <a:ext cx="56388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dirty="0" smtClean="0">
                <a:ea typeface="新細明體" panose="02020500000000000000" pitchFamily="18" charset="-120"/>
              </a:rPr>
              <a:t>S = </a:t>
            </a:r>
            <a:r>
              <a:rPr lang="en-US" altLang="zh-TW" dirty="0" err="1" smtClean="0">
                <a:ea typeface="新細明體" panose="02020500000000000000" pitchFamily="18" charset="-120"/>
              </a:rPr>
              <a:t>ababc</a:t>
            </a:r>
            <a:endParaRPr lang="en-US" altLang="zh-TW" dirty="0" smtClean="0">
              <a:ea typeface="新細明體" panose="02020500000000000000" pitchFamily="18" charset="-12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Suf</a:t>
            </a:r>
            <a:r>
              <a:rPr lang="en-US" altLang="zh-TW" baseline="-25000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3</a:t>
            </a:r>
            <a:r>
              <a:rPr lang="en-US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=</a:t>
            </a:r>
            <a:r>
              <a:rPr lang="en-US" altLang="zh-TW" dirty="0" err="1" smtClean="0">
                <a:solidFill>
                  <a:srgbClr val="FF0000"/>
                </a:solidFill>
                <a:ea typeface="新細明體" panose="02020500000000000000" pitchFamily="18" charset="-120"/>
              </a:rPr>
              <a:t>abc</a:t>
            </a:r>
            <a:r>
              <a:rPr lang="en-US" altLang="zh-TW" dirty="0">
                <a:ea typeface="新細明體" panose="02020500000000000000" pitchFamily="18" charset="-120"/>
              </a:rPr>
              <a:t>. Since we already have the word ab in the tree thus we need to start from there </a:t>
            </a:r>
            <a:r>
              <a:rPr lang="en-US" altLang="zh-TW" dirty="0" err="1">
                <a:ea typeface="新細明體" panose="02020500000000000000" pitchFamily="18" charset="-120"/>
              </a:rPr>
              <a:t>bulding</a:t>
            </a:r>
            <a:r>
              <a:rPr lang="en-US" altLang="zh-TW" dirty="0">
                <a:ea typeface="新細明體" panose="02020500000000000000" pitchFamily="18" charset="-120"/>
              </a:rPr>
              <a:t> our new suffix. Note that indeed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ab=head</a:t>
            </a:r>
            <a:r>
              <a:rPr lang="en-US" altLang="zh-TW" baseline="-25000" dirty="0">
                <a:solidFill>
                  <a:srgbClr val="FF0000"/>
                </a:solidFill>
                <a:ea typeface="新細明體" panose="02020500000000000000" pitchFamily="18" charset="-120"/>
              </a:rPr>
              <a:t>3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, </a:t>
            </a:r>
            <a:r>
              <a:rPr lang="en-US" altLang="zh-TW" dirty="0" err="1">
                <a:solidFill>
                  <a:srgbClr val="FF0000"/>
                </a:solidFill>
                <a:ea typeface="新細明體" panose="02020500000000000000" pitchFamily="18" charset="-120"/>
              </a:rPr>
              <a:t>tail</a:t>
            </a:r>
            <a:r>
              <a:rPr lang="en-US" altLang="zh-TW" baseline="-250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=c.</a:t>
            </a:r>
          </a:p>
        </p:txBody>
      </p:sp>
      <p:sp>
        <p:nvSpPr>
          <p:cNvPr id="131090" name="Line 18"/>
          <p:cNvSpPr>
            <a:spLocks noChangeShapeType="1"/>
          </p:cNvSpPr>
          <p:nvPr/>
        </p:nvSpPr>
        <p:spPr bwMode="auto">
          <a:xfrm>
            <a:off x="8763001" y="4267200"/>
            <a:ext cx="157163" cy="609600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31091" name="AutoShape 19"/>
          <p:cNvSpPr>
            <a:spLocks noChangeArrowheads="1"/>
          </p:cNvSpPr>
          <p:nvPr/>
        </p:nvSpPr>
        <p:spPr bwMode="auto">
          <a:xfrm>
            <a:off x="8839200" y="4876800"/>
            <a:ext cx="192088" cy="166688"/>
          </a:xfrm>
          <a:prstGeom prst="roundRect">
            <a:avLst>
              <a:gd name="adj" fmla="val 25523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31092" name="Oval 20"/>
          <p:cNvSpPr>
            <a:spLocks noChangeArrowheads="1"/>
          </p:cNvSpPr>
          <p:nvPr/>
        </p:nvSpPr>
        <p:spPr bwMode="auto">
          <a:xfrm>
            <a:off x="8686801" y="4114800"/>
            <a:ext cx="155575" cy="1841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31093" name="Text Box 21"/>
          <p:cNvSpPr txBox="1">
            <a:spLocks noChangeArrowheads="1"/>
          </p:cNvSpPr>
          <p:nvPr/>
        </p:nvSpPr>
        <p:spPr bwMode="auto">
          <a:xfrm>
            <a:off x="8915400" y="4343400"/>
            <a:ext cx="152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000" i="1" dirty="0">
                <a:ea typeface="新細明體" panose="02020500000000000000" pitchFamily="18" charset="-12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66057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1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1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1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90" grpId="0" animBg="1"/>
      <p:bldP spid="131091" grpId="0" animBg="1"/>
      <p:bldP spid="131092" grpId="0" animBg="1"/>
      <p:bldP spid="13109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334" y="1746250"/>
            <a:ext cx="6025978" cy="4876800"/>
          </a:xfrm>
        </p:spPr>
        <p:txBody>
          <a:bodyPr/>
          <a:lstStyle/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Notice that </a:t>
            </a:r>
            <a:r>
              <a:rPr lang="en-US" altLang="zh-TW" dirty="0" err="1" smtClean="0">
                <a:solidFill>
                  <a:schemeClr val="tx1"/>
                </a:solidFill>
                <a:ea typeface="新細明體" panose="02020500000000000000" pitchFamily="18" charset="-120"/>
              </a:rPr>
              <a:t>head</a:t>
            </a:r>
            <a:r>
              <a:rPr lang="en-US" altLang="zh-TW" baseline="-25000" dirty="0" err="1" smtClean="0">
                <a:solidFill>
                  <a:schemeClr val="tx1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 is the longest prefix of </a:t>
            </a:r>
            <a:r>
              <a:rPr lang="en-US" altLang="zh-TW" dirty="0" err="1" smtClean="0">
                <a:solidFill>
                  <a:schemeClr val="tx1"/>
                </a:solidFill>
                <a:ea typeface="新細明體" panose="02020500000000000000" pitchFamily="18" charset="-120"/>
              </a:rPr>
              <a:t>suf</a:t>
            </a:r>
            <a:r>
              <a:rPr lang="en-US" altLang="zh-TW" baseline="-25000" dirty="0" err="1" smtClean="0">
                <a:solidFill>
                  <a:schemeClr val="tx1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 that its extended locus exists within T</a:t>
            </a:r>
            <a:r>
              <a:rPr lang="en-US" altLang="zh-TW" baseline="-250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i-1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  <a:endParaRPr lang="en-US" altLang="zh-TW" baseline="-25000" dirty="0" smtClean="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1828800" y="228600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TW" sz="2800" i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24580" name="Group 79"/>
          <p:cNvGrpSpPr>
            <a:grpSpLocks/>
          </p:cNvGrpSpPr>
          <p:nvPr/>
        </p:nvGrpSpPr>
        <p:grpSpPr bwMode="auto">
          <a:xfrm>
            <a:off x="6934200" y="1905000"/>
            <a:ext cx="2819400" cy="3536950"/>
            <a:chOff x="3408" y="1200"/>
            <a:chExt cx="1776" cy="2228"/>
          </a:xfrm>
        </p:grpSpPr>
        <p:sp>
          <p:nvSpPr>
            <p:cNvPr id="24586" name="Oval 43"/>
            <p:cNvSpPr>
              <a:spLocks noChangeArrowheads="1"/>
            </p:cNvSpPr>
            <p:nvPr/>
          </p:nvSpPr>
          <p:spPr bwMode="auto">
            <a:xfrm>
              <a:off x="4224" y="1285"/>
              <a:ext cx="182" cy="20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24587" name="Line 49"/>
            <p:cNvSpPr>
              <a:spLocks noChangeShapeType="1"/>
            </p:cNvSpPr>
            <p:nvPr/>
          </p:nvSpPr>
          <p:spPr bwMode="auto">
            <a:xfrm flipH="1">
              <a:off x="3737" y="1454"/>
              <a:ext cx="528" cy="1296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24588" name="Line 51"/>
            <p:cNvSpPr>
              <a:spLocks noChangeShapeType="1"/>
            </p:cNvSpPr>
            <p:nvPr/>
          </p:nvSpPr>
          <p:spPr bwMode="auto">
            <a:xfrm>
              <a:off x="4398" y="1440"/>
              <a:ext cx="480" cy="1296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24589" name="Text Box 53"/>
            <p:cNvSpPr txBox="1">
              <a:spLocks noChangeArrowheads="1"/>
            </p:cNvSpPr>
            <p:nvPr/>
          </p:nvSpPr>
          <p:spPr bwMode="auto">
            <a:xfrm>
              <a:off x="3408" y="1968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i="1" dirty="0" err="1">
                  <a:ea typeface="新細明體" panose="02020500000000000000" pitchFamily="18" charset="-120"/>
                </a:rPr>
                <a:t>ababc</a:t>
              </a:r>
              <a:endParaRPr lang="en-US" altLang="zh-TW" i="1" dirty="0">
                <a:ea typeface="新細明體" panose="02020500000000000000" pitchFamily="18" charset="-120"/>
              </a:endParaRPr>
            </a:p>
          </p:txBody>
        </p:sp>
        <p:sp>
          <p:nvSpPr>
            <p:cNvPr id="24590" name="Text Box 57"/>
            <p:cNvSpPr txBox="1">
              <a:spLocks noChangeArrowheads="1"/>
            </p:cNvSpPr>
            <p:nvPr/>
          </p:nvSpPr>
          <p:spPr bwMode="auto">
            <a:xfrm>
              <a:off x="4608" y="1920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i="1" dirty="0" err="1">
                  <a:ea typeface="新細明體" panose="02020500000000000000" pitchFamily="18" charset="-120"/>
                </a:rPr>
                <a:t>babc</a:t>
              </a:r>
              <a:endParaRPr lang="en-US" altLang="zh-TW" i="1" dirty="0">
                <a:ea typeface="新細明體" panose="02020500000000000000" pitchFamily="18" charset="-120"/>
              </a:endParaRPr>
            </a:p>
          </p:txBody>
        </p:sp>
        <p:sp>
          <p:nvSpPr>
            <p:cNvPr id="24591" name="Text Box 59"/>
            <p:cNvSpPr txBox="1">
              <a:spLocks noChangeArrowheads="1"/>
            </p:cNvSpPr>
            <p:nvPr/>
          </p:nvSpPr>
          <p:spPr bwMode="auto">
            <a:xfrm>
              <a:off x="4431" y="1200"/>
              <a:ext cx="6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dirty="0">
                  <a:ea typeface="新細明體" panose="02020500000000000000" pitchFamily="18" charset="-120"/>
                </a:rPr>
                <a:t>root</a:t>
              </a:r>
            </a:p>
          </p:txBody>
        </p:sp>
        <p:sp>
          <p:nvSpPr>
            <p:cNvPr id="24592" name="AutoShape 60"/>
            <p:cNvSpPr>
              <a:spLocks noChangeArrowheads="1"/>
            </p:cNvSpPr>
            <p:nvPr/>
          </p:nvSpPr>
          <p:spPr bwMode="auto">
            <a:xfrm>
              <a:off x="3588" y="2741"/>
              <a:ext cx="223" cy="184"/>
            </a:xfrm>
            <a:prstGeom prst="roundRect">
              <a:avLst>
                <a:gd name="adj" fmla="val 2969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24593" name="AutoShape 63"/>
            <p:cNvSpPr>
              <a:spLocks noChangeArrowheads="1"/>
            </p:cNvSpPr>
            <p:nvPr/>
          </p:nvSpPr>
          <p:spPr bwMode="auto">
            <a:xfrm>
              <a:off x="4800" y="2748"/>
              <a:ext cx="223" cy="185"/>
            </a:xfrm>
            <a:prstGeom prst="roundRect">
              <a:avLst>
                <a:gd name="adj" fmla="val 25523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24594" name="Text Box 67"/>
            <p:cNvSpPr txBox="1">
              <a:spLocks noChangeArrowheads="1"/>
            </p:cNvSpPr>
            <p:nvPr/>
          </p:nvSpPr>
          <p:spPr bwMode="auto">
            <a:xfrm>
              <a:off x="4128" y="3024"/>
              <a:ext cx="5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3600" dirty="0">
                  <a:ea typeface="新細明體" panose="02020500000000000000" pitchFamily="18" charset="-120"/>
                </a:rPr>
                <a:t>T</a:t>
              </a:r>
              <a:r>
                <a:rPr lang="en-US" altLang="zh-TW" sz="3600" baseline="-25000" dirty="0">
                  <a:ea typeface="新細明體" panose="02020500000000000000" pitchFamily="18" charset="-120"/>
                </a:rPr>
                <a:t>2</a:t>
              </a:r>
              <a:endParaRPr lang="en-US" altLang="zh-TW" sz="3600" dirty="0">
                <a:ea typeface="新細明體" panose="02020500000000000000" pitchFamily="18" charset="-120"/>
              </a:endParaRPr>
            </a:p>
          </p:txBody>
        </p:sp>
      </p:grpSp>
      <p:sp>
        <p:nvSpPr>
          <p:cNvPr id="24581" name="Text Box 68"/>
          <p:cNvSpPr txBox="1">
            <a:spLocks noChangeArrowheads="1"/>
          </p:cNvSpPr>
          <p:nvPr/>
        </p:nvSpPr>
        <p:spPr bwMode="auto">
          <a:xfrm>
            <a:off x="7162800" y="5791200"/>
            <a:ext cx="31242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We have entered 2 suffixes by now.</a:t>
            </a:r>
          </a:p>
        </p:txBody>
      </p:sp>
      <p:sp>
        <p:nvSpPr>
          <p:cNvPr id="24582" name="Freeform 72"/>
          <p:cNvSpPr>
            <a:spLocks/>
          </p:cNvSpPr>
          <p:nvPr/>
        </p:nvSpPr>
        <p:spPr bwMode="auto">
          <a:xfrm>
            <a:off x="8686800" y="5334000"/>
            <a:ext cx="1168400" cy="457200"/>
          </a:xfrm>
          <a:custGeom>
            <a:avLst/>
            <a:gdLst>
              <a:gd name="T0" fmla="*/ 1066800 w 736"/>
              <a:gd name="T1" fmla="*/ 457200 h 288"/>
              <a:gd name="T2" fmla="*/ 990600 w 736"/>
              <a:gd name="T3" fmla="*/ 152400 h 288"/>
              <a:gd name="T4" fmla="*/ 0 w 736"/>
              <a:gd name="T5" fmla="*/ 0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36" h="288">
                <a:moveTo>
                  <a:pt x="672" y="288"/>
                </a:moveTo>
                <a:cubicBezTo>
                  <a:pt x="704" y="216"/>
                  <a:pt x="736" y="144"/>
                  <a:pt x="624" y="96"/>
                </a:cubicBezTo>
                <a:cubicBezTo>
                  <a:pt x="512" y="48"/>
                  <a:pt x="256" y="2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6940" name="Rectangle 76"/>
          <p:cNvSpPr>
            <a:spLocks noGrp="1" noChangeArrowheads="1"/>
          </p:cNvSpPr>
          <p:nvPr>
            <p:ph type="title"/>
          </p:nvPr>
        </p:nvSpPr>
        <p:spPr>
          <a:xfrm>
            <a:off x="2590800" y="236839"/>
            <a:ext cx="76962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Algorithm M</a:t>
            </a:r>
            <a:endParaRPr lang="en-US" altLang="zh-TW" i="1" dirty="0" smtClean="0">
              <a:ea typeface="新細明體" panose="02020500000000000000" pitchFamily="18" charset="-120"/>
            </a:endParaRPr>
          </a:p>
        </p:txBody>
      </p:sp>
      <p:sp>
        <p:nvSpPr>
          <p:cNvPr id="24584" name="Text Box 77"/>
          <p:cNvSpPr txBox="1">
            <a:spLocks noChangeArrowheads="1"/>
          </p:cNvSpPr>
          <p:nvPr/>
        </p:nvSpPr>
        <p:spPr bwMode="auto">
          <a:xfrm>
            <a:off x="4572000" y="4876800"/>
            <a:ext cx="21336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dirty="0">
                <a:ea typeface="新細明體" panose="02020500000000000000" pitchFamily="18" charset="-120"/>
              </a:rPr>
              <a:t>The extended locus of head</a:t>
            </a:r>
            <a:r>
              <a:rPr lang="en-US" altLang="zh-TW" baseline="-25000" dirty="0">
                <a:ea typeface="新細明體" panose="02020500000000000000" pitchFamily="18" charset="-120"/>
              </a:rPr>
              <a:t>3</a:t>
            </a:r>
            <a:endParaRPr lang="en-US" altLang="zh-TW" dirty="0">
              <a:ea typeface="新細明體" panose="02020500000000000000" pitchFamily="18" charset="-120"/>
            </a:endParaRPr>
          </a:p>
        </p:txBody>
      </p:sp>
      <p:sp>
        <p:nvSpPr>
          <p:cNvPr id="24585" name="Freeform 78"/>
          <p:cNvSpPr>
            <a:spLocks/>
          </p:cNvSpPr>
          <p:nvPr/>
        </p:nvSpPr>
        <p:spPr bwMode="auto">
          <a:xfrm>
            <a:off x="5334000" y="4343400"/>
            <a:ext cx="1752600" cy="533400"/>
          </a:xfrm>
          <a:custGeom>
            <a:avLst/>
            <a:gdLst>
              <a:gd name="T0" fmla="*/ 0 w 1104"/>
              <a:gd name="T1" fmla="*/ 533400 h 288"/>
              <a:gd name="T2" fmla="*/ 228600 w 1104"/>
              <a:gd name="T3" fmla="*/ 88900 h 288"/>
              <a:gd name="T4" fmla="*/ 914400 w 1104"/>
              <a:gd name="T5" fmla="*/ 0 h 288"/>
              <a:gd name="T6" fmla="*/ 1752600 w 1104"/>
              <a:gd name="T7" fmla="*/ 88900 h 2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04" h="288">
                <a:moveTo>
                  <a:pt x="0" y="288"/>
                </a:moveTo>
                <a:cubicBezTo>
                  <a:pt x="24" y="192"/>
                  <a:pt x="48" y="96"/>
                  <a:pt x="144" y="48"/>
                </a:cubicBezTo>
                <a:cubicBezTo>
                  <a:pt x="240" y="0"/>
                  <a:pt x="416" y="0"/>
                  <a:pt x="576" y="0"/>
                </a:cubicBezTo>
                <a:cubicBezTo>
                  <a:pt x="736" y="0"/>
                  <a:pt x="920" y="24"/>
                  <a:pt x="1104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138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Algorithm 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If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Algorithm M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chemeClr val="tx1"/>
                </a:solidFill>
                <a:ea typeface="新細明體" panose="02020500000000000000" pitchFamily="18" charset="-120"/>
              </a:rPr>
              <a:t>could find the extended locus of </a:t>
            </a:r>
            <a:r>
              <a:rPr lang="en-US" altLang="zh-TW" dirty="0" err="1">
                <a:solidFill>
                  <a:schemeClr val="tx1"/>
                </a:solidFill>
                <a:ea typeface="新細明體" panose="02020500000000000000" pitchFamily="18" charset="-120"/>
              </a:rPr>
              <a:t>head</a:t>
            </a:r>
            <a:r>
              <a:rPr lang="en-US" altLang="zh-TW" baseline="-25000" dirty="0" err="1">
                <a:solidFill>
                  <a:schemeClr val="tx1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dirty="0">
                <a:solidFill>
                  <a:schemeClr val="tx1"/>
                </a:solidFill>
                <a:ea typeface="新細明體" panose="02020500000000000000" pitchFamily="18" charset="-120"/>
              </a:rPr>
              <a:t> in T</a:t>
            </a:r>
            <a:r>
              <a:rPr lang="en-US" altLang="zh-TW" baseline="-25000" dirty="0">
                <a:solidFill>
                  <a:schemeClr val="tx1"/>
                </a:solidFill>
                <a:ea typeface="新細明體" panose="02020500000000000000" pitchFamily="18" charset="-120"/>
              </a:rPr>
              <a:t>i-1</a:t>
            </a:r>
            <a:r>
              <a:rPr lang="en-US" altLang="zh-TW" dirty="0">
                <a:solidFill>
                  <a:schemeClr val="tx1"/>
                </a:solidFill>
                <a:ea typeface="新細明體" panose="02020500000000000000" pitchFamily="18" charset="-120"/>
              </a:rPr>
              <a:t> in constant time, in average over all steps, then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Algorithm M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chemeClr val="tx1"/>
                </a:solidFill>
                <a:ea typeface="新細明體" panose="02020500000000000000" pitchFamily="18" charset="-120"/>
              </a:rPr>
              <a:t>is linear in </a:t>
            </a:r>
            <a:r>
              <a:rPr lang="en-US" altLang="zh-TW" i="1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n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ea typeface="新細明體" panose="02020500000000000000" pitchFamily="18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必須找出</a:t>
            </a:r>
            <a:r>
              <a:rPr lang="en-US" altLang="zh-TW" dirty="0" err="1">
                <a:solidFill>
                  <a:schemeClr val="tx1"/>
                </a:solidFill>
                <a:ea typeface="新細明體" panose="02020500000000000000" pitchFamily="18" charset="-120"/>
              </a:rPr>
              <a:t>head</a:t>
            </a:r>
            <a:r>
              <a:rPr lang="en-US" altLang="zh-TW" baseline="-25000" dirty="0" err="1">
                <a:solidFill>
                  <a:schemeClr val="tx1"/>
                </a:solidFill>
                <a:ea typeface="新細明體" panose="02020500000000000000" pitchFamily="18" charset="-120"/>
              </a:rPr>
              <a:t>i</a:t>
            </a:r>
            <a:r>
              <a:rPr lang="zh-TW" altLang="en-US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在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T</a:t>
            </a:r>
            <a:r>
              <a:rPr lang="en-US" altLang="zh-TW" baseline="-250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i-1</a:t>
            </a:r>
            <a:r>
              <a:rPr lang="zh-TW" altLang="en-US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中的</a:t>
            </a:r>
            <a:r>
              <a:rPr lang="en-US" altLang="zh-TW" dirty="0">
                <a:solidFill>
                  <a:schemeClr val="tx1"/>
                </a:solidFill>
                <a:ea typeface="新細明體" panose="02020500000000000000" pitchFamily="18" charset="-120"/>
              </a:rPr>
              <a:t>extended locus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773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Algorithm 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604844"/>
            <a:ext cx="10971688" cy="4968951"/>
          </a:xfrm>
        </p:spPr>
        <p:txBody>
          <a:bodyPr/>
          <a:lstStyle/>
          <a:p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Properties</a:t>
            </a:r>
          </a:p>
          <a:p>
            <a:pPr marL="457200" indent="-457200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P1</a:t>
            </a:r>
            <a:r>
              <a:rPr lang="en-US" altLang="zh-TW" sz="3200" dirty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: in </a:t>
            </a:r>
            <a:r>
              <a:rPr lang="en-US" altLang="zh-TW" sz="3200" dirty="0" err="1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T</a:t>
            </a:r>
            <a:r>
              <a:rPr lang="en-US" altLang="zh-TW" sz="3200" baseline="-25000" dirty="0" err="1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i</a:t>
            </a:r>
            <a:r>
              <a:rPr lang="en-US" altLang="zh-TW" sz="3200" dirty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  every internal node, except perhaps the locus of </a:t>
            </a:r>
            <a:r>
              <a:rPr lang="en-US" altLang="zh-TW" sz="3200" b="1" dirty="0" err="1" smtClean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head</a:t>
            </a:r>
            <a:r>
              <a:rPr lang="en-US" altLang="zh-TW" sz="3200" b="1" baseline="-25000" dirty="0" err="1" smtClean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i</a:t>
            </a:r>
            <a:r>
              <a:rPr lang="en-US" altLang="zh-TW" sz="3200" dirty="0" smtClean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, </a:t>
            </a:r>
            <a:r>
              <a:rPr lang="en-US" altLang="zh-TW" sz="3200" dirty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has a valid suffix link.</a:t>
            </a:r>
          </a:p>
          <a:p>
            <a:pPr marL="457200" indent="-457200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P2</a:t>
            </a:r>
            <a:r>
              <a:rPr lang="en-US" altLang="zh-TW" sz="3200" dirty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: in step </a:t>
            </a:r>
            <a:r>
              <a:rPr lang="en-US" altLang="zh-TW" sz="3200" i="1" dirty="0" err="1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i</a:t>
            </a:r>
            <a:r>
              <a:rPr lang="en-US" altLang="zh-TW" sz="3200" i="1" dirty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  mcc</a:t>
            </a:r>
            <a:r>
              <a:rPr lang="en-US" altLang="zh-TW" sz="3200" dirty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 visits the contracted locus of </a:t>
            </a:r>
            <a:r>
              <a:rPr lang="en-US" altLang="zh-TW" sz="3200" b="1" dirty="0" err="1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head</a:t>
            </a:r>
            <a:r>
              <a:rPr lang="en-US" altLang="zh-TW" sz="3200" b="1" baseline="-25000" dirty="0" err="1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i</a:t>
            </a:r>
            <a:r>
              <a:rPr lang="en-US" altLang="zh-TW" sz="3200" dirty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 in T</a:t>
            </a:r>
            <a:r>
              <a:rPr lang="en-US" altLang="zh-TW" sz="3200" baseline="-25000" dirty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i-1 </a:t>
            </a:r>
            <a:r>
              <a:rPr lang="en-US" altLang="zh-TW" sz="3200" dirty="0">
                <a:solidFill>
                  <a:schemeClr val="tx1"/>
                </a:solidFill>
                <a:latin typeface="Arial Narrow" panose="020B0606020202030204" pitchFamily="34" charset="0"/>
                <a:ea typeface="新細明體" panose="02020500000000000000" pitchFamily="18" charset="-120"/>
              </a:rPr>
              <a:t>. </a:t>
            </a:r>
            <a:endParaRPr lang="en-US" altLang="zh-TW" sz="3200" dirty="0" smtClean="0">
              <a:solidFill>
                <a:schemeClr val="tx1"/>
              </a:solidFill>
              <a:latin typeface="Arial Narrow" panose="020B0606020202030204" pitchFamily="34" charset="0"/>
              <a:ea typeface="新細明體" panose="02020500000000000000" pitchFamily="18" charset="-120"/>
            </a:endParaRPr>
          </a:p>
          <a:p>
            <a:pPr marL="457200" indent="-457200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schemeClr val="tx1"/>
              </a:solidFill>
              <a:latin typeface="Arial Narrow" panose="020B0606020202030204" pitchFamily="34" charset="0"/>
              <a:ea typeface="新細明體" panose="02020500000000000000" pitchFamily="18" charset="-120"/>
            </a:endParaRPr>
          </a:p>
          <a:p>
            <a:pPr marL="457200" indent="-457200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schemeClr val="tx1"/>
                </a:solidFill>
                <a:ea typeface="新細明體" panose="02020500000000000000" pitchFamily="18" charset="-120"/>
              </a:rPr>
              <a:t>P2 yields that we can use the contracted locus of head</a:t>
            </a:r>
            <a:r>
              <a:rPr lang="en-US" altLang="zh-TW" sz="3200" baseline="-25000" dirty="0">
                <a:solidFill>
                  <a:schemeClr val="tx1"/>
                </a:solidFill>
                <a:ea typeface="新細明體" panose="02020500000000000000" pitchFamily="18" charset="-120"/>
              </a:rPr>
              <a:t>i-1</a:t>
            </a:r>
            <a:r>
              <a:rPr lang="en-US" altLang="zh-TW" sz="3200" dirty="0">
                <a:solidFill>
                  <a:schemeClr val="tx1"/>
                </a:solidFill>
                <a:ea typeface="新細明體" panose="02020500000000000000" pitchFamily="18" charset="-120"/>
              </a:rPr>
              <a:t> to jump with the suffix link to some prefix of </a:t>
            </a:r>
            <a:r>
              <a:rPr lang="en-US" altLang="zh-TW" sz="3200" dirty="0" err="1">
                <a:solidFill>
                  <a:schemeClr val="tx1"/>
                </a:solidFill>
                <a:ea typeface="新細明體" panose="02020500000000000000" pitchFamily="18" charset="-120"/>
              </a:rPr>
              <a:t>head</a:t>
            </a:r>
            <a:r>
              <a:rPr lang="en-US" altLang="zh-TW" sz="3200" baseline="-25000" dirty="0" err="1">
                <a:solidFill>
                  <a:schemeClr val="tx1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sz="3200" dirty="0">
                <a:solidFill>
                  <a:schemeClr val="tx1"/>
                </a:solidFill>
                <a:ea typeface="新細明體" panose="02020500000000000000" pitchFamily="18" charset="-120"/>
              </a:rPr>
              <a:t>. P1 assure us that there is such suffix link</a:t>
            </a:r>
            <a:r>
              <a:rPr lang="en-US" altLang="zh-TW" sz="32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</a:p>
          <a:p>
            <a:pPr marL="457200" indent="-457200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3200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(</a:t>
            </a:r>
            <a:r>
              <a:rPr lang="zh-TW" altLang="en-US" sz="3200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利用</a:t>
            </a:r>
            <a:r>
              <a:rPr lang="en-US" altLang="zh-TW" sz="3200" dirty="0">
                <a:solidFill>
                  <a:srgbClr val="FF0000"/>
                </a:solidFill>
                <a:ea typeface="新細明體" panose="02020500000000000000" pitchFamily="18" charset="-120"/>
              </a:rPr>
              <a:t>head</a:t>
            </a:r>
            <a:r>
              <a:rPr lang="en-US" altLang="zh-TW" sz="3200" baseline="-25000" dirty="0">
                <a:solidFill>
                  <a:srgbClr val="FF0000"/>
                </a:solidFill>
                <a:ea typeface="新細明體" panose="02020500000000000000" pitchFamily="18" charset="-120"/>
              </a:rPr>
              <a:t>i-1</a:t>
            </a:r>
            <a:r>
              <a:rPr lang="en-US" altLang="zh-TW" sz="3200" dirty="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  <a:r>
              <a:rPr lang="zh-TW" altLang="en-US" sz="3200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的</a:t>
            </a:r>
            <a:r>
              <a:rPr lang="en-US" altLang="zh-TW" sz="3200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suffix</a:t>
            </a:r>
            <a:r>
              <a:rPr lang="zh-TW" altLang="en-US" sz="3200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3200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link</a:t>
            </a:r>
            <a:r>
              <a:rPr lang="zh-TW" altLang="en-US" sz="3200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快速走到</a:t>
            </a:r>
            <a:r>
              <a:rPr lang="en-US" altLang="zh-TW" sz="3200" dirty="0">
                <a:solidFill>
                  <a:srgbClr val="FF0000"/>
                </a:solidFill>
                <a:ea typeface="新細明體" panose="02020500000000000000" pitchFamily="18" charset="-120"/>
              </a:rPr>
              <a:t>some prefix of </a:t>
            </a:r>
            <a:r>
              <a:rPr lang="en-US" altLang="zh-TW" sz="32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head</a:t>
            </a:r>
            <a:r>
              <a:rPr lang="en-US" altLang="zh-TW" sz="3200" baseline="-250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sz="3200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)</a:t>
            </a:r>
            <a:endParaRPr lang="en-US" altLang="zh-TW" sz="3200" dirty="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 marL="457200" indent="-457200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TW" sz="3200" dirty="0">
              <a:solidFill>
                <a:schemeClr val="tx1"/>
              </a:solidFill>
              <a:latin typeface="Arial Narrow" panose="020B0606020202030204" pitchFamily="34" charset="0"/>
              <a:ea typeface="新細明體" panose="02020500000000000000" pitchFamily="18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236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Algorithm 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dirty="0" smtClean="0"/>
              <a:t>在了解前面的相關性質後，接下來我們對整個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Algorithm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zh-TW" alt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流程做一個解說。</a:t>
            </a:r>
            <a:endParaRPr lang="en-US" altLang="zh-TW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整個演算法分成三個子步驟，分別叫做</a:t>
            </a:r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SubStep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A, B, C</a:t>
            </a:r>
            <a:r>
              <a:rPr lang="zh-TW" alt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。</a:t>
            </a:r>
            <a:endParaRPr lang="en-US" altLang="zh-TW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09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hangingPunct="1"/>
            <a:r>
              <a:rPr lang="zh-TW" altLang="en-US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一開始我們先對</a:t>
            </a: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US" altLang="zh-TW" baseline="-250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i-1</a:t>
            </a:r>
            <a:r>
              <a:rPr lang="zh-TW" altLang="en-US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的內容做分析</a:t>
            </a:r>
            <a:endParaRPr lang="en-US" altLang="zh-TW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609600" indent="-609600" hangingPunct="1"/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Identify 3 strings: </a:t>
            </a:r>
            <a:r>
              <a:rPr lang="en-US" altLang="zh-TW" i="1" dirty="0" err="1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xuw</a:t>
            </a:r>
            <a:r>
              <a:rPr lang="en-US" altLang="zh-TW" i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i="1" dirty="0" err="1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s.t</a:t>
            </a:r>
            <a:r>
              <a:rPr lang="en-US" altLang="zh-TW" i="1" dirty="0" err="1" smtClean="0">
                <a:solidFill>
                  <a:schemeClr val="folHlin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US" altLang="zh-TW" i="1" dirty="0" smtClean="0">
              <a:solidFill>
                <a:schemeClr val="folHlink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609600" indent="-609600" hangingPunct="1"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US" altLang="zh-TW" baseline="-250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i-1</a:t>
            </a: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US" altLang="zh-TW" i="1" dirty="0" err="1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xuw</a:t>
            </a:r>
            <a:endParaRPr lang="en-US" altLang="zh-TW" i="1" dirty="0" smtClean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609600" indent="-609600" hangingPunct="1"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TW" i="1" dirty="0" err="1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xu</a:t>
            </a: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the contracted locus of head</a:t>
            </a:r>
            <a:r>
              <a:rPr lang="en-US" altLang="zh-TW" baseline="-250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i-1</a:t>
            </a: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 T</a:t>
            </a:r>
            <a:r>
              <a:rPr lang="en-US" altLang="zh-TW" baseline="-250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i-2</a:t>
            </a: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. </a:t>
            </a:r>
          </a:p>
          <a:p>
            <a:pPr marL="609600" indent="-609600" hangingPunct="1"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the contracted locus of head</a:t>
            </a:r>
            <a:r>
              <a:rPr lang="en-US" altLang="zh-TW" baseline="-250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i-1</a:t>
            </a: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 T</a:t>
            </a:r>
            <a:r>
              <a:rPr lang="en-US" altLang="zh-TW" baseline="-250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i-2</a:t>
            </a: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the root then </a:t>
            </a:r>
            <a:r>
              <a:rPr lang="en-US" altLang="zh-TW" i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u=</a:t>
            </a: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.</a:t>
            </a:r>
          </a:p>
          <a:p>
            <a:pPr marL="609600" indent="-609600" hangingPunct="1"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|</a:t>
            </a:r>
            <a:r>
              <a:rPr lang="en-US" altLang="zh-TW" i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x</a:t>
            </a: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|  1. </a:t>
            </a:r>
            <a:r>
              <a:rPr lang="en-US" altLang="zh-TW" i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x</a:t>
            </a:r>
            <a:r>
              <a:rPr lang="en-US" altLang="zh-TW" i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 only if head</a:t>
            </a:r>
            <a:r>
              <a:rPr lang="en-US" altLang="zh-TW" baseline="-250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i-1</a:t>
            </a:r>
            <a:r>
              <a:rPr lang="en-US" altLang="zh-TW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= .</a:t>
            </a:r>
          </a:p>
        </p:txBody>
      </p:sp>
      <p:sp>
        <p:nvSpPr>
          <p:cNvPr id="119811" name="Rectangle 3"/>
          <p:cNvSpPr>
            <a:spLocks noChangeArrowheads="1"/>
          </p:cNvSpPr>
          <p:nvPr/>
        </p:nvSpPr>
        <p:spPr bwMode="auto">
          <a:xfrm>
            <a:off x="1828800" y="228600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TW" sz="2800" i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title"/>
          </p:nvPr>
        </p:nvSpPr>
        <p:spPr>
          <a:xfrm>
            <a:off x="2590800" y="762000"/>
            <a:ext cx="7086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SubStep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  <a:endParaRPr lang="en-US" altLang="zh-TW" i="1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50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1828800" y="228600"/>
            <a:ext cx="8534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lang="zh-TW" altLang="zh-TW" sz="2800" i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title"/>
          </p:nvPr>
        </p:nvSpPr>
        <p:spPr>
          <a:xfrm>
            <a:off x="2514600" y="152400"/>
            <a:ext cx="73152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SubStep</a:t>
            </a:r>
            <a:r>
              <a:rPr lang="en-US" altLang="zh-TW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  <a:endParaRPr lang="en-US" altLang="zh-TW" sz="3200" dirty="0">
              <a:ea typeface="新細明體" panose="02020500000000000000" pitchFamily="18" charset="-120"/>
            </a:endParaRP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28800" y="762000"/>
            <a:ext cx="7162800" cy="76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Illustrating </a:t>
            </a:r>
            <a:r>
              <a:rPr lang="en-US" altLang="zh-TW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substep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A in the </a:t>
            </a:r>
            <a:r>
              <a:rPr lang="en-US" altLang="zh-TW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2800" baseline="30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step: the move from T</a:t>
            </a:r>
            <a:r>
              <a:rPr lang="en-US" altLang="zh-TW" sz="2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i-1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to </a:t>
            </a:r>
            <a:r>
              <a:rPr lang="en-US" altLang="zh-TW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n-US" altLang="zh-TW" sz="28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endParaRPr lang="en-US" altLang="zh-TW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37893" name="Group 161"/>
          <p:cNvGrpSpPr>
            <a:grpSpLocks/>
          </p:cNvGrpSpPr>
          <p:nvPr/>
        </p:nvGrpSpPr>
        <p:grpSpPr bwMode="auto">
          <a:xfrm>
            <a:off x="2819400" y="5029200"/>
            <a:ext cx="6629400" cy="1708150"/>
            <a:chOff x="432" y="3120"/>
            <a:chExt cx="4176" cy="1076"/>
          </a:xfrm>
        </p:grpSpPr>
        <p:sp>
          <p:nvSpPr>
            <p:cNvPr id="37969" name="Text Box 73"/>
            <p:cNvSpPr txBox="1">
              <a:spLocks noChangeArrowheads="1"/>
            </p:cNvSpPr>
            <p:nvPr/>
          </p:nvSpPr>
          <p:spPr bwMode="auto">
            <a:xfrm>
              <a:off x="432" y="3120"/>
              <a:ext cx="5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3600" dirty="0">
                  <a:ea typeface="新細明體" panose="02020500000000000000" pitchFamily="18" charset="-120"/>
                </a:rPr>
                <a:t>T</a:t>
              </a:r>
              <a:r>
                <a:rPr lang="en-US" altLang="zh-TW" sz="3600" baseline="-25000" dirty="0">
                  <a:ea typeface="新細明體" panose="02020500000000000000" pitchFamily="18" charset="-120"/>
                </a:rPr>
                <a:t>i-2</a:t>
              </a:r>
              <a:endParaRPr lang="en-US" altLang="zh-TW" sz="3600" dirty="0">
                <a:ea typeface="新細明體" panose="02020500000000000000" pitchFamily="18" charset="-120"/>
              </a:endParaRPr>
            </a:p>
          </p:txBody>
        </p:sp>
        <p:sp>
          <p:nvSpPr>
            <p:cNvPr id="37970" name="Text Box 74"/>
            <p:cNvSpPr txBox="1">
              <a:spLocks noChangeArrowheads="1"/>
            </p:cNvSpPr>
            <p:nvPr/>
          </p:nvSpPr>
          <p:spPr bwMode="auto">
            <a:xfrm>
              <a:off x="2400" y="3408"/>
              <a:ext cx="57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3600" dirty="0">
                  <a:ea typeface="新細明體" panose="02020500000000000000" pitchFamily="18" charset="-120"/>
                </a:rPr>
                <a:t>T</a:t>
              </a:r>
              <a:r>
                <a:rPr lang="en-US" altLang="zh-TW" sz="3600" baseline="-25000" dirty="0">
                  <a:ea typeface="新細明體" panose="02020500000000000000" pitchFamily="18" charset="-120"/>
                </a:rPr>
                <a:t>i-1</a:t>
              </a:r>
              <a:endParaRPr lang="en-US" altLang="zh-TW" sz="3600" dirty="0">
                <a:ea typeface="新細明體" panose="02020500000000000000" pitchFamily="18" charset="-120"/>
              </a:endParaRPr>
            </a:p>
          </p:txBody>
        </p:sp>
        <p:sp>
          <p:nvSpPr>
            <p:cNvPr id="37971" name="Text Box 75"/>
            <p:cNvSpPr txBox="1">
              <a:spLocks noChangeArrowheads="1"/>
            </p:cNvSpPr>
            <p:nvPr/>
          </p:nvSpPr>
          <p:spPr bwMode="auto">
            <a:xfrm>
              <a:off x="4224" y="3792"/>
              <a:ext cx="3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sz="3600" dirty="0" err="1">
                  <a:ea typeface="新細明體" panose="02020500000000000000" pitchFamily="18" charset="-120"/>
                </a:rPr>
                <a:t>T</a:t>
              </a:r>
              <a:r>
                <a:rPr lang="en-US" altLang="zh-TW" sz="3600" baseline="-25000" dirty="0" err="1">
                  <a:ea typeface="新細明體" panose="02020500000000000000" pitchFamily="18" charset="-120"/>
                </a:rPr>
                <a:t>i</a:t>
              </a:r>
              <a:endParaRPr lang="en-US" altLang="zh-TW" sz="3600" dirty="0">
                <a:ea typeface="新細明體" panose="02020500000000000000" pitchFamily="18" charset="-120"/>
              </a:endParaRPr>
            </a:p>
          </p:txBody>
        </p:sp>
        <p:sp>
          <p:nvSpPr>
            <p:cNvPr id="37972" name="Line 76"/>
            <p:cNvSpPr>
              <a:spLocks noChangeShapeType="1"/>
            </p:cNvSpPr>
            <p:nvPr/>
          </p:nvSpPr>
          <p:spPr bwMode="auto">
            <a:xfrm>
              <a:off x="1248" y="3504"/>
              <a:ext cx="100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7973" name="Text Box 77"/>
            <p:cNvSpPr txBox="1">
              <a:spLocks noChangeArrowheads="1"/>
            </p:cNvSpPr>
            <p:nvPr/>
          </p:nvSpPr>
          <p:spPr bwMode="auto">
            <a:xfrm>
              <a:off x="1248" y="3552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>
                  <a:ea typeface="新細明體" panose="02020500000000000000" pitchFamily="18" charset="-120"/>
                </a:rPr>
                <a:t>Step i-1</a:t>
              </a:r>
            </a:p>
          </p:txBody>
        </p:sp>
        <p:sp>
          <p:nvSpPr>
            <p:cNvPr id="37974" name="Line 78"/>
            <p:cNvSpPr>
              <a:spLocks noChangeShapeType="1"/>
            </p:cNvSpPr>
            <p:nvPr/>
          </p:nvSpPr>
          <p:spPr bwMode="auto">
            <a:xfrm>
              <a:off x="3072" y="3744"/>
              <a:ext cx="100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7975" name="Text Box 79"/>
            <p:cNvSpPr txBox="1">
              <a:spLocks noChangeArrowheads="1"/>
            </p:cNvSpPr>
            <p:nvPr/>
          </p:nvSpPr>
          <p:spPr bwMode="auto">
            <a:xfrm>
              <a:off x="3168" y="3840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>
                  <a:ea typeface="新細明體" panose="02020500000000000000" pitchFamily="18" charset="-120"/>
                </a:rPr>
                <a:t>Step i</a:t>
              </a:r>
            </a:p>
          </p:txBody>
        </p:sp>
        <p:sp>
          <p:nvSpPr>
            <p:cNvPr id="37976" name="Text Box 80"/>
            <p:cNvSpPr txBox="1">
              <a:spLocks noChangeArrowheads="1"/>
            </p:cNvSpPr>
            <p:nvPr/>
          </p:nvSpPr>
          <p:spPr bwMode="auto">
            <a:xfrm>
              <a:off x="1104" y="3264"/>
              <a:ext cx="1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>
                  <a:ea typeface="新細明體" panose="02020500000000000000" pitchFamily="18" charset="-120"/>
                </a:rPr>
                <a:t>Head</a:t>
              </a:r>
              <a:r>
                <a:rPr lang="en-US" altLang="zh-TW" baseline="-25000">
                  <a:ea typeface="新細明體" panose="02020500000000000000" pitchFamily="18" charset="-120"/>
                </a:rPr>
                <a:t>i-1</a:t>
              </a:r>
              <a:r>
                <a:rPr lang="en-US" altLang="zh-TW">
                  <a:ea typeface="新細明體" panose="02020500000000000000" pitchFamily="18" charset="-120"/>
                </a:rPr>
                <a:t>= xuw</a:t>
              </a:r>
            </a:p>
          </p:txBody>
        </p:sp>
        <p:sp>
          <p:nvSpPr>
            <p:cNvPr id="37977" name="Text Box 81"/>
            <p:cNvSpPr txBox="1">
              <a:spLocks noChangeArrowheads="1"/>
            </p:cNvSpPr>
            <p:nvPr/>
          </p:nvSpPr>
          <p:spPr bwMode="auto">
            <a:xfrm>
              <a:off x="3024" y="3504"/>
              <a:ext cx="1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dirty="0" err="1">
                  <a:ea typeface="新細明體" panose="02020500000000000000" pitchFamily="18" charset="-120"/>
                </a:rPr>
                <a:t>Head</a:t>
              </a:r>
              <a:r>
                <a:rPr lang="en-US" altLang="zh-TW" baseline="-25000" dirty="0" err="1">
                  <a:ea typeface="新細明體" panose="02020500000000000000" pitchFamily="18" charset="-120"/>
                </a:rPr>
                <a:t>i</a:t>
              </a:r>
              <a:r>
                <a:rPr lang="en-US" altLang="zh-TW" dirty="0">
                  <a:ea typeface="新細明體" panose="02020500000000000000" pitchFamily="18" charset="-120"/>
                </a:rPr>
                <a:t>= </a:t>
              </a:r>
              <a:r>
                <a:rPr lang="en-US" altLang="zh-TW" dirty="0" err="1">
                  <a:ea typeface="新細明體" panose="02020500000000000000" pitchFamily="18" charset="-120"/>
                </a:rPr>
                <a:t>uw</a:t>
              </a:r>
              <a:r>
                <a:rPr lang="en-US" altLang="zh-TW" dirty="0" err="1">
                  <a:solidFill>
                    <a:srgbClr val="80D52B"/>
                  </a:solidFill>
                  <a:ea typeface="新細明體" panose="02020500000000000000" pitchFamily="18" charset="-120"/>
                </a:rPr>
                <a:t>v</a:t>
              </a:r>
              <a:endParaRPr lang="en-US" altLang="zh-TW" dirty="0">
                <a:solidFill>
                  <a:srgbClr val="80D52B"/>
                </a:solidFill>
                <a:ea typeface="新細明體" panose="02020500000000000000" pitchFamily="18" charset="-120"/>
              </a:endParaRPr>
            </a:p>
          </p:txBody>
        </p:sp>
      </p:grpSp>
      <p:sp>
        <p:nvSpPr>
          <p:cNvPr id="37894" name="Oval 5"/>
          <p:cNvSpPr>
            <a:spLocks noChangeArrowheads="1"/>
          </p:cNvSpPr>
          <p:nvPr/>
        </p:nvSpPr>
        <p:spPr bwMode="auto">
          <a:xfrm>
            <a:off x="2660651" y="2189163"/>
            <a:ext cx="284163" cy="2841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7895" name="Oval 6"/>
          <p:cNvSpPr>
            <a:spLocks noChangeArrowheads="1"/>
          </p:cNvSpPr>
          <p:nvPr/>
        </p:nvSpPr>
        <p:spPr bwMode="auto">
          <a:xfrm>
            <a:off x="2147889" y="3192464"/>
            <a:ext cx="250825" cy="250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7896" name="Text Box 11"/>
          <p:cNvSpPr txBox="1">
            <a:spLocks noChangeArrowheads="1"/>
          </p:cNvSpPr>
          <p:nvPr/>
        </p:nvSpPr>
        <p:spPr bwMode="auto">
          <a:xfrm>
            <a:off x="3429000" y="2743200"/>
            <a:ext cx="66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xu</a:t>
            </a:r>
          </a:p>
        </p:txBody>
      </p:sp>
      <p:sp>
        <p:nvSpPr>
          <p:cNvPr id="37897" name="Line 12"/>
          <p:cNvSpPr>
            <a:spLocks noChangeShapeType="1"/>
          </p:cNvSpPr>
          <p:nvPr/>
        </p:nvSpPr>
        <p:spPr bwMode="auto">
          <a:xfrm>
            <a:off x="2895600" y="2438400"/>
            <a:ext cx="1066800" cy="1219200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7898" name="Text Box 13"/>
          <p:cNvSpPr txBox="1">
            <a:spLocks noChangeArrowheads="1"/>
          </p:cNvSpPr>
          <p:nvPr/>
        </p:nvSpPr>
        <p:spPr bwMode="auto">
          <a:xfrm>
            <a:off x="2947988" y="2133600"/>
            <a:ext cx="938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dirty="0">
                <a:solidFill>
                  <a:schemeClr val="accent1"/>
                </a:solidFill>
                <a:ea typeface="新細明體" panose="02020500000000000000" pitchFamily="18" charset="-120"/>
              </a:rPr>
              <a:t>root</a:t>
            </a:r>
          </a:p>
        </p:txBody>
      </p:sp>
      <p:sp>
        <p:nvSpPr>
          <p:cNvPr id="37899" name="Line 14"/>
          <p:cNvSpPr>
            <a:spLocks noChangeShapeType="1"/>
          </p:cNvSpPr>
          <p:nvPr/>
        </p:nvSpPr>
        <p:spPr bwMode="auto">
          <a:xfrm flipH="1">
            <a:off x="2298701" y="2443164"/>
            <a:ext cx="417513" cy="731837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7900" name="Text Box 19"/>
          <p:cNvSpPr txBox="1">
            <a:spLocks noChangeArrowheads="1"/>
          </p:cNvSpPr>
          <p:nvPr/>
        </p:nvSpPr>
        <p:spPr bwMode="auto">
          <a:xfrm>
            <a:off x="2209801" y="2514600"/>
            <a:ext cx="339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u</a:t>
            </a:r>
          </a:p>
        </p:txBody>
      </p:sp>
      <p:grpSp>
        <p:nvGrpSpPr>
          <p:cNvPr id="37901" name="Group 20"/>
          <p:cNvGrpSpPr>
            <a:grpSpLocks/>
          </p:cNvGrpSpPr>
          <p:nvPr/>
        </p:nvGrpSpPr>
        <p:grpSpPr bwMode="auto">
          <a:xfrm rot="1495539">
            <a:off x="1968501" y="3413126"/>
            <a:ext cx="225425" cy="987425"/>
            <a:chOff x="376" y="2304"/>
            <a:chExt cx="368" cy="1440"/>
          </a:xfrm>
        </p:grpSpPr>
        <p:sp>
          <p:nvSpPr>
            <p:cNvPr id="37967" name="Freeform 21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7968" name="Line 22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37902" name="Oval 24"/>
          <p:cNvSpPr>
            <a:spLocks noChangeArrowheads="1"/>
          </p:cNvSpPr>
          <p:nvPr/>
        </p:nvSpPr>
        <p:spPr bwMode="auto">
          <a:xfrm>
            <a:off x="3868739" y="3643313"/>
            <a:ext cx="282575" cy="3175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7903" name="Text Box 82"/>
          <p:cNvSpPr txBox="1">
            <a:spLocks noChangeArrowheads="1"/>
          </p:cNvSpPr>
          <p:nvPr/>
        </p:nvSpPr>
        <p:spPr bwMode="auto">
          <a:xfrm>
            <a:off x="4114800" y="3962400"/>
            <a:ext cx="66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wy</a:t>
            </a:r>
          </a:p>
        </p:txBody>
      </p:sp>
      <p:sp>
        <p:nvSpPr>
          <p:cNvPr id="37904" name="Freeform 83"/>
          <p:cNvSpPr>
            <a:spLocks/>
          </p:cNvSpPr>
          <p:nvPr/>
        </p:nvSpPr>
        <p:spPr bwMode="auto">
          <a:xfrm>
            <a:off x="2349501" y="3454400"/>
            <a:ext cx="1509713" cy="298450"/>
          </a:xfrm>
          <a:custGeom>
            <a:avLst/>
            <a:gdLst>
              <a:gd name="T0" fmla="*/ 1509713 w 2160"/>
              <a:gd name="T1" fmla="*/ 298450 h 1200"/>
              <a:gd name="T2" fmla="*/ 637434 w 2160"/>
              <a:gd name="T3" fmla="*/ 214884 h 1200"/>
              <a:gd name="T4" fmla="*/ 0 w 2160"/>
              <a:gd name="T5" fmla="*/ 0 h 1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" h="1200">
                <a:moveTo>
                  <a:pt x="2160" y="1200"/>
                </a:moveTo>
                <a:cubicBezTo>
                  <a:pt x="1716" y="1132"/>
                  <a:pt x="1272" y="1064"/>
                  <a:pt x="912" y="864"/>
                </a:cubicBezTo>
                <a:cubicBezTo>
                  <a:pt x="552" y="664"/>
                  <a:pt x="160" y="152"/>
                  <a:pt x="0" y="0"/>
                </a:cubicBezTo>
              </a:path>
            </a:pathLst>
          </a:custGeom>
          <a:noFill/>
          <a:ln w="25400" cap="flat" cmpd="sng">
            <a:solidFill>
              <a:srgbClr val="808080"/>
            </a:solidFill>
            <a:prstDash val="dash"/>
            <a:miter lim="800000"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75860" name="AutoShape 84"/>
          <p:cNvSpPr>
            <a:spLocks/>
          </p:cNvSpPr>
          <p:nvPr/>
        </p:nvSpPr>
        <p:spPr bwMode="auto">
          <a:xfrm>
            <a:off x="7162800" y="1752600"/>
            <a:ext cx="1866900" cy="584200"/>
          </a:xfrm>
          <a:prstGeom prst="borderCallout2">
            <a:avLst>
              <a:gd name="adj1" fmla="val 19565"/>
              <a:gd name="adj2" fmla="val -4083"/>
              <a:gd name="adj3" fmla="val 19565"/>
              <a:gd name="adj4" fmla="val -4083"/>
              <a:gd name="adj5" fmla="val 328259"/>
              <a:gd name="adj6" fmla="val -163606"/>
            </a:avLst>
          </a:prstGeom>
          <a:noFill/>
          <a:ln w="9525">
            <a:solidFill>
              <a:schemeClr val="tx1"/>
            </a:solidFill>
            <a:miter lim="800000"/>
            <a:headEnd type="none" w="lg" len="lg"/>
            <a:tailEnd type="arrow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TW" sz="1800">
                <a:ea typeface="新細明體" panose="02020500000000000000" pitchFamily="18" charset="-120"/>
              </a:rPr>
              <a:t>Contracted locus of xuw</a:t>
            </a:r>
          </a:p>
        </p:txBody>
      </p:sp>
      <p:sp>
        <p:nvSpPr>
          <p:cNvPr id="37906" name="Oval 105"/>
          <p:cNvSpPr>
            <a:spLocks noChangeArrowheads="1"/>
          </p:cNvSpPr>
          <p:nvPr/>
        </p:nvSpPr>
        <p:spPr bwMode="auto">
          <a:xfrm>
            <a:off x="8451851" y="2951163"/>
            <a:ext cx="284163" cy="2841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7907" name="Oval 106"/>
          <p:cNvSpPr>
            <a:spLocks noChangeArrowheads="1"/>
          </p:cNvSpPr>
          <p:nvPr/>
        </p:nvSpPr>
        <p:spPr bwMode="auto">
          <a:xfrm>
            <a:off x="7939089" y="3954464"/>
            <a:ext cx="250825" cy="250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7908" name="Text Box 110"/>
          <p:cNvSpPr txBox="1">
            <a:spLocks noChangeArrowheads="1"/>
          </p:cNvSpPr>
          <p:nvPr/>
        </p:nvSpPr>
        <p:spPr bwMode="auto">
          <a:xfrm>
            <a:off x="9220200" y="3505200"/>
            <a:ext cx="66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xu</a:t>
            </a:r>
          </a:p>
        </p:txBody>
      </p:sp>
      <p:sp>
        <p:nvSpPr>
          <p:cNvPr id="37909" name="Line 111"/>
          <p:cNvSpPr>
            <a:spLocks noChangeShapeType="1"/>
          </p:cNvSpPr>
          <p:nvPr/>
        </p:nvSpPr>
        <p:spPr bwMode="auto">
          <a:xfrm>
            <a:off x="8686800" y="3200400"/>
            <a:ext cx="1066800" cy="1219200"/>
          </a:xfrm>
          <a:prstGeom prst="line">
            <a:avLst/>
          </a:prstGeom>
          <a:noFill/>
          <a:ln w="9525">
            <a:solidFill>
              <a:srgbClr val="969696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7910" name="Text Box 112"/>
          <p:cNvSpPr txBox="1">
            <a:spLocks noChangeArrowheads="1"/>
          </p:cNvSpPr>
          <p:nvPr/>
        </p:nvSpPr>
        <p:spPr bwMode="auto">
          <a:xfrm>
            <a:off x="8739188" y="2895600"/>
            <a:ext cx="938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chemeClr val="accent1"/>
                </a:solidFill>
                <a:ea typeface="新細明體" panose="02020500000000000000" pitchFamily="18" charset="-120"/>
              </a:rPr>
              <a:t>root</a:t>
            </a:r>
          </a:p>
        </p:txBody>
      </p:sp>
      <p:sp>
        <p:nvSpPr>
          <p:cNvPr id="37911" name="Line 113"/>
          <p:cNvSpPr>
            <a:spLocks noChangeShapeType="1"/>
          </p:cNvSpPr>
          <p:nvPr/>
        </p:nvSpPr>
        <p:spPr bwMode="auto">
          <a:xfrm flipH="1">
            <a:off x="8089901" y="3205164"/>
            <a:ext cx="417513" cy="731837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7912" name="Text Box 114"/>
          <p:cNvSpPr txBox="1">
            <a:spLocks noChangeArrowheads="1"/>
          </p:cNvSpPr>
          <p:nvPr/>
        </p:nvSpPr>
        <p:spPr bwMode="auto">
          <a:xfrm>
            <a:off x="8001000" y="3268663"/>
            <a:ext cx="40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u</a:t>
            </a:r>
          </a:p>
        </p:txBody>
      </p:sp>
      <p:grpSp>
        <p:nvGrpSpPr>
          <p:cNvPr id="37913" name="Group 115"/>
          <p:cNvGrpSpPr>
            <a:grpSpLocks/>
          </p:cNvGrpSpPr>
          <p:nvPr/>
        </p:nvGrpSpPr>
        <p:grpSpPr bwMode="auto">
          <a:xfrm rot="1495539">
            <a:off x="7759701" y="4175126"/>
            <a:ext cx="225425" cy="987425"/>
            <a:chOff x="376" y="2304"/>
            <a:chExt cx="368" cy="1440"/>
          </a:xfrm>
        </p:grpSpPr>
        <p:sp>
          <p:nvSpPr>
            <p:cNvPr id="37965" name="Freeform 116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chemeClr val="folHlink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7966" name="Line 117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chemeClr val="folHlink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37914" name="Oval 118"/>
          <p:cNvSpPr>
            <a:spLocks noChangeArrowheads="1"/>
          </p:cNvSpPr>
          <p:nvPr/>
        </p:nvSpPr>
        <p:spPr bwMode="auto">
          <a:xfrm>
            <a:off x="9659939" y="4405313"/>
            <a:ext cx="282575" cy="3175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7915" name="Freeform 120"/>
          <p:cNvSpPr>
            <a:spLocks/>
          </p:cNvSpPr>
          <p:nvPr/>
        </p:nvSpPr>
        <p:spPr bwMode="auto">
          <a:xfrm>
            <a:off x="8140701" y="4216400"/>
            <a:ext cx="1509713" cy="298450"/>
          </a:xfrm>
          <a:custGeom>
            <a:avLst/>
            <a:gdLst>
              <a:gd name="T0" fmla="*/ 1509713 w 2160"/>
              <a:gd name="T1" fmla="*/ 298450 h 1200"/>
              <a:gd name="T2" fmla="*/ 637434 w 2160"/>
              <a:gd name="T3" fmla="*/ 214884 h 1200"/>
              <a:gd name="T4" fmla="*/ 0 w 2160"/>
              <a:gd name="T5" fmla="*/ 0 h 1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" h="1200">
                <a:moveTo>
                  <a:pt x="2160" y="1200"/>
                </a:moveTo>
                <a:cubicBezTo>
                  <a:pt x="1716" y="1132"/>
                  <a:pt x="1272" y="1064"/>
                  <a:pt x="912" y="864"/>
                </a:cubicBezTo>
                <a:cubicBezTo>
                  <a:pt x="552" y="664"/>
                  <a:pt x="160" y="152"/>
                  <a:pt x="0" y="0"/>
                </a:cubicBezTo>
              </a:path>
            </a:pathLst>
          </a:custGeom>
          <a:noFill/>
          <a:ln w="25400" cap="flat" cmpd="sng">
            <a:solidFill>
              <a:srgbClr val="808080"/>
            </a:solidFill>
            <a:prstDash val="dash"/>
            <a:miter lim="800000"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7916" name="Line 121"/>
          <p:cNvSpPr>
            <a:spLocks noChangeShapeType="1"/>
          </p:cNvSpPr>
          <p:nvPr/>
        </p:nvSpPr>
        <p:spPr bwMode="auto">
          <a:xfrm>
            <a:off x="4038600" y="3962400"/>
            <a:ext cx="152400" cy="533400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grpSp>
        <p:nvGrpSpPr>
          <p:cNvPr id="37917" name="Group 122"/>
          <p:cNvGrpSpPr>
            <a:grpSpLocks/>
          </p:cNvGrpSpPr>
          <p:nvPr/>
        </p:nvGrpSpPr>
        <p:grpSpPr bwMode="auto">
          <a:xfrm rot="1495539">
            <a:off x="3630614" y="3863976"/>
            <a:ext cx="166687" cy="874713"/>
            <a:chOff x="376" y="2304"/>
            <a:chExt cx="368" cy="1440"/>
          </a:xfrm>
        </p:grpSpPr>
        <p:sp>
          <p:nvSpPr>
            <p:cNvPr id="37963" name="Freeform 123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7964" name="Line 124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37918" name="Oval 125"/>
          <p:cNvSpPr>
            <a:spLocks noChangeArrowheads="1"/>
          </p:cNvSpPr>
          <p:nvPr/>
        </p:nvSpPr>
        <p:spPr bwMode="auto">
          <a:xfrm>
            <a:off x="4038601" y="4495800"/>
            <a:ext cx="282575" cy="3175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grpSp>
        <p:nvGrpSpPr>
          <p:cNvPr id="37919" name="Group 127"/>
          <p:cNvGrpSpPr>
            <a:grpSpLocks/>
          </p:cNvGrpSpPr>
          <p:nvPr/>
        </p:nvGrpSpPr>
        <p:grpSpPr bwMode="auto">
          <a:xfrm>
            <a:off x="4178300" y="4813300"/>
            <a:ext cx="152400" cy="368300"/>
            <a:chOff x="376" y="2304"/>
            <a:chExt cx="368" cy="1440"/>
          </a:xfrm>
        </p:grpSpPr>
        <p:sp>
          <p:nvSpPr>
            <p:cNvPr id="37961" name="Freeform 128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7962" name="Line 129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37920" name="Oval 88"/>
          <p:cNvSpPr>
            <a:spLocks noChangeArrowheads="1"/>
          </p:cNvSpPr>
          <p:nvPr/>
        </p:nvSpPr>
        <p:spPr bwMode="auto">
          <a:xfrm>
            <a:off x="5556251" y="2189163"/>
            <a:ext cx="284163" cy="2841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7921" name="Oval 89"/>
          <p:cNvSpPr>
            <a:spLocks noChangeArrowheads="1"/>
          </p:cNvSpPr>
          <p:nvPr/>
        </p:nvSpPr>
        <p:spPr bwMode="auto">
          <a:xfrm>
            <a:off x="5043489" y="3192464"/>
            <a:ext cx="250825" cy="250825"/>
          </a:xfrm>
          <a:prstGeom prst="ellipse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7922" name="Text Box 93"/>
          <p:cNvSpPr txBox="1">
            <a:spLocks noChangeArrowheads="1"/>
          </p:cNvSpPr>
          <p:nvPr/>
        </p:nvSpPr>
        <p:spPr bwMode="auto">
          <a:xfrm>
            <a:off x="6324600" y="2743200"/>
            <a:ext cx="66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xu</a:t>
            </a:r>
          </a:p>
        </p:txBody>
      </p:sp>
      <p:sp>
        <p:nvSpPr>
          <p:cNvPr id="37923" name="Line 94"/>
          <p:cNvSpPr>
            <a:spLocks noChangeShapeType="1"/>
          </p:cNvSpPr>
          <p:nvPr/>
        </p:nvSpPr>
        <p:spPr bwMode="auto">
          <a:xfrm>
            <a:off x="5791200" y="2438400"/>
            <a:ext cx="838200" cy="990600"/>
          </a:xfrm>
          <a:prstGeom prst="line">
            <a:avLst/>
          </a:prstGeom>
          <a:noFill/>
          <a:ln w="1587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7924" name="Text Box 95"/>
          <p:cNvSpPr txBox="1">
            <a:spLocks noChangeArrowheads="1"/>
          </p:cNvSpPr>
          <p:nvPr/>
        </p:nvSpPr>
        <p:spPr bwMode="auto">
          <a:xfrm>
            <a:off x="5843588" y="2133600"/>
            <a:ext cx="938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chemeClr val="accent1"/>
                </a:solidFill>
                <a:ea typeface="新細明體" panose="02020500000000000000" pitchFamily="18" charset="-120"/>
              </a:rPr>
              <a:t>root</a:t>
            </a:r>
          </a:p>
        </p:txBody>
      </p:sp>
      <p:sp>
        <p:nvSpPr>
          <p:cNvPr id="37925" name="Line 96"/>
          <p:cNvSpPr>
            <a:spLocks noChangeShapeType="1"/>
          </p:cNvSpPr>
          <p:nvPr/>
        </p:nvSpPr>
        <p:spPr bwMode="auto">
          <a:xfrm flipH="1">
            <a:off x="5194301" y="2443164"/>
            <a:ext cx="417513" cy="731837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7926" name="Text Box 97"/>
          <p:cNvSpPr txBox="1">
            <a:spLocks noChangeArrowheads="1"/>
          </p:cNvSpPr>
          <p:nvPr/>
        </p:nvSpPr>
        <p:spPr bwMode="auto">
          <a:xfrm>
            <a:off x="5105401" y="2438400"/>
            <a:ext cx="339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u</a:t>
            </a:r>
          </a:p>
        </p:txBody>
      </p:sp>
      <p:grpSp>
        <p:nvGrpSpPr>
          <p:cNvPr id="37927" name="Group 98"/>
          <p:cNvGrpSpPr>
            <a:grpSpLocks/>
          </p:cNvGrpSpPr>
          <p:nvPr/>
        </p:nvGrpSpPr>
        <p:grpSpPr bwMode="auto">
          <a:xfrm rot="1495539">
            <a:off x="4864101" y="3413126"/>
            <a:ext cx="225425" cy="987425"/>
            <a:chOff x="376" y="2304"/>
            <a:chExt cx="368" cy="1440"/>
          </a:xfrm>
        </p:grpSpPr>
        <p:sp>
          <p:nvSpPr>
            <p:cNvPr id="37959" name="Freeform 99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7960" name="Line 100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37928" name="Oval 101"/>
          <p:cNvSpPr>
            <a:spLocks noChangeArrowheads="1"/>
          </p:cNvSpPr>
          <p:nvPr/>
        </p:nvSpPr>
        <p:spPr bwMode="auto">
          <a:xfrm>
            <a:off x="6553201" y="3429000"/>
            <a:ext cx="282575" cy="3175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7929" name="Freeform 103"/>
          <p:cNvSpPr>
            <a:spLocks/>
          </p:cNvSpPr>
          <p:nvPr/>
        </p:nvSpPr>
        <p:spPr bwMode="auto">
          <a:xfrm>
            <a:off x="5245100" y="3454400"/>
            <a:ext cx="1308100" cy="203200"/>
          </a:xfrm>
          <a:custGeom>
            <a:avLst/>
            <a:gdLst>
              <a:gd name="T0" fmla="*/ 1308100 w 2160"/>
              <a:gd name="T1" fmla="*/ 203200 h 1200"/>
              <a:gd name="T2" fmla="*/ 552309 w 2160"/>
              <a:gd name="T3" fmla="*/ 146304 h 1200"/>
              <a:gd name="T4" fmla="*/ 0 w 2160"/>
              <a:gd name="T5" fmla="*/ 0 h 1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" h="1200">
                <a:moveTo>
                  <a:pt x="2160" y="1200"/>
                </a:moveTo>
                <a:cubicBezTo>
                  <a:pt x="1716" y="1132"/>
                  <a:pt x="1272" y="1064"/>
                  <a:pt x="912" y="864"/>
                </a:cubicBezTo>
                <a:cubicBezTo>
                  <a:pt x="552" y="664"/>
                  <a:pt x="160" y="152"/>
                  <a:pt x="0" y="0"/>
                </a:cubicBezTo>
              </a:path>
            </a:pathLst>
          </a:custGeom>
          <a:noFill/>
          <a:ln w="28575" cap="flat" cmpd="sng">
            <a:solidFill>
              <a:srgbClr val="34F20E"/>
            </a:solidFill>
            <a:prstDash val="dash"/>
            <a:miter lim="800000"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7930" name="Line 132"/>
          <p:cNvSpPr>
            <a:spLocks noChangeShapeType="1"/>
          </p:cNvSpPr>
          <p:nvPr/>
        </p:nvSpPr>
        <p:spPr bwMode="auto">
          <a:xfrm>
            <a:off x="6781800" y="3733800"/>
            <a:ext cx="228600" cy="533400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grpSp>
        <p:nvGrpSpPr>
          <p:cNvPr id="37931" name="Group 133"/>
          <p:cNvGrpSpPr>
            <a:grpSpLocks/>
          </p:cNvGrpSpPr>
          <p:nvPr/>
        </p:nvGrpSpPr>
        <p:grpSpPr bwMode="auto">
          <a:xfrm rot="1495539">
            <a:off x="6324601" y="3727450"/>
            <a:ext cx="327025" cy="839788"/>
            <a:chOff x="376" y="2304"/>
            <a:chExt cx="368" cy="1440"/>
          </a:xfrm>
        </p:grpSpPr>
        <p:sp>
          <p:nvSpPr>
            <p:cNvPr id="37957" name="Freeform 134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7958" name="Line 135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37932" name="Oval 136"/>
          <p:cNvSpPr>
            <a:spLocks noChangeArrowheads="1"/>
          </p:cNvSpPr>
          <p:nvPr/>
        </p:nvSpPr>
        <p:spPr bwMode="auto">
          <a:xfrm>
            <a:off x="6934201" y="4267200"/>
            <a:ext cx="282575" cy="3175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grpSp>
        <p:nvGrpSpPr>
          <p:cNvPr id="37933" name="Group 137"/>
          <p:cNvGrpSpPr>
            <a:grpSpLocks/>
          </p:cNvGrpSpPr>
          <p:nvPr/>
        </p:nvGrpSpPr>
        <p:grpSpPr bwMode="auto">
          <a:xfrm>
            <a:off x="7010400" y="4572000"/>
            <a:ext cx="228600" cy="762000"/>
            <a:chOff x="376" y="2304"/>
            <a:chExt cx="368" cy="1440"/>
          </a:xfrm>
        </p:grpSpPr>
        <p:sp>
          <p:nvSpPr>
            <p:cNvPr id="37955" name="Freeform 138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7956" name="Line 139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37934" name="Line 141"/>
          <p:cNvSpPr>
            <a:spLocks noChangeShapeType="1"/>
          </p:cNvSpPr>
          <p:nvPr/>
        </p:nvSpPr>
        <p:spPr bwMode="auto">
          <a:xfrm>
            <a:off x="9839325" y="4725988"/>
            <a:ext cx="152400" cy="533400"/>
          </a:xfrm>
          <a:prstGeom prst="line">
            <a:avLst/>
          </a:prstGeom>
          <a:noFill/>
          <a:ln w="9525">
            <a:solidFill>
              <a:srgbClr val="969696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grpSp>
        <p:nvGrpSpPr>
          <p:cNvPr id="37935" name="Group 142"/>
          <p:cNvGrpSpPr>
            <a:grpSpLocks/>
          </p:cNvGrpSpPr>
          <p:nvPr/>
        </p:nvGrpSpPr>
        <p:grpSpPr bwMode="auto">
          <a:xfrm rot="1495539">
            <a:off x="9409114" y="4645026"/>
            <a:ext cx="180975" cy="862013"/>
            <a:chOff x="376" y="2304"/>
            <a:chExt cx="368" cy="1440"/>
          </a:xfrm>
        </p:grpSpPr>
        <p:sp>
          <p:nvSpPr>
            <p:cNvPr id="37953" name="Freeform 143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7954" name="Line 144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37936" name="Oval 145"/>
          <p:cNvSpPr>
            <a:spLocks noChangeArrowheads="1"/>
          </p:cNvSpPr>
          <p:nvPr/>
        </p:nvSpPr>
        <p:spPr bwMode="auto">
          <a:xfrm>
            <a:off x="9839326" y="5259388"/>
            <a:ext cx="282575" cy="317500"/>
          </a:xfrm>
          <a:prstGeom prst="ellipse">
            <a:avLst/>
          </a:prstGeom>
          <a:solidFill>
            <a:schemeClr val="bg2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grpSp>
        <p:nvGrpSpPr>
          <p:cNvPr id="37937" name="Group 146"/>
          <p:cNvGrpSpPr>
            <a:grpSpLocks/>
          </p:cNvGrpSpPr>
          <p:nvPr/>
        </p:nvGrpSpPr>
        <p:grpSpPr bwMode="auto">
          <a:xfrm>
            <a:off x="9915526" y="5576888"/>
            <a:ext cx="219075" cy="595312"/>
            <a:chOff x="376" y="2304"/>
            <a:chExt cx="368" cy="1440"/>
          </a:xfrm>
        </p:grpSpPr>
        <p:sp>
          <p:nvSpPr>
            <p:cNvPr id="37951" name="Freeform 147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7952" name="Line 148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37938" name="Text Box 151"/>
          <p:cNvSpPr txBox="1">
            <a:spLocks noChangeArrowheads="1"/>
          </p:cNvSpPr>
          <p:nvPr/>
        </p:nvSpPr>
        <p:spPr bwMode="auto">
          <a:xfrm>
            <a:off x="6858000" y="3657600"/>
            <a:ext cx="66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w</a:t>
            </a:r>
          </a:p>
        </p:txBody>
      </p:sp>
      <p:sp>
        <p:nvSpPr>
          <p:cNvPr id="37939" name="Text Box 155"/>
          <p:cNvSpPr txBox="1">
            <a:spLocks noChangeArrowheads="1"/>
          </p:cNvSpPr>
          <p:nvPr/>
        </p:nvSpPr>
        <p:spPr bwMode="auto">
          <a:xfrm>
            <a:off x="7150100" y="46609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y</a:t>
            </a:r>
          </a:p>
        </p:txBody>
      </p:sp>
      <p:sp>
        <p:nvSpPr>
          <p:cNvPr id="37940" name="Text Box 156"/>
          <p:cNvSpPr txBox="1">
            <a:spLocks noChangeArrowheads="1"/>
          </p:cNvSpPr>
          <p:nvPr/>
        </p:nvSpPr>
        <p:spPr bwMode="auto">
          <a:xfrm>
            <a:off x="7886700" y="4495800"/>
            <a:ext cx="66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w</a:t>
            </a:r>
            <a:r>
              <a:rPr lang="en-US" altLang="zh-TW">
                <a:solidFill>
                  <a:srgbClr val="80D52B"/>
                </a:solidFill>
                <a:ea typeface="新細明體" panose="02020500000000000000" pitchFamily="18" charset="-120"/>
              </a:rPr>
              <a:t>v</a:t>
            </a:r>
          </a:p>
        </p:txBody>
      </p:sp>
      <p:sp>
        <p:nvSpPr>
          <p:cNvPr id="37941" name="Text Box 158"/>
          <p:cNvSpPr txBox="1">
            <a:spLocks noChangeArrowheads="1"/>
          </p:cNvSpPr>
          <p:nvPr/>
        </p:nvSpPr>
        <p:spPr bwMode="auto">
          <a:xfrm>
            <a:off x="9867900" y="4724400"/>
            <a:ext cx="66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w</a:t>
            </a:r>
          </a:p>
        </p:txBody>
      </p:sp>
      <p:sp>
        <p:nvSpPr>
          <p:cNvPr id="37942" name="Text Box 159"/>
          <p:cNvSpPr txBox="1">
            <a:spLocks noChangeArrowheads="1"/>
          </p:cNvSpPr>
          <p:nvPr/>
        </p:nvSpPr>
        <p:spPr bwMode="auto">
          <a:xfrm>
            <a:off x="5016500" y="30607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dirty="0">
                <a:ea typeface="新細明體" panose="02020500000000000000" pitchFamily="18" charset="-120"/>
              </a:rPr>
              <a:t>c</a:t>
            </a:r>
          </a:p>
        </p:txBody>
      </p:sp>
      <p:sp>
        <p:nvSpPr>
          <p:cNvPr id="37943" name="Text Box 160"/>
          <p:cNvSpPr txBox="1">
            <a:spLocks noChangeArrowheads="1"/>
          </p:cNvSpPr>
          <p:nvPr/>
        </p:nvSpPr>
        <p:spPr bwMode="auto">
          <a:xfrm>
            <a:off x="10134600" y="5638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808080"/>
                </a:solidFill>
                <a:ea typeface="新細明體" panose="02020500000000000000" pitchFamily="18" charset="-120"/>
              </a:rPr>
              <a:t>y</a:t>
            </a:r>
          </a:p>
        </p:txBody>
      </p:sp>
      <p:grpSp>
        <p:nvGrpSpPr>
          <p:cNvPr id="37944" name="Group 164"/>
          <p:cNvGrpSpPr>
            <a:grpSpLocks/>
          </p:cNvGrpSpPr>
          <p:nvPr/>
        </p:nvGrpSpPr>
        <p:grpSpPr bwMode="auto">
          <a:xfrm>
            <a:off x="6094414" y="4495800"/>
            <a:ext cx="865187" cy="762000"/>
            <a:chOff x="2879" y="2832"/>
            <a:chExt cx="545" cy="480"/>
          </a:xfrm>
        </p:grpSpPr>
        <p:sp>
          <p:nvSpPr>
            <p:cNvPr id="37949" name="Line 162"/>
            <p:cNvSpPr>
              <a:spLocks noChangeShapeType="1"/>
            </p:cNvSpPr>
            <p:nvPr/>
          </p:nvSpPr>
          <p:spPr bwMode="auto">
            <a:xfrm flipH="1">
              <a:off x="3168" y="2832"/>
              <a:ext cx="256" cy="48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37950" name="Text Box 163"/>
            <p:cNvSpPr txBox="1">
              <a:spLocks noChangeArrowheads="1"/>
            </p:cNvSpPr>
            <p:nvPr/>
          </p:nvSpPr>
          <p:spPr bwMode="auto">
            <a:xfrm>
              <a:off x="2879" y="2908"/>
              <a:ext cx="41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>
                  <a:ea typeface="新細明體" panose="02020500000000000000" pitchFamily="18" charset="-120"/>
                </a:rPr>
                <a:t>tail</a:t>
              </a:r>
              <a:r>
                <a:rPr lang="en-US" altLang="zh-TW" baseline="-25000">
                  <a:ea typeface="新細明體" panose="02020500000000000000" pitchFamily="18" charset="-120"/>
                </a:rPr>
                <a:t>i-1</a:t>
              </a:r>
              <a:endParaRPr lang="en-US" altLang="zh-TW">
                <a:ea typeface="新細明體" panose="02020500000000000000" pitchFamily="18" charset="-120"/>
              </a:endParaRPr>
            </a:p>
          </p:txBody>
        </p:sp>
      </p:grpSp>
      <p:sp>
        <p:nvSpPr>
          <p:cNvPr id="37945" name="Line 166"/>
          <p:cNvSpPr>
            <a:spLocks noChangeShapeType="1"/>
          </p:cNvSpPr>
          <p:nvPr/>
        </p:nvSpPr>
        <p:spPr bwMode="auto">
          <a:xfrm flipH="1">
            <a:off x="9601200" y="5529264"/>
            <a:ext cx="266700" cy="490537"/>
          </a:xfrm>
          <a:prstGeom prst="line">
            <a:avLst/>
          </a:prstGeom>
          <a:noFill/>
          <a:ln w="19050">
            <a:solidFill>
              <a:srgbClr val="808080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7946" name="Text Box 167"/>
          <p:cNvSpPr txBox="1">
            <a:spLocks noChangeArrowheads="1"/>
          </p:cNvSpPr>
          <p:nvPr/>
        </p:nvSpPr>
        <p:spPr bwMode="auto">
          <a:xfrm>
            <a:off x="8991600" y="5661025"/>
            <a:ext cx="660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808080"/>
                </a:solidFill>
                <a:ea typeface="新細明體" panose="02020500000000000000" pitchFamily="18" charset="-120"/>
              </a:rPr>
              <a:t>tail</a:t>
            </a:r>
            <a:r>
              <a:rPr lang="en-US" altLang="zh-TW" baseline="-25000">
                <a:solidFill>
                  <a:srgbClr val="808080"/>
                </a:solidFill>
                <a:ea typeface="新細明體" panose="02020500000000000000" pitchFamily="18" charset="-120"/>
              </a:rPr>
              <a:t>i-1</a:t>
            </a:r>
            <a:endParaRPr lang="en-US" altLang="zh-TW">
              <a:solidFill>
                <a:srgbClr val="808080"/>
              </a:solidFill>
              <a:ea typeface="新細明體" panose="02020500000000000000" pitchFamily="18" charset="-120"/>
            </a:endParaRPr>
          </a:p>
        </p:txBody>
      </p:sp>
      <p:sp>
        <p:nvSpPr>
          <p:cNvPr id="37947" name="AutoShape 168"/>
          <p:cNvSpPr>
            <a:spLocks noChangeArrowheads="1"/>
          </p:cNvSpPr>
          <p:nvPr/>
        </p:nvSpPr>
        <p:spPr bwMode="auto">
          <a:xfrm>
            <a:off x="6443663" y="5268913"/>
            <a:ext cx="228600" cy="1905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7948" name="AutoShape 170"/>
          <p:cNvSpPr>
            <a:spLocks noChangeArrowheads="1"/>
          </p:cNvSpPr>
          <p:nvPr/>
        </p:nvSpPr>
        <p:spPr bwMode="auto">
          <a:xfrm>
            <a:off x="9513888" y="6040438"/>
            <a:ext cx="228600" cy="1905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2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60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34314" y="1752600"/>
            <a:ext cx="11335264" cy="4343400"/>
          </a:xfrm>
        </p:spPr>
        <p:txBody>
          <a:bodyPr/>
          <a:lstStyle/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zh-TW" sz="3600" dirty="0">
                <a:solidFill>
                  <a:schemeClr val="tx1"/>
                </a:solidFill>
                <a:ea typeface="新細明體" panose="02020500000000000000" pitchFamily="18" charset="-120"/>
              </a:rPr>
              <a:t>Our goal here is to go directly to the locus of </a:t>
            </a:r>
            <a:r>
              <a:rPr lang="en-US" altLang="zh-TW" sz="3600" i="1" dirty="0">
                <a:solidFill>
                  <a:schemeClr val="tx1"/>
                </a:solidFill>
                <a:ea typeface="新細明體" panose="02020500000000000000" pitchFamily="18" charset="-120"/>
              </a:rPr>
              <a:t>u</a:t>
            </a:r>
            <a:r>
              <a:rPr lang="en-US" altLang="zh-TW" sz="3600" dirty="0">
                <a:solidFill>
                  <a:schemeClr val="tx1"/>
                </a:solidFill>
                <a:ea typeface="新細明體" panose="02020500000000000000" pitchFamily="18" charset="-120"/>
              </a:rPr>
              <a:t> in the tree so that we could </a:t>
            </a:r>
            <a:r>
              <a:rPr lang="en-US" altLang="zh-TW" sz="3600" dirty="0" err="1">
                <a:solidFill>
                  <a:schemeClr val="tx1"/>
                </a:solidFill>
                <a:ea typeface="新細明體" panose="02020500000000000000" pitchFamily="18" charset="-120"/>
              </a:rPr>
              <a:t>seach</a:t>
            </a:r>
            <a:r>
              <a:rPr lang="en-US" altLang="zh-TW" sz="3600" dirty="0">
                <a:solidFill>
                  <a:schemeClr val="tx1"/>
                </a:solidFill>
                <a:ea typeface="新細明體" panose="02020500000000000000" pitchFamily="18" charset="-120"/>
              </a:rPr>
              <a:t> for w (</a:t>
            </a:r>
            <a:r>
              <a:rPr lang="en-US" altLang="zh-TW" sz="3600" dirty="0" err="1">
                <a:solidFill>
                  <a:schemeClr val="tx1"/>
                </a:solidFill>
                <a:ea typeface="新細明體" panose="02020500000000000000" pitchFamily="18" charset="-120"/>
              </a:rPr>
              <a:t>substep</a:t>
            </a:r>
            <a:r>
              <a:rPr lang="en-US" altLang="zh-TW" sz="3600" dirty="0">
                <a:solidFill>
                  <a:schemeClr val="tx1"/>
                </a:solidFill>
                <a:ea typeface="新細明體" panose="02020500000000000000" pitchFamily="18" charset="-120"/>
              </a:rPr>
              <a:t> B) and then for </a:t>
            </a:r>
            <a:r>
              <a:rPr lang="en-US" altLang="zh-TW" sz="3600" i="1" dirty="0">
                <a:solidFill>
                  <a:schemeClr val="tx1"/>
                </a:solidFill>
                <a:ea typeface="新細明體" panose="02020500000000000000" pitchFamily="18" charset="-120"/>
              </a:rPr>
              <a:t>v</a:t>
            </a:r>
            <a:r>
              <a:rPr lang="en-US" altLang="zh-TW" sz="3600" dirty="0">
                <a:solidFill>
                  <a:schemeClr val="tx1"/>
                </a:solidFill>
                <a:ea typeface="新細明體" panose="02020500000000000000" pitchFamily="18" charset="-120"/>
              </a:rPr>
              <a:t> (</a:t>
            </a:r>
            <a:r>
              <a:rPr lang="en-US" altLang="zh-TW" sz="3600" dirty="0" err="1">
                <a:solidFill>
                  <a:schemeClr val="tx1"/>
                </a:solidFill>
                <a:ea typeface="新細明體" panose="02020500000000000000" pitchFamily="18" charset="-120"/>
              </a:rPr>
              <a:t>substep</a:t>
            </a:r>
            <a:r>
              <a:rPr lang="en-US" altLang="zh-TW" sz="3600" dirty="0">
                <a:solidFill>
                  <a:schemeClr val="tx1"/>
                </a:solidFill>
                <a:ea typeface="新細明體" panose="02020500000000000000" pitchFamily="18" charset="-120"/>
              </a:rPr>
              <a:t> C</a:t>
            </a:r>
            <a:r>
              <a:rPr lang="en-US" altLang="zh-TW" sz="36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).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endParaRPr lang="en-US" altLang="zh-TW" sz="3600" dirty="0" smtClean="0">
              <a:solidFill>
                <a:schemeClr val="tx1"/>
              </a:solidFill>
              <a:ea typeface="新細明體" panose="02020500000000000000" pitchFamily="18" charset="-120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zh-TW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SubStep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3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zh-TW" altLang="en-US" sz="3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可以幫助我們快速走到</a:t>
            </a:r>
            <a:r>
              <a:rPr lang="en-US" altLang="zh-TW" sz="3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endParaRPr lang="en-US" altLang="zh-TW" sz="3600" dirty="0" smtClean="0">
              <a:solidFill>
                <a:schemeClr val="tx1"/>
              </a:solidFill>
              <a:ea typeface="新細明體" panose="02020500000000000000" pitchFamily="18" charset="-120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endParaRPr lang="en-US" altLang="zh-TW" sz="3600" dirty="0">
              <a:solidFill>
                <a:schemeClr val="tx1"/>
              </a:solidFill>
              <a:ea typeface="新細明體" panose="02020500000000000000" pitchFamily="18" charset="-120"/>
              <a:sym typeface="Symbol" panose="05050102010706020507" pitchFamily="18" charset="2"/>
            </a:endParaRP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title"/>
          </p:nvPr>
        </p:nvSpPr>
        <p:spPr>
          <a:xfrm>
            <a:off x="2623751" y="325395"/>
            <a:ext cx="7086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SubStep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  <a:endParaRPr lang="en-US" altLang="zh-TW" i="1" dirty="0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8888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47135" y="1752600"/>
            <a:ext cx="11434119" cy="4343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 smtClean="0">
                <a:ea typeface="新細明體" panose="02020500000000000000" pitchFamily="18" charset="-120"/>
              </a:rPr>
              <a:t>Notice that:</a:t>
            </a:r>
          </a:p>
          <a:p>
            <a:pPr eaLnBrk="1" hangingPunct="1"/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In the previous step head</a:t>
            </a:r>
            <a:r>
              <a:rPr lang="en-US" altLang="zh-TW" baseline="-25000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i-1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 was found.</a:t>
            </a:r>
          </a:p>
          <a:p>
            <a:pPr eaLnBrk="1" hangingPunct="1"/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 Since 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|</a:t>
            </a:r>
            <a:r>
              <a:rPr lang="en-US" altLang="zh-TW" i="1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x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|  1 then by lemma 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	</a:t>
            </a:r>
            <a:r>
              <a:rPr lang="en-US" altLang="zh-TW" dirty="0" err="1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head</a:t>
            </a:r>
            <a:r>
              <a:rPr lang="en-US" altLang="zh-TW" baseline="-25000" dirty="0" err="1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i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 = </a:t>
            </a:r>
            <a:r>
              <a:rPr lang="en-US" altLang="zh-TW" i="1" dirty="0" err="1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uwv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 for some, </a:t>
            </a:r>
            <a:r>
              <a:rPr lang="en-US" altLang="zh-TW" b="1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yet to be discovered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,  string </a:t>
            </a:r>
            <a:r>
              <a:rPr lang="en-US" altLang="zh-TW" i="1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v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.</a:t>
            </a:r>
          </a:p>
          <a:p>
            <a:pPr eaLnBrk="1" hangingPunct="1"/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By P2,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Algorithm M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 visited </a:t>
            </a:r>
            <a:r>
              <a:rPr lang="en-US" altLang="zh-TW" i="1" u="sng" dirty="0" err="1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xu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 in the previous step (i-1), hence it can identify </a:t>
            </a:r>
            <a:r>
              <a:rPr lang="en-US" altLang="zh-TW" i="1" dirty="0" err="1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xu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3124" name="Rectangle 4"/>
          <p:cNvSpPr>
            <a:spLocks noGrp="1" noChangeArrowheads="1"/>
          </p:cNvSpPr>
          <p:nvPr>
            <p:ph type="title"/>
          </p:nvPr>
        </p:nvSpPr>
        <p:spPr>
          <a:xfrm>
            <a:off x="2656702" y="267729"/>
            <a:ext cx="7086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SubStep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  <a:endParaRPr lang="en-US" altLang="zh-TW" i="1" dirty="0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2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91978" y="1524000"/>
            <a:ext cx="9290222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If </a:t>
            </a:r>
            <a:r>
              <a:rPr lang="en-US" altLang="zh-TW" i="1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u=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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  then  c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 root    (suffix link</a:t>
            </a:r>
            <a:r>
              <a:rPr lang="zh-TW" altLang="en-US" dirty="0" smtClean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會連到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root)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dirty="0" smtClean="0">
              <a:solidFill>
                <a:schemeClr val="tx1"/>
              </a:solidFill>
              <a:ea typeface="新細明體" panose="02020500000000000000" pitchFamily="18" charset="-120"/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else, c{suffix link of </a:t>
            </a:r>
            <a:r>
              <a:rPr lang="en-US" altLang="zh-TW" i="1" u="sng" dirty="0" err="1" smtClean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xu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} (note that c=</a:t>
            </a:r>
            <a:r>
              <a:rPr lang="en-US" altLang="zh-TW" i="1" u="sng" dirty="0" smtClean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u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)</a:t>
            </a:r>
            <a:endParaRPr lang="en-US" altLang="zh-TW" i="1" u="sng" dirty="0" smtClean="0">
              <a:solidFill>
                <a:schemeClr val="tx1"/>
              </a:solidFill>
              <a:ea typeface="新細明體" panose="02020500000000000000" pitchFamily="18" charset="-120"/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explanation:  </a:t>
            </a:r>
          </a:p>
          <a:p>
            <a:pPr eaLnBrk="1" hangingPunct="1"/>
            <a:r>
              <a:rPr lang="en-US" altLang="zh-TW" i="1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u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 thus by definition </a:t>
            </a:r>
            <a:r>
              <a:rPr lang="en-US" altLang="zh-TW" i="1" u="sng" dirty="0" err="1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xu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 existed in T</a:t>
            </a:r>
            <a:r>
              <a:rPr lang="en-US" altLang="zh-TW" baseline="-25000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i-2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 hence by P1: the internal node </a:t>
            </a:r>
            <a:r>
              <a:rPr lang="en-US" altLang="zh-TW" i="1" u="sng" dirty="0" err="1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xu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  has a suffix link.</a:t>
            </a:r>
          </a:p>
          <a:p>
            <a:pPr eaLnBrk="1" hangingPunct="1"/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By P2 we remember </a:t>
            </a:r>
            <a:r>
              <a:rPr lang="en-US" altLang="zh-TW" i="1" u="sng" dirty="0" err="1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xu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 from step </a:t>
            </a:r>
            <a:r>
              <a:rPr lang="en-US" altLang="zh-TW" i="1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i-1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 and we can now follow its suffix link.</a:t>
            </a:r>
            <a:endParaRPr lang="en-US" altLang="zh-TW" i="1" u="sng" dirty="0" smtClean="0">
              <a:solidFill>
                <a:schemeClr val="tx1"/>
              </a:solidFill>
              <a:ea typeface="新細明體" panose="02020500000000000000" pitchFamily="18" charset="-120"/>
              <a:sym typeface="Symbol" panose="05050102010706020507" pitchFamily="18" charset="2"/>
            </a:endParaRPr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title"/>
          </p:nvPr>
        </p:nvSpPr>
        <p:spPr>
          <a:xfrm>
            <a:off x="2607275" y="267729"/>
            <a:ext cx="7086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SubStep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  <a:endParaRPr lang="en-US" altLang="zh-TW" i="1" dirty="0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180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2378" y="2209800"/>
            <a:ext cx="12019006" cy="3657600"/>
          </a:xfrm>
        </p:spPr>
        <p:txBody>
          <a:bodyPr/>
          <a:lstStyle/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zh-TW" dirty="0" err="1" smtClean="0">
                <a:solidFill>
                  <a:srgbClr val="FF0000"/>
                </a:solidFill>
                <a:ea typeface="新細明體" panose="02020500000000000000" pitchFamily="18" charset="-120"/>
              </a:rPr>
              <a:t>uwv</a:t>
            </a:r>
            <a:r>
              <a:rPr lang="en-US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solidFill>
                  <a:srgbClr val="FF0000"/>
                </a:solidFill>
                <a:ea typeface="新細明體" panose="02020500000000000000" pitchFamily="18" charset="-120"/>
              </a:rPr>
              <a:t>head</a:t>
            </a:r>
            <a:r>
              <a:rPr lang="en-US" altLang="zh-TW" baseline="-25000" dirty="0" err="1" smtClean="0">
                <a:solidFill>
                  <a:srgbClr val="FF0000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hence from the definition of head, the extended locus of </a:t>
            </a:r>
            <a:r>
              <a:rPr lang="en-US" altLang="zh-TW" i="1" dirty="0" err="1" smtClean="0">
                <a:solidFill>
                  <a:srgbClr val="FF0000"/>
                </a:solidFill>
                <a:ea typeface="新細明體" panose="02020500000000000000" pitchFamily="18" charset="-120"/>
              </a:rPr>
              <a:t>uw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 exists in </a:t>
            </a:r>
            <a:r>
              <a:rPr lang="en-US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T</a:t>
            </a:r>
            <a:r>
              <a:rPr lang="en-US" altLang="zh-TW" baseline="-25000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i-1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endParaRPr lang="en-US" altLang="zh-TW" dirty="0" smtClean="0">
              <a:solidFill>
                <a:schemeClr val="tx1"/>
              </a:solidFill>
              <a:ea typeface="新細明體" panose="02020500000000000000" pitchFamily="18" charset="-120"/>
            </a:endParaRP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zh-TW" dirty="0" smtClean="0">
                <a:ea typeface="新細明體" panose="02020500000000000000" pitchFamily="18" charset="-120"/>
              </a:rPr>
              <a:t>Now we can start going down the edges, from </a:t>
            </a:r>
            <a:r>
              <a:rPr lang="en-US" altLang="zh-TW" u="sng" dirty="0" smtClean="0">
                <a:ea typeface="新細明體" panose="02020500000000000000" pitchFamily="18" charset="-120"/>
              </a:rPr>
              <a:t>u</a:t>
            </a:r>
            <a:r>
              <a:rPr lang="en-US" altLang="zh-TW" dirty="0" smtClean="0">
                <a:ea typeface="新細明體" panose="02020500000000000000" pitchFamily="18" charset="-120"/>
              </a:rPr>
              <a:t> to find the extended locus of </a:t>
            </a:r>
            <a:r>
              <a:rPr lang="en-US" altLang="zh-TW" i="1" dirty="0" err="1" smtClean="0">
                <a:solidFill>
                  <a:srgbClr val="FF0000"/>
                </a:solidFill>
                <a:ea typeface="新細明體" panose="02020500000000000000" pitchFamily="18" charset="-120"/>
              </a:rPr>
              <a:t>uw</a:t>
            </a:r>
            <a:r>
              <a:rPr lang="en-US" altLang="zh-TW" dirty="0" smtClean="0">
                <a:ea typeface="新細明體" panose="02020500000000000000" pitchFamily="18" charset="-120"/>
              </a:rPr>
              <a:t>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endParaRPr lang="en-US" altLang="zh-TW" dirty="0">
              <a:ea typeface="新細明體" panose="02020500000000000000" pitchFamily="18" charset="-120"/>
            </a:endParaRP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zh-TW" altLang="en-US" dirty="0" smtClean="0">
                <a:ea typeface="新細明體" panose="02020500000000000000" pitchFamily="18" charset="-120"/>
              </a:rPr>
              <a:t>從</a:t>
            </a:r>
            <a:r>
              <a:rPr lang="en-US" altLang="zh-TW" dirty="0" smtClean="0">
                <a:ea typeface="新細明體" panose="02020500000000000000" pitchFamily="18" charset="-120"/>
              </a:rPr>
              <a:t>u</a:t>
            </a:r>
            <a:r>
              <a:rPr lang="zh-TW" altLang="en-US" dirty="0" smtClean="0">
                <a:ea typeface="新細明體" panose="02020500000000000000" pitchFamily="18" charset="-120"/>
              </a:rPr>
              <a:t>往下走找</a:t>
            </a:r>
            <a:r>
              <a:rPr lang="en-US" altLang="zh-TW" dirty="0" err="1" smtClean="0">
                <a:solidFill>
                  <a:schemeClr val="tx1"/>
                </a:solidFill>
                <a:ea typeface="新細明體" panose="02020500000000000000" pitchFamily="18" charset="-120"/>
              </a:rPr>
              <a:t>head</a:t>
            </a:r>
            <a:r>
              <a:rPr lang="en-US" altLang="zh-TW" baseline="-25000" dirty="0" err="1" smtClean="0">
                <a:solidFill>
                  <a:schemeClr val="tx1"/>
                </a:solidFill>
                <a:ea typeface="新細明體" panose="02020500000000000000" pitchFamily="18" charset="-120"/>
              </a:rPr>
              <a:t>i</a:t>
            </a:r>
            <a:r>
              <a:rPr lang="zh-TW" altLang="en-US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的路</a:t>
            </a:r>
            <a:endParaRPr lang="en-US" altLang="zh-TW" dirty="0" smtClean="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title"/>
          </p:nvPr>
        </p:nvSpPr>
        <p:spPr>
          <a:xfrm>
            <a:off x="2434281" y="325394"/>
            <a:ext cx="7315200" cy="1295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SubStep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  <a:endParaRPr lang="en-US" altLang="zh-TW" i="1" dirty="0" smtClean="0">
              <a:solidFill>
                <a:srgbClr val="FBFF59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901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Cambria Math" panose="02040503050406030204" pitchFamily="18" charset="0"/>
              </a:rPr>
              <a:t>小結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SubStepA</a:t>
            </a:r>
            <a:r>
              <a:rPr lang="zh-TW" altLang="en-US" dirty="0" smtClean="0">
                <a:latin typeface="Cambria Math" panose="02040503050406030204" pitchFamily="18" charset="0"/>
              </a:rPr>
              <a:t>工作內容：</a:t>
            </a:r>
            <a:endParaRPr lang="en-US" altLang="zh-TW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zh-TW" altLang="en-US" dirty="0" smtClean="0">
                <a:latin typeface="Cambria Math" panose="02040503050406030204" pitchFamily="18" charset="0"/>
              </a:rPr>
              <a:t>利用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suffix</a:t>
            </a:r>
            <a:r>
              <a:rPr lang="zh-TW" altLang="en-US" dirty="0" smtClean="0">
                <a:latin typeface="Cambria Math" panose="020405030504060302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link</a:t>
            </a:r>
            <a:r>
              <a:rPr lang="zh-TW" altLang="en-US" dirty="0" smtClean="0">
                <a:latin typeface="Cambria Math" panose="02040503050406030204" pitchFamily="18" charset="0"/>
              </a:rPr>
              <a:t> 對字串的每一個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suffix</a:t>
            </a:r>
            <a:r>
              <a:rPr lang="zh-TW" altLang="en-US" dirty="0" smtClean="0">
                <a:latin typeface="Cambria Math" panose="02040503050406030204" pitchFamily="18" charset="0"/>
              </a:rPr>
              <a:t>的插入可以不用從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zh-TW" altLang="en-US" dirty="0" smtClean="0">
                <a:latin typeface="Cambria Math" panose="02040503050406030204" pitchFamily="18" charset="0"/>
              </a:rPr>
              <a:t>開始慢慢走，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suffix</a:t>
            </a:r>
            <a:r>
              <a:rPr lang="zh-TW" altLang="en-US" dirty="0" smtClean="0">
                <a:latin typeface="Cambria Math" panose="020405030504060302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link</a:t>
            </a:r>
            <a:r>
              <a:rPr lang="zh-TW" altLang="en-US" dirty="0" smtClean="0">
                <a:latin typeface="Cambria Math" panose="02040503050406030204" pitchFamily="18" charset="0"/>
              </a:rPr>
              <a:t> 可以幫我們節省時間 ！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81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90832" y="1326292"/>
            <a:ext cx="1089866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To rescan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w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: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Find the edge that starts with the first character of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w.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Denote the edge’s label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z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and the node it leads to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f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If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|w| &gt; |z|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 then start a recursive rescan of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w-z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(or </a:t>
            </a:r>
            <a:r>
              <a:rPr lang="en-US" altLang="zh-TW" sz="2800" i="1" dirty="0" err="1">
                <a:solidFill>
                  <a:schemeClr val="tx1"/>
                </a:solidFill>
                <a:ea typeface="新細明體" panose="02020500000000000000" pitchFamily="18" charset="-120"/>
              </a:rPr>
              <a:t>w</a:t>
            </a:r>
            <a:r>
              <a:rPr lang="en-US" altLang="zh-TW" sz="2800" i="1" baseline="-25000" dirty="0" err="1">
                <a:solidFill>
                  <a:schemeClr val="tx1"/>
                </a:solidFill>
                <a:ea typeface="新細明體" panose="02020500000000000000" pitchFamily="18" charset="-120"/>
              </a:rPr>
              <a:t>|z</a:t>
            </a:r>
            <a:r>
              <a:rPr lang="en-US" altLang="zh-TW" sz="2800" i="1" baseline="-25000" dirty="0">
                <a:solidFill>
                  <a:schemeClr val="tx1"/>
                </a:solidFill>
                <a:ea typeface="新細明體" panose="02020500000000000000" pitchFamily="18" charset="-120"/>
              </a:rPr>
              <a:t>|</a:t>
            </a:r>
            <a:r>
              <a:rPr lang="en-US" altLang="zh-TW" sz="2800" baseline="-25000" dirty="0">
                <a:solidFill>
                  <a:schemeClr val="tx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) from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f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If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|w|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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 |z|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, then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w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is a prefix of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z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, and we found the </a:t>
            </a:r>
            <a:r>
              <a:rPr lang="en-US" altLang="zh-TW" sz="2800" b="1" dirty="0">
                <a:solidFill>
                  <a:schemeClr val="tx1"/>
                </a:solidFill>
                <a:ea typeface="新細明體" panose="02020500000000000000" pitchFamily="18" charset="-120"/>
              </a:rPr>
              <a:t>extended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locus of </a:t>
            </a:r>
            <a:r>
              <a:rPr lang="en-US" altLang="zh-TW" sz="2800" i="1" dirty="0" err="1">
                <a:solidFill>
                  <a:schemeClr val="tx1"/>
                </a:solidFill>
                <a:ea typeface="新細明體" panose="02020500000000000000" pitchFamily="18" charset="-120"/>
              </a:rPr>
              <a:t>uw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Construct a new node (if needed):</a:t>
            </a:r>
            <a:r>
              <a:rPr lang="en-US" altLang="zh-TW" i="1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i="1" u="sng" dirty="0" err="1" smtClean="0">
                <a:solidFill>
                  <a:schemeClr val="tx1"/>
                </a:solidFill>
                <a:ea typeface="新細明體" panose="02020500000000000000" pitchFamily="18" charset="-120"/>
              </a:rPr>
              <a:t>uw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20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  <a:r>
              <a:rPr lang="zh-TW" altLang="en-US" sz="20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  </a:t>
            </a:r>
            <a:r>
              <a:rPr lang="en-US" altLang="zh-TW" sz="20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(</a:t>
            </a:r>
            <a:r>
              <a:rPr lang="zh-TW" altLang="en-US" sz="20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產生一個新的內部結點</a:t>
            </a:r>
            <a:r>
              <a:rPr lang="en-US" altLang="zh-TW" sz="20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)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d 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 </a:t>
            </a:r>
            <a:r>
              <a:rPr lang="en-US" altLang="zh-TW" i="1" u="sng" dirty="0" err="1" smtClean="0">
                <a:solidFill>
                  <a:schemeClr val="tx1"/>
                </a:solidFill>
                <a:ea typeface="新細明體" panose="02020500000000000000" pitchFamily="18" charset="-120"/>
              </a:rPr>
              <a:t>uw</a:t>
            </a:r>
            <a:endParaRPr lang="en-US" altLang="zh-TW" i="1" u="sng" dirty="0" smtClean="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title"/>
          </p:nvPr>
        </p:nvSpPr>
        <p:spPr>
          <a:xfrm>
            <a:off x="2590800" y="275968"/>
            <a:ext cx="69342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4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SubStep</a:t>
            </a:r>
            <a:r>
              <a:rPr lang="en-US" altLang="zh-TW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 B</a:t>
            </a:r>
            <a:r>
              <a:rPr lang="en-US" altLang="zh-TW" sz="4000" dirty="0" smtClean="0">
                <a:ea typeface="新細明體" panose="02020500000000000000" pitchFamily="18" charset="-120"/>
              </a:rPr>
              <a:t>: </a:t>
            </a:r>
            <a:r>
              <a:rPr lang="en-US" altLang="zh-TW" sz="4000" dirty="0">
                <a:solidFill>
                  <a:schemeClr val="folHlink"/>
                </a:solidFill>
                <a:ea typeface="新細明體" panose="02020500000000000000" pitchFamily="18" charset="-120"/>
              </a:rPr>
              <a:t>Rescanning</a:t>
            </a:r>
            <a:endParaRPr lang="en-US" altLang="zh-TW" sz="4000" i="1" dirty="0">
              <a:solidFill>
                <a:schemeClr val="folHlink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953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1828800" y="228600"/>
            <a:ext cx="8534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lang="zh-TW" altLang="zh-TW" sz="2800" i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81534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SubStep</a:t>
            </a: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B</a:t>
            </a:r>
            <a:r>
              <a:rPr lang="en-US" altLang="zh-TW" sz="2800" dirty="0">
                <a:ea typeface="新細明體" panose="02020500000000000000" pitchFamily="18" charset="-120"/>
              </a:rPr>
              <a:t>: </a:t>
            </a:r>
            <a:r>
              <a:rPr lang="en-US" altLang="zh-TW" sz="2800" dirty="0">
                <a:solidFill>
                  <a:schemeClr val="folHlink"/>
                </a:solidFill>
                <a:ea typeface="新細明體" panose="02020500000000000000" pitchFamily="18" charset="-120"/>
              </a:rPr>
              <a:t>Rescanning</a:t>
            </a:r>
            <a:endParaRPr lang="en-US" altLang="zh-TW" sz="4000" dirty="0">
              <a:ea typeface="新細明體" panose="02020500000000000000" pitchFamily="18" charset="-120"/>
            </a:endParaRP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28800" y="762000"/>
            <a:ext cx="7162800" cy="76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>
                <a:ea typeface="新細明體" panose="02020500000000000000" pitchFamily="18" charset="-120"/>
              </a:rPr>
              <a:t>Illustrating substep B in the i</a:t>
            </a:r>
            <a:r>
              <a:rPr lang="en-US" altLang="zh-TW" sz="2800" baseline="30000">
                <a:ea typeface="新細明體" panose="02020500000000000000" pitchFamily="18" charset="-120"/>
              </a:rPr>
              <a:t>th</a:t>
            </a:r>
            <a:r>
              <a:rPr lang="en-US" altLang="zh-TW" sz="2800">
                <a:ea typeface="新細明體" panose="02020500000000000000" pitchFamily="18" charset="-120"/>
              </a:rPr>
              <a:t> step: rescanning substring w.</a:t>
            </a:r>
          </a:p>
        </p:txBody>
      </p:sp>
      <p:sp>
        <p:nvSpPr>
          <p:cNvPr id="44037" name="Text Box 6"/>
          <p:cNvSpPr txBox="1">
            <a:spLocks noChangeArrowheads="1"/>
          </p:cNvSpPr>
          <p:nvPr/>
        </p:nvSpPr>
        <p:spPr bwMode="auto">
          <a:xfrm>
            <a:off x="2971800" y="50292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3600" dirty="0">
                <a:ea typeface="新細明體" panose="02020500000000000000" pitchFamily="18" charset="-120"/>
              </a:rPr>
              <a:t>T</a:t>
            </a:r>
            <a:r>
              <a:rPr lang="en-US" altLang="zh-TW" sz="3600" baseline="-25000" dirty="0">
                <a:ea typeface="新細明體" panose="02020500000000000000" pitchFamily="18" charset="-120"/>
              </a:rPr>
              <a:t>i-1</a:t>
            </a:r>
            <a:endParaRPr lang="en-US" altLang="zh-TW" sz="3600" dirty="0">
              <a:ea typeface="新細明體" panose="02020500000000000000" pitchFamily="18" charset="-120"/>
            </a:endParaRPr>
          </a:p>
        </p:txBody>
      </p:sp>
      <p:sp>
        <p:nvSpPr>
          <p:cNvPr id="44038" name="Line 10"/>
          <p:cNvSpPr>
            <a:spLocks noChangeShapeType="1"/>
          </p:cNvSpPr>
          <p:nvPr/>
        </p:nvSpPr>
        <p:spPr bwMode="auto">
          <a:xfrm>
            <a:off x="3810000" y="5562600"/>
            <a:ext cx="396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4039" name="Text Box 11"/>
          <p:cNvSpPr txBox="1">
            <a:spLocks noChangeArrowheads="1"/>
          </p:cNvSpPr>
          <p:nvPr/>
        </p:nvSpPr>
        <p:spPr bwMode="auto">
          <a:xfrm>
            <a:off x="5105400" y="58674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Step i</a:t>
            </a:r>
          </a:p>
        </p:txBody>
      </p:sp>
      <p:sp>
        <p:nvSpPr>
          <p:cNvPr id="44040" name="Text Box 12"/>
          <p:cNvSpPr txBox="1">
            <a:spLocks noChangeArrowheads="1"/>
          </p:cNvSpPr>
          <p:nvPr/>
        </p:nvSpPr>
        <p:spPr bwMode="auto">
          <a:xfrm>
            <a:off x="2819400" y="59436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dirty="0">
                <a:ea typeface="新細明體" panose="02020500000000000000" pitchFamily="18" charset="-120"/>
              </a:rPr>
              <a:t>Head</a:t>
            </a:r>
            <a:r>
              <a:rPr lang="en-US" altLang="zh-TW" baseline="-25000" dirty="0">
                <a:ea typeface="新細明體" panose="02020500000000000000" pitchFamily="18" charset="-120"/>
              </a:rPr>
              <a:t>i-1</a:t>
            </a:r>
            <a:r>
              <a:rPr lang="en-US" altLang="zh-TW" dirty="0">
                <a:ea typeface="新細明體" panose="02020500000000000000" pitchFamily="18" charset="-120"/>
              </a:rPr>
              <a:t>= </a:t>
            </a:r>
            <a:r>
              <a:rPr lang="en-US" altLang="zh-TW" dirty="0" err="1">
                <a:ea typeface="新細明體" panose="02020500000000000000" pitchFamily="18" charset="-120"/>
              </a:rPr>
              <a:t>xuw</a:t>
            </a:r>
            <a:endParaRPr lang="en-US" altLang="zh-TW" dirty="0">
              <a:ea typeface="新細明體" panose="02020500000000000000" pitchFamily="18" charset="-120"/>
            </a:endParaRPr>
          </a:p>
        </p:txBody>
      </p:sp>
      <p:sp>
        <p:nvSpPr>
          <p:cNvPr id="44041" name="Text Box 13"/>
          <p:cNvSpPr txBox="1">
            <a:spLocks noChangeArrowheads="1"/>
          </p:cNvSpPr>
          <p:nvPr/>
        </p:nvSpPr>
        <p:spPr bwMode="auto">
          <a:xfrm>
            <a:off x="7467600" y="61722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Head</a:t>
            </a:r>
            <a:r>
              <a:rPr lang="en-US" altLang="zh-TW" baseline="-25000">
                <a:ea typeface="新細明體" panose="02020500000000000000" pitchFamily="18" charset="-120"/>
              </a:rPr>
              <a:t>i</a:t>
            </a:r>
            <a:r>
              <a:rPr lang="en-US" altLang="zh-TW">
                <a:ea typeface="新細明體" panose="02020500000000000000" pitchFamily="18" charset="-120"/>
              </a:rPr>
              <a:t>= uw</a:t>
            </a:r>
            <a:r>
              <a:rPr lang="en-US" altLang="zh-TW">
                <a:solidFill>
                  <a:srgbClr val="80D52B"/>
                </a:solidFill>
                <a:ea typeface="新細明體" panose="02020500000000000000" pitchFamily="18" charset="-120"/>
              </a:rPr>
              <a:t>v</a:t>
            </a:r>
          </a:p>
        </p:txBody>
      </p:sp>
      <p:sp>
        <p:nvSpPr>
          <p:cNvPr id="44042" name="Text Box 25"/>
          <p:cNvSpPr txBox="1">
            <a:spLocks noChangeArrowheads="1"/>
          </p:cNvSpPr>
          <p:nvPr/>
        </p:nvSpPr>
        <p:spPr bwMode="auto">
          <a:xfrm>
            <a:off x="2209800" y="3733800"/>
            <a:ext cx="66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wv</a:t>
            </a:r>
          </a:p>
        </p:txBody>
      </p:sp>
      <p:sp>
        <p:nvSpPr>
          <p:cNvPr id="44043" name="Oval 48"/>
          <p:cNvSpPr>
            <a:spLocks noChangeArrowheads="1"/>
          </p:cNvSpPr>
          <p:nvPr/>
        </p:nvSpPr>
        <p:spPr bwMode="auto">
          <a:xfrm>
            <a:off x="3498851" y="2189163"/>
            <a:ext cx="284163" cy="284162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4044" name="Oval 49"/>
          <p:cNvSpPr>
            <a:spLocks noChangeArrowheads="1"/>
          </p:cNvSpPr>
          <p:nvPr/>
        </p:nvSpPr>
        <p:spPr bwMode="auto">
          <a:xfrm>
            <a:off x="2986089" y="3192464"/>
            <a:ext cx="250825" cy="250825"/>
          </a:xfrm>
          <a:prstGeom prst="ellipse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4045" name="Text Box 50"/>
          <p:cNvSpPr txBox="1">
            <a:spLocks noChangeArrowheads="1"/>
          </p:cNvSpPr>
          <p:nvPr/>
        </p:nvSpPr>
        <p:spPr bwMode="auto">
          <a:xfrm>
            <a:off x="4267200" y="2743200"/>
            <a:ext cx="66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808080"/>
                </a:solidFill>
                <a:ea typeface="新細明體" panose="02020500000000000000" pitchFamily="18" charset="-120"/>
              </a:rPr>
              <a:t>xu</a:t>
            </a:r>
          </a:p>
        </p:txBody>
      </p:sp>
      <p:sp>
        <p:nvSpPr>
          <p:cNvPr id="44046" name="Line 51"/>
          <p:cNvSpPr>
            <a:spLocks noChangeShapeType="1"/>
          </p:cNvSpPr>
          <p:nvPr/>
        </p:nvSpPr>
        <p:spPr bwMode="auto">
          <a:xfrm>
            <a:off x="3733800" y="2438400"/>
            <a:ext cx="838200" cy="990600"/>
          </a:xfrm>
          <a:prstGeom prst="line">
            <a:avLst/>
          </a:prstGeom>
          <a:noFill/>
          <a:ln w="15875">
            <a:solidFill>
              <a:srgbClr val="808080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4047" name="Text Box 52"/>
          <p:cNvSpPr txBox="1">
            <a:spLocks noChangeArrowheads="1"/>
          </p:cNvSpPr>
          <p:nvPr/>
        </p:nvSpPr>
        <p:spPr bwMode="auto">
          <a:xfrm>
            <a:off x="3786188" y="2133600"/>
            <a:ext cx="938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chemeClr val="accent1"/>
                </a:solidFill>
                <a:ea typeface="新細明體" panose="02020500000000000000" pitchFamily="18" charset="-120"/>
              </a:rPr>
              <a:t>root</a:t>
            </a:r>
          </a:p>
        </p:txBody>
      </p:sp>
      <p:sp>
        <p:nvSpPr>
          <p:cNvPr id="44048" name="Line 53"/>
          <p:cNvSpPr>
            <a:spLocks noChangeShapeType="1"/>
          </p:cNvSpPr>
          <p:nvPr/>
        </p:nvSpPr>
        <p:spPr bwMode="auto">
          <a:xfrm flipH="1">
            <a:off x="3136901" y="2443164"/>
            <a:ext cx="417513" cy="731837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4049" name="Text Box 54"/>
          <p:cNvSpPr txBox="1">
            <a:spLocks noChangeArrowheads="1"/>
          </p:cNvSpPr>
          <p:nvPr/>
        </p:nvSpPr>
        <p:spPr bwMode="auto">
          <a:xfrm>
            <a:off x="3048001" y="2514600"/>
            <a:ext cx="339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u</a:t>
            </a:r>
          </a:p>
        </p:txBody>
      </p:sp>
      <p:grpSp>
        <p:nvGrpSpPr>
          <p:cNvPr id="44050" name="Group 55"/>
          <p:cNvGrpSpPr>
            <a:grpSpLocks/>
          </p:cNvGrpSpPr>
          <p:nvPr/>
        </p:nvGrpSpPr>
        <p:grpSpPr bwMode="auto">
          <a:xfrm rot="1495539">
            <a:off x="2819401" y="3425826"/>
            <a:ext cx="225425" cy="987425"/>
            <a:chOff x="376" y="2304"/>
            <a:chExt cx="368" cy="1440"/>
          </a:xfrm>
        </p:grpSpPr>
        <p:sp>
          <p:nvSpPr>
            <p:cNvPr id="44112" name="Freeform 56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4113" name="Line 57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4051" name="Oval 58"/>
          <p:cNvSpPr>
            <a:spLocks noChangeArrowheads="1"/>
          </p:cNvSpPr>
          <p:nvPr/>
        </p:nvSpPr>
        <p:spPr bwMode="auto">
          <a:xfrm>
            <a:off x="4495801" y="3429000"/>
            <a:ext cx="282575" cy="317500"/>
          </a:xfrm>
          <a:prstGeom prst="ellipse">
            <a:avLst/>
          </a:prstGeom>
          <a:solidFill>
            <a:schemeClr val="bg2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4052" name="Freeform 59"/>
          <p:cNvSpPr>
            <a:spLocks/>
          </p:cNvSpPr>
          <p:nvPr/>
        </p:nvSpPr>
        <p:spPr bwMode="auto">
          <a:xfrm>
            <a:off x="3187700" y="3454400"/>
            <a:ext cx="1308100" cy="203200"/>
          </a:xfrm>
          <a:custGeom>
            <a:avLst/>
            <a:gdLst>
              <a:gd name="T0" fmla="*/ 1308100 w 2160"/>
              <a:gd name="T1" fmla="*/ 203200 h 1200"/>
              <a:gd name="T2" fmla="*/ 552309 w 2160"/>
              <a:gd name="T3" fmla="*/ 146304 h 1200"/>
              <a:gd name="T4" fmla="*/ 0 w 2160"/>
              <a:gd name="T5" fmla="*/ 0 h 1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" h="1200">
                <a:moveTo>
                  <a:pt x="2160" y="1200"/>
                </a:moveTo>
                <a:cubicBezTo>
                  <a:pt x="1716" y="1132"/>
                  <a:pt x="1272" y="1064"/>
                  <a:pt x="912" y="864"/>
                </a:cubicBezTo>
                <a:cubicBezTo>
                  <a:pt x="552" y="664"/>
                  <a:pt x="160" y="152"/>
                  <a:pt x="0" y="0"/>
                </a:cubicBezTo>
              </a:path>
            </a:pathLst>
          </a:custGeom>
          <a:noFill/>
          <a:ln w="28575" cap="flat" cmpd="sng">
            <a:solidFill>
              <a:srgbClr val="808080"/>
            </a:solidFill>
            <a:prstDash val="dash"/>
            <a:miter lim="800000"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4053" name="Line 60"/>
          <p:cNvSpPr>
            <a:spLocks noChangeShapeType="1"/>
          </p:cNvSpPr>
          <p:nvPr/>
        </p:nvSpPr>
        <p:spPr bwMode="auto">
          <a:xfrm>
            <a:off x="4724400" y="3733800"/>
            <a:ext cx="228600" cy="533400"/>
          </a:xfrm>
          <a:prstGeom prst="line">
            <a:avLst/>
          </a:prstGeom>
          <a:noFill/>
          <a:ln w="9525">
            <a:solidFill>
              <a:srgbClr val="808080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grpSp>
        <p:nvGrpSpPr>
          <p:cNvPr id="44054" name="Group 61"/>
          <p:cNvGrpSpPr>
            <a:grpSpLocks/>
          </p:cNvGrpSpPr>
          <p:nvPr/>
        </p:nvGrpSpPr>
        <p:grpSpPr bwMode="auto">
          <a:xfrm rot="1495539">
            <a:off x="4275138" y="3729038"/>
            <a:ext cx="304800" cy="914400"/>
            <a:chOff x="376" y="2304"/>
            <a:chExt cx="368" cy="1440"/>
          </a:xfrm>
        </p:grpSpPr>
        <p:sp>
          <p:nvSpPr>
            <p:cNvPr id="44110" name="Freeform 62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4111" name="Line 63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4055" name="Oval 64"/>
          <p:cNvSpPr>
            <a:spLocks noChangeArrowheads="1"/>
          </p:cNvSpPr>
          <p:nvPr/>
        </p:nvSpPr>
        <p:spPr bwMode="auto">
          <a:xfrm>
            <a:off x="4876801" y="4267200"/>
            <a:ext cx="282575" cy="317500"/>
          </a:xfrm>
          <a:prstGeom prst="ellipse">
            <a:avLst/>
          </a:prstGeom>
          <a:solidFill>
            <a:schemeClr val="bg2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grpSp>
        <p:nvGrpSpPr>
          <p:cNvPr id="44056" name="Group 65"/>
          <p:cNvGrpSpPr>
            <a:grpSpLocks/>
          </p:cNvGrpSpPr>
          <p:nvPr/>
        </p:nvGrpSpPr>
        <p:grpSpPr bwMode="auto">
          <a:xfrm>
            <a:off x="4953000" y="4584700"/>
            <a:ext cx="228600" cy="762000"/>
            <a:chOff x="376" y="2304"/>
            <a:chExt cx="368" cy="1440"/>
          </a:xfrm>
        </p:grpSpPr>
        <p:sp>
          <p:nvSpPr>
            <p:cNvPr id="44108" name="Freeform 66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4109" name="Line 67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4057" name="Text Box 76"/>
          <p:cNvSpPr txBox="1">
            <a:spLocks noChangeArrowheads="1"/>
          </p:cNvSpPr>
          <p:nvPr/>
        </p:nvSpPr>
        <p:spPr bwMode="auto">
          <a:xfrm>
            <a:off x="4800600" y="3657600"/>
            <a:ext cx="66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808080"/>
                </a:solidFill>
                <a:ea typeface="新細明體" panose="02020500000000000000" pitchFamily="18" charset="-120"/>
              </a:rPr>
              <a:t>w</a:t>
            </a:r>
          </a:p>
        </p:txBody>
      </p:sp>
      <p:sp>
        <p:nvSpPr>
          <p:cNvPr id="44058" name="Text Box 77"/>
          <p:cNvSpPr txBox="1">
            <a:spLocks noChangeArrowheads="1"/>
          </p:cNvSpPr>
          <p:nvPr/>
        </p:nvSpPr>
        <p:spPr bwMode="auto">
          <a:xfrm>
            <a:off x="5092700" y="46609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y</a:t>
            </a:r>
          </a:p>
        </p:txBody>
      </p:sp>
      <p:sp>
        <p:nvSpPr>
          <p:cNvPr id="44059" name="Text Box 80"/>
          <p:cNvSpPr txBox="1">
            <a:spLocks noChangeArrowheads="1"/>
          </p:cNvSpPr>
          <p:nvPr/>
        </p:nvSpPr>
        <p:spPr bwMode="auto">
          <a:xfrm>
            <a:off x="2959100" y="30607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c</a:t>
            </a:r>
          </a:p>
        </p:txBody>
      </p:sp>
      <p:sp>
        <p:nvSpPr>
          <p:cNvPr id="44060" name="Text Box 79"/>
          <p:cNvSpPr txBox="1">
            <a:spLocks noChangeAspect="1" noChangeArrowheads="1"/>
          </p:cNvSpPr>
          <p:nvPr/>
        </p:nvSpPr>
        <p:spPr bwMode="auto">
          <a:xfrm>
            <a:off x="9480550" y="3687763"/>
            <a:ext cx="78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808080"/>
                </a:solidFill>
                <a:ea typeface="新細明體" panose="02020500000000000000" pitchFamily="18" charset="-120"/>
              </a:rPr>
              <a:t>w</a:t>
            </a:r>
          </a:p>
        </p:txBody>
      </p:sp>
      <p:sp>
        <p:nvSpPr>
          <p:cNvPr id="44061" name="Text Box 81"/>
          <p:cNvSpPr txBox="1">
            <a:spLocks noChangeAspect="1" noChangeArrowheads="1"/>
          </p:cNvSpPr>
          <p:nvPr/>
        </p:nvSpPr>
        <p:spPr bwMode="auto">
          <a:xfrm>
            <a:off x="9659938" y="476885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808080"/>
                </a:solidFill>
                <a:ea typeface="新細明體" panose="02020500000000000000" pitchFamily="18" charset="-120"/>
              </a:rPr>
              <a:t>y</a:t>
            </a:r>
          </a:p>
        </p:txBody>
      </p:sp>
      <p:sp>
        <p:nvSpPr>
          <p:cNvPr id="44062" name="Text Box 7"/>
          <p:cNvSpPr txBox="1">
            <a:spLocks noChangeArrowheads="1"/>
          </p:cNvSpPr>
          <p:nvPr/>
        </p:nvSpPr>
        <p:spPr bwMode="auto">
          <a:xfrm>
            <a:off x="7772400" y="5486400"/>
            <a:ext cx="60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3600" dirty="0" err="1">
                <a:ea typeface="新細明體" panose="02020500000000000000" pitchFamily="18" charset="-120"/>
              </a:rPr>
              <a:t>T</a:t>
            </a:r>
            <a:r>
              <a:rPr lang="en-US" altLang="zh-TW" sz="3600" baseline="-25000" dirty="0" err="1">
                <a:ea typeface="新細明體" panose="02020500000000000000" pitchFamily="18" charset="-120"/>
              </a:rPr>
              <a:t>i</a:t>
            </a:r>
            <a:endParaRPr lang="en-US" altLang="zh-TW" sz="3600" dirty="0">
              <a:ea typeface="新細明體" panose="02020500000000000000" pitchFamily="18" charset="-120"/>
            </a:endParaRPr>
          </a:p>
        </p:txBody>
      </p:sp>
      <p:sp>
        <p:nvSpPr>
          <p:cNvPr id="44063" name="Oval 28"/>
          <p:cNvSpPr>
            <a:spLocks noChangeAspect="1" noChangeArrowheads="1"/>
          </p:cNvSpPr>
          <p:nvPr/>
        </p:nvSpPr>
        <p:spPr bwMode="auto">
          <a:xfrm>
            <a:off x="7670801" y="1589088"/>
            <a:ext cx="334963" cy="3365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4064" name="Oval 29"/>
          <p:cNvSpPr>
            <a:spLocks noChangeAspect="1" noChangeArrowheads="1"/>
          </p:cNvSpPr>
          <p:nvPr/>
        </p:nvSpPr>
        <p:spPr bwMode="auto">
          <a:xfrm>
            <a:off x="7062788" y="2776538"/>
            <a:ext cx="296862" cy="296862"/>
          </a:xfrm>
          <a:prstGeom prst="ellipse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4065" name="Text Box 30"/>
          <p:cNvSpPr txBox="1">
            <a:spLocks noChangeAspect="1" noChangeArrowheads="1"/>
          </p:cNvSpPr>
          <p:nvPr/>
        </p:nvSpPr>
        <p:spPr bwMode="auto">
          <a:xfrm>
            <a:off x="8578850" y="2244725"/>
            <a:ext cx="78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808080"/>
                </a:solidFill>
                <a:ea typeface="新細明體" panose="02020500000000000000" pitchFamily="18" charset="-120"/>
              </a:rPr>
              <a:t>xu</a:t>
            </a:r>
          </a:p>
        </p:txBody>
      </p:sp>
      <p:sp>
        <p:nvSpPr>
          <p:cNvPr id="44066" name="Line 31"/>
          <p:cNvSpPr>
            <a:spLocks noChangeAspect="1" noChangeShapeType="1"/>
          </p:cNvSpPr>
          <p:nvPr/>
        </p:nvSpPr>
        <p:spPr bwMode="auto">
          <a:xfrm>
            <a:off x="7948613" y="1884364"/>
            <a:ext cx="1262062" cy="1443037"/>
          </a:xfrm>
          <a:prstGeom prst="line">
            <a:avLst/>
          </a:prstGeom>
          <a:noFill/>
          <a:ln w="9525">
            <a:solidFill>
              <a:srgbClr val="969696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4067" name="Text Box 32"/>
          <p:cNvSpPr txBox="1">
            <a:spLocks noChangeAspect="1" noChangeArrowheads="1"/>
          </p:cNvSpPr>
          <p:nvPr/>
        </p:nvSpPr>
        <p:spPr bwMode="auto">
          <a:xfrm>
            <a:off x="8010526" y="1524001"/>
            <a:ext cx="11096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chemeClr val="accent1"/>
                </a:solidFill>
                <a:ea typeface="新細明體" panose="02020500000000000000" pitchFamily="18" charset="-120"/>
              </a:rPr>
              <a:t>root</a:t>
            </a:r>
          </a:p>
        </p:txBody>
      </p:sp>
      <p:sp>
        <p:nvSpPr>
          <p:cNvPr id="44068" name="Line 33"/>
          <p:cNvSpPr>
            <a:spLocks noChangeAspect="1" noChangeShapeType="1"/>
          </p:cNvSpPr>
          <p:nvPr/>
        </p:nvSpPr>
        <p:spPr bwMode="auto">
          <a:xfrm flipH="1">
            <a:off x="7242176" y="1890714"/>
            <a:ext cx="493713" cy="865187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4069" name="Text Box 34"/>
          <p:cNvSpPr txBox="1">
            <a:spLocks noChangeAspect="1" noChangeArrowheads="1"/>
          </p:cNvSpPr>
          <p:nvPr/>
        </p:nvSpPr>
        <p:spPr bwMode="auto">
          <a:xfrm>
            <a:off x="7215189" y="1965326"/>
            <a:ext cx="4016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u</a:t>
            </a:r>
          </a:p>
        </p:txBody>
      </p:sp>
      <p:sp>
        <p:nvSpPr>
          <p:cNvPr id="44070" name="Oval 38"/>
          <p:cNvSpPr>
            <a:spLocks noChangeAspect="1" noChangeArrowheads="1"/>
          </p:cNvSpPr>
          <p:nvPr/>
        </p:nvSpPr>
        <p:spPr bwMode="auto">
          <a:xfrm>
            <a:off x="9099551" y="3309939"/>
            <a:ext cx="333375" cy="376237"/>
          </a:xfrm>
          <a:prstGeom prst="ellipse">
            <a:avLst/>
          </a:prstGeom>
          <a:solidFill>
            <a:schemeClr val="bg2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4071" name="Freeform 39"/>
          <p:cNvSpPr>
            <a:spLocks noChangeAspect="1"/>
          </p:cNvSpPr>
          <p:nvPr/>
        </p:nvSpPr>
        <p:spPr bwMode="auto">
          <a:xfrm>
            <a:off x="7302500" y="3086101"/>
            <a:ext cx="1785938" cy="354013"/>
          </a:xfrm>
          <a:custGeom>
            <a:avLst/>
            <a:gdLst>
              <a:gd name="T0" fmla="*/ 1785938 w 2160"/>
              <a:gd name="T1" fmla="*/ 354013 h 1200"/>
              <a:gd name="T2" fmla="*/ 754063 w 2160"/>
              <a:gd name="T3" fmla="*/ 254889 h 1200"/>
              <a:gd name="T4" fmla="*/ 0 w 2160"/>
              <a:gd name="T5" fmla="*/ 0 h 1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" h="1200">
                <a:moveTo>
                  <a:pt x="2160" y="1200"/>
                </a:moveTo>
                <a:cubicBezTo>
                  <a:pt x="1716" y="1132"/>
                  <a:pt x="1272" y="1064"/>
                  <a:pt x="912" y="864"/>
                </a:cubicBezTo>
                <a:cubicBezTo>
                  <a:pt x="552" y="664"/>
                  <a:pt x="160" y="152"/>
                  <a:pt x="0" y="0"/>
                </a:cubicBezTo>
              </a:path>
            </a:pathLst>
          </a:custGeom>
          <a:noFill/>
          <a:ln w="25400" cap="flat" cmpd="sng">
            <a:solidFill>
              <a:srgbClr val="808080"/>
            </a:solidFill>
            <a:prstDash val="dash"/>
            <a:miter lim="800000"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4072" name="Line 68"/>
          <p:cNvSpPr>
            <a:spLocks noChangeAspect="1" noChangeShapeType="1"/>
          </p:cNvSpPr>
          <p:nvPr/>
        </p:nvSpPr>
        <p:spPr bwMode="auto">
          <a:xfrm>
            <a:off x="9310689" y="3689350"/>
            <a:ext cx="180975" cy="630238"/>
          </a:xfrm>
          <a:prstGeom prst="line">
            <a:avLst/>
          </a:prstGeom>
          <a:noFill/>
          <a:ln w="9525">
            <a:solidFill>
              <a:srgbClr val="969696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grpSp>
        <p:nvGrpSpPr>
          <p:cNvPr id="44073" name="Group 69"/>
          <p:cNvGrpSpPr>
            <a:grpSpLocks noChangeAspect="1"/>
          </p:cNvGrpSpPr>
          <p:nvPr/>
        </p:nvGrpSpPr>
        <p:grpSpPr bwMode="auto">
          <a:xfrm rot="1495539">
            <a:off x="8828088" y="3581401"/>
            <a:ext cx="214312" cy="1019175"/>
            <a:chOff x="376" y="2304"/>
            <a:chExt cx="368" cy="1440"/>
          </a:xfrm>
        </p:grpSpPr>
        <p:sp>
          <p:nvSpPr>
            <p:cNvPr id="44106" name="Freeform 70"/>
            <p:cNvSpPr>
              <a:spLocks noChangeAspect="1"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4107" name="Line 71"/>
            <p:cNvSpPr>
              <a:spLocks noChangeAspect="1"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4074" name="Oval 72"/>
          <p:cNvSpPr>
            <a:spLocks noChangeAspect="1" noChangeArrowheads="1"/>
          </p:cNvSpPr>
          <p:nvPr/>
        </p:nvSpPr>
        <p:spPr bwMode="auto">
          <a:xfrm>
            <a:off x="9310688" y="4319589"/>
            <a:ext cx="334962" cy="376237"/>
          </a:xfrm>
          <a:prstGeom prst="ellipse">
            <a:avLst/>
          </a:prstGeom>
          <a:solidFill>
            <a:schemeClr val="bg2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grpSp>
        <p:nvGrpSpPr>
          <p:cNvPr id="44075" name="Group 73"/>
          <p:cNvGrpSpPr>
            <a:grpSpLocks noChangeAspect="1"/>
          </p:cNvGrpSpPr>
          <p:nvPr/>
        </p:nvGrpSpPr>
        <p:grpSpPr bwMode="auto">
          <a:xfrm>
            <a:off x="9401176" y="4695825"/>
            <a:ext cx="258763" cy="704850"/>
            <a:chOff x="376" y="2304"/>
            <a:chExt cx="368" cy="1440"/>
          </a:xfrm>
        </p:grpSpPr>
        <p:sp>
          <p:nvSpPr>
            <p:cNvPr id="44104" name="Freeform 74"/>
            <p:cNvSpPr>
              <a:spLocks noChangeAspect="1"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4105" name="Line 75"/>
            <p:cNvSpPr>
              <a:spLocks noChangeAspect="1"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4076" name="Text Box 78"/>
          <p:cNvSpPr txBox="1">
            <a:spLocks noChangeAspect="1" noChangeArrowheads="1"/>
          </p:cNvSpPr>
          <p:nvPr/>
        </p:nvSpPr>
        <p:spPr bwMode="auto">
          <a:xfrm>
            <a:off x="5562600" y="3124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w</a:t>
            </a:r>
          </a:p>
        </p:txBody>
      </p:sp>
      <p:sp>
        <p:nvSpPr>
          <p:cNvPr id="44077" name="Line 84"/>
          <p:cNvSpPr>
            <a:spLocks noChangeAspect="1" noChangeShapeType="1"/>
          </p:cNvSpPr>
          <p:nvPr/>
        </p:nvSpPr>
        <p:spPr bwMode="auto">
          <a:xfrm flipH="1">
            <a:off x="6934200" y="3048000"/>
            <a:ext cx="223838" cy="541338"/>
          </a:xfrm>
          <a:prstGeom prst="line">
            <a:avLst/>
          </a:prstGeom>
          <a:noFill/>
          <a:ln w="9525">
            <a:solidFill>
              <a:srgbClr val="969696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4078" name="Oval 85"/>
          <p:cNvSpPr>
            <a:spLocks noChangeAspect="1" noChangeArrowheads="1"/>
          </p:cNvSpPr>
          <p:nvPr/>
        </p:nvSpPr>
        <p:spPr bwMode="auto">
          <a:xfrm>
            <a:off x="6775451" y="3609976"/>
            <a:ext cx="296863" cy="296863"/>
          </a:xfrm>
          <a:prstGeom prst="ellipse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4079" name="Line 86"/>
          <p:cNvSpPr>
            <a:spLocks noChangeAspect="1" noChangeShapeType="1"/>
          </p:cNvSpPr>
          <p:nvPr/>
        </p:nvSpPr>
        <p:spPr bwMode="auto">
          <a:xfrm flipH="1">
            <a:off x="6675438" y="3900489"/>
            <a:ext cx="214312" cy="517525"/>
          </a:xfrm>
          <a:prstGeom prst="line">
            <a:avLst/>
          </a:prstGeom>
          <a:noFill/>
          <a:ln w="9525">
            <a:solidFill>
              <a:srgbClr val="969696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4080" name="Oval 87"/>
          <p:cNvSpPr>
            <a:spLocks noChangeAspect="1" noChangeArrowheads="1"/>
          </p:cNvSpPr>
          <p:nvPr/>
        </p:nvSpPr>
        <p:spPr bwMode="auto">
          <a:xfrm>
            <a:off x="6505576" y="4408488"/>
            <a:ext cx="296863" cy="296862"/>
          </a:xfrm>
          <a:prstGeom prst="ellipse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4081" name="AutoShape 88"/>
          <p:cNvSpPr>
            <a:spLocks noChangeAspect="1"/>
          </p:cNvSpPr>
          <p:nvPr/>
        </p:nvSpPr>
        <p:spPr bwMode="auto">
          <a:xfrm rot="1380000">
            <a:off x="6019801" y="2667001"/>
            <a:ext cx="627063" cy="1700213"/>
          </a:xfrm>
          <a:prstGeom prst="leftBrace">
            <a:avLst>
              <a:gd name="adj1" fmla="val 22595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6108" name="Text Box 92"/>
          <p:cNvSpPr txBox="1">
            <a:spLocks noChangeArrowheads="1"/>
          </p:cNvSpPr>
          <p:nvPr/>
        </p:nvSpPr>
        <p:spPr bwMode="auto">
          <a:xfrm>
            <a:off x="6769100" y="3530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44083" name="Text Box 93"/>
          <p:cNvSpPr txBox="1">
            <a:spLocks noChangeArrowheads="1"/>
          </p:cNvSpPr>
          <p:nvPr/>
        </p:nvSpPr>
        <p:spPr bwMode="auto">
          <a:xfrm>
            <a:off x="7048500" y="26797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c</a:t>
            </a:r>
          </a:p>
        </p:txBody>
      </p:sp>
      <p:sp>
        <p:nvSpPr>
          <p:cNvPr id="86110" name="Line 94"/>
          <p:cNvSpPr>
            <a:spLocks noChangeAspect="1" noChangeShapeType="1"/>
          </p:cNvSpPr>
          <p:nvPr/>
        </p:nvSpPr>
        <p:spPr bwMode="auto">
          <a:xfrm flipH="1">
            <a:off x="6932614" y="3048000"/>
            <a:ext cx="225425" cy="539750"/>
          </a:xfrm>
          <a:prstGeom prst="line">
            <a:avLst/>
          </a:prstGeom>
          <a:noFill/>
          <a:ln w="3175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grpSp>
        <p:nvGrpSpPr>
          <p:cNvPr id="44085" name="Group 95"/>
          <p:cNvGrpSpPr>
            <a:grpSpLocks/>
          </p:cNvGrpSpPr>
          <p:nvPr/>
        </p:nvGrpSpPr>
        <p:grpSpPr bwMode="auto">
          <a:xfrm rot="1495539">
            <a:off x="6261100" y="4686300"/>
            <a:ext cx="304800" cy="914400"/>
            <a:chOff x="376" y="2304"/>
            <a:chExt cx="368" cy="1440"/>
          </a:xfrm>
        </p:grpSpPr>
        <p:sp>
          <p:nvSpPr>
            <p:cNvPr id="44102" name="Freeform 96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4103" name="Line 97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4086" name="Text Box 98"/>
          <p:cNvSpPr txBox="1">
            <a:spLocks noChangeAspect="1" noChangeArrowheads="1"/>
          </p:cNvSpPr>
          <p:nvPr/>
        </p:nvSpPr>
        <p:spPr bwMode="auto">
          <a:xfrm>
            <a:off x="5943600" y="4800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80D52B"/>
                </a:solidFill>
                <a:ea typeface="新細明體" panose="02020500000000000000" pitchFamily="18" charset="-120"/>
              </a:rPr>
              <a:t>v</a:t>
            </a:r>
          </a:p>
        </p:txBody>
      </p:sp>
      <p:sp>
        <p:nvSpPr>
          <p:cNvPr id="86115" name="Text Box 99"/>
          <p:cNvSpPr txBox="1">
            <a:spLocks noChangeAspect="1" noChangeArrowheads="1"/>
          </p:cNvSpPr>
          <p:nvPr/>
        </p:nvSpPr>
        <p:spPr bwMode="auto">
          <a:xfrm>
            <a:off x="6756400" y="2921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z</a:t>
            </a:r>
          </a:p>
        </p:txBody>
      </p:sp>
      <p:grpSp>
        <p:nvGrpSpPr>
          <p:cNvPr id="44088" name="Group 114"/>
          <p:cNvGrpSpPr>
            <a:grpSpLocks/>
          </p:cNvGrpSpPr>
          <p:nvPr/>
        </p:nvGrpSpPr>
        <p:grpSpPr bwMode="auto">
          <a:xfrm>
            <a:off x="7272339" y="3060700"/>
            <a:ext cx="390525" cy="965200"/>
            <a:chOff x="3629" y="1936"/>
            <a:chExt cx="246" cy="608"/>
          </a:xfrm>
        </p:grpSpPr>
        <p:sp>
          <p:nvSpPr>
            <p:cNvPr id="44100" name="Freeform 111"/>
            <p:cNvSpPr>
              <a:spLocks/>
            </p:cNvSpPr>
            <p:nvPr/>
          </p:nvSpPr>
          <p:spPr bwMode="auto">
            <a:xfrm rot="-1080000">
              <a:off x="3629" y="1936"/>
              <a:ext cx="144" cy="464"/>
            </a:xfrm>
            <a:custGeom>
              <a:avLst/>
              <a:gdLst>
                <a:gd name="T0" fmla="*/ 59 w 368"/>
                <a:gd name="T1" fmla="*/ 0 h 1392"/>
                <a:gd name="T2" fmla="*/ 3 w 368"/>
                <a:gd name="T3" fmla="*/ 48 h 1392"/>
                <a:gd name="T4" fmla="*/ 78 w 368"/>
                <a:gd name="T5" fmla="*/ 96 h 1392"/>
                <a:gd name="T6" fmla="*/ 22 w 368"/>
                <a:gd name="T7" fmla="*/ 144 h 1392"/>
                <a:gd name="T8" fmla="*/ 97 w 368"/>
                <a:gd name="T9" fmla="*/ 192 h 1392"/>
                <a:gd name="T10" fmla="*/ 41 w 368"/>
                <a:gd name="T11" fmla="*/ 240 h 1392"/>
                <a:gd name="T12" fmla="*/ 116 w 368"/>
                <a:gd name="T13" fmla="*/ 288 h 1392"/>
                <a:gd name="T14" fmla="*/ 41 w 368"/>
                <a:gd name="T15" fmla="*/ 320 h 1392"/>
                <a:gd name="T16" fmla="*/ 135 w 368"/>
                <a:gd name="T17" fmla="*/ 368 h 1392"/>
                <a:gd name="T18" fmla="*/ 97 w 368"/>
                <a:gd name="T19" fmla="*/ 416 h 1392"/>
                <a:gd name="T20" fmla="*/ 116 w 368"/>
                <a:gd name="T21" fmla="*/ 464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4101" name="Line 112"/>
            <p:cNvSpPr>
              <a:spLocks noChangeShapeType="1"/>
            </p:cNvSpPr>
            <p:nvPr/>
          </p:nvSpPr>
          <p:spPr bwMode="auto">
            <a:xfrm rot="-1080000">
              <a:off x="3832" y="2360"/>
              <a:ext cx="43" cy="184"/>
            </a:xfrm>
            <a:prstGeom prst="line">
              <a:avLst/>
            </a:prstGeom>
            <a:noFill/>
            <a:ln w="22225">
              <a:solidFill>
                <a:srgbClr val="808080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 useBgFill="1">
        <p:nvSpPr>
          <p:cNvPr id="86131" name="Rectangle 115"/>
          <p:cNvSpPr>
            <a:spLocks noChangeArrowheads="1"/>
          </p:cNvSpPr>
          <p:nvPr/>
        </p:nvSpPr>
        <p:spPr bwMode="auto">
          <a:xfrm>
            <a:off x="6781800" y="3048000"/>
            <a:ext cx="228600" cy="2286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6132" name="Line 116"/>
          <p:cNvSpPr>
            <a:spLocks noChangeAspect="1" noChangeShapeType="1"/>
          </p:cNvSpPr>
          <p:nvPr/>
        </p:nvSpPr>
        <p:spPr bwMode="auto">
          <a:xfrm flipH="1">
            <a:off x="6657976" y="3886200"/>
            <a:ext cx="225425" cy="539750"/>
          </a:xfrm>
          <a:prstGeom prst="line">
            <a:avLst/>
          </a:prstGeom>
          <a:noFill/>
          <a:ln w="3175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86133" name="Text Box 117"/>
          <p:cNvSpPr txBox="1">
            <a:spLocks noChangeAspect="1" noChangeArrowheads="1"/>
          </p:cNvSpPr>
          <p:nvPr/>
        </p:nvSpPr>
        <p:spPr bwMode="auto">
          <a:xfrm>
            <a:off x="6477000" y="3733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z</a:t>
            </a:r>
          </a:p>
        </p:txBody>
      </p:sp>
      <p:sp>
        <p:nvSpPr>
          <p:cNvPr id="86134" name="Text Box 118"/>
          <p:cNvSpPr txBox="1">
            <a:spLocks noChangeArrowheads="1"/>
          </p:cNvSpPr>
          <p:nvPr/>
        </p:nvSpPr>
        <p:spPr bwMode="auto">
          <a:xfrm>
            <a:off x="6491288" y="432911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86136" name="Oval 120"/>
          <p:cNvSpPr>
            <a:spLocks noChangeAspect="1" noChangeArrowheads="1"/>
          </p:cNvSpPr>
          <p:nvPr/>
        </p:nvSpPr>
        <p:spPr bwMode="auto">
          <a:xfrm>
            <a:off x="6767513" y="3605213"/>
            <a:ext cx="296862" cy="2968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6137" name="Oval 121"/>
          <p:cNvSpPr>
            <a:spLocks noChangeAspect="1" noChangeArrowheads="1"/>
          </p:cNvSpPr>
          <p:nvPr/>
        </p:nvSpPr>
        <p:spPr bwMode="auto">
          <a:xfrm>
            <a:off x="6505576" y="4410076"/>
            <a:ext cx="296863" cy="296863"/>
          </a:xfrm>
          <a:prstGeom prst="ellipse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6138" name="Text Box 122"/>
          <p:cNvSpPr txBox="1">
            <a:spLocks noChangeAspect="1" noChangeArrowheads="1"/>
          </p:cNvSpPr>
          <p:nvPr/>
        </p:nvSpPr>
        <p:spPr bwMode="auto">
          <a:xfrm>
            <a:off x="6477000" y="432435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d</a:t>
            </a:r>
          </a:p>
        </p:txBody>
      </p:sp>
      <p:sp>
        <p:nvSpPr>
          <p:cNvPr id="44096" name="Text Box 137"/>
          <p:cNvSpPr txBox="1">
            <a:spLocks noChangeArrowheads="1"/>
          </p:cNvSpPr>
          <p:nvPr/>
        </p:nvSpPr>
        <p:spPr bwMode="auto">
          <a:xfrm>
            <a:off x="4572000" y="16002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TW" altLang="zh-TW">
              <a:ea typeface="新細明體" panose="02020500000000000000" pitchFamily="18" charset="-120"/>
            </a:endParaRPr>
          </a:p>
        </p:txBody>
      </p:sp>
      <p:grpSp>
        <p:nvGrpSpPr>
          <p:cNvPr id="86155" name="Group 139"/>
          <p:cNvGrpSpPr>
            <a:grpSpLocks/>
          </p:cNvGrpSpPr>
          <p:nvPr/>
        </p:nvGrpSpPr>
        <p:grpSpPr bwMode="auto">
          <a:xfrm>
            <a:off x="4660900" y="1689100"/>
            <a:ext cx="2286000" cy="2654300"/>
            <a:chOff x="1976" y="1064"/>
            <a:chExt cx="1440" cy="1672"/>
          </a:xfrm>
        </p:grpSpPr>
        <p:sp>
          <p:nvSpPr>
            <p:cNvPr id="44098" name="Line 133"/>
            <p:cNvSpPr>
              <a:spLocks noChangeShapeType="1"/>
            </p:cNvSpPr>
            <p:nvPr/>
          </p:nvSpPr>
          <p:spPr bwMode="auto">
            <a:xfrm flipH="1" flipV="1">
              <a:off x="2496" y="1584"/>
              <a:ext cx="624" cy="115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miter lim="800000"/>
              <a:headEnd type="arrow" w="lg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4099" name="Text Box 138"/>
            <p:cNvSpPr txBox="1">
              <a:spLocks noChangeArrowheads="1"/>
            </p:cNvSpPr>
            <p:nvPr/>
          </p:nvSpPr>
          <p:spPr bwMode="auto">
            <a:xfrm>
              <a:off x="1976" y="1064"/>
              <a:ext cx="1440" cy="5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TW" dirty="0">
                  <a:ea typeface="新細明體" panose="02020500000000000000" pitchFamily="18" charset="-120"/>
                </a:rPr>
                <a:t>In this case </a:t>
              </a:r>
              <a:r>
                <a:rPr lang="en-US" altLang="zh-TW" i="1" u="sng" dirty="0" err="1">
                  <a:ea typeface="新細明體" panose="02020500000000000000" pitchFamily="18" charset="-120"/>
                </a:rPr>
                <a:t>uw</a:t>
              </a:r>
              <a:r>
                <a:rPr lang="en-US" altLang="zh-TW" dirty="0">
                  <a:ea typeface="新細明體" panose="02020500000000000000" pitchFamily="18" charset="-120"/>
                </a:rPr>
                <a:t> already exists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493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108" grpId="0" autoUpdateAnimBg="0"/>
      <p:bldP spid="86110" grpId="0" animBg="1"/>
      <p:bldP spid="86115" grpId="0" autoUpdateAnimBg="0"/>
      <p:bldP spid="86131" grpId="0" animBg="1"/>
      <p:bldP spid="86132" grpId="0" animBg="1"/>
      <p:bldP spid="86133" grpId="0" autoUpdateAnimBg="0"/>
      <p:bldP spid="86134" grpId="0" autoUpdateAnimBg="0"/>
      <p:bldP spid="86136" grpId="0" animBg="1"/>
      <p:bldP spid="86137" grpId="0" animBg="1"/>
      <p:bldP spid="8613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76400" y="1676400"/>
            <a:ext cx="3962400" cy="3200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Make the suffix link of </a:t>
            </a:r>
            <a:r>
              <a:rPr lang="en-US" altLang="zh-TW" sz="2800" i="1" u="sng" dirty="0" err="1">
                <a:solidFill>
                  <a:schemeClr val="tx1"/>
                </a:solidFill>
                <a:ea typeface="新細明體" panose="02020500000000000000" pitchFamily="18" charset="-120"/>
              </a:rPr>
              <a:t>xuw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point to </a:t>
            </a:r>
            <a:r>
              <a:rPr lang="en-US" altLang="zh-TW" sz="2800" dirty="0">
                <a:solidFill>
                  <a:srgbClr val="FF0000"/>
                </a:solidFill>
                <a:ea typeface="新細明體" panose="02020500000000000000" pitchFamily="18" charset="-120"/>
              </a:rPr>
              <a:t>d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Hence, we have defined a suffix link to the node constructed in step i-1</a:t>
            </a:r>
            <a:r>
              <a:rPr lang="en-US" altLang="zh-TW" sz="2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  <a:endParaRPr lang="en-US" altLang="zh-TW" sz="2800" dirty="0">
              <a:solidFill>
                <a:schemeClr val="tx1"/>
              </a:solidFill>
              <a:ea typeface="新細明體" panose="02020500000000000000" pitchFamily="18" charset="-120"/>
              <a:sym typeface="Wingdings" panose="05000000000000000000" pitchFamily="2" charset="2"/>
            </a:endParaRP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>
          <a:xfrm>
            <a:off x="2625320" y="234158"/>
            <a:ext cx="7086600" cy="838200"/>
          </a:xfrm>
        </p:spPr>
        <p:txBody>
          <a:bodyPr/>
          <a:lstStyle/>
          <a:p>
            <a:pPr hangingPunct="1">
              <a:defRPr/>
            </a:pPr>
            <a:r>
              <a:rPr lang="en-US" altLang="zh-TW" dirty="0" err="1" smtClean="0">
                <a:ea typeface="新細明體" panose="02020500000000000000" pitchFamily="18" charset="-120"/>
              </a:rPr>
              <a:t>SubStep</a:t>
            </a:r>
            <a:r>
              <a:rPr lang="en-US" altLang="zh-TW" dirty="0" smtClean="0">
                <a:ea typeface="新細明體" panose="02020500000000000000" pitchFamily="18" charset="-120"/>
              </a:rPr>
              <a:t> </a:t>
            </a:r>
            <a:r>
              <a:rPr lang="en-US" altLang="zh-TW" sz="4000" dirty="0">
                <a:solidFill>
                  <a:schemeClr val="tx1"/>
                </a:solidFill>
                <a:ea typeface="新細明體" panose="02020500000000000000" pitchFamily="18" charset="-120"/>
              </a:rPr>
              <a:t>B</a:t>
            </a:r>
            <a:r>
              <a:rPr lang="en-US" altLang="zh-TW" sz="4000" dirty="0">
                <a:solidFill>
                  <a:schemeClr val="folHlink"/>
                </a:solidFill>
                <a:ea typeface="新細明體" panose="02020500000000000000" pitchFamily="18" charset="-120"/>
              </a:rPr>
              <a:t>:ReScanning</a:t>
            </a:r>
          </a:p>
        </p:txBody>
      </p:sp>
      <p:sp>
        <p:nvSpPr>
          <p:cNvPr id="45061" name="Text Box 6"/>
          <p:cNvSpPr txBox="1">
            <a:spLocks noChangeArrowheads="1"/>
          </p:cNvSpPr>
          <p:nvPr/>
        </p:nvSpPr>
        <p:spPr bwMode="auto">
          <a:xfrm>
            <a:off x="7772400" y="5486400"/>
            <a:ext cx="60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3600" dirty="0" err="1">
                <a:ea typeface="新細明體" panose="02020500000000000000" pitchFamily="18" charset="-120"/>
              </a:rPr>
              <a:t>T</a:t>
            </a:r>
            <a:r>
              <a:rPr lang="en-US" altLang="zh-TW" sz="3600" baseline="-25000" dirty="0" err="1">
                <a:ea typeface="新細明體" panose="02020500000000000000" pitchFamily="18" charset="-120"/>
              </a:rPr>
              <a:t>i</a:t>
            </a:r>
            <a:endParaRPr lang="en-US" altLang="zh-TW" sz="3600" dirty="0">
              <a:ea typeface="新細明體" panose="02020500000000000000" pitchFamily="18" charset="-120"/>
            </a:endParaRPr>
          </a:p>
        </p:txBody>
      </p:sp>
      <p:sp>
        <p:nvSpPr>
          <p:cNvPr id="45062" name="Oval 7"/>
          <p:cNvSpPr>
            <a:spLocks noChangeAspect="1" noChangeArrowheads="1"/>
          </p:cNvSpPr>
          <p:nvPr/>
        </p:nvSpPr>
        <p:spPr bwMode="auto">
          <a:xfrm>
            <a:off x="7670801" y="1589088"/>
            <a:ext cx="334963" cy="3365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5063" name="Oval 8"/>
          <p:cNvSpPr>
            <a:spLocks noChangeAspect="1" noChangeArrowheads="1"/>
          </p:cNvSpPr>
          <p:nvPr/>
        </p:nvSpPr>
        <p:spPr bwMode="auto">
          <a:xfrm>
            <a:off x="7062788" y="2776538"/>
            <a:ext cx="296862" cy="296862"/>
          </a:xfrm>
          <a:prstGeom prst="ellipse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5064" name="Text Box 9"/>
          <p:cNvSpPr txBox="1">
            <a:spLocks noChangeAspect="1" noChangeArrowheads="1"/>
          </p:cNvSpPr>
          <p:nvPr/>
        </p:nvSpPr>
        <p:spPr bwMode="auto">
          <a:xfrm>
            <a:off x="8578850" y="2244725"/>
            <a:ext cx="78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16CAB9"/>
                </a:solidFill>
                <a:ea typeface="新細明體" panose="02020500000000000000" pitchFamily="18" charset="-120"/>
              </a:rPr>
              <a:t>xu</a:t>
            </a:r>
          </a:p>
        </p:txBody>
      </p:sp>
      <p:sp>
        <p:nvSpPr>
          <p:cNvPr id="45065" name="Line 10"/>
          <p:cNvSpPr>
            <a:spLocks noChangeAspect="1" noChangeShapeType="1"/>
          </p:cNvSpPr>
          <p:nvPr/>
        </p:nvSpPr>
        <p:spPr bwMode="auto">
          <a:xfrm>
            <a:off x="7948613" y="1884364"/>
            <a:ext cx="1262062" cy="1443037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5066" name="Text Box 11"/>
          <p:cNvSpPr txBox="1">
            <a:spLocks noChangeAspect="1" noChangeArrowheads="1"/>
          </p:cNvSpPr>
          <p:nvPr/>
        </p:nvSpPr>
        <p:spPr bwMode="auto">
          <a:xfrm>
            <a:off x="8010526" y="1524001"/>
            <a:ext cx="11096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chemeClr val="accent1"/>
                </a:solidFill>
                <a:ea typeface="新細明體" panose="02020500000000000000" pitchFamily="18" charset="-120"/>
              </a:rPr>
              <a:t>root</a:t>
            </a:r>
          </a:p>
        </p:txBody>
      </p:sp>
      <p:sp>
        <p:nvSpPr>
          <p:cNvPr id="45067" name="Line 12"/>
          <p:cNvSpPr>
            <a:spLocks noChangeAspect="1" noChangeShapeType="1"/>
          </p:cNvSpPr>
          <p:nvPr/>
        </p:nvSpPr>
        <p:spPr bwMode="auto">
          <a:xfrm flipH="1">
            <a:off x="7242176" y="1890714"/>
            <a:ext cx="493713" cy="865187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5068" name="Text Box 13"/>
          <p:cNvSpPr txBox="1">
            <a:spLocks noChangeAspect="1" noChangeArrowheads="1"/>
          </p:cNvSpPr>
          <p:nvPr/>
        </p:nvSpPr>
        <p:spPr bwMode="auto">
          <a:xfrm>
            <a:off x="7215189" y="1965326"/>
            <a:ext cx="4016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u</a:t>
            </a:r>
          </a:p>
        </p:txBody>
      </p:sp>
      <p:sp>
        <p:nvSpPr>
          <p:cNvPr id="45069" name="Oval 14"/>
          <p:cNvSpPr>
            <a:spLocks noChangeAspect="1" noChangeArrowheads="1"/>
          </p:cNvSpPr>
          <p:nvPr/>
        </p:nvSpPr>
        <p:spPr bwMode="auto">
          <a:xfrm>
            <a:off x="9099551" y="3309939"/>
            <a:ext cx="333375" cy="3762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5070" name="Freeform 15"/>
          <p:cNvSpPr>
            <a:spLocks noChangeAspect="1"/>
          </p:cNvSpPr>
          <p:nvPr/>
        </p:nvSpPr>
        <p:spPr bwMode="auto">
          <a:xfrm>
            <a:off x="7302500" y="3086101"/>
            <a:ext cx="1785938" cy="354013"/>
          </a:xfrm>
          <a:custGeom>
            <a:avLst/>
            <a:gdLst>
              <a:gd name="T0" fmla="*/ 1785938 w 2160"/>
              <a:gd name="T1" fmla="*/ 354013 h 1200"/>
              <a:gd name="T2" fmla="*/ 754063 w 2160"/>
              <a:gd name="T3" fmla="*/ 254889 h 1200"/>
              <a:gd name="T4" fmla="*/ 0 w 2160"/>
              <a:gd name="T5" fmla="*/ 0 h 1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" h="1200">
                <a:moveTo>
                  <a:pt x="2160" y="1200"/>
                </a:moveTo>
                <a:cubicBezTo>
                  <a:pt x="1716" y="1132"/>
                  <a:pt x="1272" y="1064"/>
                  <a:pt x="912" y="864"/>
                </a:cubicBezTo>
                <a:cubicBezTo>
                  <a:pt x="552" y="664"/>
                  <a:pt x="160" y="152"/>
                  <a:pt x="0" y="0"/>
                </a:cubicBezTo>
              </a:path>
            </a:pathLst>
          </a:custGeom>
          <a:noFill/>
          <a:ln w="25400" cap="flat" cmpd="sng">
            <a:solidFill>
              <a:srgbClr val="808080"/>
            </a:solidFill>
            <a:prstDash val="dash"/>
            <a:miter lim="800000"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5071" name="Line 16"/>
          <p:cNvSpPr>
            <a:spLocks noChangeAspect="1" noChangeShapeType="1"/>
          </p:cNvSpPr>
          <p:nvPr/>
        </p:nvSpPr>
        <p:spPr bwMode="auto">
          <a:xfrm>
            <a:off x="9310689" y="3689350"/>
            <a:ext cx="180975" cy="630238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grpSp>
        <p:nvGrpSpPr>
          <p:cNvPr id="45072" name="Group 17"/>
          <p:cNvGrpSpPr>
            <a:grpSpLocks noChangeAspect="1"/>
          </p:cNvGrpSpPr>
          <p:nvPr/>
        </p:nvGrpSpPr>
        <p:grpSpPr bwMode="auto">
          <a:xfrm rot="1495539">
            <a:off x="8802688" y="3594101"/>
            <a:ext cx="214312" cy="1019175"/>
            <a:chOff x="376" y="2304"/>
            <a:chExt cx="368" cy="1440"/>
          </a:xfrm>
        </p:grpSpPr>
        <p:sp>
          <p:nvSpPr>
            <p:cNvPr id="45098" name="Freeform 18"/>
            <p:cNvSpPr>
              <a:spLocks noChangeAspect="1"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5099" name="Line 19"/>
            <p:cNvSpPr>
              <a:spLocks noChangeAspect="1"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5073" name="Oval 20"/>
          <p:cNvSpPr>
            <a:spLocks noChangeAspect="1" noChangeArrowheads="1"/>
          </p:cNvSpPr>
          <p:nvPr/>
        </p:nvSpPr>
        <p:spPr bwMode="auto">
          <a:xfrm>
            <a:off x="9310688" y="4319588"/>
            <a:ext cx="671512" cy="633412"/>
          </a:xfrm>
          <a:prstGeom prst="ellipse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grpSp>
        <p:nvGrpSpPr>
          <p:cNvPr id="45074" name="Group 21"/>
          <p:cNvGrpSpPr>
            <a:grpSpLocks noChangeAspect="1"/>
          </p:cNvGrpSpPr>
          <p:nvPr/>
        </p:nvGrpSpPr>
        <p:grpSpPr bwMode="auto">
          <a:xfrm>
            <a:off x="9601201" y="4953000"/>
            <a:ext cx="258763" cy="704850"/>
            <a:chOff x="376" y="2304"/>
            <a:chExt cx="368" cy="1440"/>
          </a:xfrm>
        </p:grpSpPr>
        <p:sp>
          <p:nvSpPr>
            <p:cNvPr id="45096" name="Freeform 22"/>
            <p:cNvSpPr>
              <a:spLocks noChangeAspect="1"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5097" name="Line 23"/>
            <p:cNvSpPr>
              <a:spLocks noChangeAspect="1"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5075" name="Text Box 24"/>
          <p:cNvSpPr txBox="1">
            <a:spLocks noChangeAspect="1" noChangeArrowheads="1"/>
          </p:cNvSpPr>
          <p:nvPr/>
        </p:nvSpPr>
        <p:spPr bwMode="auto">
          <a:xfrm>
            <a:off x="5562600" y="3124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w</a:t>
            </a:r>
          </a:p>
        </p:txBody>
      </p:sp>
      <p:sp>
        <p:nvSpPr>
          <p:cNvPr id="45076" name="Line 25"/>
          <p:cNvSpPr>
            <a:spLocks noChangeAspect="1" noChangeShapeType="1"/>
          </p:cNvSpPr>
          <p:nvPr/>
        </p:nvSpPr>
        <p:spPr bwMode="auto">
          <a:xfrm flipH="1">
            <a:off x="6921500" y="3060700"/>
            <a:ext cx="223838" cy="541338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5077" name="Oval 26"/>
          <p:cNvSpPr>
            <a:spLocks noChangeAspect="1" noChangeArrowheads="1"/>
          </p:cNvSpPr>
          <p:nvPr/>
        </p:nvSpPr>
        <p:spPr bwMode="auto">
          <a:xfrm>
            <a:off x="6775451" y="3609976"/>
            <a:ext cx="296863" cy="2968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5078" name="Line 27"/>
          <p:cNvSpPr>
            <a:spLocks noChangeAspect="1" noChangeShapeType="1"/>
          </p:cNvSpPr>
          <p:nvPr/>
        </p:nvSpPr>
        <p:spPr bwMode="auto">
          <a:xfrm flipH="1">
            <a:off x="6675438" y="3900489"/>
            <a:ext cx="214312" cy="517525"/>
          </a:xfrm>
          <a:prstGeom prst="line">
            <a:avLst/>
          </a:prstGeom>
          <a:noFill/>
          <a:ln w="1587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5079" name="Oval 28"/>
          <p:cNvSpPr>
            <a:spLocks noChangeAspect="1" noChangeArrowheads="1"/>
          </p:cNvSpPr>
          <p:nvPr/>
        </p:nvSpPr>
        <p:spPr bwMode="auto">
          <a:xfrm>
            <a:off x="6505576" y="4408488"/>
            <a:ext cx="296863" cy="296862"/>
          </a:xfrm>
          <a:prstGeom prst="ellipse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5080" name="AutoShape 29"/>
          <p:cNvSpPr>
            <a:spLocks noChangeAspect="1"/>
          </p:cNvSpPr>
          <p:nvPr/>
        </p:nvSpPr>
        <p:spPr bwMode="auto">
          <a:xfrm rot="1380000">
            <a:off x="6019801" y="2667001"/>
            <a:ext cx="627063" cy="1700213"/>
          </a:xfrm>
          <a:prstGeom prst="leftBrace">
            <a:avLst>
              <a:gd name="adj1" fmla="val 22595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5081" name="Text Box 31"/>
          <p:cNvSpPr txBox="1">
            <a:spLocks noChangeArrowheads="1"/>
          </p:cNvSpPr>
          <p:nvPr/>
        </p:nvSpPr>
        <p:spPr bwMode="auto">
          <a:xfrm>
            <a:off x="7048500" y="26797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c</a:t>
            </a:r>
          </a:p>
        </p:txBody>
      </p:sp>
      <p:grpSp>
        <p:nvGrpSpPr>
          <p:cNvPr id="45082" name="Group 33"/>
          <p:cNvGrpSpPr>
            <a:grpSpLocks/>
          </p:cNvGrpSpPr>
          <p:nvPr/>
        </p:nvGrpSpPr>
        <p:grpSpPr bwMode="auto">
          <a:xfrm rot="1495539">
            <a:off x="6261100" y="4686300"/>
            <a:ext cx="304800" cy="914400"/>
            <a:chOff x="376" y="2304"/>
            <a:chExt cx="368" cy="1440"/>
          </a:xfrm>
        </p:grpSpPr>
        <p:sp>
          <p:nvSpPr>
            <p:cNvPr id="45094" name="Freeform 34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5095" name="Line 35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5083" name="Text Box 36"/>
          <p:cNvSpPr txBox="1">
            <a:spLocks noChangeAspect="1" noChangeArrowheads="1"/>
          </p:cNvSpPr>
          <p:nvPr/>
        </p:nvSpPr>
        <p:spPr bwMode="auto">
          <a:xfrm>
            <a:off x="5943600" y="4800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80D52B"/>
                </a:solidFill>
                <a:ea typeface="新細明體" panose="02020500000000000000" pitchFamily="18" charset="-120"/>
              </a:rPr>
              <a:t>v</a:t>
            </a:r>
          </a:p>
        </p:txBody>
      </p:sp>
      <p:grpSp>
        <p:nvGrpSpPr>
          <p:cNvPr id="45084" name="Group 38"/>
          <p:cNvGrpSpPr>
            <a:grpSpLocks/>
          </p:cNvGrpSpPr>
          <p:nvPr/>
        </p:nvGrpSpPr>
        <p:grpSpPr bwMode="auto">
          <a:xfrm>
            <a:off x="7272339" y="3060700"/>
            <a:ext cx="390525" cy="965200"/>
            <a:chOff x="3629" y="1936"/>
            <a:chExt cx="246" cy="608"/>
          </a:xfrm>
        </p:grpSpPr>
        <p:sp>
          <p:nvSpPr>
            <p:cNvPr id="45092" name="Freeform 39"/>
            <p:cNvSpPr>
              <a:spLocks/>
            </p:cNvSpPr>
            <p:nvPr/>
          </p:nvSpPr>
          <p:spPr bwMode="auto">
            <a:xfrm rot="-1080000">
              <a:off x="3629" y="1936"/>
              <a:ext cx="144" cy="464"/>
            </a:xfrm>
            <a:custGeom>
              <a:avLst/>
              <a:gdLst>
                <a:gd name="T0" fmla="*/ 59 w 368"/>
                <a:gd name="T1" fmla="*/ 0 h 1392"/>
                <a:gd name="T2" fmla="*/ 3 w 368"/>
                <a:gd name="T3" fmla="*/ 48 h 1392"/>
                <a:gd name="T4" fmla="*/ 78 w 368"/>
                <a:gd name="T5" fmla="*/ 96 h 1392"/>
                <a:gd name="T6" fmla="*/ 22 w 368"/>
                <a:gd name="T7" fmla="*/ 144 h 1392"/>
                <a:gd name="T8" fmla="*/ 97 w 368"/>
                <a:gd name="T9" fmla="*/ 192 h 1392"/>
                <a:gd name="T10" fmla="*/ 41 w 368"/>
                <a:gd name="T11" fmla="*/ 240 h 1392"/>
                <a:gd name="T12" fmla="*/ 116 w 368"/>
                <a:gd name="T13" fmla="*/ 288 h 1392"/>
                <a:gd name="T14" fmla="*/ 41 w 368"/>
                <a:gd name="T15" fmla="*/ 320 h 1392"/>
                <a:gd name="T16" fmla="*/ 135 w 368"/>
                <a:gd name="T17" fmla="*/ 368 h 1392"/>
                <a:gd name="T18" fmla="*/ 97 w 368"/>
                <a:gd name="T19" fmla="*/ 416 h 1392"/>
                <a:gd name="T20" fmla="*/ 116 w 368"/>
                <a:gd name="T21" fmla="*/ 464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5093" name="Line 40"/>
            <p:cNvSpPr>
              <a:spLocks noChangeShapeType="1"/>
            </p:cNvSpPr>
            <p:nvPr/>
          </p:nvSpPr>
          <p:spPr bwMode="auto">
            <a:xfrm rot="-1080000">
              <a:off x="3832" y="2360"/>
              <a:ext cx="43" cy="184"/>
            </a:xfrm>
            <a:prstGeom prst="line">
              <a:avLst/>
            </a:prstGeom>
            <a:noFill/>
            <a:ln w="22225">
              <a:solidFill>
                <a:srgbClr val="808080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5085" name="Text Box 44"/>
          <p:cNvSpPr txBox="1">
            <a:spLocks noChangeArrowheads="1"/>
          </p:cNvSpPr>
          <p:nvPr/>
        </p:nvSpPr>
        <p:spPr bwMode="auto">
          <a:xfrm>
            <a:off x="6491288" y="432911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f</a:t>
            </a:r>
          </a:p>
        </p:txBody>
      </p:sp>
      <p:sp>
        <p:nvSpPr>
          <p:cNvPr id="45086" name="Oval 46"/>
          <p:cNvSpPr>
            <a:spLocks noChangeAspect="1" noChangeArrowheads="1"/>
          </p:cNvSpPr>
          <p:nvPr/>
        </p:nvSpPr>
        <p:spPr bwMode="auto">
          <a:xfrm>
            <a:off x="6505576" y="4410076"/>
            <a:ext cx="296863" cy="296863"/>
          </a:xfrm>
          <a:prstGeom prst="ellipse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5087" name="Text Box 47"/>
          <p:cNvSpPr txBox="1">
            <a:spLocks noChangeAspect="1" noChangeArrowheads="1"/>
          </p:cNvSpPr>
          <p:nvPr/>
        </p:nvSpPr>
        <p:spPr bwMode="auto">
          <a:xfrm>
            <a:off x="6477000" y="432435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d</a:t>
            </a:r>
          </a:p>
        </p:txBody>
      </p:sp>
      <p:sp>
        <p:nvSpPr>
          <p:cNvPr id="45088" name="Text Box 49"/>
          <p:cNvSpPr txBox="1">
            <a:spLocks noChangeAspect="1" noChangeArrowheads="1"/>
          </p:cNvSpPr>
          <p:nvPr/>
        </p:nvSpPr>
        <p:spPr bwMode="auto">
          <a:xfrm>
            <a:off x="9480550" y="3687763"/>
            <a:ext cx="78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16CAB9"/>
                </a:solidFill>
                <a:ea typeface="新細明體" panose="02020500000000000000" pitchFamily="18" charset="-120"/>
              </a:rPr>
              <a:t>w</a:t>
            </a:r>
          </a:p>
        </p:txBody>
      </p:sp>
      <p:sp>
        <p:nvSpPr>
          <p:cNvPr id="45090" name="Text Box 51"/>
          <p:cNvSpPr txBox="1">
            <a:spLocks noChangeArrowheads="1"/>
          </p:cNvSpPr>
          <p:nvPr/>
        </p:nvSpPr>
        <p:spPr bwMode="auto">
          <a:xfrm>
            <a:off x="9372600" y="441960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000" b="1" i="1" u="sng">
                <a:solidFill>
                  <a:srgbClr val="A3FFA7"/>
                </a:solidFill>
                <a:ea typeface="新細明體" panose="02020500000000000000" pitchFamily="18" charset="-120"/>
              </a:rPr>
              <a:t>xuw</a:t>
            </a:r>
          </a:p>
        </p:txBody>
      </p:sp>
      <p:sp>
        <p:nvSpPr>
          <p:cNvPr id="45091" name="Text Box 52"/>
          <p:cNvSpPr txBox="1">
            <a:spLocks noChangeArrowheads="1"/>
          </p:cNvSpPr>
          <p:nvPr/>
        </p:nvSpPr>
        <p:spPr bwMode="auto">
          <a:xfrm>
            <a:off x="7467600" y="61722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dirty="0" err="1">
                <a:ea typeface="新細明體" panose="02020500000000000000" pitchFamily="18" charset="-120"/>
              </a:rPr>
              <a:t>Head</a:t>
            </a:r>
            <a:r>
              <a:rPr lang="en-US" altLang="zh-TW" baseline="-25000" dirty="0" err="1">
                <a:ea typeface="新細明體" panose="02020500000000000000" pitchFamily="18" charset="-120"/>
              </a:rPr>
              <a:t>i</a:t>
            </a:r>
            <a:r>
              <a:rPr lang="en-US" altLang="zh-TW" dirty="0">
                <a:ea typeface="新細明體" panose="02020500000000000000" pitchFamily="18" charset="-120"/>
              </a:rPr>
              <a:t>= </a:t>
            </a:r>
            <a:r>
              <a:rPr lang="en-US" altLang="zh-TW" dirty="0" err="1">
                <a:ea typeface="新細明體" panose="02020500000000000000" pitchFamily="18" charset="-120"/>
              </a:rPr>
              <a:t>uw</a:t>
            </a:r>
            <a:r>
              <a:rPr lang="en-US" altLang="zh-TW" dirty="0" err="1">
                <a:solidFill>
                  <a:srgbClr val="80D52B"/>
                </a:solidFill>
                <a:ea typeface="新細明體" panose="02020500000000000000" pitchFamily="18" charset="-120"/>
              </a:rPr>
              <a:t>v</a:t>
            </a:r>
            <a:endParaRPr lang="en-US" altLang="zh-TW" dirty="0">
              <a:solidFill>
                <a:srgbClr val="80D52B"/>
              </a:solidFill>
              <a:ea typeface="新細明體" panose="02020500000000000000" pitchFamily="18" charset="-120"/>
            </a:endParaRPr>
          </a:p>
        </p:txBody>
      </p:sp>
      <p:sp>
        <p:nvSpPr>
          <p:cNvPr id="44" name="Freeform 15"/>
          <p:cNvSpPr>
            <a:spLocks noChangeAspect="1"/>
          </p:cNvSpPr>
          <p:nvPr/>
        </p:nvSpPr>
        <p:spPr bwMode="auto">
          <a:xfrm>
            <a:off x="7048500" y="4600857"/>
            <a:ext cx="2185988" cy="354013"/>
          </a:xfrm>
          <a:custGeom>
            <a:avLst/>
            <a:gdLst>
              <a:gd name="T0" fmla="*/ 1785938 w 2160"/>
              <a:gd name="T1" fmla="*/ 354013 h 1200"/>
              <a:gd name="T2" fmla="*/ 754063 w 2160"/>
              <a:gd name="T3" fmla="*/ 254889 h 1200"/>
              <a:gd name="T4" fmla="*/ 0 w 2160"/>
              <a:gd name="T5" fmla="*/ 0 h 1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" h="1200">
                <a:moveTo>
                  <a:pt x="2160" y="1200"/>
                </a:moveTo>
                <a:cubicBezTo>
                  <a:pt x="1716" y="1132"/>
                  <a:pt x="1272" y="1064"/>
                  <a:pt x="912" y="864"/>
                </a:cubicBezTo>
                <a:cubicBezTo>
                  <a:pt x="552" y="664"/>
                  <a:pt x="160" y="152"/>
                  <a:pt x="0" y="0"/>
                </a:cubicBezTo>
              </a:path>
            </a:pathLst>
          </a:custGeom>
          <a:noFill/>
          <a:ln w="25400" cap="flat" cmpd="sng">
            <a:solidFill>
              <a:srgbClr val="00B050"/>
            </a:solidFill>
            <a:prstDash val="dash"/>
            <a:miter lim="800000"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487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Cambria Math" panose="02040503050406030204" pitchFamily="18" charset="0"/>
              </a:rPr>
              <a:t>小結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SubStepB</a:t>
            </a:r>
            <a:r>
              <a:rPr lang="zh-TW" altLang="en-US" dirty="0" smtClean="0">
                <a:latin typeface="Cambria Math" panose="02040503050406030204" pitchFamily="18" charset="0"/>
              </a:rPr>
              <a:t>工作內</a:t>
            </a:r>
            <a:r>
              <a:rPr lang="zh-TW" altLang="en-US" dirty="0">
                <a:latin typeface="Cambria Math" panose="02040503050406030204" pitchFamily="18" charset="0"/>
              </a:rPr>
              <a:t>容</a:t>
            </a:r>
            <a:r>
              <a:rPr lang="zh-TW" altLang="en-US" dirty="0" smtClean="0">
                <a:latin typeface="Cambria Math" panose="02040503050406030204" pitchFamily="18" charset="0"/>
              </a:rPr>
              <a:t>：</a:t>
            </a:r>
            <a:endParaRPr lang="en-US" altLang="zh-TW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zh-TW" altLang="en-US" dirty="0" smtClean="0">
                <a:latin typeface="Cambria Math" panose="02040503050406030204" pitchFamily="18" charset="0"/>
              </a:rPr>
              <a:t>從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zh-TW" altLang="en-US" dirty="0" smtClean="0">
                <a:latin typeface="Cambria Math" panose="02040503050406030204" pitchFamily="18" charset="0"/>
              </a:rPr>
              <a:t>開始往下走去找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zh-TW" altLang="en-US" dirty="0" smtClean="0">
                <a:latin typeface="Cambria Math" panose="02040503050406030204" pitchFamily="18" charset="0"/>
              </a:rPr>
              <a:t>，而這個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zh-TW" altLang="en-US" dirty="0" smtClean="0">
                <a:latin typeface="Cambria Math" panose="02040503050406030204" pitchFamily="18" charset="0"/>
              </a:rPr>
              <a:t>就是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US" altLang="zh-TW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i-1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xuw</a:t>
            </a:r>
            <a:r>
              <a:rPr lang="zh-TW" altLang="en-US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的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suffix</a:t>
            </a:r>
            <a:r>
              <a:rPr lang="zh-TW" altLang="en-US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link</a:t>
            </a:r>
          </a:p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zh-TW" altLang="en-US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因為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US" altLang="zh-TW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i-1</a:t>
            </a:r>
            <a:r>
              <a:rPr lang="zh-TW" altLang="en-US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也是內部結點，滿足性質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P1</a:t>
            </a:r>
            <a:r>
              <a:rPr lang="zh-TW" altLang="en-US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。</a:t>
            </a:r>
            <a:endParaRPr lang="en-US" altLang="zh-TW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zh-TW" altLang="en-US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73209" y="1478692"/>
            <a:ext cx="10429103" cy="48768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Scan the edges from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d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  <a:sym typeface="Wingdings" panose="05000000000000000000" pitchFamily="2" charset="2"/>
              </a:rPr>
              <a:t> in order to find the extended locus of </a:t>
            </a:r>
            <a:r>
              <a:rPr lang="en-US" altLang="zh-TW" sz="2800" i="1" dirty="0" err="1">
                <a:solidFill>
                  <a:schemeClr val="tx1"/>
                </a:solidFill>
                <a:ea typeface="新細明體" panose="02020500000000000000" pitchFamily="18" charset="-120"/>
              </a:rPr>
              <a:t>uwv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. </a:t>
            </a:r>
          </a:p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Since </a:t>
            </a:r>
            <a:r>
              <a:rPr lang="en-US" altLang="zh-TW" sz="2800" b="1" u="sng" dirty="0">
                <a:solidFill>
                  <a:schemeClr val="tx1"/>
                </a:solidFill>
                <a:ea typeface="新細明體" panose="02020500000000000000" pitchFamily="18" charset="-120"/>
              </a:rPr>
              <a:t>we don’t know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yet what is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v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we must scan each character in the path from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d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downward, comparing it to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tail</a:t>
            </a:r>
            <a:r>
              <a:rPr lang="en-US" altLang="zh-TW" sz="2800" i="1" baseline="-25000" dirty="0">
                <a:solidFill>
                  <a:schemeClr val="tx1"/>
                </a:solidFill>
                <a:ea typeface="新細明體" panose="02020500000000000000" pitchFamily="18" charset="-120"/>
              </a:rPr>
              <a:t>i-1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</a:p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The 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last node in this trek is the contracted locus of </a:t>
            </a:r>
            <a:r>
              <a:rPr lang="en-US" altLang="zh-TW" sz="2800" dirty="0" err="1">
                <a:solidFill>
                  <a:schemeClr val="tx1"/>
                </a:solidFill>
                <a:ea typeface="新細明體" panose="02020500000000000000" pitchFamily="18" charset="-120"/>
              </a:rPr>
              <a:t>head</a:t>
            </a:r>
            <a:r>
              <a:rPr lang="en-US" altLang="zh-TW" sz="2800" baseline="-25000" dirty="0" err="1">
                <a:solidFill>
                  <a:schemeClr val="tx1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in T</a:t>
            </a:r>
            <a:r>
              <a:rPr lang="en-US" altLang="zh-TW" sz="2800" baseline="-25000" dirty="0">
                <a:solidFill>
                  <a:schemeClr val="tx1"/>
                </a:solidFill>
                <a:ea typeface="新細明體" panose="02020500000000000000" pitchFamily="18" charset="-120"/>
              </a:rPr>
              <a:t>i-1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, which proves P2.</a:t>
            </a:r>
          </a:p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When we reach the extended locus of </a:t>
            </a:r>
            <a:r>
              <a:rPr lang="en-US" altLang="zh-TW" sz="2800" i="1" dirty="0" err="1">
                <a:solidFill>
                  <a:schemeClr val="tx1"/>
                </a:solidFill>
                <a:ea typeface="新細明體" panose="02020500000000000000" pitchFamily="18" charset="-120"/>
              </a:rPr>
              <a:t>uwv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we construct the new node </a:t>
            </a:r>
            <a:r>
              <a:rPr lang="en-US" altLang="zh-TW" sz="2800" i="1" u="sng" dirty="0" err="1">
                <a:solidFill>
                  <a:schemeClr val="tx1"/>
                </a:solidFill>
                <a:ea typeface="新細明體" panose="02020500000000000000" pitchFamily="18" charset="-120"/>
              </a:rPr>
              <a:t>uwv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, if needed.</a:t>
            </a:r>
          </a:p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Construct the new leaf edge </a:t>
            </a:r>
            <a:r>
              <a:rPr lang="en-US" altLang="zh-TW" sz="2800" i="1" dirty="0" err="1">
                <a:solidFill>
                  <a:schemeClr val="tx1"/>
                </a:solidFill>
                <a:ea typeface="新細明體" panose="02020500000000000000" pitchFamily="18" charset="-120"/>
              </a:rPr>
              <a:t>tail</a:t>
            </a:r>
            <a:r>
              <a:rPr lang="en-US" altLang="zh-TW" sz="2800" i="1" baseline="-25000" dirty="0" err="1">
                <a:solidFill>
                  <a:schemeClr val="tx1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sz="2800" i="1" baseline="-25000" dirty="0">
                <a:solidFill>
                  <a:schemeClr val="tx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  <a:endParaRPr lang="en-US" altLang="zh-TW" sz="2800" dirty="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title"/>
          </p:nvPr>
        </p:nvSpPr>
        <p:spPr>
          <a:xfrm>
            <a:off x="2574324" y="350108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err="1" smtClean="0">
                <a:ea typeface="新細明體" panose="02020500000000000000" pitchFamily="18" charset="-120"/>
              </a:rPr>
              <a:t>SubStep</a:t>
            </a:r>
            <a:r>
              <a:rPr lang="en-US" altLang="zh-TW" dirty="0" smtClean="0">
                <a:ea typeface="新細明體" panose="02020500000000000000" pitchFamily="18" charset="-120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C</a:t>
            </a:r>
            <a:r>
              <a:rPr lang="en-US" altLang="zh-TW" dirty="0" smtClean="0">
                <a:solidFill>
                  <a:schemeClr val="folHlink"/>
                </a:solidFill>
                <a:ea typeface="新細明體" panose="02020500000000000000" pitchFamily="18" charset="-120"/>
              </a:rPr>
              <a:t> - Scanning</a:t>
            </a:r>
            <a:endParaRPr lang="en-US" altLang="zh-TW" i="1" dirty="0" smtClean="0">
              <a:solidFill>
                <a:schemeClr val="folHlink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260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1828800" y="228600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TW" sz="2800" i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title"/>
          </p:nvPr>
        </p:nvSpPr>
        <p:spPr>
          <a:xfrm>
            <a:off x="2552700" y="353220"/>
            <a:ext cx="7086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err="1" smtClean="0">
                <a:ea typeface="新細明體" panose="02020500000000000000" pitchFamily="18" charset="-120"/>
              </a:rPr>
              <a:t>SubStep</a:t>
            </a:r>
            <a:r>
              <a:rPr lang="en-US" altLang="zh-TW" dirty="0" smtClean="0">
                <a:ea typeface="新細明體" panose="02020500000000000000" pitchFamily="18" charset="-120"/>
              </a:rPr>
              <a:t> C: Scanning</a:t>
            </a:r>
            <a:endParaRPr lang="en-US" altLang="zh-TW" i="1" dirty="0" smtClean="0">
              <a:ea typeface="新細明體" panose="02020500000000000000" pitchFamily="18" charset="-120"/>
            </a:endParaRPr>
          </a:p>
        </p:txBody>
      </p:sp>
      <p:sp>
        <p:nvSpPr>
          <p:cNvPr id="47108" name="Rectangle 44"/>
          <p:cNvSpPr>
            <a:spLocks noGrp="1" noChangeArrowheads="1"/>
          </p:cNvSpPr>
          <p:nvPr>
            <p:ph type="body" idx="1"/>
          </p:nvPr>
        </p:nvSpPr>
        <p:spPr>
          <a:xfrm>
            <a:off x="148281" y="1676400"/>
            <a:ext cx="5380902" cy="4419600"/>
          </a:xfrm>
        </p:spPr>
        <p:txBody>
          <a:bodyPr/>
          <a:lstStyle/>
          <a:p>
            <a:pPr marL="457200" indent="-457200" eaLnBrk="1" hangingPunct="1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Scanning for the requested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v</a:t>
            </a:r>
            <a:r>
              <a:rPr lang="en-US" altLang="zh-TW" sz="2800" i="1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</a:p>
          <a:p>
            <a:pPr marL="457200" indent="-457200" eaLnBrk="1" hangingPunct="1">
              <a:spcBef>
                <a:spcPct val="15000"/>
              </a:spcBef>
              <a:buFont typeface="Arial" panose="020B0604020202020204" pitchFamily="34" charset="0"/>
              <a:buChar char="•"/>
            </a:pPr>
            <a:endParaRPr lang="en-US" altLang="zh-TW" sz="2800" i="1" dirty="0">
              <a:solidFill>
                <a:schemeClr val="tx1"/>
              </a:solidFill>
              <a:ea typeface="新細明體" panose="02020500000000000000" pitchFamily="18" charset="-120"/>
            </a:endParaRPr>
          </a:p>
          <a:p>
            <a:pPr marL="457200" indent="-457200" eaLnBrk="1" hangingPunct="1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Comparing each character of the downward path beginning at </a:t>
            </a:r>
            <a:r>
              <a:rPr lang="en-US" altLang="zh-TW" sz="2800" i="1" dirty="0">
                <a:solidFill>
                  <a:schemeClr val="tx1"/>
                </a:solidFill>
                <a:ea typeface="新細明體" panose="02020500000000000000" pitchFamily="18" charset="-120"/>
              </a:rPr>
              <a:t>d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 to </a:t>
            </a:r>
            <a:r>
              <a:rPr lang="en-US" altLang="zh-TW" sz="2800" i="1" dirty="0" err="1" smtClean="0">
                <a:solidFill>
                  <a:schemeClr val="tx1"/>
                </a:solidFill>
                <a:ea typeface="新細明體" panose="02020500000000000000" pitchFamily="18" charset="-120"/>
              </a:rPr>
              <a:t>tail</a:t>
            </a:r>
            <a:r>
              <a:rPr lang="en-US" altLang="zh-TW" sz="2800" i="1" baseline="-25000" dirty="0" err="1" smtClean="0">
                <a:solidFill>
                  <a:schemeClr val="tx1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. </a:t>
            </a:r>
            <a:endParaRPr lang="en-US" altLang="zh-TW" sz="2800" dirty="0" smtClean="0">
              <a:solidFill>
                <a:schemeClr val="tx1"/>
              </a:solidFill>
              <a:ea typeface="新細明體" panose="02020500000000000000" pitchFamily="18" charset="-120"/>
            </a:endParaRPr>
          </a:p>
          <a:p>
            <a:pPr marL="457200" indent="-457200" eaLnBrk="1" hangingPunct="1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When 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the comparison fails we have reached </a:t>
            </a:r>
            <a:r>
              <a:rPr lang="en-US" altLang="zh-TW" sz="2800" i="1" dirty="0" err="1">
                <a:solidFill>
                  <a:schemeClr val="tx1"/>
                </a:solidFill>
                <a:ea typeface="新細明體" panose="02020500000000000000" pitchFamily="18" charset="-120"/>
              </a:rPr>
              <a:t>head</a:t>
            </a:r>
            <a:r>
              <a:rPr lang="en-US" altLang="zh-TW" sz="2800" i="1" baseline="-25000" dirty="0" err="1">
                <a:solidFill>
                  <a:schemeClr val="tx1"/>
                </a:solidFill>
                <a:ea typeface="新細明體" panose="02020500000000000000" pitchFamily="18" charset="-120"/>
              </a:rPr>
              <a:t>i</a:t>
            </a:r>
            <a:r>
              <a:rPr lang="en-US" altLang="zh-TW" sz="2800" baseline="-25000" dirty="0">
                <a:solidFill>
                  <a:schemeClr val="tx1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ea typeface="新細明體" panose="02020500000000000000" pitchFamily="18" charset="-120"/>
              </a:rPr>
              <a:t>.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8305800" y="5486400"/>
            <a:ext cx="60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3600" dirty="0" err="1">
                <a:ea typeface="新細明體" panose="02020500000000000000" pitchFamily="18" charset="-120"/>
              </a:rPr>
              <a:t>T</a:t>
            </a:r>
            <a:r>
              <a:rPr lang="en-US" altLang="zh-TW" sz="3600" baseline="-25000" dirty="0" err="1">
                <a:ea typeface="新細明體" panose="02020500000000000000" pitchFamily="18" charset="-120"/>
              </a:rPr>
              <a:t>i</a:t>
            </a:r>
            <a:endParaRPr lang="en-US" altLang="zh-TW" sz="3600" dirty="0">
              <a:ea typeface="新細明體" panose="02020500000000000000" pitchFamily="18" charset="-120"/>
            </a:endParaRPr>
          </a:p>
        </p:txBody>
      </p:sp>
      <p:sp>
        <p:nvSpPr>
          <p:cNvPr id="47110" name="Text Box 10"/>
          <p:cNvSpPr txBox="1">
            <a:spLocks noChangeAspect="1" noChangeArrowheads="1"/>
          </p:cNvSpPr>
          <p:nvPr/>
        </p:nvSpPr>
        <p:spPr bwMode="auto">
          <a:xfrm>
            <a:off x="8229601" y="1371601"/>
            <a:ext cx="11096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chemeClr val="accent1"/>
                </a:solidFill>
                <a:ea typeface="新細明體" panose="02020500000000000000" pitchFamily="18" charset="-120"/>
              </a:rPr>
              <a:t>root</a:t>
            </a:r>
          </a:p>
        </p:txBody>
      </p:sp>
      <p:sp>
        <p:nvSpPr>
          <p:cNvPr id="47111" name="Oval 6"/>
          <p:cNvSpPr>
            <a:spLocks noChangeAspect="1" noChangeArrowheads="1"/>
          </p:cNvSpPr>
          <p:nvPr/>
        </p:nvSpPr>
        <p:spPr bwMode="auto">
          <a:xfrm>
            <a:off x="7962900" y="1524000"/>
            <a:ext cx="211138" cy="1968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7112" name="Oval 7"/>
          <p:cNvSpPr>
            <a:spLocks noChangeAspect="1" noChangeArrowheads="1"/>
          </p:cNvSpPr>
          <p:nvPr/>
        </p:nvSpPr>
        <p:spPr bwMode="auto">
          <a:xfrm>
            <a:off x="7578726" y="2216150"/>
            <a:ext cx="187325" cy="1730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7113" name="Text Box 8"/>
          <p:cNvSpPr txBox="1">
            <a:spLocks noChangeAspect="1" noChangeArrowheads="1"/>
          </p:cNvSpPr>
          <p:nvPr/>
        </p:nvSpPr>
        <p:spPr bwMode="auto">
          <a:xfrm>
            <a:off x="8534401" y="1752600"/>
            <a:ext cx="493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16CAB9"/>
                </a:solidFill>
                <a:ea typeface="新細明體" panose="02020500000000000000" pitchFamily="18" charset="-120"/>
              </a:rPr>
              <a:t>xu</a:t>
            </a:r>
          </a:p>
        </p:txBody>
      </p:sp>
      <p:sp>
        <p:nvSpPr>
          <p:cNvPr id="47114" name="Line 9"/>
          <p:cNvSpPr>
            <a:spLocks noChangeAspect="1" noChangeShapeType="1"/>
          </p:cNvSpPr>
          <p:nvPr/>
        </p:nvSpPr>
        <p:spPr bwMode="auto">
          <a:xfrm>
            <a:off x="8139114" y="1697039"/>
            <a:ext cx="796925" cy="841375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7115" name="Line 11"/>
          <p:cNvSpPr>
            <a:spLocks noChangeAspect="1" noChangeShapeType="1"/>
          </p:cNvSpPr>
          <p:nvPr/>
        </p:nvSpPr>
        <p:spPr bwMode="auto">
          <a:xfrm flipH="1">
            <a:off x="7691439" y="1700214"/>
            <a:ext cx="312737" cy="504825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7116" name="Text Box 12"/>
          <p:cNvSpPr txBox="1">
            <a:spLocks noChangeAspect="1" noChangeArrowheads="1"/>
          </p:cNvSpPr>
          <p:nvPr/>
        </p:nvSpPr>
        <p:spPr bwMode="auto">
          <a:xfrm>
            <a:off x="7581900" y="1581150"/>
            <a:ext cx="25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dirty="0">
                <a:ea typeface="新細明體" panose="02020500000000000000" pitchFamily="18" charset="-120"/>
              </a:rPr>
              <a:t>u</a:t>
            </a:r>
          </a:p>
        </p:txBody>
      </p:sp>
      <p:sp>
        <p:nvSpPr>
          <p:cNvPr id="47117" name="Oval 13"/>
          <p:cNvSpPr>
            <a:spLocks noChangeAspect="1" noChangeArrowheads="1"/>
          </p:cNvSpPr>
          <p:nvPr/>
        </p:nvSpPr>
        <p:spPr bwMode="auto">
          <a:xfrm>
            <a:off x="8866189" y="2527301"/>
            <a:ext cx="211137" cy="2206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7118" name="Line 15"/>
          <p:cNvSpPr>
            <a:spLocks noChangeAspect="1" noChangeShapeType="1"/>
          </p:cNvSpPr>
          <p:nvPr/>
        </p:nvSpPr>
        <p:spPr bwMode="auto">
          <a:xfrm>
            <a:off x="8999538" y="2749551"/>
            <a:ext cx="114300" cy="366713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grpSp>
        <p:nvGrpSpPr>
          <p:cNvPr id="47119" name="Group 16"/>
          <p:cNvGrpSpPr>
            <a:grpSpLocks noChangeAspect="1"/>
          </p:cNvGrpSpPr>
          <p:nvPr/>
        </p:nvGrpSpPr>
        <p:grpSpPr bwMode="auto">
          <a:xfrm rot="1495539">
            <a:off x="8662989" y="2692401"/>
            <a:ext cx="149225" cy="658813"/>
            <a:chOff x="376" y="2304"/>
            <a:chExt cx="368" cy="1440"/>
          </a:xfrm>
        </p:grpSpPr>
        <p:sp>
          <p:nvSpPr>
            <p:cNvPr id="47154" name="Freeform 17"/>
            <p:cNvSpPr>
              <a:spLocks noChangeAspect="1"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7155" name="Line 18"/>
            <p:cNvSpPr>
              <a:spLocks noChangeAspect="1"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7120" name="Oval 19"/>
          <p:cNvSpPr>
            <a:spLocks noChangeAspect="1" noChangeArrowheads="1"/>
          </p:cNvSpPr>
          <p:nvPr/>
        </p:nvSpPr>
        <p:spPr bwMode="auto">
          <a:xfrm>
            <a:off x="8999538" y="3116263"/>
            <a:ext cx="296862" cy="2587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grpSp>
        <p:nvGrpSpPr>
          <p:cNvPr id="47121" name="Group 20"/>
          <p:cNvGrpSpPr>
            <a:grpSpLocks noChangeAspect="1"/>
          </p:cNvGrpSpPr>
          <p:nvPr/>
        </p:nvGrpSpPr>
        <p:grpSpPr bwMode="auto">
          <a:xfrm>
            <a:off x="9067800" y="3384550"/>
            <a:ext cx="279400" cy="704850"/>
            <a:chOff x="376" y="2304"/>
            <a:chExt cx="368" cy="1440"/>
          </a:xfrm>
        </p:grpSpPr>
        <p:sp>
          <p:nvSpPr>
            <p:cNvPr id="47152" name="Freeform 21"/>
            <p:cNvSpPr>
              <a:spLocks noChangeAspect="1"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7153" name="Line 22"/>
            <p:cNvSpPr>
              <a:spLocks noChangeAspect="1"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7122" name="Line 24"/>
          <p:cNvSpPr>
            <a:spLocks noChangeAspect="1" noChangeShapeType="1"/>
          </p:cNvSpPr>
          <p:nvPr/>
        </p:nvSpPr>
        <p:spPr bwMode="auto">
          <a:xfrm flipH="1">
            <a:off x="7488239" y="2382838"/>
            <a:ext cx="142875" cy="315912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7123" name="Oval 25"/>
          <p:cNvSpPr>
            <a:spLocks noChangeAspect="1" noChangeArrowheads="1"/>
          </p:cNvSpPr>
          <p:nvPr/>
        </p:nvSpPr>
        <p:spPr bwMode="auto">
          <a:xfrm>
            <a:off x="7396164" y="2703514"/>
            <a:ext cx="187325" cy="1730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7124" name="Line 26"/>
          <p:cNvSpPr>
            <a:spLocks noChangeAspect="1" noChangeShapeType="1"/>
          </p:cNvSpPr>
          <p:nvPr/>
        </p:nvSpPr>
        <p:spPr bwMode="auto">
          <a:xfrm flipH="1">
            <a:off x="7332664" y="2871788"/>
            <a:ext cx="136525" cy="303212"/>
          </a:xfrm>
          <a:prstGeom prst="line">
            <a:avLst/>
          </a:prstGeom>
          <a:noFill/>
          <a:ln w="1587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7125" name="Oval 27"/>
          <p:cNvSpPr>
            <a:spLocks noChangeAspect="1" noChangeArrowheads="1"/>
          </p:cNvSpPr>
          <p:nvPr/>
        </p:nvSpPr>
        <p:spPr bwMode="auto">
          <a:xfrm>
            <a:off x="7010401" y="3168651"/>
            <a:ext cx="403225" cy="373063"/>
          </a:xfrm>
          <a:prstGeom prst="ellipse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grpSp>
        <p:nvGrpSpPr>
          <p:cNvPr id="47126" name="Group 30"/>
          <p:cNvGrpSpPr>
            <a:grpSpLocks/>
          </p:cNvGrpSpPr>
          <p:nvPr/>
        </p:nvGrpSpPr>
        <p:grpSpPr bwMode="auto">
          <a:xfrm rot="1495539">
            <a:off x="6754814" y="3498851"/>
            <a:ext cx="274637" cy="1382713"/>
            <a:chOff x="376" y="2304"/>
            <a:chExt cx="368" cy="1440"/>
          </a:xfrm>
        </p:grpSpPr>
        <p:sp>
          <p:nvSpPr>
            <p:cNvPr id="47150" name="Freeform 31"/>
            <p:cNvSpPr>
              <a:spLocks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chemeClr val="folHlink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7151" name="Line 32"/>
            <p:cNvSpPr>
              <a:spLocks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chemeClr val="folHlink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7127" name="Text Box 33"/>
          <p:cNvSpPr txBox="1">
            <a:spLocks noChangeAspect="1" noChangeArrowheads="1"/>
          </p:cNvSpPr>
          <p:nvPr/>
        </p:nvSpPr>
        <p:spPr bwMode="auto">
          <a:xfrm>
            <a:off x="6073304" y="4178303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i="1" dirty="0" err="1">
                <a:solidFill>
                  <a:srgbClr val="80D52B"/>
                </a:solidFill>
                <a:ea typeface="新細明體" panose="02020500000000000000" pitchFamily="18" charset="-120"/>
              </a:rPr>
              <a:t>vt</a:t>
            </a:r>
            <a:endParaRPr lang="en-US" altLang="zh-TW" i="1" dirty="0">
              <a:solidFill>
                <a:srgbClr val="80D52B"/>
              </a:solidFill>
              <a:ea typeface="新細明體" panose="02020500000000000000" pitchFamily="18" charset="-120"/>
            </a:endParaRPr>
          </a:p>
        </p:txBody>
      </p:sp>
      <p:grpSp>
        <p:nvGrpSpPr>
          <p:cNvPr id="47128" name="Group 34"/>
          <p:cNvGrpSpPr>
            <a:grpSpLocks/>
          </p:cNvGrpSpPr>
          <p:nvPr/>
        </p:nvGrpSpPr>
        <p:grpSpPr bwMode="auto">
          <a:xfrm>
            <a:off x="7710488" y="2382839"/>
            <a:ext cx="247650" cy="561975"/>
            <a:chOff x="3629" y="1936"/>
            <a:chExt cx="246" cy="608"/>
          </a:xfrm>
        </p:grpSpPr>
        <p:sp>
          <p:nvSpPr>
            <p:cNvPr id="47148" name="Freeform 35"/>
            <p:cNvSpPr>
              <a:spLocks/>
            </p:cNvSpPr>
            <p:nvPr/>
          </p:nvSpPr>
          <p:spPr bwMode="auto">
            <a:xfrm rot="-1080000">
              <a:off x="3629" y="1936"/>
              <a:ext cx="144" cy="464"/>
            </a:xfrm>
            <a:custGeom>
              <a:avLst/>
              <a:gdLst>
                <a:gd name="T0" fmla="*/ 59 w 368"/>
                <a:gd name="T1" fmla="*/ 0 h 1392"/>
                <a:gd name="T2" fmla="*/ 3 w 368"/>
                <a:gd name="T3" fmla="*/ 48 h 1392"/>
                <a:gd name="T4" fmla="*/ 78 w 368"/>
                <a:gd name="T5" fmla="*/ 96 h 1392"/>
                <a:gd name="T6" fmla="*/ 22 w 368"/>
                <a:gd name="T7" fmla="*/ 144 h 1392"/>
                <a:gd name="T8" fmla="*/ 97 w 368"/>
                <a:gd name="T9" fmla="*/ 192 h 1392"/>
                <a:gd name="T10" fmla="*/ 41 w 368"/>
                <a:gd name="T11" fmla="*/ 240 h 1392"/>
                <a:gd name="T12" fmla="*/ 116 w 368"/>
                <a:gd name="T13" fmla="*/ 288 h 1392"/>
                <a:gd name="T14" fmla="*/ 41 w 368"/>
                <a:gd name="T15" fmla="*/ 320 h 1392"/>
                <a:gd name="T16" fmla="*/ 135 w 368"/>
                <a:gd name="T17" fmla="*/ 368 h 1392"/>
                <a:gd name="T18" fmla="*/ 97 w 368"/>
                <a:gd name="T19" fmla="*/ 416 h 1392"/>
                <a:gd name="T20" fmla="*/ 116 w 368"/>
                <a:gd name="T21" fmla="*/ 464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7149" name="Line 36"/>
            <p:cNvSpPr>
              <a:spLocks noChangeShapeType="1"/>
            </p:cNvSpPr>
            <p:nvPr/>
          </p:nvSpPr>
          <p:spPr bwMode="auto">
            <a:xfrm rot="-1080000">
              <a:off x="3832" y="2360"/>
              <a:ext cx="43" cy="184"/>
            </a:xfrm>
            <a:prstGeom prst="line">
              <a:avLst/>
            </a:prstGeom>
            <a:noFill/>
            <a:ln w="22225">
              <a:solidFill>
                <a:srgbClr val="808080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7129" name="Text Box 39"/>
          <p:cNvSpPr txBox="1">
            <a:spLocks noChangeAspect="1" noChangeArrowheads="1"/>
          </p:cNvSpPr>
          <p:nvPr/>
        </p:nvSpPr>
        <p:spPr bwMode="auto">
          <a:xfrm>
            <a:off x="7010401" y="3124200"/>
            <a:ext cx="303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d</a:t>
            </a:r>
          </a:p>
        </p:txBody>
      </p:sp>
      <p:sp>
        <p:nvSpPr>
          <p:cNvPr id="47130" name="Text Box 40"/>
          <p:cNvSpPr txBox="1">
            <a:spLocks noChangeAspect="1" noChangeArrowheads="1"/>
          </p:cNvSpPr>
          <p:nvPr/>
        </p:nvSpPr>
        <p:spPr bwMode="auto">
          <a:xfrm>
            <a:off x="9067801" y="2590800"/>
            <a:ext cx="493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solidFill>
                  <a:srgbClr val="16CAB9"/>
                </a:solidFill>
                <a:ea typeface="新細明體" panose="02020500000000000000" pitchFamily="18" charset="-120"/>
              </a:rPr>
              <a:t>w</a:t>
            </a:r>
          </a:p>
        </p:txBody>
      </p:sp>
      <p:sp>
        <p:nvSpPr>
          <p:cNvPr id="47131" name="Text Box 43"/>
          <p:cNvSpPr txBox="1">
            <a:spLocks noChangeArrowheads="1"/>
          </p:cNvSpPr>
          <p:nvPr/>
        </p:nvSpPr>
        <p:spPr bwMode="auto">
          <a:xfrm>
            <a:off x="8001000" y="61722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>
                <a:ea typeface="新細明體" panose="02020500000000000000" pitchFamily="18" charset="-120"/>
              </a:rPr>
              <a:t>Head</a:t>
            </a:r>
            <a:r>
              <a:rPr lang="en-US" altLang="zh-TW" baseline="-25000">
                <a:ea typeface="新細明體" panose="02020500000000000000" pitchFamily="18" charset="-120"/>
              </a:rPr>
              <a:t>i</a:t>
            </a:r>
            <a:r>
              <a:rPr lang="en-US" altLang="zh-TW">
                <a:ea typeface="新細明體" panose="02020500000000000000" pitchFamily="18" charset="-120"/>
              </a:rPr>
              <a:t>= uw</a:t>
            </a:r>
            <a:r>
              <a:rPr lang="en-US" altLang="zh-TW">
                <a:solidFill>
                  <a:srgbClr val="80D52B"/>
                </a:solidFill>
                <a:ea typeface="新細明體" panose="02020500000000000000" pitchFamily="18" charset="-120"/>
              </a:rPr>
              <a:t>v</a:t>
            </a:r>
          </a:p>
        </p:txBody>
      </p:sp>
      <p:grpSp>
        <p:nvGrpSpPr>
          <p:cNvPr id="47132" name="Group 46"/>
          <p:cNvGrpSpPr>
            <a:grpSpLocks/>
          </p:cNvGrpSpPr>
          <p:nvPr/>
        </p:nvGrpSpPr>
        <p:grpSpPr bwMode="auto">
          <a:xfrm>
            <a:off x="7562850" y="2838451"/>
            <a:ext cx="247650" cy="561975"/>
            <a:chOff x="3629" y="1936"/>
            <a:chExt cx="246" cy="608"/>
          </a:xfrm>
        </p:grpSpPr>
        <p:sp>
          <p:nvSpPr>
            <p:cNvPr id="47146" name="Freeform 47"/>
            <p:cNvSpPr>
              <a:spLocks/>
            </p:cNvSpPr>
            <p:nvPr/>
          </p:nvSpPr>
          <p:spPr bwMode="auto">
            <a:xfrm rot="-1080000">
              <a:off x="3629" y="1936"/>
              <a:ext cx="144" cy="464"/>
            </a:xfrm>
            <a:custGeom>
              <a:avLst/>
              <a:gdLst>
                <a:gd name="T0" fmla="*/ 59 w 368"/>
                <a:gd name="T1" fmla="*/ 0 h 1392"/>
                <a:gd name="T2" fmla="*/ 3 w 368"/>
                <a:gd name="T3" fmla="*/ 48 h 1392"/>
                <a:gd name="T4" fmla="*/ 78 w 368"/>
                <a:gd name="T5" fmla="*/ 96 h 1392"/>
                <a:gd name="T6" fmla="*/ 22 w 368"/>
                <a:gd name="T7" fmla="*/ 144 h 1392"/>
                <a:gd name="T8" fmla="*/ 97 w 368"/>
                <a:gd name="T9" fmla="*/ 192 h 1392"/>
                <a:gd name="T10" fmla="*/ 41 w 368"/>
                <a:gd name="T11" fmla="*/ 240 h 1392"/>
                <a:gd name="T12" fmla="*/ 116 w 368"/>
                <a:gd name="T13" fmla="*/ 288 h 1392"/>
                <a:gd name="T14" fmla="*/ 41 w 368"/>
                <a:gd name="T15" fmla="*/ 320 h 1392"/>
                <a:gd name="T16" fmla="*/ 135 w 368"/>
                <a:gd name="T17" fmla="*/ 368 h 1392"/>
                <a:gd name="T18" fmla="*/ 97 w 368"/>
                <a:gd name="T19" fmla="*/ 416 h 1392"/>
                <a:gd name="T20" fmla="*/ 116 w 368"/>
                <a:gd name="T21" fmla="*/ 464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7147" name="Line 48"/>
            <p:cNvSpPr>
              <a:spLocks noChangeShapeType="1"/>
            </p:cNvSpPr>
            <p:nvPr/>
          </p:nvSpPr>
          <p:spPr bwMode="auto">
            <a:xfrm rot="-1080000">
              <a:off x="3832" y="2360"/>
              <a:ext cx="43" cy="184"/>
            </a:xfrm>
            <a:prstGeom prst="line">
              <a:avLst/>
            </a:prstGeom>
            <a:noFill/>
            <a:ln w="22225">
              <a:solidFill>
                <a:srgbClr val="808080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47133" name="AutoShape 49"/>
          <p:cNvSpPr>
            <a:spLocks noChangeAspect="1"/>
          </p:cNvSpPr>
          <p:nvPr/>
        </p:nvSpPr>
        <p:spPr bwMode="auto">
          <a:xfrm rot="1380000">
            <a:off x="6702426" y="2147888"/>
            <a:ext cx="550863" cy="914400"/>
          </a:xfrm>
          <a:prstGeom prst="leftBrace">
            <a:avLst>
              <a:gd name="adj1" fmla="val 25007"/>
              <a:gd name="adj2" fmla="val 4952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7134" name="Text Box 50"/>
          <p:cNvSpPr txBox="1">
            <a:spLocks noChangeAspect="1" noChangeArrowheads="1"/>
          </p:cNvSpPr>
          <p:nvPr/>
        </p:nvSpPr>
        <p:spPr bwMode="auto">
          <a:xfrm>
            <a:off x="6343651" y="2200275"/>
            <a:ext cx="333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dirty="0">
                <a:ea typeface="新細明體" panose="02020500000000000000" pitchFamily="18" charset="-120"/>
              </a:rPr>
              <a:t>w</a:t>
            </a:r>
          </a:p>
        </p:txBody>
      </p:sp>
      <p:sp>
        <p:nvSpPr>
          <p:cNvPr id="47135" name="Oval 51"/>
          <p:cNvSpPr>
            <a:spLocks noChangeAspect="1" noChangeArrowheads="1"/>
          </p:cNvSpPr>
          <p:nvPr/>
        </p:nvSpPr>
        <p:spPr bwMode="auto">
          <a:xfrm>
            <a:off x="6499226" y="4833938"/>
            <a:ext cx="296863" cy="2587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grpSp>
        <p:nvGrpSpPr>
          <p:cNvPr id="47136" name="Group 58"/>
          <p:cNvGrpSpPr>
            <a:grpSpLocks noChangeAspect="1"/>
          </p:cNvGrpSpPr>
          <p:nvPr/>
        </p:nvGrpSpPr>
        <p:grpSpPr bwMode="auto">
          <a:xfrm flipH="1">
            <a:off x="6434138" y="5094288"/>
            <a:ext cx="284162" cy="914400"/>
            <a:chOff x="376" y="2304"/>
            <a:chExt cx="368" cy="1440"/>
          </a:xfrm>
        </p:grpSpPr>
        <p:sp>
          <p:nvSpPr>
            <p:cNvPr id="47144" name="Freeform 59"/>
            <p:cNvSpPr>
              <a:spLocks noChangeAspect="1"/>
            </p:cNvSpPr>
            <p:nvPr/>
          </p:nvSpPr>
          <p:spPr bwMode="auto">
            <a:xfrm>
              <a:off x="376" y="2304"/>
              <a:ext cx="368" cy="1392"/>
            </a:xfrm>
            <a:custGeom>
              <a:avLst/>
              <a:gdLst>
                <a:gd name="T0" fmla="*/ 152 w 368"/>
                <a:gd name="T1" fmla="*/ 0 h 1392"/>
                <a:gd name="T2" fmla="*/ 8 w 368"/>
                <a:gd name="T3" fmla="*/ 144 h 1392"/>
                <a:gd name="T4" fmla="*/ 200 w 368"/>
                <a:gd name="T5" fmla="*/ 288 h 1392"/>
                <a:gd name="T6" fmla="*/ 56 w 368"/>
                <a:gd name="T7" fmla="*/ 432 h 1392"/>
                <a:gd name="T8" fmla="*/ 248 w 368"/>
                <a:gd name="T9" fmla="*/ 576 h 1392"/>
                <a:gd name="T10" fmla="*/ 104 w 368"/>
                <a:gd name="T11" fmla="*/ 720 h 1392"/>
                <a:gd name="T12" fmla="*/ 296 w 368"/>
                <a:gd name="T13" fmla="*/ 864 h 1392"/>
                <a:gd name="T14" fmla="*/ 104 w 368"/>
                <a:gd name="T15" fmla="*/ 960 h 1392"/>
                <a:gd name="T16" fmla="*/ 344 w 368"/>
                <a:gd name="T17" fmla="*/ 1104 h 1392"/>
                <a:gd name="T18" fmla="*/ 248 w 368"/>
                <a:gd name="T19" fmla="*/ 1248 h 1392"/>
                <a:gd name="T20" fmla="*/ 296 w 368"/>
                <a:gd name="T21" fmla="*/ 1392 h 13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8" h="1392">
                  <a:moveTo>
                    <a:pt x="152" y="0"/>
                  </a:moveTo>
                  <a:cubicBezTo>
                    <a:pt x="76" y="48"/>
                    <a:pt x="0" y="96"/>
                    <a:pt x="8" y="144"/>
                  </a:cubicBezTo>
                  <a:cubicBezTo>
                    <a:pt x="16" y="192"/>
                    <a:pt x="192" y="240"/>
                    <a:pt x="200" y="288"/>
                  </a:cubicBezTo>
                  <a:cubicBezTo>
                    <a:pt x="208" y="336"/>
                    <a:pt x="48" y="384"/>
                    <a:pt x="56" y="432"/>
                  </a:cubicBezTo>
                  <a:cubicBezTo>
                    <a:pt x="64" y="480"/>
                    <a:pt x="240" y="528"/>
                    <a:pt x="248" y="576"/>
                  </a:cubicBezTo>
                  <a:cubicBezTo>
                    <a:pt x="256" y="624"/>
                    <a:pt x="96" y="672"/>
                    <a:pt x="104" y="720"/>
                  </a:cubicBezTo>
                  <a:cubicBezTo>
                    <a:pt x="112" y="768"/>
                    <a:pt x="296" y="824"/>
                    <a:pt x="296" y="864"/>
                  </a:cubicBezTo>
                  <a:cubicBezTo>
                    <a:pt x="296" y="904"/>
                    <a:pt x="96" y="920"/>
                    <a:pt x="104" y="960"/>
                  </a:cubicBezTo>
                  <a:cubicBezTo>
                    <a:pt x="112" y="1000"/>
                    <a:pt x="320" y="1056"/>
                    <a:pt x="344" y="1104"/>
                  </a:cubicBezTo>
                  <a:cubicBezTo>
                    <a:pt x="368" y="1152"/>
                    <a:pt x="256" y="1200"/>
                    <a:pt x="248" y="1248"/>
                  </a:cubicBezTo>
                  <a:cubicBezTo>
                    <a:pt x="240" y="1296"/>
                    <a:pt x="268" y="1344"/>
                    <a:pt x="296" y="1392"/>
                  </a:cubicBezTo>
                </a:path>
              </a:pathLst>
            </a:custGeom>
            <a:noFill/>
            <a:ln w="9525" cap="flat" cmpd="sng">
              <a:solidFill>
                <a:srgbClr val="96969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7145" name="Line 60"/>
            <p:cNvSpPr>
              <a:spLocks noChangeAspect="1" noChangeShapeType="1"/>
            </p:cNvSpPr>
            <p:nvPr/>
          </p:nvSpPr>
          <p:spPr bwMode="auto">
            <a:xfrm>
              <a:off x="648" y="3696"/>
              <a:ext cx="0" cy="48"/>
            </a:xfrm>
            <a:prstGeom prst="line">
              <a:avLst/>
            </a:prstGeom>
            <a:noFill/>
            <a:ln w="22225">
              <a:solidFill>
                <a:srgbClr val="969696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87101" name="Oval 61"/>
          <p:cNvSpPr>
            <a:spLocks noChangeAspect="1" noChangeArrowheads="1"/>
          </p:cNvSpPr>
          <p:nvPr/>
        </p:nvSpPr>
        <p:spPr bwMode="auto">
          <a:xfrm>
            <a:off x="6781801" y="3962401"/>
            <a:ext cx="296863" cy="2587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7102" name="Text Box 62"/>
          <p:cNvSpPr txBox="1">
            <a:spLocks noChangeAspect="1" noChangeArrowheads="1"/>
          </p:cNvSpPr>
          <p:nvPr/>
        </p:nvSpPr>
        <p:spPr bwMode="auto">
          <a:xfrm>
            <a:off x="6642100" y="34925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i="1" dirty="0">
                <a:ea typeface="新細明體" panose="02020500000000000000" pitchFamily="18" charset="-120"/>
              </a:rPr>
              <a:t>v</a:t>
            </a:r>
          </a:p>
        </p:txBody>
      </p:sp>
      <p:sp>
        <p:nvSpPr>
          <p:cNvPr id="87105" name="Line 65"/>
          <p:cNvSpPr>
            <a:spLocks noChangeShapeType="1"/>
          </p:cNvSpPr>
          <p:nvPr/>
        </p:nvSpPr>
        <p:spPr bwMode="auto">
          <a:xfrm>
            <a:off x="7021514" y="4202114"/>
            <a:ext cx="598487" cy="674687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87107" name="AutoShape 67"/>
          <p:cNvSpPr>
            <a:spLocks noChangeArrowheads="1"/>
          </p:cNvSpPr>
          <p:nvPr/>
        </p:nvSpPr>
        <p:spPr bwMode="auto">
          <a:xfrm>
            <a:off x="7467600" y="4876800"/>
            <a:ext cx="457200" cy="304800"/>
          </a:xfrm>
          <a:prstGeom prst="roundRect">
            <a:avLst>
              <a:gd name="adj" fmla="val 1847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7108" name="Text Box 68"/>
          <p:cNvSpPr txBox="1">
            <a:spLocks noChangeAspect="1" noChangeArrowheads="1"/>
          </p:cNvSpPr>
          <p:nvPr/>
        </p:nvSpPr>
        <p:spPr bwMode="auto">
          <a:xfrm>
            <a:off x="7315200" y="41910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i="1" dirty="0" err="1">
                <a:ea typeface="新細明體" panose="02020500000000000000" pitchFamily="18" charset="-120"/>
              </a:rPr>
              <a:t>tail</a:t>
            </a:r>
            <a:r>
              <a:rPr lang="en-US" altLang="zh-TW" i="1" baseline="-25000" dirty="0" err="1">
                <a:ea typeface="新細明體" panose="02020500000000000000" pitchFamily="18" charset="-120"/>
              </a:rPr>
              <a:t>i</a:t>
            </a:r>
            <a:endParaRPr lang="en-US" altLang="zh-TW" i="1" dirty="0">
              <a:ea typeface="新細明體" panose="02020500000000000000" pitchFamily="18" charset="-120"/>
            </a:endParaRPr>
          </a:p>
        </p:txBody>
      </p:sp>
      <p:sp useBgFill="1">
        <p:nvSpPr>
          <p:cNvPr id="87109" name="Text Box 69"/>
          <p:cNvSpPr txBox="1">
            <a:spLocks noChangeAspect="1" noChangeArrowheads="1"/>
          </p:cNvSpPr>
          <p:nvPr/>
        </p:nvSpPr>
        <p:spPr bwMode="auto">
          <a:xfrm>
            <a:off x="6362699" y="4177486"/>
            <a:ext cx="381000" cy="457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i="1" dirty="0">
                <a:ea typeface="新細明體" panose="02020500000000000000" pitchFamily="18" charset="-120"/>
              </a:rPr>
              <a:t>t</a:t>
            </a:r>
          </a:p>
        </p:txBody>
      </p:sp>
      <p:sp>
        <p:nvSpPr>
          <p:cNvPr id="47143" name="AutoShape 72"/>
          <p:cNvSpPr>
            <a:spLocks noChangeArrowheads="1"/>
          </p:cNvSpPr>
          <p:nvPr/>
        </p:nvSpPr>
        <p:spPr bwMode="auto">
          <a:xfrm>
            <a:off x="6324600" y="6008689"/>
            <a:ext cx="381000" cy="242887"/>
          </a:xfrm>
          <a:prstGeom prst="roundRect">
            <a:avLst>
              <a:gd name="adj" fmla="val 35292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398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7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7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7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27" grpId="0"/>
      <p:bldP spid="87101" grpId="0" animBg="1"/>
      <p:bldP spid="87102" grpId="0" autoUpdateAnimBg="0"/>
      <p:bldP spid="87105" grpId="0" animBg="1"/>
      <p:bldP spid="87107" grpId="0" animBg="1"/>
      <p:bldP spid="87108" grpId="0" autoUpdateAnimBg="0"/>
      <p:bldP spid="8710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Cambria Math" panose="02040503050406030204" pitchFamily="18" charset="0"/>
              </a:rPr>
              <a:t>小結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SubStepC</a:t>
            </a:r>
            <a:r>
              <a:rPr lang="zh-TW" altLang="en-US" dirty="0" smtClean="0">
                <a:latin typeface="Cambria Math" panose="02040503050406030204" pitchFamily="18" charset="0"/>
              </a:rPr>
              <a:t>工作內</a:t>
            </a:r>
            <a:r>
              <a:rPr lang="zh-TW" altLang="en-US" dirty="0">
                <a:latin typeface="Cambria Math" panose="02040503050406030204" pitchFamily="18" charset="0"/>
              </a:rPr>
              <a:t>容</a:t>
            </a:r>
            <a:r>
              <a:rPr lang="zh-TW" altLang="en-US" dirty="0" smtClean="0">
                <a:latin typeface="Cambria Math" panose="02040503050406030204" pitchFamily="18" charset="0"/>
              </a:rPr>
              <a:t>：</a:t>
            </a:r>
            <a:endParaRPr lang="en-US" altLang="zh-TW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zh-TW" altLang="en-US" dirty="0" smtClean="0">
                <a:latin typeface="Cambria Math" panose="02040503050406030204" pitchFamily="18" charset="0"/>
              </a:rPr>
              <a:t>找到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zh-TW" altLang="en-US" dirty="0" smtClean="0">
                <a:latin typeface="Cambria Math" panose="02040503050406030204" pitchFamily="18" charset="0"/>
              </a:rPr>
              <a:t>後，沿著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zh-TW" altLang="en-US" dirty="0" smtClean="0">
                <a:latin typeface="Cambria Math" panose="02040503050406030204" pitchFamily="18" charset="0"/>
              </a:rPr>
              <a:t>往下去找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zh-TW" altLang="en-US" dirty="0" smtClean="0">
                <a:latin typeface="Cambria Math" panose="02040503050406030204" pitchFamily="18" charset="0"/>
              </a:rPr>
              <a:t>，找到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zh-TW" altLang="en-US" dirty="0" smtClean="0">
                <a:latin typeface="Cambria Math" panose="02040503050406030204" pitchFamily="18" charset="0"/>
              </a:rPr>
              <a:t>後直接插入，</a:t>
            </a:r>
            <a:r>
              <a:rPr lang="en-US" altLang="zh-TW" sz="3200" i="1" dirty="0" err="1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tail</a:t>
            </a:r>
            <a:r>
              <a:rPr lang="en-US" altLang="zh-TW" sz="3200" i="1" baseline="-25000" dirty="0" err="1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zh-TW" altLang="en-US" sz="3200" i="1" baseline="-25000" dirty="0" smtClean="0">
                <a:solidFill>
                  <a:schemeClr val="tx1"/>
                </a:solidFill>
                <a:latin typeface="Cambria Math" panose="02040503050406030204" pitchFamily="18" charset="0"/>
                <a:ea typeface="新細明體" panose="02020500000000000000" pitchFamily="18" charset="-120"/>
              </a:rPr>
              <a:t>，</a:t>
            </a:r>
            <a:r>
              <a:rPr lang="zh-TW" altLang="en-US" sz="3200" i="1" dirty="0" smtClean="0">
                <a:solidFill>
                  <a:schemeClr val="tx1"/>
                </a:solidFill>
                <a:latin typeface="Cambria Math" panose="02040503050406030204" pitchFamily="18" charset="0"/>
                <a:ea typeface="新細明體" panose="02020500000000000000" pitchFamily="18" charset="-120"/>
              </a:rPr>
              <a:t>如此整個</a:t>
            </a:r>
            <a:r>
              <a:rPr lang="en-US" altLang="zh-TW" sz="3200" i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suffix(</a:t>
            </a:r>
            <a:r>
              <a:rPr lang="en-US" altLang="zh-TW" sz="3200" i="1" dirty="0" err="1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3200" i="1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zh-TW" altLang="en-US" sz="3200" i="1" dirty="0" smtClean="0">
                <a:solidFill>
                  <a:schemeClr val="tx1"/>
                </a:solidFill>
                <a:latin typeface="Cambria Math" panose="02040503050406030204" pitchFamily="18" charset="0"/>
                <a:ea typeface="新細明體" panose="02020500000000000000" pitchFamily="18" charset="-120"/>
              </a:rPr>
              <a:t>的插入就完成了</a:t>
            </a:r>
            <a:r>
              <a:rPr lang="en-US" altLang="zh-TW" sz="3200" i="1" baseline="-2500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zh-TW" altLang="en-US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。</a:t>
            </a:r>
            <a:endParaRPr lang="en-US" altLang="zh-TW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zh-TW" altLang="en-US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24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60" y="1604844"/>
            <a:ext cx="10971688" cy="513661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3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Using </a:t>
            </a:r>
            <a:r>
              <a:rPr lang="en-US" altLang="zh-TW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suffix links 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altLang="zh-TW" sz="3600" dirty="0" err="1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SubStep</a:t>
            </a:r>
            <a:r>
              <a:rPr lang="en-US" altLang="zh-TW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B</a:t>
            </a:r>
            <a:r>
              <a:rPr lang="en-US" altLang="zh-TW" sz="360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we can quickly </a:t>
            </a:r>
            <a:r>
              <a:rPr lang="en-US" altLang="zh-TW" sz="3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find where 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to insert the next suffix in our current </a:t>
            </a:r>
            <a:r>
              <a:rPr lang="en-US" altLang="zh-TW" sz="3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tree.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TW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3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We 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are not using more space than time, </a:t>
            </a:r>
            <a:r>
              <a:rPr lang="en-US" altLang="zh-TW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 </a:t>
            </a:r>
            <a:r>
              <a:rPr lang="en-US" altLang="zh-TW" sz="36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space </a:t>
            </a:r>
            <a:r>
              <a:rPr lang="en-US" altLang="zh-TW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usage is the same</a:t>
            </a:r>
            <a:r>
              <a:rPr lang="en-US" altLang="zh-TW" sz="36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TW" sz="3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By amortized analysis, the total </a:t>
            </a:r>
            <a:r>
              <a:rPr lang="en-US" altLang="zh-TW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running </a:t>
            </a:r>
            <a:r>
              <a:rPr lang="en-US" altLang="zh-TW" sz="36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time becomes </a:t>
            </a:r>
            <a:r>
              <a:rPr lang="en-US" altLang="zh-TW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linear.</a:t>
            </a:r>
          </a:p>
        </p:txBody>
      </p:sp>
    </p:spTree>
    <p:extLst>
      <p:ext uri="{BB962C8B-B14F-4D97-AF65-F5344CB8AC3E}">
        <p14:creationId xmlns:p14="http://schemas.microsoft.com/office/powerpoint/2010/main" val="781591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1504</Words>
  <Application>Microsoft Office PowerPoint</Application>
  <PresentationFormat>寬螢幕</PresentationFormat>
  <Paragraphs>342</Paragraphs>
  <Slides>37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37</vt:i4>
      </vt:variant>
    </vt:vector>
  </HeadingPairs>
  <TitlesOfParts>
    <vt:vector size="52" baseType="lpstr">
      <vt:lpstr>Liberation Sans</vt:lpstr>
      <vt:lpstr>Liberation Sans Narrow</vt:lpstr>
      <vt:lpstr>Liberation Serif</vt:lpstr>
      <vt:lpstr>微軟正黑體</vt:lpstr>
      <vt:lpstr>新細明體</vt:lpstr>
      <vt:lpstr>Arial</vt:lpstr>
      <vt:lpstr>Arial Narrow</vt:lpstr>
      <vt:lpstr>Calibri</vt:lpstr>
      <vt:lpstr>Cambria Math</vt:lpstr>
      <vt:lpstr>Mangal</vt:lpstr>
      <vt:lpstr>Symbol</vt:lpstr>
      <vt:lpstr>Tahoma</vt:lpstr>
      <vt:lpstr>Times New Roman</vt:lpstr>
      <vt:lpstr>Wingdings</vt:lpstr>
      <vt:lpstr>預設</vt:lpstr>
      <vt:lpstr>Edward M. McCreight   Journal of the Association for Computing Machinery, Vol. 23, No. 2, April 1976, pp. 262-272. (1976) </vt:lpstr>
      <vt:lpstr>Abstract</vt:lpstr>
      <vt:lpstr>Suffix Tree</vt:lpstr>
      <vt:lpstr>Suffix Tree</vt:lpstr>
      <vt:lpstr>Definitions</vt:lpstr>
      <vt:lpstr>Construction: Brute Force</vt:lpstr>
      <vt:lpstr>Analysis</vt:lpstr>
      <vt:lpstr>Algorithm M</vt:lpstr>
      <vt:lpstr>Suffix Links</vt:lpstr>
      <vt:lpstr>Suffix Links</vt:lpstr>
      <vt:lpstr>Suffix Links</vt:lpstr>
      <vt:lpstr>Another terminology</vt:lpstr>
      <vt:lpstr>Locus</vt:lpstr>
      <vt:lpstr>Extended Locus</vt:lpstr>
      <vt:lpstr>Contracted Locus</vt:lpstr>
      <vt:lpstr>Lemma</vt:lpstr>
      <vt:lpstr>Algorithm M</vt:lpstr>
      <vt:lpstr>Algorithm M</vt:lpstr>
      <vt:lpstr>Algorithm M</vt:lpstr>
      <vt:lpstr>Algorithm M</vt:lpstr>
      <vt:lpstr>Algorithm M</vt:lpstr>
      <vt:lpstr>Algorithm M</vt:lpstr>
      <vt:lpstr>SubStep A</vt:lpstr>
      <vt:lpstr>SubStep A</vt:lpstr>
      <vt:lpstr>SubStep A</vt:lpstr>
      <vt:lpstr>SubStep A</vt:lpstr>
      <vt:lpstr>SubStep A</vt:lpstr>
      <vt:lpstr>SubStep A</vt:lpstr>
      <vt:lpstr>小結1</vt:lpstr>
      <vt:lpstr>SubStep B: Rescanning</vt:lpstr>
      <vt:lpstr>SubStep B: Rescanning</vt:lpstr>
      <vt:lpstr>SubStep B:ReScanning</vt:lpstr>
      <vt:lpstr>小結2</vt:lpstr>
      <vt:lpstr>SubStep C - Scanning</vt:lpstr>
      <vt:lpstr>SubStep C: Scanning</vt:lpstr>
      <vt:lpstr>小結3</vt:lpstr>
      <vt:lpstr>Analysis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Communications of the ACM June 1975 Volume 18 Number 6 D.S. Hirschberg Princeton University</dc:title>
  <dc:creator>賴駿豪</dc:creator>
  <cp:lastModifiedBy>pplab-class</cp:lastModifiedBy>
  <cp:revision>53</cp:revision>
  <dcterms:created xsi:type="dcterms:W3CDTF">2015-11-23T19:54:05Z</dcterms:created>
  <dcterms:modified xsi:type="dcterms:W3CDTF">2015-11-24T10:39:06Z</dcterms:modified>
</cp:coreProperties>
</file>