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87" r:id="rId5"/>
    <p:sldId id="288" r:id="rId6"/>
    <p:sldId id="260" r:id="rId7"/>
    <p:sldId id="259" r:id="rId8"/>
    <p:sldId id="289" r:id="rId9"/>
    <p:sldId id="292" r:id="rId10"/>
    <p:sldId id="290" r:id="rId11"/>
    <p:sldId id="291" r:id="rId12"/>
    <p:sldId id="294" r:id="rId13"/>
    <p:sldId id="296" r:id="rId14"/>
    <p:sldId id="297" r:id="rId15"/>
    <p:sldId id="298" r:id="rId16"/>
    <p:sldId id="299" r:id="rId17"/>
    <p:sldId id="300" r:id="rId18"/>
    <p:sldId id="302"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中等深淺樣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03" autoAdjust="0"/>
    <p:restoredTop sz="94660"/>
  </p:normalViewPr>
  <p:slideViewPr>
    <p:cSldViewPr snapToGrid="0">
      <p:cViewPr varScale="1">
        <p:scale>
          <a:sx n="100" d="100"/>
          <a:sy n="100" d="100"/>
        </p:scale>
        <p:origin x="90"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78676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615088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319045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39354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371187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060125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01649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819419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2618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4123520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C465F44-F807-4518-89E2-C811281CE334}" type="datetimeFigureOut">
              <a:rPr lang="zh-TW" altLang="en-US" smtClean="0"/>
              <a:t>2015/8/11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00096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465F44-F807-4518-89E2-C811281CE334}" type="datetimeFigureOut">
              <a:rPr lang="zh-TW" altLang="en-US" smtClean="0"/>
              <a:t>2015/8/11</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8030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608013" y="1571631"/>
            <a:ext cx="7772400" cy="1470025"/>
          </a:xfrm>
          <a:prstGeom prst="rect">
            <a:avLst/>
          </a:prstGeom>
        </p:spPr>
        <p:txBody>
          <a:bodyPr anchor="ctr">
            <a:normAutofit fontScale="8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TW" b="1" dirty="0" smtClean="0"/>
              <a:t>An Efficient Parallel Algorithm for Longest Common Subsequence Problem on GPUs</a:t>
            </a:r>
            <a:endParaRPr lang="zh-TW" altLang="en-US" dirty="0">
              <a:latin typeface="Arial Unicode MS" pitchFamily="34" charset="-120"/>
              <a:ea typeface="Arial Unicode MS" pitchFamily="34" charset="-120"/>
              <a:cs typeface="Arial Unicode MS" pitchFamily="34" charset="-120"/>
            </a:endParaRPr>
          </a:p>
        </p:txBody>
      </p:sp>
      <p:sp>
        <p:nvSpPr>
          <p:cNvPr id="5" name="副標題 2"/>
          <p:cNvSpPr txBox="1">
            <a:spLocks/>
          </p:cNvSpPr>
          <p:nvPr/>
        </p:nvSpPr>
        <p:spPr>
          <a:xfrm>
            <a:off x="1406525" y="3019431"/>
            <a:ext cx="6400800" cy="4794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TW" sz="3100" dirty="0" err="1" smtClean="0"/>
              <a:t>Jiaoyun</a:t>
            </a:r>
            <a:r>
              <a:rPr lang="en-US" altLang="zh-TW" sz="3100" dirty="0" smtClean="0"/>
              <a:t> Yang, Yun Xu, Yi Shang</a:t>
            </a:r>
            <a:endParaRPr lang="en-US" altLang="zh-TW" sz="3100" dirty="0"/>
          </a:p>
        </p:txBody>
      </p:sp>
      <p:graphicFrame>
        <p:nvGraphicFramePr>
          <p:cNvPr id="6" name="表格 5"/>
          <p:cNvGraphicFramePr>
            <a:graphicFrameLocks noGrp="1"/>
          </p:cNvGraphicFramePr>
          <p:nvPr>
            <p:extLst>
              <p:ext uri="{D42A27DB-BD31-4B8C-83A1-F6EECF244321}">
                <p14:modId xmlns:p14="http://schemas.microsoft.com/office/powerpoint/2010/main" val="2757262437"/>
              </p:ext>
            </p:extLst>
          </p:nvPr>
        </p:nvGraphicFramePr>
        <p:xfrm>
          <a:off x="2843217" y="3581403"/>
          <a:ext cx="3816351" cy="1220788"/>
        </p:xfrm>
        <a:graphic>
          <a:graphicData uri="http://schemas.openxmlformats.org/drawingml/2006/table">
            <a:tbl>
              <a:tblPr/>
              <a:tblGrid>
                <a:gridCol w="3816351"/>
              </a:tblGrid>
              <a:tr h="567543">
                <a:tc>
                  <a:txBody>
                    <a:bodyPr/>
                    <a:lstStyle/>
                    <a:p>
                      <a:pPr algn="just"/>
                      <a:r>
                        <a:rPr lang="en-US" altLang="zh-TW" sz="1600" kern="1200" dirty="0" smtClean="0">
                          <a:solidFill>
                            <a:schemeClr val="tx1"/>
                          </a:solidFill>
                          <a:effectLst/>
                          <a:latin typeface="Verdana" panose="020B0604030504040204" pitchFamily="34" charset="0"/>
                          <a:ea typeface="+mn-ea"/>
                          <a:cs typeface="+mn-cs"/>
                        </a:rPr>
                        <a:t>Proceedings of The World Congress on Engineering</a:t>
                      </a:r>
                      <a:endParaRPr lang="zh-TW" altLang="en-US" sz="1600" kern="1200" dirty="0">
                        <a:solidFill>
                          <a:schemeClr val="tx1"/>
                        </a:solidFill>
                        <a:effectLst/>
                        <a:latin typeface="Verdana" panose="020B0604030504040204" pitchFamily="34" charset="0"/>
                        <a:ea typeface="+mn-ea"/>
                        <a:cs typeface="+mn-cs"/>
                      </a:endParaRPr>
                    </a:p>
                  </a:txBody>
                  <a:tcPr marL="95251" marR="9525" marT="9523" marB="9523">
                    <a:lnL>
                      <a:noFill/>
                    </a:lnL>
                    <a:lnR>
                      <a:noFill/>
                    </a:lnR>
                    <a:lnT>
                      <a:noFill/>
                    </a:lnT>
                    <a:lnB>
                      <a:noFill/>
                    </a:lnB>
                    <a:solidFill>
                      <a:srgbClr val="FFFFFF"/>
                    </a:solidFill>
                  </a:tcPr>
                </a:tc>
              </a:tr>
              <a:tr h="65324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TW" sz="1600" kern="1200" dirty="0" smtClean="0">
                          <a:solidFill>
                            <a:schemeClr val="tx1"/>
                          </a:solidFill>
                          <a:effectLst/>
                          <a:latin typeface="Verdana" panose="020B0604030504040204" pitchFamily="34" charset="0"/>
                          <a:ea typeface="+mn-ea"/>
                          <a:cs typeface="+mn-cs"/>
                        </a:rPr>
                        <a:t>pp. 499-504 (2010)</a:t>
                      </a:r>
                      <a:endParaRPr lang="zh-TW" altLang="en-US" sz="1600" kern="1200" dirty="0" smtClean="0">
                        <a:solidFill>
                          <a:schemeClr val="tx1"/>
                        </a:solidFill>
                        <a:effectLst/>
                        <a:latin typeface="Verdana" panose="020B0604030504040204" pitchFamily="34" charset="0"/>
                        <a:ea typeface="+mn-ea"/>
                        <a:cs typeface="+mn-cs"/>
                      </a:endParaRPr>
                    </a:p>
                    <a:p>
                      <a:pPr algn="just"/>
                      <a:endParaRPr lang="zh-TW" altLang="en-US" sz="1600" kern="1200" dirty="0">
                        <a:solidFill>
                          <a:schemeClr val="tx1"/>
                        </a:solidFill>
                        <a:effectLst/>
                        <a:latin typeface="Verdana" panose="020B0604030504040204" pitchFamily="34" charset="0"/>
                        <a:ea typeface="+mn-ea"/>
                        <a:cs typeface="+mn-cs"/>
                      </a:endParaRPr>
                    </a:p>
                  </a:txBody>
                  <a:tcPr marL="95251"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3132144" y="5229230"/>
            <a:ext cx="3248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dirty="0"/>
              <a:t>Presenter:  </a:t>
            </a:r>
            <a:r>
              <a:rPr lang="en-US" altLang="zh-TW" sz="1800" dirty="0" smtClean="0"/>
              <a:t>Bi-</a:t>
            </a:r>
            <a:r>
              <a:rPr lang="en-US" altLang="zh-TW" sz="1800" dirty="0" err="1" smtClean="0"/>
              <a:t>Shiang</a:t>
            </a:r>
            <a:r>
              <a:rPr lang="en-US" altLang="zh-TW" sz="1800" dirty="0" smtClean="0"/>
              <a:t> Lin</a:t>
            </a:r>
            <a:endParaRPr lang="en-US" altLang="zh-TW" sz="1800" dirty="0"/>
          </a:p>
          <a:p>
            <a:pPr eaLnBrk="1" hangingPunct="1">
              <a:spcBef>
                <a:spcPct val="0"/>
              </a:spcBef>
              <a:buFontTx/>
              <a:buNone/>
            </a:pPr>
            <a:r>
              <a:rPr lang="en-US" altLang="zh-TW" sz="1800" dirty="0"/>
              <a:t>Date:</a:t>
            </a:r>
            <a:fld id="{F3590F60-3E7B-48AD-979A-345F224951B5}" type="datetime1">
              <a:rPr lang="zh-TW" altLang="en-US" sz="1800"/>
              <a:pPr eaLnBrk="1" hangingPunct="1">
                <a:spcBef>
                  <a:spcPct val="0"/>
                </a:spcBef>
                <a:buFontTx/>
                <a:buNone/>
              </a:pPr>
              <a:t>2015/8/11</a:t>
            </a:fld>
            <a:endParaRPr lang="zh-TW" altLang="en-US" sz="1800" dirty="0"/>
          </a:p>
        </p:txBody>
      </p:sp>
    </p:spTree>
    <p:extLst>
      <p:ext uri="{BB962C8B-B14F-4D97-AF65-F5344CB8AC3E}">
        <p14:creationId xmlns:p14="http://schemas.microsoft.com/office/powerpoint/2010/main" val="1494669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ea typeface="KaiTi" panose="02010609060101010101" pitchFamily="49" charset="-122"/>
                <a:cs typeface="Times New Roman" panose="02020603050405020304" pitchFamily="18" charset="0"/>
              </a:rPr>
              <a:t>Abstract(1/4</a:t>
            </a: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3" name="內容版面配置區 2"/>
          <p:cNvSpPr>
            <a:spLocks noGrp="1"/>
          </p:cNvSpPr>
          <p:nvPr>
            <p:ph idx="1"/>
          </p:nvPr>
        </p:nvSpPr>
        <p:spPr/>
        <p:txBody>
          <a:bodyPr>
            <a:noAutofit/>
          </a:bodyPr>
          <a:lstStyle/>
          <a:p>
            <a:pPr marL="0" indent="0" algn="just">
              <a:lnSpc>
                <a:spcPct val="110000"/>
              </a:lnSpc>
              <a:buNone/>
            </a:pPr>
            <a:r>
              <a:rPr lang="en-US" altLang="zh-TW" dirty="0" smtClean="0">
                <a:latin typeface="Times New Roman" panose="02020603050405020304" pitchFamily="18" charset="0"/>
                <a:cs typeface="Times New Roman" panose="02020603050405020304" pitchFamily="18" charset="0"/>
              </a:rPr>
              <a:t>Sequence </a:t>
            </a:r>
            <a:r>
              <a:rPr lang="en-US" altLang="zh-TW" dirty="0">
                <a:latin typeface="Times New Roman" panose="02020603050405020304" pitchFamily="18" charset="0"/>
                <a:cs typeface="Times New Roman" panose="02020603050405020304" pitchFamily="18" charset="0"/>
              </a:rPr>
              <a:t>alignment is an important problem in computational biology and finding the longest common subsequence (LCS) of multiple biological sequences is an essential and effective technique in sequence alignment. A major computational approach for solving the LCS problem is dynamic programming. Several dynamic programming methods have been proposed to have reduced time and space </a:t>
            </a:r>
            <a:r>
              <a:rPr lang="en-US" altLang="zh-TW" dirty="0" smtClean="0">
                <a:latin typeface="Times New Roman" panose="02020603050405020304" pitchFamily="18" charset="0"/>
                <a:cs typeface="Times New Roman" panose="02020603050405020304" pitchFamily="18" charset="0"/>
              </a:rPr>
              <a:t>complexity.</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5597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Abstract(2/4</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Autofit/>
          </a:bodyPr>
          <a:lstStyle/>
          <a:p>
            <a:pPr marL="0" indent="0" algn="just">
              <a:lnSpc>
                <a:spcPct val="110000"/>
              </a:lnSpc>
              <a:buNone/>
            </a:pPr>
            <a:r>
              <a:rPr lang="en-US" altLang="zh-TW" dirty="0">
                <a:latin typeface="Times New Roman" panose="02020603050405020304" pitchFamily="18" charset="0"/>
                <a:cs typeface="Times New Roman" panose="02020603050405020304" pitchFamily="18" charset="0"/>
              </a:rPr>
              <a:t>As databases of biological sequences become larger, parallel algorithms become increasingly important to tackle large size problems. In the meantime, general-purpose computing on graphics processing units (GPGPU) has emerged as a promising technology for cost-effective high performance computing.</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117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ea typeface="KaiTi" panose="02010609060101010101" pitchFamily="49" charset="-122"/>
                <a:cs typeface="Times New Roman" panose="02020603050405020304" pitchFamily="18" charset="0"/>
              </a:rPr>
              <a:t>Abstract(3/4</a:t>
            </a: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t>
            </a:r>
            <a:endParaRPr lang="zh-TW" altLang="en-US" dirty="0"/>
          </a:p>
        </p:txBody>
      </p:sp>
      <p:sp>
        <p:nvSpPr>
          <p:cNvPr id="3" name="內容版面配置區 2"/>
          <p:cNvSpPr>
            <a:spLocks noGrp="1"/>
          </p:cNvSpPr>
          <p:nvPr>
            <p:ph idx="1"/>
          </p:nvPr>
        </p:nvSpPr>
        <p:spPr/>
        <p:txBody>
          <a:bodyPr>
            <a:normAutofit/>
          </a:bodyPr>
          <a:lstStyle/>
          <a:p>
            <a:pPr marL="0" indent="0" algn="just">
              <a:lnSpc>
                <a:spcPct val="110000"/>
              </a:lnSpc>
              <a:buNone/>
            </a:pPr>
            <a:r>
              <a:rPr lang="en-US" altLang="zh-TW" dirty="0">
                <a:latin typeface="Times New Roman" panose="02020603050405020304" pitchFamily="18" charset="0"/>
                <a:cs typeface="Times New Roman" panose="02020603050405020304" pitchFamily="18" charset="0"/>
              </a:rPr>
              <a:t>In this paper, we develop an efficient parallel algorithm on GPUs for the LCS problem. We propose a new technique that changes the data dependency in the score table used by dynamic programming algorithms to enable higher degrees of parallelism. The algorithm takes advantage of the large number of processing units and the unique memory-accessing properties of GPUs to achieve high performance.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966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ea typeface="KaiTi" panose="02010609060101010101" pitchFamily="49" charset="-122"/>
                <a:cs typeface="Times New Roman" panose="02020603050405020304" pitchFamily="18" charset="0"/>
              </a:rPr>
              <a:t>Abstract(4/4</a:t>
            </a: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t>
            </a:r>
            <a:endParaRPr lang="zh-TW" altLang="en-US" dirty="0"/>
          </a:p>
        </p:txBody>
      </p:sp>
      <p:sp>
        <p:nvSpPr>
          <p:cNvPr id="3" name="內容版面配置區 2"/>
          <p:cNvSpPr>
            <a:spLocks noGrp="1"/>
          </p:cNvSpPr>
          <p:nvPr>
            <p:ph idx="1"/>
          </p:nvPr>
        </p:nvSpPr>
        <p:spPr/>
        <p:txBody>
          <a:bodyPr>
            <a:normAutofit/>
          </a:bodyPr>
          <a:lstStyle/>
          <a:p>
            <a:pPr marL="0" indent="0" algn="just">
              <a:lnSpc>
                <a:spcPct val="110000"/>
              </a:lnSpc>
              <a:buNone/>
            </a:pPr>
            <a:r>
              <a:rPr lang="en-US" altLang="zh-TW" dirty="0">
                <a:latin typeface="Times New Roman" panose="02020603050405020304" pitchFamily="18" charset="0"/>
                <a:cs typeface="Times New Roman" panose="02020603050405020304" pitchFamily="18" charset="0"/>
              </a:rPr>
              <a:t>The algorithm was implemented on </a:t>
            </a:r>
            <a:r>
              <a:rPr lang="en-US" altLang="zh-TW" dirty="0" err="1">
                <a:latin typeface="Times New Roman" panose="02020603050405020304" pitchFamily="18" charset="0"/>
                <a:cs typeface="Times New Roman" panose="02020603050405020304" pitchFamily="18" charset="0"/>
              </a:rPr>
              <a:t>Nvidia</a:t>
            </a:r>
            <a:r>
              <a:rPr lang="en-US" altLang="zh-TW" dirty="0">
                <a:latin typeface="Times New Roman" panose="02020603050405020304" pitchFamily="18" charset="0"/>
                <a:cs typeface="Times New Roman" panose="02020603050405020304" pitchFamily="18" charset="0"/>
              </a:rPr>
              <a:t> 9800GT GPUs and tested on randomly generated sequences of different lengths. The experiment results show that the new algorithm is about 6 times faster on GPUs than on typical CPUs and is 3 times faster than an existing efficient parallel algorithm, the diagonal parallel algorithm</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3358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The</a:t>
            </a:r>
            <a:r>
              <a:rPr lang="en-US" altLang="zh-TW" dirty="0" smtClean="0">
                <a:latin typeface="Times New Roman" panose="02020603050405020304" pitchFamily="18" charset="0"/>
                <a:cs typeface="Times New Roman" panose="02020603050405020304" pitchFamily="18" charset="0"/>
              </a:rPr>
              <a:t> </a:t>
            </a:r>
            <a:r>
              <a:rPr lang="en-US" altLang="zh-TW" sz="4000" dirty="0" smtClean="0">
                <a:latin typeface="Times New Roman" panose="02020603050405020304" pitchFamily="18" charset="0"/>
                <a:cs typeface="Times New Roman" panose="02020603050405020304" pitchFamily="18" charset="0"/>
              </a:rPr>
              <a:t>LCS</a:t>
            </a:r>
            <a:r>
              <a:rPr lang="en-US" altLang="zh-TW" dirty="0" smtClean="0">
                <a:latin typeface="Times New Roman" panose="02020603050405020304" pitchFamily="18" charset="0"/>
                <a:cs typeface="Times New Roman" panose="02020603050405020304" pitchFamily="18" charset="0"/>
              </a:rPr>
              <a:t> Problem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solidFill>
                      <a:schemeClr val="tx1"/>
                    </a:solidFill>
                    <a:latin typeface="Times New Roman" panose="02020603050405020304" pitchFamily="18" charset="0"/>
                    <a:cs typeface="Times New Roman" panose="02020603050405020304" pitchFamily="18" charset="0"/>
                  </a:rPr>
                  <a:t>Sequence </a:t>
                </a:r>
                <a14:m>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𝑋</m:t>
                    </m:r>
                  </m:oMath>
                </a14:m>
                <a:r>
                  <a:rPr lang="en-US" altLang="zh-TW" dirty="0" smtClean="0">
                    <a:solidFill>
                      <a:schemeClr val="tx1"/>
                    </a:solidFill>
                    <a:latin typeface="Times New Roman" panose="02020603050405020304" pitchFamily="18" charset="0"/>
                    <a:cs typeface="Times New Roman" panose="02020603050405020304" pitchFamily="18" charset="0"/>
                  </a:rPr>
                  <a:t>: ATTGCCA</a:t>
                </a:r>
              </a:p>
              <a:p>
                <a:pPr marL="0" indent="0">
                  <a:buNone/>
                </a:pPr>
                <a:r>
                  <a:rPr lang="en-US" altLang="zh-TW" dirty="0" smtClean="0">
                    <a:solidFill>
                      <a:schemeClr val="tx1"/>
                    </a:solidFill>
                    <a:latin typeface="Times New Roman" panose="02020603050405020304" pitchFamily="18" charset="0"/>
                    <a:cs typeface="Times New Roman" panose="02020603050405020304" pitchFamily="18" charset="0"/>
                  </a:rPr>
                  <a:t>Sequence </a:t>
                </a:r>
                <a14:m>
                  <m:oMath xmlns:m="http://schemas.openxmlformats.org/officeDocument/2006/math">
                    <m:r>
                      <a:rPr lang="en-US" altLang="zh-TW" b="0" i="1" smtClean="0">
                        <a:solidFill>
                          <a:schemeClr val="tx1"/>
                        </a:solidFill>
                        <a:latin typeface="Cambria Math" panose="02040503050406030204" pitchFamily="18" charset="0"/>
                        <a:cs typeface="Times New Roman" panose="02020603050405020304" pitchFamily="18" charset="0"/>
                      </a:rPr>
                      <m:t>𝑌</m:t>
                    </m:r>
                  </m:oMath>
                </a14:m>
                <a:r>
                  <a:rPr lang="en-US" altLang="zh-TW" dirty="0" smtClean="0">
                    <a:solidFill>
                      <a:schemeClr val="tx1"/>
                    </a:solidFill>
                    <a:latin typeface="Times New Roman" panose="02020603050405020304" pitchFamily="18" charset="0"/>
                    <a:cs typeface="Times New Roman" panose="02020603050405020304" pitchFamily="18" charset="0"/>
                  </a:rPr>
                  <a:t>: TAGAC</a:t>
                </a:r>
              </a:p>
              <a:p>
                <a:pPr marL="0" indent="0">
                  <a:buNone/>
                </a:pPr>
                <a:r>
                  <a:rPr lang="en-US" altLang="zh-TW" dirty="0" smtClean="0">
                    <a:latin typeface="Times New Roman" panose="02020603050405020304" pitchFamily="18" charset="0"/>
                    <a:cs typeface="Times New Roman" panose="02020603050405020304" pitchFamily="18" charset="0"/>
                  </a:rPr>
                  <a:t>Common Subsequence : TA</a:t>
                </a:r>
                <a:r>
                  <a:rPr lang="zh-TW" altLang="en-US" dirty="0" smtClean="0">
                    <a:latin typeface="Times New Roman" panose="02020603050405020304" pitchFamily="18" charset="0"/>
                    <a:cs typeface="Times New Roman" panose="02020603050405020304" pitchFamily="18" charset="0"/>
                  </a:rPr>
                  <a:t>、</a:t>
                </a:r>
                <a:r>
                  <a:rPr lang="en-US" altLang="zh-TW" dirty="0" smtClean="0">
                    <a:latin typeface="Times New Roman" panose="02020603050405020304" pitchFamily="18" charset="0"/>
                    <a:cs typeface="Times New Roman" panose="02020603050405020304" pitchFamily="18" charset="0"/>
                  </a:rPr>
                  <a:t>TGC</a:t>
                </a:r>
                <a:r>
                  <a:rPr lang="zh-TW" altLang="en-US" dirty="0" smtClean="0">
                    <a:latin typeface="Times New Roman" panose="02020603050405020304" pitchFamily="18" charset="0"/>
                    <a:cs typeface="Times New Roman" panose="02020603050405020304" pitchFamily="18" charset="0"/>
                  </a:rPr>
                  <a:t>、</a:t>
                </a:r>
                <a:r>
                  <a:rPr lang="en-US" altLang="zh-TW" dirty="0" smtClean="0">
                    <a:latin typeface="Times New Roman" panose="02020603050405020304" pitchFamily="18" charset="0"/>
                    <a:cs typeface="Times New Roman" panose="02020603050405020304" pitchFamily="18" charset="0"/>
                  </a:rPr>
                  <a:t>AC …</a:t>
                </a:r>
              </a:p>
              <a:p>
                <a:pPr marL="0" indent="0">
                  <a:buNone/>
                </a:pPr>
                <a:r>
                  <a:rPr lang="en-US" altLang="zh-TW" dirty="0" smtClean="0">
                    <a:solidFill>
                      <a:schemeClr val="tx1"/>
                    </a:solidFill>
                    <a:latin typeface="Times New Roman" panose="02020603050405020304" pitchFamily="18" charset="0"/>
                    <a:cs typeface="Times New Roman" panose="02020603050405020304" pitchFamily="18" charset="0"/>
                  </a:rPr>
                  <a:t>Longest Common Subsequence : AGC</a:t>
                </a:r>
                <a:r>
                  <a:rPr lang="zh-TW" altLang="en-US" dirty="0" smtClean="0">
                    <a:latin typeface="Times New Roman" panose="02020603050405020304" pitchFamily="18" charset="0"/>
                    <a:cs typeface="Times New Roman" panose="02020603050405020304" pitchFamily="18" charset="0"/>
                  </a:rPr>
                  <a:t>、</a:t>
                </a:r>
                <a:r>
                  <a:rPr lang="en-US" altLang="zh-TW" dirty="0" smtClean="0">
                    <a:latin typeface="Times New Roman" panose="02020603050405020304" pitchFamily="18" charset="0"/>
                    <a:cs typeface="Times New Roman" panose="02020603050405020304" pitchFamily="18" charset="0"/>
                  </a:rPr>
                  <a:t>TGA</a:t>
                </a:r>
                <a:r>
                  <a:rPr lang="zh-TW" altLang="en-US"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338937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4000" dirty="0" smtClean="0">
                <a:latin typeface="Times New Roman" panose="02020603050405020304" pitchFamily="18" charset="0"/>
                <a:cs typeface="Times New Roman" panose="02020603050405020304" pitchFamily="18" charset="0"/>
              </a:rPr>
              <a:t>Method</a:t>
            </a:r>
            <a:r>
              <a:rPr lang="en-US" altLang="zh-TW" dirty="0" smtClean="0">
                <a:latin typeface="Times New Roman" panose="02020603050405020304" pitchFamily="18" charset="0"/>
                <a:cs typeface="Times New Roman" panose="02020603050405020304" pitchFamily="18" charset="0"/>
              </a:rPr>
              <a:t> : Dynamic Programming</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Sequence </a:t>
                </a:r>
                <a14:m>
                  <m:oMath xmlns:m="http://schemas.openxmlformats.org/officeDocument/2006/math">
                    <m:r>
                      <a:rPr lang="en-US" altLang="zh-TW" i="1">
                        <a:latin typeface="Cambria Math" panose="02040503050406030204" pitchFamily="18" charset="0"/>
                        <a:cs typeface="Times New Roman" panose="02020603050405020304" pitchFamily="18" charset="0"/>
                      </a:rPr>
                      <m:t>𝑋</m:t>
                    </m:r>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ATTGCCA</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Sequence </a:t>
                </a:r>
                <a14:m>
                  <m:oMath xmlns:m="http://schemas.openxmlformats.org/officeDocument/2006/math">
                    <m:r>
                      <a:rPr lang="en-US" altLang="zh-TW" i="1">
                        <a:latin typeface="Cambria Math" panose="02040503050406030204" pitchFamily="18" charset="0"/>
                        <a:cs typeface="Times New Roman" panose="02020603050405020304" pitchFamily="18" charset="0"/>
                      </a:rPr>
                      <m:t>𝑌</m:t>
                    </m:r>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TAGAC</a:t>
                </a:r>
              </a:p>
              <a:p>
                <a:pPr marL="0" indent="0">
                  <a:buNone/>
                </a:pPr>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381"/>
                </a:stretch>
              </a:blipFill>
            </p:spPr>
            <p:txBody>
              <a:bodyPr/>
              <a:lstStyle/>
              <a:p>
                <a:r>
                  <a:rPr lang="zh-TW"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8760580"/>
              </p:ext>
            </p:extLst>
          </p:nvPr>
        </p:nvGraphicFramePr>
        <p:xfrm>
          <a:off x="1181097" y="2969892"/>
          <a:ext cx="6858000" cy="3354708"/>
        </p:xfrm>
        <a:graphic>
          <a:graphicData uri="http://schemas.openxmlformats.org/drawingml/2006/table">
            <a:tbl>
              <a:tblPr firstRow="1" bandRow="1">
                <a:tableStyleId>{5940675A-B579-460E-94D1-54222C63F5DA}</a:tableStyleId>
              </a:tblPr>
              <a:tblGrid>
                <a:gridCol w="762000"/>
                <a:gridCol w="762000"/>
                <a:gridCol w="762000"/>
                <a:gridCol w="762000"/>
                <a:gridCol w="762000"/>
                <a:gridCol w="762000"/>
                <a:gridCol w="762000"/>
                <a:gridCol w="762000"/>
                <a:gridCol w="762000"/>
              </a:tblGrid>
              <a:tr h="47924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G</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tc>
              </a:tr>
              <a:tr h="47924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r>
              <a:tr h="479244">
                <a:tc>
                  <a:txBody>
                    <a:bodyPr/>
                    <a:lstStyle/>
                    <a:p>
                      <a:pPr algn="ctr"/>
                      <a:r>
                        <a:rPr lang="en-US" altLang="zh-TW" sz="2400" dirty="0" smtClean="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r>
              <a:tr h="479244">
                <a:tc>
                  <a:txBody>
                    <a:bodyPr/>
                    <a:lstStyle/>
                    <a:p>
                      <a:pPr algn="ctr"/>
                      <a:r>
                        <a:rPr lang="en-US" altLang="zh-TW" sz="2400" dirty="0" smtClean="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r>
              <a:tr h="479244">
                <a:tc>
                  <a:txBody>
                    <a:bodyPr/>
                    <a:lstStyle/>
                    <a:p>
                      <a:pPr algn="ctr"/>
                      <a:r>
                        <a:rPr lang="en-US" altLang="zh-TW" sz="2400" dirty="0" smtClean="0">
                          <a:latin typeface="Times New Roman" panose="02020603050405020304" pitchFamily="18" charset="0"/>
                          <a:cs typeface="Times New Roman" panose="02020603050405020304" pitchFamily="18" charset="0"/>
                        </a:rPr>
                        <a:t>G</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r>
              <a:tr h="479244">
                <a:tc>
                  <a:txBody>
                    <a:bodyPr/>
                    <a:lstStyle/>
                    <a:p>
                      <a:pPr algn="ctr"/>
                      <a:r>
                        <a:rPr lang="en-US" altLang="zh-TW" sz="2400" dirty="0" smtClean="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r>
              <a:tr h="479244">
                <a:tc>
                  <a:txBody>
                    <a:bodyPr/>
                    <a:lstStyle/>
                    <a:p>
                      <a:pPr algn="ctr"/>
                      <a:r>
                        <a:rPr lang="en-US" altLang="zh-TW" sz="2400" dirty="0" smtClean="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r>
            </a:tbl>
          </a:graphicData>
        </a:graphic>
      </p:graphicFrame>
      <p:cxnSp>
        <p:nvCxnSpPr>
          <p:cNvPr id="6" name="直線單箭頭接點 5"/>
          <p:cNvCxnSpPr/>
          <p:nvPr/>
        </p:nvCxnSpPr>
        <p:spPr>
          <a:xfrm flipH="1" flipV="1">
            <a:off x="3276600" y="3800475"/>
            <a:ext cx="381000" cy="238125"/>
          </a:xfrm>
          <a:prstGeom prst="straightConnector1">
            <a:avLst/>
          </a:prstGeom>
          <a:ln w="2540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4" name="直線單箭頭接點 13"/>
          <p:cNvCxnSpPr/>
          <p:nvPr/>
        </p:nvCxnSpPr>
        <p:spPr>
          <a:xfrm flipH="1" flipV="1">
            <a:off x="6334125" y="5734050"/>
            <a:ext cx="381000" cy="238125"/>
          </a:xfrm>
          <a:prstGeom prst="straightConnector1">
            <a:avLst/>
          </a:prstGeom>
          <a:ln w="2540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5" name="直線單箭頭接點 14"/>
          <p:cNvCxnSpPr/>
          <p:nvPr/>
        </p:nvCxnSpPr>
        <p:spPr>
          <a:xfrm flipH="1" flipV="1">
            <a:off x="5353050" y="5238750"/>
            <a:ext cx="9526" cy="219077"/>
          </a:xfrm>
          <a:prstGeom prst="straightConnector1">
            <a:avLst/>
          </a:prstGeom>
          <a:ln w="25400">
            <a:solidFill>
              <a:srgbClr val="00B0F0"/>
            </a:solidFill>
            <a:tailEnd type="triangle"/>
          </a:ln>
        </p:spPr>
        <p:style>
          <a:lnRef idx="3">
            <a:schemeClr val="accent2"/>
          </a:lnRef>
          <a:fillRef idx="0">
            <a:schemeClr val="accent2"/>
          </a:fillRef>
          <a:effectRef idx="2">
            <a:schemeClr val="accent2"/>
          </a:effectRef>
          <a:fontRef idx="minor">
            <a:schemeClr val="tx1"/>
          </a:fontRef>
        </p:style>
      </p:cxnSp>
      <p:cxnSp>
        <p:nvCxnSpPr>
          <p:cNvPr id="8" name="直線單箭頭接點 7"/>
          <p:cNvCxnSpPr/>
          <p:nvPr/>
        </p:nvCxnSpPr>
        <p:spPr>
          <a:xfrm flipH="1" flipV="1">
            <a:off x="4819135" y="5593492"/>
            <a:ext cx="329514" cy="8239"/>
          </a:xfrm>
          <a:prstGeom prst="straightConnector1">
            <a:avLst/>
          </a:prstGeom>
          <a:ln w="25400">
            <a:solidFill>
              <a:srgbClr val="00B0F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603550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4000" dirty="0" smtClean="0">
                <a:latin typeface="Times New Roman" panose="02020603050405020304" pitchFamily="18" charset="0"/>
                <a:cs typeface="Times New Roman" panose="02020603050405020304" pitchFamily="18" charset="0"/>
              </a:rPr>
              <a:t>The Formula and Data Dependency</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內容版面配置區 4"/>
              <p:cNvSpPr>
                <a:spLocks noGrp="1"/>
              </p:cNvSpPr>
              <p:nvPr>
                <p:ph idx="1"/>
              </p:nvPr>
            </p:nvSpPr>
            <p:spPr/>
            <p:txBody>
              <a:bodyPr/>
              <a:lstStyle/>
              <a:p>
                <a:pPr marL="0" indent="0">
                  <a:buNone/>
                </a:pPr>
                <a:endParaRPr lang="en-US" altLang="zh-TW" b="0"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e>
                      </m:d>
                      <m:r>
                        <a:rPr lang="en-US" altLang="zh-TW" b="0" i="1" smtClean="0">
                          <a:latin typeface="Cambria Math" panose="02040503050406030204" pitchFamily="18" charset="0"/>
                        </a:rPr>
                        <m:t>= </m:t>
                      </m:r>
                      <m:d>
                        <m:dPr>
                          <m:begChr m:val="{"/>
                          <m:endChr m:val=""/>
                          <m:ctrlPr>
                            <a:rPr lang="en-US" altLang="zh-TW" b="0" i="1" smtClean="0">
                              <a:latin typeface="Cambria Math" panose="02040503050406030204" pitchFamily="18" charset="0"/>
                            </a:rPr>
                          </m:ctrlPr>
                        </m:dPr>
                        <m:e>
                          <m:eqArr>
                            <m:eqArrPr>
                              <m:ctrlPr>
                                <a:rPr lang="en-US" altLang="zh-TW" b="0" i="1" smtClean="0">
                                  <a:latin typeface="Cambria Math" panose="02040503050406030204" pitchFamily="18" charset="0"/>
                                </a:rPr>
                              </m:ctrlPr>
                            </m:eqArrPr>
                            <m:e>
                              <m:r>
                                <a:rPr lang="en-US" altLang="zh-TW" b="0" i="1" smtClean="0">
                                  <a:latin typeface="Cambria Math" panose="02040503050406030204" pitchFamily="18" charset="0"/>
                                </a:rPr>
                                <m:t>  0                                                  </m:t>
                              </m:r>
                              <m:r>
                                <a:rPr lang="en-US" altLang="zh-TW" b="0" i="1" smtClean="0">
                                  <a:latin typeface="Cambria Math" panose="02040503050406030204" pitchFamily="18" charset="0"/>
                                </a:rPr>
                                <m:t>𝑖</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𝑗</m:t>
                              </m:r>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0</m:t>
                              </m:r>
                            </m:e>
                            <m:e>
                              <m:r>
                                <a:rPr lang="en-US" altLang="zh-TW" b="0" i="1" smtClean="0">
                                  <a:latin typeface="Cambria Math" panose="02040503050406030204" pitchFamily="18" charset="0"/>
                                </a:rPr>
                                <m:t>  </m:t>
                              </m:r>
                              <m:r>
                                <a:rPr lang="en-US" altLang="zh-TW" b="0" i="1" smtClean="0">
                                  <a:latin typeface="Cambria Math" panose="02040503050406030204" pitchFamily="18" charset="0"/>
                                </a:rPr>
                                <m:t>𝑆</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e>
                              </m:d>
                              <m:r>
                                <a:rPr lang="en-US" altLang="zh-TW" b="0" i="1" smtClean="0">
                                  <a:latin typeface="Cambria Math" panose="02040503050406030204" pitchFamily="18" charset="0"/>
                                </a:rPr>
                                <m:t>+1                       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𝑗</m:t>
                                  </m:r>
                                </m:sub>
                              </m:sSub>
                            </m:e>
                            <m:e>
                              <m:r>
                                <a:rPr lang="en-US" altLang="zh-TW" b="0" i="1" smtClean="0">
                                  <a:latin typeface="Cambria Math" panose="02040503050406030204" pitchFamily="18" charset="0"/>
                                </a:rPr>
                                <m:t>  </m:t>
                              </m:r>
                              <m:r>
                                <a:rPr lang="en-US" altLang="zh-TW" i="1">
                                  <a:latin typeface="Cambria Math" panose="02040503050406030204" pitchFamily="18" charset="0"/>
                                </a:rPr>
                                <m:t>𝑚𝑎𝑥</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𝑆</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e>
                                  </m:d>
                                </m:e>
                              </m:d>
                              <m:r>
                                <a:rPr lang="en-US" altLang="zh-TW" b="0" i="1" smtClean="0">
                                  <a:latin typeface="Cambria Math" panose="02040503050406030204" pitchFamily="18" charset="0"/>
                                </a:rPr>
                                <m:t>            </m:t>
                              </m:r>
                              <m:r>
                                <a:rPr lang="en-US" altLang="zh-TW" b="0" i="1" smtClean="0">
                                  <a:latin typeface="Cambria Math" panose="02040503050406030204" pitchFamily="18" charset="0"/>
                                </a:rPr>
                                <m:t>𝑜</m:t>
                              </m:r>
                              <m:r>
                                <a:rPr lang="en-US" altLang="zh-TW" b="0" i="1" smtClean="0">
                                  <a:latin typeface="Cambria Math" panose="02040503050406030204" pitchFamily="18" charset="0"/>
                                </a:rPr>
                                <m:t>.</m:t>
                              </m:r>
                              <m:r>
                                <a:rPr lang="en-US" altLang="zh-TW" b="0" i="1" smtClean="0">
                                  <a:latin typeface="Cambria Math" panose="02040503050406030204" pitchFamily="18" charset="0"/>
                                </a:rPr>
                                <m:t>𝑤</m:t>
                              </m:r>
                              <m:r>
                                <a:rPr lang="en-US" altLang="zh-TW" b="0" i="1" smtClean="0">
                                  <a:latin typeface="Cambria Math" panose="02040503050406030204" pitchFamily="18" charset="0"/>
                                </a:rPr>
                                <m:t>.</m:t>
                              </m:r>
                            </m:e>
                          </m:eqArr>
                        </m:e>
                      </m:d>
                    </m:oMath>
                  </m:oMathPara>
                </a14:m>
                <a:endParaRPr lang="zh-TW" altLang="en-US" dirty="0"/>
              </a:p>
            </p:txBody>
          </p:sp>
        </mc:Choice>
        <mc:Fallback xmlns="">
          <p:sp>
            <p:nvSpPr>
              <p:cNvPr id="5" name="內容版面配置區 4"/>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4" name="內容版面配置區 4"/>
              <p:cNvGraphicFramePr>
                <a:graphicFrameLocks/>
              </p:cNvGraphicFramePr>
              <p:nvPr>
                <p:extLst>
                  <p:ext uri="{D42A27DB-BD31-4B8C-83A1-F6EECF244321}">
                    <p14:modId xmlns:p14="http://schemas.microsoft.com/office/powerpoint/2010/main" val="401529158"/>
                  </p:ext>
                </p:extLst>
              </p:nvPr>
            </p:nvGraphicFramePr>
            <p:xfrm>
              <a:off x="2698409" y="4079875"/>
              <a:ext cx="3486150" cy="2097088"/>
            </p:xfrm>
            <a:graphic>
              <a:graphicData uri="http://schemas.openxmlformats.org/drawingml/2006/table">
                <a:tbl>
                  <a:tblPr firstRow="1" bandRow="1">
                    <a:tableStyleId>{5940675A-B579-460E-94D1-54222C63F5DA}</a:tableStyleId>
                  </a:tblPr>
                  <a:tblGrid>
                    <a:gridCol w="1743075"/>
                    <a:gridCol w="1743075"/>
                  </a:tblGrid>
                  <a:tr h="10485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b="0" i="1" dirty="0" smtClean="0">
                            <a:latin typeface="Cambria Math" panose="020405030504060302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oMath>
                            </m:oMathPara>
                          </a14:m>
                          <a:endParaRPr lang="zh-TW" altLang="en-US" dirty="0"/>
                        </a:p>
                        <a:p>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b="0" i="1" dirty="0" smtClean="0">
                            <a:latin typeface="Cambria Math" panose="020405030504060302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oMath>
                            </m:oMathPara>
                          </a14:m>
                          <a:endParaRPr lang="zh-TW" altLang="en-US" dirty="0"/>
                        </a:p>
                        <a:p>
                          <a:endParaRPr lang="zh-TW" altLang="en-US" dirty="0"/>
                        </a:p>
                      </a:txBody>
                      <a:tcPr/>
                    </a:tc>
                  </a:tr>
                  <a:tr h="10485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b="0" i="1" dirty="0" smtClean="0">
                            <a:latin typeface="Cambria Math" panose="020405030504060302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oMath>
                            </m:oMathPara>
                          </a14:m>
                          <a:endParaRPr lang="zh-TW" altLang="en-US" dirty="0"/>
                        </a:p>
                        <a:p>
                          <a:endParaRPr lang="zh-TW" altLang="en-US" dirty="0"/>
                        </a:p>
                      </a:txBody>
                      <a:tcPr/>
                    </a:tc>
                    <a:tc>
                      <a:txBody>
                        <a:bodyPr/>
                        <a:lstStyle/>
                        <a:p>
                          <a:pPr algn="ctr"/>
                          <a:endParaRPr lang="en-US" altLang="zh-TW" b="0" i="1" dirty="0" smtClean="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oMath>
                            </m:oMathPara>
                          </a14:m>
                          <a:endParaRPr lang="zh-TW" altLang="en-US" dirty="0"/>
                        </a:p>
                      </a:txBody>
                      <a:tcPr/>
                    </a:tc>
                  </a:tr>
                </a:tbl>
              </a:graphicData>
            </a:graphic>
          </p:graphicFrame>
        </mc:Choice>
        <mc:Fallback xmlns="">
          <p:graphicFrame>
            <p:nvGraphicFramePr>
              <p:cNvPr id="4" name="內容版面配置區 4"/>
              <p:cNvGraphicFramePr>
                <a:graphicFrameLocks/>
              </p:cNvGraphicFramePr>
              <p:nvPr>
                <p:extLst>
                  <p:ext uri="{D42A27DB-BD31-4B8C-83A1-F6EECF244321}">
                    <p14:modId xmlns:p14="http://schemas.microsoft.com/office/powerpoint/2010/main" val="401529158"/>
                  </p:ext>
                </p:extLst>
              </p:nvPr>
            </p:nvGraphicFramePr>
            <p:xfrm>
              <a:off x="2698409" y="4079875"/>
              <a:ext cx="3486150" cy="2097088"/>
            </p:xfrm>
            <a:graphic>
              <a:graphicData uri="http://schemas.openxmlformats.org/drawingml/2006/table">
                <a:tbl>
                  <a:tblPr firstRow="1" bandRow="1">
                    <a:tableStyleId>{5940675A-B579-460E-94D1-54222C63F5DA}</a:tableStyleId>
                  </a:tblPr>
                  <a:tblGrid>
                    <a:gridCol w="1743075"/>
                    <a:gridCol w="1743075"/>
                  </a:tblGrid>
                  <a:tr h="1048544">
                    <a:tc>
                      <a:txBody>
                        <a:bodyPr/>
                        <a:lstStyle/>
                        <a:p>
                          <a:endParaRPr lang="zh-TW"/>
                        </a:p>
                      </a:txBody>
                      <a:tcPr>
                        <a:blipFill rotWithShape="0">
                          <a:blip r:embed="rId3"/>
                          <a:stretch>
                            <a:fillRect l="-348" t="-578" r="-100348" b="-100578"/>
                          </a:stretch>
                        </a:blipFill>
                      </a:tcPr>
                    </a:tc>
                    <a:tc>
                      <a:txBody>
                        <a:bodyPr/>
                        <a:lstStyle/>
                        <a:p>
                          <a:endParaRPr lang="zh-TW"/>
                        </a:p>
                      </a:txBody>
                      <a:tcPr>
                        <a:blipFill rotWithShape="0">
                          <a:blip r:embed="rId3"/>
                          <a:stretch>
                            <a:fillRect l="-100699" t="-578" r="-699" b="-100578"/>
                          </a:stretch>
                        </a:blipFill>
                      </a:tcPr>
                    </a:tc>
                  </a:tr>
                  <a:tr h="1048544">
                    <a:tc>
                      <a:txBody>
                        <a:bodyPr/>
                        <a:lstStyle/>
                        <a:p>
                          <a:endParaRPr lang="zh-TW"/>
                        </a:p>
                      </a:txBody>
                      <a:tcPr>
                        <a:blipFill rotWithShape="0">
                          <a:blip r:embed="rId3"/>
                          <a:stretch>
                            <a:fillRect l="-348" t="-101163" r="-100348" b="-1163"/>
                          </a:stretch>
                        </a:blipFill>
                      </a:tcPr>
                    </a:tc>
                    <a:tc>
                      <a:txBody>
                        <a:bodyPr/>
                        <a:lstStyle/>
                        <a:p>
                          <a:endParaRPr lang="zh-TW"/>
                        </a:p>
                      </a:txBody>
                      <a:tcPr>
                        <a:blipFill rotWithShape="0">
                          <a:blip r:embed="rId3"/>
                          <a:stretch>
                            <a:fillRect l="-100699" t="-101163" r="-699" b="-1163"/>
                          </a:stretch>
                        </a:blipFill>
                      </a:tcPr>
                    </a:tc>
                  </a:tr>
                </a:tbl>
              </a:graphicData>
            </a:graphic>
          </p:graphicFrame>
        </mc:Fallback>
      </mc:AlternateContent>
      <p:cxnSp>
        <p:nvCxnSpPr>
          <p:cNvPr id="6" name="直線單箭頭接點 5"/>
          <p:cNvCxnSpPr/>
          <p:nvPr/>
        </p:nvCxnSpPr>
        <p:spPr>
          <a:xfrm flipH="1" flipV="1">
            <a:off x="3990975" y="4838700"/>
            <a:ext cx="964860" cy="612174"/>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flipH="1" flipV="1">
            <a:off x="5114925" y="4762500"/>
            <a:ext cx="9527" cy="688375"/>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p:cNvCxnSpPr/>
          <p:nvPr/>
        </p:nvCxnSpPr>
        <p:spPr>
          <a:xfrm flipH="1" flipV="1">
            <a:off x="4029075" y="5576888"/>
            <a:ext cx="926760" cy="4894"/>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68132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Re-formulate</a:t>
            </a:r>
            <a:r>
              <a:rPr lang="en-US" altLang="zh-TW" dirty="0" smtClean="0">
                <a:latin typeface="Times New Roman" panose="02020603050405020304" pitchFamily="18" charset="0"/>
                <a:cs typeface="Times New Roman" panose="02020603050405020304" pitchFamily="18" charset="0"/>
              </a:rPr>
              <a:t> The Equation(1/3)</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內容版面配置區 6"/>
              <p:cNvGraphicFramePr>
                <a:graphicFrameLocks noGrp="1"/>
              </p:cNvGraphicFramePr>
              <p:nvPr>
                <p:ph idx="1"/>
                <p:extLst>
                  <p:ext uri="{D42A27DB-BD31-4B8C-83A1-F6EECF244321}">
                    <p14:modId xmlns:p14="http://schemas.microsoft.com/office/powerpoint/2010/main" val="1501909568"/>
                  </p:ext>
                </p:extLst>
              </p:nvPr>
            </p:nvGraphicFramePr>
            <p:xfrm>
              <a:off x="866775" y="4225925"/>
              <a:ext cx="7343775" cy="1828800"/>
            </p:xfrm>
            <a:graphic>
              <a:graphicData uri="http://schemas.openxmlformats.org/drawingml/2006/table">
                <a:tbl>
                  <a:tblPr firstRow="1" bandRow="1">
                    <a:tableStyleId>{5940675A-B579-460E-94D1-54222C63F5DA}</a:tableStyleId>
                  </a:tblPr>
                  <a:tblGrid>
                    <a:gridCol w="1838325"/>
                    <a:gridCol w="581025"/>
                    <a:gridCol w="1641475"/>
                    <a:gridCol w="1641475"/>
                    <a:gridCol w="1641475"/>
                  </a:tblGrid>
                  <a:tr h="908431">
                    <a:tc>
                      <a:txBody>
                        <a:bodyPr/>
                        <a:lstStyle/>
                        <a:p>
                          <a:pPr algn="ctr"/>
                          <a:endParaRPr lang="en-US" altLang="zh-TW" dirty="0" smtClean="0">
                            <a:solidFill>
                              <a:srgbClr val="00B050"/>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TW" b="0" i="1" smtClean="0">
                                  <a:solidFill>
                                    <a:srgbClr val="00B050"/>
                                  </a:solidFill>
                                  <a:latin typeface="Cambria Math" panose="02040503050406030204" pitchFamily="18" charset="0"/>
                                </a:rPr>
                                <m:t>𝑆</m:t>
                              </m:r>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𝑖</m:t>
                              </m:r>
                              <m:r>
                                <a:rPr lang="en-US" altLang="zh-TW" b="0" i="1" smtClean="0">
                                  <a:solidFill>
                                    <a:srgbClr val="00B050"/>
                                  </a:solidFill>
                                  <a:latin typeface="Cambria Math" panose="02040503050406030204" pitchFamily="18" charset="0"/>
                                </a:rPr>
                                <m:t>−1,0]</m:t>
                              </m:r>
                            </m:oMath>
                          </a14:m>
                          <a:r>
                            <a:rPr lang="zh-TW" altLang="en-US" dirty="0" smtClean="0">
                              <a:solidFill>
                                <a:srgbClr val="00B050"/>
                              </a:solidFill>
                              <a:latin typeface="Times New Roman" panose="02020603050405020304" pitchFamily="18" charset="0"/>
                              <a:cs typeface="Times New Roman" panose="02020603050405020304" pitchFamily="18" charset="0"/>
                            </a:rPr>
                            <a:t> </a:t>
                          </a:r>
                          <a:r>
                            <a:rPr lang="en-US" altLang="zh-TW" dirty="0" smtClean="0">
                              <a:solidFill>
                                <a:srgbClr val="00B050"/>
                              </a:solidFill>
                              <a:latin typeface="Times New Roman" panose="02020603050405020304" pitchFamily="18" charset="0"/>
                              <a:cs typeface="Times New Roman" panose="02020603050405020304" pitchFamily="18" charset="0"/>
                            </a:rPr>
                            <a:t>= 0</a:t>
                          </a:r>
                          <a:endParaRPr lang="zh-TW" altLang="en-US" dirty="0">
                            <a:solidFill>
                              <a:srgbClr val="00B050"/>
                            </a:solidFill>
                            <a:latin typeface="Times New Roman" panose="02020603050405020304" pitchFamily="18" charset="0"/>
                            <a:cs typeface="Times New Roman" panose="02020603050405020304" pitchFamily="18" charset="0"/>
                          </a:endParaRPr>
                        </a:p>
                        <a:p>
                          <a:pPr algn="ctr"/>
                          <a:endParaRPr lang="zh-TW" altLang="en-US"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TW" b="0" i="1" dirty="0" smtClean="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b="0" i="1" smtClean="0">
                                    <a:latin typeface="Cambria Math" panose="02040503050406030204" pitchFamily="18" charset="0"/>
                                  </a:rPr>
                                  <m:t>−2]</m:t>
                                </m:r>
                              </m:oMath>
                            </m:oMathPara>
                          </a14:m>
                          <a:endParaRPr lang="zh-TW" altLang="en-US" dirty="0">
                            <a:latin typeface="Times New Roman" panose="02020603050405020304" pitchFamily="18" charset="0"/>
                            <a:cs typeface="Times New Roman" panose="02020603050405020304" pitchFamily="18" charset="0"/>
                          </a:endParaRPr>
                        </a:p>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TW" b="0" i="1" dirty="0" smtClean="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oMath>
                            </m:oMathPara>
                          </a14:m>
                          <a:endParaRPr lang="zh-TW" altLang="en-US" dirty="0">
                            <a:latin typeface="Times New Roman" panose="02020603050405020304" pitchFamily="18" charset="0"/>
                            <a:cs typeface="Times New Roman" panose="02020603050405020304" pitchFamily="18" charset="0"/>
                          </a:endParaRPr>
                        </a:p>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TW" b="0" i="1" dirty="0" smtClean="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oMath>
                            </m:oMathPara>
                          </a14:m>
                          <a:endParaRPr lang="zh-TW" altLang="en-US" dirty="0">
                            <a:latin typeface="Times New Roman" panose="02020603050405020304" pitchFamily="18" charset="0"/>
                            <a:cs typeface="Times New Roman" panose="02020603050405020304" pitchFamily="18" charset="0"/>
                          </a:endParaRPr>
                        </a:p>
                        <a:p>
                          <a:pPr algn="ctr"/>
                          <a:endParaRPr lang="zh-TW" altLang="en-US" dirty="0">
                            <a:latin typeface="Times New Roman" panose="02020603050405020304" pitchFamily="18" charset="0"/>
                            <a:cs typeface="Times New Roman" panose="02020603050405020304" pitchFamily="18" charset="0"/>
                          </a:endParaRPr>
                        </a:p>
                      </a:txBody>
                      <a:tcPr/>
                    </a:tc>
                  </a:tr>
                  <a:tr h="90843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TW" b="0" i="1" dirty="0" smtClean="0">
                            <a:solidFill>
                              <a:srgbClr val="00B050"/>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TW" b="0" i="1" smtClean="0">
                                  <a:solidFill>
                                    <a:srgbClr val="00B050"/>
                                  </a:solidFill>
                                  <a:latin typeface="Cambria Math" panose="02040503050406030204" pitchFamily="18" charset="0"/>
                                </a:rPr>
                                <m:t>𝑆</m:t>
                              </m:r>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𝑖</m:t>
                              </m:r>
                              <m:r>
                                <a:rPr lang="en-US" altLang="zh-TW" b="0" i="1" smtClean="0">
                                  <a:solidFill>
                                    <a:srgbClr val="00B050"/>
                                  </a:solidFill>
                                  <a:latin typeface="Cambria Math" panose="02040503050406030204" pitchFamily="18" charset="0"/>
                                </a:rPr>
                                <m:t>,0]</m:t>
                              </m:r>
                            </m:oMath>
                          </a14:m>
                          <a:r>
                            <a:rPr lang="zh-TW" altLang="en-US" dirty="0" smtClean="0">
                              <a:solidFill>
                                <a:srgbClr val="00B050"/>
                              </a:solidFill>
                              <a:latin typeface="Times New Roman" panose="02020603050405020304" pitchFamily="18" charset="0"/>
                              <a:cs typeface="Times New Roman" panose="02020603050405020304" pitchFamily="18" charset="0"/>
                            </a:rPr>
                            <a:t> </a:t>
                          </a:r>
                          <a:r>
                            <a:rPr lang="en-US" altLang="zh-TW" dirty="0" smtClean="0">
                              <a:solidFill>
                                <a:srgbClr val="00B050"/>
                              </a:solidFill>
                              <a:latin typeface="Times New Roman" panose="02020603050405020304" pitchFamily="18" charset="0"/>
                              <a:cs typeface="Times New Roman" panose="02020603050405020304" pitchFamily="18" charset="0"/>
                            </a:rPr>
                            <a:t>= 0</a:t>
                          </a:r>
                          <a:endParaRPr lang="zh-TW" altLang="en-US" dirty="0">
                            <a:solidFill>
                              <a:srgbClr val="00B050"/>
                            </a:solidFill>
                            <a:latin typeface="Times New Roman" panose="02020603050405020304" pitchFamily="18" charset="0"/>
                            <a:cs typeface="Times New Roman" panose="02020603050405020304" pitchFamily="18" charset="0"/>
                          </a:endParaRPr>
                        </a:p>
                        <a:p>
                          <a:pPr algn="ctr"/>
                          <a:endParaRPr lang="zh-TW" altLang="en-US"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TW" b="0" i="1" dirty="0" smtClean="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−2]</m:t>
                                </m:r>
                              </m:oMath>
                            </m:oMathPara>
                          </a14:m>
                          <a:endParaRPr lang="zh-TW" altLang="en-US" dirty="0">
                            <a:latin typeface="Times New Roman" panose="02020603050405020304" pitchFamily="18" charset="0"/>
                            <a:cs typeface="Times New Roman" panose="02020603050405020304" pitchFamily="18" charset="0"/>
                          </a:endParaRPr>
                        </a:p>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TW" b="0" i="1" dirty="0" smtClean="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oMath>
                            </m:oMathPara>
                          </a14:m>
                          <a:endParaRPr lang="zh-TW" altLang="en-US" dirty="0">
                            <a:latin typeface="Times New Roman" panose="02020603050405020304" pitchFamily="18" charset="0"/>
                            <a:cs typeface="Times New Roman" panose="02020603050405020304" pitchFamily="18" charset="0"/>
                          </a:endParaRPr>
                        </a:p>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TW" b="0" i="1" dirty="0" smtClean="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oMath>
                            </m:oMathPara>
                          </a14:m>
                          <a:endParaRPr lang="zh-TW" altLang="en-US" dirty="0">
                            <a:latin typeface="Times New Roman" panose="02020603050405020304" pitchFamily="18" charset="0"/>
                            <a:cs typeface="Times New Roman" panose="02020603050405020304" pitchFamily="18" charset="0"/>
                          </a:endParaRPr>
                        </a:p>
                        <a:p>
                          <a:pPr algn="ctr"/>
                          <a:endParaRPr lang="zh-TW" altLang="en-US" dirty="0">
                            <a:latin typeface="Times New Roman" panose="02020603050405020304" pitchFamily="18" charset="0"/>
                            <a:cs typeface="Times New Roman" panose="02020603050405020304" pitchFamily="18" charset="0"/>
                          </a:endParaRPr>
                        </a:p>
                      </a:txBody>
                      <a:tcPr/>
                    </a:tc>
                  </a:tr>
                </a:tbl>
              </a:graphicData>
            </a:graphic>
          </p:graphicFrame>
        </mc:Choice>
        <mc:Fallback xmlns="">
          <p:graphicFrame>
            <p:nvGraphicFramePr>
              <p:cNvPr id="7" name="內容版面配置區 6"/>
              <p:cNvGraphicFramePr>
                <a:graphicFrameLocks noGrp="1"/>
              </p:cNvGraphicFramePr>
              <p:nvPr>
                <p:ph idx="1"/>
                <p:extLst>
                  <p:ext uri="{D42A27DB-BD31-4B8C-83A1-F6EECF244321}">
                    <p14:modId xmlns:p14="http://schemas.microsoft.com/office/powerpoint/2010/main" val="1501909568"/>
                  </p:ext>
                </p:extLst>
              </p:nvPr>
            </p:nvGraphicFramePr>
            <p:xfrm>
              <a:off x="866775" y="4225925"/>
              <a:ext cx="7343775" cy="1828800"/>
            </p:xfrm>
            <a:graphic>
              <a:graphicData uri="http://schemas.openxmlformats.org/drawingml/2006/table">
                <a:tbl>
                  <a:tblPr firstRow="1" bandRow="1">
                    <a:tableStyleId>{5940675A-B579-460E-94D1-54222C63F5DA}</a:tableStyleId>
                  </a:tblPr>
                  <a:tblGrid>
                    <a:gridCol w="1838325"/>
                    <a:gridCol w="581025"/>
                    <a:gridCol w="1641475"/>
                    <a:gridCol w="1641475"/>
                    <a:gridCol w="1641475"/>
                  </a:tblGrid>
                  <a:tr h="914400">
                    <a:tc>
                      <a:txBody>
                        <a:bodyPr/>
                        <a:lstStyle/>
                        <a:p>
                          <a:endParaRPr lang="zh-TW"/>
                        </a:p>
                      </a:txBody>
                      <a:tcPr>
                        <a:blipFill rotWithShape="0">
                          <a:blip r:embed="rId2"/>
                          <a:stretch>
                            <a:fillRect l="-331" t="-662" r="-299669" b="-100662"/>
                          </a:stretch>
                        </a:blipFill>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a:t>
                          </a:r>
                        </a:p>
                      </a:txBody>
                      <a:tcPr/>
                    </a:tc>
                    <a:tc>
                      <a:txBody>
                        <a:bodyPr/>
                        <a:lstStyle/>
                        <a:p>
                          <a:endParaRPr lang="zh-TW"/>
                        </a:p>
                      </a:txBody>
                      <a:tcPr>
                        <a:blipFill rotWithShape="0">
                          <a:blip r:embed="rId2"/>
                          <a:stretch>
                            <a:fillRect l="-147955" t="-662" r="-201115" b="-100662"/>
                          </a:stretch>
                        </a:blipFill>
                      </a:tcPr>
                    </a:tc>
                    <a:tc>
                      <a:txBody>
                        <a:bodyPr/>
                        <a:lstStyle/>
                        <a:p>
                          <a:endParaRPr lang="zh-TW"/>
                        </a:p>
                      </a:txBody>
                      <a:tcPr>
                        <a:blipFill rotWithShape="0">
                          <a:blip r:embed="rId2"/>
                          <a:stretch>
                            <a:fillRect l="-247037" t="-662" r="-100370" b="-100662"/>
                          </a:stretch>
                        </a:blipFill>
                      </a:tcPr>
                    </a:tc>
                    <a:tc>
                      <a:txBody>
                        <a:bodyPr/>
                        <a:lstStyle/>
                        <a:p>
                          <a:endParaRPr lang="zh-TW"/>
                        </a:p>
                      </a:txBody>
                      <a:tcPr>
                        <a:blipFill rotWithShape="0">
                          <a:blip r:embed="rId2"/>
                          <a:stretch>
                            <a:fillRect l="-348327" t="-662" r="-743" b="-100662"/>
                          </a:stretch>
                        </a:blipFill>
                      </a:tcPr>
                    </a:tc>
                  </a:tr>
                  <a:tr h="914400">
                    <a:tc>
                      <a:txBody>
                        <a:bodyPr/>
                        <a:lstStyle/>
                        <a:p>
                          <a:endParaRPr lang="zh-TW"/>
                        </a:p>
                      </a:txBody>
                      <a:tcPr>
                        <a:blipFill rotWithShape="0">
                          <a:blip r:embed="rId2"/>
                          <a:stretch>
                            <a:fillRect l="-331" t="-101333" r="-299669" b="-1333"/>
                          </a:stretch>
                        </a:blipFill>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p>
                      </a:txBody>
                      <a:tcPr>
                        <a:blipFill rotWithShape="0">
                          <a:blip r:embed="rId2"/>
                          <a:stretch>
                            <a:fillRect l="-147955" t="-101333" r="-201115" b="-1333"/>
                          </a:stretch>
                        </a:blipFill>
                      </a:tcPr>
                    </a:tc>
                    <a:tc>
                      <a:txBody>
                        <a:bodyPr/>
                        <a:lstStyle/>
                        <a:p>
                          <a:endParaRPr lang="zh-TW"/>
                        </a:p>
                      </a:txBody>
                      <a:tcPr>
                        <a:blipFill rotWithShape="0">
                          <a:blip r:embed="rId2"/>
                          <a:stretch>
                            <a:fillRect l="-247037" t="-101333" r="-100370" b="-1333"/>
                          </a:stretch>
                        </a:blipFill>
                      </a:tcPr>
                    </a:tc>
                    <a:tc>
                      <a:txBody>
                        <a:bodyPr/>
                        <a:lstStyle/>
                        <a:p>
                          <a:endParaRPr lang="zh-TW"/>
                        </a:p>
                      </a:txBody>
                      <a:tcPr>
                        <a:blipFill rotWithShape="0">
                          <a:blip r:embed="rId2"/>
                          <a:stretch>
                            <a:fillRect l="-348327" t="-101333" r="-743" b="-1333"/>
                          </a:stretch>
                        </a:blipFill>
                      </a:tcPr>
                    </a:tc>
                  </a:tr>
                </a:tbl>
              </a:graphicData>
            </a:graphic>
          </p:graphicFrame>
        </mc:Fallback>
      </mc:AlternateContent>
      <p:cxnSp>
        <p:nvCxnSpPr>
          <p:cNvPr id="9" name="直線單箭頭接點 8"/>
          <p:cNvCxnSpPr/>
          <p:nvPr/>
        </p:nvCxnSpPr>
        <p:spPr>
          <a:xfrm flipH="1" flipV="1">
            <a:off x="6276975" y="4895850"/>
            <a:ext cx="695325" cy="5715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V="1">
            <a:off x="7143751" y="4895849"/>
            <a:ext cx="9524" cy="571501"/>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flipH="1" flipV="1">
            <a:off x="6343650" y="5581650"/>
            <a:ext cx="628651" cy="28578"/>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H="1" flipV="1">
            <a:off x="4581525" y="4867273"/>
            <a:ext cx="619125" cy="5334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V="1">
            <a:off x="5448301" y="4867272"/>
            <a:ext cx="9524" cy="571502"/>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H="1">
            <a:off x="4657724" y="5581650"/>
            <a:ext cx="542926"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6586263" y="6124575"/>
            <a:ext cx="772071" cy="369332"/>
          </a:xfrm>
          <a:prstGeom prst="rect">
            <a:avLst/>
          </a:prstGeom>
          <a:noFill/>
        </p:spPr>
        <p:txBody>
          <a:bodyPr wrap="none" rtlCol="0">
            <a:spAutoFit/>
          </a:bodyPr>
          <a:lstStyle/>
          <a:p>
            <a:r>
              <a:rPr lang="en-US" altLang="zh-TW" dirty="0" smtClean="0"/>
              <a:t>Step 1</a:t>
            </a:r>
            <a:endParaRPr lang="zh-TW" altLang="en-US" dirty="0"/>
          </a:p>
        </p:txBody>
      </p:sp>
      <p:sp>
        <p:nvSpPr>
          <p:cNvPr id="20" name="文字方塊 19"/>
          <p:cNvSpPr txBox="1"/>
          <p:nvPr/>
        </p:nvSpPr>
        <p:spPr>
          <a:xfrm>
            <a:off x="4890813" y="6153151"/>
            <a:ext cx="772071" cy="369332"/>
          </a:xfrm>
          <a:prstGeom prst="rect">
            <a:avLst/>
          </a:prstGeom>
          <a:noFill/>
        </p:spPr>
        <p:txBody>
          <a:bodyPr wrap="none" rtlCol="0">
            <a:spAutoFit/>
          </a:bodyPr>
          <a:lstStyle/>
          <a:p>
            <a:r>
              <a:rPr lang="en-US" altLang="zh-TW" dirty="0" smtClean="0"/>
              <a:t>Step 2</a:t>
            </a:r>
            <a:endParaRPr lang="zh-TW" altLang="en-US" dirty="0"/>
          </a:p>
        </p:txBody>
      </p:sp>
      <mc:AlternateContent xmlns:mc="http://schemas.openxmlformats.org/markup-compatibility/2006" xmlns:a14="http://schemas.microsoft.com/office/drawing/2010/main">
        <mc:Choice Requires="a14">
          <p:sp>
            <p:nvSpPr>
              <p:cNvPr id="21" name="內容版面配置區 4"/>
              <p:cNvSpPr txBox="1">
                <a:spLocks/>
              </p:cNvSpPr>
              <p:nvPr/>
            </p:nvSpPr>
            <p:spPr>
              <a:xfrm>
                <a:off x="628650" y="1825625"/>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ltLang="zh-TW" dirty="0" smtClean="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𝑆</m:t>
                      </m:r>
                      <m:d>
                        <m:dPr>
                          <m:begChr m:val="["/>
                          <m:endChr m:val="]"/>
                          <m:ctrlPr>
                            <a:rPr lang="en-US" altLang="zh-TW" i="1" smtClean="0">
                              <a:latin typeface="Cambria Math" panose="02040503050406030204" pitchFamily="18" charset="0"/>
                            </a:rPr>
                          </m:ctrlPr>
                        </m:dPr>
                        <m:e>
                          <m:r>
                            <a:rPr lang="en-US" altLang="zh-TW" i="1" smtClean="0">
                              <a:latin typeface="Cambria Math" panose="02040503050406030204" pitchFamily="18" charset="0"/>
                            </a:rPr>
                            <m:t>𝑖</m:t>
                          </m:r>
                          <m:r>
                            <a:rPr lang="en-US" altLang="zh-TW" i="1" smtClean="0">
                              <a:latin typeface="Cambria Math" panose="02040503050406030204" pitchFamily="18" charset="0"/>
                            </a:rPr>
                            <m:t>,</m:t>
                          </m:r>
                          <m:r>
                            <a:rPr lang="en-US" altLang="zh-TW" i="1" smtClean="0">
                              <a:latin typeface="Cambria Math" panose="02040503050406030204" pitchFamily="18" charset="0"/>
                            </a:rPr>
                            <m:t>𝑗</m:t>
                          </m:r>
                        </m:e>
                      </m:d>
                      <m:r>
                        <a:rPr lang="en-US" altLang="zh-TW" i="1" smtClean="0">
                          <a:latin typeface="Cambria Math" panose="02040503050406030204" pitchFamily="18" charset="0"/>
                        </a:rPr>
                        <m:t>= </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r>
                                <a:rPr lang="en-US" altLang="zh-TW" i="1" smtClean="0">
                                  <a:latin typeface="Cambria Math" panose="02040503050406030204" pitchFamily="18" charset="0"/>
                                </a:rPr>
                                <m:t>  </m:t>
                              </m:r>
                              <m:r>
                                <a:rPr lang="en-US" altLang="zh-TW" i="1" smtClean="0">
                                  <a:solidFill>
                                    <a:srgbClr val="00B050"/>
                                  </a:solidFill>
                                  <a:latin typeface="Cambria Math" panose="02040503050406030204" pitchFamily="18" charset="0"/>
                                </a:rPr>
                                <m:t>0                                                  </m:t>
                              </m:r>
                              <m:r>
                                <a:rPr lang="en-US" altLang="zh-TW" i="1" smtClean="0">
                                  <a:solidFill>
                                    <a:srgbClr val="00B050"/>
                                  </a:solidFill>
                                  <a:latin typeface="Cambria Math" panose="02040503050406030204" pitchFamily="18" charset="0"/>
                                </a:rPr>
                                <m:t>𝑖</m:t>
                              </m:r>
                              <m:r>
                                <a:rPr lang="en-US" altLang="zh-TW" i="1" smtClean="0">
                                  <a:solidFill>
                                    <a:srgbClr val="00B050"/>
                                  </a:solidFill>
                                  <a:latin typeface="Cambria Math" panose="02040503050406030204" pitchFamily="18" charset="0"/>
                                </a:rPr>
                                <m:t> </m:t>
                              </m:r>
                              <m:r>
                                <a:rPr lang="en-US" altLang="zh-TW" i="1" smtClean="0">
                                  <a:solidFill>
                                    <a:srgbClr val="00B050"/>
                                  </a:solidFill>
                                  <a:latin typeface="Cambria Math" panose="02040503050406030204" pitchFamily="18" charset="0"/>
                                </a:rPr>
                                <m:t>𝑜𝑟</m:t>
                              </m:r>
                              <m:r>
                                <a:rPr lang="en-US" altLang="zh-TW" i="1" smtClean="0">
                                  <a:solidFill>
                                    <a:srgbClr val="00B050"/>
                                  </a:solidFill>
                                  <a:latin typeface="Cambria Math" panose="02040503050406030204" pitchFamily="18" charset="0"/>
                                </a:rPr>
                                <m:t> </m:t>
                              </m:r>
                              <m:r>
                                <a:rPr lang="en-US" altLang="zh-TW" i="1" smtClean="0">
                                  <a:solidFill>
                                    <a:srgbClr val="00B050"/>
                                  </a:solidFill>
                                  <a:latin typeface="Cambria Math" panose="02040503050406030204" pitchFamily="18" charset="0"/>
                                </a:rPr>
                                <m:t>𝑗</m:t>
                              </m:r>
                              <m:r>
                                <a:rPr lang="en-US" altLang="zh-TW" i="1" smtClean="0">
                                  <a:solidFill>
                                    <a:srgbClr val="00B050"/>
                                  </a:solidFill>
                                  <a:latin typeface="Cambria Math" panose="02040503050406030204" pitchFamily="18" charset="0"/>
                                </a:rPr>
                                <m:t> </m:t>
                              </m:r>
                              <m:r>
                                <a:rPr lang="en-US" altLang="zh-TW" i="1" smtClean="0">
                                  <a:solidFill>
                                    <a:srgbClr val="00B050"/>
                                  </a:solidFill>
                                  <a:latin typeface="Cambria Math" panose="02040503050406030204" pitchFamily="18" charset="0"/>
                                </a:rPr>
                                <m:t>𝑖𝑠</m:t>
                              </m:r>
                              <m:r>
                                <a:rPr lang="en-US" altLang="zh-TW" i="1" smtClean="0">
                                  <a:solidFill>
                                    <a:srgbClr val="00B050"/>
                                  </a:solidFill>
                                  <a:latin typeface="Cambria Math" panose="02040503050406030204" pitchFamily="18" charset="0"/>
                                </a:rPr>
                                <m:t> 0</m:t>
                              </m:r>
                            </m:e>
                            <m:e>
                              <m:r>
                                <a:rPr lang="en-US" altLang="zh-TW" i="1" smtClean="0">
                                  <a:latin typeface="Cambria Math" panose="02040503050406030204" pitchFamily="18" charset="0"/>
                                </a:rPr>
                                <m:t>  </m:t>
                              </m:r>
                              <m:r>
                                <a:rPr lang="en-US" altLang="zh-TW" i="1" smtClean="0">
                                  <a:solidFill>
                                    <a:srgbClr val="C00000"/>
                                  </a:solidFill>
                                  <a:latin typeface="Cambria Math" panose="02040503050406030204" pitchFamily="18" charset="0"/>
                                </a:rPr>
                                <m:t>𝑆</m:t>
                              </m:r>
                              <m:d>
                                <m:dPr>
                                  <m:begChr m:val="["/>
                                  <m:endChr m:val="]"/>
                                  <m:ctrlPr>
                                    <a:rPr lang="en-US" altLang="zh-TW" i="1" smtClean="0">
                                      <a:solidFill>
                                        <a:srgbClr val="C00000"/>
                                      </a:solidFill>
                                      <a:latin typeface="Cambria Math" panose="02040503050406030204" pitchFamily="18" charset="0"/>
                                    </a:rPr>
                                  </m:ctrlPr>
                                </m:dPr>
                                <m:e>
                                  <m:r>
                                    <a:rPr lang="en-US" altLang="zh-TW" i="1" smtClean="0">
                                      <a:solidFill>
                                        <a:srgbClr val="C00000"/>
                                      </a:solidFill>
                                      <a:latin typeface="Cambria Math" panose="02040503050406030204" pitchFamily="18" charset="0"/>
                                    </a:rPr>
                                    <m:t>𝑖</m:t>
                                  </m:r>
                                  <m:r>
                                    <a:rPr lang="en-US" altLang="zh-TW" i="1" smtClean="0">
                                      <a:solidFill>
                                        <a:srgbClr val="C00000"/>
                                      </a:solidFill>
                                      <a:latin typeface="Cambria Math" panose="02040503050406030204" pitchFamily="18" charset="0"/>
                                    </a:rPr>
                                    <m:t>−1,</m:t>
                                  </m:r>
                                  <m:r>
                                    <a:rPr lang="en-US" altLang="zh-TW" i="1" smtClean="0">
                                      <a:solidFill>
                                        <a:srgbClr val="C00000"/>
                                      </a:solidFill>
                                      <a:latin typeface="Cambria Math" panose="02040503050406030204" pitchFamily="18" charset="0"/>
                                    </a:rPr>
                                    <m:t>𝑗</m:t>
                                  </m:r>
                                  <m:r>
                                    <a:rPr lang="en-US" altLang="zh-TW" i="1" smtClean="0">
                                      <a:solidFill>
                                        <a:srgbClr val="C00000"/>
                                      </a:solidFill>
                                      <a:latin typeface="Cambria Math" panose="02040503050406030204" pitchFamily="18" charset="0"/>
                                    </a:rPr>
                                    <m:t>−1</m:t>
                                  </m:r>
                                </m:e>
                              </m:d>
                              <m:r>
                                <a:rPr lang="en-US" altLang="zh-TW" i="1" smtClean="0">
                                  <a:solidFill>
                                    <a:srgbClr val="C00000"/>
                                  </a:solidFill>
                                  <a:latin typeface="Cambria Math" panose="02040503050406030204" pitchFamily="18" charset="0"/>
                                </a:rPr>
                                <m:t>+1                       </m:t>
                              </m:r>
                              <m:sSub>
                                <m:sSubPr>
                                  <m:ctrlPr>
                                    <a:rPr lang="en-US" altLang="zh-TW" i="1" smtClean="0">
                                      <a:solidFill>
                                        <a:srgbClr val="C00000"/>
                                      </a:solidFill>
                                      <a:latin typeface="Cambria Math" panose="02040503050406030204" pitchFamily="18" charset="0"/>
                                    </a:rPr>
                                  </m:ctrlPr>
                                </m:sSubPr>
                                <m:e>
                                  <m:r>
                                    <a:rPr lang="en-US" altLang="zh-TW" i="1" smtClean="0">
                                      <a:solidFill>
                                        <a:srgbClr val="C00000"/>
                                      </a:solidFill>
                                      <a:latin typeface="Cambria Math" panose="02040503050406030204" pitchFamily="18" charset="0"/>
                                    </a:rPr>
                                    <m:t>𝑎</m:t>
                                  </m:r>
                                </m:e>
                                <m:sub>
                                  <m:r>
                                    <a:rPr lang="en-US" altLang="zh-TW" i="1" smtClean="0">
                                      <a:solidFill>
                                        <a:srgbClr val="C00000"/>
                                      </a:solidFill>
                                      <a:latin typeface="Cambria Math" panose="02040503050406030204" pitchFamily="18" charset="0"/>
                                    </a:rPr>
                                    <m:t>𝑖</m:t>
                                  </m:r>
                                </m:sub>
                              </m:sSub>
                              <m:r>
                                <a:rPr lang="en-US" altLang="zh-TW" i="1" smtClean="0">
                                  <a:solidFill>
                                    <a:srgbClr val="C00000"/>
                                  </a:solidFill>
                                  <a:latin typeface="Cambria Math" panose="02040503050406030204" pitchFamily="18" charset="0"/>
                                </a:rPr>
                                <m:t>=</m:t>
                              </m:r>
                              <m:sSub>
                                <m:sSubPr>
                                  <m:ctrlPr>
                                    <a:rPr lang="en-US" altLang="zh-TW" i="1" smtClean="0">
                                      <a:solidFill>
                                        <a:srgbClr val="C00000"/>
                                      </a:solidFill>
                                      <a:latin typeface="Cambria Math" panose="02040503050406030204" pitchFamily="18" charset="0"/>
                                    </a:rPr>
                                  </m:ctrlPr>
                                </m:sSubPr>
                                <m:e>
                                  <m:r>
                                    <a:rPr lang="en-US" altLang="zh-TW" i="1" smtClean="0">
                                      <a:solidFill>
                                        <a:srgbClr val="C00000"/>
                                      </a:solidFill>
                                      <a:latin typeface="Cambria Math" panose="02040503050406030204" pitchFamily="18" charset="0"/>
                                    </a:rPr>
                                    <m:t>𝑏</m:t>
                                  </m:r>
                                </m:e>
                                <m:sub>
                                  <m:r>
                                    <a:rPr lang="en-US" altLang="zh-TW" i="1" smtClean="0">
                                      <a:solidFill>
                                        <a:srgbClr val="C00000"/>
                                      </a:solidFill>
                                      <a:latin typeface="Cambria Math" panose="02040503050406030204" pitchFamily="18" charset="0"/>
                                    </a:rPr>
                                    <m:t>𝑗</m:t>
                                  </m:r>
                                </m:sub>
                              </m:sSub>
                            </m:e>
                            <m:e>
                              <m:r>
                                <a:rPr lang="en-US" altLang="zh-TW" i="1" smtClean="0">
                                  <a:latin typeface="Cambria Math" panose="02040503050406030204" pitchFamily="18" charset="0"/>
                                </a:rPr>
                                <m:t>  </m:t>
                              </m:r>
                              <m:r>
                                <a:rPr lang="en-US" altLang="zh-TW" i="1" smtClean="0">
                                  <a:solidFill>
                                    <a:srgbClr val="00B0F0"/>
                                  </a:solidFill>
                                  <a:latin typeface="Cambria Math" panose="02040503050406030204" pitchFamily="18" charset="0"/>
                                </a:rPr>
                                <m:t>𝑚𝑎𝑥</m:t>
                              </m:r>
                              <m:d>
                                <m:dPr>
                                  <m:ctrlPr>
                                    <a:rPr lang="en-US" altLang="zh-TW" i="1" smtClean="0">
                                      <a:solidFill>
                                        <a:srgbClr val="00B0F0"/>
                                      </a:solidFill>
                                      <a:latin typeface="Cambria Math" panose="02040503050406030204" pitchFamily="18" charset="0"/>
                                    </a:rPr>
                                  </m:ctrlPr>
                                </m:dPr>
                                <m:e>
                                  <m:r>
                                    <a:rPr lang="en-US" altLang="zh-TW" i="1" smtClean="0">
                                      <a:solidFill>
                                        <a:srgbClr val="00B0F0"/>
                                      </a:solidFill>
                                      <a:latin typeface="Cambria Math" panose="02040503050406030204" pitchFamily="18" charset="0"/>
                                    </a:rPr>
                                    <m:t>𝑆</m:t>
                                  </m:r>
                                  <m:d>
                                    <m:dPr>
                                      <m:begChr m:val="["/>
                                      <m:endChr m:val="]"/>
                                      <m:ctrlPr>
                                        <a:rPr lang="en-US" altLang="zh-TW" i="1" smtClean="0">
                                          <a:solidFill>
                                            <a:srgbClr val="00B0F0"/>
                                          </a:solidFill>
                                          <a:latin typeface="Cambria Math" panose="02040503050406030204" pitchFamily="18" charset="0"/>
                                        </a:rPr>
                                      </m:ctrlPr>
                                    </m:dPr>
                                    <m:e>
                                      <m:r>
                                        <a:rPr lang="en-US" altLang="zh-TW" i="1" smtClean="0">
                                          <a:solidFill>
                                            <a:srgbClr val="00B0F0"/>
                                          </a:solidFill>
                                          <a:latin typeface="Cambria Math" panose="02040503050406030204" pitchFamily="18" charset="0"/>
                                        </a:rPr>
                                        <m:t>𝑖</m:t>
                                      </m:r>
                                      <m:r>
                                        <a:rPr lang="en-US" altLang="zh-TW" i="1" smtClean="0">
                                          <a:solidFill>
                                            <a:srgbClr val="00B0F0"/>
                                          </a:solidFill>
                                          <a:latin typeface="Cambria Math" panose="02040503050406030204" pitchFamily="18" charset="0"/>
                                        </a:rPr>
                                        <m:t>−1,</m:t>
                                      </m:r>
                                      <m:r>
                                        <a:rPr lang="en-US" altLang="zh-TW" i="1" smtClean="0">
                                          <a:solidFill>
                                            <a:srgbClr val="00B0F0"/>
                                          </a:solidFill>
                                          <a:latin typeface="Cambria Math" panose="02040503050406030204" pitchFamily="18" charset="0"/>
                                        </a:rPr>
                                        <m:t>𝑗</m:t>
                                      </m:r>
                                    </m:e>
                                  </m:d>
                                  <m:r>
                                    <a:rPr lang="en-US" altLang="zh-TW" i="1" smtClean="0">
                                      <a:solidFill>
                                        <a:srgbClr val="00B0F0"/>
                                      </a:solidFill>
                                      <a:latin typeface="Cambria Math" panose="02040503050406030204" pitchFamily="18" charset="0"/>
                                    </a:rPr>
                                    <m:t>,</m:t>
                                  </m:r>
                                  <m:r>
                                    <a:rPr lang="en-US" altLang="zh-TW" i="1" smtClean="0">
                                      <a:solidFill>
                                        <a:srgbClr val="00B0F0"/>
                                      </a:solidFill>
                                      <a:latin typeface="Cambria Math" panose="02040503050406030204" pitchFamily="18" charset="0"/>
                                    </a:rPr>
                                    <m:t>𝑆</m:t>
                                  </m:r>
                                  <m:d>
                                    <m:dPr>
                                      <m:begChr m:val="["/>
                                      <m:endChr m:val="]"/>
                                      <m:ctrlPr>
                                        <a:rPr lang="en-US" altLang="zh-TW" i="1" smtClean="0">
                                          <a:solidFill>
                                            <a:srgbClr val="00B0F0"/>
                                          </a:solidFill>
                                          <a:latin typeface="Cambria Math" panose="02040503050406030204" pitchFamily="18" charset="0"/>
                                        </a:rPr>
                                      </m:ctrlPr>
                                    </m:dPr>
                                    <m:e>
                                      <m:r>
                                        <a:rPr lang="en-US" altLang="zh-TW" i="1" smtClean="0">
                                          <a:solidFill>
                                            <a:srgbClr val="00B0F0"/>
                                          </a:solidFill>
                                          <a:latin typeface="Cambria Math" panose="02040503050406030204" pitchFamily="18" charset="0"/>
                                        </a:rPr>
                                        <m:t>𝑖</m:t>
                                      </m:r>
                                      <m:r>
                                        <a:rPr lang="en-US" altLang="zh-TW" i="1" smtClean="0">
                                          <a:solidFill>
                                            <a:srgbClr val="00B0F0"/>
                                          </a:solidFill>
                                          <a:latin typeface="Cambria Math" panose="02040503050406030204" pitchFamily="18" charset="0"/>
                                        </a:rPr>
                                        <m:t>,</m:t>
                                      </m:r>
                                      <m:r>
                                        <a:rPr lang="en-US" altLang="zh-TW" i="1" smtClean="0">
                                          <a:solidFill>
                                            <a:srgbClr val="00B0F0"/>
                                          </a:solidFill>
                                          <a:latin typeface="Cambria Math" panose="02040503050406030204" pitchFamily="18" charset="0"/>
                                        </a:rPr>
                                        <m:t>𝑗</m:t>
                                      </m:r>
                                      <m:r>
                                        <a:rPr lang="en-US" altLang="zh-TW" i="1" smtClean="0">
                                          <a:solidFill>
                                            <a:srgbClr val="00B0F0"/>
                                          </a:solidFill>
                                          <a:latin typeface="Cambria Math" panose="02040503050406030204" pitchFamily="18" charset="0"/>
                                        </a:rPr>
                                        <m:t>−1</m:t>
                                      </m:r>
                                    </m:e>
                                  </m:d>
                                </m:e>
                              </m:d>
                              <m:r>
                                <a:rPr lang="en-US" altLang="zh-TW" i="1" smtClean="0">
                                  <a:solidFill>
                                    <a:srgbClr val="00B0F0"/>
                                  </a:solidFill>
                                  <a:latin typeface="Cambria Math" panose="02040503050406030204" pitchFamily="18" charset="0"/>
                                </a:rPr>
                                <m:t>            </m:t>
                              </m:r>
                              <m:r>
                                <a:rPr lang="en-US" altLang="zh-TW" i="1" smtClean="0">
                                  <a:solidFill>
                                    <a:srgbClr val="00B0F0"/>
                                  </a:solidFill>
                                  <a:latin typeface="Cambria Math" panose="02040503050406030204" pitchFamily="18" charset="0"/>
                                </a:rPr>
                                <m:t>𝑜</m:t>
                              </m:r>
                              <m:r>
                                <a:rPr lang="en-US" altLang="zh-TW" i="1" smtClean="0">
                                  <a:solidFill>
                                    <a:srgbClr val="00B0F0"/>
                                  </a:solidFill>
                                  <a:latin typeface="Cambria Math" panose="02040503050406030204" pitchFamily="18" charset="0"/>
                                </a:rPr>
                                <m:t>.</m:t>
                              </m:r>
                              <m:r>
                                <a:rPr lang="en-US" altLang="zh-TW" i="1" smtClean="0">
                                  <a:solidFill>
                                    <a:srgbClr val="00B0F0"/>
                                  </a:solidFill>
                                  <a:latin typeface="Cambria Math" panose="02040503050406030204" pitchFamily="18" charset="0"/>
                                </a:rPr>
                                <m:t>𝑤</m:t>
                              </m:r>
                              <m:r>
                                <a:rPr lang="en-US" altLang="zh-TW" i="1" smtClean="0">
                                  <a:solidFill>
                                    <a:srgbClr val="00B0F0"/>
                                  </a:solidFill>
                                  <a:latin typeface="Cambria Math" panose="02040503050406030204" pitchFamily="18" charset="0"/>
                                </a:rPr>
                                <m:t>.</m:t>
                              </m:r>
                            </m:e>
                          </m:eqArr>
                        </m:e>
                      </m:d>
                    </m:oMath>
                  </m:oMathPara>
                </a14:m>
                <a:endParaRPr lang="zh-TW" altLang="en-US" dirty="0"/>
              </a:p>
            </p:txBody>
          </p:sp>
        </mc:Choice>
        <mc:Fallback xmlns="">
          <p:sp>
            <p:nvSpPr>
              <p:cNvPr id="21" name="內容版面配置區 4"/>
              <p:cNvSpPr txBox="1">
                <a:spLocks noRot="1" noChangeAspect="1" noMove="1" noResize="1" noEditPoints="1" noAdjustHandles="1" noChangeArrowheads="1" noChangeShapeType="1" noTextEdit="1"/>
              </p:cNvSpPr>
              <p:nvPr/>
            </p:nvSpPr>
            <p:spPr>
              <a:xfrm>
                <a:off x="628650" y="1825625"/>
                <a:ext cx="7886700" cy="4351338"/>
              </a:xfrm>
              <a:prstGeom prst="rect">
                <a:avLst/>
              </a:prstGeom>
              <a:blipFill rotWithShape="0">
                <a:blip r:embed="rId3"/>
                <a:stretch>
                  <a:fillRect/>
                </a:stretch>
              </a:blipFill>
            </p:spPr>
            <p:txBody>
              <a:bodyPr/>
              <a:lstStyle/>
              <a:p>
                <a:r>
                  <a:rPr lang="zh-TW" altLang="en-US">
                    <a:noFill/>
                  </a:rPr>
                  <a:t> </a:t>
                </a:r>
              </a:p>
            </p:txBody>
          </p:sp>
        </mc:Fallback>
      </mc:AlternateContent>
      <p:sp>
        <p:nvSpPr>
          <p:cNvPr id="22" name="橢圓 21"/>
          <p:cNvSpPr/>
          <p:nvPr/>
        </p:nvSpPr>
        <p:spPr>
          <a:xfrm>
            <a:off x="6238873" y="5467350"/>
            <a:ext cx="771526" cy="295275"/>
          </a:xfrm>
          <a:prstGeom prst="ellipse">
            <a:avLst/>
          </a:prstGeom>
          <a:noFill/>
          <a:ln w="508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4610099" y="5434012"/>
            <a:ext cx="628651" cy="295275"/>
          </a:xfrm>
          <a:prstGeom prst="ellipse">
            <a:avLst/>
          </a:prstGeom>
          <a:noFill/>
          <a:ln w="508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724661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Re-formulate</a:t>
            </a:r>
            <a:r>
              <a:rPr lang="en-US" altLang="zh-TW" dirty="0" smtClean="0">
                <a:latin typeface="Times New Roman" panose="02020603050405020304" pitchFamily="18" charset="0"/>
                <a:cs typeface="Times New Roman" panose="02020603050405020304" pitchFamily="18" charset="0"/>
              </a:rPr>
              <a:t> The Equation(2/3)</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marL="0" indent="0">
                  <a:buNone/>
                </a:pPr>
                <a:endParaRPr lang="en-US" altLang="zh-TW" sz="2400"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𝑆</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r>
                            <a:rPr lang="en-US" altLang="zh-TW" sz="2400" i="1">
                              <a:latin typeface="Cambria Math" panose="02040503050406030204" pitchFamily="18" charset="0"/>
                            </a:rPr>
                            <m:t>,</m:t>
                          </m:r>
                          <m:r>
                            <a:rPr lang="en-US" altLang="zh-TW" sz="2400" i="1">
                              <a:latin typeface="Cambria Math" panose="02040503050406030204" pitchFamily="18" charset="0"/>
                            </a:rPr>
                            <m:t>𝑗</m:t>
                          </m:r>
                        </m:e>
                      </m:d>
                      <m:r>
                        <a:rPr lang="en-US" altLang="zh-TW" sz="2400" i="1">
                          <a:latin typeface="Cambria Math" panose="02040503050406030204" pitchFamily="18" charset="0"/>
                        </a:rPr>
                        <m:t>= </m:t>
                      </m:r>
                      <m:d>
                        <m:dPr>
                          <m:begChr m:val="{"/>
                          <m:endChr m:val=""/>
                          <m:ctrlPr>
                            <a:rPr lang="en-US" altLang="zh-TW" sz="2400" i="1">
                              <a:latin typeface="Cambria Math" panose="02040503050406030204" pitchFamily="18" charset="0"/>
                            </a:rPr>
                          </m:ctrlPr>
                        </m:dPr>
                        <m:e>
                          <m:eqArr>
                            <m:eqArrPr>
                              <m:ctrlPr>
                                <a:rPr lang="en-US" altLang="zh-TW" sz="2400" i="1">
                                  <a:latin typeface="Cambria Math" panose="02040503050406030204" pitchFamily="18" charset="0"/>
                                </a:rPr>
                              </m:ctrlPr>
                            </m:eqArrPr>
                            <m:e>
                              <m:r>
                                <a:rPr lang="en-US" altLang="zh-TW" sz="2400" i="1">
                                  <a:latin typeface="Cambria Math" panose="02040503050406030204" pitchFamily="18" charset="0"/>
                                </a:rPr>
                                <m:t>  0                                                  </m:t>
                              </m:r>
                              <m:r>
                                <a:rPr lang="en-US" altLang="zh-TW" sz="2400" i="1">
                                  <a:latin typeface="Cambria Math" panose="02040503050406030204" pitchFamily="18" charset="0"/>
                                </a:rPr>
                                <m:t>𝑖</m:t>
                              </m:r>
                              <m:r>
                                <a:rPr lang="en-US" altLang="zh-TW" sz="2400" i="1">
                                  <a:latin typeface="Cambria Math" panose="02040503050406030204" pitchFamily="18" charset="0"/>
                                </a:rPr>
                                <m:t> </m:t>
                              </m:r>
                              <m:r>
                                <a:rPr lang="en-US" altLang="zh-TW" sz="2400" i="1">
                                  <a:latin typeface="Cambria Math" panose="02040503050406030204" pitchFamily="18" charset="0"/>
                                </a:rPr>
                                <m:t>𝑜𝑟</m:t>
                              </m:r>
                              <m:r>
                                <a:rPr lang="en-US" altLang="zh-TW" sz="2400" i="1">
                                  <a:latin typeface="Cambria Math" panose="02040503050406030204" pitchFamily="18" charset="0"/>
                                </a:rPr>
                                <m:t> </m:t>
                              </m:r>
                              <m:r>
                                <a:rPr lang="en-US" altLang="zh-TW" sz="2400" i="1">
                                  <a:latin typeface="Cambria Math" panose="02040503050406030204" pitchFamily="18" charset="0"/>
                                </a:rPr>
                                <m:t>𝑗</m:t>
                              </m:r>
                              <m:r>
                                <a:rPr lang="en-US" altLang="zh-TW" sz="2400" i="1">
                                  <a:latin typeface="Cambria Math" panose="02040503050406030204" pitchFamily="18" charset="0"/>
                                </a:rPr>
                                <m:t> </m:t>
                              </m:r>
                              <m:r>
                                <a:rPr lang="en-US" altLang="zh-TW" sz="2400" i="1">
                                  <a:latin typeface="Cambria Math" panose="02040503050406030204" pitchFamily="18" charset="0"/>
                                </a:rPr>
                                <m:t>𝑖𝑠</m:t>
                              </m:r>
                              <m:r>
                                <a:rPr lang="en-US" altLang="zh-TW" sz="2400" i="1">
                                  <a:latin typeface="Cambria Math" panose="02040503050406030204" pitchFamily="18" charset="0"/>
                                </a:rPr>
                                <m:t> 0</m:t>
                              </m:r>
                            </m:e>
                            <m:e>
                              <m:r>
                                <a:rPr lang="en-US" altLang="zh-TW" sz="2400" i="1">
                                  <a:latin typeface="Cambria Math" panose="02040503050406030204" pitchFamily="18" charset="0"/>
                                </a:rPr>
                                <m:t>  </m:t>
                              </m:r>
                              <m:r>
                                <a:rPr lang="en-US" altLang="zh-TW" sz="2400" i="1">
                                  <a:latin typeface="Cambria Math" panose="02040503050406030204" pitchFamily="18" charset="0"/>
                                </a:rPr>
                                <m:t>𝑆</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r>
                                    <a:rPr lang="en-US" altLang="zh-TW" sz="2400" i="1">
                                      <a:latin typeface="Cambria Math" panose="02040503050406030204" pitchFamily="18" charset="0"/>
                                    </a:rPr>
                                    <m:t>−1,</m:t>
                                  </m:r>
                                  <m:r>
                                    <a:rPr lang="en-US" altLang="zh-TW" sz="2400" i="1">
                                      <a:latin typeface="Cambria Math" panose="02040503050406030204" pitchFamily="18" charset="0"/>
                                    </a:rPr>
                                    <m:t>𝑗</m:t>
                                  </m:r>
                                  <m:r>
                                    <a:rPr lang="en-US" altLang="zh-TW" sz="2400" i="1">
                                      <a:latin typeface="Cambria Math" panose="02040503050406030204" pitchFamily="18" charset="0"/>
                                    </a:rPr>
                                    <m:t>−1</m:t>
                                  </m:r>
                                </m:e>
                              </m:d>
                              <m:r>
                                <a:rPr lang="en-US" altLang="zh-TW" sz="2400" i="1">
                                  <a:latin typeface="Cambria Math" panose="02040503050406030204" pitchFamily="18" charset="0"/>
                                </a:rPr>
                                <m:t>+1                       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𝑎</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𝑏</m:t>
                                  </m:r>
                                </m:e>
                                <m:sub>
                                  <m:r>
                                    <a:rPr lang="en-US" altLang="zh-TW" sz="2400" i="1">
                                      <a:latin typeface="Cambria Math" panose="02040503050406030204" pitchFamily="18" charset="0"/>
                                    </a:rPr>
                                    <m:t>𝑗</m:t>
                                  </m:r>
                                </m:sub>
                              </m:sSub>
                            </m:e>
                            <m:e>
                              <m:r>
                                <a:rPr lang="en-US" altLang="zh-TW" sz="2400" i="1">
                                  <a:latin typeface="Cambria Math" panose="02040503050406030204" pitchFamily="18" charset="0"/>
                                </a:rPr>
                                <m:t>  </m:t>
                              </m:r>
                              <m:r>
                                <a:rPr lang="en-US" altLang="zh-TW" sz="2400" i="1">
                                  <a:latin typeface="Cambria Math" panose="02040503050406030204" pitchFamily="18" charset="0"/>
                                </a:rPr>
                                <m:t>𝑚𝑎𝑥</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𝑆</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r>
                                        <a:rPr lang="en-US" altLang="zh-TW" sz="2400" i="1">
                                          <a:latin typeface="Cambria Math" panose="02040503050406030204" pitchFamily="18" charset="0"/>
                                        </a:rPr>
                                        <m:t>−1,</m:t>
                                      </m:r>
                                      <m:r>
                                        <a:rPr lang="en-US" altLang="zh-TW" sz="2400" i="1">
                                          <a:latin typeface="Cambria Math" panose="02040503050406030204" pitchFamily="18" charset="0"/>
                                        </a:rPr>
                                        <m:t>𝑗</m:t>
                                      </m:r>
                                    </m:e>
                                  </m:d>
                                  <m:r>
                                    <a:rPr lang="en-US" altLang="zh-TW" sz="2400" i="1">
                                      <a:latin typeface="Cambria Math" panose="02040503050406030204" pitchFamily="18" charset="0"/>
                                    </a:rPr>
                                    <m:t>,</m:t>
                                  </m:r>
                                  <m:r>
                                    <a:rPr lang="en-US" altLang="zh-TW" sz="2400" i="1">
                                      <a:latin typeface="Cambria Math" panose="02040503050406030204" pitchFamily="18" charset="0"/>
                                    </a:rPr>
                                    <m:t>𝑆</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r>
                                        <a:rPr lang="en-US" altLang="zh-TW" sz="2400" i="1">
                                          <a:latin typeface="Cambria Math" panose="02040503050406030204" pitchFamily="18" charset="0"/>
                                        </a:rPr>
                                        <m:t>,</m:t>
                                      </m:r>
                                      <m:r>
                                        <a:rPr lang="en-US" altLang="zh-TW" sz="2400" i="1">
                                          <a:latin typeface="Cambria Math" panose="02040503050406030204" pitchFamily="18" charset="0"/>
                                        </a:rPr>
                                        <m:t>𝑗</m:t>
                                      </m:r>
                                      <m:r>
                                        <a:rPr lang="en-US" altLang="zh-TW" sz="2400" i="1">
                                          <a:latin typeface="Cambria Math" panose="02040503050406030204" pitchFamily="18" charset="0"/>
                                        </a:rPr>
                                        <m:t>−1</m:t>
                                      </m:r>
                                    </m:e>
                                  </m:d>
                                </m:e>
                              </m:d>
                              <m:r>
                                <a:rPr lang="en-US" altLang="zh-TW" sz="2400" i="1">
                                  <a:latin typeface="Cambria Math" panose="02040503050406030204" pitchFamily="18" charset="0"/>
                                </a:rPr>
                                <m:t>            </m:t>
                              </m:r>
                              <m:r>
                                <a:rPr lang="en-US" altLang="zh-TW" sz="2400" i="1">
                                  <a:latin typeface="Cambria Math" panose="02040503050406030204" pitchFamily="18" charset="0"/>
                                </a:rPr>
                                <m:t>𝑜</m:t>
                              </m:r>
                              <m:r>
                                <a:rPr lang="en-US" altLang="zh-TW" sz="2400" i="1">
                                  <a:latin typeface="Cambria Math" panose="02040503050406030204" pitchFamily="18" charset="0"/>
                                </a:rPr>
                                <m:t>.</m:t>
                              </m:r>
                              <m:r>
                                <a:rPr lang="en-US" altLang="zh-TW" sz="2400" i="1">
                                  <a:latin typeface="Cambria Math" panose="02040503050406030204" pitchFamily="18" charset="0"/>
                                </a:rPr>
                                <m:t>𝑤</m:t>
                              </m:r>
                              <m:r>
                                <a:rPr lang="en-US" altLang="zh-TW" sz="2400" i="1">
                                  <a:latin typeface="Cambria Math" panose="02040503050406030204" pitchFamily="18" charset="0"/>
                                </a:rPr>
                                <m:t>.</m:t>
                              </m:r>
                            </m:e>
                          </m:eqArr>
                        </m:e>
                      </m:d>
                    </m:oMath>
                  </m:oMathPara>
                </a14:m>
                <a:endParaRPr lang="en-US" altLang="zh-TW" sz="2400" dirty="0" smtClean="0">
                  <a:solidFill>
                    <a:schemeClr val="tx1"/>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𝑆</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r>
                            <a:rPr lang="en-US" altLang="zh-TW" sz="2400" i="1">
                              <a:latin typeface="Cambria Math" panose="02040503050406030204" pitchFamily="18" charset="0"/>
                            </a:rPr>
                            <m:t>,</m:t>
                          </m:r>
                          <m:r>
                            <a:rPr lang="en-US" altLang="zh-TW" sz="2400" i="1">
                              <a:latin typeface="Cambria Math" panose="02040503050406030204" pitchFamily="18" charset="0"/>
                            </a:rPr>
                            <m:t>𝑗</m:t>
                          </m:r>
                          <m:r>
                            <a:rPr lang="en-US" altLang="zh-TW" sz="2400" b="0" i="1" smtClean="0">
                              <a:latin typeface="Cambria Math" panose="02040503050406030204" pitchFamily="18" charset="0"/>
                            </a:rPr>
                            <m:t>−1</m:t>
                          </m:r>
                        </m:e>
                      </m:d>
                      <m:r>
                        <a:rPr lang="en-US" altLang="zh-TW" sz="2400" i="1">
                          <a:latin typeface="Cambria Math" panose="02040503050406030204" pitchFamily="18" charset="0"/>
                        </a:rPr>
                        <m:t>= </m:t>
                      </m:r>
                      <m:d>
                        <m:dPr>
                          <m:begChr m:val="{"/>
                          <m:endChr m:val=""/>
                          <m:ctrlPr>
                            <a:rPr lang="en-US" altLang="zh-TW" sz="2400" i="1">
                              <a:latin typeface="Cambria Math" panose="02040503050406030204" pitchFamily="18" charset="0"/>
                            </a:rPr>
                          </m:ctrlPr>
                        </m:dPr>
                        <m:e>
                          <m:eqArr>
                            <m:eqArrPr>
                              <m:ctrlPr>
                                <a:rPr lang="en-US" altLang="zh-TW" sz="2400" i="1">
                                  <a:latin typeface="Cambria Math" panose="02040503050406030204" pitchFamily="18" charset="0"/>
                                </a:rPr>
                              </m:ctrlPr>
                            </m:eqArrPr>
                            <m:e>
                              <m:r>
                                <a:rPr lang="en-US" altLang="zh-TW" sz="2400" i="1">
                                  <a:latin typeface="Cambria Math" panose="02040503050406030204" pitchFamily="18" charset="0"/>
                                </a:rPr>
                                <m:t>  0                                         </m:t>
                              </m:r>
                              <m:r>
                                <a:rPr lang="en-US" altLang="zh-TW" sz="2400" b="0" i="1" smtClean="0">
                                  <a:latin typeface="Cambria Math" panose="02040503050406030204" pitchFamily="18" charset="0"/>
                                </a:rPr>
                                <m:t>   </m:t>
                              </m:r>
                              <m:r>
                                <a:rPr lang="en-US" altLang="zh-TW" sz="2400" i="1">
                                  <a:latin typeface="Cambria Math" panose="02040503050406030204" pitchFamily="18" charset="0"/>
                                </a:rPr>
                                <m:t>         </m:t>
                              </m:r>
                              <m:r>
                                <a:rPr lang="en-US" altLang="zh-TW" sz="2400" i="1">
                                  <a:latin typeface="Cambria Math" panose="02040503050406030204" pitchFamily="18" charset="0"/>
                                </a:rPr>
                                <m:t>𝑖</m:t>
                              </m:r>
                              <m:r>
                                <a:rPr lang="en-US" altLang="zh-TW" sz="2400" i="1">
                                  <a:latin typeface="Cambria Math" panose="02040503050406030204" pitchFamily="18" charset="0"/>
                                </a:rPr>
                                <m:t> </m:t>
                              </m:r>
                              <m:r>
                                <a:rPr lang="en-US" altLang="zh-TW" sz="2400" i="1">
                                  <a:latin typeface="Cambria Math" panose="02040503050406030204" pitchFamily="18" charset="0"/>
                                </a:rPr>
                                <m:t>𝑜𝑟</m:t>
                              </m:r>
                              <m:r>
                                <a:rPr lang="en-US" altLang="zh-TW" sz="2400" i="1">
                                  <a:latin typeface="Cambria Math" panose="02040503050406030204" pitchFamily="18" charset="0"/>
                                </a:rPr>
                                <m:t> </m:t>
                              </m:r>
                              <m:r>
                                <a:rPr lang="en-US" altLang="zh-TW" sz="2400" i="1">
                                  <a:latin typeface="Cambria Math" panose="02040503050406030204" pitchFamily="18" charset="0"/>
                                </a:rPr>
                                <m:t>𝑗</m:t>
                              </m:r>
                              <m:r>
                                <a:rPr lang="en-US" altLang="zh-TW" sz="2400" b="0" i="1" smtClean="0">
                                  <a:latin typeface="Cambria Math" panose="02040503050406030204" pitchFamily="18" charset="0"/>
                                </a:rPr>
                                <m:t>−1</m:t>
                              </m:r>
                              <m:r>
                                <a:rPr lang="en-US" altLang="zh-TW" sz="2400" i="1">
                                  <a:latin typeface="Cambria Math" panose="02040503050406030204" pitchFamily="18" charset="0"/>
                                </a:rPr>
                                <m:t> </m:t>
                              </m:r>
                              <m:r>
                                <a:rPr lang="en-US" altLang="zh-TW" sz="2400" i="1">
                                  <a:latin typeface="Cambria Math" panose="02040503050406030204" pitchFamily="18" charset="0"/>
                                </a:rPr>
                                <m:t>𝑖𝑠</m:t>
                              </m:r>
                              <m:r>
                                <a:rPr lang="en-US" altLang="zh-TW" sz="2400" i="1">
                                  <a:latin typeface="Cambria Math" panose="02040503050406030204" pitchFamily="18" charset="0"/>
                                </a:rPr>
                                <m:t> 0</m:t>
                              </m:r>
                            </m:e>
                            <m:e>
                              <m:r>
                                <a:rPr lang="en-US" altLang="zh-TW" sz="2400" i="1">
                                  <a:latin typeface="Cambria Math" panose="02040503050406030204" pitchFamily="18" charset="0"/>
                                </a:rPr>
                                <m:t>  </m:t>
                              </m:r>
                              <m:r>
                                <a:rPr lang="en-US" altLang="zh-TW" sz="2400" i="1">
                                  <a:latin typeface="Cambria Math" panose="02040503050406030204" pitchFamily="18" charset="0"/>
                                </a:rPr>
                                <m:t>𝑆</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r>
                                    <a:rPr lang="en-US" altLang="zh-TW" sz="2400" i="1">
                                      <a:latin typeface="Cambria Math" panose="02040503050406030204" pitchFamily="18" charset="0"/>
                                    </a:rPr>
                                    <m:t>−1,</m:t>
                                  </m:r>
                                  <m:r>
                                    <a:rPr lang="en-US" altLang="zh-TW" sz="2400" i="1">
                                      <a:latin typeface="Cambria Math" panose="02040503050406030204" pitchFamily="18" charset="0"/>
                                    </a:rPr>
                                    <m:t>𝑗</m:t>
                                  </m:r>
                                  <m:r>
                                    <a:rPr lang="en-US" altLang="zh-TW" sz="2400" i="1">
                                      <a:latin typeface="Cambria Math" panose="02040503050406030204" pitchFamily="18" charset="0"/>
                                    </a:rPr>
                                    <m:t>−2</m:t>
                                  </m:r>
                                </m:e>
                              </m:d>
                              <m:r>
                                <a:rPr lang="en-US" altLang="zh-TW" sz="2400" i="1">
                                  <a:latin typeface="Cambria Math" panose="02040503050406030204" pitchFamily="18" charset="0"/>
                                </a:rPr>
                                <m:t>+1        </m:t>
                              </m:r>
                              <m:r>
                                <a:rPr lang="en-US" altLang="zh-TW" sz="2400" b="0" i="1" smtClean="0">
                                  <a:latin typeface="Cambria Math" panose="02040503050406030204" pitchFamily="18" charset="0"/>
                                </a:rPr>
                                <m:t>     </m:t>
                              </m:r>
                              <m:r>
                                <a:rPr lang="en-US" altLang="zh-TW" sz="2400" i="1">
                                  <a:latin typeface="Cambria Math" panose="02040503050406030204" pitchFamily="18" charset="0"/>
                                </a:rPr>
                                <m:t>     </m:t>
                              </m:r>
                              <m:r>
                                <a:rPr lang="en-US" altLang="zh-TW" sz="2400" b="0" i="1" smtClean="0">
                                  <a:latin typeface="Cambria Math" panose="02040503050406030204" pitchFamily="18" charset="0"/>
                                </a:rPr>
                                <m:t> </m:t>
                              </m:r>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𝑎</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𝑏</m:t>
                                  </m:r>
                                </m:e>
                                <m:sub>
                                  <m:r>
                                    <a:rPr lang="en-US" altLang="zh-TW" sz="2400" i="1">
                                      <a:latin typeface="Cambria Math" panose="02040503050406030204" pitchFamily="18" charset="0"/>
                                    </a:rPr>
                                    <m:t>𝑗</m:t>
                                  </m:r>
                                  <m:r>
                                    <a:rPr lang="en-US" altLang="zh-TW" sz="2400" b="0" i="1" smtClean="0">
                                      <a:latin typeface="Cambria Math" panose="02040503050406030204" pitchFamily="18" charset="0"/>
                                    </a:rPr>
                                    <m:t>−1</m:t>
                                  </m:r>
                                </m:sub>
                              </m:sSub>
                            </m:e>
                            <m:e>
                              <m:r>
                                <a:rPr lang="en-US" altLang="zh-TW" sz="2400" i="1">
                                  <a:latin typeface="Cambria Math" panose="02040503050406030204" pitchFamily="18" charset="0"/>
                                </a:rPr>
                                <m:t>  </m:t>
                              </m:r>
                              <m:r>
                                <a:rPr lang="en-US" altLang="zh-TW" sz="2400" i="1">
                                  <a:latin typeface="Cambria Math" panose="02040503050406030204" pitchFamily="18" charset="0"/>
                                </a:rPr>
                                <m:t>𝑚𝑎𝑥</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𝑆</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r>
                                        <a:rPr lang="en-US" altLang="zh-TW" sz="2400" i="1">
                                          <a:latin typeface="Cambria Math" panose="02040503050406030204" pitchFamily="18" charset="0"/>
                                        </a:rPr>
                                        <m:t>−1,</m:t>
                                      </m:r>
                                      <m:r>
                                        <a:rPr lang="en-US" altLang="zh-TW" sz="2400" i="1">
                                          <a:latin typeface="Cambria Math" panose="02040503050406030204" pitchFamily="18" charset="0"/>
                                        </a:rPr>
                                        <m:t>𝑗</m:t>
                                      </m:r>
                                      <m:r>
                                        <a:rPr lang="en-US" altLang="zh-TW" sz="2400" b="0" i="1" smtClean="0">
                                          <a:latin typeface="Cambria Math" panose="02040503050406030204" pitchFamily="18" charset="0"/>
                                        </a:rPr>
                                        <m:t>−1</m:t>
                                      </m:r>
                                    </m:e>
                                  </m:d>
                                  <m:r>
                                    <a:rPr lang="en-US" altLang="zh-TW" sz="2400" i="1">
                                      <a:latin typeface="Cambria Math" panose="02040503050406030204" pitchFamily="18" charset="0"/>
                                    </a:rPr>
                                    <m:t>,</m:t>
                                  </m:r>
                                  <m:r>
                                    <a:rPr lang="en-US" altLang="zh-TW" sz="2400" i="1">
                                      <a:latin typeface="Cambria Math" panose="02040503050406030204" pitchFamily="18" charset="0"/>
                                    </a:rPr>
                                    <m:t>𝑆</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𝑖</m:t>
                                      </m:r>
                                      <m:r>
                                        <a:rPr lang="en-US" altLang="zh-TW" sz="2400" i="1">
                                          <a:latin typeface="Cambria Math" panose="02040503050406030204" pitchFamily="18" charset="0"/>
                                        </a:rPr>
                                        <m:t>,</m:t>
                                      </m:r>
                                      <m:r>
                                        <a:rPr lang="en-US" altLang="zh-TW" sz="2400" i="1">
                                          <a:latin typeface="Cambria Math" panose="02040503050406030204" pitchFamily="18" charset="0"/>
                                        </a:rPr>
                                        <m:t>𝑗</m:t>
                                      </m:r>
                                      <m:r>
                                        <a:rPr lang="en-US" altLang="zh-TW" sz="2400" i="1">
                                          <a:latin typeface="Cambria Math" panose="02040503050406030204" pitchFamily="18" charset="0"/>
                                        </a:rPr>
                                        <m:t>−2</m:t>
                                      </m:r>
                                    </m:e>
                                  </m:d>
                                </m:e>
                              </m:d>
                              <m:r>
                                <a:rPr lang="en-US" altLang="zh-TW" sz="2400" i="1">
                                  <a:latin typeface="Cambria Math" panose="02040503050406030204" pitchFamily="18" charset="0"/>
                                </a:rPr>
                                <m:t>      </m:t>
                              </m:r>
                              <m:r>
                                <a:rPr lang="en-US" altLang="zh-TW" sz="2400" i="1">
                                  <a:latin typeface="Cambria Math" panose="02040503050406030204" pitchFamily="18" charset="0"/>
                                </a:rPr>
                                <m:t>𝑜</m:t>
                              </m:r>
                              <m:r>
                                <a:rPr lang="en-US" altLang="zh-TW" sz="2400" i="1">
                                  <a:latin typeface="Cambria Math" panose="02040503050406030204" pitchFamily="18" charset="0"/>
                                </a:rPr>
                                <m:t>.</m:t>
                              </m:r>
                              <m:r>
                                <a:rPr lang="en-US" altLang="zh-TW" sz="2400" i="1">
                                  <a:latin typeface="Cambria Math" panose="02040503050406030204" pitchFamily="18" charset="0"/>
                                </a:rPr>
                                <m:t>𝑤</m:t>
                              </m:r>
                              <m:r>
                                <a:rPr lang="en-US" altLang="zh-TW" sz="2400" i="1">
                                  <a:latin typeface="Cambria Math" panose="02040503050406030204" pitchFamily="18" charset="0"/>
                                </a:rPr>
                                <m:t>.</m:t>
                              </m:r>
                            </m:e>
                          </m:eqArr>
                        </m:e>
                      </m:d>
                    </m:oMath>
                  </m:oMathPara>
                </a14:m>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smtClean="0">
                  <a:solidFill>
                    <a:schemeClr val="tx1"/>
                  </a:solidFill>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zh-TW" altLang="en-US">
                    <a:noFill/>
                  </a:rPr>
                  <a:t> </a:t>
                </a:r>
              </a:p>
            </p:txBody>
          </p:sp>
        </mc:Fallback>
      </mc:AlternateContent>
      <p:sp>
        <p:nvSpPr>
          <p:cNvPr id="4" name="矩形 3"/>
          <p:cNvSpPr/>
          <p:nvPr/>
        </p:nvSpPr>
        <p:spPr>
          <a:xfrm>
            <a:off x="4962525" y="2943225"/>
            <a:ext cx="1266825" cy="495300"/>
          </a:xfrm>
          <a:prstGeom prst="rect">
            <a:avLst/>
          </a:prstGeom>
          <a:noFill/>
          <a:ln w="508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5" name="矩形 4"/>
          <p:cNvSpPr/>
          <p:nvPr/>
        </p:nvSpPr>
        <p:spPr>
          <a:xfrm>
            <a:off x="5717575" y="4672913"/>
            <a:ext cx="1276350" cy="403225"/>
          </a:xfrm>
          <a:prstGeom prst="rect">
            <a:avLst/>
          </a:prstGeom>
          <a:noFill/>
          <a:ln w="508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17707912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Re-formulate</a:t>
            </a:r>
            <a:r>
              <a:rPr lang="en-US" altLang="zh-TW" dirty="0" smtClean="0">
                <a:latin typeface="Times New Roman" panose="02020603050405020304" pitchFamily="18" charset="0"/>
                <a:cs typeface="Times New Roman" panose="02020603050405020304" pitchFamily="18" charset="0"/>
              </a:rPr>
              <a:t> The Equation(3/3)</a:t>
            </a:r>
            <a:endParaRPr lang="zh-TW" altLang="en-US" dirty="0">
              <a:latin typeface="Times New Roman" panose="02020603050405020304" pitchFamily="18" charset="0"/>
              <a:cs typeface="Times New Roman" panose="02020603050405020304" pitchFamily="18" charset="0"/>
            </a:endParaRPr>
          </a:p>
        </p:txBody>
      </p:sp>
      <p:pic>
        <p:nvPicPr>
          <p:cNvPr id="8" name="圖片 7"/>
          <p:cNvPicPr>
            <a:picLocks noChangeAspect="1"/>
          </p:cNvPicPr>
          <p:nvPr/>
        </p:nvPicPr>
        <p:blipFill>
          <a:blip r:embed="rId2"/>
          <a:stretch>
            <a:fillRect/>
          </a:stretch>
        </p:blipFill>
        <p:spPr>
          <a:xfrm>
            <a:off x="485596" y="1890712"/>
            <a:ext cx="8172807" cy="1557338"/>
          </a:xfrm>
          <a:prstGeom prst="rect">
            <a:avLst/>
          </a:prstGeom>
        </p:spPr>
      </p:pic>
      <p:graphicFrame>
        <p:nvGraphicFramePr>
          <p:cNvPr id="11" name="表格 10"/>
          <p:cNvGraphicFramePr>
            <a:graphicFrameLocks noGrp="1"/>
          </p:cNvGraphicFramePr>
          <p:nvPr>
            <p:extLst>
              <p:ext uri="{D42A27DB-BD31-4B8C-83A1-F6EECF244321}">
                <p14:modId xmlns:p14="http://schemas.microsoft.com/office/powerpoint/2010/main" val="658568511"/>
              </p:ext>
            </p:extLst>
          </p:nvPr>
        </p:nvGraphicFramePr>
        <p:xfrm>
          <a:off x="1114425" y="3762375"/>
          <a:ext cx="6972300" cy="2819400"/>
        </p:xfrm>
        <a:graphic>
          <a:graphicData uri="http://schemas.openxmlformats.org/drawingml/2006/table">
            <a:tbl>
              <a:tblPr firstRow="1" bandRow="1">
                <a:tableStyleId>{5940675A-B579-460E-94D1-54222C63F5DA}</a:tableStyleId>
              </a:tblPr>
              <a:tblGrid>
                <a:gridCol w="1162050"/>
                <a:gridCol w="1162050"/>
                <a:gridCol w="1162050"/>
                <a:gridCol w="1162050"/>
                <a:gridCol w="1162050"/>
                <a:gridCol w="1162050"/>
              </a:tblGrid>
              <a:tr h="939800">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A</a:t>
                      </a: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G</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r>
              <a:tr h="939800">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r>
              <a:tr h="939800">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en-US" altLang="zh-TW" dirty="0" smtClean="0">
                        <a:latin typeface="Times New Roman" panose="02020603050405020304" pitchFamily="18" charset="0"/>
                        <a:cs typeface="Times New Roman" panose="02020603050405020304" pitchFamily="18" charset="0"/>
                      </a:endParaRPr>
                    </a:p>
                    <a:p>
                      <a:pPr algn="ctr"/>
                      <a:r>
                        <a:rPr lang="en-US" altLang="zh-TW" dirty="0" smtClean="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r>
            </a:tbl>
          </a:graphicData>
        </a:graphic>
      </p:graphicFrame>
      <p:cxnSp>
        <p:nvCxnSpPr>
          <p:cNvPr id="13" name="直線單箭頭接點 12"/>
          <p:cNvCxnSpPr/>
          <p:nvPr/>
        </p:nvCxnSpPr>
        <p:spPr>
          <a:xfrm flipV="1">
            <a:off x="7496175" y="5353050"/>
            <a:ext cx="0" cy="523875"/>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6334125" y="5353050"/>
            <a:ext cx="0" cy="523875"/>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4010025" y="5353050"/>
            <a:ext cx="0" cy="523875"/>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H="1" flipV="1">
            <a:off x="4010025" y="5353050"/>
            <a:ext cx="3486150" cy="290512"/>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H="1" flipV="1">
            <a:off x="4010025" y="5353050"/>
            <a:ext cx="2324100" cy="290513"/>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flipH="1" flipV="1">
            <a:off x="4010025" y="5353050"/>
            <a:ext cx="1162050" cy="52387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flipH="1">
            <a:off x="3080952" y="6076822"/>
            <a:ext cx="721198" cy="2702"/>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27392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4000" dirty="0">
                <a:latin typeface="Times New Roman" panose="02020603050405020304" pitchFamily="18" charset="0"/>
                <a:cs typeface="Times New Roman" panose="02020603050405020304" pitchFamily="18" charset="0"/>
              </a:rPr>
              <a:t>P</a:t>
            </a:r>
            <a:r>
              <a:rPr lang="en-US" altLang="zh-TW" sz="4000" dirty="0" smtClean="0">
                <a:latin typeface="Times New Roman" panose="02020603050405020304" pitchFamily="18" charset="0"/>
                <a:cs typeface="Times New Roman" panose="02020603050405020304" pitchFamily="18" charset="0"/>
              </a:rPr>
              <a:t>reprocessing</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3399415617"/>
              </p:ext>
            </p:extLst>
          </p:nvPr>
        </p:nvGraphicFramePr>
        <p:xfrm>
          <a:off x="1114422" y="3301499"/>
          <a:ext cx="6858000" cy="2875464"/>
        </p:xfrm>
        <a:graphic>
          <a:graphicData uri="http://schemas.openxmlformats.org/drawingml/2006/table">
            <a:tbl>
              <a:tblPr firstRow="1" bandRow="1">
                <a:tableStyleId>{5940675A-B579-460E-94D1-54222C63F5DA}</a:tableStyleId>
              </a:tblPr>
              <a:tblGrid>
                <a:gridCol w="762000"/>
                <a:gridCol w="762000"/>
                <a:gridCol w="762000"/>
                <a:gridCol w="762000"/>
                <a:gridCol w="762000"/>
                <a:gridCol w="762000"/>
                <a:gridCol w="762000"/>
                <a:gridCol w="762000"/>
                <a:gridCol w="762000"/>
              </a:tblGrid>
              <a:tr h="47924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G</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tc>
              </a:tr>
              <a:tr h="47924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r>
              <a:tr h="479244">
                <a:tc>
                  <a:txBody>
                    <a:bodyPr/>
                    <a:lstStyle/>
                    <a:p>
                      <a:pPr algn="ctr"/>
                      <a:r>
                        <a:rPr lang="en-US" altLang="zh-TW" sz="2400" dirty="0" smtClean="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r>
              <a:tr h="479244">
                <a:tc>
                  <a:txBody>
                    <a:bodyPr/>
                    <a:lstStyle/>
                    <a:p>
                      <a:pPr algn="ctr"/>
                      <a:r>
                        <a:rPr lang="en-US" altLang="zh-TW" sz="2400" dirty="0" smtClean="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r>
              <a:tr h="479244">
                <a:tc>
                  <a:txBody>
                    <a:bodyPr/>
                    <a:lstStyle/>
                    <a:p>
                      <a:pPr algn="ctr"/>
                      <a:r>
                        <a:rPr lang="en-US" altLang="zh-TW" sz="2400" dirty="0" smtClean="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r>
              <a:tr h="479244">
                <a:tc>
                  <a:txBody>
                    <a:bodyPr/>
                    <a:lstStyle/>
                    <a:p>
                      <a:pPr algn="ctr"/>
                      <a:r>
                        <a:rPr lang="en-US" altLang="zh-TW" sz="2400" dirty="0" smtClean="0">
                          <a:latin typeface="Times New Roman" panose="02020603050405020304" pitchFamily="18" charset="0"/>
                          <a:cs typeface="Times New Roman" panose="02020603050405020304" pitchFamily="18" charset="0"/>
                        </a:rPr>
                        <a:t>G</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smtClean="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smtClean="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r>
            </a:tbl>
          </a:graphicData>
        </a:graphic>
      </p:graphicFrame>
      <p:pic>
        <p:nvPicPr>
          <p:cNvPr id="5" name="圖片 4"/>
          <p:cNvPicPr>
            <a:picLocks noChangeAspect="1"/>
          </p:cNvPicPr>
          <p:nvPr/>
        </p:nvPicPr>
        <p:blipFill>
          <a:blip r:embed="rId2"/>
          <a:stretch>
            <a:fillRect/>
          </a:stretch>
        </p:blipFill>
        <p:spPr>
          <a:xfrm>
            <a:off x="2221202" y="1690689"/>
            <a:ext cx="4701595" cy="1277312"/>
          </a:xfrm>
          <a:prstGeom prst="rect">
            <a:avLst/>
          </a:prstGeom>
        </p:spPr>
      </p:pic>
    </p:spTree>
    <p:extLst>
      <p:ext uri="{BB962C8B-B14F-4D97-AF65-F5344CB8AC3E}">
        <p14:creationId xmlns:p14="http://schemas.microsoft.com/office/powerpoint/2010/main" val="12467408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Re-formulate</a:t>
            </a:r>
            <a:r>
              <a:rPr lang="en-US" altLang="zh-TW" dirty="0" smtClean="0">
                <a:latin typeface="Times New Roman" panose="02020603050405020304" pitchFamily="18" charset="0"/>
                <a:cs typeface="Times New Roman" panose="02020603050405020304" pitchFamily="18" charset="0"/>
              </a:rPr>
              <a:t> The Equation</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p:cNvPicPr>
            <a:picLocks noGrp="1" noChangeAspect="1"/>
          </p:cNvPicPr>
          <p:nvPr>
            <p:ph idx="1"/>
          </p:nvPr>
        </p:nvPicPr>
        <p:blipFill>
          <a:blip r:embed="rId2"/>
          <a:stretch>
            <a:fillRect/>
          </a:stretch>
        </p:blipFill>
        <p:spPr>
          <a:xfrm>
            <a:off x="804862" y="1769498"/>
            <a:ext cx="7534275" cy="1435665"/>
          </a:xfrm>
          <a:prstGeom prst="rect">
            <a:avLst/>
          </a:prstGeom>
        </p:spPr>
      </p:pic>
      <p:cxnSp>
        <p:nvCxnSpPr>
          <p:cNvPr id="8" name="直線單箭頭接點 7"/>
          <p:cNvCxnSpPr/>
          <p:nvPr/>
        </p:nvCxnSpPr>
        <p:spPr>
          <a:xfrm>
            <a:off x="4562475" y="3352800"/>
            <a:ext cx="9525" cy="60960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 name="圖片 11"/>
          <p:cNvPicPr>
            <a:picLocks noChangeAspect="1"/>
          </p:cNvPicPr>
          <p:nvPr/>
        </p:nvPicPr>
        <p:blipFill>
          <a:blip r:embed="rId3"/>
          <a:stretch>
            <a:fillRect/>
          </a:stretch>
        </p:blipFill>
        <p:spPr>
          <a:xfrm>
            <a:off x="770122" y="4110037"/>
            <a:ext cx="7603754" cy="1366838"/>
          </a:xfrm>
          <a:prstGeom prst="rect">
            <a:avLst/>
          </a:prstGeom>
        </p:spPr>
      </p:pic>
    </p:spTree>
    <p:extLst>
      <p:ext uri="{BB962C8B-B14F-4D97-AF65-F5344CB8AC3E}">
        <p14:creationId xmlns:p14="http://schemas.microsoft.com/office/powerpoint/2010/main" val="17786323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Time</a:t>
            </a:r>
            <a:r>
              <a:rPr lang="en-US" altLang="zh-TW" dirty="0" smtClean="0">
                <a:latin typeface="Times New Roman" panose="02020603050405020304" pitchFamily="18" charset="0"/>
                <a:cs typeface="Times New Roman" panose="02020603050405020304" pitchFamily="18" charset="0"/>
              </a:rPr>
              <a:t> Complexity Analysis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25624"/>
                <a:ext cx="7886700" cy="4556125"/>
              </a:xfrm>
            </p:spPr>
            <p:txBody>
              <a:bodyPr>
                <a:normAutofit lnSpcReduction="10000"/>
              </a:bodyPr>
              <a:lstStyle/>
              <a:p>
                <a:pPr marL="0" indent="0">
                  <a:buNone/>
                </a:pPr>
                <a:r>
                  <a:rPr lang="en-US" altLang="zh-TW" dirty="0" smtClean="0">
                    <a:latin typeface="Times New Roman" panose="02020603050405020304" pitchFamily="18" charset="0"/>
                    <a:cs typeface="Times New Roman" panose="02020603050405020304" pitchFamily="18" charset="0"/>
                  </a:rPr>
                  <a:t>The </a:t>
                </a:r>
                <a:r>
                  <a:rPr lang="en-US" altLang="zh-TW" dirty="0">
                    <a:latin typeface="Times New Roman" panose="02020603050405020304" pitchFamily="18" charset="0"/>
                    <a:cs typeface="Times New Roman" panose="02020603050405020304" pitchFamily="18" charset="0"/>
                  </a:rPr>
                  <a:t>p</a:t>
                </a:r>
                <a:r>
                  <a:rPr lang="en-US" altLang="zh-TW" dirty="0" smtClean="0">
                    <a:latin typeface="Times New Roman" panose="02020603050405020304" pitchFamily="18" charset="0"/>
                    <a:cs typeface="Times New Roman" panose="02020603050405020304" pitchFamily="18" charset="0"/>
                  </a:rPr>
                  <a:t>arallel algorithm :</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Assume </a:t>
                </a:r>
                <a14:m>
                  <m:oMath xmlns:m="http://schemas.openxmlformats.org/officeDocument/2006/math">
                    <m:r>
                      <a:rPr lang="en-US" altLang="zh-TW" b="1" i="1">
                        <a:latin typeface="Cambria Math" panose="02040503050406030204" pitchFamily="18" charset="0"/>
                        <a:cs typeface="Times New Roman" panose="02020603050405020304" pitchFamily="18" charset="0"/>
                      </a:rPr>
                      <m:t>𝒎𝒂𝒙</m:t>
                    </m:r>
                    <m:d>
                      <m:dPr>
                        <m:ctrlPr>
                          <a:rPr lang="en-US" altLang="zh-TW" b="1" i="1" smtClean="0">
                            <a:latin typeface="Cambria Math" panose="02040503050406030204" pitchFamily="18" charset="0"/>
                            <a:cs typeface="Times New Roman" panose="02020603050405020304" pitchFamily="18" charset="0"/>
                          </a:rPr>
                        </m:ctrlPr>
                      </m:dPr>
                      <m:e>
                        <m:r>
                          <a:rPr lang="en-US" altLang="zh-TW" b="1" i="1" smtClean="0">
                            <a:latin typeface="Cambria Math" panose="02040503050406030204" pitchFamily="18" charset="0"/>
                            <a:cs typeface="Times New Roman" panose="02020603050405020304" pitchFamily="18" charset="0"/>
                          </a:rPr>
                          <m:t>𝒎</m:t>
                        </m:r>
                        <m:r>
                          <a:rPr lang="en-US" altLang="zh-TW" b="1" i="1" smtClean="0">
                            <a:latin typeface="Cambria Math" panose="02040503050406030204" pitchFamily="18" charset="0"/>
                            <a:cs typeface="Times New Roman" panose="02020603050405020304" pitchFamily="18" charset="0"/>
                          </a:rPr>
                          <m:t>,</m:t>
                        </m:r>
                        <m:r>
                          <a:rPr lang="en-US" altLang="zh-TW" b="1" i="1" smtClean="0">
                            <a:latin typeface="Cambria Math" panose="02040503050406030204" pitchFamily="18" charset="0"/>
                            <a:cs typeface="Times New Roman" panose="02020603050405020304" pitchFamily="18" charset="0"/>
                          </a:rPr>
                          <m:t>𝒏</m:t>
                        </m:r>
                      </m:e>
                    </m:d>
                  </m:oMath>
                </a14:m>
                <a:r>
                  <a:rPr lang="en-US" altLang="zh-TW" b="1" dirty="0" smtClean="0">
                    <a:latin typeface="Times New Roman" panose="02020603050405020304" pitchFamily="18" charset="0"/>
                    <a:cs typeface="Times New Roman" panose="02020603050405020304" pitchFamily="18" charset="0"/>
                  </a:rPr>
                  <a:t> processors</a:t>
                </a:r>
                <a:r>
                  <a:rPr lang="en-US" altLang="zh-TW" dirty="0" smtClean="0">
                    <a:latin typeface="Times New Roman" panose="02020603050405020304" pitchFamily="18" charset="0"/>
                    <a:cs typeface="Times New Roman" panose="02020603050405020304" pitchFamily="18" charset="0"/>
                  </a:rPr>
                  <a:t>.</a:t>
                </a:r>
              </a:p>
              <a:p>
                <a:pPr marL="0" indent="0">
                  <a:buNone/>
                </a:pPr>
                <a:r>
                  <a:rPr lang="en-US" altLang="zh-TW" dirty="0" smtClean="0">
                    <a:latin typeface="Times New Roman" panose="02020603050405020304" pitchFamily="18" charset="0"/>
                    <a:cs typeface="Times New Roman" panose="02020603050405020304" pitchFamily="18" charset="0"/>
                  </a:rPr>
                  <a:t>Step 1 takes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𝑂</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𝑚</m:t>
                        </m:r>
                      </m:e>
                    </m:d>
                  </m:oMath>
                </a14:m>
                <a:r>
                  <a:rPr lang="en-US" altLang="zh-TW" dirty="0" smtClean="0">
                    <a:latin typeface="Times New Roman" panose="02020603050405020304" pitchFamily="18" charset="0"/>
                    <a:cs typeface="Times New Roman" panose="02020603050405020304" pitchFamily="18" charset="0"/>
                  </a:rPr>
                  <a:t> time.</a:t>
                </a:r>
              </a:p>
              <a:p>
                <a:pPr marL="0" indent="0">
                  <a:buNone/>
                </a:pPr>
                <a:r>
                  <a:rPr lang="en-US" altLang="zh-TW" dirty="0" smtClean="0">
                    <a:latin typeface="Times New Roman" panose="02020603050405020304" pitchFamily="18" charset="0"/>
                    <a:cs typeface="Times New Roman" panose="02020603050405020304" pitchFamily="18" charset="0"/>
                  </a:rPr>
                  <a:t>Step 2 takes </a:t>
                </a:r>
                <a14:m>
                  <m:oMath xmlns:m="http://schemas.openxmlformats.org/officeDocument/2006/math">
                    <m:r>
                      <a:rPr lang="en-US" altLang="zh-TW" i="1">
                        <a:latin typeface="Cambria Math" panose="02040503050406030204" pitchFamily="18" charset="0"/>
                        <a:cs typeface="Times New Roman" panose="02020603050405020304" pitchFamily="18" charset="0"/>
                      </a:rPr>
                      <m:t>𝑂</m:t>
                    </m:r>
                    <m:d>
                      <m:dPr>
                        <m:ctrlPr>
                          <a:rPr lang="en-US" altLang="zh-TW" i="1">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𝑛</m:t>
                        </m:r>
                      </m:e>
                    </m:d>
                  </m:oMath>
                </a14:m>
                <a:r>
                  <a:rPr lang="en-US" altLang="zh-TW" dirty="0" smtClean="0">
                    <a:latin typeface="Times New Roman" panose="02020603050405020304" pitchFamily="18" charset="0"/>
                    <a:cs typeface="Times New Roman" panose="02020603050405020304" pitchFamily="18" charset="0"/>
                  </a:rPr>
                  <a:t> time.</a:t>
                </a:r>
              </a:p>
              <a:p>
                <a:pPr marL="0" indent="0">
                  <a:buNone/>
                </a:pPr>
                <a:r>
                  <a:rPr lang="en-US" altLang="zh-TW" dirty="0">
                    <a:latin typeface="Times New Roman" panose="02020603050405020304" pitchFamily="18" charset="0"/>
                    <a:cs typeface="Times New Roman" panose="02020603050405020304" pitchFamily="18" charset="0"/>
                  </a:rPr>
                  <a:t>T</a:t>
                </a:r>
                <a:r>
                  <a:rPr lang="en-US" altLang="zh-TW" dirty="0" smtClean="0">
                    <a:latin typeface="Times New Roman" panose="02020603050405020304" pitchFamily="18" charset="0"/>
                    <a:cs typeface="Times New Roman" panose="02020603050405020304" pitchFamily="18" charset="0"/>
                  </a:rPr>
                  <a:t>he algorithm’s time complexity is </a:t>
                </a:r>
                <a14:m>
                  <m:oMath xmlns:m="http://schemas.openxmlformats.org/officeDocument/2006/math">
                    <m:r>
                      <a:rPr lang="en-US" altLang="zh-TW" b="1" i="1" smtClean="0">
                        <a:latin typeface="Cambria Math" panose="02040503050406030204" pitchFamily="18" charset="0"/>
                        <a:cs typeface="Times New Roman" panose="02020603050405020304" pitchFamily="18" charset="0"/>
                      </a:rPr>
                      <m:t>𝑶</m:t>
                    </m:r>
                    <m:r>
                      <a:rPr lang="en-US" altLang="zh-TW" b="1" i="1" smtClean="0">
                        <a:latin typeface="Cambria Math" panose="02040503050406030204" pitchFamily="18" charset="0"/>
                        <a:cs typeface="Times New Roman" panose="02020603050405020304" pitchFamily="18" charset="0"/>
                      </a:rPr>
                      <m:t>(</m:t>
                    </m:r>
                    <m:r>
                      <a:rPr lang="en-US" altLang="zh-TW" b="1" i="1">
                        <a:latin typeface="Cambria Math" panose="02040503050406030204" pitchFamily="18" charset="0"/>
                        <a:cs typeface="Times New Roman" panose="02020603050405020304" pitchFamily="18" charset="0"/>
                      </a:rPr>
                      <m:t>𝒎𝒂𝒙</m:t>
                    </m:r>
                    <m:d>
                      <m:dPr>
                        <m:ctrlPr>
                          <a:rPr lang="en-US" altLang="zh-TW" b="1" i="1">
                            <a:latin typeface="Cambria Math" panose="02040503050406030204" pitchFamily="18" charset="0"/>
                            <a:cs typeface="Times New Roman" panose="02020603050405020304" pitchFamily="18" charset="0"/>
                          </a:rPr>
                        </m:ctrlPr>
                      </m:dPr>
                      <m:e>
                        <m:r>
                          <a:rPr lang="en-US" altLang="zh-TW" b="1" i="1">
                            <a:latin typeface="Cambria Math" panose="02040503050406030204" pitchFamily="18" charset="0"/>
                            <a:cs typeface="Times New Roman" panose="02020603050405020304" pitchFamily="18" charset="0"/>
                          </a:rPr>
                          <m:t>𝒎</m:t>
                        </m:r>
                        <m:r>
                          <a:rPr lang="en-US" altLang="zh-TW" b="1" i="1">
                            <a:latin typeface="Cambria Math" panose="02040503050406030204" pitchFamily="18" charset="0"/>
                            <a:cs typeface="Times New Roman" panose="02020603050405020304" pitchFamily="18" charset="0"/>
                          </a:rPr>
                          <m:t>,</m:t>
                        </m:r>
                        <m:r>
                          <a:rPr lang="en-US" altLang="zh-TW" b="1" i="1">
                            <a:latin typeface="Cambria Math" panose="02040503050406030204" pitchFamily="18" charset="0"/>
                            <a:cs typeface="Times New Roman" panose="02020603050405020304" pitchFamily="18" charset="0"/>
                          </a:rPr>
                          <m:t>𝒏</m:t>
                        </m:r>
                      </m:e>
                    </m:d>
                    <m:r>
                      <a:rPr lang="en-US" altLang="zh-TW" b="1" i="1" smtClean="0">
                        <a:latin typeface="Cambria Math" panose="02040503050406030204" pitchFamily="18" charset="0"/>
                        <a:cs typeface="Times New Roman" panose="02020603050405020304" pitchFamily="18" charset="0"/>
                      </a:rPr>
                      <m:t>)</m:t>
                    </m:r>
                  </m:oMath>
                </a14:m>
                <a:endParaRPr lang="en-US" altLang="zh-TW" b="1" dirty="0" smtClean="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25624"/>
                <a:ext cx="7886700" cy="4556125"/>
              </a:xfrm>
              <a:blipFill rotWithShape="0">
                <a:blip r:embed="rId2"/>
                <a:stretch>
                  <a:fillRect l="-1546" t="-3209"/>
                </a:stretch>
              </a:blipFill>
            </p:spPr>
            <p:txBody>
              <a:bodyPr/>
              <a:lstStyle/>
              <a:p>
                <a:r>
                  <a:rPr lang="zh-TW" altLang="en-US">
                    <a:noFill/>
                  </a:rPr>
                  <a:t> </a:t>
                </a:r>
              </a:p>
            </p:txBody>
          </p:sp>
        </mc:Fallback>
      </mc:AlternateContent>
      <p:pic>
        <p:nvPicPr>
          <p:cNvPr id="6" name="圖片 5"/>
          <p:cNvPicPr>
            <a:picLocks noChangeAspect="1"/>
          </p:cNvPicPr>
          <p:nvPr/>
        </p:nvPicPr>
        <p:blipFill>
          <a:blip r:embed="rId3"/>
          <a:stretch>
            <a:fillRect/>
          </a:stretch>
        </p:blipFill>
        <p:spPr>
          <a:xfrm>
            <a:off x="1223962" y="2401094"/>
            <a:ext cx="6119424" cy="1580356"/>
          </a:xfrm>
          <a:prstGeom prst="rect">
            <a:avLst/>
          </a:prstGeom>
        </p:spPr>
      </p:pic>
    </p:spTree>
    <p:extLst>
      <p:ext uri="{BB962C8B-B14F-4D97-AF65-F5344CB8AC3E}">
        <p14:creationId xmlns:p14="http://schemas.microsoft.com/office/powerpoint/2010/main" val="3015597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Optimize(1/3</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stretch>
            <a:fillRect/>
          </a:stretch>
        </p:blipFill>
        <p:spPr>
          <a:xfrm>
            <a:off x="2221202" y="1690689"/>
            <a:ext cx="4701595" cy="1277312"/>
          </a:xfrm>
          <a:prstGeom prst="rect">
            <a:avLst/>
          </a:prstGeom>
        </p:spPr>
      </p:pic>
      <p:pic>
        <p:nvPicPr>
          <p:cNvPr id="7" name="圖片 6"/>
          <p:cNvPicPr>
            <a:picLocks noChangeAspect="1"/>
          </p:cNvPicPr>
          <p:nvPr/>
        </p:nvPicPr>
        <p:blipFill>
          <a:blip r:embed="rId3"/>
          <a:stretch>
            <a:fillRect/>
          </a:stretch>
        </p:blipFill>
        <p:spPr>
          <a:xfrm>
            <a:off x="2221202" y="3725380"/>
            <a:ext cx="4589173" cy="1136367"/>
          </a:xfrm>
          <a:prstGeom prst="rect">
            <a:avLst/>
          </a:prstGeom>
        </p:spPr>
      </p:pic>
      <p:cxnSp>
        <p:nvCxnSpPr>
          <p:cNvPr id="8" name="直線單箭頭接點 7"/>
          <p:cNvCxnSpPr/>
          <p:nvPr/>
        </p:nvCxnSpPr>
        <p:spPr>
          <a:xfrm>
            <a:off x="4571999" y="3041890"/>
            <a:ext cx="9525" cy="60960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51706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Optimize(2/3</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a:stretch>
            <a:fillRect/>
          </a:stretch>
        </p:blipFill>
        <p:spPr>
          <a:xfrm>
            <a:off x="794837" y="1690689"/>
            <a:ext cx="7603754" cy="1366838"/>
          </a:xfrm>
          <a:prstGeom prst="rect">
            <a:avLst/>
          </a:prstGeom>
        </p:spPr>
      </p:pic>
      <p:cxnSp>
        <p:nvCxnSpPr>
          <p:cNvPr id="5" name="直線單箭頭接點 4"/>
          <p:cNvCxnSpPr/>
          <p:nvPr/>
        </p:nvCxnSpPr>
        <p:spPr>
          <a:xfrm>
            <a:off x="4572000" y="3214689"/>
            <a:ext cx="9525" cy="60960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 name="圖片 5"/>
          <p:cNvPicPr>
            <a:picLocks noChangeAspect="1"/>
          </p:cNvPicPr>
          <p:nvPr/>
        </p:nvPicPr>
        <p:blipFill>
          <a:blip r:embed="rId3"/>
          <a:stretch>
            <a:fillRect/>
          </a:stretch>
        </p:blipFill>
        <p:spPr>
          <a:xfrm>
            <a:off x="695981" y="3981452"/>
            <a:ext cx="7745451" cy="1190623"/>
          </a:xfrm>
          <a:prstGeom prst="rect">
            <a:avLst/>
          </a:prstGeom>
        </p:spPr>
      </p:pic>
    </p:spTree>
    <p:extLst>
      <p:ext uri="{BB962C8B-B14F-4D97-AF65-F5344CB8AC3E}">
        <p14:creationId xmlns:p14="http://schemas.microsoft.com/office/powerpoint/2010/main" val="21621396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smtClean="0">
                <a:latin typeface="Times New Roman" panose="02020603050405020304" pitchFamily="18" charset="0"/>
                <a:cs typeface="Times New Roman" panose="02020603050405020304" pitchFamily="18" charset="0"/>
              </a:rPr>
              <a:t>Optimize(3/3</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stretch>
            <a:fillRect/>
          </a:stretch>
        </p:blipFill>
        <p:spPr>
          <a:xfrm>
            <a:off x="171450" y="4214812"/>
            <a:ext cx="8801100" cy="1704975"/>
          </a:xfrm>
          <a:prstGeom prst="rect">
            <a:avLst/>
          </a:prstGeom>
        </p:spPr>
      </p:pic>
      <p:cxnSp>
        <p:nvCxnSpPr>
          <p:cNvPr id="6" name="直線單箭頭接點 5"/>
          <p:cNvCxnSpPr/>
          <p:nvPr/>
        </p:nvCxnSpPr>
        <p:spPr>
          <a:xfrm>
            <a:off x="4562475" y="3262314"/>
            <a:ext cx="9525" cy="60960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 name="圖片 7"/>
          <p:cNvPicPr>
            <a:picLocks noChangeAspect="1"/>
          </p:cNvPicPr>
          <p:nvPr/>
        </p:nvPicPr>
        <p:blipFill>
          <a:blip r:embed="rId3"/>
          <a:stretch>
            <a:fillRect/>
          </a:stretch>
        </p:blipFill>
        <p:spPr>
          <a:xfrm>
            <a:off x="474062" y="1510509"/>
            <a:ext cx="6119424" cy="1580356"/>
          </a:xfrm>
          <a:prstGeom prst="rect">
            <a:avLst/>
          </a:prstGeom>
        </p:spPr>
      </p:pic>
      <p:sp>
        <p:nvSpPr>
          <p:cNvPr id="11" name="矩形 10"/>
          <p:cNvSpPr/>
          <p:nvPr/>
        </p:nvSpPr>
        <p:spPr>
          <a:xfrm>
            <a:off x="3533774" y="5219700"/>
            <a:ext cx="2800350" cy="261936"/>
          </a:xfrm>
          <a:prstGeom prst="rect">
            <a:avLst/>
          </a:prstGeom>
          <a:noFill/>
          <a:ln w="508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35965639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4000" dirty="0">
                <a:latin typeface="Times New Roman" panose="02020603050405020304" pitchFamily="18" charset="0"/>
                <a:cs typeface="Times New Roman" panose="02020603050405020304" pitchFamily="18" charset="0"/>
              </a:rPr>
              <a:t>Experiment</a:t>
            </a: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a:stretch>
            <a:fillRect/>
          </a:stretch>
        </p:blipFill>
        <p:spPr>
          <a:xfrm>
            <a:off x="1684649" y="1690689"/>
            <a:ext cx="5774702" cy="4337170"/>
          </a:xfrm>
          <a:prstGeom prst="rect">
            <a:avLst/>
          </a:prstGeom>
        </p:spPr>
      </p:pic>
    </p:spTree>
    <p:extLst>
      <p:ext uri="{BB962C8B-B14F-4D97-AF65-F5344CB8AC3E}">
        <p14:creationId xmlns:p14="http://schemas.microsoft.com/office/powerpoint/2010/main" val="10403161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1281</TotalTime>
  <Words>581</Words>
  <Application>Microsoft Office PowerPoint</Application>
  <PresentationFormat>如螢幕大小 (4:3)</PresentationFormat>
  <Paragraphs>221</Paragraphs>
  <Slides>18</Slides>
  <Notes>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18</vt:i4>
      </vt:variant>
    </vt:vector>
  </HeadingPairs>
  <TitlesOfParts>
    <vt:vector size="28" baseType="lpstr">
      <vt:lpstr>Arial Unicode MS</vt:lpstr>
      <vt:lpstr>KaiTi</vt:lpstr>
      <vt:lpstr>新細明體</vt:lpstr>
      <vt:lpstr>Arial</vt:lpstr>
      <vt:lpstr>Calibri</vt:lpstr>
      <vt:lpstr>Calibri Light</vt:lpstr>
      <vt:lpstr>Cambria Math</vt:lpstr>
      <vt:lpstr>Times New Roman</vt:lpstr>
      <vt:lpstr>Verdana</vt:lpstr>
      <vt:lpstr>Office 佈景主題</vt:lpstr>
      <vt:lpstr>PowerPoint 簡報</vt:lpstr>
      <vt:lpstr>Abstract(1/4)</vt:lpstr>
      <vt:lpstr>Abstract(2/4)</vt:lpstr>
      <vt:lpstr>Abstract(3/4)</vt:lpstr>
      <vt:lpstr>Abstract(4/4)</vt:lpstr>
      <vt:lpstr>The LCS Problem</vt:lpstr>
      <vt:lpstr>Method : Dynamic Programming</vt:lpstr>
      <vt:lpstr>The Formula and Data Dependency</vt:lpstr>
      <vt:lpstr>Re-formulate The Equation(1/3)</vt:lpstr>
      <vt:lpstr>Re-formulate The Equation(2/3)</vt:lpstr>
      <vt:lpstr>Re-formulate The Equation(3/3)</vt:lpstr>
      <vt:lpstr>Preprocessing</vt:lpstr>
      <vt:lpstr>Re-formulate The Equation</vt:lpstr>
      <vt:lpstr>Time Complexity Analysis</vt:lpstr>
      <vt:lpstr>Optimize(1/3)</vt:lpstr>
      <vt:lpstr>Optimize(2/3)</vt:lpstr>
      <vt:lpstr>Optimize(3/3)</vt:lpstr>
      <vt:lpstr>Experiment Result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Bebe</dc:creator>
  <cp:lastModifiedBy>Bebe</cp:lastModifiedBy>
  <cp:revision>96</cp:revision>
  <dcterms:created xsi:type="dcterms:W3CDTF">2015-06-30T03:57:49Z</dcterms:created>
  <dcterms:modified xsi:type="dcterms:W3CDTF">2015-08-11T09:33:30Z</dcterms:modified>
</cp:coreProperties>
</file>