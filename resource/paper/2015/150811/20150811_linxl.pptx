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6" r:id="rId10"/>
    <p:sldId id="265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930" y="60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06E1A-967B-4702-9100-CA60161C68AD}" type="datetimeFigureOut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5817E-37FB-43A5-9E94-CE25939ABA5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443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http://www.combinatorialmath.ca/jcmcc/jcmcc71.html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007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5817E-37FB-43A5-9E94-CE25939ABA57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604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0EBB-2157-4ECF-9E55-0F204FEB3AF6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256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409F-200A-4567-8A6A-69B81E278CF2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2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4BD9F-4146-4CF0-B43F-B959091F727C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65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BB3FD-4E5B-4337-A169-11EE3DAF81C2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284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BD923-9E03-430A-83D9-031A06F4BCDC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15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FF37-7EE5-4C84-A7E5-89F2F466D2B7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42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73FA-8B46-4221-822F-7DC220028125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560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1403C-021C-43BA-9A0E-0C636802EB5A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71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AA09D-0B44-4B22-9B8F-C6BCEE4FEBC7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03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A9EF-1DEA-4A2D-B95C-02BFB910A63D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118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87B4E-0407-4317-B90C-F9589BC85B00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7EEE7-D584-4BDD-A826-15436C13E7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1674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0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0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" y="2130425"/>
            <a:ext cx="9129558" cy="1470025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zh-TW" alt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dirty="0"/>
              <a:t>Algorithms for Two Versions of LCS </a:t>
            </a:r>
            <a:r>
              <a:rPr lang="en-US" altLang="zh-TW" dirty="0" smtClean="0"/>
              <a:t>Problem for </a:t>
            </a:r>
            <a:r>
              <a:rPr lang="en-US" altLang="zh-TW" dirty="0"/>
              <a:t>Indeterminate </a:t>
            </a:r>
            <a:r>
              <a:rPr lang="en-US" altLang="zh-TW" dirty="0" smtClean="0"/>
              <a:t>Strings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7016824" cy="1512168"/>
          </a:xfrm>
        </p:spPr>
        <p:txBody>
          <a:bodyPr>
            <a:normAutofit fontScale="92500" lnSpcReduction="10000"/>
          </a:bodyPr>
          <a:lstStyle/>
          <a:p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dirty="0"/>
              <a:t>Costas S. </a:t>
            </a:r>
            <a:r>
              <a:rPr lang="en-US" altLang="zh-TW" dirty="0" smtClean="0"/>
              <a:t>Iliopoulos, M</a:t>
            </a:r>
            <a:r>
              <a:rPr lang="en-US" altLang="zh-TW" dirty="0"/>
              <a:t>. </a:t>
            </a:r>
            <a:r>
              <a:rPr lang="en-US" altLang="zh-TW" dirty="0" err="1"/>
              <a:t>Sohel</a:t>
            </a:r>
            <a:r>
              <a:rPr lang="en-US" altLang="zh-TW" dirty="0"/>
              <a:t> </a:t>
            </a:r>
            <a:r>
              <a:rPr lang="en-US" altLang="zh-TW" dirty="0" err="1" smtClean="0"/>
              <a:t>Rahman</a:t>
            </a:r>
            <a:r>
              <a:rPr lang="en-US" altLang="zh-TW" dirty="0" smtClean="0"/>
              <a:t>, </a:t>
            </a:r>
            <a:r>
              <a:rPr lang="en-US" altLang="zh-TW" dirty="0"/>
              <a:t>and </a:t>
            </a:r>
            <a:r>
              <a:rPr lang="en-US" altLang="zh-TW" dirty="0" err="1" smtClean="0"/>
              <a:t>Wojciech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Rytter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444208" y="6309320"/>
            <a:ext cx="26853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Presenter: </a:t>
            </a:r>
            <a:r>
              <a:rPr lang="en-US" altLang="zh-TW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Shian</a:t>
            </a:r>
            <a:r>
              <a:rPr lang="en-US" altLang="zh-TW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-Liang Lin</a:t>
            </a:r>
            <a:endParaRPr lang="zh-TW" alt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68" y="4941168"/>
            <a:ext cx="79928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Journal </a:t>
            </a:r>
            <a:r>
              <a:rPr lang="en-US" altLang="zh-TW" sz="2000" dirty="0" smtClean="0"/>
              <a:t>of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Combinatorial </a:t>
            </a:r>
            <a:r>
              <a:rPr lang="en-US" altLang="zh-TW" sz="2000" dirty="0"/>
              <a:t>Mathematics and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/>
              <a:t>Combinatorial </a:t>
            </a:r>
            <a:r>
              <a:rPr lang="en-US" altLang="zh-TW" sz="2000" dirty="0" smtClean="0"/>
              <a:t>Computing, Volume 71, </a:t>
            </a:r>
            <a:r>
              <a:rPr lang="en-US" altLang="zh-TW" sz="2000" dirty="0"/>
              <a:t>pp. </a:t>
            </a:r>
            <a:r>
              <a:rPr lang="en-US" altLang="zh-TW" sz="2000" dirty="0" smtClean="0"/>
              <a:t>155-172(2009)</a:t>
            </a:r>
            <a:endParaRPr lang="zh-TW" altLang="en-US" sz="2000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005C5-2A8E-44A6-8CFC-004FFAC5B1E9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6AAE1-64D2-4F4C-B3D0-6D50C2516661}" type="slidenum">
              <a:rPr lang="zh-TW" altLang="en-US" smtClean="0">
                <a:latin typeface="Times New Roman" pitchFamily="18" charset="0"/>
                <a:cs typeface="Times New Roman" pitchFamily="18" charset="0"/>
              </a:rPr>
              <a:t>0</a:t>
            </a:fld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21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200" dirty="0"/>
                  <a:t>	</a:t>
                </a:r>
                <a:r>
                  <a:rPr lang="en-US" altLang="zh-TW" sz="2200" dirty="0" smtClean="0"/>
                  <a:t>We </a:t>
                </a:r>
                <a:r>
                  <a:rPr lang="en-US" altLang="zh-TW" sz="2200" dirty="0"/>
                  <a:t>study the complexity of the longest common </a:t>
                </a:r>
                <a:r>
                  <a:rPr lang="en-US" altLang="zh-TW" sz="2200" dirty="0" smtClean="0"/>
                  <a:t>subsequence(LCS</a:t>
                </a:r>
                <a:r>
                  <a:rPr lang="en-US" altLang="zh-TW" sz="2200" dirty="0"/>
                  <a:t>) problem from a new perspective. </a:t>
                </a:r>
                <a:r>
                  <a:rPr lang="en-US" altLang="zh-TW" sz="2200" dirty="0" smtClean="0"/>
                  <a:t>By </a:t>
                </a:r>
                <a:r>
                  <a:rPr lang="en-US" altLang="zh-TW" sz="2200" dirty="0"/>
                  <a:t>an indeterminate string (</a:t>
                </a:r>
                <a:r>
                  <a:rPr lang="en-US" altLang="zh-TW" sz="2200" dirty="0" smtClean="0"/>
                  <a:t>i-string</a:t>
                </a:r>
                <a:r>
                  <a:rPr lang="en-US" altLang="zh-TW" sz="2200" dirty="0"/>
                  <a:t>, in short) we mean a sequence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TW" sz="2200" b="0" i="1" dirty="0" smtClean="0">
                        <a:latin typeface="Cambria Math"/>
                      </a:rPr>
                      <m:t>=</m:t>
                    </m:r>
                    <m:acc>
                      <m:accPr>
                        <m:chr m:val="̃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1</m:t>
                        </m:r>
                      </m:e>
                    </m:d>
                    <m:acc>
                      <m:accPr>
                        <m:chr m:val="̃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2</m:t>
                        </m:r>
                      </m:e>
                    </m:d>
                    <m:r>
                      <a:rPr lang="en-US" altLang="zh-TW" sz="2200" b="0" i="0" dirty="0" smtClean="0">
                        <a:latin typeface="Cambria Math"/>
                      </a:rPr>
                      <m:t>…</m:t>
                    </m:r>
                    <m:acc>
                      <m:accPr>
                        <m:chr m:val="̃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altLang="zh-TW" sz="2200" b="0" i="1" dirty="0" smtClean="0">
                        <a:latin typeface="Cambria Math"/>
                      </a:rPr>
                      <m:t>,</m:t>
                    </m:r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 smtClean="0"/>
                  <a:t>where</a:t>
                </a:r>
                <a14:m>
                  <m:oMath xmlns:m="http://schemas.openxmlformats.org/officeDocument/2006/math">
                    <m:r>
                      <a:rPr lang="en-US" altLang="zh-TW" sz="2200" b="0" i="0" dirty="0" smtClean="0">
                        <a:latin typeface="Cambria Math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altLang="zh-TW" sz="2200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TW" sz="2200" b="0" i="1" dirty="0" smtClean="0">
                        <a:latin typeface="Cambria Math"/>
                      </a:rPr>
                      <m:t>[</m:t>
                    </m:r>
                    <m:r>
                      <a:rPr lang="en-US" altLang="zh-TW" sz="2200" b="0" i="1" dirty="0" smtClean="0">
                        <a:latin typeface="Cambria Math"/>
                      </a:rPr>
                      <m:t>𝑖</m:t>
                    </m:r>
                    <m:r>
                      <a:rPr lang="en-US" altLang="zh-TW" sz="2200" b="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zh-TW" altLang="en-US" sz="2200" dirty="0" smtClean="0"/>
                  <a:t>⊆ </a:t>
                </a:r>
                <a:r>
                  <a:rPr lang="el-GR" altLang="zh-TW" sz="2200" dirty="0" smtClean="0"/>
                  <a:t>Σ</a:t>
                </a:r>
                <a:r>
                  <a:rPr lang="en-US" altLang="zh-TW" sz="2200" i="1" dirty="0" smtClean="0"/>
                  <a:t> </a:t>
                </a:r>
                <a:r>
                  <a:rPr lang="en-US" altLang="zh-TW" sz="2200" dirty="0" smtClean="0"/>
                  <a:t>for </a:t>
                </a:r>
                <a:r>
                  <a:rPr lang="en-US" altLang="zh-TW" sz="2200" dirty="0"/>
                  <a:t>each </a:t>
                </a:r>
                <a:r>
                  <a:rPr lang="en-US" altLang="zh-TW" sz="2200" i="1" dirty="0"/>
                  <a:t>i</a:t>
                </a:r>
                <a:r>
                  <a:rPr lang="en-US" altLang="zh-TW" sz="2200" dirty="0"/>
                  <a:t>, and </a:t>
                </a:r>
                <a:r>
                  <a:rPr lang="el-GR" altLang="zh-TW" sz="2200" dirty="0" smtClean="0"/>
                  <a:t>Σ</a:t>
                </a:r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is a given alphabet of potentially large </a:t>
                </a:r>
                <a:r>
                  <a:rPr lang="en-US" altLang="zh-TW" sz="2200" dirty="0" smtClean="0"/>
                  <a:t>size</a:t>
                </a:r>
                <a:r>
                  <a:rPr lang="en-US" altLang="zh-TW" sz="2200" dirty="0" smtClean="0"/>
                  <a:t>. A </a:t>
                </a:r>
                <a:r>
                  <a:rPr lang="en-US" altLang="zh-TW" sz="2200" dirty="0"/>
                  <a:t>subsequence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is any usual string over </a:t>
                </a:r>
                <a:r>
                  <a:rPr lang="el-GR" altLang="zh-TW" sz="2200" dirty="0" smtClean="0"/>
                  <a:t>Σ</a:t>
                </a:r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which is an element </a:t>
                </a:r>
                <a:r>
                  <a:rPr lang="en-US" altLang="zh-TW" sz="2200" dirty="0" smtClean="0"/>
                  <a:t>of the finite </a:t>
                </a:r>
                <a:r>
                  <a:rPr lang="en-US" altLang="zh-TW" sz="2200" dirty="0"/>
                  <a:t>(but usually of exponential size) language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TW" sz="2200" dirty="0"/>
                  <a:t>[</a:t>
                </a:r>
                <a:r>
                  <a:rPr lang="en-US" altLang="zh-TW" sz="2200" i="1" dirty="0" smtClean="0"/>
                  <a:t>i</a:t>
                </a:r>
                <a:r>
                  <a:rPr lang="en-US" altLang="zh-TW" sz="2200" baseline="-25000" dirty="0" smtClean="0"/>
                  <a:t>1</a:t>
                </a:r>
                <a:r>
                  <a:rPr lang="en-US" altLang="zh-TW" sz="2200" dirty="0" smtClean="0"/>
                  <a:t>]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[</a:t>
                </a:r>
                <a:r>
                  <a:rPr lang="en-US" altLang="zh-TW" sz="2200" i="1" dirty="0"/>
                  <a:t>i</a:t>
                </a:r>
                <a:r>
                  <a:rPr lang="en-US" altLang="zh-TW" sz="2200" baseline="-25000" dirty="0"/>
                  <a:t>2</a:t>
                </a:r>
                <a:r>
                  <a:rPr lang="en-US" altLang="zh-TW" sz="2200" dirty="0" smtClean="0"/>
                  <a:t>]…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𝑥</m:t>
                        </m:r>
                      </m:e>
                    </m:acc>
                    <m:r>
                      <a:rPr lang="en-US" altLang="zh-TW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 smtClean="0"/>
                  <a:t>[</a:t>
                </a:r>
                <a:r>
                  <a:rPr lang="en-US" altLang="zh-TW" sz="2200" i="1" dirty="0" err="1" smtClean="0"/>
                  <a:t>i</a:t>
                </a:r>
                <a:r>
                  <a:rPr lang="en-US" altLang="zh-TW" sz="2200" i="1" baseline="-25000" dirty="0" err="1" smtClean="0"/>
                  <a:t>p</a:t>
                </a:r>
                <a:r>
                  <a:rPr lang="en-US" altLang="zh-TW" sz="2200" dirty="0" smtClean="0"/>
                  <a:t>], where </a:t>
                </a:r>
                <a:r>
                  <a:rPr lang="en-US" altLang="zh-TW" sz="2200" dirty="0"/>
                  <a:t>1 </a:t>
                </a:r>
                <a14:m>
                  <m:oMath xmlns:m="http://schemas.openxmlformats.org/officeDocument/2006/math"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i="1" dirty="0"/>
                  <a:t>i</a:t>
                </a:r>
                <a:r>
                  <a:rPr lang="en-US" altLang="zh-TW" sz="2200" baseline="-25000" dirty="0"/>
                  <a:t>1</a:t>
                </a:r>
                <a:r>
                  <a:rPr lang="en-US" altLang="zh-TW" sz="2200" dirty="0"/>
                  <a:t> </a:t>
                </a:r>
                <a:r>
                  <a:rPr lang="en-US" altLang="zh-TW" sz="2200" i="1" dirty="0"/>
                  <a:t>&lt; i</a:t>
                </a:r>
                <a:r>
                  <a:rPr lang="en-US" altLang="zh-TW" sz="2200" baseline="-25000" dirty="0"/>
                  <a:t>2</a:t>
                </a:r>
                <a:r>
                  <a:rPr lang="en-US" altLang="zh-TW" sz="2200" dirty="0"/>
                  <a:t> </a:t>
                </a:r>
                <a:r>
                  <a:rPr lang="en-US" altLang="zh-TW" sz="2200" i="1" dirty="0"/>
                  <a:t>&lt; i</a:t>
                </a:r>
                <a:r>
                  <a:rPr lang="en-US" altLang="zh-TW" sz="2200" baseline="-25000" dirty="0"/>
                  <a:t>3</a:t>
                </a:r>
                <a:r>
                  <a:rPr lang="en-US" altLang="zh-TW" sz="2200" dirty="0"/>
                  <a:t> </a:t>
                </a:r>
                <a:r>
                  <a:rPr lang="en-US" altLang="zh-TW" sz="2200" i="1" dirty="0" smtClean="0"/>
                  <a:t>…&lt; </a:t>
                </a:r>
                <a:r>
                  <a:rPr lang="en-US" altLang="zh-TW" sz="2200" i="1" dirty="0" err="1"/>
                  <a:t>i</a:t>
                </a:r>
                <a:r>
                  <a:rPr lang="en-US" altLang="zh-TW" sz="2200" i="1" baseline="-25000" dirty="0" err="1"/>
                  <a:t>p</a:t>
                </a:r>
                <a:r>
                  <a:rPr lang="en-US" altLang="zh-TW" sz="2200" i="1" dirty="0"/>
                  <a:t> </a:t>
                </a:r>
                <a14:m>
                  <m:oMath xmlns:m="http://schemas.openxmlformats.org/officeDocument/2006/math"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200" i="1" dirty="0" smtClean="0"/>
                  <a:t> n, </a:t>
                </a:r>
                <a:r>
                  <a:rPr lang="en-US" altLang="zh-TW" sz="2200" i="1" dirty="0"/>
                  <a:t>p </a:t>
                </a:r>
                <a14:m>
                  <m:oMath xmlns:m="http://schemas.openxmlformats.org/officeDocument/2006/math">
                    <m:r>
                      <a:rPr lang="en-US" altLang="zh-TW" sz="2200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0. Similarly, we </a:t>
                </a:r>
                <a:r>
                  <a:rPr lang="en-US" altLang="zh-TW" sz="2200" dirty="0" smtClean="0"/>
                  <a:t>define </a:t>
                </a:r>
                <a:r>
                  <a:rPr lang="en-US" altLang="zh-TW" sz="2200" dirty="0"/>
                  <a:t>a </a:t>
                </a:r>
                <a:r>
                  <a:rPr lang="en-US" altLang="zh-TW" sz="2200" dirty="0" smtClean="0"/>
                  <a:t>super-sequence </a:t>
                </a:r>
                <a:r>
                  <a:rPr lang="en-US" altLang="zh-TW" sz="2200" dirty="0"/>
                  <a:t>of </a:t>
                </a:r>
                <a:r>
                  <a:rPr lang="en-US" altLang="zh-TW" sz="2200" i="1" dirty="0"/>
                  <a:t>x</a:t>
                </a:r>
                <a:r>
                  <a:rPr lang="en-US" altLang="zh-TW" sz="22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200" dirty="0" smtClean="0"/>
                  <a:t>	Our </a:t>
                </a:r>
                <a:r>
                  <a:rPr lang="en-US" altLang="zh-TW" sz="2200" dirty="0" smtClean="0"/>
                  <a:t>first </a:t>
                </a:r>
                <a:r>
                  <a:rPr lang="en-US" altLang="zh-TW" sz="2200" dirty="0"/>
                  <a:t>version of the LCS problem is Problem ILCS: </a:t>
                </a:r>
                <a:r>
                  <a:rPr lang="en-US" altLang="zh-TW" sz="2200" dirty="0" smtClean="0"/>
                  <a:t>for given </a:t>
                </a:r>
                <a:r>
                  <a:rPr lang="en-US" altLang="zh-TW" sz="2200" dirty="0"/>
                  <a:t>i-strings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, </a:t>
                </a:r>
                <a:r>
                  <a:rPr lang="en-US" altLang="zh-TW" sz="2200" dirty="0" smtClean="0"/>
                  <a:t>find </a:t>
                </a:r>
                <a:r>
                  <a:rPr lang="en-US" altLang="zh-TW" sz="2200" dirty="0"/>
                  <a:t>their longest common subsequence. </a:t>
                </a:r>
                <a:r>
                  <a:rPr lang="en-US" altLang="zh-TW" sz="2200" dirty="0" smtClean="0"/>
                  <a:t>From the </a:t>
                </a:r>
                <a:r>
                  <a:rPr lang="en-US" altLang="zh-TW" sz="2200" dirty="0"/>
                  <a:t>complexity point of view, new parameters of the input </a:t>
                </a:r>
                <a:r>
                  <a:rPr lang="en-US" altLang="zh-TW" sz="2200" dirty="0" smtClean="0"/>
                  <a:t>correspond to </a:t>
                </a:r>
                <a:r>
                  <a:rPr lang="en-US" altLang="zh-TW" sz="2200" i="1" dirty="0" smtClean="0"/>
                  <a:t>|</a:t>
                </a:r>
                <a:r>
                  <a:rPr lang="el-GR" altLang="zh-TW" sz="2200" dirty="0" smtClean="0"/>
                  <a:t>Σ</a:t>
                </a:r>
                <a:r>
                  <a:rPr lang="en-US" altLang="zh-TW" sz="2200" i="1" dirty="0" smtClean="0"/>
                  <a:t>| </a:t>
                </a:r>
                <a:r>
                  <a:rPr lang="en-US" altLang="zh-TW" sz="2200" dirty="0" smtClean="0"/>
                  <a:t>and </a:t>
                </a:r>
                <a:r>
                  <a:rPr lang="en-US" altLang="zh-TW" sz="2200" dirty="0"/>
                  <a:t>maximum size </a:t>
                </a:r>
                <a:r>
                  <a:rPr lang="en-US" altLang="zh-TW" sz="2200" dirty="0"/>
                  <a:t>ℓ</a:t>
                </a:r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of the subsets in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. There is also </a:t>
                </a:r>
                <a:r>
                  <a:rPr lang="en-US" altLang="zh-TW" sz="2200" dirty="0" smtClean="0"/>
                  <a:t>a third </a:t>
                </a:r>
                <a:r>
                  <a:rPr lang="en-US" altLang="zh-TW" sz="2200" dirty="0"/>
                  <a:t>parameter </a:t>
                </a:r>
                <a:r>
                  <a:rPr lang="en-US" altLang="zh-TW" sz="2200" i="1" dirty="0"/>
                  <a:t>R</a:t>
                </a:r>
                <a:r>
                  <a:rPr lang="en-US" altLang="zh-TW" sz="2200" dirty="0"/>
                  <a:t>, which gives a measure of similarity </a:t>
                </a:r>
                <a:r>
                  <a:rPr lang="en-US" altLang="zh-TW" sz="2200" dirty="0" smtClean="0"/>
                  <a:t>between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 smtClean="0"/>
                  <a:t>. The smaller the </a:t>
                </a:r>
                <a:r>
                  <a:rPr lang="en-US" altLang="zh-TW" sz="2200" i="1" dirty="0" smtClean="0"/>
                  <a:t>R</a:t>
                </a:r>
                <a:r>
                  <a:rPr lang="en-US" altLang="zh-TW" sz="2200" dirty="0" smtClean="0"/>
                  <a:t>, the lesser is the time for solving Problem ILCS.</a:t>
                </a:r>
              </a:p>
              <a:p>
                <a:pPr marL="0" indent="0">
                  <a:buNone/>
                </a:pPr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sz="2200" dirty="0" smtClean="0"/>
                  <a:t>	</a:t>
                </a:r>
              </a:p>
              <a:p>
                <a:pPr marL="0" indent="0">
                  <a:buNone/>
                </a:pPr>
                <a:r>
                  <a:rPr lang="en-US" altLang="zh-TW" sz="2200" dirty="0" smtClean="0"/>
                  <a:t> 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963" t="-943" r="-963" b="-105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E8613-4DC1-40BA-9CF5-4484F70DD26C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10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2200" dirty="0" smtClean="0"/>
                  <a:t>	Our </a:t>
                </a:r>
                <a:r>
                  <a:rPr lang="en-US" altLang="zh-TW" sz="2200" dirty="0"/>
                  <a:t>second version of the LCS problem is Problem CILCS (</a:t>
                </a:r>
                <a:r>
                  <a:rPr lang="en-US" altLang="zh-TW" sz="2200" dirty="0" smtClean="0"/>
                  <a:t>constrained ILCS</a:t>
                </a:r>
                <a:r>
                  <a:rPr lang="en-US" altLang="zh-TW" sz="2200" dirty="0"/>
                  <a:t>): for given i-strings </a:t>
                </a:r>
                <a:r>
                  <a:rPr lang="en-US" altLang="zh-TW" sz="2200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en-US" altLang="zh-TW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sz="2200" dirty="0"/>
                  <a:t>and a plain string </a:t>
                </a:r>
                <a:r>
                  <a:rPr lang="en-US" altLang="zh-TW" sz="2200" i="1" dirty="0"/>
                  <a:t>Z</a:t>
                </a:r>
                <a:r>
                  <a:rPr lang="en-US" altLang="zh-TW" sz="2200" dirty="0"/>
                  <a:t>, </a:t>
                </a:r>
                <a:r>
                  <a:rPr lang="en-US" altLang="zh-TW" sz="2200" dirty="0" smtClean="0"/>
                  <a:t>find </a:t>
                </a:r>
                <a:r>
                  <a:rPr lang="en-US" altLang="zh-TW" sz="2200" dirty="0"/>
                  <a:t>the </a:t>
                </a:r>
                <a:r>
                  <a:rPr lang="en-US" altLang="zh-TW" sz="2200" dirty="0" smtClean="0"/>
                  <a:t>longest common </a:t>
                </a:r>
                <a:r>
                  <a:rPr lang="en-US" altLang="zh-TW" sz="2200" dirty="0"/>
                  <a:t>subsequence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zh-TW" sz="2200" i="1" dirty="0"/>
                  <a:t> </a:t>
                </a:r>
                <a:r>
                  <a:rPr lang="en-US" altLang="zh-TW" sz="22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200" b="0" i="1" dirty="0" smtClean="0">
                            <a:latin typeface="Cambria Math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US" altLang="zh-TW" sz="2200" i="1" dirty="0" smtClean="0"/>
                  <a:t> </a:t>
                </a:r>
                <a:r>
                  <a:rPr lang="en-US" altLang="zh-TW" sz="2200" dirty="0"/>
                  <a:t>which is, at the same time, a </a:t>
                </a:r>
                <a:r>
                  <a:rPr lang="en-US" altLang="zh-TW" sz="2200" dirty="0" err="1" smtClean="0"/>
                  <a:t>supersequence</a:t>
                </a:r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of </a:t>
                </a:r>
                <a:r>
                  <a:rPr lang="en-US" altLang="zh-TW" sz="2200" i="1" dirty="0"/>
                  <a:t>Z</a:t>
                </a:r>
                <a:r>
                  <a:rPr lang="en-US" altLang="zh-TW" sz="2200" dirty="0"/>
                  <a:t>. </a:t>
                </a:r>
                <a:endParaRPr lang="en-US" altLang="zh-TW" sz="2200" dirty="0" smtClean="0"/>
              </a:p>
              <a:p>
                <a:pPr marL="0" indent="0">
                  <a:buNone/>
                </a:pPr>
                <a:r>
                  <a:rPr lang="en-US" altLang="zh-TW" sz="2200" dirty="0"/>
                  <a:t>	</a:t>
                </a:r>
                <a:r>
                  <a:rPr lang="en-US" altLang="zh-TW" sz="2200" dirty="0" smtClean="0"/>
                  <a:t>In </a:t>
                </a:r>
                <a:r>
                  <a:rPr lang="en-US" altLang="zh-TW" sz="2200" dirty="0"/>
                  <a:t>this paper, we present several </a:t>
                </a:r>
                <a:r>
                  <a:rPr lang="en-US" altLang="zh-TW" sz="2200" dirty="0" smtClean="0"/>
                  <a:t>efficient algorithms </a:t>
                </a:r>
                <a:r>
                  <a:rPr lang="en-US" altLang="zh-TW" sz="2200" dirty="0"/>
                  <a:t>to </a:t>
                </a:r>
                <a:r>
                  <a:rPr lang="en-US" altLang="zh-TW" sz="2200" dirty="0" smtClean="0"/>
                  <a:t>solve both </a:t>
                </a:r>
                <a:r>
                  <a:rPr lang="en-US" altLang="zh-TW" sz="2200" dirty="0"/>
                  <a:t>ILCS and CILCS problems. The </a:t>
                </a:r>
                <a:r>
                  <a:rPr lang="en-US" altLang="zh-TW" sz="2200" dirty="0" smtClean="0"/>
                  <a:t>efficiency </a:t>
                </a:r>
                <a:r>
                  <a:rPr lang="en-US" altLang="zh-TW" sz="2200" dirty="0"/>
                  <a:t>in our algorithms are </a:t>
                </a:r>
                <a:r>
                  <a:rPr lang="en-US" altLang="zh-TW" sz="2200" dirty="0" smtClean="0"/>
                  <a:t>obtained </a:t>
                </a:r>
                <a:r>
                  <a:rPr lang="en-US" altLang="zh-TW" sz="2200" dirty="0"/>
                  <a:t>in particular by using an </a:t>
                </a:r>
                <a:r>
                  <a:rPr lang="en-US" altLang="zh-TW" sz="2200" dirty="0" smtClean="0"/>
                  <a:t>efficient </a:t>
                </a:r>
                <a:r>
                  <a:rPr lang="en-US" altLang="zh-TW" sz="2200" dirty="0"/>
                  <a:t>data structure for special </a:t>
                </a:r>
                <a:r>
                  <a:rPr lang="en-US" altLang="zh-TW" sz="2200" dirty="0" smtClean="0"/>
                  <a:t>type of </a:t>
                </a:r>
                <a:r>
                  <a:rPr lang="en-US" altLang="zh-TW" sz="2200" dirty="0"/>
                  <a:t>range maxima queries and fast multiplication of </a:t>
                </a:r>
                <a:r>
                  <a:rPr lang="en-US" altLang="zh-TW" sz="2200" dirty="0" err="1"/>
                  <a:t>boolean</a:t>
                </a:r>
                <a:r>
                  <a:rPr lang="en-US" altLang="zh-TW" sz="2200" dirty="0"/>
                  <a:t> matrices.</a:t>
                </a:r>
                <a:endParaRPr lang="zh-TW" altLang="en-US" sz="2200" dirty="0"/>
              </a:p>
              <a:p>
                <a:pPr marL="0" indent="0">
                  <a:buNone/>
                </a:pPr>
                <a:endParaRPr lang="zh-TW" altLang="en-US" sz="22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41168"/>
              </a:xfrm>
              <a:blipFill rotWithShape="0">
                <a:blip r:embed="rId2"/>
                <a:stretch>
                  <a:fillRect l="-963" t="-830" r="-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2EC05-6043-4F97-B490-E8CEF1D4137E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3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LCS &amp; CLCS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98" y="1988840"/>
            <a:ext cx="438150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48" y="4450804"/>
            <a:ext cx="4419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395536" y="1340768"/>
            <a:ext cx="1800493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Example of LCS: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395536" y="4005064"/>
            <a:ext cx="203132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Example of CLCS: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942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ILCS &amp; CILCS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6A6F-A777-4962-A2EB-BFBBAF699480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866" y="1772816"/>
            <a:ext cx="6072675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295" y="4533305"/>
            <a:ext cx="6781113" cy="1487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52443" y="1403484"/>
            <a:ext cx="187743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Example of ILCS: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52443" y="4067780"/>
            <a:ext cx="2031325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Example of ICLCS: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259632" y="3284984"/>
                <a:ext cx="6732240" cy="64633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altLang="zh-TW" dirty="0" smtClean="0"/>
                  <a:t>Given two subsets A,B </a:t>
                </a:r>
                <a:r>
                  <a:rPr lang="zh-TW" altLang="en-US" dirty="0" smtClean="0"/>
                  <a:t>⊆ </a:t>
                </a:r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 we say that A matches B and write A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≈</m:t>
                    </m:r>
                  </m:oMath>
                </a14:m>
                <a:r>
                  <a:rPr lang="en-US" altLang="zh-TW" dirty="0" smtClean="0"/>
                  <a:t> B </a:t>
                </a:r>
                <a:r>
                  <a:rPr lang="en-US" altLang="zh-TW" dirty="0" err="1" smtClean="0"/>
                  <a:t>iff</a:t>
                </a:r>
                <a:r>
                  <a:rPr lang="en-US" altLang="zh-TW" dirty="0" smtClean="0"/>
                  <a:t> A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∩</m:t>
                    </m:r>
                  </m:oMath>
                </a14:m>
                <a:r>
                  <a:rPr lang="en-US" altLang="zh-TW" dirty="0" smtClean="0"/>
                  <a:t>B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/>
                        <a:ea typeface="Cambria Math"/>
                      </a:rPr>
                      <m:t>≠∅</m:t>
                    </m:r>
                  </m:oMath>
                </a14:m>
                <a:r>
                  <a:rPr lang="en-US" altLang="zh-TW" dirty="0" smtClean="0"/>
                  <a:t>.</a:t>
                </a: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284984"/>
                <a:ext cx="6732240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632" t="-3636" b="-1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橢圓 9"/>
          <p:cNvSpPr/>
          <p:nvPr/>
        </p:nvSpPr>
        <p:spPr>
          <a:xfrm>
            <a:off x="3851920" y="1772816"/>
            <a:ext cx="792088" cy="100811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15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1700808"/>
            <a:ext cx="8964488" cy="146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橢圓 5"/>
          <p:cNvSpPr/>
          <p:nvPr/>
        </p:nvSpPr>
        <p:spPr>
          <a:xfrm>
            <a:off x="2771800" y="2852935"/>
            <a:ext cx="288032" cy="30799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/>
          <p:cNvCxnSpPr>
            <a:stCxn id="9" idx="2"/>
            <a:endCxn id="6" idx="0"/>
          </p:cNvCxnSpPr>
          <p:nvPr/>
        </p:nvCxnSpPr>
        <p:spPr>
          <a:xfrm flipH="1">
            <a:off x="2915816" y="2698563"/>
            <a:ext cx="295548" cy="1543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橢圓 8"/>
              <p:cNvSpPr/>
              <p:nvPr/>
            </p:nvSpPr>
            <p:spPr>
              <a:xfrm>
                <a:off x="3211364" y="2518543"/>
                <a:ext cx="568548" cy="360040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zh-TW" altLang="en-US" sz="25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≈</m:t>
                      </m:r>
                    </m:oMath>
                  </m:oMathPara>
                </a14:m>
                <a:endParaRPr lang="zh-TW" altLang="en-US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橢圓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1364" y="2518543"/>
                <a:ext cx="568548" cy="360040"/>
              </a:xfrm>
              <a:prstGeom prst="ellipse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接點 12"/>
          <p:cNvCxnSpPr>
            <a:stCxn id="6" idx="7"/>
            <a:endCxn id="6" idx="3"/>
          </p:cNvCxnSpPr>
          <p:nvPr/>
        </p:nvCxnSpPr>
        <p:spPr>
          <a:xfrm flipH="1">
            <a:off x="2813981" y="2898040"/>
            <a:ext cx="203670" cy="2177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211364" y="2518543"/>
            <a:ext cx="568548" cy="37949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2323221" y="6228020"/>
            <a:ext cx="4985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i="1" dirty="0"/>
              <a:t>Problem ILCS can be solved in </a:t>
            </a:r>
            <a:r>
              <a:rPr lang="en-US" altLang="zh-TW" i="1" dirty="0" smtClean="0"/>
              <a:t>O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|</a:t>
            </a:r>
            <a:r>
              <a:rPr lang="el-GR" altLang="zh-TW" dirty="0" smtClean="0"/>
              <a:t>Σ</a:t>
            </a:r>
            <a:r>
              <a:rPr lang="en-US" altLang="zh-TW" i="1" dirty="0" smtClean="0"/>
              <a:t>|n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) </a:t>
            </a:r>
            <a:r>
              <a:rPr lang="en-US" altLang="zh-TW" i="1" dirty="0" smtClean="0"/>
              <a:t>time by DP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表格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123300"/>
                  </p:ext>
                </p:extLst>
              </p:nvPr>
            </p:nvGraphicFramePr>
            <p:xfrm>
              <a:off x="2483768" y="3861048"/>
              <a:ext cx="4248474" cy="2226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8079"/>
                    <a:gridCol w="708079"/>
                    <a:gridCol w="708079"/>
                    <a:gridCol w="708079"/>
                    <a:gridCol w="708079"/>
                    <a:gridCol w="708079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表格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9123300"/>
                  </p:ext>
                </p:extLst>
              </p:nvPr>
            </p:nvGraphicFramePr>
            <p:xfrm>
              <a:off x="2483768" y="3861048"/>
              <a:ext cx="4248474" cy="222675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08079"/>
                    <a:gridCol w="708079"/>
                    <a:gridCol w="708079"/>
                    <a:gridCol w="708079"/>
                    <a:gridCol w="708079"/>
                    <a:gridCol w="708079"/>
                  </a:tblGrid>
                  <a:tr h="37255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t="-8197" r="-50172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35496" y="3636891"/>
                <a:ext cx="8820472" cy="656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𝑋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𝐵𝐵</m:t>
                      </m:r>
                      <m:r>
                        <a:rPr lang="en-US" altLang="zh-TW" b="0" i="0" smtClean="0">
                          <a:latin typeface="Cambria Math"/>
                        </a:rPr>
                        <m:t>     </m:t>
                      </m:r>
                      <m:r>
                        <a:rPr lang="en-US" altLang="zh-TW" b="0" i="1" smtClean="0">
                          <a:latin typeface="Cambria Math"/>
                        </a:rPr>
                        <m:t>    </m:t>
                      </m:r>
                    </m:oMath>
                  </m:oMathPara>
                </a14:m>
                <a:endParaRPr lang="en-US" altLang="zh-TW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𝐵𝐴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3636891"/>
                <a:ext cx="8820472" cy="656205"/>
              </a:xfrm>
              <a:prstGeom prst="rect">
                <a:avLst/>
              </a:prstGeom>
              <a:blipFill rotWithShape="1">
                <a:blip r:embed="rId5"/>
                <a:stretch>
                  <a:fillRect t="-18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0" y="3160933"/>
            <a:ext cx="1877437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Example of ILCS: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4271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Preprocessing 1 for </a:t>
            </a:r>
            <a:r>
              <a:rPr lang="en-US" altLang="zh-TW" dirty="0" smtClean="0"/>
              <a:t>ILCS</a:t>
            </a:r>
            <a:br>
              <a:rPr lang="en-US" altLang="zh-TW" dirty="0" smtClean="0"/>
            </a:br>
            <a:r>
              <a:rPr lang="en-US" altLang="zh-TW" sz="2500" dirty="0" smtClean="0"/>
              <a:t>(square matrix multiplication)</a:t>
            </a:r>
            <a:endParaRPr lang="zh-TW" altLang="en-US" sz="25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79512" y="1268760"/>
                <a:ext cx="8820472" cy="374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𝑋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𝐵𝐵</m:t>
                      </m:r>
                      <m:r>
                        <a:rPr lang="en-US" altLang="zh-TW" b="0" i="0" smtClean="0">
                          <a:latin typeface="Cambria Math"/>
                        </a:rPr>
                        <m:t>     </m:t>
                      </m:r>
                      <m:r>
                        <a:rPr lang="en-US" altLang="zh-TW" b="0" i="1" smtClean="0">
                          <a:latin typeface="Cambria Math"/>
                        </a:rPr>
                        <m:t>          </m:t>
                      </m:r>
                      <m:acc>
                        <m:accPr>
                          <m:chr m:val="̃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𝐵𝐴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268760"/>
                <a:ext cx="8820472" cy="374270"/>
              </a:xfrm>
              <a:prstGeom prst="rect">
                <a:avLst/>
              </a:prstGeom>
              <a:blipFill rotWithShape="1">
                <a:blip r:embed="rId2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720" y="1022465"/>
            <a:ext cx="2699792" cy="96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4662879"/>
                  </p:ext>
                </p:extLst>
              </p:nvPr>
            </p:nvGraphicFramePr>
            <p:xfrm>
              <a:off x="323528" y="1844824"/>
              <a:ext cx="179274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4662879"/>
                  </p:ext>
                </p:extLst>
              </p:nvPr>
            </p:nvGraphicFramePr>
            <p:xfrm>
              <a:off x="323528" y="1844824"/>
              <a:ext cx="179274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t="-8197" r="-20102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867535"/>
                  </p:ext>
                </p:extLst>
              </p:nvPr>
            </p:nvGraphicFramePr>
            <p:xfrm>
              <a:off x="2483768" y="1844824"/>
              <a:ext cx="179274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0867535"/>
                  </p:ext>
                </p:extLst>
              </p:nvPr>
            </p:nvGraphicFramePr>
            <p:xfrm>
              <a:off x="2483768" y="1844824"/>
              <a:ext cx="1792746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t="-8197" r="-20102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4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R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rgbClr val="FF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2" name="向右箭號 11"/>
          <p:cNvSpPr/>
          <p:nvPr/>
        </p:nvSpPr>
        <p:spPr>
          <a:xfrm>
            <a:off x="4589748" y="2564904"/>
            <a:ext cx="834355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38904"/>
                  </p:ext>
                </p:extLst>
              </p:nvPr>
            </p:nvGraphicFramePr>
            <p:xfrm>
              <a:off x="5568119" y="1988840"/>
              <a:ext cx="3180345" cy="1855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6069"/>
                    <a:gridCol w="636069"/>
                    <a:gridCol w="636069"/>
                    <a:gridCol w="636069"/>
                    <a:gridCol w="636069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538904"/>
                  </p:ext>
                </p:extLst>
              </p:nvPr>
            </p:nvGraphicFramePr>
            <p:xfrm>
              <a:off x="5568119" y="1988840"/>
              <a:ext cx="3180345" cy="1855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6069"/>
                    <a:gridCol w="636069"/>
                    <a:gridCol w="636069"/>
                    <a:gridCol w="636069"/>
                    <a:gridCol w="636069"/>
                  </a:tblGrid>
                  <a:tr h="37255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t="-8197" r="-402885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" y="4174048"/>
                <a:ext cx="8999984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000" dirty="0" smtClean="0"/>
                  <a:t>The best  square matrix multiplication works in </a:t>
                </a:r>
                <a:r>
                  <a:rPr lang="en-US" altLang="zh-TW" sz="2000" i="1" dirty="0" smtClean="0"/>
                  <a:t>O</a:t>
                </a:r>
                <a:r>
                  <a:rPr lang="en-US" altLang="zh-TW" sz="2000" dirty="0" smtClean="0"/>
                  <a:t>(</a:t>
                </a:r>
                <a:r>
                  <a:rPr lang="en-US" altLang="zh-TW" sz="2000" i="1" dirty="0" smtClean="0"/>
                  <a:t>N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i="1" baseline="30000" dirty="0" smtClean="0"/>
                  <a:t>.</a:t>
                </a:r>
                <a:r>
                  <a:rPr lang="en-US" altLang="zh-TW" sz="2000" baseline="30000" dirty="0" smtClean="0"/>
                  <a:t>376</a:t>
                </a:r>
                <a:r>
                  <a:rPr lang="en-US" altLang="zh-TW" sz="2000" dirty="0" smtClean="0"/>
                  <a:t>) time</a:t>
                </a:r>
              </a:p>
              <a:p>
                <a:r>
                  <a:rPr lang="en-US" altLang="zh-TW" sz="2000" dirty="0" smtClean="0"/>
                  <a:t>(by Coppersmith and </a:t>
                </a:r>
                <a:r>
                  <a:rPr lang="en-US" altLang="zh-TW" sz="2000" dirty="0" err="1" smtClean="0"/>
                  <a:t>Winograd</a:t>
                </a:r>
                <a:r>
                  <a:rPr lang="en-US" altLang="zh-TW" sz="2000" dirty="0" smtClean="0"/>
                  <a:t>)</a:t>
                </a:r>
              </a:p>
              <a:p>
                <a:r>
                  <a:rPr lang="en-US" altLang="zh-TW" sz="2000" dirty="0" smtClean="0"/>
                  <a:t>we assume that </a:t>
                </a:r>
                <a:r>
                  <a:rPr lang="en-US" altLang="zh-TW" sz="2000" i="1" dirty="0"/>
                  <a:t>n </a:t>
                </a:r>
                <a:r>
                  <a:rPr lang="en-US" altLang="zh-TW" sz="2000" dirty="0"/>
                  <a:t>is divisible by </a:t>
                </a:r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|.</a:t>
                </a:r>
              </a:p>
              <a:p>
                <a:r>
                  <a:rPr lang="en-US" altLang="zh-TW" sz="2000" dirty="0" smtClean="0"/>
                  <a:t>1.</a:t>
                </a:r>
                <a:r>
                  <a:rPr lang="en-US" altLang="zh-TW" sz="2000" dirty="0"/>
                  <a:t> encoding of the two input </a:t>
                </a:r>
                <a:r>
                  <a:rPr lang="en-US" altLang="zh-TW" sz="2000" dirty="0" smtClean="0"/>
                  <a:t>string require </a:t>
                </a:r>
                <a:r>
                  <a:rPr lang="en-US" altLang="zh-TW" sz="2000" i="1" dirty="0" smtClean="0"/>
                  <a:t>O</a:t>
                </a:r>
                <a:r>
                  <a:rPr lang="en-US" altLang="zh-TW" sz="2000" dirty="0" smtClean="0"/>
                  <a:t>(|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|) </a:t>
                </a:r>
                <a:r>
                  <a:rPr lang="en-US" altLang="zh-TW" sz="2000" dirty="0"/>
                  <a:t>time and space</a:t>
                </a:r>
                <a:r>
                  <a:rPr lang="en-US" altLang="zh-TW" sz="2000" dirty="0" smtClean="0"/>
                  <a:t>.</a:t>
                </a:r>
                <a:endParaRPr lang="en-US" altLang="zh-TW" sz="2000" dirty="0"/>
              </a:p>
              <a:p>
                <a:r>
                  <a:rPr lang="en-US" altLang="zh-TW" sz="2000" dirty="0" smtClean="0"/>
                  <a:t>2.</a:t>
                </a:r>
                <a:r>
                  <a:rPr lang="en-US" altLang="zh-TW" sz="2000" dirty="0"/>
                  <a:t> we need (</a:t>
                </a:r>
                <a:r>
                  <a:rPr lang="en-US" altLang="zh-TW" sz="2000" i="1" dirty="0" smtClean="0"/>
                  <a:t>n/</a:t>
                </a:r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|)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 square matrix multiplication(|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|)</a:t>
                </a:r>
              </a:p>
              <a:p>
                <a:r>
                  <a:rPr lang="en-US" altLang="zh-TW" sz="2000" dirty="0"/>
                  <a:t>	</a:t>
                </a:r>
                <a:r>
                  <a:rPr lang="en-US" altLang="zh-TW" sz="2000" dirty="0" smtClean="0"/>
                  <a:t>=&gt;</a:t>
                </a:r>
                <a:r>
                  <a:rPr lang="en-US" altLang="zh-TW" sz="2000" i="1" dirty="0"/>
                  <a:t>O</a:t>
                </a:r>
                <a:r>
                  <a:rPr lang="en-US" altLang="zh-TW" sz="2000" dirty="0" smtClean="0"/>
                  <a:t>((</a:t>
                </a:r>
                <a:r>
                  <a:rPr lang="en-US" altLang="zh-TW" sz="2000" i="1" dirty="0" smtClean="0"/>
                  <a:t>n/</a:t>
                </a:r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|)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m:rPr>
                        <m:nor/>
                      </m:rPr>
                      <a:rPr lang="en-US" altLang="zh-TW" sz="2000" dirty="0" smtClean="0"/>
                      <m:t>|</m:t>
                    </m:r>
                    <m:r>
                      <m:rPr>
                        <m:nor/>
                      </m:rPr>
                      <a:rPr lang="el-GR" altLang="zh-TW" sz="2000" dirty="0" smtClean="0"/>
                      <m:t>Σ</m:t>
                    </m:r>
                    <m:r>
                      <m:rPr>
                        <m:nor/>
                      </m:rPr>
                      <a:rPr lang="en-US" altLang="zh-TW" sz="2000" dirty="0" smtClean="0"/>
                      <m:t>|</m:t>
                    </m:r>
                    <m:r>
                      <m:rPr>
                        <m:nor/>
                      </m:rPr>
                      <a:rPr lang="en-US" altLang="zh-TW" sz="2000" baseline="30000" dirty="0" smtClean="0"/>
                      <m:t>2</m:t>
                    </m:r>
                    <m:r>
                      <m:rPr>
                        <m:nor/>
                      </m:rPr>
                      <a:rPr lang="en-US" altLang="zh-TW" sz="2000" i="1" baseline="30000" dirty="0" smtClean="0"/>
                      <m:t>.</m:t>
                    </m:r>
                    <m:r>
                      <m:rPr>
                        <m:nor/>
                      </m:rPr>
                      <a:rPr lang="en-US" altLang="zh-TW" sz="2000" baseline="30000" dirty="0" smtClean="0"/>
                      <m:t>376</m:t>
                    </m:r>
                  </m:oMath>
                </a14:m>
                <a:r>
                  <a:rPr lang="en-US" altLang="zh-TW" sz="2000" dirty="0"/>
                  <a:t>) = </a:t>
                </a:r>
                <a:r>
                  <a:rPr lang="en-US" altLang="zh-TW" sz="2000" i="1" dirty="0" smtClean="0"/>
                  <a:t>O</a:t>
                </a:r>
                <a:r>
                  <a:rPr lang="en-US" altLang="zh-TW" sz="2000" dirty="0" smtClean="0"/>
                  <a:t>(</a:t>
                </a:r>
                <a:r>
                  <a:rPr lang="en-US" altLang="zh-TW" sz="2000" i="1" dirty="0" smtClean="0"/>
                  <a:t>n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</a:t>
                </a:r>
                <a:r>
                  <a:rPr lang="en-US" altLang="zh-TW" sz="2000" baseline="30000" dirty="0" smtClean="0"/>
                  <a:t>0</a:t>
                </a:r>
                <a:r>
                  <a:rPr lang="en-US" altLang="zh-TW" sz="2000" i="1" baseline="30000" dirty="0" smtClean="0"/>
                  <a:t>.</a:t>
                </a:r>
                <a:r>
                  <a:rPr lang="en-US" altLang="zh-TW" sz="2000" baseline="30000" dirty="0" smtClean="0"/>
                  <a:t>376</a:t>
                </a:r>
                <a:r>
                  <a:rPr lang="en-US" altLang="zh-TW" sz="2000" dirty="0" smtClean="0"/>
                  <a:t>)</a:t>
                </a:r>
              </a:p>
              <a:p>
                <a:r>
                  <a:rPr lang="en-US" altLang="zh-TW" sz="2000" dirty="0" smtClean="0"/>
                  <a:t>Total time: </a:t>
                </a:r>
                <a:r>
                  <a:rPr lang="en-US" altLang="zh-TW" sz="2000" i="1" dirty="0" smtClean="0"/>
                  <a:t>O</a:t>
                </a:r>
                <a:r>
                  <a:rPr lang="en-US" altLang="zh-TW" sz="2000" dirty="0" smtClean="0"/>
                  <a:t>(</a:t>
                </a:r>
                <a:r>
                  <a:rPr lang="en-US" altLang="zh-TW" sz="2000" i="1" dirty="0" smtClean="0"/>
                  <a:t>n</a:t>
                </a:r>
                <a:r>
                  <a:rPr lang="en-US" altLang="zh-TW" sz="2000" dirty="0" smtClean="0"/>
                  <a:t> 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|+</a:t>
                </a:r>
                <a:r>
                  <a:rPr lang="en-US" altLang="zh-TW" sz="2000" i="1" dirty="0" smtClean="0"/>
                  <a:t>n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 smtClean="0"/>
                  <a:t>|</a:t>
                </a:r>
                <a:r>
                  <a:rPr lang="el-GR" altLang="zh-TW" sz="2000" dirty="0" smtClean="0"/>
                  <a:t>Σ</a:t>
                </a:r>
                <a:r>
                  <a:rPr lang="en-US" altLang="zh-TW" sz="2000" dirty="0" smtClean="0"/>
                  <a:t>|</a:t>
                </a:r>
                <a:r>
                  <a:rPr lang="en-US" altLang="zh-TW" sz="2000" baseline="30000" dirty="0" smtClean="0"/>
                  <a:t>0</a:t>
                </a:r>
                <a:r>
                  <a:rPr lang="en-US" altLang="zh-TW" sz="2000" i="1" baseline="30000" dirty="0" smtClean="0"/>
                  <a:t>.</a:t>
                </a:r>
                <a:r>
                  <a:rPr lang="en-US" altLang="zh-TW" sz="2000" baseline="30000" dirty="0" smtClean="0"/>
                  <a:t>376</a:t>
                </a:r>
                <a:r>
                  <a:rPr lang="en-US" altLang="zh-TW" sz="2000" dirty="0" smtClean="0"/>
                  <a:t>+</a:t>
                </a:r>
                <a:r>
                  <a:rPr lang="en-US" altLang="zh-TW" sz="2000" i="1" dirty="0" smtClean="0"/>
                  <a:t>n</a:t>
                </a:r>
                <a:r>
                  <a:rPr lang="en-US" altLang="zh-TW" sz="2000" baseline="30000" dirty="0" smtClean="0"/>
                  <a:t>2</a:t>
                </a:r>
                <a:r>
                  <a:rPr lang="en-US" altLang="zh-TW" sz="2000" dirty="0"/>
                  <a:t>) = 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sz="2000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|+</a:t>
                </a:r>
                <a:r>
                  <a:rPr lang="en-US" altLang="zh-TW" sz="2000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sz="2000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|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0</a:t>
                </a:r>
                <a:r>
                  <a:rPr lang="en-US" altLang="zh-TW" sz="2000" i="1" baseline="30000" dirty="0" smtClean="0">
                    <a:solidFill>
                      <a:srgbClr val="FF0000"/>
                    </a:solidFill>
                  </a:rPr>
                  <a:t>.</a:t>
                </a:r>
                <a:r>
                  <a:rPr lang="en-US" altLang="zh-TW" sz="2000" baseline="30000" dirty="0" smtClean="0">
                    <a:solidFill>
                      <a:srgbClr val="FF0000"/>
                    </a:solidFill>
                  </a:rPr>
                  <a:t>376</a:t>
                </a:r>
                <a:r>
                  <a:rPr lang="en-US" altLang="zh-TW" sz="2000" dirty="0" smtClean="0">
                    <a:solidFill>
                      <a:srgbClr val="FF0000"/>
                    </a:solidFill>
                  </a:rPr>
                  <a:t>)</a:t>
                </a:r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4174048"/>
                <a:ext cx="8999984" cy="2246769"/>
              </a:xfrm>
              <a:prstGeom prst="rect">
                <a:avLst/>
              </a:prstGeom>
              <a:blipFill rotWithShape="1">
                <a:blip r:embed="rId7"/>
                <a:stretch>
                  <a:fillRect l="-678" t="-1359" b="-40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301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Preprocessing 1</a:t>
            </a:r>
            <a:r>
              <a:rPr lang="en-US" altLang="zh-TW" dirty="0" smtClean="0"/>
              <a:t> </a:t>
            </a:r>
            <a:r>
              <a:rPr lang="en-US" altLang="zh-TW" dirty="0"/>
              <a:t>for </a:t>
            </a:r>
            <a:r>
              <a:rPr lang="en-US" altLang="zh-TW" dirty="0" smtClean="0"/>
              <a:t>ILCS</a:t>
            </a:r>
            <a:br>
              <a:rPr lang="en-US" altLang="zh-TW" dirty="0" smtClean="0"/>
            </a:br>
            <a:r>
              <a:rPr lang="en-US" altLang="zh-TW" sz="2800" dirty="0" smtClean="0"/>
              <a:t>(</a:t>
            </a:r>
            <a:r>
              <a:rPr lang="en-US" altLang="zh-TW" sz="2800" dirty="0" err="1" smtClean="0"/>
              <a:t>boolean</a:t>
            </a:r>
            <a:r>
              <a:rPr lang="en-US" altLang="zh-TW" sz="2800" dirty="0" smtClean="0"/>
              <a:t> matrix multiplication)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00200"/>
                <a:ext cx="8712968" cy="4525963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i="1" dirty="0" smtClean="0"/>
                  <a:t>Four Russians </a:t>
                </a:r>
                <a:r>
                  <a:rPr lang="en-US" altLang="zh-TW" i="1" dirty="0"/>
                  <a:t>algorithm </a:t>
                </a:r>
                <a:r>
                  <a:rPr lang="en-US" altLang="zh-TW" dirty="0" smtClean="0"/>
                  <a:t>performs </a:t>
                </a:r>
                <a:r>
                  <a:rPr lang="en-US" altLang="zh-TW" dirty="0"/>
                  <a:t>Boolean</a:t>
                </a:r>
              </a:p>
              <a:p>
                <a:pPr marL="0" indent="0">
                  <a:buNone/>
                </a:pPr>
                <a:r>
                  <a:rPr lang="pt-BR" altLang="zh-TW" i="1" dirty="0"/>
                  <a:t>N </a:t>
                </a:r>
                <a14:m>
                  <m:oMath xmlns:m="http://schemas.openxmlformats.org/officeDocument/2006/math">
                    <m:r>
                      <a:rPr lang="pt-BR" altLang="zh-TW" i="1" smtClean="0">
                        <a:latin typeface="Cambria Math"/>
                        <a:ea typeface="Cambria Math"/>
                      </a:rPr>
                      <m:t>×</m:t>
                    </m:r>
                  </m:oMath>
                </a14:m>
                <a:r>
                  <a:rPr lang="pt-BR" altLang="zh-TW" i="1" dirty="0" smtClean="0"/>
                  <a:t> </a:t>
                </a:r>
                <a:r>
                  <a:rPr lang="pt-BR" altLang="zh-TW" i="1" dirty="0"/>
                  <a:t>N </a:t>
                </a:r>
                <a:r>
                  <a:rPr lang="pt-BR" altLang="zh-TW" dirty="0"/>
                  <a:t>matrix multiplication in 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(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pt-BR" altLang="zh-TW" baseline="30000" dirty="0" smtClean="0">
                    <a:solidFill>
                      <a:srgbClr val="FF0000"/>
                    </a:solidFill>
                  </a:rPr>
                  <a:t>3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/ 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log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pt-BR" altLang="zh-TW" dirty="0">
                    <a:solidFill>
                      <a:srgbClr val="FF0000"/>
                    </a:solidFill>
                  </a:rPr>
                  <a:t>) time</a:t>
                </a:r>
                <a:r>
                  <a:rPr lang="pt-BR" altLang="zh-TW" dirty="0" smtClean="0"/>
                  <a:t>.</a:t>
                </a:r>
              </a:p>
              <a:p>
                <a:r>
                  <a:rPr lang="en-US" altLang="zh-TW" dirty="0" smtClean="0"/>
                  <a:t>Recently,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Basch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Khanna</a:t>
                </a:r>
                <a:r>
                  <a:rPr lang="en-US" altLang="zh-TW" dirty="0"/>
                  <a:t>, and </a:t>
                </a:r>
                <a:r>
                  <a:rPr lang="en-US" altLang="zh-TW" dirty="0" err="1"/>
                  <a:t>Motwani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gave </a:t>
                </a:r>
                <a:r>
                  <a:rPr lang="en-US" altLang="zh-TW" dirty="0"/>
                  <a:t>an 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(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pt-BR" altLang="zh-TW" baseline="30000" dirty="0" smtClean="0">
                    <a:solidFill>
                      <a:srgbClr val="FF0000"/>
                    </a:solidFill>
                  </a:rPr>
                  <a:t>3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/ 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log</a:t>
                </a:r>
                <a:r>
                  <a:rPr lang="pt-BR" altLang="zh-TW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pt-BR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algorithm </a:t>
                </a:r>
                <a:r>
                  <a:rPr lang="en-US" altLang="zh-TW" dirty="0"/>
                  <a:t>for Boolean matrix multiplication on the (log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)-word </a:t>
                </a:r>
                <a:r>
                  <a:rPr lang="en-US" altLang="zh-TW" dirty="0" smtClean="0"/>
                  <a:t>RAM.</a:t>
                </a:r>
              </a:p>
              <a:p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=&gt;ILCS </a:t>
                </a:r>
                <a:r>
                  <a:rPr lang="en-US" altLang="zh-TW" dirty="0" err="1" smtClean="0"/>
                  <a:t>problemcan</a:t>
                </a:r>
                <a:r>
                  <a:rPr lang="en-US" altLang="zh-TW" dirty="0" smtClean="0"/>
                  <a:t> be </a:t>
                </a:r>
                <a:r>
                  <a:rPr lang="en-US" altLang="zh-TW" dirty="0"/>
                  <a:t>solved </a:t>
                </a:r>
                <a:r>
                  <a:rPr lang="en-US" altLang="zh-TW" dirty="0" smtClean="0"/>
                  <a:t>in 							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O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(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|+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n</a:t>
                </a:r>
                <a:r>
                  <a:rPr lang="en-US" altLang="zh-TW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|/</a:t>
                </a:r>
                <a:r>
                  <a:rPr lang="pt-BR" altLang="zh-TW" dirty="0" smtClean="0">
                    <a:solidFill>
                      <a:srgbClr val="FF0000"/>
                    </a:solidFill>
                  </a:rPr>
                  <a:t>log</a:t>
                </a:r>
                <a:r>
                  <a:rPr lang="pt-BR" altLang="zh-TW" baseline="30000" dirty="0" smtClean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 ) </a:t>
                </a:r>
                <a:r>
                  <a:rPr lang="en-US" altLang="zh-TW" dirty="0" smtClean="0"/>
                  <a:t>time.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00200"/>
                <a:ext cx="8712968" cy="4525963"/>
              </a:xfrm>
              <a:blipFill rotWithShape="1">
                <a:blip r:embed="rId2"/>
                <a:stretch>
                  <a:fillRect l="-1749" t="-1887" b="-10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52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Preprocessing 3 for 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6686550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760280" y="1700808"/>
                <a:ext cx="4410236" cy="374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𝑋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𝐵𝐵</m:t>
                      </m:r>
                      <m:r>
                        <a:rPr lang="en-US" altLang="zh-TW" b="0" i="0" smtClean="0">
                          <a:latin typeface="Cambria Math"/>
                        </a:rPr>
                        <m:t>     </m:t>
                      </m:r>
                      <m:r>
                        <a:rPr lang="en-US" altLang="zh-TW" b="0" i="1" smtClean="0">
                          <a:latin typeface="Cambria Math"/>
                        </a:rPr>
                        <m:t>          </m:t>
                      </m:r>
                      <m:acc>
                        <m:accPr>
                          <m:chr m:val="̃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𝑌</m:t>
                          </m:r>
                        </m:e>
                      </m:acc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r>
                        <a:rPr lang="en-US" altLang="zh-TW" b="0" i="1" smtClean="0">
                          <a:latin typeface="Cambria Math"/>
                        </a:rPr>
                        <m:t>𝐵𝐴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280" y="1700808"/>
                <a:ext cx="4410236" cy="374270"/>
              </a:xfrm>
              <a:prstGeom prst="rect">
                <a:avLst/>
              </a:prstGeom>
              <a:blipFill rotWithShape="1">
                <a:blip r:embed="rId3"/>
                <a:stretch>
                  <a:fillRect t="-32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777825"/>
                  </p:ext>
                </p:extLst>
              </p:nvPr>
            </p:nvGraphicFramePr>
            <p:xfrm>
              <a:off x="4760280" y="2305680"/>
              <a:ext cx="179274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𝑳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i="1" baseline="-250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baseline="-25000" smtClean="0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6777825"/>
                  </p:ext>
                </p:extLst>
              </p:nvPr>
            </p:nvGraphicFramePr>
            <p:xfrm>
              <a:off x="4760280" y="2305680"/>
              <a:ext cx="179274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20" t="-8197" r="-200000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58217"/>
                  </p:ext>
                </p:extLst>
              </p:nvPr>
            </p:nvGraphicFramePr>
            <p:xfrm>
              <a:off x="6965398" y="2276872"/>
              <a:ext cx="179274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𝑳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i="1" baseline="-250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baseline="-25000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158217"/>
                  </p:ext>
                </p:extLst>
              </p:nvPr>
            </p:nvGraphicFramePr>
            <p:xfrm>
              <a:off x="6965398" y="2276872"/>
              <a:ext cx="1792746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7582"/>
                    <a:gridCol w="597582"/>
                    <a:gridCol w="597582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020" t="-8197" r="-20000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向下箭號 9"/>
          <p:cNvSpPr/>
          <p:nvPr/>
        </p:nvSpPr>
        <p:spPr>
          <a:xfrm>
            <a:off x="6588224" y="3912518"/>
            <a:ext cx="504056" cy="8846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0830051"/>
                  </p:ext>
                </p:extLst>
              </p:nvPr>
            </p:nvGraphicFramePr>
            <p:xfrm>
              <a:off x="5436096" y="4797152"/>
              <a:ext cx="3180345" cy="1855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6069"/>
                    <a:gridCol w="636069"/>
                    <a:gridCol w="636069"/>
                    <a:gridCol w="636069"/>
                    <a:gridCol w="636069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0830051"/>
                  </p:ext>
                </p:extLst>
              </p:nvPr>
            </p:nvGraphicFramePr>
            <p:xfrm>
              <a:off x="5436096" y="4797152"/>
              <a:ext cx="3180345" cy="1855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6069"/>
                    <a:gridCol w="636069"/>
                    <a:gridCol w="636069"/>
                    <a:gridCol w="636069"/>
                    <a:gridCol w="636069"/>
                  </a:tblGrid>
                  <a:tr h="372555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962" t="-8197" r="-401923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B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[A,B]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62" y="4013349"/>
            <a:ext cx="286702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52" y="4361408"/>
            <a:ext cx="31908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050479" y="3952776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479" y="3952776"/>
                <a:ext cx="585417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9375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/>
          <p:cNvSpPr txBox="1"/>
          <p:nvPr/>
        </p:nvSpPr>
        <p:spPr>
          <a:xfrm>
            <a:off x="1092076" y="4612015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=O(n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7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75" y="4672856"/>
            <a:ext cx="8001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281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Preprocessing </a:t>
            </a:r>
            <a:r>
              <a:rPr lang="en-US" altLang="zh-TW" dirty="0" smtClean="0"/>
              <a:t>3 </a:t>
            </a:r>
            <a:r>
              <a:rPr lang="en-US" altLang="zh-TW" dirty="0"/>
              <a:t>for 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68760"/>
            <a:ext cx="6686550" cy="257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367" y="2841501"/>
            <a:ext cx="2867025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557" y="3189560"/>
            <a:ext cx="3190875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8028384" y="2780928"/>
                <a:ext cx="5854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TW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|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384" y="2780928"/>
                <a:ext cx="58541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8333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6069981" y="3440167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=O(n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8392" y="4265220"/>
            <a:ext cx="882047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TW" sz="22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sz="2200" dirty="0" smtClean="0"/>
              <a:t>Using </a:t>
            </a:r>
            <a:r>
              <a:rPr lang="en-US" altLang="zh-TW" sz="2200" dirty="0"/>
              <a:t>van </a:t>
            </a:r>
            <a:r>
              <a:rPr lang="en-US" altLang="zh-TW" sz="2200" dirty="0" err="1"/>
              <a:t>Emde</a:t>
            </a:r>
            <a:r>
              <a:rPr lang="en-US" altLang="zh-TW" sz="2200" dirty="0"/>
              <a:t> </a:t>
            </a:r>
            <a:r>
              <a:rPr lang="en-US" altLang="zh-TW" sz="2200" dirty="0" smtClean="0"/>
              <a:t>Boas </a:t>
            </a:r>
            <a:r>
              <a:rPr lang="en-US" altLang="zh-TW" sz="2200" dirty="0"/>
              <a:t>data </a:t>
            </a:r>
            <a:r>
              <a:rPr lang="en-US" altLang="zh-TW" sz="2200" dirty="0" smtClean="0"/>
              <a:t>structure</a:t>
            </a:r>
          </a:p>
          <a:p>
            <a:r>
              <a:rPr lang="en-US" altLang="zh-TW" sz="2200" dirty="0" smtClean="0"/>
              <a:t>=&gt;Problem </a:t>
            </a:r>
            <a:r>
              <a:rPr lang="en-US" altLang="zh-TW" sz="2200" dirty="0"/>
              <a:t>ILCS can be solved in </a:t>
            </a:r>
            <a:r>
              <a:rPr lang="en-US" altLang="zh-TW" sz="2200" dirty="0" smtClean="0">
                <a:solidFill>
                  <a:srgbClr val="FF0000"/>
                </a:solidFill>
              </a:rPr>
              <a:t>O(Rℓ </a:t>
            </a:r>
            <a:r>
              <a:rPr lang="en-US" altLang="zh-TW" sz="2200" dirty="0">
                <a:solidFill>
                  <a:srgbClr val="FF0000"/>
                </a:solidFill>
              </a:rPr>
              <a:t>+ </a:t>
            </a:r>
            <a:r>
              <a:rPr lang="en-US" altLang="zh-TW" sz="2200" dirty="0" err="1" smtClean="0">
                <a:solidFill>
                  <a:srgbClr val="FF0000"/>
                </a:solidFill>
              </a:rPr>
              <a:t>Rloglogn</a:t>
            </a:r>
            <a:r>
              <a:rPr lang="en-US" altLang="zh-TW" sz="2200" dirty="0" smtClean="0">
                <a:solidFill>
                  <a:srgbClr val="FF0000"/>
                </a:solidFill>
              </a:rPr>
              <a:t> + </a:t>
            </a:r>
            <a:r>
              <a:rPr lang="en-US" altLang="zh-TW" sz="2200" dirty="0">
                <a:solidFill>
                  <a:srgbClr val="FF0000"/>
                </a:solidFill>
              </a:rPr>
              <a:t>n) time.</a:t>
            </a:r>
            <a:endParaRPr lang="zh-TW" altLang="en-US" sz="2200" dirty="0">
              <a:solidFill>
                <a:srgbClr val="FF0000"/>
              </a:solidFill>
            </a:endParaRP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3501008"/>
            <a:ext cx="8001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216620" y="4078064"/>
            <a:ext cx="71636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zh-TW" sz="2200" dirty="0" smtClean="0"/>
              <a:t>Problem ILCS can be solved in </a:t>
            </a:r>
            <a:r>
              <a:rPr lang="en-US" altLang="zh-TW" sz="2200" dirty="0" smtClean="0">
                <a:solidFill>
                  <a:srgbClr val="FF0000"/>
                </a:solidFill>
              </a:rPr>
              <a:t>O(nℓ + n</a:t>
            </a:r>
            <a:r>
              <a:rPr lang="en-US" altLang="zh-TW" sz="22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2200" dirty="0" smtClean="0">
                <a:solidFill>
                  <a:srgbClr val="FF0000"/>
                </a:solidFill>
              </a:rPr>
              <a:t> + Rℓ) time.</a:t>
            </a:r>
            <a:endParaRPr lang="en-US" altLang="zh-TW" sz="22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7584" y="2276872"/>
            <a:ext cx="3600400" cy="75036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809700" y="3047093"/>
            <a:ext cx="3600400" cy="75036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696694" y="2254024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O(nℓ)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707904" y="3028310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O(Rℓ)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307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</a:t>
            </a:r>
            <a:r>
              <a:rPr lang="en-US" altLang="zh-TW" dirty="0" smtClean="0"/>
              <a:t>CILCS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7810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9" y="1772816"/>
            <a:ext cx="8667750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287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</a:t>
            </a:r>
            <a:r>
              <a:rPr lang="en-US" altLang="zh-TW" dirty="0" smtClean="0"/>
              <a:t>ime complexity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11</a:t>
            </a:fld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28203"/>
              </p:ext>
            </p:extLst>
          </p:nvPr>
        </p:nvGraphicFramePr>
        <p:xfrm>
          <a:off x="323529" y="1397000"/>
          <a:ext cx="8424936" cy="2868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7"/>
                <a:gridCol w="2664297"/>
                <a:gridCol w="2808312"/>
              </a:tblGrid>
              <a:tr h="43764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ILCS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CILCS</a:t>
                      </a:r>
                      <a:endParaRPr lang="zh-TW" altLang="en-US" dirty="0"/>
                    </a:p>
                  </a:txBody>
                  <a:tcPr/>
                </a:tc>
              </a:tr>
              <a:tr h="43764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 smtClean="0"/>
                        <a:t>O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en-US" altLang="zh-TW" i="1" dirty="0" smtClean="0"/>
                        <a:t>|</a:t>
                      </a:r>
                      <a:r>
                        <a:rPr lang="el-GR" altLang="zh-TW" dirty="0" smtClean="0"/>
                        <a:t>Σ</a:t>
                      </a:r>
                      <a:r>
                        <a:rPr lang="en-US" altLang="zh-TW" i="1" dirty="0" smtClean="0"/>
                        <a:t>|n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dirty="0" smtClean="0"/>
                        <a:t>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 smtClean="0"/>
                        <a:t>O</a:t>
                      </a:r>
                      <a:r>
                        <a:rPr lang="en-US" altLang="zh-TW" dirty="0" smtClean="0"/>
                        <a:t>(</a:t>
                      </a:r>
                      <a:r>
                        <a:rPr lang="en-US" altLang="zh-TW" i="1" dirty="0" smtClean="0"/>
                        <a:t>|</a:t>
                      </a:r>
                      <a:r>
                        <a:rPr lang="el-GR" altLang="zh-TW" dirty="0" smtClean="0"/>
                        <a:t>Σ</a:t>
                      </a:r>
                      <a:r>
                        <a:rPr lang="en-US" altLang="zh-TW" i="1" dirty="0" smtClean="0"/>
                        <a:t>|n</a:t>
                      </a:r>
                      <a:r>
                        <a:rPr lang="en-US" altLang="zh-TW" baseline="30000" dirty="0" smtClean="0"/>
                        <a:t>2</a:t>
                      </a:r>
                      <a:r>
                        <a:rPr lang="en-US" altLang="zh-TW" baseline="0" dirty="0" smtClean="0"/>
                        <a:t>p</a:t>
                      </a:r>
                      <a:r>
                        <a:rPr lang="en-US" altLang="zh-TW" dirty="0" smtClean="0"/>
                        <a:t>) </a:t>
                      </a:r>
                      <a:endParaRPr lang="zh-TW" altLang="en-US" dirty="0"/>
                    </a:p>
                  </a:txBody>
                  <a:tcPr/>
                </a:tc>
              </a:tr>
              <a:tr h="107911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Preprocessing1</a:t>
                      </a:r>
                    </a:p>
                    <a:p>
                      <a:r>
                        <a:rPr lang="en-US" altLang="zh-TW" dirty="0" smtClean="0"/>
                        <a:t>(</a:t>
                      </a:r>
                      <a:r>
                        <a:rPr lang="en-US" altLang="zh-TW" sz="1800" dirty="0" smtClean="0"/>
                        <a:t>square matrix</a:t>
                      </a:r>
                      <a:r>
                        <a:rPr lang="en-US" altLang="zh-TW" sz="1800" baseline="0" dirty="0" smtClean="0"/>
                        <a:t> </a:t>
                      </a:r>
                      <a:r>
                        <a:rPr lang="en-US" altLang="zh-TW" sz="1800" dirty="0" smtClean="0"/>
                        <a:t>multiplication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1.O(n|</a:t>
                      </a:r>
                      <a:r>
                        <a:rPr lang="el-GR" altLang="zh-TW" sz="1800" b="0" i="0" dirty="0" smtClean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|+n</a:t>
                      </a:r>
                      <a:r>
                        <a:rPr lang="en-US" altLang="zh-TW" sz="1800" b="0" i="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|</a:t>
                      </a:r>
                      <a:r>
                        <a:rPr lang="el-GR" altLang="zh-TW" sz="1800" b="0" i="0" dirty="0" smtClean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|</a:t>
                      </a:r>
                      <a:r>
                        <a:rPr lang="en-US" altLang="zh-TW" sz="1800" b="0" i="0" baseline="30000" dirty="0" smtClean="0">
                          <a:solidFill>
                            <a:schemeClr val="tx1"/>
                          </a:solidFill>
                        </a:rPr>
                        <a:t>0.376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i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2. O(n|</a:t>
                      </a:r>
                      <a:r>
                        <a:rPr lang="el-GR" altLang="zh-TW" b="0" i="0" dirty="0" smtClean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|+n</a:t>
                      </a:r>
                      <a:r>
                        <a:rPr lang="en-US" altLang="zh-TW" b="0" i="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</a:t>
                      </a:r>
                      <a:r>
                        <a:rPr lang="el-GR" altLang="zh-TW" b="0" i="0" dirty="0" smtClean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|/</a:t>
                      </a:r>
                      <a:r>
                        <a:rPr lang="pt-BR" altLang="zh-TW" b="0" i="0" dirty="0" smtClean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pt-BR" altLang="zh-TW" b="0" i="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</a:t>
                      </a:r>
                      <a:r>
                        <a:rPr lang="el-GR" altLang="zh-TW" b="0" i="0" dirty="0" smtClean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|) </a:t>
                      </a:r>
                      <a:endParaRPr lang="zh-TW" altLang="en-US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1.O(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</a:rPr>
                        <a:t>n|</a:t>
                      </a:r>
                      <a:r>
                        <a:rPr lang="el-GR" altLang="zh-TW" sz="1800" b="0" i="0" dirty="0" smtClean="0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</a:rPr>
                        <a:t>|+n</a:t>
                      </a:r>
                      <a:r>
                        <a:rPr lang="en-US" altLang="zh-TW" sz="1800" b="0" i="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</a:rPr>
                        <a:t>|</a:t>
                      </a:r>
                      <a:r>
                        <a:rPr lang="el-GR" altLang="zh-TW" sz="1800" b="0" i="0" dirty="0" smtClean="0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altLang="zh-TW" sz="1800" b="0" i="0" baseline="30000" dirty="0" smtClean="0">
                          <a:solidFill>
                            <a:srgbClr val="FF0000"/>
                          </a:solidFill>
                        </a:rPr>
                        <a:t>|0.376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</a:rPr>
                        <a:t>+n</a:t>
                      </a:r>
                      <a:r>
                        <a:rPr lang="en-US" altLang="zh-TW" sz="1800" b="0" i="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800" b="0" i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2. O(</a:t>
                      </a:r>
                      <a:r>
                        <a:rPr lang="en-US" altLang="zh-TW" b="0" i="0" dirty="0" smtClean="0">
                          <a:solidFill>
                            <a:srgbClr val="FF0000"/>
                          </a:solidFill>
                        </a:rPr>
                        <a:t>n|</a:t>
                      </a:r>
                      <a:r>
                        <a:rPr lang="el-GR" altLang="zh-TW" b="0" i="0" dirty="0" smtClean="0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rgbClr val="FF0000"/>
                          </a:solidFill>
                        </a:rPr>
                        <a:t>|+n</a:t>
                      </a:r>
                      <a:r>
                        <a:rPr lang="en-US" altLang="zh-TW" b="0" i="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b="0" i="0" dirty="0" smtClean="0">
                          <a:solidFill>
                            <a:srgbClr val="FF0000"/>
                          </a:solidFill>
                        </a:rPr>
                        <a:t>|</a:t>
                      </a:r>
                      <a:r>
                        <a:rPr lang="el-GR" altLang="zh-TW" b="0" i="0" dirty="0" smtClean="0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rgbClr val="FF0000"/>
                          </a:solidFill>
                        </a:rPr>
                        <a:t>|/</a:t>
                      </a:r>
                      <a:r>
                        <a:rPr lang="pt-BR" altLang="zh-TW" b="0" i="0" dirty="0" smtClean="0">
                          <a:solidFill>
                            <a:srgbClr val="FF0000"/>
                          </a:solidFill>
                        </a:rPr>
                        <a:t>log</a:t>
                      </a:r>
                      <a:r>
                        <a:rPr lang="pt-BR" altLang="zh-TW" b="0" i="0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b="0" i="0" dirty="0" smtClean="0">
                          <a:solidFill>
                            <a:srgbClr val="FF0000"/>
                          </a:solidFill>
                        </a:rPr>
                        <a:t>|</a:t>
                      </a:r>
                      <a:r>
                        <a:rPr lang="el-GR" altLang="zh-TW" b="0" i="0" dirty="0" smtClean="0">
                          <a:solidFill>
                            <a:srgbClr val="FF0000"/>
                          </a:solidFill>
                        </a:rPr>
                        <a:t>Σ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|+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US" altLang="zh-TW" sz="1800" b="0" i="0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r>
                        <a:rPr lang="en-US" altLang="zh-TW" b="0" i="0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endParaRPr lang="zh-TW" altLang="en-US" b="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37641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Preprocessing3</a:t>
                      </a:r>
                    </a:p>
                    <a:p>
                      <a:r>
                        <a:rPr lang="en-US" altLang="zh-TW" dirty="0" smtClean="0"/>
                        <a:t>(</a:t>
                      </a:r>
                      <a:r>
                        <a:rPr lang="en-US" altLang="zh-TW" sz="1800" dirty="0" smtClean="0"/>
                        <a:t>square matrix</a:t>
                      </a:r>
                      <a:r>
                        <a:rPr lang="en-US" altLang="zh-TW" sz="1800" baseline="0" dirty="0" smtClean="0"/>
                        <a:t> </a:t>
                      </a:r>
                      <a:r>
                        <a:rPr lang="en-US" altLang="zh-TW" sz="1800" dirty="0" smtClean="0"/>
                        <a:t>multiplication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 smtClean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O(nℓ + n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 + Rℓ)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O(nℓ + n</a:t>
                      </a:r>
                      <a:r>
                        <a:rPr lang="en-US" altLang="zh-TW" baseline="300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 + ℓ(R+R</a:t>
                      </a:r>
                      <a:r>
                        <a:rPr lang="en-US" altLang="zh-TW" baseline="-250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)) 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365104"/>
            <a:ext cx="864096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908029"/>
            <a:ext cx="143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17" y="5365230"/>
            <a:ext cx="4496228" cy="442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文字方塊 10"/>
          <p:cNvSpPr txBox="1"/>
          <p:nvPr/>
        </p:nvSpPr>
        <p:spPr>
          <a:xfrm>
            <a:off x="1403648" y="5760258"/>
            <a:ext cx="99983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>
                <a:solidFill>
                  <a:srgbClr val="FF0000"/>
                </a:solidFill>
              </a:rPr>
              <a:t>=O(n</a:t>
            </a:r>
            <a:r>
              <a:rPr lang="en-US" altLang="zh-TW" sz="25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2500" dirty="0" smtClean="0">
                <a:solidFill>
                  <a:srgbClr val="FF0000"/>
                </a:solidFill>
              </a:rPr>
              <a:t>)</a:t>
            </a:r>
            <a:endParaRPr lang="zh-TW" altLang="en-US" sz="2500" dirty="0">
              <a:solidFill>
                <a:srgbClr val="FF0000"/>
              </a:solidFill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40" y="5816343"/>
            <a:ext cx="1127412" cy="34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1691680" y="4908029"/>
            <a:ext cx="131495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500" dirty="0" smtClean="0">
                <a:solidFill>
                  <a:srgbClr val="FF0000"/>
                </a:solidFill>
              </a:rPr>
              <a:t>=O(n</a:t>
            </a:r>
            <a:r>
              <a:rPr lang="en-US" altLang="zh-TW" sz="2500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TW" sz="2500" dirty="0">
                <a:solidFill>
                  <a:srgbClr val="FF0000"/>
                </a:solidFill>
              </a:rPr>
              <a:t>p</a:t>
            </a:r>
            <a:r>
              <a:rPr lang="en-US" altLang="zh-TW" sz="2500" dirty="0" smtClean="0">
                <a:solidFill>
                  <a:srgbClr val="FF0000"/>
                </a:solidFill>
              </a:rPr>
              <a:t>)</a:t>
            </a:r>
            <a:endParaRPr lang="zh-TW" altLang="en-US" sz="2500" dirty="0">
              <a:solidFill>
                <a:srgbClr val="FF0000"/>
              </a:solidFill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131365"/>
            <a:ext cx="4707971" cy="610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4716016" y="6192306"/>
                <a:ext cx="739305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TW" sz="25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altLang="zh-TW" sz="2500" dirty="0" smtClean="0">
                    <a:solidFill>
                      <a:srgbClr val="FF0000"/>
                    </a:solidFill>
                  </a:rPr>
                  <a:t>|</a:t>
                </a:r>
                <a:r>
                  <a:rPr lang="el-GR" altLang="zh-TW" sz="2500" dirty="0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sz="2500" dirty="0" smtClean="0">
                    <a:solidFill>
                      <a:srgbClr val="FF0000"/>
                    </a:solidFill>
                  </a:rPr>
                  <a:t>|</a:t>
                </a:r>
                <a:endParaRPr lang="zh-TW" altLang="en-US" sz="2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6192306"/>
                <a:ext cx="739305" cy="477054"/>
              </a:xfrm>
              <a:prstGeom prst="rect">
                <a:avLst/>
              </a:prstGeom>
              <a:blipFill rotWithShape="1">
                <a:blip r:embed="rId7"/>
                <a:stretch>
                  <a:fillRect t="-10256" r="-11570" b="-294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40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980" y="6238875"/>
            <a:ext cx="7810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for CILCS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6F2F8-4E5A-451C-B860-2FDE33397CD1}" type="datetime1">
              <a:rPr lang="zh-TW" altLang="en-US" smtClean="0"/>
              <a:t>2015/8/11</a:t>
            </a:fld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7EEE7-D584-4BDD-A826-15436C13E792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65282"/>
                  </p:ext>
                </p:extLst>
              </p:nvPr>
            </p:nvGraphicFramePr>
            <p:xfrm>
              <a:off x="35496" y="47667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=0]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9165282"/>
                  </p:ext>
                </p:extLst>
              </p:nvPr>
            </p:nvGraphicFramePr>
            <p:xfrm>
              <a:off x="35496" y="47667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2" b="-63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205" t="-91837" r="-497590" b="-481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07504" y="116632"/>
                <a:ext cx="8820472" cy="3742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𝐵𝐵</m:t>
                    </m:r>
                    <m:r>
                      <a:rPr lang="en-US" altLang="zh-TW" b="0" i="0" smtClean="0">
                        <a:latin typeface="Cambria Math"/>
                      </a:rPr>
                      <m:t>    </m:t>
                    </m:r>
                    <m:r>
                      <a:rPr lang="en-US" altLang="zh-TW" b="0" i="1" smtClean="0">
                        <a:latin typeface="Cambria Math"/>
                      </a:rPr>
                      <m:t>  ,  </m:t>
                    </m:r>
                    <m:acc>
                      <m:accPr>
                        <m:chr m:val="̃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e>
                    </m:acc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𝐵𝐴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,    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Z=AB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116632"/>
                <a:ext cx="8820472" cy="374270"/>
              </a:xfrm>
              <a:prstGeom prst="rect">
                <a:avLst/>
              </a:prstGeom>
              <a:blipFill rotWithShape="1">
                <a:blip r:embed="rId4"/>
                <a:stretch>
                  <a:fillRect t="-6452" b="-241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753313"/>
                  </p:ext>
                </p:extLst>
              </p:nvPr>
            </p:nvGraphicFramePr>
            <p:xfrm>
              <a:off x="35496" y="2420888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=0]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3753313"/>
                  </p:ext>
                </p:extLst>
              </p:nvPr>
            </p:nvGraphicFramePr>
            <p:xfrm>
              <a:off x="35496" y="2420888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02" b="-633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205" t="-91837" r="-497590" b="-481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556984"/>
                  </p:ext>
                </p:extLst>
              </p:nvPr>
            </p:nvGraphicFramePr>
            <p:xfrm>
              <a:off x="3131840" y="49090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az-Cyrl-AZ" altLang="zh-TW" sz="1200" i="1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=1]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1556984"/>
                  </p:ext>
                </p:extLst>
              </p:nvPr>
            </p:nvGraphicFramePr>
            <p:xfrm>
              <a:off x="3131840" y="49090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556495"/>
                  </p:ext>
                </p:extLst>
              </p:nvPr>
            </p:nvGraphicFramePr>
            <p:xfrm>
              <a:off x="6228184" y="49090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=2]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7556495"/>
                  </p:ext>
                </p:extLst>
              </p:nvPr>
            </p:nvGraphicFramePr>
            <p:xfrm>
              <a:off x="6228184" y="49090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7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zh-TW" altLang="en-US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198589"/>
                  </p:ext>
                </p:extLst>
              </p:nvPr>
            </p:nvGraphicFramePr>
            <p:xfrm>
              <a:off x="3131840" y="2492896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=1]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198589"/>
                  </p:ext>
                </p:extLst>
              </p:nvPr>
            </p:nvGraphicFramePr>
            <p:xfrm>
              <a:off x="3131840" y="2492896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8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0030162"/>
                  </p:ext>
                </p:extLst>
              </p:nvPr>
            </p:nvGraphicFramePr>
            <p:xfrm>
              <a:off x="6156176" y="2492896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′′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=2]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0030162"/>
                  </p:ext>
                </p:extLst>
              </p:nvPr>
            </p:nvGraphicFramePr>
            <p:xfrm>
              <a:off x="6156176" y="2492896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9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787732"/>
                  </p:ext>
                </p:extLst>
              </p:nvPr>
            </p:nvGraphicFramePr>
            <p:xfrm>
              <a:off x="3203848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′′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=1]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1787732"/>
                  </p:ext>
                </p:extLst>
              </p:nvPr>
            </p:nvGraphicFramePr>
            <p:xfrm>
              <a:off x="3203848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0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930146"/>
                  </p:ext>
                </p:extLst>
              </p:nvPr>
            </p:nvGraphicFramePr>
            <p:xfrm>
              <a:off x="6156176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′′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=2]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930146"/>
                  </p:ext>
                </p:extLst>
              </p:nvPr>
            </p:nvGraphicFramePr>
            <p:xfrm>
              <a:off x="6156176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202" t="-222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1"/>
                          <a:stretch>
                            <a:fillRect l="-1205" t="-93878" r="-497590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851732"/>
                  </p:ext>
                </p:extLst>
              </p:nvPr>
            </p:nvGraphicFramePr>
            <p:xfrm>
              <a:off x="135484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42373">
                    <a:tc gridSpan="6"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Table </a:t>
                          </a:r>
                          <a:r>
                            <a:rPr lang="az-Cyrl-AZ" altLang="zh-TW" sz="1200" dirty="0" smtClean="0"/>
                            <a:t>Ґ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sz="1200" b="0" i="0" smtClean="0">
                                  <a:latin typeface="Cambria Math"/>
                                </a:rPr>
                                <m:t>′′ </m:t>
                              </m:r>
                            </m:oMath>
                          </a14:m>
                          <a:r>
                            <a:rPr lang="en-US" altLang="zh-TW" sz="1200" dirty="0" smtClean="0"/>
                            <a:t>[</a:t>
                          </a:r>
                          <a:r>
                            <a:rPr lang="en-US" altLang="zh-TW" sz="1200" dirty="0" err="1" smtClean="0"/>
                            <a:t>i,j,k</a:t>
                          </a:r>
                          <a:r>
                            <a:rPr lang="en-US" altLang="zh-TW" sz="1200" dirty="0" smtClean="0"/>
                            <a:t>=0]</a:t>
                          </a:r>
                          <a:endParaRPr lang="zh-TW" altLang="en-US" sz="1200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1" i="1" smtClean="0">
                                        <a:latin typeface="Cambria Math"/>
                                      </a:rPr>
                                      <m:t>𝑿</m:t>
                                    </m:r>
                                  </m:e>
                                </m:acc>
                                <m:r>
                                  <a:rPr lang="en-US" altLang="zh-TW" sz="1200" b="1" i="1" smtClean="0">
                                    <a:latin typeface="Cambria Math"/>
                                  </a:rPr>
                                  <m:t>\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zh-TW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sz="1200" b="0" i="1" smtClean="0">
                                        <a:latin typeface="Cambria Math"/>
                                      </a:rPr>
                                      <m:t>𝑌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zh-TW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4237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851732"/>
                  </p:ext>
                </p:extLst>
              </p:nvPr>
            </p:nvGraphicFramePr>
            <p:xfrm>
              <a:off x="135484" y="4437112"/>
              <a:ext cx="3024336" cy="19599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4056"/>
                    <a:gridCol w="504056"/>
                    <a:gridCol w="504056"/>
                    <a:gridCol w="504056"/>
                    <a:gridCol w="504056"/>
                    <a:gridCol w="504056"/>
                  </a:tblGrid>
                  <a:tr h="274320">
                    <a:tc gridSpan="6"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t="-2222" r="-202" b="-63111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96679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12"/>
                          <a:stretch>
                            <a:fillRect t="-93878" r="-498795" b="-479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B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[A,B]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A</a:t>
                          </a:r>
                          <a:endParaRPr lang="zh-TW" altLang="en-US" sz="1200" dirty="0"/>
                        </a:p>
                      </a:txBody>
                      <a:tcP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A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  <a:endParaRPr lang="zh-TW" altLang="en-US" sz="1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916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[A,B]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2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>
                              <a:solidFill>
                                <a:schemeClr val="bg1"/>
                              </a:solidFill>
                            </a:rPr>
                            <a:t>B</a:t>
                          </a:r>
                          <a:endParaRPr lang="zh-TW" alt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1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200" dirty="0" smtClean="0"/>
                            <a:t>0</a:t>
                          </a:r>
                          <a:endParaRPr lang="zh-TW" altLang="en-US" sz="12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025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owerpoint sample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966</Words>
  <Application>Microsoft Office PowerPoint</Application>
  <PresentationFormat>如螢幕大小 (4:3)</PresentationFormat>
  <Paragraphs>560</Paragraphs>
  <Slides>13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標楷體</vt:lpstr>
      <vt:lpstr>Arial</vt:lpstr>
      <vt:lpstr>Calibri</vt:lpstr>
      <vt:lpstr>Cambria Math</vt:lpstr>
      <vt:lpstr>Times New Roman</vt:lpstr>
      <vt:lpstr>Office 佈景主題</vt:lpstr>
      <vt:lpstr> Algorithms for Two Versions of LCS Problem for Indeterminate Strings</vt:lpstr>
      <vt:lpstr>Abstract</vt:lpstr>
      <vt:lpstr>Abstract</vt:lpstr>
      <vt:lpstr>LCS &amp; CLCS</vt:lpstr>
      <vt:lpstr>ILCS &amp; CILCS</vt:lpstr>
      <vt:lpstr>Algorithm for ILCS</vt:lpstr>
      <vt:lpstr>Preprocessing 1 for ILCS (square matrix multiplication)</vt:lpstr>
      <vt:lpstr>Preprocessing 1 for ILCS (boolean matrix multiplication)</vt:lpstr>
      <vt:lpstr>Preprocessing 3 for ILCS</vt:lpstr>
      <vt:lpstr>Preprocessing 3 for ILCS</vt:lpstr>
      <vt:lpstr>Algorithm for CILCS</vt:lpstr>
      <vt:lpstr>Time complexity</vt:lpstr>
      <vt:lpstr>Algorithm for CILCS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for Two Versions of LCS Problem for Indeterminate Strings</dc:title>
  <dc:creator>Leo</dc:creator>
  <cp:lastModifiedBy>LinXLL</cp:lastModifiedBy>
  <cp:revision>31</cp:revision>
  <dcterms:created xsi:type="dcterms:W3CDTF">2015-08-08T16:18:04Z</dcterms:created>
  <dcterms:modified xsi:type="dcterms:W3CDTF">2015-08-11T10:15:58Z</dcterms:modified>
</cp:coreProperties>
</file>