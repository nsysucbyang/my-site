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lsi.ua.es/~slujan/files/idwp.p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An Algorithm for Computing the Invariant Distance from Word </a:t>
            </a:r>
            <a:r>
              <a:rPr lang="en-US" altLang="zh-TW" dirty="0" smtClean="0"/>
              <a:t>Position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/>
              <a:t>Sergio </a:t>
            </a:r>
            <a:r>
              <a:rPr lang="en-US" altLang="zh-TW" dirty="0" err="1" smtClean="0"/>
              <a:t>Luján-Mora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Universitat</a:t>
            </a:r>
            <a:r>
              <a:rPr lang="en-US" altLang="zh-TW" dirty="0" smtClean="0"/>
              <a:t> </a:t>
            </a:r>
            <a:r>
              <a:rPr lang="en-US" altLang="zh-TW" dirty="0" err="1"/>
              <a:t>d’Alacant</a:t>
            </a:r>
            <a:endParaRPr lang="en-US" altLang="zh-TW" dirty="0" smtClean="0"/>
          </a:p>
          <a:p>
            <a:r>
              <a:rPr lang="en-US" altLang="zh-TW" dirty="0" smtClean="0"/>
              <a:t>Technical </a:t>
            </a:r>
            <a:r>
              <a:rPr lang="en-US" altLang="zh-TW" dirty="0"/>
              <a:t>report. June 2000</a:t>
            </a:r>
            <a:r>
              <a:rPr lang="en-US" altLang="zh-TW" dirty="0" smtClean="0"/>
              <a:t>.</a:t>
            </a:r>
          </a:p>
          <a:p>
            <a:r>
              <a:rPr lang="en-US" altLang="zh-TW" dirty="0">
                <a:hlinkClick r:id="rId2"/>
              </a:rPr>
              <a:t>http://www.dlsi.ua.es/~slujan/files/idwp.ps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372200" y="6093296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Presenter: Chan-Yi </a:t>
            </a:r>
            <a:r>
              <a:rPr lang="en-US" altLang="zh-TW" sz="1200" dirty="0"/>
              <a:t>Chou</a:t>
            </a:r>
            <a:endParaRPr lang="en-US" altLang="zh-TW" sz="1200" dirty="0" smtClean="0"/>
          </a:p>
          <a:p>
            <a:r>
              <a:rPr lang="en-US" altLang="zh-TW" sz="1200" dirty="0" smtClean="0"/>
              <a:t>Date:</a:t>
            </a:r>
            <a:r>
              <a:rPr lang="zh-TW" altLang="en-US" sz="1200" dirty="0" smtClean="0"/>
              <a:t> </a:t>
            </a:r>
            <a:r>
              <a:rPr lang="en-US" altLang="zh-TW" sz="1200" dirty="0" smtClean="0"/>
              <a:t>2015/02/04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249180580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dirty="0" smtClean="0"/>
              <a:t>  There </a:t>
            </a:r>
            <a:r>
              <a:rPr lang="en-US" altLang="zh-TW" dirty="0"/>
              <a:t>are many problems involving string matching. The </a:t>
            </a:r>
            <a:r>
              <a:rPr lang="en-US" altLang="zh-TW" dirty="0" smtClean="0"/>
              <a:t>string matching </a:t>
            </a:r>
            <a:r>
              <a:rPr lang="en-US" altLang="zh-TW" dirty="0"/>
              <a:t>bases in a number </a:t>
            </a:r>
            <a:r>
              <a:rPr lang="en-US" altLang="zh-TW" dirty="0" smtClean="0"/>
              <a:t>of similarity </a:t>
            </a:r>
            <a:r>
              <a:rPr lang="en-US" altLang="zh-TW" dirty="0"/>
              <a:t>or distance measures, and many </a:t>
            </a:r>
            <a:r>
              <a:rPr lang="en-US" altLang="zh-TW" dirty="0" smtClean="0"/>
              <a:t>of them are special </a:t>
            </a:r>
            <a:r>
              <a:rPr lang="en-US" altLang="zh-TW" dirty="0"/>
              <a:t>cases or </a:t>
            </a:r>
            <a:r>
              <a:rPr lang="en-US" altLang="zh-TW" dirty="0" smtClean="0"/>
              <a:t>generalizations </a:t>
            </a:r>
            <a:r>
              <a:rPr lang="en-US" altLang="zh-TW" dirty="0"/>
              <a:t>of the </a:t>
            </a:r>
            <a:r>
              <a:rPr lang="en-US" altLang="zh-TW" dirty="0" err="1" smtClean="0"/>
              <a:t>Levenshtein</a:t>
            </a:r>
            <a:r>
              <a:rPr lang="en-US" altLang="zh-TW" dirty="0" smtClean="0"/>
              <a:t> distance</a:t>
            </a:r>
            <a:r>
              <a:rPr lang="en-US" altLang="zh-TW" dirty="0"/>
              <a:t>. In </a:t>
            </a:r>
            <a:r>
              <a:rPr lang="en-US" altLang="zh-TW" dirty="0" smtClean="0"/>
              <a:t>this paper</a:t>
            </a:r>
            <a:r>
              <a:rPr lang="en-US" altLang="zh-TW" dirty="0"/>
              <a:t>, we focus on the problem </a:t>
            </a:r>
            <a:r>
              <a:rPr lang="en-US" altLang="zh-TW" dirty="0" smtClean="0"/>
              <a:t>of evaluating </a:t>
            </a:r>
            <a:r>
              <a:rPr lang="en-US" altLang="zh-TW" dirty="0"/>
              <a:t>an invariant distance from </a:t>
            </a:r>
            <a:r>
              <a:rPr lang="en-US" altLang="zh-TW" dirty="0" smtClean="0"/>
              <a:t>word position between </a:t>
            </a:r>
            <a:r>
              <a:rPr lang="en-US" altLang="zh-TW" dirty="0"/>
              <a:t>two strings: e.g., the strings “Universidad </a:t>
            </a:r>
            <a:r>
              <a:rPr lang="en-US" altLang="zh-TW" dirty="0" smtClean="0"/>
              <a:t>de Alicante</a:t>
            </a:r>
            <a:r>
              <a:rPr lang="en-US" altLang="zh-TW" dirty="0"/>
              <a:t>” </a:t>
            </a:r>
            <a:r>
              <a:rPr lang="en-US" altLang="zh-TW" dirty="0" smtClean="0"/>
              <a:t>and “Alicante</a:t>
            </a:r>
            <a:r>
              <a:rPr lang="en-US" altLang="zh-TW" dirty="0"/>
              <a:t>, Universidad de” refer to </a:t>
            </a:r>
            <a:r>
              <a:rPr lang="en-US" altLang="zh-TW" dirty="0" smtClean="0"/>
              <a:t>the same </a:t>
            </a:r>
            <a:r>
              <a:rPr lang="en-US" altLang="zh-TW" dirty="0"/>
              <a:t>concept, so the distance ought </a:t>
            </a:r>
            <a:r>
              <a:rPr lang="en-US" altLang="zh-TW" dirty="0" smtClean="0"/>
              <a:t>to be </a:t>
            </a:r>
            <a:r>
              <a:rPr lang="en-US" altLang="zh-TW" dirty="0"/>
              <a:t>low, in order to consider them as very similar strings.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1531898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Levenshtein</a:t>
            </a:r>
            <a:r>
              <a:rPr lang="en-US" altLang="zh-TW" dirty="0"/>
              <a:t> </a:t>
            </a:r>
            <a:r>
              <a:rPr lang="en-US" altLang="zh-TW" dirty="0" smtClean="0"/>
              <a:t>Distance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兩</a:t>
            </a:r>
            <a:r>
              <a:rPr lang="zh-TW" altLang="en-US" dirty="0" smtClean="0"/>
              <a:t>字串</a:t>
            </a:r>
            <a:r>
              <a:rPr lang="en-US" altLang="zh-TW" dirty="0" smtClean="0"/>
              <a:t>X</a:t>
            </a:r>
            <a:r>
              <a:rPr lang="zh-TW" altLang="en-US" dirty="0" smtClean="0"/>
              <a:t>、</a:t>
            </a:r>
            <a:r>
              <a:rPr lang="en-US" altLang="zh-TW" dirty="0" smtClean="0"/>
              <a:t>Y</a:t>
            </a:r>
            <a:r>
              <a:rPr lang="zh-TW" altLang="en-US" dirty="0" smtClean="0"/>
              <a:t>，長度分別為</a:t>
            </a:r>
            <a:r>
              <a:rPr lang="en-US" altLang="zh-TW" dirty="0" smtClean="0"/>
              <a:t>m</a:t>
            </a:r>
            <a:r>
              <a:rPr lang="zh-TW" altLang="en-US" dirty="0" smtClean="0"/>
              <a:t>與</a:t>
            </a:r>
            <a:r>
              <a:rPr lang="en-US" altLang="zh-TW" dirty="0" smtClean="0"/>
              <a:t>n</a:t>
            </a:r>
            <a:r>
              <a:rPr lang="zh-TW" altLang="en-US" dirty="0" smtClean="0"/>
              <a:t>，</a:t>
            </a:r>
            <a:r>
              <a:rPr lang="en-US" altLang="zh-TW" dirty="0" err="1"/>
              <a:t>Levenshtein</a:t>
            </a:r>
            <a:r>
              <a:rPr lang="en-US" altLang="zh-TW" dirty="0"/>
              <a:t> </a:t>
            </a:r>
            <a:r>
              <a:rPr lang="en-US" altLang="zh-TW" dirty="0" smtClean="0"/>
              <a:t>Distance</a:t>
            </a:r>
            <a:r>
              <a:rPr lang="zh-TW" altLang="en-US" dirty="0" smtClean="0"/>
              <a:t>要求的是使用最少的</a:t>
            </a:r>
            <a:r>
              <a:rPr lang="en-US" altLang="zh-TW" dirty="0" smtClean="0"/>
              <a:t>editing operation</a:t>
            </a:r>
            <a:r>
              <a:rPr lang="zh-TW" altLang="en-US" dirty="0" smtClean="0"/>
              <a:t>，使得</a:t>
            </a:r>
            <a:r>
              <a:rPr lang="en-US" altLang="zh-TW" dirty="0"/>
              <a:t>X</a:t>
            </a:r>
            <a:r>
              <a:rPr lang="zh-TW" altLang="en-US" dirty="0" smtClean="0"/>
              <a:t>轉換為</a:t>
            </a:r>
            <a:r>
              <a:rPr lang="en-US" altLang="zh-TW" dirty="0"/>
              <a:t>Y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三種基本的</a:t>
            </a:r>
            <a:r>
              <a:rPr lang="en-US" altLang="zh-TW" dirty="0" smtClean="0"/>
              <a:t>editing operation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Insertion</a:t>
            </a:r>
          </a:p>
          <a:p>
            <a:pPr lvl="1"/>
            <a:r>
              <a:rPr lang="en-US" altLang="zh-TW" dirty="0" smtClean="0"/>
              <a:t>Deletion</a:t>
            </a:r>
          </a:p>
          <a:p>
            <a:pPr lvl="1"/>
            <a:r>
              <a:rPr lang="en-US" altLang="zh-TW" dirty="0" smtClean="0"/>
              <a:t>Substitution</a:t>
            </a:r>
            <a:endParaRPr lang="en-US" altLang="zh-TW" dirty="0"/>
          </a:p>
          <a:p>
            <a:r>
              <a:rPr lang="zh-TW" altLang="en-US" dirty="0" smtClean="0"/>
              <a:t>這篇論文中的每個</a:t>
            </a:r>
            <a:r>
              <a:rPr lang="en-US" altLang="zh-TW" dirty="0" smtClean="0"/>
              <a:t>operation</a:t>
            </a:r>
            <a:r>
              <a:rPr lang="zh-TW" altLang="en-US" dirty="0" smtClean="0"/>
              <a:t>都假設為</a:t>
            </a:r>
            <a:r>
              <a:rPr lang="en-US" altLang="zh-TW" dirty="0" smtClean="0"/>
              <a:t>cost</a:t>
            </a:r>
            <a:r>
              <a:rPr lang="zh-TW" altLang="en-US" dirty="0" smtClean="0"/>
              <a:t> </a:t>
            </a:r>
            <a:r>
              <a:rPr lang="en-US" altLang="zh-TW" dirty="0" smtClean="0"/>
              <a:t>1</a:t>
            </a:r>
          </a:p>
          <a:p>
            <a:r>
              <a:rPr lang="zh-TW" altLang="en-US" dirty="0"/>
              <a:t>利用</a:t>
            </a:r>
            <a:r>
              <a:rPr lang="en-US" altLang="zh-TW" dirty="0"/>
              <a:t>dynamic </a:t>
            </a:r>
            <a:r>
              <a:rPr lang="en-US" altLang="zh-TW" dirty="0" smtClean="0"/>
              <a:t>programming</a:t>
            </a:r>
            <a:r>
              <a:rPr lang="zh-TW" altLang="en-US" dirty="0" smtClean="0"/>
              <a:t>可以完成計算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68303487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</a:t>
            </a:r>
            <a:r>
              <a:rPr lang="en-US" altLang="zh-TW" dirty="0" smtClean="0"/>
              <a:t>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X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sitting</a:t>
            </a:r>
            <a:endParaRPr lang="en-US" altLang="zh-TW" dirty="0" smtClean="0"/>
          </a:p>
          <a:p>
            <a:r>
              <a:rPr lang="en-US" altLang="zh-TW" dirty="0" smtClean="0"/>
              <a:t>Y = </a:t>
            </a:r>
            <a:r>
              <a:rPr lang="en-US" altLang="zh-TW" dirty="0" smtClean="0"/>
              <a:t>kitten</a:t>
            </a:r>
            <a:endParaRPr lang="zh-TW" altLang="en-US" dirty="0"/>
          </a:p>
        </p:txBody>
      </p:sp>
      <p:pic>
        <p:nvPicPr>
          <p:cNvPr id="2050" name="Picture 2" descr="F:\Sena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340768"/>
            <a:ext cx="4824536" cy="2997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75144654"/>
              </p:ext>
            </p:extLst>
          </p:nvPr>
        </p:nvGraphicFramePr>
        <p:xfrm>
          <a:off x="313184" y="3140968"/>
          <a:ext cx="4546848" cy="331236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68356"/>
                <a:gridCol w="568356"/>
                <a:gridCol w="568356"/>
                <a:gridCol w="568356"/>
                <a:gridCol w="568356"/>
                <a:gridCol w="568356"/>
                <a:gridCol w="568356"/>
                <a:gridCol w="568356"/>
              </a:tblGrid>
              <a:tr h="386288">
                <a:tc>
                  <a:txBody>
                    <a:bodyPr/>
                    <a:lstStyle/>
                    <a:p>
                      <a:pPr algn="ctr"/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k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effectLst/>
                        </a:rPr>
                        <a:t>i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t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t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e</a:t>
                      </a:r>
                      <a:endParaRPr kumimoji="0" lang="en-US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16037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6</a:t>
                      </a:r>
                    </a:p>
                  </a:txBody>
                  <a:tcPr anchor="ctr"/>
                </a:tc>
              </a:tr>
              <a:tr h="31603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</a:tr>
              <a:tr h="31603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</a:tr>
              <a:tr h="31603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0" u="sng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</a:tr>
              <a:tr h="31603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</a:tr>
              <a:tr h="31603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3</a:t>
                      </a:r>
                    </a:p>
                  </a:txBody>
                  <a:tcPr anchor="ctr"/>
                </a:tc>
              </a:tr>
              <a:tr h="31603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</a:tr>
              <a:tr h="31603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4966491" y="6093296"/>
            <a:ext cx="2539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Levenshtein</a:t>
            </a:r>
            <a:r>
              <a:rPr lang="en-US" altLang="zh-TW" dirty="0"/>
              <a:t> </a:t>
            </a:r>
            <a:r>
              <a:rPr lang="en-US" altLang="zh-TW" dirty="0" smtClean="0"/>
              <a:t>Distance</a:t>
            </a:r>
            <a:r>
              <a:rPr lang="zh-TW" altLang="en-US" dirty="0" smtClean="0"/>
              <a:t> </a:t>
            </a:r>
            <a:r>
              <a:rPr lang="en-US" altLang="zh-TW" dirty="0" smtClean="0"/>
              <a:t>= 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456381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IDWP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S</a:t>
            </a:r>
            <a:r>
              <a:rPr lang="es-ES" altLang="zh-TW" dirty="0" smtClean="0"/>
              <a:t>: </a:t>
            </a:r>
            <a:r>
              <a:rPr lang="es-ES" altLang="zh-TW" dirty="0"/>
              <a:t>Ciencias, Universidad de Valencia</a:t>
            </a:r>
          </a:p>
          <a:p>
            <a:r>
              <a:rPr lang="en-US" altLang="zh-TW" dirty="0"/>
              <a:t>T</a:t>
            </a:r>
            <a:r>
              <a:rPr lang="es-ES" altLang="zh-TW" dirty="0" smtClean="0"/>
              <a:t>: </a:t>
            </a:r>
            <a:r>
              <a:rPr lang="es-ES" altLang="zh-TW" dirty="0"/>
              <a:t>Universitat de València, Ciències</a:t>
            </a:r>
          </a:p>
          <a:p>
            <a:r>
              <a:rPr lang="zh-TW" altLang="en-US" dirty="0" smtClean="0"/>
              <a:t>單字相似，但順序不同</a:t>
            </a:r>
            <a:endParaRPr lang="en-US" altLang="zh-TW" dirty="0" smtClean="0"/>
          </a:p>
          <a:p>
            <a:r>
              <a:rPr lang="en-US" altLang="zh-TW" dirty="0" smtClean="0"/>
              <a:t>Length of S </a:t>
            </a:r>
            <a:r>
              <a:rPr lang="en-US" altLang="zh-TW" dirty="0"/>
              <a:t>and T</a:t>
            </a:r>
            <a:r>
              <a:rPr lang="en-US" altLang="zh-TW" dirty="0" smtClean="0"/>
              <a:t> are both 33</a:t>
            </a:r>
          </a:p>
          <a:p>
            <a:r>
              <a:rPr lang="en-US" altLang="zh-TW" dirty="0" err="1" smtClean="0"/>
              <a:t>Levenshtein</a:t>
            </a:r>
            <a:r>
              <a:rPr lang="en-US" altLang="zh-TW" dirty="0" smtClean="0"/>
              <a:t> Distance of S and T</a:t>
            </a:r>
            <a:r>
              <a:rPr lang="zh-TW" altLang="en-US" dirty="0" smtClean="0"/>
              <a:t> </a:t>
            </a:r>
            <a:r>
              <a:rPr lang="en-US" altLang="zh-TW" dirty="0" smtClean="0"/>
              <a:t>= 22</a:t>
            </a:r>
          </a:p>
          <a:p>
            <a:r>
              <a:rPr lang="zh-TW" altLang="en-US" dirty="0"/>
              <a:t>改變</a:t>
            </a:r>
            <a:r>
              <a:rPr lang="zh-TW" altLang="en-US" dirty="0" smtClean="0"/>
              <a:t>字句的紀錄方式，以單字為單位，將標點符號移除，並皆改為小寫。</a:t>
            </a:r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zh-TW" altLang="en-US" dirty="0"/>
              <a:t>可</a:t>
            </a:r>
            <a:r>
              <a:rPr lang="zh-TW" altLang="en-US" dirty="0" smtClean="0"/>
              <a:t>改寫成：</a:t>
            </a:r>
            <a:r>
              <a:rPr lang="en-US" altLang="zh-TW" dirty="0" err="1" smtClean="0"/>
              <a:t>ciencias</a:t>
            </a:r>
            <a:r>
              <a:rPr lang="en-US" altLang="zh-TW" dirty="0"/>
              <a:t> </a:t>
            </a:r>
            <a:r>
              <a:rPr lang="en-US" altLang="zh-TW" dirty="0" err="1" smtClean="0"/>
              <a:t>universidad</a:t>
            </a:r>
            <a:r>
              <a:rPr lang="en-US" altLang="zh-TW" dirty="0" smtClean="0"/>
              <a:t> de </a:t>
            </a:r>
            <a:r>
              <a:rPr lang="en-US" altLang="zh-TW" dirty="0" err="1" smtClean="0"/>
              <a:t>valencia</a:t>
            </a:r>
            <a:endParaRPr lang="en-US" altLang="zh-TW" dirty="0" smtClean="0"/>
          </a:p>
          <a:p>
            <a:r>
              <a:rPr lang="en-US" altLang="zh-TW" dirty="0" smtClean="0"/>
              <a:t>T</a:t>
            </a:r>
            <a:r>
              <a:rPr lang="zh-TW" altLang="en-US" dirty="0" smtClean="0"/>
              <a:t>可改寫成：</a:t>
            </a:r>
            <a:r>
              <a:rPr lang="en-US" altLang="zh-TW" dirty="0" err="1" smtClean="0"/>
              <a:t>universitat</a:t>
            </a:r>
            <a:r>
              <a:rPr lang="en-US" altLang="zh-TW" dirty="0" smtClean="0"/>
              <a:t> de </a:t>
            </a:r>
            <a:r>
              <a:rPr lang="en-US" altLang="zh-TW" dirty="0" err="1" smtClean="0"/>
              <a:t>valencia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ciencies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xmlns="" val="74942723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IDWP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94248861"/>
              </p:ext>
            </p:extLst>
          </p:nvPr>
        </p:nvGraphicFramePr>
        <p:xfrm>
          <a:off x="251520" y="1628800"/>
          <a:ext cx="5240298" cy="4536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383"/>
                <a:gridCol w="873383"/>
                <a:gridCol w="873383"/>
                <a:gridCol w="873383"/>
                <a:gridCol w="873383"/>
                <a:gridCol w="873383"/>
              </a:tblGrid>
              <a:tr h="756084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 smtClean="0"/>
                        <a:t>       </a:t>
                      </a:r>
                      <a:r>
                        <a:rPr lang="en-US" altLang="zh-TW" dirty="0" smtClean="0"/>
                        <a:t>T</a:t>
                      </a:r>
                    </a:p>
                    <a:p>
                      <a:pPr algn="l"/>
                      <a:r>
                        <a:rPr lang="zh-TW" altLang="en-US" dirty="0" smtClean="0"/>
                        <a:t> </a:t>
                      </a:r>
                      <a:r>
                        <a:rPr lang="zh-TW" altLang="en-US" baseline="0" dirty="0" smtClean="0"/>
                        <a:t> </a:t>
                      </a:r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5508104" y="1779689"/>
            <a:ext cx="3563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zh-TW" altLang="en-US" dirty="0" smtClean="0"/>
              <a:t>：</a:t>
            </a:r>
            <a:r>
              <a:rPr lang="en-US" altLang="zh-TW" dirty="0" err="1"/>
              <a:t>ciencias</a:t>
            </a:r>
            <a:r>
              <a:rPr lang="en-US" altLang="zh-TW" dirty="0"/>
              <a:t> </a:t>
            </a:r>
            <a:r>
              <a:rPr lang="en-US" altLang="zh-TW" dirty="0" err="1"/>
              <a:t>universidad</a:t>
            </a:r>
            <a:r>
              <a:rPr lang="en-US" altLang="zh-TW" dirty="0"/>
              <a:t> de </a:t>
            </a:r>
            <a:r>
              <a:rPr lang="en-US" altLang="zh-TW" dirty="0" err="1"/>
              <a:t>valencia</a:t>
            </a:r>
            <a:endParaRPr lang="en-US" altLang="zh-TW" dirty="0"/>
          </a:p>
          <a:p>
            <a:r>
              <a:rPr lang="en-US" altLang="zh-TW" dirty="0" smtClean="0"/>
              <a:t>T</a:t>
            </a:r>
            <a:r>
              <a:rPr lang="zh-TW" altLang="en-US" dirty="0" smtClean="0"/>
              <a:t>：</a:t>
            </a:r>
            <a:r>
              <a:rPr lang="en-US" altLang="zh-TW" dirty="0" err="1"/>
              <a:t>universitat</a:t>
            </a:r>
            <a:r>
              <a:rPr lang="en-US" altLang="zh-TW" dirty="0"/>
              <a:t> de </a:t>
            </a:r>
            <a:r>
              <a:rPr lang="en-US" altLang="zh-TW" dirty="0" err="1"/>
              <a:t>valencia</a:t>
            </a:r>
            <a:r>
              <a:rPr lang="en-US" altLang="zh-TW" dirty="0"/>
              <a:t> </a:t>
            </a:r>
            <a:r>
              <a:rPr lang="en-US" altLang="zh-TW" dirty="0" err="1"/>
              <a:t>ciencies</a:t>
            </a:r>
            <a:endParaRPr lang="en-US" altLang="zh-TW" dirty="0"/>
          </a:p>
        </p:txBody>
      </p:sp>
      <p:sp>
        <p:nvSpPr>
          <p:cNvPr id="5" name="文字方塊 4"/>
          <p:cNvSpPr txBox="1"/>
          <p:nvPr/>
        </p:nvSpPr>
        <p:spPr>
          <a:xfrm>
            <a:off x="5508104" y="2708920"/>
            <a:ext cx="3666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算出每個</a:t>
            </a:r>
            <a:r>
              <a:rPr lang="en-US" altLang="zh-TW" dirty="0" smtClean="0"/>
              <a:t>word</a:t>
            </a:r>
            <a:r>
              <a:rPr lang="zh-TW" altLang="en-US" dirty="0" smtClean="0"/>
              <a:t>對應時的</a:t>
            </a:r>
            <a:r>
              <a:rPr lang="en-US" altLang="zh-TW" dirty="0" smtClean="0"/>
              <a:t>edit distance</a:t>
            </a:r>
          </a:p>
          <a:p>
            <a:r>
              <a:rPr lang="zh-TW" altLang="en-US" dirty="0"/>
              <a:t>第一行與第一</a:t>
            </a:r>
            <a:r>
              <a:rPr lang="zh-TW" altLang="en-US" dirty="0" smtClean="0"/>
              <a:t>列填對應的</a:t>
            </a:r>
            <a:r>
              <a:rPr lang="en-US" altLang="zh-TW" dirty="0" smtClean="0"/>
              <a:t>word</a:t>
            </a:r>
            <a:r>
              <a:rPr lang="zh-TW" altLang="en-US" dirty="0" smtClean="0"/>
              <a:t>長度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86204053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IDWP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11512615"/>
              </p:ext>
            </p:extLst>
          </p:nvPr>
        </p:nvGraphicFramePr>
        <p:xfrm>
          <a:off x="251520" y="1628800"/>
          <a:ext cx="5240298" cy="4536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383"/>
                <a:gridCol w="873383"/>
                <a:gridCol w="873383"/>
                <a:gridCol w="873383"/>
                <a:gridCol w="873383"/>
                <a:gridCol w="873383"/>
              </a:tblGrid>
              <a:tr h="756084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 smtClean="0"/>
                        <a:t>       </a:t>
                      </a:r>
                      <a:r>
                        <a:rPr lang="en-US" altLang="zh-TW" dirty="0" smtClean="0"/>
                        <a:t>T</a:t>
                      </a:r>
                    </a:p>
                    <a:p>
                      <a:pPr algn="l"/>
                      <a:r>
                        <a:rPr lang="zh-TW" altLang="en-US" dirty="0" smtClean="0"/>
                        <a:t> </a:t>
                      </a:r>
                      <a:r>
                        <a:rPr lang="zh-TW" altLang="en-US" baseline="0" dirty="0" smtClean="0"/>
                        <a:t> </a:t>
                      </a:r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5508104" y="1779689"/>
            <a:ext cx="3563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zh-TW" altLang="en-US" dirty="0" smtClean="0"/>
              <a:t>：</a:t>
            </a:r>
            <a:r>
              <a:rPr lang="en-US" altLang="zh-TW" dirty="0" err="1"/>
              <a:t>ciencias</a:t>
            </a:r>
            <a:r>
              <a:rPr lang="en-US" altLang="zh-TW" dirty="0"/>
              <a:t> </a:t>
            </a:r>
            <a:r>
              <a:rPr lang="en-US" altLang="zh-TW" dirty="0" err="1"/>
              <a:t>universidad</a:t>
            </a:r>
            <a:r>
              <a:rPr lang="en-US" altLang="zh-TW" dirty="0"/>
              <a:t> </a:t>
            </a:r>
            <a:r>
              <a:rPr lang="en-US" altLang="zh-TW" strike="sngStrike" dirty="0"/>
              <a:t>de</a:t>
            </a:r>
            <a:r>
              <a:rPr lang="en-US" altLang="zh-TW" dirty="0"/>
              <a:t> </a:t>
            </a:r>
            <a:r>
              <a:rPr lang="en-US" altLang="zh-TW" strike="sngStrike" dirty="0" err="1"/>
              <a:t>valencia</a:t>
            </a:r>
            <a:endParaRPr lang="en-US" altLang="zh-TW" strike="sngStrike" dirty="0"/>
          </a:p>
          <a:p>
            <a:r>
              <a:rPr lang="en-US" altLang="zh-TW" dirty="0" smtClean="0"/>
              <a:t>T</a:t>
            </a:r>
            <a:r>
              <a:rPr lang="zh-TW" altLang="en-US" dirty="0" smtClean="0"/>
              <a:t>：</a:t>
            </a:r>
            <a:r>
              <a:rPr lang="en-US" altLang="zh-TW" dirty="0" err="1"/>
              <a:t>universitat</a:t>
            </a:r>
            <a:r>
              <a:rPr lang="en-US" altLang="zh-TW" dirty="0"/>
              <a:t> </a:t>
            </a:r>
            <a:r>
              <a:rPr lang="en-US" altLang="zh-TW" strike="sngStrike" dirty="0"/>
              <a:t>de</a:t>
            </a:r>
            <a:r>
              <a:rPr lang="en-US" altLang="zh-TW" dirty="0"/>
              <a:t> </a:t>
            </a:r>
            <a:r>
              <a:rPr lang="en-US" altLang="zh-TW" strike="sngStrike" dirty="0" err="1"/>
              <a:t>valencia</a:t>
            </a:r>
            <a:r>
              <a:rPr lang="en-US" altLang="zh-TW" dirty="0"/>
              <a:t> </a:t>
            </a:r>
            <a:r>
              <a:rPr lang="en-US" altLang="zh-TW" dirty="0" err="1"/>
              <a:t>ciencies</a:t>
            </a:r>
            <a:endParaRPr lang="en-US" altLang="zh-TW" dirty="0"/>
          </a:p>
        </p:txBody>
      </p:sp>
      <p:sp>
        <p:nvSpPr>
          <p:cNvPr id="5" name="文字方塊 4"/>
          <p:cNvSpPr txBox="1"/>
          <p:nvPr/>
        </p:nvSpPr>
        <p:spPr>
          <a:xfrm>
            <a:off x="5508104" y="2708920"/>
            <a:ext cx="34291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將</a:t>
            </a:r>
            <a:r>
              <a:rPr lang="en-US" altLang="zh-TW" dirty="0" smtClean="0"/>
              <a:t>edit distance</a:t>
            </a:r>
            <a:r>
              <a:rPr lang="zh-TW" altLang="en-US" dirty="0" smtClean="0"/>
              <a:t>為</a:t>
            </a:r>
            <a:r>
              <a:rPr lang="en-US" altLang="zh-TW" dirty="0" smtClean="0"/>
              <a:t>0</a:t>
            </a:r>
            <a:r>
              <a:rPr lang="zh-TW" altLang="en-US" dirty="0" smtClean="0"/>
              <a:t>的部分</a:t>
            </a:r>
            <a:endParaRPr lang="en-US" altLang="zh-TW" dirty="0" smtClean="0"/>
          </a:p>
          <a:p>
            <a:r>
              <a:rPr lang="zh-TW" altLang="en-US" dirty="0" smtClean="0"/>
              <a:t>標記為配對完成，</a:t>
            </a:r>
            <a:endParaRPr lang="en-US" altLang="zh-TW" dirty="0" smtClean="0"/>
          </a:p>
          <a:p>
            <a:r>
              <a:rPr lang="zh-TW" altLang="en-US" dirty="0" smtClean="0"/>
              <a:t>接下來的過程中不考慮這些</a:t>
            </a:r>
            <a:r>
              <a:rPr lang="en-US" altLang="zh-TW" dirty="0" smtClean="0"/>
              <a:t>word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11219577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IDWP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95638059"/>
              </p:ext>
            </p:extLst>
          </p:nvPr>
        </p:nvGraphicFramePr>
        <p:xfrm>
          <a:off x="251520" y="1628800"/>
          <a:ext cx="5240298" cy="4536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383"/>
                <a:gridCol w="873383"/>
                <a:gridCol w="873383"/>
                <a:gridCol w="873383"/>
                <a:gridCol w="873383"/>
                <a:gridCol w="873383"/>
              </a:tblGrid>
              <a:tr h="756084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 smtClean="0"/>
                        <a:t>       </a:t>
                      </a:r>
                      <a:r>
                        <a:rPr lang="en-US" altLang="zh-TW" dirty="0" smtClean="0"/>
                        <a:t>T</a:t>
                      </a:r>
                    </a:p>
                    <a:p>
                      <a:pPr algn="l"/>
                      <a:r>
                        <a:rPr lang="zh-TW" altLang="en-US" dirty="0" smtClean="0"/>
                        <a:t> </a:t>
                      </a:r>
                      <a:r>
                        <a:rPr lang="zh-TW" altLang="en-US" baseline="0" dirty="0" smtClean="0"/>
                        <a:t> </a:t>
                      </a:r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5508104" y="1779689"/>
            <a:ext cx="3563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zh-TW" altLang="en-US" dirty="0" smtClean="0"/>
              <a:t>：</a:t>
            </a:r>
            <a:r>
              <a:rPr lang="en-US" altLang="zh-TW" dirty="0" err="1"/>
              <a:t>ciencias</a:t>
            </a:r>
            <a:r>
              <a:rPr lang="en-US" altLang="zh-TW" dirty="0"/>
              <a:t> </a:t>
            </a:r>
            <a:r>
              <a:rPr lang="en-US" altLang="zh-TW" dirty="0" err="1"/>
              <a:t>universidad</a:t>
            </a:r>
            <a:r>
              <a:rPr lang="en-US" altLang="zh-TW" dirty="0"/>
              <a:t> </a:t>
            </a:r>
            <a:r>
              <a:rPr lang="en-US" altLang="zh-TW" strike="sngStrike" dirty="0"/>
              <a:t>de</a:t>
            </a:r>
            <a:r>
              <a:rPr lang="en-US" altLang="zh-TW" dirty="0"/>
              <a:t> </a:t>
            </a:r>
            <a:r>
              <a:rPr lang="en-US" altLang="zh-TW" strike="sngStrike" dirty="0" err="1"/>
              <a:t>valencia</a:t>
            </a:r>
            <a:endParaRPr lang="en-US" altLang="zh-TW" strike="sngStrike" dirty="0"/>
          </a:p>
          <a:p>
            <a:r>
              <a:rPr lang="en-US" altLang="zh-TW" dirty="0" smtClean="0"/>
              <a:t>T</a:t>
            </a:r>
            <a:r>
              <a:rPr lang="zh-TW" altLang="en-US" dirty="0" smtClean="0"/>
              <a:t>：</a:t>
            </a:r>
            <a:r>
              <a:rPr lang="en-US" altLang="zh-TW" dirty="0" err="1"/>
              <a:t>universitat</a:t>
            </a:r>
            <a:r>
              <a:rPr lang="en-US" altLang="zh-TW" dirty="0"/>
              <a:t> </a:t>
            </a:r>
            <a:r>
              <a:rPr lang="en-US" altLang="zh-TW" strike="sngStrike" dirty="0"/>
              <a:t>de</a:t>
            </a:r>
            <a:r>
              <a:rPr lang="en-US" altLang="zh-TW" dirty="0"/>
              <a:t> </a:t>
            </a:r>
            <a:r>
              <a:rPr lang="en-US" altLang="zh-TW" strike="sngStrike" dirty="0" err="1"/>
              <a:t>valencia</a:t>
            </a:r>
            <a:r>
              <a:rPr lang="en-US" altLang="zh-TW" dirty="0"/>
              <a:t> </a:t>
            </a:r>
            <a:r>
              <a:rPr lang="en-US" altLang="zh-TW" dirty="0" err="1"/>
              <a:t>ciencies</a:t>
            </a:r>
            <a:endParaRPr lang="en-US" altLang="zh-TW" dirty="0"/>
          </a:p>
        </p:txBody>
      </p:sp>
      <p:sp>
        <p:nvSpPr>
          <p:cNvPr id="5" name="文字方塊 4"/>
          <p:cNvSpPr txBox="1"/>
          <p:nvPr/>
        </p:nvSpPr>
        <p:spPr>
          <a:xfrm>
            <a:off x="5508104" y="2708920"/>
            <a:ext cx="347242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找出</a:t>
            </a:r>
            <a:r>
              <a:rPr lang="en-US" altLang="zh-TW" dirty="0"/>
              <a:t>edit </a:t>
            </a:r>
            <a:r>
              <a:rPr lang="en-US" altLang="zh-TW" dirty="0" smtClean="0"/>
              <a:t>distance</a:t>
            </a:r>
          </a:p>
          <a:p>
            <a:r>
              <a:rPr lang="zh-TW" altLang="en-US" dirty="0" smtClean="0"/>
              <a:t>最小的配對：</a:t>
            </a:r>
            <a:r>
              <a:rPr lang="en-US" altLang="zh-TW" dirty="0" smtClean="0"/>
              <a:t>branch and bound</a:t>
            </a:r>
          </a:p>
          <a:p>
            <a:r>
              <a:rPr lang="en-US" altLang="zh-TW" dirty="0" smtClean="0"/>
              <a:t>(</a:t>
            </a:r>
            <a:r>
              <a:rPr lang="en-US" altLang="zh-TW" dirty="0" err="1" smtClean="0"/>
              <a:t>ciencias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universitat</a:t>
            </a:r>
            <a:r>
              <a:rPr lang="en-US" altLang="zh-TW" dirty="0" smtClean="0"/>
              <a:t>) +</a:t>
            </a:r>
          </a:p>
          <a:p>
            <a:r>
              <a:rPr lang="en-US" altLang="zh-TW" dirty="0" smtClean="0"/>
              <a:t>(</a:t>
            </a:r>
            <a:r>
              <a:rPr lang="en-US" altLang="zh-TW" dirty="0" err="1" smtClean="0"/>
              <a:t>universidad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ciencies</a:t>
            </a:r>
            <a:r>
              <a:rPr lang="en-US" altLang="zh-TW" dirty="0" smtClean="0"/>
              <a:t>) = 7 + 9 = 16</a:t>
            </a:r>
          </a:p>
          <a:p>
            <a:endParaRPr lang="en-US" altLang="zh-TW" dirty="0"/>
          </a:p>
          <a:p>
            <a:r>
              <a:rPr lang="en-US" altLang="zh-TW" dirty="0" smtClean="0"/>
              <a:t>IDWP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16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310062740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IDWP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508104" y="1779689"/>
            <a:ext cx="3563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zh-TW" altLang="en-US" dirty="0" smtClean="0"/>
              <a:t>：</a:t>
            </a:r>
            <a:r>
              <a:rPr lang="en-US" altLang="zh-TW" dirty="0" err="1"/>
              <a:t>ciencias</a:t>
            </a:r>
            <a:r>
              <a:rPr lang="en-US" altLang="zh-TW" dirty="0"/>
              <a:t> </a:t>
            </a:r>
            <a:r>
              <a:rPr lang="en-US" altLang="zh-TW" dirty="0" err="1"/>
              <a:t>universidad</a:t>
            </a:r>
            <a:r>
              <a:rPr lang="en-US" altLang="zh-TW" dirty="0"/>
              <a:t> </a:t>
            </a:r>
            <a:r>
              <a:rPr lang="en-US" altLang="zh-TW" strike="sngStrike" dirty="0"/>
              <a:t>de</a:t>
            </a:r>
            <a:r>
              <a:rPr lang="en-US" altLang="zh-TW" dirty="0"/>
              <a:t> </a:t>
            </a:r>
            <a:r>
              <a:rPr lang="en-US" altLang="zh-TW" strike="sngStrike" dirty="0" err="1"/>
              <a:t>valencia</a:t>
            </a:r>
            <a:endParaRPr lang="en-US" altLang="zh-TW" strike="sngStrike" dirty="0"/>
          </a:p>
          <a:p>
            <a:r>
              <a:rPr lang="en-US" altLang="zh-TW" dirty="0" smtClean="0"/>
              <a:t>T</a:t>
            </a:r>
            <a:r>
              <a:rPr lang="zh-TW" altLang="en-US" dirty="0" smtClean="0"/>
              <a:t>：</a:t>
            </a:r>
            <a:r>
              <a:rPr lang="en-US" altLang="zh-TW" dirty="0" err="1"/>
              <a:t>universitat</a:t>
            </a:r>
            <a:r>
              <a:rPr lang="en-US" altLang="zh-TW" dirty="0"/>
              <a:t> </a:t>
            </a:r>
            <a:r>
              <a:rPr lang="en-US" altLang="zh-TW" strike="sngStrike" dirty="0"/>
              <a:t>de</a:t>
            </a:r>
            <a:r>
              <a:rPr lang="en-US" altLang="zh-TW" dirty="0"/>
              <a:t> </a:t>
            </a:r>
            <a:r>
              <a:rPr lang="en-US" altLang="zh-TW" strike="sngStrike" dirty="0" err="1"/>
              <a:t>valencia</a:t>
            </a:r>
            <a:r>
              <a:rPr lang="en-US" altLang="zh-TW" dirty="0"/>
              <a:t> </a:t>
            </a:r>
            <a:r>
              <a:rPr lang="en-US" altLang="zh-TW" dirty="0" err="1"/>
              <a:t>ciencies</a:t>
            </a:r>
            <a:endParaRPr lang="en-US" altLang="zh-TW" dirty="0"/>
          </a:p>
        </p:txBody>
      </p:sp>
      <p:sp>
        <p:nvSpPr>
          <p:cNvPr id="5" name="文字方塊 4"/>
          <p:cNvSpPr txBox="1"/>
          <p:nvPr/>
        </p:nvSpPr>
        <p:spPr>
          <a:xfrm>
            <a:off x="5508104" y="2708920"/>
            <a:ext cx="365997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找出</a:t>
            </a:r>
            <a:r>
              <a:rPr lang="en-US" altLang="zh-TW" dirty="0"/>
              <a:t>edit distance</a:t>
            </a:r>
          </a:p>
          <a:p>
            <a:r>
              <a:rPr lang="zh-TW" altLang="en-US" dirty="0" smtClean="0"/>
              <a:t>最小的配對：</a:t>
            </a:r>
            <a:r>
              <a:rPr lang="en-US" altLang="zh-TW" dirty="0" smtClean="0"/>
              <a:t>branch and bound</a:t>
            </a:r>
          </a:p>
          <a:p>
            <a:r>
              <a:rPr lang="en-US" altLang="zh-TW" dirty="0" smtClean="0"/>
              <a:t>(</a:t>
            </a:r>
            <a:r>
              <a:rPr lang="en-US" altLang="zh-TW" dirty="0" err="1" smtClean="0"/>
              <a:t>ciencias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ciencies</a:t>
            </a:r>
            <a:r>
              <a:rPr lang="en-US" altLang="zh-TW" dirty="0" smtClean="0"/>
              <a:t>) +</a:t>
            </a:r>
          </a:p>
          <a:p>
            <a:r>
              <a:rPr lang="en-US" altLang="zh-TW" dirty="0" smtClean="0"/>
              <a:t>(</a:t>
            </a:r>
            <a:r>
              <a:rPr lang="en-US" altLang="zh-TW" dirty="0" err="1" smtClean="0"/>
              <a:t>universidad</a:t>
            </a:r>
            <a:r>
              <a:rPr lang="en-US" altLang="zh-TW" dirty="0" smtClean="0"/>
              <a:t>, </a:t>
            </a:r>
            <a:r>
              <a:rPr lang="en-US" altLang="zh-TW" dirty="0" err="1"/>
              <a:t>universitat</a:t>
            </a:r>
            <a:r>
              <a:rPr lang="en-US" altLang="zh-TW" dirty="0" smtClean="0"/>
              <a:t>) = 1 + 2 = 3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IDWP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3</a:t>
            </a:r>
          </a:p>
          <a:p>
            <a:endParaRPr lang="en-US" altLang="zh-TW" dirty="0"/>
          </a:p>
          <a:p>
            <a:r>
              <a:rPr lang="zh-TW" altLang="en-US" dirty="0" smtClean="0"/>
              <a:t>若有一邊的</a:t>
            </a:r>
            <a:r>
              <a:rPr lang="en-US" altLang="zh-TW" dirty="0" smtClean="0"/>
              <a:t>word</a:t>
            </a:r>
            <a:r>
              <a:rPr lang="zh-TW" altLang="en-US" dirty="0" smtClean="0"/>
              <a:t>配對完成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還有剩下的另外一邊</a:t>
            </a:r>
            <a:r>
              <a:rPr lang="en-US" altLang="zh-TW" dirty="0" smtClean="0"/>
              <a:t>word</a:t>
            </a:r>
            <a:r>
              <a:rPr lang="zh-TW" altLang="en-US" dirty="0" smtClean="0"/>
              <a:t>，則加上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其所剩</a:t>
            </a:r>
            <a:r>
              <a:rPr lang="en-US" altLang="zh-TW" dirty="0" smtClean="0"/>
              <a:t>word</a:t>
            </a:r>
            <a:r>
              <a:rPr lang="zh-TW" altLang="en-US" dirty="0" smtClean="0"/>
              <a:t>長度即可。</a:t>
            </a:r>
            <a:endParaRPr lang="en-US" altLang="zh-TW" dirty="0" smtClean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64376798"/>
              </p:ext>
            </p:extLst>
          </p:nvPr>
        </p:nvGraphicFramePr>
        <p:xfrm>
          <a:off x="251520" y="1628800"/>
          <a:ext cx="5240298" cy="4536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383"/>
                <a:gridCol w="873383"/>
                <a:gridCol w="873383"/>
                <a:gridCol w="873383"/>
                <a:gridCol w="873383"/>
                <a:gridCol w="873383"/>
              </a:tblGrid>
              <a:tr h="756084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 smtClean="0"/>
                        <a:t>       </a:t>
                      </a:r>
                      <a:r>
                        <a:rPr lang="en-US" altLang="zh-TW" dirty="0" smtClean="0"/>
                        <a:t>T</a:t>
                      </a:r>
                    </a:p>
                    <a:p>
                      <a:pPr algn="l"/>
                      <a:r>
                        <a:rPr lang="zh-TW" altLang="en-US" dirty="0" smtClean="0"/>
                        <a:t> </a:t>
                      </a:r>
                      <a:r>
                        <a:rPr lang="zh-TW" altLang="en-US" baseline="0" dirty="0" smtClean="0"/>
                        <a:t> </a:t>
                      </a:r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56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44045936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LD V.S. IDWP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89" r="2328" b="7880"/>
          <a:stretch/>
        </p:blipFill>
        <p:spPr bwMode="auto">
          <a:xfrm>
            <a:off x="1511660" y="1142235"/>
            <a:ext cx="6120680" cy="2547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86729942"/>
              </p:ext>
            </p:extLst>
          </p:nvPr>
        </p:nvGraphicFramePr>
        <p:xfrm>
          <a:off x="1500336" y="3789040"/>
          <a:ext cx="609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1</a:t>
                      </a:r>
                      <a:endParaRPr lang="zh-TW" alt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4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6/5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5/5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19/5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17/15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14/17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19/16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7/6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18/5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20/17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15/15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21/20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18/2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22/20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16/19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21/21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23/20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25/19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28/21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22/3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16/8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19/10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82569565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708</Words>
  <Application>Microsoft Office PowerPoint</Application>
  <PresentationFormat>如螢幕大小 (4:3)</PresentationFormat>
  <Paragraphs>320</Paragraphs>
  <Slides>10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佈景主題</vt:lpstr>
      <vt:lpstr>An Algorithm for Computing the Invariant Distance from Word Position</vt:lpstr>
      <vt:lpstr>Abstract</vt:lpstr>
      <vt:lpstr>Levenshtein Distance</vt:lpstr>
      <vt:lpstr>Example</vt:lpstr>
      <vt:lpstr>IDWP</vt:lpstr>
      <vt:lpstr>IDWP</vt:lpstr>
      <vt:lpstr>IDWP</vt:lpstr>
      <vt:lpstr>IDWP</vt:lpstr>
      <vt:lpstr>IDWP</vt:lpstr>
      <vt:lpstr>LD V.S. IDWP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Computing Invariant Distance Word Position</dc:title>
  <dc:creator>Sena</dc:creator>
  <cp:lastModifiedBy>admin</cp:lastModifiedBy>
  <cp:revision>31</cp:revision>
  <dcterms:created xsi:type="dcterms:W3CDTF">2015-02-02T18:12:09Z</dcterms:created>
  <dcterms:modified xsi:type="dcterms:W3CDTF">2015-02-26T12:46:57Z</dcterms:modified>
</cp:coreProperties>
</file>