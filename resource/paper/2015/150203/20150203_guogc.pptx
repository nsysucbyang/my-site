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8" r:id="rId7"/>
    <p:sldId id="262" r:id="rId8"/>
    <p:sldId id="261" r:id="rId9"/>
    <p:sldId id="263" r:id="rId10"/>
    <p:sldId id="265" r:id="rId11"/>
    <p:sldId id="264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66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51796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91733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1815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97759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83346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93383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39090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375381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57211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13370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8018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8C927-D19E-4AF3-923F-ECD5956F68A8}" type="datetimeFigureOut">
              <a:rPr lang="zh-TW" altLang="en-US" smtClean="0"/>
              <a:pPr/>
              <a:t>2015/2/26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7948F-58F2-4215-AE3D-CA62ECAA51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58967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8229600" cy="2387600"/>
          </a:xfrm>
        </p:spPr>
        <p:txBody>
          <a:bodyPr>
            <a:noAutofit/>
          </a:bodyPr>
          <a:lstStyle/>
          <a:p>
            <a:pPr algn="l"/>
            <a:r>
              <a:rPr lang="en-US" altLang="zh-TW" sz="4800" dirty="0"/>
              <a:t>An </a:t>
            </a:r>
            <a:r>
              <a:rPr lang="en-US" altLang="zh-TW" sz="4800" dirty="0" smtClean="0"/>
              <a:t>Experimental Evaluation </a:t>
            </a:r>
            <a:r>
              <a:rPr lang="en-US" altLang="zh-TW" sz="4800" dirty="0"/>
              <a:t>of Nearest </a:t>
            </a:r>
            <a:r>
              <a:rPr lang="en-US" altLang="zh-TW" sz="4800" dirty="0" err="1"/>
              <a:t>Neighbour</a:t>
            </a:r>
            <a:r>
              <a:rPr lang="en-US" altLang="zh-TW" sz="4800" dirty="0"/>
              <a:t> Time </a:t>
            </a:r>
            <a:r>
              <a:rPr lang="en-US" altLang="zh-TW" sz="4800" dirty="0" smtClean="0"/>
              <a:t>Series Classification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Anthony </a:t>
            </a:r>
            <a:r>
              <a:rPr lang="en-US" altLang="zh-TW" sz="2800" dirty="0" err="1" smtClean="0"/>
              <a:t>Bagnall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and </a:t>
            </a:r>
            <a:r>
              <a:rPr lang="en-US" altLang="zh-TW" sz="2800" dirty="0"/>
              <a:t>Jason </a:t>
            </a:r>
            <a:r>
              <a:rPr lang="en-US" altLang="zh-TW" sz="2800" dirty="0" smtClean="0"/>
              <a:t>Lines</a:t>
            </a:r>
          </a:p>
          <a:p>
            <a:r>
              <a:rPr lang="en-US" altLang="zh-TW" sz="2800" dirty="0" smtClean="0"/>
              <a:t>arXiv:1406.4757v1 </a:t>
            </a:r>
            <a:r>
              <a:rPr lang="en-US" altLang="zh-TW" sz="2800" dirty="0"/>
              <a:t>[</a:t>
            </a:r>
            <a:r>
              <a:rPr lang="en-US" altLang="zh-TW" sz="2800" dirty="0" err="1"/>
              <a:t>cs.LG</a:t>
            </a:r>
            <a:r>
              <a:rPr lang="en-US" altLang="zh-TW" sz="2800" dirty="0"/>
              <a:t>] 18 Jun 2014</a:t>
            </a:r>
            <a:endParaRPr lang="zh-TW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580112" y="558924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smtClean="0"/>
              <a:t>2015/2/3</a:t>
            </a:r>
            <a:endParaRPr lang="en-US" altLang="zh-TW" dirty="0"/>
          </a:p>
        </p:txBody>
      </p:sp>
    </p:spTree>
    <p:extLst>
      <p:ext uri="{BB962C8B-B14F-4D97-AF65-F5344CB8AC3E}">
        <p14:creationId xmlns="" xmlns:p14="http://schemas.microsoft.com/office/powerpoint/2010/main" val="25790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2174"/>
          </a:xfrm>
        </p:spPr>
        <p:txBody>
          <a:bodyPr/>
          <a:lstStyle/>
          <a:p>
            <a:pPr algn="ctr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49382" y="1257301"/>
            <a:ext cx="8437418" cy="5320144"/>
          </a:xfrm>
        </p:spPr>
        <p:txBody>
          <a:bodyPr>
            <a:normAutofit/>
          </a:bodyPr>
          <a:lstStyle/>
          <a:p>
            <a:r>
              <a:rPr lang="en-US" altLang="zh-TW" dirty="0"/>
              <a:t>Data mining research into time series </a:t>
            </a:r>
            <a:r>
              <a:rPr lang="en-US" altLang="zh-TW" dirty="0" smtClean="0"/>
              <a:t>classification (TSC</a:t>
            </a:r>
            <a:r>
              <a:rPr lang="en-US" altLang="zh-TW" dirty="0"/>
              <a:t>) has </a:t>
            </a:r>
            <a:r>
              <a:rPr lang="en-US" altLang="zh-TW" dirty="0" err="1"/>
              <a:t>focussed</a:t>
            </a:r>
            <a:r>
              <a:rPr lang="en-US" altLang="zh-TW" dirty="0"/>
              <a:t> on alternative distance measures for </a:t>
            </a:r>
            <a:r>
              <a:rPr lang="en-US" altLang="zh-TW" dirty="0" smtClean="0"/>
              <a:t>nearest </a:t>
            </a:r>
            <a:r>
              <a:rPr lang="en-US" altLang="zh-TW" dirty="0" err="1" smtClean="0"/>
              <a:t>neighbour</a:t>
            </a:r>
            <a:r>
              <a:rPr lang="en-US" altLang="zh-TW" dirty="0" smtClean="0"/>
              <a:t> </a:t>
            </a:r>
            <a:r>
              <a:rPr lang="en-US" altLang="zh-TW" dirty="0"/>
              <a:t>classifiers. It is standard practice to use 1-NN </a:t>
            </a:r>
            <a:r>
              <a:rPr lang="en-US" altLang="zh-TW" dirty="0" smtClean="0"/>
              <a:t>with Euclidean </a:t>
            </a:r>
            <a:r>
              <a:rPr lang="en-US" altLang="zh-TW" dirty="0"/>
              <a:t>or dynamic time warping (DTW) distance as a </a:t>
            </a:r>
            <a:r>
              <a:rPr lang="en-US" altLang="zh-TW" dirty="0" smtClean="0"/>
              <a:t>straw man </a:t>
            </a:r>
            <a:r>
              <a:rPr lang="en-US" altLang="zh-TW" dirty="0"/>
              <a:t>for comparison. As part of a wider investigation into </a:t>
            </a:r>
            <a:r>
              <a:rPr lang="en-US" altLang="zh-TW" dirty="0" smtClean="0"/>
              <a:t>elastic distance </a:t>
            </a:r>
            <a:r>
              <a:rPr lang="en-US" altLang="zh-TW" dirty="0"/>
              <a:t>measures for </a:t>
            </a:r>
            <a:r>
              <a:rPr lang="en-US" altLang="zh-TW" dirty="0" smtClean="0"/>
              <a:t>TSC, </a:t>
            </a:r>
            <a:r>
              <a:rPr lang="en-US" altLang="zh-TW" dirty="0"/>
              <a:t>we perform a series of </a:t>
            </a:r>
            <a:r>
              <a:rPr lang="en-US" altLang="zh-TW" dirty="0" smtClean="0"/>
              <a:t>experiments to </a:t>
            </a:r>
            <a:r>
              <a:rPr lang="en-US" altLang="zh-TW" dirty="0"/>
              <a:t>test whether this standard practice is </a:t>
            </a:r>
            <a:r>
              <a:rPr lang="en-US" altLang="zh-TW" dirty="0" smtClean="0"/>
              <a:t>valid.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57722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2174"/>
          </a:xfrm>
        </p:spPr>
        <p:txBody>
          <a:bodyPr/>
          <a:lstStyle/>
          <a:p>
            <a:pPr algn="ctr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49382" y="1257301"/>
            <a:ext cx="8437418" cy="5320144"/>
          </a:xfrm>
        </p:spPr>
        <p:txBody>
          <a:bodyPr>
            <a:normAutofit/>
          </a:bodyPr>
          <a:lstStyle/>
          <a:p>
            <a:r>
              <a:rPr lang="en-US" altLang="zh-TW" dirty="0"/>
              <a:t> Specifically, we compare 1-NN classifiers with Euclidean and DTW distance to standard classifiers, examine whether the performance of 1-NN Euclidean approaches that of 1-NN DTW as the number of cases increases, assess whether there is any benefit of setting k for k-NN through cross validation whether it is worth setting the warping path for DTW through cross validation and finally is it better to use a window or weighting for DTW. Based on experiments on 77 problems, we conclude that 1-NN with Euclidean distance is fairly easy to beat but 1-NN with DTW is not, if window size is set through cross validation.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57128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083" y="135082"/>
            <a:ext cx="9144000" cy="115339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smtClean="0"/>
              <a:t>Longest common Subsequence Distance (LCSS)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-50800" y="1288472"/>
                <a:ext cx="9283700" cy="5302827"/>
              </a:xfrm>
            </p:spPr>
            <p:txBody>
              <a:bodyPr>
                <a:normAutofit fontScale="92500"/>
              </a:bodyPr>
              <a:lstStyle/>
              <a:p>
                <a:r>
                  <a:rPr lang="es-ES" altLang="zh-TW" dirty="0" smtClean="0"/>
                  <a:t>A</a:t>
                </a:r>
                <a:r>
                  <a:rPr lang="es-ES" altLang="zh-TW" dirty="0"/>
                  <a:t> = </a:t>
                </a:r>
                <a:r>
                  <a:rPr lang="es-ES" altLang="zh-TW" dirty="0" smtClean="0"/>
                  <a:t>(a</a:t>
                </a:r>
                <a:r>
                  <a:rPr lang="es-ES" altLang="zh-TW" baseline="-25000" dirty="0" smtClean="0"/>
                  <a:t>1</a:t>
                </a:r>
                <a:r>
                  <a:rPr lang="es-ES" altLang="zh-TW" dirty="0"/>
                  <a:t>, </a:t>
                </a:r>
                <a:r>
                  <a:rPr lang="es-ES" altLang="zh-TW" dirty="0" smtClean="0"/>
                  <a:t>a</a:t>
                </a:r>
                <a:r>
                  <a:rPr lang="es-ES" altLang="zh-TW" baseline="-25000" dirty="0" smtClean="0"/>
                  <a:t>2</a:t>
                </a:r>
                <a:r>
                  <a:rPr lang="es-ES" altLang="zh-TW" dirty="0" smtClean="0"/>
                  <a:t>...a</a:t>
                </a:r>
                <a:r>
                  <a:rPr lang="es-ES" altLang="zh-TW" baseline="-25000" dirty="0" smtClean="0"/>
                  <a:t>m</a:t>
                </a:r>
                <a:r>
                  <a:rPr lang="es-ES" altLang="zh-TW" dirty="0"/>
                  <a:t>) and </a:t>
                </a:r>
                <a:r>
                  <a:rPr lang="es-ES" altLang="zh-TW" dirty="0" smtClean="0"/>
                  <a:t>B</a:t>
                </a:r>
                <a:r>
                  <a:rPr lang="es-ES" altLang="zh-TW" dirty="0"/>
                  <a:t> = </a:t>
                </a:r>
                <a:r>
                  <a:rPr lang="es-ES" altLang="zh-TW" dirty="0" smtClean="0"/>
                  <a:t>(b</a:t>
                </a:r>
                <a:r>
                  <a:rPr lang="es-ES" altLang="zh-TW" baseline="-25000" dirty="0" smtClean="0"/>
                  <a:t>1</a:t>
                </a:r>
                <a:r>
                  <a:rPr lang="es-ES" altLang="zh-TW" dirty="0"/>
                  <a:t>, </a:t>
                </a:r>
                <a:r>
                  <a:rPr lang="es-ES" altLang="zh-TW" dirty="0" smtClean="0"/>
                  <a:t>b</a:t>
                </a:r>
                <a:r>
                  <a:rPr lang="es-ES" altLang="zh-TW" baseline="-25000" dirty="0" smtClean="0"/>
                  <a:t>2</a:t>
                </a:r>
                <a:r>
                  <a:rPr lang="es-ES" altLang="zh-TW" dirty="0" smtClean="0"/>
                  <a:t>...b</a:t>
                </a:r>
                <a:r>
                  <a:rPr lang="es-ES" altLang="zh-TW" baseline="-25000" dirty="0"/>
                  <a:t>m</a:t>
                </a:r>
                <a:r>
                  <a:rPr lang="es-ES" altLang="zh-TW" dirty="0" smtClean="0"/>
                  <a:t>)</a:t>
                </a:r>
                <a:endParaRPr lang="en-US" altLang="zh-TW" b="0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𝐿𝐶𝑆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  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i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0" smtClean="0">
                                <a:latin typeface="Cambria Math"/>
                              </a:rPr>
                              <m:t>0                                                  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i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=0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or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j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𝐿𝐶𝑆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/>
                              </a:rPr>
                              <m:t>+1                                             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max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𝐿𝐶𝑆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𝐿𝐶𝑆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)</m:t>
                            </m:r>
                            <m:r>
                              <a:rPr lang="en-US" altLang="zh-TW">
                                <a:latin typeface="Cambria Math"/>
                              </a:rPr>
                              <m:t> 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      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>
                                <a:latin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i="1" smtClean="0">
                                <a:latin typeface="Cambria Math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zh-TW" altLang="en-US" dirty="0" smtClean="0">
                    <a:ea typeface="標楷體" panose="03000509000000000000" pitchFamily="65" charset="-120"/>
                  </a:rPr>
                  <a:t>擴展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Longest common Subsequence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問題到時間序列，使用 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distance threshold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來定義</a:t>
                </a:r>
                <a:r>
                  <a:rPr lang="zh-TW" altLang="en-US" dirty="0">
                    <a:ea typeface="標楷體" panose="03000509000000000000" pitchFamily="65" charset="-120"/>
                  </a:rPr>
                  <a:t>兩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實數是否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match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，兩點之距離</a:t>
                </a:r>
                <a:r>
                  <a:rPr lang="zh-TW" altLang="en-US" dirty="0">
                    <a:ea typeface="標楷體" panose="03000509000000000000" pitchFamily="65" charset="-120"/>
                  </a:rPr>
                  <a:t>不超過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threshold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則為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match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。</a:t>
                </a:r>
                <a:endParaRPr lang="en-US" altLang="zh-TW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𝐿𝐶𝑆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i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i="0">
                                <a:latin typeface="Cambria Math"/>
                              </a:rPr>
                              <m:t>0                                          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                  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i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=0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or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j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𝐿𝐶𝑆𝑆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/>
                              </a:rPr>
                              <m:t>+1 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                   </m:t>
                            </m:r>
                            <m:r>
                              <a:rPr lang="en-US" altLang="zh-TW" b="0" i="0" smtClean="0">
                                <a:latin typeface="Cambria Math"/>
                              </a:rPr>
                              <m:t>     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0" smtClean="0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zh-TW" b="0" i="0" smtClean="0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zh-TW" b="0" i="0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b="0" i="0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nor/>
                              </m:rPr>
                              <a:rPr lang="en-US" altLang="zh-TW" b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≤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thr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𝐿𝐶𝑆𝑆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,   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TW" b="0" i="0" smtClean="0">
                                    <a:latin typeface="Cambria Math"/>
                                  </a:rPr>
                                  <m:t> 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𝐿𝐶𝑆𝑆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−1, 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  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b="0" i="0" smtClean="0">
                                <a:latin typeface="Cambria Math"/>
                              </a:rPr>
                              <m:t>   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i="0">
                                <a:latin typeface="Cambria Math"/>
                              </a:rPr>
                              <m:t>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b="0" i="0" smtClean="0">
                                    <a:latin typeface="Cambria Math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zh-TW" i="0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/>
                                          </a:rP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zh-TW" b="0" i="0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TW" i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TW" b="0" i="0" smtClean="0">
                                <a:latin typeface="Cambria Math"/>
                              </a:rPr>
                              <m:t>&gt;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thr</m:t>
                            </m:r>
                          </m:e>
                        </m:eqAr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0800" y="1288472"/>
                <a:ext cx="9283700" cy="5302827"/>
              </a:xfrm>
              <a:blipFill rotWithShape="0">
                <a:blip r:embed="rId2"/>
                <a:stretch>
                  <a:fillRect l="-1051" t="-16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19025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46915"/>
            <a:ext cx="7886700" cy="923347"/>
          </a:xfrm>
        </p:spPr>
        <p:txBody>
          <a:bodyPr/>
          <a:lstStyle/>
          <a:p>
            <a:pPr algn="ctr"/>
            <a:r>
              <a:rPr lang="en-US" altLang="zh-TW" dirty="0" smtClean="0"/>
              <a:t>Dynamic </a:t>
            </a:r>
            <a:r>
              <a:rPr lang="en-US" altLang="zh-TW" dirty="0"/>
              <a:t>T</a:t>
            </a:r>
            <a:r>
              <a:rPr lang="en-US" altLang="zh-TW" dirty="0" smtClean="0"/>
              <a:t>ime Warping (DTW)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70262"/>
                <a:ext cx="8775700" cy="5635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𝐷𝑇𝑊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𝑑</m:t>
                    </m:r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)+</m:t>
                    </m:r>
                    <m:r>
                      <a:rPr lang="en-US" altLang="zh-TW" i="1">
                        <a:latin typeface="Cambria Math"/>
                      </a:rPr>
                      <m:t>𝑚𝑖𝑛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𝐷𝑇𝑊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−1,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𝐷𝑇𝑊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𝐷𝑇𝑊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−1,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𝑑</m:t>
                    </m:r>
                    <m:r>
                      <a:rPr lang="en-US" altLang="zh-TW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0">
                        <a:latin typeface="Cambria Math"/>
                      </a:rPr>
                      <m:t>is</m:t>
                    </m:r>
                    <m:r>
                      <a:rPr lang="en-US" altLang="zh-TW" i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0">
                        <a:latin typeface="Cambria Math"/>
                      </a:rPr>
                      <m:t>Euclidean</m:t>
                    </m:r>
                    <m:r>
                      <a:rPr lang="en-US" altLang="zh-TW" i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0">
                        <a:latin typeface="Cambria Math"/>
                      </a:rPr>
                      <m:t>distance</m:t>
                    </m:r>
                  </m:oMath>
                </a14:m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70262"/>
                <a:ext cx="8775700" cy="5635338"/>
              </a:xfrm>
              <a:blipFill rotWithShape="1">
                <a:blip r:embed="rId2"/>
                <a:stretch>
                  <a:fillRect t="-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28" y="4314304"/>
            <a:ext cx="8670300" cy="1692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94767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4627"/>
            <a:ext cx="7886700" cy="1133474"/>
          </a:xfrm>
        </p:spPr>
        <p:txBody>
          <a:bodyPr/>
          <a:lstStyle/>
          <a:p>
            <a:r>
              <a:rPr lang="en-US" altLang="zh-TW" dirty="0" smtClean="0"/>
              <a:t>Warping </a:t>
            </a:r>
            <a:r>
              <a:rPr lang="en-US" altLang="zh-TW" dirty="0"/>
              <a:t>W</a:t>
            </a:r>
            <a:r>
              <a:rPr lang="en-US" altLang="zh-TW" dirty="0" smtClean="0"/>
              <a:t>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5600" y="1295400"/>
            <a:ext cx="8559800" cy="5270499"/>
          </a:xfrm>
        </p:spPr>
        <p:txBody>
          <a:bodyPr/>
          <a:lstStyle/>
          <a:p>
            <a:r>
              <a:rPr lang="zh-TW" altLang="en-US" dirty="0" smtClean="0">
                <a:ea typeface="標楷體" panose="03000509000000000000" pitchFamily="65" charset="-120"/>
              </a:rPr>
              <a:t>限制</a:t>
            </a:r>
            <a:r>
              <a:rPr lang="en-US" altLang="zh-TW" dirty="0" smtClean="0">
                <a:ea typeface="標楷體" panose="03000509000000000000" pitchFamily="65" charset="-120"/>
              </a:rPr>
              <a:t>DTW</a:t>
            </a:r>
            <a:r>
              <a:rPr lang="zh-TW" altLang="en-US" dirty="0" smtClean="0">
                <a:ea typeface="標楷體" panose="03000509000000000000" pitchFamily="65" charset="-120"/>
              </a:rPr>
              <a:t>的</a:t>
            </a:r>
            <a:r>
              <a:rPr lang="en-US" altLang="zh-TW" dirty="0" smtClean="0">
                <a:ea typeface="標楷體" panose="03000509000000000000" pitchFamily="65" charset="-120"/>
              </a:rPr>
              <a:t>match path</a:t>
            </a:r>
            <a:r>
              <a:rPr lang="zh-TW" altLang="en-US" dirty="0" smtClean="0">
                <a:ea typeface="標楷體" panose="03000509000000000000" pitchFamily="65" charset="-120"/>
              </a:rPr>
              <a:t>只能經過設定的範圍內。</a:t>
            </a:r>
            <a:endParaRPr lang="zh-TW" altLang="en-US" dirty="0">
              <a:ea typeface="標楷體" panose="03000509000000000000" pitchFamily="65" charset="-120"/>
            </a:endParaRPr>
          </a:p>
        </p:txBody>
      </p:sp>
      <p:pic>
        <p:nvPicPr>
          <p:cNvPr id="2051" name="Picture 3" descr="E: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2" y="2919413"/>
            <a:ext cx="3077795" cy="31638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74186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773" y="146915"/>
            <a:ext cx="8697191" cy="92334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Derivative Dynamic Time </a:t>
            </a:r>
            <a:r>
              <a:rPr lang="en-US" altLang="zh-TW" dirty="0" smtClean="0"/>
              <a:t>Warping (DDTW)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42900" y="1070263"/>
                <a:ext cx="8172450" cy="536647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prstClr val="black"/>
                        </a:solidFill>
                        <a:latin typeface="Cambria Math"/>
                      </a:rPr>
                      <m:t>𝑑</m:t>
                    </m:r>
                    <m:d>
                      <m:d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⇒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𝑑</m:t>
                    </m:r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′(</m:t>
                    </m:r>
                    <m:sSub>
                      <m:sSub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],</m:t>
                    </m:r>
                    <m:sSub>
                      <m:sSub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solidFill>
                          <a:prstClr val="black"/>
                        </a:solidFill>
                        <a:latin typeface="Cambria Math"/>
                      </a:rPr>
                      <m:t>])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+(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altLang="zh-TW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dirty="0"/>
                  <a:t/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計算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點附近的平均斜率，將比較距離變成比較兩點的平均斜率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070263"/>
                <a:ext cx="8172450" cy="5366476"/>
              </a:xfrm>
              <a:blipFill rotWithShape="1">
                <a:blip r:embed="rId2"/>
                <a:stretch>
                  <a:fillRect r="-3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E:\未命名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49" y="3813175"/>
            <a:ext cx="8012113" cy="25336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75035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35082"/>
            <a:ext cx="9144000" cy="115339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Weighted Dynamic Time </a:t>
            </a:r>
            <a:r>
              <a:rPr lang="en-US" altLang="zh-TW" dirty="0" smtClean="0"/>
              <a:t>Warping (</a:t>
            </a:r>
            <a:r>
              <a:rPr lang="en-US" altLang="zh-TW" dirty="0"/>
              <a:t>WDTW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92200"/>
                <a:ext cx="7886700" cy="5461000"/>
              </a:xfrm>
            </p:spPr>
            <p:txBody>
              <a:bodyPr/>
              <a:lstStyle/>
              <a:p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概念就是</a:t>
                </a:r>
                <a:r>
                  <a:rPr lang="zh-TW" altLang="en-US" dirty="0">
                    <a:latin typeface="標楷體" pitchFamily="65" charset="-120"/>
                    <a:ea typeface="標楷體" pitchFamily="65" charset="-120"/>
                  </a:rPr>
                  <a:t>距離越遠，其罰分的比重越</a:t>
                </a: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大</a:t>
                </a:r>
                <a:r>
                  <a:rPr lang="zh-TW" altLang="en-US" dirty="0">
                    <a:latin typeface="標楷體" pitchFamily="65" charset="-120"/>
                    <a:ea typeface="標楷體" pitchFamily="65" charset="-120"/>
                  </a:rPr>
                  <a:t>。</a:t>
                </a:r>
                <a:endParaRPr lang="en-US" altLang="zh-TW" dirty="0">
                  <a:latin typeface="標楷體" pitchFamily="65" charset="-120"/>
                  <a:ea typeface="標楷體" pitchFamily="65" charset="-120"/>
                </a:endParaRPr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exp</m:t>
                        </m:r>
                        <m:r>
                          <a:rPr lang="en-US" altLang="zh-TW" i="1">
                            <a:latin typeface="Cambria Math"/>
                          </a:rPr>
                          <m:t>⁡(−</m:t>
                        </m:r>
                        <m:r>
                          <a:rPr lang="en-US" altLang="zh-TW" i="1">
                            <a:latin typeface="Cambria Math"/>
                          </a:rPr>
                          <m:t>𝑔</m:t>
                        </m:r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/2))</m:t>
                        </m:r>
                      </m:den>
                    </m:f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err="1"/>
                  <a:t>w</a:t>
                </a:r>
                <a:r>
                  <a:rPr lang="en-US" altLang="zh-TW" baseline="-25000" dirty="0" err="1"/>
                  <a:t>max</a:t>
                </a:r>
                <a:r>
                  <a:rPr lang="en-US" altLang="zh-TW" dirty="0"/>
                  <a:t> is an upper bound on the weight (set to 1</a:t>
                </a:r>
                <a:r>
                  <a:rPr lang="en-US" altLang="zh-TW" dirty="0" smtClean="0"/>
                  <a:t>),</a:t>
                </a:r>
                <a:r>
                  <a:rPr lang="zh-TW" altLang="en-US" dirty="0" smtClean="0"/>
                  <a:t/>
                </a:r>
                <a:r>
                  <a:rPr lang="en-US" altLang="zh-TW" dirty="0"/>
                  <a:t>m </a:t>
                </a:r>
                <a:r>
                  <a:rPr lang="en-US" altLang="zh-TW" dirty="0" smtClean="0"/>
                  <a:t>is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series length and g is a parameter that controls the </a:t>
                </a:r>
                <a:r>
                  <a:rPr lang="en-US" altLang="zh-TW" dirty="0" smtClean="0"/>
                  <a:t>penalty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level </a:t>
                </a:r>
                <a:r>
                  <a:rPr lang="en-US" altLang="zh-TW" dirty="0"/>
                  <a:t>for large </a:t>
                </a:r>
                <a:r>
                  <a:rPr lang="en-US" altLang="zh-TW" dirty="0" err="1" smtClean="0"/>
                  <a:t>warpings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Distance matrix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M 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92200"/>
                <a:ext cx="7886700" cy="5461000"/>
              </a:xfrm>
              <a:blipFill rotWithShape="1">
                <a:blip r:embed="rId2"/>
                <a:stretch>
                  <a:fillRect l="-1314" t="-1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288738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083" y="135083"/>
            <a:ext cx="8912098" cy="1007918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Time Series Data Set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598170" y="1254124"/>
            <a:ext cx="7886700" cy="5324475"/>
          </a:xfrm>
        </p:spPr>
        <p:txBody>
          <a:bodyPr/>
          <a:lstStyle/>
          <a:p>
            <a:r>
              <a:rPr lang="en-US" altLang="zh-TW" dirty="0" smtClean="0"/>
              <a:t>Data sets grouped by problem type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" y="2132494"/>
            <a:ext cx="9014460" cy="35260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17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083" y="135083"/>
            <a:ext cx="8890583" cy="1007918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598170" y="1254124"/>
            <a:ext cx="7886700" cy="5324475"/>
          </a:xfrm>
        </p:spPr>
        <p:txBody>
          <a:bodyPr/>
          <a:lstStyle/>
          <a:p>
            <a:r>
              <a:rPr lang="en-US" altLang="zh-TW" dirty="0" smtClean="0"/>
              <a:t>Average ranks of 6 classifiers split by problem type. (</a:t>
            </a:r>
            <a:r>
              <a:rPr lang="en-US" altLang="zh-TW" dirty="0"/>
              <a:t>1-NN Euclidean </a:t>
            </a:r>
            <a:r>
              <a:rPr lang="en-US" altLang="zh-TW" dirty="0" smtClean="0"/>
              <a:t>, 1-NN </a:t>
            </a:r>
            <a:r>
              <a:rPr lang="en-US" altLang="zh-TW" dirty="0"/>
              <a:t>with </a:t>
            </a:r>
            <a:r>
              <a:rPr lang="en-US" altLang="zh-TW" dirty="0" smtClean="0"/>
              <a:t>DTW, Random Forest, </a:t>
            </a:r>
            <a:r>
              <a:rPr lang="en-US" altLang="zh-TW" dirty="0"/>
              <a:t>rotation </a:t>
            </a:r>
            <a:r>
              <a:rPr lang="en-US" altLang="zh-TW" dirty="0" smtClean="0"/>
              <a:t>forest, linear </a:t>
            </a:r>
            <a:r>
              <a:rPr lang="en-US" altLang="zh-TW" dirty="0"/>
              <a:t>support vector machine </a:t>
            </a:r>
            <a:r>
              <a:rPr lang="en-US" altLang="zh-TW" dirty="0" smtClean="0"/>
              <a:t>and </a:t>
            </a:r>
            <a:r>
              <a:rPr lang="en-US" altLang="zh-TW" dirty="0"/>
              <a:t>quadratic support vector </a:t>
            </a:r>
            <a:r>
              <a:rPr lang="en-US" altLang="zh-TW" dirty="0" smtClean="0"/>
              <a:t>machine).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3" y="3392688"/>
            <a:ext cx="9095150" cy="17081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8450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1127"/>
            <a:ext cx="9144000" cy="96837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Is it worth setting k through cross </a:t>
            </a:r>
            <a:r>
              <a:rPr lang="en-US" altLang="zh-TW" dirty="0" smtClean="0"/>
              <a:t>validation?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800" y="1219200"/>
            <a:ext cx="8509000" cy="5295900"/>
          </a:xfrm>
        </p:spPr>
        <p:txBody>
          <a:bodyPr/>
          <a:lstStyle/>
          <a:p>
            <a:r>
              <a:rPr lang="en-US" altLang="zh-TW" dirty="0"/>
              <a:t>We are using 7 variants </a:t>
            </a:r>
            <a:r>
              <a:rPr lang="en-US" altLang="zh-TW" dirty="0" smtClean="0"/>
              <a:t>of distance </a:t>
            </a:r>
            <a:r>
              <a:rPr lang="en-US" altLang="zh-TW" dirty="0"/>
              <a:t>measure with nearest </a:t>
            </a:r>
            <a:r>
              <a:rPr lang="en-US" altLang="zh-TW" dirty="0" err="1"/>
              <a:t>neighbour</a:t>
            </a:r>
            <a:r>
              <a:rPr lang="en-US" altLang="zh-TW" dirty="0"/>
              <a:t> classifiers: </a:t>
            </a:r>
            <a:endParaRPr lang="en-US" altLang="zh-TW" dirty="0" smtClean="0"/>
          </a:p>
          <a:p>
            <a:r>
              <a:rPr lang="en-US" altLang="zh-TW" dirty="0" smtClean="0"/>
              <a:t>Euclidean </a:t>
            </a:r>
            <a:r>
              <a:rPr lang="en-US" altLang="zh-TW" dirty="0" smtClean="0"/>
              <a:t>(Euclid)</a:t>
            </a:r>
          </a:p>
          <a:p>
            <a:r>
              <a:rPr lang="en-US" altLang="zh-TW" dirty="0" smtClean="0"/>
              <a:t>DTW </a:t>
            </a:r>
            <a:r>
              <a:rPr lang="en-US" altLang="zh-TW" dirty="0"/>
              <a:t>with full warping window (DTWR1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DTW with </a:t>
            </a:r>
            <a:r>
              <a:rPr lang="en-US" altLang="zh-TW" dirty="0"/>
              <a:t>warping window set through cross validation (DTWRN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Derivative </a:t>
            </a:r>
            <a:r>
              <a:rPr lang="en-US" altLang="zh-TW" dirty="0"/>
              <a:t>DTW with full and CV set warping </a:t>
            </a:r>
            <a:r>
              <a:rPr lang="en-US" altLang="zh-TW" dirty="0" smtClean="0"/>
              <a:t>windows </a:t>
            </a:r>
            <a:r>
              <a:rPr lang="en-US" altLang="zh-TW" dirty="0"/>
              <a:t>(DDTWR1 and DDTWRN) </a:t>
            </a:r>
            <a:endParaRPr lang="en-US" altLang="zh-TW" dirty="0" smtClean="0"/>
          </a:p>
          <a:p>
            <a:r>
              <a:rPr lang="en-US" altLang="zh-TW" dirty="0" smtClean="0"/>
              <a:t>weighted </a:t>
            </a:r>
            <a:r>
              <a:rPr lang="en-US" altLang="zh-TW" dirty="0"/>
              <a:t>DTW and </a:t>
            </a:r>
            <a:r>
              <a:rPr lang="en-US" altLang="zh-TW" dirty="0" smtClean="0"/>
              <a:t>DDTW (WDTW </a:t>
            </a:r>
            <a:r>
              <a:rPr lang="en-US" altLang="zh-TW" dirty="0"/>
              <a:t>and WDDTW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22978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1127"/>
            <a:ext cx="9144000" cy="71437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Is it worth setting k through cross </a:t>
            </a:r>
            <a:r>
              <a:rPr lang="en-US" altLang="zh-TW" dirty="0" smtClean="0"/>
              <a:t>validation?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" y="825500"/>
            <a:ext cx="8991600" cy="21971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Euclidean </a:t>
            </a:r>
            <a:r>
              <a:rPr lang="en-US" altLang="zh-TW" dirty="0" smtClean="0"/>
              <a:t>(Euclid</a:t>
            </a:r>
            <a:r>
              <a:rPr lang="en-US" altLang="zh-TW" dirty="0"/>
              <a:t>), </a:t>
            </a:r>
            <a:r>
              <a:rPr lang="en-US" altLang="zh-TW" dirty="0" smtClean="0"/>
              <a:t>DTW </a:t>
            </a:r>
            <a:r>
              <a:rPr lang="en-US" altLang="zh-TW" dirty="0"/>
              <a:t>with full warping window (DTWR1), </a:t>
            </a:r>
            <a:r>
              <a:rPr lang="en-US" altLang="zh-TW" dirty="0" smtClean="0"/>
              <a:t>DTW with </a:t>
            </a:r>
            <a:r>
              <a:rPr lang="en-US" altLang="zh-TW" dirty="0"/>
              <a:t>warping window set through cross validation (DTWRN</a:t>
            </a:r>
            <a:r>
              <a:rPr lang="en-US" altLang="zh-TW" dirty="0" smtClean="0"/>
              <a:t>), Derivative </a:t>
            </a:r>
            <a:r>
              <a:rPr lang="en-US" altLang="zh-TW" dirty="0"/>
              <a:t>DTW with full and CV set warping </a:t>
            </a:r>
            <a:r>
              <a:rPr lang="en-US" altLang="zh-TW" dirty="0" smtClean="0"/>
              <a:t>windows </a:t>
            </a:r>
            <a:r>
              <a:rPr lang="en-US" altLang="zh-TW" dirty="0"/>
              <a:t>(DDTWR1 and DDTWRN) </a:t>
            </a:r>
            <a:r>
              <a:rPr lang="en-US" altLang="zh-TW" dirty="0" smtClean="0"/>
              <a:t>weighted </a:t>
            </a:r>
            <a:r>
              <a:rPr lang="en-US" altLang="zh-TW" dirty="0"/>
              <a:t>DTW and </a:t>
            </a:r>
            <a:r>
              <a:rPr lang="en-US" altLang="zh-TW" dirty="0" smtClean="0"/>
              <a:t>DDTW (WDTW </a:t>
            </a:r>
            <a:r>
              <a:rPr lang="en-US" altLang="zh-TW" dirty="0"/>
              <a:t>and WDDTW</a:t>
            </a:r>
            <a:r>
              <a:rPr lang="en-US" altLang="zh-TW" dirty="0" smtClean="0"/>
              <a:t>).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" y="2925596"/>
            <a:ext cx="8940800" cy="283542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8100" y="5728748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Summary statistics on the difference in accuracy between 1-nn and k-</a:t>
            </a:r>
            <a:r>
              <a:rPr lang="en-US" altLang="zh-TW" sz="2000" dirty="0" err="1" smtClean="0"/>
              <a:t>nn</a:t>
            </a:r>
            <a:r>
              <a:rPr lang="en-US" altLang="zh-TW" sz="2000" dirty="0" smtClean="0"/>
              <a:t> classifiers. The final two columns give the p value for a paired two sample t test for difference in means and a Wilcoxon signed-rank test for difference in Medians.</a:t>
            </a:r>
            <a:endParaRPr lang="zh-TW" altLang="en-US" sz="2000" dirty="0" smtClean="0"/>
          </a:p>
        </p:txBody>
      </p:sp>
    </p:spTree>
    <p:extLst>
      <p:ext uri="{BB962C8B-B14F-4D97-AF65-F5344CB8AC3E}">
        <p14:creationId xmlns="" xmlns:p14="http://schemas.microsoft.com/office/powerpoint/2010/main" val="457660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8333" y="192998"/>
            <a:ext cx="8885817" cy="925797"/>
          </a:xfrm>
        </p:spPr>
        <p:txBody>
          <a:bodyPr/>
          <a:lstStyle/>
          <a:p>
            <a:pPr algn="ctr"/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33948"/>
            <a:ext cx="7886700" cy="4843015"/>
          </a:xfrm>
        </p:spPr>
        <p:txBody>
          <a:bodyPr/>
          <a:lstStyle/>
          <a:p>
            <a:r>
              <a:rPr lang="en-US" altLang="zh-TW" dirty="0" smtClean="0"/>
              <a:t>LCSS </a:t>
            </a:r>
            <a:r>
              <a:rPr lang="en-US" altLang="zh-TW" dirty="0"/>
              <a:t>performs </a:t>
            </a:r>
            <a:r>
              <a:rPr lang="en-US" altLang="zh-TW" dirty="0" smtClean="0"/>
              <a:t>well on </a:t>
            </a:r>
            <a:r>
              <a:rPr lang="en-US" altLang="zh-TW" dirty="0"/>
              <a:t>the motion data and image, but ranks poorly on sensor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weighted and windowed DTW rank highly </a:t>
            </a:r>
            <a:r>
              <a:rPr lang="en-US" altLang="zh-TW" dirty="0" smtClean="0"/>
              <a:t>on motion </a:t>
            </a:r>
            <a:r>
              <a:rPr lang="en-US" altLang="zh-TW" dirty="0"/>
              <a:t>and sensor but relatively poorly on image </a:t>
            </a:r>
            <a:r>
              <a:rPr lang="en-US" altLang="zh-TW" dirty="0" smtClean="0"/>
              <a:t>outlines.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119566"/>
            <a:ext cx="9144000" cy="194774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" y="6196413"/>
            <a:ext cx="9143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Average ranks of 6 1-nn elastic measure classifiers split by problem type.</a:t>
            </a:r>
            <a:endParaRPr lang="zh-TW" altLang="en-US" sz="2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19783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60725"/>
            <a:ext cx="7886700" cy="990343"/>
          </a:xfrm>
        </p:spPr>
        <p:txBody>
          <a:bodyPr/>
          <a:lstStyle/>
          <a:p>
            <a:pPr algn="ctr"/>
            <a:r>
              <a:rPr lang="en-US" altLang="zh-TW" dirty="0" smtClean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021976"/>
            <a:ext cx="7886700" cy="5154987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When using a </a:t>
            </a:r>
            <a:r>
              <a:rPr lang="en-US" altLang="zh-TW" dirty="0"/>
              <a:t>NN classifier with DTW on a new problem, we </a:t>
            </a:r>
            <a:r>
              <a:rPr lang="en-US" altLang="zh-TW" dirty="0" smtClean="0"/>
              <a:t>would advise </a:t>
            </a:r>
            <a:r>
              <a:rPr lang="en-US" altLang="zh-TW" dirty="0"/>
              <a:t>that it is not particularly important to set k </a:t>
            </a:r>
            <a:r>
              <a:rPr lang="en-US" altLang="zh-TW" dirty="0" smtClean="0"/>
              <a:t>through cross </a:t>
            </a:r>
            <a:r>
              <a:rPr lang="en-US" altLang="zh-TW" dirty="0"/>
              <a:t>validation, but that setting the warping window size </a:t>
            </a:r>
            <a:r>
              <a:rPr lang="en-US" altLang="zh-TW" dirty="0" smtClean="0"/>
              <a:t>is worthwhile.</a:t>
            </a:r>
          </a:p>
          <a:p>
            <a:endParaRPr lang="en-US" altLang="zh-TW" dirty="0"/>
          </a:p>
          <a:p>
            <a:r>
              <a:rPr lang="en-US" altLang="zh-TW" dirty="0"/>
              <a:t>W</a:t>
            </a:r>
            <a:r>
              <a:rPr lang="en-US" altLang="zh-TW" dirty="0" smtClean="0"/>
              <a:t>eighting algorithm for </a:t>
            </a:r>
            <a:r>
              <a:rPr lang="en-US" altLang="zh-TW" dirty="0"/>
              <a:t>DTW described </a:t>
            </a:r>
            <a:r>
              <a:rPr lang="en-US" altLang="zh-TW" dirty="0" smtClean="0"/>
              <a:t>is significantly </a:t>
            </a:r>
            <a:r>
              <a:rPr lang="en-US" altLang="zh-TW" dirty="0"/>
              <a:t>better than DTW </a:t>
            </a:r>
            <a:r>
              <a:rPr lang="en-US" altLang="zh-TW" dirty="0" smtClean="0"/>
              <a:t>with a </a:t>
            </a:r>
            <a:r>
              <a:rPr lang="en-US" altLang="zh-TW" dirty="0"/>
              <a:t>full warping window, but not significantly different to </a:t>
            </a:r>
            <a:r>
              <a:rPr lang="en-US" altLang="zh-TW" dirty="0" smtClean="0"/>
              <a:t>DTW with </a:t>
            </a:r>
            <a:r>
              <a:rPr lang="en-US" altLang="zh-TW" dirty="0"/>
              <a:t>the window set through cross validation.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544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621</TotalTime>
  <Words>581</Words>
  <Application>Microsoft Office PowerPoint</Application>
  <PresentationFormat>如螢幕大小 (4:3)</PresentationFormat>
  <Paragraphs>40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An Experimental Evaluation of Nearest Neighbour Time Series Classification</vt:lpstr>
      <vt:lpstr>Abstract</vt:lpstr>
      <vt:lpstr>Abstract</vt:lpstr>
      <vt:lpstr>Longest common Subsequence Distance (LCSS)</vt:lpstr>
      <vt:lpstr>Dynamic Time Warping (DTW)</vt:lpstr>
      <vt:lpstr>Warping Window</vt:lpstr>
      <vt:lpstr>Derivative Dynamic Time Warping (DDTW)</vt:lpstr>
      <vt:lpstr>Weighted Dynamic Time Warping (WDTW)</vt:lpstr>
      <vt:lpstr>Time Series Data Set</vt:lpstr>
      <vt:lpstr>Experimental Results</vt:lpstr>
      <vt:lpstr>Is it worth setting k through cross validation?</vt:lpstr>
      <vt:lpstr>Is it worth setting k through cross validation?</vt:lpstr>
      <vt:lpstr>Experimental Results</vt:lpstr>
      <vt:lpstr>Conclusions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Experimental Evaluation of Nearest Neighbour Time Series Classification</dc:title>
  <dc:creator>guo</dc:creator>
  <cp:lastModifiedBy>admin</cp:lastModifiedBy>
  <cp:revision>109</cp:revision>
  <dcterms:created xsi:type="dcterms:W3CDTF">2015-02-02T07:20:16Z</dcterms:created>
  <dcterms:modified xsi:type="dcterms:W3CDTF">2015-02-26T12:07:33Z</dcterms:modified>
</cp:coreProperties>
</file>