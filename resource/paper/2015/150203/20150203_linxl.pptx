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68" r:id="rId14"/>
    <p:sldId id="271" r:id="rId15"/>
    <p:sldId id="269" r:id="rId16"/>
    <p:sldId id="270" r:id="rId17"/>
    <p:sldId id="272" r:id="rId18"/>
    <p:sldId id="273" r:id="rId19"/>
    <p:sldId id="274" r:id="rId20"/>
    <p:sldId id="275" r:id="rId2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19E6FA-2D14-4CFE-8D1C-5DF40598E073}" type="datetimeFigureOut">
              <a:rPr lang="zh-TW" altLang="en-US" smtClean="0"/>
              <a:pPr/>
              <a:t>2015/2/26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5AEA5D-20E0-4D2A-B6AA-65EF9DFDDF5D}" type="slidenum">
              <a:rPr lang="zh-TW" altLang="en-US" smtClean="0"/>
              <a:pPr/>
              <a:t>‹#›</a:t>
            </a:fld>
            <a:endParaRPr lang="zh-TW" altLang="en-US"/>
          </a:p>
        </p:txBody>
      </p:sp>
    </p:spTree>
    <p:extLst>
      <p:ext uri="{BB962C8B-B14F-4D97-AF65-F5344CB8AC3E}">
        <p14:creationId xmlns="" xmlns:p14="http://schemas.microsoft.com/office/powerpoint/2010/main" val="471538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15BEFB59-AC57-4DC5-95A2-3E948CBC54C4}" type="datetime1">
              <a:rPr lang="zh-TW" altLang="en-US" smtClean="0"/>
              <a:pPr/>
              <a:t>2015/2/26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1139813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07878A3-1821-463F-850E-E3E42FB7A500}" type="datetime1">
              <a:rPr lang="zh-TW" altLang="en-US" smtClean="0"/>
              <a:pPr/>
              <a:t>2015/2/26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2915621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1D185A2-5D76-4357-A84A-21E8F3B25ED5}" type="datetime1">
              <a:rPr lang="zh-TW" altLang="en-US" smtClean="0"/>
              <a:pPr/>
              <a:t>2015/2/26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223016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80A989E-9889-4AB7-A048-0B5D8AAD5A0D}" type="datetime1">
              <a:rPr lang="zh-TW" altLang="en-US" smtClean="0"/>
              <a:pPr/>
              <a:t>2015/2/26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2680150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C911DCF-32CC-4D9E-A423-E664123902BB}" type="datetime1">
              <a:rPr lang="zh-TW" altLang="en-US" smtClean="0"/>
              <a:pPr/>
              <a:t>2015/2/26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465890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A8D5934-0D6E-41D4-88ED-CC140D71B080}" type="datetime1">
              <a:rPr lang="zh-TW" altLang="en-US" smtClean="0"/>
              <a:pPr/>
              <a:t>2015/2/26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160583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2FD02E2-5A73-4EB0-AC27-EE5FF9455A35}" type="datetime1">
              <a:rPr lang="zh-TW" altLang="en-US" smtClean="0"/>
              <a:pPr/>
              <a:t>2015/2/26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870496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ABFE4E2-0584-4621-9D96-F7F58171B570}" type="datetime1">
              <a:rPr lang="zh-TW" altLang="en-US" smtClean="0"/>
              <a:pPr/>
              <a:t>2015/2/26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1754044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9A9BFC6-B61F-4515-93CB-5942B3E8AA39}" type="datetime1">
              <a:rPr lang="zh-TW" altLang="en-US" smtClean="0"/>
              <a:pPr/>
              <a:t>2015/2/26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4124309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115D0D9-7C9C-4BBB-962D-27048C405EA3}" type="datetime1">
              <a:rPr lang="zh-TW" altLang="en-US" smtClean="0"/>
              <a:pPr/>
              <a:t>2015/2/26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1257712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04AD0B2-C01D-40C8-B8F8-C8A405BF9D1B}" type="datetime1">
              <a:rPr lang="zh-TW" altLang="en-US" smtClean="0"/>
              <a:pPr/>
              <a:t>2015/2/26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1472121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4E05CF-58ED-4592-99E6-B051A1DE63A4}" type="datetime1">
              <a:rPr lang="zh-TW" altLang="en-US" smtClean="0"/>
              <a:pPr/>
              <a:t>2015/2/26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16CCB-BDEC-45F3-982A-D76E3F4EE2CF}" type="slidenum">
              <a:rPr lang="zh-TW" altLang="en-US" smtClean="0"/>
              <a:pPr/>
              <a:t>‹#›</a:t>
            </a:fld>
            <a:endParaRPr lang="zh-TW" altLang="en-US"/>
          </a:p>
        </p:txBody>
      </p:sp>
    </p:spTree>
    <p:extLst>
      <p:ext uri="{BB962C8B-B14F-4D97-AF65-F5344CB8AC3E}">
        <p14:creationId xmlns="" xmlns:p14="http://schemas.microsoft.com/office/powerpoint/2010/main" val="655246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Exemplar Longest Common Subsequence</a:t>
            </a:r>
            <a:endParaRPr lang="zh-TW" altLang="en-US" dirty="0"/>
          </a:p>
        </p:txBody>
      </p:sp>
      <p:sp>
        <p:nvSpPr>
          <p:cNvPr id="3" name="副標題 2"/>
          <p:cNvSpPr>
            <a:spLocks noGrp="1"/>
          </p:cNvSpPr>
          <p:nvPr>
            <p:ph type="subTitle" idx="1"/>
          </p:nvPr>
        </p:nvSpPr>
        <p:spPr>
          <a:xfrm>
            <a:off x="755576" y="3886200"/>
            <a:ext cx="7488832" cy="766936"/>
          </a:xfrm>
        </p:spPr>
        <p:txBody>
          <a:bodyPr>
            <a:noAutofit/>
          </a:bodyPr>
          <a:lstStyle/>
          <a:p>
            <a:r>
              <a:rPr lang="it-IT" altLang="zh-TW" sz="2500" dirty="0"/>
              <a:t>Paola Bonizzoni, Gianluca Della Vedova, Riccardo Dondi,</a:t>
            </a:r>
          </a:p>
          <a:p>
            <a:r>
              <a:rPr lang="it-IT" altLang="zh-TW" sz="2500" dirty="0"/>
              <a:t>Guillaume Fertin, Raffaella Rizzi, and </a:t>
            </a:r>
            <a:r>
              <a:rPr lang="it-IT" altLang="zh-TW" sz="2500" dirty="0" smtClean="0"/>
              <a:t>Stephane </a:t>
            </a:r>
            <a:r>
              <a:rPr lang="it-IT" altLang="zh-TW" sz="2500" dirty="0"/>
              <a:t>Vialette</a:t>
            </a:r>
            <a:endParaRPr lang="zh-TW" altLang="en-US" sz="2500" dirty="0"/>
          </a:p>
        </p:txBody>
      </p:sp>
      <p:sp>
        <p:nvSpPr>
          <p:cNvPr id="4" name="矩形 3"/>
          <p:cNvSpPr/>
          <p:nvPr/>
        </p:nvSpPr>
        <p:spPr>
          <a:xfrm>
            <a:off x="539552" y="4941168"/>
            <a:ext cx="7992888" cy="923330"/>
          </a:xfrm>
          <a:prstGeom prst="rect">
            <a:avLst/>
          </a:prstGeom>
        </p:spPr>
        <p:txBody>
          <a:bodyPr wrap="square">
            <a:spAutoFit/>
          </a:bodyPr>
          <a:lstStyle/>
          <a:p>
            <a:pPr algn="ctr"/>
            <a:r>
              <a:rPr lang="en-US" altLang="zh-TW" dirty="0" smtClean="0"/>
              <a:t>IEEE/ACM TRANSACTIONS ON COMPUTATIONAL BIOLOGY AND BIOINFORMATICS, VOL. 4, NO. 4, OCTOBER-DECEMBER 2007</a:t>
            </a:r>
          </a:p>
          <a:p>
            <a:pPr algn="ctr"/>
            <a:r>
              <a:rPr lang="en-US" altLang="zh-TW" dirty="0" smtClean="0"/>
              <a:t>PP.535-543</a:t>
            </a:r>
            <a:endParaRPr lang="zh-TW" altLang="en-US" dirty="0"/>
          </a:p>
        </p:txBody>
      </p:sp>
      <p:sp>
        <p:nvSpPr>
          <p:cNvPr id="5" name="矩形 4"/>
          <p:cNvSpPr/>
          <p:nvPr/>
        </p:nvSpPr>
        <p:spPr>
          <a:xfrm>
            <a:off x="6608508" y="5864498"/>
            <a:ext cx="2607189" cy="369332"/>
          </a:xfrm>
          <a:prstGeom prst="rect">
            <a:avLst/>
          </a:prstGeom>
        </p:spPr>
        <p:txBody>
          <a:bodyPr wrap="none">
            <a:spAutoFit/>
          </a:bodyPr>
          <a:lstStyle/>
          <a:p>
            <a:r>
              <a:rPr lang="en-US" altLang="zh-TW" dirty="0" smtClean="0"/>
              <a:t>Presenter: </a:t>
            </a:r>
            <a:r>
              <a:rPr lang="en-US" altLang="zh-TW" dirty="0" err="1" smtClean="0"/>
              <a:t>Sh</a:t>
            </a:r>
            <a:r>
              <a:rPr lang="en-US" altLang="zh-TW" dirty="0" err="1" smtClean="0"/>
              <a:t>ian</a:t>
            </a:r>
            <a:r>
              <a:rPr lang="en-US" altLang="zh-TW" dirty="0" smtClean="0"/>
              <a:t>-Liang </a:t>
            </a:r>
            <a:r>
              <a:rPr lang="en-US" altLang="zh-TW" dirty="0" smtClean="0"/>
              <a:t>Lin</a:t>
            </a:r>
            <a:endParaRPr lang="zh-TW" altLang="en-US" dirty="0"/>
          </a:p>
        </p:txBody>
      </p:sp>
      <p:sp>
        <p:nvSpPr>
          <p:cNvPr id="7" name="日期版面配置區 6"/>
          <p:cNvSpPr>
            <a:spLocks noGrp="1"/>
          </p:cNvSpPr>
          <p:nvPr>
            <p:ph type="dt" sz="half" idx="10"/>
          </p:nvPr>
        </p:nvSpPr>
        <p:spPr/>
        <p:txBody>
          <a:bodyPr/>
          <a:lstStyle/>
          <a:p>
            <a:r>
              <a:rPr lang="en-US" altLang="zh-TW" dirty="0" smtClean="0"/>
              <a:t>2015/2/3</a:t>
            </a:r>
          </a:p>
        </p:txBody>
      </p:sp>
      <p:sp>
        <p:nvSpPr>
          <p:cNvPr id="8" name="投影片編號版面配置區 7"/>
          <p:cNvSpPr>
            <a:spLocks noGrp="1"/>
          </p:cNvSpPr>
          <p:nvPr>
            <p:ph type="sldNum" sz="quarter" idx="12"/>
          </p:nvPr>
        </p:nvSpPr>
        <p:spPr/>
        <p:txBody>
          <a:bodyPr/>
          <a:lstStyle/>
          <a:p>
            <a:fld id="{E0016CCB-BDEC-45F3-982A-D76E3F4EE2CF}" type="slidenum">
              <a:rPr lang="zh-TW" altLang="en-US" smtClean="0"/>
              <a:pPr/>
              <a:t>1</a:t>
            </a:fld>
            <a:endParaRPr lang="zh-TW" altLang="en-US"/>
          </a:p>
        </p:txBody>
      </p:sp>
    </p:spTree>
    <p:extLst>
      <p:ext uri="{BB962C8B-B14F-4D97-AF65-F5344CB8AC3E}">
        <p14:creationId xmlns="" xmlns:p14="http://schemas.microsoft.com/office/powerpoint/2010/main" val="3428958560"/>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a:xfrm>
            <a:off x="179512" y="1412776"/>
            <a:ext cx="8712968" cy="5112568"/>
          </a:xfrm>
        </p:spPr>
        <p:txBody>
          <a:bodyPr>
            <a:normAutofit/>
          </a:bodyPr>
          <a:lstStyle/>
          <a:p>
            <a:pPr marL="0" indent="0">
              <a:buNone/>
            </a:pPr>
            <a:r>
              <a:rPr lang="en-US" altLang="zh-TW" dirty="0" smtClean="0"/>
              <a:t>	</a:t>
            </a:r>
            <a:r>
              <a:rPr lang="en-US" altLang="zh-TW" sz="2500" dirty="0" smtClean="0"/>
              <a:t>In this paper, we investigate the computational and approximation complexity of the Exemplar Longest Common Subsequence (ELCS) of a set of sequences (ELCS problem), a generalization of the Longest Common Subsequence problem, where the input sequences are over the union of two disjoint sets of symbols, a set of mandatory symbols and a set of optional symbols. </a:t>
            </a:r>
          </a:p>
          <a:p>
            <a:pPr marL="0" indent="0">
              <a:buNone/>
            </a:pPr>
            <a:r>
              <a:rPr lang="en-US" altLang="zh-TW" dirty="0"/>
              <a:t>	</a:t>
            </a:r>
            <a:endParaRPr lang="en-US" altLang="zh-TW" dirty="0" smtClean="0"/>
          </a:p>
          <a:p>
            <a:pPr marL="0" indent="0">
              <a:buNone/>
            </a:pPr>
            <a:r>
              <a:rPr lang="en-US" altLang="zh-TW" dirty="0" smtClean="0"/>
              <a:t>	</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2</a:t>
            </a:fld>
            <a:endParaRPr lang="zh-TW" altLang="en-US"/>
          </a:p>
        </p:txBody>
      </p:sp>
    </p:spTree>
    <p:extLst>
      <p:ext uri="{BB962C8B-B14F-4D97-AF65-F5344CB8AC3E}">
        <p14:creationId xmlns="" xmlns:p14="http://schemas.microsoft.com/office/powerpoint/2010/main" val="817120958"/>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a:xfrm>
            <a:off x="457200" y="1600200"/>
            <a:ext cx="8229600" cy="4925144"/>
          </a:xfrm>
        </p:spPr>
        <p:txBody>
          <a:bodyPr>
            <a:noAutofit/>
          </a:bodyPr>
          <a:lstStyle/>
          <a:p>
            <a:pPr marL="0" indent="0">
              <a:buNone/>
            </a:pPr>
            <a:r>
              <a:rPr lang="en-US" altLang="zh-TW" sz="2500" dirty="0" smtClean="0"/>
              <a:t>	We show that different versions of the problem are APX-hard even for instances with two sequences. </a:t>
            </a:r>
          </a:p>
          <a:p>
            <a:pPr marL="0" indent="0">
              <a:buNone/>
            </a:pPr>
            <a:r>
              <a:rPr lang="en-US" altLang="zh-TW" sz="2500" dirty="0" smtClean="0"/>
              <a:t>	Moreover, we show that the related problem of determining the existence of a feasible solution of the ELCS of two sequences is NP-hard. On the positive side, we first present an efficient algorithm for the ELCS problem over instances of two sequences where each mandatory symbol can appear in total at most three times in the sequences. </a:t>
            </a:r>
          </a:p>
          <a:p>
            <a:pPr marL="0" indent="0">
              <a:buNone/>
            </a:pPr>
            <a:r>
              <a:rPr lang="en-US" altLang="zh-TW" sz="2500" dirty="0" smtClean="0"/>
              <a:t>	Furthermore, we present two fixed-parameter algorithms for the ELCS problem over instances of two sequences where the parameter is the number of mandatory symbols.</a:t>
            </a:r>
            <a:endParaRPr lang="zh-TW" altLang="en-US" sz="2500" dirty="0" smtClean="0"/>
          </a:p>
          <a:p>
            <a:pPr marL="0" indent="0">
              <a:buNone/>
            </a:pPr>
            <a:endParaRPr lang="zh-TW" altLang="en-US" sz="2500"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3</a:t>
            </a:fld>
            <a:endParaRPr lang="zh-TW" altLang="en-US"/>
          </a:p>
        </p:txBody>
      </p:sp>
    </p:spTree>
    <p:extLst>
      <p:ext uri="{BB962C8B-B14F-4D97-AF65-F5344CB8AC3E}">
        <p14:creationId xmlns="" xmlns:p14="http://schemas.microsoft.com/office/powerpoint/2010/main" val="1605350257"/>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Versions of Exemplar LCS</a:t>
            </a:r>
          </a:p>
        </p:txBody>
      </p:sp>
      <p:sp>
        <p:nvSpPr>
          <p:cNvPr id="3" name="內容版面配置區 2"/>
          <p:cNvSpPr>
            <a:spLocks noGrp="1"/>
          </p:cNvSpPr>
          <p:nvPr>
            <p:ph idx="1"/>
          </p:nvPr>
        </p:nvSpPr>
        <p:spPr>
          <a:xfrm>
            <a:off x="399858" y="1340768"/>
            <a:ext cx="8564630" cy="5112568"/>
          </a:xfrm>
        </p:spPr>
        <p:txBody>
          <a:bodyPr>
            <a:normAutofit/>
          </a:bodyPr>
          <a:lstStyle/>
          <a:p>
            <a:pPr marL="0" indent="0">
              <a:buNone/>
            </a:pPr>
            <a:r>
              <a:rPr lang="en-US" altLang="zh-TW" dirty="0" smtClean="0"/>
              <a:t>A</a:t>
            </a:r>
            <a:r>
              <a:rPr lang="en-US" altLang="zh-TW" baseline="-25000" dirty="0" smtClean="0"/>
              <a:t>m</a:t>
            </a:r>
            <a:r>
              <a:rPr lang="en-US" altLang="zh-TW" dirty="0" smtClean="0"/>
              <a:t>={</a:t>
            </a:r>
            <a:r>
              <a:rPr lang="en-US" altLang="zh-TW" dirty="0" err="1" smtClean="0">
                <a:solidFill>
                  <a:srgbClr val="FF0000"/>
                </a:solidFill>
              </a:rPr>
              <a:t>a</a:t>
            </a:r>
            <a:r>
              <a:rPr lang="en-US" altLang="zh-TW" dirty="0" err="1" smtClean="0"/>
              <a:t>,</a:t>
            </a:r>
            <a:r>
              <a:rPr lang="en-US" altLang="zh-TW" dirty="0" err="1" smtClean="0">
                <a:solidFill>
                  <a:srgbClr val="FF0000"/>
                </a:solidFill>
              </a:rPr>
              <a:t>b</a:t>
            </a:r>
            <a:r>
              <a:rPr lang="en-US" altLang="zh-TW" dirty="0" smtClean="0"/>
              <a:t>}	 </a:t>
            </a:r>
            <a:r>
              <a:rPr lang="en-US" altLang="zh-TW" dirty="0" err="1" smtClean="0"/>
              <a:t>A</a:t>
            </a:r>
            <a:r>
              <a:rPr lang="en-US" altLang="zh-TW" baseline="-25000" dirty="0" err="1" smtClean="0"/>
              <a:t>o</a:t>
            </a:r>
            <a:r>
              <a:rPr lang="en-US" altLang="zh-TW" dirty="0" smtClean="0"/>
              <a:t>={</a:t>
            </a:r>
            <a:r>
              <a:rPr lang="en-US" altLang="zh-TW" dirty="0" err="1" smtClean="0"/>
              <a:t>c,e</a:t>
            </a:r>
            <a:r>
              <a:rPr lang="en-US" altLang="zh-TW" dirty="0" smtClean="0"/>
              <a:t>} 			S</a:t>
            </a:r>
            <a:r>
              <a:rPr lang="en-US" altLang="zh-TW" baseline="-25000" dirty="0" smtClean="0"/>
              <a:t>1</a:t>
            </a:r>
            <a:r>
              <a:rPr lang="en-US" altLang="zh-TW" dirty="0" smtClean="0"/>
              <a:t>=</a:t>
            </a:r>
            <a:r>
              <a:rPr lang="en-US" altLang="zh-TW" dirty="0" smtClean="0">
                <a:solidFill>
                  <a:srgbClr val="FF0000"/>
                </a:solidFill>
              </a:rPr>
              <a:t>a b </a:t>
            </a:r>
            <a:r>
              <a:rPr lang="en-US" altLang="zh-TW" dirty="0" smtClean="0"/>
              <a:t>c e </a:t>
            </a:r>
            <a:r>
              <a:rPr lang="en-US" altLang="zh-TW" dirty="0" smtClean="0">
                <a:solidFill>
                  <a:srgbClr val="FF0000"/>
                </a:solidFill>
              </a:rPr>
              <a:t>b </a:t>
            </a:r>
            <a:r>
              <a:rPr lang="en-US" altLang="zh-TW" dirty="0" smtClean="0"/>
              <a:t>c </a:t>
            </a:r>
            <a:r>
              <a:rPr lang="en-US" altLang="zh-TW" dirty="0" smtClean="0">
                <a:solidFill>
                  <a:srgbClr val="FF0000"/>
                </a:solidFill>
              </a:rPr>
              <a:t>a </a:t>
            </a:r>
            <a:r>
              <a:rPr lang="en-US" altLang="zh-TW" dirty="0" smtClean="0"/>
              <a:t>e							S</a:t>
            </a:r>
            <a:r>
              <a:rPr lang="en-US" altLang="zh-TW" baseline="-25000" dirty="0" smtClean="0"/>
              <a:t>2</a:t>
            </a:r>
            <a:r>
              <a:rPr lang="en-US" altLang="zh-TW" dirty="0" smtClean="0"/>
              <a:t>=c </a:t>
            </a:r>
            <a:r>
              <a:rPr lang="en-US" altLang="zh-TW" dirty="0" smtClean="0">
                <a:solidFill>
                  <a:srgbClr val="FF0000"/>
                </a:solidFill>
              </a:rPr>
              <a:t>a b </a:t>
            </a:r>
            <a:r>
              <a:rPr lang="en-US" altLang="zh-TW" dirty="0" smtClean="0"/>
              <a:t>e c </a:t>
            </a:r>
            <a:r>
              <a:rPr lang="en-US" altLang="zh-TW" dirty="0" smtClean="0">
                <a:solidFill>
                  <a:srgbClr val="FF0000"/>
                </a:solidFill>
              </a:rPr>
              <a:t>a b </a:t>
            </a:r>
            <a:r>
              <a:rPr lang="en-US" altLang="zh-TW" dirty="0" smtClean="0"/>
              <a:t>e</a:t>
            </a:r>
          </a:p>
          <a:p>
            <a:pPr marL="0" indent="0">
              <a:buNone/>
            </a:pPr>
            <a:endParaRPr lang="en-US" altLang="zh-TW" dirty="0" smtClean="0"/>
          </a:p>
          <a:p>
            <a:pPr marL="0" indent="0" algn="r">
              <a:buNone/>
            </a:pPr>
            <a:endParaRPr lang="zh-TW" altLang="en-US" dirty="0"/>
          </a:p>
        </p:txBody>
      </p:sp>
      <p:graphicFrame>
        <p:nvGraphicFramePr>
          <p:cNvPr id="7" name="表格 6"/>
          <p:cNvGraphicFramePr>
            <a:graphicFrameLocks noGrp="1"/>
          </p:cNvGraphicFramePr>
          <p:nvPr>
            <p:extLst>
              <p:ext uri="{D42A27DB-BD31-4B8C-83A1-F6EECF244321}">
                <p14:modId xmlns="" xmlns:p14="http://schemas.microsoft.com/office/powerpoint/2010/main" val="2741513296"/>
              </p:ext>
            </p:extLst>
          </p:nvPr>
        </p:nvGraphicFramePr>
        <p:xfrm>
          <a:off x="179512" y="2420888"/>
          <a:ext cx="8280920" cy="4380203"/>
        </p:xfrm>
        <a:graphic>
          <a:graphicData uri="http://schemas.openxmlformats.org/drawingml/2006/table">
            <a:tbl>
              <a:tblPr firstRow="1" bandRow="1">
                <a:tableStyleId>{B301B821-A1FF-4177-AEE7-76D212191A09}</a:tableStyleId>
              </a:tblPr>
              <a:tblGrid>
                <a:gridCol w="2070230"/>
                <a:gridCol w="2070230"/>
                <a:gridCol w="2070230"/>
                <a:gridCol w="2070230"/>
              </a:tblGrid>
              <a:tr h="1199128">
                <a:tc>
                  <a:txBody>
                    <a:bodyPr/>
                    <a:lstStyle/>
                    <a:p>
                      <a:r>
                        <a:rPr lang="en-US" altLang="zh-TW" sz="2500" dirty="0" smtClean="0"/>
                        <a:t>Problem</a:t>
                      </a:r>
                      <a:r>
                        <a:rPr lang="en-US" altLang="zh-TW" sz="2500" baseline="0" dirty="0" smtClean="0"/>
                        <a:t> </a:t>
                      </a:r>
                      <a:r>
                        <a:rPr lang="en-US" altLang="zh-TW" sz="2500" dirty="0" smtClean="0"/>
                        <a:t>name</a:t>
                      </a:r>
                      <a:endParaRPr lang="zh-TW" altLang="en-US" sz="2500" dirty="0"/>
                    </a:p>
                  </a:txBody>
                  <a:tcPr/>
                </a:tc>
                <a:tc>
                  <a:txBody>
                    <a:bodyPr/>
                    <a:lstStyle/>
                    <a:p>
                      <a:r>
                        <a:rPr lang="en-US" altLang="zh-TW" sz="2500" dirty="0" smtClean="0"/>
                        <a:t>Occurrences</a:t>
                      </a:r>
                    </a:p>
                    <a:p>
                      <a:r>
                        <a:rPr lang="en-US" altLang="zh-TW" sz="2500" dirty="0" smtClean="0"/>
                        <a:t>Mandatory</a:t>
                      </a:r>
                    </a:p>
                    <a:p>
                      <a:r>
                        <a:rPr lang="en-US" altLang="zh-TW" sz="2500" dirty="0" smtClean="0"/>
                        <a:t>symbols(A</a:t>
                      </a:r>
                      <a:r>
                        <a:rPr lang="en-US" altLang="zh-TW" sz="2500" baseline="-25000" dirty="0" smtClean="0"/>
                        <a:t>m</a:t>
                      </a:r>
                      <a:r>
                        <a:rPr lang="en-US" altLang="zh-TW" sz="2500" dirty="0" smtClean="0"/>
                        <a:t>)</a:t>
                      </a:r>
                      <a:endParaRPr lang="zh-TW" altLang="en-US" sz="2500" dirty="0"/>
                    </a:p>
                  </a:txBody>
                  <a:tcPr/>
                </a:tc>
                <a:tc>
                  <a:txBody>
                    <a:bodyPr/>
                    <a:lstStyle/>
                    <a:p>
                      <a:r>
                        <a:rPr lang="en-US" altLang="zh-TW" sz="2500" dirty="0" smtClean="0"/>
                        <a:t>Occurrences</a:t>
                      </a:r>
                    </a:p>
                    <a:p>
                      <a:r>
                        <a:rPr lang="en-US" altLang="zh-TW" sz="2500" dirty="0" smtClean="0"/>
                        <a:t>Optional</a:t>
                      </a:r>
                    </a:p>
                    <a:p>
                      <a:r>
                        <a:rPr lang="en-US" altLang="zh-TW" sz="2500" dirty="0" smtClean="0"/>
                        <a:t>symbols(A</a:t>
                      </a:r>
                      <a:r>
                        <a:rPr lang="en-US" altLang="zh-TW" sz="2500" baseline="-25000" dirty="0" smtClean="0"/>
                        <a:t>0</a:t>
                      </a:r>
                      <a:r>
                        <a:rPr lang="en-US" altLang="zh-TW" sz="2500" dirty="0" smtClean="0"/>
                        <a:t>)</a:t>
                      </a:r>
                    </a:p>
                  </a:txBody>
                  <a:tcPr/>
                </a:tc>
                <a:tc>
                  <a:txBody>
                    <a:bodyPr/>
                    <a:lstStyle/>
                    <a:p>
                      <a:r>
                        <a:rPr lang="en-US" altLang="zh-TW" sz="2500" dirty="0" smtClean="0"/>
                        <a:t>Example</a:t>
                      </a:r>
                    </a:p>
                    <a:p>
                      <a:endParaRPr lang="zh-TW" altLang="en-US" sz="2500" dirty="0"/>
                    </a:p>
                  </a:txBody>
                  <a:tcPr/>
                </a:tc>
              </a:tr>
              <a:tr h="727309">
                <a:tc>
                  <a:txBody>
                    <a:bodyPr/>
                    <a:lstStyle/>
                    <a:p>
                      <a:r>
                        <a:rPr lang="en-US" altLang="zh-TW" sz="2500" dirty="0" smtClean="0"/>
                        <a:t>ELCS(1,≤1)</a:t>
                      </a:r>
                      <a:endParaRPr lang="zh-TW" altLang="en-US" sz="2500" dirty="0"/>
                    </a:p>
                  </a:txBody>
                  <a:tcPr/>
                </a:tc>
                <a:tc>
                  <a:txBody>
                    <a:bodyPr/>
                    <a:lstStyle/>
                    <a:p>
                      <a:r>
                        <a:rPr lang="en-US" altLang="zh-TW" sz="2500" dirty="0" smtClean="0"/>
                        <a:t>exactly </a:t>
                      </a:r>
                      <a:r>
                        <a:rPr lang="en-US" altLang="zh-TW" sz="2500" baseline="0" dirty="0" smtClean="0"/>
                        <a:t>1</a:t>
                      </a:r>
                      <a:endParaRPr lang="zh-TW" altLang="en-US" sz="2500" dirty="0"/>
                    </a:p>
                  </a:txBody>
                  <a:tcPr/>
                </a:tc>
                <a:tc>
                  <a:txBody>
                    <a:bodyPr/>
                    <a:lstStyle/>
                    <a:p>
                      <a:r>
                        <a:rPr lang="en-US" altLang="zh-TW" sz="2500" dirty="0" smtClean="0"/>
                        <a:t>at most 1</a:t>
                      </a:r>
                      <a:endParaRPr lang="zh-TW" altLang="en-US" sz="25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500" dirty="0" smtClean="0">
                          <a:solidFill>
                            <a:srgbClr val="FF0000"/>
                          </a:solidFill>
                        </a:rPr>
                        <a:t>a b </a:t>
                      </a:r>
                      <a:r>
                        <a:rPr lang="en-US" altLang="zh-TW" sz="2500" dirty="0" smtClean="0"/>
                        <a:t>e c</a:t>
                      </a:r>
                    </a:p>
                  </a:txBody>
                  <a:tcPr/>
                </a:tc>
              </a:tr>
              <a:tr h="829027">
                <a:tc>
                  <a:txBody>
                    <a:bodyPr/>
                    <a:lstStyle/>
                    <a:p>
                      <a:r>
                        <a:rPr lang="en-US" altLang="zh-TW" sz="2500" dirty="0" smtClean="0"/>
                        <a:t>ELCS(1)</a:t>
                      </a:r>
                      <a:endParaRPr lang="zh-TW" altLang="en-US" sz="25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500" dirty="0" smtClean="0"/>
                        <a:t>exactly </a:t>
                      </a:r>
                      <a:r>
                        <a:rPr lang="en-US" altLang="zh-TW" sz="2500" baseline="0" dirty="0" smtClean="0"/>
                        <a:t>1</a:t>
                      </a:r>
                      <a:endParaRPr lang="zh-TW" altLang="en-US" sz="2500" dirty="0" smtClean="0"/>
                    </a:p>
                  </a:txBody>
                  <a:tcPr/>
                </a:tc>
                <a:tc>
                  <a:txBody>
                    <a:bodyPr/>
                    <a:lstStyle/>
                    <a:p>
                      <a:r>
                        <a:rPr lang="en-US" altLang="zh-TW" sz="2500" dirty="0" smtClean="0"/>
                        <a:t>unrestricted</a:t>
                      </a:r>
                      <a:endParaRPr lang="zh-TW" altLang="en-US" sz="2500" dirty="0"/>
                    </a:p>
                  </a:txBody>
                  <a:tcPr/>
                </a:tc>
                <a:tc>
                  <a:txBody>
                    <a:bodyPr/>
                    <a:lstStyle/>
                    <a:p>
                      <a:r>
                        <a:rPr lang="en-US" altLang="zh-TW" sz="2500" dirty="0" smtClean="0">
                          <a:solidFill>
                            <a:srgbClr val="FF0000"/>
                          </a:solidFill>
                        </a:rPr>
                        <a:t>a b </a:t>
                      </a:r>
                      <a:r>
                        <a:rPr lang="en-US" altLang="zh-TW" sz="2500" dirty="0" smtClean="0"/>
                        <a:t>e c e</a:t>
                      </a:r>
                    </a:p>
                    <a:p>
                      <a:endParaRPr lang="zh-TW" altLang="en-US" sz="2500" dirty="0"/>
                    </a:p>
                  </a:txBody>
                  <a:tcPr/>
                </a:tc>
              </a:tr>
              <a:tr h="674366">
                <a:tc>
                  <a:txBody>
                    <a:bodyPr/>
                    <a:lstStyle/>
                    <a:p>
                      <a:r>
                        <a:rPr lang="en-US" altLang="zh-TW" sz="2500" dirty="0" smtClean="0"/>
                        <a:t>ELCS(≥1,≤1)</a:t>
                      </a:r>
                      <a:endParaRPr lang="zh-TW" altLang="en-US" sz="2500" dirty="0"/>
                    </a:p>
                  </a:txBody>
                  <a:tcPr/>
                </a:tc>
                <a:tc>
                  <a:txBody>
                    <a:bodyPr/>
                    <a:lstStyle/>
                    <a:p>
                      <a:r>
                        <a:rPr lang="en-US" altLang="zh-TW" sz="2500" dirty="0" smtClean="0"/>
                        <a:t>at least</a:t>
                      </a:r>
                      <a:r>
                        <a:rPr lang="en-US" altLang="zh-TW" sz="2500" baseline="0" dirty="0" smtClean="0"/>
                        <a:t> 1</a:t>
                      </a:r>
                      <a:endParaRPr lang="zh-TW" altLang="en-US" sz="2500" dirty="0"/>
                    </a:p>
                  </a:txBody>
                  <a:tcPr/>
                </a:tc>
                <a:tc>
                  <a:txBody>
                    <a:bodyPr/>
                    <a:lstStyle/>
                    <a:p>
                      <a:r>
                        <a:rPr lang="en-US" altLang="zh-TW" sz="2500" dirty="0" smtClean="0"/>
                        <a:t>at most 1</a:t>
                      </a:r>
                      <a:endParaRPr lang="zh-TW" altLang="en-US" sz="25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500" dirty="0" smtClean="0">
                          <a:solidFill>
                            <a:srgbClr val="FF0000"/>
                          </a:solidFill>
                        </a:rPr>
                        <a:t>a b </a:t>
                      </a:r>
                      <a:r>
                        <a:rPr lang="en-US" altLang="zh-TW" sz="2500" dirty="0" smtClean="0"/>
                        <a:t>c </a:t>
                      </a:r>
                      <a:r>
                        <a:rPr lang="en-US" altLang="zh-TW" sz="2500" dirty="0" smtClean="0">
                          <a:solidFill>
                            <a:srgbClr val="FF0000"/>
                          </a:solidFill>
                        </a:rPr>
                        <a:t>a </a:t>
                      </a:r>
                      <a:r>
                        <a:rPr lang="en-US" altLang="zh-TW" sz="2500" dirty="0" smtClean="0"/>
                        <a:t>e</a:t>
                      </a:r>
                    </a:p>
                  </a:txBody>
                  <a:tcPr/>
                </a:tc>
              </a:tr>
              <a:tr h="890648">
                <a:tc>
                  <a:txBody>
                    <a:bodyPr/>
                    <a:lstStyle/>
                    <a:p>
                      <a:r>
                        <a:rPr lang="en-US" altLang="zh-TW" sz="2500" dirty="0" smtClean="0"/>
                        <a:t>ELCS(≥1)</a:t>
                      </a:r>
                      <a:endParaRPr lang="zh-TW" altLang="en-US" sz="25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500" dirty="0" smtClean="0"/>
                        <a:t>at least</a:t>
                      </a:r>
                      <a:r>
                        <a:rPr lang="en-US" altLang="zh-TW" sz="2500" baseline="0" dirty="0" smtClean="0"/>
                        <a:t> 1</a:t>
                      </a:r>
                      <a:endParaRPr lang="zh-TW" altLang="en-US" sz="2500" dirty="0" smtClean="0"/>
                    </a:p>
                    <a:p>
                      <a:endParaRPr lang="zh-TW" altLang="en-US" sz="25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500" dirty="0" smtClean="0"/>
                        <a:t>unrestricted</a:t>
                      </a:r>
                      <a:endParaRPr lang="zh-TW" altLang="en-US" sz="25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a:t>
                      </a:r>
                      <a:r>
                        <a:rPr lang="en-US" altLang="zh-TW" sz="2500" dirty="0" smtClean="0"/>
                        <a:t> e</a:t>
                      </a:r>
                    </a:p>
                    <a:p>
                      <a:endParaRPr lang="zh-TW" altLang="en-US" sz="2500" dirty="0"/>
                    </a:p>
                  </a:txBody>
                  <a:tcPr/>
                </a:tc>
              </a:tr>
            </a:tbl>
          </a:graphicData>
        </a:graphic>
      </p:graphicFrame>
      <p:sp>
        <p:nvSpPr>
          <p:cNvPr id="8" name="投影片編號版面配置區 7"/>
          <p:cNvSpPr>
            <a:spLocks noGrp="1"/>
          </p:cNvSpPr>
          <p:nvPr>
            <p:ph type="sldNum" sz="quarter" idx="12"/>
          </p:nvPr>
        </p:nvSpPr>
        <p:spPr/>
        <p:txBody>
          <a:bodyPr/>
          <a:lstStyle/>
          <a:p>
            <a:fld id="{E0016CCB-BDEC-45F3-982A-D76E3F4EE2CF}" type="slidenum">
              <a:rPr lang="zh-TW" altLang="en-US" smtClean="0"/>
              <a:pPr/>
              <a:t>4</a:t>
            </a:fld>
            <a:endParaRPr lang="zh-TW" altLang="en-US"/>
          </a:p>
        </p:txBody>
      </p:sp>
    </p:spTree>
    <p:extLst>
      <p:ext uri="{BB962C8B-B14F-4D97-AF65-F5344CB8AC3E}">
        <p14:creationId xmlns="" xmlns:p14="http://schemas.microsoft.com/office/powerpoint/2010/main" val="2490917108"/>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Fixed-parameter Algorithms</a:t>
            </a:r>
            <a:endParaRPr lang="zh-TW" altLang="en-US" dirty="0"/>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normAutofit/>
              </a:bodyPr>
              <a:lstStyle/>
              <a:p>
                <a:pPr marL="0" indent="0">
                  <a:buNone/>
                </a:pPr>
                <a:r>
                  <a:rPr lang="en-US" altLang="zh-TW" sz="2500" dirty="0" smtClean="0"/>
                  <a:t>For 2-ELCS(1) and 2-ELCS(≥1) problem</a:t>
                </a:r>
              </a:p>
              <a:p>
                <a:pPr marL="0" indent="0">
                  <a:buNone/>
                </a:pPr>
                <a:r>
                  <a:rPr lang="en-US" altLang="zh-TW" sz="2500" dirty="0" smtClean="0"/>
                  <a:t>Input sequences: S</a:t>
                </a:r>
                <a:r>
                  <a:rPr lang="en-US" altLang="zh-TW" sz="2500" baseline="-25000" dirty="0" smtClean="0"/>
                  <a:t>1</a:t>
                </a:r>
                <a:r>
                  <a:rPr lang="en-US" altLang="zh-TW" sz="2500" dirty="0" smtClean="0"/>
                  <a:t>,S</a:t>
                </a:r>
                <a:r>
                  <a:rPr lang="en-US" altLang="zh-TW" sz="2500" baseline="-25000" dirty="0" smtClean="0"/>
                  <a:t>2</a:t>
                </a:r>
              </a:p>
              <a:p>
                <a:pPr marL="0" indent="0">
                  <a:buNone/>
                </a:pPr>
                <a:endParaRPr lang="en-US" altLang="zh-TW" sz="2500" dirty="0" smtClean="0"/>
              </a:p>
              <a:p>
                <a:pPr marL="0" indent="0">
                  <a:buNone/>
                </a:pPr>
                <a:r>
                  <a:rPr lang="de-DE" altLang="zh-TW" sz="2500" dirty="0" smtClean="0"/>
                  <a:t>n :</a:t>
                </a:r>
                <a:r>
                  <a:rPr lang="en-US" altLang="zh-TW" sz="2500" dirty="0" smtClean="0"/>
                  <a:t> the maximum of |S</a:t>
                </a:r>
                <a:r>
                  <a:rPr lang="en-US" altLang="zh-TW" sz="2500" baseline="-25000" dirty="0" smtClean="0"/>
                  <a:t>1</a:t>
                </a:r>
                <a:r>
                  <a:rPr lang="en-US" altLang="zh-TW" sz="2500" dirty="0" smtClean="0"/>
                  <a:t>| and |S</a:t>
                </a:r>
                <a:r>
                  <a:rPr lang="en-US" altLang="zh-TW" sz="2500" baseline="-25000" dirty="0" smtClean="0"/>
                  <a:t>2</a:t>
                </a:r>
                <a:r>
                  <a:rPr lang="en-US" altLang="zh-TW" sz="2500" dirty="0" smtClean="0"/>
                  <a:t>|</a:t>
                </a:r>
              </a:p>
              <a:p>
                <a:pPr marL="0" indent="0">
                  <a:buNone/>
                </a:pPr>
                <a:endParaRPr lang="de-DE" altLang="zh-TW" sz="2500" dirty="0" smtClean="0"/>
              </a:p>
              <a:p>
                <a:pPr marL="0" indent="0">
                  <a:buNone/>
                </a:pPr>
                <a:r>
                  <a:rPr lang="de-DE" altLang="zh-TW" sz="2500" dirty="0" smtClean="0"/>
                  <a:t>A</a:t>
                </a:r>
                <a:r>
                  <a:rPr lang="de-DE" altLang="zh-TW" sz="2500" baseline="-25000" dirty="0" smtClean="0"/>
                  <a:t>m</a:t>
                </a:r>
                <a:r>
                  <a:rPr lang="de-DE" altLang="zh-TW" sz="2500" dirty="0" smtClean="0"/>
                  <a:t> = {</a:t>
                </a:r>
                <a14:m>
                  <m:oMath xmlns:m="http://schemas.openxmlformats.org/officeDocument/2006/math">
                    <m:sSub>
                      <m:sSubPr>
                        <m:ctrlPr>
                          <a:rPr lang="en-US" altLang="zh-TW" sz="2500" i="1" smtClean="0">
                            <a:latin typeface="Cambria Math"/>
                          </a:rPr>
                        </m:ctrlPr>
                      </m:sSubPr>
                      <m:e>
                        <m:r>
                          <a:rPr lang="zh-TW" altLang="en-US" sz="2500" i="1" smtClean="0">
                            <a:latin typeface="Cambria Math"/>
                          </a:rPr>
                          <m:t>𝛼</m:t>
                        </m:r>
                      </m:e>
                      <m:sub>
                        <m:r>
                          <a:rPr lang="en-US" altLang="zh-TW" sz="2500" b="0" i="1" smtClean="0">
                            <a:latin typeface="Cambria Math"/>
                          </a:rPr>
                          <m:t>1</m:t>
                        </m:r>
                      </m:sub>
                    </m:sSub>
                    <m:r>
                      <a:rPr lang="en-US" altLang="zh-TW" sz="2500" b="0" i="1" smtClean="0">
                        <a:latin typeface="Cambria Math"/>
                      </a:rPr>
                      <m:t>,</m:t>
                    </m:r>
                    <m:sSub>
                      <m:sSubPr>
                        <m:ctrlPr>
                          <a:rPr lang="en-US" altLang="zh-TW" sz="2500" i="1" smtClean="0">
                            <a:latin typeface="Cambria Math"/>
                          </a:rPr>
                        </m:ctrlPr>
                      </m:sSubPr>
                      <m:e>
                        <m:r>
                          <a:rPr lang="zh-TW" altLang="en-US" sz="2500" i="1" smtClean="0">
                            <a:latin typeface="Cambria Math"/>
                          </a:rPr>
                          <m:t>𝛼</m:t>
                        </m:r>
                      </m:e>
                      <m:sub>
                        <m:r>
                          <a:rPr lang="en-US" altLang="zh-TW" sz="2500" b="0" i="1" smtClean="0">
                            <a:latin typeface="Cambria Math"/>
                          </a:rPr>
                          <m:t>2</m:t>
                        </m:r>
                      </m:sub>
                    </m:sSub>
                    <m:r>
                      <a:rPr lang="en-US" altLang="zh-TW" sz="2500" b="0" i="1" smtClean="0">
                        <a:latin typeface="Cambria Math"/>
                      </a:rPr>
                      <m:t>,….</m:t>
                    </m:r>
                    <m:sSub>
                      <m:sSubPr>
                        <m:ctrlPr>
                          <a:rPr lang="en-US" altLang="zh-TW" sz="2500" i="1" smtClean="0">
                            <a:latin typeface="Cambria Math"/>
                          </a:rPr>
                        </m:ctrlPr>
                      </m:sSubPr>
                      <m:e>
                        <m:r>
                          <a:rPr lang="zh-TW" altLang="en-US" sz="2500" i="1" smtClean="0">
                            <a:latin typeface="Cambria Math"/>
                          </a:rPr>
                          <m:t>𝛼</m:t>
                        </m:r>
                      </m:e>
                      <m:sub>
                        <m:r>
                          <a:rPr lang="en-US" altLang="zh-TW" sz="2500" b="0" i="1" smtClean="0">
                            <a:latin typeface="Cambria Math"/>
                          </a:rPr>
                          <m:t>𝑚</m:t>
                        </m:r>
                      </m:sub>
                    </m:sSub>
                  </m:oMath>
                </a14:m>
                <a:r>
                  <a:rPr lang="de-DE" altLang="zh-TW" sz="2500" dirty="0" smtClean="0"/>
                  <a:t>} </a:t>
                </a:r>
              </a:p>
              <a:p>
                <a:pPr marL="0" indent="0">
                  <a:buNone/>
                </a:pPr>
                <a:r>
                  <a:rPr lang="de-DE" altLang="zh-TW" sz="2500" dirty="0" smtClean="0"/>
                  <a:t>(</a:t>
                </a:r>
                <a:r>
                  <a:rPr lang="en-US" altLang="zh-TW" sz="2500" dirty="0" smtClean="0"/>
                  <a:t>the set of mandatory symbols</a:t>
                </a:r>
                <a:r>
                  <a:rPr lang="de-DE" altLang="zh-TW" sz="2500" dirty="0" smtClean="0"/>
                  <a:t>)</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185" t="-94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E0016CCB-BDEC-45F3-982A-D76E3F4EE2CF}" type="slidenum">
              <a:rPr lang="zh-TW" altLang="en-US" smtClean="0"/>
              <a:pPr/>
              <a:t>5</a:t>
            </a:fld>
            <a:endParaRPr lang="zh-TW" altLang="en-US"/>
          </a:p>
        </p:txBody>
      </p:sp>
    </p:spTree>
    <p:extLst>
      <p:ext uri="{BB962C8B-B14F-4D97-AF65-F5344CB8AC3E}">
        <p14:creationId xmlns="" xmlns:p14="http://schemas.microsoft.com/office/powerpoint/2010/main" val="930257291"/>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Naive </a:t>
            </a:r>
            <a:r>
              <a:rPr lang="en-US" altLang="zh-TW" dirty="0" smtClean="0"/>
              <a:t>Approach(1/3)</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sz="2500" dirty="0" smtClean="0"/>
              <a:t>First step:</a:t>
            </a:r>
          </a:p>
          <a:p>
            <a:pPr marL="0" indent="0">
              <a:buNone/>
            </a:pPr>
            <a:r>
              <a:rPr lang="en-US" altLang="zh-TW" sz="2500" dirty="0" smtClean="0"/>
              <a:t>Guessing </a:t>
            </a:r>
            <a:r>
              <a:rPr lang="en-US" altLang="zh-TW" sz="2500" dirty="0"/>
              <a:t>the </a:t>
            </a:r>
            <a:r>
              <a:rPr lang="en-US" altLang="zh-TW" sz="2500" dirty="0" smtClean="0"/>
              <a:t>exact ordering </a:t>
            </a:r>
            <a:r>
              <a:rPr lang="en-US" altLang="zh-TW" sz="2500" dirty="0"/>
              <a:t>of all mandatory symbols in the optimal </a:t>
            </a:r>
            <a:r>
              <a:rPr lang="en-US" altLang="zh-TW" sz="2500" dirty="0" smtClean="0"/>
              <a:t>solution</a:t>
            </a:r>
          </a:p>
          <a:p>
            <a:pPr marL="0" indent="0">
              <a:buNone/>
            </a:pPr>
            <a:endParaRPr lang="en-US" altLang="zh-TW" sz="2500" dirty="0"/>
          </a:p>
          <a:p>
            <a:pPr marL="0" indent="0">
              <a:buNone/>
            </a:pPr>
            <a:r>
              <a:rPr lang="en-US" altLang="zh-TW" sz="2500" dirty="0" smtClean="0"/>
              <a:t>Example:</a:t>
            </a:r>
          </a:p>
          <a:p>
            <a:pPr marL="0" indent="0">
              <a:buNone/>
            </a:pPr>
            <a:r>
              <a:rPr lang="en-US" altLang="zh-TW" sz="2500" dirty="0" smtClean="0"/>
              <a:t>A</a:t>
            </a:r>
            <a:r>
              <a:rPr lang="en-US" altLang="zh-TW" sz="2500" baseline="-25000" dirty="0" smtClean="0"/>
              <a:t>m</a:t>
            </a:r>
            <a:r>
              <a:rPr lang="en-US" altLang="zh-TW" sz="2500" dirty="0" smtClean="0"/>
              <a:t>={</a:t>
            </a:r>
            <a:r>
              <a:rPr lang="en-US" altLang="zh-TW" sz="2500" dirty="0" err="1" smtClean="0">
                <a:solidFill>
                  <a:srgbClr val="FF0000"/>
                </a:solidFill>
              </a:rPr>
              <a:t>a</a:t>
            </a:r>
            <a:r>
              <a:rPr lang="en-US" altLang="zh-TW" sz="2500" dirty="0" err="1" smtClean="0"/>
              <a:t>,</a:t>
            </a:r>
            <a:r>
              <a:rPr lang="en-US" altLang="zh-TW" sz="2500" dirty="0" err="1" smtClean="0">
                <a:solidFill>
                  <a:srgbClr val="FF0000"/>
                </a:solidFill>
              </a:rPr>
              <a:t>b</a:t>
            </a:r>
            <a:r>
              <a:rPr lang="en-US" altLang="zh-TW" sz="2500" dirty="0" smtClean="0"/>
              <a:t>}</a:t>
            </a:r>
          </a:p>
          <a:p>
            <a:pPr marL="0" indent="0">
              <a:buNone/>
            </a:pPr>
            <a:endParaRPr lang="en-US" altLang="zh-TW" sz="2500" dirty="0" smtClean="0"/>
          </a:p>
          <a:p>
            <a:pPr>
              <a:buFont typeface="Symbol"/>
              <a:buChar char="Þ"/>
            </a:pPr>
            <a:r>
              <a:rPr lang="en-US" altLang="zh-TW" sz="2500" dirty="0" smtClean="0"/>
              <a:t>“</a:t>
            </a:r>
            <a:r>
              <a:rPr lang="en-US" altLang="zh-TW" sz="2500" dirty="0" err="1" smtClean="0"/>
              <a:t>ab</a:t>
            </a:r>
            <a:r>
              <a:rPr lang="en-US" altLang="zh-TW" sz="2500" dirty="0" smtClean="0"/>
              <a:t>” or “</a:t>
            </a:r>
            <a:r>
              <a:rPr lang="en-US" altLang="zh-TW" sz="2500" dirty="0" err="1" smtClean="0"/>
              <a:t>ba</a:t>
            </a:r>
            <a:r>
              <a:rPr lang="en-US" altLang="zh-TW" sz="2500" dirty="0" smtClean="0"/>
              <a:t>”</a:t>
            </a:r>
          </a:p>
          <a:p>
            <a:pPr marL="0" indent="0">
              <a:buNone/>
            </a:pPr>
            <a:endParaRPr lang="en-US" altLang="zh-TW" sz="2500" dirty="0" smtClean="0"/>
          </a:p>
          <a:p>
            <a:pPr marL="0" indent="0">
              <a:buNone/>
            </a:pPr>
            <a:r>
              <a:rPr lang="en-US" altLang="zh-TW" sz="2500" dirty="0"/>
              <a:t>T</a:t>
            </a:r>
            <a:r>
              <a:rPr lang="en-US" altLang="zh-TW" sz="2500" dirty="0" smtClean="0"/>
              <a:t>ime complexity : O(m!)</a:t>
            </a:r>
            <a:endParaRPr lang="zh-TW" altLang="en-US" sz="2500"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6</a:t>
            </a:fld>
            <a:endParaRPr lang="zh-TW" altLang="en-US"/>
          </a:p>
        </p:txBody>
      </p:sp>
    </p:spTree>
    <p:extLst>
      <p:ext uri="{BB962C8B-B14F-4D97-AF65-F5344CB8AC3E}">
        <p14:creationId xmlns="" xmlns:p14="http://schemas.microsoft.com/office/powerpoint/2010/main" val="3441043415"/>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Naive Approach(2/3)</a:t>
            </a:r>
            <a:endParaRPr lang="zh-TW" altLang="en-US" dirty="0"/>
          </a:p>
        </p:txBody>
      </p:sp>
      <p:sp>
        <p:nvSpPr>
          <p:cNvPr id="3" name="內容版面配置區 2"/>
          <p:cNvSpPr>
            <a:spLocks noGrp="1"/>
          </p:cNvSpPr>
          <p:nvPr>
            <p:ph idx="1"/>
          </p:nvPr>
        </p:nvSpPr>
        <p:spPr/>
        <p:txBody>
          <a:bodyPr>
            <a:normAutofit fontScale="77500" lnSpcReduction="20000"/>
          </a:bodyPr>
          <a:lstStyle/>
          <a:p>
            <a:pPr marL="0" indent="0">
              <a:buNone/>
            </a:pPr>
            <a:r>
              <a:rPr lang="en-US" altLang="zh-TW" dirty="0" smtClean="0"/>
              <a:t>Second step(for 2ELCS(1) ):</a:t>
            </a:r>
          </a:p>
          <a:p>
            <a:pPr marL="0" indent="0">
              <a:buNone/>
            </a:pPr>
            <a:endParaRPr lang="en-US" altLang="zh-TW" dirty="0" smtClean="0"/>
          </a:p>
          <a:p>
            <a:pPr marL="0" indent="0">
              <a:buNone/>
            </a:pPr>
            <a:endParaRPr lang="en-US" altLang="zh-TW" dirty="0" smtClean="0"/>
          </a:p>
          <a:p>
            <a:pPr marL="0" indent="0">
              <a:buNone/>
            </a:pPr>
            <a:endParaRPr lang="en-US" altLang="zh-TW" dirty="0"/>
          </a:p>
          <a:p>
            <a:pPr marL="0" indent="0">
              <a:buNone/>
            </a:pPr>
            <a:endParaRPr lang="en-US" altLang="zh-TW" dirty="0" smtClean="0"/>
          </a:p>
          <a:p>
            <a:pPr marL="0" indent="0">
              <a:buNone/>
            </a:pPr>
            <a:endParaRPr lang="en-US" altLang="zh-TW" dirty="0" smtClean="0"/>
          </a:p>
          <a:p>
            <a:r>
              <a:rPr lang="en-US" altLang="zh-TW" dirty="0"/>
              <a:t>boundary </a:t>
            </a:r>
            <a:r>
              <a:rPr lang="en-US" altLang="zh-TW" dirty="0" smtClean="0"/>
              <a:t>conditions:</a:t>
            </a:r>
          </a:p>
          <a:p>
            <a:pPr marL="0" indent="0">
              <a:buNone/>
            </a:pPr>
            <a:r>
              <a:rPr lang="en-US" altLang="zh-TW" dirty="0" smtClean="0"/>
              <a:t> EL[ 0, j, 0 ]=0 and EL[ i, 0, 0 ] =0 </a:t>
            </a:r>
          </a:p>
          <a:p>
            <a:pPr marL="0" indent="0">
              <a:buNone/>
            </a:pPr>
            <a:r>
              <a:rPr lang="en-US" altLang="zh-TW" dirty="0" smtClean="0"/>
              <a:t>for 0 ≤ </a:t>
            </a:r>
            <a:r>
              <a:rPr lang="en-US" altLang="zh-TW" dirty="0"/>
              <a:t>i</a:t>
            </a:r>
            <a:r>
              <a:rPr lang="en-US" altLang="zh-TW" dirty="0" smtClean="0"/>
              <a:t> ≤ |S</a:t>
            </a:r>
            <a:r>
              <a:rPr lang="en-US" altLang="zh-TW" baseline="-25000" dirty="0" smtClean="0"/>
              <a:t>1</a:t>
            </a:r>
            <a:r>
              <a:rPr lang="en-US" altLang="zh-TW" dirty="0" smtClean="0"/>
              <a:t>|  </a:t>
            </a:r>
            <a:r>
              <a:rPr lang="en-US" altLang="zh-TW" dirty="0"/>
              <a:t>and 0 </a:t>
            </a:r>
            <a:r>
              <a:rPr lang="en-US" altLang="zh-TW" dirty="0" smtClean="0"/>
              <a:t>≤ j ≤ |S</a:t>
            </a:r>
            <a:r>
              <a:rPr lang="en-US" altLang="zh-TW" baseline="-25000" dirty="0" smtClean="0"/>
              <a:t>2</a:t>
            </a:r>
            <a:r>
              <a:rPr lang="en-US" altLang="zh-TW" dirty="0" smtClean="0"/>
              <a:t>|</a:t>
            </a:r>
          </a:p>
          <a:p>
            <a:pPr marL="0" indent="0">
              <a:buNone/>
            </a:pPr>
            <a:endParaRPr lang="en-US" altLang="zh-TW" dirty="0" smtClean="0"/>
          </a:p>
          <a:p>
            <a:r>
              <a:rPr lang="en-US" altLang="zh-TW" dirty="0" smtClean="0"/>
              <a:t>optimal </a:t>
            </a:r>
            <a:r>
              <a:rPr lang="en-US" altLang="zh-TW" dirty="0"/>
              <a:t>solution </a:t>
            </a:r>
            <a:r>
              <a:rPr lang="en-US" altLang="zh-TW" dirty="0" smtClean="0"/>
              <a:t>:  In EL[|S</a:t>
            </a:r>
            <a:r>
              <a:rPr lang="en-US" altLang="zh-TW" baseline="-25000" dirty="0" smtClean="0"/>
              <a:t>1</a:t>
            </a:r>
            <a:r>
              <a:rPr lang="en-US" altLang="zh-TW" dirty="0" smtClean="0"/>
              <a:t>| , |S</a:t>
            </a:r>
            <a:r>
              <a:rPr lang="en-US" altLang="zh-TW" baseline="-25000" dirty="0"/>
              <a:t>2</a:t>
            </a:r>
            <a:r>
              <a:rPr lang="en-US" altLang="zh-TW" dirty="0" smtClean="0"/>
              <a:t>| , |S|] </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7</a:t>
            </a:fld>
            <a:endParaRPr lang="zh-TW" altLang="en-US"/>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971600" y="1988840"/>
            <a:ext cx="7477125" cy="2000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6" name="直線接點 5"/>
          <p:cNvCxnSpPr/>
          <p:nvPr/>
        </p:nvCxnSpPr>
        <p:spPr>
          <a:xfrm>
            <a:off x="7236296" y="2988965"/>
            <a:ext cx="1080120" cy="0"/>
          </a:xfrm>
          <a:prstGeom prst="line">
            <a:avLst/>
          </a:prstGeom>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mc:Choice xmlns="" xmlns:a14="http://schemas.microsoft.com/office/drawing/2010/main" Requires="a14">
          <p:sp>
            <p:nvSpPr>
              <p:cNvPr id="10" name="文字方塊 9"/>
              <p:cNvSpPr txBox="1"/>
              <p:nvPr/>
            </p:nvSpPr>
            <p:spPr>
              <a:xfrm>
                <a:off x="5292080" y="4149080"/>
                <a:ext cx="3574633"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TW" dirty="0" smtClean="0"/>
                  <a:t>for </a:t>
                </a:r>
                <a:r>
                  <a:rPr lang="en-US" altLang="zh-TW" dirty="0"/>
                  <a:t>the </a:t>
                </a:r>
                <a:r>
                  <a:rPr lang="en-US" altLang="zh-TW" dirty="0" smtClean="0"/>
                  <a:t>2-ELCS(≥1) :</a:t>
                </a:r>
                <a:endParaRPr lang="en-US" altLang="zh-TW" dirty="0"/>
              </a:p>
              <a:p>
                <a:r>
                  <a:rPr lang="en-US" altLang="zh-TW" dirty="0" smtClean="0"/>
                  <a:t> Removing the requirement S</a:t>
                </a:r>
                <a:r>
                  <a:rPr lang="en-US" altLang="zh-TW" baseline="-25000" dirty="0" smtClean="0"/>
                  <a:t>1</a:t>
                </a:r>
                <a:r>
                  <a:rPr lang="en-US" altLang="zh-TW" dirty="0" smtClean="0"/>
                  <a:t>[i]</a:t>
                </a:r>
                <a:r>
                  <a:rPr lang="en-US" altLang="zh-TW" baseline="-25000" dirty="0" smtClean="0"/>
                  <a:t/>
                </a:r>
                <a14:m>
                  <m:oMath xmlns:m="http://schemas.openxmlformats.org/officeDocument/2006/math">
                    <m:r>
                      <a:rPr lang="en-US" altLang="zh-TW" i="1" dirty="0" smtClean="0">
                        <a:latin typeface="Cambria Math"/>
                      </a:rPr>
                      <m:t>∊</m:t>
                    </m:r>
                  </m:oMath>
                </a14:m>
                <a:r>
                  <a:rPr lang="en-US" altLang="zh-TW" dirty="0" err="1" smtClean="0"/>
                  <a:t>A</a:t>
                </a:r>
                <a:r>
                  <a:rPr lang="en-US" altLang="zh-TW" baseline="-25000" dirty="0" err="1"/>
                  <a:t>o</a:t>
                </a:r>
                <a:endParaRPr lang="zh-TW" altLang="en-US" dirty="0"/>
              </a:p>
            </p:txBody>
          </p:sp>
        </mc:Choice>
        <mc:Fallback>
          <p:sp>
            <p:nvSpPr>
              <p:cNvPr id="10" name="文字方塊 9"/>
              <p:cNvSpPr txBox="1">
                <a:spLocks noRot="1" noChangeAspect="1" noMove="1" noResize="1" noEditPoints="1" noAdjustHandles="1" noChangeArrowheads="1" noChangeShapeType="1" noTextEdit="1"/>
              </p:cNvSpPr>
              <p:nvPr/>
            </p:nvSpPr>
            <p:spPr>
              <a:xfrm>
                <a:off x="5292080" y="4149080"/>
                <a:ext cx="3574633" cy="646331"/>
              </a:xfrm>
              <a:prstGeom prst="rect">
                <a:avLst/>
              </a:prstGeom>
              <a:blipFill rotWithShape="1">
                <a:blip r:embed="rId3"/>
                <a:stretch>
                  <a:fillRect l="-1015" t="-2727" b="-11818"/>
                </a:stretch>
              </a:blipFill>
            </p:spPr>
            <p:txBody>
              <a:bodyPr/>
              <a:lstStyle/>
              <a:p>
                <a:r>
                  <a:rPr lang="zh-TW" altLang="en-US">
                    <a:noFill/>
                  </a:rPr>
                  <a:t> </a:t>
                </a:r>
              </a:p>
            </p:txBody>
          </p:sp>
        </mc:Fallback>
      </mc:AlternateContent>
      <p:cxnSp>
        <p:nvCxnSpPr>
          <p:cNvPr id="9" name="直線單箭頭接點 8"/>
          <p:cNvCxnSpPr>
            <a:endCxn id="10" idx="0"/>
          </p:cNvCxnSpPr>
          <p:nvPr/>
        </p:nvCxnSpPr>
        <p:spPr>
          <a:xfrm flipH="1">
            <a:off x="7079397" y="2988965"/>
            <a:ext cx="1231166" cy="116011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 xmlns:p14="http://schemas.microsoft.com/office/powerpoint/2010/main" val="1997684978"/>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Naive Approach(3/3)</a:t>
            </a:r>
            <a:endParaRPr lang="zh-TW" altLang="en-US" dirty="0"/>
          </a:p>
        </p:txBody>
      </p:sp>
      <p:sp>
        <p:nvSpPr>
          <p:cNvPr id="3" name="內容版面配置區 2"/>
          <p:cNvSpPr>
            <a:spLocks noGrp="1"/>
          </p:cNvSpPr>
          <p:nvPr>
            <p:ph idx="1"/>
          </p:nvPr>
        </p:nvSpPr>
        <p:spPr>
          <a:xfrm>
            <a:off x="323528" y="1268759"/>
            <a:ext cx="8229600" cy="2088233"/>
          </a:xfrm>
        </p:spPr>
        <p:txBody>
          <a:bodyPr>
            <a:normAutofit fontScale="85000" lnSpcReduction="20000"/>
          </a:bodyPr>
          <a:lstStyle/>
          <a:p>
            <a:pPr marL="0" indent="0">
              <a:buNone/>
            </a:pPr>
            <a:r>
              <a:rPr lang="en-US" altLang="zh-TW" sz="2900" dirty="0" smtClean="0"/>
              <a:t>A</a:t>
            </a:r>
            <a:r>
              <a:rPr lang="en-US" altLang="zh-TW" sz="2900" baseline="-25000" dirty="0" smtClean="0"/>
              <a:t>m</a:t>
            </a:r>
            <a:r>
              <a:rPr lang="en-US" altLang="zh-TW" sz="2900" dirty="0" smtClean="0"/>
              <a:t>={</a:t>
            </a:r>
            <a:r>
              <a:rPr lang="en-US" altLang="zh-TW" sz="2900" dirty="0" err="1" smtClean="0"/>
              <a:t>a,b</a:t>
            </a:r>
            <a:r>
              <a:rPr lang="en-US" altLang="zh-TW" sz="2900" dirty="0" smtClean="0"/>
              <a:t>}  </a:t>
            </a:r>
            <a:r>
              <a:rPr lang="en-US" altLang="zh-TW" sz="2900" dirty="0" err="1" smtClean="0"/>
              <a:t>A</a:t>
            </a:r>
            <a:r>
              <a:rPr lang="en-US" altLang="zh-TW" sz="2900" baseline="-25000" dirty="0" err="1"/>
              <a:t>o</a:t>
            </a:r>
            <a:r>
              <a:rPr lang="en-US" altLang="zh-TW" sz="2900" dirty="0" smtClean="0"/>
              <a:t>={</a:t>
            </a:r>
            <a:r>
              <a:rPr lang="en-US" altLang="zh-TW" sz="2900" dirty="0" err="1" smtClean="0"/>
              <a:t>c,e</a:t>
            </a:r>
            <a:r>
              <a:rPr lang="en-US" altLang="zh-TW" sz="2900" dirty="0" smtClean="0"/>
              <a:t>}</a:t>
            </a:r>
          </a:p>
          <a:p>
            <a:pPr marL="0" indent="0">
              <a:buNone/>
            </a:pPr>
            <a:r>
              <a:rPr lang="en-US" altLang="zh-TW" sz="2900" dirty="0" smtClean="0"/>
              <a:t>S</a:t>
            </a:r>
            <a:r>
              <a:rPr lang="en-US" altLang="zh-TW" sz="2900" baseline="-25000" dirty="0" smtClean="0"/>
              <a:t>1</a:t>
            </a:r>
            <a:r>
              <a:rPr lang="en-US" altLang="zh-TW" sz="2900" dirty="0" smtClean="0"/>
              <a:t>=</a:t>
            </a:r>
            <a:r>
              <a:rPr lang="en-US" altLang="zh-TW" sz="2900" dirty="0" smtClean="0">
                <a:solidFill>
                  <a:srgbClr val="FF0000"/>
                </a:solidFill>
              </a:rPr>
              <a:t>a b </a:t>
            </a:r>
            <a:r>
              <a:rPr lang="en-US" altLang="zh-TW" sz="2900" dirty="0" smtClean="0"/>
              <a:t>c e </a:t>
            </a:r>
            <a:r>
              <a:rPr lang="en-US" altLang="zh-TW" sz="2900" dirty="0" smtClean="0">
                <a:solidFill>
                  <a:srgbClr val="FF0000"/>
                </a:solidFill>
              </a:rPr>
              <a:t>b </a:t>
            </a:r>
            <a:r>
              <a:rPr lang="en-US" altLang="zh-TW" sz="2900" dirty="0" smtClean="0"/>
              <a:t>c </a:t>
            </a:r>
            <a:r>
              <a:rPr lang="en-US" altLang="zh-TW" sz="2900" dirty="0" smtClean="0">
                <a:solidFill>
                  <a:srgbClr val="FF0000"/>
                </a:solidFill>
              </a:rPr>
              <a:t>a </a:t>
            </a:r>
            <a:r>
              <a:rPr lang="en-US" altLang="zh-TW" sz="2900" dirty="0" smtClean="0"/>
              <a:t>e 				</a:t>
            </a:r>
          </a:p>
          <a:p>
            <a:pPr marL="0" indent="0">
              <a:buNone/>
            </a:pPr>
            <a:r>
              <a:rPr lang="en-US" altLang="zh-TW" sz="2900" dirty="0" smtClean="0"/>
              <a:t>S</a:t>
            </a:r>
            <a:r>
              <a:rPr lang="en-US" altLang="zh-TW" sz="2900" baseline="-25000" dirty="0" smtClean="0"/>
              <a:t>2</a:t>
            </a:r>
            <a:r>
              <a:rPr lang="en-US" altLang="zh-TW" sz="2900" dirty="0" smtClean="0"/>
              <a:t>=c </a:t>
            </a:r>
            <a:r>
              <a:rPr lang="en-US" altLang="zh-TW" sz="2900" dirty="0" smtClean="0">
                <a:solidFill>
                  <a:srgbClr val="FF0000"/>
                </a:solidFill>
              </a:rPr>
              <a:t>a b </a:t>
            </a:r>
            <a:r>
              <a:rPr lang="en-US" altLang="zh-TW" sz="2900" dirty="0" smtClean="0"/>
              <a:t>e c </a:t>
            </a:r>
            <a:r>
              <a:rPr lang="en-US" altLang="zh-TW" sz="2900" dirty="0" smtClean="0">
                <a:solidFill>
                  <a:srgbClr val="FF0000"/>
                </a:solidFill>
              </a:rPr>
              <a:t>a b </a:t>
            </a:r>
            <a:r>
              <a:rPr lang="en-US" altLang="zh-TW" sz="2900" dirty="0" smtClean="0"/>
              <a:t>e				</a:t>
            </a:r>
          </a:p>
          <a:p>
            <a:pPr marL="0" indent="0">
              <a:buNone/>
            </a:pPr>
            <a:r>
              <a:rPr lang="en-US" altLang="zh-TW" sz="2900" dirty="0" smtClean="0"/>
              <a:t>K=a b</a:t>
            </a:r>
          </a:p>
          <a:p>
            <a:pPr marL="0" indent="0">
              <a:buNone/>
            </a:pPr>
            <a:r>
              <a:rPr lang="en-US" altLang="zh-TW" sz="2900" dirty="0" smtClean="0"/>
              <a:t>2-ELCS(1)=</a:t>
            </a:r>
            <a:r>
              <a:rPr lang="en-US" altLang="zh-TW" sz="2900" dirty="0" smtClean="0">
                <a:solidFill>
                  <a:srgbClr val="FF0000"/>
                </a:solidFill>
              </a:rPr>
              <a:t> a b </a:t>
            </a:r>
            <a:r>
              <a:rPr lang="en-US" altLang="zh-TW" sz="2900" dirty="0" smtClean="0"/>
              <a:t>e c e</a:t>
            </a:r>
          </a:p>
          <a:p>
            <a:pPr marL="0" indent="0">
              <a:buNone/>
            </a:pPr>
            <a:endParaRPr lang="zh-TW" altLang="en-US" dirty="0" smtClean="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8</a:t>
            </a:fld>
            <a:endParaRPr lang="zh-TW" altLang="en-US"/>
          </a:p>
        </p:txBody>
      </p:sp>
      <p:pic>
        <p:nvPicPr>
          <p:cNvPr id="9"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47863" y="1340768"/>
            <a:ext cx="5323743" cy="14241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aphicFrame>
        <p:nvGraphicFramePr>
          <p:cNvPr id="26" name="表格 25"/>
          <p:cNvGraphicFramePr>
            <a:graphicFrameLocks noGrp="1"/>
          </p:cNvGraphicFramePr>
          <p:nvPr>
            <p:extLst>
              <p:ext uri="{D42A27DB-BD31-4B8C-83A1-F6EECF244321}">
                <p14:modId xmlns="" xmlns:p14="http://schemas.microsoft.com/office/powerpoint/2010/main" val="1805453219"/>
              </p:ext>
            </p:extLst>
          </p:nvPr>
        </p:nvGraphicFramePr>
        <p:xfrm>
          <a:off x="251520" y="3212976"/>
          <a:ext cx="3312370" cy="3456380"/>
        </p:xfrm>
        <a:graphic>
          <a:graphicData uri="http://schemas.openxmlformats.org/drawingml/2006/table">
            <a:tbl>
              <a:tblPr firstRow="1" bandRow="1">
                <a:tableStyleId>{5C22544A-7EE6-4342-B048-85BDC9FD1C3A}</a:tableStyleId>
              </a:tblPr>
              <a:tblGrid>
                <a:gridCol w="331237"/>
                <a:gridCol w="331237"/>
                <a:gridCol w="331237"/>
                <a:gridCol w="331237"/>
                <a:gridCol w="331237"/>
                <a:gridCol w="331237"/>
                <a:gridCol w="331237"/>
                <a:gridCol w="331237"/>
                <a:gridCol w="331237"/>
                <a:gridCol w="331237"/>
              </a:tblGrid>
              <a:tr h="345638">
                <a:tc rowSpan="2" gridSpan="2">
                  <a:txBody>
                    <a:bodyPr/>
                    <a:lstStyle/>
                    <a:p>
                      <a:pPr algn="ctr"/>
                      <a:r>
                        <a:rPr lang="en-US" altLang="zh-TW" dirty="0" smtClean="0"/>
                        <a:t>K[1]</a:t>
                      </a:r>
                    </a:p>
                    <a:p>
                      <a:pPr algn="ctr"/>
                      <a:r>
                        <a:rPr lang="en-US" altLang="zh-TW" dirty="0" smtClean="0"/>
                        <a:t>=a</a:t>
                      </a:r>
                      <a:endParaRPr lang="zh-TW" altLang="en-US" dirty="0"/>
                    </a:p>
                  </a:txBody>
                  <a:tcPr marL="0" marR="0" marT="0" marB="0"/>
                </a:tc>
                <a:tc rowSpan="2" hMerge="1">
                  <a:txBody>
                    <a:bodyPr/>
                    <a:lstStyle/>
                    <a:p>
                      <a:endParaRPr lang="zh-TW" altLang="en-US" dirty="0"/>
                    </a:p>
                  </a:txBody>
                  <a:tcPr/>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345638">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345638">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r>
              <a:tr h="345638">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u="sng" dirty="0" smtClean="0"/>
                        <a:t>1</a:t>
                      </a:r>
                      <a:endParaRPr lang="zh-TW" altLang="en-US" u="sng"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r>
              <a:tr h="345638">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r>
              <a:tr h="345638">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r>
              <a:tr h="345638">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r>
              <a:tr h="345638">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r>
              <a:tr h="345638">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r>
              <a:tr h="345638">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1</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4</a:t>
                      </a:r>
                      <a:endParaRPr lang="zh-TW" altLang="en-US" dirty="0"/>
                    </a:p>
                  </a:txBody>
                  <a:tcPr marL="0" marR="0" marT="0" marB="0"/>
                </a:tc>
              </a:tr>
            </a:tbl>
          </a:graphicData>
        </a:graphic>
      </p:graphicFrame>
      <p:graphicFrame>
        <p:nvGraphicFramePr>
          <p:cNvPr id="27" name="表格 26"/>
          <p:cNvGraphicFramePr>
            <a:graphicFrameLocks noGrp="1"/>
          </p:cNvGraphicFramePr>
          <p:nvPr>
            <p:extLst>
              <p:ext uri="{D42A27DB-BD31-4B8C-83A1-F6EECF244321}">
                <p14:modId xmlns="" xmlns:p14="http://schemas.microsoft.com/office/powerpoint/2010/main" val="4208470885"/>
              </p:ext>
            </p:extLst>
          </p:nvPr>
        </p:nvGraphicFramePr>
        <p:xfrm>
          <a:off x="3851920" y="3212976"/>
          <a:ext cx="3247400" cy="3456380"/>
        </p:xfrm>
        <a:graphic>
          <a:graphicData uri="http://schemas.openxmlformats.org/drawingml/2006/table">
            <a:tbl>
              <a:tblPr firstRow="1" bandRow="1">
                <a:tableStyleId>{5C22544A-7EE6-4342-B048-85BDC9FD1C3A}</a:tableStyleId>
              </a:tblPr>
              <a:tblGrid>
                <a:gridCol w="324740"/>
                <a:gridCol w="324740"/>
                <a:gridCol w="324740"/>
                <a:gridCol w="324740"/>
                <a:gridCol w="324740"/>
                <a:gridCol w="324740"/>
                <a:gridCol w="324740"/>
                <a:gridCol w="324740"/>
                <a:gridCol w="324740"/>
                <a:gridCol w="324740"/>
              </a:tblGrid>
              <a:tr h="345638">
                <a:tc rowSpan="2" gridSpan="2">
                  <a:txBody>
                    <a:bodyPr/>
                    <a:lstStyle/>
                    <a:p>
                      <a:pPr algn="ctr"/>
                      <a:r>
                        <a:rPr lang="en-US" altLang="zh-TW" dirty="0" smtClean="0"/>
                        <a:t>K[2]</a:t>
                      </a:r>
                    </a:p>
                    <a:p>
                      <a:pPr algn="ctr"/>
                      <a:r>
                        <a:rPr lang="en-US" altLang="zh-TW" dirty="0" smtClean="0"/>
                        <a:t>=b</a:t>
                      </a:r>
                      <a:endParaRPr lang="zh-TW" altLang="en-US" dirty="0"/>
                    </a:p>
                  </a:txBody>
                  <a:tcPr marL="0" marR="0" marT="0" marB="0"/>
                </a:tc>
                <a:tc rowSpan="2" hMerge="1">
                  <a:txBody>
                    <a:bodyPr/>
                    <a:lstStyle/>
                    <a:p>
                      <a:endParaRPr lang="zh-TW" altLang="en-US" dirty="0"/>
                    </a:p>
                  </a:txBody>
                  <a:tcPr/>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345638">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345638">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r>
              <a:tr h="345638">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solidFill>
                            <a:srgbClr val="FF0000"/>
                          </a:solidFill>
                        </a:rPr>
                        <a:t>2</a:t>
                      </a:r>
                      <a:endParaRPr lang="zh-TW" altLang="en-US" dirty="0">
                        <a:solidFill>
                          <a:srgbClr val="FF0000"/>
                        </a:solidFill>
                      </a:endParaRPr>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2</a:t>
                      </a:r>
                      <a:endParaRPr lang="zh-TW" altLang="en-US" dirty="0"/>
                    </a:p>
                  </a:txBody>
                  <a:tcPr marL="0" marR="0" marT="0" marB="0"/>
                </a:tc>
              </a:tr>
              <a:tr h="345638">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u="sng" dirty="0" smtClean="0"/>
                        <a:t>2</a:t>
                      </a:r>
                      <a:endParaRPr lang="zh-TW" altLang="en-US" u="sng"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r>
              <a:tr h="345638">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solidFill>
                            <a:srgbClr val="FF0000"/>
                          </a:solidFill>
                        </a:rPr>
                        <a:t>3</a:t>
                      </a:r>
                      <a:endParaRPr lang="zh-TW" altLang="en-US" dirty="0">
                        <a:solidFill>
                          <a:srgbClr val="FF0000"/>
                        </a:solidFill>
                      </a:endParaRPr>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4</a:t>
                      </a:r>
                      <a:endParaRPr lang="zh-TW" altLang="en-US" dirty="0"/>
                    </a:p>
                  </a:txBody>
                  <a:tcPr marL="0" marR="0" marT="0" marB="0"/>
                </a:tc>
              </a:tr>
              <a:tr h="345638">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4</a:t>
                      </a:r>
                      <a:endParaRPr lang="zh-TW" altLang="en-US" dirty="0"/>
                    </a:p>
                  </a:txBody>
                  <a:tcPr marL="0" marR="0" marT="0" marB="0"/>
                </a:tc>
              </a:tr>
              <a:tr h="345638">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u="sng" dirty="0" smtClean="0"/>
                        <a:t>0</a:t>
                      </a:r>
                      <a:endParaRPr lang="zh-TW" altLang="en-US" u="sng"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r>
              <a:tr h="345638">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u="sng" dirty="0" smtClean="0"/>
                        <a:t>0</a:t>
                      </a:r>
                      <a:endParaRPr lang="zh-TW" altLang="en-US" u="sng" dirty="0"/>
                    </a:p>
                  </a:txBody>
                  <a:tcPr marL="0" marR="0" marT="0" marB="0"/>
                </a:tc>
                <a:tc>
                  <a:txBody>
                    <a:bodyPr/>
                    <a:lstStyle/>
                    <a:p>
                      <a:pPr algn="ctr"/>
                      <a:r>
                        <a:rPr lang="en-US" altLang="zh-TW" dirty="0" smtClean="0">
                          <a:solidFill>
                            <a:srgbClr val="FF0000"/>
                          </a:solidFill>
                        </a:rPr>
                        <a:t>0</a:t>
                      </a:r>
                      <a:endParaRPr lang="zh-TW" altLang="en-US" dirty="0">
                        <a:solidFill>
                          <a:srgbClr val="FF0000"/>
                        </a:solidFill>
                      </a:endParaRPr>
                    </a:p>
                  </a:txBody>
                  <a:tcPr marL="0" marR="0" marT="0" marB="0"/>
                </a:tc>
                <a:tc>
                  <a:txBody>
                    <a:bodyPr/>
                    <a:lstStyle/>
                    <a:p>
                      <a:pPr algn="ctr"/>
                      <a:r>
                        <a:rPr lang="en-US" altLang="zh-TW" dirty="0" smtClean="0">
                          <a:solidFill>
                            <a:schemeClr val="tx1"/>
                          </a:solidFill>
                        </a:rPr>
                        <a:t>2</a:t>
                      </a:r>
                      <a:endParaRPr lang="zh-TW" altLang="en-US" dirty="0">
                        <a:solidFill>
                          <a:schemeClr val="tx1"/>
                        </a:solidFill>
                      </a:endParaRPr>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r>
              <a:tr h="345638">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0</a:t>
                      </a:r>
                      <a:endParaRPr lang="zh-TW" altLang="en-US" dirty="0"/>
                    </a:p>
                  </a:txBody>
                  <a:tcPr marL="0" marR="0" marT="0" marB="0"/>
                </a:tc>
                <a:tc>
                  <a:txBody>
                    <a:bodyPr/>
                    <a:lstStyle/>
                    <a:p>
                      <a:pPr algn="ctr"/>
                      <a:r>
                        <a:rPr lang="en-US" altLang="zh-TW" dirty="0" smtClean="0"/>
                        <a:t>2</a:t>
                      </a:r>
                      <a:endParaRPr lang="zh-TW" altLang="en-US" dirty="0"/>
                    </a:p>
                  </a:txBody>
                  <a:tcPr marL="0" marR="0" marT="0" marB="0"/>
                </a:tc>
                <a:tc>
                  <a:txBody>
                    <a:bodyPr/>
                    <a:lstStyle/>
                    <a:p>
                      <a:pPr algn="ctr"/>
                      <a:r>
                        <a:rPr lang="en-US" altLang="zh-TW" dirty="0" smtClean="0"/>
                        <a:t>3</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dirty="0" smtClean="0"/>
                        <a:t>4</a:t>
                      </a:r>
                      <a:endParaRPr lang="zh-TW" altLang="en-US" dirty="0"/>
                    </a:p>
                  </a:txBody>
                  <a:tcPr marL="0" marR="0" marT="0" marB="0"/>
                </a:tc>
                <a:tc>
                  <a:txBody>
                    <a:bodyPr/>
                    <a:lstStyle/>
                    <a:p>
                      <a:pPr algn="ctr"/>
                      <a:r>
                        <a:rPr lang="en-US" altLang="zh-TW" b="1" dirty="0" smtClean="0">
                          <a:solidFill>
                            <a:schemeClr val="accent6">
                              <a:lumMod val="75000"/>
                            </a:schemeClr>
                          </a:solidFill>
                        </a:rPr>
                        <a:t>5</a:t>
                      </a:r>
                      <a:endParaRPr lang="zh-TW" altLang="en-US" b="1" dirty="0">
                        <a:solidFill>
                          <a:schemeClr val="accent6">
                            <a:lumMod val="75000"/>
                          </a:schemeClr>
                        </a:solidFill>
                      </a:endParaRPr>
                    </a:p>
                  </a:txBody>
                  <a:tcPr marL="0" marR="0" marT="0" marB="0"/>
                </a:tc>
              </a:tr>
            </a:tbl>
          </a:graphicData>
        </a:graphic>
      </p:graphicFrame>
      <p:sp>
        <p:nvSpPr>
          <p:cNvPr id="28" name="文字方塊 27"/>
          <p:cNvSpPr txBox="1"/>
          <p:nvPr/>
        </p:nvSpPr>
        <p:spPr>
          <a:xfrm>
            <a:off x="7164288" y="4427820"/>
            <a:ext cx="1751826" cy="646331"/>
          </a:xfrm>
          <a:prstGeom prst="rect">
            <a:avLst/>
          </a:prstGeom>
          <a:noFill/>
        </p:spPr>
        <p:txBody>
          <a:bodyPr wrap="none" rtlCol="0">
            <a:spAutoFit/>
          </a:bodyPr>
          <a:lstStyle/>
          <a:p>
            <a:r>
              <a:rPr lang="en-US" altLang="zh-TW" dirty="0"/>
              <a:t>time </a:t>
            </a:r>
            <a:r>
              <a:rPr lang="en-US" altLang="zh-TW" dirty="0" smtClean="0"/>
              <a:t>complexity:</a:t>
            </a:r>
          </a:p>
          <a:p>
            <a:r>
              <a:rPr lang="en-US" altLang="zh-TW" dirty="0" smtClean="0"/>
              <a:t> O(m!n</a:t>
            </a:r>
            <a:r>
              <a:rPr lang="en-US" altLang="zh-TW" baseline="30000" dirty="0" smtClean="0"/>
              <a:t>2</a:t>
            </a:r>
            <a:r>
              <a:rPr lang="en-US" altLang="zh-TW" dirty="0" smtClean="0"/>
              <a:t>)</a:t>
            </a:r>
            <a:endParaRPr lang="zh-TW" altLang="en-US" dirty="0"/>
          </a:p>
        </p:txBody>
      </p:sp>
      <p:cxnSp>
        <p:nvCxnSpPr>
          <p:cNvPr id="30" name="直線單箭頭接點 29"/>
          <p:cNvCxnSpPr/>
          <p:nvPr/>
        </p:nvCxnSpPr>
        <p:spPr>
          <a:xfrm flipH="1" flipV="1">
            <a:off x="5364088" y="4797152"/>
            <a:ext cx="216024" cy="2049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3" name="直線單箭頭接點 32"/>
          <p:cNvCxnSpPr/>
          <p:nvPr/>
        </p:nvCxnSpPr>
        <p:spPr>
          <a:xfrm flipH="1">
            <a:off x="1835696" y="4293096"/>
            <a:ext cx="338437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8" name="直線單箭頭接點 37"/>
          <p:cNvCxnSpPr/>
          <p:nvPr/>
        </p:nvCxnSpPr>
        <p:spPr>
          <a:xfrm flipH="1">
            <a:off x="4716016" y="6237312"/>
            <a:ext cx="216024"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2" name="直線單箭頭接點 41"/>
          <p:cNvCxnSpPr/>
          <p:nvPr/>
        </p:nvCxnSpPr>
        <p:spPr>
          <a:xfrm flipV="1">
            <a:off x="5076056" y="5877272"/>
            <a:ext cx="0" cy="21602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 xmlns:p14="http://schemas.microsoft.com/office/powerpoint/2010/main" val="542586155"/>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67507" y="2276872"/>
            <a:ext cx="7314580" cy="19229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內容版面配置區 2"/>
          <p:cNvSpPr>
            <a:spLocks noGrp="1"/>
          </p:cNvSpPr>
          <p:nvPr>
            <p:ph idx="1"/>
          </p:nvPr>
        </p:nvSpPr>
        <p:spPr>
          <a:xfrm>
            <a:off x="457199" y="1484784"/>
            <a:ext cx="8229600" cy="4525963"/>
          </a:xfrm>
        </p:spPr>
        <p:txBody>
          <a:bodyPr/>
          <a:lstStyle/>
          <a:p>
            <a:pPr marL="0" indent="0">
              <a:buNone/>
            </a:pPr>
            <a:r>
              <a:rPr lang="en-US" altLang="zh-TW" sz="2500" dirty="0" smtClean="0"/>
              <a:t>First step:</a:t>
            </a:r>
          </a:p>
          <a:p>
            <a:pPr marL="0" indent="0">
              <a:buNone/>
            </a:pPr>
            <a:r>
              <a:rPr lang="en-US" altLang="zh-TW" sz="2500" dirty="0" smtClean="0"/>
              <a:t> </a:t>
            </a:r>
            <a:r>
              <a:rPr lang="en-US" altLang="zh-TW" sz="2500" dirty="0"/>
              <a:t>C</a:t>
            </a:r>
            <a:r>
              <a:rPr lang="en-US" altLang="zh-TW" sz="2500" dirty="0" smtClean="0"/>
              <a:t>omputing </a:t>
            </a:r>
            <a:r>
              <a:rPr lang="en-US" altLang="zh-TW" sz="2500" dirty="0"/>
              <a:t>the existence of a feasible solution of </a:t>
            </a:r>
            <a:r>
              <a:rPr lang="en-US" altLang="zh-TW" sz="2500" dirty="0" smtClean="0"/>
              <a:t>2-ELCS by:</a:t>
            </a:r>
          </a:p>
          <a:p>
            <a:pPr marL="0" indent="0">
              <a:buNone/>
            </a:pPr>
            <a:endParaRPr lang="en-US" altLang="zh-TW" sz="2500" dirty="0"/>
          </a:p>
          <a:p>
            <a:pPr marL="0" indent="0">
              <a:buNone/>
            </a:pPr>
            <a:endParaRPr lang="en-US" altLang="zh-TW" sz="2500" dirty="0" smtClean="0"/>
          </a:p>
          <a:p>
            <a:pPr marL="0" indent="0">
              <a:buNone/>
            </a:pPr>
            <a:endParaRPr lang="en-US" altLang="zh-TW" sz="2500" dirty="0"/>
          </a:p>
          <a:p>
            <a:pPr marL="0" indent="0">
              <a:buNone/>
            </a:pPr>
            <a:endParaRPr lang="en-US" altLang="zh-TW" sz="2500" dirty="0" smtClean="0"/>
          </a:p>
          <a:p>
            <a:pPr marL="0" indent="0">
              <a:buNone/>
            </a:pPr>
            <a:r>
              <a:rPr lang="en-US" altLang="zh-TW" sz="2500" dirty="0" smtClean="0"/>
              <a:t>Second step (for 2ELCS(1) ):</a:t>
            </a:r>
          </a:p>
          <a:p>
            <a:pPr marL="0" indent="0">
              <a:buNone/>
            </a:pPr>
            <a:endParaRPr lang="zh-TW" altLang="en-US" dirty="0"/>
          </a:p>
        </p:txBody>
      </p:sp>
      <p:sp>
        <p:nvSpPr>
          <p:cNvPr id="2" name="標題 1"/>
          <p:cNvSpPr>
            <a:spLocks noGrp="1"/>
          </p:cNvSpPr>
          <p:nvPr>
            <p:ph type="title"/>
          </p:nvPr>
        </p:nvSpPr>
        <p:spPr/>
        <p:txBody>
          <a:bodyPr>
            <a:normAutofit/>
          </a:bodyPr>
          <a:lstStyle/>
          <a:p>
            <a:r>
              <a:rPr lang="en-US" altLang="zh-TW" dirty="0" smtClean="0"/>
              <a:t>Dynamic Programming Algorithm</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9</a:t>
            </a:fld>
            <a:endParaRPr lang="zh-TW" altLang="en-US" dirty="0"/>
          </a:p>
        </p:txBody>
      </p:sp>
      <p:pic>
        <p:nvPicPr>
          <p:cNvPr id="3076" name="Picture 4"/>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67544" y="4653136"/>
            <a:ext cx="5616623" cy="2023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107498306"/>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Dynamic Programming Algorithm</a:t>
            </a:r>
            <a:br>
              <a:rPr lang="en-US" altLang="zh-TW" dirty="0" smtClean="0"/>
            </a:br>
            <a:r>
              <a:rPr lang="en-US" altLang="zh-TW" dirty="0" smtClean="0"/>
              <a:t>First step(1/2)</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10</a:t>
            </a:fld>
            <a:endParaRPr lang="zh-TW" altLang="en-US"/>
          </a:p>
        </p:txBody>
      </p:sp>
      <p:graphicFrame>
        <p:nvGraphicFramePr>
          <p:cNvPr id="5" name="表格 4"/>
          <p:cNvGraphicFramePr>
            <a:graphicFrameLocks noGrp="1"/>
          </p:cNvGraphicFramePr>
          <p:nvPr>
            <p:extLst>
              <p:ext uri="{D42A27DB-BD31-4B8C-83A1-F6EECF244321}">
                <p14:modId xmlns="" xmlns:p14="http://schemas.microsoft.com/office/powerpoint/2010/main" val="2567559377"/>
              </p:ext>
            </p:extLst>
          </p:nvPr>
        </p:nvGraphicFramePr>
        <p:xfrm>
          <a:off x="179512" y="3717028"/>
          <a:ext cx="2304258" cy="3017520"/>
        </p:xfrm>
        <a:graphic>
          <a:graphicData uri="http://schemas.openxmlformats.org/drawingml/2006/table">
            <a:tbl>
              <a:tblPr firstRow="1" bandRow="1">
                <a:tableStyleId>{5C22544A-7EE6-4342-B048-85BDC9FD1C3A}</a:tableStyleId>
              </a:tblPr>
              <a:tblGrid>
                <a:gridCol w="209478"/>
                <a:gridCol w="209478"/>
                <a:gridCol w="209478"/>
                <a:gridCol w="209478"/>
                <a:gridCol w="209478"/>
                <a:gridCol w="209478"/>
                <a:gridCol w="209478"/>
                <a:gridCol w="209478"/>
                <a:gridCol w="209478"/>
                <a:gridCol w="209478"/>
                <a:gridCol w="209478"/>
              </a:tblGrid>
              <a:tr h="271364">
                <a:tc rowSpan="2" gridSpan="2">
                  <a:txBody>
                    <a:bodyPr/>
                    <a:lstStyle/>
                    <a:p>
                      <a:pPr algn="ctr"/>
                      <a:r>
                        <a:rPr lang="en-US" altLang="zh-TW" dirty="0" smtClean="0"/>
                        <a:t>A’=</a:t>
                      </a:r>
                      <a:r>
                        <a:rPr lang="zh-TW" altLang="en-US" sz="1800" b="0" i="0" kern="1200" dirty="0" smtClean="0">
                          <a:solidFill>
                            <a:schemeClr val="lt1"/>
                          </a:solidFill>
                          <a:effectLst/>
                          <a:latin typeface="+mn-lt"/>
                          <a:ea typeface="+mn-ea"/>
                          <a:cs typeface="+mn-cs"/>
                        </a:rPr>
                        <a:t>∅</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27136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c>
                  <a:txBody>
                    <a:bodyPr/>
                    <a:lstStyle/>
                    <a:p>
                      <a:pPr algn="ctr"/>
                      <a:r>
                        <a:rPr lang="en-US" altLang="zh-TW" dirty="0" smtClean="0"/>
                        <a:t>T</a:t>
                      </a:r>
                      <a:endParaRPr lang="zh-TW" altLang="en-US" dirty="0"/>
                    </a:p>
                  </a:txBody>
                  <a:tcPr marL="0" marR="0" marT="0" marB="0">
                    <a:solidFill>
                      <a:schemeClr val="bg1"/>
                    </a:solidFill>
                  </a:tcPr>
                </a:tc>
              </a:tr>
            </a:tbl>
          </a:graphicData>
        </a:graphic>
      </p:graphicFrame>
      <p:pic>
        <p:nvPicPr>
          <p:cNvPr id="6" name="Picture 3"/>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473891" y="2148506"/>
            <a:ext cx="5418589" cy="14245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7" name="內容版面配置區 6"/>
          <p:cNvSpPr>
            <a:spLocks noGrp="1"/>
          </p:cNvSpPr>
          <p:nvPr>
            <p:ph idx="1"/>
          </p:nvPr>
        </p:nvSpPr>
        <p:spPr>
          <a:xfrm>
            <a:off x="179512" y="1268760"/>
            <a:ext cx="6192688" cy="2448272"/>
          </a:xfrm>
        </p:spPr>
        <p:txBody>
          <a:bodyPr>
            <a:noAutofit/>
          </a:bodyPr>
          <a:lstStyle/>
          <a:p>
            <a:pPr marL="0" indent="0">
              <a:buNone/>
            </a:pPr>
            <a:r>
              <a:rPr lang="en-US" altLang="zh-TW" sz="2500" dirty="0" smtClean="0"/>
              <a:t>S</a:t>
            </a:r>
            <a:r>
              <a:rPr lang="en-US" altLang="zh-TW" sz="2500" baseline="-25000" dirty="0" smtClean="0"/>
              <a:t>1</a:t>
            </a:r>
            <a:r>
              <a:rPr lang="en-US" altLang="zh-TW" sz="2500" dirty="0" smtClean="0"/>
              <a:t>=</a:t>
            </a:r>
            <a:r>
              <a:rPr lang="en-US" altLang="zh-TW" sz="2500" dirty="0" smtClean="0">
                <a:solidFill>
                  <a:srgbClr val="FF0000"/>
                </a:solidFill>
              </a:rPr>
              <a:t>a b </a:t>
            </a:r>
            <a:r>
              <a:rPr lang="en-US" altLang="zh-TW" sz="2500" dirty="0" smtClean="0"/>
              <a:t>c e </a:t>
            </a:r>
            <a:r>
              <a:rPr lang="en-US" altLang="zh-TW" sz="2500" dirty="0" smtClean="0">
                <a:solidFill>
                  <a:srgbClr val="FF0000"/>
                </a:solidFill>
              </a:rPr>
              <a:t>b </a:t>
            </a:r>
            <a:r>
              <a:rPr lang="en-US" altLang="zh-TW" sz="2500" dirty="0" smtClean="0"/>
              <a:t>c </a:t>
            </a:r>
            <a:r>
              <a:rPr lang="en-US" altLang="zh-TW" sz="2500" dirty="0" smtClean="0">
                <a:solidFill>
                  <a:srgbClr val="FF0000"/>
                </a:solidFill>
              </a:rPr>
              <a:t>a </a:t>
            </a:r>
            <a:r>
              <a:rPr lang="en-US" altLang="zh-TW" sz="2500" dirty="0" smtClean="0"/>
              <a:t>e (1≤i≤|S</a:t>
            </a:r>
            <a:r>
              <a:rPr lang="en-US" altLang="zh-TW" sz="2500" baseline="-25000" dirty="0" smtClean="0"/>
              <a:t>1</a:t>
            </a:r>
            <a:r>
              <a:rPr lang="en-US" altLang="zh-TW" sz="2500" dirty="0" smtClean="0"/>
              <a:t>|)			</a:t>
            </a:r>
          </a:p>
          <a:p>
            <a:pPr marL="0" indent="0">
              <a:buNone/>
            </a:pPr>
            <a:r>
              <a:rPr lang="en-US" altLang="zh-TW" sz="2500" dirty="0" smtClean="0"/>
              <a:t>S</a:t>
            </a:r>
            <a:r>
              <a:rPr lang="en-US" altLang="zh-TW" sz="2500" baseline="-25000" dirty="0" smtClean="0"/>
              <a:t>2</a:t>
            </a:r>
            <a:r>
              <a:rPr lang="en-US" altLang="zh-TW" sz="2500" dirty="0" smtClean="0"/>
              <a:t>=c </a:t>
            </a: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 b </a:t>
            </a:r>
            <a:r>
              <a:rPr lang="en-US" altLang="zh-TW" sz="2500" dirty="0" smtClean="0"/>
              <a:t>e (1≤j≤|S</a:t>
            </a:r>
            <a:r>
              <a:rPr lang="en-US" altLang="zh-TW" sz="2500" baseline="-25000" dirty="0" smtClean="0"/>
              <a:t>2</a:t>
            </a:r>
            <a:r>
              <a:rPr lang="en-US" altLang="zh-TW" sz="2500" dirty="0" smtClean="0"/>
              <a:t>|)</a:t>
            </a:r>
            <a:endParaRPr lang="en-US" altLang="zh-TW" sz="2500" dirty="0"/>
          </a:p>
          <a:p>
            <a:pPr marL="0" indent="0">
              <a:buNone/>
            </a:pPr>
            <a:endParaRPr lang="en-US" altLang="zh-TW" sz="1000" dirty="0" smtClean="0"/>
          </a:p>
          <a:p>
            <a:pPr marL="0" indent="0">
              <a:buNone/>
            </a:pPr>
            <a:r>
              <a:rPr lang="en-US" altLang="zh-TW" sz="2500" dirty="0" smtClean="0"/>
              <a:t>A</a:t>
            </a:r>
            <a:r>
              <a:rPr lang="en-US" altLang="zh-TW" sz="2500" baseline="-25000" dirty="0" smtClean="0"/>
              <a:t>m</a:t>
            </a:r>
            <a:r>
              <a:rPr lang="en-US" altLang="zh-TW" sz="2500" dirty="0" smtClean="0"/>
              <a:t>={</a:t>
            </a:r>
            <a:r>
              <a:rPr lang="en-US" altLang="zh-TW" sz="2500" dirty="0" err="1" smtClean="0">
                <a:solidFill>
                  <a:srgbClr val="FF0000"/>
                </a:solidFill>
              </a:rPr>
              <a:t>a,b</a:t>
            </a:r>
            <a:r>
              <a:rPr lang="en-US" altLang="zh-TW" sz="2500" dirty="0" smtClean="0"/>
              <a:t>} , A’</a:t>
            </a:r>
            <a:r>
              <a:rPr lang="zh-TW" altLang="en-US" sz="2500" dirty="0" smtClean="0"/>
              <a:t> ⊆</a:t>
            </a:r>
            <a:r>
              <a:rPr lang="en-US" altLang="zh-TW" sz="2500" dirty="0" smtClean="0"/>
              <a:t>A</a:t>
            </a:r>
            <a:r>
              <a:rPr lang="en-US" altLang="zh-TW" sz="2500" baseline="-25000" dirty="0" smtClean="0"/>
              <a:t>m</a:t>
            </a:r>
            <a:endParaRPr lang="en-US" altLang="zh-TW" sz="2500" dirty="0" smtClean="0"/>
          </a:p>
          <a:p>
            <a:pPr marL="0" indent="0">
              <a:buNone/>
            </a:pPr>
            <a:r>
              <a:rPr lang="en-US" altLang="zh-TW" sz="2500" dirty="0" smtClean="0"/>
              <a:t>=&gt;A’={a} or {b} or {</a:t>
            </a:r>
            <a:r>
              <a:rPr lang="en-US" altLang="zh-TW" sz="2500" dirty="0" err="1" smtClean="0"/>
              <a:t>a,b</a:t>
            </a:r>
            <a:r>
              <a:rPr lang="en-US" altLang="zh-TW" sz="2500" dirty="0" smtClean="0"/>
              <a:t>}		</a:t>
            </a:r>
          </a:p>
        </p:txBody>
      </p:sp>
      <p:graphicFrame>
        <p:nvGraphicFramePr>
          <p:cNvPr id="8" name="表格 7"/>
          <p:cNvGraphicFramePr>
            <a:graphicFrameLocks noGrp="1"/>
          </p:cNvGraphicFramePr>
          <p:nvPr>
            <p:extLst>
              <p:ext uri="{D42A27DB-BD31-4B8C-83A1-F6EECF244321}">
                <p14:modId xmlns="" xmlns:p14="http://schemas.microsoft.com/office/powerpoint/2010/main" val="2854148739"/>
              </p:ext>
            </p:extLst>
          </p:nvPr>
        </p:nvGraphicFramePr>
        <p:xfrm>
          <a:off x="3059832" y="3717028"/>
          <a:ext cx="2160235" cy="3017520"/>
        </p:xfrm>
        <a:graphic>
          <a:graphicData uri="http://schemas.openxmlformats.org/drawingml/2006/table">
            <a:tbl>
              <a:tblPr firstRow="1" bandRow="1">
                <a:tableStyleId>{5C22544A-7EE6-4342-B048-85BDC9FD1C3A}</a:tableStyleId>
              </a:tblPr>
              <a:tblGrid>
                <a:gridCol w="196385"/>
                <a:gridCol w="196385"/>
                <a:gridCol w="196385"/>
                <a:gridCol w="196385"/>
                <a:gridCol w="196385"/>
                <a:gridCol w="196385"/>
                <a:gridCol w="196385"/>
                <a:gridCol w="196385"/>
                <a:gridCol w="196385"/>
                <a:gridCol w="196385"/>
                <a:gridCol w="196385"/>
              </a:tblGrid>
              <a:tr h="248755">
                <a:tc rowSpan="2" gridSpan="2">
                  <a:txBody>
                    <a:bodyPr/>
                    <a:lstStyle/>
                    <a:p>
                      <a:pPr algn="ctr"/>
                      <a:r>
                        <a:rPr lang="en-US" altLang="zh-TW" dirty="0" smtClean="0"/>
                        <a:t>A’=</a:t>
                      </a:r>
                    </a:p>
                    <a:p>
                      <a:pPr algn="ctr"/>
                      <a:r>
                        <a:rPr lang="en-US" altLang="zh-TW" dirty="0" smtClean="0"/>
                        <a:t>{</a:t>
                      </a:r>
                      <a:r>
                        <a:rPr lang="en-US" altLang="zh-TW" sz="1800" b="0" i="0" kern="1200" dirty="0" smtClean="0">
                          <a:solidFill>
                            <a:schemeClr val="lt1"/>
                          </a:solidFill>
                          <a:effectLst/>
                          <a:latin typeface="+mn-lt"/>
                          <a:ea typeface="+mn-ea"/>
                          <a:cs typeface="+mn-cs"/>
                        </a:rPr>
                        <a:t>a}</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248755">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248755">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r>
              <a:tr h="248755">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solidFill>
                            <a:srgbClr val="FF0000"/>
                          </a:solidFill>
                        </a:rPr>
                        <a:t>T</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bl>
          </a:graphicData>
        </a:graphic>
      </p:graphicFrame>
      <p:graphicFrame>
        <p:nvGraphicFramePr>
          <p:cNvPr id="9" name="表格 8"/>
          <p:cNvGraphicFramePr>
            <a:graphicFrameLocks noGrp="1"/>
          </p:cNvGraphicFramePr>
          <p:nvPr>
            <p:extLst>
              <p:ext uri="{D42A27DB-BD31-4B8C-83A1-F6EECF244321}">
                <p14:modId xmlns="" xmlns:p14="http://schemas.microsoft.com/office/powerpoint/2010/main" val="176305956"/>
              </p:ext>
            </p:extLst>
          </p:nvPr>
        </p:nvGraphicFramePr>
        <p:xfrm>
          <a:off x="5724128" y="3717028"/>
          <a:ext cx="2232252" cy="3024340"/>
        </p:xfrm>
        <a:graphic>
          <a:graphicData uri="http://schemas.openxmlformats.org/drawingml/2006/table">
            <a:tbl>
              <a:tblPr firstRow="1" bandRow="1">
                <a:tableStyleId>{5C22544A-7EE6-4342-B048-85BDC9FD1C3A}</a:tableStyleId>
              </a:tblPr>
              <a:tblGrid>
                <a:gridCol w="202932"/>
                <a:gridCol w="202932"/>
                <a:gridCol w="202932"/>
                <a:gridCol w="202932"/>
                <a:gridCol w="202932"/>
                <a:gridCol w="202932"/>
                <a:gridCol w="202932"/>
                <a:gridCol w="202932"/>
                <a:gridCol w="202932"/>
                <a:gridCol w="202932"/>
                <a:gridCol w="202932"/>
              </a:tblGrid>
              <a:tr h="274940">
                <a:tc rowSpan="2" gridSpan="2">
                  <a:txBody>
                    <a:bodyPr/>
                    <a:lstStyle/>
                    <a:p>
                      <a:pPr algn="ctr"/>
                      <a:r>
                        <a:rPr lang="en-US" altLang="zh-TW" dirty="0" smtClean="0"/>
                        <a:t>A’=</a:t>
                      </a:r>
                    </a:p>
                    <a:p>
                      <a:pPr algn="ctr"/>
                      <a:r>
                        <a:rPr lang="en-US" altLang="zh-TW" dirty="0" smtClean="0"/>
                        <a:t>{</a:t>
                      </a:r>
                      <a:r>
                        <a:rPr lang="en-US" altLang="zh-TW" sz="1800" b="0" i="0" kern="1200" dirty="0" smtClean="0">
                          <a:solidFill>
                            <a:schemeClr val="lt1"/>
                          </a:solidFill>
                          <a:effectLst/>
                          <a:latin typeface="+mn-lt"/>
                          <a:ea typeface="+mn-ea"/>
                          <a:cs typeface="+mn-cs"/>
                        </a:rPr>
                        <a:t>b}</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274940">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274940">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solidFill>
                            <a:srgbClr val="FF0000"/>
                          </a:solidFill>
                        </a:rPr>
                        <a:t>T</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bl>
          </a:graphicData>
        </a:graphic>
      </p:graphicFrame>
      <p:grpSp>
        <p:nvGrpSpPr>
          <p:cNvPr id="40" name="群組 39"/>
          <p:cNvGrpSpPr/>
          <p:nvPr/>
        </p:nvGrpSpPr>
        <p:grpSpPr>
          <a:xfrm>
            <a:off x="755576" y="4293096"/>
            <a:ext cx="6048672" cy="648072"/>
            <a:chOff x="1043608" y="4113079"/>
            <a:chExt cx="6048672" cy="648072"/>
          </a:xfrm>
        </p:grpSpPr>
        <p:cxnSp>
          <p:nvCxnSpPr>
            <p:cNvPr id="13" name="弧形接點 12"/>
            <p:cNvCxnSpPr>
              <a:stCxn id="32" idx="0"/>
            </p:cNvCxnSpPr>
            <p:nvPr/>
          </p:nvCxnSpPr>
          <p:spPr>
            <a:xfrm rot="16200000" flipH="1">
              <a:off x="2519771" y="2780931"/>
              <a:ext cx="252027" cy="2916323"/>
            </a:xfrm>
            <a:prstGeom prst="curvedConnector4">
              <a:avLst>
                <a:gd name="adj1" fmla="val -90705"/>
                <a:gd name="adj2" fmla="val 52469"/>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0" name="弧形接點 19"/>
            <p:cNvCxnSpPr>
              <a:stCxn id="38" idx="4"/>
            </p:cNvCxnSpPr>
            <p:nvPr/>
          </p:nvCxnSpPr>
          <p:spPr>
            <a:xfrm rot="16200000" flipH="1">
              <a:off x="4175954" y="1844825"/>
              <a:ext cx="144020" cy="5688632"/>
            </a:xfrm>
            <a:prstGeom prst="curvedConnector2">
              <a:avLst/>
            </a:prstGeom>
            <a:ln>
              <a:tailEnd type="arrow"/>
            </a:ln>
          </p:spPr>
          <p:style>
            <a:lnRef idx="2">
              <a:schemeClr val="accent2"/>
            </a:lnRef>
            <a:fillRef idx="0">
              <a:schemeClr val="accent2"/>
            </a:fillRef>
            <a:effectRef idx="1">
              <a:schemeClr val="accent2"/>
            </a:effectRef>
            <a:fontRef idx="minor">
              <a:schemeClr val="tx1"/>
            </a:fontRef>
          </p:style>
        </p:cxnSp>
        <p:sp>
          <p:nvSpPr>
            <p:cNvPr id="32" name="橢圓 31"/>
            <p:cNvSpPr/>
            <p:nvPr/>
          </p:nvSpPr>
          <p:spPr>
            <a:xfrm>
              <a:off x="1043608" y="4113079"/>
              <a:ext cx="288032" cy="252027"/>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38" name="橢圓 37"/>
            <p:cNvSpPr/>
            <p:nvPr/>
          </p:nvSpPr>
          <p:spPr>
            <a:xfrm>
              <a:off x="1259632" y="4365104"/>
              <a:ext cx="288032" cy="252027"/>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grpSp>
      <p:sp>
        <p:nvSpPr>
          <p:cNvPr id="44" name="文字方塊 43"/>
          <p:cNvSpPr txBox="1"/>
          <p:nvPr/>
        </p:nvSpPr>
        <p:spPr>
          <a:xfrm>
            <a:off x="179512" y="3356992"/>
            <a:ext cx="227556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TW" dirty="0" smtClean="0"/>
              <a:t>Boundary conditions</a:t>
            </a:r>
            <a:endParaRPr lang="zh-TW" altLang="en-US" dirty="0"/>
          </a:p>
        </p:txBody>
      </p:sp>
    </p:spTree>
    <p:extLst>
      <p:ext uri="{BB962C8B-B14F-4D97-AF65-F5344CB8AC3E}">
        <p14:creationId xmlns="" xmlns:p14="http://schemas.microsoft.com/office/powerpoint/2010/main" val="1773389084"/>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Dynamic Programming Algorithm</a:t>
            </a:r>
            <a:br>
              <a:rPr lang="en-US" altLang="zh-TW" dirty="0" smtClean="0"/>
            </a:br>
            <a:r>
              <a:rPr lang="en-US" altLang="zh-TW" dirty="0" smtClean="0"/>
              <a:t>First step(2/2)</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11</a:t>
            </a:fld>
            <a:endParaRPr lang="zh-TW" altLang="en-US"/>
          </a:p>
        </p:txBody>
      </p:sp>
      <p:graphicFrame>
        <p:nvGraphicFramePr>
          <p:cNvPr id="5" name="表格 4"/>
          <p:cNvGraphicFramePr>
            <a:graphicFrameLocks noGrp="1"/>
          </p:cNvGraphicFramePr>
          <p:nvPr>
            <p:extLst>
              <p:ext uri="{D42A27DB-BD31-4B8C-83A1-F6EECF244321}">
                <p14:modId xmlns="" xmlns:p14="http://schemas.microsoft.com/office/powerpoint/2010/main" val="2267170431"/>
              </p:ext>
            </p:extLst>
          </p:nvPr>
        </p:nvGraphicFramePr>
        <p:xfrm>
          <a:off x="251520" y="3645024"/>
          <a:ext cx="2160235" cy="3017520"/>
        </p:xfrm>
        <a:graphic>
          <a:graphicData uri="http://schemas.openxmlformats.org/drawingml/2006/table">
            <a:tbl>
              <a:tblPr firstRow="1" bandRow="1">
                <a:tableStyleId>{5C22544A-7EE6-4342-B048-85BDC9FD1C3A}</a:tableStyleId>
              </a:tblPr>
              <a:tblGrid>
                <a:gridCol w="196385"/>
                <a:gridCol w="196385"/>
                <a:gridCol w="196385"/>
                <a:gridCol w="196385"/>
                <a:gridCol w="196385"/>
                <a:gridCol w="196385"/>
                <a:gridCol w="196385"/>
                <a:gridCol w="196385"/>
                <a:gridCol w="196385"/>
                <a:gridCol w="196385"/>
                <a:gridCol w="196385"/>
              </a:tblGrid>
              <a:tr h="248755">
                <a:tc rowSpan="2" gridSpan="2">
                  <a:txBody>
                    <a:bodyPr/>
                    <a:lstStyle/>
                    <a:p>
                      <a:pPr algn="ctr"/>
                      <a:r>
                        <a:rPr lang="en-US" altLang="zh-TW" dirty="0" smtClean="0"/>
                        <a:t>A’=</a:t>
                      </a:r>
                    </a:p>
                    <a:p>
                      <a:pPr algn="ctr"/>
                      <a:r>
                        <a:rPr lang="en-US" altLang="zh-TW" b="1" dirty="0" smtClean="0"/>
                        <a:t>{</a:t>
                      </a:r>
                      <a:r>
                        <a:rPr lang="en-US" altLang="zh-TW" sz="1800" b="1" i="0" kern="1200" dirty="0" smtClean="0">
                          <a:solidFill>
                            <a:schemeClr val="lt1"/>
                          </a:solidFill>
                          <a:effectLst/>
                          <a:latin typeface="+mn-lt"/>
                          <a:ea typeface="+mn-ea"/>
                          <a:cs typeface="+mn-cs"/>
                        </a:rPr>
                        <a:t>a}</a:t>
                      </a:r>
                      <a:endParaRPr lang="en-US" altLang="zh-TW" b="1"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248755">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248755">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r>
              <a:tr h="248755">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solidFill>
                            <a:schemeClr val="tx1"/>
                          </a:solidFill>
                        </a:rPr>
                        <a:t>T</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48755">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2885923326"/>
              </p:ext>
            </p:extLst>
          </p:nvPr>
        </p:nvGraphicFramePr>
        <p:xfrm>
          <a:off x="2627784" y="3645024"/>
          <a:ext cx="2232252" cy="3024340"/>
        </p:xfrm>
        <a:graphic>
          <a:graphicData uri="http://schemas.openxmlformats.org/drawingml/2006/table">
            <a:tbl>
              <a:tblPr firstRow="1" bandRow="1">
                <a:tableStyleId>{5C22544A-7EE6-4342-B048-85BDC9FD1C3A}</a:tableStyleId>
              </a:tblPr>
              <a:tblGrid>
                <a:gridCol w="202932"/>
                <a:gridCol w="202932"/>
                <a:gridCol w="202932"/>
                <a:gridCol w="202932"/>
                <a:gridCol w="202932"/>
                <a:gridCol w="202932"/>
                <a:gridCol w="202932"/>
                <a:gridCol w="202932"/>
                <a:gridCol w="202932"/>
                <a:gridCol w="202932"/>
                <a:gridCol w="202932"/>
              </a:tblGrid>
              <a:tr h="274940">
                <a:tc rowSpan="2" gridSpan="2">
                  <a:txBody>
                    <a:bodyPr/>
                    <a:lstStyle/>
                    <a:p>
                      <a:pPr algn="ctr"/>
                      <a:r>
                        <a:rPr lang="en-US" altLang="zh-TW" dirty="0" smtClean="0"/>
                        <a:t>A’=</a:t>
                      </a:r>
                    </a:p>
                    <a:p>
                      <a:pPr algn="ctr"/>
                      <a:r>
                        <a:rPr lang="en-US" altLang="zh-TW" b="1" dirty="0" smtClean="0"/>
                        <a:t>{</a:t>
                      </a:r>
                      <a:r>
                        <a:rPr lang="en-US" altLang="zh-TW" sz="1800" b="1" i="0" kern="1200" dirty="0" smtClean="0">
                          <a:solidFill>
                            <a:schemeClr val="lt1"/>
                          </a:solidFill>
                          <a:effectLst/>
                          <a:latin typeface="+mn-lt"/>
                          <a:ea typeface="+mn-ea"/>
                          <a:cs typeface="+mn-cs"/>
                        </a:rPr>
                        <a:t>b}</a:t>
                      </a:r>
                      <a:endParaRPr lang="en-US" altLang="zh-TW" b="1"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274940">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274940">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solidFill>
                            <a:schemeClr val="tx1"/>
                          </a:solidFill>
                        </a:rPr>
                        <a:t>F</a:t>
                      </a:r>
                      <a:endParaRPr lang="zh-TW" altLang="en-US" dirty="0">
                        <a:solidFill>
                          <a:schemeClr val="tx1"/>
                        </a:solidFill>
                      </a:endParaRPr>
                    </a:p>
                  </a:txBody>
                  <a:tcPr marL="0" marR="0" marT="0" marB="0">
                    <a:solidFill>
                      <a:schemeClr val="accent3">
                        <a:lumMod val="40000"/>
                        <a:lumOff val="60000"/>
                      </a:schemeClr>
                    </a:solidFill>
                  </a:tcPr>
                </a:tc>
                <a:tc>
                  <a:txBody>
                    <a:bodyPr/>
                    <a:lstStyle/>
                    <a:p>
                      <a:pPr algn="ctr"/>
                      <a:r>
                        <a:rPr lang="en-US" altLang="zh-TW" dirty="0" smtClean="0">
                          <a:solidFill>
                            <a:schemeClr val="tx1"/>
                          </a:solidFill>
                        </a:rPr>
                        <a:t>T</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c>
                  <a:txBody>
                    <a:bodyPr/>
                    <a:lstStyle/>
                    <a:p>
                      <a:pPr algn="ctr"/>
                      <a:r>
                        <a:rPr lang="en-US" altLang="zh-TW" dirty="0" smtClean="0"/>
                        <a:t>T</a:t>
                      </a:r>
                      <a:endParaRPr lang="zh-TW" altLang="en-US" dirty="0"/>
                    </a:p>
                  </a:txBody>
                  <a:tcPr marL="0" marR="0" marT="0" marB="0">
                    <a:solidFill>
                      <a:schemeClr val="tx2">
                        <a:lumMod val="20000"/>
                        <a:lumOff val="80000"/>
                      </a:schemeClr>
                    </a:solidFill>
                  </a:tcPr>
                </a:tc>
              </a:tr>
            </a:tbl>
          </a:graphicData>
        </a:graphic>
      </p:graphicFrame>
      <p:pic>
        <p:nvPicPr>
          <p:cNvPr id="7" name="Picture 3"/>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491880" y="2132856"/>
            <a:ext cx="5434191" cy="14286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8" name="內容版面配置區 6"/>
          <p:cNvSpPr>
            <a:spLocks noGrp="1"/>
          </p:cNvSpPr>
          <p:nvPr>
            <p:ph idx="1"/>
          </p:nvPr>
        </p:nvSpPr>
        <p:spPr>
          <a:xfrm>
            <a:off x="179512" y="1268760"/>
            <a:ext cx="6192688" cy="2448272"/>
          </a:xfrm>
        </p:spPr>
        <p:txBody>
          <a:bodyPr>
            <a:noAutofit/>
          </a:bodyPr>
          <a:lstStyle/>
          <a:p>
            <a:pPr marL="0" indent="0">
              <a:buNone/>
            </a:pPr>
            <a:r>
              <a:rPr lang="en-US" altLang="zh-TW" sz="2500" dirty="0" smtClean="0"/>
              <a:t>S</a:t>
            </a:r>
            <a:r>
              <a:rPr lang="en-US" altLang="zh-TW" sz="2500" baseline="-25000" dirty="0" smtClean="0"/>
              <a:t>1</a:t>
            </a:r>
            <a:r>
              <a:rPr lang="en-US" altLang="zh-TW" sz="2500" dirty="0" smtClean="0"/>
              <a:t>=</a:t>
            </a:r>
            <a:r>
              <a:rPr lang="en-US" altLang="zh-TW" sz="2500" dirty="0" smtClean="0">
                <a:solidFill>
                  <a:srgbClr val="FF0000"/>
                </a:solidFill>
              </a:rPr>
              <a:t>a b </a:t>
            </a:r>
            <a:r>
              <a:rPr lang="en-US" altLang="zh-TW" sz="2500" dirty="0" smtClean="0"/>
              <a:t>c e </a:t>
            </a:r>
            <a:r>
              <a:rPr lang="en-US" altLang="zh-TW" sz="2500" dirty="0" smtClean="0">
                <a:solidFill>
                  <a:srgbClr val="FF0000"/>
                </a:solidFill>
              </a:rPr>
              <a:t>b </a:t>
            </a:r>
            <a:r>
              <a:rPr lang="en-US" altLang="zh-TW" sz="2500" dirty="0" smtClean="0"/>
              <a:t>c </a:t>
            </a:r>
            <a:r>
              <a:rPr lang="en-US" altLang="zh-TW" sz="2500" dirty="0" smtClean="0">
                <a:solidFill>
                  <a:srgbClr val="FF0000"/>
                </a:solidFill>
              </a:rPr>
              <a:t>a </a:t>
            </a:r>
            <a:r>
              <a:rPr lang="en-US" altLang="zh-TW" sz="2500" dirty="0" smtClean="0"/>
              <a:t>e (1≤i≤|S</a:t>
            </a:r>
            <a:r>
              <a:rPr lang="en-US" altLang="zh-TW" sz="2500" baseline="-25000" dirty="0" smtClean="0"/>
              <a:t>1</a:t>
            </a:r>
            <a:r>
              <a:rPr lang="en-US" altLang="zh-TW" sz="2500" dirty="0" smtClean="0"/>
              <a:t>|)			</a:t>
            </a:r>
          </a:p>
          <a:p>
            <a:pPr marL="0" indent="0">
              <a:buNone/>
            </a:pPr>
            <a:r>
              <a:rPr lang="en-US" altLang="zh-TW" sz="2500" dirty="0" smtClean="0"/>
              <a:t>S</a:t>
            </a:r>
            <a:r>
              <a:rPr lang="en-US" altLang="zh-TW" sz="2500" baseline="-25000" dirty="0" smtClean="0"/>
              <a:t>2</a:t>
            </a:r>
            <a:r>
              <a:rPr lang="en-US" altLang="zh-TW" sz="2500" dirty="0" smtClean="0"/>
              <a:t>=c </a:t>
            </a: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 b </a:t>
            </a:r>
            <a:r>
              <a:rPr lang="en-US" altLang="zh-TW" sz="2500" dirty="0" smtClean="0"/>
              <a:t>e (1≤j≤|S</a:t>
            </a:r>
            <a:r>
              <a:rPr lang="en-US" altLang="zh-TW" sz="2500" baseline="-25000" dirty="0" smtClean="0"/>
              <a:t>2</a:t>
            </a:r>
            <a:r>
              <a:rPr lang="en-US" altLang="zh-TW" sz="2500" dirty="0" smtClean="0"/>
              <a:t>|)</a:t>
            </a:r>
            <a:endParaRPr lang="en-US" altLang="zh-TW" sz="2500" dirty="0"/>
          </a:p>
          <a:p>
            <a:pPr marL="0" indent="0">
              <a:buNone/>
            </a:pPr>
            <a:endParaRPr lang="en-US" altLang="zh-TW" sz="2500" dirty="0" smtClean="0"/>
          </a:p>
          <a:p>
            <a:pPr marL="0" indent="0">
              <a:buNone/>
            </a:pPr>
            <a:r>
              <a:rPr lang="en-US" altLang="zh-TW" sz="2500" dirty="0" smtClean="0"/>
              <a:t>A</a:t>
            </a:r>
            <a:r>
              <a:rPr lang="en-US" altLang="zh-TW" sz="2500" baseline="-25000" dirty="0" smtClean="0"/>
              <a:t>m</a:t>
            </a:r>
            <a:r>
              <a:rPr lang="en-US" altLang="zh-TW" sz="2500" dirty="0" smtClean="0"/>
              <a:t>={</a:t>
            </a:r>
            <a:r>
              <a:rPr lang="en-US" altLang="zh-TW" sz="2500" dirty="0" err="1" smtClean="0">
                <a:solidFill>
                  <a:srgbClr val="FF0000"/>
                </a:solidFill>
              </a:rPr>
              <a:t>a,b</a:t>
            </a:r>
            <a:r>
              <a:rPr lang="en-US" altLang="zh-TW" sz="2500" dirty="0" smtClean="0"/>
              <a:t>} , A’</a:t>
            </a:r>
            <a:r>
              <a:rPr lang="zh-TW" altLang="en-US" sz="2500" dirty="0" smtClean="0"/>
              <a:t> ⊆</a:t>
            </a:r>
            <a:r>
              <a:rPr lang="en-US" altLang="zh-TW" sz="2500" dirty="0" smtClean="0"/>
              <a:t>A</a:t>
            </a:r>
            <a:r>
              <a:rPr lang="en-US" altLang="zh-TW" sz="2500" baseline="-25000" dirty="0" smtClean="0"/>
              <a:t>m</a:t>
            </a:r>
            <a:endParaRPr lang="en-US" altLang="zh-TW" sz="2500" dirty="0" smtClean="0"/>
          </a:p>
          <a:p>
            <a:pPr marL="0" indent="0">
              <a:buNone/>
            </a:pPr>
            <a:r>
              <a:rPr lang="en-US" altLang="zh-TW" sz="2500" dirty="0" smtClean="0"/>
              <a:t>=&gt;A’={a} or {b} or {</a:t>
            </a:r>
            <a:r>
              <a:rPr lang="en-US" altLang="zh-TW" sz="2500" dirty="0" err="1" smtClean="0"/>
              <a:t>a,b</a:t>
            </a:r>
            <a:r>
              <a:rPr lang="en-US" altLang="zh-TW" sz="2500" dirty="0" smtClean="0"/>
              <a:t>}		</a:t>
            </a:r>
          </a:p>
        </p:txBody>
      </p:sp>
      <p:graphicFrame>
        <p:nvGraphicFramePr>
          <p:cNvPr id="9" name="表格 8"/>
          <p:cNvGraphicFramePr>
            <a:graphicFrameLocks noGrp="1"/>
          </p:cNvGraphicFramePr>
          <p:nvPr>
            <p:extLst>
              <p:ext uri="{D42A27DB-BD31-4B8C-83A1-F6EECF244321}">
                <p14:modId xmlns="" xmlns:p14="http://schemas.microsoft.com/office/powerpoint/2010/main" val="2457597814"/>
              </p:ext>
            </p:extLst>
          </p:nvPr>
        </p:nvGraphicFramePr>
        <p:xfrm>
          <a:off x="5076056" y="3645024"/>
          <a:ext cx="2448270" cy="3024340"/>
        </p:xfrm>
        <a:graphic>
          <a:graphicData uri="http://schemas.openxmlformats.org/drawingml/2006/table">
            <a:tbl>
              <a:tblPr firstRow="1" bandRow="1">
                <a:tableStyleId>{5C22544A-7EE6-4342-B048-85BDC9FD1C3A}</a:tableStyleId>
              </a:tblPr>
              <a:tblGrid>
                <a:gridCol w="222570"/>
                <a:gridCol w="222570"/>
                <a:gridCol w="222570"/>
                <a:gridCol w="222570"/>
                <a:gridCol w="222570"/>
                <a:gridCol w="222570"/>
                <a:gridCol w="222570"/>
                <a:gridCol w="222570"/>
                <a:gridCol w="222570"/>
                <a:gridCol w="222570"/>
                <a:gridCol w="222570"/>
              </a:tblGrid>
              <a:tr h="274940">
                <a:tc rowSpan="2" gridSpan="2">
                  <a:txBody>
                    <a:bodyPr/>
                    <a:lstStyle/>
                    <a:p>
                      <a:pPr algn="ctr"/>
                      <a:r>
                        <a:rPr lang="en-US" altLang="zh-TW" b="1" dirty="0" smtClean="0"/>
                        <a:t>A’=</a:t>
                      </a:r>
                    </a:p>
                    <a:p>
                      <a:pPr algn="ctr"/>
                      <a:r>
                        <a:rPr lang="en-US" altLang="zh-TW" b="1" dirty="0" smtClean="0"/>
                        <a:t>{</a:t>
                      </a:r>
                      <a:r>
                        <a:rPr lang="en-US" altLang="zh-TW" b="1" dirty="0" err="1" smtClean="0"/>
                        <a:t>a,</a:t>
                      </a:r>
                      <a:r>
                        <a:rPr lang="en-US" altLang="zh-TW" sz="1800" b="1" i="0" kern="1200" dirty="0" err="1" smtClean="0">
                          <a:solidFill>
                            <a:schemeClr val="lt1"/>
                          </a:solidFill>
                          <a:effectLst/>
                          <a:latin typeface="+mn-lt"/>
                          <a:ea typeface="+mn-ea"/>
                          <a:cs typeface="+mn-cs"/>
                        </a:rPr>
                        <a:t>b</a:t>
                      </a:r>
                      <a:r>
                        <a:rPr lang="en-US" altLang="zh-TW" sz="1800" b="1" i="0" kern="1200" dirty="0" smtClean="0">
                          <a:solidFill>
                            <a:schemeClr val="lt1"/>
                          </a:solidFill>
                          <a:effectLst/>
                          <a:latin typeface="+mn-lt"/>
                          <a:ea typeface="+mn-ea"/>
                          <a:cs typeface="+mn-cs"/>
                        </a:rPr>
                        <a:t>}</a:t>
                      </a:r>
                      <a:endParaRPr lang="en-US" altLang="zh-TW" b="1" dirty="0" smtClean="0"/>
                    </a:p>
                  </a:txBody>
                  <a:tcPr marL="0" marR="0" marT="0" marB="0"/>
                </a:tc>
                <a:tc rowSpan="2" hMerge="1">
                  <a:txBody>
                    <a:bodyPr/>
                    <a:lstStyle/>
                    <a:p>
                      <a:endParaRPr lang="zh-TW" altLang="en-US" dirty="0"/>
                    </a:p>
                  </a:txBody>
                  <a:tcPr/>
                </a:tc>
                <a:tc>
                  <a:txBody>
                    <a:bodyPr/>
                    <a:lstStyle/>
                    <a:p>
                      <a:pPr algn="ctr"/>
                      <a:endParaRPr lang="zh-TW" altLang="en-US" b="1"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r>
              <a:tr h="274940">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r>
              <a:tr h="274940">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bg1"/>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solidFill>
                            <a:srgbClr val="FF0000"/>
                          </a:solidFill>
                        </a:rPr>
                        <a:t>F</a:t>
                      </a:r>
                      <a:endParaRPr lang="zh-TW" altLang="en-US" dirty="0">
                        <a:solidFill>
                          <a:srgbClr val="FF0000"/>
                        </a:solidFill>
                      </a:endParaRPr>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solidFill>
                            <a:srgbClr val="FF0000"/>
                          </a:solidFill>
                        </a:rPr>
                        <a:t>T</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F</a:t>
                      </a:r>
                      <a:endParaRPr lang="zh-TW" altLang="en-US" dirty="0"/>
                    </a:p>
                  </a:txBody>
                  <a:tcPr marL="0" marR="0" marT="0" marB="0">
                    <a:solidFill>
                      <a:schemeClr val="bg1"/>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dirty="0" smtClean="0"/>
                        <a:t>F</a:t>
                      </a:r>
                      <a:endParaRPr lang="zh-TW" altLang="en-US" dirty="0"/>
                    </a:p>
                  </a:txBody>
                  <a:tcPr marL="0" marR="0" marT="0" marB="0">
                    <a:solidFill>
                      <a:schemeClr val="accent3">
                        <a:lumMod val="40000"/>
                        <a:lumOff val="6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smtClean="0"/>
                        <a:t>T</a:t>
                      </a:r>
                      <a:endParaRPr lang="zh-TW" altLang="en-US" dirty="0"/>
                    </a:p>
                  </a:txBody>
                  <a:tcPr marL="0" marR="0" marT="0" marB="0">
                    <a:solidFill>
                      <a:schemeClr val="tx2">
                        <a:lumMod val="20000"/>
                        <a:lumOff val="80000"/>
                      </a:schemeClr>
                    </a:solidFill>
                  </a:tcPr>
                </a:tc>
                <a:tc>
                  <a:txBody>
                    <a:bodyPr/>
                    <a:lstStyle/>
                    <a:p>
                      <a:pPr algn="ctr"/>
                      <a:r>
                        <a:rPr lang="en-US" altLang="zh-TW" b="1" dirty="0" smtClean="0"/>
                        <a:t>T</a:t>
                      </a:r>
                      <a:endParaRPr lang="zh-TW" altLang="en-US" b="1" dirty="0"/>
                    </a:p>
                  </a:txBody>
                  <a:tcPr marL="0" marR="0" marT="0" marB="0">
                    <a:solidFill>
                      <a:schemeClr val="tx2">
                        <a:lumMod val="20000"/>
                        <a:lumOff val="80000"/>
                      </a:schemeClr>
                    </a:solidFill>
                  </a:tcPr>
                </a:tc>
              </a:tr>
            </a:tbl>
          </a:graphicData>
        </a:graphic>
      </p:graphicFrame>
      <p:grpSp>
        <p:nvGrpSpPr>
          <p:cNvPr id="24" name="群組 23"/>
          <p:cNvGrpSpPr/>
          <p:nvPr/>
        </p:nvGrpSpPr>
        <p:grpSpPr>
          <a:xfrm>
            <a:off x="983457" y="4149080"/>
            <a:ext cx="5225518" cy="792088"/>
            <a:chOff x="983457" y="4149080"/>
            <a:chExt cx="5225518" cy="792088"/>
          </a:xfrm>
        </p:grpSpPr>
        <p:sp>
          <p:nvSpPr>
            <p:cNvPr id="10" name="橢圓 9"/>
            <p:cNvSpPr/>
            <p:nvPr/>
          </p:nvSpPr>
          <p:spPr>
            <a:xfrm>
              <a:off x="3203848" y="4149080"/>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1" name="橢圓 10"/>
            <p:cNvSpPr/>
            <p:nvPr/>
          </p:nvSpPr>
          <p:spPr>
            <a:xfrm>
              <a:off x="983457" y="4437112"/>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cxnSp>
          <p:nvCxnSpPr>
            <p:cNvPr id="13" name="弧形接點 12"/>
            <p:cNvCxnSpPr>
              <a:stCxn id="10" idx="0"/>
            </p:cNvCxnSpPr>
            <p:nvPr/>
          </p:nvCxnSpPr>
          <p:spPr>
            <a:xfrm rot="16200000" flipH="1">
              <a:off x="4422292" y="3074652"/>
              <a:ext cx="472408" cy="2621264"/>
            </a:xfrm>
            <a:prstGeom prst="curvedConnector4">
              <a:avLst>
                <a:gd name="adj1" fmla="val -48390"/>
                <a:gd name="adj2" fmla="val 52747"/>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5" name="弧形接點 14"/>
            <p:cNvCxnSpPr>
              <a:stCxn id="11" idx="4"/>
            </p:cNvCxnSpPr>
            <p:nvPr/>
          </p:nvCxnSpPr>
          <p:spPr>
            <a:xfrm rot="16200000" flipH="1">
              <a:off x="3560212" y="2292404"/>
              <a:ext cx="216024" cy="5081503"/>
            </a:xfrm>
            <a:prstGeom prst="curvedConnector2">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16" name="橢圓 15"/>
          <p:cNvSpPr/>
          <p:nvPr/>
        </p:nvSpPr>
        <p:spPr>
          <a:xfrm>
            <a:off x="7236296" y="6373663"/>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8" name="矩形 17"/>
          <p:cNvSpPr/>
          <p:nvPr/>
        </p:nvSpPr>
        <p:spPr>
          <a:xfrm>
            <a:off x="7510411" y="5812809"/>
            <a:ext cx="1633589" cy="553998"/>
          </a:xfrm>
          <a:prstGeom prst="rect">
            <a:avLst/>
          </a:prstGeom>
          <a:noFill/>
        </p:spPr>
        <p:style>
          <a:lnRef idx="2">
            <a:schemeClr val="accent2"/>
          </a:lnRef>
          <a:fillRef idx="1">
            <a:schemeClr val="lt1"/>
          </a:fillRef>
          <a:effectRef idx="0">
            <a:schemeClr val="accent2"/>
          </a:effectRef>
          <a:fontRef idx="minor">
            <a:schemeClr val="dk1"/>
          </a:fontRef>
        </p:style>
        <p:txBody>
          <a:bodyPr wrap="none">
            <a:spAutoFit/>
          </a:bodyPr>
          <a:lstStyle/>
          <a:p>
            <a:r>
              <a:rPr lang="en-US" altLang="zh-TW" sz="1500" b="1" dirty="0" smtClean="0"/>
              <a:t>a feasible solution</a:t>
            </a:r>
          </a:p>
          <a:p>
            <a:r>
              <a:rPr lang="en-US" altLang="zh-TW" sz="1500" b="1" dirty="0" smtClean="0"/>
              <a:t>exist</a:t>
            </a:r>
            <a:endParaRPr lang="zh-TW" altLang="en-US" sz="1500" b="1" dirty="0"/>
          </a:p>
        </p:txBody>
      </p:sp>
      <p:cxnSp>
        <p:nvCxnSpPr>
          <p:cNvPr id="28" name="直線單箭頭接點 27"/>
          <p:cNvCxnSpPr>
            <a:stCxn id="16" idx="6"/>
            <a:endCxn id="18" idx="2"/>
          </p:cNvCxnSpPr>
          <p:nvPr/>
        </p:nvCxnSpPr>
        <p:spPr>
          <a:xfrm flipV="1">
            <a:off x="7524328" y="6366807"/>
            <a:ext cx="802878" cy="1508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686703993"/>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Dynamic Programming Algorithm</a:t>
            </a:r>
            <a:br>
              <a:rPr lang="en-US" altLang="zh-TW" dirty="0" smtClean="0"/>
            </a:br>
            <a:r>
              <a:rPr lang="en-US" altLang="zh-TW" dirty="0" smtClean="0"/>
              <a:t>Second step(1/3)</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12</a:t>
            </a:fld>
            <a:endParaRPr lang="zh-TW" altLang="en-US"/>
          </a:p>
        </p:txBody>
      </p:sp>
      <p:sp>
        <p:nvSpPr>
          <p:cNvPr id="5" name="內容版面配置區 6"/>
          <p:cNvSpPr>
            <a:spLocks noGrp="1"/>
          </p:cNvSpPr>
          <p:nvPr>
            <p:ph idx="1"/>
          </p:nvPr>
        </p:nvSpPr>
        <p:spPr>
          <a:xfrm>
            <a:off x="179512" y="1268760"/>
            <a:ext cx="8784976" cy="2808312"/>
          </a:xfrm>
        </p:spPr>
        <p:txBody>
          <a:bodyPr>
            <a:noAutofit/>
          </a:bodyPr>
          <a:lstStyle/>
          <a:p>
            <a:pPr marL="0" indent="0">
              <a:buNone/>
            </a:pPr>
            <a:r>
              <a:rPr lang="en-US" altLang="zh-TW" sz="2500" dirty="0" smtClean="0"/>
              <a:t>S</a:t>
            </a:r>
            <a:r>
              <a:rPr lang="en-US" altLang="zh-TW" sz="2500" baseline="-25000" dirty="0" smtClean="0"/>
              <a:t>1</a:t>
            </a:r>
            <a:r>
              <a:rPr lang="en-US" altLang="zh-TW" sz="2500" dirty="0" smtClean="0"/>
              <a:t>=</a:t>
            </a:r>
            <a:r>
              <a:rPr lang="en-US" altLang="zh-TW" sz="2500" dirty="0" smtClean="0">
                <a:solidFill>
                  <a:srgbClr val="FF0000"/>
                </a:solidFill>
              </a:rPr>
              <a:t>a b </a:t>
            </a:r>
            <a:r>
              <a:rPr lang="en-US" altLang="zh-TW" sz="2500" dirty="0" smtClean="0"/>
              <a:t>c e </a:t>
            </a:r>
            <a:r>
              <a:rPr lang="en-US" altLang="zh-TW" sz="2500" dirty="0" smtClean="0">
                <a:solidFill>
                  <a:srgbClr val="FF0000"/>
                </a:solidFill>
              </a:rPr>
              <a:t>b </a:t>
            </a:r>
            <a:r>
              <a:rPr lang="en-US" altLang="zh-TW" sz="2500" dirty="0" smtClean="0"/>
              <a:t>c </a:t>
            </a:r>
            <a:r>
              <a:rPr lang="en-US" altLang="zh-TW" sz="2500" dirty="0" smtClean="0">
                <a:solidFill>
                  <a:srgbClr val="FF0000"/>
                </a:solidFill>
              </a:rPr>
              <a:t>a </a:t>
            </a:r>
            <a:r>
              <a:rPr lang="en-US" altLang="zh-TW" sz="2500" dirty="0" smtClean="0"/>
              <a:t>e (1≤i≤|S</a:t>
            </a:r>
            <a:r>
              <a:rPr lang="en-US" altLang="zh-TW" sz="2500" baseline="-25000" dirty="0" smtClean="0"/>
              <a:t>1</a:t>
            </a:r>
            <a:r>
              <a:rPr lang="en-US" altLang="zh-TW" sz="2500" dirty="0" smtClean="0"/>
              <a:t>|)		S</a:t>
            </a:r>
            <a:r>
              <a:rPr lang="en-US" altLang="zh-TW" sz="2500" baseline="-25000" dirty="0" smtClean="0"/>
              <a:t>2</a:t>
            </a:r>
            <a:r>
              <a:rPr lang="en-US" altLang="zh-TW" sz="2500" dirty="0" smtClean="0"/>
              <a:t>=c </a:t>
            </a: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 b </a:t>
            </a:r>
            <a:r>
              <a:rPr lang="en-US" altLang="zh-TW" sz="2500" dirty="0" smtClean="0"/>
              <a:t>e (1≤j≤|S</a:t>
            </a:r>
            <a:r>
              <a:rPr lang="en-US" altLang="zh-TW" sz="2500" baseline="-25000" dirty="0" smtClean="0"/>
              <a:t>2</a:t>
            </a:r>
            <a:r>
              <a:rPr lang="en-US" altLang="zh-TW" sz="2500" dirty="0" smtClean="0"/>
              <a:t>|)</a:t>
            </a:r>
            <a:endParaRPr lang="en-US" altLang="zh-TW" sz="2500" dirty="0"/>
          </a:p>
          <a:p>
            <a:pPr marL="0" indent="0">
              <a:buNone/>
            </a:pPr>
            <a:r>
              <a:rPr lang="en-US" altLang="zh-TW" sz="2500" dirty="0" smtClean="0"/>
              <a:t>A</a:t>
            </a:r>
            <a:r>
              <a:rPr lang="en-US" altLang="zh-TW" sz="2500" baseline="-25000" dirty="0" smtClean="0"/>
              <a:t>m</a:t>
            </a:r>
            <a:r>
              <a:rPr lang="en-US" altLang="zh-TW" sz="2500" dirty="0" smtClean="0"/>
              <a:t>={</a:t>
            </a:r>
            <a:r>
              <a:rPr lang="en-US" altLang="zh-TW" sz="2500" dirty="0" err="1" smtClean="0">
                <a:solidFill>
                  <a:srgbClr val="FF0000"/>
                </a:solidFill>
              </a:rPr>
              <a:t>a,b</a:t>
            </a:r>
            <a:r>
              <a:rPr lang="en-US" altLang="zh-TW" sz="2500" dirty="0" smtClean="0"/>
              <a:t>} =&gt;	A’={a} or {b} or {</a:t>
            </a:r>
            <a:r>
              <a:rPr lang="en-US" altLang="zh-TW" sz="2500" dirty="0" err="1" smtClean="0"/>
              <a:t>a,b</a:t>
            </a:r>
            <a:r>
              <a:rPr lang="en-US" altLang="zh-TW" sz="2500" dirty="0" smtClean="0"/>
              <a:t>}</a:t>
            </a:r>
          </a:p>
          <a:p>
            <a:pPr marL="0" indent="0">
              <a:buNone/>
            </a:pPr>
            <a:r>
              <a:rPr lang="en-US" altLang="zh-TW" sz="2500" dirty="0" smtClean="0"/>
              <a:t>LSO[j</a:t>
            </a:r>
            <a:r>
              <a:rPr lang="en-US" altLang="zh-TW" sz="2500" baseline="-25000" dirty="0" smtClean="0"/>
              <a:t>1</a:t>
            </a:r>
            <a:r>
              <a:rPr lang="en-US" altLang="zh-TW" sz="2500" dirty="0" smtClean="0"/>
              <a:t>, j</a:t>
            </a:r>
            <a:r>
              <a:rPr lang="en-US" altLang="zh-TW" sz="2500" baseline="-25000" dirty="0" smtClean="0"/>
              <a:t>2</a:t>
            </a:r>
            <a:r>
              <a:rPr lang="en-US" altLang="zh-TW" sz="2500" dirty="0" smtClean="0"/>
              <a:t>]: </a:t>
            </a:r>
            <a:r>
              <a:rPr lang="en-US" altLang="zh-TW" sz="2500" dirty="0"/>
              <a:t>the size of an LCS with </a:t>
            </a:r>
            <a:r>
              <a:rPr lang="en-US" altLang="zh-TW" sz="2500" dirty="0" smtClean="0"/>
              <a:t>input sequences S</a:t>
            </a:r>
            <a:r>
              <a:rPr lang="en-US" altLang="zh-TW" sz="2500" baseline="-25000" dirty="0" smtClean="0"/>
              <a:t>1</a:t>
            </a:r>
            <a:r>
              <a:rPr lang="en-US" altLang="zh-TW" sz="2500" dirty="0" smtClean="0"/>
              <a:t> [1…j</a:t>
            </a:r>
            <a:r>
              <a:rPr lang="en-US" altLang="zh-TW" sz="2500" baseline="-25000" dirty="0" smtClean="0"/>
              <a:t>1</a:t>
            </a:r>
            <a:r>
              <a:rPr lang="en-US" altLang="zh-TW" sz="2500" dirty="0" smtClean="0"/>
              <a:t>],</a:t>
            </a:r>
          </a:p>
          <a:p>
            <a:pPr marL="0" indent="0">
              <a:buNone/>
            </a:pPr>
            <a:r>
              <a:rPr lang="en-US" altLang="zh-TW" sz="2500" dirty="0"/>
              <a:t> </a:t>
            </a:r>
            <a:r>
              <a:rPr lang="en-US" altLang="zh-TW" sz="2500" dirty="0" smtClean="0"/>
              <a:t>S</a:t>
            </a:r>
            <a:r>
              <a:rPr lang="en-US" altLang="zh-TW" sz="2500" baseline="-25000" dirty="0" smtClean="0"/>
              <a:t>2</a:t>
            </a:r>
            <a:r>
              <a:rPr lang="en-US" altLang="zh-TW" sz="2500" dirty="0" smtClean="0"/>
              <a:t> [1…j</a:t>
            </a:r>
            <a:r>
              <a:rPr lang="en-US" altLang="zh-TW" sz="2500" baseline="-25000" dirty="0"/>
              <a:t>2</a:t>
            </a:r>
            <a:r>
              <a:rPr lang="en-US" altLang="zh-TW" sz="2500" dirty="0" smtClean="0"/>
              <a:t>], where </a:t>
            </a:r>
            <a:r>
              <a:rPr lang="en-US" altLang="zh-TW" sz="2500" dirty="0"/>
              <a:t>all mandatory </a:t>
            </a:r>
            <a:r>
              <a:rPr lang="en-US" altLang="zh-TW" sz="2500" dirty="0" smtClean="0"/>
              <a:t>symbols in A</a:t>
            </a:r>
            <a:r>
              <a:rPr lang="en-US" altLang="zh-TW" sz="2500" baseline="-25000" dirty="0" smtClean="0"/>
              <a:t>m</a:t>
            </a:r>
            <a:r>
              <a:rPr lang="en-US" altLang="zh-TW" sz="2500" dirty="0" smtClean="0"/>
              <a:t> </a:t>
            </a:r>
            <a:r>
              <a:rPr lang="en-US" altLang="zh-TW" sz="2500" dirty="0"/>
              <a:t>are </a:t>
            </a:r>
            <a:r>
              <a:rPr lang="en-US" altLang="zh-TW" sz="2500" dirty="0" smtClean="0"/>
              <a:t>removed</a:t>
            </a:r>
          </a:p>
          <a:p>
            <a:pPr marL="0" indent="0">
              <a:buNone/>
            </a:pPr>
            <a:r>
              <a:rPr lang="en-US" altLang="zh-TW" sz="2500" b="1" dirty="0" smtClean="0"/>
              <a:t>Example:</a:t>
            </a:r>
          </a:p>
          <a:p>
            <a:pPr marL="0" indent="0">
              <a:buNone/>
            </a:pPr>
            <a:r>
              <a:rPr lang="en-US" altLang="zh-TW" sz="2500" dirty="0" smtClean="0"/>
              <a:t>LSO[8,8]=4(LCO: c e c e )</a:t>
            </a:r>
          </a:p>
          <a:p>
            <a:pPr marL="0" indent="0">
              <a:buNone/>
            </a:pPr>
            <a:r>
              <a:rPr lang="en-US" altLang="zh-TW" sz="2500" dirty="0" smtClean="0"/>
              <a:t>LSO[4,3]=1(LCO: c)</a:t>
            </a:r>
          </a:p>
          <a:p>
            <a:pPr marL="0" indent="0">
              <a:buNone/>
            </a:pPr>
            <a:r>
              <a:rPr lang="en-US" altLang="zh-TW" sz="2500" b="1" dirty="0" smtClean="0"/>
              <a:t>Boundary </a:t>
            </a:r>
            <a:r>
              <a:rPr lang="en-US" altLang="zh-TW" sz="2500" b="1" dirty="0" smtClean="0">
                <a:solidFill>
                  <a:schemeClr val="tx1"/>
                </a:solidFill>
              </a:rPr>
              <a:t>conditions:</a:t>
            </a:r>
            <a:endParaRPr lang="en-US" altLang="zh-TW" sz="2500" b="1" dirty="0"/>
          </a:p>
          <a:p>
            <a:pPr marL="0" indent="0">
              <a:buNone/>
            </a:pPr>
            <a:r>
              <a:rPr lang="nn-NO" altLang="zh-TW" sz="2500" dirty="0" smtClean="0"/>
              <a:t>EL[i, j, </a:t>
            </a:r>
            <a:r>
              <a:rPr lang="zh-TW" altLang="en-US" sz="2500" dirty="0" smtClean="0">
                <a:solidFill>
                  <a:schemeClr val="tx1"/>
                </a:solidFill>
              </a:rPr>
              <a:t>∅</a:t>
            </a:r>
            <a:r>
              <a:rPr lang="en-US" altLang="zh-TW" sz="2500" dirty="0" smtClean="0">
                <a:solidFill>
                  <a:schemeClr val="tx1"/>
                </a:solidFill>
              </a:rPr>
              <a:t>]</a:t>
            </a:r>
            <a:r>
              <a:rPr lang="nn-NO" altLang="zh-TW" sz="2500" dirty="0"/>
              <a:t> </a:t>
            </a:r>
            <a:r>
              <a:rPr lang="nn-NO" altLang="zh-TW" sz="2500" dirty="0" smtClean="0"/>
              <a:t>= LSO[i, j] </a:t>
            </a:r>
          </a:p>
          <a:p>
            <a:pPr marL="0" indent="0">
              <a:buNone/>
            </a:pPr>
            <a:r>
              <a:rPr lang="nn-NO" altLang="zh-TW" sz="2500" dirty="0" smtClean="0"/>
              <a:t>EL[i, 0, </a:t>
            </a:r>
            <a:r>
              <a:rPr lang="en-US" altLang="zh-TW" sz="2500" dirty="0" smtClean="0"/>
              <a:t>A’</a:t>
            </a:r>
            <a:r>
              <a:rPr lang="en-US" altLang="zh-TW" sz="2500" dirty="0" smtClean="0">
                <a:solidFill>
                  <a:schemeClr val="tx1"/>
                </a:solidFill>
              </a:rPr>
              <a:t>]</a:t>
            </a:r>
            <a:r>
              <a:rPr lang="en-US" altLang="zh-TW" sz="2500" dirty="0" smtClean="0"/>
              <a:t> =-</a:t>
            </a:r>
            <a:r>
              <a:rPr lang="zh-TW" altLang="en-US" sz="2500" dirty="0" smtClean="0"/>
              <a:t>∞ </a:t>
            </a:r>
            <a:r>
              <a:rPr lang="en-US" altLang="zh-TW" sz="2500" dirty="0" smtClean="0"/>
              <a:t>and</a:t>
            </a:r>
            <a:r>
              <a:rPr lang="nn-NO" altLang="zh-TW" sz="2500" dirty="0" smtClean="0"/>
              <a:t> EL[0, j, </a:t>
            </a:r>
            <a:r>
              <a:rPr lang="en-US" altLang="zh-TW" sz="2500" dirty="0" smtClean="0"/>
              <a:t>A’</a:t>
            </a:r>
            <a:r>
              <a:rPr lang="en-US" altLang="zh-TW" sz="2500" dirty="0" smtClean="0">
                <a:solidFill>
                  <a:schemeClr val="tx1"/>
                </a:solidFill>
              </a:rPr>
              <a:t>]</a:t>
            </a:r>
            <a:r>
              <a:rPr lang="en-US" altLang="zh-TW" sz="2500" dirty="0" smtClean="0"/>
              <a:t> =-</a:t>
            </a:r>
            <a:r>
              <a:rPr lang="zh-TW" altLang="en-US" sz="2500" dirty="0" smtClean="0"/>
              <a:t>∞ </a:t>
            </a:r>
            <a:endParaRPr lang="en-US" altLang="zh-TW" sz="2500" dirty="0" smtClean="0"/>
          </a:p>
          <a:p>
            <a:pPr marL="0" indent="0">
              <a:buNone/>
            </a:pPr>
            <a:r>
              <a:rPr lang="nn-NO" altLang="zh-TW" sz="2500" dirty="0" smtClean="0"/>
              <a:t>(</a:t>
            </a:r>
            <a:r>
              <a:rPr lang="en-US" altLang="zh-TW" sz="2500" dirty="0" smtClean="0"/>
              <a:t>0≤i≤|S</a:t>
            </a:r>
            <a:r>
              <a:rPr lang="en-US" altLang="zh-TW" sz="2500" baseline="-25000" dirty="0" smtClean="0"/>
              <a:t>1</a:t>
            </a:r>
            <a:r>
              <a:rPr lang="en-US" altLang="zh-TW" sz="2500" dirty="0" smtClean="0"/>
              <a:t>| and 0≤j≤|S</a:t>
            </a:r>
            <a:r>
              <a:rPr lang="en-US" altLang="zh-TW" sz="2500" baseline="-25000" dirty="0" smtClean="0"/>
              <a:t>2</a:t>
            </a:r>
            <a:r>
              <a:rPr lang="en-US" altLang="zh-TW" sz="2500" dirty="0" smtClean="0"/>
              <a:t>|</a:t>
            </a:r>
            <a:r>
              <a:rPr lang="nn-NO" altLang="zh-TW" sz="2500" dirty="0" smtClean="0"/>
              <a:t> )</a:t>
            </a:r>
          </a:p>
          <a:p>
            <a:pPr marL="0" indent="0">
              <a:buNone/>
            </a:pPr>
            <a:endParaRPr lang="en-US" altLang="zh-TW" sz="2500" dirty="0" smtClean="0"/>
          </a:p>
        </p:txBody>
      </p:sp>
      <p:sp>
        <p:nvSpPr>
          <p:cNvPr id="7" name="文字方塊 6"/>
          <p:cNvSpPr txBox="1"/>
          <p:nvPr/>
        </p:nvSpPr>
        <p:spPr>
          <a:xfrm>
            <a:off x="6372200" y="6444044"/>
            <a:ext cx="115212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TW" dirty="0" smtClean="0">
                <a:solidFill>
                  <a:schemeClr val="tx1"/>
                </a:solidFill>
              </a:rPr>
              <a:t>(EL[</a:t>
            </a:r>
            <a:r>
              <a:rPr lang="en-US" altLang="zh-TW" dirty="0" err="1" smtClean="0">
                <a:solidFill>
                  <a:schemeClr val="tx1"/>
                </a:solidFill>
              </a:rPr>
              <a:t>i,j</a:t>
            </a:r>
            <a:r>
              <a:rPr lang="en-US" altLang="zh-TW" dirty="0" smtClean="0">
                <a:solidFill>
                  <a:schemeClr val="tx1"/>
                </a:solidFill>
              </a:rPr>
              <a:t>,</a:t>
            </a:r>
            <a:r>
              <a:rPr lang="zh-TW" altLang="en-US" dirty="0">
                <a:solidFill>
                  <a:schemeClr val="tx1"/>
                </a:solidFill>
              </a:rPr>
              <a:t> ∅</a:t>
            </a:r>
            <a:r>
              <a:rPr lang="en-US" altLang="zh-TW" dirty="0" smtClean="0">
                <a:solidFill>
                  <a:schemeClr val="tx1"/>
                </a:solidFill>
              </a:rPr>
              <a:t>])</a:t>
            </a:r>
            <a:endParaRPr lang="zh-TW" altLang="en-US" dirty="0">
              <a:solidFill>
                <a:schemeClr val="tx1"/>
              </a:solidFill>
            </a:endParaRPr>
          </a:p>
        </p:txBody>
      </p:sp>
      <p:graphicFrame>
        <p:nvGraphicFramePr>
          <p:cNvPr id="10" name="表格 9"/>
          <p:cNvGraphicFramePr>
            <a:graphicFrameLocks noGrp="1"/>
          </p:cNvGraphicFramePr>
          <p:nvPr>
            <p:extLst>
              <p:ext uri="{D42A27DB-BD31-4B8C-83A1-F6EECF244321}">
                <p14:modId xmlns="" xmlns:p14="http://schemas.microsoft.com/office/powerpoint/2010/main" val="713245813"/>
              </p:ext>
            </p:extLst>
          </p:nvPr>
        </p:nvGraphicFramePr>
        <p:xfrm>
          <a:off x="5652116" y="3089488"/>
          <a:ext cx="2304264" cy="3291840"/>
        </p:xfrm>
        <a:graphic>
          <a:graphicData uri="http://schemas.openxmlformats.org/drawingml/2006/table">
            <a:tbl>
              <a:tblPr firstRow="1" bandRow="1">
                <a:tableStyleId>{5C22544A-7EE6-4342-B048-85BDC9FD1C3A}</a:tableStyleId>
              </a:tblPr>
              <a:tblGrid>
                <a:gridCol w="192022"/>
                <a:gridCol w="192022"/>
                <a:gridCol w="192022"/>
                <a:gridCol w="192022"/>
                <a:gridCol w="192022"/>
                <a:gridCol w="192022"/>
                <a:gridCol w="192022"/>
                <a:gridCol w="192022"/>
                <a:gridCol w="192022"/>
                <a:gridCol w="192022"/>
                <a:gridCol w="192022"/>
                <a:gridCol w="192022"/>
              </a:tblGrid>
              <a:tr h="271364">
                <a:tc rowSpan="2" gridSpan="2">
                  <a:txBody>
                    <a:bodyPr/>
                    <a:lstStyle/>
                    <a:p>
                      <a:pPr algn="ctr"/>
                      <a:r>
                        <a:rPr lang="en-US" altLang="zh-TW" dirty="0" smtClean="0"/>
                        <a:t>A’=</a:t>
                      </a:r>
                      <a:r>
                        <a:rPr lang="zh-TW" altLang="en-US" sz="1800" b="0" i="0" kern="1200" dirty="0" smtClean="0">
                          <a:solidFill>
                            <a:schemeClr val="lt1"/>
                          </a:solidFill>
                          <a:effectLst/>
                          <a:latin typeface="+mn-lt"/>
                          <a:ea typeface="+mn-ea"/>
                          <a:cs typeface="+mn-cs"/>
                        </a:rPr>
                        <a:t>∅</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16462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 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1</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2</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1</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3</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r>
            </a:tbl>
          </a:graphicData>
        </a:graphic>
      </p:graphicFrame>
    </p:spTree>
    <p:extLst>
      <p:ext uri="{BB962C8B-B14F-4D97-AF65-F5344CB8AC3E}">
        <p14:creationId xmlns="" xmlns:p14="http://schemas.microsoft.com/office/powerpoint/2010/main" val="3775915574"/>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 xmlns:p14="http://schemas.microsoft.com/office/powerpoint/2010/main" val="3742038369"/>
              </p:ext>
            </p:extLst>
          </p:nvPr>
        </p:nvGraphicFramePr>
        <p:xfrm>
          <a:off x="251518" y="3507824"/>
          <a:ext cx="2304264" cy="3291840"/>
        </p:xfrm>
        <a:graphic>
          <a:graphicData uri="http://schemas.openxmlformats.org/drawingml/2006/table">
            <a:tbl>
              <a:tblPr firstRow="1" bandRow="1">
                <a:tableStyleId>{5C22544A-7EE6-4342-B048-85BDC9FD1C3A}</a:tableStyleId>
              </a:tblPr>
              <a:tblGrid>
                <a:gridCol w="192022"/>
                <a:gridCol w="192022"/>
                <a:gridCol w="192022"/>
                <a:gridCol w="192022"/>
                <a:gridCol w="192022"/>
                <a:gridCol w="192022"/>
                <a:gridCol w="192022"/>
                <a:gridCol w="192022"/>
                <a:gridCol w="192022"/>
                <a:gridCol w="192022"/>
                <a:gridCol w="192022"/>
                <a:gridCol w="192022"/>
              </a:tblGrid>
              <a:tr h="271364">
                <a:tc rowSpan="2" gridSpan="2">
                  <a:txBody>
                    <a:bodyPr/>
                    <a:lstStyle/>
                    <a:p>
                      <a:pPr algn="ctr"/>
                      <a:r>
                        <a:rPr lang="en-US" altLang="zh-TW" dirty="0" smtClean="0"/>
                        <a:t>A’=</a:t>
                      </a:r>
                      <a:r>
                        <a:rPr lang="zh-TW" altLang="en-US" sz="1800" b="0" i="0" kern="1200" dirty="0" smtClean="0">
                          <a:solidFill>
                            <a:schemeClr val="lt1"/>
                          </a:solidFill>
                          <a:effectLst/>
                          <a:latin typeface="+mn-lt"/>
                          <a:ea typeface="+mn-ea"/>
                          <a:cs typeface="+mn-cs"/>
                        </a:rPr>
                        <a:t>∅</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16462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 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1</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2</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1</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u="sng" dirty="0" smtClean="0"/>
                        <a:t>3</a:t>
                      </a:r>
                      <a:endParaRPr lang="zh-TW" altLang="en-US" u="sng"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r>
                        <a:rPr lang="en-US" altLang="zh-TW"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2</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4</a:t>
                      </a:r>
                      <a:endParaRPr lang="zh-TW" altLang="en-US" dirty="0"/>
                    </a:p>
                  </a:txBody>
                  <a:tcPr marL="0" marR="0" marT="0" marB="0">
                    <a:solidFill>
                      <a:schemeClr val="accent1">
                        <a:lumMod val="40000"/>
                        <a:lumOff val="60000"/>
                      </a:schemeClr>
                    </a:solidFill>
                  </a:tcPr>
                </a:tc>
              </a:tr>
            </a:tbl>
          </a:graphicData>
        </a:graphic>
      </p:graphicFrame>
      <p:sp>
        <p:nvSpPr>
          <p:cNvPr id="2" name="標題 1"/>
          <p:cNvSpPr>
            <a:spLocks noGrp="1"/>
          </p:cNvSpPr>
          <p:nvPr>
            <p:ph type="title"/>
          </p:nvPr>
        </p:nvSpPr>
        <p:spPr/>
        <p:txBody>
          <a:bodyPr>
            <a:normAutofit fontScale="90000"/>
          </a:bodyPr>
          <a:lstStyle/>
          <a:p>
            <a:r>
              <a:rPr lang="en-US" altLang="zh-TW" dirty="0" smtClean="0"/>
              <a:t>Dynamic Programming Algorithm</a:t>
            </a:r>
            <a:br>
              <a:rPr lang="en-US" altLang="zh-TW" dirty="0" smtClean="0"/>
            </a:br>
            <a:r>
              <a:rPr lang="en-US" altLang="zh-TW" dirty="0" smtClean="0"/>
              <a:t>Second step(2/3)</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13</a:t>
            </a:fld>
            <a:endParaRPr lang="zh-TW" altLang="en-US"/>
          </a:p>
        </p:txBody>
      </p:sp>
      <p:pic>
        <p:nvPicPr>
          <p:cNvPr id="6" name="Picture 4"/>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175448" y="1351221"/>
            <a:ext cx="4968552" cy="17897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7" name="矩形 6"/>
          <p:cNvSpPr/>
          <p:nvPr/>
        </p:nvSpPr>
        <p:spPr>
          <a:xfrm>
            <a:off x="251520" y="1365736"/>
            <a:ext cx="8568952" cy="2446824"/>
          </a:xfrm>
          <a:prstGeom prst="rect">
            <a:avLst/>
          </a:prstGeom>
        </p:spPr>
        <p:txBody>
          <a:bodyPr wrap="square">
            <a:spAutoFit/>
          </a:bodyPr>
          <a:lstStyle/>
          <a:p>
            <a:r>
              <a:rPr lang="en-US" altLang="zh-TW" sz="2500" dirty="0" smtClean="0"/>
              <a:t>S</a:t>
            </a:r>
            <a:r>
              <a:rPr lang="en-US" altLang="zh-TW" sz="2500" baseline="-25000" dirty="0" smtClean="0"/>
              <a:t>1</a:t>
            </a:r>
            <a:r>
              <a:rPr lang="en-US" altLang="zh-TW" sz="2500" dirty="0" smtClean="0"/>
              <a:t>=</a:t>
            </a:r>
            <a:r>
              <a:rPr lang="en-US" altLang="zh-TW" sz="2500" dirty="0" smtClean="0">
                <a:solidFill>
                  <a:srgbClr val="FF0000"/>
                </a:solidFill>
              </a:rPr>
              <a:t>a b </a:t>
            </a:r>
            <a:r>
              <a:rPr lang="en-US" altLang="zh-TW" sz="2500" dirty="0" smtClean="0"/>
              <a:t>c e </a:t>
            </a:r>
            <a:r>
              <a:rPr lang="en-US" altLang="zh-TW" sz="2500" dirty="0" smtClean="0">
                <a:solidFill>
                  <a:srgbClr val="FF0000"/>
                </a:solidFill>
              </a:rPr>
              <a:t>b </a:t>
            </a:r>
            <a:r>
              <a:rPr lang="en-US" altLang="zh-TW" sz="2500" dirty="0" smtClean="0"/>
              <a:t>c </a:t>
            </a:r>
            <a:r>
              <a:rPr lang="en-US" altLang="zh-TW" sz="2500" dirty="0" smtClean="0">
                <a:solidFill>
                  <a:srgbClr val="FF0000"/>
                </a:solidFill>
              </a:rPr>
              <a:t>a </a:t>
            </a:r>
            <a:r>
              <a:rPr lang="en-US" altLang="zh-TW" sz="2500" dirty="0" smtClean="0"/>
              <a:t>e b(1≤i≤|S</a:t>
            </a:r>
            <a:r>
              <a:rPr lang="en-US" altLang="zh-TW" sz="2500" baseline="-25000" dirty="0" smtClean="0"/>
              <a:t>1</a:t>
            </a:r>
            <a:r>
              <a:rPr lang="en-US" altLang="zh-TW" sz="2500" dirty="0" smtClean="0"/>
              <a:t>|)		</a:t>
            </a:r>
          </a:p>
          <a:p>
            <a:r>
              <a:rPr lang="en-US" altLang="zh-TW" sz="2500" dirty="0" smtClean="0"/>
              <a:t>S</a:t>
            </a:r>
            <a:r>
              <a:rPr lang="en-US" altLang="zh-TW" sz="2500" baseline="-25000" dirty="0" smtClean="0"/>
              <a:t>2</a:t>
            </a:r>
            <a:r>
              <a:rPr lang="en-US" altLang="zh-TW" sz="2500" dirty="0" smtClean="0"/>
              <a:t>=c </a:t>
            </a: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 b </a:t>
            </a:r>
            <a:r>
              <a:rPr lang="en-US" altLang="zh-TW" sz="2500" dirty="0" smtClean="0"/>
              <a:t>e b(1≤j≤|S</a:t>
            </a:r>
            <a:r>
              <a:rPr lang="en-US" altLang="zh-TW" sz="2500" baseline="-25000" dirty="0" smtClean="0"/>
              <a:t>2</a:t>
            </a:r>
            <a:r>
              <a:rPr lang="en-US" altLang="zh-TW" sz="2500" dirty="0" smtClean="0"/>
              <a:t>|)</a:t>
            </a:r>
          </a:p>
          <a:p>
            <a:r>
              <a:rPr lang="en-US" altLang="zh-TW" sz="2500" dirty="0" smtClean="0"/>
              <a:t>A</a:t>
            </a:r>
            <a:r>
              <a:rPr lang="en-US" altLang="zh-TW" sz="2500" baseline="-25000" dirty="0" smtClean="0"/>
              <a:t>m</a:t>
            </a:r>
            <a:r>
              <a:rPr lang="en-US" altLang="zh-TW" sz="2500" dirty="0" smtClean="0"/>
              <a:t>={</a:t>
            </a:r>
            <a:r>
              <a:rPr lang="en-US" altLang="zh-TW" sz="2500" dirty="0" err="1" smtClean="0">
                <a:solidFill>
                  <a:srgbClr val="FF0000"/>
                </a:solidFill>
              </a:rPr>
              <a:t>a,b</a:t>
            </a:r>
            <a:r>
              <a:rPr lang="en-US" altLang="zh-TW" sz="2500" dirty="0" smtClean="0"/>
              <a:t>} </a:t>
            </a:r>
            <a:r>
              <a:rPr lang="en-US" altLang="zh-TW" sz="2500" dirty="0" err="1" smtClean="0"/>
              <a:t>A</a:t>
            </a:r>
            <a:r>
              <a:rPr lang="en-US" altLang="zh-TW" sz="2500" baseline="-25000" dirty="0" err="1" smtClean="0"/>
              <a:t>o</a:t>
            </a:r>
            <a:r>
              <a:rPr lang="en-US" altLang="zh-TW" sz="2500" dirty="0" smtClean="0"/>
              <a:t>={</a:t>
            </a:r>
            <a:r>
              <a:rPr lang="en-US" altLang="zh-TW" sz="2500" dirty="0" err="1" smtClean="0"/>
              <a:t>c,e</a:t>
            </a:r>
            <a:r>
              <a:rPr lang="en-US" altLang="zh-TW" sz="2500" dirty="0" smtClean="0"/>
              <a:t>}</a:t>
            </a:r>
          </a:p>
          <a:p>
            <a:pPr marL="342900" indent="-342900">
              <a:buFont typeface="Symbol"/>
              <a:buChar char="Þ"/>
            </a:pPr>
            <a:r>
              <a:rPr lang="en-US" altLang="zh-TW" sz="2500" dirty="0" smtClean="0"/>
              <a:t>A’={a} or {b} or {</a:t>
            </a:r>
            <a:r>
              <a:rPr lang="en-US" altLang="zh-TW" sz="2500" dirty="0" err="1" smtClean="0"/>
              <a:t>a,b</a:t>
            </a:r>
            <a:r>
              <a:rPr lang="en-US" altLang="zh-TW" sz="2500" dirty="0" smtClean="0"/>
              <a:t>}</a:t>
            </a:r>
          </a:p>
          <a:p>
            <a:r>
              <a:rPr lang="en-US" altLang="zh-TW" sz="2400" dirty="0" smtClean="0"/>
              <a:t>2-ELCS(1)=</a:t>
            </a:r>
            <a:r>
              <a:rPr lang="en-US" altLang="zh-TW" sz="2800" dirty="0" smtClean="0">
                <a:solidFill>
                  <a:srgbClr val="FF0000"/>
                </a:solidFill>
              </a:rPr>
              <a:t> </a:t>
            </a:r>
            <a:r>
              <a:rPr lang="en-US" altLang="zh-TW" sz="2800" dirty="0"/>
              <a:t>c</a:t>
            </a:r>
            <a:r>
              <a:rPr lang="en-US" altLang="zh-TW" sz="2800" dirty="0">
                <a:solidFill>
                  <a:srgbClr val="FF0000"/>
                </a:solidFill>
              </a:rPr>
              <a:t> </a:t>
            </a:r>
            <a:r>
              <a:rPr lang="en-US" altLang="zh-TW" sz="2800" dirty="0"/>
              <a:t>e c</a:t>
            </a:r>
            <a:r>
              <a:rPr lang="en-US" altLang="zh-TW" sz="2800" dirty="0">
                <a:solidFill>
                  <a:srgbClr val="FF0000"/>
                </a:solidFill>
              </a:rPr>
              <a:t> a </a:t>
            </a:r>
            <a:r>
              <a:rPr lang="en-US" altLang="zh-TW" sz="2800" dirty="0"/>
              <a:t>e</a:t>
            </a:r>
            <a:r>
              <a:rPr lang="en-US" altLang="zh-TW" sz="2800" dirty="0">
                <a:solidFill>
                  <a:srgbClr val="FF0000"/>
                </a:solidFill>
              </a:rPr>
              <a:t> b</a:t>
            </a:r>
          </a:p>
          <a:p>
            <a:endParaRPr lang="en-US" altLang="zh-TW" sz="2500" dirty="0" smtClean="0"/>
          </a:p>
        </p:txBody>
      </p:sp>
      <p:graphicFrame>
        <p:nvGraphicFramePr>
          <p:cNvPr id="8" name="表格 7"/>
          <p:cNvGraphicFramePr>
            <a:graphicFrameLocks noGrp="1"/>
          </p:cNvGraphicFramePr>
          <p:nvPr>
            <p:extLst>
              <p:ext uri="{D42A27DB-BD31-4B8C-83A1-F6EECF244321}">
                <p14:modId xmlns="" xmlns:p14="http://schemas.microsoft.com/office/powerpoint/2010/main" val="2587898429"/>
              </p:ext>
            </p:extLst>
          </p:nvPr>
        </p:nvGraphicFramePr>
        <p:xfrm>
          <a:off x="3023319" y="3501008"/>
          <a:ext cx="2304264" cy="3291840"/>
        </p:xfrm>
        <a:graphic>
          <a:graphicData uri="http://schemas.openxmlformats.org/drawingml/2006/table">
            <a:tbl>
              <a:tblPr firstRow="1" bandRow="1">
                <a:tableStyleId>{5C22544A-7EE6-4342-B048-85BDC9FD1C3A}</a:tableStyleId>
              </a:tblPr>
              <a:tblGrid>
                <a:gridCol w="192022"/>
                <a:gridCol w="192022"/>
                <a:gridCol w="192022"/>
                <a:gridCol w="192022"/>
                <a:gridCol w="192022"/>
                <a:gridCol w="192022"/>
                <a:gridCol w="192022"/>
                <a:gridCol w="192022"/>
                <a:gridCol w="192022"/>
                <a:gridCol w="192022"/>
                <a:gridCol w="192022"/>
                <a:gridCol w="192022"/>
              </a:tblGrid>
              <a:tr h="271364">
                <a:tc rowSpan="2" gridSpan="2">
                  <a:txBody>
                    <a:bodyPr/>
                    <a:lstStyle/>
                    <a:p>
                      <a:pPr algn="ctr"/>
                      <a:r>
                        <a:rPr lang="en-US" altLang="zh-TW" dirty="0" smtClean="0"/>
                        <a:t>A’=</a:t>
                      </a:r>
                      <a:endParaRPr lang="en-US" altLang="zh-TW" sz="1800" b="0" i="0" kern="1200" dirty="0" smtClean="0">
                        <a:solidFill>
                          <a:schemeClr val="lt1"/>
                        </a:solidFill>
                        <a:effectLst/>
                        <a:latin typeface="+mn-lt"/>
                        <a:ea typeface="+mn-ea"/>
                        <a:cs typeface="+mn-cs"/>
                      </a:endParaRPr>
                    </a:p>
                    <a:p>
                      <a:pPr algn="ctr"/>
                      <a:r>
                        <a:rPr lang="en-US" altLang="zh-TW" sz="1800" b="0" i="0" kern="1200" dirty="0" smtClean="0">
                          <a:solidFill>
                            <a:schemeClr val="lt1"/>
                          </a:solidFill>
                          <a:effectLst/>
                          <a:latin typeface="+mn-lt"/>
                          <a:ea typeface="+mn-ea"/>
                          <a:cs typeface="+mn-cs"/>
                        </a:rPr>
                        <a:t>{a}</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27136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 </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solidFill>
                            <a:srgbClr val="FF0000"/>
                          </a:solidFill>
                        </a:rPr>
                        <a:t>1</a:t>
                      </a:r>
                      <a:endParaRPr lang="zh-TW" altLang="en-US" dirty="0">
                        <a:solidFill>
                          <a:srgbClr val="FF0000"/>
                        </a:solidFill>
                      </a:endParaRPr>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solidFill>
                            <a:srgbClr val="FF0000"/>
                          </a:solidFill>
                        </a:rPr>
                        <a:t>3</a:t>
                      </a:r>
                      <a:endParaRPr lang="zh-TW" altLang="en-US" dirty="0">
                        <a:solidFill>
                          <a:srgbClr val="FF0000"/>
                        </a:solidFill>
                      </a:endParaRPr>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1</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c>
                  <a:txBody>
                    <a:bodyPr/>
                    <a:lstStyle/>
                    <a:p>
                      <a:pPr algn="ctr"/>
                      <a:r>
                        <a:rPr lang="en-US" altLang="zh-TW" dirty="0" smtClean="0"/>
                        <a:t>3</a:t>
                      </a:r>
                      <a:endParaRPr lang="zh-TW" altLang="en-US" dirty="0"/>
                    </a:p>
                  </a:txBody>
                  <a:tcPr marL="0" marR="0" marT="0" marB="0">
                    <a:solidFill>
                      <a:schemeClr val="accent1">
                        <a:lumMod val="40000"/>
                        <a:lumOff val="60000"/>
                      </a:schemeClr>
                    </a:solidFill>
                  </a:tcPr>
                </a:tc>
              </a:tr>
            </a:tbl>
          </a:graphicData>
        </a:graphic>
      </p:graphicFrame>
      <p:graphicFrame>
        <p:nvGraphicFramePr>
          <p:cNvPr id="9" name="表格 8"/>
          <p:cNvGraphicFramePr>
            <a:graphicFrameLocks noGrp="1"/>
          </p:cNvGraphicFramePr>
          <p:nvPr>
            <p:extLst>
              <p:ext uri="{D42A27DB-BD31-4B8C-83A1-F6EECF244321}">
                <p14:modId xmlns="" xmlns:p14="http://schemas.microsoft.com/office/powerpoint/2010/main" val="4135885361"/>
              </p:ext>
            </p:extLst>
          </p:nvPr>
        </p:nvGraphicFramePr>
        <p:xfrm>
          <a:off x="5868142" y="3507824"/>
          <a:ext cx="2304264" cy="3291840"/>
        </p:xfrm>
        <a:graphic>
          <a:graphicData uri="http://schemas.openxmlformats.org/drawingml/2006/table">
            <a:tbl>
              <a:tblPr firstRow="1" bandRow="1">
                <a:tableStyleId>{5C22544A-7EE6-4342-B048-85BDC9FD1C3A}</a:tableStyleId>
              </a:tblPr>
              <a:tblGrid>
                <a:gridCol w="192022"/>
                <a:gridCol w="192022"/>
                <a:gridCol w="192022"/>
                <a:gridCol w="192022"/>
                <a:gridCol w="192022"/>
                <a:gridCol w="192022"/>
                <a:gridCol w="192022"/>
                <a:gridCol w="192022"/>
                <a:gridCol w="192022"/>
                <a:gridCol w="192022"/>
                <a:gridCol w="192022"/>
                <a:gridCol w="192022"/>
              </a:tblGrid>
              <a:tr h="271364">
                <a:tc rowSpan="2" gridSpan="2">
                  <a:txBody>
                    <a:bodyPr/>
                    <a:lstStyle/>
                    <a:p>
                      <a:pPr algn="ctr"/>
                      <a:r>
                        <a:rPr lang="en-US" altLang="zh-TW" dirty="0" smtClean="0"/>
                        <a:t>A’=</a:t>
                      </a:r>
                    </a:p>
                    <a:p>
                      <a:pPr algn="ctr"/>
                      <a:r>
                        <a:rPr lang="en-US" altLang="zh-TW" sz="1800" b="0" i="0" kern="1200" dirty="0" smtClean="0">
                          <a:solidFill>
                            <a:schemeClr val="lt1"/>
                          </a:solidFill>
                          <a:effectLst/>
                          <a:latin typeface="+mn-lt"/>
                          <a:ea typeface="+mn-ea"/>
                          <a:cs typeface="+mn-cs"/>
                        </a:rPr>
                        <a:t>{b}</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27136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a:p>
                  </a:txBody>
                  <a:tcPr marL="0" marR="0" marT="0" marB="0">
                    <a:solidFill>
                      <a:schemeClr val="accent1">
                        <a:lumMod val="40000"/>
                        <a:lumOff val="60000"/>
                      </a:schemeClr>
                    </a:solidFill>
                  </a:tcPr>
                </a:tc>
                <a:tc>
                  <a:txBody>
                    <a:bodyPr/>
                    <a:lstStyle/>
                    <a:p>
                      <a:endParaRPr lang="zh-TW" altLang="en-US"/>
                    </a:p>
                  </a:txBody>
                  <a:tcPr marL="0" marR="0" marT="0" marB="0">
                    <a:solidFill>
                      <a:schemeClr val="accent1">
                        <a:lumMod val="40000"/>
                        <a:lumOff val="60000"/>
                      </a:schemeClr>
                    </a:solidFill>
                  </a:tcPr>
                </a:tc>
                <a:tc>
                  <a:txBody>
                    <a:bodyPr/>
                    <a:lstStyle/>
                    <a:p>
                      <a:endParaRPr lang="zh-TW" altLang="en-US"/>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a:p>
                  </a:txBody>
                  <a:tcPr marL="0" marR="0" marT="0" marB="0">
                    <a:solidFill>
                      <a:schemeClr val="accent1">
                        <a:lumMod val="40000"/>
                        <a:lumOff val="60000"/>
                      </a:schemeClr>
                    </a:solidFill>
                  </a:tcPr>
                </a:tc>
                <a:tc>
                  <a:txBody>
                    <a:bodyPr/>
                    <a:lstStyle/>
                    <a:p>
                      <a:endParaRPr lang="zh-TW" altLang="en-US"/>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c>
                  <a:txBody>
                    <a:bodyPr/>
                    <a:lstStyle/>
                    <a:p>
                      <a:r>
                        <a:rPr lang="en-US" altLang="zh-TW" dirty="0" smtClean="0"/>
                        <a:t>0</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solidFill>
                            <a:srgbClr val="FF0000"/>
                          </a:solidFill>
                        </a:rPr>
                        <a:t>1</a:t>
                      </a:r>
                      <a:endParaRPr lang="zh-TW" altLang="en-US" dirty="0">
                        <a:solidFill>
                          <a:srgbClr val="FF0000"/>
                        </a:solidFill>
                      </a:endParaRPr>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solidFill>
                            <a:srgbClr val="FF0000"/>
                          </a:solidFill>
                        </a:rPr>
                        <a:t>2</a:t>
                      </a:r>
                      <a:endParaRPr lang="zh-TW" altLang="en-US" dirty="0">
                        <a:solidFill>
                          <a:srgbClr val="FF0000"/>
                        </a:solidFill>
                      </a:endParaRPr>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endParaRPr lang="zh-TW" altLang="en-US"/>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c>
                  <a:txBody>
                    <a:bodyPr/>
                    <a:lstStyle/>
                    <a:p>
                      <a:r>
                        <a:rPr lang="en-US" altLang="zh-TW" dirty="0" smtClean="0"/>
                        <a:t>2</a:t>
                      </a:r>
                      <a:endParaRPr lang="zh-TW" altLang="en-US" dirty="0"/>
                    </a:p>
                  </a:txBody>
                  <a:tcPr marL="0" marR="0" marT="0" marB="0">
                    <a:solidFill>
                      <a:schemeClr val="accent1">
                        <a:lumMod val="40000"/>
                        <a:lumOff val="6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1</a:t>
                      </a:r>
                      <a:endParaRPr lang="zh-TW" altLang="en-US" dirty="0"/>
                    </a:p>
                  </a:txBody>
                  <a:tcPr marL="0" marR="0" marT="0" marB="0">
                    <a:solidFill>
                      <a:schemeClr val="accent1">
                        <a:lumMod val="40000"/>
                        <a:lumOff val="60000"/>
                      </a:schemeClr>
                    </a:solidFill>
                  </a:tcPr>
                </a:tc>
                <a:tc>
                  <a:txBody>
                    <a:bodyPr/>
                    <a:lstStyle/>
                    <a:p>
                      <a:r>
                        <a:rPr lang="en-US" altLang="zh-TW" dirty="0" smtClean="0"/>
                        <a:t>3</a:t>
                      </a:r>
                      <a:endParaRPr lang="zh-TW" altLang="en-US" dirty="0"/>
                    </a:p>
                  </a:txBody>
                  <a:tcPr marL="0" marR="0" marT="0" marB="0">
                    <a:solidFill>
                      <a:schemeClr val="accent1">
                        <a:lumMod val="40000"/>
                        <a:lumOff val="60000"/>
                      </a:schemeClr>
                    </a:solidFill>
                  </a:tcPr>
                </a:tc>
                <a:tc>
                  <a:txBody>
                    <a:bodyPr/>
                    <a:lstStyle/>
                    <a:p>
                      <a:r>
                        <a:rPr lang="en-US" altLang="zh-TW" dirty="0" smtClean="0"/>
                        <a:t>3</a:t>
                      </a:r>
                      <a:endParaRPr lang="zh-TW" altLang="en-US" dirty="0"/>
                    </a:p>
                  </a:txBody>
                  <a:tcPr marL="0" marR="0" marT="0" marB="0">
                    <a:solidFill>
                      <a:schemeClr val="accent1">
                        <a:lumMod val="40000"/>
                        <a:lumOff val="60000"/>
                      </a:schemeClr>
                    </a:solidFill>
                  </a:tcPr>
                </a:tc>
                <a:tc>
                  <a:txBody>
                    <a:bodyPr/>
                    <a:lstStyle/>
                    <a:p>
                      <a:r>
                        <a:rPr lang="en-US" altLang="zh-TW" dirty="0" smtClean="0"/>
                        <a:t>4</a:t>
                      </a:r>
                      <a:endParaRPr lang="zh-TW" altLang="en-US" dirty="0"/>
                    </a:p>
                  </a:txBody>
                  <a:tcPr marL="0" marR="0" marT="0" marB="0">
                    <a:solidFill>
                      <a:schemeClr val="accent1">
                        <a:lumMod val="40000"/>
                        <a:lumOff val="60000"/>
                      </a:schemeClr>
                    </a:solidFill>
                  </a:tcPr>
                </a:tc>
              </a:tr>
            </a:tbl>
          </a:graphicData>
        </a:graphic>
      </p:graphicFrame>
      <p:grpSp>
        <p:nvGrpSpPr>
          <p:cNvPr id="20" name="群組 19"/>
          <p:cNvGrpSpPr/>
          <p:nvPr/>
        </p:nvGrpSpPr>
        <p:grpSpPr>
          <a:xfrm>
            <a:off x="755576" y="5157192"/>
            <a:ext cx="6768752" cy="972108"/>
            <a:chOff x="755576" y="5157192"/>
            <a:chExt cx="6768752" cy="972108"/>
          </a:xfrm>
        </p:grpSpPr>
        <p:sp>
          <p:nvSpPr>
            <p:cNvPr id="11" name="橢圓 10"/>
            <p:cNvSpPr/>
            <p:nvPr/>
          </p:nvSpPr>
          <p:spPr>
            <a:xfrm>
              <a:off x="1907704" y="5157192"/>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2" name="橢圓 11"/>
            <p:cNvSpPr/>
            <p:nvPr/>
          </p:nvSpPr>
          <p:spPr>
            <a:xfrm>
              <a:off x="755576" y="5733256"/>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cxnSp>
          <p:nvCxnSpPr>
            <p:cNvPr id="13" name="弧形接點 12"/>
            <p:cNvCxnSpPr>
              <a:stCxn id="11" idx="0"/>
            </p:cNvCxnSpPr>
            <p:nvPr/>
          </p:nvCxnSpPr>
          <p:spPr>
            <a:xfrm rot="16200000" flipH="1">
              <a:off x="4535996" y="2672916"/>
              <a:ext cx="504056" cy="5472608"/>
            </a:xfrm>
            <a:prstGeom prst="curvedConnector4">
              <a:avLst>
                <a:gd name="adj1" fmla="val -45352"/>
                <a:gd name="adj2" fmla="val 51316"/>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4" name="弧形接點 13"/>
            <p:cNvCxnSpPr>
              <a:stCxn id="12" idx="4"/>
            </p:cNvCxnSpPr>
            <p:nvPr/>
          </p:nvCxnSpPr>
          <p:spPr>
            <a:xfrm rot="16200000" flipH="1">
              <a:off x="2300289" y="4620591"/>
              <a:ext cx="108012" cy="2909406"/>
            </a:xfrm>
            <a:prstGeom prst="curvedConnector2">
              <a:avLst/>
            </a:prstGeom>
            <a:ln>
              <a:tailEnd type="arrow"/>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 xmlns:p14="http://schemas.microsoft.com/office/powerpoint/2010/main" val="2687071541"/>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Dynamic Programming Algorithm</a:t>
            </a:r>
            <a:br>
              <a:rPr lang="en-US" altLang="zh-TW" dirty="0" smtClean="0"/>
            </a:br>
            <a:r>
              <a:rPr lang="en-US" altLang="zh-TW" dirty="0" smtClean="0"/>
              <a:t>Second step(3/3)</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14</a:t>
            </a:fld>
            <a:endParaRPr lang="zh-TW" altLang="en-US"/>
          </a:p>
        </p:txBody>
      </p:sp>
      <p:sp>
        <p:nvSpPr>
          <p:cNvPr id="7" name="矩形 6"/>
          <p:cNvSpPr/>
          <p:nvPr/>
        </p:nvSpPr>
        <p:spPr>
          <a:xfrm>
            <a:off x="251520" y="1365736"/>
            <a:ext cx="8568952" cy="2446824"/>
          </a:xfrm>
          <a:prstGeom prst="rect">
            <a:avLst/>
          </a:prstGeom>
        </p:spPr>
        <p:txBody>
          <a:bodyPr wrap="square">
            <a:spAutoFit/>
          </a:bodyPr>
          <a:lstStyle/>
          <a:p>
            <a:r>
              <a:rPr lang="en-US" altLang="zh-TW" sz="2500" dirty="0" smtClean="0"/>
              <a:t>S</a:t>
            </a:r>
            <a:r>
              <a:rPr lang="en-US" altLang="zh-TW" sz="2500" baseline="-25000" dirty="0" smtClean="0"/>
              <a:t>1</a:t>
            </a:r>
            <a:r>
              <a:rPr lang="en-US" altLang="zh-TW" sz="2500" dirty="0" smtClean="0"/>
              <a:t>=</a:t>
            </a:r>
            <a:r>
              <a:rPr lang="en-US" altLang="zh-TW" sz="2500" dirty="0" smtClean="0">
                <a:solidFill>
                  <a:srgbClr val="FF0000"/>
                </a:solidFill>
              </a:rPr>
              <a:t>a b </a:t>
            </a:r>
            <a:r>
              <a:rPr lang="en-US" altLang="zh-TW" sz="2500" dirty="0" smtClean="0"/>
              <a:t>c e </a:t>
            </a:r>
            <a:r>
              <a:rPr lang="en-US" altLang="zh-TW" sz="2500" dirty="0" smtClean="0">
                <a:solidFill>
                  <a:srgbClr val="FF0000"/>
                </a:solidFill>
              </a:rPr>
              <a:t>b </a:t>
            </a:r>
            <a:r>
              <a:rPr lang="en-US" altLang="zh-TW" sz="2500" dirty="0" smtClean="0"/>
              <a:t>c </a:t>
            </a:r>
            <a:r>
              <a:rPr lang="en-US" altLang="zh-TW" sz="2500" dirty="0" smtClean="0">
                <a:solidFill>
                  <a:srgbClr val="FF0000"/>
                </a:solidFill>
              </a:rPr>
              <a:t>a </a:t>
            </a:r>
            <a:r>
              <a:rPr lang="en-US" altLang="zh-TW" sz="2500" dirty="0" smtClean="0"/>
              <a:t>e b(1≤i≤|S</a:t>
            </a:r>
            <a:r>
              <a:rPr lang="en-US" altLang="zh-TW" sz="2500" baseline="-25000" dirty="0" smtClean="0"/>
              <a:t>1</a:t>
            </a:r>
            <a:r>
              <a:rPr lang="en-US" altLang="zh-TW" sz="2500" dirty="0" smtClean="0"/>
              <a:t>|)		</a:t>
            </a:r>
          </a:p>
          <a:p>
            <a:r>
              <a:rPr lang="en-US" altLang="zh-TW" sz="2500" dirty="0" smtClean="0"/>
              <a:t>S</a:t>
            </a:r>
            <a:r>
              <a:rPr lang="en-US" altLang="zh-TW" sz="2500" baseline="-25000" dirty="0" smtClean="0"/>
              <a:t>2</a:t>
            </a:r>
            <a:r>
              <a:rPr lang="en-US" altLang="zh-TW" sz="2500" dirty="0" smtClean="0"/>
              <a:t>=c </a:t>
            </a: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 b </a:t>
            </a:r>
            <a:r>
              <a:rPr lang="en-US" altLang="zh-TW" sz="2500" dirty="0" smtClean="0"/>
              <a:t>e b(1≤j≤|S</a:t>
            </a:r>
            <a:r>
              <a:rPr lang="en-US" altLang="zh-TW" sz="2500" baseline="-25000" dirty="0" smtClean="0"/>
              <a:t>2</a:t>
            </a:r>
            <a:r>
              <a:rPr lang="en-US" altLang="zh-TW" sz="2500" dirty="0" smtClean="0"/>
              <a:t>|)</a:t>
            </a:r>
          </a:p>
          <a:p>
            <a:r>
              <a:rPr lang="en-US" altLang="zh-TW" sz="2500" dirty="0" smtClean="0"/>
              <a:t>A</a:t>
            </a:r>
            <a:r>
              <a:rPr lang="en-US" altLang="zh-TW" sz="2500" baseline="-25000" dirty="0" smtClean="0"/>
              <a:t>m</a:t>
            </a:r>
            <a:r>
              <a:rPr lang="en-US" altLang="zh-TW" sz="2500" dirty="0" smtClean="0"/>
              <a:t>={</a:t>
            </a:r>
            <a:r>
              <a:rPr lang="en-US" altLang="zh-TW" sz="2500" dirty="0" err="1" smtClean="0">
                <a:solidFill>
                  <a:srgbClr val="FF0000"/>
                </a:solidFill>
              </a:rPr>
              <a:t>a,b</a:t>
            </a:r>
            <a:r>
              <a:rPr lang="en-US" altLang="zh-TW" sz="2500" dirty="0" smtClean="0"/>
              <a:t>} </a:t>
            </a:r>
            <a:r>
              <a:rPr lang="en-US" altLang="zh-TW" sz="2500" dirty="0" err="1" smtClean="0"/>
              <a:t>A</a:t>
            </a:r>
            <a:r>
              <a:rPr lang="en-US" altLang="zh-TW" sz="2500" baseline="-25000" dirty="0" err="1" smtClean="0"/>
              <a:t>o</a:t>
            </a:r>
            <a:r>
              <a:rPr lang="en-US" altLang="zh-TW" sz="2500" dirty="0" smtClean="0"/>
              <a:t>={</a:t>
            </a:r>
            <a:r>
              <a:rPr lang="en-US" altLang="zh-TW" sz="2500" dirty="0" err="1" smtClean="0"/>
              <a:t>c,e</a:t>
            </a:r>
            <a:r>
              <a:rPr lang="en-US" altLang="zh-TW" sz="2500" dirty="0" smtClean="0"/>
              <a:t>}</a:t>
            </a:r>
          </a:p>
          <a:p>
            <a:pPr marL="342900" indent="-342900">
              <a:buFont typeface="Symbol"/>
              <a:buChar char="Þ"/>
            </a:pPr>
            <a:r>
              <a:rPr lang="en-US" altLang="zh-TW" sz="2500" dirty="0" smtClean="0"/>
              <a:t>A’={a} or {b} or {</a:t>
            </a:r>
            <a:r>
              <a:rPr lang="en-US" altLang="zh-TW" sz="2500" dirty="0" err="1" smtClean="0"/>
              <a:t>a,b</a:t>
            </a:r>
            <a:r>
              <a:rPr lang="en-US" altLang="zh-TW" sz="2500" dirty="0" smtClean="0"/>
              <a:t>}</a:t>
            </a:r>
          </a:p>
          <a:p>
            <a:r>
              <a:rPr lang="en-US" altLang="zh-TW" sz="2400" dirty="0" smtClean="0"/>
              <a:t>2-ELCS(1)=</a:t>
            </a:r>
            <a:r>
              <a:rPr lang="en-US" altLang="zh-TW" sz="2800" dirty="0" smtClean="0">
                <a:solidFill>
                  <a:srgbClr val="FF0000"/>
                </a:solidFill>
              </a:rPr>
              <a:t> </a:t>
            </a:r>
            <a:r>
              <a:rPr lang="en-US" altLang="zh-TW" sz="2800" dirty="0" smtClean="0"/>
              <a:t>c e c </a:t>
            </a:r>
            <a:r>
              <a:rPr lang="en-US" altLang="zh-TW" sz="2800" dirty="0" smtClean="0">
                <a:solidFill>
                  <a:srgbClr val="FF0000"/>
                </a:solidFill>
              </a:rPr>
              <a:t>a </a:t>
            </a:r>
            <a:r>
              <a:rPr lang="en-US" altLang="zh-TW" sz="2800" dirty="0" smtClean="0"/>
              <a:t>e</a:t>
            </a:r>
            <a:r>
              <a:rPr lang="en-US" altLang="zh-TW" sz="2800" dirty="0" smtClean="0">
                <a:solidFill>
                  <a:srgbClr val="FF0000"/>
                </a:solidFill>
              </a:rPr>
              <a:t> b</a:t>
            </a:r>
            <a:endParaRPr lang="en-US" altLang="zh-TW" sz="2800" dirty="0" smtClean="0"/>
          </a:p>
          <a:p>
            <a:endParaRPr lang="en-US" altLang="zh-TW" sz="2500" dirty="0" smtClean="0"/>
          </a:p>
        </p:txBody>
      </p:sp>
      <p:pic>
        <p:nvPicPr>
          <p:cNvPr id="8" name="Picture 4"/>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175448" y="1423229"/>
            <a:ext cx="4968552" cy="17897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aphicFrame>
        <p:nvGraphicFramePr>
          <p:cNvPr id="9" name="表格 8"/>
          <p:cNvGraphicFramePr>
            <a:graphicFrameLocks noGrp="1"/>
          </p:cNvGraphicFramePr>
          <p:nvPr>
            <p:extLst>
              <p:ext uri="{D42A27DB-BD31-4B8C-83A1-F6EECF244321}">
                <p14:modId xmlns="" xmlns:p14="http://schemas.microsoft.com/office/powerpoint/2010/main" val="2930433384"/>
              </p:ext>
            </p:extLst>
          </p:nvPr>
        </p:nvGraphicFramePr>
        <p:xfrm>
          <a:off x="5652120" y="3501008"/>
          <a:ext cx="2376264" cy="3299280"/>
        </p:xfrm>
        <a:graphic>
          <a:graphicData uri="http://schemas.openxmlformats.org/drawingml/2006/table">
            <a:tbl>
              <a:tblPr firstRow="1" bandRow="1">
                <a:tableStyleId>{5C22544A-7EE6-4342-B048-85BDC9FD1C3A}</a:tableStyleId>
              </a:tblPr>
              <a:tblGrid>
                <a:gridCol w="198022"/>
                <a:gridCol w="198022"/>
                <a:gridCol w="198022"/>
                <a:gridCol w="198022"/>
                <a:gridCol w="198022"/>
                <a:gridCol w="198022"/>
                <a:gridCol w="198022"/>
                <a:gridCol w="198022"/>
                <a:gridCol w="198022"/>
                <a:gridCol w="198022"/>
                <a:gridCol w="198022"/>
                <a:gridCol w="198022"/>
              </a:tblGrid>
              <a:tr h="274940">
                <a:tc rowSpan="2" gridSpan="2">
                  <a:txBody>
                    <a:bodyPr/>
                    <a:lstStyle/>
                    <a:p>
                      <a:pPr algn="ctr"/>
                      <a:r>
                        <a:rPr lang="en-US" altLang="zh-TW" dirty="0" smtClean="0"/>
                        <a:t>A’=</a:t>
                      </a:r>
                    </a:p>
                    <a:p>
                      <a:pPr algn="ctr"/>
                      <a:r>
                        <a:rPr lang="en-US" altLang="zh-TW" sz="1800" b="0" i="0" kern="1200" dirty="0" smtClean="0">
                          <a:solidFill>
                            <a:schemeClr val="lt1"/>
                          </a:solidFill>
                          <a:effectLst/>
                          <a:latin typeface="+mn-lt"/>
                          <a:ea typeface="+mn-ea"/>
                          <a:cs typeface="+mn-cs"/>
                        </a:rPr>
                        <a:t>{</a:t>
                      </a:r>
                      <a:r>
                        <a:rPr lang="en-US" altLang="zh-TW" sz="1800" b="0" i="0" kern="1200" dirty="0" err="1" smtClean="0">
                          <a:solidFill>
                            <a:schemeClr val="lt1"/>
                          </a:solidFill>
                          <a:effectLst/>
                          <a:latin typeface="+mn-lt"/>
                          <a:ea typeface="+mn-ea"/>
                          <a:cs typeface="+mn-cs"/>
                        </a:rPr>
                        <a:t>a,b</a:t>
                      </a:r>
                      <a:r>
                        <a:rPr lang="en-US" altLang="zh-TW" sz="1800" b="0" i="0" kern="1200" dirty="0" smtClean="0">
                          <a:solidFill>
                            <a:schemeClr val="lt1"/>
                          </a:solidFill>
                          <a:effectLst/>
                          <a:latin typeface="+mn-lt"/>
                          <a:ea typeface="+mn-ea"/>
                          <a:cs typeface="+mn-cs"/>
                        </a:rPr>
                        <a:t>}</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4940">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274940">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b="1" dirty="0" smtClean="0"/>
                        <a:t>0</a:t>
                      </a:r>
                      <a:endParaRPr lang="zh-TW" altLang="en-US" b="1"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b="1" dirty="0" smtClean="0"/>
                        <a:t>0</a:t>
                      </a:r>
                      <a:endParaRPr lang="zh-TW" altLang="en-US" b="1"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b="1" dirty="0" smtClean="0"/>
                        <a:t>0</a:t>
                      </a:r>
                      <a:endParaRPr lang="zh-TW" altLang="en-US" b="1" dirty="0"/>
                    </a:p>
                  </a:txBody>
                  <a:tcPr marL="0" marR="0" marT="0" marB="0">
                    <a:solidFill>
                      <a:schemeClr val="tx2">
                        <a:lumMod val="20000"/>
                        <a:lumOff val="80000"/>
                      </a:schemeClr>
                    </a:solidFill>
                  </a:tcPr>
                </a:tc>
                <a:tc>
                  <a:txBody>
                    <a:bodyPr/>
                    <a:lstStyle/>
                    <a:p>
                      <a:r>
                        <a:rPr lang="en-US" altLang="zh-TW" b="1" dirty="0" smtClean="0"/>
                        <a:t>0</a:t>
                      </a:r>
                      <a:endParaRPr lang="zh-TW" altLang="en-US" b="1"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b="1" dirty="0" smtClean="0"/>
                        <a:t>0</a:t>
                      </a:r>
                      <a:endParaRPr lang="zh-TW" altLang="en-US" b="1"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solidFill>
                            <a:srgbClr val="FF0000"/>
                          </a:solidFill>
                        </a:rPr>
                        <a:t>1</a:t>
                      </a:r>
                      <a:endParaRPr lang="zh-TW" altLang="en-US" dirty="0">
                        <a:solidFill>
                          <a:srgbClr val="FF0000"/>
                        </a:solidFill>
                      </a:endParaRPr>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r>
              <a:tr h="27494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2">
                        <a:lumMod val="60000"/>
                        <a:lumOff val="40000"/>
                      </a:schemeClr>
                    </a:solidFill>
                  </a:tcPr>
                </a:tc>
                <a:tc>
                  <a:txBody>
                    <a:bodyPr/>
                    <a:lstStyle/>
                    <a:p>
                      <a:endParaRPr lang="zh-TW" altLang="en-US" dirty="0"/>
                    </a:p>
                  </a:txBody>
                  <a:tcPr marL="0" marR="0" marT="0" marB="0">
                    <a:solidFill>
                      <a:schemeClr val="accent2">
                        <a:lumMod val="60000"/>
                        <a:lumOff val="40000"/>
                      </a:schemeClr>
                    </a:solidFill>
                  </a:tcPr>
                </a:tc>
                <a:tc>
                  <a:txBody>
                    <a:bodyPr/>
                    <a:lstStyle/>
                    <a:p>
                      <a:endParaRPr lang="zh-TW" altLang="en-US" dirty="0"/>
                    </a:p>
                  </a:txBody>
                  <a:tcPr marL="0" marR="0" marT="0" marB="0">
                    <a:solidFill>
                      <a:schemeClr val="accent2">
                        <a:lumMod val="60000"/>
                        <a:lumOff val="4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c>
                  <a:txBody>
                    <a:bodyPr/>
                    <a:lstStyle/>
                    <a:p>
                      <a:r>
                        <a:rPr lang="en-US" altLang="zh-TW" dirty="0" smtClean="0">
                          <a:solidFill>
                            <a:srgbClr val="FF0000"/>
                          </a:solidFill>
                        </a:rPr>
                        <a:t>3</a:t>
                      </a:r>
                      <a:endParaRPr lang="zh-TW" altLang="en-US" dirty="0">
                        <a:solidFill>
                          <a:srgbClr val="FF0000"/>
                        </a:solidFill>
                      </a:endParaRPr>
                    </a:p>
                  </a:txBody>
                  <a:tcPr marL="0" marR="0" marT="0" marB="0">
                    <a:solidFill>
                      <a:schemeClr val="accent2">
                        <a:lumMod val="60000"/>
                        <a:lumOff val="40000"/>
                      </a:schemeClr>
                    </a:solidFill>
                  </a:tcPr>
                </a:tc>
                <a:tc>
                  <a:txBody>
                    <a:bodyPr/>
                    <a:lstStyle/>
                    <a:p>
                      <a:r>
                        <a:rPr lang="en-US" altLang="zh-TW" dirty="0" smtClean="0"/>
                        <a:t>3</a:t>
                      </a:r>
                      <a:endParaRPr lang="zh-TW" altLang="en-US" dirty="0"/>
                    </a:p>
                  </a:txBody>
                  <a:tcPr marL="0" marR="0" marT="0" marB="0">
                    <a:solidFill>
                      <a:schemeClr val="accent2">
                        <a:lumMod val="60000"/>
                        <a:lumOff val="40000"/>
                      </a:schemeClr>
                    </a:solidFill>
                  </a:tcPr>
                </a:tc>
                <a:tc>
                  <a:txBody>
                    <a:bodyPr/>
                    <a:lstStyle/>
                    <a:p>
                      <a:r>
                        <a:rPr lang="en-US" altLang="zh-TW" dirty="0" smtClean="0"/>
                        <a:t>3</a:t>
                      </a:r>
                      <a:endParaRPr lang="zh-TW" altLang="en-US" dirty="0"/>
                    </a:p>
                  </a:txBody>
                  <a:tcPr marL="0" marR="0" marT="0" marB="0">
                    <a:solidFill>
                      <a:schemeClr val="accent2">
                        <a:lumMod val="60000"/>
                        <a:lumOff val="40000"/>
                      </a:schemeClr>
                    </a:solidFill>
                  </a:tcPr>
                </a:tc>
              </a:tr>
            </a:tbl>
          </a:graphicData>
        </a:graphic>
      </p:graphicFrame>
      <p:graphicFrame>
        <p:nvGraphicFramePr>
          <p:cNvPr id="12" name="表格 11"/>
          <p:cNvGraphicFramePr>
            <a:graphicFrameLocks noGrp="1"/>
          </p:cNvGraphicFramePr>
          <p:nvPr>
            <p:extLst>
              <p:ext uri="{D42A27DB-BD31-4B8C-83A1-F6EECF244321}">
                <p14:modId xmlns="" xmlns:p14="http://schemas.microsoft.com/office/powerpoint/2010/main" val="2480779586"/>
              </p:ext>
            </p:extLst>
          </p:nvPr>
        </p:nvGraphicFramePr>
        <p:xfrm>
          <a:off x="107504" y="3501008"/>
          <a:ext cx="2304264" cy="3291840"/>
        </p:xfrm>
        <a:graphic>
          <a:graphicData uri="http://schemas.openxmlformats.org/drawingml/2006/table">
            <a:tbl>
              <a:tblPr firstRow="1" bandRow="1">
                <a:tableStyleId>{5C22544A-7EE6-4342-B048-85BDC9FD1C3A}</a:tableStyleId>
              </a:tblPr>
              <a:tblGrid>
                <a:gridCol w="192022"/>
                <a:gridCol w="192022"/>
                <a:gridCol w="192022"/>
                <a:gridCol w="192022"/>
                <a:gridCol w="192022"/>
                <a:gridCol w="192022"/>
                <a:gridCol w="192022"/>
                <a:gridCol w="192022"/>
                <a:gridCol w="192022"/>
                <a:gridCol w="192022"/>
                <a:gridCol w="192022"/>
                <a:gridCol w="192022"/>
              </a:tblGrid>
              <a:tr h="271364">
                <a:tc rowSpan="2" gridSpan="2">
                  <a:txBody>
                    <a:bodyPr/>
                    <a:lstStyle/>
                    <a:p>
                      <a:pPr algn="ctr"/>
                      <a:r>
                        <a:rPr lang="en-US" altLang="zh-TW" dirty="0" smtClean="0"/>
                        <a:t>A’=</a:t>
                      </a:r>
                      <a:endParaRPr lang="en-US" altLang="zh-TW" sz="1800" b="0" i="0" kern="1200" dirty="0" smtClean="0">
                        <a:solidFill>
                          <a:schemeClr val="lt1"/>
                        </a:solidFill>
                        <a:effectLst/>
                        <a:latin typeface="+mn-lt"/>
                        <a:ea typeface="+mn-ea"/>
                        <a:cs typeface="+mn-cs"/>
                      </a:endParaRPr>
                    </a:p>
                    <a:p>
                      <a:pPr algn="ctr"/>
                      <a:r>
                        <a:rPr lang="en-US" altLang="zh-TW" sz="1800" b="0" i="0" kern="1200" dirty="0" smtClean="0">
                          <a:solidFill>
                            <a:schemeClr val="lt1"/>
                          </a:solidFill>
                          <a:effectLst/>
                          <a:latin typeface="+mn-lt"/>
                          <a:ea typeface="+mn-ea"/>
                          <a:cs typeface="+mn-cs"/>
                        </a:rPr>
                        <a:t>{a}</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27136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 </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0</a:t>
                      </a:r>
                      <a:endParaRPr lang="zh-TW" altLang="en-US" dirty="0">
                        <a:solidFill>
                          <a:schemeClr val="tx1"/>
                        </a:solidFill>
                      </a:endParaRPr>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u="sng" dirty="0" smtClean="0">
                          <a:solidFill>
                            <a:schemeClr val="tx1"/>
                          </a:solidFill>
                        </a:rPr>
                        <a:t>3</a:t>
                      </a:r>
                      <a:endParaRPr lang="zh-TW" altLang="en-US" u="sng"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tx2">
                        <a:lumMod val="20000"/>
                        <a:lumOff val="80000"/>
                      </a:schemeClr>
                    </a:solidFill>
                  </a:tcPr>
                </a:tc>
                <a:tc>
                  <a:txBody>
                    <a:bodyPr/>
                    <a:lstStyle/>
                    <a:p>
                      <a:pPr algn="ctr"/>
                      <a:r>
                        <a:rPr lang="en-US" altLang="zh-TW" dirty="0" smtClean="0">
                          <a:solidFill>
                            <a:schemeClr val="tx1"/>
                          </a:solidFill>
                        </a:rPr>
                        <a:t>3</a:t>
                      </a:r>
                      <a:endParaRPr lang="zh-TW" altLang="en-US" dirty="0">
                        <a:solidFill>
                          <a:schemeClr val="tx1"/>
                        </a:solidFill>
                      </a:endParaRPr>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accent2">
                        <a:lumMod val="60000"/>
                        <a:lumOff val="40000"/>
                      </a:schemeClr>
                    </a:solidFill>
                  </a:tcPr>
                </a:tc>
                <a:tc>
                  <a:txBody>
                    <a:bodyPr/>
                    <a:lstStyle/>
                    <a:p>
                      <a:pPr algn="ctr"/>
                      <a:endParaRPr lang="zh-TW" altLang="en-US" dirty="0"/>
                    </a:p>
                  </a:txBody>
                  <a:tcPr marL="0" marR="0" marT="0" marB="0">
                    <a:solidFill>
                      <a:schemeClr val="accent2">
                        <a:lumMod val="60000"/>
                        <a:lumOff val="40000"/>
                      </a:schemeClr>
                    </a:solidFill>
                  </a:tcPr>
                </a:tc>
                <a:tc>
                  <a:txBody>
                    <a:bodyPr/>
                    <a:lstStyle/>
                    <a:p>
                      <a:pPr algn="ctr"/>
                      <a:r>
                        <a:rPr lang="en-US" altLang="zh-TW" dirty="0" smtClean="0"/>
                        <a:t>1</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1</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1</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1</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3</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3</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3</a:t>
                      </a:r>
                      <a:endParaRPr lang="zh-TW" altLang="en-US" dirty="0"/>
                    </a:p>
                  </a:txBody>
                  <a:tcPr marL="0" marR="0" marT="0" marB="0">
                    <a:solidFill>
                      <a:schemeClr val="accent2">
                        <a:lumMod val="60000"/>
                        <a:lumOff val="40000"/>
                      </a:schemeClr>
                    </a:solidFill>
                  </a:tcPr>
                </a:tc>
                <a:tc>
                  <a:txBody>
                    <a:bodyPr/>
                    <a:lstStyle/>
                    <a:p>
                      <a:pPr algn="ctr"/>
                      <a:r>
                        <a:rPr lang="en-US" altLang="zh-TW" dirty="0" smtClean="0"/>
                        <a:t>3</a:t>
                      </a:r>
                      <a:endParaRPr lang="zh-TW" altLang="en-US" dirty="0"/>
                    </a:p>
                  </a:txBody>
                  <a:tcPr marL="0" marR="0" marT="0" marB="0">
                    <a:solidFill>
                      <a:schemeClr val="accent2">
                        <a:lumMod val="60000"/>
                        <a:lumOff val="40000"/>
                      </a:schemeClr>
                    </a:solidFill>
                  </a:tcPr>
                </a:tc>
              </a:tr>
            </a:tbl>
          </a:graphicData>
        </a:graphic>
      </p:graphicFrame>
      <p:graphicFrame>
        <p:nvGraphicFramePr>
          <p:cNvPr id="13" name="表格 12"/>
          <p:cNvGraphicFramePr>
            <a:graphicFrameLocks noGrp="1"/>
          </p:cNvGraphicFramePr>
          <p:nvPr>
            <p:extLst>
              <p:ext uri="{D42A27DB-BD31-4B8C-83A1-F6EECF244321}">
                <p14:modId xmlns="" xmlns:p14="http://schemas.microsoft.com/office/powerpoint/2010/main" val="2062328791"/>
              </p:ext>
            </p:extLst>
          </p:nvPr>
        </p:nvGraphicFramePr>
        <p:xfrm>
          <a:off x="2952327" y="3507824"/>
          <a:ext cx="2304264" cy="3291840"/>
        </p:xfrm>
        <a:graphic>
          <a:graphicData uri="http://schemas.openxmlformats.org/drawingml/2006/table">
            <a:tbl>
              <a:tblPr firstRow="1" bandRow="1">
                <a:tableStyleId>{5C22544A-7EE6-4342-B048-85BDC9FD1C3A}</a:tableStyleId>
              </a:tblPr>
              <a:tblGrid>
                <a:gridCol w="192022"/>
                <a:gridCol w="192022"/>
                <a:gridCol w="192022"/>
                <a:gridCol w="192022"/>
                <a:gridCol w="192022"/>
                <a:gridCol w="192022"/>
                <a:gridCol w="192022"/>
                <a:gridCol w="192022"/>
                <a:gridCol w="192022"/>
                <a:gridCol w="192022"/>
                <a:gridCol w="192022"/>
                <a:gridCol w="192022"/>
              </a:tblGrid>
              <a:tr h="271364">
                <a:tc rowSpan="2" gridSpan="2">
                  <a:txBody>
                    <a:bodyPr/>
                    <a:lstStyle/>
                    <a:p>
                      <a:pPr algn="ctr"/>
                      <a:r>
                        <a:rPr lang="en-US" altLang="zh-TW" dirty="0" smtClean="0"/>
                        <a:t>A’=</a:t>
                      </a:r>
                    </a:p>
                    <a:p>
                      <a:pPr algn="ctr"/>
                      <a:r>
                        <a:rPr lang="en-US" altLang="zh-TW" sz="1800" b="0" i="0" kern="1200" dirty="0" smtClean="0">
                          <a:solidFill>
                            <a:schemeClr val="lt1"/>
                          </a:solidFill>
                          <a:effectLst/>
                          <a:latin typeface="+mn-lt"/>
                          <a:ea typeface="+mn-ea"/>
                          <a:cs typeface="+mn-cs"/>
                        </a:rPr>
                        <a:t>{b}</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1364">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r>
              <a:tr h="271364">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tx2">
                        <a:lumMod val="20000"/>
                        <a:lumOff val="80000"/>
                      </a:schemeClr>
                    </a:solidFill>
                  </a:tcPr>
                </a:tc>
                <a:tc>
                  <a:txBody>
                    <a:bodyPr/>
                    <a:lstStyle/>
                    <a:p>
                      <a:r>
                        <a:rPr lang="en-US" altLang="zh-TW" dirty="0" smtClean="0"/>
                        <a:t>0</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r>
                        <a:rPr lang="en-US" altLang="zh-TW" dirty="0" smtClean="0">
                          <a:solidFill>
                            <a:schemeClr val="tx1"/>
                          </a:solidFill>
                        </a:rPr>
                        <a:t>1</a:t>
                      </a:r>
                      <a:endParaRPr lang="zh-TW" altLang="en-US" dirty="0">
                        <a:solidFill>
                          <a:schemeClr val="tx1"/>
                        </a:solidFill>
                      </a:endParaRPr>
                    </a:p>
                  </a:txBody>
                  <a:tcPr marL="0" marR="0" marT="0" marB="0">
                    <a:solidFill>
                      <a:schemeClr val="tx2">
                        <a:lumMod val="20000"/>
                        <a:lumOff val="80000"/>
                      </a:schemeClr>
                    </a:solidFill>
                  </a:tcPr>
                </a:tc>
                <a:tc>
                  <a:txBody>
                    <a:bodyPr/>
                    <a:lstStyle/>
                    <a:p>
                      <a:r>
                        <a:rPr lang="en-US" altLang="zh-TW" dirty="0" smtClean="0">
                          <a:solidFill>
                            <a:schemeClr val="tx1"/>
                          </a:solidFill>
                        </a:rPr>
                        <a:t>2</a:t>
                      </a:r>
                      <a:endParaRPr lang="zh-TW" altLang="en-US" dirty="0">
                        <a:solidFill>
                          <a:schemeClr val="tx1"/>
                        </a:solidFill>
                      </a:endParaRPr>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endParaRPr lang="zh-TW" altLang="en-US"/>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u="sng" dirty="0" smtClean="0"/>
                        <a:t>1</a:t>
                      </a:r>
                      <a:endParaRPr lang="zh-TW" altLang="en-US" u="sng"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1</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tx2">
                        <a:lumMod val="20000"/>
                        <a:lumOff val="80000"/>
                      </a:schemeClr>
                    </a:solidFill>
                  </a:tcPr>
                </a:tc>
                <a:tc>
                  <a:txBody>
                    <a:bodyPr/>
                    <a:lstStyle/>
                    <a:p>
                      <a:r>
                        <a:rPr lang="en-US" altLang="zh-TW" dirty="0" smtClean="0"/>
                        <a:t>2</a:t>
                      </a:r>
                      <a:endParaRPr lang="zh-TW" altLang="en-US" dirty="0"/>
                    </a:p>
                  </a:txBody>
                  <a:tcPr marL="0" marR="0" marT="0" marB="0">
                    <a:solidFill>
                      <a:schemeClr val="accent2">
                        <a:lumMod val="60000"/>
                        <a:lumOff val="40000"/>
                      </a:schemeClr>
                    </a:solidFill>
                  </a:tcPr>
                </a:tc>
              </a:tr>
              <a:tr h="271364">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endParaRPr lang="zh-TW" altLang="en-US" dirty="0"/>
                    </a:p>
                  </a:txBody>
                  <a:tcPr marL="0" marR="0" marT="0" marB="0">
                    <a:solidFill>
                      <a:schemeClr val="accent2">
                        <a:lumMod val="60000"/>
                        <a:lumOff val="40000"/>
                      </a:schemeClr>
                    </a:solidFill>
                  </a:tcPr>
                </a:tc>
                <a:tc>
                  <a:txBody>
                    <a:bodyPr/>
                    <a:lstStyle/>
                    <a:p>
                      <a:endParaRPr lang="zh-TW" altLang="en-US" dirty="0"/>
                    </a:p>
                  </a:txBody>
                  <a:tcPr marL="0" marR="0" marT="0" marB="0">
                    <a:solidFill>
                      <a:schemeClr val="accent2">
                        <a:lumMod val="60000"/>
                        <a:lumOff val="40000"/>
                      </a:schemeClr>
                    </a:solidFill>
                  </a:tcPr>
                </a:tc>
                <a:tc>
                  <a:txBody>
                    <a:bodyPr/>
                    <a:lstStyle/>
                    <a:p>
                      <a:endParaRPr lang="zh-TW" altLang="en-US" dirty="0"/>
                    </a:p>
                  </a:txBody>
                  <a:tcPr marL="0" marR="0" marT="0" marB="0">
                    <a:solidFill>
                      <a:schemeClr val="accent2">
                        <a:lumMod val="60000"/>
                        <a:lumOff val="4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c>
                  <a:txBody>
                    <a:bodyPr/>
                    <a:lstStyle/>
                    <a:p>
                      <a:r>
                        <a:rPr lang="en-US" altLang="zh-TW" dirty="0" smtClean="0"/>
                        <a:t>1</a:t>
                      </a:r>
                      <a:endParaRPr lang="zh-TW" altLang="en-US" dirty="0"/>
                    </a:p>
                  </a:txBody>
                  <a:tcPr marL="0" marR="0" marT="0" marB="0">
                    <a:solidFill>
                      <a:schemeClr val="accent2">
                        <a:lumMod val="60000"/>
                        <a:lumOff val="40000"/>
                      </a:schemeClr>
                    </a:solidFill>
                  </a:tcPr>
                </a:tc>
                <a:tc>
                  <a:txBody>
                    <a:bodyPr/>
                    <a:lstStyle/>
                    <a:p>
                      <a:r>
                        <a:rPr lang="en-US" altLang="zh-TW" dirty="0" smtClean="0"/>
                        <a:t>3</a:t>
                      </a:r>
                      <a:endParaRPr lang="zh-TW" altLang="en-US" dirty="0"/>
                    </a:p>
                  </a:txBody>
                  <a:tcPr marL="0" marR="0" marT="0" marB="0">
                    <a:solidFill>
                      <a:schemeClr val="accent2">
                        <a:lumMod val="60000"/>
                        <a:lumOff val="40000"/>
                      </a:schemeClr>
                    </a:solidFill>
                  </a:tcPr>
                </a:tc>
                <a:tc>
                  <a:txBody>
                    <a:bodyPr/>
                    <a:lstStyle/>
                    <a:p>
                      <a:r>
                        <a:rPr lang="en-US" altLang="zh-TW" dirty="0" smtClean="0"/>
                        <a:t>3</a:t>
                      </a:r>
                      <a:endParaRPr lang="zh-TW" altLang="en-US" dirty="0"/>
                    </a:p>
                  </a:txBody>
                  <a:tcPr marL="0" marR="0" marT="0" marB="0">
                    <a:solidFill>
                      <a:schemeClr val="accent2">
                        <a:lumMod val="60000"/>
                        <a:lumOff val="40000"/>
                      </a:schemeClr>
                    </a:solidFill>
                  </a:tcPr>
                </a:tc>
                <a:tc>
                  <a:txBody>
                    <a:bodyPr/>
                    <a:lstStyle/>
                    <a:p>
                      <a:r>
                        <a:rPr lang="en-US" altLang="zh-TW" dirty="0" smtClean="0"/>
                        <a:t>4</a:t>
                      </a:r>
                      <a:endParaRPr lang="zh-TW" altLang="en-US" dirty="0"/>
                    </a:p>
                  </a:txBody>
                  <a:tcPr marL="0" marR="0" marT="0" marB="0">
                    <a:solidFill>
                      <a:schemeClr val="accent2">
                        <a:lumMod val="60000"/>
                        <a:lumOff val="40000"/>
                      </a:schemeClr>
                    </a:solidFill>
                  </a:tcPr>
                </a:tc>
              </a:tr>
            </a:tbl>
          </a:graphicData>
        </a:graphic>
      </p:graphicFrame>
      <p:grpSp>
        <p:nvGrpSpPr>
          <p:cNvPr id="21" name="群組 20"/>
          <p:cNvGrpSpPr/>
          <p:nvPr/>
        </p:nvGrpSpPr>
        <p:grpSpPr>
          <a:xfrm>
            <a:off x="1547664" y="5661248"/>
            <a:ext cx="5832648" cy="1080119"/>
            <a:chOff x="1547664" y="5661248"/>
            <a:chExt cx="5832648" cy="1080119"/>
          </a:xfrm>
        </p:grpSpPr>
        <p:sp>
          <p:nvSpPr>
            <p:cNvPr id="15" name="橢圓 14"/>
            <p:cNvSpPr/>
            <p:nvPr/>
          </p:nvSpPr>
          <p:spPr>
            <a:xfrm>
              <a:off x="4193923" y="5661248"/>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6" name="橢圓 15"/>
            <p:cNvSpPr/>
            <p:nvPr/>
          </p:nvSpPr>
          <p:spPr>
            <a:xfrm>
              <a:off x="1547664" y="6237313"/>
              <a:ext cx="288032" cy="288032"/>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cxnSp>
          <p:nvCxnSpPr>
            <p:cNvPr id="17" name="弧形接點 16"/>
            <p:cNvCxnSpPr>
              <a:stCxn id="15" idx="4"/>
            </p:cNvCxnSpPr>
            <p:nvPr/>
          </p:nvCxnSpPr>
          <p:spPr>
            <a:xfrm rot="16200000" flipH="1">
              <a:off x="5718428" y="4568790"/>
              <a:ext cx="173382" cy="2934361"/>
            </a:xfrm>
            <a:prstGeom prst="curvedConnector2">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8" name="弧形接點 17"/>
            <p:cNvCxnSpPr>
              <a:stCxn id="16" idx="4"/>
            </p:cNvCxnSpPr>
            <p:nvPr/>
          </p:nvCxnSpPr>
          <p:spPr>
            <a:xfrm rot="16200000" flipH="1">
              <a:off x="4427985" y="3789039"/>
              <a:ext cx="216022" cy="5688633"/>
            </a:xfrm>
            <a:prstGeom prst="curvedConnector2">
              <a:avLst/>
            </a:prstGeom>
            <a:ln>
              <a:tailEnd type="arrow"/>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 xmlns:p14="http://schemas.microsoft.com/office/powerpoint/2010/main" val="2685869524"/>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Dynamic Programming Algorithm</a:t>
            </a:r>
            <a:br>
              <a:rPr lang="en-US" altLang="zh-TW" dirty="0" smtClean="0"/>
            </a:br>
            <a:r>
              <a:rPr lang="en-US" altLang="zh-TW" dirty="0" smtClean="0"/>
              <a:t>(for 2-ELCS(≥1))</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15</a:t>
            </a:fld>
            <a:endParaRPr lang="zh-TW" altLang="en-US"/>
          </a:p>
        </p:txBody>
      </p:sp>
      <p:pic>
        <p:nvPicPr>
          <p:cNvPr id="4099" name="Picture 3"/>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899590" y="1772816"/>
            <a:ext cx="6420597" cy="2304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 name="矩形 8"/>
          <p:cNvSpPr/>
          <p:nvPr/>
        </p:nvSpPr>
        <p:spPr>
          <a:xfrm>
            <a:off x="6084167" y="3356992"/>
            <a:ext cx="1236019" cy="292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83568" y="4365104"/>
            <a:ext cx="7776864" cy="1908215"/>
          </a:xfrm>
          <a:prstGeom prst="rect">
            <a:avLst/>
          </a:prstGeom>
        </p:spPr>
        <p:txBody>
          <a:bodyPr wrap="square">
            <a:spAutoFit/>
          </a:bodyPr>
          <a:lstStyle/>
          <a:p>
            <a:r>
              <a:rPr lang="en-US" altLang="zh-TW" sz="2500" b="1" dirty="0" smtClean="0"/>
              <a:t>Boundary </a:t>
            </a:r>
            <a:r>
              <a:rPr lang="en-US" altLang="zh-TW" sz="2500" b="1" dirty="0" smtClean="0">
                <a:solidFill>
                  <a:schemeClr val="tx1"/>
                </a:solidFill>
              </a:rPr>
              <a:t>conditions:</a:t>
            </a:r>
          </a:p>
          <a:p>
            <a:r>
              <a:rPr lang="nn-NO" altLang="zh-TW" sz="2500" dirty="0" smtClean="0"/>
              <a:t>EL[i, j, </a:t>
            </a:r>
            <a:r>
              <a:rPr lang="zh-TW" altLang="en-US" sz="2500" dirty="0" smtClean="0">
                <a:solidFill>
                  <a:schemeClr val="tx1"/>
                </a:solidFill>
              </a:rPr>
              <a:t>∅</a:t>
            </a:r>
            <a:r>
              <a:rPr lang="en-US" altLang="zh-TW" sz="2500" dirty="0" smtClean="0">
                <a:solidFill>
                  <a:schemeClr val="tx1"/>
                </a:solidFill>
              </a:rPr>
              <a:t>]</a:t>
            </a:r>
            <a:r>
              <a:rPr lang="nn-NO" altLang="zh-TW" sz="2500" dirty="0" smtClean="0"/>
              <a:t> = LSO[i, j] 	</a:t>
            </a:r>
            <a:r>
              <a:rPr lang="en-US" altLang="zh-TW" sz="2500" b="1" dirty="0" smtClean="0"/>
              <a:t>=&gt;  </a:t>
            </a:r>
            <a:r>
              <a:rPr lang="nn-NO" altLang="zh-TW" sz="2500" dirty="0" smtClean="0"/>
              <a:t>EL[i, j, </a:t>
            </a:r>
            <a:r>
              <a:rPr lang="zh-TW" altLang="en-US" sz="2500" dirty="0" smtClean="0">
                <a:solidFill>
                  <a:schemeClr val="tx1"/>
                </a:solidFill>
              </a:rPr>
              <a:t>∅</a:t>
            </a:r>
            <a:r>
              <a:rPr lang="en-US" altLang="zh-TW" sz="2500" dirty="0" smtClean="0">
                <a:solidFill>
                  <a:schemeClr val="tx1"/>
                </a:solidFill>
              </a:rPr>
              <a:t>]</a:t>
            </a:r>
            <a:r>
              <a:rPr lang="nn-NO" altLang="zh-TW" sz="2500" dirty="0" smtClean="0"/>
              <a:t> = LSM[i, j] </a:t>
            </a:r>
          </a:p>
          <a:p>
            <a:r>
              <a:rPr lang="en-US" altLang="zh-TW" sz="2500" dirty="0" smtClean="0"/>
              <a:t>LSM[j</a:t>
            </a:r>
            <a:r>
              <a:rPr lang="en-US" altLang="zh-TW" sz="2500" baseline="-25000" dirty="0" smtClean="0"/>
              <a:t>1</a:t>
            </a:r>
            <a:r>
              <a:rPr lang="en-US" altLang="zh-TW" sz="2500" dirty="0" smtClean="0"/>
              <a:t>, j</a:t>
            </a:r>
            <a:r>
              <a:rPr lang="en-US" altLang="zh-TW" sz="2500" baseline="-25000" dirty="0" smtClean="0"/>
              <a:t>2</a:t>
            </a:r>
            <a:r>
              <a:rPr lang="en-US" altLang="zh-TW" sz="2500" dirty="0" smtClean="0"/>
              <a:t>]: the size of an LCS with input sequences S</a:t>
            </a:r>
            <a:r>
              <a:rPr lang="en-US" altLang="zh-TW" sz="2500" baseline="-25000" dirty="0" smtClean="0"/>
              <a:t>1</a:t>
            </a:r>
            <a:r>
              <a:rPr lang="en-US" altLang="zh-TW" sz="2500" dirty="0" smtClean="0"/>
              <a:t> [1…j</a:t>
            </a:r>
            <a:r>
              <a:rPr lang="en-US" altLang="zh-TW" sz="2500" baseline="-25000" dirty="0" smtClean="0"/>
              <a:t>1</a:t>
            </a:r>
            <a:r>
              <a:rPr lang="en-US" altLang="zh-TW" sz="2500" dirty="0" smtClean="0"/>
              <a:t>], S</a:t>
            </a:r>
            <a:r>
              <a:rPr lang="en-US" altLang="zh-TW" sz="2500" baseline="-25000" dirty="0" smtClean="0"/>
              <a:t>2</a:t>
            </a:r>
            <a:r>
              <a:rPr lang="en-US" altLang="zh-TW" sz="2500" dirty="0" smtClean="0"/>
              <a:t> [1…j</a:t>
            </a:r>
            <a:r>
              <a:rPr lang="en-US" altLang="zh-TW" sz="2500" baseline="-25000" dirty="0" smtClean="0"/>
              <a:t>2</a:t>
            </a:r>
            <a:r>
              <a:rPr lang="en-US" altLang="zh-TW" sz="2500" dirty="0" smtClean="0"/>
              <a:t>]</a:t>
            </a:r>
            <a:endParaRPr lang="en-US" altLang="zh-TW" sz="2500" b="1" dirty="0" smtClean="0"/>
          </a:p>
          <a:p>
            <a:endParaRPr lang="en-US" altLang="zh-TW" b="1" dirty="0"/>
          </a:p>
        </p:txBody>
      </p:sp>
    </p:spTree>
    <p:extLst>
      <p:ext uri="{BB962C8B-B14F-4D97-AF65-F5344CB8AC3E}">
        <p14:creationId xmlns="" xmlns:p14="http://schemas.microsoft.com/office/powerpoint/2010/main" val="1456700776"/>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a:t>
            </a:r>
            <a:r>
              <a:rPr lang="en-US" altLang="zh-TW" dirty="0"/>
              <a:t>complexity</a:t>
            </a:r>
            <a:endParaRPr lang="zh-TW" altLang="en-US" dirty="0"/>
          </a:p>
        </p:txBody>
      </p:sp>
      <p:sp>
        <p:nvSpPr>
          <p:cNvPr id="3" name="內容版面配置區 2"/>
          <p:cNvSpPr>
            <a:spLocks noGrp="1"/>
          </p:cNvSpPr>
          <p:nvPr>
            <p:ph idx="1"/>
          </p:nvPr>
        </p:nvSpPr>
        <p:spPr/>
        <p:txBody>
          <a:bodyPr>
            <a:normAutofit/>
          </a:bodyPr>
          <a:lstStyle/>
          <a:p>
            <a:pPr marL="0" indent="0">
              <a:buNone/>
            </a:pPr>
            <a:endParaRPr lang="en-US" altLang="zh-TW" dirty="0"/>
          </a:p>
          <a:p>
            <a:pPr marL="0" indent="0">
              <a:buNone/>
            </a:pPr>
            <a:endParaRPr lang="en-US" altLang="zh-TW" dirty="0" smtClean="0"/>
          </a:p>
          <a:p>
            <a:pPr marL="0" indent="0">
              <a:buNone/>
            </a:pPr>
            <a:endParaRPr lang="en-US" altLang="zh-TW" sz="2500" dirty="0" smtClean="0"/>
          </a:p>
          <a:p>
            <a:pPr marL="0" indent="0">
              <a:buNone/>
            </a:pPr>
            <a:endParaRPr lang="en-US" altLang="zh-TW" sz="2500" dirty="0" smtClean="0"/>
          </a:p>
          <a:p>
            <a:pPr marL="0" indent="0">
              <a:buNone/>
            </a:pPr>
            <a:r>
              <a:rPr lang="en-US" altLang="zh-TW" sz="2500" dirty="0" smtClean="0"/>
              <a:t>Each </a:t>
            </a:r>
            <a:r>
              <a:rPr lang="en-US" altLang="zh-TW" sz="2500" dirty="0"/>
              <a:t>partial </a:t>
            </a:r>
            <a:r>
              <a:rPr lang="en-US" altLang="zh-TW" sz="2500" dirty="0" smtClean="0"/>
              <a:t>solution: O(m)</a:t>
            </a:r>
          </a:p>
          <a:p>
            <a:pPr marL="0" indent="0">
              <a:buNone/>
            </a:pPr>
            <a:r>
              <a:rPr lang="en-US" altLang="zh-TW" sz="2500" dirty="0" smtClean="0"/>
              <a:t>Possible </a:t>
            </a:r>
            <a:r>
              <a:rPr lang="en-US" altLang="zh-TW" sz="2500" dirty="0"/>
              <a:t>subsets </a:t>
            </a:r>
            <a:r>
              <a:rPr lang="en-US" altLang="zh-TW" sz="2500" dirty="0" smtClean="0"/>
              <a:t>A’</a:t>
            </a:r>
            <a:r>
              <a:rPr lang="zh-TW" altLang="en-US" sz="2500" dirty="0" smtClean="0"/>
              <a:t>⊆</a:t>
            </a:r>
            <a:r>
              <a:rPr lang="en-US" altLang="zh-TW" sz="2500" dirty="0" smtClean="0"/>
              <a:t>A</a:t>
            </a:r>
            <a:r>
              <a:rPr lang="en-US" altLang="zh-TW" sz="2500" baseline="-25000" dirty="0" smtClean="0"/>
              <a:t>m</a:t>
            </a:r>
            <a:r>
              <a:rPr lang="en-US" altLang="zh-TW" sz="2500" dirty="0" smtClean="0"/>
              <a:t> </a:t>
            </a:r>
            <a:r>
              <a:rPr lang="en-US" altLang="zh-TW" sz="2500" dirty="0"/>
              <a:t>are </a:t>
            </a:r>
            <a:r>
              <a:rPr lang="en-US" altLang="zh-TW" sz="2500" dirty="0" smtClean="0"/>
              <a:t>O(2</a:t>
            </a:r>
            <a:r>
              <a:rPr lang="en-US" altLang="zh-TW" sz="2500" baseline="30000" dirty="0" smtClean="0"/>
              <a:t>m</a:t>
            </a:r>
            <a:r>
              <a:rPr lang="en-US" altLang="zh-TW" sz="2500" dirty="0" smtClean="0"/>
              <a:t>)</a:t>
            </a:r>
          </a:p>
          <a:p>
            <a:pPr marL="0" indent="0">
              <a:buNone/>
            </a:pPr>
            <a:r>
              <a:rPr lang="en-US" altLang="zh-TW" sz="2500" dirty="0"/>
              <a:t>I</a:t>
            </a:r>
            <a:r>
              <a:rPr lang="en-US" altLang="zh-TW" sz="2500" dirty="0" smtClean="0"/>
              <a:t>ndices i and j range : O(n</a:t>
            </a:r>
            <a:r>
              <a:rPr lang="en-US" altLang="zh-TW" sz="2500" baseline="30000" dirty="0" smtClean="0"/>
              <a:t>2</a:t>
            </a:r>
            <a:r>
              <a:rPr lang="en-US" altLang="zh-TW" sz="2500" dirty="0" smtClean="0"/>
              <a:t>)</a:t>
            </a:r>
          </a:p>
          <a:p>
            <a:pPr marL="0" indent="0">
              <a:buNone/>
            </a:pPr>
            <a:r>
              <a:rPr lang="en-US" altLang="zh-TW" sz="2500" dirty="0" smtClean="0"/>
              <a:t>=&gt;</a:t>
            </a:r>
          </a:p>
          <a:p>
            <a:pPr marL="0" indent="0">
              <a:buNone/>
            </a:pPr>
            <a:r>
              <a:rPr lang="en-US" altLang="zh-TW" sz="2500" dirty="0" smtClean="0"/>
              <a:t>time complexity of the algorithm is O(m2</a:t>
            </a:r>
            <a:r>
              <a:rPr lang="en-US" altLang="zh-TW" sz="2500" baseline="30000" dirty="0" smtClean="0"/>
              <a:t>m</a:t>
            </a:r>
            <a:r>
              <a:rPr lang="en-US" altLang="zh-TW" sz="2500" dirty="0" smtClean="0"/>
              <a:t>n</a:t>
            </a:r>
            <a:r>
              <a:rPr lang="en-US" altLang="zh-TW" sz="2500" baseline="30000" dirty="0" smtClean="0"/>
              <a:t>2</a:t>
            </a:r>
            <a:r>
              <a:rPr lang="en-US" altLang="zh-TW" sz="2500" dirty="0" smtClean="0"/>
              <a:t>)</a:t>
            </a:r>
          </a:p>
          <a:p>
            <a:pPr marL="0" indent="0">
              <a:buNone/>
            </a:pPr>
            <a:endParaRPr lang="en-US" altLang="zh-TW" dirty="0" smtClean="0"/>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16</a:t>
            </a:fld>
            <a:endParaRPr lang="zh-TW" altLang="en-US"/>
          </a:p>
        </p:txBody>
      </p:sp>
      <p:pic>
        <p:nvPicPr>
          <p:cNvPr id="5" name="Picture 4"/>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539551" y="1196752"/>
            <a:ext cx="6396891" cy="2304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631562102"/>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5536" y="2999605"/>
            <a:ext cx="8229600" cy="1143000"/>
          </a:xfrm>
        </p:spPr>
        <p:txBody>
          <a:bodyPr/>
          <a:lstStyle/>
          <a:p>
            <a:r>
              <a:rPr lang="en-US" altLang="zh-TW" dirty="0" smtClean="0"/>
              <a:t>END</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17</a:t>
            </a:fld>
            <a:endParaRPr lang="zh-TW" altLang="en-US"/>
          </a:p>
        </p:txBody>
      </p:sp>
      <p:pic>
        <p:nvPicPr>
          <p:cNvPr id="5122" name="Picture 2" descr="http://www.domonation.com/uploadedimages/AznDomoGirl22/Domo.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707904" y="4142605"/>
            <a:ext cx="4057650" cy="268605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63035562"/>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E0016CCB-BDEC-45F3-982A-D76E3F4EE2CF}" type="slidenum">
              <a:rPr lang="zh-TW" altLang="en-US" smtClean="0"/>
              <a:pPr/>
              <a:t>18</a:t>
            </a:fld>
            <a:endParaRPr lang="zh-TW" altLang="en-US"/>
          </a:p>
        </p:txBody>
      </p:sp>
      <p:graphicFrame>
        <p:nvGraphicFramePr>
          <p:cNvPr id="5" name="表格 4"/>
          <p:cNvGraphicFramePr>
            <a:graphicFrameLocks noGrp="1"/>
          </p:cNvGraphicFramePr>
          <p:nvPr>
            <p:extLst>
              <p:ext uri="{D42A27DB-BD31-4B8C-83A1-F6EECF244321}">
                <p14:modId xmlns="" xmlns:p14="http://schemas.microsoft.com/office/powerpoint/2010/main" val="3208033985"/>
              </p:ext>
            </p:extLst>
          </p:nvPr>
        </p:nvGraphicFramePr>
        <p:xfrm>
          <a:off x="179512" y="2348879"/>
          <a:ext cx="2592288" cy="3571591"/>
        </p:xfrm>
        <a:graphic>
          <a:graphicData uri="http://schemas.openxmlformats.org/drawingml/2006/table">
            <a:tbl>
              <a:tblPr firstRow="1" bandRow="1">
                <a:tableStyleId>{5C22544A-7EE6-4342-B048-85BDC9FD1C3A}</a:tableStyleId>
              </a:tblPr>
              <a:tblGrid>
                <a:gridCol w="193868"/>
                <a:gridCol w="268456"/>
                <a:gridCol w="187087"/>
                <a:gridCol w="187087"/>
                <a:gridCol w="187087"/>
                <a:gridCol w="187087"/>
                <a:gridCol w="187087"/>
                <a:gridCol w="187087"/>
                <a:gridCol w="187087"/>
                <a:gridCol w="187087"/>
                <a:gridCol w="187087"/>
                <a:gridCol w="187087"/>
                <a:gridCol w="259094"/>
              </a:tblGrid>
              <a:tr h="277036">
                <a:tc rowSpan="2" gridSpan="2">
                  <a:txBody>
                    <a:bodyPr/>
                    <a:lstStyle/>
                    <a:p>
                      <a:pPr algn="ctr"/>
                      <a:r>
                        <a:rPr lang="en-US" altLang="zh-TW" dirty="0" smtClean="0"/>
                        <a:t>A’=</a:t>
                      </a:r>
                      <a:endParaRPr lang="en-US" altLang="zh-TW" sz="1800" b="0" i="0" kern="1200" dirty="0" smtClean="0">
                        <a:solidFill>
                          <a:schemeClr val="lt1"/>
                        </a:solidFill>
                        <a:effectLst/>
                        <a:latin typeface="+mn-lt"/>
                        <a:ea typeface="+mn-ea"/>
                        <a:cs typeface="+mn-cs"/>
                      </a:endParaRPr>
                    </a:p>
                    <a:p>
                      <a:pPr algn="ctr"/>
                      <a:r>
                        <a:rPr lang="en-US" altLang="zh-TW" sz="1800" b="0" i="0" kern="1200" dirty="0" smtClean="0">
                          <a:solidFill>
                            <a:schemeClr val="lt1"/>
                          </a:solidFill>
                          <a:effectLst/>
                          <a:latin typeface="+mn-lt"/>
                          <a:ea typeface="+mn-ea"/>
                          <a:cs typeface="+mn-cs"/>
                        </a:rPr>
                        <a:t>{a}</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7035">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10</a:t>
                      </a:r>
                      <a:endParaRPr lang="zh-TW" altLang="en-US" dirty="0">
                        <a:solidFill>
                          <a:schemeClr val="bg1"/>
                        </a:solidFill>
                      </a:endParaRPr>
                    </a:p>
                  </a:txBody>
                  <a:tcPr marL="0" marR="0" marT="0" marB="0">
                    <a:solidFill>
                      <a:schemeClr val="accent1"/>
                    </a:solidFill>
                  </a:tcPr>
                </a:tc>
              </a:tr>
              <a:tr h="263847">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 </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rgbClr val="FF0000"/>
                          </a:solidFill>
                        </a:rPr>
                        <a:t>1</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rgbClr val="FF0000"/>
                          </a:solidFill>
                        </a:rPr>
                        <a:t>3</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4</a:t>
                      </a:r>
                      <a:endParaRPr lang="zh-TW" altLang="en-US" dirty="0"/>
                    </a:p>
                  </a:txBody>
                  <a:tcPr marL="0" marR="0" marT="0" marB="0">
                    <a:solidFill>
                      <a:schemeClr val="tx2">
                        <a:lumMod val="20000"/>
                        <a:lumOff val="80000"/>
                      </a:schemeClr>
                    </a:solidFill>
                  </a:tcPr>
                </a:tc>
                <a:tc>
                  <a:txBody>
                    <a:bodyPr/>
                    <a:lstStyle/>
                    <a:p>
                      <a:pPr algn="ctr"/>
                      <a:r>
                        <a:rPr lang="en-US" altLang="zh-TW" dirty="0" smtClean="0"/>
                        <a:t>4</a:t>
                      </a:r>
                      <a:endParaRPr lang="zh-TW" altLang="en-US" dirty="0"/>
                    </a:p>
                  </a:txBody>
                  <a:tcPr marL="0" marR="0" marT="0" marB="0">
                    <a:solidFill>
                      <a:schemeClr val="tx2">
                        <a:lumMod val="20000"/>
                        <a:lumOff val="80000"/>
                      </a:schemeClr>
                    </a:solidFill>
                  </a:tcPr>
                </a:tc>
              </a:tr>
              <a:tr h="263847">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4</a:t>
                      </a:r>
                      <a:endParaRPr lang="zh-TW" altLang="en-US" dirty="0"/>
                    </a:p>
                  </a:txBody>
                  <a:tcPr marL="0" marR="0" marT="0" marB="0">
                    <a:solidFill>
                      <a:schemeClr val="tx2">
                        <a:lumMod val="20000"/>
                        <a:lumOff val="80000"/>
                      </a:schemeClr>
                    </a:solidFill>
                  </a:tcPr>
                </a:tc>
                <a:tc>
                  <a:txBody>
                    <a:bodyPr/>
                    <a:lstStyle/>
                    <a:p>
                      <a:pPr algn="ctr"/>
                      <a:r>
                        <a:rPr lang="en-US" altLang="zh-TW" dirty="0" smtClean="0"/>
                        <a:t>4</a:t>
                      </a:r>
                      <a:endParaRPr lang="zh-TW" altLang="en-US" dirty="0"/>
                    </a:p>
                  </a:txBody>
                  <a:tcPr marL="0" marR="0" marT="0" marB="0">
                    <a:solidFill>
                      <a:schemeClr val="tx2">
                        <a:lumMod val="20000"/>
                        <a:lumOff val="80000"/>
                      </a:schemeClr>
                    </a:solidFill>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3785302484"/>
              </p:ext>
            </p:extLst>
          </p:nvPr>
        </p:nvGraphicFramePr>
        <p:xfrm>
          <a:off x="3347864" y="1441478"/>
          <a:ext cx="2651674" cy="3566160"/>
        </p:xfrm>
        <a:graphic>
          <a:graphicData uri="http://schemas.openxmlformats.org/drawingml/2006/table">
            <a:tbl>
              <a:tblPr firstRow="1" bandRow="1">
                <a:tableStyleId>{5C22544A-7EE6-4342-B048-85BDC9FD1C3A}</a:tableStyleId>
              </a:tblPr>
              <a:tblGrid>
                <a:gridCol w="198436"/>
                <a:gridCol w="293002"/>
                <a:gridCol w="188979"/>
                <a:gridCol w="188979"/>
                <a:gridCol w="188979"/>
                <a:gridCol w="188979"/>
                <a:gridCol w="188979"/>
                <a:gridCol w="188979"/>
                <a:gridCol w="188979"/>
                <a:gridCol w="188979"/>
                <a:gridCol w="188979"/>
                <a:gridCol w="188979"/>
                <a:gridCol w="270446"/>
              </a:tblGrid>
              <a:tr h="270992">
                <a:tc rowSpan="2" gridSpan="2">
                  <a:txBody>
                    <a:bodyPr/>
                    <a:lstStyle/>
                    <a:p>
                      <a:pPr algn="ctr"/>
                      <a:r>
                        <a:rPr lang="en-US" altLang="zh-TW" dirty="0" smtClean="0"/>
                        <a:t>A’=</a:t>
                      </a:r>
                    </a:p>
                    <a:p>
                      <a:pPr algn="ctr"/>
                      <a:r>
                        <a:rPr lang="en-US" altLang="zh-TW" sz="1800" b="0" i="0" kern="1200" dirty="0" smtClean="0">
                          <a:solidFill>
                            <a:schemeClr val="lt1"/>
                          </a:solidFill>
                          <a:effectLst/>
                          <a:latin typeface="+mn-lt"/>
                          <a:ea typeface="+mn-ea"/>
                          <a:cs typeface="+mn-cs"/>
                        </a:rPr>
                        <a:t>{b}</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270992">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10</a:t>
                      </a:r>
                      <a:endParaRPr lang="zh-TW" altLang="en-US" dirty="0">
                        <a:solidFill>
                          <a:schemeClr val="bg1"/>
                        </a:solidFill>
                      </a:endParaRPr>
                    </a:p>
                  </a:txBody>
                  <a:tcPr marL="0" marR="0" marT="0" marB="0">
                    <a:solidFill>
                      <a:schemeClr val="accent1"/>
                    </a:solidFill>
                  </a:tcPr>
                </a:tc>
              </a:tr>
              <a:tr h="270992">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rgbClr val="FF0000"/>
                          </a:solidFill>
                        </a:rPr>
                        <a:t>1</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rgbClr val="FF0000"/>
                          </a:solidFill>
                        </a:rPr>
                        <a:t>2</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c>
                  <a:txBody>
                    <a:bodyPr/>
                    <a:lstStyle/>
                    <a:p>
                      <a:pPr algn="ctr"/>
                      <a:r>
                        <a:rPr lang="en-US" altLang="zh-TW" dirty="0" smtClean="0"/>
                        <a:t>2</a:t>
                      </a:r>
                      <a:endParaRPr lang="zh-TW" altLang="en-US" dirty="0"/>
                    </a:p>
                  </a:txBody>
                  <a:tcPr marL="0" marR="0" marT="0" marB="0">
                    <a:solidFill>
                      <a:schemeClr val="tx2">
                        <a:lumMod val="20000"/>
                        <a:lumOff val="80000"/>
                      </a:schemeClr>
                    </a:solidFill>
                  </a:tcPr>
                </a:tc>
              </a:tr>
              <a:tr h="270992">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t>4</a:t>
                      </a:r>
                      <a:endParaRPr lang="zh-TW" altLang="en-US" dirty="0"/>
                    </a:p>
                  </a:txBody>
                  <a:tcPr marL="0" marR="0" marT="0" marB="0">
                    <a:solidFill>
                      <a:schemeClr val="tx2">
                        <a:lumMod val="20000"/>
                        <a:lumOff val="80000"/>
                      </a:schemeClr>
                    </a:solidFill>
                  </a:tcPr>
                </a:tc>
              </a:tr>
            </a:tbl>
          </a:graphicData>
        </a:graphic>
      </p:graphicFrame>
      <p:graphicFrame>
        <p:nvGraphicFramePr>
          <p:cNvPr id="8" name="表格 7"/>
          <p:cNvGraphicFramePr>
            <a:graphicFrameLocks noGrp="1"/>
          </p:cNvGraphicFramePr>
          <p:nvPr>
            <p:extLst>
              <p:ext uri="{D42A27DB-BD31-4B8C-83A1-F6EECF244321}">
                <p14:modId xmlns="" xmlns:p14="http://schemas.microsoft.com/office/powerpoint/2010/main" val="1530466447"/>
              </p:ext>
            </p:extLst>
          </p:nvPr>
        </p:nvGraphicFramePr>
        <p:xfrm>
          <a:off x="6516218" y="2420892"/>
          <a:ext cx="2457274" cy="3611400"/>
        </p:xfrm>
        <a:graphic>
          <a:graphicData uri="http://schemas.openxmlformats.org/drawingml/2006/table">
            <a:tbl>
              <a:tblPr firstRow="1" bandRow="1">
                <a:tableStyleId>{5C22544A-7EE6-4342-B048-85BDC9FD1C3A}</a:tableStyleId>
              </a:tblPr>
              <a:tblGrid>
                <a:gridCol w="183137"/>
                <a:gridCol w="285371"/>
                <a:gridCol w="172914"/>
                <a:gridCol w="172914"/>
                <a:gridCol w="172914"/>
                <a:gridCol w="172914"/>
                <a:gridCol w="172914"/>
                <a:gridCol w="172914"/>
                <a:gridCol w="172914"/>
                <a:gridCol w="172914"/>
                <a:gridCol w="172914"/>
                <a:gridCol w="172914"/>
                <a:gridCol w="259626"/>
              </a:tblGrid>
              <a:tr h="275680">
                <a:tc rowSpan="2" gridSpan="2">
                  <a:txBody>
                    <a:bodyPr/>
                    <a:lstStyle/>
                    <a:p>
                      <a:pPr algn="ctr"/>
                      <a:r>
                        <a:rPr lang="en-US" altLang="zh-TW" dirty="0" smtClean="0"/>
                        <a:t>A’=</a:t>
                      </a:r>
                    </a:p>
                    <a:p>
                      <a:pPr algn="ctr"/>
                      <a:r>
                        <a:rPr lang="en-US" altLang="zh-TW" sz="1800" b="0" i="0" kern="1200" dirty="0" smtClean="0">
                          <a:solidFill>
                            <a:schemeClr val="lt1"/>
                          </a:solidFill>
                          <a:effectLst/>
                          <a:latin typeface="+mn-lt"/>
                          <a:ea typeface="+mn-ea"/>
                          <a:cs typeface="+mn-cs"/>
                        </a:rPr>
                        <a:t>{</a:t>
                      </a:r>
                      <a:r>
                        <a:rPr lang="en-US" altLang="zh-TW" sz="1800" b="0" i="0" kern="1200" dirty="0" err="1" smtClean="0">
                          <a:solidFill>
                            <a:schemeClr val="lt1"/>
                          </a:solidFill>
                          <a:effectLst/>
                          <a:latin typeface="+mn-lt"/>
                          <a:ea typeface="+mn-ea"/>
                          <a:cs typeface="+mn-cs"/>
                        </a:rPr>
                        <a:t>a,b</a:t>
                      </a:r>
                      <a:r>
                        <a:rPr lang="en-US" altLang="zh-TW" sz="1800" b="0" i="0" kern="1200" dirty="0" smtClean="0">
                          <a:solidFill>
                            <a:schemeClr val="lt1"/>
                          </a:solidFill>
                          <a:effectLst/>
                          <a:latin typeface="+mn-lt"/>
                          <a:ea typeface="+mn-ea"/>
                          <a:cs typeface="+mn-cs"/>
                        </a:rPr>
                        <a:t>}</a:t>
                      </a:r>
                      <a:endParaRPr lang="en-US" altLang="zh-TW" dirty="0" smtClean="0"/>
                    </a:p>
                  </a:txBody>
                  <a:tcPr marL="0" marR="0" marT="0" marB="0"/>
                </a:tc>
                <a:tc rowSpan="2" hMerge="1">
                  <a:txBody>
                    <a:bodyPr/>
                    <a:lstStyle/>
                    <a:p>
                      <a:endParaRPr lang="zh-TW" altLang="en-US" dirty="0"/>
                    </a:p>
                  </a:txBody>
                  <a:tcPr/>
                </a:tc>
                <a:tc>
                  <a:txBody>
                    <a:bodyPr/>
                    <a:lstStyle/>
                    <a:p>
                      <a:pPr algn="ct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c</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c>
                  <a:txBody>
                    <a:bodyPr/>
                    <a:lstStyle/>
                    <a:p>
                      <a:pPr algn="ctr"/>
                      <a:r>
                        <a:rPr lang="en-US" altLang="zh-TW" dirty="0" smtClean="0"/>
                        <a:t>e</a:t>
                      </a:r>
                      <a:endParaRPr lang="zh-TW" altLang="en-US" dirty="0"/>
                    </a:p>
                  </a:txBody>
                  <a:tcPr marL="0" marR="0" marT="0" marB="0"/>
                </a:tc>
                <a:tc>
                  <a:txBody>
                    <a:bodyPr/>
                    <a:lstStyle/>
                    <a:p>
                      <a:pPr algn="ctr"/>
                      <a:r>
                        <a:rPr lang="en-US" altLang="zh-TW" dirty="0" smtClean="0"/>
                        <a:t>a</a:t>
                      </a:r>
                      <a:endParaRPr lang="zh-TW" altLang="en-US" dirty="0"/>
                    </a:p>
                  </a:txBody>
                  <a:tcPr marL="0" marR="0" marT="0" marB="0"/>
                </a:tc>
                <a:tc>
                  <a:txBody>
                    <a:bodyPr/>
                    <a:lstStyle/>
                    <a:p>
                      <a:pPr algn="ctr"/>
                      <a:r>
                        <a:rPr lang="en-US" altLang="zh-TW" dirty="0" smtClean="0"/>
                        <a:t>b</a:t>
                      </a:r>
                      <a:endParaRPr lang="zh-TW" altLang="en-US" dirty="0"/>
                    </a:p>
                  </a:txBody>
                  <a:tcPr marL="0" marR="0" marT="0" marB="0"/>
                </a:tc>
              </a:tr>
              <a:tr h="303240">
                <a:tc gridSpan="2" vMerge="1">
                  <a:txBody>
                    <a:bodyPr/>
                    <a:lstStyle/>
                    <a:p>
                      <a:endParaRPr lang="zh-TW" altLang="en-US" dirty="0"/>
                    </a:p>
                  </a:txBody>
                  <a:tcPr/>
                </a:tc>
                <a:tc hMerge="1" vMerge="1">
                  <a:txBody>
                    <a:bodyPr/>
                    <a:lstStyle/>
                    <a:p>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2</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3</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4</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5</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6</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7</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8</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9</a:t>
                      </a:r>
                      <a:endParaRPr lang="zh-TW" altLang="en-US" dirty="0">
                        <a:solidFill>
                          <a:schemeClr val="bg1"/>
                        </a:solidFill>
                      </a:endParaRPr>
                    </a:p>
                  </a:txBody>
                  <a:tcPr marL="0" marR="0" marT="0" marB="0">
                    <a:solidFill>
                      <a:schemeClr val="accent1"/>
                    </a:solidFill>
                  </a:tcPr>
                </a:tc>
                <a:tc>
                  <a:txBody>
                    <a:bodyPr/>
                    <a:lstStyle/>
                    <a:p>
                      <a:pPr algn="ctr"/>
                      <a:r>
                        <a:rPr lang="en-US" altLang="zh-TW" dirty="0" smtClean="0">
                          <a:solidFill>
                            <a:schemeClr val="bg1"/>
                          </a:solidFill>
                        </a:rPr>
                        <a:t>10</a:t>
                      </a:r>
                      <a:endParaRPr lang="zh-TW" altLang="en-US" dirty="0">
                        <a:solidFill>
                          <a:schemeClr val="bg1"/>
                        </a:solidFill>
                      </a:endParaRPr>
                    </a:p>
                  </a:txBody>
                  <a:tcPr marL="0" marR="0" marT="0" marB="0">
                    <a:solidFill>
                      <a:schemeClr val="accent1"/>
                    </a:solidFill>
                  </a:tcPr>
                </a:tc>
              </a:tr>
              <a:tr h="275680">
                <a:tc>
                  <a:txBody>
                    <a:bodyPr/>
                    <a:lstStyle/>
                    <a:p>
                      <a:pPr algn="ct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2</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3</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4</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5</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c</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6</a:t>
                      </a:r>
                      <a:endParaRPr lang="zh-TW" altLang="en-US" b="1" dirty="0">
                        <a:solidFill>
                          <a:schemeClr val="bg1"/>
                        </a:solidFill>
                      </a:endParaRPr>
                    </a:p>
                  </a:txBody>
                  <a:tcPr marL="0" marR="0" marT="0" marB="0">
                    <a:solidFill>
                      <a:schemeClr val="accent1"/>
                    </a:solidFill>
                  </a:tcPr>
                </a:tc>
                <a:tc>
                  <a:txBody>
                    <a:bodyPr/>
                    <a:lstStyle/>
                    <a:p>
                      <a:pPr algn="ctr"/>
                      <a:endParaRPr lang="zh-TW" altLang="en-US"/>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7</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0</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1</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1</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1</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1</a:t>
                      </a:r>
                      <a:endParaRPr lang="zh-TW" altLang="en-US" b="0" dirty="0"/>
                    </a:p>
                  </a:txBody>
                  <a:tcPr marL="0" marR="0" marT="0" marB="0">
                    <a:solidFill>
                      <a:schemeClr val="tx2">
                        <a:lumMod val="20000"/>
                        <a:lumOff val="80000"/>
                      </a:schemeClr>
                    </a:solidFill>
                  </a:tcPr>
                </a:tc>
                <a:tc>
                  <a:txBody>
                    <a:bodyPr/>
                    <a:lstStyle/>
                    <a:p>
                      <a:pPr algn="ctr"/>
                      <a:r>
                        <a:rPr lang="en-US" altLang="zh-TW" b="0" dirty="0" smtClean="0"/>
                        <a:t>1</a:t>
                      </a:r>
                      <a:endParaRPr lang="zh-TW" altLang="en-US" b="0"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e</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8</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a</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9</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0</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rgbClr val="FF0000"/>
                          </a:solidFill>
                        </a:rPr>
                        <a:t>2</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solidFill>
                            <a:srgbClr val="FF0000"/>
                          </a:solidFill>
                        </a:rPr>
                        <a:t>2</a:t>
                      </a:r>
                      <a:endParaRPr lang="zh-TW" altLang="en-US" dirty="0">
                        <a:solidFill>
                          <a:srgbClr val="FF0000"/>
                        </a:solidFill>
                      </a:endParaRPr>
                    </a:p>
                  </a:txBody>
                  <a:tcPr marL="0" marR="0" marT="0" marB="0">
                    <a:solidFill>
                      <a:schemeClr val="tx2">
                        <a:lumMod val="20000"/>
                        <a:lumOff val="80000"/>
                      </a:schemeClr>
                    </a:solidFill>
                  </a:tcPr>
                </a:tc>
              </a:tr>
              <a:tr h="275680">
                <a:tc>
                  <a:txBody>
                    <a:bodyPr/>
                    <a:lstStyle/>
                    <a:p>
                      <a:pPr algn="ctr"/>
                      <a:r>
                        <a:rPr lang="en-US" altLang="zh-TW" b="1" dirty="0" smtClean="0">
                          <a:solidFill>
                            <a:schemeClr val="bg1"/>
                          </a:solidFill>
                        </a:rPr>
                        <a:t>b</a:t>
                      </a:r>
                      <a:endParaRPr lang="zh-TW" altLang="en-US" b="1" dirty="0">
                        <a:solidFill>
                          <a:schemeClr val="bg1"/>
                        </a:solidFill>
                      </a:endParaRPr>
                    </a:p>
                  </a:txBody>
                  <a:tcPr marL="0" marR="0" marT="0" marB="0">
                    <a:solidFill>
                      <a:schemeClr val="accent1"/>
                    </a:solidFill>
                  </a:tcPr>
                </a:tc>
                <a:tc>
                  <a:txBody>
                    <a:bodyPr/>
                    <a:lstStyle/>
                    <a:p>
                      <a:pPr algn="ctr"/>
                      <a:r>
                        <a:rPr lang="en-US" altLang="zh-TW" b="1" dirty="0" smtClean="0">
                          <a:solidFill>
                            <a:schemeClr val="bg1"/>
                          </a:solidFill>
                        </a:rPr>
                        <a:t>10</a:t>
                      </a:r>
                      <a:endParaRPr lang="zh-TW" altLang="en-US" b="1" dirty="0">
                        <a:solidFill>
                          <a:schemeClr val="bg1"/>
                        </a:solidFill>
                      </a:endParaRPr>
                    </a:p>
                  </a:txBody>
                  <a:tcPr marL="0" marR="0" marT="0" marB="0">
                    <a:solidFill>
                      <a:schemeClr val="accent1"/>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1</a:t>
                      </a:r>
                      <a:endParaRPr lang="zh-TW" altLang="en-US" dirty="0"/>
                    </a:p>
                  </a:txBody>
                  <a:tcPr marL="0" marR="0" marT="0" marB="0">
                    <a:solidFill>
                      <a:schemeClr val="tx2">
                        <a:lumMod val="20000"/>
                        <a:lumOff val="80000"/>
                      </a:schemeClr>
                    </a:solidFill>
                  </a:tcPr>
                </a:tc>
                <a:tc>
                  <a:txBody>
                    <a:bodyPr/>
                    <a:lstStyle/>
                    <a:p>
                      <a:pPr algn="ctr"/>
                      <a:r>
                        <a:rPr lang="en-US" altLang="zh-TW" dirty="0" smtClean="0"/>
                        <a:t>3</a:t>
                      </a:r>
                      <a:endParaRPr lang="zh-TW" altLang="en-US" dirty="0"/>
                    </a:p>
                  </a:txBody>
                  <a:tcPr marL="0" marR="0" marT="0" marB="0">
                    <a:solidFill>
                      <a:schemeClr val="tx2">
                        <a:lumMod val="20000"/>
                        <a:lumOff val="80000"/>
                      </a:schemeClr>
                    </a:solidFill>
                  </a:tcPr>
                </a:tc>
                <a:tc>
                  <a:txBody>
                    <a:bodyPr/>
                    <a:lstStyle/>
                    <a:p>
                      <a:pPr algn="ctr"/>
                      <a:r>
                        <a:rPr lang="en-US" altLang="zh-TW" dirty="0" smtClean="0">
                          <a:solidFill>
                            <a:srgbClr val="FF0000"/>
                          </a:solidFill>
                        </a:rPr>
                        <a:t>3</a:t>
                      </a:r>
                      <a:endParaRPr lang="zh-TW" altLang="en-US" dirty="0">
                        <a:solidFill>
                          <a:srgbClr val="FF0000"/>
                        </a:solidFill>
                      </a:endParaRPr>
                    </a:p>
                  </a:txBody>
                  <a:tcPr marL="0" marR="0" marT="0" marB="0">
                    <a:solidFill>
                      <a:schemeClr val="tx2">
                        <a:lumMod val="20000"/>
                        <a:lumOff val="80000"/>
                      </a:schemeClr>
                    </a:solidFill>
                  </a:tcPr>
                </a:tc>
                <a:tc>
                  <a:txBody>
                    <a:bodyPr/>
                    <a:lstStyle/>
                    <a:p>
                      <a:pPr algn="ctr"/>
                      <a:r>
                        <a:rPr lang="en-US" altLang="zh-TW" dirty="0" smtClean="0">
                          <a:solidFill>
                            <a:srgbClr val="FF0000"/>
                          </a:solidFill>
                        </a:rPr>
                        <a:t>4</a:t>
                      </a:r>
                      <a:endParaRPr lang="zh-TW" altLang="en-US" dirty="0">
                        <a:solidFill>
                          <a:srgbClr val="FF0000"/>
                        </a:solidFill>
                      </a:endParaRPr>
                    </a:p>
                  </a:txBody>
                  <a:tcPr marL="0" marR="0" marT="0" marB="0">
                    <a:solidFill>
                      <a:schemeClr val="tx2">
                        <a:lumMod val="20000"/>
                        <a:lumOff val="80000"/>
                      </a:schemeClr>
                    </a:solidFill>
                  </a:tcPr>
                </a:tc>
              </a:tr>
            </a:tbl>
          </a:graphicData>
        </a:graphic>
      </p:graphicFrame>
      <p:cxnSp>
        <p:nvCxnSpPr>
          <p:cNvPr id="16" name="直線單箭頭接點 15"/>
          <p:cNvCxnSpPr>
            <a:stCxn id="6" idx="3"/>
            <a:endCxn id="8" idx="1"/>
          </p:cNvCxnSpPr>
          <p:nvPr/>
        </p:nvCxnSpPr>
        <p:spPr>
          <a:xfrm>
            <a:off x="5999538" y="3224558"/>
            <a:ext cx="516680" cy="100203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7" name="直線單箭頭接點 16"/>
          <p:cNvCxnSpPr>
            <a:stCxn id="5" idx="2"/>
            <a:endCxn id="8" idx="2"/>
          </p:cNvCxnSpPr>
          <p:nvPr/>
        </p:nvCxnSpPr>
        <p:spPr>
          <a:xfrm>
            <a:off x="1475656" y="5920470"/>
            <a:ext cx="6269199" cy="11182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2" name="矩形 21"/>
          <p:cNvSpPr/>
          <p:nvPr/>
        </p:nvSpPr>
        <p:spPr>
          <a:xfrm>
            <a:off x="107504" y="64533"/>
            <a:ext cx="8568952" cy="2108269"/>
          </a:xfrm>
          <a:prstGeom prst="rect">
            <a:avLst/>
          </a:prstGeom>
        </p:spPr>
        <p:txBody>
          <a:bodyPr wrap="square">
            <a:spAutoFit/>
          </a:bodyPr>
          <a:lstStyle/>
          <a:p>
            <a:r>
              <a:rPr lang="en-US" altLang="zh-TW" sz="2500" dirty="0" smtClean="0"/>
              <a:t>S</a:t>
            </a:r>
            <a:r>
              <a:rPr lang="en-US" altLang="zh-TW" sz="2500" baseline="-25000" dirty="0" smtClean="0"/>
              <a:t>1</a:t>
            </a:r>
            <a:r>
              <a:rPr lang="en-US" altLang="zh-TW" sz="2500" dirty="0" smtClean="0"/>
              <a:t>=</a:t>
            </a:r>
            <a:r>
              <a:rPr lang="en-US" altLang="zh-TW" sz="2500" dirty="0" smtClean="0">
                <a:solidFill>
                  <a:srgbClr val="FF0000"/>
                </a:solidFill>
              </a:rPr>
              <a:t>a b </a:t>
            </a:r>
            <a:r>
              <a:rPr lang="en-US" altLang="zh-TW" sz="2500" dirty="0" smtClean="0"/>
              <a:t>c e </a:t>
            </a:r>
            <a:r>
              <a:rPr lang="en-US" altLang="zh-TW" sz="2500" dirty="0" smtClean="0">
                <a:solidFill>
                  <a:srgbClr val="FF0000"/>
                </a:solidFill>
              </a:rPr>
              <a:t>b </a:t>
            </a:r>
            <a:r>
              <a:rPr lang="en-US" altLang="zh-TW" sz="2500" dirty="0" smtClean="0"/>
              <a:t>c </a:t>
            </a:r>
            <a:r>
              <a:rPr lang="en-US" altLang="zh-TW" sz="2500" dirty="0" smtClean="0">
                <a:solidFill>
                  <a:srgbClr val="FF0000"/>
                </a:solidFill>
              </a:rPr>
              <a:t>a </a:t>
            </a:r>
            <a:r>
              <a:rPr lang="en-US" altLang="zh-TW" sz="2500" dirty="0" smtClean="0"/>
              <a:t>e a b		</a:t>
            </a:r>
          </a:p>
          <a:p>
            <a:r>
              <a:rPr lang="en-US" altLang="zh-TW" sz="2500" dirty="0" smtClean="0"/>
              <a:t>S</a:t>
            </a:r>
            <a:r>
              <a:rPr lang="en-US" altLang="zh-TW" sz="2500" baseline="-25000" dirty="0" smtClean="0"/>
              <a:t>2</a:t>
            </a:r>
            <a:r>
              <a:rPr lang="en-US" altLang="zh-TW" sz="2500" dirty="0" smtClean="0"/>
              <a:t>=c </a:t>
            </a:r>
            <a:r>
              <a:rPr lang="en-US" altLang="zh-TW" sz="2500" dirty="0" smtClean="0">
                <a:solidFill>
                  <a:srgbClr val="FF0000"/>
                </a:solidFill>
              </a:rPr>
              <a:t>a b </a:t>
            </a:r>
            <a:r>
              <a:rPr lang="en-US" altLang="zh-TW" sz="2500" dirty="0" smtClean="0"/>
              <a:t>e c </a:t>
            </a:r>
            <a:r>
              <a:rPr lang="en-US" altLang="zh-TW" sz="2500" dirty="0" smtClean="0">
                <a:solidFill>
                  <a:srgbClr val="FF0000"/>
                </a:solidFill>
              </a:rPr>
              <a:t>a b </a:t>
            </a:r>
            <a:r>
              <a:rPr lang="en-US" altLang="zh-TW" sz="2500" dirty="0" smtClean="0"/>
              <a:t>e a b</a:t>
            </a:r>
          </a:p>
          <a:p>
            <a:r>
              <a:rPr lang="en-US" altLang="zh-TW" sz="2400" dirty="0" smtClean="0"/>
              <a:t>2-ELCS(1)=</a:t>
            </a:r>
            <a:r>
              <a:rPr lang="en-US" altLang="zh-TW" sz="2800" dirty="0" smtClean="0">
                <a:solidFill>
                  <a:srgbClr val="FF0000"/>
                </a:solidFill>
              </a:rPr>
              <a:t> c </a:t>
            </a:r>
            <a:r>
              <a:rPr lang="en-US" altLang="zh-TW" sz="2800" dirty="0" smtClean="0"/>
              <a:t>e c a e b</a:t>
            </a:r>
          </a:p>
          <a:p>
            <a:r>
              <a:rPr lang="en-US" altLang="zh-TW" sz="2800" dirty="0"/>
              <a:t>	 </a:t>
            </a:r>
            <a:r>
              <a:rPr lang="en-US" altLang="zh-TW" sz="2800" dirty="0" smtClean="0"/>
              <a:t>     c e c e a b</a:t>
            </a:r>
          </a:p>
          <a:p>
            <a:endParaRPr lang="en-US" altLang="zh-TW" sz="2500" dirty="0" smtClean="0"/>
          </a:p>
        </p:txBody>
      </p:sp>
    </p:spTree>
    <p:extLst>
      <p:ext uri="{BB962C8B-B14F-4D97-AF65-F5344CB8AC3E}">
        <p14:creationId xmlns="" xmlns:p14="http://schemas.microsoft.com/office/powerpoint/2010/main" val="3304215160"/>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Complexity of </a:t>
            </a:r>
            <a:r>
              <a:rPr lang="en-US" altLang="zh-TW" dirty="0" smtClean="0"/>
              <a:t/>
            </a:r>
            <a:br>
              <a:rPr lang="en-US" altLang="zh-TW" dirty="0" smtClean="0"/>
            </a:br>
            <a:r>
              <a:rPr lang="en-US" altLang="zh-TW" dirty="0" smtClean="0"/>
              <a:t>2-ELCS(1,≤1)&amp;2-ELCS(≥1,≤1)</a:t>
            </a:r>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19</a:t>
            </a:fld>
            <a:endParaRPr lang="zh-TW" altLang="en-US"/>
          </a:p>
        </p:txBody>
      </p:sp>
      <p:pic>
        <p:nvPicPr>
          <p:cNvPr id="1331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79512" y="2420888"/>
            <a:ext cx="5300440" cy="31683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矩形 5"/>
          <p:cNvSpPr/>
          <p:nvPr/>
        </p:nvSpPr>
        <p:spPr>
          <a:xfrm>
            <a:off x="7380312" y="980728"/>
            <a:ext cx="1858009" cy="477054"/>
          </a:xfrm>
          <a:prstGeom prst="rect">
            <a:avLst/>
          </a:prstGeom>
        </p:spPr>
        <p:txBody>
          <a:bodyPr wrap="none">
            <a:spAutoFit/>
          </a:bodyPr>
          <a:lstStyle/>
          <a:p>
            <a:r>
              <a:rPr lang="en-US" altLang="zh-TW" sz="2500" dirty="0" smtClean="0"/>
              <a:t>=&gt;  </a:t>
            </a:r>
            <a:r>
              <a:rPr lang="en-US" altLang="zh-TW" sz="2500" dirty="0" smtClean="0">
                <a:solidFill>
                  <a:srgbClr val="FF0000"/>
                </a:solidFill>
              </a:rPr>
              <a:t>APX-hard</a:t>
            </a:r>
            <a:endParaRPr lang="zh-TW" altLang="en-US" sz="2500" dirty="0">
              <a:solidFill>
                <a:srgbClr val="FF0000"/>
              </a:solidFill>
            </a:endParaRPr>
          </a:p>
        </p:txBody>
      </p:sp>
      <p:sp>
        <p:nvSpPr>
          <p:cNvPr id="7" name="矩形 6"/>
          <p:cNvSpPr/>
          <p:nvPr/>
        </p:nvSpPr>
        <p:spPr>
          <a:xfrm>
            <a:off x="539552" y="1556792"/>
            <a:ext cx="8424936" cy="477054"/>
          </a:xfrm>
          <a:prstGeom prst="rect">
            <a:avLst/>
          </a:prstGeom>
        </p:spPr>
        <p:txBody>
          <a:bodyPr wrap="square">
            <a:spAutoFit/>
          </a:bodyPr>
          <a:lstStyle/>
          <a:p>
            <a:pPr marL="342900" indent="-342900">
              <a:buFont typeface="Arial" pitchFamily="34" charset="0"/>
              <a:buChar char="•"/>
            </a:pPr>
            <a:r>
              <a:rPr lang="en-US" altLang="zh-TW" sz="2500" dirty="0" smtClean="0"/>
              <a:t>Each symbol appears at most twice in each input sequence</a:t>
            </a:r>
            <a:endParaRPr lang="zh-TW" altLang="en-US" sz="2500" dirty="0"/>
          </a:p>
        </p:txBody>
      </p:sp>
      <p:sp>
        <p:nvSpPr>
          <p:cNvPr id="8" name="矩形 7"/>
          <p:cNvSpPr/>
          <p:nvPr/>
        </p:nvSpPr>
        <p:spPr>
          <a:xfrm>
            <a:off x="539552" y="5879013"/>
            <a:ext cx="7848872" cy="646331"/>
          </a:xfrm>
          <a:prstGeom prst="rect">
            <a:avLst/>
          </a:prstGeom>
        </p:spPr>
        <p:txBody>
          <a:bodyPr wrap="square">
            <a:spAutoFit/>
          </a:bodyPr>
          <a:lstStyle/>
          <a:p>
            <a:r>
              <a:rPr lang="en-US" altLang="zh-TW" dirty="0"/>
              <a:t>L-reduction from the MAX INDEPENDENT SET problem </a:t>
            </a:r>
            <a:r>
              <a:rPr lang="en-US" altLang="zh-TW" dirty="0" smtClean="0"/>
              <a:t>on a </a:t>
            </a:r>
            <a:r>
              <a:rPr lang="en-US" altLang="zh-TW" dirty="0"/>
              <a:t>cubic graph (MISC) to </a:t>
            </a:r>
            <a:r>
              <a:rPr lang="en-US" altLang="zh-TW" dirty="0" smtClean="0"/>
              <a:t>2-ELCS(1,≤1)</a:t>
            </a:r>
            <a:endParaRPr lang="zh-TW" altLang="en-US" dirty="0"/>
          </a:p>
        </p:txBody>
      </p:sp>
      <p:graphicFrame>
        <p:nvGraphicFramePr>
          <p:cNvPr id="9" name="表格 8"/>
          <p:cNvGraphicFramePr>
            <a:graphicFrameLocks noGrp="1"/>
          </p:cNvGraphicFramePr>
          <p:nvPr>
            <p:extLst>
              <p:ext uri="{D42A27DB-BD31-4B8C-83A1-F6EECF244321}">
                <p14:modId xmlns="" xmlns:p14="http://schemas.microsoft.com/office/powerpoint/2010/main" val="1367307542"/>
              </p:ext>
            </p:extLst>
          </p:nvPr>
        </p:nvGraphicFramePr>
        <p:xfrm>
          <a:off x="5796136" y="2297400"/>
          <a:ext cx="3024336" cy="2194560"/>
        </p:xfrm>
        <a:graphic>
          <a:graphicData uri="http://schemas.openxmlformats.org/drawingml/2006/table">
            <a:tbl>
              <a:tblPr firstRow="1" bandRow="1">
                <a:tableStyleId>{5C22544A-7EE6-4342-B048-85BDC9FD1C3A}</a:tableStyleId>
              </a:tblPr>
              <a:tblGrid>
                <a:gridCol w="1512168"/>
                <a:gridCol w="1512168"/>
              </a:tblGrid>
              <a:tr h="401391">
                <a:tc>
                  <a:txBody>
                    <a:bodyPr/>
                    <a:lstStyle/>
                    <a:p>
                      <a:r>
                        <a:rPr lang="en-US" altLang="zh-TW" b="1" dirty="0" smtClean="0">
                          <a:solidFill>
                            <a:schemeClr val="bg1"/>
                          </a:solidFill>
                        </a:rPr>
                        <a:t>V</a:t>
                      </a:r>
                      <a:r>
                        <a:rPr lang="en-US" altLang="zh-TW" b="1" baseline="-25000" dirty="0" smtClean="0">
                          <a:solidFill>
                            <a:schemeClr val="bg1"/>
                          </a:solidFill>
                        </a:rPr>
                        <a:t>i</a:t>
                      </a:r>
                      <a:endParaRPr lang="zh-TW" altLang="en-US" b="1" dirty="0">
                        <a:solidFill>
                          <a:schemeClr val="bg1"/>
                        </a:solidFill>
                      </a:endParaRPr>
                    </a:p>
                  </a:txBody>
                  <a:tcPr/>
                </a:tc>
                <a:tc>
                  <a:txBody>
                    <a:bodyPr/>
                    <a:lstStyle/>
                    <a:p>
                      <a:r>
                        <a:rPr lang="en-US" altLang="zh-TW" b="0" dirty="0" smtClean="0">
                          <a:solidFill>
                            <a:sysClr val="windowText" lastClr="000000"/>
                          </a:solidFill>
                        </a:rPr>
                        <a:t>Occurrences</a:t>
                      </a:r>
                    </a:p>
                    <a:p>
                      <a:r>
                        <a:rPr lang="en-US" altLang="zh-TW" b="0" dirty="0" smtClean="0">
                          <a:solidFill>
                            <a:sysClr val="windowText" lastClr="000000"/>
                          </a:solidFill>
                        </a:rPr>
                        <a:t>Optional</a:t>
                      </a:r>
                    </a:p>
                    <a:p>
                      <a:r>
                        <a:rPr lang="en-US" altLang="zh-TW" b="0" dirty="0" smtClean="0">
                          <a:solidFill>
                            <a:sysClr val="windowText" lastClr="000000"/>
                          </a:solidFill>
                        </a:rPr>
                        <a:t>symbols(A</a:t>
                      </a:r>
                      <a:r>
                        <a:rPr lang="en-US" altLang="zh-TW" b="0" baseline="-25000" dirty="0" smtClean="0">
                          <a:solidFill>
                            <a:sysClr val="windowText" lastClr="000000"/>
                          </a:solidFill>
                        </a:rPr>
                        <a:t>0</a:t>
                      </a:r>
                      <a:r>
                        <a:rPr lang="en-US" altLang="zh-TW" b="0" dirty="0" smtClean="0">
                          <a:solidFill>
                            <a:sysClr val="windowText" lastClr="000000"/>
                          </a:solidFill>
                        </a:rPr>
                        <a:t>)</a:t>
                      </a:r>
                    </a:p>
                  </a:txBody>
                  <a:tcPr>
                    <a:solidFill>
                      <a:schemeClr val="tx2">
                        <a:lumMod val="20000"/>
                        <a:lumOff val="80000"/>
                      </a:schemeClr>
                    </a:solidFill>
                  </a:tcPr>
                </a:tc>
              </a:tr>
              <a:tr h="250870">
                <a:tc>
                  <a:txBody>
                    <a:bodyPr/>
                    <a:lstStyle/>
                    <a:p>
                      <a:r>
                        <a:rPr lang="en-US" altLang="zh-TW" b="1" dirty="0" smtClean="0">
                          <a:solidFill>
                            <a:schemeClr val="bg1"/>
                          </a:solidFill>
                        </a:rPr>
                        <a:t>X</a:t>
                      </a:r>
                      <a:r>
                        <a:rPr lang="en-US" altLang="zh-TW" b="1" baseline="-25000" dirty="0" smtClean="0">
                          <a:solidFill>
                            <a:schemeClr val="bg1"/>
                          </a:solidFill>
                        </a:rPr>
                        <a:t>i</a:t>
                      </a:r>
                      <a:endParaRPr lang="zh-TW" altLang="en-US" b="1" dirty="0">
                        <a:solidFill>
                          <a:schemeClr val="bg1"/>
                        </a:solidFill>
                      </a:endParaRPr>
                    </a:p>
                  </a:txBody>
                  <a:tcPr>
                    <a:solidFill>
                      <a:schemeClr val="accent1"/>
                    </a:solidFill>
                  </a:tcPr>
                </a:tc>
                <a:tc>
                  <a:txBody>
                    <a:bodyPr/>
                    <a:lstStyle/>
                    <a:p>
                      <a:r>
                        <a:rPr lang="en-US" altLang="zh-TW" b="0" dirty="0" smtClean="0">
                          <a:solidFill>
                            <a:sysClr val="windowText" lastClr="000000"/>
                          </a:solidFill>
                        </a:rPr>
                        <a:t>Mandatory</a:t>
                      </a:r>
                    </a:p>
                    <a:p>
                      <a:r>
                        <a:rPr lang="en-US" altLang="zh-TW" b="0" dirty="0" smtClean="0">
                          <a:solidFill>
                            <a:sysClr val="windowText" lastClr="000000"/>
                          </a:solidFill>
                        </a:rPr>
                        <a:t>symbols(A</a:t>
                      </a:r>
                      <a:r>
                        <a:rPr lang="en-US" altLang="zh-TW" b="0" baseline="-25000" dirty="0" smtClean="0">
                          <a:solidFill>
                            <a:sysClr val="windowText" lastClr="000000"/>
                          </a:solidFill>
                        </a:rPr>
                        <a:t>m</a:t>
                      </a:r>
                      <a:r>
                        <a:rPr lang="en-US" altLang="zh-TW" b="0" dirty="0" smtClean="0">
                          <a:solidFill>
                            <a:sysClr val="windowText" lastClr="000000"/>
                          </a:solidFill>
                        </a:rPr>
                        <a:t>)</a:t>
                      </a:r>
                      <a:endParaRPr lang="zh-TW" altLang="en-US" b="0" dirty="0" smtClean="0">
                        <a:solidFill>
                          <a:sysClr val="windowText" lastClr="000000"/>
                        </a:solidFill>
                      </a:endParaRPr>
                    </a:p>
                  </a:txBody>
                  <a:tcPr>
                    <a:solidFill>
                      <a:schemeClr val="tx2">
                        <a:lumMod val="20000"/>
                        <a:lumOff val="80000"/>
                      </a:schemeClr>
                    </a:solidFill>
                  </a:tcPr>
                </a:tc>
              </a:tr>
              <a:tr h="0">
                <a:tc>
                  <a:txBody>
                    <a:bodyPr/>
                    <a:lstStyle/>
                    <a:p>
                      <a:r>
                        <a:rPr lang="en-US" altLang="zh-TW" b="1" dirty="0" smtClean="0">
                          <a:solidFill>
                            <a:schemeClr val="bg1"/>
                          </a:solidFill>
                        </a:rPr>
                        <a:t>edges</a:t>
                      </a:r>
                      <a:endParaRPr lang="zh-TW" altLang="en-US" b="1" dirty="0">
                        <a:solidFill>
                          <a:schemeClr val="bg1"/>
                        </a:solidFill>
                      </a:endParaRPr>
                    </a:p>
                  </a:txBody>
                  <a:tcPr>
                    <a:solidFill>
                      <a:schemeClr val="accent1"/>
                    </a:solidFill>
                  </a:tcPr>
                </a:tc>
                <a:tc>
                  <a:txBody>
                    <a:bodyPr/>
                    <a:lstStyle/>
                    <a:p>
                      <a:r>
                        <a:rPr lang="en-US" altLang="zh-TW" b="0" dirty="0" smtClean="0">
                          <a:solidFill>
                            <a:sysClr val="windowText" lastClr="000000"/>
                          </a:solidFill>
                        </a:rPr>
                        <a:t>Mandatory</a:t>
                      </a:r>
                    </a:p>
                    <a:p>
                      <a:r>
                        <a:rPr lang="en-US" altLang="zh-TW" b="0" dirty="0" smtClean="0">
                          <a:solidFill>
                            <a:sysClr val="windowText" lastClr="000000"/>
                          </a:solidFill>
                        </a:rPr>
                        <a:t>symbols(A</a:t>
                      </a:r>
                      <a:r>
                        <a:rPr lang="en-US" altLang="zh-TW" b="0" baseline="-25000" dirty="0" smtClean="0">
                          <a:solidFill>
                            <a:sysClr val="windowText" lastClr="000000"/>
                          </a:solidFill>
                        </a:rPr>
                        <a:t>m</a:t>
                      </a:r>
                      <a:r>
                        <a:rPr lang="en-US" altLang="zh-TW" b="0" dirty="0" smtClean="0">
                          <a:solidFill>
                            <a:sysClr val="windowText" lastClr="000000"/>
                          </a:solidFill>
                        </a:rPr>
                        <a:t>)</a:t>
                      </a:r>
                      <a:endParaRPr lang="zh-TW" altLang="en-US" b="0" dirty="0" smtClean="0">
                        <a:solidFill>
                          <a:sysClr val="windowText" lastClr="000000"/>
                        </a:solidFill>
                      </a:endParaRPr>
                    </a:p>
                  </a:txBody>
                  <a:tcPr>
                    <a:solidFill>
                      <a:schemeClr val="tx2">
                        <a:lumMod val="20000"/>
                        <a:lumOff val="80000"/>
                      </a:schemeClr>
                    </a:solidFill>
                  </a:tcPr>
                </a:tc>
              </a:tr>
            </a:tbl>
          </a:graphicData>
        </a:graphic>
      </p:graphicFrame>
    </p:spTree>
    <p:extLst>
      <p:ext uri="{BB962C8B-B14F-4D97-AF65-F5344CB8AC3E}">
        <p14:creationId xmlns="" xmlns:p14="http://schemas.microsoft.com/office/powerpoint/2010/main" val="1872673269"/>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 Polynomial-Time Algorithm</a:t>
            </a:r>
            <a:endParaRPr lang="zh-TW" altLang="en-US" dirty="0"/>
          </a:p>
        </p:txBody>
      </p:sp>
      <p:sp>
        <p:nvSpPr>
          <p:cNvPr id="3" name="內容版面配置區 2"/>
          <p:cNvSpPr>
            <a:spLocks noGrp="1"/>
          </p:cNvSpPr>
          <p:nvPr>
            <p:ph idx="1"/>
          </p:nvPr>
        </p:nvSpPr>
        <p:spPr>
          <a:xfrm>
            <a:off x="467544" y="1628800"/>
            <a:ext cx="8229600" cy="4525963"/>
          </a:xfrm>
        </p:spPr>
        <p:txBody>
          <a:bodyPr/>
          <a:lstStyle/>
          <a:p>
            <a:r>
              <a:rPr lang="en-US" altLang="zh-TW" sz="2500" dirty="0"/>
              <a:t>each mandatory </a:t>
            </a:r>
            <a:r>
              <a:rPr lang="en-US" altLang="zh-TW" sz="2500" dirty="0" smtClean="0"/>
              <a:t>symbol appears </a:t>
            </a:r>
            <a:r>
              <a:rPr lang="en-US" altLang="zh-TW" sz="2500" dirty="0"/>
              <a:t>in total at most three times </a:t>
            </a:r>
            <a:r>
              <a:rPr lang="en-US" altLang="zh-TW" sz="2500" dirty="0" smtClean="0"/>
              <a:t>in </a:t>
            </a:r>
            <a:r>
              <a:rPr lang="en-US" altLang="zh-TW" sz="2500" dirty="0"/>
              <a:t>the input </a:t>
            </a:r>
            <a:r>
              <a:rPr lang="en-US" altLang="zh-TW" sz="2500" dirty="0" smtClean="0"/>
              <a:t>sequences</a:t>
            </a:r>
          </a:p>
          <a:p>
            <a:endParaRPr lang="zh-TW" altLang="en-US" dirty="0"/>
          </a:p>
        </p:txBody>
      </p:sp>
      <p:sp>
        <p:nvSpPr>
          <p:cNvPr id="4" name="投影片編號版面配置區 3"/>
          <p:cNvSpPr>
            <a:spLocks noGrp="1"/>
          </p:cNvSpPr>
          <p:nvPr>
            <p:ph type="sldNum" sz="quarter" idx="12"/>
          </p:nvPr>
        </p:nvSpPr>
        <p:spPr/>
        <p:txBody>
          <a:bodyPr/>
          <a:lstStyle/>
          <a:p>
            <a:fld id="{E0016CCB-BDEC-45F3-982A-D76E3F4EE2CF}" type="slidenum">
              <a:rPr lang="zh-TW" altLang="en-US" smtClean="0"/>
              <a:pPr/>
              <a:t>20</a:t>
            </a:fld>
            <a:endParaRPr lang="zh-TW" altLang="en-US"/>
          </a:p>
        </p:txBody>
      </p:sp>
      <p:pic>
        <p:nvPicPr>
          <p:cNvPr id="1229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971600" y="2636912"/>
            <a:ext cx="6192688" cy="25930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矩形 4"/>
          <p:cNvSpPr/>
          <p:nvPr/>
        </p:nvSpPr>
        <p:spPr>
          <a:xfrm>
            <a:off x="1115616" y="5661248"/>
            <a:ext cx="4392488" cy="477054"/>
          </a:xfrm>
          <a:prstGeom prst="rect">
            <a:avLst/>
          </a:prstGeom>
        </p:spPr>
        <p:txBody>
          <a:bodyPr wrap="square">
            <a:spAutoFit/>
          </a:bodyPr>
          <a:lstStyle/>
          <a:p>
            <a:r>
              <a:rPr lang="en-US" altLang="zh-TW" sz="2500" dirty="0"/>
              <a:t>B</a:t>
            </a:r>
            <a:r>
              <a:rPr lang="en-US" altLang="zh-TW" sz="2500" dirty="0" smtClean="0"/>
              <a:t>y reducing 2-ELCS to 2SAT</a:t>
            </a:r>
            <a:endParaRPr lang="zh-TW" altLang="en-US" sz="2500" dirty="0"/>
          </a:p>
        </p:txBody>
      </p:sp>
    </p:spTree>
    <p:extLst>
      <p:ext uri="{BB962C8B-B14F-4D97-AF65-F5344CB8AC3E}">
        <p14:creationId xmlns="" xmlns:p14="http://schemas.microsoft.com/office/powerpoint/2010/main" val="1105414962"/>
      </p:ext>
    </p:extLst>
  </p:cSld>
  <p:clrMapOvr>
    <a:masterClrMapping/>
  </p:clrMapOvr>
  <p:transition>
    <p:cut/>
  </p:transition>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3497</TotalTime>
  <Words>2642</Words>
  <Application>Microsoft Office PowerPoint</Application>
  <PresentationFormat>如螢幕大小 (4:3)</PresentationFormat>
  <Paragraphs>2234</Paragraphs>
  <Slides>20</Slides>
  <Notes>0</Notes>
  <HiddenSlides>0</HiddenSlides>
  <MMClips>0</MMClips>
  <ScaleCrop>false</ScaleCrop>
  <HeadingPairs>
    <vt:vector size="4" baseType="variant">
      <vt:variant>
        <vt:lpstr>佈景主題</vt:lpstr>
      </vt:variant>
      <vt:variant>
        <vt:i4>1</vt:i4>
      </vt:variant>
      <vt:variant>
        <vt:lpstr>投影片標題</vt:lpstr>
      </vt:variant>
      <vt:variant>
        <vt:i4>20</vt:i4>
      </vt:variant>
    </vt:vector>
  </HeadingPairs>
  <TitlesOfParts>
    <vt:vector size="21" baseType="lpstr">
      <vt:lpstr>Office 佈景主題</vt:lpstr>
      <vt:lpstr>Exemplar Longest Common Subsequence</vt:lpstr>
      <vt:lpstr>Abstract(1/2)</vt:lpstr>
      <vt:lpstr>Abstract(2/2)</vt:lpstr>
      <vt:lpstr>Versions of Exemplar LCS</vt:lpstr>
      <vt:lpstr>Fixed-parameter Algorithms</vt:lpstr>
      <vt:lpstr>Naive Approach(1/3)</vt:lpstr>
      <vt:lpstr>Naive Approach(2/3)</vt:lpstr>
      <vt:lpstr>Naive Approach(3/3)</vt:lpstr>
      <vt:lpstr>Dynamic Programming Algorithm</vt:lpstr>
      <vt:lpstr>Dynamic Programming Algorithm First step(1/2)</vt:lpstr>
      <vt:lpstr>Dynamic Programming Algorithm First step(2/2)</vt:lpstr>
      <vt:lpstr>Dynamic Programming Algorithm Second step(1/3)</vt:lpstr>
      <vt:lpstr>Dynamic Programming Algorithm Second step(2/3)</vt:lpstr>
      <vt:lpstr>Dynamic Programming Algorithm Second step(3/3)</vt:lpstr>
      <vt:lpstr>Dynamic Programming Algorithm (for 2-ELCS(≥1))</vt:lpstr>
      <vt:lpstr>Time complexity</vt:lpstr>
      <vt:lpstr>END</vt:lpstr>
      <vt:lpstr>投影片 18</vt:lpstr>
      <vt:lpstr>Complexity of  2-ELCS(1,≤1)&amp;2-ELCS(≥1,≤1)</vt:lpstr>
      <vt:lpstr>A Polynomial-Time Algorithm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Exemplar Longest Common Subsequence</dc:title>
  <dc:creator>Leo</dc:creator>
  <cp:lastModifiedBy>admin</cp:lastModifiedBy>
  <cp:revision>59</cp:revision>
  <dcterms:created xsi:type="dcterms:W3CDTF">2015-01-30T13:21:57Z</dcterms:created>
  <dcterms:modified xsi:type="dcterms:W3CDTF">2015-02-26T11:51:41Z</dcterms:modified>
</cp:coreProperties>
</file>