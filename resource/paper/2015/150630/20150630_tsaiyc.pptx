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9"/>
  </p:notesMasterIdLst>
  <p:handoutMasterIdLst>
    <p:handoutMasterId r:id="rId20"/>
  </p:handoutMasterIdLst>
  <p:sldIdLst>
    <p:sldId id="256" r:id="rId2"/>
    <p:sldId id="258" r:id="rId3"/>
    <p:sldId id="260" r:id="rId4"/>
    <p:sldId id="262" r:id="rId5"/>
    <p:sldId id="263" r:id="rId6"/>
    <p:sldId id="265" r:id="rId7"/>
    <p:sldId id="266" r:id="rId8"/>
    <p:sldId id="267" r:id="rId9"/>
    <p:sldId id="268" r:id="rId10"/>
    <p:sldId id="269" r:id="rId11"/>
    <p:sldId id="270" r:id="rId12"/>
    <p:sldId id="271" r:id="rId13"/>
    <p:sldId id="272" r:id="rId14"/>
    <p:sldId id="273" r:id="rId15"/>
    <p:sldId id="274" r:id="rId16"/>
    <p:sldId id="275" r:id="rId17"/>
    <p:sldId id="276" r:id="rId18"/>
  </p:sldIdLst>
  <p:sldSz cx="9144000" cy="6858000" type="screen4x3"/>
  <p:notesSz cx="9947275" cy="6858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101" d="100"/>
          <a:sy n="101" d="100"/>
        </p:scale>
        <p:origin x="150"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1"/>
            <a:ext cx="4310486" cy="344091"/>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5634487" y="1"/>
            <a:ext cx="4310486" cy="344091"/>
          </a:xfrm>
          <a:prstGeom prst="rect">
            <a:avLst/>
          </a:prstGeom>
        </p:spPr>
        <p:txBody>
          <a:bodyPr vert="horz" lIns="91440" tIns="45720" rIns="91440" bIns="45720" rtlCol="0"/>
          <a:lstStyle>
            <a:lvl1pPr algn="r">
              <a:defRPr sz="1200"/>
            </a:lvl1pPr>
          </a:lstStyle>
          <a:p>
            <a:fld id="{656B342C-D3E6-4343-B7E6-7344C4D3E48E}" type="datetimeFigureOut">
              <a:rPr lang="zh-TW" altLang="en-US" smtClean="0"/>
              <a:t>2015/6/30</a:t>
            </a:fld>
            <a:endParaRPr lang="zh-TW" altLang="en-US"/>
          </a:p>
        </p:txBody>
      </p:sp>
      <p:sp>
        <p:nvSpPr>
          <p:cNvPr id="4" name="頁尾版面配置區 3"/>
          <p:cNvSpPr>
            <a:spLocks noGrp="1"/>
          </p:cNvSpPr>
          <p:nvPr>
            <p:ph type="ftr" sz="quarter" idx="2"/>
          </p:nvPr>
        </p:nvSpPr>
        <p:spPr>
          <a:xfrm>
            <a:off x="0" y="6513910"/>
            <a:ext cx="4310486" cy="34409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5634487" y="6513910"/>
            <a:ext cx="4310486" cy="344090"/>
          </a:xfrm>
          <a:prstGeom prst="rect">
            <a:avLst/>
          </a:prstGeom>
        </p:spPr>
        <p:txBody>
          <a:bodyPr vert="horz" lIns="91440" tIns="45720" rIns="91440" bIns="45720" rtlCol="0" anchor="b"/>
          <a:lstStyle>
            <a:lvl1pPr algn="r">
              <a:defRPr sz="1200"/>
            </a:lvl1pPr>
          </a:lstStyle>
          <a:p>
            <a:fld id="{641071B8-4507-4225-B265-9ABFCA3C6D5D}" type="slidenum">
              <a:rPr lang="zh-TW" altLang="en-US" smtClean="0"/>
              <a:t>‹#›</a:t>
            </a:fld>
            <a:endParaRPr lang="zh-TW" altLang="en-US"/>
          </a:p>
        </p:txBody>
      </p:sp>
    </p:spTree>
    <p:extLst>
      <p:ext uri="{BB962C8B-B14F-4D97-AF65-F5344CB8AC3E}">
        <p14:creationId xmlns:p14="http://schemas.microsoft.com/office/powerpoint/2010/main" val="337118400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4310486" cy="3444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5635063" y="0"/>
            <a:ext cx="4310486" cy="344488"/>
          </a:xfrm>
          <a:prstGeom prst="rect">
            <a:avLst/>
          </a:prstGeom>
        </p:spPr>
        <p:txBody>
          <a:bodyPr vert="horz" lIns="91440" tIns="45720" rIns="91440" bIns="45720" rtlCol="0"/>
          <a:lstStyle>
            <a:lvl1pPr algn="r">
              <a:defRPr sz="1200"/>
            </a:lvl1pPr>
          </a:lstStyle>
          <a:p>
            <a:fld id="{1051319D-5FEB-4BB2-8449-8B5AD3FD1565}" type="datetimeFigureOut">
              <a:rPr lang="zh-TW" altLang="en-US" smtClean="0"/>
              <a:t>2015/6/30</a:t>
            </a:fld>
            <a:endParaRPr lang="zh-TW" altLang="en-US"/>
          </a:p>
        </p:txBody>
      </p:sp>
      <p:sp>
        <p:nvSpPr>
          <p:cNvPr id="4" name="投影片圖像版面配置區 3"/>
          <p:cNvSpPr>
            <a:spLocks noGrp="1" noRot="1" noChangeAspect="1"/>
          </p:cNvSpPr>
          <p:nvPr>
            <p:ph type="sldImg" idx="2"/>
          </p:nvPr>
        </p:nvSpPr>
        <p:spPr>
          <a:xfrm>
            <a:off x="3430588" y="857250"/>
            <a:ext cx="3086100" cy="2314575"/>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994728" y="3300414"/>
            <a:ext cx="7957820" cy="2700337"/>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6513514"/>
            <a:ext cx="4310486" cy="3444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5635063" y="6513514"/>
            <a:ext cx="4310486" cy="344487"/>
          </a:xfrm>
          <a:prstGeom prst="rect">
            <a:avLst/>
          </a:prstGeom>
        </p:spPr>
        <p:txBody>
          <a:bodyPr vert="horz" lIns="91440" tIns="45720" rIns="91440" bIns="45720" rtlCol="0" anchor="b"/>
          <a:lstStyle>
            <a:lvl1pPr algn="r">
              <a:defRPr sz="1200"/>
            </a:lvl1pPr>
          </a:lstStyle>
          <a:p>
            <a:fld id="{9A8D4387-758A-48A1-B6FC-B6449276ED87}" type="slidenum">
              <a:rPr lang="zh-TW" altLang="en-US" smtClean="0"/>
              <a:t>‹#›</a:t>
            </a:fld>
            <a:endParaRPr lang="zh-TW" altLang="en-US"/>
          </a:p>
        </p:txBody>
      </p:sp>
    </p:spTree>
    <p:extLst>
      <p:ext uri="{BB962C8B-B14F-4D97-AF65-F5344CB8AC3E}">
        <p14:creationId xmlns:p14="http://schemas.microsoft.com/office/powerpoint/2010/main" val="112412503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a:t>
            </a:fld>
            <a:endParaRPr lang="zh-TW" altLang="en-US"/>
          </a:p>
        </p:txBody>
      </p:sp>
    </p:spTree>
    <p:extLst>
      <p:ext uri="{BB962C8B-B14F-4D97-AF65-F5344CB8AC3E}">
        <p14:creationId xmlns:p14="http://schemas.microsoft.com/office/powerpoint/2010/main" val="4070287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143000" y="1122363"/>
            <a:ext cx="6858000" cy="2387600"/>
          </a:xfrm>
        </p:spPr>
        <p:txBody>
          <a:bodyPr anchor="b"/>
          <a:lstStyle>
            <a:lvl1pPr algn="ctr">
              <a:defRPr sz="45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FF813411-B8F4-4907-AA92-4552EEC98037}" type="datetime1">
              <a:rPr lang="zh-TW" altLang="en-US" smtClean="0"/>
              <a:t>2015/6/30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227706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C467948-3BC4-474B-B2C5-B24B6278D5CC}" type="datetime1">
              <a:rPr lang="zh-TW" altLang="en-US" smtClean="0"/>
              <a:t>2015/6/30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628356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623888" y="1709739"/>
            <a:ext cx="7886700" cy="2852737"/>
          </a:xfrm>
        </p:spPr>
        <p:txBody>
          <a:bodyPr anchor="b"/>
          <a:lstStyle>
            <a:lvl1pPr>
              <a:defRPr sz="45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4B5E4401-0966-4BE9-949A-1941D46B255A}" type="datetime1">
              <a:rPr lang="zh-TW" altLang="en-US" smtClean="0"/>
              <a:t>2015/6/30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2216371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02E5F7A8-39F7-47D3-84AF-7F86628B5FAB}" type="datetime1">
              <a:rPr lang="zh-TW" altLang="en-US" smtClean="0"/>
              <a:t>2015/6/30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3334492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629841" y="365126"/>
            <a:ext cx="78867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按一下以編輯母片文字樣式</a:t>
            </a:r>
          </a:p>
        </p:txBody>
      </p:sp>
      <p:sp>
        <p:nvSpPr>
          <p:cNvPr id="4" name="內容版面配置區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2EF84A1C-B702-477E-9BF4-97BB9A31376D}" type="datetime1">
              <a:rPr lang="zh-TW" altLang="en-US" smtClean="0"/>
              <a:t>2015/6/30</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129008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B9DAD37B-8EDA-44B1-B8D7-9E8653376522}" type="datetime1">
              <a:rPr lang="zh-TW" altLang="en-US" smtClean="0"/>
              <a:t>2015/6/30</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1071572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EF73D677-579F-4601-A0E0-98D0EF8FF300}" type="datetime1">
              <a:rPr lang="zh-TW" altLang="en-US" smtClean="0"/>
              <a:t>2015/6/30</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4031277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29841" y="457200"/>
            <a:ext cx="2949178" cy="1600200"/>
          </a:xfrm>
        </p:spPr>
        <p:txBody>
          <a:bodyPr anchor="b"/>
          <a:lstStyle>
            <a:lvl1pPr>
              <a:defRPr sz="24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63204F25-68B9-4B98-A00F-22886F6765A0}" type="datetime1">
              <a:rPr lang="zh-TW" altLang="en-US" smtClean="0"/>
              <a:t>2015/6/30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3472315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629841" y="457200"/>
            <a:ext cx="2949178" cy="1600200"/>
          </a:xfrm>
        </p:spPr>
        <p:txBody>
          <a:bodyPr anchor="b"/>
          <a:lstStyle>
            <a:lvl1pPr>
              <a:defRPr sz="24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TW" altLang="en-US"/>
          </a:p>
        </p:txBody>
      </p:sp>
      <p:sp>
        <p:nvSpPr>
          <p:cNvPr id="4" name="文字版面配置區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835A57DF-E3E8-4590-BCB8-918F6FA7A470}" type="datetime1">
              <a:rPr lang="zh-TW" altLang="en-US" smtClean="0"/>
              <a:t>2015/6/30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1578714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183A9F8-67B4-415C-958B-B847634E21C6}" type="datetime1">
              <a:rPr lang="zh-TW" altLang="en-US" smtClean="0"/>
              <a:t>2015/6/30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1937675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BD22B4F-FCBB-477E-B7D1-1CF98B64D8ED}" type="datetime1">
              <a:rPr lang="zh-TW" altLang="en-US" smtClean="0"/>
              <a:t>2015/6/30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1900387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451B09C-9434-434F-8521-A32D48F8D9B0}" type="datetime1">
              <a:rPr lang="zh-TW" altLang="en-US" smtClean="0"/>
              <a:t>2015/6/30</a:t>
            </a:fld>
            <a:endParaRPr lang="zh-TW" altLang="en-US"/>
          </a:p>
        </p:txBody>
      </p:sp>
      <p:sp>
        <p:nvSpPr>
          <p:cNvPr id="5" name="頁尾版面配置區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38575259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76200"/>
            <a:ext cx="9144000" cy="3128317"/>
          </a:xfrm>
        </p:spPr>
        <p:txBody>
          <a:bodyPr>
            <a:noAutofit/>
          </a:bodyPr>
          <a:lstStyle/>
          <a:p>
            <a:r>
              <a:rPr lang="en-US" altLang="zh-TW" sz="4400" dirty="0">
                <a:latin typeface="Times New Roman" panose="02020603050405020304" pitchFamily="18" charset="0"/>
                <a:cs typeface="Times New Roman" panose="02020603050405020304" pitchFamily="18" charset="0"/>
              </a:rPr>
              <a:t>From an Artificial Neural Network to a Stock Market Day-Trading</a:t>
            </a:r>
            <a:br>
              <a:rPr lang="en-US" altLang="zh-TW" sz="4400" dirty="0">
                <a:latin typeface="Times New Roman" panose="02020603050405020304" pitchFamily="18" charset="0"/>
                <a:cs typeface="Times New Roman" panose="02020603050405020304" pitchFamily="18" charset="0"/>
              </a:rPr>
            </a:br>
            <a:r>
              <a:rPr lang="en-US" altLang="zh-TW" sz="4400" dirty="0" smtClean="0">
                <a:latin typeface="Times New Roman" panose="02020603050405020304" pitchFamily="18" charset="0"/>
                <a:cs typeface="Times New Roman" panose="02020603050405020304" pitchFamily="18" charset="0"/>
              </a:rPr>
              <a:t>System:</a:t>
            </a:r>
            <a:r>
              <a:rPr lang="zh-TW" altLang="en-US" sz="4400" dirty="0" smtClean="0">
                <a:latin typeface="Times New Roman" panose="02020603050405020304" pitchFamily="18" charset="0"/>
                <a:cs typeface="Times New Roman" panose="02020603050405020304" pitchFamily="18" charset="0"/>
              </a:rPr>
              <a:t> </a:t>
            </a:r>
            <a:r>
              <a:rPr lang="en-US" altLang="zh-TW" sz="4400" dirty="0" smtClean="0">
                <a:latin typeface="Times New Roman" panose="02020603050405020304" pitchFamily="18" charset="0"/>
                <a:cs typeface="Times New Roman" panose="02020603050405020304" pitchFamily="18" charset="0"/>
              </a:rPr>
              <a:t>A </a:t>
            </a:r>
            <a:r>
              <a:rPr lang="en-US" altLang="zh-TW" sz="4400" dirty="0">
                <a:latin typeface="Times New Roman" panose="02020603050405020304" pitchFamily="18" charset="0"/>
                <a:cs typeface="Times New Roman" panose="02020603050405020304" pitchFamily="18" charset="0"/>
              </a:rPr>
              <a:t>Case Study on the BM&amp;F BOVESPA</a:t>
            </a:r>
            <a:endParaRPr lang="zh-TW" altLang="en-US" sz="4400"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0" y="3204518"/>
            <a:ext cx="9144000" cy="3482031"/>
          </a:xfrm>
        </p:spPr>
        <p:txBody>
          <a:bodyPr>
            <a:norm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Leonardo C. Martinez</a:t>
            </a:r>
            <a:r>
              <a:rPr lang="en-US" altLang="zh-TW" sz="2000" dirty="0" smtClean="0">
                <a:latin typeface="Times New Roman" panose="02020603050405020304" pitchFamily="18" charset="0"/>
                <a:cs typeface="Times New Roman" panose="02020603050405020304" pitchFamily="18" charset="0"/>
              </a:rPr>
              <a:t>,</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Diego N. da </a:t>
            </a:r>
            <a:r>
              <a:rPr lang="en-US" altLang="zh-TW" sz="2000" dirty="0" smtClean="0">
                <a:latin typeface="Times New Roman" panose="02020603050405020304" pitchFamily="18" charset="0"/>
                <a:cs typeface="Times New Roman" panose="02020603050405020304" pitchFamily="18" charset="0"/>
              </a:rPr>
              <a:t>Hora, </a:t>
            </a:r>
            <a:r>
              <a:rPr lang="en-US" altLang="zh-TW" sz="2000" dirty="0">
                <a:latin typeface="Times New Roman" panose="02020603050405020304" pitchFamily="18" charset="0"/>
                <a:cs typeface="Times New Roman" panose="02020603050405020304" pitchFamily="18" charset="0"/>
              </a:rPr>
              <a:t>Joao R. de M. </a:t>
            </a:r>
            <a:r>
              <a:rPr lang="en-US" altLang="zh-TW" sz="2000" dirty="0" err="1" smtClean="0">
                <a:latin typeface="Times New Roman" panose="02020603050405020304" pitchFamily="18" charset="0"/>
                <a:cs typeface="Times New Roman" panose="02020603050405020304" pitchFamily="18" charset="0"/>
              </a:rPr>
              <a:t>Palotti</a:t>
            </a:r>
            <a:endParaRPr lang="en-US" altLang="zh-TW" sz="2000" dirty="0" smtClean="0">
              <a:latin typeface="Times New Roman" panose="02020603050405020304" pitchFamily="18" charset="0"/>
              <a:cs typeface="Times New Roman" panose="02020603050405020304" pitchFamily="18" charset="0"/>
            </a:endParaRPr>
          </a:p>
          <a:p>
            <a:pPr>
              <a:lnSpc>
                <a:spcPct val="150000"/>
              </a:lnSpc>
            </a:pPr>
            <a:r>
              <a:rPr lang="en-US" altLang="zh-TW" sz="2000" dirty="0" smtClean="0">
                <a:latin typeface="Times New Roman" panose="02020603050405020304" pitchFamily="18" charset="0"/>
                <a:cs typeface="Times New Roman" panose="02020603050405020304" pitchFamily="18" charset="0"/>
              </a:rPr>
              <a:t>Wagner </a:t>
            </a:r>
            <a:r>
              <a:rPr lang="en-US" altLang="zh-TW" sz="2000" dirty="0" err="1">
                <a:latin typeface="Times New Roman" panose="02020603050405020304" pitchFamily="18" charset="0"/>
                <a:cs typeface="Times New Roman" panose="02020603050405020304" pitchFamily="18" charset="0"/>
              </a:rPr>
              <a:t>Meira</a:t>
            </a:r>
            <a:r>
              <a:rPr lang="en-US" altLang="zh-TW" sz="2000" dirty="0">
                <a:latin typeface="Times New Roman" panose="02020603050405020304" pitchFamily="18" charset="0"/>
                <a:cs typeface="Times New Roman" panose="02020603050405020304" pitchFamily="18" charset="0"/>
              </a:rPr>
              <a:t> Jr</a:t>
            </a:r>
            <a:r>
              <a:rPr lang="en-US" altLang="zh-TW" sz="2000" dirty="0" smtClean="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Gisele L. </a:t>
            </a:r>
            <a:r>
              <a:rPr lang="en-US" altLang="zh-TW" sz="2000" dirty="0" err="1" smtClean="0">
                <a:latin typeface="Times New Roman" panose="02020603050405020304" pitchFamily="18" charset="0"/>
                <a:cs typeface="Times New Roman" panose="02020603050405020304" pitchFamily="18" charset="0"/>
              </a:rPr>
              <a:t>Pappa</a:t>
            </a:r>
            <a:endParaRPr lang="en-US" altLang="zh-TW" sz="2000" dirty="0" smtClean="0">
              <a:latin typeface="Times New Roman" panose="02020603050405020304" pitchFamily="18" charset="0"/>
              <a:cs typeface="Times New Roman" panose="02020603050405020304" pitchFamily="18" charset="0"/>
            </a:endParaRPr>
          </a:p>
          <a:p>
            <a:pPr>
              <a:lnSpc>
                <a:spcPct val="150000"/>
              </a:lnSpc>
            </a:pPr>
            <a:r>
              <a:rPr lang="en-US" altLang="zh-TW" sz="2000" dirty="0">
                <a:latin typeface="Times New Roman" panose="02020603050405020304" pitchFamily="18" charset="0"/>
                <a:cs typeface="Times New Roman" panose="02020603050405020304" pitchFamily="18" charset="0"/>
              </a:rPr>
              <a:t>Federal University of Minas </a:t>
            </a:r>
            <a:r>
              <a:rPr lang="en-US" altLang="zh-TW" sz="2000" dirty="0" err="1">
                <a:latin typeface="Times New Roman" panose="02020603050405020304" pitchFamily="18" charset="0"/>
                <a:cs typeface="Times New Roman" panose="02020603050405020304" pitchFamily="18" charset="0"/>
              </a:rPr>
              <a:t>Gerais</a:t>
            </a:r>
            <a:endParaRPr lang="en-US" altLang="zh-TW" sz="2000" dirty="0">
              <a:latin typeface="Times New Roman" panose="02020603050405020304" pitchFamily="18" charset="0"/>
              <a:cs typeface="Times New Roman" panose="02020603050405020304" pitchFamily="18" charset="0"/>
            </a:endParaRPr>
          </a:p>
          <a:p>
            <a:pPr>
              <a:lnSpc>
                <a:spcPct val="150000"/>
              </a:lnSpc>
            </a:pPr>
            <a:r>
              <a:rPr lang="en-US" altLang="zh-TW" sz="2000" dirty="0" smtClean="0">
                <a:latin typeface="Times New Roman" panose="02020603050405020304" pitchFamily="18" charset="0"/>
                <a:cs typeface="Times New Roman" panose="02020603050405020304" pitchFamily="18" charset="0"/>
              </a:rPr>
              <a:t>2009 Proceedings </a:t>
            </a:r>
            <a:r>
              <a:rPr lang="en-US" altLang="zh-TW" sz="2000" dirty="0">
                <a:latin typeface="Times New Roman" panose="02020603050405020304" pitchFamily="18" charset="0"/>
                <a:cs typeface="Times New Roman" panose="02020603050405020304" pitchFamily="18" charset="0"/>
              </a:rPr>
              <a:t>of International Joint Conference on Neural </a:t>
            </a:r>
            <a:r>
              <a:rPr lang="en-US" altLang="zh-TW" sz="2000" dirty="0" smtClean="0">
                <a:latin typeface="Times New Roman" panose="02020603050405020304" pitchFamily="18" charset="0"/>
                <a:cs typeface="Times New Roman" panose="02020603050405020304" pitchFamily="18" charset="0"/>
              </a:rPr>
              <a:t>Networks (IJCNN)</a:t>
            </a:r>
          </a:p>
          <a:p>
            <a:pPr>
              <a:lnSpc>
                <a:spcPct val="150000"/>
              </a:lnSpc>
            </a:pPr>
            <a:r>
              <a:rPr lang="en-US" altLang="zh-TW" sz="2000" dirty="0" smtClean="0">
                <a:latin typeface="Times New Roman" panose="02020603050405020304" pitchFamily="18" charset="0"/>
                <a:cs typeface="Times New Roman" panose="02020603050405020304" pitchFamily="18" charset="0"/>
              </a:rPr>
              <a:t>pp.2006 – 2013</a:t>
            </a:r>
          </a:p>
          <a:p>
            <a:pPr>
              <a:lnSpc>
                <a:spcPct val="150000"/>
              </a:lnSpc>
            </a:pPr>
            <a:r>
              <a:rPr lang="en-US" altLang="zh-TW" sz="2000" dirty="0" smtClean="0">
                <a:latin typeface="Times New Roman" panose="02020603050405020304" pitchFamily="18" charset="0"/>
                <a:cs typeface="Times New Roman" panose="02020603050405020304" pitchFamily="18" charset="0"/>
              </a:rPr>
              <a:t>Presenter : Tsai Yao-</a:t>
            </a:r>
            <a:r>
              <a:rPr lang="en-US" altLang="zh-TW" sz="2000" dirty="0">
                <a:latin typeface="Times New Roman" panose="02020603050405020304" pitchFamily="18" charset="0"/>
                <a:cs typeface="Times New Roman" panose="02020603050405020304" pitchFamily="18" charset="0"/>
              </a:rPr>
              <a:t>C</a:t>
            </a:r>
            <a:r>
              <a:rPr lang="en-US" altLang="zh-TW" sz="2000" dirty="0" smtClean="0">
                <a:latin typeface="Times New Roman" panose="02020603050405020304" pitchFamily="18" charset="0"/>
                <a:cs typeface="Times New Roman" panose="02020603050405020304" pitchFamily="18" charset="0"/>
              </a:rPr>
              <a:t>hou</a:t>
            </a:r>
            <a:endParaRPr lang="zh-TW" altLang="en-US" sz="20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1</a:t>
            </a:fld>
            <a:endParaRPr lang="zh-TW" altLang="en-US"/>
          </a:p>
        </p:txBody>
      </p:sp>
    </p:spTree>
    <p:extLst>
      <p:ext uri="{BB962C8B-B14F-4D97-AF65-F5344CB8AC3E}">
        <p14:creationId xmlns:p14="http://schemas.microsoft.com/office/powerpoint/2010/main" val="27241994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Abstract(1/2)</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4"/>
            <a:ext cx="8924925" cy="5743575"/>
          </a:xfrm>
        </p:spPr>
        <p:txBody>
          <a:bodyPr>
            <a:normAutofit/>
          </a:body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Predicting trends in the stock market is a subject of major interest for both scholars and financial analysts. The main difficulties of this problem are related to the dynamic, complex, </a:t>
            </a:r>
            <a:r>
              <a:rPr lang="en-US" altLang="zh-TW" sz="2400" dirty="0" err="1">
                <a:latin typeface="Times New Roman" panose="02020603050405020304" pitchFamily="18" charset="0"/>
                <a:cs typeface="Times New Roman" panose="02020603050405020304" pitchFamily="18" charset="0"/>
              </a:rPr>
              <a:t>evolutive</a:t>
            </a:r>
            <a:r>
              <a:rPr lang="en-US" altLang="zh-TW" sz="2400" dirty="0">
                <a:latin typeface="Times New Roman" panose="02020603050405020304" pitchFamily="18" charset="0"/>
                <a:cs typeface="Times New Roman" panose="02020603050405020304" pitchFamily="18" charset="0"/>
              </a:rPr>
              <a:t> and chaotic nature of the markets. In order to tackle these problems, this work proposes a day-trading system that "translates" the outputs of an artificial neural network into business decisions, pointing out to the investors the best times to trade and make profits. The ANN forecasts the lowest and highest stock prices of the current trading day. The system was tested with the two main stocks of the BM&amp;FBOVESPA, an important and understudied market.</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2</a:t>
            </a:fld>
            <a:endParaRPr lang="zh-TW" altLang="en-US"/>
          </a:p>
        </p:txBody>
      </p:sp>
    </p:spTree>
    <p:extLst>
      <p:ext uri="{BB962C8B-B14F-4D97-AF65-F5344CB8AC3E}">
        <p14:creationId xmlns:p14="http://schemas.microsoft.com/office/powerpoint/2010/main" val="27442539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Abstract(2/2)</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4"/>
            <a:ext cx="8924925" cy="5743575"/>
          </a:xfrm>
        </p:spPr>
        <p:txBody>
          <a:bodyPr>
            <a:normAutofit/>
          </a:body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A series of experiments were performed using different data input configurations, and compared with four benchmarks. The results were evaluated using both classical evaluation metrics, such as the ANN generalization error, and more general metrics, such as the annualized return. The ANN showed to be more accurate and give more return to the investor than the four benchmarks. The best results obtained by the ANN had an mean absolute percentage error around 50% smaller than the best benchmark, and doubled the capital of the investor.</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3</a:t>
            </a:fld>
            <a:endParaRPr lang="zh-TW" altLang="en-US"/>
          </a:p>
        </p:txBody>
      </p:sp>
    </p:spTree>
    <p:extLst>
      <p:ext uri="{BB962C8B-B14F-4D97-AF65-F5344CB8AC3E}">
        <p14:creationId xmlns:p14="http://schemas.microsoft.com/office/powerpoint/2010/main" val="193082122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Introduction</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4"/>
            <a:ext cx="8924925" cy="5743575"/>
          </a:xfrm>
        </p:spPr>
        <p:txBody>
          <a:bodyPr/>
          <a:lstStyle/>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This paper proposes a stock market day-trading system that uses the outputs of a ANN to guide the user into buying and selling stocks.</a:t>
            </a:r>
          </a:p>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The system was tested in the BM&amp;F BOVESPA Stock Exchange(</a:t>
            </a:r>
            <a:r>
              <a:rPr lang="zh-TW" altLang="en-US" dirty="0"/>
              <a:t>巴西證券交易所</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p>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The reasons used ANN for prediction</a:t>
            </a:r>
          </a:p>
          <a:p>
            <a:pPr lvl="1">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They can easily deal with irregularities.</a:t>
            </a:r>
          </a:p>
          <a:p>
            <a:pPr lvl="1">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They work with uncertain, incomplete and/or insufficient data, which change fast over short periods of time.</a:t>
            </a:r>
          </a:p>
          <a:p>
            <a:pPr lvl="1">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They are powerful tools to find patterns in data, including non-linear relationships.</a:t>
            </a: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4</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spTree>
    <p:extLst>
      <p:ext uri="{BB962C8B-B14F-4D97-AF65-F5344CB8AC3E}">
        <p14:creationId xmlns:p14="http://schemas.microsoft.com/office/powerpoint/2010/main" val="19519849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System architecture</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4"/>
            <a:ext cx="8924925" cy="5743575"/>
          </a:xfrm>
        </p:spPr>
        <p:txBody>
          <a:bodyPr/>
          <a:lstStyle/>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Multi-layer feed-forward neural network.</a:t>
            </a:r>
          </a:p>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Trained by the back-propagation algorithm.</a:t>
            </a:r>
          </a:p>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Three layers with up to 33 input and two output neurons.</a:t>
            </a:r>
          </a:p>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The number of neurons in the hidden layer  = the square root of the product between the number of neurons in the input and output layers.	</a:t>
            </a:r>
          </a:p>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Data pre- and post-processing:</a:t>
            </a:r>
          </a:p>
          <a:p>
            <a:pPr lvl="1">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Input(Output) values are divided(multiplied) by the maximum input value times 2.</a:t>
            </a:r>
          </a:p>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Learning rate = 0.01</a:t>
            </a: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5</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spTree>
    <p:extLst>
      <p:ext uri="{BB962C8B-B14F-4D97-AF65-F5344CB8AC3E}">
        <p14:creationId xmlns:p14="http://schemas.microsoft.com/office/powerpoint/2010/main" val="61711211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Input data</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4"/>
            <a:ext cx="8924925" cy="5743575"/>
          </a:xfrm>
        </p:spPr>
        <p:txBody>
          <a:bodyPr/>
          <a:lstStyle/>
          <a:p>
            <a:pPr>
              <a:lnSpc>
                <a:spcPct val="150000"/>
              </a:lnSpc>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pening, closing, lowest, highest daily prices</a:t>
            </a:r>
          </a:p>
          <a:p>
            <a:pPr>
              <a:lnSpc>
                <a:spcPct val="150000"/>
              </a:lnSpc>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Fundamental </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analysis (</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基本分析</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股票價格受政治、經濟、心理等諸多因素影響</a:t>
            </a: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例如：一家公司的財務報表、新制度影響分析、人口改變等</a:t>
            </a: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a:lnSpc>
                <a:spcPct val="150000"/>
              </a:lnSpc>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Technical </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analysis (</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技術分析</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zh-TW" altLang="en-US" dirty="0">
                <a:latin typeface="Times New Roman" panose="02020603050405020304" pitchFamily="18" charset="0"/>
                <a:ea typeface="標楷體" panose="03000509000000000000" pitchFamily="65" charset="-120"/>
                <a:cs typeface="Times New Roman" panose="02020603050405020304" pitchFamily="18" charset="0"/>
              </a:rPr>
              <a:t>研究過去股價，預測未來股價趨勢</a:t>
            </a:r>
          </a:p>
          <a:p>
            <a:pPr lvl="1">
              <a:lnSpc>
                <a:spcPct val="150000"/>
              </a:lnSpc>
            </a:pPr>
            <a:r>
              <a:rPr lang="zh-TW" altLang="en-US" dirty="0">
                <a:latin typeface="Times New Roman" panose="02020603050405020304" pitchFamily="18" charset="0"/>
                <a:ea typeface="標楷體" panose="03000509000000000000" pitchFamily="65" charset="-120"/>
                <a:cs typeface="Times New Roman" panose="02020603050405020304" pitchFamily="18" charset="0"/>
              </a:rPr>
              <a:t>股價的走勢是有規律的，所以可以預測未來走勢</a:t>
            </a:r>
          </a:p>
          <a:p>
            <a:pPr lvl="1">
              <a:lnSpc>
                <a:spcPct val="150000"/>
              </a:lnSpc>
            </a:pPr>
            <a:r>
              <a:rPr lang="zh-TW" altLang="en-US"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歷史會不斷重演</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，所以趨勢會不斷循環</a:t>
            </a:r>
          </a:p>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Long-term period :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Fundamental analysis</a:t>
            </a: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Short-term period :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Technical analysis</a:t>
            </a: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6</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spTree>
    <p:extLst>
      <p:ext uri="{BB962C8B-B14F-4D97-AF65-F5344CB8AC3E}">
        <p14:creationId xmlns:p14="http://schemas.microsoft.com/office/powerpoint/2010/main" val="20050089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Input data(1/3)</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95249" y="1114424"/>
                <a:ext cx="8924925" cy="5743575"/>
              </a:xfrm>
            </p:spPr>
            <p:txBody>
              <a:bodyPr/>
              <a:lstStyle/>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EMA</a:t>
                </a:r>
              </a:p>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Name : Exponential moving average(</a:t>
                </a:r>
                <a:r>
                  <a:rPr lang="zh-TW" altLang="en-US" b="1" dirty="0">
                    <a:latin typeface="標楷體" panose="03000509000000000000" pitchFamily="65" charset="-120"/>
                    <a:ea typeface="標楷體" panose="03000509000000000000" pitchFamily="65" charset="-120"/>
                  </a:rPr>
                  <a:t>加權移動</a:t>
                </a:r>
                <a:r>
                  <a:rPr lang="zh-TW" altLang="en-US" b="1" dirty="0" smtClean="0">
                    <a:latin typeface="標楷體" panose="03000509000000000000" pitchFamily="65" charset="-120"/>
                    <a:ea typeface="標楷體" panose="03000509000000000000" pitchFamily="65" charset="-120"/>
                  </a:rPr>
                  <a:t>平均</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p>
              <a:p>
                <a:pPr>
                  <a:lnSpc>
                    <a:spcPct val="150000"/>
                  </a:lnSpc>
                </a:pPr>
                <a:r>
                  <a:rPr lang="en-US" altLang="zh-TW" dirty="0" smtClean="0">
                    <a:latin typeface="Times New Roman" panose="02020603050405020304" pitchFamily="18" charset="0"/>
                    <a:cs typeface="Times New Roman" panose="02020603050405020304" pitchFamily="18" charset="0"/>
                  </a:rPr>
                  <a:t>Definition : A </a:t>
                </a:r>
                <a:r>
                  <a:rPr lang="en-US" altLang="zh-TW" dirty="0">
                    <a:latin typeface="Times New Roman" panose="02020603050405020304" pitchFamily="18" charset="0"/>
                    <a:cs typeface="Times New Roman" panose="02020603050405020304" pitchFamily="18" charset="0"/>
                  </a:rPr>
                  <a:t>calculation to analyze data points by creating a series of averages of different subsets of the full data </a:t>
                </a:r>
                <a:r>
                  <a:rPr lang="en-US" altLang="zh-TW" dirty="0" smtClean="0">
                    <a:latin typeface="Times New Roman" panose="02020603050405020304" pitchFamily="18" charset="0"/>
                    <a:cs typeface="Times New Roman" panose="02020603050405020304" pitchFamily="18" charset="0"/>
                  </a:rPr>
                  <a:t>set.</a:t>
                </a: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a:lnSpc>
                    <a:spcPct val="150000"/>
                  </a:lnSpc>
                </a:pPr>
                <a:r>
                  <a:rPr lang="en-US" altLang="zh-TW" dirty="0">
                    <a:latin typeface="Times New Roman" panose="02020603050405020304" pitchFamily="18" charset="0"/>
                    <a:cs typeface="Times New Roman" panose="02020603050405020304" pitchFamily="18" charset="0"/>
                  </a:rPr>
                  <a:t>A moving average is commonly used with time series data to smooth out short-term fluctuations and highlight longer-term trends or cycles</a:t>
                </a:r>
                <a:r>
                  <a:rPr lang="en-US" altLang="zh-TW" dirty="0" smtClean="0">
                    <a:latin typeface="Times New Roman" panose="02020603050405020304" pitchFamily="18" charset="0"/>
                    <a:cs typeface="Times New Roman" panose="02020603050405020304" pitchFamily="18" charset="0"/>
                  </a:rPr>
                  <a:t>.</a:t>
                </a:r>
              </a:p>
              <a:p>
                <a:pPr>
                  <a:lnSpc>
                    <a:spcPct val="150000"/>
                  </a:lnSpc>
                </a:pPr>
                <a:r>
                  <a:rPr lang="en-US" altLang="zh-TW" dirty="0" smtClean="0">
                    <a:latin typeface="Times New Roman" panose="02020603050405020304" pitchFamily="18" charset="0"/>
                    <a:cs typeface="Times New Roman" panose="02020603050405020304" pitchFamily="18" charset="0"/>
                  </a:rPr>
                  <a:t>SMA (Simple moving average):</a:t>
                </a:r>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cs typeface="Times New Roman" panose="02020603050405020304" pitchFamily="18" charset="0"/>
                        </a:rPr>
                        <m:t>𝑆𝑀𝐴</m:t>
                      </m:r>
                      <m:r>
                        <a:rPr lang="en-US" altLang="zh-TW" b="0" i="1" smtClean="0">
                          <a:latin typeface="Cambria Math" panose="02040503050406030204" pitchFamily="18" charset="0"/>
                          <a:cs typeface="Times New Roman" panose="02020603050405020304" pitchFamily="18" charset="0"/>
                        </a:rPr>
                        <m:t>= </m:t>
                      </m:r>
                      <m:f>
                        <m:fPr>
                          <m:ctrlPr>
                            <a:rPr lang="en-US" altLang="zh-TW" b="0" i="1" smtClean="0">
                              <a:latin typeface="Cambria Math" panose="02040503050406030204" pitchFamily="18" charset="0"/>
                              <a:cs typeface="Times New Roman" panose="02020603050405020304" pitchFamily="18" charset="0"/>
                            </a:rPr>
                          </m:ctrlPr>
                        </m:fPr>
                        <m:num>
                          <m:r>
                            <a:rPr lang="en-US" altLang="zh-TW" b="0" i="1" smtClean="0">
                              <a:latin typeface="Cambria Math" panose="02040503050406030204" pitchFamily="18" charset="0"/>
                              <a:cs typeface="Times New Roman" panose="02020603050405020304" pitchFamily="18" charset="0"/>
                            </a:rPr>
                            <m:t>𝑝</m:t>
                          </m:r>
                          <m:r>
                            <a:rPr lang="en-US" altLang="zh-TW" b="0" i="1" smtClean="0">
                              <a:latin typeface="Cambria Math" panose="02040503050406030204" pitchFamily="18" charset="0"/>
                              <a:cs typeface="Times New Roman" panose="02020603050405020304" pitchFamily="18" charset="0"/>
                            </a:rPr>
                            <m:t>1+</m:t>
                          </m:r>
                          <m:r>
                            <a:rPr lang="en-US" altLang="zh-TW" b="0" i="1" smtClean="0">
                              <a:latin typeface="Cambria Math" panose="02040503050406030204" pitchFamily="18" charset="0"/>
                              <a:cs typeface="Times New Roman" panose="02020603050405020304" pitchFamily="18" charset="0"/>
                            </a:rPr>
                            <m:t>𝑝</m:t>
                          </m:r>
                          <m:r>
                            <a:rPr lang="en-US" altLang="zh-TW" b="0" i="1" smtClean="0">
                              <a:latin typeface="Cambria Math" panose="02040503050406030204" pitchFamily="18" charset="0"/>
                              <a:cs typeface="Times New Roman" panose="02020603050405020304" pitchFamily="18" charset="0"/>
                            </a:rPr>
                            <m:t>2+ …+</m:t>
                          </m:r>
                          <m:r>
                            <a:rPr lang="en-US" altLang="zh-TW" b="0" i="1" smtClean="0">
                              <a:latin typeface="Cambria Math" panose="02040503050406030204" pitchFamily="18" charset="0"/>
                              <a:cs typeface="Times New Roman" panose="02020603050405020304" pitchFamily="18" charset="0"/>
                            </a:rPr>
                            <m:t>𝑝𝑛</m:t>
                          </m:r>
                        </m:num>
                        <m:den>
                          <m:r>
                            <a:rPr lang="en-US" altLang="zh-TW" b="0" i="1" smtClean="0">
                              <a:latin typeface="Cambria Math" panose="02040503050406030204" pitchFamily="18" charset="0"/>
                              <a:cs typeface="Times New Roman" panose="02020603050405020304" pitchFamily="18" charset="0"/>
                            </a:rPr>
                            <m:t>𝑛</m:t>
                          </m:r>
                        </m:den>
                      </m:f>
                      <m:r>
                        <a:rPr lang="en-US" altLang="zh-TW" b="0" i="0" smtClean="0">
                          <a:latin typeface="Cambria Math" panose="02040503050406030204" pitchFamily="18" charset="0"/>
                          <a:cs typeface="Times New Roman" panose="02020603050405020304" pitchFamily="18" charset="0"/>
                        </a:rPr>
                        <m:t> , </m:t>
                      </m:r>
                      <m:r>
                        <m:rPr>
                          <m:sty m:val="p"/>
                        </m:rPr>
                        <a:rPr lang="en-US" altLang="zh-TW" b="0" i="0" smtClean="0">
                          <a:latin typeface="Cambria Math" panose="02040503050406030204" pitchFamily="18" charset="0"/>
                          <a:cs typeface="Times New Roman" panose="02020603050405020304" pitchFamily="18" charset="0"/>
                        </a:rPr>
                        <m:t>pi</m:t>
                      </m:r>
                      <m:r>
                        <a:rPr lang="en-US" altLang="zh-TW" b="0" i="0" smtClean="0">
                          <a:latin typeface="Cambria Math" panose="02040503050406030204" pitchFamily="18" charset="0"/>
                          <a:cs typeface="Times New Roman" panose="02020603050405020304" pitchFamily="18" charset="0"/>
                        </a:rPr>
                        <m:t>=</m:t>
                      </m:r>
                      <m:r>
                        <m:rPr>
                          <m:sty m:val="p"/>
                        </m:rPr>
                        <a:rPr lang="en-US" altLang="zh-TW" b="0" i="0" smtClean="0">
                          <a:latin typeface="Cambria Math" panose="02040503050406030204" pitchFamily="18" charset="0"/>
                          <a:cs typeface="Times New Roman" panose="02020603050405020304" pitchFamily="18" charset="0"/>
                        </a:rPr>
                        <m:t>ith</m:t>
                      </m:r>
                      <m:r>
                        <a:rPr lang="en-US" altLang="zh-TW" b="0" i="0" smtClean="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closing</m:t>
                      </m:r>
                      <m:r>
                        <a:rPr lang="en-US" altLang="zh-TW" b="0" i="0" smtClean="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price</m:t>
                      </m:r>
                      <m:r>
                        <a:rPr lang="en-US" altLang="zh-TW" b="0" i="0" smtClean="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n</m:t>
                      </m:r>
                      <m:r>
                        <a:rPr lang="en-US" altLang="zh-TW" b="0" i="0" smtClean="0">
                          <a:latin typeface="Cambria Math" panose="02040503050406030204" pitchFamily="18" charset="0"/>
                          <a:cs typeface="Times New Roman" panose="02020603050405020304" pitchFamily="18" charset="0"/>
                        </a:rPr>
                        <m:t>=</m:t>
                      </m:r>
                      <m:r>
                        <m:rPr>
                          <m:sty m:val="p"/>
                        </m:rPr>
                        <a:rPr lang="en-US" altLang="zh-TW" b="0" i="0" smtClean="0">
                          <a:latin typeface="Cambria Math" panose="02040503050406030204" pitchFamily="18" charset="0"/>
                          <a:cs typeface="Times New Roman" panose="02020603050405020304" pitchFamily="18" charset="0"/>
                        </a:rPr>
                        <m:t>n</m:t>
                      </m:r>
                      <m:r>
                        <a:rPr lang="en-US" altLang="zh-TW" b="0" i="0" smtClean="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days</m:t>
                      </m:r>
                    </m:oMath>
                  </m:oMathPara>
                </a14:m>
                <a:endParaRPr lang="en-US" altLang="zh-TW" dirty="0" smtClean="0">
                  <a:latin typeface="Times New Roman" panose="02020603050405020304" pitchFamily="18" charset="0"/>
                  <a:cs typeface="Times New Roman" panose="020206030504050203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𝑆𝑀𝐴</m:t>
                          </m:r>
                        </m:e>
                        <m:sub>
                          <m:r>
                            <a:rPr lang="en-US" altLang="zh-TW" b="0" i="1" smtClean="0">
                              <a:latin typeface="Cambria Math" panose="02040503050406030204" pitchFamily="18" charset="0"/>
                              <a:cs typeface="Times New Roman" panose="02020603050405020304" pitchFamily="18" charset="0"/>
                            </a:rPr>
                            <m:t>𝑡𝑜𝑑𝑎𝑦</m:t>
                          </m:r>
                        </m:sub>
                      </m:sSub>
                      <m:r>
                        <a:rPr lang="en-US" altLang="zh-TW" b="0" i="1" smtClean="0">
                          <a:latin typeface="Cambria Math" panose="02040503050406030204" pitchFamily="18" charset="0"/>
                          <a:cs typeface="Times New Roman" panose="02020603050405020304" pitchFamily="18" charset="0"/>
                        </a:rPr>
                        <m:t>= </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𝑆𝑀𝐴</m:t>
                          </m:r>
                        </m:e>
                        <m:sub>
                          <m:r>
                            <a:rPr lang="en-US" altLang="zh-TW" b="0" i="1" smtClean="0">
                              <a:latin typeface="Cambria Math" panose="02040503050406030204" pitchFamily="18" charset="0"/>
                              <a:cs typeface="Times New Roman" panose="02020603050405020304" pitchFamily="18" charset="0"/>
                            </a:rPr>
                            <m:t>𝑦𝑒𝑠𝑡𝑒𝑟𝑑𝑎𝑦</m:t>
                          </m:r>
                        </m:sub>
                      </m:sSub>
                      <m:r>
                        <a:rPr lang="en-US" altLang="zh-TW" b="0" i="1" smtClean="0">
                          <a:latin typeface="Cambria Math" panose="02040503050406030204" pitchFamily="18" charset="0"/>
                          <a:cs typeface="Times New Roman" panose="02020603050405020304" pitchFamily="18" charset="0"/>
                        </a:rPr>
                        <m:t>−</m:t>
                      </m:r>
                      <m:f>
                        <m:fPr>
                          <m:ctrlPr>
                            <a:rPr lang="en-US" altLang="zh-TW" b="0" i="1" smtClean="0">
                              <a:latin typeface="Cambria Math" panose="02040503050406030204" pitchFamily="18" charset="0"/>
                              <a:cs typeface="Times New Roman" panose="02020603050405020304" pitchFamily="18" charset="0"/>
                            </a:rPr>
                          </m:ctrlPr>
                        </m:fPr>
                        <m:num>
                          <m:r>
                            <a:rPr lang="en-US" altLang="zh-TW" b="0" i="1" smtClean="0">
                              <a:latin typeface="Cambria Math" panose="02040503050406030204" pitchFamily="18" charset="0"/>
                              <a:cs typeface="Times New Roman" panose="02020603050405020304" pitchFamily="18" charset="0"/>
                            </a:rPr>
                            <m:t>𝑝</m:t>
                          </m:r>
                          <m:r>
                            <a:rPr lang="en-US" altLang="zh-TW" b="0" i="1" smtClean="0">
                              <a:latin typeface="Cambria Math" panose="02040503050406030204" pitchFamily="18" charset="0"/>
                              <a:cs typeface="Times New Roman" panose="02020603050405020304" pitchFamily="18" charset="0"/>
                            </a:rPr>
                            <m:t>1</m:t>
                          </m:r>
                        </m:num>
                        <m:den>
                          <m:r>
                            <a:rPr lang="en-US" altLang="zh-TW" b="0" i="1" smtClean="0">
                              <a:latin typeface="Cambria Math" panose="02040503050406030204" pitchFamily="18" charset="0"/>
                              <a:cs typeface="Times New Roman" panose="02020603050405020304" pitchFamily="18" charset="0"/>
                            </a:rPr>
                            <m:t>𝑛</m:t>
                          </m:r>
                        </m:den>
                      </m:f>
                      <m:r>
                        <a:rPr lang="en-US" altLang="zh-TW" b="0" i="1" smtClean="0">
                          <a:latin typeface="Cambria Math" panose="02040503050406030204" pitchFamily="18" charset="0"/>
                          <a:cs typeface="Times New Roman" panose="02020603050405020304" pitchFamily="18" charset="0"/>
                        </a:rPr>
                        <m:t>+</m:t>
                      </m:r>
                      <m:f>
                        <m:fPr>
                          <m:ctrlPr>
                            <a:rPr lang="en-US" altLang="zh-TW" b="0" i="1" smtClean="0">
                              <a:latin typeface="Cambria Math" panose="02040503050406030204" pitchFamily="18" charset="0"/>
                              <a:cs typeface="Times New Roman" panose="02020603050405020304" pitchFamily="18" charset="0"/>
                            </a:rPr>
                          </m:ctrlPr>
                        </m:fPr>
                        <m:num>
                          <m:r>
                            <a:rPr lang="en-US" altLang="zh-TW" b="0" i="1" smtClean="0">
                              <a:latin typeface="Cambria Math" panose="02040503050406030204" pitchFamily="18" charset="0"/>
                              <a:cs typeface="Times New Roman" panose="02020603050405020304" pitchFamily="18" charset="0"/>
                            </a:rPr>
                            <m:t>𝑝𝑛</m:t>
                          </m:r>
                          <m:r>
                            <a:rPr lang="en-US" altLang="zh-TW" b="0" i="1" smtClean="0">
                              <a:latin typeface="Cambria Math" panose="02040503050406030204" pitchFamily="18" charset="0"/>
                              <a:cs typeface="Times New Roman" panose="02020603050405020304" pitchFamily="18" charset="0"/>
                            </a:rPr>
                            <m:t>+1</m:t>
                          </m:r>
                        </m:num>
                        <m:den>
                          <m:r>
                            <a:rPr lang="en-US" altLang="zh-TW" b="0" i="1" smtClean="0">
                              <a:latin typeface="Cambria Math" panose="02040503050406030204" pitchFamily="18" charset="0"/>
                              <a:cs typeface="Times New Roman" panose="02020603050405020304" pitchFamily="18" charset="0"/>
                            </a:rPr>
                            <m:t>𝑛</m:t>
                          </m:r>
                        </m:den>
                      </m:f>
                    </m:oMath>
                  </m:oMathPara>
                </a14:m>
                <a:endParaRPr lang="en-US" altLang="zh-TW"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95249" y="1114424"/>
                <a:ext cx="8924925" cy="5743575"/>
              </a:xfrm>
              <a:blipFill rotWithShape="0">
                <a:blip r:embed="rId2"/>
                <a:stretch>
                  <a:fillRect l="-683" r="-956"/>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t>7</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spTree>
    <p:extLst>
      <p:ext uri="{BB962C8B-B14F-4D97-AF65-F5344CB8AC3E}">
        <p14:creationId xmlns:p14="http://schemas.microsoft.com/office/powerpoint/2010/main" val="23803953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Input data(2/3)</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95249" y="1114424"/>
                <a:ext cx="8924925" cy="5743575"/>
              </a:xfrm>
            </p:spPr>
            <p:txBody>
              <a:bodyPr>
                <a:normAutofit fontScale="92500" lnSpcReduction="10000"/>
              </a:bodyPr>
              <a:lstStyle/>
              <a:p>
                <a:pPr>
                  <a:lnSpc>
                    <a:spcPct val="150000"/>
                  </a:lnSpc>
                </a:pPr>
                <a:r>
                  <a:rPr lang="en-US" altLang="zh-TW" dirty="0" smtClean="0">
                    <a:latin typeface="Times New Roman" panose="02020603050405020304" pitchFamily="18" charset="0"/>
                    <a:cs typeface="Times New Roman" panose="02020603050405020304" pitchFamily="18" charset="0"/>
                  </a:rPr>
                  <a:t>BB</a:t>
                </a:r>
              </a:p>
              <a:p>
                <a:pPr>
                  <a:lnSpc>
                    <a:spcPct val="150000"/>
                  </a:lnSpc>
                </a:pPr>
                <a:r>
                  <a:rPr lang="en-US" altLang="zh-TW" dirty="0">
                    <a:latin typeface="Times New Roman" panose="02020603050405020304" pitchFamily="18" charset="0"/>
                    <a:cs typeface="Times New Roman" panose="02020603050405020304" pitchFamily="18" charset="0"/>
                  </a:rPr>
                  <a:t>Bollinger </a:t>
                </a:r>
                <a:r>
                  <a:rPr lang="en-US" altLang="zh-TW" dirty="0" smtClean="0">
                    <a:latin typeface="Times New Roman" panose="02020603050405020304" pitchFamily="18" charset="0"/>
                    <a:cs typeface="Times New Roman" panose="02020603050405020304" pitchFamily="18" charset="0"/>
                  </a:rPr>
                  <a:t>Bands (</a:t>
                </a:r>
                <a:r>
                  <a:rPr lang="zh-TW" altLang="en-US" b="1" dirty="0">
                    <a:latin typeface="標楷體" panose="03000509000000000000" pitchFamily="65" charset="-120"/>
                    <a:ea typeface="標楷體" panose="03000509000000000000" pitchFamily="65" charset="-120"/>
                  </a:rPr>
                  <a:t>布林通道</a:t>
                </a:r>
                <a:r>
                  <a:rPr lang="en-US" altLang="zh-TW" dirty="0" smtClean="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invented by John Bollinger in the </a:t>
                </a:r>
                <a:r>
                  <a:rPr lang="en-US" altLang="zh-TW" dirty="0" smtClean="0">
                    <a:latin typeface="Times New Roman" panose="02020603050405020304" pitchFamily="18" charset="0"/>
                    <a:cs typeface="Times New Roman" panose="02020603050405020304" pitchFamily="18" charset="0"/>
                  </a:rPr>
                  <a:t>1980s</a:t>
                </a:r>
              </a:p>
              <a:p>
                <a:pPr>
                  <a:lnSpc>
                    <a:spcPct val="150000"/>
                  </a:lnSpc>
                </a:pPr>
                <a:r>
                  <a:rPr lang="en-US" altLang="zh-TW" dirty="0">
                    <a:latin typeface="Times New Roman" panose="02020603050405020304" pitchFamily="18" charset="0"/>
                    <a:cs typeface="Times New Roman" panose="02020603050405020304" pitchFamily="18" charset="0"/>
                  </a:rPr>
                  <a:t>Bollinger Bands consist </a:t>
                </a:r>
                <a:r>
                  <a:rPr lang="en-US" altLang="zh-TW" dirty="0" smtClean="0">
                    <a:latin typeface="Times New Roman" panose="02020603050405020304" pitchFamily="18" charset="0"/>
                    <a:cs typeface="Times New Roman" panose="02020603050405020304" pitchFamily="18" charset="0"/>
                  </a:rPr>
                  <a:t>of</a:t>
                </a:r>
              </a:p>
              <a:p>
                <a:pPr lvl="1">
                  <a:lnSpc>
                    <a:spcPct val="150000"/>
                  </a:lnSpc>
                </a:pPr>
                <a:r>
                  <a:rPr lang="zh-TW" altLang="en-US" dirty="0" smtClean="0">
                    <a:latin typeface="標楷體" panose="03000509000000000000" pitchFamily="65" charset="-120"/>
                    <a:ea typeface="標楷體" panose="03000509000000000000" pitchFamily="65" charset="-120"/>
                    <a:cs typeface="Times New Roman" panose="02020603050405020304" pitchFamily="18" charset="0"/>
                  </a:rPr>
                  <a:t>中軌</a:t>
                </a:r>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
                </a:r>
                <a:r>
                  <a:rPr lang="zh-TW" altLang="en-US" dirty="0" smtClean="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an </a:t>
                </a:r>
                <a:r>
                  <a:rPr lang="en-US" altLang="zh-TW" i="1" dirty="0">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-period moving average (MA)</a:t>
                </a:r>
                <a:endParaRPr lang="en-US" altLang="zh-TW" dirty="0" smtClean="0">
                  <a:latin typeface="Times New Roman" panose="02020603050405020304" pitchFamily="18" charset="0"/>
                  <a:cs typeface="Times New Roman" panose="02020603050405020304" pitchFamily="18" charset="0"/>
                </a:endParaRPr>
              </a:p>
              <a:p>
                <a:pPr lvl="1">
                  <a:lnSpc>
                    <a:spcPct val="150000"/>
                  </a:lnSpc>
                </a:pPr>
                <a:r>
                  <a:rPr lang="zh-TW" altLang="en-US" dirty="0" smtClean="0">
                    <a:latin typeface="標楷體" panose="03000509000000000000" pitchFamily="65" charset="-120"/>
                    <a:ea typeface="標楷體" panose="03000509000000000000" pitchFamily="65" charset="-120"/>
                    <a:cs typeface="Times New Roman" panose="02020603050405020304" pitchFamily="18" charset="0"/>
                  </a:rPr>
                  <a:t>上軌</a:t>
                </a:r>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
                </a:r>
                <a:r>
                  <a:rPr lang="zh-TW" altLang="en-US" dirty="0" smtClean="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an upper band at </a:t>
                </a:r>
                <a:r>
                  <a:rPr lang="en-US" altLang="zh-TW" i="1" dirty="0">
                    <a:latin typeface="Times New Roman" panose="02020603050405020304" pitchFamily="18" charset="0"/>
                    <a:cs typeface="Times New Roman" panose="02020603050405020304" pitchFamily="18" charset="0"/>
                  </a:rPr>
                  <a:t>K</a:t>
                </a:r>
                <a:r>
                  <a:rPr lang="en-US" altLang="zh-TW" dirty="0">
                    <a:latin typeface="Times New Roman" panose="02020603050405020304" pitchFamily="18" charset="0"/>
                    <a:cs typeface="Times New Roman" panose="02020603050405020304" pitchFamily="18" charset="0"/>
                  </a:rPr>
                  <a:t> times an </a:t>
                </a:r>
                <a:r>
                  <a:rPr lang="en-US" altLang="zh-TW" i="1" dirty="0">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-period standard deviation above the moving average (MA + </a:t>
                </a:r>
                <a:r>
                  <a:rPr lang="en-US" altLang="zh-TW" i="1" dirty="0" err="1" smtClean="0">
                    <a:latin typeface="Times New Roman" panose="02020603050405020304" pitchFamily="18" charset="0"/>
                    <a:cs typeface="Times New Roman" panose="02020603050405020304" pitchFamily="18" charset="0"/>
                  </a:rPr>
                  <a:t>Kσ</a:t>
                </a:r>
                <a:r>
                  <a:rPr lang="en-US" altLang="zh-TW" dirty="0" smtClean="0">
                    <a:latin typeface="Times New Roman" panose="02020603050405020304" pitchFamily="18" charset="0"/>
                    <a:cs typeface="Times New Roman" panose="02020603050405020304" pitchFamily="18" charset="0"/>
                  </a:rPr>
                  <a:t>)</a:t>
                </a:r>
              </a:p>
              <a:p>
                <a:pPr lvl="1">
                  <a:lnSpc>
                    <a:spcPct val="150000"/>
                  </a:lnSpc>
                </a:pPr>
                <a:r>
                  <a:rPr lang="zh-TW" altLang="en-US" dirty="0" smtClean="0">
                    <a:latin typeface="標楷體" panose="03000509000000000000" pitchFamily="65" charset="-120"/>
                    <a:ea typeface="標楷體" panose="03000509000000000000" pitchFamily="65" charset="-120"/>
                    <a:cs typeface="Times New Roman" panose="02020603050405020304" pitchFamily="18" charset="0"/>
                  </a:rPr>
                  <a:t>下軌</a:t>
                </a:r>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
                </a:r>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 </a:t>
                </a:r>
                <a:r>
                  <a:rPr lang="en-US" altLang="zh-TW" dirty="0">
                    <a:latin typeface="Times New Roman" panose="02020603050405020304" pitchFamily="18" charset="0"/>
                    <a:cs typeface="Times New Roman" panose="02020603050405020304" pitchFamily="18" charset="0"/>
                  </a:rPr>
                  <a:t>lower band at </a:t>
                </a:r>
                <a:r>
                  <a:rPr lang="en-US" altLang="zh-TW" i="1" dirty="0">
                    <a:latin typeface="Times New Roman" panose="02020603050405020304" pitchFamily="18" charset="0"/>
                    <a:cs typeface="Times New Roman" panose="02020603050405020304" pitchFamily="18" charset="0"/>
                  </a:rPr>
                  <a:t>K</a:t>
                </a:r>
                <a:r>
                  <a:rPr lang="en-US" altLang="zh-TW" dirty="0">
                    <a:latin typeface="Times New Roman" panose="02020603050405020304" pitchFamily="18" charset="0"/>
                    <a:cs typeface="Times New Roman" panose="02020603050405020304" pitchFamily="18" charset="0"/>
                  </a:rPr>
                  <a:t> times an </a:t>
                </a:r>
                <a:r>
                  <a:rPr lang="en-US" altLang="zh-TW" i="1" dirty="0">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-period standard deviation below the moving average (MA − </a:t>
                </a:r>
                <a:r>
                  <a:rPr lang="en-US" altLang="zh-TW" i="1" dirty="0" err="1">
                    <a:latin typeface="Times New Roman" panose="02020603050405020304" pitchFamily="18" charset="0"/>
                    <a:cs typeface="Times New Roman" panose="02020603050405020304" pitchFamily="18" charset="0"/>
                  </a:rPr>
                  <a:t>Kσ</a:t>
                </a:r>
                <a:r>
                  <a:rPr lang="en-US" altLang="zh-TW" dirty="0" smtClean="0">
                    <a:latin typeface="Times New Roman" panose="02020603050405020304" pitchFamily="18" charset="0"/>
                    <a:cs typeface="Times New Roman" panose="02020603050405020304" pitchFamily="18" charset="0"/>
                  </a:rPr>
                  <a:t>)</a:t>
                </a:r>
              </a:p>
              <a:p>
                <a:pPr>
                  <a:lnSpc>
                    <a:spcPct val="150000"/>
                  </a:lnSpc>
                </a:pPr>
                <a:r>
                  <a:rPr lang="en-US" altLang="zh-TW" dirty="0" smtClean="0">
                    <a:latin typeface="Times New Roman" panose="02020603050405020304" pitchFamily="18" charset="0"/>
                    <a:cs typeface="Times New Roman" panose="02020603050405020304" pitchFamily="18" charset="0"/>
                  </a:rPr>
                  <a:t>%b</a:t>
                </a:r>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Percent </a:t>
                </a:r>
                <a:r>
                  <a:rPr lang="en-US" altLang="zh-TW" dirty="0" smtClean="0">
                    <a:latin typeface="Times New Roman" panose="02020603050405020304" pitchFamily="18" charset="0"/>
                    <a:cs typeface="Times New Roman" panose="02020603050405020304" pitchFamily="18" charset="0"/>
                  </a:rPr>
                  <a:t>b, PB)</a:t>
                </a:r>
                <a:r>
                  <a:rPr lang="zh-TW" altLang="en-US"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indicator:</a:t>
                </a:r>
              </a:p>
              <a:p>
                <a:pPr lvl="1">
                  <a:lnSpc>
                    <a:spcPct val="150000"/>
                  </a:lnSpc>
                </a:pPr>
                <a14:m>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𝑏</m:t>
                    </m:r>
                    <m:r>
                      <a:rPr lang="en-US" altLang="zh-TW" b="0" i="1" smtClean="0">
                        <a:latin typeface="Cambria Math" panose="02040503050406030204" pitchFamily="18" charset="0"/>
                      </a:rPr>
                      <m:t>=</m:t>
                    </m:r>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m:t>
                        </m:r>
                        <m:r>
                          <a:rPr lang="en-US" altLang="zh-TW" b="0" i="1" smtClean="0">
                            <a:latin typeface="Cambria Math" panose="02040503050406030204" pitchFamily="18" charset="0"/>
                          </a:rPr>
                          <m:t>𝑙𝑎𝑠𝑡</m:t>
                        </m:r>
                        <m:r>
                          <a:rPr lang="en-US" altLang="zh-TW" b="0" i="1" smtClean="0">
                            <a:latin typeface="Cambria Math" panose="02040503050406030204" pitchFamily="18" charset="0"/>
                          </a:rPr>
                          <m:t> −</m:t>
                        </m:r>
                        <m:r>
                          <a:rPr lang="en-US" altLang="zh-TW" b="0" i="1" smtClean="0">
                            <a:latin typeface="Cambria Math" panose="02040503050406030204" pitchFamily="18" charset="0"/>
                          </a:rPr>
                          <m:t>𝑙𝑜𝑤𝑒𝑟𝐵𝐵</m:t>
                        </m:r>
                        <m:r>
                          <a:rPr lang="en-US" altLang="zh-TW" b="0" i="1" smtClean="0">
                            <a:latin typeface="Cambria Math" panose="02040503050406030204" pitchFamily="18" charset="0"/>
                          </a:rPr>
                          <m:t>)</m:t>
                        </m:r>
                      </m:num>
                      <m:den>
                        <m:r>
                          <a:rPr lang="en-US" altLang="zh-TW" b="0" i="1" smtClean="0">
                            <a:latin typeface="Cambria Math" panose="02040503050406030204" pitchFamily="18" charset="0"/>
                          </a:rPr>
                          <m:t>𝑢𝑝𝑝𝑒𝑟𝐵𝐵</m:t>
                        </m:r>
                        <m:r>
                          <a:rPr lang="en-US" altLang="zh-TW" b="0" i="1" smtClean="0">
                            <a:latin typeface="Cambria Math" panose="02040503050406030204" pitchFamily="18" charset="0"/>
                          </a:rPr>
                          <m:t> −</m:t>
                        </m:r>
                        <m:r>
                          <a:rPr lang="en-US" altLang="zh-TW" b="0" i="1" smtClean="0">
                            <a:latin typeface="Cambria Math" panose="02040503050406030204" pitchFamily="18" charset="0"/>
                          </a:rPr>
                          <m:t>𝑙𝑜𝑤𝑒𝑟𝐵𝐵</m:t>
                        </m:r>
                      </m:den>
                    </m:f>
                    <m:r>
                      <a:rPr lang="en-US" altLang="zh-TW" b="0" i="1" smtClean="0">
                        <a:latin typeface="Cambria Math" panose="02040503050406030204" pitchFamily="18" charset="0"/>
                      </a:rPr>
                      <m:t>, </m:t>
                    </m:r>
                    <m:r>
                      <a:rPr lang="en-US" altLang="zh-TW" b="0" i="1" smtClean="0">
                        <a:latin typeface="Cambria Math" panose="02040503050406030204" pitchFamily="18" charset="0"/>
                      </a:rPr>
                      <m:t>𝑤h𝑒𝑟𝑒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𝑙𝑎𝑠𝑡</m:t>
                    </m:r>
                    <m:r>
                      <a:rPr lang="en-US" altLang="zh-TW" b="0" i="1" smtClean="0">
                        <a:latin typeface="Cambria Math" panose="02040503050406030204" pitchFamily="18" charset="0"/>
                      </a:rPr>
                      <m:t>=</m:t>
                    </m:r>
                    <m:r>
                      <a:rPr lang="en-US" altLang="zh-TW" b="0" i="1" smtClean="0">
                        <a:latin typeface="Cambria Math" panose="02040503050406030204" pitchFamily="18" charset="0"/>
                      </a:rPr>
                      <m:t>𝑐𝑙𝑜𝑠𝑖𝑛𝑔</m:t>
                    </m:r>
                    <m:r>
                      <a:rPr lang="en-US" altLang="zh-TW" b="0" i="1" smtClean="0">
                        <a:latin typeface="Cambria Math" panose="02040503050406030204" pitchFamily="18" charset="0"/>
                      </a:rPr>
                      <m:t> </m:t>
                    </m:r>
                    <m:r>
                      <a:rPr lang="en-US" altLang="zh-TW" b="0" i="1" smtClean="0">
                        <a:latin typeface="Cambria Math" panose="02040503050406030204" pitchFamily="18" charset="0"/>
                      </a:rPr>
                      <m:t>𝑝𝑟𝑖𝑐𝑒</m:t>
                    </m:r>
                  </m:oMath>
                </a14:m>
                <a:r>
                  <a:rPr lang="en-US" altLang="zh-TW" dirty="0" smtClean="0"/>
                  <a:t> </a:t>
                </a:r>
              </a:p>
              <a:p>
                <a:pPr>
                  <a:lnSpc>
                    <a:spcPct val="150000"/>
                  </a:lnSpc>
                </a:pPr>
                <a:r>
                  <a:rPr lang="en-US" altLang="zh-TW" dirty="0" smtClean="0">
                    <a:latin typeface="Times New Roman" panose="02020603050405020304" pitchFamily="18" charset="0"/>
                    <a:cs typeface="Times New Roman" panose="02020603050405020304" pitchFamily="18" charset="0"/>
                  </a:rPr>
                  <a:t>BW (Bandwidth) indicator:</a:t>
                </a:r>
              </a:p>
              <a:p>
                <a:pPr lvl="1">
                  <a:lnSpc>
                    <a:spcPct val="150000"/>
                  </a:lnSpc>
                </a:pPr>
                <a14:m>
                  <m:oMath xmlns:m="http://schemas.openxmlformats.org/officeDocument/2006/math">
                    <m:f>
                      <m:fPr>
                        <m:ctrlPr>
                          <a:rPr lang="en-US" altLang="zh-TW" b="0" i="1" smtClean="0">
                            <a:latin typeface="Cambria Math" panose="02040503050406030204" pitchFamily="18" charset="0"/>
                            <a:cs typeface="Times New Roman" panose="02020603050405020304" pitchFamily="18" charset="0"/>
                          </a:rPr>
                        </m:ctrlPr>
                      </m:fPr>
                      <m:num>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𝑢𝑝𝑝𝑒𝑟𝐵𝐵</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𝑙𝑜𝑤𝑒𝑟𝐵𝐵</m:t>
                        </m:r>
                        <m:r>
                          <a:rPr lang="en-US" altLang="zh-TW" b="0" i="1" smtClean="0">
                            <a:latin typeface="Cambria Math" panose="02040503050406030204" pitchFamily="18" charset="0"/>
                            <a:cs typeface="Times New Roman" panose="02020603050405020304" pitchFamily="18" charset="0"/>
                          </a:rPr>
                          <m:t>)</m:t>
                        </m:r>
                      </m:num>
                      <m:den>
                        <m:r>
                          <a:rPr lang="en-US" altLang="zh-TW" b="0" i="1" smtClean="0">
                            <a:latin typeface="Cambria Math" panose="02040503050406030204" pitchFamily="18" charset="0"/>
                            <a:cs typeface="Times New Roman" panose="02020603050405020304" pitchFamily="18" charset="0"/>
                          </a:rPr>
                          <m:t>𝑚𝑖𝑑𝑑𝑙𝑒𝐵𝐵</m:t>
                        </m:r>
                      </m:den>
                    </m:f>
                  </m:oMath>
                </a14:m>
                <a:endParaRPr lang="en-US" altLang="zh-TW" b="0" dirty="0" smtClean="0">
                  <a:latin typeface="Times New Roman" panose="02020603050405020304" pitchFamily="18" charset="0"/>
                  <a:cs typeface="Times New Roman" panose="02020603050405020304" pitchFamily="18" charset="0"/>
                </a:endParaRPr>
              </a:p>
              <a:p>
                <a:pPr lvl="1">
                  <a:lnSpc>
                    <a:spcPct val="150000"/>
                  </a:lnSpc>
                </a:pPr>
                <a:endParaRPr lang="en-US" altLang="zh-TW" dirty="0" smtClean="0">
                  <a:latin typeface="Times New Roman" panose="02020603050405020304" pitchFamily="18" charset="0"/>
                  <a:cs typeface="Times New Roman" panose="02020603050405020304" pitchFamily="18" charset="0"/>
                </a:endParaRPr>
              </a:p>
              <a:p>
                <a:pPr>
                  <a:lnSpc>
                    <a:spcPct val="150000"/>
                  </a:lnSpc>
                </a:pPr>
                <a:endParaRPr lang="en-US" altLang="zh-TW" b="1" dirty="0" smtClean="0"/>
              </a:p>
              <a:p>
                <a:pPr marL="0" indent="0">
                  <a:lnSpc>
                    <a:spcPct val="150000"/>
                  </a:lnSpc>
                  <a:buNone/>
                </a:pPr>
                <a:endParaRPr lang="en-US" altLang="zh-TW" b="1" dirty="0"/>
              </a:p>
              <a:p>
                <a:pPr>
                  <a:lnSpc>
                    <a:spcPct val="150000"/>
                  </a:lnSpc>
                </a:pPr>
                <a:endParaRPr lang="en-US" altLang="zh-TW"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95249" y="1114424"/>
                <a:ext cx="8924925" cy="5743575"/>
              </a:xfrm>
              <a:blipFill rotWithShape="0">
                <a:blip r:embed="rId2"/>
                <a:stretch>
                  <a:fillRect l="-546"/>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t>8</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spTree>
    <p:extLst>
      <p:ext uri="{BB962C8B-B14F-4D97-AF65-F5344CB8AC3E}">
        <p14:creationId xmlns:p14="http://schemas.microsoft.com/office/powerpoint/2010/main" val="4391942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Input data(3/3)</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4"/>
            <a:ext cx="2819401" cy="1647826"/>
          </a:xfrm>
        </p:spPr>
        <p:txBody>
          <a:bodyPr>
            <a:normAutofit/>
          </a:bodyPr>
          <a:lstStyle/>
          <a:p>
            <a:pPr>
              <a:lnSpc>
                <a:spcPct val="150000"/>
              </a:lnSpc>
            </a:pPr>
            <a:r>
              <a:rPr lang="en-US" altLang="zh-TW" b="0" dirty="0" smtClean="0">
                <a:latin typeface="Times New Roman" panose="02020603050405020304" pitchFamily="18" charset="0"/>
                <a:cs typeface="Times New Roman" panose="02020603050405020304" pitchFamily="18" charset="0"/>
              </a:rPr>
              <a:t>Uses 33 variables</a:t>
            </a:r>
          </a:p>
          <a:p>
            <a:pPr>
              <a:lnSpc>
                <a:spcPct val="150000"/>
              </a:lnSpc>
            </a:pPr>
            <a:r>
              <a:rPr lang="en-US" altLang="zh-TW" dirty="0" smtClean="0">
                <a:latin typeface="Times New Roman" panose="02020603050405020304" pitchFamily="18" charset="0"/>
                <a:cs typeface="Times New Roman" panose="02020603050405020304" pitchFamily="18" charset="0"/>
              </a:rPr>
              <a:t>First configuration:</a:t>
            </a:r>
          </a:p>
          <a:p>
            <a:pPr lvl="1">
              <a:lnSpc>
                <a:spcPct val="150000"/>
              </a:lnSpc>
            </a:pPr>
            <a:r>
              <a:rPr lang="en-US" altLang="zh-TW" b="0" dirty="0" smtClean="0">
                <a:latin typeface="Times New Roman" panose="02020603050405020304" pitchFamily="18" charset="0"/>
                <a:cs typeface="Times New Roman" panose="02020603050405020304" pitchFamily="18" charset="0"/>
              </a:rPr>
              <a:t>1, 3, 7, 8</a:t>
            </a:r>
            <a:endParaRPr lang="en-US" altLang="zh-TW" dirty="0" smtClean="0">
              <a:latin typeface="Times New Roman" panose="02020603050405020304" pitchFamily="18" charset="0"/>
              <a:cs typeface="Times New Roman" panose="02020603050405020304" pitchFamily="18" charset="0"/>
            </a:endParaRPr>
          </a:p>
          <a:p>
            <a:pPr>
              <a:lnSpc>
                <a:spcPct val="150000"/>
              </a:lnSpc>
            </a:pPr>
            <a:endParaRPr lang="en-US" altLang="zh-TW" b="1" dirty="0" smtClean="0"/>
          </a:p>
          <a:p>
            <a:pPr marL="0" indent="0">
              <a:lnSpc>
                <a:spcPct val="150000"/>
              </a:lnSpc>
              <a:buNone/>
            </a:pPr>
            <a:endParaRPr lang="en-US" altLang="zh-TW" b="1" dirty="0"/>
          </a:p>
          <a:p>
            <a:pPr>
              <a:lnSpc>
                <a:spcPct val="150000"/>
              </a:lnSpc>
            </a:pPr>
            <a:endParaRPr lang="en-US" altLang="zh-TW"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9</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pic>
        <p:nvPicPr>
          <p:cNvPr id="7" name="內容版面配置區 4"/>
          <p:cNvPicPr>
            <a:picLocks noChangeAspect="1"/>
          </p:cNvPicPr>
          <p:nvPr/>
        </p:nvPicPr>
        <p:blipFill>
          <a:blip r:embed="rId2"/>
          <a:stretch>
            <a:fillRect/>
          </a:stretch>
        </p:blipFill>
        <p:spPr>
          <a:xfrm>
            <a:off x="855195" y="2975019"/>
            <a:ext cx="7405032" cy="3463881"/>
          </a:xfrm>
          <a:prstGeom prst="rect">
            <a:avLst/>
          </a:prstGeom>
        </p:spPr>
      </p:pic>
      <p:sp>
        <p:nvSpPr>
          <p:cNvPr id="8" name="內容版面配置區 2"/>
          <p:cNvSpPr txBox="1">
            <a:spLocks/>
          </p:cNvSpPr>
          <p:nvPr/>
        </p:nvSpPr>
        <p:spPr>
          <a:xfrm>
            <a:off x="2914650" y="1091863"/>
            <a:ext cx="2819401" cy="105924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50000"/>
              </a:lnSpc>
            </a:pPr>
            <a:r>
              <a:rPr lang="en-US" altLang="zh-TW" dirty="0" smtClean="0">
                <a:latin typeface="Times New Roman" panose="02020603050405020304" pitchFamily="18" charset="0"/>
                <a:cs typeface="Times New Roman" panose="02020603050405020304" pitchFamily="18" charset="0"/>
              </a:rPr>
              <a:t>Second configuration:</a:t>
            </a:r>
          </a:p>
          <a:p>
            <a:pPr lvl="1">
              <a:lnSpc>
                <a:spcPct val="150000"/>
              </a:lnSpc>
            </a:pPr>
            <a:r>
              <a:rPr lang="en-US" altLang="zh-TW" dirty="0" smtClean="0">
                <a:latin typeface="Times New Roman" panose="02020603050405020304" pitchFamily="18" charset="0"/>
                <a:cs typeface="Times New Roman" panose="02020603050405020304" pitchFamily="18" charset="0"/>
              </a:rPr>
              <a:t>1, 2, 3, 7, 8</a:t>
            </a:r>
          </a:p>
          <a:p>
            <a:pPr lvl="1">
              <a:lnSpc>
                <a:spcPct val="150000"/>
              </a:lnSpc>
            </a:pPr>
            <a:endParaRPr lang="en-US" altLang="zh-TW" dirty="0" smtClean="0">
              <a:latin typeface="Times New Roman" panose="02020603050405020304" pitchFamily="18" charset="0"/>
              <a:cs typeface="Times New Roman" panose="02020603050405020304" pitchFamily="18" charset="0"/>
            </a:endParaRPr>
          </a:p>
          <a:p>
            <a:pPr>
              <a:lnSpc>
                <a:spcPct val="150000"/>
              </a:lnSpc>
            </a:pPr>
            <a:endParaRPr lang="en-US" altLang="zh-TW" b="1" dirty="0" smtClean="0"/>
          </a:p>
          <a:p>
            <a:pPr marL="0" indent="0">
              <a:lnSpc>
                <a:spcPct val="150000"/>
              </a:lnSpc>
              <a:buFont typeface="Arial" panose="020B0604020202020204" pitchFamily="34" charset="0"/>
              <a:buNone/>
            </a:pPr>
            <a:endParaRPr lang="en-US" altLang="zh-TW" b="1" dirty="0" smtClean="0"/>
          </a:p>
          <a:p>
            <a:pPr>
              <a:lnSpc>
                <a:spcPct val="150000"/>
              </a:lnSpc>
            </a:pPr>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27365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Others</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4"/>
            <a:ext cx="8924925" cy="5743575"/>
          </a:xfrm>
        </p:spPr>
        <p:txBody>
          <a:bodyPr>
            <a:normAutofit/>
          </a:bodyPr>
          <a:lstStyle/>
          <a:p>
            <a:pPr>
              <a:lnSpc>
                <a:spcPct val="150000"/>
              </a:lnSpc>
            </a:pPr>
            <a:r>
              <a:rPr lang="en-US" altLang="zh-TW" b="0" dirty="0" smtClean="0">
                <a:latin typeface="Times New Roman" panose="02020603050405020304" pitchFamily="18" charset="0"/>
                <a:cs typeface="Times New Roman" panose="02020603050405020304" pitchFamily="18" charset="0"/>
              </a:rPr>
              <a:t>Output data:</a:t>
            </a:r>
          </a:p>
          <a:p>
            <a:pPr lvl="1">
              <a:lnSpc>
                <a:spcPct val="150000"/>
              </a:lnSpc>
            </a:pPr>
            <a:r>
              <a:rPr lang="en-US" altLang="zh-TW" b="0" dirty="0" smtClean="0">
                <a:latin typeface="Times New Roman" panose="02020603050405020304" pitchFamily="18" charset="0"/>
                <a:cs typeface="Times New Roman" panose="02020603050405020304" pitchFamily="18" charset="0"/>
              </a:rPr>
              <a:t>The minimum and maximum predicted prices for the current day.</a:t>
            </a:r>
          </a:p>
          <a:p>
            <a:pPr lvl="1">
              <a:lnSpc>
                <a:spcPct val="150000"/>
              </a:lnSpc>
            </a:pPr>
            <a:r>
              <a:rPr lang="en-US" altLang="zh-TW" dirty="0" smtClean="0">
                <a:latin typeface="Times New Roman" panose="02020603050405020304" pitchFamily="18" charset="0"/>
                <a:cs typeface="Times New Roman" panose="02020603050405020304" pitchFamily="18" charset="0"/>
              </a:rPr>
              <a:t>Find the optimal time of the day to buy/sell stocks.</a:t>
            </a:r>
          </a:p>
          <a:p>
            <a:pPr>
              <a:lnSpc>
                <a:spcPct val="150000"/>
              </a:lnSpc>
            </a:pPr>
            <a:r>
              <a:rPr lang="en-US" altLang="zh-TW" dirty="0" smtClean="0">
                <a:latin typeface="Times New Roman" panose="02020603050405020304" pitchFamily="18" charset="0"/>
                <a:cs typeface="Times New Roman" panose="02020603050405020304" pitchFamily="18" charset="0"/>
              </a:rPr>
              <a:t>Datasets:</a:t>
            </a:r>
          </a:p>
          <a:p>
            <a:pPr lvl="1">
              <a:lnSpc>
                <a:spcPct val="150000"/>
              </a:lnSpc>
            </a:pPr>
            <a:r>
              <a:rPr lang="en-US" altLang="zh-TW" b="0" dirty="0" err="1" smtClean="0">
                <a:latin typeface="Times New Roman" panose="02020603050405020304" pitchFamily="18" charset="0"/>
                <a:cs typeface="Times New Roman" panose="02020603050405020304" pitchFamily="18" charset="0"/>
              </a:rPr>
              <a:t>Petrobras</a:t>
            </a:r>
            <a:r>
              <a:rPr lang="en-US" altLang="zh-TW" b="0" dirty="0" smtClean="0">
                <a:latin typeface="Times New Roman" panose="02020603050405020304" pitchFamily="18" charset="0"/>
                <a:cs typeface="Times New Roman" panose="02020603050405020304" pitchFamily="18" charset="0"/>
              </a:rPr>
              <a:t> PN (</a:t>
            </a:r>
            <a:r>
              <a:rPr lang="zh-TW" altLang="en-US" b="0" dirty="0" smtClean="0">
                <a:latin typeface="Times New Roman" panose="02020603050405020304" pitchFamily="18" charset="0"/>
                <a:cs typeface="Times New Roman" panose="02020603050405020304" pitchFamily="18" charset="0"/>
              </a:rPr>
              <a:t>巴西石油</a:t>
            </a:r>
            <a:r>
              <a:rPr lang="en-US" altLang="zh-TW" b="0" dirty="0" smtClean="0">
                <a:latin typeface="Times New Roman" panose="02020603050405020304" pitchFamily="18" charset="0"/>
                <a:cs typeface="Times New Roman" panose="02020603050405020304" pitchFamily="18" charset="0"/>
              </a:rPr>
              <a:t>)</a:t>
            </a:r>
          </a:p>
          <a:p>
            <a:pPr lvl="1">
              <a:lnSpc>
                <a:spcPct val="150000"/>
              </a:lnSpc>
            </a:pPr>
            <a:r>
              <a:rPr lang="en-US" altLang="zh-TW" dirty="0" smtClean="0">
                <a:latin typeface="Times New Roman" panose="02020603050405020304" pitchFamily="18" charset="0"/>
                <a:cs typeface="Times New Roman" panose="02020603050405020304" pitchFamily="18" charset="0"/>
              </a:rPr>
              <a:t>Vale R </a:t>
            </a:r>
            <a:r>
              <a:rPr lang="en-US" altLang="zh-TW" dirty="0" err="1" smtClean="0">
                <a:latin typeface="Times New Roman" panose="02020603050405020304" pitchFamily="18" charset="0"/>
                <a:cs typeface="Times New Roman" panose="02020603050405020304" pitchFamily="18" charset="0"/>
              </a:rPr>
              <a:t>Doce</a:t>
            </a:r>
            <a:r>
              <a:rPr lang="en-US" altLang="zh-TW" dirty="0" smtClean="0">
                <a:latin typeface="Times New Roman" panose="02020603050405020304" pitchFamily="18" charset="0"/>
                <a:cs typeface="Times New Roman" panose="02020603050405020304" pitchFamily="18" charset="0"/>
              </a:rPr>
              <a:t> PNA (</a:t>
            </a:r>
            <a:r>
              <a:rPr lang="zh-TW" altLang="en-US" dirty="0" smtClean="0">
                <a:latin typeface="Times New Roman" panose="02020603050405020304" pitchFamily="18" charset="0"/>
                <a:cs typeface="Times New Roman" panose="02020603050405020304" pitchFamily="18" charset="0"/>
              </a:rPr>
              <a:t>金屬和採礦業</a:t>
            </a:r>
            <a:r>
              <a:rPr lang="en-US" altLang="zh-TW" dirty="0" smtClean="0">
                <a:latin typeface="Times New Roman" panose="02020603050405020304" pitchFamily="18" charset="0"/>
                <a:cs typeface="Times New Roman" panose="02020603050405020304" pitchFamily="18" charset="0"/>
              </a:rPr>
              <a:t>)</a:t>
            </a:r>
          </a:p>
          <a:p>
            <a:pPr lvl="1">
              <a:lnSpc>
                <a:spcPct val="150000"/>
              </a:lnSpc>
            </a:pPr>
            <a:r>
              <a:rPr lang="en-US" altLang="zh-TW" b="0" dirty="0" smtClean="0">
                <a:latin typeface="Times New Roman" panose="02020603050405020304" pitchFamily="18" charset="0"/>
                <a:cs typeface="Times New Roman" panose="02020603050405020304" pitchFamily="18" charset="0"/>
              </a:rPr>
              <a:t>1283</a:t>
            </a:r>
            <a:r>
              <a:rPr lang="zh-TW" altLang="en-US" b="0" dirty="0" smtClean="0">
                <a:latin typeface="Times New Roman" panose="02020603050405020304" pitchFamily="18" charset="0"/>
                <a:cs typeface="Times New Roman" panose="02020603050405020304" pitchFamily="18" charset="0"/>
              </a:rPr>
              <a:t> </a:t>
            </a:r>
            <a:r>
              <a:rPr lang="en-US" altLang="zh-TW" b="0" dirty="0" smtClean="0">
                <a:latin typeface="Times New Roman" panose="02020603050405020304" pitchFamily="18" charset="0"/>
                <a:cs typeface="Times New Roman" panose="02020603050405020304" pitchFamily="18" charset="0"/>
              </a:rPr>
              <a:t>days (2003/10/1 – 2008/11/2)</a:t>
            </a:r>
          </a:p>
          <a:p>
            <a:pPr>
              <a:lnSpc>
                <a:spcPct val="150000"/>
              </a:lnSpc>
            </a:pPr>
            <a:r>
              <a:rPr lang="en-US" altLang="zh-TW" dirty="0" smtClean="0">
                <a:latin typeface="Times New Roman" panose="02020603050405020304" pitchFamily="18" charset="0"/>
                <a:cs typeface="Times New Roman" panose="02020603050405020304" pitchFamily="18" charset="0"/>
              </a:rPr>
              <a:t>Training:</a:t>
            </a:r>
          </a:p>
          <a:p>
            <a:pPr lvl="1">
              <a:lnSpc>
                <a:spcPct val="150000"/>
              </a:lnSpc>
            </a:pPr>
            <a:r>
              <a:rPr lang="en-US" altLang="zh-TW" b="0" dirty="0" smtClean="0">
                <a:latin typeface="Times New Roman" panose="02020603050405020304" pitchFamily="18" charset="0"/>
                <a:cs typeface="Times New Roman" panose="02020603050405020304" pitchFamily="18" charset="0"/>
              </a:rPr>
              <a:t>2007/5/18 – 2007/11/23</a:t>
            </a:r>
          </a:p>
          <a:p>
            <a:pPr lvl="1">
              <a:lnSpc>
                <a:spcPct val="150000"/>
              </a:lnSpc>
            </a:pPr>
            <a:endParaRPr lang="en-US" altLang="zh-TW" dirty="0" smtClean="0">
              <a:latin typeface="Times New Roman" panose="02020603050405020304" pitchFamily="18" charset="0"/>
              <a:cs typeface="Times New Roman" panose="02020603050405020304" pitchFamily="18" charset="0"/>
            </a:endParaRPr>
          </a:p>
          <a:p>
            <a:pPr>
              <a:lnSpc>
                <a:spcPct val="150000"/>
              </a:lnSpc>
            </a:pPr>
            <a:endParaRPr lang="en-US" altLang="zh-TW" b="1" dirty="0" smtClean="0"/>
          </a:p>
          <a:p>
            <a:pPr marL="0" indent="0">
              <a:lnSpc>
                <a:spcPct val="150000"/>
              </a:lnSpc>
              <a:buNone/>
            </a:pPr>
            <a:endParaRPr lang="en-US" altLang="zh-TW" b="1" dirty="0"/>
          </a:p>
          <a:p>
            <a:pPr>
              <a:lnSpc>
                <a:spcPct val="150000"/>
              </a:lnSpc>
            </a:pPr>
            <a:endParaRPr lang="en-US" altLang="zh-TW"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10</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spTree>
    <p:extLst>
      <p:ext uri="{BB962C8B-B14F-4D97-AF65-F5344CB8AC3E}">
        <p14:creationId xmlns:p14="http://schemas.microsoft.com/office/powerpoint/2010/main" val="38356859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Trading system</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4"/>
            <a:ext cx="8924925" cy="5743575"/>
          </a:xfrm>
        </p:spPr>
        <p:txBody>
          <a:bodyPr>
            <a:normAutofit/>
          </a:bodyPr>
          <a:lstStyle/>
          <a:p>
            <a:pPr>
              <a:lnSpc>
                <a:spcPct val="150000"/>
              </a:lnSpc>
            </a:pPr>
            <a:r>
              <a:rPr lang="en-US" altLang="zh-TW" dirty="0" smtClean="0">
                <a:latin typeface="Times New Roman" panose="02020603050405020304" pitchFamily="18" charset="0"/>
                <a:cs typeface="Times New Roman" panose="02020603050405020304" pitchFamily="18" charset="0"/>
              </a:rPr>
              <a:t>A set of rules to enter and exit trades.</a:t>
            </a:r>
          </a:p>
          <a:p>
            <a:pPr>
              <a:lnSpc>
                <a:spcPct val="150000"/>
              </a:lnSpc>
            </a:pPr>
            <a:r>
              <a:rPr lang="en-US" altLang="zh-TW" dirty="0" smtClean="0">
                <a:latin typeface="Times New Roman" panose="02020603050405020304" pitchFamily="18" charset="0"/>
                <a:cs typeface="Times New Roman" panose="02020603050405020304" pitchFamily="18" charset="0"/>
              </a:rPr>
              <a:t>A risk control mechanism.</a:t>
            </a:r>
          </a:p>
          <a:p>
            <a:pPr>
              <a:lnSpc>
                <a:spcPct val="150000"/>
              </a:lnSpc>
            </a:pPr>
            <a:r>
              <a:rPr lang="en-US" altLang="zh-TW" dirty="0" smtClean="0">
                <a:latin typeface="Times New Roman" panose="02020603050405020304" pitchFamily="18" charset="0"/>
                <a:cs typeface="Times New Roman" panose="02020603050405020304" pitchFamily="18" charset="0"/>
              </a:rPr>
              <a:t>A money management scheme.</a:t>
            </a:r>
          </a:p>
          <a:p>
            <a:pPr>
              <a:lnSpc>
                <a:spcPct val="150000"/>
              </a:lnSpc>
            </a:pPr>
            <a:r>
              <a:rPr lang="zh-TW" altLang="en-US" dirty="0" smtClean="0">
                <a:latin typeface="標楷體" panose="03000509000000000000" pitchFamily="65" charset="-120"/>
                <a:ea typeface="標楷體" panose="03000509000000000000" pitchFamily="65" charset="-120"/>
              </a:rPr>
              <a:t>手續費</a:t>
            </a:r>
            <a:endParaRPr lang="en-US" altLang="zh-TW" dirty="0" smtClean="0">
              <a:latin typeface="標楷體" panose="03000509000000000000" pitchFamily="65" charset="-120"/>
              <a:ea typeface="標楷體" panose="03000509000000000000" pitchFamily="65" charset="-120"/>
            </a:endParaRPr>
          </a:p>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Consult the trade rules every 15 minutes.</a:t>
            </a:r>
          </a:p>
          <a:p>
            <a:pPr marL="0" indent="0">
              <a:lnSpc>
                <a:spcPct val="150000"/>
              </a:lnSpc>
              <a:buNone/>
            </a:pPr>
            <a:endParaRPr lang="en-US" altLang="zh-TW" b="1" dirty="0" smtClean="0"/>
          </a:p>
          <a:p>
            <a:pPr marL="0" indent="0">
              <a:lnSpc>
                <a:spcPct val="150000"/>
              </a:lnSpc>
              <a:buNone/>
            </a:pPr>
            <a:endParaRPr lang="en-US" altLang="zh-TW" b="1" dirty="0"/>
          </a:p>
          <a:p>
            <a:pPr>
              <a:lnSpc>
                <a:spcPct val="150000"/>
              </a:lnSpc>
            </a:pPr>
            <a:endParaRPr lang="en-US" altLang="zh-TW"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11</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spTree>
    <p:extLst>
      <p:ext uri="{BB962C8B-B14F-4D97-AF65-F5344CB8AC3E}">
        <p14:creationId xmlns:p14="http://schemas.microsoft.com/office/powerpoint/2010/main" val="335435675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Trading rules</a:t>
            </a:r>
            <a:endParaRPr lang="zh-TW" altLang="en-US" sz="40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12</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mc:AlternateContent xmlns:mc="http://schemas.openxmlformats.org/markup-compatibility/2006" xmlns:a14="http://schemas.microsoft.com/office/drawing/2010/main">
        <mc:Choice Requires="a14">
          <p:sp>
            <p:nvSpPr>
              <p:cNvPr id="7" name="文字方塊 6"/>
              <p:cNvSpPr txBox="1"/>
              <p:nvPr/>
            </p:nvSpPr>
            <p:spPr>
              <a:xfrm>
                <a:off x="-42863" y="1114425"/>
                <a:ext cx="41624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𝑚𝑖𝑛</m:t>
                          </m:r>
                        </m:e>
                        <m:sub>
                          <m:r>
                            <a:rPr lang="en-US" altLang="zh-TW" b="0" i="1" smtClean="0">
                              <a:latin typeface="Cambria Math" panose="02040503050406030204" pitchFamily="18" charset="0"/>
                            </a:rPr>
                            <m:t>𝐴𝑁𝑁</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𝑚𝑖𝑛𝑖𝑚𝑢𝑚</m:t>
                      </m:r>
                      <m:r>
                        <a:rPr lang="en-US" altLang="zh-TW" b="0" i="1" smtClean="0">
                          <a:latin typeface="Cambria Math" panose="02040503050406030204" pitchFamily="18" charset="0"/>
                        </a:rPr>
                        <m:t> </m:t>
                      </m:r>
                      <m:r>
                        <a:rPr lang="en-US" altLang="zh-TW" b="0" i="1" smtClean="0">
                          <a:latin typeface="Cambria Math" panose="02040503050406030204" pitchFamily="18" charset="0"/>
                        </a:rPr>
                        <m:t>𝑝𝑟𝑒𝑑𝑖𝑐𝑡𝑒𝑑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𝑣𝑎𝑙𝑢𝑒</m:t>
                      </m:r>
                    </m:oMath>
                  </m:oMathPara>
                </a14:m>
                <a:endParaRPr lang="zh-TW" altLang="en-US"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42863" y="1114425"/>
                <a:ext cx="4162425" cy="369332"/>
              </a:xfrm>
              <a:prstGeom prst="rect">
                <a:avLst/>
              </a:prstGeom>
              <a:blipFill rotWithShape="0">
                <a:blip r:embed="rId2"/>
                <a:stretch>
                  <a:fillRect b="-13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p:cNvSpPr txBox="1"/>
              <p:nvPr/>
            </p:nvSpPr>
            <p:spPr>
              <a:xfrm>
                <a:off x="3981449" y="1094365"/>
                <a:ext cx="41624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𝑚𝑎𝑥</m:t>
                          </m:r>
                        </m:e>
                        <m:sub>
                          <m:r>
                            <a:rPr lang="en-US" altLang="zh-TW" b="0" i="1" smtClean="0">
                              <a:latin typeface="Cambria Math" panose="02040503050406030204" pitchFamily="18" charset="0"/>
                            </a:rPr>
                            <m:t>𝐴𝑁𝑁</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𝑚𝑎𝑥𝑖𝑚𝑢𝑚</m:t>
                      </m:r>
                      <m:r>
                        <a:rPr lang="en-US" altLang="zh-TW" b="0" i="1" smtClean="0">
                          <a:latin typeface="Cambria Math" panose="02040503050406030204" pitchFamily="18" charset="0"/>
                        </a:rPr>
                        <m:t> </m:t>
                      </m:r>
                      <m:r>
                        <a:rPr lang="en-US" altLang="zh-TW" b="0" i="1" smtClean="0">
                          <a:latin typeface="Cambria Math" panose="02040503050406030204" pitchFamily="18" charset="0"/>
                        </a:rPr>
                        <m:t>𝑝𝑟𝑒𝑑𝑖𝑐𝑡𝑒𝑑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𝑣𝑎𝑙𝑢𝑒</m:t>
                      </m:r>
                    </m:oMath>
                  </m:oMathPara>
                </a14:m>
                <a:endParaRPr lang="zh-TW" altLang="en-US"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3981449" y="1094365"/>
                <a:ext cx="4162425" cy="369332"/>
              </a:xfrm>
              <a:prstGeom prst="rect">
                <a:avLst/>
              </a:prstGeom>
              <a:blipFill rotWithShape="0">
                <a:blip r:embed="rId3"/>
                <a:stretch>
                  <a:fillRect b="-13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p:cNvSpPr txBox="1"/>
              <p:nvPr/>
            </p:nvSpPr>
            <p:spPr>
              <a:xfrm>
                <a:off x="-20662" y="1625622"/>
                <a:ext cx="51625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𝑐𝑙𝑜𝑠𝑒</m:t>
                      </m:r>
                      <m:r>
                        <a:rPr lang="en-US" altLang="zh-TW" b="0" i="1" smtClean="0">
                          <a:latin typeface="Cambria Math" panose="02040503050406030204" pitchFamily="18" charset="0"/>
                        </a:rPr>
                        <m:t>=15_</m:t>
                      </m:r>
                      <m:r>
                        <a:rPr lang="en-US" altLang="zh-TW" b="0" i="1" smtClean="0">
                          <a:latin typeface="Cambria Math" panose="02040503050406030204" pitchFamily="18" charset="0"/>
                        </a:rPr>
                        <m:t>𝑚𝑖𝑛𝑢𝑡𝑒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𝑖𝑛𝑡𝑒𝑟𝑣𝑎𝑙</m:t>
                      </m:r>
                      <m:r>
                        <a:rPr lang="en-US" altLang="zh-TW" b="0" i="1" smtClean="0">
                          <a:latin typeface="Cambria Math" panose="02040503050406030204" pitchFamily="18" charset="0"/>
                        </a:rPr>
                        <m:t> </m:t>
                      </m:r>
                      <m:r>
                        <a:rPr lang="en-US" altLang="zh-TW" b="0" i="1" smtClean="0">
                          <a:latin typeface="Cambria Math" panose="02040503050406030204" pitchFamily="18" charset="0"/>
                        </a:rPr>
                        <m:t>𝑐𝑙𝑜𝑠𝑖𝑛𝑔</m:t>
                      </m:r>
                      <m:r>
                        <a:rPr lang="en-US" altLang="zh-TW" b="0" i="1" smtClean="0">
                          <a:latin typeface="Cambria Math" panose="02040503050406030204" pitchFamily="18" charset="0"/>
                        </a:rPr>
                        <m:t> </m:t>
                      </m:r>
                      <m:r>
                        <a:rPr lang="en-US" altLang="zh-TW" b="0" i="1" smtClean="0">
                          <a:latin typeface="Cambria Math" panose="02040503050406030204" pitchFamily="18" charset="0"/>
                        </a:rPr>
                        <m:t>𝑠𝑡𝑜𝑐𝑘</m:t>
                      </m:r>
                      <m:r>
                        <a:rPr lang="en-US" altLang="zh-TW" b="0" i="1" smtClean="0">
                          <a:latin typeface="Cambria Math" panose="02040503050406030204" pitchFamily="18" charset="0"/>
                        </a:rPr>
                        <m:t> </m:t>
                      </m:r>
                      <m:r>
                        <a:rPr lang="en-US" altLang="zh-TW" b="0" i="1" smtClean="0">
                          <a:latin typeface="Cambria Math" panose="02040503050406030204" pitchFamily="18" charset="0"/>
                        </a:rPr>
                        <m:t>𝑝𝑟𝑖𝑐𝑒</m:t>
                      </m:r>
                    </m:oMath>
                  </m:oMathPara>
                </a14:m>
                <a:endParaRPr lang="zh-TW" altLang="en-US" dirty="0"/>
              </a:p>
            </p:txBody>
          </p:sp>
        </mc:Choice>
        <mc:Fallback xmlns="">
          <p:sp>
            <p:nvSpPr>
              <p:cNvPr id="9" name="文字方塊 8"/>
              <p:cNvSpPr txBox="1">
                <a:spLocks noRot="1" noChangeAspect="1" noMove="1" noResize="1" noEditPoints="1" noAdjustHandles="1" noChangeArrowheads="1" noChangeShapeType="1" noTextEdit="1"/>
              </p:cNvSpPr>
              <p:nvPr/>
            </p:nvSpPr>
            <p:spPr>
              <a:xfrm>
                <a:off x="-20662" y="1625622"/>
                <a:ext cx="5162550" cy="369332"/>
              </a:xfrm>
              <a:prstGeom prst="rect">
                <a:avLst/>
              </a:prstGeom>
              <a:blipFill rotWithShape="0">
                <a:blip r:embed="rId4"/>
                <a:stretch>
                  <a:fillRect b="-13333"/>
                </a:stretch>
              </a:blipFill>
            </p:spPr>
            <p:txBody>
              <a:bodyPr/>
              <a:lstStyle/>
              <a:p>
                <a:r>
                  <a:rPr lang="zh-TW" altLang="en-US">
                    <a:noFill/>
                  </a:rPr>
                  <a:t> </a:t>
                </a:r>
              </a:p>
            </p:txBody>
          </p:sp>
        </mc:Fallback>
      </mc:AlternateContent>
      <p:pic>
        <p:nvPicPr>
          <p:cNvPr id="5" name="圖片 4"/>
          <p:cNvPicPr>
            <a:picLocks noChangeAspect="1"/>
          </p:cNvPicPr>
          <p:nvPr/>
        </p:nvPicPr>
        <p:blipFill>
          <a:blip r:embed="rId5"/>
          <a:stretch>
            <a:fillRect/>
          </a:stretch>
        </p:blipFill>
        <p:spPr>
          <a:xfrm>
            <a:off x="919161" y="2156879"/>
            <a:ext cx="7277100" cy="4393970"/>
          </a:xfrm>
          <a:prstGeom prst="rect">
            <a:avLst/>
          </a:prstGeom>
        </p:spPr>
      </p:pic>
    </p:spTree>
    <p:extLst>
      <p:ext uri="{BB962C8B-B14F-4D97-AF65-F5344CB8AC3E}">
        <p14:creationId xmlns:p14="http://schemas.microsoft.com/office/powerpoint/2010/main" val="2100205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Risk Control</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4"/>
            <a:ext cx="8924925" cy="5743575"/>
          </a:xfrm>
        </p:spPr>
        <p:txBody>
          <a:bodyPr>
            <a:normAutofit/>
          </a:bodyPr>
          <a:lstStyle/>
          <a:p>
            <a:pPr>
              <a:lnSpc>
                <a:spcPct val="150000"/>
              </a:lnSpc>
            </a:pPr>
            <a:r>
              <a:rPr lang="en-US" altLang="zh-TW" dirty="0" smtClean="0">
                <a:latin typeface="Times New Roman" panose="02020603050405020304" pitchFamily="18" charset="0"/>
                <a:cs typeface="Times New Roman" panose="02020603050405020304" pitchFamily="18" charset="0"/>
              </a:rPr>
              <a:t>TOPS COLA : “Take Our Profits Slowly, Cut off Losses At once.”</a:t>
            </a:r>
          </a:p>
          <a:p>
            <a:pPr>
              <a:lnSpc>
                <a:spcPct val="150000"/>
              </a:lnSpc>
            </a:pPr>
            <a:r>
              <a:rPr lang="en-US" altLang="zh-TW" dirty="0" smtClean="0">
                <a:latin typeface="Times New Roman" panose="02020603050405020304" pitchFamily="18" charset="0"/>
                <a:cs typeface="Times New Roman" panose="02020603050405020304" pitchFamily="18" charset="0"/>
              </a:rPr>
              <a:t>Stop-loss strategy:</a:t>
            </a:r>
          </a:p>
          <a:p>
            <a:pPr lvl="1">
              <a:lnSpc>
                <a:spcPct val="150000"/>
              </a:lnSpc>
            </a:pPr>
            <a:r>
              <a:rPr lang="en-US" altLang="zh-TW" dirty="0" smtClean="0">
                <a:latin typeface="Times New Roman" panose="02020603050405020304" pitchFamily="18" charset="0"/>
                <a:cs typeface="Times New Roman" panose="02020603050405020304" pitchFamily="18" charset="0"/>
              </a:rPr>
              <a:t>Defines a default price, if reached, exit.</a:t>
            </a:r>
          </a:p>
          <a:p>
            <a:pPr lvl="1">
              <a:lnSpc>
                <a:spcPct val="150000"/>
              </a:lnSpc>
            </a:pPr>
            <a:r>
              <a:rPr lang="en-US" altLang="zh-TW" dirty="0" smtClean="0">
                <a:latin typeface="Times New Roman" panose="02020603050405020304" pitchFamily="18" charset="0"/>
                <a:cs typeface="Times New Roman" panose="02020603050405020304" pitchFamily="18" charset="0"/>
              </a:rPr>
              <a:t>The value calculated using the trade entry price.</a:t>
            </a:r>
          </a:p>
          <a:p>
            <a:pPr>
              <a:lnSpc>
                <a:spcPct val="150000"/>
              </a:lnSpc>
            </a:pPr>
            <a:r>
              <a:rPr lang="en-US" altLang="zh-TW" dirty="0" smtClean="0">
                <a:latin typeface="Times New Roman" panose="02020603050405020304" pitchFamily="18" charset="0"/>
                <a:cs typeface="Times New Roman" panose="02020603050405020304" pitchFamily="18" charset="0"/>
              </a:rPr>
              <a:t>Low stop-loss avoid profitable trades.</a:t>
            </a:r>
            <a:endParaRPr lang="en-US" altLang="zh-TW" dirty="0">
              <a:latin typeface="Times New Roman" panose="02020603050405020304" pitchFamily="18" charset="0"/>
              <a:cs typeface="Times New Roman" panose="02020603050405020304" pitchFamily="18" charset="0"/>
            </a:endParaRPr>
          </a:p>
          <a:p>
            <a:pPr>
              <a:lnSpc>
                <a:spcPct val="150000"/>
              </a:lnSpc>
            </a:pPr>
            <a:r>
              <a:rPr lang="en-US" altLang="zh-TW" dirty="0" smtClean="0">
                <a:latin typeface="Times New Roman" panose="02020603050405020304" pitchFamily="18" charset="0"/>
                <a:cs typeface="Times New Roman" panose="02020603050405020304" pitchFamily="18" charset="0"/>
              </a:rPr>
              <a:t>High stop-loss cause a higher loss.</a:t>
            </a:r>
          </a:p>
          <a:p>
            <a:pPr>
              <a:lnSpc>
                <a:spcPct val="150000"/>
              </a:lnSpc>
            </a:pPr>
            <a:r>
              <a:rPr lang="en-US" altLang="zh-TW" dirty="0" smtClean="0">
                <a:latin typeface="Times New Roman" panose="02020603050405020304" pitchFamily="18" charset="0"/>
                <a:cs typeface="Times New Roman" panose="02020603050405020304" pitchFamily="18" charset="0"/>
              </a:rPr>
              <a:t>In this paper used 0.5%.</a:t>
            </a:r>
            <a:endParaRPr lang="en-US" altLang="zh-TW"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13</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spTree>
    <p:extLst>
      <p:ext uri="{BB962C8B-B14F-4D97-AF65-F5344CB8AC3E}">
        <p14:creationId xmlns:p14="http://schemas.microsoft.com/office/powerpoint/2010/main" val="6764301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Evaluation metrics</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95249" y="1114424"/>
                <a:ext cx="8924925" cy="5743575"/>
              </a:xfrm>
            </p:spPr>
            <p:txBody>
              <a:bodyPr>
                <a:normAutofit/>
              </a:bodyPr>
              <a:lstStyle/>
              <a:p>
                <a:pPr marL="457200" indent="-457200">
                  <a:lnSpc>
                    <a:spcPct val="150000"/>
                  </a:lnSpc>
                  <a:buAutoNum type="arabicPeriod"/>
                </a:pPr>
                <a:r>
                  <a:rPr lang="en-US" altLang="zh-TW" dirty="0" smtClean="0">
                    <a:latin typeface="Times New Roman" panose="02020603050405020304" pitchFamily="18" charset="0"/>
                    <a:cs typeface="Times New Roman" panose="02020603050405020304" pitchFamily="18" charset="0"/>
                  </a:rPr>
                  <a:t>Annualized return</a:t>
                </a:r>
              </a:p>
              <a:p>
                <a:pPr>
                  <a:lnSpc>
                    <a:spcPct val="150000"/>
                  </a:lnSpc>
                </a:pPr>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𝐴𝑅</m:t>
                    </m:r>
                    <m:r>
                      <a:rPr lang="en-US" altLang="zh-TW" b="0" i="1" smtClean="0">
                        <a:latin typeface="Cambria Math" panose="02040503050406030204" pitchFamily="18" charset="0"/>
                        <a:cs typeface="Times New Roman" panose="02020603050405020304" pitchFamily="18" charset="0"/>
                      </a:rPr>
                      <m:t>=100 ∗((</m:t>
                    </m:r>
                    <m:sSup>
                      <m:sSupPr>
                        <m:ctrlPr>
                          <a:rPr lang="en-US" altLang="zh-TW" b="0" i="1" smtClean="0">
                            <a:latin typeface="Cambria Math" panose="02040503050406030204" pitchFamily="18" charset="0"/>
                            <a:cs typeface="Times New Roman" panose="02020603050405020304" pitchFamily="18" charset="0"/>
                          </a:rPr>
                        </m:ctrlPr>
                      </m:sSupPr>
                      <m:e>
                        <m:f>
                          <m:fPr>
                            <m:ctrlPr>
                              <a:rPr lang="en-US" altLang="zh-TW" b="0" i="1" smtClean="0">
                                <a:latin typeface="Cambria Math" panose="02040503050406030204" pitchFamily="18" charset="0"/>
                                <a:cs typeface="Times New Roman" panose="02020603050405020304" pitchFamily="18" charset="0"/>
                              </a:rPr>
                            </m:ctrlPr>
                          </m:fPr>
                          <m:num>
                            <m:r>
                              <a:rPr lang="en-US" altLang="zh-TW" b="0" i="1" smtClean="0">
                                <a:latin typeface="Cambria Math" panose="02040503050406030204" pitchFamily="18" charset="0"/>
                                <a:cs typeface="Times New Roman" panose="02020603050405020304" pitchFamily="18" charset="0"/>
                              </a:rPr>
                              <m:t>𝐹𝐶</m:t>
                            </m:r>
                          </m:num>
                          <m:den>
                            <m:r>
                              <a:rPr lang="en-US" altLang="zh-TW" b="0" i="1" smtClean="0">
                                <a:latin typeface="Cambria Math" panose="02040503050406030204" pitchFamily="18" charset="0"/>
                                <a:cs typeface="Times New Roman" panose="02020603050405020304" pitchFamily="18" charset="0"/>
                              </a:rPr>
                              <m:t>𝐼𝐶</m:t>
                            </m:r>
                          </m:den>
                        </m:f>
                        <m:r>
                          <a:rPr lang="en-US" altLang="zh-TW" b="0" i="1" smtClean="0">
                            <a:latin typeface="Cambria Math" panose="02040503050406030204" pitchFamily="18" charset="0"/>
                            <a:cs typeface="Times New Roman" panose="02020603050405020304" pitchFamily="18" charset="0"/>
                          </a:rPr>
                          <m:t>)</m:t>
                        </m:r>
                      </m:e>
                      <m:sup>
                        <m:f>
                          <m:fPr>
                            <m:ctrlPr>
                              <a:rPr lang="en-US" altLang="zh-TW" b="0" i="1" smtClean="0">
                                <a:latin typeface="Cambria Math" panose="02040503050406030204" pitchFamily="18" charset="0"/>
                                <a:cs typeface="Times New Roman" panose="02020603050405020304" pitchFamily="18" charset="0"/>
                              </a:rPr>
                            </m:ctrlPr>
                          </m:fPr>
                          <m:num>
                            <m:r>
                              <a:rPr lang="en-US" altLang="zh-TW" b="0" i="1" smtClean="0">
                                <a:latin typeface="Cambria Math" panose="02040503050406030204" pitchFamily="18" charset="0"/>
                                <a:cs typeface="Times New Roman" panose="02020603050405020304" pitchFamily="18" charset="0"/>
                              </a:rPr>
                              <m:t>365.25</m:t>
                            </m:r>
                          </m:num>
                          <m:den>
                            <m:r>
                              <a:rPr lang="en-US" altLang="zh-TW" b="0" i="1" smtClean="0">
                                <a:latin typeface="Cambria Math" panose="02040503050406030204" pitchFamily="18" charset="0"/>
                                <a:cs typeface="Times New Roman" panose="02020603050405020304" pitchFamily="18" charset="0"/>
                              </a:rPr>
                              <m:t>𝐷</m:t>
                            </m:r>
                          </m:den>
                        </m:f>
                      </m:sup>
                    </m:sSup>
                    <m:r>
                      <a:rPr lang="en-US" altLang="zh-TW" b="0" i="1" smtClean="0">
                        <a:latin typeface="Cambria Math" panose="02040503050406030204" pitchFamily="18" charset="0"/>
                        <a:cs typeface="Times New Roman" panose="02020603050405020304" pitchFamily="18" charset="0"/>
                      </a:rPr>
                      <m:t>−1</m:t>
                    </m:r>
                  </m:oMath>
                </a14:m>
                <a:r>
                  <a:rPr lang="en-US" altLang="zh-TW" dirty="0" smtClean="0">
                    <a:latin typeface="Times New Roman" panose="02020603050405020304" pitchFamily="18" charset="0"/>
                    <a:cs typeface="Times New Roman" panose="02020603050405020304" pitchFamily="18" charset="0"/>
                  </a:rPr>
                  <a:t>)</a:t>
                </a:r>
              </a:p>
              <a:p>
                <a:pPr>
                  <a:lnSpc>
                    <a:spcPct val="150000"/>
                  </a:lnSpc>
                </a:pPr>
                <a:r>
                  <a:rPr lang="en-US" altLang="zh-TW" dirty="0" smtClean="0">
                    <a:latin typeface="Times New Roman" panose="02020603050405020304" pitchFamily="18" charset="0"/>
                    <a:cs typeface="Times New Roman" panose="02020603050405020304" pitchFamily="18" charset="0"/>
                  </a:rPr>
                  <a:t>IC = initial capital invested.</a:t>
                </a:r>
              </a:p>
              <a:p>
                <a:pPr>
                  <a:lnSpc>
                    <a:spcPct val="150000"/>
                  </a:lnSpc>
                </a:pPr>
                <a:r>
                  <a:rPr lang="en-US" altLang="zh-TW" dirty="0" smtClean="0">
                    <a:latin typeface="Times New Roman" panose="02020603050405020304" pitchFamily="18" charset="0"/>
                    <a:cs typeface="Times New Roman" panose="02020603050405020304" pitchFamily="18" charset="0"/>
                  </a:rPr>
                  <a:t>FC = final capital obtained</a:t>
                </a:r>
              </a:p>
              <a:p>
                <a:pPr>
                  <a:lnSpc>
                    <a:spcPct val="150000"/>
                  </a:lnSpc>
                </a:pPr>
                <a:r>
                  <a:rPr lang="en-US" altLang="zh-TW" dirty="0" smtClean="0">
                    <a:latin typeface="Times New Roman" panose="02020603050405020304" pitchFamily="18" charset="0"/>
                    <a:cs typeface="Times New Roman" panose="02020603050405020304" pitchFamily="18" charset="0"/>
                  </a:rPr>
                  <a:t>D = number of days of investment</a:t>
                </a:r>
              </a:p>
              <a:p>
                <a:pPr marL="457200" indent="-457200">
                  <a:lnSpc>
                    <a:spcPct val="150000"/>
                  </a:lnSpc>
                  <a:buFont typeface="+mj-lt"/>
                  <a:buAutoNum type="arabicPeriod" startAt="2"/>
                </a:pPr>
                <a:r>
                  <a:rPr lang="en-US" altLang="zh-TW" dirty="0" smtClean="0">
                    <a:latin typeface="Times New Roman" panose="02020603050405020304" pitchFamily="18" charset="0"/>
                    <a:cs typeface="Times New Roman" panose="02020603050405020304" pitchFamily="18" charset="0"/>
                  </a:rPr>
                  <a:t>Maximum dropdown</a:t>
                </a:r>
              </a:p>
              <a:p>
                <a:pPr>
                  <a:lnSpc>
                    <a:spcPct val="150000"/>
                  </a:lnSpc>
                </a:pPr>
                <a:r>
                  <a:rPr lang="zh-TW" altLang="en-US" dirty="0" smtClean="0">
                    <a:latin typeface="Times New Roman" panose="02020603050405020304" pitchFamily="18" charset="0"/>
                    <a:cs typeface="Times New Roman" panose="02020603050405020304" pitchFamily="18" charset="0"/>
                  </a:rPr>
                  <a:t>兩次獲利之間損失的最大資本額度</a:t>
                </a:r>
                <a:r>
                  <a:rPr lang="en-US" altLang="zh-TW" dirty="0" smtClean="0">
                    <a:latin typeface="Times New Roman" panose="02020603050405020304" pitchFamily="18" charset="0"/>
                    <a:cs typeface="Times New Roman" panose="02020603050405020304" pitchFamily="18" charset="0"/>
                  </a:rPr>
                  <a:t>.</a:t>
                </a:r>
                <a:endParaRPr lang="en-US" altLang="zh-TW"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95249" y="1114424"/>
                <a:ext cx="8924925" cy="5743575"/>
              </a:xfrm>
              <a:blipFill rotWithShape="0">
                <a:blip r:embed="rId2"/>
                <a:stretch>
                  <a:fillRect l="-683"/>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t>14</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spTree>
    <p:extLst>
      <p:ext uri="{BB962C8B-B14F-4D97-AF65-F5344CB8AC3E}">
        <p14:creationId xmlns:p14="http://schemas.microsoft.com/office/powerpoint/2010/main" val="418009962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Experiment results(ANN)</a:t>
            </a:r>
            <a:endParaRPr lang="zh-TW" altLang="en-US" sz="4000" dirty="0">
              <a:latin typeface="Times New Roman" panose="02020603050405020304" pitchFamily="18" charset="0"/>
              <a:cs typeface="Times New Roman" panose="02020603050405020304" pitchFamily="18" charset="0"/>
            </a:endParaRPr>
          </a:p>
        </p:txBody>
      </p:sp>
      <p:pic>
        <p:nvPicPr>
          <p:cNvPr id="5" name="內容版面配置區 4"/>
          <p:cNvPicPr>
            <a:picLocks noGrp="1" noChangeAspect="1"/>
          </p:cNvPicPr>
          <p:nvPr>
            <p:ph idx="1"/>
          </p:nvPr>
        </p:nvPicPr>
        <p:blipFill>
          <a:blip r:embed="rId2"/>
          <a:stretch>
            <a:fillRect/>
          </a:stretch>
        </p:blipFill>
        <p:spPr>
          <a:xfrm>
            <a:off x="1804319" y="1577146"/>
            <a:ext cx="5506784" cy="2691072"/>
          </a:xfrm>
          <a:prstGeom prst="rect">
            <a:avLst/>
          </a:prstGeom>
        </p:spPr>
      </p:pic>
      <p:sp>
        <p:nvSpPr>
          <p:cNvPr id="4" name="投影片編號版面配置區 3"/>
          <p:cNvSpPr>
            <a:spLocks noGrp="1"/>
          </p:cNvSpPr>
          <p:nvPr>
            <p:ph type="sldNum" sz="quarter" idx="12"/>
          </p:nvPr>
        </p:nvSpPr>
        <p:spPr/>
        <p:txBody>
          <a:bodyPr/>
          <a:lstStyle/>
          <a:p>
            <a:fld id="{7D6D0F78-E2D1-4ADE-B2ED-40AB43ACB23D}" type="slidenum">
              <a:rPr lang="zh-TW" altLang="en-US" smtClean="0"/>
              <a:t>15</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pic>
        <p:nvPicPr>
          <p:cNvPr id="7" name="圖片 6"/>
          <p:cNvPicPr>
            <a:picLocks noChangeAspect="1"/>
          </p:cNvPicPr>
          <p:nvPr/>
        </p:nvPicPr>
        <p:blipFill>
          <a:blip r:embed="rId3"/>
          <a:stretch>
            <a:fillRect/>
          </a:stretch>
        </p:blipFill>
        <p:spPr>
          <a:xfrm>
            <a:off x="1804319" y="4268218"/>
            <a:ext cx="5536607" cy="2270695"/>
          </a:xfrm>
          <a:prstGeom prst="rect">
            <a:avLst/>
          </a:prstGeom>
        </p:spPr>
      </p:pic>
      <p:sp>
        <p:nvSpPr>
          <p:cNvPr id="8" name="文字方塊 7"/>
          <p:cNvSpPr txBox="1"/>
          <p:nvPr/>
        </p:nvSpPr>
        <p:spPr>
          <a:xfrm>
            <a:off x="180975" y="981075"/>
            <a:ext cx="8705850" cy="523220"/>
          </a:xfrm>
          <a:prstGeom prst="rect">
            <a:avLst/>
          </a:prstGeom>
          <a:noFill/>
        </p:spPr>
        <p:txBody>
          <a:bodyPr wrap="square" rtlCol="0">
            <a:spAutoFit/>
          </a:bodyPr>
          <a:lstStyle/>
          <a:p>
            <a:r>
              <a:rPr lang="en-US" altLang="zh-TW" sz="1400" i="1" dirty="0">
                <a:latin typeface="Times New Roman" panose="02020603050405020304" pitchFamily="18" charset="0"/>
                <a:cs typeface="Times New Roman" panose="02020603050405020304" pitchFamily="18" charset="0"/>
              </a:rPr>
              <a:t>N. O'Connor and M. G. Madden, "A neural network approach to predicting stock exchange movements using external factors," </a:t>
            </a:r>
            <a:r>
              <a:rPr lang="en-US" altLang="zh-TW" sz="1400" i="1" dirty="0" err="1">
                <a:latin typeface="Times New Roman" panose="02020603050405020304" pitchFamily="18" charset="0"/>
                <a:cs typeface="Times New Roman" panose="02020603050405020304" pitchFamily="18" charset="0"/>
              </a:rPr>
              <a:t>Knowl.Based</a:t>
            </a:r>
            <a:r>
              <a:rPr lang="en-US" altLang="zh-TW" sz="1400" i="1" dirty="0">
                <a:latin typeface="Times New Roman" panose="02020603050405020304" pitchFamily="18" charset="0"/>
                <a:cs typeface="Times New Roman" panose="02020603050405020304" pitchFamily="18" charset="0"/>
              </a:rPr>
              <a:t> Syst., 19(5), 371-378, 2006</a:t>
            </a:r>
            <a:endParaRPr lang="zh-TW" altLang="en-US" sz="1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39913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Experiment results(without system)</a:t>
            </a:r>
            <a:endParaRPr lang="zh-TW" altLang="en-US" sz="40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16</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pic>
        <p:nvPicPr>
          <p:cNvPr id="8" name="圖片 7"/>
          <p:cNvPicPr>
            <a:picLocks noChangeAspect="1"/>
          </p:cNvPicPr>
          <p:nvPr/>
        </p:nvPicPr>
        <p:blipFill>
          <a:blip r:embed="rId2"/>
          <a:stretch>
            <a:fillRect/>
          </a:stretch>
        </p:blipFill>
        <p:spPr>
          <a:xfrm>
            <a:off x="1498624" y="4328165"/>
            <a:ext cx="6118171" cy="2153901"/>
          </a:xfrm>
          <a:prstGeom prst="rect">
            <a:avLst/>
          </a:prstGeom>
        </p:spPr>
      </p:pic>
      <p:pic>
        <p:nvPicPr>
          <p:cNvPr id="9" name="圖片 8"/>
          <p:cNvPicPr>
            <a:picLocks noChangeAspect="1"/>
          </p:cNvPicPr>
          <p:nvPr/>
        </p:nvPicPr>
        <p:blipFill>
          <a:blip r:embed="rId3"/>
          <a:stretch>
            <a:fillRect/>
          </a:stretch>
        </p:blipFill>
        <p:spPr>
          <a:xfrm>
            <a:off x="1518296" y="1602339"/>
            <a:ext cx="6078829" cy="2565180"/>
          </a:xfrm>
          <a:prstGeom prst="rect">
            <a:avLst/>
          </a:prstGeom>
        </p:spPr>
      </p:pic>
    </p:spTree>
    <p:extLst>
      <p:ext uri="{BB962C8B-B14F-4D97-AF65-F5344CB8AC3E}">
        <p14:creationId xmlns:p14="http://schemas.microsoft.com/office/powerpoint/2010/main" val="364480334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Experiment results(with system)</a:t>
            </a:r>
            <a:endParaRPr lang="zh-TW" altLang="en-US" sz="40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17</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pic>
        <p:nvPicPr>
          <p:cNvPr id="3" name="圖片 2"/>
          <p:cNvPicPr>
            <a:picLocks noChangeAspect="1"/>
          </p:cNvPicPr>
          <p:nvPr/>
        </p:nvPicPr>
        <p:blipFill>
          <a:blip r:embed="rId2"/>
          <a:stretch>
            <a:fillRect/>
          </a:stretch>
        </p:blipFill>
        <p:spPr>
          <a:xfrm>
            <a:off x="334853" y="2305318"/>
            <a:ext cx="8500056" cy="2962141"/>
          </a:xfrm>
          <a:prstGeom prst="rect">
            <a:avLst/>
          </a:prstGeom>
        </p:spPr>
      </p:pic>
    </p:spTree>
    <p:extLst>
      <p:ext uri="{BB962C8B-B14F-4D97-AF65-F5344CB8AC3E}">
        <p14:creationId xmlns:p14="http://schemas.microsoft.com/office/powerpoint/2010/main" val="126866378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2986</TotalTime>
  <Words>878</Words>
  <Application>Microsoft Office PowerPoint</Application>
  <PresentationFormat>如螢幕大小 (4:3)</PresentationFormat>
  <Paragraphs>128</Paragraphs>
  <Slides>17</Slides>
  <Notes>1</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17</vt:i4>
      </vt:variant>
    </vt:vector>
  </HeadingPairs>
  <TitlesOfParts>
    <vt:vector size="25" baseType="lpstr">
      <vt:lpstr>新細明體</vt:lpstr>
      <vt:lpstr>標楷體</vt:lpstr>
      <vt:lpstr>Arial</vt:lpstr>
      <vt:lpstr>Calibri</vt:lpstr>
      <vt:lpstr>Calibri Light</vt:lpstr>
      <vt:lpstr>Cambria Math</vt:lpstr>
      <vt:lpstr>Times New Roman</vt:lpstr>
      <vt:lpstr>Office 佈景主題</vt:lpstr>
      <vt:lpstr>From an Artificial Neural Network to a Stock Market Day-Trading System: A Case Study on the BM&amp;F BOVESPA</vt:lpstr>
      <vt:lpstr>Abstract(1/2)</vt:lpstr>
      <vt:lpstr>Abstract(2/2)</vt:lpstr>
      <vt:lpstr>Introduction</vt:lpstr>
      <vt:lpstr>System architecture</vt:lpstr>
      <vt:lpstr>Input data</vt:lpstr>
      <vt:lpstr>Input data(1/3)</vt:lpstr>
      <vt:lpstr>Input data(2/3)</vt:lpstr>
      <vt:lpstr>Input data(3/3)</vt:lpstr>
      <vt:lpstr>Others</vt:lpstr>
      <vt:lpstr>Trading system</vt:lpstr>
      <vt:lpstr>Trading rules</vt:lpstr>
      <vt:lpstr>Risk Control</vt:lpstr>
      <vt:lpstr>Evaluation metrics</vt:lpstr>
      <vt:lpstr>Experiment results(ANN)</vt:lpstr>
      <vt:lpstr>Experiment results(without system)</vt:lpstr>
      <vt:lpstr>Experiment results(with system)</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Large Graph Pattern Mining for Big Data in the Cloud</dc:title>
  <dc:creator>MONSTER J</dc:creator>
  <cp:lastModifiedBy>Jarvis Tsai</cp:lastModifiedBy>
  <cp:revision>122</cp:revision>
  <cp:lastPrinted>2015-05-05T05:44:38Z</cp:lastPrinted>
  <dcterms:created xsi:type="dcterms:W3CDTF">2015-05-03T09:05:15Z</dcterms:created>
  <dcterms:modified xsi:type="dcterms:W3CDTF">2015-06-30T10:19:55Z</dcterms:modified>
</cp:coreProperties>
</file>