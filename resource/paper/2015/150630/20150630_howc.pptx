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0" r:id="rId5"/>
    <p:sldId id="262" r:id="rId6"/>
    <p:sldId id="264" r:id="rId7"/>
    <p:sldId id="269" r:id="rId8"/>
    <p:sldId id="282" r:id="rId9"/>
    <p:sldId id="265" r:id="rId10"/>
    <p:sldId id="267" r:id="rId11"/>
    <p:sldId id="268" r:id="rId12"/>
    <p:sldId id="270" r:id="rId13"/>
    <p:sldId id="271" r:id="rId14"/>
    <p:sldId id="272" r:id="rId15"/>
    <p:sldId id="280" r:id="rId16"/>
    <p:sldId id="273" r:id="rId1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E57B-305E-4962-8EC9-FF7B770ADC8C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F432-0D61-45A0-A279-A75BE8AEA20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E57B-305E-4962-8EC9-FF7B770ADC8C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F432-0D61-45A0-A279-A75BE8AEA20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E57B-305E-4962-8EC9-FF7B770ADC8C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F432-0D61-45A0-A279-A75BE8AEA20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E57B-305E-4962-8EC9-FF7B770ADC8C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F432-0D61-45A0-A279-A75BE8AEA20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E57B-305E-4962-8EC9-FF7B770ADC8C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F432-0D61-45A0-A279-A75BE8AEA20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E57B-305E-4962-8EC9-FF7B770ADC8C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F432-0D61-45A0-A279-A75BE8AEA20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E57B-305E-4962-8EC9-FF7B770ADC8C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F432-0D61-45A0-A279-A75BE8AEA20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E57B-305E-4962-8EC9-FF7B770ADC8C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F432-0D61-45A0-A279-A75BE8AEA20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E57B-305E-4962-8EC9-FF7B770ADC8C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F432-0D61-45A0-A279-A75BE8AEA20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E57B-305E-4962-8EC9-FF7B770ADC8C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F432-0D61-45A0-A279-A75BE8AEA20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AE57B-305E-4962-8EC9-FF7B770ADC8C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1F432-0D61-45A0-A279-A75BE8AEA20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4AE57B-305E-4962-8EC9-FF7B770ADC8C}" type="datetimeFigureOut">
              <a:rPr lang="zh-TW" altLang="en-US" smtClean="0"/>
              <a:pPr/>
              <a:t>2015/6/30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F1F432-0D61-45A0-A279-A75BE8AEA20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 smtClean="0"/>
              <a:t>Correlation and Convolution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 smtClean="0"/>
              <a:t>Class Notes for CMSC 426, Fall 2005, David Jacobs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429256" y="5715016"/>
            <a:ext cx="35702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Reporter: </a:t>
            </a:r>
            <a:r>
              <a:rPr lang="en-US" altLang="zh-TW" sz="2400" dirty="0" err="1" smtClean="0">
                <a:latin typeface="標楷體" pitchFamily="65" charset="-120"/>
                <a:ea typeface="標楷體" pitchFamily="65" charset="-120"/>
              </a:rPr>
              <a:t>Wen</a:t>
            </a:r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-Chuan Ho</a:t>
            </a:r>
          </a:p>
          <a:p>
            <a:r>
              <a:rPr lang="en-US" altLang="zh-TW" sz="2400" dirty="0" smtClean="0">
                <a:latin typeface="標楷體" pitchFamily="65" charset="-120"/>
                <a:ea typeface="標楷體" pitchFamily="65" charset="-120"/>
              </a:rPr>
              <a:t>Date:2015/06/23</a:t>
            </a:r>
            <a:endParaRPr lang="en-US" altLang="zh-TW" sz="2400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Correlation and Convolution are basic operations that we will perform to extract information from images</a:t>
            </a:r>
          </a:p>
          <a:p>
            <a:r>
              <a:rPr lang="en-US" altLang="zh-TW" dirty="0" smtClean="0"/>
              <a:t>Two features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Shift-invariant</a:t>
            </a:r>
            <a:r>
              <a:rPr lang="en-US" altLang="zh-TW" dirty="0" smtClean="0"/>
              <a:t>: we perform the same operation at every point in the image.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Linear</a:t>
            </a:r>
            <a:r>
              <a:rPr lang="en-US" altLang="zh-TW" dirty="0" smtClean="0"/>
              <a:t>: we replace every pixel with a linear combination of its neighbors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Introduction(2/2)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I</a:t>
            </a:r>
            <a:r>
              <a:rPr lang="zh-TW" altLang="en-US" dirty="0" smtClean="0"/>
              <a:t>：</a:t>
            </a:r>
            <a:endParaRPr lang="en-US" altLang="zh-TW" dirty="0" smtClean="0"/>
          </a:p>
          <a:p>
            <a:pPr>
              <a:buNone/>
            </a:pPr>
            <a:r>
              <a:rPr lang="en-US" altLang="zh-TW" sz="2800" dirty="0" smtClean="0"/>
              <a:t>	</a:t>
            </a:r>
          </a:p>
          <a:p>
            <a:pPr>
              <a:buNone/>
            </a:pPr>
            <a:endParaRPr lang="en-US" altLang="zh-TW" sz="2800" dirty="0" smtClean="0"/>
          </a:p>
          <a:p>
            <a:pPr>
              <a:buNone/>
            </a:pPr>
            <a:endParaRPr lang="en-US" altLang="zh-TW" sz="1200" dirty="0" smtClean="0"/>
          </a:p>
          <a:p>
            <a:pPr>
              <a:buNone/>
            </a:pPr>
            <a:r>
              <a:rPr lang="en-US" altLang="zh-TW" dirty="0" smtClean="0">
                <a:latin typeface="標楷體" pitchFamily="65" charset="-120"/>
                <a:ea typeface="標楷體" pitchFamily="65" charset="-120"/>
              </a:rPr>
              <a:t>J</a:t>
            </a:r>
            <a:r>
              <a:rPr lang="zh-TW" altLang="en-US" dirty="0" smtClean="0"/>
              <a:t>：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/>
        </p:nvGraphicFramePr>
        <p:xfrm>
          <a:off x="1142976" y="1571612"/>
          <a:ext cx="7592727" cy="109748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752727"/>
                <a:gridCol w="684000"/>
                <a:gridCol w="684000"/>
                <a:gridCol w="684000"/>
                <a:gridCol w="684000"/>
                <a:gridCol w="684000"/>
                <a:gridCol w="684000"/>
                <a:gridCol w="684000"/>
                <a:gridCol w="684000"/>
                <a:gridCol w="684000"/>
                <a:gridCol w="684000"/>
              </a:tblGrid>
              <a:tr h="5006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9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793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value</a:t>
                      </a:r>
                      <a:endParaRPr lang="zh-TW" altLang="en-US" sz="20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內容版面配置區 3"/>
          <p:cNvGraphicFramePr>
            <a:graphicFrameLocks/>
          </p:cNvGraphicFramePr>
          <p:nvPr/>
        </p:nvGraphicFramePr>
        <p:xfrm>
          <a:off x="1142976" y="3500438"/>
          <a:ext cx="7592727" cy="109748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752727"/>
                <a:gridCol w="684000"/>
                <a:gridCol w="684000"/>
                <a:gridCol w="684000"/>
                <a:gridCol w="684000"/>
                <a:gridCol w="684000"/>
                <a:gridCol w="684000"/>
                <a:gridCol w="684000"/>
                <a:gridCol w="684000"/>
                <a:gridCol w="684000"/>
                <a:gridCol w="684000"/>
              </a:tblGrid>
              <a:tr h="50067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err="1" smtClean="0"/>
                        <a:t>i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8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9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10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  <a:tr h="57932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value</a:t>
                      </a:r>
                      <a:endParaRPr lang="zh-TW" altLang="en-US" sz="20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11/3</a:t>
                      </a:r>
                      <a:endParaRPr lang="zh-TW" altLang="en-US" sz="20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14/3</a:t>
                      </a:r>
                      <a:endParaRPr lang="zh-TW" altLang="en-US" sz="20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17/3</a:t>
                      </a:r>
                      <a:endParaRPr lang="zh-TW" altLang="en-US" sz="20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14/3</a:t>
                      </a:r>
                      <a:endParaRPr lang="zh-TW" altLang="en-US" sz="20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14/3</a:t>
                      </a:r>
                      <a:endParaRPr lang="zh-TW" altLang="en-US" sz="20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Boundaries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1. pad with zeros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2. pad with the first and last values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3. repeat cyclically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4. reduce the size of J</a:t>
            </a:r>
            <a:endParaRPr lang="zh-TW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857224" y="2214554"/>
          <a:ext cx="8208000" cy="5181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857224" y="3429000"/>
          <a:ext cx="8208000" cy="5181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.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64594" y="4625352"/>
          <a:ext cx="8208000" cy="5181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864594" y="5768360"/>
          <a:ext cx="8208000" cy="5181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  <a:gridCol w="513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-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-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-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-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-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-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Correlation in 1D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57224" y="2500306"/>
          <a:ext cx="8064000" cy="51816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2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7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4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5</a:t>
                      </a:r>
                      <a:endParaRPr lang="zh-TW" altLang="en-US" sz="2800" b="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3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6</a:t>
                      </a:r>
                      <a:endParaRPr lang="zh-TW" altLang="en-US" sz="2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zh-TW" alt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058182" y="3571876"/>
          <a:ext cx="1728000" cy="5184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1/3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1/3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1/3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058182" y="4500570"/>
          <a:ext cx="1728000" cy="51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5/3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4/3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2/3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2000232" y="3124914"/>
          <a:ext cx="1728000" cy="5184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*</a:t>
                      </a:r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*</a:t>
                      </a:r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*</a:t>
                      </a:r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058182" y="4053608"/>
          <a:ext cx="1728000" cy="5184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/>
                        <a:t>∥</a:t>
                      </a:r>
                      <a:endParaRPr lang="zh-TW" altLang="en-US" sz="2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058182" y="5053740"/>
          <a:ext cx="1728000" cy="5791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3200" b="0" dirty="0" smtClean="0"/>
                        <a:t>Σ</a:t>
                      </a:r>
                      <a:endParaRPr lang="zh-TW" altLang="en-US" sz="32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2102644" y="5696922"/>
          <a:ext cx="5760000" cy="5184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14/3</a:t>
                      </a:r>
                      <a:endParaRPr lang="zh-TW" altLang="en-US" sz="1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11/3</a:t>
                      </a:r>
                      <a:endParaRPr lang="zh-TW" altLang="en-US" sz="16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3</a:t>
                      </a:r>
                      <a:endParaRPr lang="zh-TW" altLang="en-US" sz="1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4</a:t>
                      </a:r>
                      <a:endParaRPr lang="zh-TW" altLang="en-US" sz="1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14/3</a:t>
                      </a:r>
                      <a:endParaRPr lang="zh-TW" altLang="en-US" sz="16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17/3</a:t>
                      </a:r>
                      <a:endParaRPr lang="zh-TW" altLang="en-US" sz="1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5</a:t>
                      </a:r>
                      <a:endParaRPr lang="zh-TW" altLang="en-US" sz="1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14/3</a:t>
                      </a:r>
                      <a:endParaRPr lang="zh-TW" altLang="en-US" sz="1600" b="0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14/3</a:t>
                      </a:r>
                      <a:endParaRPr lang="zh-TW" altLang="en-US" sz="16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b="0" dirty="0" smtClean="0"/>
                        <a:t>5</a:t>
                      </a:r>
                      <a:endParaRPr lang="zh-TW" altLang="en-US" sz="16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3" name="文字方塊 12"/>
          <p:cNvSpPr txBox="1"/>
          <p:nvPr/>
        </p:nvSpPr>
        <p:spPr>
          <a:xfrm>
            <a:off x="214282" y="250054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I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sp>
        <p:nvSpPr>
          <p:cNvPr id="14" name="文字方塊 13"/>
          <p:cNvSpPr txBox="1"/>
          <p:nvPr/>
        </p:nvSpPr>
        <p:spPr>
          <a:xfrm>
            <a:off x="1348395" y="571525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J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5487206" y="3590450"/>
          <a:ext cx="1728000" cy="5184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1/3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1/3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1/3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5487206" y="4519144"/>
          <a:ext cx="1728000" cy="51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6/3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5/3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3/3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5429256" y="3143488"/>
          <a:ext cx="1728000" cy="5184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*</a:t>
                      </a:r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*</a:t>
                      </a:r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 smtClean="0"/>
                        <a:t>*</a:t>
                      </a:r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487206" y="4072182"/>
          <a:ext cx="1728000" cy="5184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 smtClean="0"/>
                        <a:t>∥</a:t>
                      </a:r>
                      <a:endParaRPr lang="zh-TW" altLang="en-US" sz="2000" b="1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5487206" y="5072314"/>
          <a:ext cx="1728000" cy="5791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3200" b="0" dirty="0" smtClean="0"/>
                        <a:t>Σ</a:t>
                      </a:r>
                      <a:endParaRPr lang="zh-TW" altLang="en-US" sz="32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" name="向右箭號 21"/>
          <p:cNvSpPr/>
          <p:nvPr/>
        </p:nvSpPr>
        <p:spPr>
          <a:xfrm>
            <a:off x="4143372" y="3572116"/>
            <a:ext cx="928694" cy="214314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向右箭號 22"/>
          <p:cNvSpPr/>
          <p:nvPr/>
        </p:nvSpPr>
        <p:spPr>
          <a:xfrm>
            <a:off x="7500958" y="3572116"/>
            <a:ext cx="928694" cy="214314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4" name="圖片 23" descr="擷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64" y="1428736"/>
            <a:ext cx="3057952" cy="781159"/>
          </a:xfrm>
          <a:prstGeom prst="rect">
            <a:avLst/>
          </a:prstGeom>
        </p:spPr>
      </p:pic>
      <p:sp>
        <p:nvSpPr>
          <p:cNvPr id="25" name="文字方塊 24"/>
          <p:cNvSpPr txBox="1"/>
          <p:nvPr/>
        </p:nvSpPr>
        <p:spPr>
          <a:xfrm>
            <a:off x="1328445" y="357301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F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Correlation in 2D</a:t>
            </a:r>
            <a:endParaRPr lang="zh-TW" altLang="en-US" dirty="0"/>
          </a:p>
        </p:txBody>
      </p:sp>
      <p:pic>
        <p:nvPicPr>
          <p:cNvPr id="4" name="內容版面配置區 3" descr="擷取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0430" y="2071678"/>
            <a:ext cx="4839376" cy="819264"/>
          </a:xfrm>
        </p:spPr>
      </p:pic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00100" y="1714488"/>
          <a:ext cx="2160000" cy="1620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20000"/>
                <a:gridCol w="720000"/>
                <a:gridCol w="72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000100" y="3500438"/>
          <a:ext cx="4320000" cy="3240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8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8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8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8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8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8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214282" y="2262838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F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sp>
        <p:nvSpPr>
          <p:cNvPr id="9" name="文字方塊 8"/>
          <p:cNvSpPr txBox="1"/>
          <p:nvPr/>
        </p:nvSpPr>
        <p:spPr>
          <a:xfrm>
            <a:off x="214282" y="485776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I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5857884" y="3857628"/>
          <a:ext cx="2880000" cy="2160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720000"/>
                <a:gridCol w="720000"/>
                <a:gridCol w="720000"/>
                <a:gridCol w="720000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6.44</a:t>
                      </a:r>
                      <a:endParaRPr lang="zh-TW" altLang="en-US" sz="1800" b="0" dirty="0"/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5.22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4.33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4.67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5.78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5.33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5.22</a:t>
                      </a:r>
                      <a:endParaRPr lang="zh-TW" altLang="en-US" sz="18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5.67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5.56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5.44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5.67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6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5.22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5.33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5.78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 smtClean="0"/>
                        <a:t>6.33</a:t>
                      </a:r>
                      <a:endParaRPr lang="zh-TW" altLang="en-US" sz="18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6357950" y="597761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J = F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。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I</a:t>
            </a:r>
          </a:p>
        </p:txBody>
      </p:sp>
      <p:sp>
        <p:nvSpPr>
          <p:cNvPr id="13" name="圓角矩形 12"/>
          <p:cNvSpPr/>
          <p:nvPr/>
        </p:nvSpPr>
        <p:spPr>
          <a:xfrm>
            <a:off x="1000100" y="3500438"/>
            <a:ext cx="2143140" cy="1643074"/>
          </a:xfrm>
          <a:prstGeom prst="roundRect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  <p:sp>
        <p:nvSpPr>
          <p:cNvPr id="14" name="圓角矩形 13"/>
          <p:cNvSpPr/>
          <p:nvPr/>
        </p:nvSpPr>
        <p:spPr>
          <a:xfrm>
            <a:off x="2428860" y="4000504"/>
            <a:ext cx="2143140" cy="1643074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Separable filters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28596" y="2644788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F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71538" y="2096438"/>
          <a:ext cx="2160000" cy="1404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720000"/>
                <a:gridCol w="720000"/>
                <a:gridCol w="720000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1/9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6" name="文字方塊 5"/>
          <p:cNvSpPr txBox="1"/>
          <p:nvPr/>
        </p:nvSpPr>
        <p:spPr>
          <a:xfrm>
            <a:off x="3214678" y="2596504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800" b="1" dirty="0" smtClean="0">
                <a:latin typeface="標楷體" pitchFamily="65" charset="-120"/>
                <a:ea typeface="標楷體" pitchFamily="65" charset="-120"/>
              </a:rPr>
              <a:t>＝</a:t>
            </a:r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endParaRPr lang="en-US" altLang="zh-TW" sz="2800" b="1" dirty="0" smtClean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4055074" y="2096438"/>
          <a:ext cx="2160000" cy="1404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720000"/>
                <a:gridCol w="720000"/>
                <a:gridCol w="720000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698280" y="2119512"/>
          <a:ext cx="2160000" cy="14040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720000"/>
                <a:gridCol w="720000"/>
                <a:gridCol w="720000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000760" y="252506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800" b="1" dirty="0" smtClean="0">
                <a:latin typeface="標楷體" pitchFamily="65" charset="-120"/>
                <a:ea typeface="標楷體" pitchFamily="65" charset="-120"/>
              </a:rPr>
              <a:t>。</a:t>
            </a:r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endParaRPr lang="en-US" altLang="zh-TW" sz="2800" b="1" dirty="0" smtClean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1071538" y="3668074"/>
          <a:ext cx="2160000" cy="14040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720000"/>
                <a:gridCol w="720000"/>
                <a:gridCol w="720000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8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7" name="文字方塊 16"/>
          <p:cNvSpPr txBox="1"/>
          <p:nvPr/>
        </p:nvSpPr>
        <p:spPr>
          <a:xfrm>
            <a:off x="3000364" y="416814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800" b="1" dirty="0" smtClean="0">
                <a:latin typeface="標楷體" pitchFamily="65" charset="-120"/>
                <a:ea typeface="標楷體" pitchFamily="65" charset="-120"/>
              </a:rPr>
              <a:t>。</a:t>
            </a:r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endParaRPr lang="en-US" altLang="zh-TW" sz="2800" b="1" dirty="0" smtClean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3697884" y="3739512"/>
          <a:ext cx="2160000" cy="1404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20000"/>
                <a:gridCol w="720000"/>
                <a:gridCol w="720000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9" name="文字方塊 18"/>
          <p:cNvSpPr txBox="1"/>
          <p:nvPr/>
        </p:nvSpPr>
        <p:spPr>
          <a:xfrm>
            <a:off x="5643570" y="4168140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800" b="1" dirty="0" smtClean="0">
                <a:latin typeface="標楷體" pitchFamily="65" charset="-120"/>
                <a:ea typeface="標楷體" pitchFamily="65" charset="-120"/>
              </a:rPr>
              <a:t>。</a:t>
            </a:r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endParaRPr lang="en-US" altLang="zh-TW" sz="2800" b="1" dirty="0" smtClean="0"/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6269652" y="3739512"/>
          <a:ext cx="2160000" cy="1404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20000"/>
                <a:gridCol w="720000"/>
                <a:gridCol w="720000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21" name="文字方塊 20"/>
          <p:cNvSpPr txBox="1"/>
          <p:nvPr/>
        </p:nvSpPr>
        <p:spPr>
          <a:xfrm>
            <a:off x="285720" y="5668338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800" b="1" dirty="0" smtClean="0">
                <a:latin typeface="標楷體" pitchFamily="65" charset="-120"/>
                <a:ea typeface="標楷體" pitchFamily="65" charset="-120"/>
              </a:rPr>
              <a:t>＝</a:t>
            </a:r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endParaRPr lang="en-US" altLang="zh-TW" sz="2800" b="1" dirty="0" smtClean="0"/>
          </a:p>
        </p:txBody>
      </p:sp>
      <p:graphicFrame>
        <p:nvGraphicFramePr>
          <p:cNvPr id="22" name="表格 21"/>
          <p:cNvGraphicFramePr>
            <a:graphicFrameLocks noGrp="1"/>
          </p:cNvGraphicFramePr>
          <p:nvPr/>
        </p:nvGraphicFramePr>
        <p:xfrm>
          <a:off x="1071538" y="5239710"/>
          <a:ext cx="2160000" cy="1404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20000"/>
                <a:gridCol w="720000"/>
                <a:gridCol w="720000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15/3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17/3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16/3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23" name="文字方塊 22"/>
          <p:cNvSpPr txBox="1"/>
          <p:nvPr/>
        </p:nvSpPr>
        <p:spPr>
          <a:xfrm>
            <a:off x="3000364" y="571662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800" b="1" dirty="0" smtClean="0">
                <a:latin typeface="標楷體" pitchFamily="65" charset="-120"/>
                <a:ea typeface="標楷體" pitchFamily="65" charset="-120"/>
              </a:rPr>
              <a:t>。</a:t>
            </a:r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endParaRPr lang="en-US" altLang="zh-TW" sz="2800" b="1" dirty="0" smtClean="0"/>
          </a:p>
        </p:txBody>
      </p:sp>
      <p:graphicFrame>
        <p:nvGraphicFramePr>
          <p:cNvPr id="24" name="表格 23"/>
          <p:cNvGraphicFramePr>
            <a:graphicFrameLocks noGrp="1"/>
          </p:cNvGraphicFramePr>
          <p:nvPr/>
        </p:nvGraphicFramePr>
        <p:xfrm>
          <a:off x="3697884" y="5311148"/>
          <a:ext cx="2160000" cy="14040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720000"/>
                <a:gridCol w="720000"/>
                <a:gridCol w="720000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1/3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0</a:t>
                      </a:r>
                      <a:endParaRPr lang="zh-TW" altLang="en-US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25" name="文字方塊 24"/>
          <p:cNvSpPr txBox="1"/>
          <p:nvPr/>
        </p:nvSpPr>
        <p:spPr>
          <a:xfrm>
            <a:off x="5740891" y="5739776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zh-TW" altLang="en-US" sz="2800" b="1" dirty="0" smtClean="0">
                <a:latin typeface="標楷體" pitchFamily="65" charset="-120"/>
                <a:ea typeface="標楷體" pitchFamily="65" charset="-120"/>
              </a:rPr>
              <a:t>＝ 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5.33</a:t>
            </a:r>
            <a:r>
              <a:rPr lang="en-US" altLang="zh-TW" sz="2800" b="1" dirty="0" smtClean="0">
                <a:latin typeface="標楷體" pitchFamily="65" charset="-120"/>
                <a:ea typeface="標楷體" pitchFamily="65" charset="-120"/>
              </a:rPr>
              <a:t> </a:t>
            </a:r>
            <a:endParaRPr lang="en-US" altLang="zh-TW" sz="2800" b="1" dirty="0" smtClean="0"/>
          </a:p>
        </p:txBody>
      </p:sp>
      <p:sp>
        <p:nvSpPr>
          <p:cNvPr id="26" name="文字方塊 25"/>
          <p:cNvSpPr txBox="1"/>
          <p:nvPr/>
        </p:nvSpPr>
        <p:spPr>
          <a:xfrm>
            <a:off x="2399535" y="1357298"/>
            <a:ext cx="4315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(N+1)</a:t>
            </a:r>
            <a:r>
              <a:rPr lang="en-US" altLang="zh-TW" sz="2800" baseline="30000" dirty="0" smtClean="0">
                <a:latin typeface="標楷體" pitchFamily="65" charset="-120"/>
                <a:ea typeface="標楷體" pitchFamily="65" charset="-120"/>
              </a:rPr>
              <a:t>2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M</a:t>
            </a:r>
            <a:r>
              <a:rPr lang="en-US" altLang="zh-TW" sz="2800" baseline="30000" dirty="0" smtClean="0">
                <a:latin typeface="標楷體" pitchFamily="65" charset="-120"/>
                <a:ea typeface="標楷體" pitchFamily="65" charset="-120"/>
              </a:rPr>
              <a:t>2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        2(N+1)M</a:t>
            </a:r>
            <a:r>
              <a:rPr lang="en-US" altLang="zh-TW" sz="2800" baseline="30000" dirty="0" smtClean="0">
                <a:latin typeface="標楷體" pitchFamily="65" charset="-120"/>
                <a:ea typeface="標楷體" pitchFamily="65" charset="-120"/>
              </a:rPr>
              <a:t>2</a:t>
            </a:r>
            <a:endParaRPr lang="en-US" altLang="zh-TW" sz="2800" baseline="30000" dirty="0" smtClean="0"/>
          </a:p>
        </p:txBody>
      </p:sp>
      <p:sp>
        <p:nvSpPr>
          <p:cNvPr id="27" name="向右箭號 26"/>
          <p:cNvSpPr/>
          <p:nvPr/>
        </p:nvSpPr>
        <p:spPr>
          <a:xfrm>
            <a:off x="3929058" y="1500174"/>
            <a:ext cx="1143008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dirty="0" smtClean="0"/>
              <a:t>Constructing an Filter from a Continuous Function</a:t>
            </a:r>
            <a:endParaRPr lang="zh-TW" altLang="en-US" dirty="0"/>
          </a:p>
        </p:txBody>
      </p:sp>
      <p:pic>
        <p:nvPicPr>
          <p:cNvPr id="4" name="內容版面配置區 3" descr="G1D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100" y="1566726"/>
            <a:ext cx="3620005" cy="933580"/>
          </a:xfrm>
        </p:spPr>
      </p:pic>
      <p:pic>
        <p:nvPicPr>
          <p:cNvPr id="5" name="圖片 4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8" y="1704867"/>
            <a:ext cx="3077005" cy="724001"/>
          </a:xfrm>
          <a:prstGeom prst="rect">
            <a:avLst/>
          </a:prstGeom>
        </p:spPr>
      </p:pic>
      <p:sp>
        <p:nvSpPr>
          <p:cNvPr id="6" name="向右箭號 5"/>
          <p:cNvSpPr/>
          <p:nvPr/>
        </p:nvSpPr>
        <p:spPr>
          <a:xfrm>
            <a:off x="4786314" y="1928802"/>
            <a:ext cx="785818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214282" y="176277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1D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grpSp>
        <p:nvGrpSpPr>
          <p:cNvPr id="3" name="群組 9"/>
          <p:cNvGrpSpPr/>
          <p:nvPr/>
        </p:nvGrpSpPr>
        <p:grpSpPr>
          <a:xfrm>
            <a:off x="285720" y="4572008"/>
            <a:ext cx="4791649" cy="800212"/>
            <a:chOff x="214282" y="2643182"/>
            <a:chExt cx="4791649" cy="800212"/>
          </a:xfrm>
        </p:grpSpPr>
        <p:sp>
          <p:nvSpPr>
            <p:cNvPr id="8" name="文字方塊 7"/>
            <p:cNvSpPr txBox="1"/>
            <p:nvPr/>
          </p:nvSpPr>
          <p:spPr>
            <a:xfrm>
              <a:off x="214282" y="2762904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標楷體" pitchFamily="65" charset="-120"/>
                  <a:ea typeface="標楷體" pitchFamily="65" charset="-120"/>
                </a:rPr>
                <a:t>2D</a:t>
              </a:r>
              <a:r>
                <a:rPr lang="zh-TW" altLang="en-US" sz="2800" dirty="0" smtClean="0"/>
                <a:t>：</a:t>
              </a:r>
              <a:endParaRPr lang="en-US" altLang="zh-TW" sz="2800" dirty="0" smtClean="0"/>
            </a:p>
          </p:txBody>
        </p:sp>
        <p:pic>
          <p:nvPicPr>
            <p:cNvPr id="9" name="圖片 8" descr="3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28662" y="2643182"/>
              <a:ext cx="4077269" cy="800212"/>
            </a:xfrm>
            <a:prstGeom prst="rect">
              <a:avLst/>
            </a:prstGeom>
          </p:spPr>
        </p:pic>
      </p:grpSp>
      <p:pic>
        <p:nvPicPr>
          <p:cNvPr id="11" name="圖片 10" descr="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797" y="3107395"/>
            <a:ext cx="3334216" cy="1000265"/>
          </a:xfrm>
          <a:prstGeom prst="rect">
            <a:avLst/>
          </a:prstGeom>
        </p:spPr>
      </p:pic>
      <p:pic>
        <p:nvPicPr>
          <p:cNvPr id="12" name="圖片 11" descr="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495770"/>
            <a:ext cx="2486372" cy="1895740"/>
          </a:xfrm>
          <a:prstGeom prst="rect">
            <a:avLst/>
          </a:prstGeom>
        </p:spPr>
      </p:pic>
      <p:sp>
        <p:nvSpPr>
          <p:cNvPr id="13" name="向右箭號 12"/>
          <p:cNvSpPr/>
          <p:nvPr/>
        </p:nvSpPr>
        <p:spPr>
          <a:xfrm>
            <a:off x="3357554" y="6000768"/>
            <a:ext cx="785818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 descr="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6248" y="5500702"/>
            <a:ext cx="4591605" cy="107157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5919" y="2758702"/>
            <a:ext cx="1434186" cy="1338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48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 smtClean="0"/>
              <a:t>Matching with Correlation(1/3)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28662" y="2030190"/>
          <a:ext cx="1728000" cy="5184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28662" y="2887446"/>
          <a:ext cx="8064000" cy="5184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8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928662" y="3744702"/>
          <a:ext cx="8064000" cy="5184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40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43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39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85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56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93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105</a:t>
                      </a:r>
                      <a:endParaRPr lang="zh-TW" altLang="en-US" sz="20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38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214282" y="2048524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F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sp>
        <p:nvSpPr>
          <p:cNvPr id="13" name="文字方塊 12"/>
          <p:cNvSpPr txBox="1"/>
          <p:nvPr/>
        </p:nvSpPr>
        <p:spPr>
          <a:xfrm>
            <a:off x="214282" y="2905780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I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sp>
        <p:nvSpPr>
          <p:cNvPr id="14" name="文字方塊 13"/>
          <p:cNvSpPr txBox="1"/>
          <p:nvPr/>
        </p:nvSpPr>
        <p:spPr>
          <a:xfrm>
            <a:off x="214282" y="376303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J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sp>
        <p:nvSpPr>
          <p:cNvPr id="15" name="文字方塊 14"/>
          <p:cNvSpPr txBox="1"/>
          <p:nvPr/>
        </p:nvSpPr>
        <p:spPr>
          <a:xfrm>
            <a:off x="2857488" y="4977482"/>
            <a:ext cx="2698175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3X3+8X7+4X5=85</a:t>
            </a:r>
            <a:endParaRPr lang="en-US" altLang="zh-TW" sz="2800" dirty="0" smtClean="0"/>
          </a:p>
        </p:txBody>
      </p:sp>
      <p:sp>
        <p:nvSpPr>
          <p:cNvPr id="16" name="文字方塊 15"/>
          <p:cNvSpPr txBox="1"/>
          <p:nvPr/>
        </p:nvSpPr>
        <p:spPr>
          <a:xfrm>
            <a:off x="5945791" y="4977482"/>
            <a:ext cx="2877711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7X3+7X7+7X5=105</a:t>
            </a:r>
            <a:endParaRPr lang="en-US" altLang="zh-TW" sz="2800" dirty="0" smtClean="0"/>
          </a:p>
        </p:txBody>
      </p:sp>
      <p:sp>
        <p:nvSpPr>
          <p:cNvPr id="17" name="向下箭號 16"/>
          <p:cNvSpPr/>
          <p:nvPr/>
        </p:nvSpPr>
        <p:spPr>
          <a:xfrm>
            <a:off x="4000496" y="4334540"/>
            <a:ext cx="285752" cy="571504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向下箭號 17"/>
          <p:cNvSpPr/>
          <p:nvPr/>
        </p:nvSpPr>
        <p:spPr>
          <a:xfrm>
            <a:off x="6858016" y="4334540"/>
            <a:ext cx="285752" cy="571504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圓角矩形 18"/>
          <p:cNvSpPr/>
          <p:nvPr/>
        </p:nvSpPr>
        <p:spPr>
          <a:xfrm>
            <a:off x="3214678" y="2857496"/>
            <a:ext cx="1785950" cy="64294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圓角矩形 19"/>
          <p:cNvSpPr/>
          <p:nvPr/>
        </p:nvSpPr>
        <p:spPr>
          <a:xfrm>
            <a:off x="5500694" y="2857496"/>
            <a:ext cx="1785950" cy="64294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圓角矩形 20"/>
          <p:cNvSpPr/>
          <p:nvPr/>
        </p:nvSpPr>
        <p:spPr>
          <a:xfrm>
            <a:off x="6072198" y="2857496"/>
            <a:ext cx="1785950" cy="642942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Matching with </a:t>
            </a:r>
            <a:r>
              <a:rPr lang="en-US" altLang="zh-TW" b="1" dirty="0" smtClean="0"/>
              <a:t>Correlation(2/3</a:t>
            </a:r>
            <a:r>
              <a:rPr lang="en-US" altLang="zh-TW" b="1" dirty="0" smtClean="0"/>
              <a:t>)</a:t>
            </a:r>
            <a:endParaRPr lang="zh-TW" altLang="en-US" dirty="0"/>
          </a:p>
        </p:txBody>
      </p:sp>
      <p:pic>
        <p:nvPicPr>
          <p:cNvPr id="4" name="內容版面配置區 3" descr="9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6916" y="1500174"/>
            <a:ext cx="2819794" cy="1505160"/>
          </a:xfrm>
        </p:spPr>
      </p:pic>
      <p:sp>
        <p:nvSpPr>
          <p:cNvPr id="5" name="文字方塊 4"/>
          <p:cNvSpPr txBox="1"/>
          <p:nvPr/>
        </p:nvSpPr>
        <p:spPr>
          <a:xfrm>
            <a:off x="428596" y="1928802"/>
            <a:ext cx="44935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Normalized correlation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22842" y="4553674"/>
          <a:ext cx="8064000" cy="5184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.946</a:t>
                      </a:r>
                      <a:endParaRPr lang="zh-TW" altLang="en-US" sz="17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.877</a:t>
                      </a:r>
                      <a:endParaRPr lang="zh-TW" altLang="en-US" sz="17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.934</a:t>
                      </a:r>
                      <a:endParaRPr lang="zh-TW" altLang="en-US" sz="17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.73</a:t>
                      </a:r>
                      <a:endParaRPr lang="zh-TW" altLang="en-US" sz="17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.81</a:t>
                      </a:r>
                      <a:endParaRPr lang="zh-TW" altLang="en-US" sz="17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.989</a:t>
                      </a:r>
                      <a:endParaRPr lang="zh-TW" altLang="en-US" sz="17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.64</a:t>
                      </a:r>
                      <a:endParaRPr lang="zh-TW" altLang="en-US" sz="17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.59</a:t>
                      </a:r>
                      <a:endParaRPr lang="zh-TW" altLang="en-US" sz="17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.807</a:t>
                      </a:r>
                      <a:endParaRPr lang="zh-TW" altLang="en-US" sz="17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.987</a:t>
                      </a:r>
                      <a:endParaRPr lang="zh-TW" altLang="en-US" sz="17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.931</a:t>
                      </a:r>
                      <a:endParaRPr lang="zh-TW" altLang="en-US" sz="17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.83</a:t>
                      </a:r>
                      <a:endParaRPr lang="zh-TW" altLang="en-US" sz="17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.57</a:t>
                      </a:r>
                      <a:endParaRPr lang="zh-TW" altLang="en-US" sz="17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700" b="0" dirty="0" smtClean="0"/>
                        <a:t>.988</a:t>
                      </a:r>
                      <a:endParaRPr lang="zh-TW" altLang="en-US" sz="17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722842" y="2928934"/>
          <a:ext cx="1728000" cy="5184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722842" y="3714752"/>
          <a:ext cx="8064000" cy="5184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8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9" name="文字方塊 8"/>
          <p:cNvSpPr txBox="1"/>
          <p:nvPr/>
        </p:nvSpPr>
        <p:spPr>
          <a:xfrm>
            <a:off x="62511" y="2928934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F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sp>
        <p:nvSpPr>
          <p:cNvPr id="10" name="文字方塊 9"/>
          <p:cNvSpPr txBox="1"/>
          <p:nvPr/>
        </p:nvSpPr>
        <p:spPr>
          <a:xfrm>
            <a:off x="71406" y="3714752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I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sp>
        <p:nvSpPr>
          <p:cNvPr id="11" name="文字方塊 10"/>
          <p:cNvSpPr txBox="1"/>
          <p:nvPr/>
        </p:nvSpPr>
        <p:spPr>
          <a:xfrm>
            <a:off x="71406" y="4572008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J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Matching with </a:t>
            </a:r>
            <a:r>
              <a:rPr lang="en-US" altLang="zh-TW" b="1" dirty="0" smtClean="0"/>
              <a:t>Correlation(3/3</a:t>
            </a:r>
            <a:r>
              <a:rPr lang="en-US" altLang="zh-TW" b="1" dirty="0" smtClean="0"/>
              <a:t>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928662" y="3482104"/>
          <a:ext cx="1728000" cy="51840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28662" y="4267922"/>
          <a:ext cx="8064000" cy="5184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8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0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1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28662" y="5834738"/>
          <a:ext cx="8064000" cy="5184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26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26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41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29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59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29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</a:t>
                      </a:r>
                      <a:endParaRPr lang="zh-TW" altLang="en-US" sz="2400" b="0" dirty="0"/>
                    </a:p>
                  </a:txBody>
                  <a:tcPr anchor="ctr">
                    <a:solidFill>
                      <a:srgbClr val="CCFF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20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61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38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pic>
        <p:nvPicPr>
          <p:cNvPr id="7" name="內容版面配置區 3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523" y="1714488"/>
            <a:ext cx="6897063" cy="1419423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276825" y="3500438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F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sp>
        <p:nvSpPr>
          <p:cNvPr id="9" name="文字方塊 8"/>
          <p:cNvSpPr txBox="1"/>
          <p:nvPr/>
        </p:nvSpPr>
        <p:spPr>
          <a:xfrm>
            <a:off x="276825" y="4263102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I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sp>
        <p:nvSpPr>
          <p:cNvPr id="10" name="文字方塊 9"/>
          <p:cNvSpPr txBox="1"/>
          <p:nvPr/>
        </p:nvSpPr>
        <p:spPr>
          <a:xfrm>
            <a:off x="276825" y="5834738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D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sp>
        <p:nvSpPr>
          <p:cNvPr id="13" name="文字方塊 12"/>
          <p:cNvSpPr txBox="1"/>
          <p:nvPr/>
        </p:nvSpPr>
        <p:spPr>
          <a:xfrm>
            <a:off x="3286116" y="3477284"/>
            <a:ext cx="3179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F</a:t>
            </a:r>
            <a:r>
              <a:rPr lang="en-US" altLang="zh-TW" sz="2800" baseline="30000" dirty="0" smtClean="0">
                <a:latin typeface="標楷體" pitchFamily="65" charset="-120"/>
                <a:ea typeface="標楷體" pitchFamily="65" charset="-120"/>
              </a:rPr>
              <a:t>2</a:t>
            </a:r>
            <a:r>
              <a:rPr lang="zh-TW" altLang="en-US" sz="2800" dirty="0" smtClean="0">
                <a:latin typeface="標楷體" pitchFamily="65" charset="-120"/>
                <a:ea typeface="標楷體" pitchFamily="65" charset="-120"/>
              </a:rPr>
              <a:t> 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= 3</a:t>
            </a:r>
            <a:r>
              <a:rPr lang="en-US" altLang="zh-TW" sz="2800" baseline="30000" dirty="0" smtClean="0">
                <a:latin typeface="標楷體" pitchFamily="65" charset="-120"/>
                <a:ea typeface="標楷體" pitchFamily="65" charset="-120"/>
              </a:rPr>
              <a:t>2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+7</a:t>
            </a:r>
            <a:r>
              <a:rPr lang="en-US" altLang="zh-TW" sz="2800" baseline="30000" dirty="0" smtClean="0">
                <a:latin typeface="標楷體" pitchFamily="65" charset="-120"/>
                <a:ea typeface="標楷體" pitchFamily="65" charset="-120"/>
              </a:rPr>
              <a:t>2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+5</a:t>
            </a:r>
            <a:r>
              <a:rPr lang="en-US" altLang="zh-TW" sz="2800" baseline="30000" dirty="0" smtClean="0">
                <a:latin typeface="標楷體" pitchFamily="65" charset="-120"/>
                <a:ea typeface="標楷體" pitchFamily="65" charset="-120"/>
              </a:rPr>
              <a:t>2</a:t>
            </a:r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 = 83</a:t>
            </a:r>
            <a:endParaRPr lang="en-US" altLang="zh-TW" sz="2800" dirty="0" smtClean="0"/>
          </a:p>
        </p:txBody>
      </p:sp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928662" y="5053740"/>
          <a:ext cx="8064000" cy="51840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  <a:gridCol w="576000"/>
              </a:tblGrid>
              <a:tr h="5184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40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43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39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64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85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52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56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93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0" dirty="0" smtClean="0"/>
                        <a:t>105</a:t>
                      </a:r>
                      <a:endParaRPr lang="zh-TW" altLang="en-US" sz="20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54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38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dirty="0" smtClean="0"/>
                        <a:t>27</a:t>
                      </a:r>
                      <a:endParaRPr lang="zh-TW" altLang="en-US" sz="2400" b="0" dirty="0"/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15" name="文字方塊 14"/>
          <p:cNvSpPr txBox="1"/>
          <p:nvPr/>
        </p:nvSpPr>
        <p:spPr>
          <a:xfrm>
            <a:off x="214282" y="5072074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J</a:t>
            </a:r>
            <a:r>
              <a:rPr lang="zh-TW" altLang="en-US" sz="2800" dirty="0" smtClean="0"/>
              <a:t>：</a:t>
            </a:r>
            <a:endParaRPr lang="en-US" altLang="zh-TW" sz="2800" dirty="0" smtClean="0"/>
          </a:p>
        </p:txBody>
      </p:sp>
      <p:sp>
        <p:nvSpPr>
          <p:cNvPr id="3" name="圓角矩形 2"/>
          <p:cNvSpPr/>
          <p:nvPr/>
        </p:nvSpPr>
        <p:spPr>
          <a:xfrm>
            <a:off x="214282" y="5733256"/>
            <a:ext cx="8894222" cy="7920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Convolution</a:t>
            </a:r>
            <a:endParaRPr lang="zh-TW" altLang="en-US" dirty="0"/>
          </a:p>
        </p:txBody>
      </p:sp>
      <p:grpSp>
        <p:nvGrpSpPr>
          <p:cNvPr id="12" name="群組 11"/>
          <p:cNvGrpSpPr/>
          <p:nvPr/>
        </p:nvGrpSpPr>
        <p:grpSpPr>
          <a:xfrm>
            <a:off x="714348" y="4790962"/>
            <a:ext cx="5214974" cy="1924186"/>
            <a:chOff x="714348" y="4505210"/>
            <a:chExt cx="5214974" cy="1924186"/>
          </a:xfrm>
        </p:grpSpPr>
        <p:sp>
          <p:nvSpPr>
            <p:cNvPr id="4" name="文字方塊 3"/>
            <p:cNvSpPr txBox="1"/>
            <p:nvPr/>
          </p:nvSpPr>
          <p:spPr>
            <a:xfrm>
              <a:off x="714348" y="4790962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標楷體" pitchFamily="65" charset="-120"/>
                  <a:ea typeface="標楷體" pitchFamily="65" charset="-120"/>
                </a:rPr>
                <a:t>1D</a:t>
              </a:r>
              <a:r>
                <a:rPr lang="zh-TW" altLang="en-US" sz="2800" dirty="0" smtClean="0"/>
                <a:t>：</a:t>
              </a:r>
              <a:endParaRPr lang="en-US" altLang="zh-TW" sz="2800" dirty="0" smtClean="0"/>
            </a:p>
          </p:txBody>
        </p:sp>
        <p:sp>
          <p:nvSpPr>
            <p:cNvPr id="5" name="文字方塊 4"/>
            <p:cNvSpPr txBox="1"/>
            <p:nvPr/>
          </p:nvSpPr>
          <p:spPr>
            <a:xfrm>
              <a:off x="714348" y="5643578"/>
              <a:ext cx="90281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800" dirty="0" smtClean="0">
                  <a:latin typeface="標楷體" pitchFamily="65" charset="-120"/>
                  <a:ea typeface="標楷體" pitchFamily="65" charset="-120"/>
                </a:rPr>
                <a:t>2D</a:t>
              </a:r>
              <a:r>
                <a:rPr lang="zh-TW" altLang="en-US" sz="2800" dirty="0" smtClean="0"/>
                <a:t>：</a:t>
              </a:r>
              <a:endParaRPr lang="en-US" altLang="zh-TW" sz="2800" dirty="0" smtClean="0"/>
            </a:p>
          </p:txBody>
        </p:sp>
        <p:pic>
          <p:nvPicPr>
            <p:cNvPr id="6" name="圖片 5" descr="2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0166" y="4505210"/>
              <a:ext cx="3143689" cy="924054"/>
            </a:xfrm>
            <a:prstGeom prst="rect">
              <a:avLst/>
            </a:prstGeom>
          </p:spPr>
        </p:pic>
        <p:pic>
          <p:nvPicPr>
            <p:cNvPr id="7" name="圖片 6" descr="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00166" y="5357826"/>
              <a:ext cx="4429156" cy="1071570"/>
            </a:xfrm>
            <a:prstGeom prst="rect">
              <a:avLst/>
            </a:prstGeom>
          </p:spPr>
        </p:pic>
      </p:grpSp>
      <p:sp>
        <p:nvSpPr>
          <p:cNvPr id="8" name="內容版面配置區 2"/>
          <p:cNvSpPr>
            <a:spLocks noGrp="1"/>
          </p:cNvSpPr>
          <p:nvPr>
            <p:ph idx="1"/>
          </p:nvPr>
        </p:nvSpPr>
        <p:spPr>
          <a:xfrm>
            <a:off x="214282" y="1285860"/>
            <a:ext cx="8643998" cy="3571899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/>
              <a:t>Convolution is just like correlation, except that we </a:t>
            </a:r>
            <a:r>
              <a:rPr lang="en-US" altLang="zh-TW" dirty="0" smtClean="0">
                <a:solidFill>
                  <a:srgbClr val="FF0000"/>
                </a:solidFill>
              </a:rPr>
              <a:t>flip over </a:t>
            </a:r>
            <a:r>
              <a:rPr lang="en-US" altLang="zh-TW" dirty="0" smtClean="0"/>
              <a:t>the filter before correlating</a:t>
            </a:r>
          </a:p>
          <a:p>
            <a:r>
              <a:rPr lang="en-US" altLang="zh-TW" dirty="0" smtClean="0"/>
              <a:t>The key difference between the correlation and convolution is that </a:t>
            </a:r>
            <a:r>
              <a:rPr lang="en-US" altLang="zh-TW" dirty="0" smtClean="0">
                <a:solidFill>
                  <a:srgbClr val="FF0000"/>
                </a:solidFill>
              </a:rPr>
              <a:t>convolution is associative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Correlation and convolution are identical when the filter is </a:t>
            </a:r>
            <a:r>
              <a:rPr lang="en-US" altLang="zh-TW" dirty="0" smtClean="0">
                <a:solidFill>
                  <a:srgbClr val="FF0000"/>
                </a:solidFill>
              </a:rPr>
              <a:t>symmetric</a:t>
            </a:r>
            <a:r>
              <a:rPr lang="en-US" altLang="zh-TW" dirty="0" smtClean="0"/>
              <a:t>.</a:t>
            </a:r>
          </a:p>
          <a:p>
            <a:endParaRPr lang="en-US" altLang="zh-TW" dirty="0" smtClean="0"/>
          </a:p>
        </p:txBody>
      </p:sp>
      <p:sp>
        <p:nvSpPr>
          <p:cNvPr id="11" name="文字方塊 10"/>
          <p:cNvSpPr txBox="1"/>
          <p:nvPr/>
        </p:nvSpPr>
        <p:spPr>
          <a:xfrm>
            <a:off x="2643174" y="3214686"/>
            <a:ext cx="3236784" cy="5232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TW" sz="2800" dirty="0" smtClean="0">
                <a:latin typeface="標楷體" pitchFamily="65" charset="-120"/>
                <a:ea typeface="標楷體" pitchFamily="65" charset="-120"/>
              </a:rPr>
              <a:t>F*(G*I) = (F*G)*I</a:t>
            </a:r>
            <a:endParaRPr lang="en-US" altLang="zh-TW" sz="2800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err="1" smtClean="0"/>
              <a:t>Orthonormal</a:t>
            </a:r>
            <a:r>
              <a:rPr lang="en-US" altLang="zh-TW" b="1" dirty="0" smtClean="0"/>
              <a:t> Basis for Vectors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Two important Reason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Projection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Pythagorean theorem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TW" sz="3200" dirty="0" smtClean="0"/>
              <a:t>Example: </a:t>
            </a:r>
          </a:p>
          <a:p>
            <a:pPr marL="742950" lvl="2" indent="-342900">
              <a:buFont typeface="Calibri" pitchFamily="34" charset="0"/>
              <a:buChar char="—"/>
            </a:pPr>
            <a:r>
              <a:rPr lang="en-US" altLang="zh-TW" dirty="0" smtClean="0"/>
              <a:t>                                            (7,3) = 7(1,0)+3(0,1)          (7,3)  </a:t>
            </a:r>
          </a:p>
          <a:p>
            <a:pPr marL="742950" lvl="2" indent="-342900">
              <a:buFont typeface="Calibri" pitchFamily="34" charset="0"/>
              <a:buChar char="—"/>
            </a:pPr>
            <a:r>
              <a:rPr lang="en-US" altLang="zh-TW" dirty="0" smtClean="0"/>
              <a:t>                                            (7,3) = 4(1,0)+3(1,1)          (4,3)</a:t>
            </a:r>
          </a:p>
          <a:p>
            <a:pPr lvl="1">
              <a:buNone/>
            </a:pPr>
            <a:endParaRPr lang="en-US" altLang="zh-TW" dirty="0" smtClean="0"/>
          </a:p>
          <a:p>
            <a:pPr marL="0" lvl="1">
              <a:buFont typeface="Arial" pitchFamily="34" charset="0"/>
              <a:buChar char="•"/>
            </a:pPr>
            <a:endParaRPr lang="en-US" altLang="zh-TW" dirty="0" smtClean="0"/>
          </a:p>
        </p:txBody>
      </p:sp>
      <p:pic>
        <p:nvPicPr>
          <p:cNvPr id="5" name="圖片 4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934" y="4271919"/>
            <a:ext cx="2305372" cy="371527"/>
          </a:xfrm>
          <a:prstGeom prst="rect">
            <a:avLst/>
          </a:prstGeom>
        </p:spPr>
      </p:pic>
      <p:pic>
        <p:nvPicPr>
          <p:cNvPr id="6" name="圖片 5" descr="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302" y="3862344"/>
            <a:ext cx="2353004" cy="352474"/>
          </a:xfrm>
          <a:prstGeom prst="rect">
            <a:avLst/>
          </a:prstGeom>
        </p:spPr>
      </p:pic>
      <p:sp>
        <p:nvSpPr>
          <p:cNvPr id="7" name="向右箭號 6"/>
          <p:cNvSpPr/>
          <p:nvPr/>
        </p:nvSpPr>
        <p:spPr>
          <a:xfrm>
            <a:off x="3643306" y="3929066"/>
            <a:ext cx="500066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向右箭號 7"/>
          <p:cNvSpPr/>
          <p:nvPr/>
        </p:nvSpPr>
        <p:spPr>
          <a:xfrm>
            <a:off x="3643306" y="4357694"/>
            <a:ext cx="500066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向右箭號 8"/>
          <p:cNvSpPr/>
          <p:nvPr/>
        </p:nvSpPr>
        <p:spPr>
          <a:xfrm>
            <a:off x="6786578" y="3929066"/>
            <a:ext cx="500066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向右箭號 9"/>
          <p:cNvSpPr/>
          <p:nvPr/>
        </p:nvSpPr>
        <p:spPr>
          <a:xfrm>
            <a:off x="6786578" y="4357694"/>
            <a:ext cx="500066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62" y="2071678"/>
            <a:ext cx="2686425" cy="885949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/>
              <a:t>The Fourier Series(1/2)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28736"/>
            <a:ext cx="8291264" cy="5312632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 </a:t>
            </a:r>
          </a:p>
          <a:p>
            <a:pPr>
              <a:buNone/>
            </a:pPr>
            <a:endParaRPr lang="en-US" altLang="zh-TW" sz="800" dirty="0" smtClean="0"/>
          </a:p>
          <a:p>
            <a:r>
              <a:rPr lang="en-US" altLang="zh-TW" dirty="0" smtClean="0"/>
              <a:t> </a:t>
            </a:r>
          </a:p>
          <a:p>
            <a:pPr lvl="1"/>
            <a:r>
              <a:rPr lang="en-US" altLang="zh-TW" dirty="0" smtClean="0"/>
              <a:t>f has </a:t>
            </a:r>
            <a:r>
              <a:rPr lang="en-US" altLang="zh-TW" dirty="0" smtClean="0">
                <a:solidFill>
                  <a:srgbClr val="FF0000"/>
                </a:solidFill>
              </a:rPr>
              <a:t>unit magnitude </a:t>
            </a:r>
            <a:r>
              <a:rPr lang="en-US" altLang="zh-TW" dirty="0" smtClean="0"/>
              <a:t>: &lt;</a:t>
            </a:r>
            <a:r>
              <a:rPr lang="en-US" altLang="zh-TW" dirty="0" err="1" smtClean="0"/>
              <a:t>f,f</a:t>
            </a:r>
            <a:r>
              <a:rPr lang="en-US" altLang="zh-TW" dirty="0" smtClean="0"/>
              <a:t>&gt; = 1</a:t>
            </a:r>
          </a:p>
          <a:p>
            <a:pPr lvl="1"/>
            <a:r>
              <a:rPr lang="en-US" altLang="zh-TW" dirty="0" smtClean="0"/>
              <a:t>f and g are </a:t>
            </a:r>
            <a:r>
              <a:rPr lang="en-US" altLang="zh-TW" dirty="0" smtClean="0">
                <a:solidFill>
                  <a:srgbClr val="FF0000"/>
                </a:solidFill>
              </a:rPr>
              <a:t>orthogonal</a:t>
            </a:r>
            <a:r>
              <a:rPr lang="en-US" altLang="zh-TW" dirty="0" smtClean="0"/>
              <a:t> : &lt;</a:t>
            </a:r>
            <a:r>
              <a:rPr lang="en-US" altLang="zh-TW" dirty="0" err="1" smtClean="0"/>
              <a:t>f,g</a:t>
            </a:r>
            <a:r>
              <a:rPr lang="en-US" altLang="zh-TW" dirty="0" smtClean="0"/>
              <a:t>&gt; = 0</a:t>
            </a:r>
          </a:p>
          <a:p>
            <a:pPr lvl="1"/>
            <a:endParaRPr lang="en-US" altLang="zh-TW" dirty="0"/>
          </a:p>
          <a:p>
            <a:pPr marL="457200" lvl="1" indent="0">
              <a:buNone/>
            </a:pPr>
            <a:endParaRPr lang="en-US" altLang="zh-TW" dirty="0" smtClean="0"/>
          </a:p>
          <a:p>
            <a:endParaRPr lang="en-US" altLang="zh-TW" sz="800" dirty="0" smtClean="0"/>
          </a:p>
        </p:txBody>
      </p:sp>
      <p:pic>
        <p:nvPicPr>
          <p:cNvPr id="5" name="圖片 4" descr="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110" y="3797590"/>
            <a:ext cx="5072098" cy="1071570"/>
          </a:xfrm>
          <a:prstGeom prst="rect">
            <a:avLst/>
          </a:prstGeom>
        </p:spPr>
      </p:pic>
      <p:pic>
        <p:nvPicPr>
          <p:cNvPr id="6" name="圖片 5" descr="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662" y="1328624"/>
            <a:ext cx="4115375" cy="7430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The Fourier </a:t>
            </a:r>
            <a:r>
              <a:rPr lang="en-US" altLang="zh-TW" b="1" dirty="0" smtClean="0"/>
              <a:t>Series(2/2</a:t>
            </a:r>
            <a:r>
              <a:rPr lang="en-US" altLang="zh-TW" b="1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800" dirty="0"/>
              <a:t>Any function can be broken down into the sum of sine waves of different amplitudes and phases</a:t>
            </a:r>
            <a:r>
              <a:rPr lang="en-US" altLang="zh-TW" sz="2800" dirty="0" smtClean="0"/>
              <a:t>.</a:t>
            </a:r>
            <a:endParaRPr lang="en-US" altLang="zh-TW" sz="2800" dirty="0" smtClean="0"/>
          </a:p>
          <a:p>
            <a:r>
              <a:rPr lang="en-US" altLang="zh-TW" dirty="0" smtClean="0"/>
              <a:t>We </a:t>
            </a:r>
            <a:r>
              <a:rPr lang="en-US" altLang="zh-TW" dirty="0"/>
              <a:t>can solve the values (a</a:t>
            </a:r>
            <a:r>
              <a:rPr lang="en-US" altLang="zh-TW" baseline="-25000" dirty="0"/>
              <a:t>0</a:t>
            </a:r>
            <a:r>
              <a:rPr lang="en-US" altLang="zh-TW" dirty="0"/>
              <a:t>,b</a:t>
            </a:r>
            <a:r>
              <a:rPr lang="en-US" altLang="zh-TW" baseline="-25000" dirty="0"/>
              <a:t>1</a:t>
            </a:r>
            <a:r>
              <a:rPr lang="en-US" altLang="zh-TW" dirty="0"/>
              <a:t>,a</a:t>
            </a:r>
            <a:r>
              <a:rPr lang="en-US" altLang="zh-TW" baseline="-25000" dirty="0"/>
              <a:t>1</a:t>
            </a:r>
            <a:r>
              <a:rPr lang="en-US" altLang="zh-TW" dirty="0"/>
              <a:t>,b</a:t>
            </a:r>
            <a:r>
              <a:rPr lang="en-US" altLang="zh-TW" baseline="-25000" dirty="0"/>
              <a:t>2</a:t>
            </a:r>
            <a:r>
              <a:rPr lang="en-US" altLang="zh-TW" dirty="0"/>
              <a:t>,….)by </a:t>
            </a:r>
            <a:r>
              <a:rPr lang="en-US" altLang="zh-TW" dirty="0">
                <a:solidFill>
                  <a:srgbClr val="FF0000"/>
                </a:solidFill>
              </a:rPr>
              <a:t>taking inner products</a:t>
            </a:r>
            <a:r>
              <a:rPr lang="en-US" altLang="zh-TW" dirty="0" smtClean="0"/>
              <a:t>.</a:t>
            </a:r>
          </a:p>
          <a:p>
            <a:endParaRPr lang="en-US" altLang="zh-TW" sz="7200" dirty="0"/>
          </a:p>
          <a:p>
            <a:pPr marL="0" indent="0">
              <a:buNone/>
            </a:pPr>
            <a:endParaRPr lang="zh-TW" altLang="en-US" sz="2800" dirty="0"/>
          </a:p>
          <a:p>
            <a:endParaRPr lang="zh-TW" altLang="en-US" dirty="0"/>
          </a:p>
        </p:txBody>
      </p:sp>
      <p:pic>
        <p:nvPicPr>
          <p:cNvPr id="4" name="內容版面配置區 3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389" y="3573016"/>
            <a:ext cx="7135221" cy="156231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89" y="5445224"/>
            <a:ext cx="3820058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08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Convolution Theorem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637112"/>
          </a:xfrm>
        </p:spPr>
        <p:txBody>
          <a:bodyPr>
            <a:normAutofit lnSpcReduction="10000"/>
          </a:bodyPr>
          <a:lstStyle/>
          <a:p>
            <a:r>
              <a:rPr lang="en-US" altLang="zh-TW" sz="2800" dirty="0"/>
              <a:t>C</a:t>
            </a:r>
            <a:r>
              <a:rPr lang="en-US" altLang="zh-TW" sz="2800" dirty="0" smtClean="0"/>
              <a:t>onvolution </a:t>
            </a:r>
            <a:r>
              <a:rPr lang="en-US" altLang="zh-TW" sz="2800" dirty="0"/>
              <a:t>in the spatial domain is equivalent </a:t>
            </a:r>
            <a:r>
              <a:rPr lang="en-US" altLang="zh-TW" sz="2800" dirty="0" smtClean="0"/>
              <a:t>to component-wise </a:t>
            </a:r>
            <a:r>
              <a:rPr lang="en-US" altLang="zh-TW" sz="2800" dirty="0"/>
              <a:t>multiplication in the transform </a:t>
            </a:r>
            <a:r>
              <a:rPr lang="en-US" altLang="zh-TW" sz="2800" dirty="0" smtClean="0"/>
              <a:t>domain.</a:t>
            </a:r>
          </a:p>
          <a:p>
            <a:r>
              <a:rPr lang="en-US" altLang="zh-TW" sz="2800" dirty="0" smtClean="0"/>
              <a:t>Example(1):</a:t>
            </a:r>
          </a:p>
          <a:p>
            <a:pPr marL="0" indent="0">
              <a:buNone/>
            </a:pPr>
            <a:r>
              <a:rPr lang="en-US" altLang="zh-TW" dirty="0" smtClean="0"/>
              <a:t>	</a:t>
            </a:r>
            <a:r>
              <a:rPr lang="en-US" altLang="zh-TW" sz="2600" dirty="0" smtClean="0"/>
              <a:t>Filter </a:t>
            </a:r>
            <a:r>
              <a:rPr lang="en-US" altLang="zh-TW" sz="2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</a:t>
            </a:r>
            <a:r>
              <a:rPr lang="en-US" altLang="zh-TW" sz="2600" dirty="0" smtClean="0"/>
              <a:t> = sin(x)</a:t>
            </a:r>
          </a:p>
          <a:p>
            <a:pPr marL="0" indent="0">
              <a:buNone/>
            </a:pPr>
            <a:r>
              <a:rPr lang="en-US" altLang="zh-TW" sz="2600" dirty="0"/>
              <a:t>	</a:t>
            </a:r>
            <a:r>
              <a:rPr lang="en-US" altLang="zh-TW" sz="2600" dirty="0" smtClean="0"/>
              <a:t>An image </a:t>
            </a:r>
            <a:r>
              <a:rPr lang="en-US" altLang="zh-TW" sz="26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I</a:t>
            </a:r>
          </a:p>
          <a:p>
            <a:r>
              <a:rPr lang="en-US" altLang="zh-TW" sz="2800" dirty="0" smtClean="0"/>
              <a:t>Example(2):</a:t>
            </a:r>
          </a:p>
          <a:p>
            <a:pPr marL="0" indent="0">
              <a:buNone/>
            </a:pPr>
            <a:r>
              <a:rPr lang="en-US" altLang="zh-TW" sz="2400" dirty="0" smtClean="0"/>
              <a:t>	Fourier </a:t>
            </a:r>
            <a:r>
              <a:rPr lang="en-US" altLang="zh-TW" sz="2400" dirty="0"/>
              <a:t>series representation of </a:t>
            </a:r>
            <a:r>
              <a:rPr lang="en-US" altLang="zh-TW" sz="2400" dirty="0" smtClean="0"/>
              <a:t>a Gaussian.</a:t>
            </a:r>
            <a:r>
              <a:rPr lang="en-US" altLang="zh-TW" sz="2400" dirty="0"/>
              <a:t> </a:t>
            </a:r>
            <a:endParaRPr lang="en-US" altLang="zh-TW" sz="2400" dirty="0" smtClean="0"/>
          </a:p>
          <a:p>
            <a:pPr marL="900000" indent="0">
              <a:buNone/>
            </a:pPr>
            <a:r>
              <a:rPr lang="en-US" altLang="zh-TW" sz="2400" dirty="0"/>
              <a:t>	</a:t>
            </a:r>
            <a:r>
              <a:rPr lang="en-US" altLang="zh-TW" sz="2400" dirty="0" smtClean="0"/>
              <a:t>Smoothing with </a:t>
            </a:r>
            <a:r>
              <a:rPr lang="en-US" altLang="zh-TW" sz="2400" dirty="0"/>
              <a:t>a Gaussian reduces </a:t>
            </a:r>
            <a:r>
              <a:rPr lang="en-US" altLang="zh-TW" sz="2400" dirty="0">
                <a:solidFill>
                  <a:srgbClr val="FF0000"/>
                </a:solidFill>
              </a:rPr>
              <a:t>high </a:t>
            </a:r>
            <a:r>
              <a:rPr lang="en-US" altLang="zh-TW" sz="2400" dirty="0" smtClean="0">
                <a:solidFill>
                  <a:srgbClr val="FF0000"/>
                </a:solidFill>
              </a:rPr>
              <a:t>frequency  </a:t>
            </a:r>
            <a:r>
              <a:rPr lang="en-US" altLang="zh-TW" sz="2400" dirty="0" smtClean="0"/>
              <a:t>components </a:t>
            </a:r>
            <a:r>
              <a:rPr lang="en-US" altLang="zh-TW" sz="2400" dirty="0"/>
              <a:t>of a </a:t>
            </a:r>
            <a:r>
              <a:rPr lang="en-US" altLang="zh-TW" sz="2400" dirty="0" smtClean="0"/>
              <a:t>signal.</a:t>
            </a:r>
            <a:endParaRPr lang="en-US" altLang="zh-TW" sz="2400" dirty="0"/>
          </a:p>
        </p:txBody>
      </p:sp>
      <p:sp>
        <p:nvSpPr>
          <p:cNvPr id="5" name="向右箭號 4"/>
          <p:cNvSpPr/>
          <p:nvPr/>
        </p:nvSpPr>
        <p:spPr>
          <a:xfrm>
            <a:off x="3563888" y="3861048"/>
            <a:ext cx="864096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4198" y="3645024"/>
            <a:ext cx="4534533" cy="5334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1182</TotalTime>
  <Words>768</Words>
  <Application>Microsoft Office PowerPoint</Application>
  <PresentationFormat>如螢幕大小 (4:3)</PresentationFormat>
  <Paragraphs>487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1" baseType="lpstr">
      <vt:lpstr>新細明體</vt:lpstr>
      <vt:lpstr>標楷體</vt:lpstr>
      <vt:lpstr>Arial</vt:lpstr>
      <vt:lpstr>Calibri</vt:lpstr>
      <vt:lpstr>Office 佈景主題</vt:lpstr>
      <vt:lpstr>Correlation and Convolution</vt:lpstr>
      <vt:lpstr>Introduction(1/2)</vt:lpstr>
      <vt:lpstr>Introduction(2/2)</vt:lpstr>
      <vt:lpstr>Boundaries</vt:lpstr>
      <vt:lpstr>Correlation in 1D</vt:lpstr>
      <vt:lpstr>Correlation in 2D</vt:lpstr>
      <vt:lpstr>Separable filters</vt:lpstr>
      <vt:lpstr>Constructing an Filter from a Continuous Function</vt:lpstr>
      <vt:lpstr>Matching with Correlation(1/3)</vt:lpstr>
      <vt:lpstr>Matching with Correlation(2/3)</vt:lpstr>
      <vt:lpstr>Matching with Correlation(3/3)</vt:lpstr>
      <vt:lpstr>Convolution</vt:lpstr>
      <vt:lpstr>Orthonormal Basis for Vectors</vt:lpstr>
      <vt:lpstr>The Fourier Series(1/2)</vt:lpstr>
      <vt:lpstr>The Fourier Series(2/2)</vt:lpstr>
      <vt:lpstr>Convolution Theorem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Athena_Ho</dc:creator>
  <cp:lastModifiedBy>AthenaHo</cp:lastModifiedBy>
  <cp:revision>110</cp:revision>
  <dcterms:created xsi:type="dcterms:W3CDTF">2015-05-20T13:54:24Z</dcterms:created>
  <dcterms:modified xsi:type="dcterms:W3CDTF">2015-06-30T10:16:28Z</dcterms:modified>
</cp:coreProperties>
</file>