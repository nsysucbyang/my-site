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58" r:id="rId4"/>
    <p:sldId id="259" r:id="rId5"/>
    <p:sldId id="296" r:id="rId6"/>
    <p:sldId id="256" r:id="rId7"/>
    <p:sldId id="297" r:id="rId8"/>
    <p:sldId id="260" r:id="rId9"/>
    <p:sldId id="299" r:id="rId10"/>
    <p:sldId id="300" r:id="rId11"/>
    <p:sldId id="298" r:id="rId12"/>
    <p:sldId id="301" r:id="rId13"/>
    <p:sldId id="302" r:id="rId14"/>
    <p:sldId id="305" r:id="rId15"/>
    <p:sldId id="306" r:id="rId16"/>
    <p:sldId id="307" r:id="rId17"/>
    <p:sldId id="308" r:id="rId18"/>
    <p:sldId id="263" r:id="rId19"/>
    <p:sldId id="309" r:id="rId20"/>
    <p:sldId id="310" r:id="rId21"/>
    <p:sldId id="262" r:id="rId22"/>
  </p:sldIdLst>
  <p:sldSz cx="9144000" cy="6858000" type="screen4x3"/>
  <p:notesSz cx="6816725" cy="99441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9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11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53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793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80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040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29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99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2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9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88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282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279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919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98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08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767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524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358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696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60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59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4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CA4D6-5592-4349-9702-90934762B61F}" type="datetimeFigureOut">
              <a:rPr lang="zh-TW" altLang="en-US" smtClean="0"/>
              <a:t>2015/11/3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94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2015/11/3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33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786821" y="4978792"/>
            <a:ext cx="650818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</a:rPr>
              <a:t>Presenter: Tzu-Chiang Hsu </a:t>
            </a:r>
            <a:r>
              <a:rPr lang="zh-TW" altLang="en-US" sz="32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(</a:t>
            </a:r>
            <a:r>
              <a:rPr lang="zh-TW" altLang="en-US" sz="4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徐子強</a:t>
            </a:r>
            <a:r>
              <a:rPr lang="en-US" altLang="zh-TW" sz="32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zh-TW" sz="2500" dirty="0" smtClean="0">
                <a:solidFill>
                  <a:prstClr val="black"/>
                </a:solidFill>
              </a:rPr>
              <a:t>2015/11/03</a:t>
            </a:r>
            <a:endParaRPr lang="zh-TW" altLang="en-US" sz="2500" dirty="0">
              <a:solidFill>
                <a:prstClr val="black"/>
              </a:solidFill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271245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sz="4400" dirty="0" smtClean="0">
                <a:latin typeface="+mn-lt"/>
              </a:rPr>
              <a:t>Approximate String Matching </a:t>
            </a:r>
            <a:r>
              <a:rPr lang="en-US" altLang="zh-TW" sz="4400" dirty="0">
                <a:latin typeface="+mn-lt"/>
              </a:rPr>
              <a:t>A</a:t>
            </a:r>
            <a:r>
              <a:rPr lang="en-US" altLang="zh-TW" sz="4400" dirty="0" smtClean="0">
                <a:latin typeface="+mn-lt"/>
              </a:rPr>
              <a:t>llowing for Inversions and Translocations</a:t>
            </a:r>
            <a:endParaRPr lang="zh-TW" altLang="en-US" sz="4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" name="副標題 2"/>
          <p:cNvSpPr txBox="1">
            <a:spLocks/>
          </p:cNvSpPr>
          <p:nvPr/>
        </p:nvSpPr>
        <p:spPr>
          <a:xfrm>
            <a:off x="0" y="251106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pt-BR" altLang="zh-TW" sz="3000" dirty="0" smtClean="0">
              <a:solidFill>
                <a:prstClr val="black"/>
              </a:solidFill>
            </a:endParaRPr>
          </a:p>
          <a:p>
            <a:pPr fontAlgn="base"/>
            <a:r>
              <a:rPr lang="it-IT" altLang="zh-TW" sz="3000" dirty="0" smtClean="0">
                <a:solidFill>
                  <a:prstClr val="black"/>
                </a:solidFill>
              </a:rPr>
              <a:t>Domenico Cantone, </a:t>
            </a:r>
            <a:r>
              <a:rPr lang="it-IT" altLang="zh-TW" sz="3000" dirty="0">
                <a:solidFill>
                  <a:prstClr val="black"/>
                </a:solidFill>
              </a:rPr>
              <a:t>Simone </a:t>
            </a:r>
            <a:r>
              <a:rPr lang="it-IT" altLang="zh-TW" sz="3000" dirty="0" smtClean="0">
                <a:solidFill>
                  <a:prstClr val="black"/>
                </a:solidFill>
              </a:rPr>
              <a:t>Faro, Emanuele Giaquinta</a:t>
            </a:r>
          </a:p>
          <a:p>
            <a:pPr fontAlgn="base"/>
            <a:endParaRPr lang="pt-BR" altLang="zh-TW" sz="700" dirty="0" smtClean="0">
              <a:solidFill>
                <a:prstClr val="black"/>
              </a:solidFill>
            </a:endParaRPr>
          </a:p>
          <a:p>
            <a:pPr fontAlgn="base"/>
            <a:r>
              <a:rPr lang="pt-BR" altLang="zh-TW" sz="700" dirty="0" smtClean="0">
                <a:solidFill>
                  <a:prstClr val="black"/>
                </a:solidFill>
              </a:rPr>
              <a:t> </a:t>
            </a:r>
            <a:endParaRPr lang="en-US" altLang="zh-TW" sz="700" dirty="0" smtClean="0">
              <a:solidFill>
                <a:prstClr val="black"/>
              </a:solidFill>
            </a:endParaRPr>
          </a:p>
          <a:p>
            <a:r>
              <a:rPr lang="en-US" altLang="zh-TW" sz="2800" b="1" dirty="0" smtClean="0">
                <a:solidFill>
                  <a:prstClr val="black"/>
                </a:solidFill>
                <a:latin typeface="Calibri Light" panose="020F0302020204030204"/>
              </a:rPr>
              <a:t>Proceedings of Prague </a:t>
            </a:r>
            <a:r>
              <a:rPr lang="en-US" altLang="zh-TW" sz="2800" b="1" dirty="0" err="1">
                <a:solidFill>
                  <a:prstClr val="black"/>
                </a:solidFill>
                <a:latin typeface="Calibri Light" panose="020F0302020204030204"/>
              </a:rPr>
              <a:t>Stringology</a:t>
            </a:r>
            <a:r>
              <a:rPr lang="en-US" altLang="zh-TW" sz="2800" b="1" dirty="0">
                <a:solidFill>
                  <a:prstClr val="black"/>
                </a:solidFill>
                <a:latin typeface="Calibri Light" panose="020F0302020204030204"/>
              </a:rPr>
              <a:t> Conference </a:t>
            </a:r>
            <a:r>
              <a:rPr lang="en-US" altLang="zh-TW" sz="2800" b="1" dirty="0" smtClean="0">
                <a:solidFill>
                  <a:prstClr val="black"/>
                </a:solidFill>
                <a:latin typeface="Calibri Light" panose="020F0302020204030204"/>
              </a:rPr>
              <a:t>2010, pp. 37-51</a:t>
            </a:r>
            <a:endParaRPr lang="zh-TW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6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(1/3)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/>
              <a:t>The approximate string matching problem consists in finding all locations at which a pattern P of length m matches a substring of a text T of length n, after a given finite number of edit operations. In this paper we investigate such problem when the string distance involves translocations of equal length adjacent factors and inversions of factors</a:t>
            </a:r>
            <a:r>
              <a:rPr lang="en-US" altLang="zh-TW" sz="3200" dirty="0" smtClean="0"/>
              <a:t>.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89670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(2/3)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/>
              <a:t>In particular, we devise a O(nm max(α,β))-time and </a:t>
            </a:r>
            <a:r>
              <a:rPr lang="en-US" altLang="zh-TW" sz="3200" dirty="0" smtClean="0"/>
              <a:t>O(m</a:t>
            </a:r>
            <a:r>
              <a:rPr lang="en-US" altLang="zh-TW" sz="3200" baseline="30000" dirty="0" smtClean="0"/>
              <a:t>2</a:t>
            </a:r>
            <a:r>
              <a:rPr lang="en-US" altLang="zh-TW" sz="3200" dirty="0" smtClean="0"/>
              <a:t>)-</a:t>
            </a:r>
            <a:r>
              <a:rPr lang="en-US" altLang="zh-TW" sz="3200" dirty="0"/>
              <a:t>space algorithm, where α and β are respectively the maximum length of the factors involved in any translocation and inversion. Our algorithm is based on the dynamic-programming approach and makes use of the Directed Acyclic Word Graph of the pattern</a:t>
            </a:r>
            <a:r>
              <a:rPr lang="en-US" altLang="zh-TW" sz="3200" dirty="0" smtClean="0"/>
              <a:t>.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70514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</a:t>
            </a:r>
            <a:r>
              <a:rPr lang="en-US" altLang="zh-TW" dirty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3</a:t>
            </a:r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/3)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 smtClean="0"/>
              <a:t>Moreover </a:t>
            </a:r>
            <a:r>
              <a:rPr lang="en-US" altLang="zh-TW" sz="3200" dirty="0"/>
              <a:t>we show that under the </a:t>
            </a:r>
            <a:r>
              <a:rPr lang="en-US" altLang="zh-TW" sz="3200" dirty="0" smtClean="0"/>
              <a:t>assumptions </a:t>
            </a:r>
            <a:r>
              <a:rPr lang="en-US" altLang="zh-TW" sz="3200" dirty="0"/>
              <a:t>of </a:t>
            </a:r>
            <a:r>
              <a:rPr lang="en-US" altLang="zh-TW" sz="3200" dirty="0" err="1"/>
              <a:t>equiprobability</a:t>
            </a:r>
            <a:r>
              <a:rPr lang="en-US" altLang="zh-TW" sz="3200" dirty="0"/>
              <a:t> and independence of characters our algorithm has a O(n </a:t>
            </a:r>
            <a:r>
              <a:rPr lang="en-US" altLang="zh-TW" sz="3200" dirty="0" err="1"/>
              <a:t>log</a:t>
            </a:r>
            <a:r>
              <a:rPr lang="en-US" altLang="zh-TW" sz="3200" baseline="-25000" dirty="0" err="1"/>
              <a:t>σ</a:t>
            </a:r>
            <a:r>
              <a:rPr lang="en-US" altLang="zh-TW" sz="3200" dirty="0" err="1"/>
              <a:t>m</a:t>
            </a:r>
            <a:r>
              <a:rPr lang="en-US" altLang="zh-TW" sz="3200" dirty="0"/>
              <a:t>) average time complexity. Finally, we briefly sketch in an appendix an efficient implementation, based on </a:t>
            </a:r>
            <a:r>
              <a:rPr lang="en-US" altLang="zh-TW" sz="3200" dirty="0" smtClean="0"/>
              <a:t>bit-parallelism.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310071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22529" y="1739769"/>
            <a:ext cx="28455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inversion 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22529" y="553226"/>
            <a:ext cx="24009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reversal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 rot="16200000">
            <a:off x="6452442" y="1167180"/>
            <a:ext cx="5411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=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19630" y="2704464"/>
            <a:ext cx="3018840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attagcct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>
              <a:lnSpc>
                <a:spcPct val="200000"/>
              </a:lnSpc>
            </a:pP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atcgatct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62697" y="3429342"/>
            <a:ext cx="1436915" cy="748936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180115" y="5101608"/>
            <a:ext cx="1436915" cy="748936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881154" y="4335034"/>
            <a:ext cx="0" cy="61830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0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40669" y="1739769"/>
            <a:ext cx="38093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translocation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77536" y="2704464"/>
            <a:ext cx="3103029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acatgcct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>
              <a:lnSpc>
                <a:spcPct val="200000"/>
              </a:lnSpc>
            </a:pP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agcccatt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84023" y="3429342"/>
            <a:ext cx="2168434" cy="70517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884023" y="5101608"/>
            <a:ext cx="2168434" cy="75055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646023" y="4308908"/>
            <a:ext cx="0" cy="61830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4933406" y="3201456"/>
            <a:ext cx="47897" cy="29193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94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69446" y="3146287"/>
            <a:ext cx="510588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cabccbabcc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cbaabcbc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5304" y="1065127"/>
            <a:ext cx="792608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dirty="0"/>
              <a:t>Approximate </a:t>
            </a:r>
            <a:r>
              <a:rPr lang="en-US" altLang="zh-TW" sz="3600" dirty="0" smtClean="0"/>
              <a:t>string matching</a:t>
            </a:r>
          </a:p>
          <a:p>
            <a:r>
              <a:rPr lang="en-US" altLang="zh-TW" sz="3600" dirty="0" smtClean="0"/>
              <a:t>allowing </a:t>
            </a:r>
            <a:r>
              <a:rPr lang="en-US" altLang="zh-TW" sz="3600" dirty="0"/>
              <a:t>for </a:t>
            </a:r>
            <a:r>
              <a:rPr lang="en-US" altLang="zh-TW" sz="3600" dirty="0" smtClean="0"/>
              <a:t>inversions </a:t>
            </a:r>
            <a:r>
              <a:rPr lang="en-US" altLang="zh-TW" sz="3600" dirty="0"/>
              <a:t>and </a:t>
            </a:r>
            <a:r>
              <a:rPr lang="en-US" altLang="zh-TW" sz="3600" dirty="0" smtClean="0"/>
              <a:t>translocations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1619" y="3146287"/>
            <a:ext cx="245810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text:</a:t>
            </a:r>
          </a:p>
          <a:p>
            <a:pPr algn="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pattern: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00689" y="3169207"/>
            <a:ext cx="1931928" cy="158816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7332617" y="3169206"/>
            <a:ext cx="489284" cy="15881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合併 15"/>
          <p:cNvSpPr/>
          <p:nvPr/>
        </p:nvSpPr>
        <p:spPr>
          <a:xfrm>
            <a:off x="7485016" y="2993142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>
            <a:off x="6347970" y="2993142"/>
            <a:ext cx="18683" cy="21283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957009" y="3169207"/>
            <a:ext cx="1443680" cy="158816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9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60722" y="53764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abcbc</a:t>
            </a:r>
            <a:endParaRPr lang="zh-TW" altLang="en-US" sz="8800" b="0" cap="none" spc="0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29" y="1015731"/>
            <a:ext cx="5686697" cy="471132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86844" y="5597324"/>
            <a:ext cx="8222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irected </a:t>
            </a:r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cyclic </a:t>
            </a:r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 </a:t>
            </a:r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raph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710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017" y="1198611"/>
            <a:ext cx="6661087" cy="551858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60722" y="53764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abcbc</a:t>
            </a:r>
            <a:endParaRPr lang="zh-TW" altLang="en-US" sz="8800" b="0" cap="none" spc="0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19034" y="2201909"/>
            <a:ext cx="6399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{0}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96533" y="3421524"/>
            <a:ext cx="6399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{1}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75950" y="4512161"/>
            <a:ext cx="6399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{2}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13310" y="5901178"/>
            <a:ext cx="6399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{3}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404704" y="2494296"/>
            <a:ext cx="84473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{2,4}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06241" y="2965119"/>
            <a:ext cx="84698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{1,3}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49435" y="4981154"/>
            <a:ext cx="63991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{4}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5429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83" y="3662500"/>
            <a:ext cx="46137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abacbabcc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265" y="270272"/>
            <a:ext cx="5358735" cy="402795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0783" y="4408464"/>
            <a:ext cx="46137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dist"/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121121221</a:t>
            </a:r>
            <a:endParaRPr lang="zh-TW" altLang="en-US" sz="5400" spc="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0722" y="53764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abcbc</a:t>
            </a:r>
            <a:endParaRPr lang="zh-TW" altLang="en-US" sz="8800" b="0" cap="none" spc="0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0722" y="5092554"/>
            <a:ext cx="176202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{0}{1}{0}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92790" y="5617805"/>
            <a:ext cx="10599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{2,4}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12375" y="6055181"/>
            <a:ext cx="10599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{1,3}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50702" y="5088817"/>
            <a:ext cx="176202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{0}{1}{2}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082770" y="5623111"/>
            <a:ext cx="10599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{2,4}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175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1683" y="1349914"/>
            <a:ext cx="30909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acbabcc</a:t>
            </a:r>
            <a:endParaRPr lang="en-US" altLang="zh-TW" sz="4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266" y="3329232"/>
            <a:ext cx="4301435" cy="3233222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16901" y="511590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abcbc</a:t>
            </a:r>
            <a:endParaRPr lang="zh-TW" altLang="en-US" sz="8800" b="0" cap="none" spc="0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92860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580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1683" y="1349914"/>
            <a:ext cx="30909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acbabcc</a:t>
            </a:r>
            <a:endParaRPr lang="en-US" altLang="zh-TW" sz="4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266" y="3329232"/>
            <a:ext cx="4301435" cy="3233222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16901" y="511590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abcbc</a:t>
            </a:r>
            <a:endParaRPr lang="zh-TW" altLang="en-US" sz="8800" b="0" cap="none" spc="0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92860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0268" y="2272513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980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1683" y="1349914"/>
            <a:ext cx="30909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acbabcc</a:t>
            </a:r>
            <a:endParaRPr lang="en-US" altLang="zh-TW" sz="4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266" y="3329232"/>
            <a:ext cx="4301435" cy="3233222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16901" y="511590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abcbc</a:t>
            </a:r>
            <a:endParaRPr lang="zh-TW" altLang="en-US" sz="88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92860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0268" y="2272513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47528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815" y="398814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cbcba</a:t>
            </a:r>
            <a:endParaRPr lang="zh-TW" altLang="en-US" sz="88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418" y="165464"/>
            <a:ext cx="4454283" cy="332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1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1683" y="1349914"/>
            <a:ext cx="30909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acbabcc</a:t>
            </a:r>
            <a:endParaRPr lang="en-US" altLang="zh-TW" sz="4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266" y="3329232"/>
            <a:ext cx="4301435" cy="3233222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16901" y="511590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abcbc</a:t>
            </a:r>
            <a:endParaRPr lang="zh-TW" altLang="en-US" sz="88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92860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0268" y="2272513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47528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80092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963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41714" y="1438542"/>
            <a:ext cx="809897" cy="590555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870195" y="1438541"/>
            <a:ext cx="809897" cy="590555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421683" y="1349914"/>
            <a:ext cx="30909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acbabcc</a:t>
            </a:r>
            <a:endParaRPr lang="en-US" altLang="zh-TW" sz="4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266" y="3329232"/>
            <a:ext cx="4301435" cy="3233222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16901" y="511590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abcbc</a:t>
            </a:r>
            <a:endParaRPr lang="zh-TW" altLang="en-US" sz="88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92860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0268" y="2272513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47528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80092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43963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610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43963" y="1438544"/>
            <a:ext cx="407648" cy="590554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1682402" y="1438544"/>
            <a:ext cx="365098" cy="590554"/>
          </a:xfrm>
          <a:prstGeom prst="rect">
            <a:avLst/>
          </a:prstGeom>
          <a:solidFill>
            <a:schemeClr val="accent2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421683" y="1349914"/>
            <a:ext cx="309091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acbabcc</a:t>
            </a:r>
            <a:endParaRPr lang="en-US" altLang="zh-TW" sz="4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266" y="3329232"/>
            <a:ext cx="4301435" cy="3233222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16901" y="5115904"/>
            <a:ext cx="286649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err="1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abcbc</a:t>
            </a:r>
            <a:endParaRPr lang="zh-TW" altLang="en-US" sz="88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92860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0268" y="2272513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47528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80092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43963" y="2298851"/>
            <a:ext cx="36740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zh-TW" altLang="en-US" sz="28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0479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690949" y="1881051"/>
            <a:ext cx="1715588" cy="1123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515395" y="1881051"/>
            <a:ext cx="1715588" cy="1123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4515395" y="3165566"/>
            <a:ext cx="796834" cy="1066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5451566" y="3165566"/>
            <a:ext cx="779417" cy="10668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L-圖案 3"/>
          <p:cNvSpPr/>
          <p:nvPr/>
        </p:nvSpPr>
        <p:spPr>
          <a:xfrm rot="19070896">
            <a:off x="4730933" y="3413760"/>
            <a:ext cx="452846" cy="418011"/>
          </a:xfrm>
          <a:prstGeom prst="corner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-圖案 10"/>
          <p:cNvSpPr/>
          <p:nvPr/>
        </p:nvSpPr>
        <p:spPr>
          <a:xfrm rot="19070896">
            <a:off x="4995515" y="2120537"/>
            <a:ext cx="452846" cy="418011"/>
          </a:xfrm>
          <a:prstGeom prst="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369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031" y="0"/>
            <a:ext cx="657193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187618" y="2322901"/>
            <a:ext cx="48269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O(</a:t>
            </a:r>
            <a:r>
              <a:rPr lang="en-US" altLang="zh-TW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mn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max(</a:t>
            </a:r>
            <a:r>
              <a:rPr lang="el-GR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α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, </a:t>
            </a:r>
            <a:r>
              <a:rPr lang="el-GR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β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))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347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89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橢圓 65"/>
          <p:cNvSpPr/>
          <p:nvPr/>
        </p:nvSpPr>
        <p:spPr>
          <a:xfrm>
            <a:off x="5547090" y="1177476"/>
            <a:ext cx="1494429" cy="754576"/>
          </a:xfrm>
          <a:prstGeom prst="ellipse">
            <a:avLst/>
          </a:prstGeom>
          <a:solidFill>
            <a:srgbClr val="FAD9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/>
          <p:cNvSpPr/>
          <p:nvPr/>
        </p:nvSpPr>
        <p:spPr>
          <a:xfrm>
            <a:off x="3270431" y="2069490"/>
            <a:ext cx="1653929" cy="1367138"/>
          </a:xfrm>
          <a:prstGeom prst="ellipse">
            <a:avLst/>
          </a:prstGeom>
          <a:solidFill>
            <a:srgbClr val="FAD9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3238697" y="333579"/>
            <a:ext cx="1494429" cy="754576"/>
          </a:xfrm>
          <a:prstGeom prst="ellipse">
            <a:avLst/>
          </a:prstGeom>
          <a:solidFill>
            <a:srgbClr val="FAD9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6180683" y="2083909"/>
            <a:ext cx="1808188" cy="1964697"/>
          </a:xfrm>
          <a:prstGeom prst="ellipse">
            <a:avLst/>
          </a:prstGeom>
          <a:solidFill>
            <a:srgbClr val="FAD9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922581" y="2943479"/>
            <a:ext cx="1808188" cy="2883625"/>
          </a:xfrm>
          <a:prstGeom prst="ellipse">
            <a:avLst/>
          </a:prstGeom>
          <a:solidFill>
            <a:srgbClr val="FAD9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6508311" y="2244843"/>
            <a:ext cx="11785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cbc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,</a:t>
            </a:r>
          </a:p>
          <a:p>
            <a:pPr algn="ctr"/>
            <a:r>
              <a:rPr lang="en-US" altLang="zh-TW" sz="4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bc</a:t>
            </a:r>
            <a:endParaRPr lang="zh-TW" altLang="en-US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18527" y="2023783"/>
            <a:ext cx="91723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cb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,</a:t>
            </a:r>
          </a:p>
          <a:p>
            <a:pPr algn="ctr"/>
            <a:r>
              <a:rPr lang="en-US" altLang="zh-TW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endParaRPr lang="zh-TW" altLang="en-US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95286" y="2922381"/>
            <a:ext cx="1519967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cbcba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,</a:t>
            </a:r>
          </a:p>
          <a:p>
            <a:pPr algn="ctr"/>
            <a:r>
              <a:rPr lang="en-US" altLang="zh-TW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bcba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,</a:t>
            </a:r>
          </a:p>
          <a:p>
            <a:pPr algn="ctr"/>
            <a:r>
              <a:rPr lang="en-US" altLang="zh-TW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cba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,</a:t>
            </a:r>
          </a:p>
          <a:p>
            <a:pPr algn="ctr"/>
            <a:r>
              <a:rPr lang="en-US" altLang="zh-TW" sz="4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,</a:t>
            </a:r>
          </a:p>
          <a:p>
            <a:pPr algn="ctr"/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56215" y="1088156"/>
            <a:ext cx="44595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</a:t>
            </a:r>
            <a:endParaRPr lang="zh-TW" altLang="en-US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97882" y="319598"/>
            <a:ext cx="46198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l-GR" altLang="zh-TW" sz="4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λ</a:t>
            </a:r>
            <a:endParaRPr lang="zh-TW" altLang="en-US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081767" y="1455693"/>
            <a:ext cx="47481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endParaRPr lang="zh-TW" altLang="en-US" sz="48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727172" y="1296553"/>
            <a:ext cx="50526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endParaRPr lang="zh-TW" altLang="en-US" sz="48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007741" y="405481"/>
            <a:ext cx="47154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</a:t>
            </a:r>
            <a:endParaRPr lang="zh-TW" altLang="en-US" sz="48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566910" y="3990255"/>
            <a:ext cx="50526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endParaRPr lang="zh-TW" altLang="en-US" sz="48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149478" y="2527980"/>
            <a:ext cx="44595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</a:t>
            </a:r>
            <a:endParaRPr lang="zh-TW" altLang="en-US" sz="48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7" name="橢圓 66"/>
          <p:cNvSpPr/>
          <p:nvPr/>
        </p:nvSpPr>
        <p:spPr>
          <a:xfrm>
            <a:off x="4733126" y="4224358"/>
            <a:ext cx="1808188" cy="1964697"/>
          </a:xfrm>
          <a:prstGeom prst="ellipse">
            <a:avLst/>
          </a:prstGeom>
          <a:solidFill>
            <a:srgbClr val="FAD9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4900454" y="4385292"/>
            <a:ext cx="14991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cbcb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,</a:t>
            </a:r>
          </a:p>
          <a:p>
            <a:pPr algn="ctr"/>
            <a:r>
              <a:rPr lang="en-US" altLang="zh-TW" sz="4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bcb</a:t>
            </a:r>
            <a:endParaRPr lang="zh-TW" altLang="en-US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70" name="直線單箭頭接點 69"/>
          <p:cNvCxnSpPr>
            <a:stCxn id="30" idx="3"/>
          </p:cNvCxnSpPr>
          <p:nvPr/>
        </p:nvCxnSpPr>
        <p:spPr>
          <a:xfrm flipH="1">
            <a:off x="2124891" y="977650"/>
            <a:ext cx="1332660" cy="2044224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4225349" y="1049204"/>
            <a:ext cx="27430" cy="105923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6" idx="2"/>
          </p:cNvCxnSpPr>
          <p:nvPr/>
        </p:nvCxnSpPr>
        <p:spPr>
          <a:xfrm>
            <a:off x="4594191" y="895583"/>
            <a:ext cx="952899" cy="65918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stCxn id="66" idx="3"/>
          </p:cNvCxnSpPr>
          <p:nvPr/>
        </p:nvCxnSpPr>
        <p:spPr>
          <a:xfrm flipH="1">
            <a:off x="4852805" y="1821547"/>
            <a:ext cx="913139" cy="6361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H="1">
            <a:off x="6056215" y="3814339"/>
            <a:ext cx="434469" cy="60715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H="1" flipV="1">
            <a:off x="2584401" y="5170122"/>
            <a:ext cx="2177987" cy="25523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4819719" y="1473249"/>
            <a:ext cx="50526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endParaRPr lang="zh-TW" altLang="en-US" sz="48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87" name="直線單箭頭接點 86"/>
          <p:cNvCxnSpPr/>
          <p:nvPr/>
        </p:nvCxnSpPr>
        <p:spPr>
          <a:xfrm flipV="1">
            <a:off x="4594191" y="3226689"/>
            <a:ext cx="1599218" cy="71344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 flipH="1">
            <a:off x="2714509" y="3247736"/>
            <a:ext cx="791110" cy="130614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2704055" y="2940712"/>
            <a:ext cx="47481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endParaRPr lang="zh-TW" altLang="en-US" sz="48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531257" y="4446501"/>
            <a:ext cx="47481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endParaRPr lang="zh-TW" altLang="en-US" sz="48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631884" y="1088155"/>
            <a:ext cx="104067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{0,2}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7706574" y="2651702"/>
            <a:ext cx="6944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{2}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206902" y="5097988"/>
            <a:ext cx="6944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{3}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531730" y="4507431"/>
            <a:ext cx="6944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{4}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2727991" y="2244843"/>
            <a:ext cx="104067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{1,3}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643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510</TotalTime>
  <Words>362</Words>
  <Application>Microsoft Office PowerPoint</Application>
  <PresentationFormat>如螢幕大小 (4:3)</PresentationFormat>
  <Paragraphs>106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31" baseType="lpstr">
      <vt:lpstr>微軟正黑體</vt:lpstr>
      <vt:lpstr>新細明體</vt:lpstr>
      <vt:lpstr>Arial</vt:lpstr>
      <vt:lpstr>Calibri</vt:lpstr>
      <vt:lpstr>Calibri Light</vt:lpstr>
      <vt:lpstr>Courier New</vt:lpstr>
      <vt:lpstr>Ebrima</vt:lpstr>
      <vt:lpstr>Georgia</vt:lpstr>
      <vt:lpstr>Times New Roman</vt:lpstr>
      <vt:lpstr>Office 佈景主題</vt:lpstr>
      <vt:lpstr>1_Office 佈景主題</vt:lpstr>
      <vt:lpstr>Approximate String Matching Allowing for Inversions and Translocations</vt:lpstr>
      <vt:lpstr>Abstract (1/3)</vt:lpstr>
      <vt:lpstr>Abstract (2/3)</vt:lpstr>
      <vt:lpstr>Abstract (3/3)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M033040055</dc:creator>
  <cp:lastModifiedBy>pplab-class</cp:lastModifiedBy>
  <cp:revision>182</cp:revision>
  <cp:lastPrinted>2015-10-07T10:30:40Z</cp:lastPrinted>
  <dcterms:created xsi:type="dcterms:W3CDTF">2015-09-15T02:34:25Z</dcterms:created>
  <dcterms:modified xsi:type="dcterms:W3CDTF">2015-11-03T11:34:40Z</dcterms:modified>
</cp:coreProperties>
</file>