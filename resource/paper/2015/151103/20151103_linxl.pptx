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71" r:id="rId4"/>
    <p:sldId id="284" r:id="rId5"/>
    <p:sldId id="272" r:id="rId6"/>
    <p:sldId id="285" r:id="rId7"/>
    <p:sldId id="286" r:id="rId8"/>
    <p:sldId id="287" r:id="rId9"/>
    <p:sldId id="289" r:id="rId10"/>
    <p:sldId id="288" r:id="rId11"/>
    <p:sldId id="290" r:id="rId12"/>
    <p:sldId id="273" r:id="rId13"/>
    <p:sldId id="291" r:id="rId14"/>
    <p:sldId id="292" r:id="rId15"/>
    <p:sldId id="293" r:id="rId16"/>
    <p:sldId id="294" r:id="rId17"/>
    <p:sldId id="295" r:id="rId18"/>
    <p:sldId id="296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314" y="10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http://www.combinatorialmath.ca/jcmcc/jcmcc71.html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60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Sorting Strings by Reversals and by </a:t>
            </a:r>
            <a:r>
              <a:rPr lang="en-US" altLang="zh-TW" dirty="0" smtClean="0"/>
              <a:t>Transpositions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429000"/>
            <a:ext cx="8424936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David A. Christie and Robert W. </a:t>
            </a:r>
            <a:r>
              <a:rPr lang="en-US" altLang="zh-TW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Irving</a:t>
            </a:r>
            <a:endParaRPr lang="zh-TW" altLang="en-US" sz="25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/>
              <a:t>SIAM Journal on Discrete </a:t>
            </a:r>
            <a:r>
              <a:rPr lang="en-US" altLang="zh-TW" sz="2000" dirty="0" smtClean="0"/>
              <a:t>Mathematics,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 Vol. 14, No. 2, pp.193~206( 2001)</a:t>
            </a:r>
            <a:endParaRPr lang="en-US" altLang="zh-TW" sz="2000" dirty="0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200" dirty="0"/>
              <a:t>	</a:t>
            </a:r>
            <a:r>
              <a:rPr lang="en-US" altLang="zh-TW" sz="2400" dirty="0"/>
              <a:t>The problems of sorting by reversals and sorting by transpositions have been </a:t>
            </a:r>
            <a:r>
              <a:rPr lang="en-US" altLang="zh-TW" sz="2400" dirty="0" smtClean="0"/>
              <a:t>studied because </a:t>
            </a:r>
            <a:r>
              <a:rPr lang="en-US" altLang="zh-TW" sz="2400" dirty="0"/>
              <a:t>of their applications to genome comparison. 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	Prior </a:t>
            </a:r>
            <a:r>
              <a:rPr lang="en-US" altLang="zh-TW" sz="2400" dirty="0"/>
              <a:t>studies of both problems have </a:t>
            </a:r>
            <a:r>
              <a:rPr lang="en-US" altLang="zh-TW" sz="2400" dirty="0" smtClean="0"/>
              <a:t>assumed that </a:t>
            </a:r>
            <a:r>
              <a:rPr lang="en-US" altLang="zh-TW" sz="2400" dirty="0"/>
              <a:t>the sequences to be compared (or sorted) contain no duplicates, but there is a natural </a:t>
            </a:r>
            <a:r>
              <a:rPr lang="en-US" altLang="zh-TW" sz="2400" dirty="0" smtClean="0"/>
              <a:t>generalization in </a:t>
            </a:r>
            <a:r>
              <a:rPr lang="en-US" altLang="zh-TW" sz="2400" dirty="0"/>
              <a:t>which the sequences are allowed to contain repeated characters. 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In </a:t>
            </a:r>
            <a:r>
              <a:rPr lang="en-US" altLang="zh-TW" sz="2400" dirty="0"/>
              <a:t>this paper we </a:t>
            </a:r>
            <a:r>
              <a:rPr lang="en-US" altLang="zh-TW" sz="2400" dirty="0" smtClean="0"/>
              <a:t>study primarily </a:t>
            </a:r>
            <a:r>
              <a:rPr lang="en-US" altLang="zh-TW" sz="2400" dirty="0"/>
              <a:t>the versions of these problems in which the strings to be compared are drawn from a binary</a:t>
            </a:r>
          </a:p>
          <a:p>
            <a:pPr marL="0" indent="0">
              <a:buNone/>
            </a:pPr>
            <a:r>
              <a:rPr lang="en-US" altLang="zh-TW" sz="2400" dirty="0"/>
              <a:t>alphabet. 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	We </a:t>
            </a:r>
            <a:r>
              <a:rPr lang="en-US" altLang="zh-TW" sz="2400" dirty="0"/>
              <a:t>obtain upper and lower bounds for reversal and transposition distance and show </a:t>
            </a:r>
            <a:r>
              <a:rPr lang="en-US" altLang="zh-TW" sz="2400" dirty="0" smtClean="0"/>
              <a:t>that the </a:t>
            </a:r>
            <a:r>
              <a:rPr lang="en-US" altLang="zh-TW" sz="2400" dirty="0"/>
              <a:t>problem of finding reversal distance between binary strings, and therefore between strings </a:t>
            </a:r>
            <a:r>
              <a:rPr lang="en-US" altLang="zh-TW" sz="2400" dirty="0" smtClean="0"/>
              <a:t>over an </a:t>
            </a:r>
            <a:r>
              <a:rPr lang="en-US" altLang="zh-TW" sz="2400" dirty="0"/>
              <a:t>arbitrary fixed-size alphabet, is NP-hard.</a:t>
            </a:r>
            <a:r>
              <a:rPr lang="en-US" altLang="zh-TW" sz="2200" dirty="0" smtClean="0"/>
              <a:t>	</a:t>
            </a:r>
          </a:p>
          <a:p>
            <a:pPr marL="0" indent="0">
              <a:buNone/>
            </a:pPr>
            <a:r>
              <a:rPr lang="en-US" altLang="zh-TW" sz="2200" dirty="0" smtClean="0"/>
              <a:t> 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8613-4DC1-40BA-9CF5-4484F70DD26C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10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Reversals </a:t>
            </a:r>
            <a:r>
              <a:rPr lang="en-US" altLang="zh-TW" dirty="0" smtClean="0"/>
              <a:t>over permutations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607835"/>
              </p:ext>
            </p:extLst>
          </p:nvPr>
        </p:nvGraphicFramePr>
        <p:xfrm>
          <a:off x="2195736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058117"/>
              </p:ext>
            </p:extLst>
          </p:nvPr>
        </p:nvGraphicFramePr>
        <p:xfrm>
          <a:off x="2195736" y="292494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[1,3]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963140"/>
              </p:ext>
            </p:extLst>
          </p:nvPr>
        </p:nvGraphicFramePr>
        <p:xfrm>
          <a:off x="2195736" y="4221088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Reverse</a:t>
                      </a:r>
                    </a:p>
                    <a:p>
                      <a:pPr algn="ctr"/>
                      <a:r>
                        <a:rPr lang="en-US" altLang="zh-TW" sz="2000" dirty="0" smtClean="0"/>
                        <a:t>[3,4]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>
            <a:stCxn id="6" idx="2"/>
            <a:endCxn id="8" idx="0"/>
          </p:cNvCxnSpPr>
          <p:nvPr/>
        </p:nvCxnSpPr>
        <p:spPr>
          <a:xfrm>
            <a:off x="4499992" y="2329840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8" idx="2"/>
            <a:endCxn id="9" idx="0"/>
          </p:cNvCxnSpPr>
          <p:nvPr/>
        </p:nvCxnSpPr>
        <p:spPr>
          <a:xfrm>
            <a:off x="4499992" y="3625984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-36512" y="1556792"/>
            <a:ext cx="21957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Reversal distance =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488" y="5737051"/>
            <a:ext cx="4876800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67544" y="5338082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The reversal </a:t>
            </a:r>
            <a:r>
              <a:rPr lang="en-US" altLang="zh-TW" i="1" dirty="0"/>
              <a:t>ρ</a:t>
            </a:r>
            <a:r>
              <a:rPr lang="en-US" altLang="zh-TW" dirty="0"/>
              <a:t>(</a:t>
            </a:r>
            <a:r>
              <a:rPr lang="en-US" altLang="zh-TW" i="1" dirty="0"/>
              <a:t>i, j</a:t>
            </a:r>
            <a:r>
              <a:rPr lang="en-US" altLang="zh-TW" dirty="0"/>
              <a:t>) (1 </a:t>
            </a:r>
            <a:r>
              <a:rPr lang="en-US" altLang="zh-TW" i="1" dirty="0"/>
              <a:t>≤ i &lt; j ≤ n</a:t>
            </a:r>
            <a:r>
              <a:rPr lang="en-US" altLang="zh-TW" dirty="0"/>
              <a:t>) transforms the permutation </a:t>
            </a:r>
            <a:r>
              <a:rPr lang="en-US" altLang="zh-TW" i="1" dirty="0"/>
              <a:t>π </a:t>
            </a:r>
            <a:r>
              <a:rPr lang="en-US" altLang="zh-TW" dirty="0" smtClean="0"/>
              <a:t>of  {1</a:t>
            </a:r>
            <a:r>
              <a:rPr lang="en-US" altLang="zh-TW" dirty="0"/>
              <a:t>, 2, . . . , </a:t>
            </a:r>
            <a:r>
              <a:rPr lang="en-US" altLang="zh-TW" dirty="0" smtClean="0"/>
              <a:t>n } </a:t>
            </a:r>
            <a:r>
              <a:rPr lang="en-US" altLang="zh-TW" dirty="0"/>
              <a:t>into </a:t>
            </a:r>
            <a:r>
              <a:rPr lang="en-US" altLang="zh-TW" i="1" dirty="0"/>
              <a:t>π</a:t>
            </a:r>
            <a:r>
              <a:rPr lang="en-US" altLang="zh-TW" dirty="0"/>
              <a:t>, </a:t>
            </a:r>
            <a:r>
              <a:rPr lang="en-US" altLang="zh-TW" dirty="0" smtClean="0"/>
              <a:t>where: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541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412" y="5581650"/>
            <a:ext cx="62007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ranspositions </a:t>
            </a:r>
            <a:r>
              <a:rPr lang="en-US" altLang="zh-TW" dirty="0"/>
              <a:t>over </a:t>
            </a:r>
            <a:r>
              <a:rPr lang="en-US" altLang="zh-TW" dirty="0" smtClean="0"/>
              <a:t>permutations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658742"/>
              </p:ext>
            </p:extLst>
          </p:nvPr>
        </p:nvGraphicFramePr>
        <p:xfrm>
          <a:off x="2195736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Input: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299304"/>
              </p:ext>
            </p:extLst>
          </p:nvPr>
        </p:nvGraphicFramePr>
        <p:xfrm>
          <a:off x="2195736" y="292494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Transpose[1,3,5]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20603"/>
              </p:ext>
            </p:extLst>
          </p:nvPr>
        </p:nvGraphicFramePr>
        <p:xfrm>
          <a:off x="2195736" y="4221088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828092"/>
                <a:gridCol w="828092"/>
                <a:gridCol w="828092"/>
                <a:gridCol w="828092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Transpose[2,3,5]</a:t>
                      </a:r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1" name="直線單箭頭接點 10"/>
          <p:cNvCxnSpPr>
            <a:stCxn id="6" idx="2"/>
            <a:endCxn id="8" idx="0"/>
          </p:cNvCxnSpPr>
          <p:nvPr/>
        </p:nvCxnSpPr>
        <p:spPr>
          <a:xfrm>
            <a:off x="4499992" y="2329840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8" idx="2"/>
            <a:endCxn id="9" idx="0"/>
          </p:cNvCxnSpPr>
          <p:nvPr/>
        </p:nvCxnSpPr>
        <p:spPr>
          <a:xfrm>
            <a:off x="4499992" y="3625984"/>
            <a:ext cx="0" cy="595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-36512" y="1556792"/>
            <a:ext cx="21957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Transposition</a:t>
            </a:r>
            <a:r>
              <a:rPr lang="en-US" altLang="zh-TW" dirty="0" smtClean="0"/>
              <a:t> distance =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5229200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transposition </a:t>
            </a:r>
            <a:r>
              <a:rPr lang="en-US" altLang="zh-TW" i="1" dirty="0"/>
              <a:t>τ </a:t>
            </a:r>
            <a:r>
              <a:rPr lang="en-US" altLang="zh-TW" dirty="0"/>
              <a:t>(</a:t>
            </a:r>
            <a:r>
              <a:rPr lang="en-US" altLang="zh-TW" i="1" dirty="0"/>
              <a:t>i, j, k</a:t>
            </a:r>
            <a:r>
              <a:rPr lang="en-US" altLang="zh-TW" dirty="0"/>
              <a:t>) (1 </a:t>
            </a:r>
            <a:r>
              <a:rPr lang="en-US" altLang="zh-TW" i="1" dirty="0"/>
              <a:t>≤ i &lt; j &lt; k ≤ n </a:t>
            </a:r>
            <a:r>
              <a:rPr lang="en-US" altLang="zh-TW" dirty="0"/>
              <a:t>+ 1) transforms the permutation</a:t>
            </a:r>
          </a:p>
          <a:p>
            <a:r>
              <a:rPr lang="en-US" altLang="zh-TW" i="1" dirty="0"/>
              <a:t>π </a:t>
            </a:r>
            <a:r>
              <a:rPr lang="en-US" altLang="zh-TW" dirty="0"/>
              <a:t>of </a:t>
            </a:r>
            <a:r>
              <a:rPr lang="en-US" altLang="zh-TW" i="1" dirty="0"/>
              <a:t>{</a:t>
            </a:r>
            <a:r>
              <a:rPr lang="en-US" altLang="zh-TW" dirty="0"/>
              <a:t>1</a:t>
            </a:r>
            <a:r>
              <a:rPr lang="en-US" altLang="zh-TW" i="1" dirty="0"/>
              <a:t>, </a:t>
            </a:r>
            <a:r>
              <a:rPr lang="en-US" altLang="zh-TW" dirty="0"/>
              <a:t>2</a:t>
            </a:r>
            <a:r>
              <a:rPr lang="en-US" altLang="zh-TW" i="1" dirty="0"/>
              <a:t>, . . . , n} </a:t>
            </a:r>
            <a:r>
              <a:rPr lang="en-US" altLang="zh-TW" dirty="0"/>
              <a:t>into </a:t>
            </a:r>
            <a:r>
              <a:rPr lang="en-US" altLang="zh-TW" i="1" dirty="0"/>
              <a:t>π</a:t>
            </a:r>
            <a:r>
              <a:rPr lang="en-US" altLang="zh-TW" dirty="0"/>
              <a:t>, where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17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lower </a:t>
            </a:r>
            <a:r>
              <a:rPr lang="en-US" altLang="zh-TW" dirty="0" smtClean="0"/>
              <a:t>bound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dirty="0"/>
              <a:t>r</a:t>
            </a:r>
            <a:r>
              <a:rPr lang="en-US" altLang="zh-TW" dirty="0" smtClean="0"/>
              <a:t>eversal </a:t>
            </a:r>
            <a:r>
              <a:rPr lang="en-US" altLang="zh-TW" dirty="0"/>
              <a:t>distance (</a:t>
            </a:r>
            <a:r>
              <a:rPr lang="en-US" altLang="zh-TW" dirty="0" smtClean="0"/>
              <a:t>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125724"/>
            <a:ext cx="8568952" cy="1615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9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050660"/>
              </p:ext>
            </p:extLst>
          </p:nvPr>
        </p:nvGraphicFramePr>
        <p:xfrm>
          <a:off x="323528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396558"/>
              </p:ext>
            </p:extLst>
          </p:nvPr>
        </p:nvGraphicFramePr>
        <p:xfrm>
          <a:off x="323528" y="256490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992495"/>
              </p:ext>
            </p:extLst>
          </p:nvPr>
        </p:nvGraphicFramePr>
        <p:xfrm>
          <a:off x="6516216" y="836712"/>
          <a:ext cx="2448273" cy="41093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6091"/>
                <a:gridCol w="816091"/>
                <a:gridCol w="816091"/>
              </a:tblGrid>
              <a:tr h="336702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10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6687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29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lower bound</a:t>
            </a:r>
            <a:r>
              <a:rPr lang="zh-TW" altLang="en-US" dirty="0"/>
              <a:t> </a:t>
            </a:r>
            <a:r>
              <a:rPr lang="en-US" altLang="zh-TW" dirty="0"/>
              <a:t>of reversal distance 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21" y="2348880"/>
            <a:ext cx="9338535" cy="913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1088"/>
            <a:ext cx="78295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向下箭號 5"/>
          <p:cNvSpPr/>
          <p:nvPr/>
        </p:nvSpPr>
        <p:spPr>
          <a:xfrm>
            <a:off x="4283968" y="342900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57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upper bound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dirty="0"/>
              <a:t>r</a:t>
            </a:r>
            <a:r>
              <a:rPr lang="en-US" altLang="zh-TW" dirty="0" smtClean="0"/>
              <a:t>eversal </a:t>
            </a:r>
            <a:r>
              <a:rPr lang="en-US" altLang="zh-TW" dirty="0"/>
              <a:t>distance (</a:t>
            </a:r>
            <a:r>
              <a:rPr lang="en-US" altLang="zh-TW" dirty="0" smtClean="0"/>
              <a:t>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4" y="2348880"/>
            <a:ext cx="9062525" cy="1975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251520" y="1412776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Define </a:t>
            </a:r>
            <a:r>
              <a:rPr lang="en-US" altLang="zh-TW" i="1" dirty="0" err="1"/>
              <a:t>lcp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and </a:t>
            </a:r>
            <a:r>
              <a:rPr lang="en-US" altLang="zh-TW" i="1" dirty="0" err="1"/>
              <a:t>lcs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to be the lengths of the longest </a:t>
            </a:r>
            <a:r>
              <a:rPr lang="en-US" altLang="zh-TW" dirty="0" smtClean="0"/>
              <a:t>common prefix and the </a:t>
            </a:r>
            <a:r>
              <a:rPr lang="en-US" altLang="zh-TW" dirty="0"/>
              <a:t>longest common suffix, respectively, of </a:t>
            </a:r>
            <a:r>
              <a:rPr lang="en-US" altLang="zh-TW" i="1" dirty="0"/>
              <a:t>S </a:t>
            </a:r>
            <a:r>
              <a:rPr lang="en-US" altLang="zh-TW" dirty="0"/>
              <a:t>and </a:t>
            </a:r>
            <a:r>
              <a:rPr lang="en-US" altLang="zh-TW" i="1" dirty="0" smtClean="0"/>
              <a:t>T.</a:t>
            </a:r>
            <a:endParaRPr lang="zh-TW" altLang="en-US" dirty="0"/>
          </a:p>
        </p:txBody>
      </p:sp>
      <p:sp>
        <p:nvSpPr>
          <p:cNvPr id="12" name="向下箭號 11"/>
          <p:cNvSpPr/>
          <p:nvPr/>
        </p:nvSpPr>
        <p:spPr>
          <a:xfrm>
            <a:off x="4283968" y="4324747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6" y="5351748"/>
            <a:ext cx="8769102" cy="1025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58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upper bound</a:t>
            </a:r>
            <a:r>
              <a:rPr lang="zh-TW" altLang="en-US" dirty="0"/>
              <a:t> </a:t>
            </a:r>
            <a:r>
              <a:rPr lang="en-US" altLang="zh-TW" dirty="0"/>
              <a:t>of reversal distance 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9860788"/>
              </p:ext>
            </p:extLst>
          </p:nvPr>
        </p:nvGraphicFramePr>
        <p:xfrm>
          <a:off x="179515" y="1628800"/>
          <a:ext cx="385242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42"/>
                <a:gridCol w="385242"/>
                <a:gridCol w="385242"/>
                <a:gridCol w="385242"/>
                <a:gridCol w="385242"/>
                <a:gridCol w="385242"/>
                <a:gridCol w="385242"/>
                <a:gridCol w="385242"/>
                <a:gridCol w="385242"/>
                <a:gridCol w="385242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271583"/>
              </p:ext>
            </p:extLst>
          </p:nvPr>
        </p:nvGraphicFramePr>
        <p:xfrm>
          <a:off x="4788024" y="1628800"/>
          <a:ext cx="349959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335"/>
                <a:gridCol w="338251"/>
                <a:gridCol w="338251"/>
                <a:gridCol w="338251"/>
                <a:gridCol w="338251"/>
                <a:gridCol w="338251"/>
                <a:gridCol w="338251"/>
                <a:gridCol w="338251"/>
                <a:gridCol w="338251"/>
                <a:gridCol w="338251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07504" y="2129559"/>
                <a:ext cx="7560840" cy="6707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i="1" dirty="0" smtClean="0"/>
                  <a:t>Case </a:t>
                </a:r>
                <a:r>
                  <a:rPr lang="en-US" altLang="zh-TW" dirty="0"/>
                  <a:t>(v). </a:t>
                </a:r>
                <a:r>
                  <a:rPr lang="en-US" altLang="zh-TW" i="1" dirty="0"/>
                  <a:t>S</a:t>
                </a:r>
                <a:r>
                  <a:rPr lang="en-US" altLang="zh-TW" dirty="0"/>
                  <a:t>(2) =1: then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=01 </a:t>
                </a:r>
                <a:r>
                  <a:rPr lang="en-US" altLang="zh-TW" i="1" dirty="0"/>
                  <a:t>. . . </a:t>
                </a:r>
                <a:r>
                  <a:rPr lang="en-US" altLang="zh-TW" dirty="0"/>
                  <a:t>0 and </a:t>
                </a:r>
                <a:r>
                  <a:rPr lang="en-US" altLang="zh-TW" i="1" dirty="0"/>
                  <a:t>T </a:t>
                </a:r>
                <a:r>
                  <a:rPr lang="en-US" altLang="zh-TW" dirty="0"/>
                  <a:t>=11 </a:t>
                </a:r>
                <a:r>
                  <a:rPr lang="en-US" altLang="zh-TW" i="1" dirty="0"/>
                  <a:t>. . . </a:t>
                </a:r>
                <a:r>
                  <a:rPr lang="en-US" altLang="zh-TW" dirty="0"/>
                  <a:t>11, so, by considering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and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this case can be dealt with in a similar way to Case (ii).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129559"/>
                <a:ext cx="7560840" cy="670761"/>
              </a:xfrm>
              <a:prstGeom prst="rect">
                <a:avLst/>
              </a:prstGeom>
              <a:blipFill rotWithShape="1">
                <a:blip r:embed="rId2"/>
                <a:stretch>
                  <a:fillRect l="-726" t="-4545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07504" y="3861048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Case </a:t>
            </a:r>
            <a:r>
              <a:rPr lang="en-US" altLang="zh-TW" dirty="0"/>
              <a:t>(ii). </a:t>
            </a:r>
            <a:r>
              <a:rPr lang="en-US" altLang="zh-TW" i="1" dirty="0"/>
              <a:t>T</a:t>
            </a:r>
            <a:r>
              <a:rPr lang="en-US" altLang="zh-TW" dirty="0"/>
              <a:t>(2) =0: then </a:t>
            </a:r>
            <a:r>
              <a:rPr lang="en-US" altLang="zh-TW" i="1" dirty="0"/>
              <a:t>S </a:t>
            </a:r>
            <a:r>
              <a:rPr lang="en-US" altLang="zh-TW" dirty="0"/>
              <a:t>= 0</a:t>
            </a:r>
            <a:r>
              <a:rPr lang="en-US" altLang="zh-TW" i="1" dirty="0"/>
              <a:t>. . . </a:t>
            </a:r>
            <a:r>
              <a:rPr lang="en-US" altLang="zh-TW" dirty="0"/>
              <a:t>0 and </a:t>
            </a:r>
            <a:r>
              <a:rPr lang="en-US" altLang="zh-TW" i="1" dirty="0"/>
              <a:t>T </a:t>
            </a:r>
            <a:r>
              <a:rPr lang="en-US" altLang="zh-TW" dirty="0"/>
              <a:t>=10 </a:t>
            </a:r>
            <a:r>
              <a:rPr lang="en-US" altLang="zh-TW" i="1" dirty="0"/>
              <a:t>. . . </a:t>
            </a:r>
            <a:r>
              <a:rPr lang="en-US" altLang="zh-TW" dirty="0"/>
              <a:t>1, so take </a:t>
            </a:r>
            <a:r>
              <a:rPr lang="en-US" altLang="zh-TW" i="1" dirty="0"/>
              <a:t>S </a:t>
            </a:r>
            <a:r>
              <a:rPr lang="en-US" altLang="zh-TW" dirty="0"/>
              <a:t>=[0 +1] </a:t>
            </a:r>
            <a:r>
              <a:rPr lang="en-US" altLang="zh-TW" i="1" dirty="0"/>
              <a:t>. . . </a:t>
            </a:r>
            <a:r>
              <a:rPr lang="en-US" altLang="zh-TW" dirty="0"/>
              <a:t>0.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07049852"/>
                  </p:ext>
                </p:extLst>
              </p:nvPr>
            </p:nvGraphicFramePr>
            <p:xfrm>
              <a:off x="4572000" y="3429000"/>
              <a:ext cx="3960442" cy="4303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37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</a:tblGrid>
                  <a:tr h="43034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07049852"/>
                  </p:ext>
                </p:extLst>
              </p:nvPr>
            </p:nvGraphicFramePr>
            <p:xfrm>
              <a:off x="4572000" y="3429000"/>
              <a:ext cx="3960442" cy="4303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0037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  <a:gridCol w="400045"/>
                  </a:tblGrid>
                  <a:tr h="43034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286" r="-1001695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64270869"/>
                  </p:ext>
                </p:extLst>
              </p:nvPr>
            </p:nvGraphicFramePr>
            <p:xfrm>
              <a:off x="138449" y="3429000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6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dirty="0" smtClean="0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64270869"/>
                  </p:ext>
                </p:extLst>
              </p:nvPr>
            </p:nvGraphicFramePr>
            <p:xfrm>
              <a:off x="138449" y="3429000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15" t="-7692" r="-895455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24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128910"/>
              </p:ext>
            </p:extLst>
          </p:nvPr>
        </p:nvGraphicFramePr>
        <p:xfrm>
          <a:off x="142411" y="5013176"/>
          <a:ext cx="402452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09537"/>
              </p:ext>
            </p:extLst>
          </p:nvPr>
        </p:nvGraphicFramePr>
        <p:xfrm>
          <a:off x="4716016" y="5013176"/>
          <a:ext cx="400365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向下箭號 32"/>
          <p:cNvSpPr/>
          <p:nvPr/>
        </p:nvSpPr>
        <p:spPr>
          <a:xfrm>
            <a:off x="4223326" y="4365104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34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upper bound</a:t>
            </a:r>
            <a:r>
              <a:rPr lang="zh-TW" altLang="en-US" dirty="0"/>
              <a:t> </a:t>
            </a:r>
            <a:r>
              <a:rPr lang="en-US" altLang="zh-TW" dirty="0"/>
              <a:t>of reversal distance 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24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1350223"/>
              </p:ext>
            </p:extLst>
          </p:nvPr>
        </p:nvGraphicFramePr>
        <p:xfrm>
          <a:off x="322435" y="1700808"/>
          <a:ext cx="402452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785744"/>
              </p:ext>
            </p:extLst>
          </p:nvPr>
        </p:nvGraphicFramePr>
        <p:xfrm>
          <a:off x="4856792" y="1700808"/>
          <a:ext cx="400365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7172427"/>
              </p:ext>
            </p:extLst>
          </p:nvPr>
        </p:nvGraphicFramePr>
        <p:xfrm>
          <a:off x="403464" y="3356992"/>
          <a:ext cx="4024520" cy="43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  <a:gridCol w="402452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69899"/>
              </p:ext>
            </p:extLst>
          </p:nvPr>
        </p:nvGraphicFramePr>
        <p:xfrm>
          <a:off x="4816822" y="3392800"/>
          <a:ext cx="400365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  <a:gridCol w="400365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strike="sngStrik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trike="sngStrik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strike="sngStrik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323528" y="2348880"/>
            <a:ext cx="84170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Case </a:t>
            </a:r>
            <a:r>
              <a:rPr lang="en-US" altLang="zh-TW" dirty="0"/>
              <a:t>(ii). </a:t>
            </a:r>
            <a:r>
              <a:rPr lang="en-US" altLang="zh-TW" i="1" dirty="0"/>
              <a:t>T</a:t>
            </a:r>
            <a:r>
              <a:rPr lang="en-US" altLang="zh-TW" dirty="0"/>
              <a:t>(2) =0: then </a:t>
            </a:r>
            <a:r>
              <a:rPr lang="en-US" altLang="zh-TW" i="1" dirty="0"/>
              <a:t>S </a:t>
            </a:r>
            <a:r>
              <a:rPr lang="en-US" altLang="zh-TW" dirty="0"/>
              <a:t>= 0</a:t>
            </a:r>
            <a:r>
              <a:rPr lang="en-US" altLang="zh-TW" i="1" dirty="0"/>
              <a:t>. . . </a:t>
            </a:r>
            <a:r>
              <a:rPr lang="en-US" altLang="zh-TW" dirty="0"/>
              <a:t>0 and </a:t>
            </a:r>
            <a:r>
              <a:rPr lang="en-US" altLang="zh-TW" i="1" dirty="0"/>
              <a:t>T </a:t>
            </a:r>
            <a:r>
              <a:rPr lang="en-US" altLang="zh-TW" dirty="0"/>
              <a:t>=10 </a:t>
            </a:r>
            <a:r>
              <a:rPr lang="en-US" altLang="zh-TW" i="1" dirty="0"/>
              <a:t>. . . </a:t>
            </a:r>
            <a:r>
              <a:rPr lang="en-US" altLang="zh-TW" dirty="0"/>
              <a:t>1, so take </a:t>
            </a:r>
            <a:r>
              <a:rPr lang="en-US" altLang="zh-TW" i="1" dirty="0"/>
              <a:t>S </a:t>
            </a:r>
            <a:r>
              <a:rPr lang="en-US" altLang="zh-TW" dirty="0"/>
              <a:t>=[0 +1] </a:t>
            </a:r>
            <a:r>
              <a:rPr lang="en-US" altLang="zh-TW" i="1" dirty="0"/>
              <a:t>. . . </a:t>
            </a:r>
            <a:r>
              <a:rPr lang="en-US" altLang="zh-TW" dirty="0"/>
              <a:t>0.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9413972"/>
                  </p:ext>
                </p:extLst>
              </p:nvPr>
            </p:nvGraphicFramePr>
            <p:xfrm>
              <a:off x="393860" y="4005064"/>
              <a:ext cx="4024520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9413972"/>
                  </p:ext>
                </p:extLst>
              </p:nvPr>
            </p:nvGraphicFramePr>
            <p:xfrm>
              <a:off x="393860" y="4005064"/>
              <a:ext cx="4024520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15" t="-2817" r="-900000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617038"/>
                  </p:ext>
                </p:extLst>
              </p:nvPr>
            </p:nvGraphicFramePr>
            <p:xfrm>
              <a:off x="4788024" y="3968864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6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dirty="0" smtClean="0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617038"/>
                  </p:ext>
                </p:extLst>
              </p:nvPr>
            </p:nvGraphicFramePr>
            <p:xfrm>
              <a:off x="4788024" y="3968864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7692" r="-89697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5792977"/>
                  </p:ext>
                </p:extLst>
              </p:nvPr>
            </p:nvGraphicFramePr>
            <p:xfrm>
              <a:off x="395536" y="5445224"/>
              <a:ext cx="4024520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</a:tblGrid>
                  <a:tr h="4320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smtClean="0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45792977"/>
                  </p:ext>
                </p:extLst>
              </p:nvPr>
            </p:nvGraphicFramePr>
            <p:xfrm>
              <a:off x="395536" y="5445224"/>
              <a:ext cx="4024520" cy="432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  <a:gridCol w="402452"/>
                  </a:tblGrid>
                  <a:tr h="432048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15" t="-2817" r="-901515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[0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1]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82944410"/>
                  </p:ext>
                </p:extLst>
              </p:nvPr>
            </p:nvGraphicFramePr>
            <p:xfrm>
              <a:off x="4736890" y="5409024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60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TW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b="0" i="1" dirty="0" smtClean="0">
                                      <a:latin typeface="Cambria Math"/>
                                    </a:rPr>
                                    <m:t>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altLang="zh-TW" sz="2000" dirty="0" smtClean="0"/>
                            <a:t>:</a:t>
                          </a:r>
                          <a:endParaRPr lang="zh-TW" altLang="en-US" sz="20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內容版面配置區 5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82944410"/>
                  </p:ext>
                </p:extLst>
              </p:nvPr>
            </p:nvGraphicFramePr>
            <p:xfrm>
              <a:off x="4736890" y="5409024"/>
              <a:ext cx="4003650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  <a:gridCol w="400365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7692" r="-895455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strike="sngStrike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zh-TW" altLang="en-US" sz="2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strike="sngStrike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2000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向下箭號 7"/>
          <p:cNvSpPr/>
          <p:nvPr/>
        </p:nvSpPr>
        <p:spPr>
          <a:xfrm>
            <a:off x="4427984" y="2718212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55062" y="4581128"/>
            <a:ext cx="7330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Case </a:t>
            </a:r>
            <a:r>
              <a:rPr lang="en-US" altLang="zh-TW" dirty="0"/>
              <a:t>(i).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=1: then </a:t>
            </a:r>
            <a:r>
              <a:rPr lang="en-US" altLang="zh-TW" i="1" dirty="0"/>
              <a:t>S </a:t>
            </a:r>
            <a:r>
              <a:rPr lang="en-US" altLang="zh-TW" dirty="0"/>
              <a:t>= 0</a:t>
            </a:r>
            <a:r>
              <a:rPr lang="en-US" altLang="zh-TW" i="1" dirty="0"/>
              <a:t>. . . </a:t>
            </a:r>
            <a:r>
              <a:rPr lang="en-US" altLang="zh-TW" dirty="0"/>
              <a:t>1 and </a:t>
            </a:r>
            <a:r>
              <a:rPr lang="en-US" altLang="zh-TW" i="1" dirty="0"/>
              <a:t>T </a:t>
            </a:r>
            <a:r>
              <a:rPr lang="en-US" altLang="zh-TW" dirty="0"/>
              <a:t>= 1</a:t>
            </a:r>
            <a:r>
              <a:rPr lang="en-US" altLang="zh-TW" i="1" dirty="0"/>
              <a:t>. . . </a:t>
            </a:r>
            <a:r>
              <a:rPr lang="en-US" altLang="zh-TW" dirty="0"/>
              <a:t>0, so take </a:t>
            </a:r>
            <a:r>
              <a:rPr lang="en-US" altLang="zh-TW" i="1" dirty="0"/>
              <a:t>S </a:t>
            </a:r>
            <a:r>
              <a:rPr lang="en-US" altLang="zh-TW" dirty="0"/>
              <a:t>=[0 </a:t>
            </a:r>
            <a:r>
              <a:rPr lang="en-US" altLang="zh-TW" i="1" dirty="0"/>
              <a:t>. . . </a:t>
            </a:r>
            <a:r>
              <a:rPr lang="en-US" altLang="zh-TW" dirty="0"/>
              <a:t>1].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357921" y="5805151"/>
            <a:ext cx="7330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Case </a:t>
            </a:r>
            <a:r>
              <a:rPr lang="en-US" altLang="zh-TW" dirty="0"/>
              <a:t>(i). </a:t>
            </a:r>
            <a:r>
              <a:rPr lang="en-US" altLang="zh-TW" i="1" dirty="0"/>
              <a:t>S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 =1: then </a:t>
            </a:r>
            <a:r>
              <a:rPr lang="en-US" altLang="zh-TW" i="1" dirty="0"/>
              <a:t>S </a:t>
            </a:r>
            <a:r>
              <a:rPr lang="en-US" altLang="zh-TW" dirty="0"/>
              <a:t>= 0</a:t>
            </a:r>
            <a:r>
              <a:rPr lang="en-US" altLang="zh-TW" i="1" dirty="0"/>
              <a:t>. . . </a:t>
            </a:r>
            <a:r>
              <a:rPr lang="en-US" altLang="zh-TW" dirty="0"/>
              <a:t>1 and </a:t>
            </a:r>
            <a:r>
              <a:rPr lang="en-US" altLang="zh-TW" i="1" dirty="0"/>
              <a:t>T </a:t>
            </a:r>
            <a:r>
              <a:rPr lang="en-US" altLang="zh-TW" dirty="0"/>
              <a:t>= 1</a:t>
            </a:r>
            <a:r>
              <a:rPr lang="en-US" altLang="zh-TW" i="1" dirty="0"/>
              <a:t>. . . </a:t>
            </a:r>
            <a:r>
              <a:rPr lang="en-US" altLang="zh-TW" dirty="0"/>
              <a:t>0, so take </a:t>
            </a:r>
            <a:r>
              <a:rPr lang="en-US" altLang="zh-TW" i="1" dirty="0"/>
              <a:t>S </a:t>
            </a:r>
            <a:r>
              <a:rPr lang="en-US" altLang="zh-TW" dirty="0"/>
              <a:t>=[0 </a:t>
            </a:r>
            <a:r>
              <a:rPr lang="en-US" altLang="zh-TW" i="1" dirty="0"/>
              <a:t>. . . </a:t>
            </a:r>
            <a:r>
              <a:rPr lang="en-US" altLang="zh-TW" dirty="0"/>
              <a:t>1].</a:t>
            </a:r>
            <a:endParaRPr lang="zh-TW" altLang="en-US" dirty="0"/>
          </a:p>
        </p:txBody>
      </p:sp>
      <p:sp>
        <p:nvSpPr>
          <p:cNvPr id="33" name="向下箭號 32"/>
          <p:cNvSpPr/>
          <p:nvPr/>
        </p:nvSpPr>
        <p:spPr>
          <a:xfrm>
            <a:off x="4397211" y="4940430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508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upper bound</a:t>
            </a:r>
            <a:r>
              <a:rPr lang="zh-TW" altLang="en-US" dirty="0"/>
              <a:t> </a:t>
            </a:r>
            <a:r>
              <a:rPr lang="en-US" altLang="zh-TW" dirty="0"/>
              <a:t>of reversal distance 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451089"/>
              </p:ext>
            </p:extLst>
          </p:nvPr>
        </p:nvGraphicFramePr>
        <p:xfrm>
          <a:off x="2411755" y="5013176"/>
          <a:ext cx="4176469" cy="50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9"/>
                <a:gridCol w="515028"/>
                <a:gridCol w="403674"/>
                <a:gridCol w="403674"/>
                <a:gridCol w="403674"/>
                <a:gridCol w="403674"/>
                <a:gridCol w="403674"/>
                <a:gridCol w="403674"/>
                <a:gridCol w="403674"/>
                <a:gridCol w="403674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874371"/>
              </p:ext>
            </p:extLst>
          </p:nvPr>
        </p:nvGraphicFramePr>
        <p:xfrm>
          <a:off x="2411756" y="4221088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rgbClr val="FF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sz="2000" smtClean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5894035"/>
              </p:ext>
            </p:extLst>
          </p:nvPr>
        </p:nvGraphicFramePr>
        <p:xfrm>
          <a:off x="2411756" y="3356992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[1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0]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6399676"/>
              </p:ext>
            </p:extLst>
          </p:nvPr>
        </p:nvGraphicFramePr>
        <p:xfrm>
          <a:off x="2411756" y="2492896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[1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0]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754564"/>
              </p:ext>
            </p:extLst>
          </p:nvPr>
        </p:nvGraphicFramePr>
        <p:xfrm>
          <a:off x="2411756" y="1628800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1]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664508"/>
            <a:ext cx="8769102" cy="1025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8733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upper bound</a:t>
            </a:r>
            <a:r>
              <a:rPr lang="zh-TW" altLang="en-US" dirty="0"/>
              <a:t> </a:t>
            </a:r>
            <a:r>
              <a:rPr lang="en-US" altLang="zh-TW" dirty="0"/>
              <a:t>of reversal distance 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768749"/>
              </p:ext>
            </p:extLst>
          </p:nvPr>
        </p:nvGraphicFramePr>
        <p:xfrm>
          <a:off x="2411755" y="5013176"/>
          <a:ext cx="4176469" cy="50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9"/>
                <a:gridCol w="515028"/>
                <a:gridCol w="403674"/>
                <a:gridCol w="403674"/>
                <a:gridCol w="403674"/>
                <a:gridCol w="403674"/>
                <a:gridCol w="403674"/>
                <a:gridCol w="403674"/>
                <a:gridCol w="403674"/>
                <a:gridCol w="403674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5126126"/>
              </p:ext>
            </p:extLst>
          </p:nvPr>
        </p:nvGraphicFramePr>
        <p:xfrm>
          <a:off x="2411756" y="4221088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smtClean="0">
                          <a:solidFill>
                            <a:srgbClr val="FF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sz="2000" smtClean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408575"/>
              </p:ext>
            </p:extLst>
          </p:nvPr>
        </p:nvGraphicFramePr>
        <p:xfrm>
          <a:off x="2411756" y="3356992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[1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0]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931541"/>
              </p:ext>
            </p:extLst>
          </p:nvPr>
        </p:nvGraphicFramePr>
        <p:xfrm>
          <a:off x="2411756" y="2492896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[1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</a:rPr>
                        <a:t>0]</a:t>
                      </a:r>
                      <a:endParaRPr lang="zh-TW" altLang="en-US" sz="20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3849395"/>
              </p:ext>
            </p:extLst>
          </p:nvPr>
        </p:nvGraphicFramePr>
        <p:xfrm>
          <a:off x="2411756" y="1628800"/>
          <a:ext cx="4176460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46"/>
                <a:gridCol w="417646"/>
                <a:gridCol w="417646"/>
                <a:gridCol w="475254"/>
                <a:gridCol w="360038"/>
                <a:gridCol w="417646"/>
                <a:gridCol w="417646"/>
                <a:gridCol w="417646"/>
                <a:gridCol w="417646"/>
                <a:gridCol w="41764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1]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664508"/>
            <a:ext cx="8769102" cy="1025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42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Sorting by </a:t>
            </a:r>
            <a:r>
              <a:rPr lang="en-US" altLang="zh-TW" dirty="0" smtClean="0"/>
              <a:t>reversals</a:t>
            </a:r>
            <a:br>
              <a:rPr lang="en-US" altLang="zh-TW" dirty="0" smtClean="0"/>
            </a:br>
            <a:r>
              <a:rPr lang="en-US" altLang="zh-TW" dirty="0"/>
              <a:t>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36268"/>
            <a:ext cx="8077200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95269"/>
              </p:ext>
            </p:extLst>
          </p:nvPr>
        </p:nvGraphicFramePr>
        <p:xfrm>
          <a:off x="2350511" y="1736367"/>
          <a:ext cx="386691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</a:tblGrid>
              <a:tr h="328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2676351"/>
              </p:ext>
            </p:extLst>
          </p:nvPr>
        </p:nvGraphicFramePr>
        <p:xfrm>
          <a:off x="2339752" y="3311696"/>
          <a:ext cx="3949679" cy="4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847"/>
                <a:gridCol w="709708"/>
                <a:gridCol w="709708"/>
                <a:gridCol w="709708"/>
                <a:gridCol w="709708"/>
              </a:tblGrid>
              <a:tr h="4053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55576" y="3851602"/>
            <a:ext cx="705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denotes the number of blocks of zeros contained in </a:t>
            </a:r>
            <a:r>
              <a:rPr lang="en-US" altLang="zh-TW" i="1" dirty="0"/>
              <a:t>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22560" y="1772816"/>
            <a:ext cx="846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732240" y="3347700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smtClean="0"/>
              <a:t>z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) =1</a:t>
            </a:r>
            <a:endParaRPr lang="zh-TW" altLang="en-US" dirty="0"/>
          </a:p>
        </p:txBody>
      </p:sp>
      <p:graphicFrame>
        <p:nvGraphicFramePr>
          <p:cNvPr id="1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7462153"/>
              </p:ext>
            </p:extLst>
          </p:nvPr>
        </p:nvGraphicFramePr>
        <p:xfrm>
          <a:off x="2350511" y="2542334"/>
          <a:ext cx="386691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</a:tblGrid>
              <a:tr h="328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6722560" y="2636912"/>
            <a:ext cx="923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smtClean="0"/>
              <a:t>z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S’</a:t>
            </a:r>
            <a:r>
              <a:rPr lang="en-US" altLang="zh-TW" dirty="0" smtClean="0"/>
              <a:t>) =2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107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lower </a:t>
            </a:r>
            <a:r>
              <a:rPr lang="en-US" altLang="zh-TW" dirty="0" smtClean="0"/>
              <a:t>bound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dirty="0"/>
              <a:t>t</a:t>
            </a:r>
            <a:r>
              <a:rPr lang="en-US" altLang="zh-TW" dirty="0" smtClean="0"/>
              <a:t>ransposition </a:t>
            </a:r>
            <a:r>
              <a:rPr lang="en-US" altLang="zh-TW" dirty="0"/>
              <a:t>distance (</a:t>
            </a:r>
            <a:r>
              <a:rPr lang="en-US" altLang="zh-TW" dirty="0" smtClean="0"/>
              <a:t>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 dirty="0"/>
          </a:p>
        </p:txBody>
      </p:sp>
      <p:graphicFrame>
        <p:nvGraphicFramePr>
          <p:cNvPr id="19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734100"/>
              </p:ext>
            </p:extLst>
          </p:nvPr>
        </p:nvGraphicFramePr>
        <p:xfrm>
          <a:off x="323528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 smtClean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1281383"/>
              </p:ext>
            </p:extLst>
          </p:nvPr>
        </p:nvGraphicFramePr>
        <p:xfrm>
          <a:off x="323528" y="256490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4653136"/>
            <a:ext cx="6334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210582"/>
              </p:ext>
            </p:extLst>
          </p:nvPr>
        </p:nvGraphicFramePr>
        <p:xfrm>
          <a:off x="6228183" y="1340768"/>
          <a:ext cx="1836204" cy="41093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</a:tblGrid>
              <a:tr h="336702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10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687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195736" y="3573016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err="1"/>
              <a:t>bt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888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lower </a:t>
            </a:r>
            <a:r>
              <a:rPr lang="en-US" altLang="zh-TW" dirty="0" smtClean="0"/>
              <a:t>bound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dirty="0"/>
              <a:t>t</a:t>
            </a:r>
            <a:r>
              <a:rPr lang="en-US" altLang="zh-TW" dirty="0" smtClean="0"/>
              <a:t>ransposition </a:t>
            </a:r>
            <a:r>
              <a:rPr lang="en-US" altLang="zh-TW" dirty="0"/>
              <a:t>distance (</a:t>
            </a:r>
            <a:r>
              <a:rPr lang="en-US" altLang="zh-TW" dirty="0" smtClean="0"/>
              <a:t>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13</a:t>
            </a:fld>
            <a:endParaRPr lang="zh-TW" altLang="en-US" dirty="0"/>
          </a:p>
        </p:txBody>
      </p:sp>
      <p:graphicFrame>
        <p:nvGraphicFramePr>
          <p:cNvPr id="19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552646"/>
              </p:ext>
            </p:extLst>
          </p:nvPr>
        </p:nvGraphicFramePr>
        <p:xfrm>
          <a:off x="323528" y="1628800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α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1]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[1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0]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altLang="zh-TW" sz="2000" dirty="0" smtClean="0">
                          <a:solidFill>
                            <a:schemeClr val="tx1"/>
                          </a:solidFill>
                        </a:rPr>
                        <a:t>ω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5102525"/>
              </p:ext>
            </p:extLst>
          </p:nvPr>
        </p:nvGraphicFramePr>
        <p:xfrm>
          <a:off x="323528" y="3559168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04147"/>
              </p:ext>
            </p:extLst>
          </p:nvPr>
        </p:nvGraphicFramePr>
        <p:xfrm>
          <a:off x="7164288" y="1196752"/>
          <a:ext cx="1836204" cy="44077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9051"/>
                <a:gridCol w="459051"/>
                <a:gridCol w="459051"/>
                <a:gridCol w="459051"/>
              </a:tblGrid>
              <a:tr h="336702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S’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l-GR" altLang="zh-TW" sz="2000" baseline="-25000" dirty="0" smtClean="0"/>
                        <a:t>α</a:t>
                      </a:r>
                      <a:r>
                        <a:rPr lang="en-US" altLang="zh-TW" sz="2000" baseline="-25000" dirty="0" smtClean="0"/>
                        <a:t>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00</a:t>
                      </a:r>
                      <a:endParaRPr lang="zh-TW" altLang="en-US" sz="20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01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10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/>
                        <a:t>11</a:t>
                      </a:r>
                      <a:endParaRPr lang="zh-TW" altLang="en-US" sz="20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349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6872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f</a:t>
                      </a:r>
                      <a:r>
                        <a:rPr lang="en-US" altLang="zh-TW" sz="2000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l-GR" altLang="zh-TW" sz="2000" baseline="-25000" dirty="0" smtClean="0">
                          <a:solidFill>
                            <a:schemeClr val="bg1"/>
                          </a:solidFill>
                        </a:rPr>
                        <a:t>ω</a:t>
                      </a: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913609"/>
              </p:ext>
            </p:extLst>
          </p:nvPr>
        </p:nvGraphicFramePr>
        <p:xfrm>
          <a:off x="323528" y="2564904"/>
          <a:ext cx="460851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120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  <a:gridCol w="481799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α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000" dirty="0" smtClean="0">
                          <a:solidFill>
                            <a:sysClr val="windowText" lastClr="000000"/>
                          </a:solidFill>
                        </a:rPr>
                        <a:t>ω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4" y="4525491"/>
            <a:ext cx="650557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線接點 6"/>
          <p:cNvCxnSpPr/>
          <p:nvPr/>
        </p:nvCxnSpPr>
        <p:spPr>
          <a:xfrm>
            <a:off x="1691680" y="3068960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2627784" y="3068960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3563888" y="3068960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1691680" y="2132856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2627784" y="2132856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563888" y="2132856"/>
            <a:ext cx="72008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3256"/>
            <a:ext cx="76104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797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upper bound</a:t>
            </a:r>
            <a:r>
              <a:rPr lang="zh-TW" altLang="en-US" dirty="0" smtClean="0"/>
              <a:t> </a:t>
            </a:r>
            <a:r>
              <a:rPr lang="en-US" altLang="zh-TW" dirty="0" smtClean="0"/>
              <a:t>of </a:t>
            </a:r>
            <a:r>
              <a:rPr lang="en-US" altLang="zh-TW" dirty="0"/>
              <a:t>transposition</a:t>
            </a:r>
            <a:r>
              <a:rPr lang="en-US" altLang="zh-TW" dirty="0" smtClean="0"/>
              <a:t> </a:t>
            </a:r>
            <a:r>
              <a:rPr lang="en-US" altLang="zh-TW" dirty="0"/>
              <a:t>distance (</a:t>
            </a:r>
            <a:r>
              <a:rPr lang="en-US" altLang="zh-TW" dirty="0" smtClean="0"/>
              <a:t>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51520" y="1412776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Define </a:t>
            </a:r>
            <a:r>
              <a:rPr lang="en-US" altLang="zh-TW" i="1" dirty="0" err="1"/>
              <a:t>lcp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and </a:t>
            </a:r>
            <a:r>
              <a:rPr lang="en-US" altLang="zh-TW" i="1" dirty="0" err="1"/>
              <a:t>lcs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to be the lengths of the longest </a:t>
            </a:r>
            <a:r>
              <a:rPr lang="en-US" altLang="zh-TW" dirty="0" smtClean="0"/>
              <a:t>common prefix and the </a:t>
            </a:r>
            <a:r>
              <a:rPr lang="en-US" altLang="zh-TW" dirty="0"/>
              <a:t>longest common suffix, respectively, of </a:t>
            </a:r>
            <a:r>
              <a:rPr lang="en-US" altLang="zh-TW" i="1" dirty="0"/>
              <a:t>S </a:t>
            </a:r>
            <a:r>
              <a:rPr lang="en-US" altLang="zh-TW" dirty="0"/>
              <a:t>and </a:t>
            </a:r>
            <a:r>
              <a:rPr lang="en-US" altLang="zh-TW" i="1" dirty="0" smtClean="0"/>
              <a:t>T.</a:t>
            </a:r>
            <a:endParaRPr lang="zh-TW" altLang="en-US" dirty="0"/>
          </a:p>
        </p:txBody>
      </p:sp>
      <p:sp>
        <p:nvSpPr>
          <p:cNvPr id="12" name="向下箭號 11"/>
          <p:cNvSpPr/>
          <p:nvPr/>
        </p:nvSpPr>
        <p:spPr>
          <a:xfrm>
            <a:off x="4283968" y="4324747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76872"/>
            <a:ext cx="90011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" y="5445540"/>
            <a:ext cx="76866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354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Sorting by transposition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/>
              <a:t>(binary strings)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9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240650"/>
              </p:ext>
            </p:extLst>
          </p:nvPr>
        </p:nvGraphicFramePr>
        <p:xfrm>
          <a:off x="2350511" y="1736367"/>
          <a:ext cx="386691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</a:tblGrid>
              <a:tr h="328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[0]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[1]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645309"/>
              </p:ext>
            </p:extLst>
          </p:nvPr>
        </p:nvGraphicFramePr>
        <p:xfrm>
          <a:off x="2339752" y="3311696"/>
          <a:ext cx="3949679" cy="4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847"/>
                <a:gridCol w="709708"/>
                <a:gridCol w="709708"/>
                <a:gridCol w="709708"/>
                <a:gridCol w="709708"/>
              </a:tblGrid>
              <a:tr h="4053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T: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55576" y="3851602"/>
            <a:ext cx="7056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i="1" dirty="0"/>
              <a:t>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denotes the number of blocks of zeros contained in </a:t>
            </a:r>
            <a:r>
              <a:rPr lang="en-US" altLang="zh-TW" i="1" dirty="0"/>
              <a:t>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722560" y="1772816"/>
            <a:ext cx="846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z</a:t>
            </a:r>
            <a:r>
              <a:rPr lang="en-US" altLang="zh-TW" dirty="0"/>
              <a:t>(</a:t>
            </a:r>
            <a:r>
              <a:rPr lang="en-US" altLang="zh-TW" i="1" dirty="0"/>
              <a:t>S</a:t>
            </a:r>
            <a:r>
              <a:rPr lang="en-US" altLang="zh-TW" dirty="0"/>
              <a:t>) 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732240" y="3347700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smtClean="0"/>
              <a:t>z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T</a:t>
            </a:r>
            <a:r>
              <a:rPr lang="en-US" altLang="zh-TW" dirty="0" smtClean="0"/>
              <a:t>) =1</a:t>
            </a:r>
            <a:endParaRPr lang="zh-TW" altLang="en-US" dirty="0"/>
          </a:p>
        </p:txBody>
      </p:sp>
      <p:graphicFrame>
        <p:nvGraphicFramePr>
          <p:cNvPr id="1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137449"/>
              </p:ext>
            </p:extLst>
          </p:nvPr>
        </p:nvGraphicFramePr>
        <p:xfrm>
          <a:off x="2350511" y="2542334"/>
          <a:ext cx="386691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569"/>
                <a:gridCol w="694836"/>
                <a:gridCol w="694836"/>
                <a:gridCol w="694836"/>
                <a:gridCol w="694836"/>
              </a:tblGrid>
              <a:tr h="3286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S’: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[1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1]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[0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0]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6722560" y="2636912"/>
            <a:ext cx="923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smtClean="0"/>
              <a:t>z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S’</a:t>
            </a:r>
            <a:r>
              <a:rPr lang="en-US" altLang="zh-TW" dirty="0" smtClean="0"/>
              <a:t>) =1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4174951"/>
            <a:ext cx="8677275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069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NP-completeness of reversal distance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500" dirty="0"/>
              <a:t>We begin with a </a:t>
            </a:r>
            <a:r>
              <a:rPr lang="en-US" altLang="zh-TW" sz="1500" dirty="0" smtClean="0"/>
              <a:t>definition of </a:t>
            </a:r>
            <a:r>
              <a:rPr lang="en-US" altLang="zh-TW" sz="1500" dirty="0"/>
              <a:t>the reversal distance problem as a decision problem (RD</a:t>
            </a:r>
            <a:r>
              <a:rPr lang="en-US" altLang="zh-TW" sz="1500" dirty="0" smtClean="0"/>
              <a:t>):</a:t>
            </a:r>
            <a:endParaRPr lang="en-US" altLang="zh-TW" sz="1500" dirty="0"/>
          </a:p>
          <a:p>
            <a:pPr marL="0" indent="0">
              <a:buNone/>
            </a:pPr>
            <a:endParaRPr lang="en-US" altLang="zh-TW" sz="1500" dirty="0"/>
          </a:p>
          <a:p>
            <a:pPr marL="0" indent="0">
              <a:buNone/>
            </a:pPr>
            <a:r>
              <a:rPr lang="en-US" altLang="zh-TW" sz="1500" dirty="0"/>
              <a:t>The proof consists of a </a:t>
            </a:r>
            <a:r>
              <a:rPr lang="en-US" altLang="zh-TW" sz="1500" dirty="0" err="1"/>
              <a:t>pseudopolynomial</a:t>
            </a:r>
            <a:r>
              <a:rPr lang="en-US" altLang="zh-TW" sz="1500" dirty="0"/>
              <a:t> transformation from 3-Partition to RD</a:t>
            </a:r>
            <a:r>
              <a:rPr lang="en-US" altLang="zh-TW" sz="1500" dirty="0" smtClean="0"/>
              <a:t>.</a:t>
            </a:r>
            <a:endParaRPr lang="en-US" altLang="zh-TW" sz="15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64704" y="5418325"/>
            <a:ext cx="6912768" cy="129614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FF0000"/>
                </a:solidFill>
              </a:rPr>
              <a:t>reversal distance problem (</a:t>
            </a:r>
            <a:r>
              <a:rPr lang="en-US" altLang="zh-TW" i="1" dirty="0">
                <a:solidFill>
                  <a:srgbClr val="FF0000"/>
                </a:solidFill>
              </a:rPr>
              <a:t>RD</a:t>
            </a:r>
            <a:r>
              <a:rPr lang="en-US" altLang="zh-TW" i="1" dirty="0" smtClean="0">
                <a:solidFill>
                  <a:srgbClr val="FF0000"/>
                </a:solidFill>
              </a:rPr>
              <a:t>):</a:t>
            </a:r>
            <a:endParaRPr lang="en-US" altLang="zh-TW" i="1" dirty="0">
              <a:solidFill>
                <a:srgbClr val="FF0000"/>
              </a:solidFill>
            </a:endParaRPr>
          </a:p>
          <a:p>
            <a:r>
              <a:rPr lang="en-US" altLang="zh-TW" dirty="0"/>
              <a:t>Instance: Related strings </a:t>
            </a:r>
            <a:r>
              <a:rPr lang="en-US" altLang="zh-TW" i="1" dirty="0"/>
              <a:t>S </a:t>
            </a:r>
            <a:r>
              <a:rPr lang="en-US" altLang="zh-TW" dirty="0"/>
              <a:t>and </a:t>
            </a:r>
            <a:r>
              <a:rPr lang="en-US" altLang="zh-TW" i="1" dirty="0"/>
              <a:t>T </a:t>
            </a:r>
            <a:r>
              <a:rPr lang="en-US" altLang="zh-TW" dirty="0"/>
              <a:t>of length </a:t>
            </a:r>
            <a:r>
              <a:rPr lang="en-US" altLang="zh-TW" i="1" dirty="0"/>
              <a:t>n</a:t>
            </a:r>
            <a:r>
              <a:rPr lang="en-US" altLang="zh-TW" dirty="0"/>
              <a:t>, over an alphabet of</a:t>
            </a:r>
          </a:p>
          <a:p>
            <a:r>
              <a:rPr lang="en-US" altLang="zh-TW" dirty="0"/>
              <a:t>size </a:t>
            </a:r>
            <a:r>
              <a:rPr lang="en-US" altLang="zh-TW" i="1" dirty="0"/>
              <a:t>t ≥ </a:t>
            </a:r>
            <a:r>
              <a:rPr lang="en-US" altLang="zh-TW" dirty="0"/>
              <a:t>2, and a bound </a:t>
            </a:r>
            <a:r>
              <a:rPr lang="en-US" altLang="zh-TW" i="1" dirty="0"/>
              <a:t>d ∈ Z</a:t>
            </a:r>
            <a:r>
              <a:rPr lang="en-US" altLang="zh-TW" dirty="0"/>
              <a:t>+.</a:t>
            </a:r>
          </a:p>
          <a:p>
            <a:r>
              <a:rPr lang="en-US" altLang="zh-TW" dirty="0"/>
              <a:t>Question: Is </a:t>
            </a:r>
            <a:r>
              <a:rPr lang="en-US" altLang="zh-TW" i="1" dirty="0" err="1"/>
              <a:t>dr</a:t>
            </a:r>
            <a:r>
              <a:rPr lang="en-US" altLang="zh-TW" dirty="0"/>
              <a:t>(</a:t>
            </a:r>
            <a:r>
              <a:rPr lang="en-US" altLang="zh-TW" i="1" dirty="0"/>
              <a:t>S, T</a:t>
            </a:r>
            <a:r>
              <a:rPr lang="en-US" altLang="zh-TW" dirty="0"/>
              <a:t>) </a:t>
            </a:r>
            <a:r>
              <a:rPr lang="en-US" altLang="zh-TW" i="1" dirty="0"/>
              <a:t>≤ d</a:t>
            </a:r>
            <a:r>
              <a:rPr lang="en-US" altLang="zh-TW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11560" y="2039278"/>
                <a:ext cx="6912768" cy="254185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zh-TW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-Partition</a:t>
                </a:r>
              </a:p>
              <a:p>
                <a:r>
                  <a:rPr lang="en-US" altLang="zh-TW" dirty="0"/>
                  <a:t>Instance: A set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of 3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elements, a bound </a:t>
                </a:r>
                <a:r>
                  <a:rPr lang="en-US" altLang="zh-TW" i="1" dirty="0"/>
                  <a:t>B ∈ Z</a:t>
                </a:r>
                <a:r>
                  <a:rPr lang="en-US" altLang="zh-TW" dirty="0"/>
                  <a:t>+, and a size</a:t>
                </a:r>
              </a:p>
              <a:p>
                <a:r>
                  <a:rPr lang="en-US" altLang="zh-TW" i="1" dirty="0" smtClean="0"/>
                  <a:t>s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a</a:t>
                </a:r>
                <a:r>
                  <a:rPr lang="en-US" altLang="zh-TW" dirty="0"/>
                  <a:t>) </a:t>
                </a:r>
                <a:r>
                  <a:rPr lang="en-US" altLang="zh-TW" i="1" dirty="0"/>
                  <a:t>∈ Z</a:t>
                </a:r>
                <a:r>
                  <a:rPr lang="en-US" altLang="zh-TW" dirty="0"/>
                  <a:t>+ for each  </a:t>
                </a:r>
                <a:r>
                  <a:rPr lang="en-US" altLang="zh-TW" i="1" dirty="0"/>
                  <a:t>a ∈ A </a:t>
                </a:r>
                <a:r>
                  <a:rPr lang="en-US" altLang="zh-TW" dirty="0"/>
                  <a:t>such that </a:t>
                </a:r>
                <a:r>
                  <a:rPr lang="en-US" altLang="zh-TW" i="1" dirty="0"/>
                  <a:t>B/</a:t>
                </a:r>
                <a:r>
                  <a:rPr lang="en-US" altLang="zh-TW" dirty="0"/>
                  <a:t>4 </a:t>
                </a:r>
                <a:r>
                  <a:rPr lang="en-US" altLang="zh-TW" i="1" dirty="0"/>
                  <a:t>&lt; s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) </a:t>
                </a:r>
                <a:r>
                  <a:rPr lang="en-US" altLang="zh-TW" i="1" dirty="0"/>
                  <a:t>&lt; B/</a:t>
                </a:r>
                <a:r>
                  <a:rPr lang="en-US" altLang="zh-TW" dirty="0"/>
                  <a:t>2 and such that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i="1" dirty="0"/>
                          <m:t>a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∈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Ai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i="1" dirty="0"/>
                          <m:t>s</m:t>
                        </m:r>
                        <m:r>
                          <m:rPr>
                            <m:nor/>
                          </m:rPr>
                          <a:rPr lang="en-US" altLang="zh-TW" dirty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a</m:t>
                        </m:r>
                        <m:r>
                          <m:rPr>
                            <m:nor/>
                          </m:rPr>
                          <a:rPr lang="en-US" altLang="zh-TW" dirty="0"/>
                          <m:t>) = </m:t>
                        </m:r>
                        <m:r>
                          <m:rPr>
                            <m:nor/>
                          </m:rPr>
                          <a:rPr lang="en-US" altLang="zh-TW" b="0" i="1" dirty="0" smtClean="0"/>
                          <m:t>m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B</m:t>
                        </m:r>
                      </m:e>
                    </m:nary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Question</a:t>
                </a:r>
                <a:r>
                  <a:rPr lang="en-US" altLang="zh-TW" dirty="0"/>
                  <a:t>: Can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be partitioned into 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disjoint sets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. . . , </a:t>
                </a:r>
                <a:r>
                  <a:rPr lang="en-US" altLang="zh-TW" i="1" dirty="0"/>
                  <a:t>A</a:t>
                </a:r>
                <a:r>
                  <a:rPr lang="en-US" altLang="zh-TW" i="1" baseline="-25000" dirty="0"/>
                  <a:t>m</a:t>
                </a:r>
                <a:r>
                  <a:rPr lang="en-US" altLang="zh-TW" dirty="0"/>
                  <a:t>,</a:t>
                </a:r>
              </a:p>
              <a:p>
                <a:r>
                  <a:rPr lang="en-US" altLang="zh-TW" dirty="0"/>
                  <a:t>such that, for 1 </a:t>
                </a:r>
                <a:r>
                  <a:rPr lang="en-US" altLang="zh-TW" i="1" dirty="0"/>
                  <a:t>≤ i ≤ </a:t>
                </a: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,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i="1" dirty="0"/>
                          <m:t>a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∈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Ai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i="1" dirty="0"/>
                          <m:t>s</m:t>
                        </m:r>
                        <m:r>
                          <m:rPr>
                            <m:nor/>
                          </m:rPr>
                          <a:rPr lang="en-US" altLang="zh-TW" dirty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a</m:t>
                        </m:r>
                        <m:r>
                          <m:rPr>
                            <m:nor/>
                          </m:rPr>
                          <a:rPr lang="en-US" altLang="zh-TW" dirty="0"/>
                          <m:t>) = </m:t>
                        </m:r>
                        <m:r>
                          <m:rPr>
                            <m:nor/>
                          </m:rPr>
                          <a:rPr lang="en-US" altLang="zh-TW" i="1" dirty="0"/>
                          <m:t>B</m:t>
                        </m:r>
                      </m:e>
                    </m:nary>
                  </m:oMath>
                </a14:m>
                <a:r>
                  <a:rPr lang="en-US" altLang="zh-TW" dirty="0" smtClean="0"/>
                  <a:t>? </a:t>
                </a:r>
              </a:p>
              <a:p>
                <a:r>
                  <a:rPr lang="en-US" altLang="zh-TW" dirty="0" smtClean="0"/>
                  <a:t>(</a:t>
                </a:r>
                <a:r>
                  <a:rPr lang="en-US" altLang="zh-TW" dirty="0"/>
                  <a:t>Note that each </a:t>
                </a:r>
                <a:r>
                  <a:rPr lang="en-US" altLang="zh-TW" i="1" dirty="0"/>
                  <a:t>A</a:t>
                </a:r>
                <a:r>
                  <a:rPr lang="en-US" altLang="zh-TW" i="1" baseline="-25000" dirty="0"/>
                  <a:t>i </a:t>
                </a:r>
                <a:r>
                  <a:rPr lang="en-US" altLang="zh-TW" dirty="0" smtClean="0"/>
                  <a:t>must contain </a:t>
                </a:r>
                <a:r>
                  <a:rPr lang="en-US" altLang="zh-TW" dirty="0"/>
                  <a:t>exactly three elements from </a:t>
                </a:r>
                <a:r>
                  <a:rPr lang="en-US" altLang="zh-TW" i="1" dirty="0"/>
                  <a:t>A</a:t>
                </a:r>
                <a:r>
                  <a:rPr lang="en-US" altLang="zh-TW" dirty="0"/>
                  <a:t>.)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039278"/>
                <a:ext cx="6912768" cy="25418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向下箭號 7"/>
          <p:cNvSpPr/>
          <p:nvPr/>
        </p:nvSpPr>
        <p:spPr>
          <a:xfrm>
            <a:off x="3707904" y="4581127"/>
            <a:ext cx="360040" cy="11415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754034"/>
            <a:ext cx="8883104" cy="44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2015/10/27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71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1221</Words>
  <Application>Microsoft Office PowerPoint</Application>
  <PresentationFormat>如螢幕大小 (4:3)</PresentationFormat>
  <Paragraphs>546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Sorting Strings by Reversals and by Transpositions </vt:lpstr>
      <vt:lpstr>Abstract</vt:lpstr>
      <vt:lpstr>Reversals over permutations</vt:lpstr>
      <vt:lpstr>Transpositions over permutations</vt:lpstr>
      <vt:lpstr>A lower bound of reversal distance (binary strings)</vt:lpstr>
      <vt:lpstr>A lower bound of reversal distance (binary strings)</vt:lpstr>
      <vt:lpstr>A upper bound of reversal distance (binary strings)</vt:lpstr>
      <vt:lpstr>A upper bound of reversal distance (binary strings)</vt:lpstr>
      <vt:lpstr>A upper bound of reversal distance (binary strings)</vt:lpstr>
      <vt:lpstr>A upper bound of reversal distance (binary strings)</vt:lpstr>
      <vt:lpstr>A upper bound of reversal distance (binary strings)</vt:lpstr>
      <vt:lpstr>Sorting by reversals (binary strings)</vt:lpstr>
      <vt:lpstr>A lower bound of transposition distance (binary strings)</vt:lpstr>
      <vt:lpstr>A lower bound of transposition distance (binary strings)</vt:lpstr>
      <vt:lpstr>A upper bound of transposition distance (binary strings)</vt:lpstr>
      <vt:lpstr>Sorting by transposition (binary strings)</vt:lpstr>
      <vt:lpstr>NP-completeness of reversal distance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linxl</cp:lastModifiedBy>
  <cp:revision>83</cp:revision>
  <dcterms:created xsi:type="dcterms:W3CDTF">2015-08-08T16:18:04Z</dcterms:created>
  <dcterms:modified xsi:type="dcterms:W3CDTF">2015-10-27T10:15:07Z</dcterms:modified>
</cp:coreProperties>
</file>