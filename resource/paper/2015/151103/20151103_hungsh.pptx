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1"/>
  </p:notesMasterIdLst>
  <p:sldIdLst>
    <p:sldId id="256" r:id="rId2"/>
    <p:sldId id="257" r:id="rId3"/>
    <p:sldId id="260" r:id="rId4"/>
    <p:sldId id="259" r:id="rId5"/>
    <p:sldId id="265" r:id="rId6"/>
    <p:sldId id="258" r:id="rId7"/>
    <p:sldId id="261" r:id="rId8"/>
    <p:sldId id="262" r:id="rId9"/>
    <p:sldId id="263" r:id="rId10"/>
    <p:sldId id="264" r:id="rId11"/>
    <p:sldId id="266" r:id="rId12"/>
    <p:sldId id="267" r:id="rId13"/>
    <p:sldId id="268" r:id="rId14"/>
    <p:sldId id="269" r:id="rId15"/>
    <p:sldId id="270" r:id="rId16"/>
    <p:sldId id="273" r:id="rId17"/>
    <p:sldId id="271" r:id="rId18"/>
    <p:sldId id="274" r:id="rId19"/>
    <p:sldId id="272" r:id="rId2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84" d="100"/>
          <a:sy n="84" d="100"/>
        </p:scale>
        <p:origin x="9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8726C4-EE92-4806-A44B-D64E0136DE8D}" type="datetimeFigureOut">
              <a:rPr lang="zh-TW" altLang="en-US" smtClean="0"/>
              <a:t>2015/11/3</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C4DBF8-815D-4993-AC59-E80D65581D40}" type="slidenum">
              <a:rPr lang="zh-TW" altLang="en-US" smtClean="0"/>
              <a:t>‹#›</a:t>
            </a:fld>
            <a:endParaRPr lang="zh-TW" altLang="en-US"/>
          </a:p>
        </p:txBody>
      </p:sp>
    </p:spTree>
    <p:extLst>
      <p:ext uri="{BB962C8B-B14F-4D97-AF65-F5344CB8AC3E}">
        <p14:creationId xmlns:p14="http://schemas.microsoft.com/office/powerpoint/2010/main" val="1575354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3BC4DBF8-815D-4993-AC59-E80D65581D40}" type="slidenum">
              <a:rPr lang="zh-TW" altLang="en-US" smtClean="0"/>
              <a:t>3</a:t>
            </a:fld>
            <a:endParaRPr lang="zh-TW" altLang="en-US"/>
          </a:p>
        </p:txBody>
      </p:sp>
    </p:spTree>
    <p:extLst>
      <p:ext uri="{BB962C8B-B14F-4D97-AF65-F5344CB8AC3E}">
        <p14:creationId xmlns:p14="http://schemas.microsoft.com/office/powerpoint/2010/main" val="2974155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8D534F6A-AC5E-4C2E-90C1-55BAF184AFBF}" type="datetimeFigureOut">
              <a:rPr lang="zh-TW" altLang="en-US" smtClean="0"/>
              <a:t>2015/11/3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D2D05CB-C05B-49D9-A7E1-61DB0721FFB0}" type="slidenum">
              <a:rPr lang="zh-TW" altLang="en-US" smtClean="0"/>
              <a:t>‹#›</a:t>
            </a:fld>
            <a:endParaRPr lang="zh-TW" altLang="en-US"/>
          </a:p>
        </p:txBody>
      </p:sp>
    </p:spTree>
    <p:extLst>
      <p:ext uri="{BB962C8B-B14F-4D97-AF65-F5344CB8AC3E}">
        <p14:creationId xmlns:p14="http://schemas.microsoft.com/office/powerpoint/2010/main" val="1908878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8D534F6A-AC5E-4C2E-90C1-55BAF184AFBF}" type="datetimeFigureOut">
              <a:rPr lang="zh-TW" altLang="en-US" smtClean="0"/>
              <a:t>2015/11/3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D2D05CB-C05B-49D9-A7E1-61DB0721FFB0}" type="slidenum">
              <a:rPr lang="zh-TW" altLang="en-US" smtClean="0"/>
              <a:t>‹#›</a:t>
            </a:fld>
            <a:endParaRPr lang="zh-TW" altLang="en-US"/>
          </a:p>
        </p:txBody>
      </p:sp>
    </p:spTree>
    <p:extLst>
      <p:ext uri="{BB962C8B-B14F-4D97-AF65-F5344CB8AC3E}">
        <p14:creationId xmlns:p14="http://schemas.microsoft.com/office/powerpoint/2010/main" val="581766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8D534F6A-AC5E-4C2E-90C1-55BAF184AFBF}" type="datetimeFigureOut">
              <a:rPr lang="zh-TW" altLang="en-US" smtClean="0"/>
              <a:t>2015/11/3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D2D05CB-C05B-49D9-A7E1-61DB0721FFB0}" type="slidenum">
              <a:rPr lang="zh-TW" altLang="en-US" smtClean="0"/>
              <a:t>‹#›</a:t>
            </a:fld>
            <a:endParaRPr lang="zh-TW" altLang="en-US"/>
          </a:p>
        </p:txBody>
      </p:sp>
    </p:spTree>
    <p:extLst>
      <p:ext uri="{BB962C8B-B14F-4D97-AF65-F5344CB8AC3E}">
        <p14:creationId xmlns:p14="http://schemas.microsoft.com/office/powerpoint/2010/main" val="2966087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8D534F6A-AC5E-4C2E-90C1-55BAF184AFBF}" type="datetimeFigureOut">
              <a:rPr lang="zh-TW" altLang="en-US" smtClean="0"/>
              <a:t>2015/11/3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D2D05CB-C05B-49D9-A7E1-61DB0721FFB0}" type="slidenum">
              <a:rPr lang="zh-TW" altLang="en-US" smtClean="0"/>
              <a:t>‹#›</a:t>
            </a:fld>
            <a:endParaRPr lang="zh-TW" altLang="en-US"/>
          </a:p>
        </p:txBody>
      </p:sp>
    </p:spTree>
    <p:extLst>
      <p:ext uri="{BB962C8B-B14F-4D97-AF65-F5344CB8AC3E}">
        <p14:creationId xmlns:p14="http://schemas.microsoft.com/office/powerpoint/2010/main" val="3566609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8D534F6A-AC5E-4C2E-90C1-55BAF184AFBF}" type="datetimeFigureOut">
              <a:rPr lang="zh-TW" altLang="en-US" smtClean="0"/>
              <a:t>2015/11/3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CD2D05CB-C05B-49D9-A7E1-61DB0721FFB0}" type="slidenum">
              <a:rPr lang="zh-TW" altLang="en-US" smtClean="0"/>
              <a:t>‹#›</a:t>
            </a:fld>
            <a:endParaRPr lang="zh-TW" altLang="en-US"/>
          </a:p>
        </p:txBody>
      </p:sp>
    </p:spTree>
    <p:extLst>
      <p:ext uri="{BB962C8B-B14F-4D97-AF65-F5344CB8AC3E}">
        <p14:creationId xmlns:p14="http://schemas.microsoft.com/office/powerpoint/2010/main" val="3287282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8D534F6A-AC5E-4C2E-90C1-55BAF184AFBF}" type="datetimeFigureOut">
              <a:rPr lang="zh-TW" altLang="en-US" smtClean="0"/>
              <a:t>2015/11/3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CD2D05CB-C05B-49D9-A7E1-61DB0721FFB0}" type="slidenum">
              <a:rPr lang="zh-TW" altLang="en-US" smtClean="0"/>
              <a:t>‹#›</a:t>
            </a:fld>
            <a:endParaRPr lang="zh-TW" altLang="en-US"/>
          </a:p>
        </p:txBody>
      </p:sp>
    </p:spTree>
    <p:extLst>
      <p:ext uri="{BB962C8B-B14F-4D97-AF65-F5344CB8AC3E}">
        <p14:creationId xmlns:p14="http://schemas.microsoft.com/office/powerpoint/2010/main" val="218203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534F6A-AC5E-4C2E-90C1-55BAF184AFBF}" type="datetimeFigureOut">
              <a:rPr lang="zh-TW" altLang="en-US" smtClean="0"/>
              <a:t>2015/11/3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CD2D05CB-C05B-49D9-A7E1-61DB0721FFB0}" type="slidenum">
              <a:rPr lang="zh-TW" altLang="en-US" smtClean="0"/>
              <a:t>‹#›</a:t>
            </a:fld>
            <a:endParaRPr lang="zh-TW" altLang="en-US"/>
          </a:p>
        </p:txBody>
      </p:sp>
    </p:spTree>
    <p:extLst>
      <p:ext uri="{BB962C8B-B14F-4D97-AF65-F5344CB8AC3E}">
        <p14:creationId xmlns:p14="http://schemas.microsoft.com/office/powerpoint/2010/main" val="1359698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8D534F6A-AC5E-4C2E-90C1-55BAF184AFBF}" type="datetimeFigureOut">
              <a:rPr lang="zh-TW" altLang="en-US" smtClean="0"/>
              <a:t>2015/11/3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D2D05CB-C05B-49D9-A7E1-61DB0721FFB0}" type="slidenum">
              <a:rPr lang="zh-TW" altLang="en-US" smtClean="0"/>
              <a:t>‹#›</a:t>
            </a:fld>
            <a:endParaRPr lang="zh-TW" altLang="en-US"/>
          </a:p>
        </p:txBody>
      </p:sp>
    </p:spTree>
    <p:extLst>
      <p:ext uri="{BB962C8B-B14F-4D97-AF65-F5344CB8AC3E}">
        <p14:creationId xmlns:p14="http://schemas.microsoft.com/office/powerpoint/2010/main" val="798409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8D534F6A-AC5E-4C2E-90C1-55BAF184AFBF}" type="datetimeFigureOut">
              <a:rPr lang="zh-TW" altLang="en-US" smtClean="0"/>
              <a:t>2015/11/3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D2D05CB-C05B-49D9-A7E1-61DB0721FFB0}" type="slidenum">
              <a:rPr lang="zh-TW" altLang="en-US" smtClean="0"/>
              <a:t>‹#›</a:t>
            </a:fld>
            <a:endParaRPr lang="zh-TW" altLang="en-US"/>
          </a:p>
        </p:txBody>
      </p:sp>
    </p:spTree>
    <p:extLst>
      <p:ext uri="{BB962C8B-B14F-4D97-AF65-F5344CB8AC3E}">
        <p14:creationId xmlns:p14="http://schemas.microsoft.com/office/powerpoint/2010/main" val="197682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8D534F6A-AC5E-4C2E-90C1-55BAF184AFBF}" type="datetimeFigureOut">
              <a:rPr lang="zh-TW" altLang="en-US" smtClean="0"/>
              <a:t>2015/11/3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D2D05CB-C05B-49D9-A7E1-61DB0721FFB0}" type="slidenum">
              <a:rPr lang="zh-TW" altLang="en-US" smtClean="0"/>
              <a:t>‹#›</a:t>
            </a:fld>
            <a:endParaRPr lang="zh-TW" altLang="en-US"/>
          </a:p>
        </p:txBody>
      </p:sp>
    </p:spTree>
    <p:extLst>
      <p:ext uri="{BB962C8B-B14F-4D97-AF65-F5344CB8AC3E}">
        <p14:creationId xmlns:p14="http://schemas.microsoft.com/office/powerpoint/2010/main" val="902989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8D534F6A-AC5E-4C2E-90C1-55BAF184AFBF}" type="datetimeFigureOut">
              <a:rPr lang="zh-TW" altLang="en-US" smtClean="0"/>
              <a:t>2015/11/3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D2D05CB-C05B-49D9-A7E1-61DB0721FFB0}" type="slidenum">
              <a:rPr lang="zh-TW" altLang="en-US" smtClean="0"/>
              <a:t>‹#›</a:t>
            </a:fld>
            <a:endParaRPr lang="zh-TW" altLang="en-US"/>
          </a:p>
        </p:txBody>
      </p:sp>
    </p:spTree>
    <p:extLst>
      <p:ext uri="{BB962C8B-B14F-4D97-AF65-F5344CB8AC3E}">
        <p14:creationId xmlns:p14="http://schemas.microsoft.com/office/powerpoint/2010/main" val="4224900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534F6A-AC5E-4C2E-90C1-55BAF184AFBF}" type="datetimeFigureOut">
              <a:rPr lang="zh-TW" altLang="en-US" smtClean="0"/>
              <a:t>2015/11/3</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2D05CB-C05B-49D9-A7E1-61DB0721FFB0}" type="slidenum">
              <a:rPr lang="zh-TW" altLang="en-US" smtClean="0"/>
              <a:t>‹#›</a:t>
            </a:fld>
            <a:endParaRPr lang="zh-TW" altLang="en-US"/>
          </a:p>
        </p:txBody>
      </p:sp>
    </p:spTree>
    <p:extLst>
      <p:ext uri="{BB962C8B-B14F-4D97-AF65-F5344CB8AC3E}">
        <p14:creationId xmlns:p14="http://schemas.microsoft.com/office/powerpoint/2010/main" val="127669116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43000" y="1699024"/>
            <a:ext cx="6858000" cy="892898"/>
          </a:xfrm>
        </p:spPr>
        <p:txBody>
          <a:bodyPr>
            <a:noAutofit/>
          </a:bodyPr>
          <a:lstStyle/>
          <a:p>
            <a:r>
              <a:rPr lang="en-US" altLang="zh-TW" sz="7200" dirty="0" smtClean="0">
                <a:latin typeface="Times New Roman" panose="02020603050405020304" pitchFamily="18" charset="0"/>
                <a:cs typeface="Times New Roman" panose="02020603050405020304" pitchFamily="18" charset="0"/>
              </a:rPr>
              <a:t> </a:t>
            </a:r>
            <a:r>
              <a:rPr lang="en-US" altLang="zh-TW" sz="3200" dirty="0">
                <a:latin typeface="Times New Roman" panose="02020603050405020304" pitchFamily="18" charset="0"/>
                <a:cs typeface="Times New Roman" panose="02020603050405020304" pitchFamily="18" charset="0"/>
              </a:rPr>
              <a:t>A New Algorithm for the Longest Common Subsequence Problem </a:t>
            </a:r>
            <a:endParaRPr lang="zh-TW" altLang="en-US" sz="72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973566" y="3117043"/>
            <a:ext cx="6858000" cy="1241822"/>
          </a:xfrm>
        </p:spPr>
        <p:txBody>
          <a:bodyPr>
            <a:normAutofit/>
          </a:bodyPr>
          <a:lstStyle/>
          <a:p>
            <a:r>
              <a:rPr lang="en-US" altLang="zh-TW" sz="2000" dirty="0" err="1">
                <a:latin typeface="Times New Roman" panose="02020603050405020304" pitchFamily="18" charset="0"/>
                <a:cs typeface="Times New Roman" panose="02020603050405020304" pitchFamily="18" charset="0"/>
              </a:rPr>
              <a:t>Vahagn</a:t>
            </a:r>
            <a:r>
              <a:rPr lang="en-US" altLang="zh-TW" sz="2000" dirty="0">
                <a:latin typeface="Times New Roman" panose="02020603050405020304" pitchFamily="18" charset="0"/>
                <a:cs typeface="Times New Roman" panose="02020603050405020304" pitchFamily="18" charset="0"/>
              </a:rPr>
              <a:t> Minasyan</a:t>
            </a:r>
          </a:p>
          <a:p>
            <a:r>
              <a:rPr lang="en-US" altLang="zh-TW" sz="2000" dirty="0">
                <a:latin typeface="Times New Roman" panose="02020603050405020304" pitchFamily="18" charset="0"/>
                <a:cs typeface="Times New Roman" panose="02020603050405020304" pitchFamily="18" charset="0"/>
              </a:rPr>
              <a:t>International Journal “Information Theories and Applications”, Vol. 17, Number 3</a:t>
            </a:r>
            <a:r>
              <a:rPr lang="en-US" altLang="zh-TW" sz="2000" dirty="0" smtClean="0">
                <a:latin typeface="Times New Roman" panose="02020603050405020304" pitchFamily="18" charset="0"/>
                <a:cs typeface="Times New Roman" panose="02020603050405020304" pitchFamily="18" charset="0"/>
              </a:rPr>
              <a:t>, pp. 226-234 </a:t>
            </a:r>
            <a:r>
              <a:rPr lang="en-US" altLang="zh-TW" sz="2000" dirty="0">
                <a:latin typeface="Times New Roman" panose="02020603050405020304" pitchFamily="18" charset="0"/>
                <a:cs typeface="Times New Roman" panose="02020603050405020304" pitchFamily="18" charset="0"/>
              </a:rPr>
              <a:t>2010 </a:t>
            </a:r>
          </a:p>
          <a:p>
            <a:endParaRPr lang="en-US" altLang="zh-TW" sz="4000" dirty="0" smtClean="0">
              <a:latin typeface="Times New Roman" panose="02020603050405020304" pitchFamily="18" charset="0"/>
              <a:cs typeface="Times New Roman" panose="02020603050405020304" pitchFamily="18" charset="0"/>
            </a:endParaRPr>
          </a:p>
          <a:p>
            <a:endParaRPr lang="en-US" altLang="zh-TW" sz="4000" dirty="0">
              <a:latin typeface="Times New Roman" panose="02020603050405020304" pitchFamily="18" charset="0"/>
              <a:cs typeface="Times New Roman" panose="02020603050405020304" pitchFamily="18" charset="0"/>
            </a:endParaRPr>
          </a:p>
          <a:p>
            <a:endParaRPr lang="en-US" altLang="zh-TW" sz="4000" dirty="0" smtClean="0">
              <a:latin typeface="Times New Roman" panose="02020603050405020304" pitchFamily="18" charset="0"/>
              <a:cs typeface="Times New Roman" panose="02020603050405020304" pitchFamily="18" charset="0"/>
            </a:endParaRPr>
          </a:p>
          <a:p>
            <a:endParaRPr lang="zh-TW" altLang="en-US" sz="4000"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3003301" y="4656045"/>
            <a:ext cx="3137397" cy="1015663"/>
          </a:xfrm>
          <a:prstGeom prst="rect">
            <a:avLst/>
          </a:prstGeom>
          <a:noFill/>
        </p:spPr>
        <p:txBody>
          <a:bodyPr wrap="none" rtlCol="0">
            <a:spAutoFit/>
          </a:bodyPr>
          <a:lstStyle/>
          <a:p>
            <a:pPr>
              <a:spcBef>
                <a:spcPct val="0"/>
              </a:spcBef>
            </a:pPr>
            <a:r>
              <a:rPr lang="en-US" altLang="zh-TW" sz="2000" dirty="0">
                <a:latin typeface="Times New Roman" panose="02020603050405020304" pitchFamily="18" charset="0"/>
                <a:cs typeface="Times New Roman" panose="02020603050405020304" pitchFamily="18" charset="0"/>
              </a:rPr>
              <a:t>Presenter:  Siang-</a:t>
            </a:r>
            <a:r>
              <a:rPr lang="en-US" altLang="zh-TW" sz="2000" dirty="0" err="1">
                <a:latin typeface="Times New Roman" panose="02020603050405020304" pitchFamily="18" charset="0"/>
                <a:cs typeface="Times New Roman" panose="02020603050405020304" pitchFamily="18" charset="0"/>
              </a:rPr>
              <a:t>Huai</a:t>
            </a:r>
            <a:r>
              <a:rPr lang="en-US" altLang="zh-TW" sz="2000" dirty="0">
                <a:latin typeface="Times New Roman" panose="02020603050405020304" pitchFamily="18" charset="0"/>
                <a:cs typeface="Times New Roman" panose="02020603050405020304" pitchFamily="18" charset="0"/>
              </a:rPr>
              <a:t> Hung</a:t>
            </a:r>
          </a:p>
          <a:p>
            <a:pPr>
              <a:spcBef>
                <a:spcPct val="0"/>
              </a:spcBef>
            </a:pPr>
            <a:r>
              <a:rPr lang="en-US" altLang="zh-TW" sz="2000" dirty="0">
                <a:latin typeface="Times New Roman" panose="02020603050405020304" pitchFamily="18" charset="0"/>
                <a:cs typeface="Times New Roman" panose="02020603050405020304" pitchFamily="18" charset="0"/>
              </a:rPr>
              <a:t>Date:2015/11/03</a:t>
            </a:r>
            <a:endParaRPr lang="zh-TW" altLang="en-US" sz="2000" dirty="0">
              <a:latin typeface="Times New Roman" panose="02020603050405020304" pitchFamily="18" charset="0"/>
              <a:cs typeface="Times New Roman" panose="02020603050405020304" pitchFamily="18" charset="0"/>
            </a:endParaRPr>
          </a:p>
          <a:p>
            <a:endParaRPr lang="zh-TW"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71443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a:t/>
            </a:r>
            <a:br>
              <a:rPr lang="zh-TW" altLang="en-US" dirty="0"/>
            </a:br>
            <a:r>
              <a:rPr lang="en-US" altLang="zh-TW" dirty="0"/>
              <a:t> </a:t>
            </a:r>
            <a:r>
              <a:rPr lang="en-US" altLang="zh-TW" sz="3975" dirty="0">
                <a:latin typeface="Times New Roman" panose="02020603050405020304" pitchFamily="18" charset="0"/>
                <a:cs typeface="Times New Roman" panose="02020603050405020304" pitchFamily="18" charset="0"/>
              </a:rPr>
              <a:t>Abstract </a:t>
            </a:r>
            <a:endParaRPr lang="zh-TW" altLang="en-US" sz="3975"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628650" y="2040898"/>
            <a:ext cx="7886700" cy="4177021"/>
          </a:xfrm>
        </p:spPr>
        <p:txBody>
          <a:bodyPr>
            <a:normAutofit fontScale="85000" lnSpcReduction="10000"/>
          </a:bodyPr>
          <a:lstStyle/>
          <a:p>
            <a:pPr marL="0" indent="0" algn="just">
              <a:lnSpc>
                <a:spcPct val="120000"/>
              </a:lnSpc>
              <a:buNone/>
            </a:pPr>
            <a:r>
              <a:rPr lang="en-US" altLang="zh-TW" dirty="0" smtClean="0">
                <a:latin typeface="Times New Roman" panose="02020603050405020304" pitchFamily="18" charset="0"/>
                <a:cs typeface="Times New Roman" panose="02020603050405020304" pitchFamily="18" charset="0"/>
              </a:rPr>
              <a:t>This </a:t>
            </a:r>
            <a:r>
              <a:rPr lang="en-US" altLang="zh-TW" dirty="0">
                <a:latin typeface="Times New Roman" panose="02020603050405020304" pitchFamily="18" charset="0"/>
                <a:cs typeface="Times New Roman" panose="02020603050405020304" pitchFamily="18" charset="0"/>
              </a:rPr>
              <a:t>paper discusses the problem of determining the longest common subsequence (LCS) of two sequences. Here we view this problem in the background of the well known algorithm for the longest increasing subsequence (LIS). This new approach leads us to a new online algorithm which runs in </a:t>
            </a:r>
            <a:r>
              <a:rPr lang="en-US" altLang="zh-TW" dirty="0" smtClean="0">
                <a:latin typeface="Times New Roman" panose="02020603050405020304" pitchFamily="18" charset="0"/>
                <a:cs typeface="Times New Roman" panose="02020603050405020304" pitchFamily="18" charset="0"/>
              </a:rPr>
              <a:t>O(d log n) time </a:t>
            </a:r>
            <a:r>
              <a:rPr lang="en-US" altLang="zh-TW" dirty="0">
                <a:latin typeface="Times New Roman" panose="02020603050405020304" pitchFamily="18" charset="0"/>
                <a:cs typeface="Times New Roman" panose="02020603050405020304" pitchFamily="18" charset="0"/>
              </a:rPr>
              <a:t>and in </a:t>
            </a:r>
            <a:r>
              <a:rPr lang="en-US" altLang="zh-TW" dirty="0" smtClean="0">
                <a:latin typeface="Times New Roman" panose="02020603050405020304" pitchFamily="18" charset="0"/>
                <a:cs typeface="Times New Roman" panose="02020603050405020304" pitchFamily="18" charset="0"/>
              </a:rPr>
              <a:t>O(n) space where n is the length of the input </a:t>
            </a:r>
            <a:r>
              <a:rPr lang="en-US" altLang="zh-TW" dirty="0">
                <a:latin typeface="Times New Roman" panose="02020603050405020304" pitchFamily="18" charset="0"/>
                <a:cs typeface="Times New Roman" panose="02020603050405020304" pitchFamily="18" charset="0"/>
              </a:rPr>
              <a:t>sequences </a:t>
            </a:r>
            <a:r>
              <a:rPr lang="en-US" altLang="zh-TW" dirty="0" smtClean="0">
                <a:latin typeface="Times New Roman" panose="02020603050405020304" pitchFamily="18" charset="0"/>
                <a:cs typeface="Times New Roman" panose="02020603050405020304" pitchFamily="18" charset="0"/>
              </a:rPr>
              <a:t>and d </a:t>
            </a:r>
            <a:r>
              <a:rPr lang="en-US" altLang="zh-TW" dirty="0">
                <a:latin typeface="Times New Roman" panose="02020603050405020304" pitchFamily="18" charset="0"/>
                <a:cs typeface="Times New Roman" panose="02020603050405020304" pitchFamily="18" charset="0"/>
              </a:rPr>
              <a:t>is the number of minimal matches between them. Using an advanced technique of van </a:t>
            </a:r>
            <a:r>
              <a:rPr lang="en-US" altLang="zh-TW" dirty="0" err="1">
                <a:latin typeface="Times New Roman" panose="02020603050405020304" pitchFamily="18" charset="0"/>
                <a:cs typeface="Times New Roman" panose="02020603050405020304" pitchFamily="18" charset="0"/>
              </a:rPr>
              <a:t>Emde</a:t>
            </a:r>
            <a:r>
              <a:rPr lang="en-US" altLang="zh-TW" dirty="0">
                <a:latin typeface="Times New Roman" panose="02020603050405020304" pitchFamily="18" charset="0"/>
                <a:cs typeface="Times New Roman" panose="02020603050405020304" pitchFamily="18" charset="0"/>
              </a:rPr>
              <a:t> Boas trees the time complexity bound can be reduced to </a:t>
            </a:r>
            <a:r>
              <a:rPr lang="en-US" altLang="zh-TW" dirty="0" smtClean="0">
                <a:latin typeface="Times New Roman" panose="02020603050405020304" pitchFamily="18" charset="0"/>
                <a:cs typeface="Times New Roman" panose="02020603050405020304" pitchFamily="18" charset="0"/>
              </a:rPr>
              <a:t>O(d log </a:t>
            </a:r>
            <a:r>
              <a:rPr lang="en-US" altLang="zh-TW" dirty="0" err="1" smtClean="0">
                <a:latin typeface="Times New Roman" panose="02020603050405020304" pitchFamily="18" charset="0"/>
                <a:cs typeface="Times New Roman" panose="02020603050405020304" pitchFamily="18" charset="0"/>
              </a:rPr>
              <a:t>log</a:t>
            </a:r>
            <a:r>
              <a:rPr lang="en-US" altLang="zh-TW" dirty="0" smtClean="0">
                <a:latin typeface="Times New Roman" panose="02020603050405020304" pitchFamily="18" charset="0"/>
                <a:cs typeface="Times New Roman" panose="02020603050405020304" pitchFamily="18" charset="0"/>
              </a:rPr>
              <a:t> n) preserving </a:t>
            </a:r>
            <a:r>
              <a:rPr lang="en-US" altLang="zh-TW" dirty="0">
                <a:latin typeface="Times New Roman" panose="02020603050405020304" pitchFamily="18" charset="0"/>
                <a:cs typeface="Times New Roman" panose="02020603050405020304" pitchFamily="18" charset="0"/>
              </a:rPr>
              <a:t>the space bound of </a:t>
            </a:r>
            <a:r>
              <a:rPr lang="en-US" altLang="zh-TW" dirty="0" smtClean="0">
                <a:latin typeface="Times New Roman" panose="02020603050405020304" pitchFamily="18" charset="0"/>
                <a:cs typeface="Times New Roman" panose="02020603050405020304" pitchFamily="18" charset="0"/>
              </a:rPr>
              <a:t>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23252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smtClean="0">
                <a:latin typeface="Times New Roman" panose="02020603050405020304" pitchFamily="18" charset="0"/>
                <a:cs typeface="Times New Roman" panose="02020603050405020304" pitchFamily="18" charset="0"/>
              </a:rPr>
              <a:t>Minimal(or Dominant) Matching</a:t>
            </a:r>
            <a:endParaRPr lang="zh-TW" altLang="en-US" sz="3200" dirty="0"/>
          </a:p>
        </p:txBody>
      </p:sp>
      <p:sp>
        <p:nvSpPr>
          <p:cNvPr id="6" name="投影片編號版面配置區 5"/>
          <p:cNvSpPr>
            <a:spLocks noGrp="1"/>
          </p:cNvSpPr>
          <p:nvPr>
            <p:ph type="sldNum" sz="quarter" idx="12"/>
          </p:nvPr>
        </p:nvSpPr>
        <p:spPr/>
        <p:txBody>
          <a:bodyPr/>
          <a:lstStyle/>
          <a:p>
            <a:fld id="{CD2D05CB-C05B-49D9-A7E1-61DB0721FFB0}" type="slidenum">
              <a:rPr lang="zh-TW" altLang="en-US" smtClean="0"/>
              <a:t>3</a:t>
            </a:fld>
            <a:endParaRPr lang="zh-TW" altLang="en-US"/>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1" y="2125268"/>
            <a:ext cx="5099797" cy="2423008"/>
          </a:xfrm>
          <a:prstGeom prst="rect">
            <a:avLst/>
          </a:prstGeom>
        </p:spPr>
      </p:pic>
      <mc:AlternateContent xmlns:mc="http://schemas.openxmlformats.org/markup-compatibility/2006" xmlns:a14="http://schemas.microsoft.com/office/drawing/2010/main">
        <mc:Choice Requires="a14">
          <p:sp>
            <p:nvSpPr>
              <p:cNvPr id="7" name="文字方塊 6"/>
              <p:cNvSpPr txBox="1"/>
              <p:nvPr/>
            </p:nvSpPr>
            <p:spPr>
              <a:xfrm>
                <a:off x="753707" y="4749979"/>
                <a:ext cx="6346340" cy="415498"/>
              </a:xfrm>
              <a:prstGeom prst="rect">
                <a:avLst/>
              </a:prstGeom>
              <a:noFill/>
            </p:spPr>
            <p:txBody>
              <a:bodyPr wrap="square" rtlCol="0">
                <a:spAutoFit/>
              </a:bodyPr>
              <a:lstStyle/>
              <a:p>
                <a:r>
                  <a:rPr lang="en-US" altLang="zh-TW" sz="2100" dirty="0"/>
                  <a:t>( </a:t>
                </a:r>
                <a:r>
                  <a:rPr lang="en-US" altLang="zh-TW" sz="2100" dirty="0" err="1"/>
                  <a:t>i</a:t>
                </a:r>
                <a:r>
                  <a:rPr lang="en-US" altLang="zh-TW" sz="2100" dirty="0"/>
                  <a:t>’,j’) </a:t>
                </a:r>
                <a:r>
                  <a:rPr lang="en-US" altLang="zh-TW" dirty="0">
                    <a:latin typeface="Times New Roman" panose="02020603050405020304" pitchFamily="18" charset="0"/>
                    <a:cs typeface="Times New Roman" panose="02020603050405020304" pitchFamily="18" charset="0"/>
                  </a:rPr>
                  <a:t>such that </a:t>
                </a:r>
                <a14:m>
                  <m:oMath xmlns:m="http://schemas.openxmlformats.org/officeDocument/2006/math">
                    <m:r>
                      <a:rPr lang="en-US" altLang="zh-TW" sz="2100" i="1" dirty="0">
                        <a:latin typeface="Cambria Math" panose="02040503050406030204" pitchFamily="18" charset="0"/>
                      </a:rPr>
                      <m:t>𝑙</m:t>
                    </m:r>
                    <m:r>
                      <a:rPr lang="en-US" altLang="zh-TW" sz="2100" i="1" baseline="-25000" dirty="0">
                        <a:latin typeface="Cambria Math" panose="02040503050406030204" pitchFamily="18" charset="0"/>
                      </a:rPr>
                      <m:t>𝑖</m:t>
                    </m:r>
                  </m:oMath>
                </a14:m>
                <a:r>
                  <a:rPr lang="en-US" altLang="zh-TW" sz="2100" baseline="-25000" dirty="0"/>
                  <a:t>,j  </a:t>
                </a:r>
                <a:r>
                  <a:rPr lang="en-US" altLang="zh-TW" sz="2100" dirty="0"/>
                  <a:t>=  </a:t>
                </a:r>
                <a14:m>
                  <m:oMath xmlns:m="http://schemas.openxmlformats.org/officeDocument/2006/math">
                    <m:r>
                      <a:rPr lang="en-US" altLang="zh-TW" sz="2100" i="1" dirty="0">
                        <a:latin typeface="Cambria Math" panose="02040503050406030204" pitchFamily="18" charset="0"/>
                      </a:rPr>
                      <m:t>𝑙</m:t>
                    </m:r>
                    <m:r>
                      <a:rPr lang="en-US" altLang="zh-TW" sz="2100" i="1" baseline="-25000" dirty="0">
                        <a:latin typeface="Cambria Math" panose="02040503050406030204" pitchFamily="18" charset="0"/>
                      </a:rPr>
                      <m:t>𝑖</m:t>
                    </m:r>
                  </m:oMath>
                </a14:m>
                <a:r>
                  <a:rPr lang="en-US" altLang="zh-TW" sz="2100" baseline="-25000" dirty="0"/>
                  <a:t>’</a:t>
                </a:r>
                <a:r>
                  <a:rPr lang="en-US" altLang="zh-TW" sz="2100" dirty="0"/>
                  <a:t>,</a:t>
                </a:r>
                <a:r>
                  <a:rPr lang="en-US" altLang="zh-TW" sz="2100" baseline="-25000" dirty="0"/>
                  <a:t> j’       </a:t>
                </a:r>
                <a:r>
                  <a:rPr lang="en-US" altLang="zh-TW" sz="2100" dirty="0" err="1"/>
                  <a:t>i</a:t>
                </a:r>
                <a:r>
                  <a:rPr lang="en-US" altLang="zh-TW" sz="2100" dirty="0"/>
                  <a:t>’ &gt; </a:t>
                </a:r>
                <a:r>
                  <a:rPr lang="en-US" altLang="zh-TW" sz="2100" dirty="0" err="1"/>
                  <a:t>i</a:t>
                </a:r>
                <a:r>
                  <a:rPr lang="en-US" altLang="zh-TW" sz="2100" dirty="0"/>
                  <a:t> and j’ ≤ j or </a:t>
                </a:r>
                <a:r>
                  <a:rPr lang="en-US" altLang="zh-TW" sz="2100" dirty="0" err="1"/>
                  <a:t>i</a:t>
                </a:r>
                <a:r>
                  <a:rPr lang="en-US" altLang="zh-TW" sz="2100" dirty="0"/>
                  <a:t>’≤ </a:t>
                </a:r>
                <a:r>
                  <a:rPr lang="en-US" altLang="zh-TW" sz="2100" dirty="0" err="1"/>
                  <a:t>i</a:t>
                </a:r>
                <a:r>
                  <a:rPr lang="en-US" altLang="zh-TW" sz="2100" dirty="0"/>
                  <a:t> and j’ &gt; j</a:t>
                </a:r>
                <a:endParaRPr lang="zh-TW" altLang="en-US" sz="21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753707" y="4749979"/>
                <a:ext cx="6346340" cy="415498"/>
              </a:xfrm>
              <a:prstGeom prst="rect">
                <a:avLst/>
              </a:prstGeom>
              <a:blipFill rotWithShape="0">
                <a:blip r:embed="rId4"/>
                <a:stretch>
                  <a:fillRect l="-1153" t="-8824" b="-2941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4407651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dirty="0">
                <a:latin typeface="Times New Roman" panose="02020603050405020304" pitchFamily="18" charset="0"/>
                <a:cs typeface="Times New Roman" panose="02020603050405020304" pitchFamily="18" charset="0"/>
              </a:rPr>
              <a:t>Minimal(or Dominant) Matching</a:t>
            </a:r>
            <a:endParaRPr lang="zh-TW" altLang="en-US" sz="3200"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628649" y="1843075"/>
            <a:ext cx="3800139" cy="738664"/>
          </a:xfrm>
          <a:prstGeom prst="rect">
            <a:avLst/>
          </a:prstGeom>
          <a:noFill/>
        </p:spPr>
        <p:txBody>
          <a:bodyPr wrap="square" rtlCol="0">
            <a:spAutoFit/>
          </a:bodyPr>
          <a:lstStyle/>
          <a:p>
            <a:r>
              <a:rPr lang="en-US" altLang="zh-TW" sz="2100" dirty="0">
                <a:latin typeface="Times New Roman" panose="02020603050405020304" pitchFamily="18" charset="0"/>
                <a:cs typeface="Times New Roman" panose="02020603050405020304" pitchFamily="18" charset="0"/>
              </a:rPr>
              <a:t>Sequence A: ACBA</a:t>
            </a:r>
          </a:p>
          <a:p>
            <a:r>
              <a:rPr lang="en-US" altLang="zh-TW" sz="2100" dirty="0">
                <a:latin typeface="Times New Roman" panose="02020603050405020304" pitchFamily="18" charset="0"/>
                <a:cs typeface="Times New Roman" panose="02020603050405020304" pitchFamily="18" charset="0"/>
              </a:rPr>
              <a:t>Sequence B: CBAAC</a:t>
            </a:r>
            <a:endParaRPr lang="zh-TW" altLang="en-US" sz="2100" dirty="0">
              <a:latin typeface="Times New Roman" panose="02020603050405020304" pitchFamily="18" charset="0"/>
              <a:cs typeface="Times New Roman" panose="020206030504050203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3351218183"/>
              </p:ext>
            </p:extLst>
          </p:nvPr>
        </p:nvGraphicFramePr>
        <p:xfrm>
          <a:off x="628649" y="3438263"/>
          <a:ext cx="6800850" cy="2287128"/>
        </p:xfrm>
        <a:graphic>
          <a:graphicData uri="http://schemas.openxmlformats.org/drawingml/2006/table">
            <a:tbl>
              <a:tblPr firstRow="1" bandRow="1">
                <a:tableStyleId>{5C22544A-7EE6-4342-B048-85BDC9FD1C3A}</a:tableStyleId>
              </a:tblPr>
              <a:tblGrid>
                <a:gridCol w="971550"/>
                <a:gridCol w="971550"/>
                <a:gridCol w="971550"/>
                <a:gridCol w="971550"/>
                <a:gridCol w="971550"/>
                <a:gridCol w="971550"/>
                <a:gridCol w="971550"/>
              </a:tblGrid>
              <a:tr h="381188">
                <a:tc>
                  <a:txBody>
                    <a:bodyPr/>
                    <a:lstStyle/>
                    <a:p>
                      <a:endParaRPr lang="zh-TW" altLang="en-US" sz="1800" dirty="0"/>
                    </a:p>
                  </a:txBody>
                  <a:tcPr marL="68580" marR="68580" marT="34290" marB="34290"/>
                </a:tc>
                <a:tc>
                  <a:txBody>
                    <a:bodyPr/>
                    <a:lstStyle/>
                    <a:p>
                      <a:r>
                        <a:rPr lang="en-US" altLang="zh-TW" sz="1800" dirty="0" smtClean="0"/>
                        <a:t>ʘ</a:t>
                      </a:r>
                      <a:endParaRPr lang="zh-TW" altLang="en-US" sz="1800" dirty="0"/>
                    </a:p>
                  </a:txBody>
                  <a:tcPr marL="68580" marR="68580" marT="34290" marB="34290"/>
                </a:tc>
                <a:tc>
                  <a:txBody>
                    <a:bodyPr/>
                    <a:lstStyle/>
                    <a:p>
                      <a:r>
                        <a:rPr lang="en-US" altLang="zh-TW" sz="1800" dirty="0" smtClean="0"/>
                        <a:t>C</a:t>
                      </a:r>
                      <a:endParaRPr lang="zh-TW" altLang="en-US" sz="1800" dirty="0"/>
                    </a:p>
                  </a:txBody>
                  <a:tcPr marL="68580" marR="68580" marT="34290" marB="34290"/>
                </a:tc>
                <a:tc>
                  <a:txBody>
                    <a:bodyPr/>
                    <a:lstStyle/>
                    <a:p>
                      <a:r>
                        <a:rPr lang="en-US" altLang="zh-TW" sz="1800" dirty="0" smtClean="0"/>
                        <a:t>B</a:t>
                      </a:r>
                      <a:endParaRPr lang="zh-TW" altLang="en-US" sz="1800" dirty="0"/>
                    </a:p>
                  </a:txBody>
                  <a:tcPr marL="68580" marR="68580" marT="34290" marB="34290"/>
                </a:tc>
                <a:tc>
                  <a:txBody>
                    <a:bodyPr/>
                    <a:lstStyle/>
                    <a:p>
                      <a:r>
                        <a:rPr lang="en-US" altLang="zh-TW" sz="1800" dirty="0" smtClean="0"/>
                        <a:t>A</a:t>
                      </a:r>
                      <a:endParaRPr lang="zh-TW" altLang="en-US" sz="1800" dirty="0"/>
                    </a:p>
                  </a:txBody>
                  <a:tcPr marL="68580" marR="68580" marT="34290" marB="34290"/>
                </a:tc>
                <a:tc>
                  <a:txBody>
                    <a:bodyPr/>
                    <a:lstStyle/>
                    <a:p>
                      <a:r>
                        <a:rPr lang="en-US" altLang="zh-TW" sz="1800" dirty="0" smtClean="0"/>
                        <a:t>A</a:t>
                      </a:r>
                      <a:endParaRPr lang="zh-TW" altLang="en-US" sz="1800" dirty="0"/>
                    </a:p>
                  </a:txBody>
                  <a:tcPr marL="68580" marR="68580" marT="34290" marB="34290"/>
                </a:tc>
                <a:tc>
                  <a:txBody>
                    <a:bodyPr/>
                    <a:lstStyle/>
                    <a:p>
                      <a:r>
                        <a:rPr lang="en-US" altLang="zh-TW" sz="1800" dirty="0" smtClean="0"/>
                        <a:t>C</a:t>
                      </a:r>
                      <a:endParaRPr lang="zh-TW" altLang="en-US" sz="1800" dirty="0"/>
                    </a:p>
                  </a:txBody>
                  <a:tcPr marL="68580" marR="68580" marT="34290" marB="34290"/>
                </a:tc>
              </a:tr>
              <a:tr h="381188">
                <a:tc>
                  <a:txBody>
                    <a:bodyPr/>
                    <a:lstStyle/>
                    <a:p>
                      <a:r>
                        <a:rPr lang="en-US" altLang="zh-TW" sz="1800" dirty="0" smtClean="0"/>
                        <a:t>ʘ</a:t>
                      </a:r>
                      <a:endParaRPr lang="zh-TW" altLang="en-US" sz="1800" dirty="0"/>
                    </a:p>
                  </a:txBody>
                  <a:tcPr marL="68580" marR="68580" marT="34290" marB="34290"/>
                </a:tc>
                <a:tc>
                  <a:txBody>
                    <a:bodyPr/>
                    <a:lstStyle/>
                    <a:p>
                      <a:r>
                        <a:rPr lang="en-US" altLang="zh-TW" sz="1800" dirty="0" smtClean="0"/>
                        <a:t>0</a:t>
                      </a:r>
                      <a:endParaRPr lang="zh-TW" altLang="en-US" sz="1800" dirty="0"/>
                    </a:p>
                  </a:txBody>
                  <a:tcPr marL="68580" marR="68580" marT="34290" marB="34290"/>
                </a:tc>
                <a:tc>
                  <a:txBody>
                    <a:bodyPr/>
                    <a:lstStyle/>
                    <a:p>
                      <a:r>
                        <a:rPr lang="en-US" altLang="zh-TW" sz="1800" dirty="0" smtClean="0"/>
                        <a:t>0</a:t>
                      </a:r>
                      <a:endParaRPr lang="zh-TW" altLang="en-US" sz="1800" dirty="0"/>
                    </a:p>
                  </a:txBody>
                  <a:tcPr marL="68580" marR="68580" marT="34290" marB="34290"/>
                </a:tc>
                <a:tc>
                  <a:txBody>
                    <a:bodyPr/>
                    <a:lstStyle/>
                    <a:p>
                      <a:r>
                        <a:rPr lang="en-US" altLang="zh-TW" sz="1800" dirty="0" smtClean="0"/>
                        <a:t>0</a:t>
                      </a:r>
                      <a:endParaRPr lang="zh-TW" altLang="en-US" sz="1800" dirty="0"/>
                    </a:p>
                  </a:txBody>
                  <a:tcPr marL="68580" marR="68580" marT="34290" marB="34290"/>
                </a:tc>
                <a:tc>
                  <a:txBody>
                    <a:bodyPr/>
                    <a:lstStyle/>
                    <a:p>
                      <a:r>
                        <a:rPr lang="en-US" altLang="zh-TW" sz="1800" dirty="0" smtClean="0"/>
                        <a:t>0</a:t>
                      </a:r>
                      <a:endParaRPr lang="zh-TW" altLang="en-US" sz="1800" dirty="0"/>
                    </a:p>
                  </a:txBody>
                  <a:tcPr marL="68580" marR="68580" marT="34290" marB="34290"/>
                </a:tc>
                <a:tc>
                  <a:txBody>
                    <a:bodyPr/>
                    <a:lstStyle/>
                    <a:p>
                      <a:r>
                        <a:rPr lang="en-US" altLang="zh-TW" sz="1800" dirty="0" smtClean="0"/>
                        <a:t>0</a:t>
                      </a:r>
                      <a:endParaRPr lang="zh-TW" altLang="en-US" sz="1800" dirty="0"/>
                    </a:p>
                  </a:txBody>
                  <a:tcPr marL="68580" marR="68580" marT="34290" marB="34290"/>
                </a:tc>
                <a:tc>
                  <a:txBody>
                    <a:bodyPr/>
                    <a:lstStyle/>
                    <a:p>
                      <a:r>
                        <a:rPr lang="en-US" altLang="zh-TW" sz="1800" dirty="0" smtClean="0"/>
                        <a:t>0</a:t>
                      </a:r>
                      <a:endParaRPr lang="zh-TW" altLang="en-US" sz="1800" dirty="0"/>
                    </a:p>
                  </a:txBody>
                  <a:tcPr marL="68580" marR="68580" marT="34290" marB="34290"/>
                </a:tc>
              </a:tr>
              <a:tr h="381188">
                <a:tc>
                  <a:txBody>
                    <a:bodyPr/>
                    <a:lstStyle/>
                    <a:p>
                      <a:r>
                        <a:rPr lang="en-US" altLang="zh-TW" sz="1800" dirty="0" smtClean="0"/>
                        <a:t>A</a:t>
                      </a:r>
                      <a:endParaRPr lang="zh-TW" altLang="en-US" sz="1800" dirty="0"/>
                    </a:p>
                  </a:txBody>
                  <a:tcPr marL="68580" marR="68580" marT="34290" marB="34290"/>
                </a:tc>
                <a:tc>
                  <a:txBody>
                    <a:bodyPr/>
                    <a:lstStyle/>
                    <a:p>
                      <a:r>
                        <a:rPr lang="en-US" altLang="zh-TW" sz="1800" dirty="0" smtClean="0"/>
                        <a:t>0</a:t>
                      </a:r>
                      <a:endParaRPr lang="zh-TW" altLang="en-US" sz="1800" dirty="0"/>
                    </a:p>
                  </a:txBody>
                  <a:tcPr marL="68580" marR="68580" marT="34290" marB="34290"/>
                </a:tc>
                <a:tc>
                  <a:txBody>
                    <a:bodyPr/>
                    <a:lstStyle/>
                    <a:p>
                      <a:r>
                        <a:rPr lang="en-US" altLang="zh-TW" sz="1800" dirty="0" smtClean="0"/>
                        <a:t>0</a:t>
                      </a:r>
                      <a:endParaRPr lang="zh-TW" altLang="en-US" sz="1800" dirty="0"/>
                    </a:p>
                  </a:txBody>
                  <a:tcPr marL="68580" marR="68580" marT="34290" marB="34290"/>
                </a:tc>
                <a:tc>
                  <a:txBody>
                    <a:bodyPr/>
                    <a:lstStyle/>
                    <a:p>
                      <a:r>
                        <a:rPr lang="en-US" altLang="zh-TW" sz="1800" dirty="0" smtClean="0"/>
                        <a:t>0</a:t>
                      </a:r>
                      <a:endParaRPr lang="zh-TW" altLang="en-US" sz="1800" dirty="0"/>
                    </a:p>
                  </a:txBody>
                  <a:tcPr marL="68580" marR="68580" marT="34290" marB="34290"/>
                </a:tc>
                <a:tc>
                  <a:txBody>
                    <a:bodyPr/>
                    <a:lstStyle/>
                    <a:p>
                      <a:r>
                        <a:rPr lang="en-US" altLang="zh-TW" sz="1800" dirty="0" smtClean="0"/>
                        <a:t>1</a:t>
                      </a:r>
                      <a:endParaRPr lang="zh-TW" altLang="en-US" sz="1800" dirty="0"/>
                    </a:p>
                  </a:txBody>
                  <a:tcPr marL="68580" marR="68580" marT="34290" marB="34290"/>
                </a:tc>
                <a:tc>
                  <a:txBody>
                    <a:bodyPr/>
                    <a:lstStyle/>
                    <a:p>
                      <a:r>
                        <a:rPr lang="en-US" altLang="zh-TW" sz="1800" dirty="0" smtClean="0"/>
                        <a:t>1</a:t>
                      </a:r>
                      <a:endParaRPr lang="zh-TW" altLang="en-US" sz="1800" dirty="0"/>
                    </a:p>
                  </a:txBody>
                  <a:tcPr marL="68580" marR="68580" marT="34290" marB="34290"/>
                </a:tc>
                <a:tc>
                  <a:txBody>
                    <a:bodyPr/>
                    <a:lstStyle/>
                    <a:p>
                      <a:r>
                        <a:rPr lang="en-US" altLang="zh-TW" sz="1800" dirty="0" smtClean="0"/>
                        <a:t>1</a:t>
                      </a:r>
                      <a:endParaRPr lang="zh-TW" altLang="en-US" sz="1800" dirty="0"/>
                    </a:p>
                  </a:txBody>
                  <a:tcPr marL="68580" marR="68580" marT="34290" marB="34290"/>
                </a:tc>
              </a:tr>
              <a:tr h="381188">
                <a:tc>
                  <a:txBody>
                    <a:bodyPr/>
                    <a:lstStyle/>
                    <a:p>
                      <a:r>
                        <a:rPr lang="en-US" altLang="zh-TW" sz="1800" dirty="0" smtClean="0"/>
                        <a:t>C</a:t>
                      </a:r>
                      <a:endParaRPr lang="zh-TW" altLang="en-US" sz="1800" dirty="0"/>
                    </a:p>
                  </a:txBody>
                  <a:tcPr marL="68580" marR="68580" marT="34290" marB="34290"/>
                </a:tc>
                <a:tc>
                  <a:txBody>
                    <a:bodyPr/>
                    <a:lstStyle/>
                    <a:p>
                      <a:r>
                        <a:rPr lang="en-US" altLang="zh-TW" sz="1800" dirty="0" smtClean="0"/>
                        <a:t>0</a:t>
                      </a:r>
                      <a:endParaRPr lang="zh-TW" altLang="en-US" sz="1800" dirty="0"/>
                    </a:p>
                  </a:txBody>
                  <a:tcPr marL="68580" marR="68580" marT="34290" marB="34290"/>
                </a:tc>
                <a:tc>
                  <a:txBody>
                    <a:bodyPr/>
                    <a:lstStyle/>
                    <a:p>
                      <a:r>
                        <a:rPr lang="en-US" altLang="zh-TW" sz="1800" dirty="0" smtClean="0"/>
                        <a:t>1</a:t>
                      </a:r>
                      <a:endParaRPr lang="zh-TW" altLang="en-US" sz="1800" dirty="0"/>
                    </a:p>
                  </a:txBody>
                  <a:tcPr marL="68580" marR="68580" marT="34290" marB="34290"/>
                </a:tc>
                <a:tc>
                  <a:txBody>
                    <a:bodyPr/>
                    <a:lstStyle/>
                    <a:p>
                      <a:r>
                        <a:rPr lang="en-US" altLang="zh-TW" sz="1800" dirty="0" smtClean="0"/>
                        <a:t>1</a:t>
                      </a:r>
                      <a:endParaRPr lang="zh-TW" altLang="en-US" sz="1800" dirty="0"/>
                    </a:p>
                  </a:txBody>
                  <a:tcPr marL="68580" marR="68580" marT="34290" marB="34290"/>
                </a:tc>
                <a:tc>
                  <a:txBody>
                    <a:bodyPr/>
                    <a:lstStyle/>
                    <a:p>
                      <a:r>
                        <a:rPr lang="en-US" altLang="zh-TW" sz="1800" dirty="0" smtClean="0"/>
                        <a:t>1</a:t>
                      </a:r>
                      <a:endParaRPr lang="zh-TW" altLang="en-US" sz="1800" dirty="0"/>
                    </a:p>
                  </a:txBody>
                  <a:tcPr marL="68580" marR="68580" marT="34290" marB="34290"/>
                </a:tc>
                <a:tc>
                  <a:txBody>
                    <a:bodyPr/>
                    <a:lstStyle/>
                    <a:p>
                      <a:r>
                        <a:rPr lang="en-US" altLang="zh-TW" sz="1800" dirty="0" smtClean="0"/>
                        <a:t>1</a:t>
                      </a:r>
                      <a:endParaRPr lang="zh-TW" altLang="en-US" sz="1800" dirty="0"/>
                    </a:p>
                  </a:txBody>
                  <a:tcPr marL="68580" marR="68580" marT="34290" marB="34290"/>
                </a:tc>
                <a:tc>
                  <a:txBody>
                    <a:bodyPr/>
                    <a:lstStyle/>
                    <a:p>
                      <a:r>
                        <a:rPr lang="en-US" altLang="zh-TW" sz="1800" dirty="0" smtClean="0"/>
                        <a:t>2</a:t>
                      </a:r>
                      <a:endParaRPr lang="zh-TW" altLang="en-US" sz="1800" dirty="0"/>
                    </a:p>
                  </a:txBody>
                  <a:tcPr marL="68580" marR="68580" marT="34290" marB="34290"/>
                </a:tc>
              </a:tr>
              <a:tr h="381188">
                <a:tc>
                  <a:txBody>
                    <a:bodyPr/>
                    <a:lstStyle/>
                    <a:p>
                      <a:r>
                        <a:rPr lang="en-US" altLang="zh-TW" sz="1800" dirty="0" smtClean="0"/>
                        <a:t>B</a:t>
                      </a:r>
                      <a:endParaRPr lang="zh-TW" altLang="en-US" sz="1800" dirty="0"/>
                    </a:p>
                  </a:txBody>
                  <a:tcPr marL="68580" marR="68580" marT="34290" marB="34290"/>
                </a:tc>
                <a:tc>
                  <a:txBody>
                    <a:bodyPr/>
                    <a:lstStyle/>
                    <a:p>
                      <a:r>
                        <a:rPr lang="en-US" altLang="zh-TW" sz="1800" dirty="0" smtClean="0"/>
                        <a:t>0</a:t>
                      </a:r>
                      <a:endParaRPr lang="zh-TW" altLang="en-US" sz="1800" dirty="0"/>
                    </a:p>
                  </a:txBody>
                  <a:tcPr marL="68580" marR="68580" marT="34290" marB="34290"/>
                </a:tc>
                <a:tc>
                  <a:txBody>
                    <a:bodyPr/>
                    <a:lstStyle/>
                    <a:p>
                      <a:r>
                        <a:rPr lang="en-US" altLang="zh-TW" sz="1800" dirty="0" smtClean="0"/>
                        <a:t>1</a:t>
                      </a:r>
                      <a:endParaRPr lang="zh-TW" altLang="en-US" sz="1800" dirty="0"/>
                    </a:p>
                  </a:txBody>
                  <a:tcPr marL="68580" marR="68580" marT="34290" marB="34290"/>
                </a:tc>
                <a:tc>
                  <a:txBody>
                    <a:bodyPr/>
                    <a:lstStyle/>
                    <a:p>
                      <a:r>
                        <a:rPr lang="en-US" altLang="zh-TW" sz="1800" dirty="0" smtClean="0"/>
                        <a:t>2</a:t>
                      </a:r>
                      <a:endParaRPr lang="zh-TW" altLang="en-US" sz="1800" dirty="0"/>
                    </a:p>
                  </a:txBody>
                  <a:tcPr marL="68580" marR="68580" marT="34290" marB="34290"/>
                </a:tc>
                <a:tc>
                  <a:txBody>
                    <a:bodyPr/>
                    <a:lstStyle/>
                    <a:p>
                      <a:r>
                        <a:rPr lang="en-US" altLang="zh-TW" sz="1800" dirty="0" smtClean="0"/>
                        <a:t>2</a:t>
                      </a:r>
                      <a:endParaRPr lang="zh-TW" altLang="en-US" sz="1800" dirty="0"/>
                    </a:p>
                  </a:txBody>
                  <a:tcPr marL="68580" marR="68580" marT="34290" marB="34290"/>
                </a:tc>
                <a:tc>
                  <a:txBody>
                    <a:bodyPr/>
                    <a:lstStyle/>
                    <a:p>
                      <a:r>
                        <a:rPr lang="en-US" altLang="zh-TW" sz="1800" dirty="0" smtClean="0"/>
                        <a:t>2</a:t>
                      </a:r>
                      <a:endParaRPr lang="zh-TW" altLang="en-US" sz="1800" dirty="0"/>
                    </a:p>
                  </a:txBody>
                  <a:tcPr marL="68580" marR="68580" marT="34290" marB="34290"/>
                </a:tc>
                <a:tc>
                  <a:txBody>
                    <a:bodyPr/>
                    <a:lstStyle/>
                    <a:p>
                      <a:r>
                        <a:rPr lang="en-US" altLang="zh-TW" sz="1800" dirty="0" smtClean="0"/>
                        <a:t>2</a:t>
                      </a:r>
                      <a:endParaRPr lang="zh-TW" altLang="en-US" sz="1800" dirty="0"/>
                    </a:p>
                  </a:txBody>
                  <a:tcPr marL="68580" marR="68580" marT="34290" marB="34290"/>
                </a:tc>
              </a:tr>
              <a:tr h="381188">
                <a:tc>
                  <a:txBody>
                    <a:bodyPr/>
                    <a:lstStyle/>
                    <a:p>
                      <a:r>
                        <a:rPr lang="en-US" altLang="zh-TW" sz="1800" dirty="0" smtClean="0"/>
                        <a:t>A</a:t>
                      </a:r>
                      <a:endParaRPr lang="zh-TW" altLang="en-US" sz="1800" dirty="0"/>
                    </a:p>
                  </a:txBody>
                  <a:tcPr marL="68580" marR="68580" marT="34290" marB="34290"/>
                </a:tc>
                <a:tc>
                  <a:txBody>
                    <a:bodyPr/>
                    <a:lstStyle/>
                    <a:p>
                      <a:r>
                        <a:rPr lang="en-US" altLang="zh-TW" sz="1800" dirty="0" smtClean="0"/>
                        <a:t>0</a:t>
                      </a:r>
                      <a:endParaRPr lang="zh-TW" altLang="en-US" sz="1800" dirty="0"/>
                    </a:p>
                  </a:txBody>
                  <a:tcPr marL="68580" marR="68580" marT="34290" marB="34290"/>
                </a:tc>
                <a:tc>
                  <a:txBody>
                    <a:bodyPr/>
                    <a:lstStyle/>
                    <a:p>
                      <a:r>
                        <a:rPr lang="en-US" altLang="zh-TW" sz="1800" dirty="0" smtClean="0"/>
                        <a:t>1</a:t>
                      </a:r>
                      <a:endParaRPr lang="zh-TW" altLang="en-US" sz="1800" dirty="0"/>
                    </a:p>
                  </a:txBody>
                  <a:tcPr marL="68580" marR="68580" marT="34290" marB="34290"/>
                </a:tc>
                <a:tc>
                  <a:txBody>
                    <a:bodyPr/>
                    <a:lstStyle/>
                    <a:p>
                      <a:r>
                        <a:rPr lang="en-US" altLang="zh-TW" sz="1800" dirty="0" smtClean="0"/>
                        <a:t>2</a:t>
                      </a:r>
                      <a:endParaRPr lang="zh-TW" altLang="en-US" sz="1800" dirty="0"/>
                    </a:p>
                  </a:txBody>
                  <a:tcPr marL="68580" marR="68580" marT="34290" marB="34290"/>
                </a:tc>
                <a:tc>
                  <a:txBody>
                    <a:bodyPr/>
                    <a:lstStyle/>
                    <a:p>
                      <a:r>
                        <a:rPr lang="en-US" altLang="zh-TW" sz="1800" dirty="0" smtClean="0"/>
                        <a:t>3</a:t>
                      </a:r>
                      <a:endParaRPr lang="zh-TW" altLang="en-US" sz="1800" dirty="0"/>
                    </a:p>
                  </a:txBody>
                  <a:tcPr marL="68580" marR="68580" marT="34290" marB="34290"/>
                </a:tc>
                <a:tc>
                  <a:txBody>
                    <a:bodyPr/>
                    <a:lstStyle/>
                    <a:p>
                      <a:r>
                        <a:rPr lang="en-US" altLang="zh-TW" sz="1800" dirty="0" smtClean="0"/>
                        <a:t>3</a:t>
                      </a:r>
                      <a:endParaRPr lang="zh-TW" altLang="en-US" sz="1800" dirty="0"/>
                    </a:p>
                  </a:txBody>
                  <a:tcPr marL="68580" marR="68580" marT="34290" marB="34290"/>
                </a:tc>
                <a:tc>
                  <a:txBody>
                    <a:bodyPr/>
                    <a:lstStyle/>
                    <a:p>
                      <a:r>
                        <a:rPr lang="en-US" altLang="zh-TW" sz="1800" dirty="0" smtClean="0"/>
                        <a:t>3</a:t>
                      </a:r>
                      <a:endParaRPr lang="zh-TW" altLang="en-US" sz="1800" dirty="0"/>
                    </a:p>
                  </a:txBody>
                  <a:tcPr marL="68580" marR="68580" marT="34290" marB="34290"/>
                </a:tc>
              </a:tr>
            </a:tbl>
          </a:graphicData>
        </a:graphic>
      </p:graphicFrame>
      <mc:AlternateContent xmlns:mc="http://schemas.openxmlformats.org/markup-compatibility/2006">
        <mc:Choice xmlns:a14="http://schemas.microsoft.com/office/drawing/2010/main" Requires="a14">
          <p:sp>
            <p:nvSpPr>
              <p:cNvPr id="8" name="文字方塊 7"/>
              <p:cNvSpPr txBox="1"/>
              <p:nvPr/>
            </p:nvSpPr>
            <p:spPr>
              <a:xfrm>
                <a:off x="555435" y="2709559"/>
                <a:ext cx="6346340" cy="415498"/>
              </a:xfrm>
              <a:prstGeom prst="rect">
                <a:avLst/>
              </a:prstGeom>
              <a:noFill/>
            </p:spPr>
            <p:txBody>
              <a:bodyPr wrap="square" rtlCol="0">
                <a:spAutoFit/>
              </a:bodyPr>
              <a:lstStyle/>
              <a:p>
                <a:r>
                  <a:rPr lang="en-US" altLang="zh-TW" sz="2100" dirty="0"/>
                  <a:t>( </a:t>
                </a:r>
                <a:r>
                  <a:rPr lang="en-US" altLang="zh-TW" sz="2100" dirty="0" err="1" smtClean="0"/>
                  <a:t>i,j</a:t>
                </a:r>
                <a:r>
                  <a:rPr lang="en-US" altLang="zh-TW" sz="2100" dirty="0" smtClean="0"/>
                  <a:t>) </a:t>
                </a:r>
                <a:r>
                  <a:rPr lang="en-US" altLang="zh-TW" dirty="0">
                    <a:latin typeface="Times New Roman" panose="02020603050405020304" pitchFamily="18" charset="0"/>
                    <a:cs typeface="Times New Roman" panose="02020603050405020304" pitchFamily="18" charset="0"/>
                  </a:rPr>
                  <a:t>such that </a:t>
                </a:r>
                <a14:m>
                  <m:oMath xmlns:m="http://schemas.openxmlformats.org/officeDocument/2006/math">
                    <m:r>
                      <a:rPr lang="en-US" altLang="zh-TW" sz="2100" i="1" dirty="0">
                        <a:latin typeface="Cambria Math" panose="02040503050406030204" pitchFamily="18" charset="0"/>
                      </a:rPr>
                      <m:t>𝑙</m:t>
                    </m:r>
                    <m:r>
                      <a:rPr lang="en-US" altLang="zh-TW" sz="2100" i="1" baseline="-25000" dirty="0">
                        <a:latin typeface="Cambria Math" panose="02040503050406030204" pitchFamily="18" charset="0"/>
                      </a:rPr>
                      <m:t>𝑖</m:t>
                    </m:r>
                  </m:oMath>
                </a14:m>
                <a:r>
                  <a:rPr lang="en-US" altLang="zh-TW" sz="2100" baseline="-25000" dirty="0"/>
                  <a:t>,j  </a:t>
                </a:r>
                <a:r>
                  <a:rPr lang="en-US" altLang="zh-TW" sz="2100" dirty="0"/>
                  <a:t>=  </a:t>
                </a:r>
                <a14:m>
                  <m:oMath xmlns:m="http://schemas.openxmlformats.org/officeDocument/2006/math">
                    <m:r>
                      <a:rPr lang="en-US" altLang="zh-TW" sz="2100" i="1" dirty="0">
                        <a:latin typeface="Cambria Math" panose="02040503050406030204" pitchFamily="18" charset="0"/>
                      </a:rPr>
                      <m:t>𝑙</m:t>
                    </m:r>
                    <m:r>
                      <a:rPr lang="en-US" altLang="zh-TW" sz="2100" i="1" baseline="-25000" dirty="0">
                        <a:latin typeface="Cambria Math" panose="02040503050406030204" pitchFamily="18" charset="0"/>
                      </a:rPr>
                      <m:t>𝑖</m:t>
                    </m:r>
                  </m:oMath>
                </a14:m>
                <a:r>
                  <a:rPr lang="en-US" altLang="zh-TW" sz="2100" baseline="-25000" dirty="0"/>
                  <a:t>’</a:t>
                </a:r>
                <a:r>
                  <a:rPr lang="en-US" altLang="zh-TW" sz="2100" dirty="0"/>
                  <a:t>,</a:t>
                </a:r>
                <a:r>
                  <a:rPr lang="en-US" altLang="zh-TW" sz="2100" baseline="-25000" dirty="0"/>
                  <a:t> j’       </a:t>
                </a:r>
                <a:r>
                  <a:rPr lang="en-US" altLang="zh-TW" sz="2100" dirty="0" err="1"/>
                  <a:t>i</a:t>
                </a:r>
                <a:r>
                  <a:rPr lang="en-US" altLang="zh-TW" sz="2100" dirty="0"/>
                  <a:t>’ &gt; </a:t>
                </a:r>
                <a:r>
                  <a:rPr lang="en-US" altLang="zh-TW" sz="2100" dirty="0" err="1"/>
                  <a:t>i</a:t>
                </a:r>
                <a:r>
                  <a:rPr lang="en-US" altLang="zh-TW" sz="2100" dirty="0"/>
                  <a:t> and j’ ≤  j or </a:t>
                </a:r>
                <a:r>
                  <a:rPr lang="en-US" altLang="zh-TW" sz="2100" dirty="0" err="1"/>
                  <a:t>i</a:t>
                </a:r>
                <a:r>
                  <a:rPr lang="en-US" altLang="zh-TW" sz="2100" dirty="0"/>
                  <a:t>’ ≤  </a:t>
                </a:r>
                <a:r>
                  <a:rPr lang="en-US" altLang="zh-TW" sz="2100" dirty="0" err="1"/>
                  <a:t>i</a:t>
                </a:r>
                <a:r>
                  <a:rPr lang="en-US" altLang="zh-TW" sz="2100" dirty="0"/>
                  <a:t> and j’ &gt; j</a:t>
                </a:r>
                <a:endParaRPr lang="zh-TW" altLang="en-US" sz="2100" dirty="0"/>
              </a:p>
            </p:txBody>
          </p:sp>
        </mc:Choice>
        <mc:Fallback>
          <p:sp>
            <p:nvSpPr>
              <p:cNvPr id="8" name="文字方塊 7"/>
              <p:cNvSpPr txBox="1">
                <a:spLocks noRot="1" noChangeAspect="1" noMove="1" noResize="1" noEditPoints="1" noAdjustHandles="1" noChangeArrowheads="1" noChangeShapeType="1" noTextEdit="1"/>
              </p:cNvSpPr>
              <p:nvPr/>
            </p:nvSpPr>
            <p:spPr>
              <a:xfrm>
                <a:off x="555435" y="2709559"/>
                <a:ext cx="6346340" cy="415498"/>
              </a:xfrm>
              <a:prstGeom prst="rect">
                <a:avLst/>
              </a:prstGeom>
              <a:blipFill rotWithShape="0">
                <a:blip r:embed="rId2"/>
                <a:stretch>
                  <a:fillRect l="-1153" t="-8696" b="-27536"/>
                </a:stretch>
              </a:blipFill>
            </p:spPr>
            <p:txBody>
              <a:bodyPr/>
              <a:lstStyle/>
              <a:p>
                <a:r>
                  <a:rPr lang="zh-TW" altLang="en-US">
                    <a:noFill/>
                  </a:rPr>
                  <a:t> </a:t>
                </a:r>
              </a:p>
            </p:txBody>
          </p:sp>
        </mc:Fallback>
      </mc:AlternateContent>
      <p:sp>
        <p:nvSpPr>
          <p:cNvPr id="9" name="橢圓 8"/>
          <p:cNvSpPr/>
          <p:nvPr/>
        </p:nvSpPr>
        <p:spPr>
          <a:xfrm>
            <a:off x="6461314" y="4608919"/>
            <a:ext cx="209650" cy="26371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350"/>
          </a:p>
        </p:txBody>
      </p:sp>
      <p:sp>
        <p:nvSpPr>
          <p:cNvPr id="10" name="橢圓 9"/>
          <p:cNvSpPr/>
          <p:nvPr/>
        </p:nvSpPr>
        <p:spPr>
          <a:xfrm>
            <a:off x="4572000" y="5389032"/>
            <a:ext cx="207818" cy="2636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lang="zh-TW" altLang="en-US" sz="1350"/>
          </a:p>
        </p:txBody>
      </p:sp>
    </p:spTree>
    <p:extLst>
      <p:ext uri="{BB962C8B-B14F-4D97-AF65-F5344CB8AC3E}">
        <p14:creationId xmlns:p14="http://schemas.microsoft.com/office/powerpoint/2010/main" val="257319150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358486" y="354735"/>
            <a:ext cx="7886700" cy="1325563"/>
          </a:xfrm>
        </p:spPr>
        <p:txBody>
          <a:bodyPr>
            <a:normAutofit/>
          </a:bodyPr>
          <a:lstStyle/>
          <a:p>
            <a:r>
              <a:rPr lang="en-US" altLang="zh-TW" sz="3600" dirty="0">
                <a:latin typeface="Times New Roman" panose="02020603050405020304" pitchFamily="18" charset="0"/>
                <a:cs typeface="Times New Roman" panose="02020603050405020304" pitchFamily="18" charset="0"/>
              </a:rPr>
              <a:t>Van </a:t>
            </a:r>
            <a:r>
              <a:rPr lang="en-US" altLang="zh-TW" sz="3600" dirty="0" err="1">
                <a:latin typeface="Times New Roman" panose="02020603050405020304" pitchFamily="18" charset="0"/>
                <a:cs typeface="Times New Roman" panose="02020603050405020304" pitchFamily="18" charset="0"/>
              </a:rPr>
              <a:t>Emde</a:t>
            </a:r>
            <a:r>
              <a:rPr lang="en-US" altLang="zh-TW" sz="3600" dirty="0">
                <a:latin typeface="Times New Roman" panose="02020603050405020304" pitchFamily="18" charset="0"/>
                <a:cs typeface="Times New Roman" panose="02020603050405020304" pitchFamily="18" charset="0"/>
              </a:rPr>
              <a:t> Boas </a:t>
            </a:r>
            <a:r>
              <a:rPr lang="en-US" altLang="zh-TW" sz="3600" dirty="0" smtClean="0">
                <a:latin typeface="Times New Roman" panose="02020603050405020304" pitchFamily="18" charset="0"/>
                <a:cs typeface="Times New Roman" panose="02020603050405020304" pitchFamily="18" charset="0"/>
              </a:rPr>
              <a:t>tree</a:t>
            </a:r>
            <a:endParaRPr lang="zh-TW" altLang="en-US" sz="3600" dirty="0">
              <a:latin typeface="Times New Roman" panose="02020603050405020304" pitchFamily="18" charset="0"/>
              <a:cs typeface="Times New Roman" panose="02020603050405020304" pitchFamily="18" charset="0"/>
            </a:endParaRPr>
          </a:p>
        </p:txBody>
      </p:sp>
      <p:sp>
        <p:nvSpPr>
          <p:cNvPr id="5" name="文字方塊 4"/>
          <p:cNvSpPr txBox="1"/>
          <p:nvPr/>
        </p:nvSpPr>
        <p:spPr>
          <a:xfrm>
            <a:off x="274980" y="1839191"/>
            <a:ext cx="8576387" cy="3970318"/>
          </a:xfrm>
          <a:prstGeom prst="rect">
            <a:avLst/>
          </a:prstGeom>
          <a:noFill/>
        </p:spPr>
        <p:txBody>
          <a:bodyPr wrap="none" rtlCol="0">
            <a:spAutoFit/>
          </a:bodyPr>
          <a:lstStyle/>
          <a:p>
            <a:r>
              <a:rPr lang="zh-TW" altLang="en-US" dirty="0"/>
              <a:t>置放大量正整數（與零）的資料結構，並且可以作為 </a:t>
            </a:r>
            <a:r>
              <a:rPr lang="en-US" altLang="zh-TW" dirty="0"/>
              <a:t>Double Ended Priority Queue </a:t>
            </a:r>
            <a:r>
              <a:rPr lang="zh-TW" altLang="en-US" dirty="0" smtClean="0"/>
              <a:t>。</a:t>
            </a:r>
            <a:endParaRPr lang="en-US" altLang="zh-TW" dirty="0" smtClean="0"/>
          </a:p>
          <a:p>
            <a:endParaRPr lang="en-US" altLang="zh-TW" dirty="0"/>
          </a:p>
          <a:p>
            <a:r>
              <a:rPr lang="en-US" altLang="zh-TW" dirty="0">
                <a:latin typeface="Times New Roman" panose="02020603050405020304" pitchFamily="18" charset="0"/>
                <a:cs typeface="Times New Roman" panose="02020603050405020304" pitchFamily="18" charset="0"/>
              </a:rPr>
              <a:t>Supported </a:t>
            </a:r>
            <a:r>
              <a:rPr lang="en-US" altLang="zh-TW" dirty="0" smtClean="0">
                <a:latin typeface="Times New Roman" panose="02020603050405020304" pitchFamily="18" charset="0"/>
                <a:cs typeface="Times New Roman" panose="02020603050405020304" pitchFamily="18" charset="0"/>
              </a:rPr>
              <a:t>operations:</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Insert: insert a key/value pair with an m-bit </a:t>
            </a:r>
            <a:r>
              <a:rPr lang="en-US" altLang="zh-TW" dirty="0" smtClean="0">
                <a:latin typeface="Times New Roman" panose="02020603050405020304" pitchFamily="18" charset="0"/>
                <a:cs typeface="Times New Roman" panose="02020603050405020304" pitchFamily="18" charset="0"/>
              </a:rPr>
              <a:t>key</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Delete: remove the key/value pair with a given </a:t>
            </a:r>
            <a:r>
              <a:rPr lang="en-US" altLang="zh-TW" dirty="0" smtClean="0">
                <a:latin typeface="Times New Roman" panose="02020603050405020304" pitchFamily="18" charset="0"/>
                <a:cs typeface="Times New Roman" panose="02020603050405020304" pitchFamily="18" charset="0"/>
              </a:rPr>
              <a:t>key</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Lookup: find the value associated with a given </a:t>
            </a:r>
            <a:r>
              <a:rPr lang="en-US" altLang="zh-TW" dirty="0" smtClean="0">
                <a:latin typeface="Times New Roman" panose="02020603050405020304" pitchFamily="18" charset="0"/>
                <a:cs typeface="Times New Roman" panose="02020603050405020304" pitchFamily="18" charset="0"/>
              </a:rPr>
              <a:t>key</a:t>
            </a:r>
          </a:p>
          <a:p>
            <a:endParaRPr lang="en-US" altLang="zh-TW" dirty="0">
              <a:latin typeface="Times New Roman" panose="02020603050405020304" pitchFamily="18" charset="0"/>
              <a:cs typeface="Times New Roman" panose="02020603050405020304" pitchFamily="18" charset="0"/>
            </a:endParaRPr>
          </a:p>
          <a:p>
            <a:r>
              <a:rPr lang="en-US" altLang="zh-TW" dirty="0" err="1">
                <a:latin typeface="Times New Roman" panose="02020603050405020304" pitchFamily="18" charset="0"/>
                <a:cs typeface="Times New Roman" panose="02020603050405020304" pitchFamily="18" charset="0"/>
              </a:rPr>
              <a:t>FindNext</a:t>
            </a:r>
            <a:r>
              <a:rPr lang="en-US" altLang="zh-TW" dirty="0">
                <a:latin typeface="Times New Roman" panose="02020603050405020304" pitchFamily="18" charset="0"/>
                <a:cs typeface="Times New Roman" panose="02020603050405020304" pitchFamily="18" charset="0"/>
              </a:rPr>
              <a:t>: find the key/value pair with the smallest key at least a given </a:t>
            </a:r>
            <a:r>
              <a:rPr lang="en-US" altLang="zh-TW" dirty="0" smtClean="0">
                <a:latin typeface="Times New Roman" panose="02020603050405020304" pitchFamily="18" charset="0"/>
                <a:cs typeface="Times New Roman" panose="02020603050405020304" pitchFamily="18" charset="0"/>
              </a:rPr>
              <a:t>k</a:t>
            </a:r>
          </a:p>
          <a:p>
            <a:endParaRPr lang="en-US" altLang="zh-TW" dirty="0">
              <a:latin typeface="Times New Roman" panose="02020603050405020304" pitchFamily="18" charset="0"/>
              <a:cs typeface="Times New Roman" panose="02020603050405020304" pitchFamily="18" charset="0"/>
            </a:endParaRPr>
          </a:p>
          <a:p>
            <a:r>
              <a:rPr lang="en-US" altLang="zh-TW" dirty="0" err="1">
                <a:latin typeface="Times New Roman" panose="02020603050405020304" pitchFamily="18" charset="0"/>
                <a:cs typeface="Times New Roman" panose="02020603050405020304" pitchFamily="18" charset="0"/>
              </a:rPr>
              <a:t>FindPrevious</a:t>
            </a:r>
            <a:r>
              <a:rPr lang="en-US" altLang="zh-TW" dirty="0">
                <a:latin typeface="Times New Roman" panose="02020603050405020304" pitchFamily="18" charset="0"/>
                <a:cs typeface="Times New Roman" panose="02020603050405020304" pitchFamily="18" charset="0"/>
              </a:rPr>
              <a:t>: find the key/value pair with the largest key at most a given k</a:t>
            </a:r>
          </a:p>
          <a:p>
            <a:endParaRPr lang="zh-TW" altLang="en-US" dirty="0"/>
          </a:p>
        </p:txBody>
      </p:sp>
    </p:spTree>
    <p:extLst>
      <p:ext uri="{BB962C8B-B14F-4D97-AF65-F5344CB8AC3E}">
        <p14:creationId xmlns:p14="http://schemas.microsoft.com/office/powerpoint/2010/main" val="1431594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2700" dirty="0">
                <a:latin typeface="Times New Roman" panose="02020603050405020304" pitchFamily="18" charset="0"/>
                <a:cs typeface="Times New Roman" panose="02020603050405020304" pitchFamily="18" charset="0"/>
              </a:rPr>
              <a:t>LIS(Longest Increasing Subsequence)</a:t>
            </a:r>
            <a:endParaRPr lang="zh-TW" altLang="en-US" sz="27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字方塊 3"/>
              <p:cNvSpPr txBox="1"/>
              <p:nvPr/>
            </p:nvSpPr>
            <p:spPr>
              <a:xfrm>
                <a:off x="628650" y="2130693"/>
                <a:ext cx="6753785" cy="923330"/>
              </a:xfrm>
              <a:prstGeom prst="rect">
                <a:avLst/>
              </a:prstGeom>
              <a:noFill/>
            </p:spPr>
            <p:txBody>
              <a:bodyPr wrap="square" rtlCol="0">
                <a:spAutoFit/>
              </a:bodyPr>
              <a:lstStyle/>
              <a:p>
                <a:r>
                  <a:rPr lang="en-US" altLang="zh-TW" dirty="0">
                    <a:latin typeface="Times New Roman" panose="02020603050405020304" pitchFamily="18" charset="0"/>
                    <a:cs typeface="Times New Roman" panose="02020603050405020304" pitchFamily="18" charset="0"/>
                  </a:rPr>
                  <a:t>X is an integer which is being appended to A.</a:t>
                </a:r>
              </a:p>
              <a:p>
                <a:r>
                  <a:rPr lang="en-US" altLang="zh-TW" dirty="0">
                    <a:latin typeface="Times New Roman" panose="02020603050405020304" pitchFamily="18" charset="0"/>
                    <a:cs typeface="Times New Roman" panose="02020603050405020304" pitchFamily="18" charset="0"/>
                  </a:rPr>
                  <a:t>An online algorithm which determines the LIS length of </a:t>
                </a:r>
                <a14:m>
                  <m:oMath xmlns:m="http://schemas.openxmlformats.org/officeDocument/2006/math">
                    <m:r>
                      <a:rPr lang="en-US" altLang="zh-TW" i="1">
                        <a:latin typeface="Cambria Math" panose="02040503050406030204" pitchFamily="18" charset="0"/>
                        <a:cs typeface="Times New Roman" panose="02020603050405020304" pitchFamily="18" charset="0"/>
                      </a:rPr>
                      <m:t>𝐴</m:t>
                    </m:r>
                    <m:r>
                      <a:rPr lang="en-US" altLang="zh-TW" i="1">
                        <a:latin typeface="Cambria Math" panose="02040503050406030204" pitchFamily="18" charset="0"/>
                        <a:cs typeface="Times New Roman" panose="02020603050405020304" pitchFamily="18" charset="0"/>
                      </a:rPr>
                      <m:t>′</m:t>
                    </m:r>
                  </m:oMath>
                </a14:m>
                <a:r>
                  <a:rPr lang="en-US" altLang="zh-TW" dirty="0">
                    <a:latin typeface="Times New Roman" panose="02020603050405020304" pitchFamily="18" charset="0"/>
                    <a:cs typeface="Times New Roman" panose="02020603050405020304" pitchFamily="18" charset="0"/>
                  </a:rPr>
                  <a:t> which is </a:t>
                </a:r>
                <a14:m>
                  <m:oMath xmlns:m="http://schemas.openxmlformats.org/officeDocument/2006/math">
                    <m:r>
                      <a:rPr lang="en-US" altLang="zh-TW" i="1">
                        <a:latin typeface="Cambria Math" panose="02040503050406030204" pitchFamily="18" charset="0"/>
                        <a:cs typeface="Times New Roman" panose="02020603050405020304" pitchFamily="18" charset="0"/>
                      </a:rPr>
                      <m:t>𝐴</m:t>
                    </m:r>
                    <m:r>
                      <a:rPr lang="en-US" altLang="zh-TW" i="1">
                        <a:latin typeface="Cambria Math" panose="02040503050406030204" pitchFamily="18" charset="0"/>
                        <a:cs typeface="Times New Roman" panose="02020603050405020304" pitchFamily="18" charset="0"/>
                      </a:rPr>
                      <m:t> </m:t>
                    </m:r>
                  </m:oMath>
                </a14:m>
                <a:r>
                  <a:rPr lang="en-US" altLang="zh-TW" dirty="0">
                    <a:latin typeface="Times New Roman" panose="02020603050405020304" pitchFamily="18" charset="0"/>
                    <a:cs typeface="Times New Roman" panose="02020603050405020304" pitchFamily="18" charset="0"/>
                  </a:rPr>
                  <a:t>appended by x.   </a:t>
                </a:r>
                <a:endParaRPr lang="en-US" altLang="zh-TW" dirty="0" smtClean="0">
                  <a:latin typeface="Times New Roman" panose="02020603050405020304" pitchFamily="18" charset="0"/>
                  <a:cs typeface="Times New Roman" panose="02020603050405020304" pitchFamily="18" charset="0"/>
                </a:endParaRPr>
              </a:p>
            </p:txBody>
          </p:sp>
        </mc:Choice>
        <mc:Fallback xmlns="">
          <p:sp>
            <p:nvSpPr>
              <p:cNvPr id="4" name="文字方塊 3"/>
              <p:cNvSpPr txBox="1">
                <a:spLocks noRot="1" noChangeAspect="1" noMove="1" noResize="1" noEditPoints="1" noAdjustHandles="1" noChangeArrowheads="1" noChangeShapeType="1" noTextEdit="1"/>
              </p:cNvSpPr>
              <p:nvPr/>
            </p:nvSpPr>
            <p:spPr>
              <a:xfrm>
                <a:off x="628650" y="2130693"/>
                <a:ext cx="6753785" cy="923330"/>
              </a:xfrm>
              <a:prstGeom prst="rect">
                <a:avLst/>
              </a:prstGeom>
              <a:blipFill rotWithShape="0">
                <a:blip r:embed="rId2"/>
                <a:stretch>
                  <a:fillRect l="-722" t="-3974" b="-9934"/>
                </a:stretch>
              </a:blipFill>
            </p:spPr>
            <p:txBody>
              <a:bodyPr/>
              <a:lstStyle/>
              <a:p>
                <a:r>
                  <a:rPr lang="zh-TW" altLang="en-US">
                    <a:noFill/>
                  </a:rPr>
                  <a:t> </a:t>
                </a:r>
              </a:p>
            </p:txBody>
          </p:sp>
        </mc:Fallback>
      </mc:AlternateContent>
      <p:sp>
        <p:nvSpPr>
          <p:cNvPr id="5" name="文字方塊 4"/>
          <p:cNvSpPr txBox="1"/>
          <p:nvPr/>
        </p:nvSpPr>
        <p:spPr>
          <a:xfrm>
            <a:off x="628650" y="1754449"/>
            <a:ext cx="3252171" cy="738664"/>
          </a:xfrm>
          <a:prstGeom prst="rect">
            <a:avLst/>
          </a:prstGeom>
          <a:noFill/>
        </p:spPr>
        <p:txBody>
          <a:bodyPr wrap="square" rtlCol="0">
            <a:spAutoFit/>
          </a:bodyPr>
          <a:lstStyle/>
          <a:p>
            <a:r>
              <a:rPr lang="en-US" altLang="zh-TW" sz="2100" dirty="0">
                <a:latin typeface="Times New Roman" panose="02020603050405020304" pitchFamily="18" charset="0"/>
                <a:cs typeface="Times New Roman" panose="02020603050405020304" pitchFamily="18" charset="0"/>
              </a:rPr>
              <a:t>Sequence A: 1 2 4 3 5 3 7</a:t>
            </a:r>
          </a:p>
          <a:p>
            <a:endParaRPr lang="zh-TW" altLang="en-US" sz="2100" dirty="0"/>
          </a:p>
        </p:txBody>
      </p:sp>
      <p:pic>
        <p:nvPicPr>
          <p:cNvPr id="6" name="圖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3133176"/>
            <a:ext cx="5901299" cy="348243"/>
          </a:xfrm>
          <a:prstGeom prst="rect">
            <a:avLst/>
          </a:prstGeom>
        </p:spPr>
      </p:pic>
      <p:pic>
        <p:nvPicPr>
          <p:cNvPr id="7" name="圖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309" y="3546548"/>
            <a:ext cx="2286258" cy="248715"/>
          </a:xfrm>
          <a:prstGeom prst="rect">
            <a:avLst/>
          </a:prstGeom>
        </p:spPr>
      </p:pic>
      <p:sp>
        <p:nvSpPr>
          <p:cNvPr id="8" name="文字方塊 7"/>
          <p:cNvSpPr txBox="1"/>
          <p:nvPr/>
        </p:nvSpPr>
        <p:spPr>
          <a:xfrm>
            <a:off x="2958567" y="3493310"/>
            <a:ext cx="583686" cy="338554"/>
          </a:xfrm>
          <a:prstGeom prst="rect">
            <a:avLst/>
          </a:prstGeom>
          <a:noFill/>
        </p:spPr>
        <p:txBody>
          <a:bodyPr wrap="none" rtlCol="0">
            <a:spAutoFit/>
          </a:bodyPr>
          <a:lstStyle/>
          <a:p>
            <a:r>
              <a:rPr lang="en-US" altLang="zh-TW" sz="1600" dirty="0">
                <a:latin typeface="Times New Roman" panose="02020603050405020304" pitchFamily="18" charset="0"/>
                <a:cs typeface="Times New Roman" panose="02020603050405020304" pitchFamily="18" charset="0"/>
              </a:rPr>
              <a:t>in A.</a:t>
            </a:r>
            <a:endParaRPr lang="zh-TW" altLang="en-US" sz="1600" dirty="0">
              <a:latin typeface="Times New Roman" panose="02020603050405020304" pitchFamily="18" charset="0"/>
              <a:cs typeface="Times New Roman" panose="02020603050405020304" pitchFamily="18" charset="0"/>
            </a:endParaRPr>
          </a:p>
        </p:txBody>
      </p:sp>
      <p:pic>
        <p:nvPicPr>
          <p:cNvPr id="9" name="圖片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5750" y="3964709"/>
            <a:ext cx="4634395" cy="338278"/>
          </a:xfrm>
          <a:prstGeom prst="rect">
            <a:avLst/>
          </a:prstGeom>
        </p:spPr>
      </p:pic>
      <p:pic>
        <p:nvPicPr>
          <p:cNvPr id="10" name="圖片 9"/>
          <p:cNvPicPr>
            <a:picLocks noChangeAspect="1"/>
          </p:cNvPicPr>
          <p:nvPr/>
        </p:nvPicPr>
        <p:blipFill>
          <a:blip r:embed="rId6"/>
          <a:stretch>
            <a:fillRect/>
          </a:stretch>
        </p:blipFill>
        <p:spPr>
          <a:xfrm>
            <a:off x="628650" y="4468912"/>
            <a:ext cx="3139216" cy="784804"/>
          </a:xfrm>
          <a:prstGeom prst="rect">
            <a:avLst/>
          </a:prstGeom>
        </p:spPr>
      </p:pic>
    </p:spTree>
    <p:extLst>
      <p:ext uri="{BB962C8B-B14F-4D97-AF65-F5344CB8AC3E}">
        <p14:creationId xmlns:p14="http://schemas.microsoft.com/office/powerpoint/2010/main" val="2582612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13491" y="1380944"/>
            <a:ext cx="4572000" cy="461665"/>
          </a:xfrm>
          <a:prstGeom prst="rect">
            <a:avLst/>
          </a:prstGeom>
        </p:spPr>
        <p:txBody>
          <a:bodyPr>
            <a:spAutoFit/>
          </a:bodyPr>
          <a:lstStyle/>
          <a:p>
            <a:r>
              <a:rPr lang="en-US" altLang="zh-TW" sz="2400" dirty="0" smtClean="0">
                <a:latin typeface="Times New Roman" panose="02020603050405020304" pitchFamily="18" charset="0"/>
                <a:cs typeface="Times New Roman" panose="02020603050405020304" pitchFamily="18" charset="0"/>
              </a:rPr>
              <a:t>Sequence A: 1 2 4 3 5 3 7</a:t>
            </a:r>
          </a:p>
        </p:txBody>
      </p:sp>
      <p:sp>
        <p:nvSpPr>
          <p:cNvPr id="5" name="矩形 4"/>
          <p:cNvSpPr/>
          <p:nvPr/>
        </p:nvSpPr>
        <p:spPr>
          <a:xfrm>
            <a:off x="513491" y="334878"/>
            <a:ext cx="6999135" cy="584775"/>
          </a:xfrm>
          <a:prstGeom prst="rect">
            <a:avLst/>
          </a:prstGeom>
        </p:spPr>
        <p:txBody>
          <a:bodyPr wrap="square">
            <a:spAutoFit/>
          </a:bodyPr>
          <a:lstStyle/>
          <a:p>
            <a:r>
              <a:rPr lang="en-US" altLang="zh-TW" sz="3200" dirty="0" smtClean="0">
                <a:latin typeface="Times New Roman" panose="02020603050405020304" pitchFamily="18" charset="0"/>
                <a:cs typeface="Times New Roman" panose="02020603050405020304" pitchFamily="18" charset="0"/>
              </a:rPr>
              <a:t>LIS(Longest Increasing Subsequence)</a:t>
            </a:r>
            <a:endParaRPr lang="zh-TW" altLang="en-US" sz="3200" dirty="0"/>
          </a:p>
        </p:txBody>
      </p:sp>
      <p:graphicFrame>
        <p:nvGraphicFramePr>
          <p:cNvPr id="9" name="表格 8"/>
          <p:cNvGraphicFramePr>
            <a:graphicFrameLocks noGrp="1"/>
          </p:cNvGraphicFramePr>
          <p:nvPr>
            <p:extLst>
              <p:ext uri="{D42A27DB-BD31-4B8C-83A1-F6EECF244321}">
                <p14:modId xmlns:p14="http://schemas.microsoft.com/office/powerpoint/2010/main" val="2861468968"/>
              </p:ext>
            </p:extLst>
          </p:nvPr>
        </p:nvGraphicFramePr>
        <p:xfrm>
          <a:off x="513489" y="1888181"/>
          <a:ext cx="6096000" cy="1112520"/>
        </p:xfrm>
        <a:graphic>
          <a:graphicData uri="http://schemas.openxmlformats.org/drawingml/2006/table">
            <a:tbl>
              <a:tblPr firstRow="1" bandRow="1">
                <a:tableStyleId>{5C22544A-7EE6-4342-B048-85BDC9FD1C3A}</a:tableStyleId>
              </a:tblPr>
              <a:tblGrid>
                <a:gridCol w="60960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input: 1</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endpoints: 1</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size: 1</a:t>
                      </a:r>
                      <a:endParaRPr lang="zh-TW" altLang="en-US" sz="1800" dirty="0" smtClean="0"/>
                    </a:p>
                  </a:txBody>
                  <a:tcPr/>
                </a:tc>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1468850077"/>
              </p:ext>
            </p:extLst>
          </p:nvPr>
        </p:nvGraphicFramePr>
        <p:xfrm>
          <a:off x="513489" y="3412969"/>
          <a:ext cx="6096000" cy="1112520"/>
        </p:xfrm>
        <a:graphic>
          <a:graphicData uri="http://schemas.openxmlformats.org/drawingml/2006/table">
            <a:tbl>
              <a:tblPr firstRow="1" bandRow="1">
                <a:tableStyleId>{5C22544A-7EE6-4342-B048-85BDC9FD1C3A}</a:tableStyleId>
              </a:tblPr>
              <a:tblGrid>
                <a:gridCol w="60960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input: 1 2</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endpoints: 1</a:t>
                      </a:r>
                      <a:r>
                        <a:rPr lang="en-US" altLang="zh-TW" sz="1800" baseline="0" dirty="0" smtClean="0"/>
                        <a:t> 2</a:t>
                      </a:r>
                      <a:endParaRPr lang="en-US" altLang="zh-TW" sz="1800"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size: 2</a:t>
                      </a:r>
                      <a:endParaRPr lang="zh-TW" altLang="en-US" sz="1800" dirty="0" smtClean="0"/>
                    </a:p>
                  </a:txBody>
                  <a:tcPr/>
                </a:tc>
              </a:tr>
            </a:tbl>
          </a:graphicData>
        </a:graphic>
      </p:graphicFrame>
      <p:graphicFrame>
        <p:nvGraphicFramePr>
          <p:cNvPr id="11" name="表格 10"/>
          <p:cNvGraphicFramePr>
            <a:graphicFrameLocks noGrp="1"/>
          </p:cNvGraphicFramePr>
          <p:nvPr>
            <p:extLst>
              <p:ext uri="{D42A27DB-BD31-4B8C-83A1-F6EECF244321}">
                <p14:modId xmlns:p14="http://schemas.microsoft.com/office/powerpoint/2010/main" val="4000833097"/>
              </p:ext>
            </p:extLst>
          </p:nvPr>
        </p:nvGraphicFramePr>
        <p:xfrm>
          <a:off x="437289" y="4938608"/>
          <a:ext cx="6096000" cy="1112520"/>
        </p:xfrm>
        <a:graphic>
          <a:graphicData uri="http://schemas.openxmlformats.org/drawingml/2006/table">
            <a:tbl>
              <a:tblPr firstRow="1" bandRow="1">
                <a:tableStyleId>{5C22544A-7EE6-4342-B048-85BDC9FD1C3A}</a:tableStyleId>
              </a:tblPr>
              <a:tblGrid>
                <a:gridCol w="60960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input: 1 2 4</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endpoints: 1 2 4</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size: 3</a:t>
                      </a:r>
                      <a:endParaRPr lang="zh-TW" altLang="en-US" sz="1800" dirty="0" smtClean="0"/>
                    </a:p>
                  </a:txBody>
                  <a:tcPr/>
                </a:tc>
              </a:tr>
            </a:tbl>
          </a:graphicData>
        </a:graphic>
      </p:graphicFrame>
    </p:spTree>
    <p:extLst>
      <p:ext uri="{BB962C8B-B14F-4D97-AF65-F5344CB8AC3E}">
        <p14:creationId xmlns:p14="http://schemas.microsoft.com/office/powerpoint/2010/main" val="41554548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1390560781"/>
                  </p:ext>
                </p:extLst>
              </p:nvPr>
            </p:nvGraphicFramePr>
            <p:xfrm>
              <a:off x="534271" y="1056197"/>
              <a:ext cx="6096000" cy="1112520"/>
            </p:xfrm>
            <a:graphic>
              <a:graphicData uri="http://schemas.openxmlformats.org/drawingml/2006/table">
                <a:tbl>
                  <a:tblPr firstRow="1" bandRow="1">
                    <a:tableStyleId>{5C22544A-7EE6-4342-B048-85BDC9FD1C3A}</a:tableStyleId>
                  </a:tblPr>
                  <a:tblGrid>
                    <a:gridCol w="60960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input: 1 2 4 3</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endpoints: 1 2 4</a:t>
                          </a:r>
                          <a14:m>
                            <m:oMath xmlns:m="http://schemas.openxmlformats.org/officeDocument/2006/math">
                              <m:r>
                                <a:rPr lang="en-US" altLang="zh-TW" sz="1800" i="1" smtClean="0">
                                  <a:latin typeface="Cambria Math" panose="02040503050406030204" pitchFamily="18" charset="0"/>
                                  <a:ea typeface="Cambria Math" panose="02040503050406030204" pitchFamily="18" charset="0"/>
                                </a:rPr>
                                <m:t>→</m:t>
                              </m:r>
                            </m:oMath>
                          </a14:m>
                          <a:r>
                            <a:rPr lang="en-US" altLang="zh-TW" sz="1800" dirty="0" smtClean="0"/>
                            <a:t>3</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size: 3</a:t>
                          </a:r>
                          <a:endParaRPr lang="zh-TW" altLang="en-US" sz="1800" dirty="0" smtClean="0"/>
                        </a:p>
                      </a:txBody>
                      <a:tcPr/>
                    </a:tc>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1390560781"/>
                  </p:ext>
                </p:extLst>
              </p:nvPr>
            </p:nvGraphicFramePr>
            <p:xfrm>
              <a:off x="534271" y="1056197"/>
              <a:ext cx="6096000" cy="1112520"/>
            </p:xfrm>
            <a:graphic>
              <a:graphicData uri="http://schemas.openxmlformats.org/drawingml/2006/table">
                <a:tbl>
                  <a:tblPr firstRow="1" bandRow="1">
                    <a:tableStyleId>{5C22544A-7EE6-4342-B048-85BDC9FD1C3A}</a:tableStyleId>
                  </a:tblPr>
                  <a:tblGrid>
                    <a:gridCol w="60960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input: 1 2 4 3</a:t>
                          </a:r>
                        </a:p>
                      </a:txBody>
                      <a:tcPr/>
                    </a:tc>
                  </a:tr>
                  <a:tr h="370840">
                    <a:tc>
                      <a:txBody>
                        <a:bodyPr/>
                        <a:lstStyle/>
                        <a:p>
                          <a:endParaRPr lang="zh-TW"/>
                        </a:p>
                      </a:txBody>
                      <a:tcPr>
                        <a:blipFill rotWithShape="0">
                          <a:blip r:embed="rId2"/>
                          <a:stretch>
                            <a:fillRect l="-100" t="-108197" r="-400" b="-124590"/>
                          </a:stretch>
                        </a:blip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size: 3</a:t>
                          </a:r>
                          <a:endParaRPr lang="zh-TW" altLang="en-US" sz="1800" dirty="0" smtClean="0"/>
                        </a:p>
                      </a:txBody>
                      <a:tcPr/>
                    </a:tc>
                  </a:tr>
                </a:tbl>
              </a:graphicData>
            </a:graphic>
          </p:graphicFrame>
        </mc:Fallback>
      </mc:AlternateContent>
      <p:graphicFrame>
        <p:nvGraphicFramePr>
          <p:cNvPr id="3" name="表格 2"/>
          <p:cNvGraphicFramePr>
            <a:graphicFrameLocks noGrp="1"/>
          </p:cNvGraphicFramePr>
          <p:nvPr>
            <p:extLst>
              <p:ext uri="{D42A27DB-BD31-4B8C-83A1-F6EECF244321}">
                <p14:modId xmlns:p14="http://schemas.microsoft.com/office/powerpoint/2010/main" val="658404356"/>
              </p:ext>
            </p:extLst>
          </p:nvPr>
        </p:nvGraphicFramePr>
        <p:xfrm>
          <a:off x="534271" y="2544519"/>
          <a:ext cx="6096000" cy="1112520"/>
        </p:xfrm>
        <a:graphic>
          <a:graphicData uri="http://schemas.openxmlformats.org/drawingml/2006/table">
            <a:tbl>
              <a:tblPr firstRow="1" bandRow="1">
                <a:tableStyleId>{5C22544A-7EE6-4342-B048-85BDC9FD1C3A}</a:tableStyleId>
              </a:tblPr>
              <a:tblGrid>
                <a:gridCol w="60960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input: 1 2 4 3 5</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endpoints: 1 2 3 5</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size: 4</a:t>
                      </a:r>
                      <a:endParaRPr lang="zh-TW" altLang="en-US" sz="1800" dirty="0" smtClean="0"/>
                    </a:p>
                  </a:txBody>
                  <a:tcP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729402927"/>
              </p:ext>
            </p:extLst>
          </p:nvPr>
        </p:nvGraphicFramePr>
        <p:xfrm>
          <a:off x="534271" y="3967753"/>
          <a:ext cx="6096000" cy="1112520"/>
        </p:xfrm>
        <a:graphic>
          <a:graphicData uri="http://schemas.openxmlformats.org/drawingml/2006/table">
            <a:tbl>
              <a:tblPr firstRow="1" bandRow="1">
                <a:tableStyleId>{5C22544A-7EE6-4342-B048-85BDC9FD1C3A}</a:tableStyleId>
              </a:tblPr>
              <a:tblGrid>
                <a:gridCol w="60960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input: 1 2 4 3 5 3</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endpoints: 1 2 3</a:t>
                      </a:r>
                      <a:r>
                        <a:rPr lang="en-US" altLang="zh-TW" sz="1800" baseline="0" dirty="0" smtClean="0"/>
                        <a:t> 3</a:t>
                      </a:r>
                      <a:endParaRPr lang="en-US" altLang="zh-TW" sz="1800"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size: 4</a:t>
                      </a:r>
                      <a:endParaRPr lang="zh-TW" altLang="en-US" sz="1800" dirty="0" smtClean="0"/>
                    </a:p>
                  </a:txBody>
                  <a:tcPr/>
                </a:tc>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1295690626"/>
              </p:ext>
            </p:extLst>
          </p:nvPr>
        </p:nvGraphicFramePr>
        <p:xfrm>
          <a:off x="534271" y="5271117"/>
          <a:ext cx="6096000" cy="1112520"/>
        </p:xfrm>
        <a:graphic>
          <a:graphicData uri="http://schemas.openxmlformats.org/drawingml/2006/table">
            <a:tbl>
              <a:tblPr firstRow="1" bandRow="1">
                <a:tableStyleId>{5C22544A-7EE6-4342-B048-85BDC9FD1C3A}</a:tableStyleId>
              </a:tblPr>
              <a:tblGrid>
                <a:gridCol w="60960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input: 1 2 4 3 5 3 7</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endpoints: 1 2 3 3</a:t>
                      </a:r>
                      <a:r>
                        <a:rPr lang="en-US" altLang="zh-TW" sz="1800" baseline="0" dirty="0" smtClean="0"/>
                        <a:t> 7</a:t>
                      </a:r>
                      <a:endParaRPr lang="en-US" altLang="zh-TW" sz="1800" dirty="0" smtClean="0"/>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dirty="0" smtClean="0"/>
                        <a:t>size: 5</a:t>
                      </a:r>
                      <a:endParaRPr lang="zh-TW" altLang="en-US" sz="1800" dirty="0" smtClean="0"/>
                    </a:p>
                  </a:txBody>
                  <a:tcPr/>
                </a:tc>
              </a:tr>
            </a:tbl>
          </a:graphicData>
        </a:graphic>
      </p:graphicFrame>
      <p:sp>
        <p:nvSpPr>
          <p:cNvPr id="6" name="矩形 5"/>
          <p:cNvSpPr/>
          <p:nvPr/>
        </p:nvSpPr>
        <p:spPr>
          <a:xfrm>
            <a:off x="534271" y="418598"/>
            <a:ext cx="4572000" cy="461665"/>
          </a:xfrm>
          <a:prstGeom prst="rect">
            <a:avLst/>
          </a:prstGeom>
        </p:spPr>
        <p:txBody>
          <a:bodyPr>
            <a:spAutoFit/>
          </a:bodyPr>
          <a:lstStyle/>
          <a:p>
            <a:r>
              <a:rPr lang="en-US" altLang="zh-TW" sz="2400" dirty="0" smtClean="0">
                <a:latin typeface="Times New Roman" panose="02020603050405020304" pitchFamily="18" charset="0"/>
                <a:cs typeface="Times New Roman" panose="02020603050405020304" pitchFamily="18" charset="0"/>
              </a:rPr>
              <a:t>Sequence A: 1 2 4 3 5 3 7</a:t>
            </a:r>
          </a:p>
        </p:txBody>
      </p:sp>
    </p:spTree>
    <p:extLst>
      <p:ext uri="{BB962C8B-B14F-4D97-AF65-F5344CB8AC3E}">
        <p14:creationId xmlns:p14="http://schemas.microsoft.com/office/powerpoint/2010/main" val="20045187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stretch>
            <a:fillRect/>
          </a:stretch>
        </p:blipFill>
        <p:spPr>
          <a:xfrm>
            <a:off x="382882" y="1242458"/>
            <a:ext cx="8095037" cy="4424695"/>
          </a:xfrm>
          <a:prstGeom prst="rect">
            <a:avLst/>
          </a:prstGeom>
        </p:spPr>
      </p:pic>
    </p:spTree>
    <p:extLst>
      <p:ext uri="{BB962C8B-B14F-4D97-AF65-F5344CB8AC3E}">
        <p14:creationId xmlns:p14="http://schemas.microsoft.com/office/powerpoint/2010/main" val="29020172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stretch>
            <a:fillRect/>
          </a:stretch>
        </p:blipFill>
        <p:spPr>
          <a:xfrm>
            <a:off x="361174" y="1848574"/>
            <a:ext cx="7129464" cy="430311"/>
          </a:xfrm>
          <a:prstGeom prst="rect">
            <a:avLst/>
          </a:prstGeom>
        </p:spPr>
      </p:pic>
      <p:pic>
        <p:nvPicPr>
          <p:cNvPr id="3" name="圖片 2"/>
          <p:cNvPicPr>
            <a:picLocks noChangeAspect="1"/>
          </p:cNvPicPr>
          <p:nvPr/>
        </p:nvPicPr>
        <p:blipFill>
          <a:blip r:embed="rId3"/>
          <a:stretch>
            <a:fillRect/>
          </a:stretch>
        </p:blipFill>
        <p:spPr>
          <a:xfrm>
            <a:off x="361174" y="2388228"/>
            <a:ext cx="8782826" cy="1047342"/>
          </a:xfrm>
          <a:prstGeom prst="rect">
            <a:avLst/>
          </a:prstGeom>
        </p:spPr>
      </p:pic>
      <p:sp>
        <p:nvSpPr>
          <p:cNvPr id="4" name="文字方塊 3"/>
          <p:cNvSpPr txBox="1"/>
          <p:nvPr/>
        </p:nvSpPr>
        <p:spPr>
          <a:xfrm>
            <a:off x="361174" y="446809"/>
            <a:ext cx="3704284" cy="646331"/>
          </a:xfrm>
          <a:prstGeom prst="rect">
            <a:avLst/>
          </a:prstGeom>
          <a:noFill/>
        </p:spPr>
        <p:txBody>
          <a:bodyPr wrap="none" rtlCol="0">
            <a:spAutoFit/>
          </a:bodyPr>
          <a:lstStyle/>
          <a:p>
            <a:r>
              <a:rPr lang="en-US" altLang="zh-TW" sz="3600" dirty="0" smtClean="0">
                <a:latin typeface="Times New Roman" panose="02020603050405020304" pitchFamily="18" charset="0"/>
                <a:cs typeface="Times New Roman" panose="02020603050405020304" pitchFamily="18" charset="0"/>
              </a:rPr>
              <a:t>The new algorithm</a:t>
            </a:r>
            <a:endParaRPr lang="zh-TW" altLang="en-US" dirty="0">
              <a:latin typeface="Times New Roman" panose="02020603050405020304" pitchFamily="18" charset="0"/>
              <a:cs typeface="Times New Roman" panose="02020603050405020304" pitchFamily="18" charset="0"/>
            </a:endParaRPr>
          </a:p>
        </p:txBody>
      </p:sp>
      <p:pic>
        <p:nvPicPr>
          <p:cNvPr id="5" name="圖片 4"/>
          <p:cNvPicPr>
            <a:picLocks noChangeAspect="1"/>
          </p:cNvPicPr>
          <p:nvPr/>
        </p:nvPicPr>
        <p:blipFill>
          <a:blip r:embed="rId4"/>
          <a:stretch>
            <a:fillRect/>
          </a:stretch>
        </p:blipFill>
        <p:spPr>
          <a:xfrm>
            <a:off x="2846258" y="3544913"/>
            <a:ext cx="2400300" cy="542925"/>
          </a:xfrm>
          <a:prstGeom prst="rect">
            <a:avLst/>
          </a:prstGeom>
        </p:spPr>
      </p:pic>
      <p:pic>
        <p:nvPicPr>
          <p:cNvPr id="6" name="圖片 5"/>
          <p:cNvPicPr>
            <a:picLocks noChangeAspect="1"/>
          </p:cNvPicPr>
          <p:nvPr/>
        </p:nvPicPr>
        <p:blipFill>
          <a:blip r:embed="rId5"/>
          <a:stretch>
            <a:fillRect/>
          </a:stretch>
        </p:blipFill>
        <p:spPr>
          <a:xfrm>
            <a:off x="361174" y="4335011"/>
            <a:ext cx="8509288" cy="772109"/>
          </a:xfrm>
          <a:prstGeom prst="rect">
            <a:avLst/>
          </a:prstGeom>
        </p:spPr>
      </p:pic>
      <p:pic>
        <p:nvPicPr>
          <p:cNvPr id="7" name="圖片 6"/>
          <p:cNvPicPr>
            <a:picLocks noChangeAspect="1"/>
          </p:cNvPicPr>
          <p:nvPr/>
        </p:nvPicPr>
        <p:blipFill>
          <a:blip r:embed="rId6"/>
          <a:stretch>
            <a:fillRect/>
          </a:stretch>
        </p:blipFill>
        <p:spPr>
          <a:xfrm>
            <a:off x="2865308" y="5495317"/>
            <a:ext cx="2381250" cy="476250"/>
          </a:xfrm>
          <a:prstGeom prst="rect">
            <a:avLst/>
          </a:prstGeom>
        </p:spPr>
      </p:pic>
    </p:spTree>
    <p:extLst>
      <p:ext uri="{BB962C8B-B14F-4D97-AF65-F5344CB8AC3E}">
        <p14:creationId xmlns:p14="http://schemas.microsoft.com/office/powerpoint/2010/main" val="8738429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73558" y="388097"/>
            <a:ext cx="3698448" cy="646331"/>
          </a:xfrm>
          <a:prstGeom prst="rect">
            <a:avLst/>
          </a:prstGeom>
        </p:spPr>
        <p:txBody>
          <a:bodyPr wrap="none">
            <a:spAutoFit/>
          </a:bodyPr>
          <a:lstStyle/>
          <a:p>
            <a:r>
              <a:rPr lang="en-US" altLang="zh-TW" sz="3600" dirty="0" smtClean="0">
                <a:latin typeface="Times New Roman" panose="02020603050405020304" pitchFamily="18" charset="0"/>
                <a:cs typeface="Times New Roman" panose="02020603050405020304" pitchFamily="18" charset="0"/>
              </a:rPr>
              <a:t>The new algorithm</a:t>
            </a:r>
            <a:endParaRPr lang="zh-TW" altLang="en-US" sz="3600"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2"/>
          <a:stretch>
            <a:fillRect/>
          </a:stretch>
        </p:blipFill>
        <p:spPr>
          <a:xfrm>
            <a:off x="1084582" y="4500999"/>
            <a:ext cx="287018" cy="268028"/>
          </a:xfrm>
          <a:prstGeom prst="rect">
            <a:avLst/>
          </a:prstGeom>
        </p:spPr>
      </p:pic>
      <p:sp>
        <p:nvSpPr>
          <p:cNvPr id="4" name="文字方塊 3"/>
          <p:cNvSpPr txBox="1"/>
          <p:nvPr/>
        </p:nvSpPr>
        <p:spPr>
          <a:xfrm>
            <a:off x="567076" y="1590848"/>
            <a:ext cx="5137533" cy="1815882"/>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Index:    </a:t>
            </a:r>
            <a:r>
              <a:rPr lang="en-US" altLang="zh-TW" sz="2800" dirty="0" smtClean="0">
                <a:latin typeface="Times New Roman" panose="02020603050405020304" pitchFamily="18" charset="0"/>
                <a:cs typeface="Times New Roman" panose="02020603050405020304" pitchFamily="18" charset="0"/>
              </a:rPr>
              <a:t>1 2 3 4 5 6 7</a:t>
            </a:r>
          </a:p>
          <a:p>
            <a:r>
              <a:rPr lang="en-US" altLang="zh-TW" sz="2800" dirty="0" smtClean="0">
                <a:latin typeface="Times New Roman" panose="02020603050405020304" pitchFamily="18" charset="0"/>
                <a:cs typeface="Times New Roman" panose="02020603050405020304" pitchFamily="18" charset="0"/>
              </a:rPr>
              <a:t>    A: 1 2 3 5 4 3 7</a:t>
            </a:r>
          </a:p>
          <a:p>
            <a:r>
              <a:rPr lang="en-US" altLang="zh-TW" sz="2800" dirty="0" smtClean="0">
                <a:latin typeface="Times New Roman" panose="02020603050405020304" pitchFamily="18" charset="0"/>
                <a:cs typeface="Times New Roman" panose="02020603050405020304" pitchFamily="18" charset="0"/>
              </a:rPr>
              <a:t>    B: 2 3 4 1 6 7</a:t>
            </a:r>
          </a:p>
          <a:p>
            <a:r>
              <a:rPr lang="en-US" altLang="zh-TW" sz="2800" dirty="0" smtClean="0">
                <a:latin typeface="Times New Roman" panose="02020603050405020304" pitchFamily="18" charset="0"/>
                <a:cs typeface="Times New Roman" panose="02020603050405020304" pitchFamily="18" charset="0"/>
              </a:rPr>
              <a:t>    </a:t>
            </a:r>
          </a:p>
        </p:txBody>
      </p:sp>
      <p:sp>
        <p:nvSpPr>
          <p:cNvPr id="6" name="矩形 5"/>
          <p:cNvSpPr/>
          <p:nvPr/>
        </p:nvSpPr>
        <p:spPr>
          <a:xfrm>
            <a:off x="3864172" y="2021801"/>
            <a:ext cx="2817184" cy="400110"/>
          </a:xfrm>
          <a:prstGeom prst="rect">
            <a:avLst/>
          </a:prstGeom>
        </p:spPr>
        <p:txBody>
          <a:bodyPr wrap="square">
            <a:spAutoFit/>
          </a:bodyPr>
          <a:lstStyle/>
          <a:p>
            <a:r>
              <a:rPr lang="en-US" altLang="zh-TW" sz="2000" dirty="0" smtClean="0">
                <a:latin typeface="Times New Roman" panose="02020603050405020304" pitchFamily="18" charset="0"/>
                <a:cs typeface="Times New Roman" panose="02020603050405020304" pitchFamily="18" charset="0"/>
              </a:rPr>
              <a:t>i</a:t>
            </a:r>
            <a:r>
              <a:rPr lang="en-US" altLang="zh-TW" sz="2000" baseline="-25000" dirty="0" smtClean="0">
                <a:latin typeface="Times New Roman" panose="02020603050405020304" pitchFamily="18" charset="0"/>
                <a:cs typeface="Times New Roman" panose="02020603050405020304" pitchFamily="18" charset="0"/>
              </a:rPr>
              <a:t>1</a:t>
            </a:r>
            <a:r>
              <a:rPr lang="en-US" altLang="zh-TW" sz="2000" dirty="0" smtClean="0">
                <a:latin typeface="Times New Roman" panose="02020603050405020304" pitchFamily="18" charset="0"/>
                <a:cs typeface="Times New Roman" panose="02020603050405020304" pitchFamily="18" charset="0"/>
              </a:rPr>
              <a:t> = 2, i</a:t>
            </a:r>
            <a:r>
              <a:rPr lang="en-US" altLang="zh-TW" sz="2000" baseline="-25000" dirty="0" smtClean="0">
                <a:latin typeface="Times New Roman" panose="02020603050405020304" pitchFamily="18" charset="0"/>
                <a:cs typeface="Times New Roman" panose="02020603050405020304" pitchFamily="18" charset="0"/>
              </a:rPr>
              <a:t>2</a:t>
            </a:r>
            <a:r>
              <a:rPr lang="en-US" altLang="zh-TW" sz="2000" dirty="0" smtClean="0">
                <a:latin typeface="Times New Roman" panose="02020603050405020304" pitchFamily="18" charset="0"/>
                <a:cs typeface="Times New Roman" panose="02020603050405020304" pitchFamily="18" charset="0"/>
              </a:rPr>
              <a:t> = 3, i</a:t>
            </a:r>
            <a:r>
              <a:rPr lang="en-US" altLang="zh-TW" sz="2000" baseline="-25000" dirty="0" smtClean="0">
                <a:latin typeface="Times New Roman" panose="02020603050405020304" pitchFamily="18" charset="0"/>
                <a:cs typeface="Times New Roman" panose="02020603050405020304" pitchFamily="18" charset="0"/>
              </a:rPr>
              <a:t>3</a:t>
            </a:r>
            <a:r>
              <a:rPr lang="en-US" altLang="zh-TW" sz="2000" dirty="0" smtClean="0">
                <a:latin typeface="Times New Roman" panose="02020603050405020304" pitchFamily="18" charset="0"/>
                <a:cs typeface="Times New Roman" panose="02020603050405020304" pitchFamily="18" charset="0"/>
              </a:rPr>
              <a:t> = 5, i</a:t>
            </a:r>
            <a:r>
              <a:rPr lang="en-US" altLang="zh-TW" sz="2000" baseline="-25000" dirty="0" smtClean="0">
                <a:latin typeface="Times New Roman" panose="02020603050405020304" pitchFamily="18" charset="0"/>
                <a:cs typeface="Times New Roman" panose="02020603050405020304" pitchFamily="18" charset="0"/>
              </a:rPr>
              <a:t>4</a:t>
            </a:r>
            <a:r>
              <a:rPr lang="en-US" altLang="zh-TW" sz="2000" dirty="0" smtClean="0">
                <a:latin typeface="Times New Roman" panose="02020603050405020304" pitchFamily="18" charset="0"/>
                <a:cs typeface="Times New Roman" panose="02020603050405020304" pitchFamily="18" charset="0"/>
              </a:rPr>
              <a:t> = 7</a:t>
            </a:r>
          </a:p>
        </p:txBody>
      </p:sp>
      <p:sp>
        <p:nvSpPr>
          <p:cNvPr id="7" name="矩形 6"/>
          <p:cNvSpPr/>
          <p:nvPr/>
        </p:nvSpPr>
        <p:spPr>
          <a:xfrm>
            <a:off x="3864172" y="2450200"/>
            <a:ext cx="2817184" cy="400110"/>
          </a:xfrm>
          <a:prstGeom prst="rect">
            <a:avLst/>
          </a:prstGeom>
        </p:spPr>
        <p:txBody>
          <a:bodyPr wrap="square">
            <a:spAutoFit/>
          </a:bodyPr>
          <a:lstStyle/>
          <a:p>
            <a:r>
              <a:rPr lang="en-US" altLang="zh-TW" sz="2000" dirty="0" smtClean="0">
                <a:latin typeface="Times New Roman" panose="02020603050405020304" pitchFamily="18" charset="0"/>
                <a:cs typeface="Times New Roman" panose="02020603050405020304" pitchFamily="18" charset="0"/>
              </a:rPr>
              <a:t>j</a:t>
            </a:r>
            <a:r>
              <a:rPr lang="en-US" altLang="zh-TW" sz="2000" baseline="-25000" dirty="0" smtClean="0">
                <a:latin typeface="Times New Roman" panose="02020603050405020304" pitchFamily="18" charset="0"/>
                <a:cs typeface="Times New Roman" panose="02020603050405020304" pitchFamily="18" charset="0"/>
              </a:rPr>
              <a:t>1</a:t>
            </a:r>
            <a:r>
              <a:rPr lang="en-US" altLang="zh-TW" sz="2000" dirty="0" smtClean="0">
                <a:latin typeface="Times New Roman" panose="02020603050405020304" pitchFamily="18" charset="0"/>
                <a:cs typeface="Times New Roman" panose="02020603050405020304" pitchFamily="18" charset="0"/>
              </a:rPr>
              <a:t> = 1, j</a:t>
            </a:r>
            <a:r>
              <a:rPr lang="en-US" altLang="zh-TW" sz="2000" baseline="-25000" dirty="0" smtClean="0">
                <a:latin typeface="Times New Roman" panose="02020603050405020304" pitchFamily="18" charset="0"/>
                <a:cs typeface="Times New Roman" panose="02020603050405020304" pitchFamily="18" charset="0"/>
              </a:rPr>
              <a:t>2</a:t>
            </a:r>
            <a:r>
              <a:rPr lang="en-US" altLang="zh-TW" sz="2000" dirty="0" smtClean="0">
                <a:latin typeface="Times New Roman" panose="02020603050405020304" pitchFamily="18" charset="0"/>
                <a:cs typeface="Times New Roman" panose="02020603050405020304" pitchFamily="18" charset="0"/>
              </a:rPr>
              <a:t> = 2, j</a:t>
            </a:r>
            <a:r>
              <a:rPr lang="en-US" altLang="zh-TW" sz="2000" baseline="-25000" dirty="0" smtClean="0">
                <a:latin typeface="Times New Roman" panose="02020603050405020304" pitchFamily="18" charset="0"/>
                <a:cs typeface="Times New Roman" panose="02020603050405020304" pitchFamily="18" charset="0"/>
              </a:rPr>
              <a:t>3</a:t>
            </a:r>
            <a:r>
              <a:rPr lang="en-US" altLang="zh-TW" sz="2000" dirty="0" smtClean="0">
                <a:latin typeface="Times New Roman" panose="02020603050405020304" pitchFamily="18" charset="0"/>
                <a:cs typeface="Times New Roman" panose="02020603050405020304" pitchFamily="18" charset="0"/>
              </a:rPr>
              <a:t> = 3, j</a:t>
            </a:r>
            <a:r>
              <a:rPr lang="en-US" altLang="zh-TW" sz="2000" baseline="-25000" dirty="0" smtClean="0">
                <a:latin typeface="Times New Roman" panose="02020603050405020304" pitchFamily="18" charset="0"/>
                <a:cs typeface="Times New Roman" panose="02020603050405020304" pitchFamily="18" charset="0"/>
              </a:rPr>
              <a:t>4</a:t>
            </a:r>
            <a:r>
              <a:rPr lang="en-US" altLang="zh-TW" sz="2000" dirty="0" smtClean="0">
                <a:latin typeface="Times New Roman" panose="02020603050405020304" pitchFamily="18" charset="0"/>
                <a:cs typeface="Times New Roman" panose="02020603050405020304" pitchFamily="18" charset="0"/>
              </a:rPr>
              <a:t> = 6</a:t>
            </a:r>
            <a:endParaRPr lang="zh-TW" alt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文字方塊 7"/>
              <p:cNvSpPr txBox="1"/>
              <p:nvPr/>
            </p:nvSpPr>
            <p:spPr>
              <a:xfrm>
                <a:off x="1371600" y="4450347"/>
                <a:ext cx="5663282" cy="369332"/>
              </a:xfrm>
              <a:prstGeom prst="rect">
                <a:avLst/>
              </a:prstGeom>
              <a:noFill/>
            </p:spPr>
            <p:txBody>
              <a:bodyPr wrap="none" rtlCol="0">
                <a:spAutoFit/>
              </a:bodyPr>
              <a:lstStyle/>
              <a:p>
                <a:r>
                  <a:rPr lang="en-US" altLang="zh-TW" dirty="0" smtClean="0"/>
                  <a:t>be the thresh values of sequence A with respect to </a:t>
                </a:r>
                <a14:m>
                  <m:oMath xmlns:m="http://schemas.openxmlformats.org/officeDocument/2006/math">
                    <m:r>
                      <a:rPr lang="en-US" altLang="zh-TW" b="0" i="1" smtClean="0">
                        <a:latin typeface="Cambria Math" panose="02040503050406030204" pitchFamily="18" charset="0"/>
                      </a:rPr>
                      <m:t>𝐵</m:t>
                    </m:r>
                    <m:r>
                      <a:rPr lang="en-US" altLang="zh-TW" b="0" i="1" smtClean="0">
                        <a:latin typeface="Cambria Math" panose="02040503050406030204" pitchFamily="18" charset="0"/>
                      </a:rPr>
                      <m:t>′</m:t>
                    </m:r>
                  </m:oMath>
                </a14:m>
                <a:r>
                  <a:rPr lang="en-US" altLang="zh-TW" dirty="0" smtClean="0"/>
                  <a:t> and  </a:t>
                </a:r>
                <a:endParaRPr lang="zh-TW" altLang="en-US"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1371600" y="4450347"/>
                <a:ext cx="5663282" cy="369332"/>
              </a:xfrm>
              <a:prstGeom prst="rect">
                <a:avLst/>
              </a:prstGeom>
              <a:blipFill rotWithShape="0">
                <a:blip r:embed="rId3"/>
                <a:stretch>
                  <a:fillRect l="-861" t="-8197" r="-861" b="-24590"/>
                </a:stretch>
              </a:blipFill>
            </p:spPr>
            <p:txBody>
              <a:bodyPr/>
              <a:lstStyle/>
              <a:p>
                <a:r>
                  <a:rPr lang="zh-TW" altLang="en-US">
                    <a:noFill/>
                  </a:rPr>
                  <a:t> </a:t>
                </a:r>
              </a:p>
            </p:txBody>
          </p:sp>
        </mc:Fallback>
      </mc:AlternateContent>
      <p:pic>
        <p:nvPicPr>
          <p:cNvPr id="9" name="圖片 8"/>
          <p:cNvPicPr>
            <a:picLocks noChangeAspect="1"/>
          </p:cNvPicPr>
          <p:nvPr/>
        </p:nvPicPr>
        <p:blipFill>
          <a:blip r:embed="rId4"/>
          <a:stretch>
            <a:fillRect/>
          </a:stretch>
        </p:blipFill>
        <p:spPr>
          <a:xfrm>
            <a:off x="6925037" y="4520045"/>
            <a:ext cx="219690" cy="248982"/>
          </a:xfrm>
          <a:prstGeom prst="rect">
            <a:avLst/>
          </a:prstGeom>
        </p:spPr>
      </p:pic>
      <mc:AlternateContent xmlns:mc="http://schemas.openxmlformats.org/markup-compatibility/2006" xmlns:a14="http://schemas.microsoft.com/office/drawing/2010/main">
        <mc:Choice Requires="a14">
          <p:sp>
            <p:nvSpPr>
              <p:cNvPr id="10" name="文字方塊 9"/>
              <p:cNvSpPr txBox="1"/>
              <p:nvPr/>
            </p:nvSpPr>
            <p:spPr>
              <a:xfrm>
                <a:off x="976745" y="4870331"/>
                <a:ext cx="4310091" cy="369332"/>
              </a:xfrm>
              <a:prstGeom prst="rect">
                <a:avLst/>
              </a:prstGeom>
              <a:noFill/>
            </p:spPr>
            <p:txBody>
              <a:bodyPr wrap="none" rtlCol="0">
                <a:spAutoFit/>
              </a:bodyPr>
              <a:lstStyle/>
              <a:p>
                <a:r>
                  <a:rPr lang="en-US" altLang="zh-TW" dirty="0" smtClean="0"/>
                  <a:t>be the thresh values of </a:t>
                </a:r>
                <a14:m>
                  <m:oMath xmlns:m="http://schemas.openxmlformats.org/officeDocument/2006/math">
                    <m:r>
                      <a:rPr lang="en-US" altLang="zh-TW" b="0" i="1" smtClean="0">
                        <a:latin typeface="Cambria Math" panose="02040503050406030204" pitchFamily="18" charset="0"/>
                      </a:rPr>
                      <m:t>𝐵</m:t>
                    </m:r>
                    <m:r>
                      <a:rPr lang="en-US" altLang="zh-TW" b="0" i="1" smtClean="0">
                        <a:latin typeface="Cambria Math" panose="02040503050406030204" pitchFamily="18" charset="0"/>
                      </a:rPr>
                      <m:t>′</m:t>
                    </m:r>
                  </m:oMath>
                </a14:m>
                <a:r>
                  <a:rPr lang="zh-TW" altLang="en-US" dirty="0" smtClean="0"/>
                  <a:t> </a:t>
                </a:r>
                <a:r>
                  <a:rPr lang="en-US" altLang="zh-TW" dirty="0"/>
                  <a:t>with respect to </a:t>
                </a:r>
                <a:r>
                  <a:rPr lang="en-US" altLang="zh-TW" dirty="0" smtClean="0"/>
                  <a:t>A.</a:t>
                </a:r>
                <a:endParaRPr lang="zh-TW" altLang="en-US"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976745" y="4870331"/>
                <a:ext cx="4310091" cy="369332"/>
              </a:xfrm>
              <a:prstGeom prst="rect">
                <a:avLst/>
              </a:prstGeom>
              <a:blipFill rotWithShape="0">
                <a:blip r:embed="rId5"/>
                <a:stretch>
                  <a:fillRect l="-1132" t="-9836" r="-424" b="-2459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0888466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stretch>
            <a:fillRect/>
          </a:stretch>
        </p:blipFill>
        <p:spPr>
          <a:xfrm>
            <a:off x="817418" y="1201882"/>
            <a:ext cx="6553200" cy="381000"/>
          </a:xfrm>
          <a:prstGeom prst="rect">
            <a:avLst/>
          </a:prstGeom>
        </p:spPr>
      </p:pic>
      <p:pic>
        <p:nvPicPr>
          <p:cNvPr id="3" name="圖片 2"/>
          <p:cNvPicPr>
            <a:picLocks noChangeAspect="1"/>
          </p:cNvPicPr>
          <p:nvPr/>
        </p:nvPicPr>
        <p:blipFill>
          <a:blip r:embed="rId3"/>
          <a:stretch>
            <a:fillRect/>
          </a:stretch>
        </p:blipFill>
        <p:spPr>
          <a:xfrm>
            <a:off x="7370618" y="1268557"/>
            <a:ext cx="733425" cy="314325"/>
          </a:xfrm>
          <a:prstGeom prst="rect">
            <a:avLst/>
          </a:prstGeom>
        </p:spPr>
      </p:pic>
      <p:pic>
        <p:nvPicPr>
          <p:cNvPr id="4" name="圖片 3"/>
          <p:cNvPicPr>
            <a:picLocks noChangeAspect="1"/>
          </p:cNvPicPr>
          <p:nvPr/>
        </p:nvPicPr>
        <p:blipFill>
          <a:blip r:embed="rId4"/>
          <a:stretch>
            <a:fillRect/>
          </a:stretch>
        </p:blipFill>
        <p:spPr>
          <a:xfrm>
            <a:off x="296140" y="1799791"/>
            <a:ext cx="8572500" cy="390525"/>
          </a:xfrm>
          <a:prstGeom prst="rect">
            <a:avLst/>
          </a:prstGeom>
        </p:spPr>
      </p:pic>
      <p:pic>
        <p:nvPicPr>
          <p:cNvPr id="5" name="圖片 4"/>
          <p:cNvPicPr>
            <a:picLocks noChangeAspect="1"/>
          </p:cNvPicPr>
          <p:nvPr/>
        </p:nvPicPr>
        <p:blipFill>
          <a:blip r:embed="rId5"/>
          <a:stretch>
            <a:fillRect/>
          </a:stretch>
        </p:blipFill>
        <p:spPr>
          <a:xfrm>
            <a:off x="0" y="2497282"/>
            <a:ext cx="8898515" cy="1337858"/>
          </a:xfrm>
          <a:prstGeom prst="rect">
            <a:avLst/>
          </a:prstGeom>
        </p:spPr>
      </p:pic>
    </p:spTree>
    <p:extLst>
      <p:ext uri="{BB962C8B-B14F-4D97-AF65-F5344CB8AC3E}">
        <p14:creationId xmlns:p14="http://schemas.microsoft.com/office/powerpoint/2010/main" val="42022606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p:cNvSpPr txBox="1"/>
          <p:nvPr/>
        </p:nvSpPr>
        <p:spPr>
          <a:xfrm>
            <a:off x="166255" y="919228"/>
            <a:ext cx="9131218" cy="3477875"/>
          </a:xfrm>
          <a:prstGeom prst="rect">
            <a:avLst/>
          </a:prstGeom>
          <a:noFill/>
        </p:spPr>
        <p:txBody>
          <a:bodyPr wrap="none" rtlCol="0">
            <a:spAutoFit/>
          </a:bodyPr>
          <a:lstStyle/>
          <a:p>
            <a:r>
              <a:rPr lang="en-US" altLang="zh-TW" sz="2000" dirty="0">
                <a:latin typeface="Times New Roman" panose="02020603050405020304" pitchFamily="18" charset="0"/>
                <a:cs typeface="Times New Roman" panose="02020603050405020304" pitchFamily="18" charset="0"/>
              </a:rPr>
              <a:t>The algorithm maintains the sequences and in arrays </a:t>
            </a:r>
            <a:r>
              <a:rPr lang="en-US" altLang="zh-TW" sz="2000" dirty="0" smtClean="0">
                <a:latin typeface="Times New Roman" panose="02020603050405020304" pitchFamily="18" charset="0"/>
                <a:cs typeface="Times New Roman" panose="02020603050405020304" pitchFamily="18" charset="0"/>
              </a:rPr>
              <a:t>sequence A and sequence B </a:t>
            </a:r>
          </a:p>
          <a:p>
            <a:endParaRPr lang="en-US" altLang="zh-TW" sz="2000" dirty="0" smtClean="0">
              <a:latin typeface="Times New Roman" panose="02020603050405020304" pitchFamily="18" charset="0"/>
              <a:cs typeface="Times New Roman" panose="02020603050405020304" pitchFamily="18" charset="0"/>
            </a:endParaRPr>
          </a:p>
          <a:p>
            <a:r>
              <a:rPr lang="en-US" altLang="zh-TW" sz="2000" dirty="0" smtClean="0">
                <a:latin typeface="Times New Roman" panose="02020603050405020304" pitchFamily="18" charset="0"/>
                <a:cs typeface="Times New Roman" panose="02020603050405020304" pitchFamily="18" charset="0"/>
              </a:rPr>
              <a:t> respectively </a:t>
            </a:r>
            <a:r>
              <a:rPr lang="en-US" altLang="zh-TW" sz="2000" dirty="0">
                <a:latin typeface="Times New Roman" panose="02020603050405020304" pitchFamily="18" charset="0"/>
                <a:cs typeface="Times New Roman" panose="02020603050405020304" pitchFamily="18" charset="0"/>
              </a:rPr>
              <a:t>and for each symbol of </a:t>
            </a:r>
            <a:r>
              <a:rPr lang="en-US" altLang="zh-TW" sz="2000" dirty="0" smtClean="0">
                <a:latin typeface="Times New Roman" panose="02020603050405020304" pitchFamily="18" charset="0"/>
                <a:cs typeface="Times New Roman" panose="02020603050405020304" pitchFamily="18" charset="0"/>
              </a:rPr>
              <a:t>alphabet, </a:t>
            </a:r>
            <a:r>
              <a:rPr lang="en-US" altLang="zh-TW" sz="2000" dirty="0">
                <a:latin typeface="Times New Roman" panose="02020603050405020304" pitchFamily="18" charset="0"/>
                <a:cs typeface="Times New Roman" panose="02020603050405020304" pitchFamily="18" charset="0"/>
              </a:rPr>
              <a:t>it maintains the set of occurrences of </a:t>
            </a:r>
            <a:endParaRPr lang="en-US" altLang="zh-TW" sz="2000" dirty="0" smtClean="0">
              <a:latin typeface="Times New Roman" panose="02020603050405020304" pitchFamily="18" charset="0"/>
              <a:cs typeface="Times New Roman" panose="02020603050405020304" pitchFamily="18" charset="0"/>
            </a:endParaRPr>
          </a:p>
          <a:p>
            <a:endParaRPr lang="en-US" altLang="zh-TW" sz="2000" dirty="0" smtClean="0">
              <a:latin typeface="Times New Roman" panose="02020603050405020304" pitchFamily="18" charset="0"/>
              <a:cs typeface="Times New Roman" panose="02020603050405020304" pitchFamily="18" charset="0"/>
            </a:endParaRPr>
          </a:p>
          <a:p>
            <a:r>
              <a:rPr lang="en-US" altLang="zh-TW" sz="2000" dirty="0" smtClean="0">
                <a:latin typeface="Times New Roman" panose="02020603050405020304" pitchFamily="18" charset="0"/>
                <a:cs typeface="Times New Roman" panose="02020603050405020304" pitchFamily="18" charset="0"/>
              </a:rPr>
              <a:t> z in A and B </a:t>
            </a:r>
            <a:r>
              <a:rPr lang="en-US" altLang="zh-TW" sz="2000" dirty="0">
                <a:latin typeface="Times New Roman" panose="02020603050405020304" pitchFamily="18" charset="0"/>
                <a:cs typeface="Times New Roman" panose="02020603050405020304" pitchFamily="18" charset="0"/>
              </a:rPr>
              <a:t>in binary search trees </a:t>
            </a:r>
            <a:r>
              <a:rPr lang="en-US" altLang="zh-TW" sz="2000" dirty="0" err="1" smtClean="0">
                <a:latin typeface="Times New Roman" panose="02020603050405020304" pitchFamily="18" charset="0"/>
                <a:cs typeface="Times New Roman" panose="02020603050405020304" pitchFamily="18" charset="0"/>
              </a:rPr>
              <a:t>layersA</a:t>
            </a:r>
            <a:r>
              <a:rPr lang="en-US" altLang="zh-TW" sz="2000" dirty="0" smtClean="0">
                <a:latin typeface="Times New Roman" panose="02020603050405020304" pitchFamily="18" charset="0"/>
                <a:cs typeface="Times New Roman" panose="02020603050405020304" pitchFamily="18" charset="0"/>
              </a:rPr>
              <a:t>[z] and </a:t>
            </a:r>
            <a:r>
              <a:rPr lang="en-US" altLang="zh-TW" sz="2000" dirty="0" err="1" smtClean="0">
                <a:latin typeface="Times New Roman" panose="02020603050405020304" pitchFamily="18" charset="0"/>
                <a:cs typeface="Times New Roman" panose="02020603050405020304" pitchFamily="18" charset="0"/>
              </a:rPr>
              <a:t>layersB</a:t>
            </a:r>
            <a:r>
              <a:rPr lang="en-US" altLang="zh-TW" sz="2000" dirty="0" smtClean="0">
                <a:latin typeface="Times New Roman" panose="02020603050405020304" pitchFamily="18" charset="0"/>
                <a:cs typeface="Times New Roman" panose="02020603050405020304" pitchFamily="18" charset="0"/>
              </a:rPr>
              <a:t>[z] </a:t>
            </a:r>
            <a:r>
              <a:rPr lang="en-US" altLang="zh-TW" sz="2000" dirty="0">
                <a:latin typeface="Times New Roman" panose="02020603050405020304" pitchFamily="18" charset="0"/>
                <a:cs typeface="Times New Roman" panose="02020603050405020304" pitchFamily="18" charset="0"/>
              </a:rPr>
              <a:t>respectively</a:t>
            </a:r>
            <a:r>
              <a:rPr lang="en-US" altLang="zh-TW" sz="2000" dirty="0" smtClean="0">
                <a:latin typeface="Times New Roman" panose="02020603050405020304" pitchFamily="18" charset="0"/>
                <a:cs typeface="Times New Roman" panose="02020603050405020304" pitchFamily="18" charset="0"/>
              </a:rPr>
              <a:t>.</a:t>
            </a:r>
          </a:p>
          <a:p>
            <a:endParaRPr lang="en-US" altLang="zh-TW" sz="2000" dirty="0" smtClean="0">
              <a:latin typeface="Times New Roman" panose="02020603050405020304" pitchFamily="18" charset="0"/>
              <a:cs typeface="Times New Roman" panose="02020603050405020304" pitchFamily="18" charset="0"/>
            </a:endParaRPr>
          </a:p>
          <a:p>
            <a:r>
              <a:rPr lang="en-US" altLang="zh-TW" sz="2000" dirty="0" smtClean="0">
                <a:latin typeface="Times New Roman" panose="02020603050405020304" pitchFamily="18" charset="0"/>
                <a:cs typeface="Times New Roman" panose="02020603050405020304" pitchFamily="18" charset="0"/>
              </a:rPr>
              <a:t> The </a:t>
            </a:r>
            <a:r>
              <a:rPr lang="en-US" altLang="zh-TW" sz="2000" dirty="0">
                <a:latin typeface="Times New Roman" panose="02020603050405020304" pitchFamily="18" charset="0"/>
                <a:cs typeface="Times New Roman" panose="02020603050405020304" pitchFamily="18" charset="0"/>
              </a:rPr>
              <a:t>algorithm also maintains the thresh indices </a:t>
            </a:r>
            <a:r>
              <a:rPr lang="en-US" altLang="zh-TW" sz="2000" dirty="0" smtClean="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in binary search </a:t>
            </a:r>
            <a:r>
              <a:rPr lang="en-US" altLang="zh-TW" sz="2000" dirty="0" smtClean="0">
                <a:latin typeface="Times New Roman" panose="02020603050405020304" pitchFamily="18" charset="0"/>
                <a:cs typeface="Times New Roman" panose="02020603050405020304" pitchFamily="18" charset="0"/>
              </a:rPr>
              <a:t>trees</a:t>
            </a:r>
          </a:p>
          <a:p>
            <a:r>
              <a:rPr lang="en-US" altLang="zh-TW" sz="2000" dirty="0" smtClean="0">
                <a:latin typeface="Times New Roman" panose="02020603050405020304" pitchFamily="18" charset="0"/>
                <a:cs typeface="Times New Roman" panose="02020603050405020304" pitchFamily="18" charset="0"/>
              </a:rPr>
              <a:t> </a:t>
            </a:r>
          </a:p>
          <a:p>
            <a:r>
              <a:rPr lang="en-US" altLang="zh-TW" sz="2000" dirty="0" smtClean="0">
                <a:latin typeface="Times New Roman" panose="02020603050405020304" pitchFamily="18" charset="0"/>
                <a:cs typeface="Times New Roman" panose="02020603050405020304" pitchFamily="18" charset="0"/>
              </a:rPr>
              <a:t> </a:t>
            </a:r>
            <a:r>
              <a:rPr lang="en-US" altLang="zh-TW" sz="2000" dirty="0" err="1" smtClean="0">
                <a:latin typeface="Times New Roman" panose="02020603050405020304" pitchFamily="18" charset="0"/>
                <a:cs typeface="Times New Roman" panose="02020603050405020304" pitchFamily="18" charset="0"/>
              </a:rPr>
              <a:t>threshA</a:t>
            </a:r>
            <a:r>
              <a:rPr lang="en-US" altLang="zh-TW" sz="2000" dirty="0" smtClean="0">
                <a:latin typeface="Times New Roman" panose="02020603050405020304" pitchFamily="18" charset="0"/>
                <a:cs typeface="Times New Roman" panose="02020603050405020304" pitchFamily="18" charset="0"/>
              </a:rPr>
              <a:t> and </a:t>
            </a:r>
            <a:r>
              <a:rPr lang="en-US" altLang="zh-TW" sz="2000" dirty="0" err="1" smtClean="0">
                <a:latin typeface="Times New Roman" panose="02020603050405020304" pitchFamily="18" charset="0"/>
                <a:cs typeface="Times New Roman" panose="02020603050405020304" pitchFamily="18" charset="0"/>
              </a:rPr>
              <a:t>threshB</a:t>
            </a:r>
            <a:r>
              <a:rPr lang="en-US" altLang="zh-TW" sz="2000" dirty="0" smtClean="0">
                <a:latin typeface="Times New Roman" panose="02020603050405020304" pitchFamily="18" charset="0"/>
                <a:cs typeface="Times New Roman" panose="02020603050405020304" pitchFamily="18" charset="0"/>
              </a:rPr>
              <a:t> respectively. </a:t>
            </a:r>
            <a:r>
              <a:rPr lang="en-US" altLang="zh-TW" sz="2000" dirty="0">
                <a:latin typeface="Times New Roman" panose="02020603050405020304" pitchFamily="18" charset="0"/>
                <a:cs typeface="Times New Roman" panose="02020603050405020304" pitchFamily="18" charset="0"/>
              </a:rPr>
              <a:t>The procedure uses two temporary variables and </a:t>
            </a:r>
            <a:endParaRPr lang="en-US" altLang="zh-TW" sz="2000" dirty="0" smtClean="0">
              <a:latin typeface="Times New Roman" panose="02020603050405020304" pitchFamily="18" charset="0"/>
              <a:cs typeface="Times New Roman" panose="02020603050405020304" pitchFamily="18" charset="0"/>
            </a:endParaRPr>
          </a:p>
          <a:p>
            <a:endParaRPr lang="en-US" altLang="zh-TW" sz="2000" dirty="0" smtClean="0">
              <a:latin typeface="Times New Roman" panose="02020603050405020304" pitchFamily="18" charset="0"/>
              <a:cs typeface="Times New Roman" panose="02020603050405020304" pitchFamily="18" charset="0"/>
            </a:endParaRPr>
          </a:p>
          <a:p>
            <a:r>
              <a:rPr lang="en-US" altLang="zh-TW" sz="2000" dirty="0" smtClean="0">
                <a:latin typeface="Times New Roman" panose="02020603050405020304" pitchFamily="18" charset="0"/>
                <a:cs typeface="Times New Roman" panose="02020603050405020304" pitchFamily="18" charset="0"/>
              </a:rPr>
              <a:t> which </a:t>
            </a:r>
            <a:r>
              <a:rPr lang="en-US" altLang="zh-TW" sz="2000" dirty="0" err="1">
                <a:latin typeface="Times New Roman" panose="02020603050405020304" pitchFamily="18" charset="0"/>
                <a:cs typeface="Times New Roman" panose="02020603050405020304" pitchFamily="18" charset="0"/>
              </a:rPr>
              <a:t>correspondto</a:t>
            </a:r>
            <a:r>
              <a:rPr lang="en-US" altLang="zh-TW" sz="2000" dirty="0">
                <a:latin typeface="Times New Roman" panose="02020603050405020304" pitchFamily="18" charset="0"/>
                <a:cs typeface="Times New Roman" panose="02020603050405020304" pitchFamily="18" charset="0"/>
              </a:rPr>
              <a:t> the next and previous values of updating thresh indices. </a:t>
            </a:r>
            <a:endParaRPr lang="zh-TW" altLang="en-US" sz="2000"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2"/>
          <a:stretch>
            <a:fillRect/>
          </a:stretch>
        </p:blipFill>
        <p:spPr>
          <a:xfrm>
            <a:off x="5192423" y="2761560"/>
            <a:ext cx="1572059" cy="369896"/>
          </a:xfrm>
          <a:prstGeom prst="rect">
            <a:avLst/>
          </a:prstGeom>
        </p:spPr>
      </p:pic>
    </p:spTree>
    <p:extLst>
      <p:ext uri="{BB962C8B-B14F-4D97-AF65-F5344CB8AC3E}">
        <p14:creationId xmlns:p14="http://schemas.microsoft.com/office/powerpoint/2010/main" val="24250426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811536313"/>
              </p:ext>
            </p:extLst>
          </p:nvPr>
        </p:nvGraphicFramePr>
        <p:xfrm>
          <a:off x="509153" y="334604"/>
          <a:ext cx="7398330" cy="3672840"/>
        </p:xfrm>
        <a:graphic>
          <a:graphicData uri="http://schemas.openxmlformats.org/drawingml/2006/table">
            <a:tbl>
              <a:tblPr firstRow="1" bandRow="1">
                <a:tableStyleId>{5C22544A-7EE6-4342-B048-85BDC9FD1C3A}</a:tableStyleId>
              </a:tblPr>
              <a:tblGrid>
                <a:gridCol w="820886"/>
                <a:gridCol w="658780"/>
                <a:gridCol w="739833"/>
                <a:gridCol w="739833"/>
                <a:gridCol w="739833"/>
                <a:gridCol w="739833"/>
                <a:gridCol w="739833"/>
                <a:gridCol w="739833"/>
                <a:gridCol w="739833"/>
                <a:gridCol w="739833"/>
              </a:tblGrid>
              <a:tr h="370840">
                <a:tc>
                  <a:txBody>
                    <a:bodyPr/>
                    <a:lstStyle/>
                    <a:p>
                      <a:r>
                        <a:rPr lang="en-US" altLang="zh-TW" dirty="0" smtClean="0"/>
                        <a:t>length</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9</a:t>
                      </a:r>
                      <a:endParaRPr lang="zh-TW" altLang="en-US" dirty="0"/>
                    </a:p>
                  </a:txBody>
                  <a:tcPr/>
                </a:tc>
              </a:tr>
              <a:tr h="370840">
                <a:tc>
                  <a:txBody>
                    <a:bodyPr/>
                    <a:lstStyle/>
                    <a:p>
                      <a:r>
                        <a:rPr lang="en-US" altLang="zh-TW" dirty="0" smtClean="0"/>
                        <a:t>Index</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370840">
                <a:tc>
                  <a:txBody>
                    <a:bodyPr/>
                    <a:lstStyle/>
                    <a:p>
                      <a:pPr algn="ctr"/>
                      <a:r>
                        <a:rPr lang="en-US" altLang="zh-TW" dirty="0" err="1" smtClean="0"/>
                        <a:t>stringA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endParaRPr lang="zh-TW" altLang="en-US" dirty="0"/>
                    </a:p>
                  </a:txBody>
                  <a:tcPr/>
                </a:tc>
              </a:tr>
              <a:tr h="370840">
                <a:tc>
                  <a:txBody>
                    <a:bodyPr/>
                    <a:lstStyle/>
                    <a:p>
                      <a:pPr algn="ctr"/>
                      <a:r>
                        <a:rPr lang="en-US" altLang="zh-TW" dirty="0" err="1" smtClean="0"/>
                        <a:t>stringB</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endParaRPr lang="zh-TW" altLang="en-US"/>
                    </a:p>
                  </a:txBody>
                  <a:tcPr/>
                </a:tc>
              </a:tr>
              <a:tr h="370840">
                <a:tc>
                  <a:txBody>
                    <a:bodyPr/>
                    <a:lstStyle/>
                    <a:p>
                      <a:pPr algn="ctr"/>
                      <a:r>
                        <a:rPr lang="en-US" altLang="zh-TW" dirty="0" err="1" smtClean="0"/>
                        <a:t>threshA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6</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endParaRPr lang="zh-TW" altLang="en-US" dirty="0"/>
                    </a:p>
                  </a:txBody>
                  <a:tcPr/>
                </a:tc>
              </a:tr>
              <a:tr h="370840">
                <a:tc>
                  <a:txBody>
                    <a:bodyPr/>
                    <a:lstStyle/>
                    <a:p>
                      <a:pPr algn="ctr"/>
                      <a:r>
                        <a:rPr lang="en-US" altLang="zh-TW" dirty="0" err="1" smtClean="0"/>
                        <a:t>threshB</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endParaRPr lang="zh-TW" altLang="en-US"/>
                    </a:p>
                  </a:txBody>
                  <a:tcPr/>
                </a:tc>
              </a:tr>
              <a:tr h="370840">
                <a:tc>
                  <a:txBody>
                    <a:bodyPr/>
                    <a:lstStyle/>
                    <a:p>
                      <a:pPr algn="ctr"/>
                      <a:r>
                        <a:rPr lang="en-US" altLang="zh-TW" dirty="0" smtClean="0"/>
                        <a:t>k</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endParaRPr lang="zh-TW" altLang="en-US" dirty="0"/>
                    </a:p>
                  </a:txBody>
                  <a:tcP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1268733036"/>
              </p:ext>
            </p:extLst>
          </p:nvPr>
        </p:nvGraphicFramePr>
        <p:xfrm>
          <a:off x="509152" y="4316846"/>
          <a:ext cx="7304811" cy="1854200"/>
        </p:xfrm>
        <a:graphic>
          <a:graphicData uri="http://schemas.openxmlformats.org/drawingml/2006/table">
            <a:tbl>
              <a:tblPr firstRow="1" bandRow="1">
                <a:tableStyleId>{5C22544A-7EE6-4342-B048-85BDC9FD1C3A}</a:tableStyleId>
              </a:tblPr>
              <a:tblGrid>
                <a:gridCol w="1826202"/>
                <a:gridCol w="1478110"/>
                <a:gridCol w="1205345"/>
                <a:gridCol w="1340427"/>
                <a:gridCol w="1454727"/>
              </a:tblGrid>
              <a:tr h="370840">
                <a:tc>
                  <a:txBody>
                    <a:bodyPr/>
                    <a:lstStyle/>
                    <a:p>
                      <a:r>
                        <a:rPr lang="en-US" altLang="zh-TW" dirty="0" smtClean="0"/>
                        <a:t>Layers A</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70840">
                <a:tc>
                  <a:txBody>
                    <a:bodyPr/>
                    <a:lstStyle/>
                    <a:p>
                      <a:r>
                        <a:rPr lang="en-US" altLang="zh-TW" dirty="0" smtClean="0"/>
                        <a:t>A</a:t>
                      </a:r>
                      <a:endParaRPr lang="zh-TW" altLang="en-US" dirty="0"/>
                    </a:p>
                  </a:txBody>
                  <a:tcPr/>
                </a:tc>
                <a:tc>
                  <a:txBody>
                    <a:bodyPr/>
                    <a:lstStyle/>
                    <a:p>
                      <a:r>
                        <a:rPr lang="en-US" altLang="zh-TW" dirty="0" smtClean="0"/>
                        <a:t>0</a:t>
                      </a:r>
                      <a:endParaRPr lang="zh-TW" altLang="en-US" dirty="0"/>
                    </a:p>
                  </a:txBody>
                  <a:tcPr/>
                </a:tc>
                <a:tc>
                  <a:txBody>
                    <a:bodyPr/>
                    <a:lstStyle/>
                    <a:p>
                      <a:r>
                        <a:rPr lang="en-US" altLang="zh-TW" dirty="0" smtClean="0"/>
                        <a:t>3</a:t>
                      </a:r>
                      <a:endParaRPr lang="zh-TW" altLang="en-US" dirty="0"/>
                    </a:p>
                  </a:txBody>
                  <a:tcPr/>
                </a:tc>
                <a:tc>
                  <a:txBody>
                    <a:bodyPr/>
                    <a:lstStyle/>
                    <a:p>
                      <a:endParaRPr lang="zh-TW" altLang="en-US" dirty="0"/>
                    </a:p>
                  </a:txBody>
                  <a:tcPr/>
                </a:tc>
                <a:tc>
                  <a:txBody>
                    <a:bodyPr/>
                    <a:lstStyle/>
                    <a:p>
                      <a:endParaRPr lang="zh-TW" altLang="en-US" dirty="0"/>
                    </a:p>
                  </a:txBody>
                  <a:tcPr/>
                </a:tc>
              </a:tr>
              <a:tr h="370840">
                <a:tc>
                  <a:txBody>
                    <a:bodyPr/>
                    <a:lstStyle/>
                    <a:p>
                      <a:r>
                        <a:rPr lang="en-US" altLang="zh-TW" dirty="0" smtClean="0"/>
                        <a:t>B</a:t>
                      </a:r>
                      <a:endParaRPr lang="zh-TW" altLang="en-US" dirty="0"/>
                    </a:p>
                  </a:txBody>
                  <a:tcPr/>
                </a:tc>
                <a:tc>
                  <a:txBody>
                    <a:bodyPr/>
                    <a:lstStyle/>
                    <a:p>
                      <a:r>
                        <a:rPr lang="en-US" altLang="zh-TW" dirty="0" smtClean="0"/>
                        <a:t>1</a:t>
                      </a:r>
                      <a:endParaRPr lang="zh-TW" altLang="en-US" dirty="0"/>
                    </a:p>
                  </a:txBody>
                  <a:tcPr/>
                </a:tc>
                <a:tc>
                  <a:txBody>
                    <a:bodyPr/>
                    <a:lstStyle/>
                    <a:p>
                      <a:r>
                        <a:rPr lang="en-US" altLang="zh-TW" dirty="0" smtClean="0"/>
                        <a:t>4</a:t>
                      </a:r>
                      <a:endParaRPr lang="zh-TW" altLang="en-US" dirty="0"/>
                    </a:p>
                  </a:txBody>
                  <a:tcPr/>
                </a:tc>
                <a:tc>
                  <a:txBody>
                    <a:bodyPr/>
                    <a:lstStyle/>
                    <a:p>
                      <a:r>
                        <a:rPr lang="en-US" altLang="zh-TW" dirty="0" smtClean="0"/>
                        <a:t>6</a:t>
                      </a:r>
                      <a:endParaRPr lang="zh-TW" altLang="en-US" dirty="0"/>
                    </a:p>
                  </a:txBody>
                  <a:tcPr/>
                </a:tc>
                <a:tc>
                  <a:txBody>
                    <a:bodyPr/>
                    <a:lstStyle/>
                    <a:p>
                      <a:endParaRPr lang="zh-TW" altLang="en-US" dirty="0"/>
                    </a:p>
                  </a:txBody>
                  <a:tcPr/>
                </a:tc>
              </a:tr>
              <a:tr h="370840">
                <a:tc>
                  <a:txBody>
                    <a:bodyPr/>
                    <a:lstStyle/>
                    <a:p>
                      <a:r>
                        <a:rPr lang="en-US" altLang="zh-TW" dirty="0" smtClean="0"/>
                        <a:t>C</a:t>
                      </a:r>
                      <a:endParaRPr lang="zh-TW" altLang="en-US" dirty="0"/>
                    </a:p>
                  </a:txBody>
                  <a:tcPr/>
                </a:tc>
                <a:tc>
                  <a:txBody>
                    <a:bodyPr/>
                    <a:lstStyle/>
                    <a:p>
                      <a:r>
                        <a:rPr lang="en-US" altLang="zh-TW" dirty="0" smtClean="0"/>
                        <a:t>2</a:t>
                      </a:r>
                      <a:endParaRPr lang="zh-TW" altLang="en-US" dirty="0"/>
                    </a:p>
                  </a:txBody>
                  <a:tcPr/>
                </a:tc>
                <a:tc>
                  <a:txBody>
                    <a:bodyPr/>
                    <a:lstStyle/>
                    <a:p>
                      <a:r>
                        <a:rPr lang="en-US" altLang="zh-TW" dirty="0" smtClean="0"/>
                        <a:t>7</a:t>
                      </a:r>
                      <a:endParaRPr lang="zh-TW" altLang="en-US" dirty="0"/>
                    </a:p>
                  </a:txBody>
                  <a:tcPr/>
                </a:tc>
                <a:tc>
                  <a:txBody>
                    <a:bodyPr/>
                    <a:lstStyle/>
                    <a:p>
                      <a:endParaRPr lang="zh-TW" altLang="en-US" dirty="0"/>
                    </a:p>
                  </a:txBody>
                  <a:tcPr/>
                </a:tc>
                <a:tc>
                  <a:txBody>
                    <a:bodyPr/>
                    <a:lstStyle/>
                    <a:p>
                      <a:endParaRPr lang="zh-TW" altLang="en-US" dirty="0"/>
                    </a:p>
                  </a:txBody>
                  <a:tcPr/>
                </a:tc>
              </a:tr>
              <a:tr h="370840">
                <a:tc>
                  <a:txBody>
                    <a:bodyPr/>
                    <a:lstStyle/>
                    <a:p>
                      <a:r>
                        <a:rPr lang="en-US" altLang="zh-TW" dirty="0" smtClean="0"/>
                        <a:t>D</a:t>
                      </a:r>
                      <a:endParaRPr lang="zh-TW" altLang="en-US" dirty="0"/>
                    </a:p>
                  </a:txBody>
                  <a:tcPr/>
                </a:tc>
                <a:tc>
                  <a:txBody>
                    <a:bodyPr/>
                    <a:lstStyle/>
                    <a:p>
                      <a:r>
                        <a:rPr lang="en-US" altLang="zh-TW" dirty="0" smtClean="0"/>
                        <a:t>5</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bl>
          </a:graphicData>
        </a:graphic>
      </p:graphicFrame>
    </p:spTree>
    <p:extLst>
      <p:ext uri="{BB962C8B-B14F-4D97-AF65-F5344CB8AC3E}">
        <p14:creationId xmlns:p14="http://schemas.microsoft.com/office/powerpoint/2010/main" val="25618568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905636414"/>
              </p:ext>
            </p:extLst>
          </p:nvPr>
        </p:nvGraphicFramePr>
        <p:xfrm>
          <a:off x="602668" y="396948"/>
          <a:ext cx="7398330" cy="3672840"/>
        </p:xfrm>
        <a:graphic>
          <a:graphicData uri="http://schemas.openxmlformats.org/drawingml/2006/table">
            <a:tbl>
              <a:tblPr firstRow="1" bandRow="1">
                <a:tableStyleId>{5C22544A-7EE6-4342-B048-85BDC9FD1C3A}</a:tableStyleId>
              </a:tblPr>
              <a:tblGrid>
                <a:gridCol w="820886"/>
                <a:gridCol w="658780"/>
                <a:gridCol w="739833"/>
                <a:gridCol w="739833"/>
                <a:gridCol w="739833"/>
                <a:gridCol w="739833"/>
                <a:gridCol w="739833"/>
                <a:gridCol w="739833"/>
                <a:gridCol w="739833"/>
                <a:gridCol w="739833"/>
              </a:tblGrid>
              <a:tr h="370840">
                <a:tc>
                  <a:txBody>
                    <a:bodyPr/>
                    <a:lstStyle/>
                    <a:p>
                      <a:r>
                        <a:rPr lang="en-US" altLang="zh-TW" dirty="0" smtClean="0"/>
                        <a:t>length</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9</a:t>
                      </a:r>
                      <a:endParaRPr lang="zh-TW" altLang="en-US" dirty="0"/>
                    </a:p>
                  </a:txBody>
                  <a:tcPr/>
                </a:tc>
              </a:tr>
              <a:tr h="370840">
                <a:tc>
                  <a:txBody>
                    <a:bodyPr/>
                    <a:lstStyle/>
                    <a:p>
                      <a:r>
                        <a:rPr lang="en-US" altLang="zh-TW" dirty="0" smtClean="0"/>
                        <a:t>Index</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370840">
                <a:tc>
                  <a:txBody>
                    <a:bodyPr/>
                    <a:lstStyle/>
                    <a:p>
                      <a:pPr algn="ctr"/>
                      <a:r>
                        <a:rPr lang="en-US" altLang="zh-TW" dirty="0" err="1" smtClean="0"/>
                        <a:t>stringA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endParaRPr lang="zh-TW" altLang="en-US" dirty="0"/>
                    </a:p>
                  </a:txBody>
                  <a:tcPr/>
                </a:tc>
              </a:tr>
              <a:tr h="370840">
                <a:tc>
                  <a:txBody>
                    <a:bodyPr/>
                    <a:lstStyle/>
                    <a:p>
                      <a:pPr algn="ctr"/>
                      <a:r>
                        <a:rPr lang="en-US" altLang="zh-TW" dirty="0" err="1" smtClean="0"/>
                        <a:t>stringB</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solidFill>
                            <a:srgbClr val="FF0000"/>
                          </a:solidFill>
                        </a:rPr>
                        <a:t>C</a:t>
                      </a:r>
                      <a:endParaRPr lang="zh-TW" altLang="en-US" dirty="0">
                        <a:solidFill>
                          <a:srgbClr val="FF0000"/>
                        </a:solidFill>
                      </a:endParaRPr>
                    </a:p>
                  </a:txBody>
                  <a:tcPr/>
                </a:tc>
              </a:tr>
              <a:tr h="370840">
                <a:tc>
                  <a:txBody>
                    <a:bodyPr/>
                    <a:lstStyle/>
                    <a:p>
                      <a:pPr algn="ctr"/>
                      <a:r>
                        <a:rPr lang="en-US" altLang="zh-TW" dirty="0" err="1" smtClean="0"/>
                        <a:t>threshA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6</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endParaRPr lang="zh-TW" altLang="en-US"/>
                    </a:p>
                  </a:txBody>
                  <a:tcPr/>
                </a:tc>
              </a:tr>
              <a:tr h="370840">
                <a:tc>
                  <a:txBody>
                    <a:bodyPr/>
                    <a:lstStyle/>
                    <a:p>
                      <a:pPr algn="ctr"/>
                      <a:r>
                        <a:rPr lang="en-US" altLang="zh-TW" dirty="0" err="1" smtClean="0"/>
                        <a:t>threshB</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endParaRPr lang="zh-TW" altLang="en-US"/>
                    </a:p>
                  </a:txBody>
                  <a:tcPr/>
                </a:tc>
              </a:tr>
              <a:tr h="370840">
                <a:tc>
                  <a:txBody>
                    <a:bodyPr/>
                    <a:lstStyle/>
                    <a:p>
                      <a:pPr algn="ctr"/>
                      <a:r>
                        <a:rPr lang="en-US" altLang="zh-TW" dirty="0" smtClean="0"/>
                        <a:t>k</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endParaRPr lang="zh-TW" altLang="en-US" dirty="0"/>
                    </a:p>
                  </a:txBody>
                  <a:tcPr/>
                </a:tc>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3212624788"/>
              </p:ext>
            </p:extLst>
          </p:nvPr>
        </p:nvGraphicFramePr>
        <p:xfrm>
          <a:off x="602668" y="4379191"/>
          <a:ext cx="7304811" cy="1854200"/>
        </p:xfrm>
        <a:graphic>
          <a:graphicData uri="http://schemas.openxmlformats.org/drawingml/2006/table">
            <a:tbl>
              <a:tblPr firstRow="1" bandRow="1">
                <a:tableStyleId>{5C22544A-7EE6-4342-B048-85BDC9FD1C3A}</a:tableStyleId>
              </a:tblPr>
              <a:tblGrid>
                <a:gridCol w="1826202"/>
                <a:gridCol w="1478110"/>
                <a:gridCol w="1350820"/>
                <a:gridCol w="1288473"/>
                <a:gridCol w="1361206"/>
              </a:tblGrid>
              <a:tr h="370840">
                <a:tc>
                  <a:txBody>
                    <a:bodyPr/>
                    <a:lstStyle/>
                    <a:p>
                      <a:r>
                        <a:rPr lang="en-US" altLang="zh-TW" dirty="0" smtClean="0"/>
                        <a:t>Layers A</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70840">
                <a:tc>
                  <a:txBody>
                    <a:bodyPr/>
                    <a:lstStyle/>
                    <a:p>
                      <a:r>
                        <a:rPr lang="en-US" altLang="zh-TW" dirty="0" smtClean="0"/>
                        <a:t>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endParaRPr lang="zh-TW" altLang="en-US" dirty="0"/>
                    </a:p>
                  </a:txBody>
                  <a:tcPr/>
                </a:tc>
                <a:tc>
                  <a:txBody>
                    <a:bodyPr/>
                    <a:lstStyle/>
                    <a:p>
                      <a:endParaRPr lang="zh-TW" altLang="en-US" dirty="0"/>
                    </a:p>
                  </a:txBody>
                  <a:tcPr/>
                </a:tc>
              </a:tr>
              <a:tr h="370840">
                <a:tc>
                  <a:txBody>
                    <a:bodyPr/>
                    <a:lstStyle/>
                    <a:p>
                      <a:r>
                        <a:rPr lang="en-US" altLang="zh-TW" dirty="0" smtClean="0"/>
                        <a:t>B</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6</a:t>
                      </a:r>
                      <a:endParaRPr lang="zh-TW" altLang="en-US" dirty="0"/>
                    </a:p>
                  </a:txBody>
                  <a:tcPr/>
                </a:tc>
                <a:tc>
                  <a:txBody>
                    <a:bodyPr/>
                    <a:lstStyle/>
                    <a:p>
                      <a:endParaRPr lang="zh-TW" altLang="en-US" dirty="0"/>
                    </a:p>
                  </a:txBody>
                  <a:tcPr/>
                </a:tc>
              </a:tr>
              <a:tr h="370840">
                <a:tc>
                  <a:txBody>
                    <a:bodyPr/>
                    <a:lstStyle/>
                    <a:p>
                      <a:r>
                        <a:rPr lang="en-US" altLang="zh-TW" dirty="0" smtClean="0"/>
                        <a:t>C</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c>
                  <a:txBody>
                    <a:bodyPr/>
                    <a:lstStyle/>
                    <a:p>
                      <a:endParaRPr lang="zh-TW" altLang="en-US" dirty="0"/>
                    </a:p>
                  </a:txBody>
                  <a:tcPr/>
                </a:tc>
              </a:tr>
              <a:tr h="370840">
                <a:tc>
                  <a:txBody>
                    <a:bodyPr/>
                    <a:lstStyle/>
                    <a:p>
                      <a:r>
                        <a:rPr lang="en-US" altLang="zh-TW" dirty="0" smtClean="0"/>
                        <a:t>D</a:t>
                      </a:r>
                      <a:endParaRPr lang="zh-TW" altLang="en-US" dirty="0"/>
                    </a:p>
                  </a:txBody>
                  <a:tcPr/>
                </a:tc>
                <a:tc>
                  <a:txBody>
                    <a:bodyPr/>
                    <a:lstStyle/>
                    <a:p>
                      <a:pPr algn="ctr"/>
                      <a:r>
                        <a:rPr lang="en-US" altLang="zh-TW" dirty="0" smtClean="0"/>
                        <a:t>5</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endParaRPr lang="zh-TW" altLang="en-US" dirty="0"/>
                    </a:p>
                  </a:txBody>
                  <a:tcPr/>
                </a:tc>
              </a:tr>
            </a:tbl>
          </a:graphicData>
        </a:graphic>
      </p:graphicFrame>
    </p:spTree>
    <p:extLst>
      <p:ext uri="{BB962C8B-B14F-4D97-AF65-F5344CB8AC3E}">
        <p14:creationId xmlns:p14="http://schemas.microsoft.com/office/powerpoint/2010/main" val="42093874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905636414"/>
              </p:ext>
            </p:extLst>
          </p:nvPr>
        </p:nvGraphicFramePr>
        <p:xfrm>
          <a:off x="602668" y="396948"/>
          <a:ext cx="7398330" cy="3672840"/>
        </p:xfrm>
        <a:graphic>
          <a:graphicData uri="http://schemas.openxmlformats.org/drawingml/2006/table">
            <a:tbl>
              <a:tblPr firstRow="1" bandRow="1">
                <a:tableStyleId>{5C22544A-7EE6-4342-B048-85BDC9FD1C3A}</a:tableStyleId>
              </a:tblPr>
              <a:tblGrid>
                <a:gridCol w="820886"/>
                <a:gridCol w="658780"/>
                <a:gridCol w="739833"/>
                <a:gridCol w="739833"/>
                <a:gridCol w="739833"/>
                <a:gridCol w="739833"/>
                <a:gridCol w="739833"/>
                <a:gridCol w="739833"/>
                <a:gridCol w="739833"/>
                <a:gridCol w="739833"/>
              </a:tblGrid>
              <a:tr h="370840">
                <a:tc>
                  <a:txBody>
                    <a:bodyPr/>
                    <a:lstStyle/>
                    <a:p>
                      <a:r>
                        <a:rPr lang="en-US" altLang="zh-TW" dirty="0" smtClean="0"/>
                        <a:t>length</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9</a:t>
                      </a:r>
                      <a:endParaRPr lang="zh-TW" altLang="en-US" dirty="0"/>
                    </a:p>
                  </a:txBody>
                  <a:tcPr/>
                </a:tc>
              </a:tr>
              <a:tr h="370840">
                <a:tc>
                  <a:txBody>
                    <a:bodyPr/>
                    <a:lstStyle/>
                    <a:p>
                      <a:r>
                        <a:rPr lang="en-US" altLang="zh-TW" dirty="0" smtClean="0"/>
                        <a:t>Index</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370840">
                <a:tc>
                  <a:txBody>
                    <a:bodyPr/>
                    <a:lstStyle/>
                    <a:p>
                      <a:pPr algn="ctr"/>
                      <a:r>
                        <a:rPr lang="en-US" altLang="zh-TW" dirty="0" err="1" smtClean="0"/>
                        <a:t>stringA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endParaRPr lang="zh-TW" altLang="en-US" dirty="0"/>
                    </a:p>
                  </a:txBody>
                  <a:tcPr/>
                </a:tc>
              </a:tr>
              <a:tr h="370840">
                <a:tc>
                  <a:txBody>
                    <a:bodyPr/>
                    <a:lstStyle/>
                    <a:p>
                      <a:pPr algn="ctr"/>
                      <a:r>
                        <a:rPr lang="en-US" altLang="zh-TW" dirty="0" err="1" smtClean="0"/>
                        <a:t>stringB</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solidFill>
                            <a:srgbClr val="FF0000"/>
                          </a:solidFill>
                        </a:rPr>
                        <a:t>C</a:t>
                      </a:r>
                      <a:endParaRPr lang="zh-TW" altLang="en-US" dirty="0">
                        <a:solidFill>
                          <a:srgbClr val="FF0000"/>
                        </a:solidFill>
                      </a:endParaRPr>
                    </a:p>
                  </a:txBody>
                  <a:tcPr/>
                </a:tc>
              </a:tr>
              <a:tr h="370840">
                <a:tc>
                  <a:txBody>
                    <a:bodyPr/>
                    <a:lstStyle/>
                    <a:p>
                      <a:pPr algn="ctr"/>
                      <a:r>
                        <a:rPr lang="en-US" altLang="zh-TW" dirty="0" err="1" smtClean="0"/>
                        <a:t>threshA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6</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pPr algn="ctr"/>
                      <a:endParaRPr lang="zh-TW" altLang="en-US"/>
                    </a:p>
                  </a:txBody>
                  <a:tcPr/>
                </a:tc>
                <a:tc>
                  <a:txBody>
                    <a:bodyPr/>
                    <a:lstStyle/>
                    <a:p>
                      <a:endParaRPr lang="zh-TW" altLang="en-US"/>
                    </a:p>
                  </a:txBody>
                  <a:tcPr/>
                </a:tc>
              </a:tr>
              <a:tr h="370840">
                <a:tc>
                  <a:txBody>
                    <a:bodyPr/>
                    <a:lstStyle/>
                    <a:p>
                      <a:pPr algn="ctr"/>
                      <a:r>
                        <a:rPr lang="en-US" altLang="zh-TW" dirty="0" err="1" smtClean="0"/>
                        <a:t>threshB</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endParaRPr lang="zh-TW" altLang="en-US"/>
                    </a:p>
                  </a:txBody>
                  <a:tcPr/>
                </a:tc>
              </a:tr>
              <a:tr h="370840">
                <a:tc>
                  <a:txBody>
                    <a:bodyPr/>
                    <a:lstStyle/>
                    <a:p>
                      <a:pPr algn="ctr"/>
                      <a:r>
                        <a:rPr lang="en-US" altLang="zh-TW" dirty="0" smtClean="0"/>
                        <a:t>k</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endParaRPr lang="zh-TW" altLang="en-US" dirty="0"/>
                    </a:p>
                  </a:txBody>
                  <a:tcPr/>
                </a:tc>
              </a:tr>
            </a:tbl>
          </a:graphicData>
        </a:graphic>
      </p:graphicFrame>
      <p:graphicFrame>
        <p:nvGraphicFramePr>
          <p:cNvPr id="3" name="表格 2"/>
          <p:cNvGraphicFramePr>
            <a:graphicFrameLocks noGrp="1"/>
          </p:cNvGraphicFramePr>
          <p:nvPr>
            <p:extLst>
              <p:ext uri="{D42A27DB-BD31-4B8C-83A1-F6EECF244321}">
                <p14:modId xmlns:p14="http://schemas.microsoft.com/office/powerpoint/2010/main" val="3644091503"/>
              </p:ext>
            </p:extLst>
          </p:nvPr>
        </p:nvGraphicFramePr>
        <p:xfrm>
          <a:off x="602668" y="4379191"/>
          <a:ext cx="7304811" cy="1854200"/>
        </p:xfrm>
        <a:graphic>
          <a:graphicData uri="http://schemas.openxmlformats.org/drawingml/2006/table">
            <a:tbl>
              <a:tblPr firstRow="1" bandRow="1">
                <a:tableStyleId>{5C22544A-7EE6-4342-B048-85BDC9FD1C3A}</a:tableStyleId>
              </a:tblPr>
              <a:tblGrid>
                <a:gridCol w="1826202"/>
                <a:gridCol w="1478110"/>
                <a:gridCol w="1350820"/>
                <a:gridCol w="1288473"/>
                <a:gridCol w="1361206"/>
              </a:tblGrid>
              <a:tr h="370840">
                <a:tc>
                  <a:txBody>
                    <a:bodyPr/>
                    <a:lstStyle/>
                    <a:p>
                      <a:r>
                        <a:rPr lang="en-US" altLang="zh-TW" dirty="0" smtClean="0"/>
                        <a:t>Layers A</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70840">
                <a:tc>
                  <a:txBody>
                    <a:bodyPr/>
                    <a:lstStyle/>
                    <a:p>
                      <a:r>
                        <a:rPr lang="en-US" altLang="zh-TW" dirty="0" smtClean="0"/>
                        <a:t>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endParaRPr lang="zh-TW" altLang="en-US" dirty="0"/>
                    </a:p>
                  </a:txBody>
                  <a:tcPr/>
                </a:tc>
                <a:tc>
                  <a:txBody>
                    <a:bodyPr/>
                    <a:lstStyle/>
                    <a:p>
                      <a:endParaRPr lang="zh-TW" altLang="en-US" dirty="0"/>
                    </a:p>
                  </a:txBody>
                  <a:tcPr/>
                </a:tc>
              </a:tr>
              <a:tr h="370840">
                <a:tc>
                  <a:txBody>
                    <a:bodyPr/>
                    <a:lstStyle/>
                    <a:p>
                      <a:r>
                        <a:rPr lang="en-US" altLang="zh-TW" dirty="0" smtClean="0"/>
                        <a:t>B</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6</a:t>
                      </a:r>
                      <a:endParaRPr lang="zh-TW" altLang="en-US" dirty="0"/>
                    </a:p>
                  </a:txBody>
                  <a:tcPr/>
                </a:tc>
                <a:tc>
                  <a:txBody>
                    <a:bodyPr/>
                    <a:lstStyle/>
                    <a:p>
                      <a:endParaRPr lang="zh-TW" altLang="en-US" dirty="0"/>
                    </a:p>
                  </a:txBody>
                  <a:tcPr/>
                </a:tc>
              </a:tr>
              <a:tr h="370840">
                <a:tc>
                  <a:txBody>
                    <a:bodyPr/>
                    <a:lstStyle/>
                    <a:p>
                      <a:r>
                        <a:rPr lang="en-US" altLang="zh-TW" dirty="0" smtClean="0"/>
                        <a:t>C</a:t>
                      </a:r>
                      <a:endParaRPr lang="zh-TW" altLang="en-US" dirty="0"/>
                    </a:p>
                  </a:txBody>
                  <a:tcPr/>
                </a:tc>
                <a:tc>
                  <a:txBody>
                    <a:bodyPr/>
                    <a:lstStyle/>
                    <a:p>
                      <a:pPr algn="ctr"/>
                      <a:r>
                        <a:rPr lang="en-US" altLang="zh-TW" dirty="0" smtClean="0">
                          <a:solidFill>
                            <a:srgbClr val="0070C0"/>
                          </a:solidFill>
                        </a:rPr>
                        <a:t>2</a:t>
                      </a:r>
                      <a:endParaRPr lang="zh-TW" altLang="en-US" dirty="0">
                        <a:solidFill>
                          <a:srgbClr val="0070C0"/>
                        </a:solidFill>
                      </a:endParaRPr>
                    </a:p>
                  </a:txBody>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c>
                  <a:txBody>
                    <a:bodyPr/>
                    <a:lstStyle/>
                    <a:p>
                      <a:endParaRPr lang="zh-TW" altLang="en-US" dirty="0"/>
                    </a:p>
                  </a:txBody>
                  <a:tcPr/>
                </a:tc>
              </a:tr>
              <a:tr h="370840">
                <a:tc>
                  <a:txBody>
                    <a:bodyPr/>
                    <a:lstStyle/>
                    <a:p>
                      <a:r>
                        <a:rPr lang="en-US" altLang="zh-TW" dirty="0" smtClean="0"/>
                        <a:t>D</a:t>
                      </a:r>
                      <a:endParaRPr lang="zh-TW" altLang="en-US" dirty="0"/>
                    </a:p>
                  </a:txBody>
                  <a:tcPr/>
                </a:tc>
                <a:tc>
                  <a:txBody>
                    <a:bodyPr/>
                    <a:lstStyle/>
                    <a:p>
                      <a:pPr algn="ctr"/>
                      <a:r>
                        <a:rPr lang="en-US" altLang="zh-TW" dirty="0" smtClean="0"/>
                        <a:t>5</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endParaRPr lang="zh-TW" altLang="en-US" dirty="0"/>
                    </a:p>
                  </a:txBody>
                  <a:tcPr/>
                </a:tc>
              </a:tr>
            </a:tbl>
          </a:graphicData>
        </a:graphic>
      </p:graphicFrame>
    </p:spTree>
    <p:extLst>
      <p:ext uri="{BB962C8B-B14F-4D97-AF65-F5344CB8AC3E}">
        <p14:creationId xmlns:p14="http://schemas.microsoft.com/office/powerpoint/2010/main" val="28683819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4121499020"/>
              </p:ext>
            </p:extLst>
          </p:nvPr>
        </p:nvGraphicFramePr>
        <p:xfrm>
          <a:off x="602668" y="396948"/>
          <a:ext cx="7398330" cy="3672840"/>
        </p:xfrm>
        <a:graphic>
          <a:graphicData uri="http://schemas.openxmlformats.org/drawingml/2006/table">
            <a:tbl>
              <a:tblPr firstRow="1" bandRow="1">
                <a:tableStyleId>{5C22544A-7EE6-4342-B048-85BDC9FD1C3A}</a:tableStyleId>
              </a:tblPr>
              <a:tblGrid>
                <a:gridCol w="820886"/>
                <a:gridCol w="658780"/>
                <a:gridCol w="739833"/>
                <a:gridCol w="739833"/>
                <a:gridCol w="739833"/>
                <a:gridCol w="739833"/>
                <a:gridCol w="739833"/>
                <a:gridCol w="739833"/>
                <a:gridCol w="739833"/>
                <a:gridCol w="739833"/>
              </a:tblGrid>
              <a:tr h="370840">
                <a:tc>
                  <a:txBody>
                    <a:bodyPr/>
                    <a:lstStyle/>
                    <a:p>
                      <a:r>
                        <a:rPr lang="en-US" altLang="zh-TW" dirty="0" smtClean="0"/>
                        <a:t>length</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9</a:t>
                      </a:r>
                      <a:endParaRPr lang="zh-TW" altLang="en-US" dirty="0"/>
                    </a:p>
                  </a:txBody>
                  <a:tcPr/>
                </a:tc>
              </a:tr>
              <a:tr h="370840">
                <a:tc>
                  <a:txBody>
                    <a:bodyPr/>
                    <a:lstStyle/>
                    <a:p>
                      <a:r>
                        <a:rPr lang="en-US" altLang="zh-TW" dirty="0" smtClean="0"/>
                        <a:t>Index</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370840">
                <a:tc>
                  <a:txBody>
                    <a:bodyPr/>
                    <a:lstStyle/>
                    <a:p>
                      <a:pPr algn="ctr"/>
                      <a:r>
                        <a:rPr lang="en-US" altLang="zh-TW" dirty="0" err="1" smtClean="0"/>
                        <a:t>stringA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endParaRPr lang="zh-TW" altLang="en-US" dirty="0"/>
                    </a:p>
                  </a:txBody>
                  <a:tcPr/>
                </a:tc>
              </a:tr>
              <a:tr h="370840">
                <a:tc>
                  <a:txBody>
                    <a:bodyPr/>
                    <a:lstStyle/>
                    <a:p>
                      <a:pPr algn="ctr"/>
                      <a:r>
                        <a:rPr lang="en-US" altLang="zh-TW" dirty="0" err="1" smtClean="0"/>
                        <a:t>stringB</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r>
              <a:tr h="370840">
                <a:tc>
                  <a:txBody>
                    <a:bodyPr/>
                    <a:lstStyle/>
                    <a:p>
                      <a:pPr algn="ctr"/>
                      <a:r>
                        <a:rPr lang="en-US" altLang="zh-TW" dirty="0" err="1" smtClean="0"/>
                        <a:t>threshA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6</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endParaRPr lang="zh-TW" altLang="en-US"/>
                    </a:p>
                  </a:txBody>
                  <a:tcPr/>
                </a:tc>
              </a:tr>
              <a:tr h="370840">
                <a:tc>
                  <a:txBody>
                    <a:bodyPr/>
                    <a:lstStyle/>
                    <a:p>
                      <a:pPr algn="ctr"/>
                      <a:r>
                        <a:rPr lang="en-US" altLang="zh-TW" dirty="0" err="1" smtClean="0"/>
                        <a:t>threshB</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endParaRPr lang="zh-TW" altLang="en-US"/>
                    </a:p>
                  </a:txBody>
                  <a:tcPr/>
                </a:tc>
              </a:tr>
              <a:tr h="370840">
                <a:tc>
                  <a:txBody>
                    <a:bodyPr/>
                    <a:lstStyle/>
                    <a:p>
                      <a:pPr algn="ctr"/>
                      <a:r>
                        <a:rPr lang="en-US" altLang="zh-TW" dirty="0" smtClean="0"/>
                        <a:t>k</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endParaRPr lang="zh-TW" altLang="en-US" dirty="0"/>
                    </a:p>
                  </a:txBody>
                  <a:tcP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2198768997"/>
              </p:ext>
            </p:extLst>
          </p:nvPr>
        </p:nvGraphicFramePr>
        <p:xfrm>
          <a:off x="602668" y="4379191"/>
          <a:ext cx="7304811" cy="1854200"/>
        </p:xfrm>
        <a:graphic>
          <a:graphicData uri="http://schemas.openxmlformats.org/drawingml/2006/table">
            <a:tbl>
              <a:tblPr firstRow="1" bandRow="1">
                <a:tableStyleId>{5C22544A-7EE6-4342-B048-85BDC9FD1C3A}</a:tableStyleId>
              </a:tblPr>
              <a:tblGrid>
                <a:gridCol w="1826202"/>
                <a:gridCol w="1478110"/>
                <a:gridCol w="1350820"/>
                <a:gridCol w="1288473"/>
                <a:gridCol w="1361206"/>
              </a:tblGrid>
              <a:tr h="370840">
                <a:tc>
                  <a:txBody>
                    <a:bodyPr/>
                    <a:lstStyle/>
                    <a:p>
                      <a:r>
                        <a:rPr lang="en-US" altLang="zh-TW" dirty="0" smtClean="0"/>
                        <a:t>Layers A</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70840">
                <a:tc>
                  <a:txBody>
                    <a:bodyPr/>
                    <a:lstStyle/>
                    <a:p>
                      <a:r>
                        <a:rPr lang="en-US" altLang="zh-TW" dirty="0" smtClean="0"/>
                        <a:t>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endParaRPr lang="zh-TW" altLang="en-US" dirty="0"/>
                    </a:p>
                  </a:txBody>
                  <a:tcPr/>
                </a:tc>
                <a:tc>
                  <a:txBody>
                    <a:bodyPr/>
                    <a:lstStyle/>
                    <a:p>
                      <a:endParaRPr lang="zh-TW" altLang="en-US" dirty="0"/>
                    </a:p>
                  </a:txBody>
                  <a:tcPr/>
                </a:tc>
              </a:tr>
              <a:tr h="370840">
                <a:tc>
                  <a:txBody>
                    <a:bodyPr/>
                    <a:lstStyle/>
                    <a:p>
                      <a:r>
                        <a:rPr lang="en-US" altLang="zh-TW" dirty="0" smtClean="0"/>
                        <a:t>B</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6</a:t>
                      </a:r>
                      <a:endParaRPr lang="zh-TW" altLang="en-US" dirty="0"/>
                    </a:p>
                  </a:txBody>
                  <a:tcPr/>
                </a:tc>
                <a:tc>
                  <a:txBody>
                    <a:bodyPr/>
                    <a:lstStyle/>
                    <a:p>
                      <a:endParaRPr lang="zh-TW" altLang="en-US" dirty="0"/>
                    </a:p>
                  </a:txBody>
                  <a:tcPr/>
                </a:tc>
              </a:tr>
              <a:tr h="370840">
                <a:tc>
                  <a:txBody>
                    <a:bodyPr/>
                    <a:lstStyle/>
                    <a:p>
                      <a:r>
                        <a:rPr lang="en-US" altLang="zh-TW" dirty="0" smtClean="0"/>
                        <a:t>C</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c>
                  <a:txBody>
                    <a:bodyPr/>
                    <a:lstStyle/>
                    <a:p>
                      <a:endParaRPr lang="zh-TW" altLang="en-US" dirty="0"/>
                    </a:p>
                  </a:txBody>
                  <a:tcPr/>
                </a:tc>
              </a:tr>
              <a:tr h="370840">
                <a:tc>
                  <a:txBody>
                    <a:bodyPr/>
                    <a:lstStyle/>
                    <a:p>
                      <a:r>
                        <a:rPr lang="en-US" altLang="zh-TW" dirty="0" smtClean="0"/>
                        <a:t>D</a:t>
                      </a:r>
                      <a:endParaRPr lang="zh-TW" altLang="en-US" dirty="0"/>
                    </a:p>
                  </a:txBody>
                  <a:tcPr/>
                </a:tc>
                <a:tc>
                  <a:txBody>
                    <a:bodyPr/>
                    <a:lstStyle/>
                    <a:p>
                      <a:pPr algn="ctr"/>
                      <a:r>
                        <a:rPr lang="en-US" altLang="zh-TW" dirty="0" smtClean="0"/>
                        <a:t>5</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endParaRPr lang="zh-TW" altLang="en-US" dirty="0"/>
                    </a:p>
                  </a:txBody>
                  <a:tcPr/>
                </a:tc>
              </a:tr>
            </a:tbl>
          </a:graphicData>
        </a:graphic>
      </p:graphicFrame>
    </p:spTree>
    <p:extLst>
      <p:ext uri="{BB962C8B-B14F-4D97-AF65-F5344CB8AC3E}">
        <p14:creationId xmlns:p14="http://schemas.microsoft.com/office/powerpoint/2010/main" val="37523869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779142972"/>
              </p:ext>
            </p:extLst>
          </p:nvPr>
        </p:nvGraphicFramePr>
        <p:xfrm>
          <a:off x="602668" y="396948"/>
          <a:ext cx="7398330" cy="3672840"/>
        </p:xfrm>
        <a:graphic>
          <a:graphicData uri="http://schemas.openxmlformats.org/drawingml/2006/table">
            <a:tbl>
              <a:tblPr firstRow="1" bandRow="1">
                <a:tableStyleId>{5C22544A-7EE6-4342-B048-85BDC9FD1C3A}</a:tableStyleId>
              </a:tblPr>
              <a:tblGrid>
                <a:gridCol w="820886"/>
                <a:gridCol w="658780"/>
                <a:gridCol w="739833"/>
                <a:gridCol w="739833"/>
                <a:gridCol w="739833"/>
                <a:gridCol w="739833"/>
                <a:gridCol w="739833"/>
                <a:gridCol w="739833"/>
                <a:gridCol w="739833"/>
                <a:gridCol w="739833"/>
              </a:tblGrid>
              <a:tr h="370840">
                <a:tc>
                  <a:txBody>
                    <a:bodyPr/>
                    <a:lstStyle/>
                    <a:p>
                      <a:r>
                        <a:rPr lang="en-US" altLang="zh-TW" dirty="0" smtClean="0"/>
                        <a:t>length</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c>
                  <a:txBody>
                    <a:bodyPr/>
                    <a:lstStyle/>
                    <a:p>
                      <a:pPr algn="ctr"/>
                      <a:r>
                        <a:rPr lang="en-US" altLang="zh-TW" dirty="0" smtClean="0"/>
                        <a:t>9</a:t>
                      </a:r>
                      <a:endParaRPr lang="zh-TW" altLang="en-US" dirty="0"/>
                    </a:p>
                  </a:txBody>
                  <a:tcPr/>
                </a:tc>
              </a:tr>
              <a:tr h="370840">
                <a:tc>
                  <a:txBody>
                    <a:bodyPr/>
                    <a:lstStyle/>
                    <a:p>
                      <a:r>
                        <a:rPr lang="en-US" altLang="zh-TW" dirty="0" smtClean="0"/>
                        <a:t>Index</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r>
              <a:tr h="370840">
                <a:tc>
                  <a:txBody>
                    <a:bodyPr/>
                    <a:lstStyle/>
                    <a:p>
                      <a:pPr algn="ctr"/>
                      <a:r>
                        <a:rPr lang="en-US" altLang="zh-TW" dirty="0" err="1" smtClean="0"/>
                        <a:t>stringA</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endParaRPr lang="zh-TW" altLang="en-US" dirty="0"/>
                    </a:p>
                  </a:txBody>
                  <a:tcPr/>
                </a:tc>
              </a:tr>
              <a:tr h="370840">
                <a:tc>
                  <a:txBody>
                    <a:bodyPr/>
                    <a:lstStyle/>
                    <a:p>
                      <a:pPr algn="ctr"/>
                      <a:r>
                        <a:rPr lang="en-US" altLang="zh-TW" dirty="0" err="1" smtClean="0"/>
                        <a:t>stringB</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A</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C</a:t>
                      </a:r>
                      <a:endParaRPr lang="zh-TW" altLang="en-US" dirty="0"/>
                    </a:p>
                  </a:txBody>
                  <a:tcPr/>
                </a:tc>
              </a:tr>
              <a:tr h="370840">
                <a:tc>
                  <a:txBody>
                    <a:bodyPr/>
                    <a:lstStyle/>
                    <a:p>
                      <a:pPr algn="ctr"/>
                      <a:r>
                        <a:rPr lang="en-US" altLang="zh-TW" dirty="0" err="1" smtClean="0"/>
                        <a:t>threshA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solidFill>
                            <a:srgbClr val="FF0000"/>
                          </a:solidFill>
                        </a:rPr>
                        <a:t>2</a:t>
                      </a:r>
                      <a:endParaRPr lang="zh-TW" altLang="en-US" dirty="0">
                        <a:solidFill>
                          <a:srgbClr val="FF0000"/>
                        </a:solidFill>
                      </a:endParaRPr>
                    </a:p>
                  </a:txBody>
                  <a:tcPr/>
                </a:tc>
                <a:tc>
                  <a:txBody>
                    <a:bodyPr/>
                    <a:lstStyle/>
                    <a:p>
                      <a:pPr algn="ctr"/>
                      <a:r>
                        <a:rPr lang="en-US" altLang="zh-TW" dirty="0" smtClean="0"/>
                        <a:t>4</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7</a:t>
                      </a:r>
                      <a:endParaRPr lang="zh-TW" altLang="en-US" dirty="0"/>
                    </a:p>
                  </a:txBody>
                  <a:tcPr/>
                </a:tc>
                <a:tc>
                  <a:txBody>
                    <a:bodyPr/>
                    <a:lstStyle/>
                    <a:p>
                      <a:pPr algn="ctr"/>
                      <a:endParaRPr lang="zh-TW" altLang="en-US"/>
                    </a:p>
                  </a:txBody>
                  <a:tcPr/>
                </a:tc>
                <a:tc>
                  <a:txBody>
                    <a:bodyPr/>
                    <a:lstStyle/>
                    <a:p>
                      <a:pPr algn="ctr"/>
                      <a:endParaRPr lang="zh-TW" altLang="en-US"/>
                    </a:p>
                  </a:txBody>
                  <a:tcPr/>
                </a:tc>
                <a:tc>
                  <a:txBody>
                    <a:bodyPr/>
                    <a:lstStyle/>
                    <a:p>
                      <a:endParaRPr lang="zh-TW" altLang="en-US"/>
                    </a:p>
                  </a:txBody>
                  <a:tcPr/>
                </a:tc>
              </a:tr>
              <a:tr h="370840">
                <a:tc>
                  <a:txBody>
                    <a:bodyPr/>
                    <a:lstStyle/>
                    <a:p>
                      <a:pPr algn="ctr"/>
                      <a:r>
                        <a:rPr lang="en-US" altLang="zh-TW" dirty="0" err="1" smtClean="0"/>
                        <a:t>threshB</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7</a:t>
                      </a:r>
                      <a:endParaRPr lang="zh-TW" altLang="en-US" dirty="0"/>
                    </a:p>
                  </a:txBody>
                  <a:tcPr/>
                </a:tc>
                <a:tc>
                  <a:txBody>
                    <a:bodyPr/>
                    <a:lstStyle/>
                    <a:p>
                      <a:pPr algn="ctr"/>
                      <a:r>
                        <a:rPr lang="en-US" altLang="zh-TW" dirty="0" smtClean="0"/>
                        <a:t>8</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endParaRPr lang="zh-TW" altLang="en-US"/>
                    </a:p>
                  </a:txBody>
                  <a:tcPr/>
                </a:tc>
              </a:tr>
              <a:tr h="370840">
                <a:tc>
                  <a:txBody>
                    <a:bodyPr/>
                    <a:lstStyle/>
                    <a:p>
                      <a:pPr algn="ctr"/>
                      <a:r>
                        <a:rPr lang="en-US" altLang="zh-TW" dirty="0" smtClean="0"/>
                        <a:t>k</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5</a:t>
                      </a:r>
                      <a:endParaRPr lang="zh-TW" altLang="en-US" dirty="0"/>
                    </a:p>
                  </a:txBody>
                  <a:tcPr/>
                </a:tc>
                <a:tc>
                  <a:txBody>
                    <a:bodyPr/>
                    <a:lstStyle/>
                    <a:p>
                      <a:pPr algn="ctr"/>
                      <a:endParaRPr lang="zh-TW" altLang="en-US" dirty="0"/>
                    </a:p>
                  </a:txBody>
                  <a:tcPr/>
                </a:tc>
                <a:tc>
                  <a:txBody>
                    <a:bodyPr/>
                    <a:lstStyle/>
                    <a:p>
                      <a:pPr algn="ctr"/>
                      <a:endParaRPr lang="zh-TW" altLang="en-US"/>
                    </a:p>
                  </a:txBody>
                  <a:tcPr/>
                </a:tc>
                <a:tc>
                  <a:txBody>
                    <a:bodyPr/>
                    <a:lstStyle/>
                    <a:p>
                      <a:pPr algn="ctr"/>
                      <a:endParaRPr lang="zh-TW" altLang="en-US" dirty="0"/>
                    </a:p>
                  </a:txBody>
                  <a:tcPr/>
                </a:tc>
                <a:tc>
                  <a:txBody>
                    <a:bodyPr/>
                    <a:lstStyle/>
                    <a:p>
                      <a:endParaRPr lang="zh-TW" altLang="en-US" dirty="0"/>
                    </a:p>
                  </a:txBody>
                  <a:tcPr/>
                </a:tc>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2198768997"/>
              </p:ext>
            </p:extLst>
          </p:nvPr>
        </p:nvGraphicFramePr>
        <p:xfrm>
          <a:off x="602668" y="4379191"/>
          <a:ext cx="7304811" cy="1854200"/>
        </p:xfrm>
        <a:graphic>
          <a:graphicData uri="http://schemas.openxmlformats.org/drawingml/2006/table">
            <a:tbl>
              <a:tblPr firstRow="1" bandRow="1">
                <a:tableStyleId>{5C22544A-7EE6-4342-B048-85BDC9FD1C3A}</a:tableStyleId>
              </a:tblPr>
              <a:tblGrid>
                <a:gridCol w="1826202"/>
                <a:gridCol w="1478110"/>
                <a:gridCol w="1350820"/>
                <a:gridCol w="1288473"/>
                <a:gridCol w="1361206"/>
              </a:tblGrid>
              <a:tr h="370840">
                <a:tc>
                  <a:txBody>
                    <a:bodyPr/>
                    <a:lstStyle/>
                    <a:p>
                      <a:r>
                        <a:rPr lang="en-US" altLang="zh-TW" dirty="0" smtClean="0"/>
                        <a:t>Layers A</a:t>
                      </a:r>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c>
                  <a:txBody>
                    <a:bodyPr/>
                    <a:lstStyle/>
                    <a:p>
                      <a:endParaRPr lang="zh-TW" altLang="en-US" dirty="0"/>
                    </a:p>
                  </a:txBody>
                  <a:tcPr/>
                </a:tc>
              </a:tr>
              <a:tr h="370840">
                <a:tc>
                  <a:txBody>
                    <a:bodyPr/>
                    <a:lstStyle/>
                    <a:p>
                      <a:r>
                        <a:rPr lang="en-US" altLang="zh-TW" dirty="0" smtClean="0"/>
                        <a:t>A</a:t>
                      </a:r>
                      <a:endParaRPr lang="zh-TW" altLang="en-US" dirty="0"/>
                    </a:p>
                  </a:txBody>
                  <a:tcPr/>
                </a:tc>
                <a:tc>
                  <a:txBody>
                    <a:bodyPr/>
                    <a:lstStyle/>
                    <a:p>
                      <a:pPr algn="ctr"/>
                      <a:r>
                        <a:rPr lang="en-US" altLang="zh-TW" dirty="0" smtClean="0"/>
                        <a:t>0</a:t>
                      </a:r>
                      <a:endParaRPr lang="zh-TW" altLang="en-US" dirty="0"/>
                    </a:p>
                  </a:txBody>
                  <a:tcPr/>
                </a:tc>
                <a:tc>
                  <a:txBody>
                    <a:bodyPr/>
                    <a:lstStyle/>
                    <a:p>
                      <a:pPr algn="ctr"/>
                      <a:r>
                        <a:rPr lang="en-US" altLang="zh-TW" dirty="0" smtClean="0"/>
                        <a:t>3</a:t>
                      </a:r>
                      <a:endParaRPr lang="zh-TW" altLang="en-US" dirty="0"/>
                    </a:p>
                  </a:txBody>
                  <a:tcPr/>
                </a:tc>
                <a:tc>
                  <a:txBody>
                    <a:bodyPr/>
                    <a:lstStyle/>
                    <a:p>
                      <a:pPr algn="ctr"/>
                      <a:endParaRPr lang="zh-TW" altLang="en-US" dirty="0"/>
                    </a:p>
                  </a:txBody>
                  <a:tcPr/>
                </a:tc>
                <a:tc>
                  <a:txBody>
                    <a:bodyPr/>
                    <a:lstStyle/>
                    <a:p>
                      <a:endParaRPr lang="zh-TW" altLang="en-US" dirty="0"/>
                    </a:p>
                  </a:txBody>
                  <a:tcPr/>
                </a:tc>
              </a:tr>
              <a:tr h="370840">
                <a:tc>
                  <a:txBody>
                    <a:bodyPr/>
                    <a:lstStyle/>
                    <a:p>
                      <a:r>
                        <a:rPr lang="en-US" altLang="zh-TW" dirty="0" smtClean="0"/>
                        <a:t>B</a:t>
                      </a:r>
                      <a:endParaRPr lang="zh-TW" altLang="en-US" dirty="0"/>
                    </a:p>
                  </a:txBody>
                  <a:tcPr/>
                </a:tc>
                <a:tc>
                  <a:txBody>
                    <a:bodyPr/>
                    <a:lstStyle/>
                    <a:p>
                      <a:pPr algn="ctr"/>
                      <a:r>
                        <a:rPr lang="en-US" altLang="zh-TW" dirty="0" smtClean="0"/>
                        <a:t>1</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6</a:t>
                      </a:r>
                      <a:endParaRPr lang="zh-TW" altLang="en-US" dirty="0"/>
                    </a:p>
                  </a:txBody>
                  <a:tcPr/>
                </a:tc>
                <a:tc>
                  <a:txBody>
                    <a:bodyPr/>
                    <a:lstStyle/>
                    <a:p>
                      <a:endParaRPr lang="zh-TW" altLang="en-US" dirty="0"/>
                    </a:p>
                  </a:txBody>
                  <a:tcPr/>
                </a:tc>
              </a:tr>
              <a:tr h="370840">
                <a:tc>
                  <a:txBody>
                    <a:bodyPr/>
                    <a:lstStyle/>
                    <a:p>
                      <a:r>
                        <a:rPr lang="en-US" altLang="zh-TW" dirty="0" smtClean="0"/>
                        <a:t>C</a:t>
                      </a:r>
                      <a:endParaRPr lang="zh-TW" altLang="en-US" dirty="0"/>
                    </a:p>
                  </a:txBody>
                  <a:tcPr/>
                </a:tc>
                <a:tc>
                  <a:txBody>
                    <a:bodyPr/>
                    <a:lstStyle/>
                    <a:p>
                      <a:pPr algn="ctr"/>
                      <a:r>
                        <a:rPr lang="en-US" altLang="zh-TW" dirty="0" smtClean="0"/>
                        <a:t>2</a:t>
                      </a:r>
                      <a:endParaRPr lang="zh-TW" altLang="en-US" dirty="0"/>
                    </a:p>
                  </a:txBody>
                  <a:tcPr/>
                </a:tc>
                <a:tc>
                  <a:txBody>
                    <a:bodyPr/>
                    <a:lstStyle/>
                    <a:p>
                      <a:pPr algn="ctr"/>
                      <a:r>
                        <a:rPr lang="en-US" altLang="zh-TW" dirty="0" smtClean="0"/>
                        <a:t>7</a:t>
                      </a:r>
                      <a:endParaRPr lang="zh-TW" altLang="en-US" dirty="0"/>
                    </a:p>
                  </a:txBody>
                  <a:tcPr/>
                </a:tc>
                <a:tc>
                  <a:txBody>
                    <a:bodyPr/>
                    <a:lstStyle/>
                    <a:p>
                      <a:pPr algn="ctr"/>
                      <a:endParaRPr lang="zh-TW" altLang="en-US" dirty="0"/>
                    </a:p>
                  </a:txBody>
                  <a:tcPr/>
                </a:tc>
                <a:tc>
                  <a:txBody>
                    <a:bodyPr/>
                    <a:lstStyle/>
                    <a:p>
                      <a:endParaRPr lang="zh-TW" altLang="en-US" dirty="0"/>
                    </a:p>
                  </a:txBody>
                  <a:tcPr/>
                </a:tc>
              </a:tr>
              <a:tr h="370840">
                <a:tc>
                  <a:txBody>
                    <a:bodyPr/>
                    <a:lstStyle/>
                    <a:p>
                      <a:r>
                        <a:rPr lang="en-US" altLang="zh-TW" dirty="0" smtClean="0"/>
                        <a:t>D</a:t>
                      </a:r>
                      <a:endParaRPr lang="zh-TW" altLang="en-US" dirty="0"/>
                    </a:p>
                  </a:txBody>
                  <a:tcPr/>
                </a:tc>
                <a:tc>
                  <a:txBody>
                    <a:bodyPr/>
                    <a:lstStyle/>
                    <a:p>
                      <a:pPr algn="ctr"/>
                      <a:r>
                        <a:rPr lang="en-US" altLang="zh-TW" dirty="0" smtClean="0"/>
                        <a:t>5</a:t>
                      </a:r>
                      <a:endParaRPr lang="zh-TW" altLang="en-US" dirty="0"/>
                    </a:p>
                  </a:txBody>
                  <a:tcPr/>
                </a:tc>
                <a:tc>
                  <a:txBody>
                    <a:bodyPr/>
                    <a:lstStyle/>
                    <a:p>
                      <a:pPr algn="ctr"/>
                      <a:endParaRPr lang="zh-TW" altLang="en-US" dirty="0"/>
                    </a:p>
                  </a:txBody>
                  <a:tcPr/>
                </a:tc>
                <a:tc>
                  <a:txBody>
                    <a:bodyPr/>
                    <a:lstStyle/>
                    <a:p>
                      <a:pPr algn="ctr"/>
                      <a:endParaRPr lang="zh-TW" altLang="en-US" dirty="0"/>
                    </a:p>
                  </a:txBody>
                  <a:tcPr/>
                </a:tc>
                <a:tc>
                  <a:txBody>
                    <a:bodyPr/>
                    <a:lstStyle/>
                    <a:p>
                      <a:endParaRPr lang="zh-TW" altLang="en-US" dirty="0"/>
                    </a:p>
                  </a:txBody>
                  <a:tcPr/>
                </a:tc>
              </a:tr>
            </a:tbl>
          </a:graphicData>
        </a:graphic>
      </p:graphicFrame>
    </p:spTree>
    <p:extLst>
      <p:ext uri="{BB962C8B-B14F-4D97-AF65-F5344CB8AC3E}">
        <p14:creationId xmlns:p14="http://schemas.microsoft.com/office/powerpoint/2010/main" val="877648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1706" y="70969"/>
            <a:ext cx="5820587" cy="6716062"/>
          </a:xfrm>
          <a:prstGeom prst="rect">
            <a:avLst/>
          </a:prstGeom>
        </p:spPr>
      </p:pic>
    </p:spTree>
    <p:extLst>
      <p:ext uri="{BB962C8B-B14F-4D97-AF65-F5344CB8AC3E}">
        <p14:creationId xmlns:p14="http://schemas.microsoft.com/office/powerpoint/2010/main" val="9952739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487</TotalTime>
  <Words>1009</Words>
  <Application>Microsoft Office PowerPoint</Application>
  <PresentationFormat>如螢幕大小 (4:3)</PresentationFormat>
  <Paragraphs>473</Paragraphs>
  <Slides>19</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19</vt:i4>
      </vt:variant>
    </vt:vector>
  </HeadingPairs>
  <TitlesOfParts>
    <vt:vector size="26" baseType="lpstr">
      <vt:lpstr>新細明體</vt:lpstr>
      <vt:lpstr>Arial</vt:lpstr>
      <vt:lpstr>Calibri</vt:lpstr>
      <vt:lpstr>Calibri Light</vt:lpstr>
      <vt:lpstr>Cambria Math</vt:lpstr>
      <vt:lpstr>Times New Roman</vt:lpstr>
      <vt:lpstr>Office 佈景主題</vt:lpstr>
      <vt:lpstr> A New Algorithm for the Longest Common Subsequence Problem </vt:lpstr>
      <vt:lpstr>  Abstract </vt:lpstr>
      <vt:lpstr>Minimal(or Dominant) Matching</vt:lpstr>
      <vt:lpstr>Minimal(or Dominant) Matching</vt:lpstr>
      <vt:lpstr>Van Emde Boas tree</vt:lpstr>
      <vt:lpstr>LIS(Longest Increasing Subsequence)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Algorithm for the Longest Common Subsequence Problem</dc:title>
  <dc:creator>SiangHuai</dc:creator>
  <cp:lastModifiedBy>pplab-class</cp:lastModifiedBy>
  <cp:revision>31</cp:revision>
  <dcterms:created xsi:type="dcterms:W3CDTF">2015-11-03T04:51:18Z</dcterms:created>
  <dcterms:modified xsi:type="dcterms:W3CDTF">2015-11-03T13:38:46Z</dcterms:modified>
</cp:coreProperties>
</file>