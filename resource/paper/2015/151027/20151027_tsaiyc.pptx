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67" r:id="rId4"/>
    <p:sldId id="264" r:id="rId5"/>
    <p:sldId id="268" r:id="rId6"/>
    <p:sldId id="269" r:id="rId7"/>
    <p:sldId id="270" r:id="rId8"/>
    <p:sldId id="271" r:id="rId9"/>
    <p:sldId id="272" r:id="rId10"/>
    <p:sldId id="276" r:id="rId11"/>
    <p:sldId id="274" r:id="rId12"/>
    <p:sldId id="275" r:id="rId13"/>
    <p:sldId id="273" r:id="rId14"/>
    <p:sldId id="277" r:id="rId15"/>
  </p:sldIdLst>
  <p:sldSz cx="9144000" cy="6858000" type="screen4x3"/>
  <p:notesSz cx="9947275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342C-D3E6-4343-B7E6-7344C4D3E48E}" type="datetimeFigureOut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071B8-4507-4225-B265-9ABFCA3C6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4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0486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35063" y="0"/>
            <a:ext cx="4310486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319D-5FEB-4BB2-8449-8B5AD3FD1565}" type="datetimeFigureOut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30588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4728" y="3300414"/>
            <a:ext cx="795782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514"/>
            <a:ext cx="4310486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35063" y="6513514"/>
            <a:ext cx="4310486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D4387-758A-48A1-B6FC-B6449276ED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1250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28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998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548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35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96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974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213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029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6618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252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307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700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784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98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3411-B8F4-4907-AA92-4552EEC98037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0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7948-3BC4-474B-B2C5-B24B6278D5CC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35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4401-0966-4BE9-949A-1941D46B255A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637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F7A8-39F7-47D3-84AF-7F86628B5FAB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49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4A1C-B702-477E-9BF4-97BB9A31376D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0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D37B-8EDA-44B1-B8D7-9E8653376522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57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D677-579F-4601-A0E0-98D0EF8FF300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27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04F25-68B9-4B98-A00F-22886F6765A0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31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7DF-E3E8-4590-BCB8-918F6FA7A470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71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3A9F8-67B4-415C-958B-B847634E21C6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67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2B4F-FCBB-477E-B7D1-1CF98B64D8ED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8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B09C-9434-434F-8521-A32D48F8D9B0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52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3128317"/>
          </a:xfrm>
        </p:spPr>
        <p:txBody>
          <a:bodyPr>
            <a:noAutofit/>
          </a:bodyPr>
          <a:lstStyle/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data envelopment analysis approach to measure the mutual fund performance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3228902"/>
            <a:ext cx="9144000" cy="3482031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Antonella Basso, Stefania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Funari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Trieste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Journal of Operational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Research, 2000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pp. 477 - 492</a:t>
            </a:r>
          </a:p>
          <a:p>
            <a:pPr>
              <a:lnSpc>
                <a:spcPct val="15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Tsai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Yao-Chou</a:t>
            </a:r>
          </a:p>
          <a:p>
            <a:pPr>
              <a:lnSpc>
                <a:spcPct val="15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2015/10/27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19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249" y="98426"/>
            <a:ext cx="8924925" cy="1015999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249" y="1114425"/>
            <a:ext cx="8924925" cy="56070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present a model which can be used to evaluate the performance of mutual funds. This model applies an operational research methodology, called data envelopment analysis  DEA), which allows to measure the relative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decision making units. This approach allows to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performance indexes that can take into account several inputs and thus consider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measures and, above all, the investment costs  subscription costs and redemption fees). Moreover, the DEA approach can naturally envisage other output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addition to the mean return considered by the traditional indexes. Therefore, a generalized version of the DEA mutual fund performance indexes is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too, which includes among the outputs a stochastic dominance indicator that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investors' preference structure and the time occurrence of the returns.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425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249" y="98426"/>
            <a:ext cx="8924925" cy="1015999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249" y="1114425"/>
            <a:ext cx="8924925" cy="56070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the procedure allows to identify, for each mutual fund, a composite portfolio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 be considered as a particular benchmark. The performance indexes proposed are tested on empirical data.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255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Envelopment Analysis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1. </a:t>
                </a:r>
                <a:r>
                  <a:rPr lang="zh-TW" altLang="en-US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中文</a:t>
                </a:r>
                <a:r>
                  <a:rPr lang="en-US" altLang="zh-TW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資料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包絡分析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</a:t>
                </a:r>
                <a:r>
                  <a:rPr lang="zh-TW" altLang="en-US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目</a:t>
                </a:r>
                <a:r>
                  <a:rPr lang="zh-TW" altLang="en-US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以效率最大化目標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 </a:t>
                </a:r>
                <a:r>
                  <a:rPr lang="zh-TW" altLang="en-US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提出</a:t>
                </a:r>
                <a:r>
                  <a:rPr lang="en-US" altLang="zh-TW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Charnes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et al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., 1978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4. </a:t>
                </a:r>
                <a:r>
                  <a:rPr lang="zh-TW" altLang="en-US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公式</a:t>
                </a:r>
                <a:r>
                  <a:rPr lang="en-US" altLang="zh-TW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∈0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Output,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越大越好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Input,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越小越好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u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權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重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(weight)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708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Envelopment Analysis(1/2)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</a:rPr>
              <a:t>5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035031"/>
                  </p:ext>
                </p:extLst>
              </p:nvPr>
            </p:nvGraphicFramePr>
            <p:xfrm>
              <a:off x="105640" y="1397000"/>
              <a:ext cx="8914535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82907"/>
                    <a:gridCol w="1782907"/>
                    <a:gridCol w="1782907"/>
                    <a:gridCol w="1782907"/>
                    <a:gridCol w="178290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Input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Output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人力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設備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門診量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住院量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000" b="0" i="1" baseline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A </a:t>
                          </a:r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醫院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50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60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40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30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B</a:t>
                          </a:r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 醫院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75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95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55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65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C</a:t>
                          </a:r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 醫院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100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120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150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130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035031"/>
                  </p:ext>
                </p:extLst>
              </p:nvPr>
            </p:nvGraphicFramePr>
            <p:xfrm>
              <a:off x="105640" y="1397000"/>
              <a:ext cx="8914535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82907"/>
                    <a:gridCol w="1782907"/>
                    <a:gridCol w="1782907"/>
                    <a:gridCol w="1782907"/>
                    <a:gridCol w="1782907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Input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Output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685" t="-107692" r="-301370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000" t="-107692" r="-200341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1027" t="-107692" r="-101027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99659" t="-107692" r="-683" b="-3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A </a:t>
                          </a:r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醫院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50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60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40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30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B</a:t>
                          </a:r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 醫院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75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95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55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65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C</a:t>
                          </a:r>
                          <a:r>
                            <a:rPr lang="zh-TW" altLang="en-US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 醫院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100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120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150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130</a:t>
                          </a:r>
                          <a:endParaRPr lang="zh-TW" altLang="en-US" sz="20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05640" y="3602515"/>
                <a:ext cx="2791796" cy="890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A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醫院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𝑀𝑎𝑥𝑚𝑖𝑧𝑒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∗40+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∗30)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∗50+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∗60)</m:t>
                        </m:r>
                      </m:den>
                    </m:f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0" y="3602515"/>
                <a:ext cx="2791796" cy="890437"/>
              </a:xfrm>
              <a:prstGeom prst="rect">
                <a:avLst/>
              </a:prstGeom>
              <a:blipFill rotWithShape="0">
                <a:blip r:embed="rId4"/>
                <a:stretch>
                  <a:fillRect l="-2183" t="-4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172204" y="3602514"/>
                <a:ext cx="2791796" cy="890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B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醫院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𝑀𝑎𝑥𝑚𝑖𝑧𝑒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∗55+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∗65)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∗75+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∗95)</m:t>
                        </m:r>
                      </m:den>
                    </m:f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204" y="3602514"/>
                <a:ext cx="2791796" cy="890437"/>
              </a:xfrm>
              <a:prstGeom prst="rect">
                <a:avLst/>
              </a:prstGeom>
              <a:blipFill rotWithShape="0">
                <a:blip r:embed="rId5"/>
                <a:stretch>
                  <a:fillRect l="-2183" t="-4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6096189" y="3599195"/>
                <a:ext cx="2791796" cy="890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醫院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𝑀𝑎𝑥𝑚𝑖𝑧𝑒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∗150+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∗130)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∗100+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∗120)</m:t>
                        </m:r>
                      </m:den>
                    </m:f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189" y="3599195"/>
                <a:ext cx="2791796" cy="890437"/>
              </a:xfrm>
              <a:prstGeom prst="rect">
                <a:avLst/>
              </a:prstGeom>
              <a:blipFill rotWithShape="0">
                <a:blip r:embed="rId6"/>
                <a:stretch>
                  <a:fillRect l="-2183" t="-34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94623" y="4717267"/>
                <a:ext cx="8793362" cy="1729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Subject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∗40+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∗30)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∗50+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∗60)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≤1,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∗55+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∗65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∗75+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∗95</m:t>
                              </m:r>
                            </m:e>
                          </m:d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≤1,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∗150+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∗130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∗100+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∗120</m:t>
                              </m:r>
                            </m:e>
                          </m:d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altLang="zh-TW" sz="2000" b="0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endParaRPr lang="en-US" altLang="zh-TW" sz="2000" b="0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3" y="4717267"/>
                <a:ext cx="8793362" cy="1729128"/>
              </a:xfrm>
              <a:prstGeom prst="rect">
                <a:avLst/>
              </a:prstGeom>
              <a:blipFill rotWithShape="0">
                <a:blip r:embed="rId7"/>
                <a:stretch>
                  <a:fillRect l="-1110" t="-28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35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Envelopment Analysis(2/2)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249" y="1114425"/>
            <a:ext cx="8924925" cy="56070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選擇決策單位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醫院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人力、設備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設計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分析結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果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558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#1 DEA Model(1/4)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𝑚𝑎𝑥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𝑢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Subject to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𝑢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altLang="zh-TW" sz="2400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2400" b="0" i="0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en-US" altLang="zh-TW" sz="2400" b="0" i="0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en-US" altLang="zh-TW" sz="2400" b="0" i="0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=1,…,</m:t>
                      </m:r>
                      <m:r>
                        <m:rPr>
                          <m:sty m:val="p"/>
                        </m:rPr>
                        <a:rPr lang="en-US" altLang="zh-TW" sz="2400" b="0" i="0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n</m:t>
                      </m:r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=1,…,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=1,…,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Small positive number, prevent the weight from vanish.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299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 DEA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Model(2/4)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𝑢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altLang="zh-TW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sz="2400" i="1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1. n mutual funds,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=1, 2,…,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</a:t>
                </a:r>
                <a:r>
                  <a:rPr lang="en-US" altLang="zh-TW" sz="2400" dirty="0" smtClean="0"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𝑜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The expected return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altLang="en-US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of fund 0. (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報酬率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riskless rate of return.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無風險利率，把資金投資在一個沒有任何的風險投資對象，所獲得的報酬率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risk, 1 to h(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風險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4.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subscription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and redemption costs, 1 to k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手續費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509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 DEA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Model(3/4)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Definitions: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Expected return(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期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望報酬率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),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在一定風險下的平均報酬率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TW" sz="1800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=0.3∗90%+0.4∗15%+0.3∗</m:t>
                    </m:r>
                    <m:d>
                      <m:d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b="0" i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−60%</m:t>
                        </m:r>
                      </m:e>
                    </m:d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=15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B:</a:t>
                </a:r>
                <a:r>
                  <a:rPr lang="zh-TW" altLang="en-US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  <m:r>
                      <a:rPr lang="en-US" altLang="zh-TW" sz="18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0.3∗20%+0.4∗15%+0.3∗10%=15%</m:t>
                    </m:r>
                  </m:oMath>
                </a14:m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576312"/>
              </p:ext>
            </p:extLst>
          </p:nvPr>
        </p:nvGraphicFramePr>
        <p:xfrm>
          <a:off x="1520102" y="3538947"/>
          <a:ext cx="6096000" cy="1447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經濟狀況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發生概率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</a:t>
                      </a:r>
                      <a:r>
                        <a:rPr lang="zh-TW" altLang="en-US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預期報酬率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</a:t>
                      </a:r>
                      <a:r>
                        <a:rPr lang="zh-TW" altLang="en-US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預期報酬率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繁榮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90%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20%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正常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0.4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15%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15%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衰退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-60%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10%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93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 DEA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Model(4/4)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投資組合報酬率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投資在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j portfolio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的資金占總投資額的比例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portfolio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的總數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Risk: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𝑉𝑎𝑟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𝐻𝑉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𝑚𝑖𝑛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, 0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(half-variance)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𝐶𝑜𝑣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𝑉𝑎𝑟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Market portfolio(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市場投資組合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),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最高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harpe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ratio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的最佳投資組合。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6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256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dominance(1/2)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Make an </a:t>
                </a:r>
                <a:r>
                  <a:rPr lang="en-US" altLang="zh-TW" sz="1800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order</a:t>
                </a: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of portfolios.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Two Gambles </a:t>
                </a:r>
                <a:r>
                  <a:rPr lang="en-US" altLang="zh-TW" sz="1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&amp; </a:t>
                </a:r>
                <a:r>
                  <a:rPr lang="en-US" altLang="zh-TW" sz="1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outcome </a:t>
                </a:r>
                <a:r>
                  <a:rPr lang="en-US" altLang="zh-TW" sz="1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≥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≥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Utility function: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sz="1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效用</a:t>
                </a:r>
                <a:r>
                  <a:rPr lang="zh-TW" altLang="en-US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與 </a:t>
                </a:r>
                <a:r>
                  <a:rPr lang="zh-TW" altLang="en-US" sz="1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投資組合</a:t>
                </a:r>
                <a:r>
                  <a:rPr lang="zh-TW" altLang="en-US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之間的關係函數 </a:t>
                </a: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自行定義</a:t>
                </a: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Trivial Example: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 products tea &amp; coffee.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lang="en-US" altLang="zh-TW" sz="1800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Buy 1 tea and 0 coffee: 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=0+1=1</m:t>
                    </m:r>
                  </m:oMath>
                </a14:m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683080"/>
              </p:ext>
            </p:extLst>
          </p:nvPr>
        </p:nvGraphicFramePr>
        <p:xfrm>
          <a:off x="321724" y="2464543"/>
          <a:ext cx="8471974" cy="1464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9310"/>
                <a:gridCol w="1160444"/>
                <a:gridCol w="1160444"/>
                <a:gridCol w="1160444"/>
                <a:gridCol w="1160444"/>
                <a:gridCol w="1160444"/>
                <a:gridCol w="1160444"/>
              </a:tblGrid>
              <a:tr h="3661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Gamble/State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2</a:t>
                      </a:r>
                      <a:endParaRPr lang="zh-TW" altLang="en-US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3</a:t>
                      </a:r>
                      <a:endParaRPr lang="zh-TW" altLang="en-US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4</a:t>
                      </a:r>
                      <a:endParaRPr lang="zh-TW" altLang="en-US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5</a:t>
                      </a:r>
                      <a:endParaRPr lang="zh-TW" altLang="en-US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6</a:t>
                      </a:r>
                      <a:endParaRPr lang="zh-TW" altLang="en-US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61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Gamble</a:t>
                      </a:r>
                      <a:r>
                        <a:rPr lang="en-US" altLang="zh-TW" baseline="0" dirty="0" smtClean="0"/>
                        <a:t> A wins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61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Gamble B wins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61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Gamble C wins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52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dominance(2/2)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Two portfolios, </a:t>
                </a:r>
                <a:r>
                  <a:rPr lang="en-US" altLang="zh-TW" sz="1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1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and.</a:t>
                </a:r>
                <a:r>
                  <a:rPr lang="en-US" altLang="zh-TW" sz="1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1800" b="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 utility function 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𝑈</m:t>
                        </m:r>
                        <m:r>
                          <a:rPr lang="zh-TW" altLang="en-US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𝜖</m:t>
                        </m:r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≤0</m:t>
                        </m:r>
                      </m:e>
                    </m:d>
                  </m:oMath>
                </a14:m>
                <a:endParaRPr lang="en-US" altLang="zh-TW" sz="1800" b="0" i="1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b="0" i="1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∀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02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#2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 Model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009922"/>
                <a:ext cx="8924925" cy="560705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𝑚𝑎𝑥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sz="20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個</m:t>
                          </m:r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fund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沒有被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𝑑𝑜𝑚𝑖𝑛𝑎𝑡𝑒𝑑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的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𝑠𝑢𝑏𝑝𝑒𝑟𝑖𝑜𝑑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數量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𝑒𝑟𝑖𝑜𝑠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總數量</m:t>
                          </m:r>
                        </m:den>
                      </m:f>
                    </m:oMath>
                  </m:oMathPara>
                </a14:m>
                <a:endParaRPr lang="en-US" altLang="zh-TW" sz="20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Subject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to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</m:den>
                    </m:f>
                    <m:r>
                      <a:rPr lang="en-US" altLang="zh-TW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TW" altLang="en-US" sz="2000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j=1,…,n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2000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</m:oMath>
                </a14:m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=1,2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2000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i</m:t>
                    </m:r>
                  </m:oMath>
                </a14:m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=1,...,h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</m:oMath>
                </a14:m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=1,…,k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009922"/>
                <a:ext cx="8924925" cy="5607051"/>
              </a:xfrm>
              <a:blipFill rotWithShape="0">
                <a:blip r:embed="rId3"/>
                <a:stretch>
                  <a:fillRect l="-683" b="-4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16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Result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4" y="868796"/>
            <a:ext cx="8984276" cy="548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3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11327</TotalTime>
  <Words>499</Words>
  <Application>Microsoft Office PowerPoint</Application>
  <PresentationFormat>如螢幕大小 (4:3)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A data envelopment analysis approach to measure the mutual fund performance</vt:lpstr>
      <vt:lpstr>Abstract(1/2)</vt:lpstr>
      <vt:lpstr>Abstract(2/2)</vt:lpstr>
      <vt:lpstr>Data Envelopment Analysis</vt:lpstr>
      <vt:lpstr>Data Envelopment Analysis(1/2)</vt:lpstr>
      <vt:lpstr>Data Envelopment Analysis(2/2)</vt:lpstr>
      <vt:lpstr>#1 DEA Model(1/4)</vt:lpstr>
      <vt:lpstr>#1 DEA Model(2/4)</vt:lpstr>
      <vt:lpstr>#1 DEA Model(3/4)</vt:lpstr>
      <vt:lpstr>#1 DEA Model(4/4)</vt:lpstr>
      <vt:lpstr>Stochastic dominance(1/2)</vt:lpstr>
      <vt:lpstr>Stochastic dominance(2/2)</vt:lpstr>
      <vt:lpstr>#2 DEA Model</vt:lpstr>
      <vt:lpstr>Empirical Result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Large Graph Pattern Mining for Big Data in the Cloud</dc:title>
  <dc:creator>MONSTER J</dc:creator>
  <cp:lastModifiedBy>pplab-class</cp:lastModifiedBy>
  <cp:revision>361</cp:revision>
  <cp:lastPrinted>2015-05-05T05:44:38Z</cp:lastPrinted>
  <dcterms:created xsi:type="dcterms:W3CDTF">2015-05-03T09:05:15Z</dcterms:created>
  <dcterms:modified xsi:type="dcterms:W3CDTF">2015-10-27T13:33:58Z</dcterms:modified>
</cp:coreProperties>
</file>