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7" r:id="rId5"/>
    <p:sldId id="260" r:id="rId6"/>
    <p:sldId id="303" r:id="rId7"/>
    <p:sldId id="304" r:id="rId8"/>
    <p:sldId id="306" r:id="rId9"/>
    <p:sldId id="313" r:id="rId10"/>
    <p:sldId id="312" r:id="rId11"/>
    <p:sldId id="308" r:id="rId12"/>
    <p:sldId id="307" r:id="rId13"/>
    <p:sldId id="309" r:id="rId14"/>
    <p:sldId id="314" r:id="rId15"/>
    <p:sldId id="315" r:id="rId16"/>
    <p:sldId id="316" r:id="rId17"/>
    <p:sldId id="317" r:id="rId18"/>
    <p:sldId id="319" r:id="rId19"/>
    <p:sldId id="320" r:id="rId20"/>
    <p:sldId id="321" r:id="rId21"/>
    <p:sldId id="328" r:id="rId22"/>
    <p:sldId id="326" r:id="rId23"/>
    <p:sldId id="329" r:id="rId24"/>
    <p:sldId id="330" r:id="rId25"/>
    <p:sldId id="331" r:id="rId26"/>
    <p:sldId id="322" r:id="rId27"/>
    <p:sldId id="323" r:id="rId28"/>
    <p:sldId id="324" r:id="rId29"/>
    <p:sldId id="325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Dominant Point Algorithms for the Multiple Longest Common Subsequence (MLCS) Problem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err="1" smtClean="0"/>
              <a:t>Qingguo</a:t>
            </a:r>
            <a:r>
              <a:rPr lang="en-US" altLang="zh-TW" sz="2000" dirty="0" smtClean="0"/>
              <a:t> Wang, Dmitry </a:t>
            </a:r>
            <a:r>
              <a:rPr lang="en-US" altLang="zh-TW" sz="2000" dirty="0" err="1" smtClean="0"/>
              <a:t>Korkin</a:t>
            </a:r>
            <a:r>
              <a:rPr lang="en-US" altLang="zh-TW" sz="2000" dirty="0" smtClean="0"/>
              <a:t> and Yi Shang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931441"/>
              </p:ext>
            </p:extLst>
          </p:nvPr>
        </p:nvGraphicFramePr>
        <p:xfrm>
          <a:off x="2698748" y="3848099"/>
          <a:ext cx="3816351" cy="17695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Proceedings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of 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the 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r>
                        <a:rPr lang="en-US" altLang="zh-TW" sz="180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International Joint Conference on Artificial Intelligence,</a:t>
                      </a:r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2009</a:t>
                      </a:r>
                      <a:endParaRPr lang="zh-TW" alt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ase"/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pp.1494-1499 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2015/10/7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longest common subsequence of multiple strings is a classical computer science problem and has many applications in the areas of bioinformatics and computational genomics. In this paper, we present a new sequential algorithm for the general case of MLCS problem, and its parallel realization.</a:t>
            </a:r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based on the dominant point approach and employs a fast divide-and-conquer technique to compute the dominant points. When applied to find a MLCS of 3 strings, our general algorithm is shown to exhibit the same performance as the best existing MLCS algorithm by Hakata and Imai, designed specifically for the case of 3 strings.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we show that for a general case of more than 3 strings, the algorithm is significantly faster than the best existing sequential approaches, reaching up to 2-3 orders of magnitude faster on the large-size problems. Finally, we propose a parallel implementation of the algorithm. Evaluating the parallel algorithm on a benchmark set of both random and biological sequences reveals a near-linear speed-up with respect to the sequential algorithm.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ATTGCCA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TAGAC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: TA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TGC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 …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: AGC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TGA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89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𝐴𝑇𝑇𝐴𝑇𝐶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𝐺𝑇𝑇𝐴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𝐴𝑇𝐴𝐶𝐶𝐴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𝑇𝐴𝐶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48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242926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46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2076450" y="2838450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390900" y="3324225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733675" y="3813172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14875" y="3813171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390900" y="4781549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677025" y="4786311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057650" y="5724525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362575" y="5238750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991475" y="5248275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343775" y="5724524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029325" y="4286250"/>
            <a:ext cx="390525" cy="3714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63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029580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72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227213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2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022952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68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403351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50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371392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87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332454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6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853968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09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6223356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3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T-table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00470"/>
              </p:ext>
            </p:extLst>
          </p:nvPr>
        </p:nvGraphicFramePr>
        <p:xfrm>
          <a:off x="628650" y="1530347"/>
          <a:ext cx="7886700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180000">
                <a:tc rowSpan="3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13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16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T-table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920993"/>
              </p:ext>
            </p:extLst>
          </p:nvPr>
        </p:nvGraphicFramePr>
        <p:xfrm>
          <a:off x="628650" y="1530347"/>
          <a:ext cx="7886700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180000">
                <a:tc rowSpan="3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40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072328"/>
              </p:ext>
            </p:extLst>
          </p:nvPr>
        </p:nvGraphicFramePr>
        <p:xfrm>
          <a:off x="628652" y="1825622"/>
          <a:ext cx="7886700" cy="4346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  <a:gridCol w="657225"/>
              </a:tblGrid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82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44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159164"/>
              </p:ext>
            </p:extLst>
          </p:nvPr>
        </p:nvGraphicFramePr>
        <p:xfrm>
          <a:off x="628650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172220"/>
              </p:ext>
            </p:extLst>
          </p:nvPr>
        </p:nvGraphicFramePr>
        <p:xfrm>
          <a:off x="5078007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149025"/>
              </p:ext>
            </p:extLst>
          </p:nvPr>
        </p:nvGraphicFramePr>
        <p:xfrm>
          <a:off x="628649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9537"/>
              </p:ext>
            </p:extLst>
          </p:nvPr>
        </p:nvGraphicFramePr>
        <p:xfrm>
          <a:off x="5078007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32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908264"/>
              </p:ext>
            </p:extLst>
          </p:nvPr>
        </p:nvGraphicFramePr>
        <p:xfrm>
          <a:off x="628650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142134"/>
              </p:ext>
            </p:extLst>
          </p:nvPr>
        </p:nvGraphicFramePr>
        <p:xfrm>
          <a:off x="5078007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0586681"/>
              </p:ext>
            </p:extLst>
          </p:nvPr>
        </p:nvGraphicFramePr>
        <p:xfrm>
          <a:off x="628649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44674"/>
              </p:ext>
            </p:extLst>
          </p:nvPr>
        </p:nvGraphicFramePr>
        <p:xfrm>
          <a:off x="5078007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44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231096"/>
              </p:ext>
            </p:extLst>
          </p:nvPr>
        </p:nvGraphicFramePr>
        <p:xfrm>
          <a:off x="628650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3190785"/>
              </p:ext>
            </p:extLst>
          </p:nvPr>
        </p:nvGraphicFramePr>
        <p:xfrm>
          <a:off x="5078007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262732"/>
              </p:ext>
            </p:extLst>
          </p:nvPr>
        </p:nvGraphicFramePr>
        <p:xfrm>
          <a:off x="628649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292046"/>
              </p:ext>
            </p:extLst>
          </p:nvPr>
        </p:nvGraphicFramePr>
        <p:xfrm>
          <a:off x="5078007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35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876786"/>
              </p:ext>
            </p:extLst>
          </p:nvPr>
        </p:nvGraphicFramePr>
        <p:xfrm>
          <a:off x="628650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560201"/>
              </p:ext>
            </p:extLst>
          </p:nvPr>
        </p:nvGraphicFramePr>
        <p:xfrm>
          <a:off x="5078007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324896"/>
              </p:ext>
            </p:extLst>
          </p:nvPr>
        </p:nvGraphicFramePr>
        <p:xfrm>
          <a:off x="628649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93824"/>
              </p:ext>
            </p:extLst>
          </p:nvPr>
        </p:nvGraphicFramePr>
        <p:xfrm>
          <a:off x="5078007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94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628650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29374"/>
              </p:ext>
            </p:extLst>
          </p:nvPr>
        </p:nvGraphicFramePr>
        <p:xfrm>
          <a:off x="5078007" y="1538289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00714"/>
              </p:ext>
            </p:extLst>
          </p:nvPr>
        </p:nvGraphicFramePr>
        <p:xfrm>
          <a:off x="628649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325320"/>
              </p:ext>
            </p:extLst>
          </p:nvPr>
        </p:nvGraphicFramePr>
        <p:xfrm>
          <a:off x="5078007" y="4214495"/>
          <a:ext cx="34373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049"/>
                <a:gridCol w="491049"/>
                <a:gridCol w="491049"/>
                <a:gridCol w="491049"/>
                <a:gridCol w="491049"/>
                <a:gridCol w="491049"/>
                <a:gridCol w="4910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8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Dominant-Point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609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𝑀𝑖𝑛𝑖𝑚𝑎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/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𝑑𝑁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|∑|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60925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1825625"/>
            <a:ext cx="42291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3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1690689"/>
            <a:ext cx="4733925" cy="40290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19275" y="2305050"/>
            <a:ext cx="5381625" cy="219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819274" y="4181475"/>
            <a:ext cx="5381625" cy="219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86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35" y="1419225"/>
            <a:ext cx="6974529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2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11" y="0"/>
            <a:ext cx="3580789" cy="29908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5" y="3355976"/>
            <a:ext cx="7735667" cy="293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8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2157</TotalTime>
  <Words>1381</Words>
  <Application>Microsoft Office PowerPoint</Application>
  <PresentationFormat>如螢幕大小 (4:3)</PresentationFormat>
  <Paragraphs>1125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9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The LCS Problem</vt:lpstr>
      <vt:lpstr>The MLCS Problem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T-table</vt:lpstr>
      <vt:lpstr>Dominant-Point Method</vt:lpstr>
      <vt:lpstr>T-table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Dominant-Point Method</vt:lpstr>
      <vt:lpstr>Parallel Algorithm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163</cp:revision>
  <dcterms:created xsi:type="dcterms:W3CDTF">2015-06-30T03:57:49Z</dcterms:created>
  <dcterms:modified xsi:type="dcterms:W3CDTF">2015-10-07T10:41:02Z</dcterms:modified>
</cp:coreProperties>
</file>