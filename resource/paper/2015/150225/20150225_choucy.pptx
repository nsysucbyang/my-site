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62" y="-84"/>
      </p:cViewPr>
      <p:guideLst>
        <p:guide orient="horz" pos="2160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1FDEE-9DB3-408B-BC2C-D263D2A67A1A}" type="datetimeFigureOut">
              <a:rPr lang="zh-TW" altLang="en-US" smtClean="0"/>
              <a:t>2015/2/25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E2D806-49F9-4813-9B3B-D9111A7DFE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9570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E2D806-49F9-4813-9B3B-D9111A7DFEA0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4262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2015/2/25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2015/2/25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2015/2/25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2015/2/25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Fast Heuristic Search Algorithm for Finding the Longest Common Subsequence of Multiple Strings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err="1"/>
              <a:t>Qingguo</a:t>
            </a:r>
            <a:r>
              <a:rPr lang="en-US" altLang="zh-TW" dirty="0"/>
              <a:t> Wang, </a:t>
            </a:r>
            <a:r>
              <a:rPr lang="en-US" altLang="zh-TW" dirty="0" err="1"/>
              <a:t>Mian</a:t>
            </a:r>
            <a:r>
              <a:rPr lang="en-US" altLang="zh-TW" dirty="0"/>
              <a:t> Pan, Yi Shang</a:t>
            </a:r>
            <a:r>
              <a:rPr lang="en-US" altLang="zh-TW" dirty="0" smtClean="0"/>
              <a:t>, and </a:t>
            </a:r>
            <a:r>
              <a:rPr lang="en-US" altLang="zh-TW" dirty="0"/>
              <a:t>Dmitry </a:t>
            </a:r>
            <a:r>
              <a:rPr lang="en-US" altLang="zh-TW" dirty="0" err="1"/>
              <a:t>Korkin</a:t>
            </a:r>
            <a:endParaRPr lang="en-US" altLang="zh-TW" dirty="0" smtClean="0"/>
          </a:p>
          <a:p>
            <a:r>
              <a:rPr lang="en-US" altLang="zh-TW" dirty="0" smtClean="0"/>
              <a:t>Conference</a:t>
            </a:r>
            <a:r>
              <a:rPr lang="en-US" altLang="zh-TW" dirty="0"/>
              <a:t>: Proceedings of the Twenty-Fourth AAAI Conference on Artificial Intelligence, AAAI 2010, Atlanta, Georgia, USA, July 11-15, 2010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372200" y="6093296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Presenter: Chan-Yi </a:t>
            </a:r>
            <a:r>
              <a:rPr lang="en-US" altLang="zh-TW" sz="1200" dirty="0"/>
              <a:t>Chou</a:t>
            </a:r>
            <a:endParaRPr lang="en-US" altLang="zh-TW" sz="1200" dirty="0" smtClean="0"/>
          </a:p>
          <a:p>
            <a:r>
              <a:rPr lang="en-US" altLang="zh-TW" sz="1200" dirty="0" smtClean="0"/>
              <a:t>Date:</a:t>
            </a:r>
            <a:r>
              <a:rPr lang="zh-TW" altLang="en-US" sz="1200" dirty="0" smtClean="0"/>
              <a:t> </a:t>
            </a:r>
            <a:r>
              <a:rPr lang="en-US" altLang="zh-TW" sz="1200" dirty="0" smtClean="0"/>
              <a:t>2015/02/25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7059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468115" y="1225689"/>
            <a:ext cx="8064896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/>
              <a:t>Finding the longest common subsequence (LCS) of </a:t>
            </a:r>
            <a:r>
              <a:rPr lang="en-US" altLang="zh-TW" sz="2000" dirty="0" smtClean="0"/>
              <a:t>multiple strings </a:t>
            </a:r>
            <a:r>
              <a:rPr lang="en-US" altLang="zh-TW" sz="2000" dirty="0"/>
              <a:t>is an NP-hard problem, with many </a:t>
            </a:r>
            <a:r>
              <a:rPr lang="en-US" altLang="zh-TW" sz="2000" dirty="0" smtClean="0"/>
              <a:t>applications in </a:t>
            </a:r>
            <a:r>
              <a:rPr lang="en-US" altLang="zh-TW" sz="2000" dirty="0"/>
              <a:t>the areas of bioinformatics and computational </a:t>
            </a:r>
            <a:r>
              <a:rPr lang="en-US" altLang="zh-TW" sz="2000" dirty="0" smtClean="0"/>
              <a:t>genomics. Although </a:t>
            </a:r>
            <a:r>
              <a:rPr lang="en-US" altLang="zh-TW" sz="2000" dirty="0"/>
              <a:t>significant efforts have been made to address </a:t>
            </a:r>
            <a:r>
              <a:rPr lang="en-US" altLang="zh-TW" sz="2000" dirty="0" smtClean="0"/>
              <a:t>the problem </a:t>
            </a:r>
            <a:r>
              <a:rPr lang="en-US" altLang="zh-TW" sz="2000" dirty="0"/>
              <a:t>and its special cases, the increasing complexity </a:t>
            </a:r>
            <a:r>
              <a:rPr lang="en-US" altLang="zh-TW" sz="2000" dirty="0" smtClean="0"/>
              <a:t>and size </a:t>
            </a:r>
            <a:r>
              <a:rPr lang="en-US" altLang="zh-TW" sz="2000" dirty="0"/>
              <a:t>of biological data require more efficient methods </a:t>
            </a:r>
            <a:r>
              <a:rPr lang="en-US" altLang="zh-TW" sz="2000" dirty="0" smtClean="0"/>
              <a:t>applicable to </a:t>
            </a:r>
            <a:r>
              <a:rPr lang="en-US" altLang="zh-TW" sz="2000" dirty="0"/>
              <a:t>an arbitrary number of strings. In this paper, a </a:t>
            </a:r>
            <a:r>
              <a:rPr lang="en-US" altLang="zh-TW" sz="2000" dirty="0" smtClean="0"/>
              <a:t>novel search </a:t>
            </a:r>
            <a:r>
              <a:rPr lang="en-US" altLang="zh-TW" sz="2000" dirty="0" err="1"/>
              <a:t>algorithm,MLCS</a:t>
            </a:r>
            <a:r>
              <a:rPr lang="en-US" altLang="zh-TW" sz="2000" dirty="0"/>
              <a:t>-A*, is presented for the general </a:t>
            </a:r>
            <a:r>
              <a:rPr lang="en-US" altLang="zh-TW" sz="2000" dirty="0" smtClean="0"/>
              <a:t>case of </a:t>
            </a:r>
            <a:r>
              <a:rPr lang="en-US" altLang="zh-TW" sz="2000" dirty="0"/>
              <a:t>multiple LCS (or MLCS) problems. MLCS-A* is a </a:t>
            </a:r>
            <a:r>
              <a:rPr lang="en-US" altLang="zh-TW" sz="2000" dirty="0" smtClean="0"/>
              <a:t>variant of </a:t>
            </a:r>
            <a:r>
              <a:rPr lang="en-US" altLang="zh-TW" sz="2000" dirty="0"/>
              <a:t>the A* algorithm. It maximizes a new heuristic </a:t>
            </a:r>
            <a:r>
              <a:rPr lang="en-US" altLang="zh-TW" sz="2000" dirty="0" smtClean="0"/>
              <a:t>estimate of </a:t>
            </a:r>
            <a:r>
              <a:rPr lang="en-US" altLang="zh-TW" sz="2000" dirty="0"/>
              <a:t>the LCS in each search step so that the longest </a:t>
            </a:r>
            <a:r>
              <a:rPr lang="en-US" altLang="zh-TW" sz="2000" dirty="0" smtClean="0"/>
              <a:t>common subsequence </a:t>
            </a:r>
            <a:r>
              <a:rPr lang="en-US" altLang="zh-TW" sz="2000" dirty="0"/>
              <a:t>can be found. As a natural extension </a:t>
            </a:r>
            <a:r>
              <a:rPr lang="en-US" altLang="zh-TW" sz="2000" dirty="0" smtClean="0"/>
              <a:t>of MLCS-A</a:t>
            </a:r>
            <a:r>
              <a:rPr lang="en-US" altLang="zh-TW" sz="2000" dirty="0"/>
              <a:t>*, a fast algorithm, MLCS-APP, is also proposed </a:t>
            </a:r>
            <a:r>
              <a:rPr lang="en-US" altLang="zh-TW" sz="2000" dirty="0" smtClean="0"/>
              <a:t>to deal </a:t>
            </a:r>
            <a:r>
              <a:rPr lang="en-US" altLang="zh-TW" sz="2000" dirty="0"/>
              <a:t>with large volume of biological data for which </a:t>
            </a:r>
            <a:r>
              <a:rPr lang="en-US" altLang="zh-TW" sz="2000" dirty="0" smtClean="0"/>
              <a:t>finding a </a:t>
            </a:r>
            <a:r>
              <a:rPr lang="en-US" altLang="zh-TW" sz="2000" dirty="0"/>
              <a:t>LCS within reasonable time is impossible. The </a:t>
            </a:r>
            <a:r>
              <a:rPr lang="en-US" altLang="zh-TW" sz="2000" dirty="0" smtClean="0"/>
              <a:t>benchmark test </a:t>
            </a:r>
            <a:r>
              <a:rPr lang="en-US" altLang="zh-TW" sz="2000" dirty="0"/>
              <a:t>shows that MLCS-APP is able to extract common </a:t>
            </a:r>
            <a:r>
              <a:rPr lang="en-US" altLang="zh-TW" sz="2000" dirty="0" smtClean="0"/>
              <a:t>subsequences close </a:t>
            </a:r>
            <a:r>
              <a:rPr lang="en-US" altLang="zh-TW" sz="2000" dirty="0"/>
              <a:t>to the optimal ones and that MLCS-APP </a:t>
            </a:r>
            <a:r>
              <a:rPr lang="en-US" altLang="zh-TW" sz="2000" dirty="0" smtClean="0"/>
              <a:t>significantly outperforms </a:t>
            </a:r>
            <a:r>
              <a:rPr lang="en-US" altLang="zh-TW" sz="2000" dirty="0"/>
              <a:t>existing heuristic approaches. </a:t>
            </a:r>
            <a:r>
              <a:rPr lang="en-US" altLang="zh-TW" sz="2000" dirty="0" smtClean="0"/>
              <a:t>When applied </a:t>
            </a:r>
            <a:r>
              <a:rPr lang="en-US" altLang="zh-TW" sz="2000" dirty="0"/>
              <a:t>to 8 protein domain families, MLCS-APP </a:t>
            </a:r>
            <a:r>
              <a:rPr lang="en-US" altLang="zh-TW" sz="2000" dirty="0" smtClean="0"/>
              <a:t>produced more </a:t>
            </a:r>
            <a:r>
              <a:rPr lang="en-US" altLang="zh-TW" sz="2000" dirty="0"/>
              <a:t>accurate results than existing multiple sequence </a:t>
            </a:r>
            <a:r>
              <a:rPr lang="en-US" altLang="zh-TW" sz="2000" dirty="0" smtClean="0"/>
              <a:t>alignment methods</a:t>
            </a:r>
            <a:r>
              <a:rPr lang="en-US" altLang="zh-TW" sz="2000" dirty="0"/>
              <a:t>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1672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 = {s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…, </a:t>
            </a:r>
            <a:r>
              <a:rPr lang="en-US" altLang="zh-TW" dirty="0" err="1" smtClean="0"/>
              <a:t>s</a:t>
            </a:r>
            <a:r>
              <a:rPr lang="en-US" altLang="zh-TW" baseline="-25000" dirty="0" err="1"/>
              <a:t>d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p = (p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p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 …,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d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MLCS</a:t>
            </a:r>
            <a:r>
              <a:rPr lang="zh-TW" altLang="en-US" dirty="0" smtClean="0"/>
              <a:t>，找出這些序列的</a:t>
            </a:r>
            <a:r>
              <a:rPr lang="en-US" altLang="zh-TW" dirty="0" smtClean="0"/>
              <a:t>LCS</a:t>
            </a:r>
          </a:p>
          <a:p>
            <a:r>
              <a:rPr lang="en-US" altLang="zh-TW" dirty="0" smtClean="0"/>
              <a:t>Scoring matrix M</a:t>
            </a:r>
            <a:r>
              <a:rPr lang="zh-TW" altLang="en-US" dirty="0" smtClean="0"/>
              <a:t>：</a:t>
            </a:r>
            <a:endParaRPr lang="zh-TW" altLang="en-US" dirty="0"/>
          </a:p>
        </p:txBody>
      </p:sp>
      <p:pic>
        <p:nvPicPr>
          <p:cNvPr id="1026" name="Picture 2" descr="F:\Sena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005064"/>
            <a:ext cx="702945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88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MLCS-A</a:t>
            </a:r>
            <a:r>
              <a:rPr lang="zh-TW" altLang="en-US" dirty="0" smtClean="0"/>
              <a:t>*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1 </a:t>
            </a:r>
            <a:r>
              <a:rPr lang="en-US" altLang="zh-TW" dirty="0" smtClean="0"/>
              <a:t>= G A T </a:t>
            </a:r>
            <a:r>
              <a:rPr lang="en-US" altLang="zh-TW" dirty="0" err="1" smtClean="0"/>
              <a:t>T</a:t>
            </a:r>
            <a:r>
              <a:rPr lang="en-US" altLang="zh-TW" dirty="0" smtClean="0"/>
              <a:t> A C A</a:t>
            </a:r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2 </a:t>
            </a:r>
            <a:r>
              <a:rPr lang="en-US" altLang="zh-TW" dirty="0" smtClean="0"/>
              <a:t>= G T A </a:t>
            </a:r>
            <a:r>
              <a:rPr lang="en-US" altLang="zh-TW" dirty="0" err="1" smtClean="0"/>
              <a:t>A</a:t>
            </a:r>
            <a:r>
              <a:rPr lang="en-US" altLang="zh-TW" dirty="0" smtClean="0"/>
              <a:t> T C T A </a:t>
            </a:r>
            <a:r>
              <a:rPr lang="en-US" altLang="zh-TW" dirty="0" err="1" smtClean="0"/>
              <a:t>A</a:t>
            </a:r>
            <a:r>
              <a:rPr lang="en-US" altLang="zh-TW" dirty="0" smtClean="0"/>
              <a:t> C</a:t>
            </a:r>
          </a:p>
          <a:p>
            <a:r>
              <a:rPr lang="en-US" altLang="zh-TW" dirty="0" smtClean="0"/>
              <a:t>S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 = G C T A </a:t>
            </a:r>
            <a:r>
              <a:rPr lang="en-US" altLang="zh-TW" dirty="0" err="1" smtClean="0"/>
              <a:t>A</a:t>
            </a:r>
            <a:r>
              <a:rPr lang="en-US" altLang="zh-TW" dirty="0" smtClean="0"/>
              <a:t> T C G</a:t>
            </a:r>
            <a:endParaRPr lang="zh-TW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6860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783672"/>
              </p:ext>
            </p:extLst>
          </p:nvPr>
        </p:nvGraphicFramePr>
        <p:xfrm>
          <a:off x="35496" y="3476897"/>
          <a:ext cx="388843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12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dirty="0" smtClean="0"/>
                        <a:t>G</a:t>
                      </a:r>
                      <a:endParaRPr lang="zh-TW" altLang="en-US" sz="14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i="0" dirty="0" smtClean="0"/>
                        <a:t>3</a:t>
                      </a:r>
                      <a:endParaRPr lang="zh-TW" altLang="en-US" sz="14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187560"/>
              </p:ext>
            </p:extLst>
          </p:nvPr>
        </p:nvGraphicFramePr>
        <p:xfrm>
          <a:off x="3928219" y="3476897"/>
          <a:ext cx="5208236" cy="2760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</a:tblGrid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23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064048"/>
              </p:ext>
            </p:extLst>
          </p:nvPr>
        </p:nvGraphicFramePr>
        <p:xfrm>
          <a:off x="35496" y="548680"/>
          <a:ext cx="42001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</a:tblGrid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499992" y="548680"/>
            <a:ext cx="47564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將</a:t>
            </a:r>
            <a:r>
              <a:rPr lang="en-US" altLang="zh-TW" dirty="0" smtClean="0"/>
              <a:t>S</a:t>
            </a:r>
            <a:r>
              <a:rPr lang="zh-TW" altLang="en-US" dirty="0" smtClean="0"/>
              <a:t>中的序列兩兩建立</a:t>
            </a:r>
            <a:r>
              <a:rPr lang="en-US" altLang="zh-TW" dirty="0" smtClean="0"/>
              <a:t>M</a:t>
            </a:r>
            <a:r>
              <a:rPr lang="zh-TW" altLang="en-US" dirty="0" smtClean="0"/>
              <a:t>表格，挑選</a:t>
            </a:r>
            <a:r>
              <a:rPr lang="en-US" altLang="zh-TW" dirty="0" smtClean="0"/>
              <a:t>M[1, 1]</a:t>
            </a:r>
            <a:br>
              <a:rPr lang="en-US" altLang="zh-TW" dirty="0" smtClean="0"/>
            </a:br>
            <a:r>
              <a:rPr lang="zh-TW" altLang="en-US" dirty="0"/>
              <a:t>值</a:t>
            </a:r>
            <a:r>
              <a:rPr lang="zh-TW" altLang="en-US" dirty="0" smtClean="0"/>
              <a:t>最小的表格當作參考。此範例中</a:t>
            </a:r>
            <a:r>
              <a:rPr lang="zh-TW" altLang="en-US" dirty="0"/>
              <a:t>為</a:t>
            </a:r>
            <a:r>
              <a:rPr lang="en-US" altLang="zh-TW" dirty="0" smtClean="0"/>
              <a:t>M</a:t>
            </a:r>
            <a:r>
              <a:rPr lang="en-US" altLang="zh-TW" baseline="-25000" dirty="0" smtClean="0"/>
              <a:t>13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從</a:t>
            </a:r>
            <a:r>
              <a:rPr lang="en-US" altLang="zh-TW" dirty="0" smtClean="0"/>
              <a:t>(0, 0, 0)</a:t>
            </a:r>
            <a:r>
              <a:rPr lang="zh-TW" altLang="en-US" dirty="0" smtClean="0"/>
              <a:t>開始，用</a:t>
            </a:r>
            <a:r>
              <a:rPr lang="en-US" altLang="zh-TW" dirty="0" smtClean="0"/>
              <a:t>priority queue</a:t>
            </a:r>
            <a:r>
              <a:rPr lang="zh-TW" altLang="en-US" dirty="0" smtClean="0"/>
              <a:t>紀錄後繼者。</a:t>
            </a:r>
            <a:endParaRPr lang="en-US" altLang="zh-TW" dirty="0" smtClean="0"/>
          </a:p>
          <a:p>
            <a:r>
              <a:rPr lang="en-US" altLang="zh-TW" dirty="0" smtClean="0"/>
              <a:t>PQ((1, 1, 1,), (2, 3, 4), (3, 2, 3), (6, 6, 2))</a:t>
            </a:r>
          </a:p>
          <a:p>
            <a:r>
              <a:rPr lang="en-US" altLang="zh-TW" dirty="0"/>
              <a:t>p</a:t>
            </a:r>
            <a:r>
              <a:rPr lang="en-US" altLang="zh-TW" dirty="0" smtClean="0"/>
              <a:t>riority queue</a:t>
            </a:r>
            <a:r>
              <a:rPr lang="zh-TW" altLang="en-US" dirty="0" smtClean="0"/>
              <a:t>以</a:t>
            </a:r>
            <a:r>
              <a:rPr lang="en-US" altLang="zh-TW" dirty="0" smtClean="0"/>
              <a:t>M</a:t>
            </a:r>
            <a:r>
              <a:rPr lang="zh-TW" altLang="en-US" dirty="0" smtClean="0"/>
              <a:t>值排序紀錄後繼者，</a:t>
            </a:r>
            <a:endParaRPr lang="en-US" altLang="zh-TW" dirty="0" smtClean="0"/>
          </a:p>
          <a:p>
            <a:r>
              <a:rPr lang="zh-TW" altLang="en-US" dirty="0" smtClean="0"/>
              <a:t>並將其</a:t>
            </a:r>
            <a:r>
              <a:rPr lang="en-US" altLang="zh-TW" dirty="0" smtClean="0"/>
              <a:t>parent</a:t>
            </a:r>
            <a:r>
              <a:rPr lang="zh-TW" altLang="en-US" dirty="0" smtClean="0"/>
              <a:t>設為</a:t>
            </a:r>
            <a:r>
              <a:rPr lang="en-US" altLang="zh-TW" dirty="0" smtClean="0"/>
              <a:t>(0, 0, 0)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10" name="矩形 9"/>
          <p:cNvSpPr/>
          <p:nvPr/>
        </p:nvSpPr>
        <p:spPr>
          <a:xfrm>
            <a:off x="611560" y="871845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547936" y="3789040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4427984" y="3814990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1115616" y="1772816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1619672" y="1484784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203848" y="1156387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014696" y="4437112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1526744" y="4068685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2987824" y="530120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5868144" y="4725144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4913135" y="4437111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6791645" y="4080245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547936" y="836712"/>
            <a:ext cx="3664024" cy="244827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11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277656"/>
              </p:ext>
            </p:extLst>
          </p:nvPr>
        </p:nvGraphicFramePr>
        <p:xfrm>
          <a:off x="35496" y="3476897"/>
          <a:ext cx="388843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12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dirty="0" smtClean="0"/>
                        <a:t>G</a:t>
                      </a:r>
                      <a:endParaRPr lang="zh-TW" altLang="en-US" sz="14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i="0" dirty="0" smtClean="0"/>
                        <a:t>3</a:t>
                      </a:r>
                      <a:endParaRPr lang="zh-TW" altLang="en-US" sz="14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668437"/>
              </p:ext>
            </p:extLst>
          </p:nvPr>
        </p:nvGraphicFramePr>
        <p:xfrm>
          <a:off x="3928219" y="3476897"/>
          <a:ext cx="5208236" cy="2760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</a:tblGrid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23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824939"/>
              </p:ext>
            </p:extLst>
          </p:nvPr>
        </p:nvGraphicFramePr>
        <p:xfrm>
          <a:off x="35496" y="548680"/>
          <a:ext cx="42001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</a:tblGrid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499992" y="548680"/>
            <a:ext cx="491673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取出</a:t>
            </a:r>
            <a:r>
              <a:rPr lang="en-US" altLang="zh-TW" dirty="0" smtClean="0"/>
              <a:t>(1, 1, 1)</a:t>
            </a:r>
            <a:r>
              <a:rPr lang="zh-TW" altLang="en-US" dirty="0" smtClean="0"/>
              <a:t>，</a:t>
            </a:r>
            <a:r>
              <a:rPr lang="en-US" altLang="zh-TW" dirty="0" smtClean="0"/>
              <a:t>PQ(</a:t>
            </a:r>
            <a:r>
              <a:rPr lang="en-US" altLang="zh-TW" dirty="0"/>
              <a:t>(2, 3, 4), (3, 2, 3), (6, 6, 2</a:t>
            </a:r>
            <a:r>
              <a:rPr lang="en-US" altLang="zh-TW" dirty="0" smtClean="0"/>
              <a:t>))</a:t>
            </a:r>
          </a:p>
          <a:p>
            <a:r>
              <a:rPr lang="zh-TW" altLang="en-US" dirty="0" smtClean="0"/>
              <a:t>並將</a:t>
            </a:r>
            <a:r>
              <a:rPr lang="en-US" altLang="zh-TW" dirty="0" smtClean="0"/>
              <a:t>(1, 1, 1)</a:t>
            </a:r>
            <a:r>
              <a:rPr lang="zh-TW" altLang="en-US" dirty="0" smtClean="0"/>
              <a:t>的</a:t>
            </a:r>
            <a:r>
              <a:rPr lang="en-US" altLang="zh-TW" dirty="0" smtClean="0"/>
              <a:t>parent</a:t>
            </a:r>
            <a:r>
              <a:rPr lang="zh-TW" altLang="en-US" dirty="0" smtClean="0"/>
              <a:t>紀錄為</a:t>
            </a:r>
            <a:r>
              <a:rPr lang="en-US" altLang="zh-TW" dirty="0" smtClean="0"/>
              <a:t>(0, 0, 0)</a:t>
            </a:r>
          </a:p>
          <a:p>
            <a:r>
              <a:rPr lang="zh-TW" altLang="en-US" dirty="0" smtClean="0"/>
              <a:t>若其後繼者尚未在</a:t>
            </a:r>
            <a:r>
              <a:rPr lang="en-US" altLang="zh-TW" dirty="0" smtClean="0"/>
              <a:t>PQ</a:t>
            </a:r>
            <a:r>
              <a:rPr lang="zh-TW" altLang="en-US" dirty="0" smtClean="0"/>
              <a:t>中，則加入</a:t>
            </a:r>
            <a:r>
              <a:rPr lang="en-US" altLang="zh-TW" dirty="0" smtClean="0"/>
              <a:t>PQ</a:t>
            </a:r>
            <a:endParaRPr lang="en-US" altLang="zh-TW" dirty="0"/>
          </a:p>
          <a:p>
            <a:r>
              <a:rPr lang="zh-TW" altLang="en-US" dirty="0" smtClean="0"/>
              <a:t>若已經在</a:t>
            </a:r>
            <a:r>
              <a:rPr lang="en-US" altLang="zh-TW" dirty="0" smtClean="0"/>
              <a:t>PQ</a:t>
            </a:r>
            <a:r>
              <a:rPr lang="zh-TW" altLang="en-US" dirty="0" smtClean="0"/>
              <a:t>中</a:t>
            </a:r>
            <a:r>
              <a:rPr lang="zh-TW" altLang="en-US" dirty="0" smtClean="0"/>
              <a:t>，檢查</a:t>
            </a:r>
            <a:r>
              <a:rPr lang="en-US" altLang="zh-TW" dirty="0" smtClean="0"/>
              <a:t>MLCS</a:t>
            </a:r>
            <a:r>
              <a:rPr lang="zh-TW" altLang="en-US" dirty="0" smtClean="0"/>
              <a:t>值，</a:t>
            </a:r>
            <a:r>
              <a:rPr lang="zh-TW" altLang="en-US" dirty="0" smtClean="0"/>
              <a:t>更新</a:t>
            </a:r>
            <a:r>
              <a:rPr lang="zh-TW" altLang="en-US" dirty="0" smtClean="0"/>
              <a:t>其</a:t>
            </a:r>
            <a:r>
              <a:rPr lang="en-US" altLang="zh-TW" dirty="0" smtClean="0"/>
              <a:t>parent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若以</a:t>
            </a:r>
            <a:r>
              <a:rPr lang="en-US" altLang="zh-TW" dirty="0" smtClean="0"/>
              <a:t>(0, 0, 0)</a:t>
            </a:r>
            <a:r>
              <a:rPr lang="zh-TW" altLang="en-US" dirty="0" smtClean="0"/>
              <a:t>為</a:t>
            </a:r>
            <a:r>
              <a:rPr lang="en-US" altLang="zh-TW" dirty="0" smtClean="0"/>
              <a:t>parent</a:t>
            </a:r>
            <a:r>
              <a:rPr lang="zh-TW" altLang="en-US" dirty="0" smtClean="0"/>
              <a:t>，</a:t>
            </a:r>
            <a:r>
              <a:rPr lang="en-US" altLang="zh-TW" dirty="0" smtClean="0"/>
              <a:t>MLCS</a:t>
            </a:r>
            <a:r>
              <a:rPr lang="zh-TW" altLang="en-US" dirty="0" smtClean="0"/>
              <a:t>為</a:t>
            </a:r>
            <a:r>
              <a:rPr lang="en-US" altLang="zh-TW" dirty="0" smtClean="0"/>
              <a:t>0</a:t>
            </a:r>
          </a:p>
          <a:p>
            <a:r>
              <a:rPr lang="zh-TW" altLang="en-US" dirty="0"/>
              <a:t>若</a:t>
            </a:r>
            <a:r>
              <a:rPr lang="zh-TW" altLang="en-US" dirty="0" smtClean="0"/>
              <a:t>以</a:t>
            </a:r>
            <a:r>
              <a:rPr lang="en-US" altLang="zh-TW" dirty="0" smtClean="0"/>
              <a:t>(1, 1, 1)</a:t>
            </a:r>
            <a:r>
              <a:rPr lang="zh-TW" altLang="en-US" dirty="0" smtClean="0"/>
              <a:t>為</a:t>
            </a:r>
            <a:r>
              <a:rPr lang="en-US" altLang="zh-TW" dirty="0" smtClean="0"/>
              <a:t>parent</a:t>
            </a:r>
            <a:r>
              <a:rPr lang="zh-TW" altLang="en-US" dirty="0" smtClean="0"/>
              <a:t>，</a:t>
            </a:r>
            <a:r>
              <a:rPr lang="en-US" altLang="zh-TW" dirty="0" smtClean="0"/>
              <a:t>MLCS</a:t>
            </a:r>
            <a:r>
              <a:rPr lang="zh-TW" altLang="en-US" dirty="0" smtClean="0"/>
              <a:t>為</a:t>
            </a:r>
            <a:r>
              <a:rPr lang="en-US" altLang="zh-TW" dirty="0" smtClean="0"/>
              <a:t>1</a:t>
            </a:r>
          </a:p>
          <a:p>
            <a:r>
              <a:rPr lang="zh-TW" altLang="en-US" dirty="0"/>
              <a:t>故</a:t>
            </a:r>
            <a:r>
              <a:rPr lang="zh-TW" altLang="en-US" dirty="0" smtClean="0"/>
              <a:t>更新</a:t>
            </a:r>
            <a:r>
              <a:rPr lang="en-US" altLang="zh-TW" dirty="0" smtClean="0"/>
              <a:t>(</a:t>
            </a:r>
            <a:r>
              <a:rPr lang="en-US" altLang="zh-TW" dirty="0"/>
              <a:t>2, 3, 4), (3, 2, 3</a:t>
            </a:r>
            <a:r>
              <a:rPr lang="en-US" altLang="zh-TW" dirty="0" smtClean="0"/>
              <a:t>),</a:t>
            </a:r>
          </a:p>
          <a:p>
            <a:r>
              <a:rPr lang="en-US" altLang="zh-TW" dirty="0" smtClean="0"/>
              <a:t>(</a:t>
            </a:r>
            <a:r>
              <a:rPr lang="en-US" altLang="zh-TW" dirty="0"/>
              <a:t>6, 6, 2</a:t>
            </a:r>
            <a:r>
              <a:rPr lang="en-US" altLang="zh-TW" dirty="0" smtClean="0"/>
              <a:t>)</a:t>
            </a:r>
            <a:r>
              <a:rPr lang="zh-TW" altLang="en-US" dirty="0" smtClean="0"/>
              <a:t>的</a:t>
            </a:r>
            <a:r>
              <a:rPr lang="en-US" altLang="zh-TW" dirty="0" smtClean="0"/>
              <a:t>parent</a:t>
            </a:r>
            <a:r>
              <a:rPr lang="zh-TW" altLang="en-US" dirty="0" smtClean="0"/>
              <a:t>為</a:t>
            </a:r>
            <a:r>
              <a:rPr lang="en-US" altLang="zh-TW" dirty="0" smtClean="0"/>
              <a:t>(1, 1, 1)</a:t>
            </a:r>
            <a:endParaRPr lang="en-US" altLang="zh-TW" dirty="0" smtClean="0"/>
          </a:p>
        </p:txBody>
      </p:sp>
      <p:sp>
        <p:nvSpPr>
          <p:cNvPr id="16" name="矩形 15"/>
          <p:cNvSpPr/>
          <p:nvPr/>
        </p:nvSpPr>
        <p:spPr>
          <a:xfrm>
            <a:off x="611560" y="871845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547936" y="3789040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4427984" y="3814990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1115616" y="1772816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1619672" y="1484784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3203848" y="1156387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1014696" y="4437112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1526744" y="4068685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987824" y="530120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5868144" y="4725144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4913135" y="4437111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6791645" y="4080245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/>
          <p:cNvSpPr/>
          <p:nvPr/>
        </p:nvSpPr>
        <p:spPr>
          <a:xfrm>
            <a:off x="1043608" y="1124744"/>
            <a:ext cx="3168352" cy="216024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956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762430"/>
              </p:ext>
            </p:extLst>
          </p:nvPr>
        </p:nvGraphicFramePr>
        <p:xfrm>
          <a:off x="35496" y="3476897"/>
          <a:ext cx="388843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12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dirty="0" smtClean="0"/>
                        <a:t>G</a:t>
                      </a:r>
                      <a:endParaRPr lang="zh-TW" altLang="en-US" sz="14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i="0" dirty="0" smtClean="0"/>
                        <a:t>3</a:t>
                      </a:r>
                      <a:endParaRPr lang="zh-TW" altLang="en-US" sz="14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576743"/>
              </p:ext>
            </p:extLst>
          </p:nvPr>
        </p:nvGraphicFramePr>
        <p:xfrm>
          <a:off x="3928219" y="3476897"/>
          <a:ext cx="5208236" cy="2760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</a:tblGrid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23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371546"/>
              </p:ext>
            </p:extLst>
          </p:nvPr>
        </p:nvGraphicFramePr>
        <p:xfrm>
          <a:off x="35496" y="548680"/>
          <a:ext cx="42001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</a:tblGrid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499992" y="548680"/>
            <a:ext cx="4644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取出</a:t>
            </a:r>
            <a:r>
              <a:rPr lang="en-US" altLang="zh-TW" dirty="0" smtClean="0"/>
              <a:t>(2, 3, 4)</a:t>
            </a:r>
            <a:r>
              <a:rPr lang="zh-TW" altLang="en-US" dirty="0" smtClean="0"/>
              <a:t>，</a:t>
            </a:r>
            <a:r>
              <a:rPr lang="en-US" altLang="zh-TW" dirty="0" smtClean="0"/>
              <a:t>PQ(</a:t>
            </a:r>
            <a:r>
              <a:rPr lang="en-US" altLang="zh-TW" dirty="0"/>
              <a:t>(3, 2, 3), (6, 6, 2</a:t>
            </a:r>
            <a:r>
              <a:rPr lang="en-US" altLang="zh-TW" dirty="0" smtClean="0"/>
              <a:t>))</a:t>
            </a:r>
          </a:p>
          <a:p>
            <a:r>
              <a:rPr lang="zh-TW" altLang="en-US" dirty="0" smtClean="0"/>
              <a:t>其後繼者</a:t>
            </a:r>
            <a:r>
              <a:rPr lang="en-US" altLang="zh-TW" dirty="0" smtClean="0"/>
              <a:t>(3, 5, 6), (5, 4, 5), (6, 6, 7)</a:t>
            </a:r>
          </a:p>
          <a:p>
            <a:r>
              <a:rPr lang="zh-TW" altLang="en-US" dirty="0"/>
              <a:t>的</a:t>
            </a:r>
            <a:r>
              <a:rPr lang="en-US" altLang="zh-TW" dirty="0"/>
              <a:t>parent</a:t>
            </a:r>
            <a:r>
              <a:rPr lang="zh-TW" altLang="en-US" dirty="0"/>
              <a:t>設為</a:t>
            </a:r>
            <a:r>
              <a:rPr lang="en-US" altLang="zh-TW" dirty="0"/>
              <a:t>(2, 3, 4)</a:t>
            </a:r>
            <a:r>
              <a:rPr lang="zh-TW" altLang="en-US" dirty="0" smtClean="0"/>
              <a:t>，並將後繼者加入</a:t>
            </a:r>
            <a:r>
              <a:rPr lang="en-US" altLang="zh-TW" dirty="0" smtClean="0"/>
              <a:t>PQ</a:t>
            </a:r>
          </a:p>
          <a:p>
            <a:r>
              <a:rPr lang="en-US" altLang="zh-TW" dirty="0" smtClean="0"/>
              <a:t>PQ</a:t>
            </a:r>
            <a:r>
              <a:rPr lang="en-US" altLang="zh-TW" dirty="0"/>
              <a:t>((3, 2, 3), </a:t>
            </a:r>
            <a:r>
              <a:rPr lang="en-US" altLang="zh-TW" dirty="0" smtClean="0"/>
              <a:t>(</a:t>
            </a:r>
            <a:r>
              <a:rPr lang="en-US" altLang="zh-TW" dirty="0"/>
              <a:t>3, 5, 6), (5, 4, 5), (6, 6, 2), </a:t>
            </a:r>
            <a:r>
              <a:rPr lang="en-US" altLang="zh-TW" dirty="0" smtClean="0"/>
              <a:t>(</a:t>
            </a:r>
            <a:r>
              <a:rPr lang="en-US" altLang="zh-TW" dirty="0"/>
              <a:t>6, 6, 7</a:t>
            </a:r>
            <a:r>
              <a:rPr lang="en-US" altLang="zh-TW" dirty="0" smtClean="0"/>
              <a:t>))</a:t>
            </a:r>
          </a:p>
        </p:txBody>
      </p:sp>
      <p:sp>
        <p:nvSpPr>
          <p:cNvPr id="16" name="矩形 15"/>
          <p:cNvSpPr/>
          <p:nvPr/>
        </p:nvSpPr>
        <p:spPr>
          <a:xfrm>
            <a:off x="1115616" y="1772816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2699792" y="2051665"/>
            <a:ext cx="432048" cy="2972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1691680" y="2384013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3203848" y="2708920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1999995" y="5013176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1043608" y="4437112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5364088" y="4712511"/>
            <a:ext cx="432048" cy="300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2483768" y="4690011"/>
            <a:ext cx="432048" cy="2972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987824" y="530120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6317156" y="5301209"/>
            <a:ext cx="432048" cy="288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7702272" y="5013175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6804248" y="566124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137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70972"/>
              </p:ext>
            </p:extLst>
          </p:nvPr>
        </p:nvGraphicFramePr>
        <p:xfrm>
          <a:off x="35496" y="3476897"/>
          <a:ext cx="388843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12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dirty="0" smtClean="0"/>
                        <a:t>G</a:t>
                      </a:r>
                      <a:endParaRPr lang="zh-TW" altLang="en-US" sz="14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i="0" dirty="0" smtClean="0"/>
                        <a:t>3</a:t>
                      </a:r>
                      <a:endParaRPr lang="zh-TW" altLang="en-US" sz="14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34766"/>
              </p:ext>
            </p:extLst>
          </p:nvPr>
        </p:nvGraphicFramePr>
        <p:xfrm>
          <a:off x="3928219" y="3476897"/>
          <a:ext cx="5208236" cy="2760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</a:tblGrid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23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954869"/>
              </p:ext>
            </p:extLst>
          </p:nvPr>
        </p:nvGraphicFramePr>
        <p:xfrm>
          <a:off x="35496" y="548680"/>
          <a:ext cx="42001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</a:tblGrid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499992" y="548680"/>
            <a:ext cx="46440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取出</a:t>
            </a:r>
            <a:r>
              <a:rPr lang="en-US" altLang="zh-TW" dirty="0" smtClean="0"/>
              <a:t>(3, 2, 3)</a:t>
            </a:r>
            <a:r>
              <a:rPr lang="zh-TW" altLang="en-US" dirty="0" smtClean="0"/>
              <a:t>，</a:t>
            </a:r>
            <a:r>
              <a:rPr lang="en-US" altLang="zh-TW" dirty="0" smtClean="0"/>
              <a:t>PQ</a:t>
            </a:r>
            <a:r>
              <a:rPr lang="en-US" altLang="zh-TW" dirty="0"/>
              <a:t> </a:t>
            </a:r>
            <a:r>
              <a:rPr lang="en-US" altLang="zh-TW" dirty="0" smtClean="0"/>
              <a:t>(</a:t>
            </a:r>
            <a:r>
              <a:rPr lang="en-US" altLang="zh-TW" dirty="0"/>
              <a:t>3, 5, 6), (5, 4, 5), (6, 6, 2), </a:t>
            </a:r>
            <a:r>
              <a:rPr lang="en-US" altLang="zh-TW" dirty="0" smtClean="0"/>
              <a:t>(</a:t>
            </a:r>
            <a:r>
              <a:rPr lang="en-US" altLang="zh-TW" dirty="0"/>
              <a:t>6, 6, 7</a:t>
            </a:r>
            <a:r>
              <a:rPr lang="en-US" altLang="zh-TW" dirty="0" smtClean="0"/>
              <a:t>))</a:t>
            </a:r>
          </a:p>
          <a:p>
            <a:r>
              <a:rPr lang="zh-TW" altLang="en-US" dirty="0" smtClean="0"/>
              <a:t>其尚未加入</a:t>
            </a:r>
            <a:r>
              <a:rPr lang="en-US" altLang="zh-TW" dirty="0" smtClean="0"/>
              <a:t>PQ</a:t>
            </a:r>
            <a:r>
              <a:rPr lang="zh-TW" altLang="en-US" dirty="0" smtClean="0"/>
              <a:t>的後繼者為</a:t>
            </a:r>
            <a:r>
              <a:rPr lang="en-US" altLang="zh-TW" dirty="0" smtClean="0"/>
              <a:t>(4, 5, 6)</a:t>
            </a:r>
          </a:p>
          <a:p>
            <a:r>
              <a:rPr lang="zh-TW" altLang="en-US" dirty="0"/>
              <a:t>的</a:t>
            </a:r>
            <a:r>
              <a:rPr lang="en-US" altLang="zh-TW" dirty="0"/>
              <a:t>parent</a:t>
            </a:r>
            <a:r>
              <a:rPr lang="zh-TW" altLang="en-US" dirty="0"/>
              <a:t>設為</a:t>
            </a:r>
            <a:r>
              <a:rPr lang="en-US" altLang="zh-TW" dirty="0" smtClean="0"/>
              <a:t>(3, 2, 3)</a:t>
            </a:r>
            <a:r>
              <a:rPr lang="zh-TW" altLang="en-US" dirty="0" smtClean="0"/>
              <a:t>，並將其加入</a:t>
            </a:r>
            <a:r>
              <a:rPr lang="en-US" altLang="zh-TW" dirty="0" smtClean="0"/>
              <a:t>PQ</a:t>
            </a:r>
          </a:p>
          <a:p>
            <a:r>
              <a:rPr lang="en-US" altLang="zh-TW" dirty="0" smtClean="0"/>
              <a:t>PQ((</a:t>
            </a:r>
            <a:r>
              <a:rPr lang="en-US" altLang="zh-TW" dirty="0"/>
              <a:t>3, 5, 6</a:t>
            </a:r>
            <a:r>
              <a:rPr lang="en-US" altLang="zh-TW" dirty="0" smtClean="0"/>
              <a:t>),</a:t>
            </a:r>
            <a:r>
              <a:rPr lang="zh-TW" altLang="en-US" dirty="0" smtClean="0"/>
              <a:t> </a:t>
            </a:r>
            <a:r>
              <a:rPr lang="en-US" altLang="zh-TW" dirty="0" smtClean="0"/>
              <a:t>(4, 5, 6), (</a:t>
            </a:r>
            <a:r>
              <a:rPr lang="en-US" altLang="zh-TW" dirty="0"/>
              <a:t>5, 4, 5), (6, 6, 2), </a:t>
            </a:r>
            <a:r>
              <a:rPr lang="en-US" altLang="zh-TW" dirty="0" smtClean="0"/>
              <a:t>(</a:t>
            </a:r>
            <a:r>
              <a:rPr lang="en-US" altLang="zh-TW" dirty="0"/>
              <a:t>6, 6, 7</a:t>
            </a:r>
            <a:r>
              <a:rPr lang="en-US" altLang="zh-TW" dirty="0" smtClean="0"/>
              <a:t>))</a:t>
            </a:r>
          </a:p>
        </p:txBody>
      </p:sp>
      <p:sp>
        <p:nvSpPr>
          <p:cNvPr id="16" name="矩形 15"/>
          <p:cNvSpPr/>
          <p:nvPr/>
        </p:nvSpPr>
        <p:spPr>
          <a:xfrm>
            <a:off x="1688704" y="1516184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2699792" y="2051665"/>
            <a:ext cx="432048" cy="2972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2188730" y="2384012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3203848" y="2708920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1999995" y="5013176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1479563" y="4123523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5364088" y="4712511"/>
            <a:ext cx="432048" cy="300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2483768" y="4690011"/>
            <a:ext cx="432048" cy="2972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987824" y="530120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6317156" y="5301209"/>
            <a:ext cx="432048" cy="288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7702272" y="5013175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6804248" y="566124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725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149164"/>
              </p:ext>
            </p:extLst>
          </p:nvPr>
        </p:nvGraphicFramePr>
        <p:xfrm>
          <a:off x="35496" y="3476897"/>
          <a:ext cx="388843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12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dirty="0" smtClean="0"/>
                        <a:t>G</a:t>
                      </a:r>
                      <a:endParaRPr lang="zh-TW" altLang="en-US" sz="14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i="0" dirty="0" smtClean="0"/>
                        <a:t>3</a:t>
                      </a:r>
                      <a:endParaRPr lang="zh-TW" altLang="en-US" sz="14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654263"/>
              </p:ext>
            </p:extLst>
          </p:nvPr>
        </p:nvGraphicFramePr>
        <p:xfrm>
          <a:off x="3928219" y="3476897"/>
          <a:ext cx="5208236" cy="2760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</a:tblGrid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23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282934"/>
              </p:ext>
            </p:extLst>
          </p:nvPr>
        </p:nvGraphicFramePr>
        <p:xfrm>
          <a:off x="35496" y="548680"/>
          <a:ext cx="42001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</a:tblGrid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499992" y="548680"/>
            <a:ext cx="4644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取出</a:t>
            </a:r>
            <a:r>
              <a:rPr lang="en-US" altLang="zh-TW" dirty="0" smtClean="0"/>
              <a:t>(3, 5, 6)</a:t>
            </a:r>
            <a:r>
              <a:rPr lang="zh-TW" altLang="en-US" dirty="0" smtClean="0"/>
              <a:t>，</a:t>
            </a:r>
            <a:r>
              <a:rPr lang="en-US" altLang="zh-TW" dirty="0" smtClean="0"/>
              <a:t>PQ</a:t>
            </a:r>
            <a:r>
              <a:rPr lang="en-US" altLang="zh-TW" dirty="0"/>
              <a:t> </a:t>
            </a:r>
            <a:r>
              <a:rPr lang="en-US" altLang="zh-TW" dirty="0" smtClean="0"/>
              <a:t>(</a:t>
            </a:r>
            <a:r>
              <a:rPr lang="en-US" altLang="zh-TW" dirty="0"/>
              <a:t>(4, 5, 6), </a:t>
            </a:r>
            <a:r>
              <a:rPr lang="en-US" altLang="zh-TW" dirty="0" smtClean="0"/>
              <a:t>(</a:t>
            </a:r>
            <a:r>
              <a:rPr lang="en-US" altLang="zh-TW" dirty="0"/>
              <a:t>5, 4, 5), (6, 6, 2), </a:t>
            </a:r>
            <a:r>
              <a:rPr lang="en-US" altLang="zh-TW" dirty="0" smtClean="0"/>
              <a:t>(</a:t>
            </a:r>
            <a:r>
              <a:rPr lang="en-US" altLang="zh-TW" dirty="0"/>
              <a:t>6, 6, 7</a:t>
            </a:r>
            <a:r>
              <a:rPr lang="en-US" altLang="zh-TW" dirty="0" smtClean="0"/>
              <a:t>))</a:t>
            </a:r>
          </a:p>
          <a:p>
            <a:r>
              <a:rPr lang="zh-TW" altLang="en-US" dirty="0" smtClean="0"/>
              <a:t>其後繼者為</a:t>
            </a:r>
            <a:r>
              <a:rPr lang="en-US" altLang="zh-TW" dirty="0" smtClean="0"/>
              <a:t>(6, 6, 7)</a:t>
            </a:r>
            <a:r>
              <a:rPr lang="zh-TW" altLang="en-US" dirty="0" smtClean="0"/>
              <a:t>的</a:t>
            </a:r>
            <a:r>
              <a:rPr lang="en-US" altLang="zh-TW" dirty="0"/>
              <a:t>parent</a:t>
            </a:r>
            <a:r>
              <a:rPr lang="zh-TW" altLang="en-US" dirty="0"/>
              <a:t>設為</a:t>
            </a:r>
            <a:r>
              <a:rPr lang="en-US" altLang="zh-TW" dirty="0" smtClean="0"/>
              <a:t>(3, 5, </a:t>
            </a:r>
            <a:r>
              <a:rPr lang="en-US" altLang="zh-TW" dirty="0"/>
              <a:t>6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PQ((4, 5, 6), (</a:t>
            </a:r>
            <a:r>
              <a:rPr lang="en-US" altLang="zh-TW" dirty="0"/>
              <a:t>5, 4, 5), (6, 6, 2), </a:t>
            </a:r>
            <a:r>
              <a:rPr lang="en-US" altLang="zh-TW" dirty="0" smtClean="0"/>
              <a:t>(</a:t>
            </a:r>
            <a:r>
              <a:rPr lang="en-US" altLang="zh-TW" dirty="0"/>
              <a:t>6, 6, 7</a:t>
            </a:r>
            <a:r>
              <a:rPr lang="en-US" altLang="zh-TW" dirty="0" smtClean="0"/>
              <a:t>))</a:t>
            </a:r>
          </a:p>
        </p:txBody>
      </p:sp>
      <p:sp>
        <p:nvSpPr>
          <p:cNvPr id="16" name="矩形 15"/>
          <p:cNvSpPr/>
          <p:nvPr/>
        </p:nvSpPr>
        <p:spPr>
          <a:xfrm>
            <a:off x="1640359" y="238259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3203848" y="2708920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1547664" y="5013176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987824" y="530120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6317156" y="5301209"/>
            <a:ext cx="432048" cy="288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6804248" y="566124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110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729529"/>
              </p:ext>
            </p:extLst>
          </p:nvPr>
        </p:nvGraphicFramePr>
        <p:xfrm>
          <a:off x="35496" y="3476897"/>
          <a:ext cx="388843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12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dirty="0" smtClean="0"/>
                        <a:t>G</a:t>
                      </a:r>
                      <a:endParaRPr lang="zh-TW" altLang="en-US" sz="14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i="0" dirty="0" smtClean="0"/>
                        <a:t>3</a:t>
                      </a:r>
                      <a:endParaRPr lang="zh-TW" altLang="en-US" sz="14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588440"/>
              </p:ext>
            </p:extLst>
          </p:nvPr>
        </p:nvGraphicFramePr>
        <p:xfrm>
          <a:off x="3928219" y="3476897"/>
          <a:ext cx="5208236" cy="2760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</a:tblGrid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23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518470"/>
              </p:ext>
            </p:extLst>
          </p:nvPr>
        </p:nvGraphicFramePr>
        <p:xfrm>
          <a:off x="35496" y="548680"/>
          <a:ext cx="42001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</a:tblGrid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499992" y="548680"/>
            <a:ext cx="464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取出</a:t>
            </a:r>
            <a:r>
              <a:rPr lang="en-US" altLang="zh-TW" dirty="0" smtClean="0"/>
              <a:t>(4, 5, 6)</a:t>
            </a:r>
            <a:r>
              <a:rPr lang="zh-TW" altLang="en-US" dirty="0" smtClean="0"/>
              <a:t>，</a:t>
            </a:r>
            <a:r>
              <a:rPr lang="en-US" altLang="zh-TW" dirty="0" smtClean="0"/>
              <a:t>PQ</a:t>
            </a:r>
            <a:r>
              <a:rPr lang="en-US" altLang="zh-TW" dirty="0"/>
              <a:t> </a:t>
            </a:r>
            <a:r>
              <a:rPr lang="en-US" altLang="zh-TW" dirty="0" smtClean="0"/>
              <a:t>((</a:t>
            </a:r>
            <a:r>
              <a:rPr lang="en-US" altLang="zh-TW" dirty="0"/>
              <a:t>5, 4, 5), (6, 6, 2), </a:t>
            </a:r>
            <a:r>
              <a:rPr lang="en-US" altLang="zh-TW" dirty="0" smtClean="0"/>
              <a:t>(</a:t>
            </a:r>
            <a:r>
              <a:rPr lang="en-US" altLang="zh-TW" dirty="0"/>
              <a:t>6, 6, 7</a:t>
            </a:r>
            <a:r>
              <a:rPr lang="en-US" altLang="zh-TW" dirty="0" smtClean="0"/>
              <a:t>))</a:t>
            </a:r>
          </a:p>
          <a:p>
            <a:r>
              <a:rPr lang="en-US" altLang="zh-TW" dirty="0" smtClean="0"/>
              <a:t>PQ((5</a:t>
            </a:r>
            <a:r>
              <a:rPr lang="en-US" altLang="zh-TW" dirty="0"/>
              <a:t>, 4, 5), (6, 6, 2), </a:t>
            </a:r>
            <a:r>
              <a:rPr lang="en-US" altLang="zh-TW" dirty="0" smtClean="0"/>
              <a:t>(</a:t>
            </a:r>
            <a:r>
              <a:rPr lang="en-US" altLang="zh-TW" dirty="0"/>
              <a:t>6, 6, 7</a:t>
            </a:r>
            <a:r>
              <a:rPr lang="en-US" altLang="zh-TW" dirty="0" smtClean="0"/>
              <a:t>))</a:t>
            </a:r>
          </a:p>
        </p:txBody>
      </p:sp>
      <p:sp>
        <p:nvSpPr>
          <p:cNvPr id="16" name="矩形 15"/>
          <p:cNvSpPr/>
          <p:nvPr/>
        </p:nvSpPr>
        <p:spPr>
          <a:xfrm>
            <a:off x="1640359" y="238259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3203848" y="2708920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1999995" y="5013176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987824" y="530120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6317156" y="5301209"/>
            <a:ext cx="432048" cy="288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6804248" y="566124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276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534732"/>
              </p:ext>
            </p:extLst>
          </p:nvPr>
        </p:nvGraphicFramePr>
        <p:xfrm>
          <a:off x="35496" y="3476897"/>
          <a:ext cx="388843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12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dirty="0" smtClean="0"/>
                        <a:t>G</a:t>
                      </a:r>
                      <a:endParaRPr lang="zh-TW" altLang="en-US" sz="14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i="0" dirty="0" smtClean="0"/>
                        <a:t>3</a:t>
                      </a:r>
                      <a:endParaRPr lang="zh-TW" altLang="en-US" sz="14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113552"/>
              </p:ext>
            </p:extLst>
          </p:nvPr>
        </p:nvGraphicFramePr>
        <p:xfrm>
          <a:off x="3928219" y="3476897"/>
          <a:ext cx="5208236" cy="2760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</a:tblGrid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23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174076"/>
              </p:ext>
            </p:extLst>
          </p:nvPr>
        </p:nvGraphicFramePr>
        <p:xfrm>
          <a:off x="35496" y="548680"/>
          <a:ext cx="42001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</a:tblGrid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499992" y="548680"/>
            <a:ext cx="464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取出</a:t>
            </a:r>
            <a:r>
              <a:rPr lang="en-US" altLang="zh-TW" dirty="0" smtClean="0"/>
              <a:t>(5, </a:t>
            </a:r>
            <a:r>
              <a:rPr lang="en-US" altLang="zh-TW" dirty="0"/>
              <a:t>4</a:t>
            </a:r>
            <a:r>
              <a:rPr lang="en-US" altLang="zh-TW" dirty="0" smtClean="0"/>
              <a:t>, </a:t>
            </a:r>
            <a:r>
              <a:rPr lang="en-US" altLang="zh-TW" dirty="0"/>
              <a:t>5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</a:t>
            </a:r>
            <a:r>
              <a:rPr lang="en-US" altLang="zh-TW" dirty="0" smtClean="0"/>
              <a:t>PQ</a:t>
            </a:r>
            <a:r>
              <a:rPr lang="en-US" altLang="zh-TW" dirty="0"/>
              <a:t> </a:t>
            </a:r>
            <a:r>
              <a:rPr lang="en-US" altLang="zh-TW" dirty="0" smtClean="0"/>
              <a:t>((</a:t>
            </a:r>
            <a:r>
              <a:rPr lang="en-US" altLang="zh-TW" dirty="0"/>
              <a:t>6, 6, 2), </a:t>
            </a:r>
            <a:r>
              <a:rPr lang="en-US" altLang="zh-TW" dirty="0" smtClean="0"/>
              <a:t>(</a:t>
            </a:r>
            <a:r>
              <a:rPr lang="en-US" altLang="zh-TW" dirty="0"/>
              <a:t>6, 6, 7</a:t>
            </a:r>
            <a:r>
              <a:rPr lang="en-US" altLang="zh-TW" dirty="0" smtClean="0"/>
              <a:t>))</a:t>
            </a:r>
          </a:p>
          <a:p>
            <a:r>
              <a:rPr lang="en-US" altLang="zh-TW" dirty="0" smtClean="0"/>
              <a:t>PQ((6</a:t>
            </a:r>
            <a:r>
              <a:rPr lang="en-US" altLang="zh-TW" dirty="0"/>
              <a:t>, 6, 2), </a:t>
            </a:r>
            <a:r>
              <a:rPr lang="en-US" altLang="zh-TW" dirty="0" smtClean="0"/>
              <a:t>(</a:t>
            </a:r>
            <a:r>
              <a:rPr lang="en-US" altLang="zh-TW" dirty="0"/>
              <a:t>6, 6, 7</a:t>
            </a:r>
            <a:r>
              <a:rPr lang="en-US" altLang="zh-TW" dirty="0" smtClean="0"/>
              <a:t>))</a:t>
            </a:r>
          </a:p>
        </p:txBody>
      </p:sp>
      <p:sp>
        <p:nvSpPr>
          <p:cNvPr id="16" name="矩形 15"/>
          <p:cNvSpPr/>
          <p:nvPr/>
        </p:nvSpPr>
        <p:spPr>
          <a:xfrm>
            <a:off x="2699792" y="2095981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3203848" y="2708920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2469866" y="4760277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987824" y="530120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5863526" y="5013178"/>
            <a:ext cx="432048" cy="288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6804248" y="566124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958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25528"/>
              </p:ext>
            </p:extLst>
          </p:nvPr>
        </p:nvGraphicFramePr>
        <p:xfrm>
          <a:off x="35496" y="3476897"/>
          <a:ext cx="388843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12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dirty="0" smtClean="0"/>
                        <a:t>G</a:t>
                      </a:r>
                      <a:endParaRPr lang="zh-TW" altLang="en-US" sz="14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i="0" dirty="0" smtClean="0"/>
                        <a:t>3</a:t>
                      </a:r>
                      <a:endParaRPr lang="zh-TW" altLang="en-US" sz="14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900973"/>
              </p:ext>
            </p:extLst>
          </p:nvPr>
        </p:nvGraphicFramePr>
        <p:xfrm>
          <a:off x="3928219" y="3476897"/>
          <a:ext cx="5208236" cy="2758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</a:tblGrid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23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5338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373145"/>
              </p:ext>
            </p:extLst>
          </p:nvPr>
        </p:nvGraphicFramePr>
        <p:xfrm>
          <a:off x="35496" y="548680"/>
          <a:ext cx="42001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</a:tblGrid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499992" y="548680"/>
            <a:ext cx="4644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取出</a:t>
            </a:r>
            <a:r>
              <a:rPr lang="en-US" altLang="zh-TW" dirty="0" smtClean="0"/>
              <a:t>(6, 6, 2)</a:t>
            </a:r>
            <a:r>
              <a:rPr lang="zh-TW" altLang="en-US" dirty="0" smtClean="0"/>
              <a:t>，</a:t>
            </a:r>
            <a:r>
              <a:rPr lang="en-US" altLang="zh-TW" dirty="0" smtClean="0"/>
              <a:t>PQ</a:t>
            </a:r>
            <a:r>
              <a:rPr lang="en-US" altLang="zh-TW" dirty="0"/>
              <a:t> </a:t>
            </a:r>
            <a:r>
              <a:rPr lang="en-US" altLang="zh-TW" dirty="0" smtClean="0"/>
              <a:t>((6</a:t>
            </a:r>
            <a:r>
              <a:rPr lang="en-US" altLang="zh-TW" dirty="0"/>
              <a:t>, 6, 7</a:t>
            </a:r>
            <a:r>
              <a:rPr lang="en-US" altLang="zh-TW" dirty="0" smtClean="0"/>
              <a:t>))</a:t>
            </a:r>
          </a:p>
          <a:p>
            <a:r>
              <a:rPr lang="zh-TW" altLang="en-US" dirty="0"/>
              <a:t>其後繼者</a:t>
            </a:r>
            <a:r>
              <a:rPr lang="zh-TW" altLang="en-US" dirty="0" smtClean="0"/>
              <a:t>為</a:t>
            </a:r>
            <a:r>
              <a:rPr lang="en-US" altLang="zh-TW" dirty="0" smtClean="0"/>
              <a:t>(7, 8, 4)</a:t>
            </a:r>
            <a:r>
              <a:rPr lang="zh-TW" altLang="en-US" dirty="0" smtClean="0"/>
              <a:t>將其</a:t>
            </a:r>
            <a:r>
              <a:rPr lang="en-US" altLang="zh-TW" dirty="0" smtClean="0"/>
              <a:t>parent</a:t>
            </a:r>
            <a:r>
              <a:rPr lang="zh-TW" altLang="en-US" dirty="0" smtClean="0"/>
              <a:t>設為</a:t>
            </a:r>
            <a:r>
              <a:rPr lang="en-US" altLang="zh-TW" dirty="0" smtClean="0"/>
              <a:t>(6, 6, 2)</a:t>
            </a:r>
            <a:r>
              <a:rPr lang="zh-TW" altLang="en-US" dirty="0" smtClean="0"/>
              <a:t>，</a:t>
            </a:r>
            <a:endParaRPr lang="en-US" altLang="zh-TW" dirty="0" smtClean="0"/>
          </a:p>
          <a:p>
            <a:r>
              <a:rPr lang="zh-TW" altLang="en-US" dirty="0"/>
              <a:t>並加入</a:t>
            </a:r>
            <a:r>
              <a:rPr lang="en-US" altLang="zh-TW" dirty="0"/>
              <a:t>PQ</a:t>
            </a:r>
            <a:r>
              <a:rPr lang="zh-TW" altLang="en-US" dirty="0"/>
              <a:t>，</a:t>
            </a:r>
            <a:r>
              <a:rPr lang="en-US" altLang="zh-TW" dirty="0" smtClean="0"/>
              <a:t>PQ((</a:t>
            </a:r>
            <a:r>
              <a:rPr lang="en-US" altLang="zh-TW" dirty="0"/>
              <a:t>6, 6, 7</a:t>
            </a:r>
            <a:r>
              <a:rPr lang="en-US" altLang="zh-TW" dirty="0" smtClean="0"/>
              <a:t>), (7, 8, 4))</a:t>
            </a:r>
          </a:p>
        </p:txBody>
      </p:sp>
      <p:sp>
        <p:nvSpPr>
          <p:cNvPr id="16" name="矩形 15"/>
          <p:cNvSpPr/>
          <p:nvPr/>
        </p:nvSpPr>
        <p:spPr>
          <a:xfrm>
            <a:off x="3203848" y="1195011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3772245" y="1772816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987824" y="530120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6768630" y="4077072"/>
            <a:ext cx="432048" cy="288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7740352" y="4725144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3435342" y="5949280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452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392239"/>
              </p:ext>
            </p:extLst>
          </p:nvPr>
        </p:nvGraphicFramePr>
        <p:xfrm>
          <a:off x="35496" y="3476897"/>
          <a:ext cx="3888432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  <a:gridCol w="48605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12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dirty="0" smtClean="0"/>
                        <a:t>G</a:t>
                      </a:r>
                      <a:endParaRPr lang="zh-TW" altLang="en-US" sz="14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i="0" dirty="0" smtClean="0"/>
                        <a:t>3</a:t>
                      </a:r>
                      <a:endParaRPr lang="zh-TW" altLang="en-US" sz="140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319551"/>
              </p:ext>
            </p:extLst>
          </p:nvPr>
        </p:nvGraphicFramePr>
        <p:xfrm>
          <a:off x="3928219" y="3476897"/>
          <a:ext cx="5208236" cy="2758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  <a:gridCol w="473476"/>
              </a:tblGrid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23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5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4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5338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30671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108688"/>
              </p:ext>
            </p:extLst>
          </p:nvPr>
        </p:nvGraphicFramePr>
        <p:xfrm>
          <a:off x="35496" y="548680"/>
          <a:ext cx="42001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  <a:gridCol w="525016"/>
              </a:tblGrid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M</a:t>
                      </a:r>
                      <a:r>
                        <a:rPr lang="en-US" altLang="zh-TW" sz="1400" baseline="-25000" dirty="0" smtClean="0"/>
                        <a:t>13</a:t>
                      </a:r>
                      <a:endParaRPr lang="zh-TW" altLang="en-US" sz="14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A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T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2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C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  <a:tr h="2893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G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4499992" y="548680"/>
            <a:ext cx="4644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取出</a:t>
            </a:r>
            <a:r>
              <a:rPr lang="en-US" altLang="zh-TW" dirty="0" smtClean="0"/>
              <a:t>(6, 6, 7)</a:t>
            </a:r>
            <a:r>
              <a:rPr lang="zh-TW" altLang="en-US" dirty="0" smtClean="0"/>
              <a:t>，</a:t>
            </a:r>
            <a:r>
              <a:rPr lang="en-US" altLang="zh-TW" dirty="0" smtClean="0"/>
              <a:t>PQ</a:t>
            </a:r>
            <a:r>
              <a:rPr lang="en-US" altLang="zh-TW" dirty="0"/>
              <a:t> </a:t>
            </a:r>
            <a:r>
              <a:rPr lang="en-US" altLang="zh-TW" dirty="0" smtClean="0"/>
              <a:t>((7, 8, 4))</a:t>
            </a:r>
          </a:p>
          <a:p>
            <a:r>
              <a:rPr lang="zh-TW" altLang="en-US" dirty="0" smtClean="0"/>
              <a:t>沒有後繼</a:t>
            </a:r>
            <a:r>
              <a:rPr lang="zh-TW" altLang="en-US" dirty="0" smtClean="0"/>
              <a:t>者，且後繼者範圍</a:t>
            </a:r>
            <a:r>
              <a:rPr lang="en-US" altLang="zh-TW" dirty="0" smtClean="0"/>
              <a:t>M</a:t>
            </a:r>
            <a:r>
              <a:rPr lang="zh-TW" altLang="en-US" smtClean="0"/>
              <a:t>值</a:t>
            </a:r>
            <a:r>
              <a:rPr lang="zh-TW" altLang="en-US" smtClean="0"/>
              <a:t>為</a:t>
            </a:r>
            <a:r>
              <a:rPr lang="en-US" altLang="zh-TW" dirty="0" smtClean="0"/>
              <a:t>0</a:t>
            </a:r>
            <a:r>
              <a:rPr lang="zh-TW" altLang="en-US" dirty="0" smtClean="0"/>
              <a:t>，</a:t>
            </a:r>
            <a:r>
              <a:rPr lang="zh-TW" altLang="en-US" dirty="0" smtClean="0"/>
              <a:t>結束</a:t>
            </a:r>
            <a:endParaRPr lang="en-US" altLang="zh-TW" dirty="0" smtClean="0"/>
          </a:p>
          <a:p>
            <a:r>
              <a:rPr lang="zh-TW" altLang="en-US" dirty="0"/>
              <a:t>回</a:t>
            </a:r>
            <a:r>
              <a:rPr lang="zh-TW" altLang="en-US" dirty="0" smtClean="0"/>
              <a:t>傳</a:t>
            </a:r>
            <a:r>
              <a:rPr lang="en-US" altLang="zh-TW" dirty="0" smtClean="0"/>
              <a:t>(6, 6, 7) (3, 5, </a:t>
            </a:r>
            <a:r>
              <a:rPr lang="en-US" altLang="zh-TW" dirty="0"/>
              <a:t>6</a:t>
            </a:r>
            <a:r>
              <a:rPr lang="en-US" altLang="zh-TW" dirty="0" smtClean="0"/>
              <a:t>) (2, 3, 4) (1, 1, 1)</a:t>
            </a:r>
          </a:p>
          <a:p>
            <a:r>
              <a:rPr lang="en-US" altLang="zh-TW" dirty="0" smtClean="0"/>
              <a:t>MLCS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4</a:t>
            </a:r>
          </a:p>
        </p:txBody>
      </p:sp>
      <p:sp>
        <p:nvSpPr>
          <p:cNvPr id="16" name="矩形 15"/>
          <p:cNvSpPr/>
          <p:nvPr/>
        </p:nvSpPr>
        <p:spPr>
          <a:xfrm>
            <a:off x="3203848" y="2708920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2987824" y="5301208"/>
            <a:ext cx="432048" cy="25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6772133" y="5589240"/>
            <a:ext cx="432048" cy="288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379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MLCS-APP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由於</a:t>
            </a:r>
            <a:r>
              <a:rPr lang="en-US" altLang="zh-TW" dirty="0" smtClean="0"/>
              <a:t>MLCS-A*</a:t>
            </a:r>
            <a:r>
              <a:rPr lang="zh-TW" altLang="en-US" dirty="0" smtClean="0"/>
              <a:t>需要紀錄的點較多，導致在序列長度較長或序列數量較多的時候，變得不夠實用，</a:t>
            </a:r>
            <a:r>
              <a:rPr lang="en-US" altLang="zh-TW" dirty="0" smtClean="0"/>
              <a:t>MLCS-APP</a:t>
            </a:r>
            <a:r>
              <a:rPr lang="zh-TW" altLang="en-US" dirty="0" smtClean="0"/>
              <a:t>有參數使得紀錄的點的數量有所限制，若</a:t>
            </a:r>
            <a:r>
              <a:rPr lang="en-US" altLang="zh-TW" dirty="0" smtClean="0"/>
              <a:t>PQ</a:t>
            </a:r>
            <a:r>
              <a:rPr lang="zh-TW" altLang="en-US" dirty="0" smtClean="0"/>
              <a:t>中的點數量超過設定的參數，將會剔除</a:t>
            </a:r>
            <a:r>
              <a:rPr lang="en-US" altLang="zh-TW" dirty="0" smtClean="0"/>
              <a:t>M</a:t>
            </a:r>
            <a:r>
              <a:rPr lang="zh-TW" altLang="en-US" dirty="0" smtClean="0"/>
              <a:t>值較低的點，直到</a:t>
            </a:r>
            <a:r>
              <a:rPr lang="en-US" altLang="zh-TW" dirty="0" smtClean="0"/>
              <a:t>PQ</a:t>
            </a:r>
            <a:r>
              <a:rPr lang="zh-TW" altLang="en-US" dirty="0" smtClean="0"/>
              <a:t>的數量在限制數量內，藉以減少紀錄的點，增加效率。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627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pic>
        <p:nvPicPr>
          <p:cNvPr id="2050" name="Picture 2" descr="F:\Sena\Desktop\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768" y="1278902"/>
            <a:ext cx="4787589" cy="5581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79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pic>
        <p:nvPicPr>
          <p:cNvPr id="3074" name="Picture 2" descr="F:\Sena\Desktop\2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854" y="1124744"/>
            <a:ext cx="4717418" cy="5509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14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pic>
        <p:nvPicPr>
          <p:cNvPr id="4098" name="Picture 2" descr="F:\Sena\Desktop\2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" y="2186779"/>
            <a:ext cx="9036496" cy="2729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3414</Words>
  <Application>Microsoft Office PowerPoint</Application>
  <PresentationFormat>如螢幕大小 (4:3)</PresentationFormat>
  <Paragraphs>2388</Paragraphs>
  <Slides>17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18" baseType="lpstr">
      <vt:lpstr>Office 佈景主題</vt:lpstr>
      <vt:lpstr>A Fast Heuristic Search Algorithm for Finding the Longest Common Subsequence of Multiple Strings</vt:lpstr>
      <vt:lpstr>Abstract</vt:lpstr>
      <vt:lpstr>Introduction</vt:lpstr>
      <vt:lpstr>MLCS-A*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MLCS-APP</vt:lpstr>
      <vt:lpstr>Experimental Results</vt:lpstr>
      <vt:lpstr>Experimental Results</vt:lpstr>
      <vt:lpstr>Experimental Results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Heuristic Search Algorithm for Finding the Longest Common Subsequence of Multiple Strings</dc:title>
  <dc:creator>Sena</dc:creator>
  <cp:lastModifiedBy>PotatOS</cp:lastModifiedBy>
  <cp:revision>36</cp:revision>
  <dcterms:created xsi:type="dcterms:W3CDTF">2015-02-24T17:55:52Z</dcterms:created>
  <dcterms:modified xsi:type="dcterms:W3CDTF">2015-02-25T11:41:01Z</dcterms:modified>
</cp:coreProperties>
</file>