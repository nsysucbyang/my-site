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8" r:id="rId11"/>
    <p:sldId id="267" r:id="rId12"/>
    <p:sldId id="269" r:id="rId13"/>
    <p:sldId id="272" r:id="rId14"/>
    <p:sldId id="271" r:id="rId15"/>
    <p:sldId id="273" r:id="rId16"/>
    <p:sldId id="274" r:id="rId17"/>
    <p:sldId id="276" r:id="rId18"/>
    <p:sldId id="275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F589F-7E2C-44A5-9BC1-123C6438CBC4}" type="datetimeFigureOut">
              <a:rPr lang="zh-TW" altLang="en-US" smtClean="0"/>
              <a:pPr/>
              <a:t>2015/2/25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4E9F1-3D4A-45C6-8DB2-EB5F369F09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9200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F589F-7E2C-44A5-9BC1-123C6438CBC4}" type="datetimeFigureOut">
              <a:rPr lang="zh-TW" altLang="en-US" smtClean="0"/>
              <a:pPr/>
              <a:t>2015/2/25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4E9F1-3D4A-45C6-8DB2-EB5F369F09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33239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F589F-7E2C-44A5-9BC1-123C6438CBC4}" type="datetimeFigureOut">
              <a:rPr lang="zh-TW" altLang="en-US" smtClean="0"/>
              <a:pPr/>
              <a:t>2015/2/25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4E9F1-3D4A-45C6-8DB2-EB5F369F09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48097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F589F-7E2C-44A5-9BC1-123C6438CBC4}" type="datetimeFigureOut">
              <a:rPr lang="zh-TW" altLang="en-US" smtClean="0"/>
              <a:pPr/>
              <a:t>2015/2/25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4E9F1-3D4A-45C6-8DB2-EB5F369F09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57364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F589F-7E2C-44A5-9BC1-123C6438CBC4}" type="datetimeFigureOut">
              <a:rPr lang="zh-TW" altLang="en-US" smtClean="0"/>
              <a:pPr/>
              <a:t>2015/2/25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4E9F1-3D4A-45C6-8DB2-EB5F369F09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5804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F589F-7E2C-44A5-9BC1-123C6438CBC4}" type="datetimeFigureOut">
              <a:rPr lang="zh-TW" altLang="en-US" smtClean="0"/>
              <a:pPr/>
              <a:t>2015/2/25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4E9F1-3D4A-45C6-8DB2-EB5F369F09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5973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F589F-7E2C-44A5-9BC1-123C6438CBC4}" type="datetimeFigureOut">
              <a:rPr lang="zh-TW" altLang="en-US" smtClean="0"/>
              <a:pPr/>
              <a:t>2015/2/25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4E9F1-3D4A-45C6-8DB2-EB5F369F09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09988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F589F-7E2C-44A5-9BC1-123C6438CBC4}" type="datetimeFigureOut">
              <a:rPr lang="zh-TW" altLang="en-US" smtClean="0"/>
              <a:pPr/>
              <a:t>2015/2/25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4E9F1-3D4A-45C6-8DB2-EB5F369F09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10029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F589F-7E2C-44A5-9BC1-123C6438CBC4}" type="datetimeFigureOut">
              <a:rPr lang="zh-TW" altLang="en-US" smtClean="0"/>
              <a:pPr/>
              <a:t>2015/2/25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4E9F1-3D4A-45C6-8DB2-EB5F369F09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76180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F589F-7E2C-44A5-9BC1-123C6438CBC4}" type="datetimeFigureOut">
              <a:rPr lang="zh-TW" altLang="en-US" smtClean="0"/>
              <a:pPr/>
              <a:t>2015/2/25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4E9F1-3D4A-45C6-8DB2-EB5F369F09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0056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F589F-7E2C-44A5-9BC1-123C6438CBC4}" type="datetimeFigureOut">
              <a:rPr lang="zh-TW" altLang="en-US" smtClean="0"/>
              <a:pPr/>
              <a:t>2015/2/25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4E9F1-3D4A-45C6-8DB2-EB5F369F09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37191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F589F-7E2C-44A5-9BC1-123C6438CBC4}" type="datetimeFigureOut">
              <a:rPr lang="zh-TW" altLang="en-US" smtClean="0"/>
              <a:pPr/>
              <a:t>2015/2/25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4E9F1-3D4A-45C6-8DB2-EB5F369F098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49057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579439" y="1419229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 smtClean="0"/>
              <a:t>Computing the Number of Longest Common Subsequences</a:t>
            </a:r>
            <a:endParaRPr lang="en-US" altLang="zh-TW" sz="3600" b="1" dirty="0"/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397000" y="3076578"/>
            <a:ext cx="6400800" cy="47942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3100" dirty="0"/>
              <a:t>Ronald I. Greenberg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4051256"/>
              </p:ext>
            </p:extLst>
          </p:nvPr>
        </p:nvGraphicFramePr>
        <p:xfrm>
          <a:off x="2843215" y="3581401"/>
          <a:ext cx="3816351" cy="1220788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56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http://www.cs.luc.edu/~rig</a:t>
                      </a: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r>
                        <a:rPr lang="en-US" altLang="zh-TW" sz="20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 Jan 2003</a:t>
                      </a:r>
                      <a:endParaRPr lang="en-US" sz="20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2475914" y="5229228"/>
            <a:ext cx="46423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/>
              <a:t>Presenter:  Huang-Ting Chan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/>
              <a:t>Date:</a:t>
            </a:r>
            <a:fld id="{F3590F60-3E7B-48AD-979A-345F224951B5}" type="datetime1">
              <a:rPr lang="zh-TW" altLang="en-US" sz="2400"/>
              <a:pPr eaLnBrk="1" hangingPunct="1">
                <a:spcBef>
                  <a:spcPct val="0"/>
                </a:spcBef>
                <a:buFontTx/>
                <a:buNone/>
              </a:pPr>
              <a:t>2015/2/25</a:t>
            </a:fld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84868018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This note provides very simple, efficient algorithms for computing the number of distinct longest common subsequences of two input strings and for computing the number of LCS </a:t>
            </a:r>
            <a:r>
              <a:rPr lang="en-US" altLang="zh-TW" dirty="0" err="1" smtClean="0"/>
              <a:t>embeddings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5567913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079921" cy="468838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TW" altLang="en-US" dirty="0" smtClean="0"/>
                  <a:t/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Sequence that can be obtained by deleting some symbols of another sequence is referred to as a subsequence of original sequence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Common subsequence of A and B is a subsequence of both A and B.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A Longest common subsequence (LCS) is a common subsequence of greatest possible length.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079921" cy="4688386"/>
              </a:xfrm>
              <a:blipFill rotWithShape="0">
                <a:blip r:embed="rId2"/>
                <a:stretch>
                  <a:fillRect l="-1357" t="-2597" r="-21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9499789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A pair of sequence may have many different LCSs.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Example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 A= baa  B=aba 	LCS= </a:t>
                </a:r>
                <a:r>
                  <a:rPr lang="en-US" altLang="zh-TW" dirty="0" err="1" smtClean="0"/>
                  <a:t>ba</a:t>
                </a:r>
                <a:r>
                  <a:rPr lang="en-US" altLang="zh-TW" dirty="0" smtClean="0"/>
                  <a:t> or aa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A single LCS may have many different </a:t>
                </a:r>
                <a:r>
                  <a:rPr lang="en-US" altLang="zh-TW" dirty="0" err="1" smtClean="0"/>
                  <a:t>embeddings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Example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/>
                </a:r>
                <a:r>
                  <a:rPr lang="en-US" altLang="zh-TW" dirty="0" smtClean="0"/>
                  <a:t>A= </a:t>
                </a:r>
                <a:r>
                  <a:rPr lang="en-US" altLang="zh-TW" dirty="0" err="1" smtClean="0"/>
                  <a:t>aab</a:t>
                </a:r>
                <a:r>
                  <a:rPr lang="en-US" altLang="zh-TW" dirty="0" smtClean="0"/>
                  <a:t> B= </a:t>
                </a:r>
                <a:r>
                  <a:rPr lang="en-US" altLang="zh-TW" dirty="0" err="1" smtClean="0"/>
                  <a:t>abaa</a:t>
                </a:r>
                <a:r>
                  <a:rPr lang="en-US" altLang="zh-TW" dirty="0" smtClean="0"/>
                  <a:t> 	LCS=aa or ab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	A=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/>
                  <a:t>B=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70432135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Computing the number of LCSs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14313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0   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+1                  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1431381"/>
              </a:xfrm>
              <a:blipFill rotWithShape="0">
                <a:blip r:embed="rId2"/>
                <a:stretch>
                  <a:fillRect t="-4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文字方塊 3"/>
              <p:cNvSpPr txBox="1"/>
              <p:nvPr/>
            </p:nvSpPr>
            <p:spPr>
              <a:xfrm>
                <a:off x="6008914" y="1775790"/>
                <a:ext cx="20469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914" y="1775790"/>
                <a:ext cx="2046971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文字方塊 4"/>
              <p:cNvSpPr txBox="1"/>
              <p:nvPr/>
            </p:nvSpPr>
            <p:spPr>
              <a:xfrm>
                <a:off x="5894181" y="2116519"/>
                <a:ext cx="2621167" cy="424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&gt;0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181" y="2116519"/>
                <a:ext cx="2621167" cy="424796"/>
              </a:xfrm>
              <a:prstGeom prst="rect">
                <a:avLst/>
              </a:prstGeom>
              <a:blipFill rotWithShape="0"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6589180" y="2663046"/>
            <a:ext cx="1231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otherwise</a:t>
            </a:r>
            <a:endParaRPr lang="zh-TW" altLang="en-US" sz="2000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29166"/>
            <a:ext cx="9144000" cy="38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045948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A= aba   B=baa</a:t>
            </a:r>
            <a:endParaRPr lang="zh-TW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9823994"/>
              </p:ext>
            </p:extLst>
          </p:nvPr>
        </p:nvGraphicFramePr>
        <p:xfrm>
          <a:off x="817558" y="2808569"/>
          <a:ext cx="4058310" cy="251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662"/>
                <a:gridCol w="811662"/>
                <a:gridCol w="811662"/>
                <a:gridCol w="811662"/>
                <a:gridCol w="811662"/>
              </a:tblGrid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05097" y="2577737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L[</a:t>
            </a:r>
            <a:r>
              <a:rPr lang="en-US" altLang="zh-TW" sz="2400" dirty="0" err="1" smtClean="0"/>
              <a:t>I,j</a:t>
            </a:r>
            <a:r>
              <a:rPr lang="en-US" altLang="zh-TW" sz="2400" dirty="0" smtClean="0"/>
              <a:t>]</a:t>
            </a:r>
            <a:endParaRPr lang="zh-TW" altLang="en-US" sz="24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6015685"/>
              </p:ext>
            </p:extLst>
          </p:nvPr>
        </p:nvGraphicFramePr>
        <p:xfrm>
          <a:off x="4993318" y="2808569"/>
          <a:ext cx="4058310" cy="251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662"/>
                <a:gridCol w="811662"/>
                <a:gridCol w="811662"/>
                <a:gridCol w="811662"/>
                <a:gridCol w="811662"/>
              </a:tblGrid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5521235" y="2577736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D[</a:t>
            </a:r>
            <a:r>
              <a:rPr lang="en-US" altLang="zh-TW" sz="2400" dirty="0" err="1" smtClean="0"/>
              <a:t>I,j</a:t>
            </a:r>
            <a:r>
              <a:rPr lang="en-US" altLang="zh-TW" sz="2400" dirty="0" smtClean="0"/>
              <a:t>]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13700361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90748" y="802277"/>
            <a:ext cx="5414555" cy="421132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35895306"/>
              </p:ext>
            </p:extLst>
          </p:nvPr>
        </p:nvGraphicFramePr>
        <p:xfrm>
          <a:off x="4993318" y="2808569"/>
          <a:ext cx="4058310" cy="251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662"/>
                <a:gridCol w="811662"/>
                <a:gridCol w="811662"/>
                <a:gridCol w="811662"/>
                <a:gridCol w="811662"/>
              </a:tblGrid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5268687" y="2107474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D[</a:t>
            </a:r>
            <a:r>
              <a:rPr lang="en-US" altLang="zh-TW" sz="2400" dirty="0" err="1" smtClean="0"/>
              <a:t>I,j</a:t>
            </a:r>
            <a:r>
              <a:rPr lang="en-US" altLang="zh-TW" sz="2400" dirty="0" smtClean="0"/>
              <a:t>]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36140488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39089821"/>
              </p:ext>
            </p:extLst>
          </p:nvPr>
        </p:nvGraphicFramePr>
        <p:xfrm>
          <a:off x="4993318" y="2808569"/>
          <a:ext cx="4058310" cy="251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662"/>
                <a:gridCol w="811662"/>
                <a:gridCol w="811662"/>
                <a:gridCol w="811662"/>
                <a:gridCol w="811662"/>
              </a:tblGrid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5268687" y="2107474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D[</a:t>
            </a:r>
            <a:r>
              <a:rPr lang="en-US" altLang="zh-TW" sz="2400" dirty="0" err="1" smtClean="0"/>
              <a:t>I,j</a:t>
            </a:r>
            <a:r>
              <a:rPr lang="en-US" altLang="zh-TW" sz="2400" dirty="0" smtClean="0"/>
              <a:t>]</a:t>
            </a:r>
            <a:endParaRPr lang="zh-TW" altLang="en-US" sz="24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8307" y="690787"/>
            <a:ext cx="7295299" cy="659041"/>
          </a:xfrm>
          <a:prstGeom prst="rect">
            <a:avLst/>
          </a:prstGeom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39482279"/>
              </p:ext>
            </p:extLst>
          </p:nvPr>
        </p:nvGraphicFramePr>
        <p:xfrm>
          <a:off x="817558" y="2808569"/>
          <a:ext cx="4058310" cy="251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662"/>
                <a:gridCol w="811662"/>
                <a:gridCol w="811662"/>
                <a:gridCol w="811662"/>
                <a:gridCol w="811662"/>
              </a:tblGrid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78971" y="2107473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L[</a:t>
            </a:r>
            <a:r>
              <a:rPr lang="en-US" altLang="zh-TW" sz="2400" dirty="0" err="1" smtClean="0"/>
              <a:t>I,j</a:t>
            </a:r>
            <a:r>
              <a:rPr lang="en-US" altLang="zh-TW" sz="2400" dirty="0" smtClean="0"/>
              <a:t>]</a:t>
            </a:r>
            <a:endParaRPr lang="zh-TW" altLang="en-US" sz="2400" dirty="0"/>
          </a:p>
        </p:txBody>
      </p:sp>
      <p:cxnSp>
        <p:nvCxnSpPr>
          <p:cNvPr id="4" name="直線單箭頭接點 3"/>
          <p:cNvCxnSpPr/>
          <p:nvPr/>
        </p:nvCxnSpPr>
        <p:spPr>
          <a:xfrm flipH="1">
            <a:off x="5860869" y="4040777"/>
            <a:ext cx="1097280" cy="2168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5381410" y="6209211"/>
            <a:ext cx="1518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0+1+1-1=1</a:t>
            </a:r>
            <a:endParaRPr lang="zh-TW" altLang="en-US" sz="2400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8307" y="1341120"/>
            <a:ext cx="8125099" cy="33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068496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50690060"/>
              </p:ext>
            </p:extLst>
          </p:nvPr>
        </p:nvGraphicFramePr>
        <p:xfrm>
          <a:off x="4993318" y="2808569"/>
          <a:ext cx="4058310" cy="251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662"/>
                <a:gridCol w="811662"/>
                <a:gridCol w="811662"/>
                <a:gridCol w="811662"/>
                <a:gridCol w="811662"/>
              </a:tblGrid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5268687" y="2107474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D[</a:t>
            </a:r>
            <a:r>
              <a:rPr lang="en-US" altLang="zh-TW" sz="2400" dirty="0" err="1" smtClean="0"/>
              <a:t>I,j</a:t>
            </a:r>
            <a:r>
              <a:rPr lang="en-US" altLang="zh-TW" sz="2400" dirty="0" smtClean="0"/>
              <a:t>]</a:t>
            </a:r>
            <a:endParaRPr lang="zh-TW" altLang="en-US" sz="24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80779" y="879022"/>
            <a:ext cx="5585188" cy="409672"/>
          </a:xfrm>
          <a:prstGeom prst="rect">
            <a:avLst/>
          </a:prstGeom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63953418"/>
              </p:ext>
            </p:extLst>
          </p:nvPr>
        </p:nvGraphicFramePr>
        <p:xfrm>
          <a:off x="817558" y="2808569"/>
          <a:ext cx="4058310" cy="251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662"/>
                <a:gridCol w="811662"/>
                <a:gridCol w="811662"/>
                <a:gridCol w="811662"/>
                <a:gridCol w="811662"/>
              </a:tblGrid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78971" y="2107473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L[</a:t>
            </a:r>
            <a:r>
              <a:rPr lang="en-US" altLang="zh-TW" sz="2400" dirty="0" err="1" smtClean="0"/>
              <a:t>I,j</a:t>
            </a:r>
            <a:r>
              <a:rPr lang="en-US" altLang="zh-TW" sz="2400" dirty="0" smtClean="0"/>
              <a:t>]</a:t>
            </a:r>
            <a:endParaRPr lang="zh-TW" altLang="en-US" sz="2400" dirty="0"/>
          </a:p>
        </p:txBody>
      </p:sp>
      <p:cxnSp>
        <p:nvCxnSpPr>
          <p:cNvPr id="4" name="直線單箭頭接點 3"/>
          <p:cNvCxnSpPr/>
          <p:nvPr/>
        </p:nvCxnSpPr>
        <p:spPr>
          <a:xfrm flipH="1" flipV="1">
            <a:off x="6949439" y="3526972"/>
            <a:ext cx="566058" cy="409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2729478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2180586"/>
              </p:ext>
            </p:extLst>
          </p:nvPr>
        </p:nvGraphicFramePr>
        <p:xfrm>
          <a:off x="4993318" y="2808569"/>
          <a:ext cx="4058310" cy="251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662"/>
                <a:gridCol w="811662"/>
                <a:gridCol w="811662"/>
                <a:gridCol w="811662"/>
                <a:gridCol w="811662"/>
              </a:tblGrid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5268687" y="2107474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D[</a:t>
            </a:r>
            <a:r>
              <a:rPr lang="en-US" altLang="zh-TW" sz="2400" dirty="0" err="1" smtClean="0"/>
              <a:t>I,j</a:t>
            </a:r>
            <a:r>
              <a:rPr lang="en-US" altLang="zh-TW" sz="2400" dirty="0" smtClean="0"/>
              <a:t>]</a:t>
            </a:r>
            <a:endParaRPr lang="zh-TW" altLang="en-US" sz="24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18307" y="690787"/>
            <a:ext cx="7295299" cy="659041"/>
          </a:xfrm>
          <a:prstGeom prst="rect">
            <a:avLst/>
          </a:prstGeom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17558" y="2808569"/>
          <a:ext cx="4058310" cy="251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662"/>
                <a:gridCol w="811662"/>
                <a:gridCol w="811662"/>
                <a:gridCol w="811662"/>
                <a:gridCol w="811662"/>
              </a:tblGrid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78971" y="2107473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L[</a:t>
            </a:r>
            <a:r>
              <a:rPr lang="en-US" altLang="zh-TW" sz="2400" dirty="0" err="1" smtClean="0"/>
              <a:t>I,j</a:t>
            </a:r>
            <a:r>
              <a:rPr lang="en-US" altLang="zh-TW" sz="2400" dirty="0" smtClean="0"/>
              <a:t>]</a:t>
            </a:r>
            <a:endParaRPr lang="zh-TW" altLang="en-US" sz="2400" dirty="0"/>
          </a:p>
        </p:txBody>
      </p:sp>
      <p:cxnSp>
        <p:nvCxnSpPr>
          <p:cNvPr id="5" name="直線單箭頭接點 4"/>
          <p:cNvCxnSpPr/>
          <p:nvPr/>
        </p:nvCxnSpPr>
        <p:spPr>
          <a:xfrm flipH="1">
            <a:off x="6374675" y="4641669"/>
            <a:ext cx="1227908" cy="1280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6059288" y="5921829"/>
            <a:ext cx="958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0+1+1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77508480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8638" y="566057"/>
            <a:ext cx="8125099" cy="330242"/>
          </a:xfrm>
          <a:prstGeom prst="rect">
            <a:avLst/>
          </a:prstGeom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64960848"/>
              </p:ext>
            </p:extLst>
          </p:nvPr>
        </p:nvGraphicFramePr>
        <p:xfrm>
          <a:off x="1238250" y="1738540"/>
          <a:ext cx="1623324" cy="10074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662"/>
                <a:gridCol w="811662"/>
              </a:tblGrid>
              <a:tr h="503705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>
            <a:off x="1654629" y="2029097"/>
            <a:ext cx="487680" cy="32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向右箭號 12"/>
          <p:cNvSpPr/>
          <p:nvPr/>
        </p:nvSpPr>
        <p:spPr>
          <a:xfrm>
            <a:off x="3457303" y="2142309"/>
            <a:ext cx="957943" cy="3744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75919798"/>
              </p:ext>
            </p:extLst>
          </p:nvPr>
        </p:nvGraphicFramePr>
        <p:xfrm>
          <a:off x="5100502" y="1769020"/>
          <a:ext cx="1623324" cy="10074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662"/>
                <a:gridCol w="811662"/>
              </a:tblGrid>
              <a:tr h="503705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57209248"/>
              </p:ext>
            </p:extLst>
          </p:nvPr>
        </p:nvGraphicFramePr>
        <p:xfrm>
          <a:off x="660804" y="3670718"/>
          <a:ext cx="4058310" cy="251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662"/>
                <a:gridCol w="811662"/>
                <a:gridCol w="811662"/>
                <a:gridCol w="811662"/>
                <a:gridCol w="811662"/>
              </a:tblGrid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文字方塊 15"/>
          <p:cNvSpPr txBox="1"/>
          <p:nvPr/>
        </p:nvSpPr>
        <p:spPr>
          <a:xfrm>
            <a:off x="348343" y="3439886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L[</a:t>
            </a:r>
            <a:r>
              <a:rPr lang="en-US" altLang="zh-TW" sz="2400" dirty="0" err="1" smtClean="0"/>
              <a:t>I,j</a:t>
            </a:r>
            <a:r>
              <a:rPr lang="en-US" altLang="zh-TW" sz="2400" dirty="0" smtClean="0"/>
              <a:t>]</a:t>
            </a:r>
            <a:endParaRPr lang="zh-TW" altLang="en-US" sz="2400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25241093"/>
              </p:ext>
            </p:extLst>
          </p:nvPr>
        </p:nvGraphicFramePr>
        <p:xfrm>
          <a:off x="4836564" y="3670718"/>
          <a:ext cx="4058310" cy="2518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662"/>
                <a:gridCol w="811662"/>
                <a:gridCol w="811662"/>
                <a:gridCol w="811662"/>
                <a:gridCol w="811662"/>
              </a:tblGrid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0370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037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5364481" y="3439885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D[</a:t>
            </a:r>
            <a:r>
              <a:rPr lang="en-US" altLang="zh-TW" sz="2400" dirty="0" err="1" smtClean="0"/>
              <a:t>I,j</a:t>
            </a:r>
            <a:r>
              <a:rPr lang="en-US" altLang="zh-TW" sz="2400" dirty="0" smtClean="0"/>
              <a:t>]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43237239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Improve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/>
                  <a:t>space</a:t>
                </a:r>
                <a:r>
                  <a:rPr lang="zh-TW" altLang="en-US" dirty="0" smtClean="0"/>
                  <a:t/>
                </a:r>
                <a:r>
                  <a:rPr lang="en-US" altLang="zh-TW" dirty="0" smtClean="0"/>
                  <a:t>suffices for the computation, since we really only need a portion of two columns of the L and D arrays at any time.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985058"/>
            <a:ext cx="9144000" cy="387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6678457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A= aba   B=baa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91589" y="3622765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E[</a:t>
            </a:r>
            <a:r>
              <a:rPr lang="en-US" altLang="zh-TW" sz="2400" dirty="0" err="1"/>
              <a:t>i</a:t>
            </a:r>
            <a:r>
              <a:rPr lang="en-US" altLang="zh-TW" sz="2400" dirty="0" smtClean="0"/>
              <a:t>]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03875222"/>
              </p:ext>
            </p:extLst>
          </p:nvPr>
        </p:nvGraphicFramePr>
        <p:xfrm>
          <a:off x="2029096" y="3147423"/>
          <a:ext cx="888274" cy="32533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8274"/>
              </a:tblGrid>
              <a:tr h="81334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81334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81334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81334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82970255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49" y="2743200"/>
            <a:ext cx="7886700" cy="2690949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err="1" smtClean="0"/>
              <a:t>i</a:t>
            </a:r>
            <a:r>
              <a:rPr lang="en-US" altLang="zh-TW" dirty="0" smtClean="0"/>
              <a:t>=0 j=0    L[0]=0, </a:t>
            </a:r>
            <a:r>
              <a:rPr lang="en-US" altLang="zh-TW" dirty="0" err="1" smtClean="0"/>
              <a:t>oldL</a:t>
            </a:r>
            <a:r>
              <a:rPr lang="en-US" altLang="zh-TW" dirty="0" smtClean="0"/>
              <a:t> =0, E[0]=1, </a:t>
            </a:r>
            <a:r>
              <a:rPr lang="en-US" altLang="zh-TW" dirty="0" err="1" smtClean="0"/>
              <a:t>oldE</a:t>
            </a:r>
            <a:r>
              <a:rPr lang="en-US" altLang="zh-TW" dirty="0" smtClean="0"/>
              <a:t>=1</a:t>
            </a:r>
          </a:p>
          <a:p>
            <a:pPr marL="0" indent="0">
              <a:buNone/>
            </a:pPr>
            <a:r>
              <a:rPr lang="en-US" altLang="zh-TW" dirty="0" err="1" smtClean="0"/>
              <a:t>i</a:t>
            </a:r>
            <a:r>
              <a:rPr lang="en-US" altLang="zh-TW" dirty="0" smtClean="0"/>
              <a:t>=1 j=0    L[1]=0, </a:t>
            </a:r>
            <a:r>
              <a:rPr lang="en-US" altLang="zh-TW" dirty="0" err="1" smtClean="0"/>
              <a:t>oldL</a:t>
            </a:r>
            <a:r>
              <a:rPr lang="en-US" altLang="zh-TW" dirty="0"/>
              <a:t> </a:t>
            </a:r>
            <a:r>
              <a:rPr lang="en-US" altLang="zh-TW" dirty="0" smtClean="0"/>
              <a:t>=0, E[1]=1, </a:t>
            </a:r>
            <a:r>
              <a:rPr lang="en-US" altLang="zh-TW" dirty="0" err="1" smtClean="0"/>
              <a:t>oldE</a:t>
            </a:r>
            <a:r>
              <a:rPr lang="en-US" altLang="zh-TW" dirty="0" smtClean="0"/>
              <a:t>=1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err="1" smtClean="0"/>
              <a:t>i</a:t>
            </a:r>
            <a:r>
              <a:rPr lang="en-US" altLang="zh-TW" dirty="0" smtClean="0"/>
              <a:t>=m j=0   L[m]=0, </a:t>
            </a:r>
            <a:r>
              <a:rPr lang="en-US" altLang="zh-TW" dirty="0" err="1" smtClean="0"/>
              <a:t>oldL</a:t>
            </a:r>
            <a:r>
              <a:rPr lang="en-US" altLang="zh-TW" dirty="0" smtClean="0"/>
              <a:t>=0, E[m]=1, </a:t>
            </a:r>
            <a:r>
              <a:rPr lang="en-US" altLang="zh-TW" dirty="0" err="1" smtClean="0"/>
              <a:t>oldE</a:t>
            </a:r>
            <a:r>
              <a:rPr lang="en-US" altLang="zh-TW" dirty="0" smtClean="0"/>
              <a:t>=1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0550" y="679268"/>
            <a:ext cx="8522899" cy="330926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89656956"/>
              </p:ext>
            </p:extLst>
          </p:nvPr>
        </p:nvGraphicFramePr>
        <p:xfrm>
          <a:off x="6923314" y="4476206"/>
          <a:ext cx="635727" cy="21074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727"/>
              </a:tblGrid>
              <a:tr h="448489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5299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5299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5299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987651"/>
              </p:ext>
            </p:extLst>
          </p:nvPr>
        </p:nvGraphicFramePr>
        <p:xfrm>
          <a:off x="7963988" y="4489268"/>
          <a:ext cx="635727" cy="21074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727"/>
              </a:tblGrid>
              <a:tr h="448489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55299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55299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55299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8966357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0720"/>
            <a:ext cx="9144000" cy="2369353"/>
          </a:xfrm>
          <a:prstGeom prst="rect">
            <a:avLst/>
          </a:prstGeom>
        </p:spPr>
      </p:pic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628650" y="2987040"/>
            <a:ext cx="7886700" cy="22555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dirty="0" err="1" smtClean="0"/>
              <a:t>i</a:t>
            </a:r>
            <a:r>
              <a:rPr lang="en-US" altLang="zh-TW" dirty="0" smtClean="0"/>
              <a:t>=1 j=1    A=a B=b  </a:t>
            </a:r>
            <a:r>
              <a:rPr lang="en-US" altLang="zh-TW" dirty="0" err="1" smtClean="0"/>
              <a:t>oldL</a:t>
            </a:r>
            <a:r>
              <a:rPr lang="en-US" altLang="zh-TW" dirty="0" smtClean="0"/>
              <a:t>=0  </a:t>
            </a:r>
            <a:r>
              <a:rPr lang="en-US" altLang="zh-TW" dirty="0" err="1" smtClean="0"/>
              <a:t>oldE</a:t>
            </a:r>
            <a:r>
              <a:rPr lang="en-US" altLang="zh-TW" dirty="0" smtClean="0"/>
              <a:t>=1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err="1" smtClean="0"/>
              <a:t>newL</a:t>
            </a:r>
            <a:r>
              <a:rPr lang="en-US" altLang="zh-TW" dirty="0" smtClean="0"/>
              <a:t>=0 </a:t>
            </a:r>
            <a:r>
              <a:rPr lang="en-US" altLang="zh-TW" dirty="0" err="1" smtClean="0"/>
              <a:t>newE</a:t>
            </a:r>
            <a:r>
              <a:rPr lang="en-US" altLang="zh-TW" dirty="0" smtClean="0"/>
              <a:t>=0</a:t>
            </a:r>
          </a:p>
          <a:p>
            <a:pPr marL="0" indent="0">
              <a:buNone/>
            </a:pPr>
            <a:r>
              <a:rPr lang="en-US" altLang="zh-TW" dirty="0" smtClean="0"/>
              <a:t>	</a:t>
            </a:r>
            <a:r>
              <a:rPr lang="en-US" altLang="zh-TW" dirty="0" err="1" smtClean="0"/>
              <a:t>newE</a:t>
            </a:r>
            <a:r>
              <a:rPr lang="en-US" altLang="zh-TW" dirty="0" smtClean="0"/>
              <a:t>=0+1=1</a:t>
            </a:r>
          </a:p>
          <a:p>
            <a:pPr marL="0" indent="0">
              <a:buNone/>
            </a:pPr>
            <a:r>
              <a:rPr lang="en-US" altLang="zh-TW" dirty="0" smtClean="0"/>
              <a:t>	</a:t>
            </a:r>
            <a:r>
              <a:rPr lang="en-US" altLang="zh-TW" dirty="0" err="1" smtClean="0"/>
              <a:t>newE</a:t>
            </a:r>
            <a:r>
              <a:rPr lang="en-US" altLang="zh-TW" dirty="0" smtClean="0"/>
              <a:t>=1+1=2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err="1" smtClean="0"/>
              <a:t>newE</a:t>
            </a:r>
            <a:r>
              <a:rPr lang="en-US" altLang="zh-TW" dirty="0" smtClean="0"/>
              <a:t>=2-1=1</a:t>
            </a:r>
          </a:p>
          <a:p>
            <a:pPr marL="0" indent="0">
              <a:buNone/>
            </a:pPr>
            <a:endParaRPr lang="en-US" altLang="zh-TW" dirty="0" smtClean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57925672"/>
              </p:ext>
            </p:extLst>
          </p:nvPr>
        </p:nvGraphicFramePr>
        <p:xfrm>
          <a:off x="6574971" y="3122026"/>
          <a:ext cx="635727" cy="21074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727"/>
              </a:tblGrid>
              <a:tr h="448489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5299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5299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55299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89720332"/>
              </p:ext>
            </p:extLst>
          </p:nvPr>
        </p:nvGraphicFramePr>
        <p:xfrm>
          <a:off x="7615645" y="3135088"/>
          <a:ext cx="635727" cy="21074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727"/>
              </a:tblGrid>
              <a:tr h="448489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55299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55299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552994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38500623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34211182"/>
              </p:ext>
            </p:extLst>
          </p:nvPr>
        </p:nvGraphicFramePr>
        <p:xfrm>
          <a:off x="591133" y="2538602"/>
          <a:ext cx="4416295" cy="39876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259"/>
                <a:gridCol w="883259"/>
                <a:gridCol w="883259"/>
                <a:gridCol w="883259"/>
                <a:gridCol w="883259"/>
              </a:tblGrid>
              <a:tr h="69579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717611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L[0]</a:t>
                      </a:r>
                    </a:p>
                    <a:p>
                      <a:r>
                        <a:rPr lang="en-US" altLang="zh-TW" sz="2400" dirty="0" smtClean="0"/>
                        <a:t>E[0]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6957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L[1]</a:t>
                      </a:r>
                    </a:p>
                    <a:p>
                      <a:r>
                        <a:rPr lang="en-US" altLang="zh-TW" sz="2400" dirty="0" smtClean="0"/>
                        <a:t>E[1]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err="1" smtClean="0"/>
                        <a:t>newL</a:t>
                      </a:r>
                      <a:endParaRPr lang="en-US" altLang="zh-TW" sz="2400" dirty="0" smtClean="0"/>
                    </a:p>
                    <a:p>
                      <a:r>
                        <a:rPr lang="en-US" altLang="zh-TW" sz="2400" dirty="0" err="1" smtClean="0"/>
                        <a:t>newE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6957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L[2]</a:t>
                      </a:r>
                    </a:p>
                    <a:p>
                      <a:r>
                        <a:rPr lang="en-US" altLang="zh-TW" sz="2400" dirty="0" smtClean="0"/>
                        <a:t>E[2]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6957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L[3]</a:t>
                      </a:r>
                    </a:p>
                    <a:p>
                      <a:r>
                        <a:rPr lang="en-US" altLang="zh-TW" sz="2400" dirty="0" smtClean="0"/>
                        <a:t>E[3]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2369353"/>
          </a:xfrm>
          <a:prstGeom prst="rect">
            <a:avLst/>
          </a:prstGeom>
        </p:spPr>
      </p:pic>
      <p:cxnSp>
        <p:nvCxnSpPr>
          <p:cNvPr id="7" name="直線單箭頭接點 6"/>
          <p:cNvCxnSpPr/>
          <p:nvPr/>
        </p:nvCxnSpPr>
        <p:spPr>
          <a:xfrm flipV="1">
            <a:off x="3117669" y="3918857"/>
            <a:ext cx="2481942" cy="296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5747657" y="3697571"/>
            <a:ext cx="283007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newL</a:t>
            </a:r>
            <a:r>
              <a:rPr lang="en-US" altLang="zh-TW" sz="2400" dirty="0" smtClean="0"/>
              <a:t>= Max{L[0],L[1]}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3882313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81246600"/>
              </p:ext>
            </p:extLst>
          </p:nvPr>
        </p:nvGraphicFramePr>
        <p:xfrm>
          <a:off x="591133" y="2538602"/>
          <a:ext cx="4416295" cy="39876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3259"/>
                <a:gridCol w="883259"/>
                <a:gridCol w="883259"/>
                <a:gridCol w="883259"/>
                <a:gridCol w="883259"/>
              </a:tblGrid>
              <a:tr h="695795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717611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L[0]</a:t>
                      </a:r>
                    </a:p>
                    <a:p>
                      <a:r>
                        <a:rPr lang="en-US" altLang="zh-TW" sz="2400" dirty="0" smtClean="0"/>
                        <a:t>E[0]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6957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err="1" smtClean="0"/>
                        <a:t>oldL</a:t>
                      </a:r>
                      <a:endParaRPr lang="en-US" altLang="zh-TW" sz="2400" dirty="0" smtClean="0"/>
                    </a:p>
                    <a:p>
                      <a:r>
                        <a:rPr lang="en-US" altLang="zh-TW" sz="2400" dirty="0" err="1" smtClean="0"/>
                        <a:t>oldE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/>
                        <a:t>L[1]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/>
                        <a:t>E[1]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6957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L[2]</a:t>
                      </a:r>
                    </a:p>
                    <a:p>
                      <a:r>
                        <a:rPr lang="en-US" altLang="zh-TW" sz="2400" dirty="0" smtClean="0"/>
                        <a:t>E[2]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  <a:tr h="6957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L[3]</a:t>
                      </a:r>
                    </a:p>
                    <a:p>
                      <a:r>
                        <a:rPr lang="en-US" altLang="zh-TW" sz="2400" dirty="0" smtClean="0"/>
                        <a:t>E[3]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236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4363594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𝑡𝑖𝑚𝑒</m:t>
                    </m:r>
                  </m:oMath>
                </a14:m>
                <a:r>
                  <a:rPr lang="zh-TW" altLang="en-US" dirty="0" smtClean="0"/>
                  <a:t/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 smtClean="0"/>
                  <a:t/>
                </a:r>
                <a:r>
                  <a:rPr lang="en-US" altLang="zh-TW" dirty="0" smtClean="0"/>
                  <a:t>space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07098849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442</Words>
  <Application>Microsoft Office PowerPoint</Application>
  <PresentationFormat>如螢幕大小 (4:3)</PresentationFormat>
  <Paragraphs>318</Paragraphs>
  <Slides>18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19" baseType="lpstr">
      <vt:lpstr>Office 佈景主題</vt:lpstr>
      <vt:lpstr>投影片 1</vt:lpstr>
      <vt:lpstr>Abstract</vt:lpstr>
      <vt:lpstr>Introduction</vt:lpstr>
      <vt:lpstr>投影片 4</vt:lpstr>
      <vt:lpstr>Computing the number of LCSs</vt:lpstr>
      <vt:lpstr>Example</vt:lpstr>
      <vt:lpstr>投影片 7</vt:lpstr>
      <vt:lpstr>投影片 8</vt:lpstr>
      <vt:lpstr>投影片 9</vt:lpstr>
      <vt:lpstr>投影片 10</vt:lpstr>
      <vt:lpstr>投影片 11</vt:lpstr>
      <vt:lpstr>Improve</vt:lpstr>
      <vt:lpstr>Example</vt:lpstr>
      <vt:lpstr>投影片 14</vt:lpstr>
      <vt:lpstr>投影片 15</vt:lpstr>
      <vt:lpstr>投影片 16</vt:lpstr>
      <vt:lpstr>投影片 17</vt:lpstr>
      <vt:lpstr>Conclusion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HUGO</dc:creator>
  <cp:lastModifiedBy>admin</cp:lastModifiedBy>
  <cp:revision>15</cp:revision>
  <dcterms:created xsi:type="dcterms:W3CDTF">2015-02-25T04:33:32Z</dcterms:created>
  <dcterms:modified xsi:type="dcterms:W3CDTF">2015-02-25T10:50:29Z</dcterms:modified>
</cp:coreProperties>
</file>