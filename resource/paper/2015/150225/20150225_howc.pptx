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3" r:id="rId6"/>
    <p:sldId id="265" r:id="rId7"/>
    <p:sldId id="266" r:id="rId8"/>
    <p:sldId id="267" r:id="rId9"/>
    <p:sldId id="272" r:id="rId10"/>
    <p:sldId id="280" r:id="rId11"/>
    <p:sldId id="281" r:id="rId12"/>
    <p:sldId id="274" r:id="rId13"/>
    <p:sldId id="273" r:id="rId14"/>
    <p:sldId id="282" r:id="rId15"/>
    <p:sldId id="276" r:id="rId16"/>
    <p:sldId id="277" r:id="rId17"/>
    <p:sldId id="278" r:id="rId18"/>
    <p:sldId id="283"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6" d="100"/>
          <a:sy n="66" d="100"/>
        </p:scale>
        <p:origin x="-1506"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156B29E-C727-4D98-8FDF-B2D47D117D26}" type="datetimeFigureOut">
              <a:rPr lang="zh-TW" altLang="en-US" smtClean="0"/>
              <a:pPr/>
              <a:t>2015/2/25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52B825C-0259-4E52-B8A6-EBA42AAB0707}"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6B29E-C727-4D98-8FDF-B2D47D117D26}" type="datetimeFigureOut">
              <a:rPr lang="zh-TW" altLang="en-US" smtClean="0"/>
              <a:pPr/>
              <a:t>2015/2/25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2B825C-0259-4E52-B8A6-EBA42AAB070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b="1" dirty="0"/>
              <a:t>Effective caching techniques for accelerating pattern matching queries</a:t>
            </a:r>
            <a:br>
              <a:rPr lang="en-US" b="1" dirty="0"/>
            </a:br>
            <a:endParaRPr lang="zh-TW" altLang="en-US" dirty="0"/>
          </a:p>
        </p:txBody>
      </p:sp>
      <p:sp>
        <p:nvSpPr>
          <p:cNvPr id="3" name="副標題 2"/>
          <p:cNvSpPr>
            <a:spLocks noGrp="1"/>
          </p:cNvSpPr>
          <p:nvPr>
            <p:ph type="subTitle" idx="1"/>
          </p:nvPr>
        </p:nvSpPr>
        <p:spPr>
          <a:xfrm>
            <a:off x="642910" y="3714752"/>
            <a:ext cx="7786742" cy="1752600"/>
          </a:xfrm>
        </p:spPr>
        <p:txBody>
          <a:bodyPr>
            <a:noAutofit/>
          </a:bodyPr>
          <a:lstStyle/>
          <a:p>
            <a:r>
              <a:rPr lang="en-US" dirty="0" smtClean="0"/>
              <a:t>2014 IEEE International Conference on Big Data,P.</a:t>
            </a:r>
            <a:r>
              <a:rPr lang="en-US" altLang="zh-TW" dirty="0" smtClean="0"/>
              <a:t>491–P.499</a:t>
            </a:r>
          </a:p>
          <a:p>
            <a:r>
              <a:rPr lang="en-US" dirty="0" err="1" smtClean="0"/>
              <a:t>Fard,A</a:t>
            </a:r>
            <a:r>
              <a:rPr lang="en-US" dirty="0" smtClean="0"/>
              <a:t>;</a:t>
            </a:r>
            <a:r>
              <a:rPr lang="pt-BR" dirty="0" smtClean="0"/>
              <a:t> Manda,S; Ramaswamy, L ; Miller,J.A</a:t>
            </a:r>
            <a:endParaRPr lang="zh-TW" altLang="en-US" dirty="0"/>
          </a:p>
        </p:txBody>
      </p:sp>
      <p:sp>
        <p:nvSpPr>
          <p:cNvPr id="4" name="文字方塊 3"/>
          <p:cNvSpPr txBox="1"/>
          <p:nvPr/>
        </p:nvSpPr>
        <p:spPr>
          <a:xfrm>
            <a:off x="5452972" y="5643578"/>
            <a:ext cx="3070071" cy="1015663"/>
          </a:xfrm>
          <a:prstGeom prst="rect">
            <a:avLst/>
          </a:prstGeom>
          <a:noFill/>
        </p:spPr>
        <p:txBody>
          <a:bodyPr wrap="none" rtlCol="0">
            <a:spAutoFit/>
          </a:bodyPr>
          <a:lstStyle/>
          <a:p>
            <a:r>
              <a:rPr lang="zh-TW" altLang="en-US" sz="3000" dirty="0" smtClean="0">
                <a:latin typeface="標楷體" pitchFamily="65" charset="-120"/>
                <a:ea typeface="標楷體" pitchFamily="65" charset="-120"/>
              </a:rPr>
              <a:t>報告者：何文娟</a:t>
            </a:r>
            <a:endParaRPr lang="en-US" altLang="zh-TW" sz="3000" dirty="0" smtClean="0">
              <a:latin typeface="標楷體" pitchFamily="65" charset="-120"/>
              <a:ea typeface="標楷體" pitchFamily="65" charset="-120"/>
            </a:endParaRPr>
          </a:p>
          <a:p>
            <a:r>
              <a:rPr lang="zh-TW" altLang="en-US" sz="3000" dirty="0" smtClean="0">
                <a:latin typeface="標楷體" pitchFamily="65" charset="-120"/>
                <a:ea typeface="標楷體" pitchFamily="65" charset="-120"/>
              </a:rPr>
              <a:t>日期：</a:t>
            </a:r>
            <a:r>
              <a:rPr lang="en-US" altLang="zh-TW" sz="3000" dirty="0" smtClean="0">
                <a:latin typeface="標楷體" pitchFamily="65" charset="-120"/>
                <a:ea typeface="標楷體" pitchFamily="65" charset="-120"/>
              </a:rPr>
              <a:t>2015/2/25</a:t>
            </a:r>
            <a:endParaRPr lang="zh-TW" altLang="en-US" sz="3000"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p:txBody>
          <a:bodyPr>
            <a:normAutofit/>
          </a:bodyPr>
          <a:lstStyle/>
          <a:p>
            <a:pPr marL="0">
              <a:buNone/>
            </a:pPr>
            <a:r>
              <a:rPr lang="en-US" dirty="0" smtClean="0"/>
              <a:t>Using caching techniques to improve response time of queries is a proven approach in many contexts. However, it is not well explored for </a:t>
            </a:r>
            <a:r>
              <a:rPr lang="en-US" dirty="0" err="1" smtClean="0"/>
              <a:t>subgraph</a:t>
            </a:r>
            <a:r>
              <a:rPr lang="en-US" dirty="0" smtClean="0"/>
              <a:t> pattern matching queries, mainly because of subtleties enforced by traditional pattern matching models. Indeed, efficient caching can greatly impact the query answering performance for massive graphs in any query engine whether it is centralized or distributed</a:t>
            </a:r>
            <a:r>
              <a:rPr lang="en-US" altLang="zh-TW" dirty="0" smtClean="0"/>
              <a:t>.</a:t>
            </a:r>
            <a:endParaRPr lang="zh-TW"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a:xfrm>
            <a:off x="457200" y="1600200"/>
            <a:ext cx="8401080" cy="4900634"/>
          </a:xfrm>
        </p:spPr>
        <p:txBody>
          <a:bodyPr>
            <a:normAutofit lnSpcReduction="10000"/>
          </a:bodyPr>
          <a:lstStyle/>
          <a:p>
            <a:pPr marL="0">
              <a:buNone/>
            </a:pPr>
            <a:r>
              <a:rPr lang="en-US" dirty="0" smtClean="0"/>
              <a:t>This paper investigates the capabilities of the newly introduced pattern matching models in graph simulation family for this purpose. We propose a novel caching technique, and show how the results of a query can be used to answer the new similar queries according to the similarity measure that is introduced. Using large real-world graphs, we experimentally verify the efficiency of the proposed technique in answering </a:t>
            </a:r>
            <a:r>
              <a:rPr lang="en-US" dirty="0" err="1" smtClean="0"/>
              <a:t>subgraph</a:t>
            </a:r>
            <a:r>
              <a:rPr lang="en-US" dirty="0" smtClean="0"/>
              <a:t> pattern matching queries.</a:t>
            </a:r>
            <a:endParaRPr lang="zh-TW"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CN" dirty="0" err="1" smtClean="0"/>
              <a:t>Subgraph</a:t>
            </a:r>
            <a:r>
              <a:rPr lang="en-US" altLang="zh-CN" dirty="0" smtClean="0"/>
              <a:t> </a:t>
            </a:r>
            <a:r>
              <a:rPr lang="en-US" altLang="zh-TW" dirty="0" smtClean="0"/>
              <a:t>I</a:t>
            </a:r>
            <a:r>
              <a:rPr lang="en-US" dirty="0" smtClean="0"/>
              <a:t>somorphism</a:t>
            </a:r>
            <a:endParaRPr lang="zh-TW" altLang="en-US" dirty="0"/>
          </a:p>
        </p:txBody>
      </p:sp>
      <p:sp>
        <p:nvSpPr>
          <p:cNvPr id="3" name="內容版面配置區 2"/>
          <p:cNvSpPr>
            <a:spLocks noGrp="1"/>
          </p:cNvSpPr>
          <p:nvPr>
            <p:ph idx="1"/>
          </p:nvPr>
        </p:nvSpPr>
        <p:spPr>
          <a:xfrm>
            <a:off x="285720" y="1357298"/>
            <a:ext cx="8572560" cy="4525963"/>
          </a:xfrm>
        </p:spPr>
        <p:txBody>
          <a:bodyPr>
            <a:normAutofit/>
          </a:bodyPr>
          <a:lstStyle/>
          <a:p>
            <a:r>
              <a:rPr lang="en-US" altLang="zh-CN" sz="2800" dirty="0" smtClean="0">
                <a:ea typeface="Arial Unicode MS" pitchFamily="34" charset="-122"/>
                <a:cs typeface="Arial Unicode MS" pitchFamily="34" charset="-122"/>
              </a:rPr>
              <a:t>Q matches G</a:t>
            </a:r>
            <a:r>
              <a:rPr lang="en-US" altLang="zh-CN" sz="2800" baseline="-25000" dirty="0" smtClean="0">
                <a:ea typeface="Arial Unicode MS" pitchFamily="34" charset="-122"/>
                <a:cs typeface="Arial Unicode MS" pitchFamily="34" charset="-122"/>
              </a:rPr>
              <a:t>s</a:t>
            </a:r>
            <a:r>
              <a:rPr lang="en-US" altLang="zh-CN" sz="2800" dirty="0" smtClean="0">
                <a:ea typeface="Arial Unicode MS" pitchFamily="34" charset="-122"/>
                <a:cs typeface="Arial Unicode MS" pitchFamily="34" charset="-122"/>
              </a:rPr>
              <a:t> if there exists a </a:t>
            </a:r>
            <a:r>
              <a:rPr lang="en-US" altLang="zh-CN" sz="2800" dirty="0" err="1" smtClean="0">
                <a:ea typeface="Arial Unicode MS" pitchFamily="34" charset="-122"/>
                <a:cs typeface="Arial Unicode MS" pitchFamily="34" charset="-122"/>
              </a:rPr>
              <a:t>bijective</a:t>
            </a:r>
            <a:r>
              <a:rPr lang="en-US" altLang="zh-CN" sz="2800" dirty="0" smtClean="0">
                <a:ea typeface="Arial Unicode MS" pitchFamily="34" charset="-122"/>
                <a:cs typeface="Arial Unicode MS" pitchFamily="34" charset="-122"/>
              </a:rPr>
              <a:t> function f: V</a:t>
            </a:r>
            <a:r>
              <a:rPr lang="en-US" altLang="zh-CN" sz="2800" baseline="-25000" dirty="0" smtClean="0">
                <a:ea typeface="Arial Unicode MS" pitchFamily="34" charset="-122"/>
                <a:cs typeface="Arial Unicode MS" pitchFamily="34" charset="-122"/>
              </a:rPr>
              <a:t>Q</a:t>
            </a:r>
            <a:r>
              <a:rPr lang="en-US" altLang="zh-CN" sz="2800" dirty="0" smtClean="0">
                <a:ea typeface="Arial Unicode MS" pitchFamily="34" charset="-122"/>
                <a:cs typeface="Arial Unicode MS" pitchFamily="34" charset="-122"/>
              </a:rPr>
              <a:t>→ V</a:t>
            </a:r>
            <a:r>
              <a:rPr lang="en-US" altLang="zh-CN" sz="2800" baseline="-25000" dirty="0" smtClean="0">
                <a:ea typeface="Arial Unicode MS" pitchFamily="34" charset="-122"/>
                <a:cs typeface="Arial Unicode MS" pitchFamily="34" charset="-122"/>
              </a:rPr>
              <a:t>Gs</a:t>
            </a:r>
            <a:r>
              <a:rPr lang="en-US" altLang="zh-CN" sz="2800" dirty="0" smtClean="0">
                <a:ea typeface="Arial Unicode MS" pitchFamily="34" charset="-122"/>
                <a:cs typeface="Arial Unicode MS" pitchFamily="34" charset="-122"/>
              </a:rPr>
              <a:t> such that </a:t>
            </a:r>
          </a:p>
          <a:p>
            <a:pPr lvl="1"/>
            <a:r>
              <a:rPr lang="en-US" altLang="zh-CN" sz="2600" dirty="0" smtClean="0">
                <a:ea typeface="Arial Unicode MS" pitchFamily="34" charset="-122"/>
                <a:cs typeface="Arial Unicode MS" pitchFamily="34" charset="-122"/>
              </a:rPr>
              <a:t>for each node u in Q, u and f(u) have the same label</a:t>
            </a:r>
          </a:p>
          <a:p>
            <a:pPr lvl="1"/>
            <a:r>
              <a:rPr lang="en-US" altLang="zh-CN" sz="2600" dirty="0" smtClean="0">
                <a:ea typeface="Arial Unicode MS" pitchFamily="34" charset="-122"/>
                <a:cs typeface="Arial Unicode MS" pitchFamily="34" charset="-122"/>
              </a:rPr>
              <a:t>An edge (u, u‘) in Q if and only if (f(u), f(u')) is an edge in G</a:t>
            </a:r>
            <a:r>
              <a:rPr lang="en-US" altLang="zh-CN" sz="2600" baseline="-25000" dirty="0" smtClean="0">
                <a:ea typeface="Arial Unicode MS" pitchFamily="34" charset="-122"/>
                <a:cs typeface="Arial Unicode MS" pitchFamily="34" charset="-122"/>
              </a:rPr>
              <a:t>s</a:t>
            </a:r>
          </a:p>
          <a:p>
            <a:endParaRPr lang="zh-TW" altLang="en-US" dirty="0"/>
          </a:p>
        </p:txBody>
      </p:sp>
      <p:pic>
        <p:nvPicPr>
          <p:cNvPr id="6" name="Picture 2"/>
          <p:cNvPicPr>
            <a:picLocks noChangeAspect="1" noChangeArrowheads="1"/>
          </p:cNvPicPr>
          <p:nvPr/>
        </p:nvPicPr>
        <p:blipFill>
          <a:blip r:embed="rId2"/>
          <a:srcRect/>
          <a:stretch>
            <a:fillRect/>
          </a:stretch>
        </p:blipFill>
        <p:spPr bwMode="auto">
          <a:xfrm>
            <a:off x="1643042" y="3357562"/>
            <a:ext cx="6357982" cy="2714644"/>
          </a:xfrm>
          <a:prstGeom prst="rect">
            <a:avLst/>
          </a:prstGeom>
          <a:noFill/>
          <a:ln w="9525">
            <a:noFill/>
            <a:miter lim="800000"/>
            <a:headEnd/>
            <a:tailEnd/>
          </a:ln>
          <a:effectLst/>
        </p:spPr>
      </p:pic>
      <p:pic>
        <p:nvPicPr>
          <p:cNvPr id="7" name="圖片 6" descr="15.PNG"/>
          <p:cNvPicPr>
            <a:picLocks noChangeAspect="1"/>
          </p:cNvPicPr>
          <p:nvPr/>
        </p:nvPicPr>
        <p:blipFill>
          <a:blip r:embed="rId3"/>
          <a:stretch>
            <a:fillRect/>
          </a:stretch>
        </p:blipFill>
        <p:spPr>
          <a:xfrm>
            <a:off x="571472" y="6000768"/>
            <a:ext cx="8215370" cy="64294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dirty="0" smtClean="0"/>
              <a:t>Graph Simulation</a:t>
            </a:r>
            <a:endParaRPr lang="zh-TW" altLang="en-US" dirty="0"/>
          </a:p>
        </p:txBody>
      </p:sp>
      <p:sp>
        <p:nvSpPr>
          <p:cNvPr id="3" name="內容版面配置區 2"/>
          <p:cNvSpPr>
            <a:spLocks noGrp="1"/>
          </p:cNvSpPr>
          <p:nvPr>
            <p:ph idx="1"/>
          </p:nvPr>
        </p:nvSpPr>
        <p:spPr>
          <a:xfrm>
            <a:off x="457200" y="1428736"/>
            <a:ext cx="8229600" cy="4525963"/>
          </a:xfrm>
        </p:spPr>
        <p:txBody>
          <a:bodyPr>
            <a:normAutofit/>
          </a:bodyPr>
          <a:lstStyle/>
          <a:p>
            <a:r>
              <a:rPr lang="en-US" altLang="zh-CN" sz="2800" dirty="0" smtClean="0"/>
              <a:t>Given pattern graph Q(</a:t>
            </a:r>
            <a:r>
              <a:rPr lang="en-US" altLang="zh-CN" sz="2800" dirty="0" err="1" smtClean="0"/>
              <a:t>Vq</a:t>
            </a:r>
            <a:r>
              <a:rPr lang="en-US" altLang="zh-CN" sz="2800" dirty="0" smtClean="0"/>
              <a:t>, </a:t>
            </a:r>
            <a:r>
              <a:rPr lang="en-US" altLang="zh-CN" sz="2800" dirty="0" err="1" smtClean="0"/>
              <a:t>Eq</a:t>
            </a:r>
            <a:r>
              <a:rPr lang="en-US" altLang="zh-CN" sz="2800" dirty="0" smtClean="0"/>
              <a:t>) and data graph G(V, E), a binary relation R ⊆ </a:t>
            </a:r>
            <a:r>
              <a:rPr lang="en-US" altLang="zh-CN" sz="2800" dirty="0" err="1" smtClean="0"/>
              <a:t>Vq</a:t>
            </a:r>
            <a:r>
              <a:rPr lang="en-US" altLang="zh-CN" sz="2800" dirty="0" smtClean="0"/>
              <a:t> × V</a:t>
            </a:r>
          </a:p>
          <a:p>
            <a:pPr lvl="1"/>
            <a:r>
              <a:rPr lang="en-US" altLang="zh-CN" sz="2600" dirty="0" smtClean="0"/>
              <a:t>for each (u, v) ∈ R, u and v have the same label </a:t>
            </a:r>
          </a:p>
          <a:p>
            <a:pPr lvl="1"/>
            <a:r>
              <a:rPr lang="en-US" altLang="zh-CN" sz="2600" dirty="0" smtClean="0"/>
              <a:t>for each edge (u, u′) ∈ </a:t>
            </a:r>
            <a:r>
              <a:rPr lang="en-US" altLang="zh-CN" sz="2600" dirty="0" err="1" smtClean="0"/>
              <a:t>Eq</a:t>
            </a:r>
            <a:r>
              <a:rPr lang="en-US" altLang="zh-CN" sz="2600" dirty="0" smtClean="0"/>
              <a:t>, there exists an edge (v, v′) in E such that (u′, v′) ∈ R</a:t>
            </a:r>
            <a:endParaRPr lang="zh-TW" altLang="en-US" sz="2600" dirty="0"/>
          </a:p>
        </p:txBody>
      </p:sp>
      <p:pic>
        <p:nvPicPr>
          <p:cNvPr id="1026" name="Picture 2"/>
          <p:cNvPicPr>
            <a:picLocks noChangeAspect="1" noChangeArrowheads="1"/>
          </p:cNvPicPr>
          <p:nvPr/>
        </p:nvPicPr>
        <p:blipFill>
          <a:blip r:embed="rId2"/>
          <a:srcRect/>
          <a:stretch>
            <a:fillRect/>
          </a:stretch>
        </p:blipFill>
        <p:spPr bwMode="auto">
          <a:xfrm>
            <a:off x="1285852" y="3643314"/>
            <a:ext cx="6357982" cy="2428892"/>
          </a:xfrm>
          <a:prstGeom prst="rect">
            <a:avLst/>
          </a:prstGeom>
          <a:noFill/>
          <a:ln w="9525">
            <a:noFill/>
            <a:miter lim="800000"/>
            <a:headEnd/>
            <a:tailEnd/>
          </a:ln>
          <a:effectLst/>
        </p:spPr>
      </p:pic>
      <p:pic>
        <p:nvPicPr>
          <p:cNvPr id="5" name="圖片 4" descr="16.PNG"/>
          <p:cNvPicPr>
            <a:picLocks noChangeAspect="1"/>
          </p:cNvPicPr>
          <p:nvPr/>
        </p:nvPicPr>
        <p:blipFill>
          <a:blip r:embed="rId3"/>
          <a:stretch>
            <a:fillRect/>
          </a:stretch>
        </p:blipFill>
        <p:spPr>
          <a:xfrm>
            <a:off x="642910" y="6072206"/>
            <a:ext cx="7786742" cy="64294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smtClean="0"/>
              <a:t>Pattern Matching Models</a:t>
            </a:r>
            <a:r>
              <a:rPr lang="en-US" altLang="zh-TW" dirty="0" smtClean="0"/>
              <a:t>(1/2)</a:t>
            </a:r>
            <a:endParaRPr lang="zh-TW" altLang="en-US" dirty="0"/>
          </a:p>
        </p:txBody>
      </p:sp>
      <p:pic>
        <p:nvPicPr>
          <p:cNvPr id="6" name="內容版面配置區 5" descr="3.PNG"/>
          <p:cNvPicPr>
            <a:picLocks noGrp="1" noChangeAspect="1"/>
          </p:cNvPicPr>
          <p:nvPr>
            <p:ph idx="1"/>
          </p:nvPr>
        </p:nvPicPr>
        <p:blipFill>
          <a:blip r:embed="rId2"/>
          <a:stretch>
            <a:fillRect/>
          </a:stretch>
        </p:blipFill>
        <p:spPr>
          <a:xfrm>
            <a:off x="428596" y="1428736"/>
            <a:ext cx="7929618" cy="2643206"/>
          </a:xfrm>
        </p:spPr>
      </p:pic>
      <p:pic>
        <p:nvPicPr>
          <p:cNvPr id="7" name="Picture 2"/>
          <p:cNvPicPr>
            <a:picLocks noChangeAspect="1" noChangeArrowheads="1"/>
          </p:cNvPicPr>
          <p:nvPr/>
        </p:nvPicPr>
        <p:blipFill>
          <a:blip r:embed="rId3"/>
          <a:srcRect/>
          <a:stretch>
            <a:fillRect/>
          </a:stretch>
        </p:blipFill>
        <p:spPr bwMode="auto">
          <a:xfrm>
            <a:off x="1571604" y="4286256"/>
            <a:ext cx="6072230" cy="23574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smtClean="0"/>
              <a:t>Pattern Matching Models</a:t>
            </a:r>
            <a:r>
              <a:rPr lang="en-US" altLang="zh-TW" dirty="0" smtClean="0"/>
              <a:t>(2/2)</a:t>
            </a:r>
            <a:endParaRPr lang="zh-TW" altLang="en-US" dirty="0"/>
          </a:p>
        </p:txBody>
      </p:sp>
      <p:pic>
        <p:nvPicPr>
          <p:cNvPr id="5" name="內容版面配置區 4" descr="4.PNG"/>
          <p:cNvPicPr>
            <a:picLocks noGrp="1" noChangeAspect="1"/>
          </p:cNvPicPr>
          <p:nvPr>
            <p:ph idx="1"/>
          </p:nvPr>
        </p:nvPicPr>
        <p:blipFill>
          <a:blip r:embed="rId2"/>
          <a:stretch>
            <a:fillRect/>
          </a:stretch>
        </p:blipFill>
        <p:spPr>
          <a:xfrm>
            <a:off x="500034" y="1785926"/>
            <a:ext cx="8001056" cy="2643206"/>
          </a:xfrm>
        </p:spPr>
      </p:pic>
      <p:pic>
        <p:nvPicPr>
          <p:cNvPr id="4" name="Picture 2"/>
          <p:cNvPicPr>
            <a:picLocks noChangeAspect="1" noChangeArrowheads="1"/>
          </p:cNvPicPr>
          <p:nvPr/>
        </p:nvPicPr>
        <p:blipFill>
          <a:blip r:embed="rId3"/>
          <a:srcRect/>
          <a:stretch>
            <a:fillRect/>
          </a:stretch>
        </p:blipFill>
        <p:spPr bwMode="auto">
          <a:xfrm>
            <a:off x="1285852" y="4500570"/>
            <a:ext cx="6572296" cy="21431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Architecture</a:t>
            </a:r>
            <a:endParaRPr lang="zh-TW" altLang="en-US" dirty="0"/>
          </a:p>
        </p:txBody>
      </p:sp>
      <p:pic>
        <p:nvPicPr>
          <p:cNvPr id="4" name="內容版面配置區 3" descr="5.PNG"/>
          <p:cNvPicPr>
            <a:picLocks noGrp="1" noChangeAspect="1"/>
          </p:cNvPicPr>
          <p:nvPr>
            <p:ph idx="1"/>
          </p:nvPr>
        </p:nvPicPr>
        <p:blipFill>
          <a:blip r:embed="rId2"/>
          <a:stretch>
            <a:fillRect/>
          </a:stretch>
        </p:blipFill>
        <p:spPr>
          <a:xfrm>
            <a:off x="571472" y="1428736"/>
            <a:ext cx="8072494" cy="5072098"/>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1.PNG"/>
          <p:cNvPicPr>
            <a:picLocks noChangeAspect="1"/>
          </p:cNvPicPr>
          <p:nvPr/>
        </p:nvPicPr>
        <p:blipFill>
          <a:blip r:embed="rId2"/>
          <a:stretch>
            <a:fillRect/>
          </a:stretch>
        </p:blipFill>
        <p:spPr>
          <a:xfrm>
            <a:off x="4643438" y="2714620"/>
            <a:ext cx="4214810" cy="2857520"/>
          </a:xfrm>
          <a:prstGeom prst="rect">
            <a:avLst/>
          </a:prstGeom>
        </p:spPr>
      </p:pic>
      <p:sp>
        <p:nvSpPr>
          <p:cNvPr id="2" name="標題 1"/>
          <p:cNvSpPr>
            <a:spLocks noGrp="1"/>
          </p:cNvSpPr>
          <p:nvPr>
            <p:ph type="title"/>
          </p:nvPr>
        </p:nvSpPr>
        <p:spPr/>
        <p:txBody>
          <a:bodyPr/>
          <a:lstStyle/>
          <a:p>
            <a:r>
              <a:rPr lang="en-US" altLang="zh-TW" dirty="0" smtClean="0"/>
              <a:t>Dual Simulation</a:t>
            </a:r>
            <a:endParaRPr lang="zh-TW" altLang="en-US" dirty="0"/>
          </a:p>
        </p:txBody>
      </p:sp>
      <p:sp>
        <p:nvSpPr>
          <p:cNvPr id="3" name="內容版面配置區 2"/>
          <p:cNvSpPr>
            <a:spLocks noGrp="1"/>
          </p:cNvSpPr>
          <p:nvPr>
            <p:ph idx="1"/>
          </p:nvPr>
        </p:nvSpPr>
        <p:spPr/>
        <p:txBody>
          <a:bodyPr>
            <a:normAutofit/>
          </a:bodyPr>
          <a:lstStyle/>
          <a:p>
            <a:r>
              <a:rPr lang="en-US" altLang="zh-TW" dirty="0" smtClean="0"/>
              <a:t>The 4 conditions</a:t>
            </a:r>
          </a:p>
          <a:p>
            <a:pPr lvl="1"/>
            <a:r>
              <a:rPr lang="en-US" altLang="zh-TW" dirty="0" smtClean="0"/>
              <a:t>Having the same </a:t>
            </a:r>
            <a:r>
              <a:rPr lang="en-US" altLang="zh-TW" dirty="0" err="1" smtClean="0"/>
              <a:t>leb</a:t>
            </a:r>
            <a:r>
              <a:rPr lang="nl-NL" altLang="zh-TW" dirty="0" smtClean="0"/>
              <a:t>el</a:t>
            </a:r>
          </a:p>
          <a:p>
            <a:pPr lvl="1"/>
            <a:r>
              <a:rPr lang="nl-NL" altLang="zh-TW" dirty="0" smtClean="0"/>
              <a:t>All vertices of </a:t>
            </a:r>
            <a:r>
              <a:rPr lang="en-US" altLang="zh-TW" dirty="0" smtClean="0"/>
              <a:t>Q are covered</a:t>
            </a:r>
          </a:p>
          <a:p>
            <a:pPr lvl="1"/>
            <a:r>
              <a:rPr lang="en-US" altLang="zh-TW" dirty="0" smtClean="0"/>
              <a:t>Child relationship</a:t>
            </a:r>
          </a:p>
          <a:p>
            <a:pPr lvl="1"/>
            <a:r>
              <a:rPr lang="en-US" altLang="zh-TW" dirty="0" smtClean="0"/>
              <a:t>Parent </a:t>
            </a:r>
            <a:r>
              <a:rPr lang="en-US" altLang="zh-TW" dirty="0" smtClean="0"/>
              <a:t>relationship</a:t>
            </a:r>
          </a:p>
          <a:p>
            <a:pPr marL="0" lvl="1">
              <a:buNone/>
            </a:pPr>
            <a:r>
              <a:rPr lang="en-US" altLang="zh-TW" dirty="0" smtClean="0">
                <a:sym typeface="Wingdings" pitchFamily="2" charset="2"/>
              </a:rPr>
              <a:t>Maximum dual match set</a:t>
            </a:r>
          </a:p>
          <a:p>
            <a:pPr marL="0" lvl="1">
              <a:buNone/>
            </a:pPr>
            <a:r>
              <a:rPr lang="en-US" altLang="zh-TW" dirty="0" smtClean="0">
                <a:sym typeface="Wingdings" pitchFamily="2" charset="2"/>
              </a:rPr>
              <a:t> </a:t>
            </a:r>
            <a:r>
              <a:rPr lang="en-US" altLang="zh-TW" dirty="0" smtClean="0">
                <a:sym typeface="Wingdings" pitchFamily="2" charset="2"/>
              </a:rPr>
              <a:t>    R</a:t>
            </a:r>
            <a:r>
              <a:rPr lang="en-US" altLang="zh-TW" baseline="-25000" dirty="0" smtClean="0">
                <a:sym typeface="Wingdings" pitchFamily="2" charset="2"/>
              </a:rPr>
              <a:t>D</a:t>
            </a:r>
            <a:endParaRPr lang="en-US" altLang="zh-TW" baseline="-25000" dirty="0" smtClean="0"/>
          </a:p>
        </p:txBody>
      </p:sp>
      <p:grpSp>
        <p:nvGrpSpPr>
          <p:cNvPr id="6" name="群組 5"/>
          <p:cNvGrpSpPr/>
          <p:nvPr/>
        </p:nvGrpSpPr>
        <p:grpSpPr>
          <a:xfrm>
            <a:off x="214282" y="5429264"/>
            <a:ext cx="7287643" cy="1285884"/>
            <a:chOff x="214282" y="4214818"/>
            <a:chExt cx="7287643" cy="1285884"/>
          </a:xfrm>
        </p:grpSpPr>
        <p:pic>
          <p:nvPicPr>
            <p:cNvPr id="4" name="圖片 3" descr="7.PNG"/>
            <p:cNvPicPr>
              <a:picLocks noChangeAspect="1"/>
            </p:cNvPicPr>
            <p:nvPr/>
          </p:nvPicPr>
          <p:blipFill>
            <a:blip r:embed="rId3"/>
            <a:stretch>
              <a:fillRect/>
            </a:stretch>
          </p:blipFill>
          <p:spPr>
            <a:xfrm>
              <a:off x="214282" y="4214818"/>
              <a:ext cx="7287643" cy="695422"/>
            </a:xfrm>
            <a:prstGeom prst="rect">
              <a:avLst/>
            </a:prstGeom>
          </p:spPr>
        </p:pic>
        <p:pic>
          <p:nvPicPr>
            <p:cNvPr id="5" name="圖片 4" descr="8.PNG"/>
            <p:cNvPicPr>
              <a:picLocks noChangeAspect="1"/>
            </p:cNvPicPr>
            <p:nvPr/>
          </p:nvPicPr>
          <p:blipFill>
            <a:blip r:embed="rId4"/>
            <a:stretch>
              <a:fillRect/>
            </a:stretch>
          </p:blipFill>
          <p:spPr>
            <a:xfrm>
              <a:off x="214282" y="4833859"/>
              <a:ext cx="7268590" cy="666843"/>
            </a:xfrm>
            <a:prstGeom prst="rect">
              <a:avLst/>
            </a:prstGeom>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CAR-dual Simulation</a:t>
            </a:r>
            <a:endParaRPr lang="zh-TW" altLang="en-US" dirty="0"/>
          </a:p>
        </p:txBody>
      </p:sp>
      <p:sp>
        <p:nvSpPr>
          <p:cNvPr id="3" name="內容版面配置區 2"/>
          <p:cNvSpPr>
            <a:spLocks noGrp="1"/>
          </p:cNvSpPr>
          <p:nvPr>
            <p:ph idx="1"/>
          </p:nvPr>
        </p:nvSpPr>
        <p:spPr>
          <a:xfrm>
            <a:off x="457200" y="1285860"/>
            <a:ext cx="8229600" cy="4525963"/>
          </a:xfrm>
        </p:spPr>
        <p:txBody>
          <a:bodyPr>
            <a:normAutofit/>
          </a:bodyPr>
          <a:lstStyle/>
          <a:p>
            <a:r>
              <a:rPr lang="en-US" altLang="zh-TW" dirty="0" smtClean="0"/>
              <a:t>The number of matched children or parents with the same label in the data graph should not be less than their correspondents in the query</a:t>
            </a:r>
            <a:endParaRPr lang="zh-TW" altLang="en-US" dirty="0"/>
          </a:p>
        </p:txBody>
      </p:sp>
      <p:grpSp>
        <p:nvGrpSpPr>
          <p:cNvPr id="4" name="群組 3"/>
          <p:cNvGrpSpPr/>
          <p:nvPr/>
        </p:nvGrpSpPr>
        <p:grpSpPr>
          <a:xfrm>
            <a:off x="2500298" y="4071942"/>
            <a:ext cx="6500826" cy="2571768"/>
            <a:chOff x="214282" y="4214818"/>
            <a:chExt cx="7287643" cy="1285884"/>
          </a:xfrm>
        </p:grpSpPr>
        <p:pic>
          <p:nvPicPr>
            <p:cNvPr id="5" name="圖片 4" descr="7.PNG"/>
            <p:cNvPicPr>
              <a:picLocks noChangeAspect="1"/>
            </p:cNvPicPr>
            <p:nvPr/>
          </p:nvPicPr>
          <p:blipFill>
            <a:blip r:embed="rId2"/>
            <a:stretch>
              <a:fillRect/>
            </a:stretch>
          </p:blipFill>
          <p:spPr>
            <a:xfrm>
              <a:off x="214282" y="4214818"/>
              <a:ext cx="7287643" cy="695422"/>
            </a:xfrm>
            <a:prstGeom prst="rect">
              <a:avLst/>
            </a:prstGeom>
          </p:spPr>
        </p:pic>
        <p:pic>
          <p:nvPicPr>
            <p:cNvPr id="6" name="圖片 5" descr="8.PNG"/>
            <p:cNvPicPr>
              <a:picLocks noChangeAspect="1"/>
            </p:cNvPicPr>
            <p:nvPr/>
          </p:nvPicPr>
          <p:blipFill>
            <a:blip r:embed="rId3"/>
            <a:stretch>
              <a:fillRect/>
            </a:stretch>
          </p:blipFill>
          <p:spPr>
            <a:xfrm>
              <a:off x="214282" y="4833859"/>
              <a:ext cx="7268590" cy="666843"/>
            </a:xfrm>
            <a:prstGeom prst="rect">
              <a:avLst/>
            </a:prstGeom>
          </p:spPr>
        </p:pic>
      </p:grpSp>
      <p:pic>
        <p:nvPicPr>
          <p:cNvPr id="9" name="圖片 8" descr="1.PNG"/>
          <p:cNvPicPr>
            <a:picLocks noChangeAspect="1"/>
          </p:cNvPicPr>
          <p:nvPr/>
        </p:nvPicPr>
        <p:blipFill>
          <a:blip r:embed="rId4"/>
          <a:stretch>
            <a:fillRect/>
          </a:stretch>
        </p:blipFill>
        <p:spPr>
          <a:xfrm>
            <a:off x="139383" y="4071942"/>
            <a:ext cx="5289873" cy="2714644"/>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CAR-tight Simulation</a:t>
            </a:r>
            <a:endParaRPr lang="zh-TW" altLang="en-US" dirty="0"/>
          </a:p>
        </p:txBody>
      </p:sp>
      <p:sp>
        <p:nvSpPr>
          <p:cNvPr id="3" name="內容版面配置區 2"/>
          <p:cNvSpPr>
            <a:spLocks noGrp="1"/>
          </p:cNvSpPr>
          <p:nvPr>
            <p:ph idx="1"/>
          </p:nvPr>
        </p:nvSpPr>
        <p:spPr/>
        <p:txBody>
          <a:bodyPr>
            <a:noAutofit/>
          </a:bodyPr>
          <a:lstStyle/>
          <a:p>
            <a:r>
              <a:rPr lang="en-US" altLang="zh-TW" sz="2800" dirty="0" smtClean="0"/>
              <a:t>Based on CAR-dual Simulation</a:t>
            </a:r>
          </a:p>
          <a:p>
            <a:r>
              <a:rPr lang="en-US" altLang="zh-TW" sz="2800" dirty="0" smtClean="0"/>
              <a:t>Definition:</a:t>
            </a:r>
          </a:p>
          <a:p>
            <a:pPr lvl="1"/>
            <a:r>
              <a:rPr lang="en-US" altLang="zh-TW" i="1" dirty="0" smtClean="0"/>
              <a:t>u is a center of Q with highest </a:t>
            </a:r>
            <a:r>
              <a:rPr lang="en-US" altLang="zh-TW" dirty="0" smtClean="0"/>
              <a:t>defined selectivity</a:t>
            </a:r>
          </a:p>
          <a:p>
            <a:pPr lvl="1"/>
            <a:r>
              <a:rPr lang="en-US" altLang="zh-TW" dirty="0" smtClean="0"/>
              <a:t>(</a:t>
            </a:r>
            <a:r>
              <a:rPr lang="en-US" altLang="zh-TW" i="1" dirty="0" err="1" smtClean="0"/>
              <a:t>u,u</a:t>
            </a:r>
            <a:r>
              <a:rPr lang="en-US" altLang="zh-TW" i="1" dirty="0" smtClean="0"/>
              <a:t>’) </a:t>
            </a:r>
            <a:r>
              <a:rPr lang="el-GR" altLang="zh-TW" i="1" dirty="0" smtClean="0"/>
              <a:t>ϵ</a:t>
            </a:r>
            <a:r>
              <a:rPr lang="en-US" altLang="zh-TW" i="1" dirty="0" smtClean="0"/>
              <a:t>R</a:t>
            </a:r>
            <a:r>
              <a:rPr lang="en-US" altLang="zh-TW" i="1" baseline="-25000" dirty="0" smtClean="0"/>
              <a:t>D</a:t>
            </a:r>
            <a:endParaRPr lang="en-US" altLang="zh-TW" dirty="0" smtClean="0"/>
          </a:p>
          <a:p>
            <a:pPr lvl="1"/>
            <a:r>
              <a:rPr lang="en-US" altLang="zh-TW" sz="2400" dirty="0" smtClean="0"/>
              <a:t>                            </a:t>
            </a:r>
            <a:r>
              <a:rPr lang="en-US" altLang="zh-TW" dirty="0" smtClean="0"/>
              <a:t>with maximum dual match set </a:t>
            </a:r>
            <a:r>
              <a:rPr lang="en-US" altLang="zh-TW" i="1" dirty="0" err="1" smtClean="0"/>
              <a:t>R</a:t>
            </a:r>
            <a:r>
              <a:rPr lang="en-US" altLang="zh-TW" i="1" baseline="30000" dirty="0" err="1" smtClean="0"/>
              <a:t>b</a:t>
            </a:r>
            <a:endParaRPr lang="en-US" altLang="zh-TW" i="1" baseline="30000" dirty="0" smtClean="0"/>
          </a:p>
          <a:p>
            <a:pPr lvl="1"/>
            <a:r>
              <a:rPr lang="en-US" altLang="zh-TW" i="1" dirty="0" smtClean="0"/>
              <a:t>u’ is a member of at least one of the pairs in R</a:t>
            </a:r>
            <a:r>
              <a:rPr lang="en-US" altLang="zh-TW" i="1" baseline="-25000" dirty="0" smtClean="0"/>
              <a:t>D</a:t>
            </a:r>
            <a:endParaRPr lang="zh-TW" altLang="en-US" baseline="-25000" dirty="0"/>
          </a:p>
        </p:txBody>
      </p:sp>
      <p:pic>
        <p:nvPicPr>
          <p:cNvPr id="4" name="圖片 3" descr="20.PNG"/>
          <p:cNvPicPr>
            <a:picLocks noChangeAspect="1"/>
          </p:cNvPicPr>
          <p:nvPr/>
        </p:nvPicPr>
        <p:blipFill>
          <a:blip r:embed="rId2"/>
          <a:stretch>
            <a:fillRect/>
          </a:stretch>
        </p:blipFill>
        <p:spPr>
          <a:xfrm>
            <a:off x="1285851" y="3714752"/>
            <a:ext cx="1857389" cy="500066"/>
          </a:xfrm>
          <a:prstGeom prst="rect">
            <a:avLst/>
          </a:prstGeom>
        </p:spPr>
      </p:pic>
      <p:sp>
        <p:nvSpPr>
          <p:cNvPr id="6" name="文字方塊 5"/>
          <p:cNvSpPr txBox="1"/>
          <p:nvPr/>
        </p:nvSpPr>
        <p:spPr>
          <a:xfrm>
            <a:off x="7786710" y="3786190"/>
            <a:ext cx="279244" cy="369332"/>
          </a:xfrm>
          <a:prstGeom prst="rect">
            <a:avLst/>
          </a:prstGeom>
          <a:noFill/>
        </p:spPr>
        <p:txBody>
          <a:bodyPr wrap="none" rtlCol="0">
            <a:spAutoFit/>
          </a:bodyPr>
          <a:lstStyle/>
          <a:p>
            <a:r>
              <a:rPr lang="en-US" altLang="zh-TW" i="1" baseline="-25000" dirty="0" smtClean="0"/>
              <a:t>D</a:t>
            </a:r>
            <a:endParaRPr lang="zh-TW" altLang="en-US" dirty="0"/>
          </a:p>
        </p:txBody>
      </p:sp>
      <p:grpSp>
        <p:nvGrpSpPr>
          <p:cNvPr id="10" name="群組 9"/>
          <p:cNvGrpSpPr/>
          <p:nvPr/>
        </p:nvGrpSpPr>
        <p:grpSpPr>
          <a:xfrm>
            <a:off x="1500166" y="5000637"/>
            <a:ext cx="7286676" cy="1566938"/>
            <a:chOff x="1500166" y="5000637"/>
            <a:chExt cx="7286676" cy="1566938"/>
          </a:xfrm>
        </p:grpSpPr>
        <p:pic>
          <p:nvPicPr>
            <p:cNvPr id="11" name="圖片 10" descr="8.PNG"/>
            <p:cNvPicPr>
              <a:picLocks noChangeAspect="1"/>
            </p:cNvPicPr>
            <p:nvPr/>
          </p:nvPicPr>
          <p:blipFill>
            <a:blip r:embed="rId3"/>
            <a:stretch>
              <a:fillRect/>
            </a:stretch>
          </p:blipFill>
          <p:spPr>
            <a:xfrm>
              <a:off x="1518252" y="5000637"/>
              <a:ext cx="7268590" cy="785818"/>
            </a:xfrm>
            <a:prstGeom prst="rect">
              <a:avLst/>
            </a:prstGeom>
          </p:spPr>
        </p:pic>
        <p:pic>
          <p:nvPicPr>
            <p:cNvPr id="8" name="圖片 7" descr="21.PNG"/>
            <p:cNvPicPr>
              <a:picLocks noChangeAspect="1"/>
            </p:cNvPicPr>
            <p:nvPr/>
          </p:nvPicPr>
          <p:blipFill>
            <a:blip r:embed="rId4"/>
            <a:stretch>
              <a:fillRect/>
            </a:stretch>
          </p:blipFill>
          <p:spPr>
            <a:xfrm>
              <a:off x="1500166" y="5715016"/>
              <a:ext cx="7286676" cy="852559"/>
            </a:xfrm>
            <a:prstGeom prst="rect">
              <a:avLst/>
            </a:prstGeom>
          </p:spPr>
        </p:pic>
      </p:grpSp>
      <p:pic>
        <p:nvPicPr>
          <p:cNvPr id="7" name="圖片 6" descr="1.PNG"/>
          <p:cNvPicPr>
            <a:picLocks noChangeAspect="1"/>
          </p:cNvPicPr>
          <p:nvPr/>
        </p:nvPicPr>
        <p:blipFill>
          <a:blip r:embed="rId5"/>
          <a:stretch>
            <a:fillRect/>
          </a:stretch>
        </p:blipFill>
        <p:spPr>
          <a:xfrm>
            <a:off x="214282" y="4749144"/>
            <a:ext cx="4572000" cy="2108856"/>
          </a:xfrm>
          <a:prstGeom prst="rect">
            <a:avLst/>
          </a:prstGeom>
        </p:spPr>
      </p:pic>
      <p:sp>
        <p:nvSpPr>
          <p:cNvPr id="12" name="文字方塊 11"/>
          <p:cNvSpPr txBox="1"/>
          <p:nvPr/>
        </p:nvSpPr>
        <p:spPr>
          <a:xfrm>
            <a:off x="7786710" y="3977350"/>
            <a:ext cx="308098" cy="523220"/>
          </a:xfrm>
          <a:prstGeom prst="rect">
            <a:avLst/>
          </a:prstGeom>
          <a:noFill/>
        </p:spPr>
        <p:txBody>
          <a:bodyPr wrap="none" rtlCol="0">
            <a:spAutoFit/>
          </a:bodyPr>
          <a:lstStyle/>
          <a:p>
            <a:r>
              <a:rPr lang="en-US" altLang="zh-TW" sz="2800" i="1" baseline="-25000" dirty="0" smtClean="0"/>
              <a:t>b</a:t>
            </a:r>
            <a:endParaRPr lang="zh-TW"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caching mechanism(1/3)</a:t>
            </a:r>
            <a:endParaRPr lang="zh-TW" altLang="en-US" dirty="0"/>
          </a:p>
        </p:txBody>
      </p:sp>
      <p:sp>
        <p:nvSpPr>
          <p:cNvPr id="3" name="內容版面配置區 2"/>
          <p:cNvSpPr>
            <a:spLocks noGrp="1"/>
          </p:cNvSpPr>
          <p:nvPr>
            <p:ph idx="1"/>
          </p:nvPr>
        </p:nvSpPr>
        <p:spPr>
          <a:xfrm>
            <a:off x="457200" y="1600200"/>
            <a:ext cx="8229600" cy="4972072"/>
          </a:xfrm>
        </p:spPr>
        <p:txBody>
          <a:bodyPr>
            <a:normAutofit/>
          </a:bodyPr>
          <a:lstStyle/>
          <a:p>
            <a:r>
              <a:rPr lang="en-US" altLang="zh-TW" dirty="0" smtClean="0"/>
              <a:t>Storing the result of an old query</a:t>
            </a:r>
          </a:p>
          <a:p>
            <a:pPr lvl="1"/>
            <a:r>
              <a:rPr lang="en-US" altLang="zh-TW" dirty="0" smtClean="0"/>
              <a:t>Find the spanning </a:t>
            </a:r>
            <a:r>
              <a:rPr lang="en-US" altLang="zh-TW" dirty="0" err="1" smtClean="0"/>
              <a:t>polytree</a:t>
            </a:r>
            <a:r>
              <a:rPr lang="en-US" altLang="zh-TW" dirty="0" smtClean="0"/>
              <a:t> of the query graph</a:t>
            </a:r>
          </a:p>
          <a:p>
            <a:pPr lvl="1"/>
            <a:r>
              <a:rPr lang="en-US" altLang="zh-TW" dirty="0" smtClean="0"/>
              <a:t>Perform a CAR-dual simulation for the </a:t>
            </a:r>
            <a:r>
              <a:rPr lang="en-US" altLang="zh-TW" dirty="0" err="1" smtClean="0"/>
              <a:t>polytree</a:t>
            </a:r>
            <a:r>
              <a:rPr lang="en-US" altLang="zh-TW" dirty="0" smtClean="0"/>
              <a:t> on the data graph</a:t>
            </a:r>
          </a:p>
          <a:p>
            <a:pPr lvl="1"/>
            <a:r>
              <a:rPr lang="en-US" altLang="zh-TW" dirty="0" smtClean="0"/>
              <a:t>Find the set of vertices in the data graph</a:t>
            </a:r>
          </a:p>
          <a:p>
            <a:pPr lvl="1"/>
            <a:r>
              <a:rPr lang="en-US" altLang="zh-TW" dirty="0" smtClean="0"/>
              <a:t>Calculate the signature of the </a:t>
            </a:r>
            <a:r>
              <a:rPr lang="en-US" altLang="zh-TW" dirty="0" err="1" smtClean="0"/>
              <a:t>polytree</a:t>
            </a:r>
            <a:endParaRPr lang="en-US" altLang="zh-TW" dirty="0" smtClean="0"/>
          </a:p>
          <a:p>
            <a:pPr lvl="1">
              <a:buNone/>
            </a:pPr>
            <a:endParaRPr lang="en-US" altLang="zh-TW" dirty="0" smtClean="0"/>
          </a:p>
          <a:p>
            <a:pPr lvl="1"/>
            <a:endParaRPr lang="en-US" altLang="zh-TW" dirty="0" smtClean="0"/>
          </a:p>
        </p:txBody>
      </p:sp>
      <p:pic>
        <p:nvPicPr>
          <p:cNvPr id="4" name="內容版面配置區 3" descr="5.PNG"/>
          <p:cNvPicPr>
            <a:picLocks noChangeAspect="1"/>
          </p:cNvPicPr>
          <p:nvPr/>
        </p:nvPicPr>
        <p:blipFill>
          <a:blip r:embed="rId2"/>
          <a:stretch>
            <a:fillRect/>
          </a:stretch>
        </p:blipFill>
        <p:spPr>
          <a:xfrm>
            <a:off x="642910" y="4714884"/>
            <a:ext cx="8072494" cy="2571768"/>
          </a:xfrm>
          <a:prstGeom prst="rect">
            <a:avLst/>
          </a:prstGeom>
        </p:spPr>
      </p:pic>
      <p:pic>
        <p:nvPicPr>
          <p:cNvPr id="5" name="圖片 4" descr="22.PNG"/>
          <p:cNvPicPr>
            <a:picLocks noChangeAspect="1"/>
          </p:cNvPicPr>
          <p:nvPr/>
        </p:nvPicPr>
        <p:blipFill>
          <a:blip r:embed="rId3"/>
          <a:stretch>
            <a:fillRect/>
          </a:stretch>
        </p:blipFill>
        <p:spPr>
          <a:xfrm>
            <a:off x="5929322" y="4643446"/>
            <a:ext cx="2867425" cy="138131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The caching mechanism(2/3)</a:t>
            </a:r>
            <a:endParaRPr lang="zh-TW" altLang="en-US" dirty="0"/>
          </a:p>
        </p:txBody>
      </p:sp>
      <p:sp>
        <p:nvSpPr>
          <p:cNvPr id="3" name="內容版面配置區 2"/>
          <p:cNvSpPr>
            <a:spLocks noGrp="1"/>
          </p:cNvSpPr>
          <p:nvPr>
            <p:ph idx="1"/>
          </p:nvPr>
        </p:nvSpPr>
        <p:spPr/>
        <p:txBody>
          <a:bodyPr/>
          <a:lstStyle/>
          <a:p>
            <a:r>
              <a:rPr lang="en-US" altLang="zh-TW" dirty="0" smtClean="0"/>
              <a:t>Graph Q</a:t>
            </a:r>
            <a:r>
              <a:rPr lang="en-US" altLang="zh-TW" baseline="-25000" dirty="0" smtClean="0"/>
              <a:t>2</a:t>
            </a:r>
            <a:r>
              <a:rPr lang="en-US" altLang="zh-TW" dirty="0" smtClean="0"/>
              <a:t> cover-tight match to graph Q</a:t>
            </a:r>
            <a:r>
              <a:rPr lang="en-US" altLang="zh-TW" baseline="-25000" dirty="0" smtClean="0"/>
              <a:t>1</a:t>
            </a:r>
          </a:p>
          <a:p>
            <a:pPr lvl="1"/>
            <a:r>
              <a:rPr lang="en-US" altLang="zh-TW" dirty="0" smtClean="0"/>
              <a:t>There is a tight-simulation relation from Q</a:t>
            </a:r>
            <a:r>
              <a:rPr lang="en-US" altLang="zh-TW" baseline="-25000" dirty="0" smtClean="0"/>
              <a:t>1</a:t>
            </a:r>
            <a:r>
              <a:rPr lang="en-US" altLang="zh-TW" dirty="0" smtClean="0"/>
              <a:t> to Q</a:t>
            </a:r>
            <a:r>
              <a:rPr lang="en-US" altLang="zh-TW" baseline="-25000" dirty="0" smtClean="0"/>
              <a:t>2</a:t>
            </a:r>
            <a:r>
              <a:rPr lang="en-US" altLang="zh-TW" dirty="0" smtClean="0"/>
              <a:t> </a:t>
            </a:r>
          </a:p>
          <a:p>
            <a:pPr lvl="1"/>
            <a:r>
              <a:rPr lang="en-US" altLang="zh-TW" dirty="0" smtClean="0"/>
              <a:t>This relation covers all the vertices in Q</a:t>
            </a:r>
            <a:r>
              <a:rPr lang="en-US" altLang="zh-TW" baseline="-25000" dirty="0" smtClean="0"/>
              <a:t>2</a:t>
            </a:r>
            <a:endParaRPr lang="zh-TW" altLang="en-US" baseline="-25000" dirty="0"/>
          </a:p>
        </p:txBody>
      </p:sp>
      <p:pic>
        <p:nvPicPr>
          <p:cNvPr id="4" name="圖片 3" descr="10.PNG"/>
          <p:cNvPicPr>
            <a:picLocks noChangeAspect="1"/>
          </p:cNvPicPr>
          <p:nvPr/>
        </p:nvPicPr>
        <p:blipFill>
          <a:blip r:embed="rId2"/>
          <a:stretch>
            <a:fillRect/>
          </a:stretch>
        </p:blipFill>
        <p:spPr>
          <a:xfrm>
            <a:off x="1214414" y="3357562"/>
            <a:ext cx="6570686" cy="32400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caching mechanism(3/3)</a:t>
            </a:r>
            <a:endParaRPr lang="zh-TW" altLang="en-US" dirty="0"/>
          </a:p>
        </p:txBody>
      </p:sp>
      <p:sp>
        <p:nvSpPr>
          <p:cNvPr id="3" name="內容版面配置區 2"/>
          <p:cNvSpPr>
            <a:spLocks noGrp="1"/>
          </p:cNvSpPr>
          <p:nvPr>
            <p:ph idx="1"/>
          </p:nvPr>
        </p:nvSpPr>
        <p:spPr>
          <a:xfrm>
            <a:off x="357158" y="1600200"/>
            <a:ext cx="8572560" cy="4525963"/>
          </a:xfrm>
        </p:spPr>
        <p:txBody>
          <a:bodyPr/>
          <a:lstStyle/>
          <a:p>
            <a:r>
              <a:rPr lang="en-US" altLang="zh-TW" dirty="0" smtClean="0"/>
              <a:t>Search in the cache</a:t>
            </a:r>
            <a:endParaRPr lang="zh-TW" altLang="en-US" dirty="0" smtClean="0"/>
          </a:p>
          <a:p>
            <a:pPr lvl="1"/>
            <a:r>
              <a:rPr lang="en-US" altLang="zh-TW" sz="2600" dirty="0" smtClean="0"/>
              <a:t>Calculate the signature of the new query</a:t>
            </a:r>
          </a:p>
          <a:p>
            <a:pPr lvl="1"/>
            <a:r>
              <a:rPr lang="en-US" altLang="zh-TW" sz="2600" dirty="0" smtClean="0"/>
              <a:t>The signature is compared against all the signatures stored in the cache </a:t>
            </a:r>
          </a:p>
          <a:p>
            <a:pPr lvl="1"/>
            <a:r>
              <a:rPr lang="en-US" altLang="zh-TW" sz="2600" dirty="0" smtClean="0"/>
              <a:t>To check for cover-tight match</a:t>
            </a:r>
          </a:p>
          <a:p>
            <a:pPr lvl="1"/>
            <a:endParaRPr lang="en-US" altLang="zh-TW" dirty="0" smtClean="0"/>
          </a:p>
          <a:p>
            <a:endParaRPr lang="zh-TW" altLang="en-US" dirty="0"/>
          </a:p>
        </p:txBody>
      </p:sp>
      <p:pic>
        <p:nvPicPr>
          <p:cNvPr id="4" name="內容版面配置區 3" descr="5.PNG"/>
          <p:cNvPicPr>
            <a:picLocks noChangeAspect="1"/>
          </p:cNvPicPr>
          <p:nvPr/>
        </p:nvPicPr>
        <p:blipFill>
          <a:blip r:embed="rId2"/>
          <a:stretch>
            <a:fillRect/>
          </a:stretch>
        </p:blipFill>
        <p:spPr>
          <a:xfrm>
            <a:off x="500034" y="4357670"/>
            <a:ext cx="8072494" cy="300042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setup</a:t>
            </a:r>
            <a:endParaRPr lang="zh-TW" altLang="en-US" dirty="0"/>
          </a:p>
        </p:txBody>
      </p:sp>
      <p:sp>
        <p:nvSpPr>
          <p:cNvPr id="3" name="內容版面配置區 2"/>
          <p:cNvSpPr>
            <a:spLocks noGrp="1"/>
          </p:cNvSpPr>
          <p:nvPr>
            <p:ph idx="1"/>
          </p:nvPr>
        </p:nvSpPr>
        <p:spPr/>
        <p:txBody>
          <a:bodyPr/>
          <a:lstStyle/>
          <a:p>
            <a:r>
              <a:rPr lang="en-US" altLang="zh-TW" dirty="0" smtClean="0"/>
              <a:t>Three real-world labeled graphs</a:t>
            </a:r>
          </a:p>
          <a:p>
            <a:pPr lvl="1"/>
            <a:r>
              <a:rPr lang="en-US" altLang="zh-TW" dirty="0" smtClean="0"/>
              <a:t>Patent graph</a:t>
            </a:r>
          </a:p>
          <a:p>
            <a:pPr lvl="1"/>
            <a:r>
              <a:rPr lang="en-US" altLang="zh-TW" dirty="0" smtClean="0"/>
              <a:t>Citation graph</a:t>
            </a:r>
          </a:p>
          <a:p>
            <a:pPr lvl="1"/>
            <a:r>
              <a:rPr lang="en-US" altLang="zh-TW" dirty="0" smtClean="0"/>
              <a:t>Amazon product co-purchase network</a:t>
            </a:r>
          </a:p>
          <a:p>
            <a:pPr lvl="1"/>
            <a:endParaRPr lang="zh-TW"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results(1/2)</a:t>
            </a:r>
            <a:endParaRPr lang="zh-TW" altLang="en-US" dirty="0"/>
          </a:p>
        </p:txBody>
      </p:sp>
      <p:pic>
        <p:nvPicPr>
          <p:cNvPr id="4" name="內容版面配置區 3" descr="11.PNG"/>
          <p:cNvPicPr>
            <a:picLocks noGrp="1" noChangeAspect="1"/>
          </p:cNvPicPr>
          <p:nvPr>
            <p:ph idx="1"/>
          </p:nvPr>
        </p:nvPicPr>
        <p:blipFill>
          <a:blip r:embed="rId2"/>
          <a:stretch>
            <a:fillRect/>
          </a:stretch>
        </p:blipFill>
        <p:spPr>
          <a:xfrm>
            <a:off x="214282" y="1714488"/>
            <a:ext cx="8715436" cy="392909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results(2/2)</a:t>
            </a:r>
            <a:endParaRPr lang="zh-TW" altLang="en-US" dirty="0"/>
          </a:p>
        </p:txBody>
      </p:sp>
      <p:pic>
        <p:nvPicPr>
          <p:cNvPr id="4" name="內容版面配置區 3" descr="12.PNG"/>
          <p:cNvPicPr>
            <a:picLocks noGrp="1" noChangeAspect="1"/>
          </p:cNvPicPr>
          <p:nvPr>
            <p:ph idx="1"/>
          </p:nvPr>
        </p:nvPicPr>
        <p:blipFill>
          <a:blip r:embed="rId2"/>
          <a:stretch>
            <a:fillRect/>
          </a:stretch>
        </p:blipFill>
        <p:spPr>
          <a:xfrm>
            <a:off x="214282" y="1428736"/>
            <a:ext cx="8472518" cy="5143535"/>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矩形 3"/>
          <p:cNvSpPr/>
          <p:nvPr/>
        </p:nvSpPr>
        <p:spPr>
          <a:xfrm>
            <a:off x="1214414" y="3143248"/>
            <a:ext cx="6929486"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TW"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THANK YOU</a:t>
            </a:r>
            <a:endParaRPr lang="zh-TW" alt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534</Words>
  <Application>Microsoft Office PowerPoint</Application>
  <PresentationFormat>如螢幕大小 (4:3)</PresentationFormat>
  <Paragraphs>62</Paragraphs>
  <Slides>18</Slides>
  <Notes>0</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Effective caching techniques for accelerating pattern matching queries </vt:lpstr>
      <vt:lpstr>Abstract(1/2)</vt:lpstr>
      <vt:lpstr>Abstract(2/2)</vt:lpstr>
      <vt:lpstr>Subgraph Isomorphism</vt:lpstr>
      <vt:lpstr>Graph Simulation</vt:lpstr>
      <vt:lpstr>Pattern Matching Models(1/2)</vt:lpstr>
      <vt:lpstr>Pattern Matching Models(2/2)</vt:lpstr>
      <vt:lpstr>Architecture</vt:lpstr>
      <vt:lpstr>Dual Simulation</vt:lpstr>
      <vt:lpstr>CAR-dual Simulation</vt:lpstr>
      <vt:lpstr>CAR-tight Simulation</vt:lpstr>
      <vt:lpstr>The caching mechanism(1/3)</vt:lpstr>
      <vt:lpstr>The caching mechanism(2/3)</vt:lpstr>
      <vt:lpstr>The caching mechanism(3/3)</vt:lpstr>
      <vt:lpstr>Experimental setup</vt:lpstr>
      <vt:lpstr>Experimental results(1/2)</vt:lpstr>
      <vt:lpstr>Experimental results(2/2)</vt:lpstr>
      <vt:lpstr>投影片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caching techniques for accelerating pattern matching queries</dc:title>
  <dc:creator>Athena_Ho</dc:creator>
  <cp:lastModifiedBy>Athena_Ho</cp:lastModifiedBy>
  <cp:revision>32</cp:revision>
  <dcterms:created xsi:type="dcterms:W3CDTF">2015-02-24T18:03:23Z</dcterms:created>
  <dcterms:modified xsi:type="dcterms:W3CDTF">2015-02-25T10:13:10Z</dcterms:modified>
</cp:coreProperties>
</file>