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27"/>
  </p:notesMasterIdLst>
  <p:sldIdLst>
    <p:sldId id="257" r:id="rId2"/>
    <p:sldId id="296" r:id="rId3"/>
    <p:sldId id="271" r:id="rId4"/>
    <p:sldId id="297" r:id="rId5"/>
    <p:sldId id="298" r:id="rId6"/>
    <p:sldId id="299" r:id="rId7"/>
    <p:sldId id="314" r:id="rId8"/>
    <p:sldId id="302" r:id="rId9"/>
    <p:sldId id="304" r:id="rId10"/>
    <p:sldId id="303" r:id="rId11"/>
    <p:sldId id="321" r:id="rId12"/>
    <p:sldId id="322" r:id="rId13"/>
    <p:sldId id="323" r:id="rId14"/>
    <p:sldId id="316" r:id="rId15"/>
    <p:sldId id="317" r:id="rId16"/>
    <p:sldId id="324" r:id="rId17"/>
    <p:sldId id="318" r:id="rId18"/>
    <p:sldId id="315" r:id="rId19"/>
    <p:sldId id="320" r:id="rId20"/>
    <p:sldId id="307" r:id="rId21"/>
    <p:sldId id="308" r:id="rId22"/>
    <p:sldId id="309" r:id="rId23"/>
    <p:sldId id="310" r:id="rId24"/>
    <p:sldId id="311" r:id="rId25"/>
    <p:sldId id="300" r:id="rId2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798" autoAdjust="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06E1A-967B-4702-9100-CA60161C68AD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5817E-37FB-43A5-9E94-CE25939AB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443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聖地牙哥加利福尼亞大學，是美國一所著名公立學府，為美國全國性第一級 的大學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4007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5000" dirty="0" err="1" smtClean="0"/>
              <a:t>i,e</a:t>
            </a:r>
            <a:r>
              <a:rPr lang="en-US" altLang="zh-TW" sz="5000" dirty="0" smtClean="0"/>
              <a:t> –in other words</a:t>
            </a:r>
            <a:endParaRPr lang="zh-TW" altLang="en-US" sz="5000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3765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919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0EBB-2157-4ECF-9E55-0F204FEB3AF6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256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5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409F-200A-4567-8A6A-69B81E278CF2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22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BD9F-4146-4CF0-B43F-B959091F727C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654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B3FD-4E5B-4337-A169-11EE3DAF81C2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28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BD923-9E03-430A-83D9-031A06F4BCDC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15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FF37-7EE5-4C84-A7E5-89F2F466D2B7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42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A73FA-8B46-4221-822F-7DC220028125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56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1403C-021C-43BA-9A0E-0C636802EB5A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71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A09D-0B44-4B22-9B8F-C6BCEE4FEBC7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037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BA9EF-1DEA-4A2D-B95C-02BFB910A63D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11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87B4E-0407-4317-B90C-F9589BC85B00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167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" y="2130425"/>
            <a:ext cx="9129558" cy="1470025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 smtClean="0"/>
              <a:t>Genome </a:t>
            </a:r>
            <a:r>
              <a:rPr lang="en-US" altLang="zh-TW" dirty="0"/>
              <a:t>Rearrangements</a:t>
            </a:r>
            <a:br>
              <a:rPr lang="en-US" altLang="zh-TW" dirty="0"/>
            </a:br>
            <a:r>
              <a:rPr lang="en-US" altLang="zh-TW" dirty="0" smtClean="0"/>
              <a:t> and Sorting by Reversals</a:t>
            </a:r>
            <a:br>
              <a:rPr lang="en-US" altLang="zh-TW" dirty="0" smtClean="0"/>
            </a:b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39552" y="3429000"/>
            <a:ext cx="8424936" cy="1512168"/>
          </a:xfrm>
        </p:spPr>
        <p:txBody>
          <a:bodyPr>
            <a:normAutofit/>
          </a:bodyPr>
          <a:lstStyle/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/>
              <a:t>VINEET </a:t>
            </a:r>
            <a:r>
              <a:rPr lang="en-US" altLang="zh-TW" sz="2800" dirty="0" smtClean="0"/>
              <a:t>BAFNA </a:t>
            </a:r>
            <a:r>
              <a:rPr lang="en-US" altLang="zh-TW" sz="2800" dirty="0"/>
              <a:t>AND PAVEL A. </a:t>
            </a:r>
            <a:r>
              <a:rPr lang="en-US" altLang="zh-TW" sz="2800" dirty="0" smtClean="0"/>
              <a:t>PEVZNER</a:t>
            </a:r>
            <a:endParaRPr lang="zh-TW" altLang="en-US" sz="250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44208" y="6309320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Presenter: </a:t>
            </a:r>
            <a:r>
              <a:rPr lang="en-US" altLang="zh-TW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Shian</a:t>
            </a:r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-Liang Lin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4941168"/>
            <a:ext cx="79928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/>
              <a:t>SIAM J. </a:t>
            </a:r>
            <a:r>
              <a:rPr lang="en-US" altLang="zh-TW" sz="2000" dirty="0" smtClean="0"/>
              <a:t>COMPUT, Vol</a:t>
            </a:r>
            <a:r>
              <a:rPr lang="en-US" altLang="zh-TW" sz="2000" dirty="0"/>
              <a:t>. 25, No. 2, pp. </a:t>
            </a:r>
            <a:r>
              <a:rPr lang="en-US" altLang="zh-TW" sz="2000" dirty="0" smtClean="0"/>
              <a:t>272-289(1996)</a:t>
            </a:r>
            <a:endParaRPr lang="en-US" altLang="zh-TW" sz="2000" dirty="0"/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05C5-2A8E-44A6-8CFC-004FFAC5B1E9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AAE1-64D2-4F4C-B3D0-6D50C2516661}" type="slidenum">
              <a:rPr lang="zh-TW" altLang="en-US" smtClean="0">
                <a:latin typeface="Times New Roman" pitchFamily="18" charset="0"/>
                <a:cs typeface="Times New Roman" pitchFamily="18" charset="0"/>
              </a:rPr>
              <a:t>0</a:t>
            </a:fld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21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73325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TW" dirty="0" smtClean="0"/>
              <a:t>	</a:t>
            </a:r>
            <a:r>
              <a:rPr lang="en-US" altLang="zh-TW" sz="3800" dirty="0" smtClean="0"/>
              <a:t>Sequence </a:t>
            </a:r>
            <a:r>
              <a:rPr lang="en-US" altLang="zh-TW" sz="3800" dirty="0"/>
              <a:t>comparison in molecular biology is in the beginning of a major paradigm shift--a shift from gene comparison based on local mutations to chromosome comparison based on global rearrangements. </a:t>
            </a:r>
          </a:p>
          <a:p>
            <a:pPr marL="0" indent="0">
              <a:buNone/>
            </a:pPr>
            <a:r>
              <a:rPr lang="en-US" altLang="zh-TW" sz="3800" dirty="0"/>
              <a:t>	</a:t>
            </a:r>
            <a:r>
              <a:rPr lang="en-US" altLang="zh-TW" sz="3800" dirty="0" smtClean="0"/>
              <a:t>The </a:t>
            </a:r>
            <a:r>
              <a:rPr lang="en-US" altLang="zh-TW" sz="3800" dirty="0"/>
              <a:t>classical methods of sequence comparison do not work for global rearrangements, and little is known in computer science about the edit distance between sequences if global rearrangements are allowed. </a:t>
            </a:r>
          </a:p>
          <a:p>
            <a:pPr marL="0" indent="0">
              <a:buNone/>
            </a:pPr>
            <a:r>
              <a:rPr lang="en-US" altLang="zh-TW" sz="3800" dirty="0"/>
              <a:t>	In the simplest form, the problem of gene rearrangements</a:t>
            </a:r>
          </a:p>
          <a:p>
            <a:pPr marL="0" indent="0">
              <a:buNone/>
            </a:pPr>
            <a:r>
              <a:rPr lang="en-US" altLang="zh-TW" sz="3800" dirty="0"/>
              <a:t>corresponds to sorting by reversals, i.e., sorting of an array using reversals of arbitrary fragments</a:t>
            </a:r>
            <a:r>
              <a:rPr lang="en-US" altLang="zh-TW" sz="3800" dirty="0" smtClean="0"/>
              <a:t>.	</a:t>
            </a:r>
          </a:p>
          <a:p>
            <a:pPr marL="0" indent="0">
              <a:buNone/>
            </a:pPr>
            <a:r>
              <a:rPr lang="en-US" altLang="zh-TW" sz="3800" dirty="0" smtClean="0"/>
              <a:t>	The </a:t>
            </a:r>
            <a:r>
              <a:rPr lang="en-US" altLang="zh-TW" sz="3800" dirty="0"/>
              <a:t>gene </a:t>
            </a:r>
            <a:r>
              <a:rPr lang="en-US" altLang="zh-TW" sz="3800" dirty="0" smtClean="0"/>
              <a:t>rearrangement problem </a:t>
            </a:r>
            <a:r>
              <a:rPr lang="en-US" altLang="zh-TW" sz="3800" dirty="0"/>
              <a:t>forces us to consider reversals of signed permutations, as the genes in DNA </a:t>
            </a:r>
            <a:r>
              <a:rPr lang="en-US" altLang="zh-TW" sz="3800" dirty="0" smtClean="0"/>
              <a:t>could be </a:t>
            </a:r>
            <a:r>
              <a:rPr lang="en-US" altLang="zh-TW" sz="3800" dirty="0"/>
              <a:t>positively or negatively oriented. </a:t>
            </a:r>
            <a:r>
              <a:rPr lang="en-US" altLang="zh-TW" sz="3800" dirty="0" smtClean="0"/>
              <a:t>An </a:t>
            </a:r>
            <a:r>
              <a:rPr lang="en-US" altLang="zh-TW" sz="3800" dirty="0"/>
              <a:t>approximation algorithm for signed permutation is </a:t>
            </a:r>
            <a:r>
              <a:rPr lang="en-US" altLang="zh-TW" sz="3800" dirty="0" smtClean="0"/>
              <a:t>presented, which </a:t>
            </a:r>
            <a:r>
              <a:rPr lang="en-US" altLang="zh-TW" sz="3800" dirty="0"/>
              <a:t>provides a performance guarantee of </a:t>
            </a:r>
            <a:r>
              <a:rPr lang="en-US" altLang="zh-TW" sz="3800" dirty="0" smtClean="0"/>
              <a:t>3/2.</a:t>
            </a:r>
          </a:p>
          <a:p>
            <a:pPr marL="0" indent="0">
              <a:buNone/>
            </a:pPr>
            <a:r>
              <a:rPr lang="en-US" altLang="zh-TW" sz="3800" dirty="0" smtClean="0"/>
              <a:t>	Finally</a:t>
            </a:r>
            <a:r>
              <a:rPr lang="en-US" altLang="zh-TW" sz="3800" dirty="0"/>
              <a:t>, using the signed permutations approach, </a:t>
            </a:r>
            <a:r>
              <a:rPr lang="en-US" altLang="zh-TW" sz="3800" dirty="0" smtClean="0"/>
              <a:t>an approximation </a:t>
            </a:r>
            <a:r>
              <a:rPr lang="en-US" altLang="zh-TW" sz="3800" dirty="0"/>
              <a:t>algorithm for sorting by reversals is described which achieves a performance </a:t>
            </a:r>
            <a:r>
              <a:rPr lang="en-US" altLang="zh-TW" sz="3800" dirty="0" smtClean="0"/>
              <a:t>guarantee of 7/4.</a:t>
            </a:r>
            <a:endParaRPr lang="en-US" altLang="zh-TW" sz="38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560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Reversals </a:t>
            </a:r>
            <a:r>
              <a:rPr lang="en-US" altLang="zh-TW" dirty="0" smtClean="0"/>
              <a:t>over permutations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2607835"/>
              </p:ext>
            </p:extLst>
          </p:nvPr>
        </p:nvGraphicFramePr>
        <p:xfrm>
          <a:off x="2195736" y="1628800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Input: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2</a:t>
            </a:fld>
            <a:endParaRPr lang="zh-TW" altLang="en-US"/>
          </a:p>
        </p:txBody>
      </p:sp>
      <p:graphicFrame>
        <p:nvGraphicFramePr>
          <p:cNvPr id="8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5058117"/>
              </p:ext>
            </p:extLst>
          </p:nvPr>
        </p:nvGraphicFramePr>
        <p:xfrm>
          <a:off x="2195736" y="2924944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2000" dirty="0" smtClean="0"/>
                        <a:t>[1,3]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963140"/>
              </p:ext>
            </p:extLst>
          </p:nvPr>
        </p:nvGraphicFramePr>
        <p:xfrm>
          <a:off x="2195736" y="4221088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2000" dirty="0" smtClean="0"/>
                        <a:t>[3,4]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1" name="直線單箭頭接點 10"/>
          <p:cNvCxnSpPr>
            <a:stCxn id="6" idx="2"/>
            <a:endCxn id="8" idx="0"/>
          </p:cNvCxnSpPr>
          <p:nvPr/>
        </p:nvCxnSpPr>
        <p:spPr>
          <a:xfrm>
            <a:off x="4499992" y="2329840"/>
            <a:ext cx="0" cy="595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8" idx="2"/>
            <a:endCxn id="9" idx="0"/>
          </p:cNvCxnSpPr>
          <p:nvPr/>
        </p:nvCxnSpPr>
        <p:spPr>
          <a:xfrm>
            <a:off x="4499992" y="3625984"/>
            <a:ext cx="0" cy="595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-36512" y="1556792"/>
            <a:ext cx="2195736" cy="818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Reversal distance =</a:t>
            </a:r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41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11" y="3212976"/>
            <a:ext cx="8637265" cy="2981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052736"/>
            <a:ext cx="8892480" cy="1158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 err="1"/>
              <a:t>Gollan</a:t>
            </a:r>
            <a:r>
              <a:rPr lang="en-US" altLang="zh-TW" dirty="0"/>
              <a:t> permutation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11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721510"/>
              </p:ext>
            </p:extLst>
          </p:nvPr>
        </p:nvGraphicFramePr>
        <p:xfrm>
          <a:off x="179512" y="2130523"/>
          <a:ext cx="7848872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938"/>
                <a:gridCol w="498281"/>
                <a:gridCol w="498281"/>
                <a:gridCol w="498281"/>
                <a:gridCol w="498281"/>
                <a:gridCol w="498281"/>
                <a:gridCol w="498281"/>
                <a:gridCol w="498281"/>
                <a:gridCol w="498281"/>
                <a:gridCol w="498281"/>
                <a:gridCol w="498281"/>
                <a:gridCol w="498281"/>
                <a:gridCol w="498281"/>
                <a:gridCol w="498281"/>
                <a:gridCol w="498281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G(r</a:t>
                      </a:r>
                      <a:r>
                        <a:rPr lang="en-US" altLang="zh-TW" sz="2000" baseline="-25000" dirty="0" smtClean="0"/>
                        <a:t>12</a:t>
                      </a:r>
                      <a:r>
                        <a:rPr lang="en-US" altLang="zh-TW" sz="2000" dirty="0" smtClean="0"/>
                        <a:t>):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5912475"/>
              </p:ext>
            </p:extLst>
          </p:nvPr>
        </p:nvGraphicFramePr>
        <p:xfrm>
          <a:off x="196124" y="2708920"/>
          <a:ext cx="8336316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806"/>
                <a:gridCol w="497634"/>
                <a:gridCol w="497634"/>
                <a:gridCol w="497634"/>
                <a:gridCol w="497634"/>
                <a:gridCol w="497634"/>
                <a:gridCol w="497634"/>
                <a:gridCol w="497634"/>
                <a:gridCol w="497634"/>
                <a:gridCol w="497634"/>
                <a:gridCol w="497634"/>
                <a:gridCol w="497634"/>
                <a:gridCol w="497634"/>
                <a:gridCol w="497634"/>
                <a:gridCol w="497634"/>
                <a:gridCol w="497634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G(r</a:t>
                      </a:r>
                      <a:r>
                        <a:rPr lang="en-US" altLang="zh-TW" sz="2000" baseline="-25000" dirty="0" smtClean="0"/>
                        <a:t>13</a:t>
                      </a:r>
                      <a:r>
                        <a:rPr lang="en-US" altLang="zh-TW" sz="2000" dirty="0" smtClean="0"/>
                        <a:t>):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pSp>
        <p:nvGrpSpPr>
          <p:cNvPr id="13" name="群組 12"/>
          <p:cNvGrpSpPr/>
          <p:nvPr/>
        </p:nvGrpSpPr>
        <p:grpSpPr>
          <a:xfrm>
            <a:off x="2013137" y="6165304"/>
            <a:ext cx="5367175" cy="646331"/>
            <a:chOff x="691018" y="5301208"/>
            <a:chExt cx="5367175" cy="646331"/>
          </a:xfrm>
        </p:grpSpPr>
        <p:sp>
          <p:nvSpPr>
            <p:cNvPr id="14" name="矩形 13"/>
            <p:cNvSpPr/>
            <p:nvPr/>
          </p:nvSpPr>
          <p:spPr>
            <a:xfrm>
              <a:off x="691018" y="5301208"/>
              <a:ext cx="536717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/>
                <a:t>B</a:t>
              </a:r>
              <a:r>
                <a:rPr lang="en-US" altLang="zh-TW" dirty="0" smtClean="0"/>
                <a:t>lack edge(	) : if </a:t>
              </a:r>
              <a:r>
                <a:rPr lang="en-US" altLang="zh-TW" dirty="0"/>
                <a:t>(i, j) is a breakpoint of </a:t>
              </a:r>
              <a:r>
                <a:rPr lang="el-GR" altLang="zh-TW" dirty="0"/>
                <a:t>π</a:t>
              </a:r>
              <a:r>
                <a:rPr lang="en-US" altLang="zh-TW" dirty="0" smtClean="0"/>
                <a:t>.</a:t>
              </a:r>
            </a:p>
            <a:p>
              <a:r>
                <a:rPr lang="en-US" altLang="zh-TW" dirty="0"/>
                <a:t>G</a:t>
              </a:r>
              <a:r>
                <a:rPr lang="en-US" altLang="zh-TW" dirty="0" smtClean="0"/>
                <a:t>ray edge (             ) : if </a:t>
              </a:r>
              <a:r>
                <a:rPr lang="en-US" altLang="zh-TW" dirty="0"/>
                <a:t>j </a:t>
              </a:r>
              <a:r>
                <a:rPr lang="en-US" altLang="zh-TW" dirty="0" smtClean="0"/>
                <a:t>and </a:t>
              </a:r>
              <a:r>
                <a:rPr lang="en-US" altLang="zh-TW" dirty="0"/>
                <a:t>j are not consecutive </a:t>
              </a:r>
              <a:r>
                <a:rPr lang="en-US" altLang="zh-TW" dirty="0" smtClean="0"/>
                <a:t>in </a:t>
              </a:r>
              <a:r>
                <a:rPr lang="el-GR" altLang="zh-TW" dirty="0"/>
                <a:t>π</a:t>
              </a:r>
              <a:endParaRPr lang="zh-TW" altLang="en-US" dirty="0"/>
            </a:p>
          </p:txBody>
        </p:sp>
        <p:cxnSp>
          <p:nvCxnSpPr>
            <p:cNvPr id="15" name="直線接點 14"/>
            <p:cNvCxnSpPr/>
            <p:nvPr/>
          </p:nvCxnSpPr>
          <p:spPr>
            <a:xfrm>
              <a:off x="1979712" y="5505534"/>
              <a:ext cx="50405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>
            <a:xfrm>
              <a:off x="1979712" y="5805264"/>
              <a:ext cx="50405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527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</a:t>
            </a:r>
            <a:r>
              <a:rPr lang="en-US" altLang="zh-TW" dirty="0" smtClean="0"/>
              <a:t>aximum </a:t>
            </a:r>
            <a:r>
              <a:rPr lang="en-US" altLang="zh-TW" dirty="0"/>
              <a:t>cycle </a:t>
            </a:r>
            <a:r>
              <a:rPr lang="en-US" altLang="zh-TW" dirty="0" smtClean="0"/>
              <a:t>decomposition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4</a:t>
            </a:fld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691018" y="5301208"/>
            <a:ext cx="5367175" cy="646331"/>
            <a:chOff x="691018" y="5301208"/>
            <a:chExt cx="5367175" cy="646331"/>
          </a:xfrm>
        </p:grpSpPr>
        <p:sp>
          <p:nvSpPr>
            <p:cNvPr id="8" name="矩形 7"/>
            <p:cNvSpPr/>
            <p:nvPr/>
          </p:nvSpPr>
          <p:spPr>
            <a:xfrm>
              <a:off x="691018" y="5301208"/>
              <a:ext cx="536717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/>
                <a:t>B</a:t>
              </a:r>
              <a:r>
                <a:rPr lang="en-US" altLang="zh-TW" dirty="0" smtClean="0"/>
                <a:t>lack edge(	) : if </a:t>
              </a:r>
              <a:r>
                <a:rPr lang="en-US" altLang="zh-TW" dirty="0"/>
                <a:t>(i, j) is a breakpoint of </a:t>
              </a:r>
              <a:r>
                <a:rPr lang="el-GR" altLang="zh-TW" dirty="0"/>
                <a:t>π</a:t>
              </a:r>
              <a:r>
                <a:rPr lang="en-US" altLang="zh-TW" dirty="0" smtClean="0"/>
                <a:t>.</a:t>
              </a:r>
            </a:p>
            <a:p>
              <a:r>
                <a:rPr lang="en-US" altLang="zh-TW" dirty="0"/>
                <a:t>G</a:t>
              </a:r>
              <a:r>
                <a:rPr lang="en-US" altLang="zh-TW" dirty="0" smtClean="0"/>
                <a:t>ray edge (             ) : if </a:t>
              </a:r>
              <a:r>
                <a:rPr lang="en-US" altLang="zh-TW" dirty="0"/>
                <a:t>j </a:t>
              </a:r>
              <a:r>
                <a:rPr lang="en-US" altLang="zh-TW" dirty="0" smtClean="0"/>
                <a:t>and </a:t>
              </a:r>
              <a:r>
                <a:rPr lang="en-US" altLang="zh-TW" dirty="0"/>
                <a:t>j are not consecutive </a:t>
              </a:r>
              <a:r>
                <a:rPr lang="en-US" altLang="zh-TW" dirty="0" smtClean="0"/>
                <a:t>in </a:t>
              </a:r>
              <a:r>
                <a:rPr lang="el-GR" altLang="zh-TW" dirty="0"/>
                <a:t>π</a:t>
              </a:r>
              <a:endParaRPr lang="zh-TW" altLang="en-US" dirty="0"/>
            </a:p>
          </p:txBody>
        </p:sp>
        <p:cxnSp>
          <p:nvCxnSpPr>
            <p:cNvPr id="10" name="直線接點 9"/>
            <p:cNvCxnSpPr/>
            <p:nvPr/>
          </p:nvCxnSpPr>
          <p:spPr>
            <a:xfrm>
              <a:off x="1979712" y="5505534"/>
              <a:ext cx="50405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>
              <a:off x="1979712" y="5805264"/>
              <a:ext cx="50405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06364"/>
            <a:ext cx="9073008" cy="4022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888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</a:t>
            </a:r>
            <a:r>
              <a:rPr lang="en-US" altLang="zh-TW" dirty="0"/>
              <a:t>new lower bound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5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-612576" y="3140968"/>
                <a:ext cx="9756576" cy="17897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b="0" i="1" smtClean="0">
                              <a:latin typeface="Cambria Math"/>
                            </a:rPr>
                            <m:t>𝜋</m:t>
                          </m:r>
                          <m:r>
                            <a:rPr lang="en-US" altLang="zh-TW" sz="2000" b="0" i="1" baseline="-25000" smtClean="0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b="0" i="1" smtClean="0">
                              <a:latin typeface="Cambria Math"/>
                            </a:rPr>
                            <m:t>𝜋</m:t>
                          </m:r>
                          <m:r>
                            <a:rPr lang="en-US" altLang="zh-TW" sz="2000" b="0" i="1" baseline="-25000" smtClean="0">
                              <a:latin typeface="Cambria Math"/>
                            </a:rPr>
                            <m:t>𝑖</m:t>
                          </m:r>
                          <m:r>
                            <a:rPr lang="en-US" altLang="zh-TW" sz="2000" b="0" i="1" baseline="-25000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/>
                        </a:rPr>
                        <m:t>+1</m:t>
                      </m:r>
                      <m:r>
                        <a:rPr lang="en-US" altLang="zh-TW" sz="2000" b="0" i="1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n-US" altLang="zh-TW" sz="2000" b="0" i="1" smtClean="0">
                          <a:latin typeface="Cambria Math"/>
                          <a:ea typeface="Cambria Math"/>
                        </a:rPr>
                        <m:t>𝑑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zh-TW" altLang="en-US" sz="20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r>
                            <a:rPr lang="en-US" altLang="zh-TW" sz="2000" b="0" i="1" baseline="-25000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n-US" altLang="zh-TW" sz="2000" b="0" i="1" baseline="-25000" smtClean="0">
                              <a:latin typeface="Cambria Math"/>
                              <a:ea typeface="Cambria Math"/>
                            </a:rPr>
                            <m:t>−1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zh-TW" altLang="en-US" sz="2000" b="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altLang="zh-TW" sz="2000" b="0" i="1" baseline="-25000" smtClean="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  <m:r>
                                <a:rPr lang="en-US" altLang="zh-TW" sz="2000" b="0" i="1" baseline="-25000" smtClean="0"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TW" sz="20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TW" sz="2000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zh-TW" altLang="en-US" sz="2000" b="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altLang="zh-TW" sz="2000" b="0" i="1" baseline="-25000" smtClean="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en-US" altLang="zh-TW" sz="2000" b="0" i="1" smtClean="0"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zh-TW" altLang="en-US" sz="2000" i="1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altLang="zh-TW" sz="2000" i="1" baseline="-2500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  <m:r>
                                <a:rPr lang="en-US" altLang="zh-TW" sz="2000" i="1" baseline="-25000"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TW" sz="2000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zh-TW" altLang="en-US" sz="2000" i="1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altLang="zh-TW" sz="2000" b="0" i="1" baseline="-25000" smtClean="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000" b="0" baseline="-25000" dirty="0" smtClean="0">
                  <a:ea typeface="Cambria Math"/>
                </a:endParaRPr>
              </a:p>
              <a:p>
                <a:r>
                  <a:rPr lang="en-US" altLang="zh-TW" sz="2000" dirty="0" smtClean="0"/>
                  <a:t>                   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/>
                      </a:rPr>
                      <m:t>  </m:t>
                    </m:r>
                    <m:r>
                      <a:rPr lang="en-US" altLang="zh-TW" sz="2000" b="0" i="1" smtClean="0">
                        <a:latin typeface="Cambria Math"/>
                      </a:rPr>
                      <m:t>                                </m:t>
                    </m:r>
                    <m:r>
                      <a:rPr lang="en-US" altLang="zh-TW" sz="2000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TW" sz="2000" i="1">
                        <a:latin typeface="Cambria Math"/>
                        <a:ea typeface="Cambria Math"/>
                      </a:rPr>
                      <m:t>𝑑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zh-TW" altLang="en-US" sz="2000" i="1">
                            <a:latin typeface="Cambria Math"/>
                            <a:ea typeface="Cambria Math"/>
                          </a:rPr>
                          <m:t>𝜋</m:t>
                        </m:r>
                        <m:r>
                          <a:rPr lang="en-US" altLang="zh-TW" sz="2000" i="1" baseline="-25000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altLang="zh-TW" sz="2000" i="1" baseline="-25000">
                            <a:latin typeface="Cambria Math"/>
                            <a:ea typeface="Cambria Math"/>
                          </a:rPr>
                          <m:t>−2</m:t>
                        </m:r>
                      </m:e>
                    </m:d>
                    <m:r>
                      <a:rPr lang="en-US" altLang="zh-TW" sz="2000" i="1">
                        <a:latin typeface="Cambria Math"/>
                        <a:ea typeface="Cambria Math"/>
                      </a:rPr>
                      <m:t>−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0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𝑏</m:t>
                        </m:r>
                        <m:d>
                          <m:dPr>
                            <m:ctrlPr>
                              <a:rPr lang="en-US" altLang="zh-TW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zh-TW" alt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𝜋</m:t>
                            </m:r>
                            <m:r>
                              <a:rPr lang="en-US" altLang="zh-TW" sz="2000" i="1" baseline="-2500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𝑖</m:t>
                            </m:r>
                            <m:r>
                              <a:rPr lang="en-US" altLang="zh-TW" sz="2000" i="1" baseline="-2500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e>
                        </m:d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𝑏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zh-TW" altLang="en-US" sz="2000" i="1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  <m:r>
                              <a:rPr lang="en-US" altLang="zh-TW" sz="2000" i="1" baseline="-2500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altLang="zh-TW" sz="2000" i="1">
                        <a:latin typeface="Cambria Math"/>
                        <a:ea typeface="Cambria Math"/>
                      </a:rPr>
                      <m:t>+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0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𝑐</m:t>
                        </m:r>
                        <m:d>
                          <m:dPr>
                            <m:ctrlPr>
                              <a:rPr lang="en-US" altLang="zh-TW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zh-TW" alt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𝜋</m:t>
                            </m:r>
                            <m:r>
                              <a:rPr lang="en-US" altLang="zh-TW" sz="2000" i="1" baseline="-2500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𝑖</m:t>
                            </m:r>
                            <m:r>
                              <a:rPr lang="en-US" altLang="zh-TW" sz="2000" i="1" baseline="-2500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e>
                        </m:d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𝑐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zh-TW" altLang="en-US" sz="2000" i="1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  <m:r>
                              <a:rPr lang="en-US" altLang="zh-TW" sz="2000" i="1" baseline="-2500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endParaRPr lang="en-US" altLang="zh-TW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/>
                        </a:rPr>
                        <m:t>                                                       </m:t>
                      </m:r>
                      <m:r>
                        <a:rPr lang="en-US" altLang="zh-TW" sz="2000" b="0" i="0" smtClean="0">
                          <a:latin typeface="Cambria Math"/>
                        </a:rPr>
                        <m:t>                   </m:t>
                      </m:r>
                      <m:r>
                        <a:rPr lang="en-US" altLang="zh-TW" sz="2000" b="0" i="0" smtClean="0"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zh-TW" altLang="en-US" sz="2000" i="1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altLang="zh-TW" sz="2000" i="1" baseline="-2500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  <m:r>
                                <a:rPr lang="en-US" altLang="zh-TW" sz="2000" i="1" baseline="-25000">
                                  <a:latin typeface="Cambria Math"/>
                                  <a:ea typeface="Cambria Math"/>
                                </a:rPr>
                                <m:t>−2</m:t>
                              </m:r>
                            </m:e>
                          </m:d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TW" sz="200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altLang="zh-TW" sz="2000" i="1" baseline="-2500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  <m:r>
                                <a:rPr lang="en-US" altLang="zh-TW" sz="2000" b="0" i="1" baseline="-25000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altLang="zh-TW" sz="2000" i="1"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zh-TW" altLang="en-US" sz="2000" i="1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altLang="zh-TW" sz="2000" i="1" baseline="-2500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  <m:r>
                                <a:rPr lang="en-US" altLang="zh-TW" sz="2000" i="1" baseline="-25000">
                                  <a:latin typeface="Cambria Math"/>
                                  <a:ea typeface="Cambria Math"/>
                                </a:rPr>
                                <m:t>−2</m:t>
                              </m:r>
                            </m:e>
                          </m:d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TW" sz="200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altLang="zh-TW" sz="2000" i="1" baseline="-2500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  <m:r>
                                <a:rPr lang="en-US" altLang="zh-TW" sz="2000" b="0" i="1" baseline="-25000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000" baseline="-25000" dirty="0" smtClean="0">
                  <a:ea typeface="Cambria Math"/>
                </a:endParaRPr>
              </a:p>
              <a:p>
                <a:r>
                  <a:rPr lang="en-US" altLang="zh-TW" sz="2000" baseline="-25000" dirty="0">
                    <a:ea typeface="Cambria Math"/>
                  </a:rPr>
                  <a:t>	</a:t>
                </a:r>
                <a:r>
                  <a:rPr lang="en-US" altLang="zh-TW" sz="2000" baseline="-25000" dirty="0" smtClean="0">
                    <a:ea typeface="Cambria Math"/>
                  </a:rPr>
                  <a:t>		</a:t>
                </a:r>
                <a:r>
                  <a:rPr lang="en-US" altLang="zh-TW" sz="2000" dirty="0" smtClean="0">
                    <a:ea typeface="Cambria Math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TW" sz="2000" i="1">
                        <a:latin typeface="Cambria Math"/>
                        <a:ea typeface="Cambria Math"/>
                      </a:rPr>
                      <m:t>𝑑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zh-TW" altLang="en-US" sz="2000" i="1" smtClean="0">
                            <a:latin typeface="Cambria Math"/>
                            <a:ea typeface="Cambria Math"/>
                          </a:rPr>
                          <m:t>𝜋</m:t>
                        </m:r>
                        <m:r>
                          <a:rPr lang="en-US" altLang="zh-TW" sz="2000" b="0" i="1" baseline="-25000" smtClean="0">
                            <a:latin typeface="Cambria Math"/>
                            <a:ea typeface="Cambria Math"/>
                          </a:rPr>
                          <m:t>0</m:t>
                        </m:r>
                      </m:e>
                    </m:d>
                    <m:r>
                      <a:rPr lang="en-US" altLang="zh-TW" sz="2000" i="1">
                        <a:latin typeface="Cambria Math"/>
                        <a:ea typeface="Cambria Math"/>
                      </a:rPr>
                      <m:t>−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𝑏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zh-TW" altLang="en-US" sz="2000" i="1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  <m:r>
                              <a:rPr lang="en-US" altLang="zh-TW" sz="2000" b="0" i="1" baseline="-25000" smtClean="0"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e>
                        </m:d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𝑏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zh-TW" altLang="en-US" sz="2000" i="1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  <m:r>
                              <a:rPr lang="en-US" altLang="zh-TW" sz="2000" i="1" baseline="-2500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altLang="zh-TW" sz="2000" i="1">
                        <a:latin typeface="Cambria Math"/>
                        <a:ea typeface="Cambria Math"/>
                      </a:rPr>
                      <m:t>+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𝑐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zh-TW" altLang="en-US" sz="2000" i="1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  <m:r>
                              <a:rPr lang="en-US" altLang="zh-TW" sz="2000" b="0" i="1" baseline="-25000" smtClean="0"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e>
                        </m:d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TW" sz="2000" i="1">
                            <a:latin typeface="Cambria Math"/>
                            <a:ea typeface="Cambria Math"/>
                          </a:rPr>
                          <m:t>𝑐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zh-TW" altLang="en-US" sz="2000" i="1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  <m:r>
                              <a:rPr lang="en-US" altLang="zh-TW" sz="2000" i="1" baseline="-2500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endParaRPr lang="en-US" altLang="zh-TW" sz="2000" baseline="-25000" dirty="0" smtClean="0">
                  <a:ea typeface="Cambria Math"/>
                </a:endParaRPr>
              </a:p>
              <a:p>
                <a:endParaRPr lang="en-US" altLang="zh-TW" sz="2000" dirty="0" smtClean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2576" y="3140968"/>
                <a:ext cx="9756576" cy="17897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20888"/>
            <a:ext cx="8524877" cy="528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63" y="1797571"/>
            <a:ext cx="9052715" cy="335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56" y="5039816"/>
            <a:ext cx="6876256" cy="323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55576" y="5362862"/>
                <a:ext cx="4948791" cy="1182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Assume cycle are all 4-cycles:</a:t>
                </a:r>
              </a:p>
              <a:p>
                <a:r>
                  <a:rPr lang="en-US" altLang="zh-TW" dirty="0"/>
                  <a:t> </a:t>
                </a:r>
                <a:r>
                  <a:rPr lang="en-US" altLang="zh-TW" dirty="0" smtClean="0"/>
                  <a:t>each 4-cycle has two black edges(two breakpoints)</a:t>
                </a:r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latin typeface="Cambria Math"/>
                            </a:rPr>
                            <m:t>𝜋</m:t>
                          </m:r>
                        </m:e>
                      </m:d>
                      <m:r>
                        <a:rPr lang="en-US" altLang="zh-TW" i="1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𝑏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zh-TW" altLang="en-US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−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zh-TW" altLang="en-US" b="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e>
                          </m:d>
                        </m:num>
                        <m:den>
                          <m:r>
                            <a:rPr lang="en-US" altLang="zh-TW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zh-TW" altLang="en-US" b="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e>
                          </m:d>
                        </m:num>
                        <m:den>
                          <m:r>
                            <a:rPr lang="en-US" altLang="zh-TW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362862"/>
                <a:ext cx="4948791" cy="1182055"/>
              </a:xfrm>
              <a:prstGeom prst="rect">
                <a:avLst/>
              </a:prstGeom>
              <a:blipFill rotWithShape="1">
                <a:blip r:embed="rId6"/>
                <a:stretch>
                  <a:fillRect l="-1108" t="-2577" r="-3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395536" y="4930688"/>
            <a:ext cx="7632848" cy="43217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297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new lower bound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698652"/>
            <a:ext cx="2880320" cy="1028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09"/>
          <a:stretch/>
        </p:blipFill>
        <p:spPr bwMode="auto">
          <a:xfrm>
            <a:off x="2940774" y="1375606"/>
            <a:ext cx="2289200" cy="323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909726"/>
            <a:ext cx="8775230" cy="679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727526"/>
            <a:ext cx="8239125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51" y="2911580"/>
            <a:ext cx="7194575" cy="1046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5827884" y="2051556"/>
            <a:ext cx="287931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包含</a:t>
            </a:r>
            <a:r>
              <a:rPr lang="en-US" altLang="zh-TW" dirty="0" smtClean="0"/>
              <a:t>0</a:t>
            </a:r>
            <a:r>
              <a:rPr lang="zh-TW" altLang="en-US" dirty="0" smtClean="0"/>
              <a:t>跟</a:t>
            </a:r>
            <a:r>
              <a:rPr lang="en-US" altLang="zh-TW" dirty="0" smtClean="0"/>
              <a:t>n+1</a:t>
            </a:r>
            <a:r>
              <a:rPr lang="zh-TW" altLang="en-US" dirty="0" smtClean="0"/>
              <a:t>的</a:t>
            </a:r>
            <a:r>
              <a:rPr lang="en-US" altLang="zh-TW" dirty="0" smtClean="0"/>
              <a:t>cycle</a:t>
            </a:r>
            <a:r>
              <a:rPr lang="zh-TW" altLang="en-US" dirty="0" smtClean="0"/>
              <a:t>最多</a:t>
            </a:r>
            <a:r>
              <a:rPr lang="en-US" altLang="zh-TW" dirty="0" smtClean="0"/>
              <a:t>2</a:t>
            </a:r>
            <a:r>
              <a:rPr lang="zh-TW" altLang="en-US" dirty="0" smtClean="0"/>
              <a:t>個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20302" y="2726914"/>
            <a:ext cx="282641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假設</a:t>
            </a:r>
            <a:r>
              <a:rPr lang="en-US" altLang="zh-TW" dirty="0" smtClean="0"/>
              <a:t>cycle</a:t>
            </a:r>
            <a:r>
              <a:rPr lang="zh-TW" altLang="en-US" dirty="0" smtClean="0"/>
              <a:t>的</a:t>
            </a:r>
            <a:r>
              <a:rPr lang="en-US" altLang="zh-TW" dirty="0" smtClean="0"/>
              <a:t>size</a:t>
            </a:r>
            <a:r>
              <a:rPr lang="zh-TW" altLang="en-US" dirty="0" smtClean="0"/>
              <a:t>最小</a:t>
            </a:r>
            <a:r>
              <a:rPr lang="zh-TW" altLang="en-US" dirty="0"/>
              <a:t>值</a:t>
            </a:r>
            <a:r>
              <a:rPr lang="zh-TW" altLang="en-US" dirty="0" smtClean="0"/>
              <a:t>為</a:t>
            </a:r>
            <a:r>
              <a:rPr lang="en-US" altLang="zh-TW" dirty="0" smtClean="0"/>
              <a:t>k: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507338" y="3958348"/>
            <a:ext cx="462177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/>
              <a:t>所有</a:t>
            </a:r>
            <a:r>
              <a:rPr lang="en-US" altLang="zh-TW" dirty="0" smtClean="0"/>
              <a:t>edge</a:t>
            </a:r>
            <a:r>
              <a:rPr lang="zh-TW" altLang="en-US" dirty="0" smtClean="0"/>
              <a:t>數量</a:t>
            </a:r>
            <a:r>
              <a:rPr lang="en-US" altLang="zh-TW" dirty="0"/>
              <a:t> </a:t>
            </a:r>
            <a:r>
              <a:rPr lang="en-US" altLang="zh-TW" dirty="0" smtClean="0"/>
              <a:t>– </a:t>
            </a:r>
            <a:r>
              <a:rPr lang="zh-TW" altLang="en-US" dirty="0" smtClean="0"/>
              <a:t>所有小於</a:t>
            </a:r>
            <a:r>
              <a:rPr lang="en-US" altLang="zh-TW" dirty="0" smtClean="0"/>
              <a:t>k</a:t>
            </a:r>
            <a:r>
              <a:rPr lang="zh-TW" altLang="en-US" dirty="0" smtClean="0"/>
              <a:t>的</a:t>
            </a:r>
            <a:r>
              <a:rPr lang="en-US" altLang="zh-TW" dirty="0" smtClean="0"/>
              <a:t>cycle</a:t>
            </a:r>
            <a:r>
              <a:rPr lang="zh-TW" altLang="en-US" dirty="0" smtClean="0"/>
              <a:t>的</a:t>
            </a:r>
            <a:r>
              <a:rPr lang="en-US" altLang="zh-TW" dirty="0" smtClean="0"/>
              <a:t>edge</a:t>
            </a:r>
            <a:r>
              <a:rPr lang="zh-TW" altLang="en-US" dirty="0" smtClean="0"/>
              <a:t>數量</a:t>
            </a:r>
            <a:endParaRPr lang="zh-TW" altLang="en-US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5940152" y="3861048"/>
            <a:ext cx="201622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5365480" y="2444611"/>
            <a:ext cx="43204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1835696" y="4643844"/>
            <a:ext cx="322556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k=6(</a:t>
            </a:r>
            <a:r>
              <a:rPr lang="zh-TW" altLang="en-US" dirty="0" smtClean="0"/>
              <a:t>因為</a:t>
            </a:r>
            <a:r>
              <a:rPr lang="en-US" altLang="zh-TW" dirty="0" smtClean="0"/>
              <a:t>cycle</a:t>
            </a:r>
            <a:r>
              <a:rPr lang="zh-TW" altLang="en-US" dirty="0" smtClean="0"/>
              <a:t>的</a:t>
            </a:r>
            <a:r>
              <a:rPr lang="en-US" altLang="zh-TW" dirty="0" smtClean="0"/>
              <a:t>size</a:t>
            </a:r>
            <a:r>
              <a:rPr lang="zh-TW" altLang="en-US" dirty="0" smtClean="0"/>
              <a:t>必為偶數</a:t>
            </a:r>
            <a:r>
              <a:rPr lang="en-US" altLang="zh-TW" dirty="0" smtClean="0"/>
              <a:t>):</a:t>
            </a:r>
            <a:endParaRPr lang="zh-TW" altLang="en-US" dirty="0"/>
          </a:p>
        </p:txBody>
      </p:sp>
      <p:cxnSp>
        <p:nvCxnSpPr>
          <p:cNvPr id="23" name="直線接點 22"/>
          <p:cNvCxnSpPr/>
          <p:nvPr/>
        </p:nvCxnSpPr>
        <p:spPr>
          <a:xfrm>
            <a:off x="2555776" y="5445224"/>
            <a:ext cx="129614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449671" y="135246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(1)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49671" y="209320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(2)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49671" y="325029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(3)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217157" y="5583510"/>
            <a:ext cx="4044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the performance ratio of our algorithms is</a:t>
            </a:r>
            <a:endParaRPr lang="zh-TW" altLang="en-US" dirty="0"/>
          </a:p>
        </p:txBody>
      </p:sp>
      <p:cxnSp>
        <p:nvCxnSpPr>
          <p:cNvPr id="29" name="直線接點 28"/>
          <p:cNvCxnSpPr/>
          <p:nvPr/>
        </p:nvCxnSpPr>
        <p:spPr>
          <a:xfrm flipV="1">
            <a:off x="7456554" y="5583510"/>
            <a:ext cx="1435926" cy="1411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51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Approximation algorithm for signed </a:t>
            </a:r>
            <a:r>
              <a:rPr lang="en-US" altLang="zh-TW" dirty="0" smtClean="0"/>
              <a:t>permutations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79512" y="1412776"/>
            <a:ext cx="756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Define a transformation from a signed </a:t>
            </a:r>
            <a:r>
              <a:rPr lang="en-US" altLang="zh-TW" dirty="0" smtClean="0"/>
              <a:t>permutation </a:t>
            </a:r>
            <a:r>
              <a:rPr lang="el-GR" altLang="zh-TW" dirty="0"/>
              <a:t>π</a:t>
            </a:r>
            <a:r>
              <a:rPr lang="en-US" altLang="zh-TW" dirty="0" smtClean="0"/>
              <a:t> of order </a:t>
            </a:r>
            <a:r>
              <a:rPr lang="en-US" altLang="zh-TW" dirty="0"/>
              <a:t>n to an unsigned permutation </a:t>
            </a:r>
            <a:r>
              <a:rPr lang="el-GR" altLang="zh-TW" dirty="0" smtClean="0"/>
              <a:t>π</a:t>
            </a:r>
            <a:r>
              <a:rPr lang="en-US" altLang="zh-TW" dirty="0" smtClean="0"/>
              <a:t>’ </a:t>
            </a:r>
            <a:r>
              <a:rPr lang="en-US" altLang="zh-TW" dirty="0"/>
              <a:t>as follows: </a:t>
            </a:r>
            <a:endParaRPr lang="en-US" altLang="zh-TW" dirty="0" smtClean="0"/>
          </a:p>
          <a:p>
            <a:r>
              <a:rPr lang="en-US" altLang="zh-TW" dirty="0" smtClean="0"/>
              <a:t>replace </a:t>
            </a:r>
            <a:r>
              <a:rPr lang="en-US" altLang="zh-TW" dirty="0"/>
              <a:t>+i by 2i- </a:t>
            </a:r>
            <a:r>
              <a:rPr lang="en-US" altLang="zh-TW" dirty="0" smtClean="0"/>
              <a:t>1,2i and</a:t>
            </a:r>
          </a:p>
          <a:p>
            <a:r>
              <a:rPr lang="en-US" altLang="zh-TW" dirty="0" smtClean="0"/>
              <a:t>             </a:t>
            </a:r>
            <a:r>
              <a:rPr lang="en-US" altLang="zh-TW" dirty="0"/>
              <a:t>-i by 2i, 2i- 1.</a:t>
            </a:r>
            <a:endParaRPr lang="zh-TW" altLang="en-US" dirty="0"/>
          </a:p>
        </p:txBody>
      </p:sp>
      <p:grpSp>
        <p:nvGrpSpPr>
          <p:cNvPr id="38" name="群組 37"/>
          <p:cNvGrpSpPr/>
          <p:nvPr/>
        </p:nvGrpSpPr>
        <p:grpSpPr>
          <a:xfrm>
            <a:off x="179512" y="2708920"/>
            <a:ext cx="8424921" cy="1613677"/>
            <a:chOff x="179512" y="3068960"/>
            <a:chExt cx="8424921" cy="1613677"/>
          </a:xfrm>
        </p:grpSpPr>
        <p:graphicFrame>
          <p:nvGraphicFramePr>
            <p:cNvPr id="8" name="內容版面配置區 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07949263"/>
                </p:ext>
              </p:extLst>
            </p:nvPr>
          </p:nvGraphicFramePr>
          <p:xfrm>
            <a:off x="179512" y="3068960"/>
            <a:ext cx="8408324" cy="533557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487444"/>
                  <a:gridCol w="432048"/>
                  <a:gridCol w="882098"/>
                  <a:gridCol w="882098"/>
                  <a:gridCol w="882098"/>
                  <a:gridCol w="882098"/>
                  <a:gridCol w="882098"/>
                  <a:gridCol w="882098"/>
                  <a:gridCol w="882098"/>
                  <a:gridCol w="882098"/>
                  <a:gridCol w="432048"/>
                </a:tblGrid>
                <a:tr h="533557">
                  <a:tc>
                    <a:txBody>
                      <a:bodyPr/>
                      <a:lstStyle/>
                      <a:p>
                        <a:pPr algn="ctr"/>
                        <a:r>
                          <a:rPr lang="el-GR" altLang="zh-TW" sz="2000" dirty="0" smtClean="0"/>
                          <a:t>π</a:t>
                        </a:r>
                        <a:r>
                          <a:rPr lang="en-US" altLang="zh-TW" sz="2000" dirty="0" smtClean="0"/>
                          <a:t>:</a:t>
                        </a:r>
                        <a:endParaRPr lang="zh-TW" altLang="en-US" sz="2000" dirty="0"/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0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-7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+1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+2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+4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+5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+3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-6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+8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9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2"/>
                      </a:solidFill>
                    </a:tcPr>
                  </a:tc>
                </a:tr>
              </a:tbl>
            </a:graphicData>
          </a:graphic>
        </p:graphicFrame>
        <p:graphicFrame>
          <p:nvGraphicFramePr>
            <p:cNvPr id="9" name="內容版面配置區 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45263924"/>
                </p:ext>
              </p:extLst>
            </p:nvPr>
          </p:nvGraphicFramePr>
          <p:xfrm>
            <a:off x="251520" y="4149080"/>
            <a:ext cx="8352913" cy="533557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439627"/>
                  <a:gridCol w="439627"/>
                  <a:gridCol w="439627"/>
                  <a:gridCol w="439627"/>
                  <a:gridCol w="439627"/>
                  <a:gridCol w="439627"/>
                  <a:gridCol w="439627"/>
                  <a:gridCol w="439627"/>
                  <a:gridCol w="439627"/>
                  <a:gridCol w="439627"/>
                  <a:gridCol w="439627"/>
                  <a:gridCol w="439627"/>
                  <a:gridCol w="439627"/>
                  <a:gridCol w="439627"/>
                  <a:gridCol w="439627"/>
                  <a:gridCol w="439627"/>
                  <a:gridCol w="439627"/>
                  <a:gridCol w="439627"/>
                  <a:gridCol w="439627"/>
                </a:tblGrid>
                <a:tr h="533557">
                  <a:tc>
                    <a:txBody>
                      <a:bodyPr/>
                      <a:lstStyle/>
                      <a:p>
                        <a:pPr algn="ctr"/>
                        <a:r>
                          <a:rPr lang="el-GR" altLang="zh-TW" sz="2000" dirty="0" smtClean="0"/>
                          <a:t>π</a:t>
                        </a:r>
                        <a:r>
                          <a:rPr lang="en-US" altLang="zh-TW" sz="2000" dirty="0" smtClean="0"/>
                          <a:t>’:</a:t>
                        </a:r>
                        <a:endParaRPr lang="zh-TW" altLang="en-US" sz="2000" dirty="0"/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0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14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13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1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2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3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4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7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8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9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10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5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6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12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11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15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16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TW" sz="2000" dirty="0" smtClean="0">
                            <a:solidFill>
                              <a:sysClr val="windowText" lastClr="000000"/>
                            </a:solidFill>
                          </a:rPr>
                          <a:t>17</a:t>
                        </a:r>
                        <a:endParaRPr lang="zh-TW" altLang="en-US" sz="20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accent2"/>
                      </a:solidFill>
                    </a:tcPr>
                  </a:tc>
                </a:tr>
              </a:tbl>
            </a:graphicData>
          </a:graphic>
        </p:graphicFrame>
        <p:grpSp>
          <p:nvGrpSpPr>
            <p:cNvPr id="16" name="群組 15"/>
            <p:cNvGrpSpPr/>
            <p:nvPr/>
          </p:nvGrpSpPr>
          <p:grpSpPr>
            <a:xfrm>
              <a:off x="1403648" y="3573016"/>
              <a:ext cx="360040" cy="576064"/>
              <a:chOff x="1403648" y="3573016"/>
              <a:chExt cx="360040" cy="576064"/>
            </a:xfrm>
          </p:grpSpPr>
          <p:cxnSp>
            <p:nvCxnSpPr>
              <p:cNvPr id="11" name="直線單箭頭接點 10"/>
              <p:cNvCxnSpPr/>
              <p:nvPr/>
            </p:nvCxnSpPr>
            <p:spPr>
              <a:xfrm flipH="1">
                <a:off x="1403648" y="3573016"/>
                <a:ext cx="216024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" name="直線單箭頭接點 11"/>
              <p:cNvCxnSpPr/>
              <p:nvPr/>
            </p:nvCxnSpPr>
            <p:spPr>
              <a:xfrm>
                <a:off x="1619672" y="3573016"/>
                <a:ext cx="144016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群組 16"/>
            <p:cNvGrpSpPr/>
            <p:nvPr/>
          </p:nvGrpSpPr>
          <p:grpSpPr>
            <a:xfrm>
              <a:off x="2267744" y="3573016"/>
              <a:ext cx="360040" cy="576064"/>
              <a:chOff x="1403648" y="3573016"/>
              <a:chExt cx="360040" cy="576064"/>
            </a:xfrm>
          </p:grpSpPr>
          <p:cxnSp>
            <p:nvCxnSpPr>
              <p:cNvPr id="18" name="直線單箭頭接點 17"/>
              <p:cNvCxnSpPr/>
              <p:nvPr/>
            </p:nvCxnSpPr>
            <p:spPr>
              <a:xfrm flipH="1">
                <a:off x="1403648" y="3573016"/>
                <a:ext cx="216024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/>
              <p:cNvCxnSpPr/>
              <p:nvPr/>
            </p:nvCxnSpPr>
            <p:spPr>
              <a:xfrm>
                <a:off x="1619672" y="3573016"/>
                <a:ext cx="144016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群組 19"/>
            <p:cNvGrpSpPr/>
            <p:nvPr/>
          </p:nvGrpSpPr>
          <p:grpSpPr>
            <a:xfrm>
              <a:off x="3203848" y="3573016"/>
              <a:ext cx="360040" cy="576064"/>
              <a:chOff x="1403648" y="3573016"/>
              <a:chExt cx="360040" cy="576064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 flipH="1">
                <a:off x="1403648" y="3573016"/>
                <a:ext cx="216024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>
                <a:off x="1619672" y="3573016"/>
                <a:ext cx="144016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群組 22"/>
            <p:cNvGrpSpPr/>
            <p:nvPr/>
          </p:nvGrpSpPr>
          <p:grpSpPr>
            <a:xfrm>
              <a:off x="3995936" y="3573016"/>
              <a:ext cx="360040" cy="576064"/>
              <a:chOff x="1403648" y="3573016"/>
              <a:chExt cx="360040" cy="576064"/>
            </a:xfrm>
          </p:grpSpPr>
          <p:cxnSp>
            <p:nvCxnSpPr>
              <p:cNvPr id="24" name="直線單箭頭接點 23"/>
              <p:cNvCxnSpPr/>
              <p:nvPr/>
            </p:nvCxnSpPr>
            <p:spPr>
              <a:xfrm flipH="1">
                <a:off x="1403648" y="3573016"/>
                <a:ext cx="216024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" name="直線單箭頭接點 24"/>
              <p:cNvCxnSpPr/>
              <p:nvPr/>
            </p:nvCxnSpPr>
            <p:spPr>
              <a:xfrm>
                <a:off x="1619672" y="3573016"/>
                <a:ext cx="144016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群組 25"/>
            <p:cNvGrpSpPr/>
            <p:nvPr/>
          </p:nvGrpSpPr>
          <p:grpSpPr>
            <a:xfrm>
              <a:off x="4932040" y="3573016"/>
              <a:ext cx="360040" cy="576064"/>
              <a:chOff x="1403648" y="3573016"/>
              <a:chExt cx="360040" cy="576064"/>
            </a:xfrm>
          </p:grpSpPr>
          <p:cxnSp>
            <p:nvCxnSpPr>
              <p:cNvPr id="27" name="直線單箭頭接點 26"/>
              <p:cNvCxnSpPr/>
              <p:nvPr/>
            </p:nvCxnSpPr>
            <p:spPr>
              <a:xfrm flipH="1">
                <a:off x="1403648" y="3573016"/>
                <a:ext cx="216024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" name="直線單箭頭接點 27"/>
              <p:cNvCxnSpPr/>
              <p:nvPr/>
            </p:nvCxnSpPr>
            <p:spPr>
              <a:xfrm>
                <a:off x="1619672" y="3573016"/>
                <a:ext cx="144016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9" name="群組 28"/>
            <p:cNvGrpSpPr/>
            <p:nvPr/>
          </p:nvGrpSpPr>
          <p:grpSpPr>
            <a:xfrm>
              <a:off x="5796136" y="3573016"/>
              <a:ext cx="360040" cy="576064"/>
              <a:chOff x="1403648" y="3573016"/>
              <a:chExt cx="360040" cy="576064"/>
            </a:xfrm>
          </p:grpSpPr>
          <p:cxnSp>
            <p:nvCxnSpPr>
              <p:cNvPr id="30" name="直線單箭頭接點 29"/>
              <p:cNvCxnSpPr/>
              <p:nvPr/>
            </p:nvCxnSpPr>
            <p:spPr>
              <a:xfrm flipH="1">
                <a:off x="1403648" y="3573016"/>
                <a:ext cx="216024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直線單箭頭接點 30"/>
              <p:cNvCxnSpPr/>
              <p:nvPr/>
            </p:nvCxnSpPr>
            <p:spPr>
              <a:xfrm>
                <a:off x="1619672" y="3573016"/>
                <a:ext cx="144016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群組 31"/>
            <p:cNvGrpSpPr/>
            <p:nvPr/>
          </p:nvGrpSpPr>
          <p:grpSpPr>
            <a:xfrm>
              <a:off x="6660232" y="3573016"/>
              <a:ext cx="360040" cy="576064"/>
              <a:chOff x="1403648" y="3573016"/>
              <a:chExt cx="360040" cy="576064"/>
            </a:xfrm>
          </p:grpSpPr>
          <p:cxnSp>
            <p:nvCxnSpPr>
              <p:cNvPr id="33" name="直線單箭頭接點 32"/>
              <p:cNvCxnSpPr/>
              <p:nvPr/>
            </p:nvCxnSpPr>
            <p:spPr>
              <a:xfrm flipH="1">
                <a:off x="1403648" y="3573016"/>
                <a:ext cx="216024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線單箭頭接點 33"/>
              <p:cNvCxnSpPr/>
              <p:nvPr/>
            </p:nvCxnSpPr>
            <p:spPr>
              <a:xfrm>
                <a:off x="1619672" y="3573016"/>
                <a:ext cx="144016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35" name="群組 34"/>
            <p:cNvGrpSpPr/>
            <p:nvPr/>
          </p:nvGrpSpPr>
          <p:grpSpPr>
            <a:xfrm>
              <a:off x="7524328" y="3573016"/>
              <a:ext cx="360040" cy="576064"/>
              <a:chOff x="1403648" y="3573016"/>
              <a:chExt cx="360040" cy="576064"/>
            </a:xfrm>
          </p:grpSpPr>
          <p:cxnSp>
            <p:nvCxnSpPr>
              <p:cNvPr id="36" name="直線單箭頭接點 35"/>
              <p:cNvCxnSpPr/>
              <p:nvPr/>
            </p:nvCxnSpPr>
            <p:spPr>
              <a:xfrm flipH="1">
                <a:off x="1403648" y="3573016"/>
                <a:ext cx="216024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" name="直線單箭頭接點 36"/>
              <p:cNvCxnSpPr/>
              <p:nvPr/>
            </p:nvCxnSpPr>
            <p:spPr>
              <a:xfrm>
                <a:off x="1619672" y="3573016"/>
                <a:ext cx="144016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13296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6762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Approximation algorithm for signed permutations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16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1093020"/>
              </p:ext>
            </p:extLst>
          </p:nvPr>
        </p:nvGraphicFramePr>
        <p:xfrm>
          <a:off x="107504" y="1419279"/>
          <a:ext cx="8408324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444"/>
                <a:gridCol w="432048"/>
                <a:gridCol w="882098"/>
                <a:gridCol w="882098"/>
                <a:gridCol w="882098"/>
                <a:gridCol w="882098"/>
                <a:gridCol w="882098"/>
                <a:gridCol w="882098"/>
                <a:gridCol w="882098"/>
                <a:gridCol w="882098"/>
                <a:gridCol w="432048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/>
                        <a:t>π</a:t>
                      </a:r>
                      <a:r>
                        <a:rPr lang="en-US" altLang="zh-TW" sz="2000" dirty="0" smtClean="0"/>
                        <a:t>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-7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+1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+2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+4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+5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+3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-6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+8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pSp>
        <p:nvGrpSpPr>
          <p:cNvPr id="6211" name="群組 6210"/>
          <p:cNvGrpSpPr/>
          <p:nvPr/>
        </p:nvGrpSpPr>
        <p:grpSpPr>
          <a:xfrm>
            <a:off x="107504" y="1988840"/>
            <a:ext cx="3456384" cy="3870611"/>
            <a:chOff x="35496" y="2052566"/>
            <a:chExt cx="3222213" cy="3743511"/>
          </a:xfrm>
        </p:grpSpPr>
        <p:sp>
          <p:nvSpPr>
            <p:cNvPr id="6" name="橢圓 5"/>
            <p:cNvSpPr/>
            <p:nvPr/>
          </p:nvSpPr>
          <p:spPr>
            <a:xfrm>
              <a:off x="48654" y="4471666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/>
                <a:t>+</a:t>
              </a:r>
              <a:r>
                <a:rPr lang="en-US" altLang="zh-TW" sz="1400" dirty="0" smtClean="0"/>
                <a:t>1</a:t>
              </a:r>
            </a:p>
          </p:txBody>
        </p:sp>
        <p:sp>
          <p:nvSpPr>
            <p:cNvPr id="7" name="橢圓 6"/>
            <p:cNvSpPr/>
            <p:nvPr/>
          </p:nvSpPr>
          <p:spPr>
            <a:xfrm>
              <a:off x="47169" y="2052566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/>
                <a:t>+2</a:t>
              </a:r>
            </a:p>
          </p:txBody>
        </p:sp>
        <p:sp>
          <p:nvSpPr>
            <p:cNvPr id="8" name="橢圓 7"/>
            <p:cNvSpPr/>
            <p:nvPr/>
          </p:nvSpPr>
          <p:spPr>
            <a:xfrm>
              <a:off x="2411760" y="2556622"/>
              <a:ext cx="504056" cy="50405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/>
                <a:t>+</a:t>
              </a:r>
              <a:r>
                <a:rPr lang="en-US" altLang="zh-TW" sz="1400" dirty="0" smtClean="0"/>
                <a:t>3</a:t>
              </a:r>
            </a:p>
          </p:txBody>
        </p:sp>
        <p:sp>
          <p:nvSpPr>
            <p:cNvPr id="9" name="橢圓 8"/>
            <p:cNvSpPr/>
            <p:nvPr/>
          </p:nvSpPr>
          <p:spPr>
            <a:xfrm>
              <a:off x="35496" y="3284984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/>
                <a:t>+5</a:t>
              </a:r>
            </a:p>
          </p:txBody>
        </p:sp>
        <p:sp>
          <p:nvSpPr>
            <p:cNvPr id="10" name="橢圓 9"/>
            <p:cNvSpPr/>
            <p:nvPr/>
          </p:nvSpPr>
          <p:spPr>
            <a:xfrm>
              <a:off x="48654" y="2686782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/>
                <a:t>+4</a:t>
              </a:r>
            </a:p>
          </p:txBody>
        </p:sp>
        <p:sp>
          <p:nvSpPr>
            <p:cNvPr id="11" name="橢圓 10"/>
            <p:cNvSpPr/>
            <p:nvPr/>
          </p:nvSpPr>
          <p:spPr>
            <a:xfrm>
              <a:off x="554153" y="3645671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/>
                <a:t>9</a:t>
              </a:r>
            </a:p>
          </p:txBody>
        </p:sp>
        <p:sp>
          <p:nvSpPr>
            <p:cNvPr id="12" name="橢圓 11"/>
            <p:cNvSpPr/>
            <p:nvPr/>
          </p:nvSpPr>
          <p:spPr>
            <a:xfrm>
              <a:off x="2501625" y="3885612"/>
              <a:ext cx="504056" cy="50405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/>
                <a:t>-6</a:t>
              </a:r>
            </a:p>
          </p:txBody>
        </p:sp>
        <p:sp>
          <p:nvSpPr>
            <p:cNvPr id="13" name="橢圓 12"/>
            <p:cNvSpPr/>
            <p:nvPr/>
          </p:nvSpPr>
          <p:spPr>
            <a:xfrm>
              <a:off x="2753653" y="5292021"/>
              <a:ext cx="504056" cy="50405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/>
                <a:t>-7</a:t>
              </a:r>
            </a:p>
          </p:txBody>
        </p:sp>
        <p:sp>
          <p:nvSpPr>
            <p:cNvPr id="14" name="橢圓 13"/>
            <p:cNvSpPr/>
            <p:nvPr/>
          </p:nvSpPr>
          <p:spPr>
            <a:xfrm>
              <a:off x="47169" y="5292021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/>
                <a:t>0</a:t>
              </a:r>
            </a:p>
          </p:txBody>
        </p:sp>
        <p:cxnSp>
          <p:nvCxnSpPr>
            <p:cNvPr id="18" name="直線接點 17"/>
            <p:cNvCxnSpPr>
              <a:stCxn id="14" idx="0"/>
              <a:endCxn id="13" idx="2"/>
            </p:cNvCxnSpPr>
            <p:nvPr/>
          </p:nvCxnSpPr>
          <p:spPr>
            <a:xfrm>
              <a:off x="299197" y="5292021"/>
              <a:ext cx="2454456" cy="2520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>
              <a:stCxn id="6" idx="4"/>
              <a:endCxn id="13" idx="2"/>
            </p:cNvCxnSpPr>
            <p:nvPr/>
          </p:nvCxnSpPr>
          <p:spPr>
            <a:xfrm>
              <a:off x="300682" y="4975722"/>
              <a:ext cx="2452971" cy="5683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>
              <a:stCxn id="7" idx="6"/>
              <a:endCxn id="10" idx="6"/>
            </p:cNvCxnSpPr>
            <p:nvPr/>
          </p:nvCxnSpPr>
          <p:spPr>
            <a:xfrm>
              <a:off x="551225" y="2304594"/>
              <a:ext cx="1485" cy="6342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>
              <a:stCxn id="8" idx="4"/>
              <a:endCxn id="12" idx="0"/>
            </p:cNvCxnSpPr>
            <p:nvPr/>
          </p:nvCxnSpPr>
          <p:spPr>
            <a:xfrm>
              <a:off x="2663788" y="3060678"/>
              <a:ext cx="89865" cy="82493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>
              <a:stCxn id="12" idx="3"/>
              <a:endCxn id="37" idx="6"/>
            </p:cNvCxnSpPr>
            <p:nvPr/>
          </p:nvCxnSpPr>
          <p:spPr>
            <a:xfrm flipH="1" flipV="1">
              <a:off x="551225" y="4164419"/>
              <a:ext cx="2024217" cy="15143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橢圓 36"/>
            <p:cNvSpPr/>
            <p:nvPr/>
          </p:nvSpPr>
          <p:spPr>
            <a:xfrm>
              <a:off x="47169" y="3912391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/>
                <a:t>+8</a:t>
              </a:r>
            </a:p>
          </p:txBody>
        </p:sp>
        <p:cxnSp>
          <p:nvCxnSpPr>
            <p:cNvPr id="49" name="直線接點 48"/>
            <p:cNvCxnSpPr>
              <a:stCxn id="8" idx="4"/>
              <a:endCxn id="9" idx="6"/>
            </p:cNvCxnSpPr>
            <p:nvPr/>
          </p:nvCxnSpPr>
          <p:spPr>
            <a:xfrm flipH="1">
              <a:off x="539552" y="3060678"/>
              <a:ext cx="2124236" cy="47633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線接點 63"/>
            <p:cNvCxnSpPr>
              <a:stCxn id="6" idx="4"/>
              <a:endCxn id="14" idx="0"/>
            </p:cNvCxnSpPr>
            <p:nvPr/>
          </p:nvCxnSpPr>
          <p:spPr>
            <a:xfrm flipH="1">
              <a:off x="299197" y="4975722"/>
              <a:ext cx="1485" cy="31629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>
              <a:stCxn id="7" idx="6"/>
              <a:endCxn id="8" idx="2"/>
            </p:cNvCxnSpPr>
            <p:nvPr/>
          </p:nvCxnSpPr>
          <p:spPr>
            <a:xfrm>
              <a:off x="551225" y="2304594"/>
              <a:ext cx="1860535" cy="50405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0" name="直線接點 69"/>
            <p:cNvCxnSpPr>
              <a:stCxn id="10" idx="6"/>
              <a:endCxn id="8" idx="2"/>
            </p:cNvCxnSpPr>
            <p:nvPr/>
          </p:nvCxnSpPr>
          <p:spPr>
            <a:xfrm flipV="1">
              <a:off x="552710" y="2808650"/>
              <a:ext cx="1859050" cy="13016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直線接點 72"/>
            <p:cNvCxnSpPr>
              <a:stCxn id="9" idx="6"/>
              <a:endCxn id="12" idx="0"/>
            </p:cNvCxnSpPr>
            <p:nvPr/>
          </p:nvCxnSpPr>
          <p:spPr>
            <a:xfrm>
              <a:off x="539552" y="3537012"/>
              <a:ext cx="2214101" cy="34860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直線接點 75"/>
            <p:cNvCxnSpPr>
              <a:stCxn id="12" idx="3"/>
              <a:endCxn id="13" idx="0"/>
            </p:cNvCxnSpPr>
            <p:nvPr/>
          </p:nvCxnSpPr>
          <p:spPr>
            <a:xfrm>
              <a:off x="2575442" y="4315851"/>
              <a:ext cx="430239" cy="97617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9" name="直線接點 78"/>
            <p:cNvCxnSpPr>
              <a:stCxn id="37" idx="6"/>
              <a:endCxn id="13" idx="0"/>
            </p:cNvCxnSpPr>
            <p:nvPr/>
          </p:nvCxnSpPr>
          <p:spPr>
            <a:xfrm>
              <a:off x="551225" y="4164419"/>
              <a:ext cx="2454456" cy="1127602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16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6209348"/>
              </p:ext>
            </p:extLst>
          </p:nvPr>
        </p:nvGraphicFramePr>
        <p:xfrm>
          <a:off x="369437" y="6284556"/>
          <a:ext cx="8352913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/>
                        <a:t>π</a:t>
                      </a:r>
                      <a:r>
                        <a:rPr lang="en-US" altLang="zh-TW" sz="2000" dirty="0" smtClean="0"/>
                        <a:t>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pSp>
        <p:nvGrpSpPr>
          <p:cNvPr id="6212" name="群組 6211"/>
          <p:cNvGrpSpPr/>
          <p:nvPr/>
        </p:nvGrpSpPr>
        <p:grpSpPr>
          <a:xfrm>
            <a:off x="5868145" y="2132856"/>
            <a:ext cx="3256128" cy="3600400"/>
            <a:chOff x="6225105" y="2708920"/>
            <a:chExt cx="2899167" cy="3384376"/>
          </a:xfrm>
        </p:grpSpPr>
        <p:sp>
          <p:nvSpPr>
            <p:cNvPr id="154" name="橢圓 153"/>
            <p:cNvSpPr/>
            <p:nvPr/>
          </p:nvSpPr>
          <p:spPr>
            <a:xfrm>
              <a:off x="7212242" y="5039993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3</a:t>
              </a:r>
              <a:endParaRPr lang="en-US" altLang="zh-TW" sz="1600" dirty="0" smtClean="0"/>
            </a:p>
          </p:txBody>
        </p:sp>
        <p:sp>
          <p:nvSpPr>
            <p:cNvPr id="155" name="橢圓 154"/>
            <p:cNvSpPr/>
            <p:nvPr/>
          </p:nvSpPr>
          <p:spPr>
            <a:xfrm>
              <a:off x="6228184" y="5589240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1</a:t>
              </a:r>
              <a:endParaRPr lang="en-US" altLang="zh-TW" sz="1600" dirty="0" smtClean="0"/>
            </a:p>
          </p:txBody>
        </p:sp>
        <p:sp>
          <p:nvSpPr>
            <p:cNvPr id="156" name="橢圓 155"/>
            <p:cNvSpPr/>
            <p:nvPr/>
          </p:nvSpPr>
          <p:spPr>
            <a:xfrm>
              <a:off x="6747754" y="4787965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2</a:t>
              </a:r>
              <a:endParaRPr lang="en-US" altLang="zh-TW" sz="1600" dirty="0" smtClean="0"/>
            </a:p>
          </p:txBody>
        </p:sp>
        <p:sp>
          <p:nvSpPr>
            <p:cNvPr id="157" name="橢圓 156"/>
            <p:cNvSpPr/>
            <p:nvPr/>
          </p:nvSpPr>
          <p:spPr>
            <a:xfrm>
              <a:off x="8604448" y="2708920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5</a:t>
              </a:r>
            </a:p>
          </p:txBody>
        </p:sp>
        <p:sp>
          <p:nvSpPr>
            <p:cNvPr id="158" name="橢圓 157"/>
            <p:cNvSpPr/>
            <p:nvPr/>
          </p:nvSpPr>
          <p:spPr>
            <a:xfrm>
              <a:off x="8620216" y="3717032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4</a:t>
              </a:r>
            </a:p>
          </p:txBody>
        </p:sp>
        <p:sp>
          <p:nvSpPr>
            <p:cNvPr id="159" name="橢圓 158"/>
            <p:cNvSpPr/>
            <p:nvPr/>
          </p:nvSpPr>
          <p:spPr>
            <a:xfrm>
              <a:off x="8604448" y="4611807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7</a:t>
              </a:r>
            </a:p>
          </p:txBody>
        </p:sp>
        <p:sp>
          <p:nvSpPr>
            <p:cNvPr id="160" name="橢圓 159"/>
            <p:cNvSpPr/>
            <p:nvPr/>
          </p:nvSpPr>
          <p:spPr>
            <a:xfrm>
              <a:off x="6243698" y="3809683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14</a:t>
              </a:r>
            </a:p>
          </p:txBody>
        </p:sp>
        <p:sp>
          <p:nvSpPr>
            <p:cNvPr id="161" name="橢圓 160"/>
            <p:cNvSpPr/>
            <p:nvPr/>
          </p:nvSpPr>
          <p:spPr>
            <a:xfrm>
              <a:off x="8604448" y="5589240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6</a:t>
              </a:r>
            </a:p>
          </p:txBody>
        </p:sp>
        <p:sp>
          <p:nvSpPr>
            <p:cNvPr id="162" name="橢圓 161"/>
            <p:cNvSpPr/>
            <p:nvPr/>
          </p:nvSpPr>
          <p:spPr>
            <a:xfrm>
              <a:off x="7020272" y="5589240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13</a:t>
              </a:r>
            </a:p>
          </p:txBody>
        </p:sp>
        <p:sp>
          <p:nvSpPr>
            <p:cNvPr id="163" name="橢圓 162"/>
            <p:cNvSpPr/>
            <p:nvPr/>
          </p:nvSpPr>
          <p:spPr>
            <a:xfrm>
              <a:off x="7846252" y="5589240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12</a:t>
              </a:r>
            </a:p>
          </p:txBody>
        </p:sp>
        <p:sp>
          <p:nvSpPr>
            <p:cNvPr id="164" name="橢圓 163"/>
            <p:cNvSpPr/>
            <p:nvPr/>
          </p:nvSpPr>
          <p:spPr>
            <a:xfrm>
              <a:off x="6876256" y="2708920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11</a:t>
              </a:r>
            </a:p>
          </p:txBody>
        </p:sp>
        <p:sp>
          <p:nvSpPr>
            <p:cNvPr id="165" name="橢圓 164"/>
            <p:cNvSpPr/>
            <p:nvPr/>
          </p:nvSpPr>
          <p:spPr>
            <a:xfrm>
              <a:off x="7812360" y="2708920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10</a:t>
              </a:r>
            </a:p>
          </p:txBody>
        </p:sp>
        <p:sp>
          <p:nvSpPr>
            <p:cNvPr id="166" name="橢圓 165"/>
            <p:cNvSpPr/>
            <p:nvPr/>
          </p:nvSpPr>
          <p:spPr>
            <a:xfrm>
              <a:off x="8028384" y="4723879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9</a:t>
              </a:r>
              <a:endParaRPr lang="en-US" altLang="zh-TW" sz="1600" dirty="0" smtClean="0"/>
            </a:p>
          </p:txBody>
        </p:sp>
        <p:sp>
          <p:nvSpPr>
            <p:cNvPr id="167" name="橢圓 166"/>
            <p:cNvSpPr/>
            <p:nvPr/>
          </p:nvSpPr>
          <p:spPr>
            <a:xfrm>
              <a:off x="6228184" y="2721448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15</a:t>
              </a:r>
            </a:p>
          </p:txBody>
        </p:sp>
        <p:sp>
          <p:nvSpPr>
            <p:cNvPr id="168" name="橢圓 167"/>
            <p:cNvSpPr/>
            <p:nvPr/>
          </p:nvSpPr>
          <p:spPr>
            <a:xfrm>
              <a:off x="6804248" y="4019840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16</a:t>
              </a:r>
            </a:p>
          </p:txBody>
        </p:sp>
        <p:cxnSp>
          <p:nvCxnSpPr>
            <p:cNvPr id="188" name="直線接點 187"/>
            <p:cNvCxnSpPr>
              <a:stCxn id="160" idx="4"/>
              <a:endCxn id="190" idx="0"/>
            </p:cNvCxnSpPr>
            <p:nvPr/>
          </p:nvCxnSpPr>
          <p:spPr>
            <a:xfrm flipH="1">
              <a:off x="6477133" y="4313739"/>
              <a:ext cx="18593" cy="4101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9" name="橢圓 188"/>
            <p:cNvSpPr/>
            <p:nvPr/>
          </p:nvSpPr>
          <p:spPr>
            <a:xfrm>
              <a:off x="6847141" y="3407103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17</a:t>
              </a:r>
            </a:p>
          </p:txBody>
        </p:sp>
        <p:sp>
          <p:nvSpPr>
            <p:cNvPr id="190" name="橢圓 189"/>
            <p:cNvSpPr/>
            <p:nvPr/>
          </p:nvSpPr>
          <p:spPr>
            <a:xfrm>
              <a:off x="6225105" y="4723879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0</a:t>
              </a:r>
            </a:p>
          </p:txBody>
        </p:sp>
        <p:cxnSp>
          <p:nvCxnSpPr>
            <p:cNvPr id="193" name="直線接點 192"/>
            <p:cNvCxnSpPr>
              <a:stCxn id="155" idx="6"/>
              <a:endCxn id="162" idx="2"/>
            </p:cNvCxnSpPr>
            <p:nvPr/>
          </p:nvCxnSpPr>
          <p:spPr>
            <a:xfrm>
              <a:off x="6732240" y="5841268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直線接點 195"/>
            <p:cNvCxnSpPr>
              <a:stCxn id="158" idx="4"/>
              <a:endCxn id="159" idx="0"/>
            </p:cNvCxnSpPr>
            <p:nvPr/>
          </p:nvCxnSpPr>
          <p:spPr>
            <a:xfrm flipH="1">
              <a:off x="8856476" y="4221088"/>
              <a:ext cx="15768" cy="39071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直線接點 198"/>
            <p:cNvCxnSpPr>
              <a:stCxn id="165" idx="6"/>
              <a:endCxn id="157" idx="2"/>
            </p:cNvCxnSpPr>
            <p:nvPr/>
          </p:nvCxnSpPr>
          <p:spPr>
            <a:xfrm>
              <a:off x="8316416" y="2960948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直線接點 201"/>
            <p:cNvCxnSpPr>
              <a:stCxn id="163" idx="6"/>
              <a:endCxn id="161" idx="2"/>
            </p:cNvCxnSpPr>
            <p:nvPr/>
          </p:nvCxnSpPr>
          <p:spPr>
            <a:xfrm>
              <a:off x="8350308" y="5841268"/>
              <a:ext cx="2541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5" name="直線接點 204"/>
            <p:cNvCxnSpPr>
              <a:stCxn id="164" idx="2"/>
              <a:endCxn id="167" idx="6"/>
            </p:cNvCxnSpPr>
            <p:nvPr/>
          </p:nvCxnSpPr>
          <p:spPr>
            <a:xfrm flipH="1">
              <a:off x="6732240" y="2960948"/>
              <a:ext cx="144016" cy="125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6" name="直線接點 225"/>
            <p:cNvCxnSpPr>
              <a:stCxn id="155" idx="0"/>
              <a:endCxn id="190" idx="4"/>
            </p:cNvCxnSpPr>
            <p:nvPr/>
          </p:nvCxnSpPr>
          <p:spPr>
            <a:xfrm flipH="1" flipV="1">
              <a:off x="6477133" y="5227935"/>
              <a:ext cx="3079" cy="36130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9" name="直線接點 228"/>
            <p:cNvCxnSpPr>
              <a:stCxn id="158" idx="0"/>
              <a:endCxn id="157" idx="4"/>
            </p:cNvCxnSpPr>
            <p:nvPr/>
          </p:nvCxnSpPr>
          <p:spPr>
            <a:xfrm flipH="1" flipV="1">
              <a:off x="8856476" y="3212976"/>
              <a:ext cx="15768" cy="50405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2" name="直線接點 231"/>
            <p:cNvCxnSpPr>
              <a:stCxn id="161" idx="0"/>
              <a:endCxn id="159" idx="4"/>
            </p:cNvCxnSpPr>
            <p:nvPr/>
          </p:nvCxnSpPr>
          <p:spPr>
            <a:xfrm flipV="1">
              <a:off x="8856476" y="5115863"/>
              <a:ext cx="0" cy="47337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5" name="直線接點 234"/>
            <p:cNvCxnSpPr>
              <a:stCxn id="164" idx="6"/>
              <a:endCxn id="165" idx="2"/>
            </p:cNvCxnSpPr>
            <p:nvPr/>
          </p:nvCxnSpPr>
          <p:spPr>
            <a:xfrm>
              <a:off x="7380312" y="2960948"/>
              <a:ext cx="432048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8" name="直線接點 237"/>
            <p:cNvCxnSpPr>
              <a:stCxn id="163" idx="2"/>
              <a:endCxn id="162" idx="6"/>
            </p:cNvCxnSpPr>
            <p:nvPr/>
          </p:nvCxnSpPr>
          <p:spPr>
            <a:xfrm flipH="1">
              <a:off x="7524328" y="5841268"/>
              <a:ext cx="32192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1" name="直線接點 240"/>
            <p:cNvCxnSpPr>
              <a:stCxn id="160" idx="0"/>
              <a:endCxn id="167" idx="4"/>
            </p:cNvCxnSpPr>
            <p:nvPr/>
          </p:nvCxnSpPr>
          <p:spPr>
            <a:xfrm flipH="1" flipV="1">
              <a:off x="6480212" y="3225504"/>
              <a:ext cx="15514" cy="58417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45" name="橢圓 344"/>
            <p:cNvSpPr/>
            <p:nvPr/>
          </p:nvSpPr>
          <p:spPr>
            <a:xfrm>
              <a:off x="8046873" y="4160299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8</a:t>
              </a:r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198" y="1089730"/>
            <a:ext cx="6876256" cy="323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文字方塊 6146"/>
              <p:cNvSpPr txBox="1"/>
              <p:nvPr/>
            </p:nvSpPr>
            <p:spPr>
              <a:xfrm>
                <a:off x="394174" y="5853469"/>
                <a:ext cx="2482739" cy="36933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⇒</m:t>
                      </m:r>
                      <m:r>
                        <a:rPr lang="en-US" altLang="zh-TW" b="0" i="1" smtClean="0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b="0" i="1" smtClean="0">
                              <a:latin typeface="Cambria Math"/>
                            </a:rPr>
                            <m:t>𝜋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≥6−0=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7</m:t>
                      </m:r>
                    </m:oMath>
                  </m:oMathPara>
                </a14:m>
                <a:endParaRPr lang="en-US" altLang="zh-TW" b="0" dirty="0" smtClean="0">
                  <a:solidFill>
                    <a:srgbClr val="FF0000"/>
                  </a:solidFill>
                  <a:ea typeface="Cambria Math"/>
                </a:endParaRPr>
              </a:p>
            </p:txBody>
          </p:sp>
        </mc:Choice>
        <mc:Fallback xmlns="">
          <p:sp>
            <p:nvSpPr>
              <p:cNvPr id="6147" name="文字方塊 6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4" y="5853469"/>
                <a:ext cx="2482739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2" name="文字方塊 421"/>
              <p:cNvSpPr txBox="1"/>
              <p:nvPr/>
            </p:nvSpPr>
            <p:spPr>
              <a:xfrm>
                <a:off x="6181039" y="5834511"/>
                <a:ext cx="2482739" cy="36933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⇒</m:t>
                    </m:r>
                    <m:r>
                      <a:rPr lang="en-US" altLang="zh-TW" i="1">
                        <a:latin typeface="Cambria Math"/>
                      </a:rPr>
                      <m:t>𝑑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i="1">
                                <a:latin typeface="Cambria Math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i="1">
                        <a:latin typeface="Cambria Math"/>
                        <a:ea typeface="Cambria Math"/>
                      </a:rPr>
                      <m:t>≥6−1</m:t>
                    </m:r>
                  </m:oMath>
                </a14:m>
                <a:r>
                  <a:rPr lang="en-US" altLang="zh-TW" dirty="0"/>
                  <a:t>=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5</a:t>
                </a:r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422" name="文字方塊 4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039" y="5834511"/>
                <a:ext cx="2482739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68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81"/>
          <a:stretch/>
        </p:blipFill>
        <p:spPr bwMode="auto">
          <a:xfrm>
            <a:off x="179512" y="1071204"/>
            <a:ext cx="7115890" cy="1876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SignedSort</a:t>
            </a:r>
            <a:r>
              <a:rPr lang="en-US" altLang="zh-TW" dirty="0" smtClean="0"/>
              <a:t>(</a:t>
            </a:r>
            <a:r>
              <a:rPr lang="el-GR" altLang="zh-TW" dirty="0"/>
              <a:t>π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564904"/>
            <a:ext cx="8239578" cy="4077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4543028" y="593261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Steps in sorting</a:t>
            </a:r>
            <a:r>
              <a:rPr lang="en-US" altLang="zh-TW" dirty="0" smtClean="0"/>
              <a:t>:  </a:t>
            </a:r>
            <a:r>
              <a:rPr lang="en-US" altLang="zh-TW" dirty="0" smtClean="0">
                <a:solidFill>
                  <a:srgbClr val="FF0000"/>
                </a:solidFill>
              </a:rPr>
              <a:t>b(</a:t>
            </a:r>
            <a:r>
              <a:rPr lang="el-GR" altLang="zh-TW" dirty="0">
                <a:solidFill>
                  <a:srgbClr val="FF0000"/>
                </a:solidFill>
              </a:rPr>
              <a:t>π</a:t>
            </a:r>
            <a:r>
              <a:rPr lang="en-US" altLang="zh-TW" dirty="0" smtClean="0">
                <a:solidFill>
                  <a:srgbClr val="FF0000"/>
                </a:solidFill>
              </a:rPr>
              <a:t>)- 1/2c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4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l-GR" altLang="zh-TW" dirty="0">
                <a:solidFill>
                  <a:srgbClr val="FF0000"/>
                </a:solidFill>
              </a:rPr>
              <a:t>π</a:t>
            </a:r>
            <a:r>
              <a:rPr lang="en-US" altLang="zh-TW" dirty="0" smtClean="0">
                <a:solidFill>
                  <a:srgbClr val="FF0000"/>
                </a:solidFill>
              </a:rPr>
              <a:t>) steps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Time complexity : O(n</a:t>
            </a:r>
            <a:r>
              <a:rPr lang="en-US" altLang="zh-TW" baseline="30000" dirty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endParaRPr lang="en-US" altLang="zh-TW" dirty="0"/>
          </a:p>
          <a:p>
            <a:r>
              <a:rPr lang="en-US" altLang="zh-TW" dirty="0">
                <a:solidFill>
                  <a:srgbClr val="FF0000"/>
                </a:solidFill>
              </a:rPr>
              <a:t>P</a:t>
            </a:r>
            <a:r>
              <a:rPr lang="en-US" altLang="zh-TW" dirty="0" smtClean="0">
                <a:solidFill>
                  <a:srgbClr val="FF0000"/>
                </a:solidFill>
              </a:rPr>
              <a:t>erformance </a:t>
            </a:r>
            <a:r>
              <a:rPr lang="en-US" altLang="zh-TW" dirty="0">
                <a:solidFill>
                  <a:srgbClr val="FF0000"/>
                </a:solidFill>
              </a:rPr>
              <a:t>ratio </a:t>
            </a:r>
            <a:r>
              <a:rPr lang="en-US" altLang="zh-TW" dirty="0" smtClean="0">
                <a:solidFill>
                  <a:srgbClr val="FF0000"/>
                </a:solidFill>
              </a:rPr>
              <a:t>: 3/2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80963" y="5747944"/>
            <a:ext cx="1088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O(n) time</a:t>
            </a:r>
            <a:endParaRPr lang="en-US" altLang="zh-TW" dirty="0"/>
          </a:p>
        </p:txBody>
      </p:sp>
      <p:sp>
        <p:nvSpPr>
          <p:cNvPr id="10" name="矩形 9"/>
          <p:cNvSpPr/>
          <p:nvPr/>
        </p:nvSpPr>
        <p:spPr>
          <a:xfrm>
            <a:off x="4788024" y="2852936"/>
            <a:ext cx="2422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At most n-1 breakpoints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716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47" b="29221"/>
          <a:stretch/>
        </p:blipFill>
        <p:spPr bwMode="auto">
          <a:xfrm>
            <a:off x="19527" y="0"/>
            <a:ext cx="8239578" cy="226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直線接點 11"/>
          <p:cNvCxnSpPr/>
          <p:nvPr/>
        </p:nvCxnSpPr>
        <p:spPr>
          <a:xfrm>
            <a:off x="4427984" y="908720"/>
            <a:ext cx="864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29" y="2268187"/>
            <a:ext cx="8223609" cy="364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73172716"/>
                  </p:ext>
                </p:extLst>
              </p:nvPr>
            </p:nvGraphicFramePr>
            <p:xfrm>
              <a:off x="683567" y="5373216"/>
              <a:ext cx="7272808" cy="701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0096"/>
                    <a:gridCol w="760339"/>
                    <a:gridCol w="760339"/>
                    <a:gridCol w="760339"/>
                    <a:gridCol w="760339"/>
                    <a:gridCol w="760339"/>
                    <a:gridCol w="760339"/>
                    <a:gridCol w="760339"/>
                    <a:gridCol w="760339"/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zh-TW" altLang="en-US" sz="200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altLang="zh-TW" sz="2000" dirty="0" smtClean="0"/>
                            <a:t>: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73172716"/>
                  </p:ext>
                </p:extLst>
              </p:nvPr>
            </p:nvGraphicFramePr>
            <p:xfrm>
              <a:off x="683567" y="5373216"/>
              <a:ext cx="7272808" cy="701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0096"/>
                    <a:gridCol w="760339"/>
                    <a:gridCol w="760339"/>
                    <a:gridCol w="760339"/>
                    <a:gridCol w="760339"/>
                    <a:gridCol w="760339"/>
                    <a:gridCol w="760339"/>
                    <a:gridCol w="760339"/>
                    <a:gridCol w="760339"/>
                  </a:tblGrid>
                  <a:tr h="7010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r="-512308" b="-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5" name="橢圓 14"/>
          <p:cNvSpPr/>
          <p:nvPr/>
        </p:nvSpPr>
        <p:spPr>
          <a:xfrm rot="2454797">
            <a:off x="3529610" y="2330577"/>
            <a:ext cx="468052" cy="97699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040052" y="2780928"/>
            <a:ext cx="468052" cy="129614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 rot="2195067">
            <a:off x="4840140" y="3561218"/>
            <a:ext cx="468052" cy="129614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3311860" y="2924944"/>
            <a:ext cx="468052" cy="129614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 rot="19762123">
            <a:off x="3564588" y="4800620"/>
            <a:ext cx="2626891" cy="1711450"/>
          </a:xfrm>
          <a:custGeom>
            <a:avLst/>
            <a:gdLst>
              <a:gd name="connsiteX0" fmla="*/ 0 w 2275931"/>
              <a:gd name="connsiteY0" fmla="*/ 86929 h 1205955"/>
              <a:gd name="connsiteX1" fmla="*/ 1460664 w 2275931"/>
              <a:gd name="connsiteY1" fmla="*/ 98805 h 1205955"/>
              <a:gd name="connsiteX2" fmla="*/ 2173184 w 2275931"/>
              <a:gd name="connsiteY2" fmla="*/ 1084457 h 1205955"/>
              <a:gd name="connsiteX3" fmla="*/ 2256311 w 2275931"/>
              <a:gd name="connsiteY3" fmla="*/ 1155709 h 120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5931" h="1205955">
                <a:moveTo>
                  <a:pt x="0" y="86929"/>
                </a:moveTo>
                <a:cubicBezTo>
                  <a:pt x="549233" y="9739"/>
                  <a:pt x="1098467" y="-67450"/>
                  <a:pt x="1460664" y="98805"/>
                </a:cubicBezTo>
                <a:cubicBezTo>
                  <a:pt x="1822861" y="265060"/>
                  <a:pt x="2040576" y="908306"/>
                  <a:pt x="2173184" y="1084457"/>
                </a:cubicBezTo>
                <a:cubicBezTo>
                  <a:pt x="2305792" y="1260608"/>
                  <a:pt x="2281051" y="1208158"/>
                  <a:pt x="2256311" y="1155709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手繪多邊形 19"/>
          <p:cNvSpPr/>
          <p:nvPr/>
        </p:nvSpPr>
        <p:spPr>
          <a:xfrm rot="8563674">
            <a:off x="4438831" y="4789629"/>
            <a:ext cx="2427216" cy="2043405"/>
          </a:xfrm>
          <a:custGeom>
            <a:avLst/>
            <a:gdLst>
              <a:gd name="connsiteX0" fmla="*/ 0 w 2275931"/>
              <a:gd name="connsiteY0" fmla="*/ 86929 h 1205955"/>
              <a:gd name="connsiteX1" fmla="*/ 1460664 w 2275931"/>
              <a:gd name="connsiteY1" fmla="*/ 98805 h 1205955"/>
              <a:gd name="connsiteX2" fmla="*/ 2173184 w 2275931"/>
              <a:gd name="connsiteY2" fmla="*/ 1084457 h 1205955"/>
              <a:gd name="connsiteX3" fmla="*/ 2256311 w 2275931"/>
              <a:gd name="connsiteY3" fmla="*/ 1155709 h 120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5931" h="1205955">
                <a:moveTo>
                  <a:pt x="0" y="86929"/>
                </a:moveTo>
                <a:cubicBezTo>
                  <a:pt x="549233" y="9739"/>
                  <a:pt x="1098467" y="-67450"/>
                  <a:pt x="1460664" y="98805"/>
                </a:cubicBezTo>
                <a:cubicBezTo>
                  <a:pt x="1822861" y="265060"/>
                  <a:pt x="2040576" y="908306"/>
                  <a:pt x="2173184" y="1084457"/>
                </a:cubicBezTo>
                <a:cubicBezTo>
                  <a:pt x="2305792" y="1260608"/>
                  <a:pt x="2281051" y="1208158"/>
                  <a:pt x="2256311" y="1155709"/>
                </a:cubicBez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/>
          <p:nvPr/>
        </p:nvCxnSpPr>
        <p:spPr>
          <a:xfrm>
            <a:off x="3419872" y="5373216"/>
            <a:ext cx="0" cy="7200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4139952" y="5373216"/>
            <a:ext cx="0" cy="7200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444208" y="5373216"/>
            <a:ext cx="0" cy="7200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7164288" y="5363411"/>
            <a:ext cx="0" cy="7200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63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47" b="29221"/>
          <a:stretch/>
        </p:blipFill>
        <p:spPr bwMode="auto">
          <a:xfrm>
            <a:off x="19527" y="0"/>
            <a:ext cx="8239578" cy="226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直線接點 9"/>
          <p:cNvCxnSpPr/>
          <p:nvPr/>
        </p:nvCxnSpPr>
        <p:spPr>
          <a:xfrm>
            <a:off x="7236296" y="1268760"/>
            <a:ext cx="864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向下箭號 1"/>
          <p:cNvSpPr/>
          <p:nvPr/>
        </p:nvSpPr>
        <p:spPr>
          <a:xfrm rot="2966851">
            <a:off x="2644800" y="3683915"/>
            <a:ext cx="360040" cy="9712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向下箭號 10"/>
          <p:cNvSpPr/>
          <p:nvPr/>
        </p:nvSpPr>
        <p:spPr>
          <a:xfrm rot="19563425">
            <a:off x="6756697" y="3878812"/>
            <a:ext cx="360040" cy="9712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1763686" y="2212712"/>
            <a:ext cx="4608514" cy="1625345"/>
            <a:chOff x="899590" y="2212712"/>
            <a:chExt cx="4608514" cy="1625345"/>
          </a:xfrm>
        </p:grpSpPr>
        <p:sp>
          <p:nvSpPr>
            <p:cNvPr id="8" name="手繪多邊形 7"/>
            <p:cNvSpPr/>
            <p:nvPr/>
          </p:nvSpPr>
          <p:spPr>
            <a:xfrm rot="9025378">
              <a:off x="3125940" y="3315865"/>
              <a:ext cx="963917" cy="522192"/>
            </a:xfrm>
            <a:custGeom>
              <a:avLst/>
              <a:gdLst>
                <a:gd name="connsiteX0" fmla="*/ 0 w 2275931"/>
                <a:gd name="connsiteY0" fmla="*/ 86929 h 1205955"/>
                <a:gd name="connsiteX1" fmla="*/ 1460664 w 2275931"/>
                <a:gd name="connsiteY1" fmla="*/ 98805 h 1205955"/>
                <a:gd name="connsiteX2" fmla="*/ 2173184 w 2275931"/>
                <a:gd name="connsiteY2" fmla="*/ 1084457 h 1205955"/>
                <a:gd name="connsiteX3" fmla="*/ 2256311 w 2275931"/>
                <a:gd name="connsiteY3" fmla="*/ 1155709 h 1205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5931" h="1205955">
                  <a:moveTo>
                    <a:pt x="0" y="86929"/>
                  </a:moveTo>
                  <a:cubicBezTo>
                    <a:pt x="549233" y="9739"/>
                    <a:pt x="1098467" y="-67450"/>
                    <a:pt x="1460664" y="98805"/>
                  </a:cubicBezTo>
                  <a:cubicBezTo>
                    <a:pt x="1822861" y="265060"/>
                    <a:pt x="2040576" y="908306"/>
                    <a:pt x="2173184" y="1084457"/>
                  </a:cubicBezTo>
                  <a:cubicBezTo>
                    <a:pt x="2305792" y="1260608"/>
                    <a:pt x="2281051" y="1208158"/>
                    <a:pt x="2256311" y="1155709"/>
                  </a:cubicBezTo>
                </a:path>
              </a:pathLst>
            </a:cu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7" name="群組 16"/>
            <p:cNvGrpSpPr/>
            <p:nvPr/>
          </p:nvGrpSpPr>
          <p:grpSpPr>
            <a:xfrm>
              <a:off x="899590" y="2212712"/>
              <a:ext cx="4608514" cy="1341264"/>
              <a:chOff x="683568" y="2212712"/>
              <a:chExt cx="4608514" cy="1341264"/>
            </a:xfrm>
          </p:grpSpPr>
          <p:grpSp>
            <p:nvGrpSpPr>
              <p:cNvPr id="3" name="群組 2"/>
              <p:cNvGrpSpPr/>
              <p:nvPr/>
            </p:nvGrpSpPr>
            <p:grpSpPr>
              <a:xfrm>
                <a:off x="683568" y="2212712"/>
                <a:ext cx="4608514" cy="1341264"/>
                <a:chOff x="683568" y="2212712"/>
                <a:chExt cx="4608514" cy="134126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6" name="內容版面配置區 5"/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142165015"/>
                        </p:ext>
                      </p:extLst>
                    </p:nvPr>
                  </p:nvGraphicFramePr>
                  <p:xfrm>
                    <a:off x="683568" y="2852936"/>
                    <a:ext cx="4608514" cy="701040"/>
                  </p:xfrm>
                  <a:graphic>
                    <a:graphicData uri="http://schemas.openxmlformats.org/drawingml/2006/table">
                      <a:tbl>
                        <a:tblPr firstRow="1" bandRow="1">
                          <a:tableStyleId>{5C22544A-7EE6-4342-B048-85BDC9FD1C3A}</a:tableStyleId>
                        </a:tblPr>
                        <a:tblGrid>
                          <a:gridCol w="842164"/>
                          <a:gridCol w="538050"/>
                          <a:gridCol w="538050"/>
                          <a:gridCol w="538050"/>
                          <a:gridCol w="538050"/>
                          <a:gridCol w="538050"/>
                          <a:gridCol w="538050"/>
                          <a:gridCol w="538050"/>
                        </a:tblGrid>
                        <a:tr h="701040"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14:m>
                                  <m:oMath xmlns:m="http://schemas.openxmlformats.org/officeDocument/2006/math">
                                    <m:r>
                                      <a:rPr lang="zh-TW" altLang="en-US" sz="2000" i="1" smtClean="0">
                                        <a:latin typeface="Cambria Math"/>
                                        <a:ea typeface="Cambria Math"/>
                                      </a:rPr>
                                      <m:t>𝜋</m:t>
                                    </m:r>
                                  </m:oMath>
                                </a14:m>
                                <a:r>
                                  <a:rPr lang="en-US" altLang="zh-TW" sz="2000" dirty="0" smtClean="0"/>
                                  <a:t>:</a:t>
                                </a:r>
                                <a:endParaRPr lang="zh-TW" altLang="en-US" sz="2000" dirty="0"/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…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1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4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…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5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2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…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</a:tr>
                      </a:tbl>
                    </a:graphicData>
                  </a:graphic>
                </p:graphicFrame>
              </mc:Choice>
              <mc:Fallback xmlns="">
                <p:graphicFrame>
                  <p:nvGraphicFramePr>
                    <p:cNvPr id="6" name="內容版面配置區 5"/>
                    <p:cNvGraphicFramePr>
                      <a:graphicFrameLocks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142165015"/>
                        </p:ext>
                      </p:extLst>
                    </p:nvPr>
                  </p:nvGraphicFramePr>
                  <p:xfrm>
                    <a:off x="683568" y="2852936"/>
                    <a:ext cx="4608514" cy="701040"/>
                  </p:xfrm>
                  <a:graphic>
                    <a:graphicData uri="http://schemas.openxmlformats.org/drawingml/2006/table">
                      <a:tbl>
                        <a:tblPr firstRow="1" bandRow="1">
                          <a:tableStyleId>{5C22544A-7EE6-4342-B048-85BDC9FD1C3A}</a:tableStyleId>
                        </a:tblPr>
                        <a:tblGrid>
                          <a:gridCol w="842164"/>
                          <a:gridCol w="538050"/>
                          <a:gridCol w="538050"/>
                          <a:gridCol w="538050"/>
                          <a:gridCol w="538050"/>
                          <a:gridCol w="538050"/>
                          <a:gridCol w="538050"/>
                          <a:gridCol w="538050"/>
                        </a:tblGrid>
                        <a:tr h="701040">
                          <a:tc>
                            <a:txBody>
                              <a:bodyPr/>
                              <a:lstStyle/>
                              <a:p>
                                <a:endParaRPr lang="zh-TW"/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blipFill rotWithShape="1">
                                <a:blip r:embed="rId3"/>
                                <a:stretch>
                                  <a:fillRect r="-448551" b="-870"/>
                                </a:stretch>
                              </a:blipFill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…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1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4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…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5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2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  <a:tc>
                            <a:txBody>
                              <a:bodyPr/>
                              <a:lstStyle/>
                              <a:p>
                                <a:pPr algn="ctr"/>
                                <a:r>
                                  <a:rPr lang="en-US" altLang="zh-TW" sz="20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a:t>…</a:t>
                                </a:r>
                                <a:endParaRPr lang="zh-TW" altLang="en-US" sz="2000" dirty="0">
                                  <a:solidFill>
                                    <a:sysClr val="windowText" lastClr="000000"/>
                                  </a:solidFill>
                                </a:endParaRPr>
                              </a:p>
                            </a:txBody>
                            <a:tcPr anchor="ctr">
                              <a:lnL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L>
                              <a:lnR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R>
                              <a:lnT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T>
                              <a:lnB w="12700" cap="flat" cmpd="sng" algn="ctr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B>
                              <a:solidFill>
                                <a:schemeClr val="bg1"/>
                              </a:solidFill>
                            </a:tcPr>
                          </a:tc>
                        </a:tr>
                      </a:tbl>
                    </a:graphicData>
                  </a:graphic>
                </p:graphicFrame>
              </mc:Fallback>
            </mc:AlternateContent>
            <p:sp>
              <p:nvSpPr>
                <p:cNvPr id="9" name="手繪多邊形 8"/>
                <p:cNvSpPr/>
                <p:nvPr/>
              </p:nvSpPr>
              <p:spPr>
                <a:xfrm rot="19762123">
                  <a:off x="2399571" y="2212712"/>
                  <a:ext cx="1931574" cy="1191765"/>
                </a:xfrm>
                <a:custGeom>
                  <a:avLst/>
                  <a:gdLst>
                    <a:gd name="connsiteX0" fmla="*/ 0 w 2275931"/>
                    <a:gd name="connsiteY0" fmla="*/ 86929 h 1205955"/>
                    <a:gd name="connsiteX1" fmla="*/ 1460664 w 2275931"/>
                    <a:gd name="connsiteY1" fmla="*/ 98805 h 1205955"/>
                    <a:gd name="connsiteX2" fmla="*/ 2173184 w 2275931"/>
                    <a:gd name="connsiteY2" fmla="*/ 1084457 h 1205955"/>
                    <a:gd name="connsiteX3" fmla="*/ 2256311 w 2275931"/>
                    <a:gd name="connsiteY3" fmla="*/ 1155709 h 1205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75931" h="1205955">
                      <a:moveTo>
                        <a:pt x="0" y="86929"/>
                      </a:moveTo>
                      <a:cubicBezTo>
                        <a:pt x="549233" y="9739"/>
                        <a:pt x="1098467" y="-67450"/>
                        <a:pt x="1460664" y="98805"/>
                      </a:cubicBezTo>
                      <a:cubicBezTo>
                        <a:pt x="1822861" y="265060"/>
                        <a:pt x="2040576" y="908306"/>
                        <a:pt x="2173184" y="1084457"/>
                      </a:cubicBezTo>
                      <a:cubicBezTo>
                        <a:pt x="2305792" y="1260608"/>
                        <a:pt x="2281051" y="1208158"/>
                        <a:pt x="2256311" y="1155709"/>
                      </a:cubicBezTo>
                    </a:path>
                  </a:pathLst>
                </a:cu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13" name="直線接點 12"/>
              <p:cNvCxnSpPr/>
              <p:nvPr/>
            </p:nvCxnSpPr>
            <p:spPr>
              <a:xfrm>
                <a:off x="2411760" y="3212976"/>
                <a:ext cx="3600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線接點 15"/>
              <p:cNvCxnSpPr/>
              <p:nvPr/>
            </p:nvCxnSpPr>
            <p:spPr>
              <a:xfrm>
                <a:off x="4067944" y="3212976"/>
                <a:ext cx="3600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手繪多邊形 18"/>
          <p:cNvSpPr/>
          <p:nvPr/>
        </p:nvSpPr>
        <p:spPr>
          <a:xfrm rot="19762123">
            <a:off x="2906566" y="2352086"/>
            <a:ext cx="1532160" cy="948600"/>
          </a:xfrm>
          <a:custGeom>
            <a:avLst/>
            <a:gdLst>
              <a:gd name="connsiteX0" fmla="*/ 0 w 2275931"/>
              <a:gd name="connsiteY0" fmla="*/ 86929 h 1205955"/>
              <a:gd name="connsiteX1" fmla="*/ 1460664 w 2275931"/>
              <a:gd name="connsiteY1" fmla="*/ 98805 h 1205955"/>
              <a:gd name="connsiteX2" fmla="*/ 2173184 w 2275931"/>
              <a:gd name="connsiteY2" fmla="*/ 1084457 h 1205955"/>
              <a:gd name="connsiteX3" fmla="*/ 2256311 w 2275931"/>
              <a:gd name="connsiteY3" fmla="*/ 1155709 h 120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5931" h="1205955">
                <a:moveTo>
                  <a:pt x="0" y="86929"/>
                </a:moveTo>
                <a:cubicBezTo>
                  <a:pt x="549233" y="9739"/>
                  <a:pt x="1098467" y="-67450"/>
                  <a:pt x="1460664" y="98805"/>
                </a:cubicBezTo>
                <a:cubicBezTo>
                  <a:pt x="1822861" y="265060"/>
                  <a:pt x="2040576" y="908306"/>
                  <a:pt x="2173184" y="1084457"/>
                </a:cubicBezTo>
                <a:cubicBezTo>
                  <a:pt x="2305792" y="1260608"/>
                  <a:pt x="2281051" y="1208158"/>
                  <a:pt x="2256311" y="1155709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手繪多邊形 19"/>
          <p:cNvSpPr/>
          <p:nvPr/>
        </p:nvSpPr>
        <p:spPr>
          <a:xfrm rot="19762123">
            <a:off x="7227046" y="5540631"/>
            <a:ext cx="1532160" cy="948600"/>
          </a:xfrm>
          <a:custGeom>
            <a:avLst/>
            <a:gdLst>
              <a:gd name="connsiteX0" fmla="*/ 0 w 2275931"/>
              <a:gd name="connsiteY0" fmla="*/ 86929 h 1205955"/>
              <a:gd name="connsiteX1" fmla="*/ 1460664 w 2275931"/>
              <a:gd name="connsiteY1" fmla="*/ 98805 h 1205955"/>
              <a:gd name="connsiteX2" fmla="*/ 2173184 w 2275931"/>
              <a:gd name="connsiteY2" fmla="*/ 1084457 h 1205955"/>
              <a:gd name="connsiteX3" fmla="*/ 2256311 w 2275931"/>
              <a:gd name="connsiteY3" fmla="*/ 1155709 h 120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5931" h="1205955">
                <a:moveTo>
                  <a:pt x="0" y="86929"/>
                </a:moveTo>
                <a:cubicBezTo>
                  <a:pt x="549233" y="9739"/>
                  <a:pt x="1098467" y="-67450"/>
                  <a:pt x="1460664" y="98805"/>
                </a:cubicBezTo>
                <a:cubicBezTo>
                  <a:pt x="1822861" y="265060"/>
                  <a:pt x="2040576" y="908306"/>
                  <a:pt x="2173184" y="1084457"/>
                </a:cubicBezTo>
                <a:cubicBezTo>
                  <a:pt x="2305792" y="1260608"/>
                  <a:pt x="2281051" y="1208158"/>
                  <a:pt x="2256311" y="1155709"/>
                </a:cubicBezTo>
              </a:path>
            </a:pathLst>
          </a:cu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35496" y="5248240"/>
            <a:ext cx="4608512" cy="701040"/>
            <a:chOff x="683568" y="2852936"/>
            <a:chExt cx="6105390" cy="701040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7" name="內容版面配置區 5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834618082"/>
                    </p:ext>
                  </p:extLst>
                </p:nvPr>
              </p:nvGraphicFramePr>
              <p:xfrm>
                <a:off x="683568" y="2852936"/>
                <a:ext cx="6105390" cy="701040"/>
              </p:xfrm>
              <a:graphic>
                <a:graphicData uri="http://schemas.openxmlformats.org/drawingml/2006/table">
                  <a:tbl>
                    <a:tblPr firstRow="1" bandRow="1">
                      <a:tableStyleId>{5C22544A-7EE6-4342-B048-85BDC9FD1C3A}</a:tableStyleId>
                    </a:tblPr>
                    <a:tblGrid>
                      <a:gridCol w="576064"/>
                      <a:gridCol w="576064"/>
                      <a:gridCol w="576064"/>
                      <a:gridCol w="576064"/>
                      <a:gridCol w="576064"/>
                      <a:gridCol w="576064"/>
                      <a:gridCol w="576064"/>
                      <a:gridCol w="576064"/>
                    </a:tblGrid>
                    <a:tr h="701040">
                      <a:tc>
                        <a:txBody>
                          <a:bodyPr/>
                          <a:lstStyle/>
                          <a:p>
                            <a:pPr algn="ctr"/>
                            <a14:m>
                              <m:oMath xmlns:m="http://schemas.openxmlformats.org/officeDocument/2006/math">
                                <m:r>
                                  <a:rPr lang="zh-TW" altLang="en-US" sz="2000" i="1" smtClean="0">
                                    <a:latin typeface="Cambria Math"/>
                                    <a:ea typeface="Cambria Math"/>
                                  </a:rPr>
                                  <m:t>𝜋</m:t>
                                </m:r>
                              </m:oMath>
                            </a14:m>
                            <a:r>
                              <a:rPr lang="en-US" altLang="zh-TW" sz="2000" dirty="0" smtClean="0"/>
                              <a:t>’:</a:t>
                            </a:r>
                            <a:endParaRPr lang="zh-TW" altLang="en-US" sz="2000" dirty="0"/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…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rgbClr val="FF0000"/>
                                </a:solidFill>
                              </a:rPr>
                              <a:t>4</a:t>
                            </a:r>
                            <a:endParaRPr lang="zh-TW" altLang="en-US" sz="2000" dirty="0">
                              <a:solidFill>
                                <a:srgbClr val="FF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rgbClr val="FF0000"/>
                                </a:solidFill>
                              </a:rPr>
                              <a:t>1</a:t>
                            </a:r>
                            <a:endParaRPr lang="zh-TW" altLang="en-US" sz="2000" dirty="0">
                              <a:solidFill>
                                <a:srgbClr val="FF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…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5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2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…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27" name="內容版面配置區 5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834618082"/>
                    </p:ext>
                  </p:extLst>
                </p:nvPr>
              </p:nvGraphicFramePr>
              <p:xfrm>
                <a:off x="683568" y="2852936"/>
                <a:ext cx="6105390" cy="701040"/>
              </p:xfrm>
              <a:graphic>
                <a:graphicData uri="http://schemas.openxmlformats.org/drawingml/2006/table">
                  <a:tbl>
                    <a:tblPr firstRow="1" bandRow="1">
                      <a:tableStyleId>{5C22544A-7EE6-4342-B048-85BDC9FD1C3A}</a:tableStyleId>
                    </a:tblPr>
                    <a:tblGrid>
                      <a:gridCol w="576064"/>
                      <a:gridCol w="576064"/>
                      <a:gridCol w="576064"/>
                      <a:gridCol w="576064"/>
                      <a:gridCol w="576064"/>
                      <a:gridCol w="576064"/>
                      <a:gridCol w="576064"/>
                      <a:gridCol w="576064"/>
                    </a:tblGrid>
                    <a:tr h="701040">
                      <a:tc>
                        <a:txBody>
                          <a:bodyPr/>
                          <a:lstStyle/>
                          <a:p>
                            <a:endParaRPr lang="zh-TW"/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blipFill rotWithShape="1">
                            <a:blip r:embed="rId4"/>
                            <a:stretch>
                              <a:fillRect l="-1053" t="-870" r="-695789"/>
                            </a:stretch>
                          </a:blip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…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rgbClr val="FF0000"/>
                                </a:solidFill>
                              </a:rPr>
                              <a:t>4</a:t>
                            </a:r>
                            <a:endParaRPr lang="zh-TW" altLang="en-US" sz="2000" dirty="0">
                              <a:solidFill>
                                <a:srgbClr val="FF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rgbClr val="FF0000"/>
                                </a:solidFill>
                              </a:rPr>
                              <a:t>1</a:t>
                            </a:r>
                            <a:endParaRPr lang="zh-TW" altLang="en-US" sz="2000" dirty="0">
                              <a:solidFill>
                                <a:srgbClr val="FF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…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5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2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…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</a:tr>
                  </a:tbl>
                </a:graphicData>
              </a:graphic>
            </p:graphicFrame>
          </mc:Fallback>
        </mc:AlternateContent>
        <p:cxnSp>
          <p:nvCxnSpPr>
            <p:cNvPr id="26" name="直線接點 25"/>
            <p:cNvCxnSpPr/>
            <p:nvPr/>
          </p:nvCxnSpPr>
          <p:spPr>
            <a:xfrm>
              <a:off x="5075530" y="3212976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手繪多邊形 28"/>
          <p:cNvSpPr/>
          <p:nvPr/>
        </p:nvSpPr>
        <p:spPr>
          <a:xfrm rot="19762123">
            <a:off x="1089532" y="4731559"/>
            <a:ext cx="1532160" cy="948600"/>
          </a:xfrm>
          <a:custGeom>
            <a:avLst/>
            <a:gdLst>
              <a:gd name="connsiteX0" fmla="*/ 0 w 2275931"/>
              <a:gd name="connsiteY0" fmla="*/ 86929 h 1205955"/>
              <a:gd name="connsiteX1" fmla="*/ 1460664 w 2275931"/>
              <a:gd name="connsiteY1" fmla="*/ 98805 h 1205955"/>
              <a:gd name="connsiteX2" fmla="*/ 2173184 w 2275931"/>
              <a:gd name="connsiteY2" fmla="*/ 1084457 h 1205955"/>
              <a:gd name="connsiteX3" fmla="*/ 2256311 w 2275931"/>
              <a:gd name="connsiteY3" fmla="*/ 1155709 h 120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5931" h="1205955">
                <a:moveTo>
                  <a:pt x="0" y="86929"/>
                </a:moveTo>
                <a:cubicBezTo>
                  <a:pt x="549233" y="9739"/>
                  <a:pt x="1098467" y="-67450"/>
                  <a:pt x="1460664" y="98805"/>
                </a:cubicBezTo>
                <a:cubicBezTo>
                  <a:pt x="1822861" y="265060"/>
                  <a:pt x="2040576" y="908306"/>
                  <a:pt x="2173184" y="1084457"/>
                </a:cubicBezTo>
                <a:cubicBezTo>
                  <a:pt x="2305792" y="1260608"/>
                  <a:pt x="2281051" y="1208158"/>
                  <a:pt x="2256311" y="1155709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0" name="群組 29"/>
          <p:cNvGrpSpPr/>
          <p:nvPr/>
        </p:nvGrpSpPr>
        <p:grpSpPr>
          <a:xfrm>
            <a:off x="4557414" y="6021288"/>
            <a:ext cx="4608512" cy="701040"/>
            <a:chOff x="683568" y="2852936"/>
            <a:chExt cx="5159833" cy="701040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1" name="內容版面配置區 5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187089064"/>
                    </p:ext>
                  </p:extLst>
                </p:nvPr>
              </p:nvGraphicFramePr>
              <p:xfrm>
                <a:off x="683568" y="2852936"/>
                <a:ext cx="5159833" cy="701040"/>
              </p:xfrm>
              <a:graphic>
                <a:graphicData uri="http://schemas.openxmlformats.org/drawingml/2006/table">
                  <a:tbl>
                    <a:tblPr firstRow="1" bandRow="1">
                      <a:tableStyleId>{5C22544A-7EE6-4342-B048-85BDC9FD1C3A}</a:tableStyleId>
                    </a:tblPr>
                    <a:tblGrid>
                      <a:gridCol w="576064"/>
                      <a:gridCol w="576064"/>
                      <a:gridCol w="576064"/>
                      <a:gridCol w="576064"/>
                      <a:gridCol w="576064"/>
                      <a:gridCol w="576064"/>
                      <a:gridCol w="576064"/>
                      <a:gridCol w="576064"/>
                    </a:tblGrid>
                    <a:tr h="701040">
                      <a:tc>
                        <a:txBody>
                          <a:bodyPr/>
                          <a:lstStyle/>
                          <a:p>
                            <a:pPr algn="ctr"/>
                            <a14:m>
                              <m:oMath xmlns:m="http://schemas.openxmlformats.org/officeDocument/2006/math">
                                <m:r>
                                  <a:rPr lang="zh-TW" altLang="en-US" sz="2000" i="1" smtClean="0">
                                    <a:latin typeface="Cambria Math"/>
                                    <a:ea typeface="Cambria Math"/>
                                  </a:rPr>
                                  <m:t>𝜋</m:t>
                                </m:r>
                              </m:oMath>
                            </a14:m>
                            <a:r>
                              <a:rPr lang="en-US" altLang="zh-TW" sz="2000" dirty="0" smtClean="0"/>
                              <a:t>’’:</a:t>
                            </a:r>
                            <a:endParaRPr lang="zh-TW" altLang="en-US" sz="2000" dirty="0"/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…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  <a:endParaRPr lang="zh-TW" altLang="en-US" sz="2000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chemeClr val="tx1"/>
                                </a:solidFill>
                              </a:rPr>
                              <a:t>4</a:t>
                            </a:r>
                            <a:endParaRPr lang="zh-TW" altLang="en-US" sz="2000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…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rgbClr val="FF0000"/>
                                </a:solidFill>
                              </a:rPr>
                              <a:t>2</a:t>
                            </a:r>
                            <a:endParaRPr lang="zh-TW" altLang="en-US" sz="2000" dirty="0">
                              <a:solidFill>
                                <a:srgbClr val="FF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rgbClr val="FF0000"/>
                                </a:solidFill>
                              </a:rPr>
                              <a:t>5</a:t>
                            </a:r>
                            <a:endParaRPr lang="zh-TW" altLang="en-US" sz="2000" dirty="0">
                              <a:solidFill>
                                <a:srgbClr val="FF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…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31" name="內容版面配置區 5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187089064"/>
                    </p:ext>
                  </p:extLst>
                </p:nvPr>
              </p:nvGraphicFramePr>
              <p:xfrm>
                <a:off x="683568" y="2852936"/>
                <a:ext cx="5159833" cy="701040"/>
              </p:xfrm>
              <a:graphic>
                <a:graphicData uri="http://schemas.openxmlformats.org/drawingml/2006/table">
                  <a:tbl>
                    <a:tblPr firstRow="1" bandRow="1">
                      <a:tableStyleId>{5C22544A-7EE6-4342-B048-85BDC9FD1C3A}</a:tableStyleId>
                    </a:tblPr>
                    <a:tblGrid>
                      <a:gridCol w="576064"/>
                      <a:gridCol w="576064"/>
                      <a:gridCol w="576064"/>
                      <a:gridCol w="576064"/>
                      <a:gridCol w="576064"/>
                      <a:gridCol w="576064"/>
                      <a:gridCol w="576064"/>
                      <a:gridCol w="576064"/>
                    </a:tblGrid>
                    <a:tr h="701040">
                      <a:tc>
                        <a:txBody>
                          <a:bodyPr/>
                          <a:lstStyle/>
                          <a:p>
                            <a:endParaRPr lang="zh-TW"/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blipFill rotWithShape="1">
                            <a:blip r:embed="rId5"/>
                            <a:stretch>
                              <a:fillRect l="-1053" t="-870" r="-695789"/>
                            </a:stretch>
                          </a:blip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…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chemeClr val="tx1"/>
                                </a:solidFill>
                              </a:rPr>
                              <a:t>1</a:t>
                            </a:r>
                            <a:endParaRPr lang="zh-TW" altLang="en-US" sz="2000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chemeClr val="tx1"/>
                                </a:solidFill>
                              </a:rPr>
                              <a:t>4</a:t>
                            </a:r>
                            <a:endParaRPr lang="zh-TW" altLang="en-US" sz="2000" dirty="0">
                              <a:solidFill>
                                <a:schemeClr val="tx1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…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rgbClr val="FF0000"/>
                                </a:solidFill>
                              </a:rPr>
                              <a:t>2</a:t>
                            </a:r>
                            <a:endParaRPr lang="zh-TW" altLang="en-US" sz="2000" dirty="0">
                              <a:solidFill>
                                <a:srgbClr val="FF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rgbClr val="FF0000"/>
                                </a:solidFill>
                              </a:rPr>
                              <a:t>5</a:t>
                            </a:r>
                            <a:endParaRPr lang="zh-TW" altLang="en-US" sz="2000" dirty="0">
                              <a:solidFill>
                                <a:srgbClr val="FF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altLang="zh-TW" sz="2000" dirty="0" smtClean="0">
                                <a:solidFill>
                                  <a:sysClr val="windowText" lastClr="000000"/>
                                </a:solidFill>
                              </a:rPr>
                              <a:t>…</a:t>
                            </a:r>
                            <a:endParaRPr lang="zh-TW" altLang="en-US" sz="2000" dirty="0">
                              <a:solidFill>
                                <a:sysClr val="windowText" lastClr="000000"/>
                              </a:solidFill>
                            </a:endParaRPr>
                          </a:p>
                        </a:txBody>
                        <a:tcPr anchor="ctr">
                          <a:lnL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L>
                          <a:lnR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R>
                          <a:lnT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T>
                          <a:lnB w="1270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B>
                          <a:solidFill>
                            <a:schemeClr val="bg1"/>
                          </a:solidFill>
                        </a:tcPr>
                      </a:tc>
                    </a:tr>
                  </a:tbl>
                </a:graphicData>
              </a:graphic>
            </p:graphicFrame>
          </mc:Fallback>
        </mc:AlternateContent>
        <p:cxnSp>
          <p:nvCxnSpPr>
            <p:cNvPr id="32" name="直線接點 31"/>
            <p:cNvCxnSpPr/>
            <p:nvPr/>
          </p:nvCxnSpPr>
          <p:spPr>
            <a:xfrm>
              <a:off x="2436041" y="3212976"/>
              <a:ext cx="3600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559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936"/>
          <a:stretch/>
        </p:blipFill>
        <p:spPr bwMode="auto">
          <a:xfrm>
            <a:off x="128852" y="5807521"/>
            <a:ext cx="9138182" cy="36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err="1" smtClean="0"/>
                  <a:t>ImprovedSort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altLang="zh-TW" dirty="0" smtClean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38" b="74484"/>
          <a:stretch/>
        </p:blipFill>
        <p:spPr bwMode="auto">
          <a:xfrm>
            <a:off x="-10997" y="1268760"/>
            <a:ext cx="9138182" cy="520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 b="50000"/>
          <a:stretch/>
        </p:blipFill>
        <p:spPr bwMode="auto">
          <a:xfrm>
            <a:off x="5818" y="2276872"/>
            <a:ext cx="913818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27471"/>
          <a:stretch/>
        </p:blipFill>
        <p:spPr bwMode="auto">
          <a:xfrm>
            <a:off x="5818" y="3717032"/>
            <a:ext cx="9138182" cy="743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547" b="10488"/>
          <a:stretch/>
        </p:blipFill>
        <p:spPr bwMode="auto">
          <a:xfrm>
            <a:off x="-23548" y="4754736"/>
            <a:ext cx="9138182" cy="56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/>
          <p:cNvSpPr/>
          <p:nvPr/>
        </p:nvSpPr>
        <p:spPr>
          <a:xfrm>
            <a:off x="4067944" y="59978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Steps in sorting</a:t>
            </a:r>
            <a:r>
              <a:rPr lang="en-US" altLang="zh-TW" dirty="0"/>
              <a:t>:  </a:t>
            </a:r>
            <a:r>
              <a:rPr lang="en-US" altLang="zh-TW" dirty="0">
                <a:solidFill>
                  <a:srgbClr val="FF0000"/>
                </a:solidFill>
              </a:rPr>
              <a:t>b(</a:t>
            </a:r>
            <a:r>
              <a:rPr lang="el-GR" altLang="zh-TW" dirty="0">
                <a:solidFill>
                  <a:srgbClr val="FF0000"/>
                </a:solidFill>
              </a:rPr>
              <a:t>π</a:t>
            </a:r>
            <a:r>
              <a:rPr lang="en-US" altLang="zh-TW" dirty="0">
                <a:solidFill>
                  <a:srgbClr val="FF0000"/>
                </a:solidFill>
              </a:rPr>
              <a:t>)- </a:t>
            </a:r>
            <a:r>
              <a:rPr lang="en-US" altLang="zh-TW" dirty="0" smtClean="0">
                <a:solidFill>
                  <a:srgbClr val="FF0000"/>
                </a:solidFill>
              </a:rPr>
              <a:t>1/4c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4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l-GR" altLang="zh-TW" dirty="0">
                <a:solidFill>
                  <a:srgbClr val="FF0000"/>
                </a:solidFill>
              </a:rPr>
              <a:t>π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 smtClean="0">
                <a:solidFill>
                  <a:srgbClr val="FF0000"/>
                </a:solidFill>
              </a:rPr>
              <a:t>steps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Time complexity</a:t>
            </a:r>
            <a:r>
              <a:rPr lang="en-US" altLang="zh-TW" dirty="0" smtClean="0"/>
              <a:t>:  </a:t>
            </a:r>
            <a:r>
              <a:rPr lang="en-US" altLang="zh-TW" dirty="0" smtClean="0">
                <a:solidFill>
                  <a:srgbClr val="FF0000"/>
                </a:solidFill>
              </a:rPr>
              <a:t>O(n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endParaRPr lang="en-US" altLang="zh-TW" dirty="0"/>
          </a:p>
          <a:p>
            <a:r>
              <a:rPr lang="en-US" altLang="zh-TW" dirty="0" smtClean="0">
                <a:solidFill>
                  <a:srgbClr val="FF0000"/>
                </a:solidFill>
              </a:rPr>
              <a:t>Performance </a:t>
            </a:r>
            <a:r>
              <a:rPr lang="en-US" altLang="zh-TW" dirty="0">
                <a:solidFill>
                  <a:srgbClr val="FF0000"/>
                </a:solidFill>
              </a:rPr>
              <a:t>ratio </a:t>
            </a:r>
            <a:r>
              <a:rPr lang="en-US" altLang="zh-TW" dirty="0" smtClean="0">
                <a:solidFill>
                  <a:srgbClr val="FF0000"/>
                </a:solidFill>
              </a:rPr>
              <a:t>: 7/4</a:t>
            </a:r>
          </a:p>
          <a:p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9592" y="5314950"/>
            <a:ext cx="116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O(n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) time</a:t>
            </a:r>
            <a:endParaRPr lang="en-US" altLang="zh-TW" dirty="0"/>
          </a:p>
        </p:txBody>
      </p:sp>
      <p:sp>
        <p:nvSpPr>
          <p:cNvPr id="18" name="矩形 17"/>
          <p:cNvSpPr/>
          <p:nvPr/>
        </p:nvSpPr>
        <p:spPr>
          <a:xfrm>
            <a:off x="755576" y="3121422"/>
            <a:ext cx="1285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O(n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3/2</a:t>
            </a:r>
            <a:r>
              <a:rPr lang="en-US" altLang="zh-TW" dirty="0" smtClean="0">
                <a:solidFill>
                  <a:srgbClr val="FF0000"/>
                </a:solidFill>
              </a:rPr>
              <a:t>) time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0454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err="1" smtClean="0"/>
                  <a:t>ImprovedSort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altLang="zh-TW" dirty="0" smtClean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38" b="74484"/>
          <a:stretch/>
        </p:blipFill>
        <p:spPr bwMode="auto">
          <a:xfrm>
            <a:off x="-10997" y="1268760"/>
            <a:ext cx="9138182" cy="520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內容版面配置區 5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74527432"/>
                  </p:ext>
                </p:extLst>
              </p:nvPr>
            </p:nvGraphicFramePr>
            <p:xfrm>
              <a:off x="61008" y="2204864"/>
              <a:ext cx="3862922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2114"/>
                    <a:gridCol w="403851"/>
                    <a:gridCol w="403851"/>
                    <a:gridCol w="403851"/>
                    <a:gridCol w="403851"/>
                    <a:gridCol w="403851"/>
                    <a:gridCol w="403851"/>
                    <a:gridCol w="403851"/>
                    <a:gridCol w="403851"/>
                  </a:tblGrid>
                  <a:tr h="4320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zh-TW" altLang="en-US" sz="200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altLang="zh-TW" sz="2000" dirty="0" smtClean="0"/>
                            <a:t>: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u="sng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  <a:endParaRPr lang="zh-TW" altLang="en-US" sz="2000" u="sng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endParaRPr lang="zh-TW" altLang="en-US" sz="2000" u="sng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  <a:endParaRPr lang="zh-TW" altLang="en-US" sz="2000" u="sng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內容版面配置區 5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74527432"/>
                  </p:ext>
                </p:extLst>
              </p:nvPr>
            </p:nvGraphicFramePr>
            <p:xfrm>
              <a:off x="61008" y="2204864"/>
              <a:ext cx="3862922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2114"/>
                    <a:gridCol w="403851"/>
                    <a:gridCol w="403851"/>
                    <a:gridCol w="403851"/>
                    <a:gridCol w="403851"/>
                    <a:gridCol w="403851"/>
                    <a:gridCol w="403851"/>
                    <a:gridCol w="403851"/>
                    <a:gridCol w="403851"/>
                  </a:tblGrid>
                  <a:tr h="43204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817" r="-509615" b="-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u="sng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  <a:endParaRPr lang="zh-TW" altLang="en-US" sz="2000" u="sng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endParaRPr lang="zh-TW" altLang="en-US" sz="2000" u="sng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  <a:endParaRPr lang="zh-TW" altLang="en-US" sz="2000" u="sng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13419994"/>
                  </p:ext>
                </p:extLst>
              </p:nvPr>
            </p:nvGraphicFramePr>
            <p:xfrm>
              <a:off x="4932039" y="2204864"/>
              <a:ext cx="3960449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8073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</a:tblGrid>
                  <a:tr h="4320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𝒊</m:t>
                              </m:r>
                            </m:oMath>
                          </a14:m>
                          <a:r>
                            <a:rPr lang="en-US" altLang="zh-TW" sz="2000" dirty="0" smtClean="0"/>
                            <a:t>: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13419994"/>
                  </p:ext>
                </p:extLst>
              </p:nvPr>
            </p:nvGraphicFramePr>
            <p:xfrm>
              <a:off x="4932039" y="2204864"/>
              <a:ext cx="3960449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8073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</a:tblGrid>
                  <a:tr h="43204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817" r="-513208" b="-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文字方塊 2"/>
          <p:cNvSpPr txBox="1"/>
          <p:nvPr/>
        </p:nvSpPr>
        <p:spPr>
          <a:xfrm>
            <a:off x="107504" y="1819837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G(r</a:t>
            </a:r>
            <a:r>
              <a:rPr lang="en-US" altLang="zh-TW" baseline="-25000" dirty="0" smtClean="0"/>
              <a:t>6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13" name="向右箭號 12"/>
          <p:cNvSpPr/>
          <p:nvPr/>
        </p:nvSpPr>
        <p:spPr>
          <a:xfrm>
            <a:off x="4131911" y="2257529"/>
            <a:ext cx="57606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40692117"/>
                  </p:ext>
                </p:extLst>
              </p:nvPr>
            </p:nvGraphicFramePr>
            <p:xfrm>
              <a:off x="4932040" y="2996952"/>
              <a:ext cx="3960449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8073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</a:tblGrid>
                  <a:tr h="4320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𝒊</m:t>
                              </m:r>
                              <m:r>
                                <a:rPr lang="zh-TW" altLang="en-US" sz="2000" b="1" i="1" smtClean="0">
                                  <a:latin typeface="Cambria Math"/>
                                </a:rPr>
                                <m:t>𝜹</m:t>
                              </m:r>
                              <m:r>
                                <a:rPr lang="en-US" altLang="zh-TW" sz="2000" b="1" i="1" baseline="-25000" smtClean="0">
                                  <a:latin typeface="Cambria Math"/>
                                </a:rPr>
                                <m:t>𝟏</m:t>
                              </m:r>
                            </m:oMath>
                          </a14:m>
                          <a:r>
                            <a:rPr lang="en-US" altLang="zh-TW" sz="2000" dirty="0" smtClean="0"/>
                            <a:t>: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u="sng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  <a:endParaRPr lang="zh-TW" altLang="en-US" sz="2000" u="sng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zh-TW" altLang="en-US" sz="2000" u="sng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zh-TW" altLang="en-US" sz="2000" u="sng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zh-TW" altLang="en-US" sz="200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40692117"/>
                  </p:ext>
                </p:extLst>
              </p:nvPr>
            </p:nvGraphicFramePr>
            <p:xfrm>
              <a:off x="4932040" y="2996952"/>
              <a:ext cx="3960449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8073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</a:tblGrid>
                  <a:tr h="43204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2817" r="-513208" b="-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u="sng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  <a:endParaRPr lang="zh-TW" altLang="en-US" sz="2000" u="sng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zh-TW" altLang="en-US" sz="2000" u="sng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sng" dirty="0" smtClean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zh-TW" altLang="en-US" sz="2000" u="sng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zh-TW" altLang="en-US" sz="200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8" name="向下箭號 17"/>
          <p:cNvSpPr/>
          <p:nvPr/>
        </p:nvSpPr>
        <p:spPr>
          <a:xfrm>
            <a:off x="4062079" y="3861048"/>
            <a:ext cx="496015" cy="936104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00966904"/>
                  </p:ext>
                </p:extLst>
              </p:nvPr>
            </p:nvGraphicFramePr>
            <p:xfrm>
              <a:off x="107504" y="5373216"/>
              <a:ext cx="3862922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2114"/>
                    <a:gridCol w="403851"/>
                    <a:gridCol w="403851"/>
                    <a:gridCol w="403851"/>
                    <a:gridCol w="403851"/>
                    <a:gridCol w="403851"/>
                    <a:gridCol w="403851"/>
                    <a:gridCol w="403851"/>
                    <a:gridCol w="403851"/>
                  </a:tblGrid>
                  <a:tr h="4320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zh-TW" altLang="en-US" sz="2000" i="1" smtClean="0">
                                  <a:latin typeface="Cambria Math"/>
                                </a:rPr>
                                <m:t>𝝈</m:t>
                              </m:r>
                            </m:oMath>
                          </a14:m>
                          <a:r>
                            <a:rPr lang="en-US" altLang="zh-TW" sz="2000" dirty="0" smtClean="0"/>
                            <a:t>: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00966904"/>
                  </p:ext>
                </p:extLst>
              </p:nvPr>
            </p:nvGraphicFramePr>
            <p:xfrm>
              <a:off x="107504" y="5373216"/>
              <a:ext cx="3862922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2114"/>
                    <a:gridCol w="403851"/>
                    <a:gridCol w="403851"/>
                    <a:gridCol w="403851"/>
                    <a:gridCol w="403851"/>
                    <a:gridCol w="403851"/>
                    <a:gridCol w="403851"/>
                    <a:gridCol w="403851"/>
                    <a:gridCol w="403851"/>
                  </a:tblGrid>
                  <a:tr h="43204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7"/>
                          <a:stretch>
                            <a:fillRect l="-962" t="-2817" r="-509615" b="-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5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u="none" dirty="0" smtClean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  <a:endParaRPr lang="zh-TW" altLang="en-US" sz="2000" u="non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97232798"/>
                  </p:ext>
                </p:extLst>
              </p:nvPr>
            </p:nvGraphicFramePr>
            <p:xfrm>
              <a:off x="4788015" y="5373216"/>
              <a:ext cx="3960449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8073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</a:tblGrid>
                  <a:tr h="4320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𝒊</m:t>
                              </m:r>
                            </m:oMath>
                          </a14:m>
                          <a:r>
                            <a:rPr lang="en-US" altLang="zh-TW" sz="2000" dirty="0" smtClean="0"/>
                            <a:t>: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97232798"/>
                  </p:ext>
                </p:extLst>
              </p:nvPr>
            </p:nvGraphicFramePr>
            <p:xfrm>
              <a:off x="4788015" y="5373216"/>
              <a:ext cx="3960449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8073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  <a:gridCol w="414047"/>
                  </a:tblGrid>
                  <a:tr h="43204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8"/>
                          <a:stretch>
                            <a:fillRect t="-2817" r="-514151" b="-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4" name="向右箭號 23"/>
          <p:cNvSpPr/>
          <p:nvPr/>
        </p:nvSpPr>
        <p:spPr>
          <a:xfrm>
            <a:off x="4128710" y="5517232"/>
            <a:ext cx="57606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085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err="1" smtClean="0"/>
                  <a:t>ImprovedSort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altLang="zh-TW" dirty="0" smtClean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 b="50000"/>
          <a:stretch/>
        </p:blipFill>
        <p:spPr bwMode="auto">
          <a:xfrm>
            <a:off x="0" y="1340768"/>
            <a:ext cx="913818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807" y="4344097"/>
            <a:ext cx="5119727" cy="2469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132856"/>
            <a:ext cx="6190857" cy="316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48952"/>
            <a:ext cx="6949946" cy="2513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3347864" y="1556792"/>
            <a:ext cx="151216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602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err="1" smtClean="0"/>
                  <a:t>ImprovedSort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altLang="zh-TW" dirty="0" smtClean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 b="50000"/>
          <a:stretch/>
        </p:blipFill>
        <p:spPr bwMode="auto">
          <a:xfrm>
            <a:off x="0" y="1340768"/>
            <a:ext cx="913818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807" y="3789040"/>
            <a:ext cx="5119727" cy="2469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132856"/>
            <a:ext cx="6190857" cy="316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6143176"/>
              </p:ext>
            </p:extLst>
          </p:nvPr>
        </p:nvGraphicFramePr>
        <p:xfrm>
          <a:off x="58240" y="2474580"/>
          <a:ext cx="5715151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/>
                        <a:t>π</a:t>
                      </a:r>
                      <a:r>
                        <a:rPr lang="en-US" altLang="zh-TW" sz="2000" dirty="0" smtClean="0"/>
                        <a:t>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pSp>
        <p:nvGrpSpPr>
          <p:cNvPr id="10" name="群組 9"/>
          <p:cNvGrpSpPr/>
          <p:nvPr/>
        </p:nvGrpSpPr>
        <p:grpSpPr>
          <a:xfrm>
            <a:off x="436" y="3087732"/>
            <a:ext cx="4323035" cy="2944669"/>
            <a:chOff x="13048" y="1988840"/>
            <a:chExt cx="4323035" cy="2944669"/>
          </a:xfrm>
        </p:grpSpPr>
        <p:grpSp>
          <p:nvGrpSpPr>
            <p:cNvPr id="11" name="群組 10"/>
            <p:cNvGrpSpPr/>
            <p:nvPr/>
          </p:nvGrpSpPr>
          <p:grpSpPr>
            <a:xfrm>
              <a:off x="13048" y="1988840"/>
              <a:ext cx="4323035" cy="2944669"/>
              <a:chOff x="6276029" y="2701825"/>
              <a:chExt cx="3849113" cy="2767989"/>
            </a:xfrm>
          </p:grpSpPr>
          <p:sp>
            <p:nvSpPr>
              <p:cNvPr id="19" name="橢圓 18"/>
              <p:cNvSpPr/>
              <p:nvPr/>
            </p:nvSpPr>
            <p:spPr>
              <a:xfrm>
                <a:off x="6817785" y="3852513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/>
                  <a:t>3</a:t>
                </a:r>
                <a:endParaRPr lang="en-US" altLang="zh-TW" sz="1600" dirty="0" smtClean="0"/>
              </a:p>
            </p:txBody>
          </p:sp>
          <p:sp>
            <p:nvSpPr>
              <p:cNvPr id="20" name="橢圓 19"/>
              <p:cNvSpPr/>
              <p:nvPr/>
            </p:nvSpPr>
            <p:spPr>
              <a:xfrm>
                <a:off x="6276029" y="2724257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/>
                  <a:t>1</a:t>
                </a:r>
                <a:endParaRPr lang="en-US" altLang="zh-TW" sz="1600" dirty="0" smtClean="0"/>
              </a:p>
            </p:txBody>
          </p:sp>
          <p:sp>
            <p:nvSpPr>
              <p:cNvPr id="21" name="橢圓 20"/>
              <p:cNvSpPr/>
              <p:nvPr/>
            </p:nvSpPr>
            <p:spPr>
              <a:xfrm>
                <a:off x="7335186" y="2745853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/>
                  <a:t>2</a:t>
                </a:r>
                <a:endParaRPr lang="en-US" altLang="zh-TW" sz="1600" dirty="0" smtClean="0"/>
              </a:p>
            </p:txBody>
          </p:sp>
          <p:sp>
            <p:nvSpPr>
              <p:cNvPr id="22" name="橢圓 21"/>
              <p:cNvSpPr/>
              <p:nvPr/>
            </p:nvSpPr>
            <p:spPr>
              <a:xfrm>
                <a:off x="8903768" y="2724257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5</a:t>
                </a:r>
              </a:p>
            </p:txBody>
          </p:sp>
          <p:sp>
            <p:nvSpPr>
              <p:cNvPr id="23" name="橢圓 22"/>
              <p:cNvSpPr/>
              <p:nvPr/>
            </p:nvSpPr>
            <p:spPr>
              <a:xfrm>
                <a:off x="7906582" y="2701825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4</a:t>
                </a:r>
              </a:p>
            </p:txBody>
          </p:sp>
          <p:sp>
            <p:nvSpPr>
              <p:cNvPr id="24" name="橢圓 23"/>
              <p:cNvSpPr/>
              <p:nvPr/>
            </p:nvSpPr>
            <p:spPr>
              <a:xfrm>
                <a:off x="7356964" y="4963702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7</a:t>
                </a:r>
              </a:p>
            </p:txBody>
          </p:sp>
          <p:sp>
            <p:nvSpPr>
              <p:cNvPr id="25" name="橢圓 24"/>
              <p:cNvSpPr/>
              <p:nvPr/>
            </p:nvSpPr>
            <p:spPr>
              <a:xfrm>
                <a:off x="8399711" y="4001720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6</a:t>
                </a:r>
              </a:p>
            </p:txBody>
          </p:sp>
          <p:sp>
            <p:nvSpPr>
              <p:cNvPr id="26" name="橢圓 25"/>
              <p:cNvSpPr/>
              <p:nvPr/>
            </p:nvSpPr>
            <p:spPr>
              <a:xfrm>
                <a:off x="9621086" y="4963704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11</a:t>
                </a:r>
              </a:p>
            </p:txBody>
          </p:sp>
          <p:sp>
            <p:nvSpPr>
              <p:cNvPr id="27" name="橢圓 26"/>
              <p:cNvSpPr/>
              <p:nvPr/>
            </p:nvSpPr>
            <p:spPr>
              <a:xfrm>
                <a:off x="8916643" y="4963705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10</a:t>
                </a:r>
              </a:p>
            </p:txBody>
          </p:sp>
          <p:sp>
            <p:nvSpPr>
              <p:cNvPr id="28" name="橢圓 27"/>
              <p:cNvSpPr/>
              <p:nvPr/>
            </p:nvSpPr>
            <p:spPr>
              <a:xfrm>
                <a:off x="7898866" y="4965758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/>
                  <a:t>9</a:t>
                </a:r>
                <a:endParaRPr lang="en-US" altLang="zh-TW" sz="1600" dirty="0" smtClean="0"/>
              </a:p>
            </p:txBody>
          </p:sp>
          <p:cxnSp>
            <p:nvCxnSpPr>
              <p:cNvPr id="29" name="直線接點 28"/>
              <p:cNvCxnSpPr>
                <a:stCxn id="30" idx="2"/>
                <a:endCxn id="22" idx="6"/>
              </p:cNvCxnSpPr>
              <p:nvPr/>
            </p:nvCxnSpPr>
            <p:spPr>
              <a:xfrm flipH="1" flipV="1">
                <a:off x="9407824" y="2976285"/>
                <a:ext cx="113069" cy="516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橢圓 29"/>
              <p:cNvSpPr/>
              <p:nvPr/>
            </p:nvSpPr>
            <p:spPr>
              <a:xfrm>
                <a:off x="9520893" y="2729423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0</a:t>
                </a:r>
              </a:p>
            </p:txBody>
          </p:sp>
          <p:cxnSp>
            <p:nvCxnSpPr>
              <p:cNvPr id="31" name="直線接點 30"/>
              <p:cNvCxnSpPr>
                <a:stCxn id="24" idx="0"/>
                <a:endCxn id="19" idx="4"/>
              </p:cNvCxnSpPr>
              <p:nvPr/>
            </p:nvCxnSpPr>
            <p:spPr>
              <a:xfrm flipH="1" flipV="1">
                <a:off x="7069813" y="4356569"/>
                <a:ext cx="539179" cy="60713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/>
              <p:cNvCxnSpPr>
                <a:stCxn id="21" idx="4"/>
                <a:endCxn id="25" idx="0"/>
              </p:cNvCxnSpPr>
              <p:nvPr/>
            </p:nvCxnSpPr>
            <p:spPr>
              <a:xfrm>
                <a:off x="7587214" y="3249909"/>
                <a:ext cx="1064524" cy="75181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直線接點 32"/>
              <p:cNvCxnSpPr>
                <a:stCxn id="25" idx="4"/>
                <a:endCxn id="27" idx="1"/>
              </p:cNvCxnSpPr>
              <p:nvPr/>
            </p:nvCxnSpPr>
            <p:spPr>
              <a:xfrm>
                <a:off x="8651739" y="4505776"/>
                <a:ext cx="338721" cy="53174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>
                <a:stCxn id="24" idx="0"/>
                <a:endCxn id="21" idx="4"/>
              </p:cNvCxnSpPr>
              <p:nvPr/>
            </p:nvCxnSpPr>
            <p:spPr>
              <a:xfrm flipH="1" flipV="1">
                <a:off x="7587214" y="3249909"/>
                <a:ext cx="21778" cy="171379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直線接點 34"/>
              <p:cNvCxnSpPr>
                <a:stCxn id="22" idx="4"/>
                <a:endCxn id="27" idx="0"/>
              </p:cNvCxnSpPr>
              <p:nvPr/>
            </p:nvCxnSpPr>
            <p:spPr>
              <a:xfrm>
                <a:off x="9155796" y="3228313"/>
                <a:ext cx="12875" cy="173539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直線接點 35"/>
              <p:cNvCxnSpPr>
                <a:stCxn id="25" idx="4"/>
                <a:endCxn id="24" idx="0"/>
              </p:cNvCxnSpPr>
              <p:nvPr/>
            </p:nvCxnSpPr>
            <p:spPr>
              <a:xfrm flipH="1">
                <a:off x="7608992" y="4505776"/>
                <a:ext cx="1042747" cy="45792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/>
              <p:cNvCxnSpPr>
                <a:stCxn id="19" idx="6"/>
                <a:endCxn id="21" idx="4"/>
              </p:cNvCxnSpPr>
              <p:nvPr/>
            </p:nvCxnSpPr>
            <p:spPr>
              <a:xfrm flipV="1">
                <a:off x="7321841" y="3249909"/>
                <a:ext cx="265373" cy="854632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線接點 37"/>
              <p:cNvCxnSpPr>
                <a:stCxn id="23" idx="4"/>
                <a:endCxn id="19" idx="6"/>
              </p:cNvCxnSpPr>
              <p:nvPr/>
            </p:nvCxnSpPr>
            <p:spPr>
              <a:xfrm flipH="1">
                <a:off x="7321841" y="3205881"/>
                <a:ext cx="836769" cy="89866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" name="直線接點 38"/>
              <p:cNvCxnSpPr>
                <a:stCxn id="21" idx="2"/>
                <a:endCxn id="20" idx="6"/>
              </p:cNvCxnSpPr>
              <p:nvPr/>
            </p:nvCxnSpPr>
            <p:spPr>
              <a:xfrm flipH="1" flipV="1">
                <a:off x="6780085" y="2976285"/>
                <a:ext cx="555101" cy="2159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" name="直線接點 39"/>
              <p:cNvCxnSpPr>
                <a:stCxn id="22" idx="3"/>
                <a:endCxn id="25" idx="0"/>
              </p:cNvCxnSpPr>
              <p:nvPr/>
            </p:nvCxnSpPr>
            <p:spPr>
              <a:xfrm flipH="1">
                <a:off x="8651739" y="3154496"/>
                <a:ext cx="325846" cy="847224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" name="直線接點 40"/>
              <p:cNvCxnSpPr>
                <a:stCxn id="22" idx="2"/>
                <a:endCxn id="23" idx="6"/>
              </p:cNvCxnSpPr>
              <p:nvPr/>
            </p:nvCxnSpPr>
            <p:spPr>
              <a:xfrm flipH="1" flipV="1">
                <a:off x="8410638" y="2953853"/>
                <a:ext cx="493129" cy="22432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42" name="橢圓 41"/>
              <p:cNvSpPr/>
              <p:nvPr/>
            </p:nvSpPr>
            <p:spPr>
              <a:xfrm>
                <a:off x="6276029" y="4963706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8</a:t>
                </a:r>
              </a:p>
            </p:txBody>
          </p:sp>
        </p:grpSp>
        <p:grpSp>
          <p:nvGrpSpPr>
            <p:cNvPr id="12" name="群組 11"/>
            <p:cNvGrpSpPr/>
            <p:nvPr/>
          </p:nvGrpSpPr>
          <p:grpSpPr>
            <a:xfrm>
              <a:off x="296106" y="2525070"/>
              <a:ext cx="3473859" cy="2140324"/>
              <a:chOff x="296106" y="2525070"/>
              <a:chExt cx="3473859" cy="2140324"/>
            </a:xfrm>
          </p:grpSpPr>
          <p:cxnSp>
            <p:nvCxnSpPr>
              <p:cNvPr id="13" name="直線接點 12"/>
              <p:cNvCxnSpPr>
                <a:stCxn id="20" idx="4"/>
                <a:endCxn id="19" idx="1"/>
              </p:cNvCxnSpPr>
              <p:nvPr/>
            </p:nvCxnSpPr>
            <p:spPr>
              <a:xfrm>
                <a:off x="296106" y="2548934"/>
                <a:ext cx="408307" cy="74257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線接點 13"/>
              <p:cNvCxnSpPr>
                <a:stCxn id="20" idx="4"/>
                <a:endCxn id="42" idx="0"/>
              </p:cNvCxnSpPr>
              <p:nvPr/>
            </p:nvCxnSpPr>
            <p:spPr>
              <a:xfrm>
                <a:off x="296106" y="2548934"/>
                <a:ext cx="0" cy="184616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線接點 14"/>
              <p:cNvCxnSpPr>
                <a:stCxn id="23" idx="4"/>
                <a:endCxn id="28" idx="0"/>
              </p:cNvCxnSpPr>
              <p:nvPr/>
            </p:nvCxnSpPr>
            <p:spPr>
              <a:xfrm flipH="1">
                <a:off x="2118755" y="2525070"/>
                <a:ext cx="8666" cy="187220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線接點 15"/>
              <p:cNvCxnSpPr>
                <a:stCxn id="42" idx="6"/>
                <a:endCxn id="24" idx="2"/>
              </p:cNvCxnSpPr>
              <p:nvPr/>
            </p:nvCxnSpPr>
            <p:spPr>
              <a:xfrm flipV="1">
                <a:off x="579165" y="4663207"/>
                <a:ext cx="647907" cy="4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" name="直線接點 16"/>
              <p:cNvCxnSpPr>
                <a:stCxn id="28" idx="6"/>
                <a:endCxn id="27" idx="2"/>
              </p:cNvCxnSpPr>
              <p:nvPr/>
            </p:nvCxnSpPr>
            <p:spPr>
              <a:xfrm flipV="1">
                <a:off x="2401814" y="4663210"/>
                <a:ext cx="576972" cy="2184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/>
              <p:cNvCxnSpPr>
                <a:stCxn id="27" idx="6"/>
                <a:endCxn id="26" idx="2"/>
              </p:cNvCxnSpPr>
              <p:nvPr/>
            </p:nvCxnSpPr>
            <p:spPr>
              <a:xfrm flipV="1">
                <a:off x="3544904" y="4663209"/>
                <a:ext cx="225061" cy="1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8122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188640"/>
                <a:ext cx="8229600" cy="1143000"/>
              </a:xfrm>
            </p:spPr>
            <p:txBody>
              <a:bodyPr/>
              <a:lstStyle/>
              <a:p>
                <a:r>
                  <a:rPr lang="en-US" altLang="zh-TW" dirty="0" err="1" smtClean="0"/>
                  <a:t>ImprovedSort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altLang="zh-TW" dirty="0" smtClean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188640"/>
                <a:ext cx="8229600" cy="1143000"/>
              </a:xfrm>
              <a:blipFill rotWithShape="1">
                <a:blip r:embed="rId2"/>
                <a:stretch>
                  <a:fillRect b="-96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27471"/>
          <a:stretch/>
        </p:blipFill>
        <p:spPr bwMode="auto">
          <a:xfrm>
            <a:off x="-36512" y="1052736"/>
            <a:ext cx="9138182" cy="743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群組 6"/>
          <p:cNvGrpSpPr/>
          <p:nvPr/>
        </p:nvGrpSpPr>
        <p:grpSpPr>
          <a:xfrm>
            <a:off x="180612" y="2309890"/>
            <a:ext cx="4159267" cy="3599557"/>
            <a:chOff x="13049" y="1828127"/>
            <a:chExt cx="4159267" cy="3599557"/>
          </a:xfrm>
        </p:grpSpPr>
        <p:grpSp>
          <p:nvGrpSpPr>
            <p:cNvPr id="8" name="群組 7"/>
            <p:cNvGrpSpPr/>
            <p:nvPr/>
          </p:nvGrpSpPr>
          <p:grpSpPr>
            <a:xfrm>
              <a:off x="13049" y="1828127"/>
              <a:ext cx="4159267" cy="3599557"/>
              <a:chOff x="6276029" y="2550754"/>
              <a:chExt cx="3703298" cy="3383584"/>
            </a:xfrm>
          </p:grpSpPr>
          <p:sp>
            <p:nvSpPr>
              <p:cNvPr id="16" name="橢圓 15"/>
              <p:cNvSpPr/>
              <p:nvPr/>
            </p:nvSpPr>
            <p:spPr>
              <a:xfrm>
                <a:off x="9275086" y="3696100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A</a:t>
                </a:r>
                <a:endParaRPr lang="en-US" altLang="zh-TW" sz="1600" dirty="0" smtClean="0"/>
              </a:p>
            </p:txBody>
          </p:sp>
          <p:sp>
            <p:nvSpPr>
              <p:cNvPr id="17" name="橢圓 16"/>
              <p:cNvSpPr/>
              <p:nvPr/>
            </p:nvSpPr>
            <p:spPr>
              <a:xfrm>
                <a:off x="6276029" y="2724257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600" dirty="0" smtClean="0"/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7335186" y="2745853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600" dirty="0" smtClean="0"/>
              </a:p>
            </p:txBody>
          </p:sp>
          <p:sp>
            <p:nvSpPr>
              <p:cNvPr id="19" name="橢圓 18"/>
              <p:cNvSpPr/>
              <p:nvPr/>
            </p:nvSpPr>
            <p:spPr>
              <a:xfrm>
                <a:off x="7307905" y="4550344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600" dirty="0" smtClean="0"/>
              </a:p>
            </p:txBody>
          </p:sp>
          <p:sp>
            <p:nvSpPr>
              <p:cNvPr id="20" name="橢圓 19"/>
              <p:cNvSpPr/>
              <p:nvPr/>
            </p:nvSpPr>
            <p:spPr>
              <a:xfrm>
                <a:off x="6310720" y="4587788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600" dirty="0" smtClean="0"/>
              </a:p>
            </p:txBody>
          </p:sp>
          <p:sp>
            <p:nvSpPr>
              <p:cNvPr id="21" name="橢圓 20"/>
              <p:cNvSpPr/>
              <p:nvPr/>
            </p:nvSpPr>
            <p:spPr>
              <a:xfrm>
                <a:off x="7356964" y="3602718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600" dirty="0" smtClean="0"/>
              </a:p>
            </p:txBody>
          </p:sp>
          <p:sp>
            <p:nvSpPr>
              <p:cNvPr id="22" name="橢圓 21"/>
              <p:cNvSpPr/>
              <p:nvPr/>
            </p:nvSpPr>
            <p:spPr>
              <a:xfrm>
                <a:off x="9146392" y="5131496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B</a:t>
                </a:r>
                <a:endParaRPr lang="en-US" altLang="zh-TW" sz="1600" dirty="0" smtClean="0"/>
              </a:p>
            </p:txBody>
          </p:sp>
          <p:sp>
            <p:nvSpPr>
              <p:cNvPr id="23" name="橢圓 22"/>
              <p:cNvSpPr/>
              <p:nvPr/>
            </p:nvSpPr>
            <p:spPr>
              <a:xfrm>
                <a:off x="9475271" y="2593041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600" dirty="0" smtClean="0"/>
              </a:p>
            </p:txBody>
          </p:sp>
          <p:sp>
            <p:nvSpPr>
              <p:cNvPr id="24" name="橢圓 23"/>
              <p:cNvSpPr/>
              <p:nvPr/>
            </p:nvSpPr>
            <p:spPr>
              <a:xfrm>
                <a:off x="7320781" y="5430282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600" dirty="0" smtClean="0"/>
              </a:p>
            </p:txBody>
          </p:sp>
          <p:sp>
            <p:nvSpPr>
              <p:cNvPr id="25" name="橢圓 24"/>
              <p:cNvSpPr/>
              <p:nvPr/>
            </p:nvSpPr>
            <p:spPr>
              <a:xfrm>
                <a:off x="6303004" y="5400038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600" dirty="0" smtClean="0"/>
              </a:p>
            </p:txBody>
          </p:sp>
          <p:cxnSp>
            <p:nvCxnSpPr>
              <p:cNvPr id="26" name="直線接點 25"/>
              <p:cNvCxnSpPr>
                <a:stCxn id="27" idx="2"/>
                <a:endCxn id="19" idx="6"/>
              </p:cNvCxnSpPr>
              <p:nvPr/>
            </p:nvCxnSpPr>
            <p:spPr>
              <a:xfrm flipH="1">
                <a:off x="7811961" y="2802782"/>
                <a:ext cx="1051270" cy="199959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橢圓 26"/>
              <p:cNvSpPr/>
              <p:nvPr/>
            </p:nvSpPr>
            <p:spPr>
              <a:xfrm>
                <a:off x="8863232" y="2550754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600" dirty="0" smtClean="0"/>
              </a:p>
            </p:txBody>
          </p:sp>
          <p:cxnSp>
            <p:nvCxnSpPr>
              <p:cNvPr id="28" name="直線接點 27"/>
              <p:cNvCxnSpPr>
                <a:stCxn id="24" idx="6"/>
                <a:endCxn id="16" idx="4"/>
              </p:cNvCxnSpPr>
              <p:nvPr/>
            </p:nvCxnSpPr>
            <p:spPr>
              <a:xfrm flipV="1">
                <a:off x="7824837" y="4200156"/>
                <a:ext cx="1702277" cy="148215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/>
              <p:cNvCxnSpPr>
                <a:stCxn id="18" idx="4"/>
                <a:endCxn id="22" idx="0"/>
              </p:cNvCxnSpPr>
              <p:nvPr/>
            </p:nvCxnSpPr>
            <p:spPr>
              <a:xfrm>
                <a:off x="7587214" y="3249909"/>
                <a:ext cx="1811205" cy="188158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/>
              <p:cNvCxnSpPr>
                <a:stCxn id="22" idx="4"/>
                <a:endCxn id="24" idx="6"/>
              </p:cNvCxnSpPr>
              <p:nvPr/>
            </p:nvCxnSpPr>
            <p:spPr>
              <a:xfrm flipH="1">
                <a:off x="7824837" y="5635552"/>
                <a:ext cx="1573583" cy="4675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線接點 30"/>
              <p:cNvCxnSpPr>
                <a:stCxn id="21" idx="0"/>
                <a:endCxn id="18" idx="4"/>
              </p:cNvCxnSpPr>
              <p:nvPr/>
            </p:nvCxnSpPr>
            <p:spPr>
              <a:xfrm flipH="1" flipV="1">
                <a:off x="7587214" y="3249909"/>
                <a:ext cx="21778" cy="35280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/>
              <p:cNvCxnSpPr>
                <a:stCxn id="19" idx="4"/>
                <a:endCxn id="24" idx="0"/>
              </p:cNvCxnSpPr>
              <p:nvPr/>
            </p:nvCxnSpPr>
            <p:spPr>
              <a:xfrm>
                <a:off x="7559933" y="5054400"/>
                <a:ext cx="12876" cy="37588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直線接點 32"/>
              <p:cNvCxnSpPr>
                <a:stCxn id="22" idx="4"/>
                <a:endCxn id="21" idx="0"/>
              </p:cNvCxnSpPr>
              <p:nvPr/>
            </p:nvCxnSpPr>
            <p:spPr>
              <a:xfrm flipH="1" flipV="1">
                <a:off x="7608992" y="3602718"/>
                <a:ext cx="1789428" cy="2032835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>
                <a:stCxn id="16" idx="1"/>
                <a:endCxn id="18" idx="4"/>
              </p:cNvCxnSpPr>
              <p:nvPr/>
            </p:nvCxnSpPr>
            <p:spPr>
              <a:xfrm flipH="1" flipV="1">
                <a:off x="7587214" y="3249909"/>
                <a:ext cx="1761689" cy="52000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" name="直線接點 34"/>
              <p:cNvCxnSpPr>
                <a:stCxn id="20" idx="7"/>
                <a:endCxn id="16" idx="3"/>
              </p:cNvCxnSpPr>
              <p:nvPr/>
            </p:nvCxnSpPr>
            <p:spPr>
              <a:xfrm flipV="1">
                <a:off x="6740959" y="4126339"/>
                <a:ext cx="2607945" cy="53526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直線接點 35"/>
              <p:cNvCxnSpPr>
                <a:stCxn id="18" idx="2"/>
                <a:endCxn id="17" idx="6"/>
              </p:cNvCxnSpPr>
              <p:nvPr/>
            </p:nvCxnSpPr>
            <p:spPr>
              <a:xfrm flipH="1" flipV="1">
                <a:off x="6780085" y="2976285"/>
                <a:ext cx="555101" cy="2159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/>
              <p:cNvCxnSpPr>
                <a:stCxn id="19" idx="6"/>
                <a:endCxn id="22" idx="0"/>
              </p:cNvCxnSpPr>
              <p:nvPr/>
            </p:nvCxnSpPr>
            <p:spPr>
              <a:xfrm>
                <a:off x="7811961" y="4802372"/>
                <a:ext cx="1586458" cy="329124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8" name="直線接點 37"/>
              <p:cNvCxnSpPr>
                <a:stCxn id="19" idx="2"/>
                <a:endCxn id="20" idx="6"/>
              </p:cNvCxnSpPr>
              <p:nvPr/>
            </p:nvCxnSpPr>
            <p:spPr>
              <a:xfrm flipH="1">
                <a:off x="6814776" y="4802372"/>
                <a:ext cx="493129" cy="37444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9" name="橢圓 38"/>
              <p:cNvSpPr/>
              <p:nvPr/>
            </p:nvSpPr>
            <p:spPr>
              <a:xfrm>
                <a:off x="6276029" y="3572475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600" dirty="0" smtClean="0"/>
              </a:p>
            </p:txBody>
          </p:sp>
        </p:grpSp>
        <p:grpSp>
          <p:nvGrpSpPr>
            <p:cNvPr id="9" name="群組 8"/>
            <p:cNvGrpSpPr/>
            <p:nvPr/>
          </p:nvGrpSpPr>
          <p:grpSpPr>
            <a:xfrm>
              <a:off x="296107" y="2141228"/>
              <a:ext cx="3310090" cy="3018341"/>
              <a:chOff x="296107" y="2141228"/>
              <a:chExt cx="3310090" cy="3018341"/>
            </a:xfrm>
          </p:grpSpPr>
          <p:cxnSp>
            <p:nvCxnSpPr>
              <p:cNvPr id="10" name="直線接點 9"/>
              <p:cNvCxnSpPr>
                <a:stCxn id="17" idx="4"/>
                <a:endCxn id="16" idx="1"/>
              </p:cNvCxnSpPr>
              <p:nvPr/>
            </p:nvCxnSpPr>
            <p:spPr>
              <a:xfrm>
                <a:off x="296107" y="2548935"/>
                <a:ext cx="3168163" cy="57617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線接點 10"/>
              <p:cNvCxnSpPr>
                <a:stCxn id="17" idx="4"/>
                <a:endCxn id="39" idx="0"/>
              </p:cNvCxnSpPr>
              <p:nvPr/>
            </p:nvCxnSpPr>
            <p:spPr>
              <a:xfrm>
                <a:off x="296107" y="2548934"/>
                <a:ext cx="0" cy="36612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線接點 11"/>
              <p:cNvCxnSpPr>
                <a:stCxn id="20" idx="4"/>
                <a:endCxn id="25" idx="0"/>
              </p:cNvCxnSpPr>
              <p:nvPr/>
            </p:nvCxnSpPr>
            <p:spPr>
              <a:xfrm flipH="1">
                <a:off x="326403" y="4531413"/>
                <a:ext cx="8666" cy="32786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線接點 12"/>
              <p:cNvCxnSpPr>
                <a:stCxn id="39" idx="6"/>
                <a:endCxn id="21" idx="2"/>
              </p:cNvCxnSpPr>
              <p:nvPr/>
            </p:nvCxnSpPr>
            <p:spPr>
              <a:xfrm>
                <a:off x="579166" y="3183178"/>
                <a:ext cx="647907" cy="32174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" name="直線接點 13"/>
              <p:cNvCxnSpPr>
                <a:stCxn id="25" idx="6"/>
                <a:endCxn id="24" idx="2"/>
              </p:cNvCxnSpPr>
              <p:nvPr/>
            </p:nvCxnSpPr>
            <p:spPr>
              <a:xfrm>
                <a:off x="609462" y="5127394"/>
                <a:ext cx="576973" cy="32174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" name="直線接點 14"/>
              <p:cNvCxnSpPr>
                <a:stCxn id="24" idx="6"/>
                <a:endCxn id="23" idx="2"/>
              </p:cNvCxnSpPr>
              <p:nvPr/>
            </p:nvCxnSpPr>
            <p:spPr>
              <a:xfrm flipV="1">
                <a:off x="1752553" y="2141228"/>
                <a:ext cx="1853644" cy="3018341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矩形 83"/>
          <p:cNvSpPr/>
          <p:nvPr/>
        </p:nvSpPr>
        <p:spPr>
          <a:xfrm>
            <a:off x="84939" y="2132856"/>
            <a:ext cx="2125225" cy="4223494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 84"/>
          <p:cNvSpPr/>
          <p:nvPr/>
        </p:nvSpPr>
        <p:spPr>
          <a:xfrm>
            <a:off x="2826622" y="2132856"/>
            <a:ext cx="1581431" cy="4223494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102" name="群組 2101"/>
          <p:cNvGrpSpPr/>
          <p:nvPr/>
        </p:nvGrpSpPr>
        <p:grpSpPr>
          <a:xfrm>
            <a:off x="4667796" y="2210364"/>
            <a:ext cx="4159267" cy="3737778"/>
            <a:chOff x="4667796" y="2210364"/>
            <a:chExt cx="4159267" cy="3737778"/>
          </a:xfrm>
        </p:grpSpPr>
        <p:grpSp>
          <p:nvGrpSpPr>
            <p:cNvPr id="136" name="群組 135"/>
            <p:cNvGrpSpPr/>
            <p:nvPr/>
          </p:nvGrpSpPr>
          <p:grpSpPr>
            <a:xfrm>
              <a:off x="4667796" y="2210364"/>
              <a:ext cx="4159267" cy="3599557"/>
              <a:chOff x="13049" y="1828127"/>
              <a:chExt cx="4159267" cy="3599557"/>
            </a:xfrm>
          </p:grpSpPr>
          <p:grpSp>
            <p:nvGrpSpPr>
              <p:cNvPr id="137" name="群組 136"/>
              <p:cNvGrpSpPr/>
              <p:nvPr/>
            </p:nvGrpSpPr>
            <p:grpSpPr>
              <a:xfrm>
                <a:off x="13049" y="1828127"/>
                <a:ext cx="4159267" cy="3599557"/>
                <a:chOff x="6276029" y="2550754"/>
                <a:chExt cx="3703298" cy="3383584"/>
              </a:xfrm>
            </p:grpSpPr>
            <p:sp>
              <p:nvSpPr>
                <p:cNvPr id="145" name="橢圓 144"/>
                <p:cNvSpPr/>
                <p:nvPr/>
              </p:nvSpPr>
              <p:spPr>
                <a:xfrm>
                  <a:off x="9403473" y="3930862"/>
                  <a:ext cx="504056" cy="504056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dirty="0" smtClean="0"/>
                    <a:t>A</a:t>
                  </a:r>
                  <a:r>
                    <a:rPr lang="en-US" altLang="zh-TW" sz="1600" baseline="-25000" dirty="0" smtClean="0"/>
                    <a:t>2</a:t>
                  </a:r>
                  <a:endParaRPr lang="en-US" altLang="zh-TW" sz="1600" baseline="-25000" dirty="0" smtClean="0"/>
                </a:p>
              </p:txBody>
            </p:sp>
            <p:sp>
              <p:nvSpPr>
                <p:cNvPr id="146" name="橢圓 145"/>
                <p:cNvSpPr/>
                <p:nvPr/>
              </p:nvSpPr>
              <p:spPr>
                <a:xfrm>
                  <a:off x="6276029" y="2724257"/>
                  <a:ext cx="504056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TW" sz="1600" dirty="0" smtClean="0"/>
                </a:p>
              </p:txBody>
            </p:sp>
            <p:sp>
              <p:nvSpPr>
                <p:cNvPr id="147" name="橢圓 146"/>
                <p:cNvSpPr/>
                <p:nvPr/>
              </p:nvSpPr>
              <p:spPr>
                <a:xfrm>
                  <a:off x="7335186" y="2745853"/>
                  <a:ext cx="504056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TW" sz="1600" dirty="0" smtClean="0"/>
                </a:p>
              </p:txBody>
            </p:sp>
            <p:sp>
              <p:nvSpPr>
                <p:cNvPr id="148" name="橢圓 147"/>
                <p:cNvSpPr/>
                <p:nvPr/>
              </p:nvSpPr>
              <p:spPr>
                <a:xfrm>
                  <a:off x="7307905" y="4550344"/>
                  <a:ext cx="504056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TW" sz="1600" dirty="0" smtClean="0"/>
                </a:p>
              </p:txBody>
            </p:sp>
            <p:sp>
              <p:nvSpPr>
                <p:cNvPr id="149" name="橢圓 148"/>
                <p:cNvSpPr/>
                <p:nvPr/>
              </p:nvSpPr>
              <p:spPr>
                <a:xfrm>
                  <a:off x="6310720" y="4587788"/>
                  <a:ext cx="504056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TW" sz="1600" dirty="0" smtClean="0"/>
                </a:p>
              </p:txBody>
            </p:sp>
            <p:sp>
              <p:nvSpPr>
                <p:cNvPr id="150" name="橢圓 149"/>
                <p:cNvSpPr/>
                <p:nvPr/>
              </p:nvSpPr>
              <p:spPr>
                <a:xfrm>
                  <a:off x="7356964" y="3602718"/>
                  <a:ext cx="504056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TW" sz="1600" dirty="0" smtClean="0"/>
                </a:p>
              </p:txBody>
            </p:sp>
            <p:sp>
              <p:nvSpPr>
                <p:cNvPr id="151" name="橢圓 150"/>
                <p:cNvSpPr/>
                <p:nvPr/>
              </p:nvSpPr>
              <p:spPr>
                <a:xfrm>
                  <a:off x="9326564" y="4938975"/>
                  <a:ext cx="504056" cy="504056"/>
                </a:xfrm>
                <a:prstGeom prst="ellipse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600" dirty="0" smtClean="0"/>
                    <a:t>B</a:t>
                  </a:r>
                  <a:r>
                    <a:rPr lang="en-US" altLang="zh-TW" sz="1600" baseline="-25000" dirty="0" smtClean="0"/>
                    <a:t>1</a:t>
                  </a:r>
                  <a:endParaRPr lang="en-US" altLang="zh-TW" sz="1600" baseline="-25000" dirty="0" smtClean="0"/>
                </a:p>
              </p:txBody>
            </p:sp>
            <p:sp>
              <p:nvSpPr>
                <p:cNvPr id="152" name="橢圓 151"/>
                <p:cNvSpPr/>
                <p:nvPr/>
              </p:nvSpPr>
              <p:spPr>
                <a:xfrm>
                  <a:off x="9475271" y="2593041"/>
                  <a:ext cx="504056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TW" sz="1600" dirty="0" smtClean="0"/>
                </a:p>
              </p:txBody>
            </p:sp>
            <p:sp>
              <p:nvSpPr>
                <p:cNvPr id="153" name="橢圓 152"/>
                <p:cNvSpPr/>
                <p:nvPr/>
              </p:nvSpPr>
              <p:spPr>
                <a:xfrm>
                  <a:off x="7320781" y="5430282"/>
                  <a:ext cx="504056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TW" sz="1600" dirty="0" smtClean="0"/>
                </a:p>
              </p:txBody>
            </p:sp>
            <p:sp>
              <p:nvSpPr>
                <p:cNvPr id="154" name="橢圓 153"/>
                <p:cNvSpPr/>
                <p:nvPr/>
              </p:nvSpPr>
              <p:spPr>
                <a:xfrm>
                  <a:off x="6303004" y="5400038"/>
                  <a:ext cx="504056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TW" sz="1600" dirty="0" smtClean="0"/>
                </a:p>
              </p:txBody>
            </p:sp>
            <p:cxnSp>
              <p:nvCxnSpPr>
                <p:cNvPr id="155" name="直線接點 154"/>
                <p:cNvCxnSpPr>
                  <a:stCxn id="156" idx="2"/>
                  <a:endCxn id="148" idx="6"/>
                </p:cNvCxnSpPr>
                <p:nvPr/>
              </p:nvCxnSpPr>
              <p:spPr>
                <a:xfrm flipH="1">
                  <a:off x="7811961" y="2802782"/>
                  <a:ext cx="1051270" cy="199959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6" name="橢圓 155"/>
                <p:cNvSpPr/>
                <p:nvPr/>
              </p:nvSpPr>
              <p:spPr>
                <a:xfrm>
                  <a:off x="8863232" y="2550754"/>
                  <a:ext cx="504056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TW" sz="1600" dirty="0" smtClean="0"/>
                </a:p>
              </p:txBody>
            </p:sp>
            <p:cxnSp>
              <p:nvCxnSpPr>
                <p:cNvPr id="157" name="直線接點 156"/>
                <p:cNvCxnSpPr>
                  <a:stCxn id="153" idx="6"/>
                  <a:endCxn id="145" idx="3"/>
                </p:cNvCxnSpPr>
                <p:nvPr/>
              </p:nvCxnSpPr>
              <p:spPr>
                <a:xfrm flipV="1">
                  <a:off x="7824837" y="4361101"/>
                  <a:ext cx="1652453" cy="132120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線接點 157"/>
                <p:cNvCxnSpPr>
                  <a:stCxn id="147" idx="4"/>
                  <a:endCxn id="151" idx="0"/>
                </p:cNvCxnSpPr>
                <p:nvPr/>
              </p:nvCxnSpPr>
              <p:spPr>
                <a:xfrm>
                  <a:off x="7587214" y="3249909"/>
                  <a:ext cx="1991377" cy="168906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線接點 158"/>
                <p:cNvCxnSpPr>
                  <a:stCxn id="170" idx="1"/>
                  <a:endCxn id="153" idx="6"/>
                </p:cNvCxnSpPr>
                <p:nvPr/>
              </p:nvCxnSpPr>
              <p:spPr>
                <a:xfrm flipH="1">
                  <a:off x="7824837" y="5634027"/>
                  <a:ext cx="1575544" cy="48283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直線接點 159"/>
                <p:cNvCxnSpPr>
                  <a:stCxn id="150" idx="0"/>
                  <a:endCxn id="147" idx="4"/>
                </p:cNvCxnSpPr>
                <p:nvPr/>
              </p:nvCxnSpPr>
              <p:spPr>
                <a:xfrm flipH="1" flipV="1">
                  <a:off x="7587214" y="3249909"/>
                  <a:ext cx="21778" cy="35280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直線接點 160"/>
                <p:cNvCxnSpPr>
                  <a:stCxn id="148" idx="4"/>
                  <a:endCxn id="153" idx="0"/>
                </p:cNvCxnSpPr>
                <p:nvPr/>
              </p:nvCxnSpPr>
              <p:spPr>
                <a:xfrm>
                  <a:off x="7559933" y="5054400"/>
                  <a:ext cx="12876" cy="37588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直線接點 161"/>
                <p:cNvCxnSpPr>
                  <a:stCxn id="151" idx="0"/>
                  <a:endCxn id="150" idx="0"/>
                </p:cNvCxnSpPr>
                <p:nvPr/>
              </p:nvCxnSpPr>
              <p:spPr>
                <a:xfrm flipH="1" flipV="1">
                  <a:off x="7608992" y="3602718"/>
                  <a:ext cx="1969600" cy="1336257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直線接點 162"/>
                <p:cNvCxnSpPr>
                  <a:stCxn id="169" idx="3"/>
                  <a:endCxn id="147" idx="4"/>
                </p:cNvCxnSpPr>
                <p:nvPr/>
              </p:nvCxnSpPr>
              <p:spPr>
                <a:xfrm flipH="1" flipV="1">
                  <a:off x="7587214" y="3249909"/>
                  <a:ext cx="1862225" cy="401307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直線接點 163"/>
                <p:cNvCxnSpPr>
                  <a:stCxn id="149" idx="7"/>
                  <a:endCxn id="145" idx="3"/>
                </p:cNvCxnSpPr>
                <p:nvPr/>
              </p:nvCxnSpPr>
              <p:spPr>
                <a:xfrm flipV="1">
                  <a:off x="6740959" y="4361101"/>
                  <a:ext cx="2736332" cy="30050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直線接點 164"/>
                <p:cNvCxnSpPr>
                  <a:stCxn id="147" idx="2"/>
                  <a:endCxn id="146" idx="6"/>
                </p:cNvCxnSpPr>
                <p:nvPr/>
              </p:nvCxnSpPr>
              <p:spPr>
                <a:xfrm flipH="1" flipV="1">
                  <a:off x="6780085" y="2976285"/>
                  <a:ext cx="555101" cy="21596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直線接點 165"/>
                <p:cNvCxnSpPr>
                  <a:stCxn id="148" idx="6"/>
                  <a:endCxn id="170" idx="1"/>
                </p:cNvCxnSpPr>
                <p:nvPr/>
              </p:nvCxnSpPr>
              <p:spPr>
                <a:xfrm>
                  <a:off x="7811961" y="4802372"/>
                  <a:ext cx="1588420" cy="831655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直線接點 166"/>
                <p:cNvCxnSpPr>
                  <a:stCxn id="148" idx="2"/>
                  <a:endCxn id="149" idx="6"/>
                </p:cNvCxnSpPr>
                <p:nvPr/>
              </p:nvCxnSpPr>
              <p:spPr>
                <a:xfrm flipH="1">
                  <a:off x="6814776" y="4802372"/>
                  <a:ext cx="493129" cy="3744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168" name="橢圓 167"/>
                <p:cNvSpPr/>
                <p:nvPr/>
              </p:nvSpPr>
              <p:spPr>
                <a:xfrm>
                  <a:off x="6276029" y="3572475"/>
                  <a:ext cx="504056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TW" sz="1600" dirty="0" smtClean="0"/>
                </a:p>
              </p:txBody>
            </p:sp>
          </p:grpSp>
          <p:grpSp>
            <p:nvGrpSpPr>
              <p:cNvPr id="138" name="群組 137"/>
              <p:cNvGrpSpPr/>
              <p:nvPr/>
            </p:nvGrpSpPr>
            <p:grpSpPr>
              <a:xfrm>
                <a:off x="296107" y="2141228"/>
                <a:ext cx="3310090" cy="3018341"/>
                <a:chOff x="296107" y="2141228"/>
                <a:chExt cx="3310090" cy="3018341"/>
              </a:xfrm>
            </p:grpSpPr>
            <p:cxnSp>
              <p:nvCxnSpPr>
                <p:cNvPr id="139" name="直線接點 138"/>
                <p:cNvCxnSpPr>
                  <a:stCxn id="146" idx="4"/>
                  <a:endCxn id="169" idx="2"/>
                </p:cNvCxnSpPr>
                <p:nvPr/>
              </p:nvCxnSpPr>
              <p:spPr>
                <a:xfrm>
                  <a:off x="296108" y="2548935"/>
                  <a:ext cx="3198172" cy="26031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線接點 139"/>
                <p:cNvCxnSpPr>
                  <a:stCxn id="146" idx="4"/>
                  <a:endCxn id="168" idx="0"/>
                </p:cNvCxnSpPr>
                <p:nvPr/>
              </p:nvCxnSpPr>
              <p:spPr>
                <a:xfrm>
                  <a:off x="296107" y="2548934"/>
                  <a:ext cx="0" cy="36612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線接點 140"/>
                <p:cNvCxnSpPr>
                  <a:stCxn id="149" idx="4"/>
                  <a:endCxn id="154" idx="0"/>
                </p:cNvCxnSpPr>
                <p:nvPr/>
              </p:nvCxnSpPr>
              <p:spPr>
                <a:xfrm flipH="1">
                  <a:off x="326403" y="4531413"/>
                  <a:ext cx="8666" cy="32786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線接點 141"/>
                <p:cNvCxnSpPr>
                  <a:stCxn id="168" idx="6"/>
                  <a:endCxn id="150" idx="2"/>
                </p:cNvCxnSpPr>
                <p:nvPr/>
              </p:nvCxnSpPr>
              <p:spPr>
                <a:xfrm>
                  <a:off x="579166" y="3183178"/>
                  <a:ext cx="647907" cy="3217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線接點 142"/>
                <p:cNvCxnSpPr>
                  <a:stCxn id="154" idx="6"/>
                  <a:endCxn id="153" idx="2"/>
                </p:cNvCxnSpPr>
                <p:nvPr/>
              </p:nvCxnSpPr>
              <p:spPr>
                <a:xfrm>
                  <a:off x="609462" y="5127394"/>
                  <a:ext cx="576973" cy="32174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線接點 143"/>
                <p:cNvCxnSpPr>
                  <a:stCxn id="153" idx="6"/>
                  <a:endCxn id="152" idx="2"/>
                </p:cNvCxnSpPr>
                <p:nvPr/>
              </p:nvCxnSpPr>
              <p:spPr>
                <a:xfrm flipV="1">
                  <a:off x="1752553" y="2141228"/>
                  <a:ext cx="1853644" cy="3018341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9" name="橢圓 168"/>
            <p:cNvSpPr/>
            <p:nvPr/>
          </p:nvSpPr>
          <p:spPr>
            <a:xfrm>
              <a:off x="8149027" y="2923367"/>
              <a:ext cx="566118" cy="53623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A</a:t>
              </a:r>
              <a:r>
                <a:rPr lang="en-US" altLang="zh-TW" sz="1600" baseline="-25000" dirty="0" smtClean="0"/>
                <a:t>1</a:t>
              </a:r>
              <a:endParaRPr lang="en-US" altLang="zh-TW" sz="1600" baseline="-25000" dirty="0" smtClean="0"/>
            </a:p>
          </p:txBody>
        </p:sp>
        <p:sp>
          <p:nvSpPr>
            <p:cNvPr id="170" name="橢圓 169"/>
            <p:cNvSpPr/>
            <p:nvPr/>
          </p:nvSpPr>
          <p:spPr>
            <a:xfrm>
              <a:off x="8093928" y="5411912"/>
              <a:ext cx="566118" cy="53623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B</a:t>
              </a:r>
              <a:r>
                <a:rPr lang="en-US" altLang="zh-TW" sz="1600" baseline="-25000" dirty="0" smtClean="0"/>
                <a:t>2</a:t>
              </a:r>
              <a:endParaRPr lang="en-US" altLang="zh-TW" sz="1600" baseline="-25000" dirty="0" smtClean="0"/>
            </a:p>
          </p:txBody>
        </p:sp>
      </p:grpSp>
      <p:sp>
        <p:nvSpPr>
          <p:cNvPr id="186" name="矩形 185"/>
          <p:cNvSpPr/>
          <p:nvPr/>
        </p:nvSpPr>
        <p:spPr>
          <a:xfrm>
            <a:off x="4641374" y="2060848"/>
            <a:ext cx="2125225" cy="4223494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7" name="矩形 186"/>
          <p:cNvSpPr/>
          <p:nvPr/>
        </p:nvSpPr>
        <p:spPr>
          <a:xfrm>
            <a:off x="7383057" y="2060848"/>
            <a:ext cx="1581431" cy="4223494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2310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err="1" smtClean="0"/>
                  <a:t>ImprovedSort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altLang="zh-TW" dirty="0" smtClean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547"/>
          <a:stretch/>
        </p:blipFill>
        <p:spPr bwMode="auto">
          <a:xfrm>
            <a:off x="5818" y="1124744"/>
            <a:ext cx="9138182" cy="90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564904"/>
            <a:ext cx="8239578" cy="4077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4299301" y="580526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Steps in sorting</a:t>
            </a:r>
            <a:r>
              <a:rPr lang="en-US" altLang="zh-TW" dirty="0" smtClean="0"/>
              <a:t>:  </a:t>
            </a:r>
            <a:r>
              <a:rPr lang="en-US" altLang="zh-TW" dirty="0" smtClean="0">
                <a:solidFill>
                  <a:srgbClr val="FF0000"/>
                </a:solidFill>
              </a:rPr>
              <a:t>b(</a:t>
            </a:r>
            <a:r>
              <a:rPr lang="el-GR" altLang="zh-TW" dirty="0">
                <a:solidFill>
                  <a:srgbClr val="FF0000"/>
                </a:solidFill>
              </a:rPr>
              <a:t>π</a:t>
            </a:r>
            <a:r>
              <a:rPr lang="en-US" altLang="zh-TW" dirty="0" smtClean="0">
                <a:solidFill>
                  <a:srgbClr val="FF0000"/>
                </a:solidFill>
              </a:rPr>
              <a:t>)- 1/2c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4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l-GR" altLang="zh-TW" dirty="0">
                <a:solidFill>
                  <a:srgbClr val="FF0000"/>
                </a:solidFill>
              </a:rPr>
              <a:t>π</a:t>
            </a:r>
            <a:r>
              <a:rPr lang="en-US" altLang="zh-TW" dirty="0" smtClean="0">
                <a:solidFill>
                  <a:srgbClr val="FF0000"/>
                </a:solidFill>
              </a:rPr>
              <a:t>) steps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Time complexity : O(n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endParaRPr lang="en-US" altLang="zh-TW" dirty="0"/>
          </a:p>
          <a:p>
            <a:r>
              <a:rPr lang="en-US" altLang="zh-TW" dirty="0">
                <a:solidFill>
                  <a:srgbClr val="FF0000"/>
                </a:solidFill>
              </a:rPr>
              <a:t>P</a:t>
            </a:r>
            <a:r>
              <a:rPr lang="en-US" altLang="zh-TW" dirty="0" smtClean="0">
                <a:solidFill>
                  <a:srgbClr val="FF0000"/>
                </a:solidFill>
              </a:rPr>
              <a:t>erformance </a:t>
            </a:r>
            <a:r>
              <a:rPr lang="en-US" altLang="zh-TW" dirty="0">
                <a:solidFill>
                  <a:srgbClr val="FF0000"/>
                </a:solidFill>
              </a:rPr>
              <a:t>ratio </a:t>
            </a:r>
            <a:r>
              <a:rPr lang="en-US" altLang="zh-TW" dirty="0" smtClean="0">
                <a:solidFill>
                  <a:srgbClr val="FF0000"/>
                </a:solidFill>
              </a:rPr>
              <a:t>: 3/2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53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936"/>
          <a:stretch/>
        </p:blipFill>
        <p:spPr bwMode="auto">
          <a:xfrm>
            <a:off x="128852" y="5807521"/>
            <a:ext cx="9138182" cy="36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err="1" smtClean="0"/>
                  <a:t>ImprovedSort</a:t>
                </a:r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altLang="zh-TW" dirty="0" smtClean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38" b="74484"/>
          <a:stretch/>
        </p:blipFill>
        <p:spPr bwMode="auto">
          <a:xfrm>
            <a:off x="-10997" y="1268760"/>
            <a:ext cx="9138182" cy="520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 b="50000"/>
          <a:stretch/>
        </p:blipFill>
        <p:spPr bwMode="auto">
          <a:xfrm>
            <a:off x="5818" y="2276872"/>
            <a:ext cx="913818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27471"/>
          <a:stretch/>
        </p:blipFill>
        <p:spPr bwMode="auto">
          <a:xfrm>
            <a:off x="5818" y="3717032"/>
            <a:ext cx="9138182" cy="743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547" b="10488"/>
          <a:stretch/>
        </p:blipFill>
        <p:spPr bwMode="auto">
          <a:xfrm>
            <a:off x="-23548" y="4754736"/>
            <a:ext cx="9138182" cy="56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/>
          <p:cNvSpPr/>
          <p:nvPr/>
        </p:nvSpPr>
        <p:spPr>
          <a:xfrm>
            <a:off x="4067944" y="59978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Steps in sorting</a:t>
            </a:r>
            <a:r>
              <a:rPr lang="en-US" altLang="zh-TW" dirty="0"/>
              <a:t>:  </a:t>
            </a:r>
            <a:r>
              <a:rPr lang="en-US" altLang="zh-TW" dirty="0">
                <a:solidFill>
                  <a:srgbClr val="FF0000"/>
                </a:solidFill>
              </a:rPr>
              <a:t>b(</a:t>
            </a:r>
            <a:r>
              <a:rPr lang="el-GR" altLang="zh-TW" dirty="0">
                <a:solidFill>
                  <a:srgbClr val="FF0000"/>
                </a:solidFill>
              </a:rPr>
              <a:t>π</a:t>
            </a:r>
            <a:r>
              <a:rPr lang="en-US" altLang="zh-TW" dirty="0">
                <a:solidFill>
                  <a:srgbClr val="FF0000"/>
                </a:solidFill>
              </a:rPr>
              <a:t>)- </a:t>
            </a:r>
            <a:r>
              <a:rPr lang="en-US" altLang="zh-TW" dirty="0" smtClean="0">
                <a:solidFill>
                  <a:srgbClr val="FF0000"/>
                </a:solidFill>
              </a:rPr>
              <a:t>1/4c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4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l-GR" altLang="zh-TW" dirty="0">
                <a:solidFill>
                  <a:srgbClr val="FF0000"/>
                </a:solidFill>
              </a:rPr>
              <a:t>π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 smtClean="0">
                <a:solidFill>
                  <a:srgbClr val="FF0000"/>
                </a:solidFill>
              </a:rPr>
              <a:t>steps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Time complexity</a:t>
            </a:r>
            <a:r>
              <a:rPr lang="en-US" altLang="zh-TW" dirty="0" smtClean="0"/>
              <a:t>:  </a:t>
            </a:r>
            <a:r>
              <a:rPr lang="en-US" altLang="zh-TW" dirty="0" smtClean="0">
                <a:solidFill>
                  <a:srgbClr val="FF0000"/>
                </a:solidFill>
              </a:rPr>
              <a:t>O(n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endParaRPr lang="en-US" altLang="zh-TW" dirty="0"/>
          </a:p>
          <a:p>
            <a:r>
              <a:rPr lang="en-US" altLang="zh-TW" dirty="0" smtClean="0">
                <a:solidFill>
                  <a:srgbClr val="FF0000"/>
                </a:solidFill>
              </a:rPr>
              <a:t>Performance </a:t>
            </a:r>
            <a:r>
              <a:rPr lang="en-US" altLang="zh-TW" dirty="0">
                <a:solidFill>
                  <a:srgbClr val="FF0000"/>
                </a:solidFill>
              </a:rPr>
              <a:t>ratio </a:t>
            </a:r>
            <a:r>
              <a:rPr lang="en-US" altLang="zh-TW" dirty="0" smtClean="0">
                <a:solidFill>
                  <a:srgbClr val="FF0000"/>
                </a:solidFill>
              </a:rPr>
              <a:t>: 7/4</a:t>
            </a:r>
          </a:p>
          <a:p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9592" y="5314950"/>
            <a:ext cx="116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O(n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) time</a:t>
            </a:r>
            <a:endParaRPr lang="en-US" altLang="zh-TW" dirty="0"/>
          </a:p>
        </p:txBody>
      </p:sp>
      <p:sp>
        <p:nvSpPr>
          <p:cNvPr id="18" name="矩形 17"/>
          <p:cNvSpPr/>
          <p:nvPr/>
        </p:nvSpPr>
        <p:spPr>
          <a:xfrm>
            <a:off x="755576" y="3121422"/>
            <a:ext cx="1285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O(n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3/2</a:t>
            </a:r>
            <a:r>
              <a:rPr lang="en-US" altLang="zh-TW" dirty="0" smtClean="0">
                <a:solidFill>
                  <a:srgbClr val="FF0000"/>
                </a:solidFill>
              </a:rPr>
              <a:t>) time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4218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2" b="28864"/>
          <a:stretch/>
        </p:blipFill>
        <p:spPr bwMode="auto">
          <a:xfrm>
            <a:off x="-48191" y="36017"/>
            <a:ext cx="7132904" cy="2188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19</a:t>
            </a:fld>
            <a:endParaRPr lang="zh-TW" altLang="en-US"/>
          </a:p>
        </p:txBody>
      </p:sp>
      <p:graphicFrame>
        <p:nvGraphicFramePr>
          <p:cNvPr id="6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9627527"/>
              </p:ext>
            </p:extLst>
          </p:nvPr>
        </p:nvGraphicFramePr>
        <p:xfrm>
          <a:off x="35511" y="2204864"/>
          <a:ext cx="8352913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/>
                        <a:t>π</a:t>
                      </a:r>
                      <a:r>
                        <a:rPr lang="en-US" altLang="zh-TW" sz="2000" dirty="0" smtClean="0"/>
                        <a:t>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pSp>
        <p:nvGrpSpPr>
          <p:cNvPr id="7" name="群組 6"/>
          <p:cNvGrpSpPr/>
          <p:nvPr/>
        </p:nvGrpSpPr>
        <p:grpSpPr>
          <a:xfrm>
            <a:off x="4932040" y="2820762"/>
            <a:ext cx="3256128" cy="3488559"/>
            <a:chOff x="6225105" y="2814051"/>
            <a:chExt cx="2899167" cy="3279245"/>
          </a:xfrm>
        </p:grpSpPr>
        <p:sp>
          <p:nvSpPr>
            <p:cNvPr id="9" name="橢圓 8"/>
            <p:cNvSpPr/>
            <p:nvPr/>
          </p:nvSpPr>
          <p:spPr>
            <a:xfrm>
              <a:off x="6228184" y="5589240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1</a:t>
              </a:r>
              <a:endParaRPr lang="en-US" altLang="zh-TW" sz="1600" dirty="0" smtClean="0"/>
            </a:p>
          </p:txBody>
        </p:sp>
        <p:sp>
          <p:nvSpPr>
            <p:cNvPr id="11" name="橢圓 10"/>
            <p:cNvSpPr/>
            <p:nvPr/>
          </p:nvSpPr>
          <p:spPr>
            <a:xfrm>
              <a:off x="8604448" y="2814052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5</a:t>
              </a:r>
            </a:p>
          </p:txBody>
        </p:sp>
        <p:sp>
          <p:nvSpPr>
            <p:cNvPr id="12" name="橢圓 11"/>
            <p:cNvSpPr/>
            <p:nvPr/>
          </p:nvSpPr>
          <p:spPr>
            <a:xfrm>
              <a:off x="8620216" y="3717032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4</a:t>
              </a:r>
            </a:p>
          </p:txBody>
        </p:sp>
        <p:sp>
          <p:nvSpPr>
            <p:cNvPr id="13" name="橢圓 12"/>
            <p:cNvSpPr/>
            <p:nvPr/>
          </p:nvSpPr>
          <p:spPr>
            <a:xfrm>
              <a:off x="8604448" y="4611807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7</a:t>
              </a:r>
            </a:p>
          </p:txBody>
        </p:sp>
        <p:sp>
          <p:nvSpPr>
            <p:cNvPr id="15" name="橢圓 14"/>
            <p:cNvSpPr/>
            <p:nvPr/>
          </p:nvSpPr>
          <p:spPr>
            <a:xfrm>
              <a:off x="8604448" y="5589240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6</a:t>
              </a:r>
            </a:p>
          </p:txBody>
        </p:sp>
        <p:sp>
          <p:nvSpPr>
            <p:cNvPr id="16" name="橢圓 15"/>
            <p:cNvSpPr/>
            <p:nvPr/>
          </p:nvSpPr>
          <p:spPr>
            <a:xfrm>
              <a:off x="7020272" y="5589240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13</a:t>
              </a:r>
            </a:p>
          </p:txBody>
        </p:sp>
        <p:sp>
          <p:nvSpPr>
            <p:cNvPr id="17" name="橢圓 16"/>
            <p:cNvSpPr/>
            <p:nvPr/>
          </p:nvSpPr>
          <p:spPr>
            <a:xfrm>
              <a:off x="7846252" y="5589240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12</a:t>
              </a:r>
            </a:p>
          </p:txBody>
        </p:sp>
        <p:sp>
          <p:nvSpPr>
            <p:cNvPr id="18" name="橢圓 17"/>
            <p:cNvSpPr/>
            <p:nvPr/>
          </p:nvSpPr>
          <p:spPr>
            <a:xfrm>
              <a:off x="6876256" y="2814051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11</a:t>
              </a:r>
            </a:p>
          </p:txBody>
        </p:sp>
        <p:sp>
          <p:nvSpPr>
            <p:cNvPr id="19" name="橢圓 18"/>
            <p:cNvSpPr/>
            <p:nvPr/>
          </p:nvSpPr>
          <p:spPr>
            <a:xfrm>
              <a:off x="7812360" y="2814051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10</a:t>
              </a:r>
            </a:p>
          </p:txBody>
        </p:sp>
        <p:cxnSp>
          <p:nvCxnSpPr>
            <p:cNvPr id="23" name="直線接點 22"/>
            <p:cNvCxnSpPr>
              <a:stCxn id="18" idx="3"/>
              <a:endCxn id="25" idx="0"/>
            </p:cNvCxnSpPr>
            <p:nvPr/>
          </p:nvCxnSpPr>
          <p:spPr>
            <a:xfrm flipH="1">
              <a:off x="6477133" y="3244289"/>
              <a:ext cx="472940" cy="147958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橢圓 24"/>
            <p:cNvSpPr/>
            <p:nvPr/>
          </p:nvSpPr>
          <p:spPr>
            <a:xfrm>
              <a:off x="6225105" y="4723879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0</a:t>
              </a:r>
            </a:p>
          </p:txBody>
        </p:sp>
        <p:cxnSp>
          <p:nvCxnSpPr>
            <p:cNvPr id="26" name="直線接點 25"/>
            <p:cNvCxnSpPr>
              <a:stCxn id="9" idx="6"/>
              <a:endCxn id="16" idx="2"/>
            </p:cNvCxnSpPr>
            <p:nvPr/>
          </p:nvCxnSpPr>
          <p:spPr>
            <a:xfrm>
              <a:off x="6732240" y="5841268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>
              <a:stCxn id="12" idx="4"/>
              <a:endCxn id="13" idx="0"/>
            </p:cNvCxnSpPr>
            <p:nvPr/>
          </p:nvCxnSpPr>
          <p:spPr>
            <a:xfrm flipH="1">
              <a:off x="8856476" y="4221088"/>
              <a:ext cx="15768" cy="39071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>
              <a:stCxn id="19" idx="6"/>
              <a:endCxn id="11" idx="2"/>
            </p:cNvCxnSpPr>
            <p:nvPr/>
          </p:nvCxnSpPr>
          <p:spPr>
            <a:xfrm>
              <a:off x="8316416" y="3066079"/>
              <a:ext cx="28803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>
              <a:stCxn id="17" idx="6"/>
              <a:endCxn id="15" idx="2"/>
            </p:cNvCxnSpPr>
            <p:nvPr/>
          </p:nvCxnSpPr>
          <p:spPr>
            <a:xfrm>
              <a:off x="8350308" y="5841268"/>
              <a:ext cx="2541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>
              <a:stCxn id="9" idx="0"/>
              <a:endCxn id="25" idx="4"/>
            </p:cNvCxnSpPr>
            <p:nvPr/>
          </p:nvCxnSpPr>
          <p:spPr>
            <a:xfrm flipH="1" flipV="1">
              <a:off x="6477133" y="5227935"/>
              <a:ext cx="3079" cy="36130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>
              <a:stCxn id="12" idx="0"/>
              <a:endCxn id="11" idx="4"/>
            </p:cNvCxnSpPr>
            <p:nvPr/>
          </p:nvCxnSpPr>
          <p:spPr>
            <a:xfrm flipH="1" flipV="1">
              <a:off x="8856476" y="3318108"/>
              <a:ext cx="15768" cy="39892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>
              <a:stCxn id="15" idx="0"/>
              <a:endCxn id="13" idx="4"/>
            </p:cNvCxnSpPr>
            <p:nvPr/>
          </p:nvCxnSpPr>
          <p:spPr>
            <a:xfrm flipV="1">
              <a:off x="8856476" y="5115863"/>
              <a:ext cx="0" cy="47337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>
              <a:stCxn id="18" idx="6"/>
              <a:endCxn id="19" idx="2"/>
            </p:cNvCxnSpPr>
            <p:nvPr/>
          </p:nvCxnSpPr>
          <p:spPr>
            <a:xfrm>
              <a:off x="7380312" y="3066079"/>
              <a:ext cx="432048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>
              <a:stCxn id="17" idx="2"/>
              <a:endCxn id="16" idx="6"/>
            </p:cNvCxnSpPr>
            <p:nvPr/>
          </p:nvCxnSpPr>
          <p:spPr>
            <a:xfrm flipH="1">
              <a:off x="7524328" y="5841268"/>
              <a:ext cx="32192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3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2561528"/>
              </p:ext>
            </p:extLst>
          </p:nvPr>
        </p:nvGraphicFramePr>
        <p:xfrm>
          <a:off x="107504" y="6309320"/>
          <a:ext cx="8352913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/>
                        <a:t>π</a:t>
                      </a:r>
                      <a:r>
                        <a:rPr lang="en-US" altLang="zh-TW" sz="2000" dirty="0" smtClean="0"/>
                        <a:t>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cxnSp>
        <p:nvCxnSpPr>
          <p:cNvPr id="3" name="直線接點 2"/>
          <p:cNvCxnSpPr/>
          <p:nvPr/>
        </p:nvCxnSpPr>
        <p:spPr>
          <a:xfrm>
            <a:off x="1103198" y="548680"/>
            <a:ext cx="247645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1043518" y="2602223"/>
            <a:ext cx="56374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99" name="群組 98"/>
          <p:cNvGrpSpPr/>
          <p:nvPr/>
        </p:nvGrpSpPr>
        <p:grpSpPr>
          <a:xfrm>
            <a:off x="159420" y="2820762"/>
            <a:ext cx="3256128" cy="3488558"/>
            <a:chOff x="6225105" y="2708920"/>
            <a:chExt cx="2899167" cy="3279244"/>
          </a:xfrm>
        </p:grpSpPr>
        <p:sp>
          <p:nvSpPr>
            <p:cNvPr id="101" name="橢圓 100"/>
            <p:cNvSpPr/>
            <p:nvPr/>
          </p:nvSpPr>
          <p:spPr>
            <a:xfrm>
              <a:off x="6228184" y="5484108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1</a:t>
              </a:r>
              <a:endParaRPr lang="en-US" altLang="zh-TW" sz="1600" dirty="0" smtClean="0"/>
            </a:p>
          </p:txBody>
        </p:sp>
        <p:sp>
          <p:nvSpPr>
            <p:cNvPr id="103" name="橢圓 102"/>
            <p:cNvSpPr/>
            <p:nvPr/>
          </p:nvSpPr>
          <p:spPr>
            <a:xfrm>
              <a:off x="8604448" y="2708920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5</a:t>
              </a:r>
            </a:p>
          </p:txBody>
        </p:sp>
        <p:sp>
          <p:nvSpPr>
            <p:cNvPr id="104" name="橢圓 103"/>
            <p:cNvSpPr/>
            <p:nvPr/>
          </p:nvSpPr>
          <p:spPr>
            <a:xfrm>
              <a:off x="8620216" y="3717032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4</a:t>
              </a:r>
            </a:p>
          </p:txBody>
        </p:sp>
        <p:sp>
          <p:nvSpPr>
            <p:cNvPr id="105" name="橢圓 104"/>
            <p:cNvSpPr/>
            <p:nvPr/>
          </p:nvSpPr>
          <p:spPr>
            <a:xfrm>
              <a:off x="8604448" y="4611807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7</a:t>
              </a:r>
            </a:p>
          </p:txBody>
        </p:sp>
        <p:sp>
          <p:nvSpPr>
            <p:cNvPr id="106" name="橢圓 105"/>
            <p:cNvSpPr/>
            <p:nvPr/>
          </p:nvSpPr>
          <p:spPr>
            <a:xfrm>
              <a:off x="6243698" y="3809683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14</a:t>
              </a:r>
            </a:p>
          </p:txBody>
        </p:sp>
        <p:sp>
          <p:nvSpPr>
            <p:cNvPr id="107" name="橢圓 106"/>
            <p:cNvSpPr/>
            <p:nvPr/>
          </p:nvSpPr>
          <p:spPr>
            <a:xfrm>
              <a:off x="8559952" y="5484108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6</a:t>
              </a:r>
            </a:p>
          </p:txBody>
        </p:sp>
        <p:sp>
          <p:nvSpPr>
            <p:cNvPr id="108" name="橢圓 107"/>
            <p:cNvSpPr/>
            <p:nvPr/>
          </p:nvSpPr>
          <p:spPr>
            <a:xfrm>
              <a:off x="7020272" y="5484108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13</a:t>
              </a:r>
            </a:p>
          </p:txBody>
        </p:sp>
        <p:sp>
          <p:nvSpPr>
            <p:cNvPr id="109" name="橢圓 108"/>
            <p:cNvSpPr/>
            <p:nvPr/>
          </p:nvSpPr>
          <p:spPr>
            <a:xfrm>
              <a:off x="7846252" y="5484108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12</a:t>
              </a:r>
            </a:p>
          </p:txBody>
        </p:sp>
        <p:sp>
          <p:nvSpPr>
            <p:cNvPr id="110" name="橢圓 109"/>
            <p:cNvSpPr/>
            <p:nvPr/>
          </p:nvSpPr>
          <p:spPr>
            <a:xfrm>
              <a:off x="6876256" y="2708920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11</a:t>
              </a:r>
            </a:p>
          </p:txBody>
        </p:sp>
        <p:sp>
          <p:nvSpPr>
            <p:cNvPr id="111" name="橢圓 110"/>
            <p:cNvSpPr/>
            <p:nvPr/>
          </p:nvSpPr>
          <p:spPr>
            <a:xfrm>
              <a:off x="7812360" y="2708920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10</a:t>
              </a:r>
            </a:p>
          </p:txBody>
        </p:sp>
        <p:sp>
          <p:nvSpPr>
            <p:cNvPr id="113" name="橢圓 112"/>
            <p:cNvSpPr/>
            <p:nvPr/>
          </p:nvSpPr>
          <p:spPr>
            <a:xfrm>
              <a:off x="6228184" y="2721448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15</a:t>
              </a:r>
            </a:p>
          </p:txBody>
        </p:sp>
        <p:cxnSp>
          <p:nvCxnSpPr>
            <p:cNvPr id="115" name="直線接點 114"/>
            <p:cNvCxnSpPr>
              <a:stCxn id="106" idx="4"/>
              <a:endCxn id="117" idx="0"/>
            </p:cNvCxnSpPr>
            <p:nvPr/>
          </p:nvCxnSpPr>
          <p:spPr>
            <a:xfrm flipH="1">
              <a:off x="6477133" y="4313739"/>
              <a:ext cx="18593" cy="4101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7" name="橢圓 116"/>
            <p:cNvSpPr/>
            <p:nvPr/>
          </p:nvSpPr>
          <p:spPr>
            <a:xfrm>
              <a:off x="6225105" y="4723879"/>
              <a:ext cx="504056" cy="5040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0</a:t>
              </a:r>
            </a:p>
          </p:txBody>
        </p:sp>
        <p:cxnSp>
          <p:nvCxnSpPr>
            <p:cNvPr id="118" name="直線接點 117"/>
            <p:cNvCxnSpPr>
              <a:stCxn id="101" idx="6"/>
              <a:endCxn id="108" idx="2"/>
            </p:cNvCxnSpPr>
            <p:nvPr/>
          </p:nvCxnSpPr>
          <p:spPr>
            <a:xfrm>
              <a:off x="6732240" y="5736136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直線接點 118"/>
            <p:cNvCxnSpPr>
              <a:stCxn id="104" idx="4"/>
              <a:endCxn id="105" idx="0"/>
            </p:cNvCxnSpPr>
            <p:nvPr/>
          </p:nvCxnSpPr>
          <p:spPr>
            <a:xfrm flipH="1">
              <a:off x="8856476" y="4221088"/>
              <a:ext cx="15768" cy="39071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直線接點 119"/>
            <p:cNvCxnSpPr>
              <a:stCxn id="111" idx="6"/>
              <a:endCxn id="103" idx="2"/>
            </p:cNvCxnSpPr>
            <p:nvPr/>
          </p:nvCxnSpPr>
          <p:spPr>
            <a:xfrm>
              <a:off x="8316416" y="2960948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直線接點 120"/>
            <p:cNvCxnSpPr>
              <a:stCxn id="109" idx="6"/>
              <a:endCxn id="107" idx="2"/>
            </p:cNvCxnSpPr>
            <p:nvPr/>
          </p:nvCxnSpPr>
          <p:spPr>
            <a:xfrm>
              <a:off x="8350308" y="5736136"/>
              <a:ext cx="2096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直線接點 121"/>
            <p:cNvCxnSpPr>
              <a:stCxn id="110" idx="2"/>
              <a:endCxn id="113" idx="6"/>
            </p:cNvCxnSpPr>
            <p:nvPr/>
          </p:nvCxnSpPr>
          <p:spPr>
            <a:xfrm flipH="1">
              <a:off x="6732240" y="2960948"/>
              <a:ext cx="144016" cy="125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直線接點 122"/>
            <p:cNvCxnSpPr>
              <a:stCxn id="101" idx="0"/>
              <a:endCxn id="117" idx="4"/>
            </p:cNvCxnSpPr>
            <p:nvPr/>
          </p:nvCxnSpPr>
          <p:spPr>
            <a:xfrm flipH="1" flipV="1">
              <a:off x="6477133" y="5227935"/>
              <a:ext cx="3079" cy="25617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4" name="直線接點 123"/>
            <p:cNvCxnSpPr>
              <a:stCxn id="104" idx="0"/>
              <a:endCxn id="103" idx="4"/>
            </p:cNvCxnSpPr>
            <p:nvPr/>
          </p:nvCxnSpPr>
          <p:spPr>
            <a:xfrm flipH="1" flipV="1">
              <a:off x="8856476" y="3212976"/>
              <a:ext cx="15768" cy="50405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5" name="直線接點 124"/>
            <p:cNvCxnSpPr>
              <a:stCxn id="107" idx="0"/>
              <a:endCxn id="105" idx="4"/>
            </p:cNvCxnSpPr>
            <p:nvPr/>
          </p:nvCxnSpPr>
          <p:spPr>
            <a:xfrm flipV="1">
              <a:off x="8811980" y="5115863"/>
              <a:ext cx="44495" cy="36824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6" name="直線接點 125"/>
            <p:cNvCxnSpPr>
              <a:stCxn id="110" idx="6"/>
              <a:endCxn id="111" idx="2"/>
            </p:cNvCxnSpPr>
            <p:nvPr/>
          </p:nvCxnSpPr>
          <p:spPr>
            <a:xfrm>
              <a:off x="7380312" y="2960948"/>
              <a:ext cx="432048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7" name="直線接點 126"/>
            <p:cNvCxnSpPr>
              <a:stCxn id="109" idx="2"/>
              <a:endCxn id="108" idx="6"/>
            </p:cNvCxnSpPr>
            <p:nvPr/>
          </p:nvCxnSpPr>
          <p:spPr>
            <a:xfrm flipH="1">
              <a:off x="7524328" y="5736136"/>
              <a:ext cx="32192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8" name="直線接點 127"/>
            <p:cNvCxnSpPr>
              <a:stCxn id="106" idx="0"/>
              <a:endCxn id="113" idx="4"/>
            </p:cNvCxnSpPr>
            <p:nvPr/>
          </p:nvCxnSpPr>
          <p:spPr>
            <a:xfrm flipH="1" flipV="1">
              <a:off x="6480212" y="3225504"/>
              <a:ext cx="15514" cy="58417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4" name="向右箭號 133"/>
          <p:cNvSpPr/>
          <p:nvPr/>
        </p:nvSpPr>
        <p:spPr>
          <a:xfrm>
            <a:off x="3923928" y="4161337"/>
            <a:ext cx="1224136" cy="38170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365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2" b="28864"/>
          <a:stretch/>
        </p:blipFill>
        <p:spPr bwMode="auto">
          <a:xfrm>
            <a:off x="-48191" y="36017"/>
            <a:ext cx="7132904" cy="2188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20</a:t>
            </a:fld>
            <a:endParaRPr lang="zh-TW" altLang="en-US"/>
          </a:p>
        </p:txBody>
      </p:sp>
      <p:graphicFrame>
        <p:nvGraphicFramePr>
          <p:cNvPr id="6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8503270"/>
              </p:ext>
            </p:extLst>
          </p:nvPr>
        </p:nvGraphicFramePr>
        <p:xfrm>
          <a:off x="0" y="6324443"/>
          <a:ext cx="8352913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/>
                        <a:t>π</a:t>
                      </a:r>
                      <a:r>
                        <a:rPr lang="en-US" altLang="zh-TW" sz="2000" dirty="0" smtClean="0"/>
                        <a:t>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314617"/>
              </p:ext>
            </p:extLst>
          </p:nvPr>
        </p:nvGraphicFramePr>
        <p:xfrm>
          <a:off x="35785" y="2184104"/>
          <a:ext cx="8352913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/>
                        <a:t>π</a:t>
                      </a:r>
                      <a:r>
                        <a:rPr lang="en-US" altLang="zh-TW" sz="2000" dirty="0" smtClean="0"/>
                        <a:t>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pSp>
        <p:nvGrpSpPr>
          <p:cNvPr id="2" name="群組 1"/>
          <p:cNvGrpSpPr/>
          <p:nvPr/>
        </p:nvGrpSpPr>
        <p:grpSpPr>
          <a:xfrm>
            <a:off x="5749940" y="2708920"/>
            <a:ext cx="2524804" cy="3600400"/>
            <a:chOff x="5749940" y="2708920"/>
            <a:chExt cx="2524804" cy="3600400"/>
          </a:xfrm>
        </p:grpSpPr>
        <p:grpSp>
          <p:nvGrpSpPr>
            <p:cNvPr id="7" name="群組 6"/>
            <p:cNvGrpSpPr/>
            <p:nvPr/>
          </p:nvGrpSpPr>
          <p:grpSpPr>
            <a:xfrm>
              <a:off x="5749940" y="2708920"/>
              <a:ext cx="2524804" cy="3600400"/>
              <a:chOff x="6876256" y="2708920"/>
              <a:chExt cx="2248016" cy="3384376"/>
            </a:xfrm>
          </p:grpSpPr>
          <p:sp>
            <p:nvSpPr>
              <p:cNvPr id="11" name="橢圓 10"/>
              <p:cNvSpPr/>
              <p:nvPr/>
            </p:nvSpPr>
            <p:spPr>
              <a:xfrm>
                <a:off x="8604448" y="2708920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5</a:t>
                </a:r>
              </a:p>
            </p:txBody>
          </p:sp>
          <p:sp>
            <p:nvSpPr>
              <p:cNvPr id="12" name="橢圓 11"/>
              <p:cNvSpPr/>
              <p:nvPr/>
            </p:nvSpPr>
            <p:spPr>
              <a:xfrm>
                <a:off x="8620216" y="3717032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4</a:t>
                </a:r>
              </a:p>
            </p:txBody>
          </p:sp>
          <p:sp>
            <p:nvSpPr>
              <p:cNvPr id="13" name="橢圓 12"/>
              <p:cNvSpPr/>
              <p:nvPr/>
            </p:nvSpPr>
            <p:spPr>
              <a:xfrm>
                <a:off x="8604448" y="4611807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7</a:t>
                </a:r>
              </a:p>
            </p:txBody>
          </p:sp>
          <p:sp>
            <p:nvSpPr>
              <p:cNvPr id="15" name="橢圓 14"/>
              <p:cNvSpPr/>
              <p:nvPr/>
            </p:nvSpPr>
            <p:spPr>
              <a:xfrm>
                <a:off x="8604448" y="5589240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6</a:t>
                </a:r>
              </a:p>
            </p:txBody>
          </p:sp>
          <p:sp>
            <p:nvSpPr>
              <p:cNvPr id="16" name="橢圓 15"/>
              <p:cNvSpPr/>
              <p:nvPr/>
            </p:nvSpPr>
            <p:spPr>
              <a:xfrm>
                <a:off x="7020272" y="5589240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13</a:t>
                </a:r>
              </a:p>
            </p:txBody>
          </p:sp>
          <p:sp>
            <p:nvSpPr>
              <p:cNvPr id="17" name="橢圓 16"/>
              <p:cNvSpPr/>
              <p:nvPr/>
            </p:nvSpPr>
            <p:spPr>
              <a:xfrm>
                <a:off x="7846252" y="5589240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12</a:t>
                </a:r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6876256" y="2708920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11</a:t>
                </a:r>
              </a:p>
            </p:txBody>
          </p:sp>
          <p:sp>
            <p:nvSpPr>
              <p:cNvPr id="19" name="橢圓 18"/>
              <p:cNvSpPr/>
              <p:nvPr/>
            </p:nvSpPr>
            <p:spPr>
              <a:xfrm>
                <a:off x="7812360" y="2708920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10</a:t>
                </a:r>
              </a:p>
            </p:txBody>
          </p:sp>
          <p:cxnSp>
            <p:nvCxnSpPr>
              <p:cNvPr id="27" name="直線接點 26"/>
              <p:cNvCxnSpPr>
                <a:stCxn id="12" idx="4"/>
                <a:endCxn id="13" idx="0"/>
              </p:cNvCxnSpPr>
              <p:nvPr/>
            </p:nvCxnSpPr>
            <p:spPr>
              <a:xfrm flipH="1">
                <a:off x="8856476" y="4221088"/>
                <a:ext cx="15768" cy="39071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線接點 27"/>
              <p:cNvCxnSpPr>
                <a:stCxn id="19" idx="6"/>
                <a:endCxn id="11" idx="2"/>
              </p:cNvCxnSpPr>
              <p:nvPr/>
            </p:nvCxnSpPr>
            <p:spPr>
              <a:xfrm>
                <a:off x="8316416" y="2960948"/>
                <a:ext cx="2880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/>
              <p:cNvCxnSpPr>
                <a:stCxn id="17" idx="6"/>
                <a:endCxn id="15" idx="2"/>
              </p:cNvCxnSpPr>
              <p:nvPr/>
            </p:nvCxnSpPr>
            <p:spPr>
              <a:xfrm>
                <a:off x="8350308" y="5841268"/>
                <a:ext cx="2541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/>
              <p:cNvCxnSpPr>
                <a:stCxn id="12" idx="0"/>
                <a:endCxn id="11" idx="4"/>
              </p:cNvCxnSpPr>
              <p:nvPr/>
            </p:nvCxnSpPr>
            <p:spPr>
              <a:xfrm flipH="1" flipV="1">
                <a:off x="8856476" y="3212976"/>
                <a:ext cx="15768" cy="50405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3" name="直線接點 32"/>
              <p:cNvCxnSpPr>
                <a:stCxn id="15" idx="0"/>
                <a:endCxn id="13" idx="4"/>
              </p:cNvCxnSpPr>
              <p:nvPr/>
            </p:nvCxnSpPr>
            <p:spPr>
              <a:xfrm flipV="1">
                <a:off x="8856476" y="5115863"/>
                <a:ext cx="0" cy="473377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>
                <a:stCxn id="18" idx="6"/>
                <a:endCxn id="19" idx="2"/>
              </p:cNvCxnSpPr>
              <p:nvPr/>
            </p:nvCxnSpPr>
            <p:spPr>
              <a:xfrm>
                <a:off x="7380312" y="2960948"/>
                <a:ext cx="432048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" name="直線接點 34"/>
              <p:cNvCxnSpPr>
                <a:stCxn id="17" idx="2"/>
                <a:endCxn id="16" idx="6"/>
              </p:cNvCxnSpPr>
              <p:nvPr/>
            </p:nvCxnSpPr>
            <p:spPr>
              <a:xfrm flipH="1">
                <a:off x="7524328" y="5841268"/>
                <a:ext cx="321924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36" name="直線接點 35"/>
            <p:cNvCxnSpPr>
              <a:stCxn id="16" idx="0"/>
              <a:endCxn id="18" idx="4"/>
            </p:cNvCxnSpPr>
            <p:nvPr/>
          </p:nvCxnSpPr>
          <p:spPr>
            <a:xfrm flipH="1" flipV="1">
              <a:off x="6032998" y="3245150"/>
              <a:ext cx="161748" cy="25279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4" name="群組 43"/>
          <p:cNvGrpSpPr/>
          <p:nvPr/>
        </p:nvGrpSpPr>
        <p:grpSpPr>
          <a:xfrm>
            <a:off x="256417" y="2780928"/>
            <a:ext cx="3256128" cy="3488559"/>
            <a:chOff x="6225105" y="2814051"/>
            <a:chExt cx="2899167" cy="3279245"/>
          </a:xfrm>
        </p:grpSpPr>
        <p:sp>
          <p:nvSpPr>
            <p:cNvPr id="46" name="橢圓 45"/>
            <p:cNvSpPr/>
            <p:nvPr/>
          </p:nvSpPr>
          <p:spPr>
            <a:xfrm>
              <a:off x="6228184" y="5589240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1</a:t>
              </a:r>
              <a:endParaRPr lang="en-US" altLang="zh-TW" sz="1600" dirty="0" smtClean="0"/>
            </a:p>
          </p:txBody>
        </p:sp>
        <p:sp>
          <p:nvSpPr>
            <p:cNvPr id="48" name="橢圓 47"/>
            <p:cNvSpPr/>
            <p:nvPr/>
          </p:nvSpPr>
          <p:spPr>
            <a:xfrm>
              <a:off x="8604448" y="2814052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5</a:t>
              </a:r>
            </a:p>
          </p:txBody>
        </p:sp>
        <p:sp>
          <p:nvSpPr>
            <p:cNvPr id="49" name="橢圓 48"/>
            <p:cNvSpPr/>
            <p:nvPr/>
          </p:nvSpPr>
          <p:spPr>
            <a:xfrm>
              <a:off x="8620216" y="3717032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4</a:t>
              </a:r>
            </a:p>
          </p:txBody>
        </p:sp>
        <p:sp>
          <p:nvSpPr>
            <p:cNvPr id="50" name="橢圓 49"/>
            <p:cNvSpPr/>
            <p:nvPr/>
          </p:nvSpPr>
          <p:spPr>
            <a:xfrm>
              <a:off x="8604448" y="4611807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7</a:t>
              </a:r>
            </a:p>
          </p:txBody>
        </p:sp>
        <p:sp>
          <p:nvSpPr>
            <p:cNvPr id="52" name="橢圓 51"/>
            <p:cNvSpPr/>
            <p:nvPr/>
          </p:nvSpPr>
          <p:spPr>
            <a:xfrm>
              <a:off x="8604448" y="5589240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6</a:t>
              </a:r>
            </a:p>
          </p:txBody>
        </p:sp>
        <p:sp>
          <p:nvSpPr>
            <p:cNvPr id="53" name="橢圓 52"/>
            <p:cNvSpPr/>
            <p:nvPr/>
          </p:nvSpPr>
          <p:spPr>
            <a:xfrm>
              <a:off x="7020272" y="5589240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13</a:t>
              </a:r>
            </a:p>
          </p:txBody>
        </p:sp>
        <p:sp>
          <p:nvSpPr>
            <p:cNvPr id="54" name="橢圓 53"/>
            <p:cNvSpPr/>
            <p:nvPr/>
          </p:nvSpPr>
          <p:spPr>
            <a:xfrm>
              <a:off x="7846252" y="5581319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12</a:t>
              </a:r>
            </a:p>
          </p:txBody>
        </p:sp>
        <p:sp>
          <p:nvSpPr>
            <p:cNvPr id="55" name="橢圓 54"/>
            <p:cNvSpPr/>
            <p:nvPr/>
          </p:nvSpPr>
          <p:spPr>
            <a:xfrm>
              <a:off x="6876256" y="2814051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11</a:t>
              </a:r>
            </a:p>
          </p:txBody>
        </p:sp>
        <p:sp>
          <p:nvSpPr>
            <p:cNvPr id="56" name="橢圓 55"/>
            <p:cNvSpPr/>
            <p:nvPr/>
          </p:nvSpPr>
          <p:spPr>
            <a:xfrm>
              <a:off x="7812360" y="2814051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10</a:t>
              </a:r>
            </a:p>
          </p:txBody>
        </p:sp>
        <p:cxnSp>
          <p:nvCxnSpPr>
            <p:cNvPr id="60" name="直線接點 59"/>
            <p:cNvCxnSpPr>
              <a:stCxn id="55" idx="3"/>
              <a:endCxn id="62" idx="0"/>
            </p:cNvCxnSpPr>
            <p:nvPr/>
          </p:nvCxnSpPr>
          <p:spPr>
            <a:xfrm flipH="1">
              <a:off x="6477133" y="3244289"/>
              <a:ext cx="472940" cy="147958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橢圓 61"/>
            <p:cNvSpPr/>
            <p:nvPr/>
          </p:nvSpPr>
          <p:spPr>
            <a:xfrm>
              <a:off x="6225105" y="4723879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0</a:t>
              </a:r>
            </a:p>
          </p:txBody>
        </p:sp>
        <p:cxnSp>
          <p:nvCxnSpPr>
            <p:cNvPr id="63" name="直線接點 62"/>
            <p:cNvCxnSpPr>
              <a:stCxn id="46" idx="6"/>
              <a:endCxn id="53" idx="2"/>
            </p:cNvCxnSpPr>
            <p:nvPr/>
          </p:nvCxnSpPr>
          <p:spPr>
            <a:xfrm>
              <a:off x="6732240" y="5841268"/>
              <a:ext cx="2880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線接點 63"/>
            <p:cNvCxnSpPr>
              <a:stCxn id="49" idx="4"/>
              <a:endCxn id="50" idx="0"/>
            </p:cNvCxnSpPr>
            <p:nvPr/>
          </p:nvCxnSpPr>
          <p:spPr>
            <a:xfrm flipH="1">
              <a:off x="8856476" y="4221088"/>
              <a:ext cx="15768" cy="39071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線接點 64"/>
            <p:cNvCxnSpPr>
              <a:stCxn id="56" idx="6"/>
              <a:endCxn id="48" idx="2"/>
            </p:cNvCxnSpPr>
            <p:nvPr/>
          </p:nvCxnSpPr>
          <p:spPr>
            <a:xfrm>
              <a:off x="8316416" y="3066079"/>
              <a:ext cx="288032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線接點 65"/>
            <p:cNvCxnSpPr>
              <a:stCxn id="54" idx="6"/>
              <a:endCxn id="52" idx="2"/>
            </p:cNvCxnSpPr>
            <p:nvPr/>
          </p:nvCxnSpPr>
          <p:spPr>
            <a:xfrm>
              <a:off x="8350308" y="5833347"/>
              <a:ext cx="254140" cy="792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>
              <a:stCxn id="46" idx="0"/>
              <a:endCxn id="62" idx="4"/>
            </p:cNvCxnSpPr>
            <p:nvPr/>
          </p:nvCxnSpPr>
          <p:spPr>
            <a:xfrm flipH="1" flipV="1">
              <a:off x="6477133" y="5227935"/>
              <a:ext cx="3079" cy="36130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直線接點 67"/>
            <p:cNvCxnSpPr>
              <a:stCxn id="49" idx="0"/>
              <a:endCxn id="48" idx="4"/>
            </p:cNvCxnSpPr>
            <p:nvPr/>
          </p:nvCxnSpPr>
          <p:spPr>
            <a:xfrm flipH="1" flipV="1">
              <a:off x="8856476" y="3318108"/>
              <a:ext cx="15768" cy="39892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直線接點 68"/>
            <p:cNvCxnSpPr>
              <a:stCxn id="52" idx="0"/>
              <a:endCxn id="50" idx="4"/>
            </p:cNvCxnSpPr>
            <p:nvPr/>
          </p:nvCxnSpPr>
          <p:spPr>
            <a:xfrm flipV="1">
              <a:off x="8856476" y="5115863"/>
              <a:ext cx="0" cy="47337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0" name="直線接點 69"/>
            <p:cNvCxnSpPr>
              <a:stCxn id="55" idx="6"/>
              <a:endCxn id="56" idx="2"/>
            </p:cNvCxnSpPr>
            <p:nvPr/>
          </p:nvCxnSpPr>
          <p:spPr>
            <a:xfrm>
              <a:off x="7380312" y="3066079"/>
              <a:ext cx="432048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>
              <a:stCxn id="54" idx="2"/>
              <a:endCxn id="53" idx="6"/>
            </p:cNvCxnSpPr>
            <p:nvPr/>
          </p:nvCxnSpPr>
          <p:spPr>
            <a:xfrm flipH="1">
              <a:off x="7524328" y="5833347"/>
              <a:ext cx="321924" cy="792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3" name="直線接點 72"/>
          <p:cNvCxnSpPr/>
          <p:nvPr/>
        </p:nvCxnSpPr>
        <p:spPr>
          <a:xfrm>
            <a:off x="1103198" y="548680"/>
            <a:ext cx="247645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>
            <a:off x="1964392" y="2602223"/>
            <a:ext cx="56374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5" name="向右箭號 74"/>
          <p:cNvSpPr/>
          <p:nvPr/>
        </p:nvSpPr>
        <p:spPr>
          <a:xfrm>
            <a:off x="4211960" y="4161337"/>
            <a:ext cx="1224136" cy="38170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157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2" b="28864"/>
          <a:stretch/>
        </p:blipFill>
        <p:spPr bwMode="auto">
          <a:xfrm>
            <a:off x="-48191" y="36017"/>
            <a:ext cx="7132904" cy="2188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21</a:t>
            </a:fld>
            <a:endParaRPr lang="zh-TW" altLang="en-US"/>
          </a:p>
        </p:txBody>
      </p:sp>
      <p:graphicFrame>
        <p:nvGraphicFramePr>
          <p:cNvPr id="6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8656039"/>
              </p:ext>
            </p:extLst>
          </p:nvPr>
        </p:nvGraphicFramePr>
        <p:xfrm>
          <a:off x="439" y="2224425"/>
          <a:ext cx="8352913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/>
                        <a:t>π</a:t>
                      </a:r>
                      <a:r>
                        <a:rPr lang="en-US" altLang="zh-TW" sz="2000" dirty="0" smtClean="0"/>
                        <a:t>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pSp>
        <p:nvGrpSpPr>
          <p:cNvPr id="26" name="群組 25"/>
          <p:cNvGrpSpPr/>
          <p:nvPr/>
        </p:nvGrpSpPr>
        <p:grpSpPr>
          <a:xfrm>
            <a:off x="5912197" y="2796113"/>
            <a:ext cx="2524804" cy="3401365"/>
            <a:chOff x="5912197" y="2796113"/>
            <a:chExt cx="2524804" cy="3401365"/>
          </a:xfrm>
        </p:grpSpPr>
        <p:grpSp>
          <p:nvGrpSpPr>
            <p:cNvPr id="7" name="群組 6"/>
            <p:cNvGrpSpPr/>
            <p:nvPr/>
          </p:nvGrpSpPr>
          <p:grpSpPr>
            <a:xfrm>
              <a:off x="5912197" y="2796113"/>
              <a:ext cx="2524804" cy="3401365"/>
              <a:chOff x="6876256" y="2708920"/>
              <a:chExt cx="2248016" cy="3197283"/>
            </a:xfrm>
          </p:grpSpPr>
          <p:sp>
            <p:nvSpPr>
              <p:cNvPr id="11" name="橢圓 10"/>
              <p:cNvSpPr/>
              <p:nvPr/>
            </p:nvSpPr>
            <p:spPr>
              <a:xfrm>
                <a:off x="8604448" y="2708920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5</a:t>
                </a:r>
              </a:p>
            </p:txBody>
          </p:sp>
          <p:sp>
            <p:nvSpPr>
              <p:cNvPr id="12" name="橢圓 11"/>
              <p:cNvSpPr/>
              <p:nvPr/>
            </p:nvSpPr>
            <p:spPr>
              <a:xfrm>
                <a:off x="8620216" y="3717032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4</a:t>
                </a:r>
              </a:p>
            </p:txBody>
          </p:sp>
          <p:sp>
            <p:nvSpPr>
              <p:cNvPr id="13" name="橢圓 12"/>
              <p:cNvSpPr/>
              <p:nvPr/>
            </p:nvSpPr>
            <p:spPr>
              <a:xfrm>
                <a:off x="8604448" y="4611807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7</a:t>
                </a:r>
              </a:p>
            </p:txBody>
          </p:sp>
          <p:sp>
            <p:nvSpPr>
              <p:cNvPr id="15" name="橢圓 14"/>
              <p:cNvSpPr/>
              <p:nvPr/>
            </p:nvSpPr>
            <p:spPr>
              <a:xfrm>
                <a:off x="8604448" y="5402147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6</a:t>
                </a:r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6876256" y="2708920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11</a:t>
                </a:r>
              </a:p>
            </p:txBody>
          </p:sp>
          <p:sp>
            <p:nvSpPr>
              <p:cNvPr id="19" name="橢圓 18"/>
              <p:cNvSpPr/>
              <p:nvPr/>
            </p:nvSpPr>
            <p:spPr>
              <a:xfrm>
                <a:off x="7812360" y="2708920"/>
                <a:ext cx="504056" cy="504056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10</a:t>
                </a:r>
              </a:p>
            </p:txBody>
          </p:sp>
          <p:cxnSp>
            <p:nvCxnSpPr>
              <p:cNvPr id="27" name="直線接點 26"/>
              <p:cNvCxnSpPr>
                <a:stCxn id="12" idx="4"/>
                <a:endCxn id="13" idx="0"/>
              </p:cNvCxnSpPr>
              <p:nvPr/>
            </p:nvCxnSpPr>
            <p:spPr>
              <a:xfrm flipH="1">
                <a:off x="8856476" y="4221088"/>
                <a:ext cx="15768" cy="39071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線接點 27"/>
              <p:cNvCxnSpPr>
                <a:stCxn id="19" idx="6"/>
                <a:endCxn id="11" idx="2"/>
              </p:cNvCxnSpPr>
              <p:nvPr/>
            </p:nvCxnSpPr>
            <p:spPr>
              <a:xfrm>
                <a:off x="8316416" y="2960948"/>
                <a:ext cx="2880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/>
              <p:cNvCxnSpPr>
                <a:stCxn id="12" idx="0"/>
                <a:endCxn id="11" idx="4"/>
              </p:cNvCxnSpPr>
              <p:nvPr/>
            </p:nvCxnSpPr>
            <p:spPr>
              <a:xfrm flipH="1" flipV="1">
                <a:off x="8856476" y="3212976"/>
                <a:ext cx="15768" cy="50405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3" name="直線接點 32"/>
              <p:cNvCxnSpPr>
                <a:stCxn id="15" idx="0"/>
                <a:endCxn id="13" idx="4"/>
              </p:cNvCxnSpPr>
              <p:nvPr/>
            </p:nvCxnSpPr>
            <p:spPr>
              <a:xfrm flipV="1">
                <a:off x="8856476" y="5115863"/>
                <a:ext cx="0" cy="286284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>
                <a:stCxn id="18" idx="6"/>
                <a:endCxn id="19" idx="2"/>
              </p:cNvCxnSpPr>
              <p:nvPr/>
            </p:nvCxnSpPr>
            <p:spPr>
              <a:xfrm>
                <a:off x="7380312" y="2960948"/>
                <a:ext cx="432048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36" name="直線接點 35"/>
            <p:cNvCxnSpPr>
              <a:stCxn id="15" idx="1"/>
              <a:endCxn id="18" idx="4"/>
            </p:cNvCxnSpPr>
            <p:nvPr/>
          </p:nvCxnSpPr>
          <p:spPr>
            <a:xfrm flipH="1" flipV="1">
              <a:off x="6195256" y="3332343"/>
              <a:ext cx="1740823" cy="240743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41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3920587"/>
              </p:ext>
            </p:extLst>
          </p:nvPr>
        </p:nvGraphicFramePr>
        <p:xfrm>
          <a:off x="0" y="6285789"/>
          <a:ext cx="8352913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/>
                        <a:t>π</a:t>
                      </a:r>
                      <a:r>
                        <a:rPr lang="en-US" altLang="zh-TW" sz="2000" dirty="0" smtClean="0"/>
                        <a:t>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pSp>
        <p:nvGrpSpPr>
          <p:cNvPr id="23" name="群組 22"/>
          <p:cNvGrpSpPr/>
          <p:nvPr/>
        </p:nvGrpSpPr>
        <p:grpSpPr>
          <a:xfrm>
            <a:off x="683873" y="2820762"/>
            <a:ext cx="2524804" cy="3488559"/>
            <a:chOff x="1501468" y="2820762"/>
            <a:chExt cx="2524804" cy="3488559"/>
          </a:xfrm>
        </p:grpSpPr>
        <p:grpSp>
          <p:nvGrpSpPr>
            <p:cNvPr id="35" name="群組 34"/>
            <p:cNvGrpSpPr/>
            <p:nvPr/>
          </p:nvGrpSpPr>
          <p:grpSpPr>
            <a:xfrm>
              <a:off x="1501468" y="2820762"/>
              <a:ext cx="2524804" cy="3488559"/>
              <a:chOff x="6876256" y="2814051"/>
              <a:chExt cx="2248016" cy="3279245"/>
            </a:xfrm>
          </p:grpSpPr>
          <p:sp>
            <p:nvSpPr>
              <p:cNvPr id="43" name="橢圓 42"/>
              <p:cNvSpPr/>
              <p:nvPr/>
            </p:nvSpPr>
            <p:spPr>
              <a:xfrm>
                <a:off x="8604448" y="2814051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5</a:t>
                </a:r>
              </a:p>
            </p:txBody>
          </p:sp>
          <p:sp>
            <p:nvSpPr>
              <p:cNvPr id="44" name="橢圓 43"/>
              <p:cNvSpPr/>
              <p:nvPr/>
            </p:nvSpPr>
            <p:spPr>
              <a:xfrm>
                <a:off x="8620216" y="3717032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4</a:t>
                </a:r>
              </a:p>
            </p:txBody>
          </p:sp>
          <p:sp>
            <p:nvSpPr>
              <p:cNvPr id="45" name="橢圓 44"/>
              <p:cNvSpPr/>
              <p:nvPr/>
            </p:nvSpPr>
            <p:spPr>
              <a:xfrm>
                <a:off x="8604448" y="4611807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7</a:t>
                </a:r>
              </a:p>
            </p:txBody>
          </p:sp>
          <p:sp>
            <p:nvSpPr>
              <p:cNvPr id="47" name="橢圓 46"/>
              <p:cNvSpPr/>
              <p:nvPr/>
            </p:nvSpPr>
            <p:spPr>
              <a:xfrm>
                <a:off x="8604448" y="5589240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6</a:t>
                </a:r>
              </a:p>
            </p:txBody>
          </p:sp>
          <p:sp>
            <p:nvSpPr>
              <p:cNvPr id="48" name="橢圓 47"/>
              <p:cNvSpPr/>
              <p:nvPr/>
            </p:nvSpPr>
            <p:spPr>
              <a:xfrm>
                <a:off x="7020272" y="5589240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13</a:t>
                </a:r>
              </a:p>
            </p:txBody>
          </p:sp>
          <p:sp>
            <p:nvSpPr>
              <p:cNvPr id="49" name="橢圓 48"/>
              <p:cNvSpPr/>
              <p:nvPr/>
            </p:nvSpPr>
            <p:spPr>
              <a:xfrm>
                <a:off x="7846252" y="5589240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12</a:t>
                </a:r>
              </a:p>
            </p:txBody>
          </p:sp>
          <p:sp>
            <p:nvSpPr>
              <p:cNvPr id="50" name="橢圓 49"/>
              <p:cNvSpPr/>
              <p:nvPr/>
            </p:nvSpPr>
            <p:spPr>
              <a:xfrm>
                <a:off x="6876256" y="2844295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11</a:t>
                </a:r>
              </a:p>
            </p:txBody>
          </p:sp>
          <p:sp>
            <p:nvSpPr>
              <p:cNvPr id="51" name="橢圓 50"/>
              <p:cNvSpPr/>
              <p:nvPr/>
            </p:nvSpPr>
            <p:spPr>
              <a:xfrm>
                <a:off x="7812360" y="2814051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10</a:t>
                </a:r>
              </a:p>
            </p:txBody>
          </p:sp>
          <p:cxnSp>
            <p:nvCxnSpPr>
              <p:cNvPr id="57" name="直線接點 56"/>
              <p:cNvCxnSpPr>
                <a:stCxn id="44" idx="4"/>
                <a:endCxn id="45" idx="0"/>
              </p:cNvCxnSpPr>
              <p:nvPr/>
            </p:nvCxnSpPr>
            <p:spPr>
              <a:xfrm flipH="1">
                <a:off x="8856476" y="4221088"/>
                <a:ext cx="15768" cy="39071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直線接點 57"/>
              <p:cNvCxnSpPr>
                <a:stCxn id="51" idx="6"/>
                <a:endCxn id="43" idx="2"/>
              </p:cNvCxnSpPr>
              <p:nvPr/>
            </p:nvCxnSpPr>
            <p:spPr>
              <a:xfrm>
                <a:off x="8316416" y="3066079"/>
                <a:ext cx="2880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直線接點 58"/>
              <p:cNvCxnSpPr>
                <a:stCxn id="49" idx="6"/>
                <a:endCxn id="47" idx="2"/>
              </p:cNvCxnSpPr>
              <p:nvPr/>
            </p:nvCxnSpPr>
            <p:spPr>
              <a:xfrm>
                <a:off x="8350308" y="5841268"/>
                <a:ext cx="2541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直線接點 59"/>
              <p:cNvCxnSpPr>
                <a:stCxn id="44" idx="0"/>
                <a:endCxn id="43" idx="4"/>
              </p:cNvCxnSpPr>
              <p:nvPr/>
            </p:nvCxnSpPr>
            <p:spPr>
              <a:xfrm flipH="1" flipV="1">
                <a:off x="8856476" y="3318107"/>
                <a:ext cx="15768" cy="39892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1" name="直線接點 60"/>
              <p:cNvCxnSpPr>
                <a:stCxn id="47" idx="0"/>
                <a:endCxn id="45" idx="4"/>
              </p:cNvCxnSpPr>
              <p:nvPr/>
            </p:nvCxnSpPr>
            <p:spPr>
              <a:xfrm flipV="1">
                <a:off x="8856476" y="5115863"/>
                <a:ext cx="0" cy="473377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2" name="直線接點 61"/>
              <p:cNvCxnSpPr>
                <a:stCxn id="50" idx="6"/>
                <a:endCxn id="51" idx="2"/>
              </p:cNvCxnSpPr>
              <p:nvPr/>
            </p:nvCxnSpPr>
            <p:spPr>
              <a:xfrm flipV="1">
                <a:off x="7380312" y="3066079"/>
                <a:ext cx="432048" cy="30244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3" name="直線接點 62"/>
              <p:cNvCxnSpPr>
                <a:stCxn id="49" idx="2"/>
                <a:endCxn id="48" idx="6"/>
              </p:cNvCxnSpPr>
              <p:nvPr/>
            </p:nvCxnSpPr>
            <p:spPr>
              <a:xfrm flipH="1">
                <a:off x="7524328" y="5841268"/>
                <a:ext cx="321924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65" name="直線接點 64"/>
            <p:cNvCxnSpPr>
              <a:stCxn id="48" idx="0"/>
              <a:endCxn id="50" idx="4"/>
            </p:cNvCxnSpPr>
            <p:nvPr/>
          </p:nvCxnSpPr>
          <p:spPr>
            <a:xfrm flipH="1" flipV="1">
              <a:off x="1784527" y="3389166"/>
              <a:ext cx="161748" cy="238392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6" name="向右箭號 65"/>
          <p:cNvSpPr/>
          <p:nvPr/>
        </p:nvSpPr>
        <p:spPr>
          <a:xfrm>
            <a:off x="4211960" y="4161337"/>
            <a:ext cx="1224136" cy="38170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761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2" b="28864"/>
          <a:stretch/>
        </p:blipFill>
        <p:spPr bwMode="auto">
          <a:xfrm>
            <a:off x="-48191" y="36017"/>
            <a:ext cx="7132904" cy="2188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22</a:t>
            </a:fld>
            <a:endParaRPr lang="zh-TW" altLang="en-US"/>
          </a:p>
        </p:txBody>
      </p:sp>
      <p:grpSp>
        <p:nvGrpSpPr>
          <p:cNvPr id="2" name="群組 1"/>
          <p:cNvGrpSpPr/>
          <p:nvPr/>
        </p:nvGrpSpPr>
        <p:grpSpPr>
          <a:xfrm>
            <a:off x="5364086" y="2852936"/>
            <a:ext cx="3024338" cy="3344541"/>
            <a:chOff x="6103814" y="3260586"/>
            <a:chExt cx="3024338" cy="3344541"/>
          </a:xfrm>
        </p:grpSpPr>
        <p:grpSp>
          <p:nvGrpSpPr>
            <p:cNvPr id="7" name="群組 6"/>
            <p:cNvGrpSpPr/>
            <p:nvPr/>
          </p:nvGrpSpPr>
          <p:grpSpPr>
            <a:xfrm>
              <a:off x="6103814" y="3260586"/>
              <a:ext cx="3024338" cy="3344541"/>
              <a:chOff x="6876256" y="2708920"/>
              <a:chExt cx="2692788" cy="3143869"/>
            </a:xfrm>
          </p:grpSpPr>
          <p:sp>
            <p:nvSpPr>
              <p:cNvPr id="11" name="橢圓 10"/>
              <p:cNvSpPr/>
              <p:nvPr/>
            </p:nvSpPr>
            <p:spPr>
              <a:xfrm>
                <a:off x="8604448" y="2708920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5</a:t>
                </a:r>
              </a:p>
            </p:txBody>
          </p:sp>
          <p:sp>
            <p:nvSpPr>
              <p:cNvPr id="12" name="橢圓 11"/>
              <p:cNvSpPr/>
              <p:nvPr/>
            </p:nvSpPr>
            <p:spPr>
              <a:xfrm>
                <a:off x="8620216" y="3717032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4</a:t>
                </a:r>
              </a:p>
            </p:txBody>
          </p:sp>
          <p:sp>
            <p:nvSpPr>
              <p:cNvPr id="13" name="橢圓 12"/>
              <p:cNvSpPr/>
              <p:nvPr/>
            </p:nvSpPr>
            <p:spPr>
              <a:xfrm>
                <a:off x="9064988" y="4438552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7</a:t>
                </a:r>
              </a:p>
            </p:txBody>
          </p:sp>
          <p:sp>
            <p:nvSpPr>
              <p:cNvPr id="15" name="橢圓 14"/>
              <p:cNvSpPr/>
              <p:nvPr/>
            </p:nvSpPr>
            <p:spPr>
              <a:xfrm>
                <a:off x="9056132" y="5348733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6</a:t>
                </a:r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6876256" y="2708920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11</a:t>
                </a:r>
              </a:p>
            </p:txBody>
          </p:sp>
          <p:sp>
            <p:nvSpPr>
              <p:cNvPr id="19" name="橢圓 18"/>
              <p:cNvSpPr/>
              <p:nvPr/>
            </p:nvSpPr>
            <p:spPr>
              <a:xfrm>
                <a:off x="7812360" y="2708920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10</a:t>
                </a:r>
              </a:p>
            </p:txBody>
          </p:sp>
          <p:cxnSp>
            <p:nvCxnSpPr>
              <p:cNvPr id="27" name="直線接點 26"/>
              <p:cNvCxnSpPr>
                <a:stCxn id="11" idx="6"/>
                <a:endCxn id="13" idx="0"/>
              </p:cNvCxnSpPr>
              <p:nvPr/>
            </p:nvCxnSpPr>
            <p:spPr>
              <a:xfrm>
                <a:off x="9108504" y="2960948"/>
                <a:ext cx="208512" cy="147760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線接點 27"/>
              <p:cNvCxnSpPr>
                <a:stCxn id="19" idx="5"/>
                <a:endCxn id="12" idx="1"/>
              </p:cNvCxnSpPr>
              <p:nvPr/>
            </p:nvCxnSpPr>
            <p:spPr>
              <a:xfrm>
                <a:off x="8242598" y="3139159"/>
                <a:ext cx="451435" cy="65169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/>
              <p:cNvCxnSpPr>
                <a:stCxn id="12" idx="0"/>
                <a:endCxn id="11" idx="4"/>
              </p:cNvCxnSpPr>
              <p:nvPr/>
            </p:nvCxnSpPr>
            <p:spPr>
              <a:xfrm flipH="1" flipV="1">
                <a:off x="8856476" y="3212976"/>
                <a:ext cx="15768" cy="50405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3" name="直線接點 32"/>
              <p:cNvCxnSpPr>
                <a:stCxn id="15" idx="0"/>
                <a:endCxn id="13" idx="4"/>
              </p:cNvCxnSpPr>
              <p:nvPr/>
            </p:nvCxnSpPr>
            <p:spPr>
              <a:xfrm flipV="1">
                <a:off x="9308160" y="4942608"/>
                <a:ext cx="8856" cy="406124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>
                <a:stCxn id="18" idx="6"/>
                <a:endCxn id="19" idx="2"/>
              </p:cNvCxnSpPr>
              <p:nvPr/>
            </p:nvCxnSpPr>
            <p:spPr>
              <a:xfrm>
                <a:off x="7380312" y="2960948"/>
                <a:ext cx="432048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36" name="直線接點 35"/>
            <p:cNvCxnSpPr>
              <a:stCxn id="15" idx="1"/>
              <a:endCxn id="18" idx="4"/>
            </p:cNvCxnSpPr>
            <p:nvPr/>
          </p:nvCxnSpPr>
          <p:spPr>
            <a:xfrm flipH="1" flipV="1">
              <a:off x="6386873" y="3796816"/>
              <a:ext cx="2248121" cy="235061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41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1984349"/>
              </p:ext>
            </p:extLst>
          </p:nvPr>
        </p:nvGraphicFramePr>
        <p:xfrm>
          <a:off x="35511" y="2204864"/>
          <a:ext cx="8352913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/>
                        <a:t>π</a:t>
                      </a:r>
                      <a:r>
                        <a:rPr lang="en-US" altLang="zh-TW" sz="2000" dirty="0" smtClean="0"/>
                        <a:t>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6537273"/>
              </p:ext>
            </p:extLst>
          </p:nvPr>
        </p:nvGraphicFramePr>
        <p:xfrm>
          <a:off x="84388" y="6287327"/>
          <a:ext cx="8352913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/>
                        <a:t>π</a:t>
                      </a:r>
                      <a:r>
                        <a:rPr lang="en-US" altLang="zh-TW" sz="2000" dirty="0" smtClean="0"/>
                        <a:t>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pSp>
        <p:nvGrpSpPr>
          <p:cNvPr id="64" name="群組 63"/>
          <p:cNvGrpSpPr/>
          <p:nvPr/>
        </p:nvGrpSpPr>
        <p:grpSpPr>
          <a:xfrm>
            <a:off x="833832" y="2748754"/>
            <a:ext cx="2524804" cy="3448723"/>
            <a:chOff x="5912198" y="2796113"/>
            <a:chExt cx="2524804" cy="3448723"/>
          </a:xfrm>
        </p:grpSpPr>
        <p:grpSp>
          <p:nvGrpSpPr>
            <p:cNvPr id="65" name="群組 64"/>
            <p:cNvGrpSpPr/>
            <p:nvPr/>
          </p:nvGrpSpPr>
          <p:grpSpPr>
            <a:xfrm>
              <a:off x="5912198" y="2796113"/>
              <a:ext cx="2524804" cy="3448723"/>
              <a:chOff x="6876256" y="2708920"/>
              <a:chExt cx="2248016" cy="3241800"/>
            </a:xfrm>
          </p:grpSpPr>
          <p:sp>
            <p:nvSpPr>
              <p:cNvPr id="70" name="橢圓 69"/>
              <p:cNvSpPr/>
              <p:nvPr/>
            </p:nvSpPr>
            <p:spPr>
              <a:xfrm>
                <a:off x="8604448" y="2708920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5</a:t>
                </a:r>
              </a:p>
            </p:txBody>
          </p:sp>
          <p:sp>
            <p:nvSpPr>
              <p:cNvPr id="71" name="橢圓 70"/>
              <p:cNvSpPr/>
              <p:nvPr/>
            </p:nvSpPr>
            <p:spPr>
              <a:xfrm>
                <a:off x="8620216" y="3717032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4</a:t>
                </a:r>
              </a:p>
            </p:txBody>
          </p:sp>
          <p:sp>
            <p:nvSpPr>
              <p:cNvPr id="72" name="橢圓 71"/>
              <p:cNvSpPr/>
              <p:nvPr/>
            </p:nvSpPr>
            <p:spPr>
              <a:xfrm>
                <a:off x="8604448" y="4611807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7</a:t>
                </a:r>
              </a:p>
            </p:txBody>
          </p:sp>
          <p:sp>
            <p:nvSpPr>
              <p:cNvPr id="74" name="橢圓 73"/>
              <p:cNvSpPr/>
              <p:nvPr/>
            </p:nvSpPr>
            <p:spPr>
              <a:xfrm>
                <a:off x="8604448" y="5446664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6</a:t>
                </a:r>
              </a:p>
            </p:txBody>
          </p:sp>
          <p:sp>
            <p:nvSpPr>
              <p:cNvPr id="77" name="橢圓 76"/>
              <p:cNvSpPr/>
              <p:nvPr/>
            </p:nvSpPr>
            <p:spPr>
              <a:xfrm>
                <a:off x="6876256" y="2708920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11</a:t>
                </a:r>
              </a:p>
            </p:txBody>
          </p:sp>
          <p:sp>
            <p:nvSpPr>
              <p:cNvPr id="78" name="橢圓 77"/>
              <p:cNvSpPr/>
              <p:nvPr/>
            </p:nvSpPr>
            <p:spPr>
              <a:xfrm>
                <a:off x="7812360" y="2708920"/>
                <a:ext cx="504056" cy="50405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10</a:t>
                </a:r>
              </a:p>
            </p:txBody>
          </p:sp>
          <p:cxnSp>
            <p:nvCxnSpPr>
              <p:cNvPr id="84" name="直線接點 83"/>
              <p:cNvCxnSpPr>
                <a:stCxn id="71" idx="4"/>
                <a:endCxn id="72" idx="0"/>
              </p:cNvCxnSpPr>
              <p:nvPr/>
            </p:nvCxnSpPr>
            <p:spPr>
              <a:xfrm flipH="1">
                <a:off x="8856476" y="4221088"/>
                <a:ext cx="15768" cy="39071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直線接點 84"/>
              <p:cNvCxnSpPr>
                <a:stCxn id="78" idx="6"/>
                <a:endCxn id="70" idx="2"/>
              </p:cNvCxnSpPr>
              <p:nvPr/>
            </p:nvCxnSpPr>
            <p:spPr>
              <a:xfrm>
                <a:off x="8316416" y="2960948"/>
                <a:ext cx="2880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直線接點 85"/>
              <p:cNvCxnSpPr>
                <a:stCxn id="71" idx="0"/>
                <a:endCxn id="70" idx="4"/>
              </p:cNvCxnSpPr>
              <p:nvPr/>
            </p:nvCxnSpPr>
            <p:spPr>
              <a:xfrm flipH="1" flipV="1">
                <a:off x="8856476" y="3212976"/>
                <a:ext cx="15768" cy="50405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7" name="直線接點 86"/>
              <p:cNvCxnSpPr>
                <a:stCxn id="74" idx="0"/>
                <a:endCxn id="72" idx="4"/>
              </p:cNvCxnSpPr>
              <p:nvPr/>
            </p:nvCxnSpPr>
            <p:spPr>
              <a:xfrm flipV="1">
                <a:off x="8856476" y="5115864"/>
                <a:ext cx="0" cy="33080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8" name="直線接點 87"/>
              <p:cNvCxnSpPr>
                <a:stCxn id="77" idx="6"/>
                <a:endCxn id="78" idx="2"/>
              </p:cNvCxnSpPr>
              <p:nvPr/>
            </p:nvCxnSpPr>
            <p:spPr>
              <a:xfrm>
                <a:off x="7380312" y="2960948"/>
                <a:ext cx="432048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66" name="直線接點 65"/>
            <p:cNvCxnSpPr>
              <a:stCxn id="74" idx="1"/>
              <a:endCxn id="77" idx="4"/>
            </p:cNvCxnSpPr>
            <p:nvPr/>
          </p:nvCxnSpPr>
          <p:spPr>
            <a:xfrm flipH="1" flipV="1">
              <a:off x="6195257" y="3332343"/>
              <a:ext cx="1740823" cy="245479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" name="直線接點 5"/>
          <p:cNvCxnSpPr/>
          <p:nvPr/>
        </p:nvCxnSpPr>
        <p:spPr>
          <a:xfrm>
            <a:off x="1691680" y="476672"/>
            <a:ext cx="182658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1397703" y="2132856"/>
            <a:ext cx="382236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3" name="向右箭號 92"/>
          <p:cNvSpPr/>
          <p:nvPr/>
        </p:nvSpPr>
        <p:spPr>
          <a:xfrm>
            <a:off x="4211960" y="4161337"/>
            <a:ext cx="1224136" cy="38170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872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2" b="28864"/>
          <a:stretch/>
        </p:blipFill>
        <p:spPr bwMode="auto">
          <a:xfrm>
            <a:off x="-48191" y="36017"/>
            <a:ext cx="7132904" cy="2188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23</a:t>
            </a:fld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6084168" y="2924944"/>
            <a:ext cx="1132236" cy="3304708"/>
            <a:chOff x="8604448" y="2839793"/>
            <a:chExt cx="1008112" cy="3106426"/>
          </a:xfrm>
        </p:grpSpPr>
        <p:sp>
          <p:nvSpPr>
            <p:cNvPr id="11" name="橢圓 10"/>
            <p:cNvSpPr/>
            <p:nvPr/>
          </p:nvSpPr>
          <p:spPr>
            <a:xfrm>
              <a:off x="8604448" y="2839793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5</a:t>
              </a:r>
            </a:p>
          </p:txBody>
        </p:sp>
        <p:sp>
          <p:nvSpPr>
            <p:cNvPr id="12" name="橢圓 11"/>
            <p:cNvSpPr/>
            <p:nvPr/>
          </p:nvSpPr>
          <p:spPr>
            <a:xfrm>
              <a:off x="8620216" y="3717032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4</a:t>
              </a:r>
            </a:p>
          </p:txBody>
        </p:sp>
        <p:sp>
          <p:nvSpPr>
            <p:cNvPr id="13" name="橢圓 12"/>
            <p:cNvSpPr/>
            <p:nvPr/>
          </p:nvSpPr>
          <p:spPr>
            <a:xfrm>
              <a:off x="9108504" y="4360807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7</a:t>
              </a:r>
            </a:p>
          </p:txBody>
        </p:sp>
        <p:sp>
          <p:nvSpPr>
            <p:cNvPr id="15" name="橢圓 14"/>
            <p:cNvSpPr/>
            <p:nvPr/>
          </p:nvSpPr>
          <p:spPr>
            <a:xfrm>
              <a:off x="8604448" y="5442163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6</a:t>
              </a:r>
            </a:p>
          </p:txBody>
        </p:sp>
        <p:cxnSp>
          <p:nvCxnSpPr>
            <p:cNvPr id="27" name="直線接點 26"/>
            <p:cNvCxnSpPr>
              <a:stCxn id="11" idx="6"/>
              <a:endCxn id="13" idx="0"/>
            </p:cNvCxnSpPr>
            <p:nvPr/>
          </p:nvCxnSpPr>
          <p:spPr>
            <a:xfrm>
              <a:off x="9108504" y="3091821"/>
              <a:ext cx="252028" cy="126898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>
              <a:stCxn id="12" idx="4"/>
              <a:endCxn id="15" idx="0"/>
            </p:cNvCxnSpPr>
            <p:nvPr/>
          </p:nvCxnSpPr>
          <p:spPr>
            <a:xfrm flipH="1">
              <a:off x="8856476" y="4221088"/>
              <a:ext cx="15768" cy="12210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>
              <a:stCxn id="12" idx="0"/>
              <a:endCxn id="11" idx="4"/>
            </p:cNvCxnSpPr>
            <p:nvPr/>
          </p:nvCxnSpPr>
          <p:spPr>
            <a:xfrm flipH="1" flipV="1">
              <a:off x="8856476" y="3343849"/>
              <a:ext cx="15768" cy="37318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>
              <a:stCxn id="15" idx="0"/>
              <a:endCxn id="13" idx="4"/>
            </p:cNvCxnSpPr>
            <p:nvPr/>
          </p:nvCxnSpPr>
          <p:spPr>
            <a:xfrm flipV="1">
              <a:off x="8856476" y="4864864"/>
              <a:ext cx="504056" cy="577299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35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262194"/>
              </p:ext>
            </p:extLst>
          </p:nvPr>
        </p:nvGraphicFramePr>
        <p:xfrm>
          <a:off x="35511" y="2204864"/>
          <a:ext cx="8352913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/>
                        <a:t>π</a:t>
                      </a:r>
                      <a:r>
                        <a:rPr lang="en-US" altLang="zh-TW" sz="2000" dirty="0" smtClean="0"/>
                        <a:t>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1084321"/>
              </p:ext>
            </p:extLst>
          </p:nvPr>
        </p:nvGraphicFramePr>
        <p:xfrm>
          <a:off x="107504" y="6264997"/>
          <a:ext cx="8352913" cy="53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  <a:gridCol w="439627"/>
              </a:tblGrid>
              <a:tr h="533557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/>
                        <a:t>π</a:t>
                      </a:r>
                      <a:r>
                        <a:rPr lang="en-US" altLang="zh-TW" sz="2000" dirty="0" smtClean="0"/>
                        <a:t>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000" u="sng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2000" u="sng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16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pSp>
        <p:nvGrpSpPr>
          <p:cNvPr id="86" name="群組 85"/>
          <p:cNvGrpSpPr/>
          <p:nvPr/>
        </p:nvGrpSpPr>
        <p:grpSpPr>
          <a:xfrm>
            <a:off x="611560" y="2820763"/>
            <a:ext cx="3024338" cy="3344541"/>
            <a:chOff x="6103814" y="3260586"/>
            <a:chExt cx="3024338" cy="3344541"/>
          </a:xfrm>
        </p:grpSpPr>
        <p:grpSp>
          <p:nvGrpSpPr>
            <p:cNvPr id="87" name="群組 86"/>
            <p:cNvGrpSpPr/>
            <p:nvPr/>
          </p:nvGrpSpPr>
          <p:grpSpPr>
            <a:xfrm>
              <a:off x="6103814" y="3260586"/>
              <a:ext cx="3024338" cy="3344541"/>
              <a:chOff x="6876256" y="2708920"/>
              <a:chExt cx="2692788" cy="3143869"/>
            </a:xfrm>
          </p:grpSpPr>
          <p:sp>
            <p:nvSpPr>
              <p:cNvPr id="89" name="橢圓 88"/>
              <p:cNvSpPr/>
              <p:nvPr/>
            </p:nvSpPr>
            <p:spPr>
              <a:xfrm>
                <a:off x="8604448" y="2708920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5</a:t>
                </a:r>
              </a:p>
            </p:txBody>
          </p:sp>
          <p:sp>
            <p:nvSpPr>
              <p:cNvPr id="90" name="橢圓 89"/>
              <p:cNvSpPr/>
              <p:nvPr/>
            </p:nvSpPr>
            <p:spPr>
              <a:xfrm>
                <a:off x="8620216" y="3717032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4</a:t>
                </a:r>
              </a:p>
            </p:txBody>
          </p:sp>
          <p:sp>
            <p:nvSpPr>
              <p:cNvPr id="91" name="橢圓 90"/>
              <p:cNvSpPr/>
              <p:nvPr/>
            </p:nvSpPr>
            <p:spPr>
              <a:xfrm>
                <a:off x="9064988" y="4438552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7</a:t>
                </a:r>
              </a:p>
            </p:txBody>
          </p:sp>
          <p:sp>
            <p:nvSpPr>
              <p:cNvPr id="92" name="橢圓 91"/>
              <p:cNvSpPr/>
              <p:nvPr/>
            </p:nvSpPr>
            <p:spPr>
              <a:xfrm>
                <a:off x="9056132" y="5348733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6</a:t>
                </a:r>
              </a:p>
            </p:txBody>
          </p:sp>
          <p:sp>
            <p:nvSpPr>
              <p:cNvPr id="93" name="橢圓 92"/>
              <p:cNvSpPr/>
              <p:nvPr/>
            </p:nvSpPr>
            <p:spPr>
              <a:xfrm>
                <a:off x="6876256" y="2708920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11</a:t>
                </a:r>
              </a:p>
            </p:txBody>
          </p:sp>
          <p:sp>
            <p:nvSpPr>
              <p:cNvPr id="94" name="橢圓 93"/>
              <p:cNvSpPr/>
              <p:nvPr/>
            </p:nvSpPr>
            <p:spPr>
              <a:xfrm>
                <a:off x="7812360" y="2708920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10</a:t>
                </a:r>
              </a:p>
            </p:txBody>
          </p:sp>
          <p:cxnSp>
            <p:nvCxnSpPr>
              <p:cNvPr id="95" name="直線接點 94"/>
              <p:cNvCxnSpPr>
                <a:stCxn id="89" idx="6"/>
                <a:endCxn id="91" idx="0"/>
              </p:cNvCxnSpPr>
              <p:nvPr/>
            </p:nvCxnSpPr>
            <p:spPr>
              <a:xfrm>
                <a:off x="9108504" y="2960948"/>
                <a:ext cx="208512" cy="147760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直線接點 95"/>
              <p:cNvCxnSpPr>
                <a:stCxn id="94" idx="5"/>
                <a:endCxn id="90" idx="1"/>
              </p:cNvCxnSpPr>
              <p:nvPr/>
            </p:nvCxnSpPr>
            <p:spPr>
              <a:xfrm>
                <a:off x="8242598" y="3139159"/>
                <a:ext cx="451435" cy="65169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直線接點 96"/>
              <p:cNvCxnSpPr>
                <a:stCxn id="90" idx="0"/>
                <a:endCxn id="89" idx="4"/>
              </p:cNvCxnSpPr>
              <p:nvPr/>
            </p:nvCxnSpPr>
            <p:spPr>
              <a:xfrm flipH="1" flipV="1">
                <a:off x="8856476" y="3212976"/>
                <a:ext cx="15768" cy="50405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8" name="直線接點 97"/>
              <p:cNvCxnSpPr>
                <a:stCxn id="92" idx="0"/>
                <a:endCxn id="91" idx="4"/>
              </p:cNvCxnSpPr>
              <p:nvPr/>
            </p:nvCxnSpPr>
            <p:spPr>
              <a:xfrm flipV="1">
                <a:off x="9308160" y="4942608"/>
                <a:ext cx="8856" cy="406124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9" name="直線接點 98"/>
              <p:cNvCxnSpPr>
                <a:stCxn id="93" idx="6"/>
                <a:endCxn id="94" idx="2"/>
              </p:cNvCxnSpPr>
              <p:nvPr/>
            </p:nvCxnSpPr>
            <p:spPr>
              <a:xfrm>
                <a:off x="7380312" y="2960948"/>
                <a:ext cx="432048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8" name="直線接點 87"/>
            <p:cNvCxnSpPr>
              <a:stCxn id="92" idx="1"/>
              <a:endCxn id="93" idx="4"/>
            </p:cNvCxnSpPr>
            <p:nvPr/>
          </p:nvCxnSpPr>
          <p:spPr>
            <a:xfrm flipH="1" flipV="1">
              <a:off x="6386873" y="3796816"/>
              <a:ext cx="2248121" cy="235061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0" name="直線接點 99"/>
          <p:cNvCxnSpPr/>
          <p:nvPr/>
        </p:nvCxnSpPr>
        <p:spPr>
          <a:xfrm>
            <a:off x="1691680" y="476672"/>
            <a:ext cx="182658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直線接點 100"/>
          <p:cNvCxnSpPr/>
          <p:nvPr/>
        </p:nvCxnSpPr>
        <p:spPr>
          <a:xfrm>
            <a:off x="2706930" y="2636912"/>
            <a:ext cx="164904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向右箭號 5"/>
          <p:cNvSpPr/>
          <p:nvPr/>
        </p:nvSpPr>
        <p:spPr>
          <a:xfrm>
            <a:off x="4211960" y="4161337"/>
            <a:ext cx="1224136" cy="38170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67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55" y="1472085"/>
            <a:ext cx="8737733" cy="440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845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owerpoint sample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4322</TotalTime>
  <Words>956</Words>
  <Application>Microsoft Office PowerPoint</Application>
  <PresentationFormat>如螢幕大小 (4:3)</PresentationFormat>
  <Paragraphs>637</Paragraphs>
  <Slides>25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2" baseType="lpstr">
      <vt:lpstr>新細明體</vt:lpstr>
      <vt:lpstr>標楷體</vt:lpstr>
      <vt:lpstr>Arial</vt:lpstr>
      <vt:lpstr>Calibri</vt:lpstr>
      <vt:lpstr>Cambria Math</vt:lpstr>
      <vt:lpstr>Times New Roman</vt:lpstr>
      <vt:lpstr>Office 佈景主題</vt:lpstr>
      <vt:lpstr> Genome Rearrangements  and Sorting by Reversals </vt:lpstr>
      <vt:lpstr>Abstract</vt:lpstr>
      <vt:lpstr>Reversals over permutations</vt:lpstr>
      <vt:lpstr>The Gollan permutation</vt:lpstr>
      <vt:lpstr>Maximum cycle decomposition</vt:lpstr>
      <vt:lpstr>A new lower bound</vt:lpstr>
      <vt:lpstr>A new lower bound</vt:lpstr>
      <vt:lpstr>Approximation algorithm for signed permutations</vt:lpstr>
      <vt:lpstr>Approximation algorithm for signed permutations</vt:lpstr>
      <vt:lpstr>SignedSort(π)</vt:lpstr>
      <vt:lpstr>PowerPoint 簡報</vt:lpstr>
      <vt:lpstr>PowerPoint 簡報</vt:lpstr>
      <vt:lpstr>ImprovedSort(π)</vt:lpstr>
      <vt:lpstr>ImprovedSort(π)</vt:lpstr>
      <vt:lpstr>ImprovedSort(π)</vt:lpstr>
      <vt:lpstr>ImprovedSort(π)</vt:lpstr>
      <vt:lpstr>ImprovedSort(π)</vt:lpstr>
      <vt:lpstr>ImprovedSort(π)</vt:lpstr>
      <vt:lpstr>ImprovedSort(π)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for Two Versions of LCS Problem for Indeterminate Strings</dc:title>
  <dc:creator>Leo</dc:creator>
  <cp:lastModifiedBy>linxl</cp:lastModifiedBy>
  <cp:revision>142</cp:revision>
  <dcterms:created xsi:type="dcterms:W3CDTF">2015-08-08T16:18:04Z</dcterms:created>
  <dcterms:modified xsi:type="dcterms:W3CDTF">2015-12-16T10:12:26Z</dcterms:modified>
</cp:coreProperties>
</file>