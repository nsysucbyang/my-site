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5" r:id="rId10"/>
    <p:sldId id="272" r:id="rId11"/>
    <p:sldId id="273" r:id="rId12"/>
    <p:sldId id="266" r:id="rId13"/>
    <p:sldId id="267" r:id="rId14"/>
    <p:sldId id="268" r:id="rId15"/>
    <p:sldId id="269" r:id="rId16"/>
    <p:sldId id="274" r:id="rId17"/>
    <p:sldId id="270" r:id="rId18"/>
    <p:sldId id="271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73110" autoAdjust="0"/>
  </p:normalViewPr>
  <p:slideViewPr>
    <p:cSldViewPr>
      <p:cViewPr varScale="1">
        <p:scale>
          <a:sx n="62" d="100"/>
          <a:sy n="62" d="100"/>
        </p:scale>
        <p:origin x="7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5-12-14T13:55:43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13441 10389,'0'0,"0"0,17 0,-17 0,18 0,-18 0,18 0,-1 0,-17 0,18 0,-18 0,18 0,-1 0,-17 0,18 0,-18 0,18 0,-18 0,17 0,1 0,-18 0,0 0,18 0,-18 0,17 0,1 0,-18 0,17 0,-17 0,18 0,-18 0,18 0,-1 0,-17 0,0 0,18 0,-18 0,18 0,-1 0,-17 0,18 0,-18 0,18 0,-18 0,17 0,1 0,-18 0,17 0,-17 0,18 0,0 0,-18 0,17 0,-17 0,0 0,18 0,-18 0,18 0,-1 0,-17-17,0 17,18 0,-18 0,18 0,-18 0,17 0,1 0,-18-18,0 18,17 0,-17 0,18 0,0 0,-18 0,17 0,-17 0,18 0,-18 0,18 0,-1 0,-17 0,0 0,18 0,-18 0,18 0,-1 0,-17 0,18 0,-18 0,18 0,-18 0,17 0,1 0,-18 0,0-18,17 18,-17 0,18 0,-18 0,18 0,-18 0,17 0,-17 0,18 0,-18 0,18 0,-1 0,-17 0,18 0,-18 0,18 0,-1 0,-17 0,18 0,-18 0,17 0,-17 0,18 0,0 0,-18 0,17 0,-17 0,18 0,0 0,-18 0,17 0,-17 0,0 0,18 0,-18 0,18 0,-1 0,-17 0,18 0,-18 0,17 0,1 0,-18 0,18 0,-18 0,17 0,-17 0,18 0,0 0,-18 0,17 0,-17 0,0 0,18 0,0 0,-18 0,17 0,-17 0,18 0</inkml:trace>
  <inkml:trace contextRef="#ctx0" brushRef="#br0" timeOffset="9183.5252">13406 11430,'17'0,"-17"0,18 0,-1 0,-17 0,18 0,-18 0,18 0,-1 0,-17 0,0 18,18-18,-18 0,18 0,-18 0,0 17,17-17,1 0,-18 0,18 0,-18 0,17 0,1 0,-18 0,0 0,18 0,-18 0,17 0,-17 0,18 0,-1 0,-17 0,18 0,-18 0,18 0,-1 0,-17 0,0 18,18-18,-18 0,18 0,-18 0,0 0,17 0,1 0,-18 0,18 0,-18 0,17 0,1 0,-18 0,17 0,-17 0,18 0,-18 0,18 0,-1 0,-17 0,0 18,18-18,-18 0,18 0,-1 0,-17 0,18 0,-18 0,18 0,-18 0,17 0,1 0,-18 0,17 0,-17 0,18 0,-18 0,18 0,-1 0,-17 0,18 0,-18 0,0 0,18 0,-1 0,-17 0,18 0,-18 0,18 0,-18 0,17 0,1 0,-18 0,18 0,-18 0,17 0,1 0,-18 0,17 0,-17 0,18 0,-18 0,18 0,-1 0,-17 0,18 0,-18 0,18 0,-1 0,-17 0,18 0,-18 0,18 0,-18 0,17 0,1 0,-18 0,17 0,-17 0,18 0,0 0,-18 0,17 0,-17 0,18 0,-18 0,18 0,-1 0,-17 0,18 0,-18 0,18 0,-1 0,-17 0,0 0,18 0,-18 0,17 0,-17 0,18 0,0 0,-18 0,17 0,-17 0,18 0,0 0,-18 0,17 0,-17 0,18 0,-18 0,18 0,-18-18,17 18,-17 0,18 0,-18 0,0 0,18 0,-1 0,-17 0,18 0,-18 0,17 0,-17 0,18 0,0 0,-18 0,0-18,17 18,-17 0,18 0,0 0,-18 0,17 0,-17 0,18 0,-18 0,18 0</inkml:trace>
  <inkml:trace contextRef="#ctx0" brushRef="#br0" timeOffset="14222.8135">18662 11342,'0'-18,"0"18,0 0,18 0,-18 0,17 0,1 0,-18 0,18 0,-18 0,17 0,1 0,-18 0,17 0,-17 0,18 0,-18 0,0 0,18 0,-1 0,-17 0,18 0,-18 0,18 0,-1 0,-17 0,18 0,-18 0,18 0,-18 0,0 0,17 0,1 0,-18 0,17 0,-17 0,18 0,0 0,-18 0,17 0,-17 0,18 0,-18 0,18 0,-1 0,-17 18,0-18,18 0,-18 0,18 0,-18 0,0 0,17 0,1 0,-18 0,17 0,-17 0,18 0,0 0,-18 0,17 0,-17 17,18-17,-18 0,18 0,-1 0,-17 0,18 0,-18 0,18 0,-1 0,-17 0,18 0,-18 0,18 0,-18 0,17 0</inkml:trace>
  <inkml:trace contextRef="#ctx0" brushRef="#br0" timeOffset="16845.9635">23566 11377,'0'0,"0"0,0 0,17 0,-17 0,18 0,-1 0,-17 0,18 0,-18 0,18 0,-1 0,-17 0,18 0,-18 0,18 0,-18 0,17 0,1 0,-18 0,18 0,-18 0,17 0,1 0,-18 0,18 0,-18 0,17 0,-17 0,18 0,-1 0,-17 0,18 0,-18 0,18 0,-1 0,-17 0,0 0,18 0,-18 0,18 0,-18 0,17 0,-17 0,18 0,-18 0,18 0,-18 0,17 0,1 0,-18 0,17 0,-17 0,18 0,-18 0,18 0,-1 0,-17 0,18 0,-18 0,18 0,-1 0,-17 0,18 0,-18 0,18 0,-18 0,17 0,1 0,-18 0,17 0,-17 18,0-18,18 0,-18 0,18 0,-1 0,-17 0,18 0,-18 0,18 0,-1 0</inkml:trace>
  <inkml:trace contextRef="#ctx0" brushRef="#br0" timeOffset="20522.1738">18680 10372,'0'0,"0"0,0 0,17 0,1 0,-18 0,18 0,-18 0,17 0,-17 0,18 0,-1 0,-17 0,18 0,-18 0,18 0,-1 0,-17 0,18 0,-18 0,18 0,-18 0,17 0,1 0,-18 0,18 0,-18 0,17 0,1 0,-18 0,17 0,-17 0,18 0,-18 0,18 0,-1 0,-17 0,18 0,-18 0,18 0,-1 0,-17 0,18 0,-18 0,18 0,-18 0,17 0,1 0,-18 0,17 0,-17 0,0 0,18 0,0 0,-18 0,17 0,-17 0,18 0,-18 0,18 0,-1 0,-17 0,18 0,-18 17,0-17,18 0,-1 0,-17 0,18 0,-18 0,18 0,-18 0,17 0,1 0,-18 0,17 0,-17 0,18 0,0 0,-18 0,17 0,-17 0,18 0,-18 0,18 0,-1 0,-17 0,18 0,-18 0,18 0,-1 0</inkml:trace>
  <inkml:trace contextRef="#ctx0" brushRef="#br0" timeOffset="24024.3741">21043 10336,'0'0,"0"0,18 0,-1 0,-17 0,18 0,-18 0,18 0,-18 0,0 0,17 0,1 0,-18 0,0 18,18-18,-18 0,17 0,-17 0,18 0,0 0,-18 0,0 0,17 0,-17 0,18 0,0 0,-18 0,0 18,17-18,-17 0,18 0,-18 0,17 0,-17 17,18-17,-18 0,18 0,-18 0,17 0,1 0,-18 0,18 0,-18 0,17 0,-17 0,18 0,0 0,-18 0,17 0,-17 0,0 0,18 0,-1 0,-17 0,18 0,-18 0,18 0,-18 0,17 0,1 0,-18 0,18 0,-18 0,17 0,1 0,-18 0,0 0,18 0,-18 0,17 0,-17 0,18 0,-1 0,-17 0,18 0,-18 0,18 0,-1 0,-17 0,18 0,-18 0,18 0,-18 0,17 0,-17 0,18 0,-18 0,0 0,0 0,18 0,-18 0,17 0,1 0,-18 0,18 0,-18 0,17 0,-17-17,0 17,18 0,-1 0,-17 0,18 0</inkml:trace>
  <inkml:trace contextRef="#ctx0" brushRef="#br0" timeOffset="31974.8288">23530 10389,'0'0,"18"0,-18-17,0 17,18 0,-18 0,17 0,1 0,-18 0,17-18,-17 18,18 0,-18 0,18 0,-18-18,0 18,17 0,-17 0,18 0,-18 0,0 0,18 0,-1 0,-17 0,0-17,18 17,-18 0,18 0,-1 0,-17 0,0 0,18 0,-18 0,18 0,-18 0,17 0,-17-18,18 18,-18 0,17 0,-17 0,0 0,18 0,-18 0,18 0,-1 0,-17 0,18 0,-18 0,18 0,-1 0,-17 0,18 0,-18 0,18 0,-18 0,17 0,1 0,-18 0,0 0,17 0,-17 0,18 0,0 0,-18 18,0-18,17 0,-17 0,18 0,-18 0,18 0,-1 0,-17 0,0 0,18 0,-18 0,18 0,-18 17,17-17,-17 0,18 0,-18 0,17 0,-17 0,18 0,0 0,-18 0,17 0,-17 0,0 0,18 0,0 0,-18 0,17 0,-17 0,0 0,18 0,-18 0,0 0,18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5-12-14T14:33:10.6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18556 10319,'0'0,"0"-18,0 18,18 0,-18 0,17 0,-17 0,0 0,18 0,-18 0,18 0,-1 0,-17 0,18 0,-18 0,18 0,-18 0,17 0,1 0,-18 0,18 0,-18 0,17 0,1 0,-18 0,17 0,-17 0,0 0,18 0,-18 0,18 0,-1 0,-17 0,18 0,-18 0,18 0,-1 0,-17 0,18 0,-18 0,18 0,-18 0,17 0,1 0,-18 0,17 0,-17 0,18 0,0 0,-18 0,17 0,-17 0,18 0,-18 0,0 18,18-18,-1 0,-17 0,18 0,-18 0,18 0,-1 0,-17 0,18 0,-18 0,17 0,-17 0,18 0,0 0,-18 0,17 0,-17 0</inkml:trace>
  <inkml:trace contextRef="#ctx0" brushRef="#br0" timeOffset="2330.1332">20973 10319,'0'0,"0"0,17 0,-17 0,18 0,-18 0,18 0,-18 0,17 0,1 0,-18 0,17 0,-17 0,18 0,0 0,-18 0,17 0,-17 0,0-18,18 18,-18 0,18 0,-1 0,-17 0,18 0,-18 0,18 0,-1 0,-17 0,0 0,18 0,-18 0,18 0,-18 0,17 0,1 0,-18 0,17 0,-17 0,18 0,0 0,-18 0,17 0,-17 0,18 0,-18 0,18 0,-1 0,-17 0,18 0,-18 0,18 0,-1 0,-17 0,18 0,-18 0,17 0,-17 0,18 0,0 0,-18 0,17 0,-17 0,18 0,0 0,-18 0,17 0,-17 0,18 0,-18 0,18 0,-1 0,-17 0</inkml:trace>
  <inkml:trace contextRef="#ctx0" brushRef="#br0" timeOffset="4465.2553">23424 10319,'0'-18,"0"18,0 0,18 0,-18 0,0 0,18 0,-1 0,-17 0,18 0,-18 0,18 0,-1 0,-17 0,18 0,-18 0,0-18,18 18,-18 0,17 0,1 0,-18 0,17 0,-17 0,18 0,0 0,-18 0,17 0,-17 0,18 0,-18 0,18 0,-1 0,-17 0,18 0,-18-17,0 17,18 0,-1 0,-17 0,18 0,-18 0,18 0,-18 0,17 0,1 0,-18 0,17 0,-17 0,18 0,-18 0,18 0,-1 0,-17 0,18 0,-18 0,18 0,-1 0,-17 0,0 0,18 0,-18 0,18 0,-18 0,17 0,1 0,-18 0,0 0,17 0,-17 0,18 0,0 0,-18 0,17 0,-17 17,0-17,18 0,-18 0,18 0,-1 0,-17 0,18 0,-18 0,18 0,-1 0,-17 0,0 0,18 0,-18 0,17 0,-17 0,18 0,0 0</inkml:trace>
  <inkml:trace contextRef="#ctx0" brushRef="#br0" timeOffset="11796.6747">18591 11342,'0'0,"0"0,0 0,18 0,0 0,-18 0,17 0,-17 0,18 0,-18 0,18 0,-18 0,17 0,-17 0,18 0,-18 0,18 0,-18 0,17 0,-17 0,18 0,-18 0,17 0,-17 0,18 0,0 0,-18 0,17 0,-17 0,18 0,0 0,-18 0,17 0,-17 0,18 0,-18 0,18 0,-1 0,-17 0,18 0,-18 0,17 0,1 0,-18 0,18 0,-18 17,0-17,17 0,-17 0,18 0,-18 0,18 0,-18 0,17 0,-17 0,18 0,0 0,-18 0,17 0,-17 0,18 0,-18 0,17 0,1 0,-18 0,18 0,-18 0,17 0,1 0,-18 0,18 0,-18 0,17 0,-17 0,18 0,0 0,-18 0,17 0,-17 0,0 0,18 0,0 0,-18 0,17 0,-17 0,18 0,-18 0,17 0</inkml:trace>
  <inkml:trace contextRef="#ctx0" brushRef="#br0" timeOffset="13447.7691">21008 11377,'0'0,"0"0,0 0,18 0,-18 0,17 0,1 0,-18 0,17 0,-17 0,18 0,0 0,-18 0,17 0,-17 0,18 0,-18 0,18 0,-18 0,17 0,-17 0,18 0,-18 0,18 0,-1 0,-17 0,18 0,-18 0,18 0,-18 0,17 0,1 0,-18 0,17 0,-17 0,18 0,0 0,-18 0,17 0,-17 0,18 0,-18 0,18 0,-1 0,-17 0,18 0,-18 0,18 0,-1 0,-17 0,0 0,18 0,-18 0,17 0,-17 0,18 0,-18-18,18 18,-18 0,17 0,-17 0,18 0,0 0,-18 0,0-17,17 17,-17 0,18 0,-18 0,0 0,18 0,-1 0,-17 0,18 0,-18 0,17 0,-17-18,18 18,-18 0</inkml:trace>
  <inkml:trace contextRef="#ctx0" brushRef="#br0" timeOffset="15831.9055">23548 11359,'0'0,"0"0,0 0,18 0,-18 0,17 0,-17 0,18 0,-18 0,0 0,17 0,1 0,-18 0,18 0,-18 0,0 0,17 0,1 0,-18 0,18 0,-18 0,0 18,17-18,-17 0,0 0,18 0,0 0,-18 0,17 0,-17 0,18 0,0 18,-18-18,17 0,-17 0,18 0,-18 0,17 0,1 0,-18 0,18 0,-18 0,17 0,1 0,-18 0,18 0,-18 0,17 0,-17 0,18 0,0 0,-18 0,17 0,-17 0,18 0,-18 0,17 0,1 0,-18 0,0 0,18 0,-18 0,17 0,1 0,-18 0,18 0,-18 0,17 0,-17 0,0 0,18 0,0 0,-18 0</inkml:trace>
  <inkml:trace contextRef="#ctx0" brushRef="#br1" timeOffset="55184.1563">18556 5733,'0'-18,"0"18,18 0,-18 0,17 0,1 0,-18-18,0 18,18 0,-18 0,17 0,1 0,-18 0,0 0,18 0,-18 0,0 0,17 0,-17 0,18 0,0 0,-18 0,17 0,-17 0,18 0,-1 0,-17 0,18 0,-18 0,18 0,-18 0,17 0,1 0,-18 0,18 0,-18 0,17 0,1 0,-18 0,0 0,18 0,-18 0,17 0,-17 18,0-18,18 0,-1 0,-17 0,18 0,-18 0,18 0,-1 0,-17 0,18 0,-18 0,18 0,-18 0,17 0,1 0,-18 0,18 0,-18 0,17 0,-17 0,0 0,18 0,-1 0,-17 0,0 18,18-18,-18 0,18 0,-1 0,-17 0,18 0,-18 0,0 0,18 0,-18 0,0 17,17-17,1 0,-18 0,18 0,-18 0,0 18</inkml:trace>
  <inkml:trace contextRef="#ctx0" brushRef="#br1" timeOffset="58377.3389">23424 5821,'0'0,"0"0,0 0,18 0,0 0,-18 0,17 0,-17-18,0 18,18 0,0 0,-18 0,17 0,-17 0,18 0,-18 0,18 0,-1 0,-17 0,0 0,18 0,-18 0,17 0,-17 18,18-18,-18 0,18 0,-18 17,0-17,17 0,-17 0,18 0,0 0,-18 0,17 0,-17 0,18 0,0 0,-18 0,0 18,17-18,-17 0,18 0,-18 0,0 0,18 0,-1 0,-17 0,18 0,-18 0,17 0,1 0,-18 0,0 18,18-18,-18 0,17 0,-17 0,18 0,0 0,-18 0,17 0,-17 0,18 0,0 0,-18 0,17 0,-17 0,18 0,-18 0,17 0,1 0,-18 0,18 0,-18 0,17 0,1 0,-18 0,18 0,-18 0,17 0,-17 0,18 0,0 0,-18 0,17 0,-17 0,0 0,18 0,-1 0,-17 0,0 0,18 0,-18-18,18 18,-18 0,0 0,0-18,17 18,-17-17,18 17,-18 0,0 0,0-18,18 18,-18 0,0 0</inkml:trace>
  <inkml:trace contextRef="#ctx0" brushRef="#br1" timeOffset="110296.3085">18574 11077,'0'0,"0"0,17 0,-17 0,18 0,0 0,-18 0,17 0,-17 0,18 0,0 0,-18 0,17 0,-17 0,18 0,-18 0,18 0,-1 0,-17 0,18 0,-18 0,17 0,1 0,-18 0,18 0,-18 0,0 0,17 0,-17 0,18 0,0 0,-18 0,17 0,-17 0,18 0,0 0,-18 0,0 0,17 0,-17 0,18 0,-18-17,17 17,1 0,-18 0,18 0,-18-18,0 18,17 0,-17 0,18 0,0 0,-18 0,17 0,-17 0,18 0,0 0,-18 0,0 0,17 0,-17 0,18 0,-18 0,17 0,1 0,-18 0,18 0,-18 0,17 0,1 0,-18 0,18 0,-18 0,17 0,-17 0,18 0,0 0,-18 0,17 0,-17 0,18 0</inkml:trace>
  <inkml:trace contextRef="#ctx0" brushRef="#br1" timeOffset="112466.4327">23460 11042,'0'0,"0"0,17 0,-17 0,18 0,-18 0,0 0,18 0,-18 0,17 0,1 0,-18 0,18 0,-18 0,0 0,17 0,1 0,-18 18,0-18,17 0,-17 0,18 0,-18 0,18 0,-1 0,-17 0,18 17,-18-17,18 0,-1 0,-17 0,0 0,18 0,-18 0,18 0,-18 0,17 0,-17 18,18-18,-18 0,18 0,-18 0,17 0,1 0,-18 0,17 0,-17 0,18 0,-18 0,18 0,-1 0,-17 0,18 0,-18 0,18 0,-18 0,17 0,1 0,-18 0,0 0,18 0,-18 0,17 0,1 0,-18 0,17 0,-17 0,18 0,-18 0,0-18,18 18,-1 0,-17 0,0-17,18 17,-18 0,18 0,-1 0,-17 0,0 0,0-18,18 18,-18 0,0 0,18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20A0E-D918-4EC6-91C1-DF0849CD8A6C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ADCA5-7DAD-4B19-983E-06BEB316E4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574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ADCA5-7DAD-4B19-983E-06BEB316E4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019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http://blog.xuite.net/x5super/studyroom/61471385-%E4%B8%80%E7%AF%87%E5%BE%88%E6%A3%92%E7%9A%84%E6%B8%AC%E8%A9%A6(%E5%9B%9E%E6%B8%AC)%E6%8A%80%E8%A1%93%E6%96%87%E7%AB%A0(1NN)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ADCA5-7DAD-4B19-983E-06BEB316E4E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922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p.s. p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值不僅跟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hypothesis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有關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也跟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statistics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有關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同樣的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 hypothesis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給定同樣的資料 我們可以用不同的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statistics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去處理 在這種情況 不同的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statistics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會有不同的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</a:t>
            </a:r>
          </a:p>
          <a:p>
            <a:pPr fontAlgn="base"/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p.s.2. 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因為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值的比較對象是顯著水準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因此嚴格的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值定義裡會看到顯著水準的影子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ADCA5-7DAD-4B19-983E-06BEB316E4E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96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2015/12/16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14975" y="5445224"/>
            <a:ext cx="7772400" cy="1037977"/>
          </a:xfrm>
        </p:spPr>
        <p:txBody>
          <a:bodyPr>
            <a:normAutofit fontScale="90000"/>
          </a:bodyPr>
          <a:lstStyle/>
          <a:p>
            <a:r>
              <a:rPr lang="en-US" altLang="zh-TW" sz="3100" dirty="0" smtClean="0"/>
              <a:t/>
            </a:r>
            <a:br>
              <a:rPr lang="en-US" altLang="zh-TW" sz="3100" dirty="0" smtClean="0"/>
            </a:br>
            <a:r>
              <a:rPr lang="en-US" altLang="zh-TW" sz="3100" dirty="0" smtClean="0"/>
              <a:t>Presenter</a:t>
            </a:r>
            <a:r>
              <a:rPr lang="en-US" altLang="zh-TW" sz="3100" dirty="0"/>
              <a:t>:  Shu-Kai </a:t>
            </a:r>
            <a:r>
              <a:rPr lang="en-US" altLang="zh-TW" sz="3100" dirty="0" smtClean="0"/>
              <a:t>Hung</a:t>
            </a:r>
            <a:r>
              <a:rPr lang="en-US" altLang="zh-TW" sz="3100" dirty="0"/>
              <a:t/>
            </a:r>
            <a:br>
              <a:rPr lang="en-US" altLang="zh-TW" sz="3100" dirty="0"/>
            </a:br>
            <a:r>
              <a:rPr lang="en-US" altLang="zh-TW" sz="3100" dirty="0" smtClean="0"/>
              <a:t>Date:2015/12/16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2636912"/>
            <a:ext cx="6400800" cy="248203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400" b="1" dirty="0" smtClean="0"/>
              <a:t>Pattern </a:t>
            </a:r>
            <a:r>
              <a:rPr lang="en-US" altLang="zh-TW" sz="2400" b="1" dirty="0"/>
              <a:t>Recognition </a:t>
            </a:r>
            <a:r>
              <a:rPr lang="en-US" altLang="zh-TW" sz="2400" b="1" dirty="0" smtClean="0"/>
              <a:t>Letters</a:t>
            </a:r>
          </a:p>
          <a:p>
            <a:r>
              <a:rPr lang="en-US" altLang="zh-TW" sz="2400" b="1" dirty="0"/>
              <a:t>Received 12 November 2013</a:t>
            </a:r>
          </a:p>
          <a:p>
            <a:r>
              <a:rPr lang="en-US" altLang="zh-TW" sz="2400" b="1" dirty="0"/>
              <a:t>Available online 27 March </a:t>
            </a:r>
            <a:r>
              <a:rPr lang="en-US" altLang="zh-TW" sz="2400" b="1" dirty="0" smtClean="0"/>
              <a:t>2014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Tomasz </a:t>
            </a:r>
            <a:r>
              <a:rPr lang="en-US" altLang="zh-TW" sz="2400" dirty="0" err="1"/>
              <a:t>Gorecki</a:t>
            </a:r>
            <a:endParaRPr lang="en-US" altLang="zh-TW" sz="2400" dirty="0"/>
          </a:p>
          <a:p>
            <a:r>
              <a:rPr lang="pl-PL" altLang="zh-TW" sz="2400" dirty="0"/>
              <a:t>Adam Mickiewicz University, Umultowska 87, 61-614 Poznan’, Poland</a:t>
            </a:r>
            <a:endParaRPr lang="en-US" altLang="zh-TW" sz="2400" dirty="0"/>
          </a:p>
          <a:p>
            <a:endParaRPr lang="en-US" altLang="zh-TW" sz="2400" dirty="0"/>
          </a:p>
          <a:p>
            <a:endParaRPr lang="zh-TW" altLang="en-US" sz="2400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783135" y="105273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Using derivatives in a longest common subsequence dissimilarity</a:t>
            </a:r>
            <a:br>
              <a:rPr lang="en-US" altLang="zh-TW" dirty="0" smtClean="0"/>
            </a:br>
            <a:r>
              <a:rPr lang="en-US" altLang="zh-TW" dirty="0" smtClean="0"/>
              <a:t>measure for time series classification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658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052736"/>
            <a:ext cx="8507288" cy="54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/>
              <a:t>Over recent years the popularity of time series has soared. Given the widespread use of modern </a:t>
            </a:r>
            <a:r>
              <a:rPr lang="en-US" altLang="zh-TW" dirty="0" smtClean="0"/>
              <a:t>information technology</a:t>
            </a:r>
            <a:r>
              <a:rPr lang="en-US" altLang="zh-TW" dirty="0"/>
              <a:t>, a large number of time series may be collected. As a consequence there has been a </a:t>
            </a:r>
            <a:r>
              <a:rPr lang="en-US" altLang="zh-TW" dirty="0" smtClean="0"/>
              <a:t>dramatic increase </a:t>
            </a:r>
            <a:r>
              <a:rPr lang="en-US" altLang="zh-TW" dirty="0"/>
              <a:t>in the amount of interest in querying and mining such data. A vital component in </a:t>
            </a:r>
            <a:r>
              <a:rPr lang="en-US" altLang="zh-TW" dirty="0" smtClean="0"/>
              <a:t>many types </a:t>
            </a:r>
            <a:r>
              <a:rPr lang="en-US" altLang="zh-TW" dirty="0"/>
              <a:t>of time series </a:t>
            </a:r>
            <a:r>
              <a:rPr lang="en-US" altLang="zh-TW" dirty="0" smtClean="0"/>
              <a:t>analysis </a:t>
            </a:r>
            <a:r>
              <a:rPr lang="en-US" altLang="zh-TW" dirty="0"/>
              <a:t>is the choice of an appropriate dissimilarity measure. Numerous </a:t>
            </a:r>
            <a:r>
              <a:rPr lang="en-US" altLang="zh-TW" dirty="0" smtClean="0"/>
              <a:t>measures have </a:t>
            </a:r>
            <a:r>
              <a:rPr lang="en-US" altLang="zh-TW" dirty="0"/>
              <a:t>been proposed to date, with the most successful ones based on dynamic programming. One of </a:t>
            </a:r>
            <a:r>
              <a:rPr lang="en-US" altLang="zh-TW" dirty="0" smtClean="0"/>
              <a:t>such measures </a:t>
            </a:r>
            <a:r>
              <a:rPr lang="en-US" altLang="zh-TW" dirty="0"/>
              <a:t>is longest common subsequence (LCSS).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888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56166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/>
              <a:t>In this paper, we propose a parametrical extension of</a:t>
            </a:r>
          </a:p>
          <a:p>
            <a:pPr marL="0" indent="0">
              <a:buNone/>
            </a:pPr>
            <a:r>
              <a:rPr lang="en-US" altLang="zh-TW" dirty="0"/>
              <a:t>LCSS based on derivatives. In contrast to well-known measures from the literature, our approach considers</a:t>
            </a:r>
          </a:p>
          <a:p>
            <a:pPr marL="0" indent="0">
              <a:buNone/>
            </a:pPr>
            <a:r>
              <a:rPr lang="en-US" altLang="zh-TW" dirty="0"/>
              <a:t>the general shape of a time series rather than point-to-point function comparison. The new dissimilarity</a:t>
            </a:r>
          </a:p>
          <a:p>
            <a:pPr marL="0" indent="0">
              <a:buNone/>
            </a:pPr>
            <a:r>
              <a:rPr lang="en-US" altLang="zh-TW" dirty="0"/>
              <a:t>measure is used in classification with the nearest neighbor rule. In order to provide </a:t>
            </a:r>
            <a:r>
              <a:rPr lang="en-US" altLang="zh-TW" dirty="0" smtClean="0"/>
              <a:t>a comprehensive </a:t>
            </a:r>
            <a:r>
              <a:rPr lang="en-US" altLang="zh-TW" dirty="0"/>
              <a:t>comparison, we conducted a set of experiments, testing effectiveness on 47 real </a:t>
            </a:r>
            <a:r>
              <a:rPr lang="en-US" altLang="zh-TW" dirty="0" smtClean="0"/>
              <a:t>time series</a:t>
            </a:r>
            <a:r>
              <a:rPr lang="en-US" altLang="zh-TW" dirty="0"/>
              <a:t>. Experiments show that our method provides a higher quality of classification compared with </a:t>
            </a:r>
            <a:r>
              <a:rPr lang="en-US" altLang="zh-TW" dirty="0" smtClean="0"/>
              <a:t>LCSS  on examined </a:t>
            </a:r>
            <a:r>
              <a:rPr lang="en-US" altLang="zh-TW" dirty="0"/>
              <a:t>data sets.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040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850106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Longest common subsequences of the time </a:t>
            </a:r>
            <a:r>
              <a:rPr lang="en-US" altLang="zh-TW" sz="2800" dirty="0" smtClean="0"/>
              <a:t>series(LCSS)</a:t>
            </a:r>
            <a:endParaRPr lang="zh-TW" altLang="en-US" sz="2800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76" y="1241004"/>
            <a:ext cx="6162675" cy="1304925"/>
          </a:xfr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8" y="2518857"/>
            <a:ext cx="6551712" cy="3498175"/>
          </a:xfrm>
          <a:prstGeom prst="rect">
            <a:avLst/>
          </a:prstGeom>
        </p:spPr>
      </p:pic>
      <p:cxnSp>
        <p:nvCxnSpPr>
          <p:cNvPr id="12" name="直線單箭頭接點 11"/>
          <p:cNvCxnSpPr/>
          <p:nvPr/>
        </p:nvCxnSpPr>
        <p:spPr>
          <a:xfrm flipV="1">
            <a:off x="1043608" y="2924944"/>
            <a:ext cx="0" cy="2160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1187624" y="5229200"/>
            <a:ext cx="61926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1187624" y="5373216"/>
            <a:ext cx="61926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7350491" y="5202453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j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7340921" y="499052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i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96445" y="3644603"/>
            <a:ext cx="68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value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11560" y="5832366"/>
            <a:ext cx="5078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TW" dirty="0" smtClean="0"/>
              <a:t>δ</a:t>
            </a:r>
            <a:r>
              <a:rPr lang="en-US" altLang="zh-TW" dirty="0" smtClean="0"/>
              <a:t> : </a:t>
            </a:r>
            <a:r>
              <a:rPr lang="en-US" altLang="zh-TW" dirty="0"/>
              <a:t>percentage of the sequence </a:t>
            </a:r>
            <a:r>
              <a:rPr lang="en-US" altLang="zh-TW" dirty="0" smtClean="0"/>
              <a:t>length(window size) 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646664" y="6268670"/>
            <a:ext cx="608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dirty="0" smtClean="0"/>
              <a:t>ε</a:t>
            </a:r>
            <a:r>
              <a:rPr lang="en-US" altLang="zh-TW" dirty="0" smtClean="0"/>
              <a:t> : </a:t>
            </a:r>
            <a:r>
              <a:rPr lang="en-US" altLang="zh-TW" dirty="0"/>
              <a:t>The constant 0 &lt; </a:t>
            </a:r>
            <a:r>
              <a:rPr lang="el-GR" altLang="zh-TW" dirty="0"/>
              <a:t>ε</a:t>
            </a:r>
            <a:r>
              <a:rPr lang="en-US" altLang="zh-TW" dirty="0" smtClean="0"/>
              <a:t> </a:t>
            </a:r>
            <a:r>
              <a:rPr lang="en-US" altLang="zh-TW" dirty="0"/>
              <a:t>&lt; 1 is the </a:t>
            </a:r>
            <a:r>
              <a:rPr lang="en-US" altLang="zh-TW" dirty="0" smtClean="0"/>
              <a:t>matching threshold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204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408712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To </a:t>
            </a:r>
            <a:r>
              <a:rPr lang="en-US" altLang="zh-TW" dirty="0"/>
              <a:t>define the </a:t>
            </a:r>
            <a:r>
              <a:rPr lang="en-US" altLang="zh-TW" dirty="0" smtClean="0"/>
              <a:t>dissimilarity</a:t>
            </a:r>
            <a:r>
              <a:rPr lang="zh-TW" altLang="en-US" dirty="0" smtClean="0"/>
              <a:t> </a:t>
            </a:r>
            <a:r>
              <a:rPr lang="en-US" altLang="zh-TW" dirty="0" smtClean="0"/>
              <a:t>between </a:t>
            </a:r>
            <a:r>
              <a:rPr lang="en-US" altLang="zh-TW" dirty="0"/>
              <a:t>x and y, we can </a:t>
            </a:r>
            <a:r>
              <a:rPr lang="en-US" altLang="zh-TW" dirty="0" smtClean="0"/>
              <a:t>compute: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57" y="2141567"/>
            <a:ext cx="2952328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93" y="3162232"/>
            <a:ext cx="7632848" cy="1418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394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856984" cy="850106"/>
          </a:xfrm>
        </p:spPr>
        <p:txBody>
          <a:bodyPr>
            <a:normAutofit/>
          </a:bodyPr>
          <a:lstStyle/>
          <a:p>
            <a:pPr algn="l"/>
            <a:r>
              <a:rPr lang="en-US" altLang="zh-TW" sz="2400" dirty="0"/>
              <a:t>Longest common subsequence based on </a:t>
            </a:r>
            <a:r>
              <a:rPr lang="en-US" altLang="zh-TW" sz="2400" dirty="0" smtClean="0"/>
              <a:t>derivatives-2D/3D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method</a:t>
            </a:r>
            <a:endParaRPr lang="zh-TW" altLang="en-US" sz="24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721" y="1771075"/>
            <a:ext cx="3924300" cy="495300"/>
          </a:xfrm>
        </p:spPr>
      </p:pic>
      <p:sp>
        <p:nvSpPr>
          <p:cNvPr id="5" name="文字方塊 4"/>
          <p:cNvSpPr txBox="1"/>
          <p:nvPr/>
        </p:nvSpPr>
        <p:spPr>
          <a:xfrm>
            <a:off x="611560" y="1124744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 dissimilarity measure which considers both the function values</a:t>
            </a:r>
          </a:p>
          <a:p>
            <a:r>
              <a:rPr lang="en-US" altLang="zh-TW" dirty="0"/>
              <a:t>of time series and values of the first </a:t>
            </a:r>
            <a:r>
              <a:rPr lang="en-US" altLang="zh-TW" dirty="0" smtClean="0"/>
              <a:t>derivative: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17691" y="2276872"/>
            <a:ext cx="5950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where </a:t>
            </a:r>
            <a:r>
              <a:rPr lang="zh-TW" altLang="en-US" sz="1100" dirty="0"/>
              <a:t>▽</a:t>
            </a:r>
            <a:r>
              <a:rPr lang="zh-TW" altLang="en-US" dirty="0"/>
              <a:t> </a:t>
            </a:r>
            <a:r>
              <a:rPr lang="en-US" altLang="zh-TW" dirty="0" smtClean="0"/>
              <a:t>x </a:t>
            </a:r>
            <a:r>
              <a:rPr lang="en-US" altLang="zh-TW" dirty="0"/>
              <a:t>and </a:t>
            </a:r>
            <a:r>
              <a:rPr lang="zh-TW" altLang="en-US" sz="1100" dirty="0"/>
              <a:t>▽</a:t>
            </a:r>
            <a:r>
              <a:rPr lang="zh-TW" altLang="en-US" dirty="0"/>
              <a:t> </a:t>
            </a:r>
            <a:r>
              <a:rPr lang="en-US" altLang="zh-TW" dirty="0" smtClean="0"/>
              <a:t>y </a:t>
            </a:r>
            <a:r>
              <a:rPr lang="en-US" altLang="zh-TW" dirty="0"/>
              <a:t>are the first discrete derivatives of </a:t>
            </a:r>
            <a:r>
              <a:rPr lang="en-US" altLang="zh-TW" dirty="0" smtClean="0"/>
              <a:t>x, y </a:t>
            </a:r>
            <a:r>
              <a:rPr lang="en-US" altLang="zh-TW" dirty="0"/>
              <a:t>and</a:t>
            </a:r>
          </a:p>
          <a:p>
            <a:r>
              <a:rPr lang="en-US" altLang="zh-TW" dirty="0" smtClean="0"/>
              <a:t>a ,b </a:t>
            </a:r>
            <a:r>
              <a:rPr lang="zh-TW" altLang="en-US" dirty="0"/>
              <a:t>∈ </a:t>
            </a:r>
            <a:r>
              <a:rPr lang="en-US" altLang="zh-TW" dirty="0" smtClean="0"/>
              <a:t>[0,1] </a:t>
            </a:r>
            <a:r>
              <a:rPr lang="en-US" altLang="zh-TW" dirty="0"/>
              <a:t>are parameters.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38722" y="2996952"/>
            <a:ext cx="767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The discrete derivative of a time </a:t>
            </a:r>
            <a:r>
              <a:rPr lang="en-US" altLang="zh-TW" dirty="0" smtClean="0"/>
              <a:t>series</a:t>
            </a:r>
            <a:r>
              <a:rPr lang="zh-TW" altLang="en-US" dirty="0" smtClean="0"/>
              <a:t> </a:t>
            </a:r>
            <a:r>
              <a:rPr lang="en-US" altLang="zh-TW" dirty="0" smtClean="0"/>
              <a:t>x </a:t>
            </a:r>
            <a:r>
              <a:rPr lang="en-US" altLang="zh-TW" dirty="0"/>
              <a:t>with length n is defined by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366284"/>
            <a:ext cx="3790950" cy="27622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835696" y="371703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/>
              <a:t>▽</a:t>
            </a:r>
            <a:r>
              <a:rPr lang="zh-TW" altLang="en-US" dirty="0"/>
              <a:t> </a:t>
            </a:r>
            <a:r>
              <a:rPr lang="en-US" altLang="zh-TW" dirty="0" smtClean="0"/>
              <a:t>y</a:t>
            </a:r>
            <a:r>
              <a:rPr lang="zh-TW" altLang="en-US" dirty="0" smtClean="0"/>
              <a:t>同理</a:t>
            </a:r>
            <a:endParaRPr lang="zh-TW" altLang="en-US" dirty="0"/>
          </a:p>
        </p:txBody>
      </p:sp>
      <p:cxnSp>
        <p:nvCxnSpPr>
          <p:cNvPr id="14" name="直線接點 13"/>
          <p:cNvCxnSpPr/>
          <p:nvPr/>
        </p:nvCxnSpPr>
        <p:spPr>
          <a:xfrm>
            <a:off x="0" y="4086364"/>
            <a:ext cx="9144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395536" y="4149080"/>
            <a:ext cx="2606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3D</a:t>
            </a:r>
            <a:r>
              <a:rPr lang="zh-TW" altLang="en-US" dirty="0" smtClean="0"/>
              <a:t> </a:t>
            </a:r>
            <a:r>
              <a:rPr lang="en-US" altLang="zh-TW" dirty="0" smtClean="0"/>
              <a:t>method: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653136"/>
            <a:ext cx="560070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124760"/>
            <a:ext cx="6162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900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/>
              <a:t>Parameter </a:t>
            </a:r>
            <a:r>
              <a:rPr lang="en-US" altLang="zh-TW" dirty="0" smtClean="0"/>
              <a:t>dimension-2D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980728"/>
            <a:ext cx="9036496" cy="576064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We do not have to check all values </a:t>
            </a:r>
            <a:r>
              <a:rPr lang="en-US" altLang="zh-TW" dirty="0" smtClean="0"/>
              <a:t>of a , b </a:t>
            </a:r>
            <a:r>
              <a:rPr lang="zh-TW" altLang="en-US" dirty="0" smtClean="0"/>
              <a:t>∈ </a:t>
            </a:r>
            <a:r>
              <a:rPr lang="en-US" altLang="zh-TW" dirty="0" smtClean="0"/>
              <a:t>[0,1]</a:t>
            </a:r>
          </a:p>
          <a:p>
            <a:pPr marL="0" indent="0">
              <a:buNone/>
            </a:pPr>
            <a:r>
              <a:rPr lang="en-US" altLang="zh-TW" dirty="0"/>
              <a:t>If a1 </a:t>
            </a:r>
            <a:r>
              <a:rPr lang="en-US" altLang="zh-TW" dirty="0" smtClean="0"/>
              <a:t>=ka2 and b1 </a:t>
            </a:r>
            <a:r>
              <a:rPr lang="en-US" altLang="zh-TW" dirty="0"/>
              <a:t>=</a:t>
            </a:r>
            <a:r>
              <a:rPr lang="en-US" altLang="zh-TW" dirty="0" smtClean="0"/>
              <a:t>kb2</a:t>
            </a:r>
            <a:r>
              <a:rPr lang="en-US" altLang="zh-TW" dirty="0"/>
              <a:t>, where k &gt; 0 is a </a:t>
            </a:r>
            <a:r>
              <a:rPr lang="en-US" altLang="zh-TW" dirty="0" smtClean="0"/>
              <a:t>constant</a:t>
            </a:r>
          </a:p>
          <a:p>
            <a:pPr marL="0" indent="0">
              <a:buNone/>
            </a:pPr>
            <a:r>
              <a:rPr lang="en-US" altLang="zh-TW" dirty="0" smtClean="0"/>
              <a:t>(linearly dependent)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simplest </a:t>
            </a:r>
            <a:r>
              <a:rPr lang="en-US" altLang="zh-TW" dirty="0"/>
              <a:t>case</a:t>
            </a:r>
            <a:r>
              <a:rPr lang="en-US" altLang="zh-TW" dirty="0" smtClean="0"/>
              <a:t> : </a:t>
            </a:r>
          </a:p>
          <a:p>
            <a:pPr marL="0" indent="0">
              <a:buNone/>
            </a:pPr>
            <a:r>
              <a:rPr lang="en-US" altLang="zh-TW" dirty="0" smtClean="0"/>
              <a:t>a=1-</a:t>
            </a:r>
            <a:r>
              <a:rPr lang="el-GR" altLang="zh-TW" dirty="0"/>
              <a:t>α</a:t>
            </a:r>
            <a:r>
              <a:rPr lang="en-US" altLang="zh-TW" dirty="0" smtClean="0"/>
              <a:t> ,b=</a:t>
            </a:r>
            <a:r>
              <a:rPr lang="el-GR" altLang="zh-TW" dirty="0" smtClean="0"/>
              <a:t>α</a:t>
            </a:r>
            <a:r>
              <a:rPr lang="en-US" altLang="zh-TW" dirty="0" smtClean="0"/>
              <a:t> ,  </a:t>
            </a:r>
            <a:r>
              <a:rPr lang="el-GR" altLang="zh-TW" dirty="0" smtClean="0"/>
              <a:t>α</a:t>
            </a:r>
            <a:r>
              <a:rPr lang="en-US" altLang="zh-TW" dirty="0" smtClean="0"/>
              <a:t> </a:t>
            </a:r>
            <a:r>
              <a:rPr lang="zh-TW" altLang="en-US" dirty="0"/>
              <a:t>∈ </a:t>
            </a:r>
            <a:r>
              <a:rPr lang="en-US" altLang="zh-TW" dirty="0"/>
              <a:t>[0,1</a:t>
            </a:r>
            <a:r>
              <a:rPr lang="en-US" altLang="zh-TW" dirty="0" smtClean="0"/>
              <a:t>] (</a:t>
            </a:r>
            <a:r>
              <a:rPr lang="en-US" altLang="zh-TW" dirty="0"/>
              <a:t>the straight line</a:t>
            </a:r>
            <a:r>
              <a:rPr lang="en-US" altLang="zh-TW" dirty="0" smtClean="0"/>
              <a:t>)</a:t>
            </a:r>
            <a:endParaRPr lang="en-US" altLang="zh-TW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52936"/>
            <a:ext cx="6696744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535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idx="1"/>
          </p:nvPr>
        </p:nvSpPr>
        <p:spPr>
          <a:xfrm>
            <a:off x="107504" y="692696"/>
            <a:ext cx="8579296" cy="5976664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US" altLang="zh-TW" sz="2500" dirty="0"/>
              <a:t>We do not have to check all values of </a:t>
            </a:r>
            <a:r>
              <a:rPr lang="en-US" altLang="zh-TW" sz="2500" dirty="0" err="1" smtClean="0"/>
              <a:t>a,b</a:t>
            </a:r>
            <a:r>
              <a:rPr lang="en-US" altLang="zh-TW" sz="2500" dirty="0"/>
              <a:t>,</a:t>
            </a:r>
            <a:r>
              <a:rPr lang="en-US" altLang="zh-TW" sz="2500" dirty="0" smtClean="0"/>
              <a:t> </a:t>
            </a:r>
            <a:r>
              <a:rPr lang="en-US" altLang="zh-TW" sz="2500" dirty="0"/>
              <a:t>c </a:t>
            </a:r>
            <a:r>
              <a:rPr lang="zh-TW" altLang="en-US" sz="2500" dirty="0"/>
              <a:t>∈ </a:t>
            </a:r>
            <a:r>
              <a:rPr lang="en-US" altLang="zh-TW" sz="2500" dirty="0"/>
              <a:t>[</a:t>
            </a:r>
            <a:r>
              <a:rPr lang="en-US" altLang="zh-TW" sz="2500" dirty="0" smtClean="0"/>
              <a:t>0,1] If </a:t>
            </a:r>
            <a:r>
              <a:rPr lang="en-US" altLang="zh-TW" sz="2500" dirty="0"/>
              <a:t>a1 </a:t>
            </a:r>
            <a:r>
              <a:rPr lang="en-US" altLang="zh-TW" sz="2500" dirty="0" smtClean="0"/>
              <a:t>=ka2,b1 =kb2</a:t>
            </a:r>
            <a:r>
              <a:rPr lang="en-US" altLang="zh-TW" sz="2500" dirty="0"/>
              <a:t>, c1 </a:t>
            </a:r>
            <a:r>
              <a:rPr lang="en-US" altLang="zh-TW" sz="2500" dirty="0" smtClean="0"/>
              <a:t>=kc2 </a:t>
            </a:r>
            <a:r>
              <a:rPr lang="en-US" altLang="zh-TW" sz="2500" dirty="0"/>
              <a:t>where k &gt; 0 is a </a:t>
            </a:r>
            <a:r>
              <a:rPr lang="en-US" altLang="zh-TW" sz="2500" dirty="0" smtClean="0"/>
              <a:t>constant(linearly </a:t>
            </a:r>
            <a:r>
              <a:rPr lang="en-US" altLang="zh-TW" sz="2500" dirty="0"/>
              <a:t>dependent</a:t>
            </a:r>
            <a:r>
              <a:rPr lang="en-US" altLang="zh-TW" sz="2500" dirty="0" smtClean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For simplicity: 3D-&gt;2D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57200" y="116632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dirty="0" smtClean="0"/>
              <a:t>Parameter dimension-3D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76" y="1556792"/>
            <a:ext cx="6912768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77907"/>
            <a:ext cx="4448175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1763688" y="3479210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(0,0,1)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218888" y="4949769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(0,1,0)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13130" y="4763292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(1,0,0)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243224" y="4795880"/>
            <a:ext cx="472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(0,0)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652120" y="4765103"/>
            <a:ext cx="472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(1,0)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5044858" y="3479210"/>
                <a:ext cx="1327341" cy="328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 smtClean="0">
                    <a:solidFill>
                      <a:srgbClr val="FF0000"/>
                    </a:solidFill>
                  </a:rPr>
                  <a:t>(1/2,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  <m:r>
                      <a:rPr lang="en-US" altLang="zh-TW" sz="14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/2</m:t>
                    </m:r>
                  </m:oMath>
                </a14:m>
                <a:r>
                  <a:rPr lang="en-US" altLang="zh-TW" sz="1400" dirty="0" smtClean="0">
                    <a:solidFill>
                      <a:srgbClr val="FF0000"/>
                    </a:solidFill>
                  </a:rPr>
                  <a:t>)</a:t>
                </a:r>
                <a:endParaRPr lang="zh-TW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858" y="3479210"/>
                <a:ext cx="1327341" cy="328039"/>
              </a:xfrm>
              <a:prstGeom prst="rect">
                <a:avLst/>
              </a:prstGeom>
              <a:blipFill rotWithShape="1">
                <a:blip r:embed="rId4"/>
                <a:stretch>
                  <a:fillRect l="-1382" b="-18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23" y="5589239"/>
            <a:ext cx="2717007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向右箭號 15"/>
          <p:cNvSpPr/>
          <p:nvPr/>
        </p:nvSpPr>
        <p:spPr>
          <a:xfrm>
            <a:off x="3501404" y="5926235"/>
            <a:ext cx="458621" cy="2880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4243224" y="5805264"/>
            <a:ext cx="263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其中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l-GR" altLang="zh-TW" dirty="0" smtClean="0"/>
              <a:t>α</a:t>
            </a:r>
            <a:r>
              <a:rPr lang="zh-TW" altLang="en-US" dirty="0" smtClean="0"/>
              <a:t> ∈ </a:t>
            </a:r>
            <a:r>
              <a:rPr lang="en-US" altLang="zh-TW" dirty="0" smtClean="0"/>
              <a:t>[0,1] </a:t>
            </a:r>
            <a:r>
              <a:rPr lang="el-GR" altLang="zh-TW" dirty="0" smtClean="0"/>
              <a:t>β</a:t>
            </a:r>
            <a:r>
              <a:rPr lang="zh-TW" altLang="en-US" dirty="0" smtClean="0"/>
              <a:t> ∈</a:t>
            </a:r>
            <a:r>
              <a:rPr lang="en-US" altLang="zh-TW" dirty="0" smtClean="0"/>
              <a:t>[0,1-</a:t>
            </a:r>
            <a:r>
              <a:rPr lang="el-GR" altLang="zh-TW" dirty="0"/>
              <a:t> α</a:t>
            </a:r>
            <a:r>
              <a:rPr lang="en-US" altLang="zh-TW" dirty="0" smtClean="0"/>
              <a:t>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41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836712"/>
          </a:xfrm>
        </p:spPr>
        <p:txBody>
          <a:bodyPr/>
          <a:lstStyle/>
          <a:p>
            <a:r>
              <a:rPr lang="en-US" altLang="zh-TW" dirty="0"/>
              <a:t>Experimental setup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764704"/>
            <a:ext cx="9036496" cy="5904656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altLang="zh-TW" dirty="0" smtClean="0"/>
          </a:p>
          <a:p>
            <a:pPr marL="514350" indent="-514350">
              <a:buAutoNum type="arabicPeriod"/>
            </a:pPr>
            <a:r>
              <a:rPr lang="en-US" altLang="zh-TW" dirty="0" smtClean="0"/>
              <a:t>experiments </a:t>
            </a:r>
            <a:r>
              <a:rPr lang="en-US" altLang="zh-TW" dirty="0"/>
              <a:t>on 47 data </a:t>
            </a:r>
            <a:r>
              <a:rPr lang="en-US" altLang="zh-TW" dirty="0" smtClean="0"/>
              <a:t>sets(include many field)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The proposed dissimilarity measures are used with the </a:t>
            </a:r>
            <a:r>
              <a:rPr lang="en-US" altLang="zh-TW" dirty="0" smtClean="0">
                <a:solidFill>
                  <a:srgbClr val="FF0000"/>
                </a:solidFill>
              </a:rPr>
              <a:t>1NN(</a:t>
            </a:r>
            <a:r>
              <a:rPr lang="zh-TW" altLang="en-US" b="1" dirty="0">
                <a:solidFill>
                  <a:srgbClr val="FF0000"/>
                </a:solidFill>
              </a:rPr>
              <a:t>最近鄰居分類法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method </a:t>
            </a:r>
            <a:r>
              <a:rPr lang="en-US" altLang="zh-TW" dirty="0"/>
              <a:t>in the classification process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rgbClr val="FF0000"/>
                </a:solidFill>
              </a:rPr>
              <a:t>leave-one-out </a:t>
            </a:r>
            <a:r>
              <a:rPr lang="en-US" altLang="zh-TW" dirty="0" smtClean="0">
                <a:solidFill>
                  <a:srgbClr val="FF0000"/>
                </a:solidFill>
              </a:rPr>
              <a:t>cross-validation (CV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/>
              <a:t>method to find </a:t>
            </a:r>
            <a:r>
              <a:rPr lang="en-US" altLang="zh-TW" dirty="0" smtClean="0"/>
              <a:t>the </a:t>
            </a:r>
            <a:r>
              <a:rPr lang="en-US" altLang="zh-TW" dirty="0"/>
              <a:t>best parameter </a:t>
            </a:r>
            <a:r>
              <a:rPr lang="el-GR" altLang="zh-TW" dirty="0" smtClean="0"/>
              <a:t>α</a:t>
            </a:r>
            <a:r>
              <a:rPr lang="en-US" altLang="zh-TW" dirty="0" smtClean="0"/>
              <a:t>,</a:t>
            </a:r>
            <a:r>
              <a:rPr lang="el-GR" altLang="zh-TW" dirty="0"/>
              <a:t> β</a:t>
            </a:r>
            <a:r>
              <a:rPr lang="zh-TW" altLang="en-US" dirty="0"/>
              <a:t>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l-GR" altLang="zh-TW" dirty="0"/>
              <a:t>δ</a:t>
            </a:r>
            <a:r>
              <a:rPr lang="en-US" altLang="zh-TW" dirty="0" smtClean="0"/>
              <a:t> </a:t>
            </a:r>
            <a:r>
              <a:rPr lang="en-US" altLang="zh-TW" dirty="0"/>
              <a:t>to 100</a:t>
            </a:r>
            <a:r>
              <a:rPr lang="en-US" altLang="zh-TW" dirty="0" smtClean="0"/>
              <a:t>%.</a:t>
            </a:r>
            <a:r>
              <a:rPr lang="en-US" altLang="zh-TW" dirty="0"/>
              <a:t> </a:t>
            </a:r>
            <a:r>
              <a:rPr lang="en-US" altLang="zh-TW" dirty="0" smtClean="0"/>
              <a:t>(LCSS </a:t>
            </a:r>
            <a:r>
              <a:rPr lang="en-US" altLang="zh-TW" dirty="0"/>
              <a:t>is very resistant to </a:t>
            </a:r>
            <a:r>
              <a:rPr lang="en-US" altLang="zh-TW" dirty="0" smtClean="0"/>
              <a:t>changes it)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346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164288" y="548680"/>
            <a:ext cx="1184479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Test set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795329" y="548680"/>
            <a:ext cx="2368959" cy="504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Training set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212976"/>
            <a:ext cx="6336704" cy="3645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8950" y="8857"/>
            <a:ext cx="8507288" cy="539823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b="1" dirty="0"/>
              <a:t>最近鄰居分類法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1D: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800" dirty="0"/>
          </a:p>
          <a:p>
            <a:pPr marL="514350" indent="-514350">
              <a:buFont typeface="+mj-lt"/>
              <a:buAutoNum type="arabicPeriod"/>
            </a:pPr>
            <a:endParaRPr lang="en-US" altLang="zh-TW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2D:</a:t>
            </a:r>
            <a:r>
              <a:rPr lang="zh-TW" altLang="en-US" sz="2800" dirty="0" smtClean="0"/>
              <a:t>利用</a:t>
            </a:r>
            <a:r>
              <a:rPr lang="en-US" altLang="zh-TW" sz="2800" dirty="0" err="1" smtClean="0"/>
              <a:t>voronoi</a:t>
            </a:r>
            <a:r>
              <a:rPr lang="en-US" altLang="zh-TW" sz="2800" dirty="0" smtClean="0"/>
              <a:t> diagram</a:t>
            </a:r>
            <a:r>
              <a:rPr lang="zh-TW" altLang="en-US" sz="2800" dirty="0" smtClean="0"/>
              <a:t>降低複雜度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黑點為</a:t>
            </a:r>
            <a:r>
              <a:rPr lang="en-US" altLang="zh-TW" sz="2800" dirty="0" smtClean="0"/>
              <a:t>training data </a:t>
            </a:r>
            <a:r>
              <a:rPr lang="zh-TW" altLang="en-US" sz="2800" dirty="0" smtClean="0"/>
              <a:t>紅點為 </a:t>
            </a:r>
            <a:r>
              <a:rPr lang="en-US" altLang="zh-TW" sz="2800" dirty="0" smtClean="0"/>
              <a:t>test data)</a:t>
            </a:r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827584" y="2348880"/>
            <a:ext cx="6912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流程圖: 接點 7"/>
          <p:cNvSpPr/>
          <p:nvPr/>
        </p:nvSpPr>
        <p:spPr>
          <a:xfrm>
            <a:off x="2041848" y="2213856"/>
            <a:ext cx="144016" cy="144016"/>
          </a:xfrm>
          <a:prstGeom prst="flowChartConnec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/>
          <p:cNvSpPr/>
          <p:nvPr/>
        </p:nvSpPr>
        <p:spPr>
          <a:xfrm>
            <a:off x="6012160" y="2222240"/>
            <a:ext cx="144016" cy="144016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/>
          <p:nvPr/>
        </p:nvSpPr>
        <p:spPr>
          <a:xfrm>
            <a:off x="4644008" y="2217236"/>
            <a:ext cx="144016" cy="144016"/>
          </a:xfrm>
          <a:prstGeom prst="flowChartConnector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4283968" y="1778684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Test data</a:t>
            </a:r>
            <a:endParaRPr lang="zh-TW" altLang="en-US" sz="1400" dirty="0"/>
          </a:p>
        </p:txBody>
      </p:sp>
      <p:sp>
        <p:nvSpPr>
          <p:cNvPr id="14" name="流程圖: 接點 13"/>
          <p:cNvSpPr/>
          <p:nvPr/>
        </p:nvSpPr>
        <p:spPr>
          <a:xfrm>
            <a:off x="4716016" y="4855773"/>
            <a:ext cx="144016" cy="144016"/>
          </a:xfrm>
          <a:prstGeom prst="flowChart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724128" y="1814707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Training data</a:t>
            </a:r>
            <a:endParaRPr lang="zh-TW" altLang="en-US" sz="1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393776" y="182049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Training data</a:t>
            </a:r>
            <a:endParaRPr lang="zh-TW" altLang="en-US" sz="1400" dirty="0"/>
          </a:p>
        </p:txBody>
      </p:sp>
      <p:cxnSp>
        <p:nvCxnSpPr>
          <p:cNvPr id="19" name="直線單箭頭接點 18"/>
          <p:cNvCxnSpPr>
            <a:stCxn id="11" idx="3"/>
          </p:cNvCxnSpPr>
          <p:nvPr/>
        </p:nvCxnSpPr>
        <p:spPr>
          <a:xfrm flipV="1">
            <a:off x="5148064" y="1932572"/>
            <a:ext cx="576064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2"/>
          </p:cNvCxnSpPr>
          <p:nvPr/>
        </p:nvCxnSpPr>
        <p:spPr>
          <a:xfrm flipH="1" flipV="1">
            <a:off x="4499992" y="4725144"/>
            <a:ext cx="216024" cy="2026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547664" y="6669360"/>
            <a:ext cx="57606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1547664" y="3717032"/>
            <a:ext cx="0" cy="2952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7416316" y="648469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1285764" y="4112231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601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/>
          <a:lstStyle/>
          <a:p>
            <a:r>
              <a:rPr lang="en-US" altLang="zh-TW" dirty="0"/>
              <a:t>leave-one-out cross-validation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樣本數</a:t>
            </a:r>
            <a:r>
              <a:rPr lang="en-US" altLang="zh-TW" dirty="0" smtClean="0"/>
              <a:t>(data set</a:t>
            </a:r>
            <a:r>
              <a:rPr lang="zh-TW" altLang="en-US" dirty="0" smtClean="0"/>
              <a:t> 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N)</a:t>
            </a:r>
            <a:r>
              <a:rPr lang="zh-TW" altLang="en-US" dirty="0" smtClean="0"/>
              <a:t> 就採取 </a:t>
            </a:r>
            <a:r>
              <a:rPr lang="en-US" altLang="zh-TW" dirty="0" smtClean="0"/>
              <a:t>N</a:t>
            </a:r>
            <a:r>
              <a:rPr lang="zh-TW" altLang="en-US" dirty="0" smtClean="0"/>
              <a:t>次</a:t>
            </a:r>
            <a:r>
              <a:rPr lang="en-US" altLang="zh-TW" dirty="0" smtClean="0"/>
              <a:t>experiments </a:t>
            </a:r>
          </a:p>
          <a:p>
            <a:pPr marL="0" indent="0">
              <a:buNone/>
            </a:pPr>
            <a:r>
              <a:rPr lang="zh-TW" altLang="en-US" dirty="0" smtClean="0"/>
              <a:t>第 </a:t>
            </a:r>
            <a:r>
              <a:rPr lang="en-US" altLang="zh-TW" dirty="0" err="1" smtClean="0"/>
              <a:t>i</a:t>
            </a:r>
            <a:r>
              <a:rPr lang="zh-TW" altLang="en-US" dirty="0" smtClean="0"/>
              <a:t> 次</a:t>
            </a:r>
            <a:r>
              <a:rPr lang="en-US" altLang="zh-TW" dirty="0" smtClean="0"/>
              <a:t>experiment </a:t>
            </a:r>
            <a:r>
              <a:rPr lang="zh-TW" altLang="en-US" dirty="0" smtClean="0"/>
              <a:t>則</a:t>
            </a:r>
            <a:r>
              <a:rPr lang="en-US" altLang="zh-TW" dirty="0"/>
              <a:t> </a:t>
            </a:r>
            <a:r>
              <a:rPr lang="zh-TW" altLang="en-US" dirty="0" smtClean="0"/>
              <a:t>採用前 </a:t>
            </a:r>
            <a:r>
              <a:rPr lang="en-US" altLang="zh-TW" dirty="0" smtClean="0"/>
              <a:t>i-1</a:t>
            </a:r>
            <a:r>
              <a:rPr lang="zh-TW" altLang="en-US" dirty="0" smtClean="0"/>
              <a:t>次的</a:t>
            </a:r>
            <a:r>
              <a:rPr lang="en-US" altLang="zh-TW" dirty="0" smtClean="0"/>
              <a:t>data </a:t>
            </a:r>
            <a:r>
              <a:rPr lang="zh-TW" altLang="en-US" dirty="0" smtClean="0"/>
              <a:t>來</a:t>
            </a:r>
            <a:r>
              <a:rPr lang="zh-TW" altLang="en-US" dirty="0"/>
              <a:t>當</a:t>
            </a:r>
            <a:r>
              <a:rPr lang="en-US" altLang="zh-TW" dirty="0" smtClean="0"/>
              <a:t>training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data </a:t>
            </a:r>
            <a:r>
              <a:rPr lang="zh-TW" altLang="en-US" dirty="0" smtClean="0"/>
              <a:t>第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</a:t>
            </a:r>
            <a:r>
              <a:rPr lang="zh-TW" altLang="en-US" dirty="0" smtClean="0"/>
              <a:t>次當 </a:t>
            </a:r>
            <a:r>
              <a:rPr lang="en-US" altLang="zh-TW" dirty="0" smtClean="0"/>
              <a:t>testing data</a:t>
            </a:r>
          </a:p>
          <a:p>
            <a:pPr marL="0" indent="0">
              <a:buNone/>
            </a:pPr>
            <a:r>
              <a:rPr lang="en-US" altLang="zh-TW" dirty="0" smtClean="0"/>
              <a:t>Example: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6696744" cy="256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491880" y="32036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</a:t>
            </a:r>
            <a:r>
              <a:rPr lang="en-US" altLang="zh-TW" dirty="0" smtClean="0"/>
              <a:t>ata set : N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2267744" y="3388350"/>
            <a:ext cx="288032" cy="904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910598" y="3019018"/>
            <a:ext cx="129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esting data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flipH="1" flipV="1">
            <a:off x="2123728" y="4725144"/>
            <a:ext cx="276402" cy="16561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247325" y="6397203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Training data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493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63688" y="0"/>
            <a:ext cx="4960640" cy="375118"/>
          </a:xfrm>
        </p:spPr>
        <p:txBody>
          <a:bodyPr>
            <a:noAutofit/>
          </a:bodyPr>
          <a:lstStyle/>
          <a:p>
            <a:r>
              <a:rPr lang="en-US" altLang="zh-TW" sz="2400" dirty="0" smtClean="0"/>
              <a:t>Results</a:t>
            </a:r>
            <a:endParaRPr lang="zh-TW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筆跡 5"/>
              <p14:cNvContentPartPr/>
              <p14:nvPr/>
            </p14:nvContentPartPr>
            <p14:xfrm>
              <a:off x="4826160" y="3708360"/>
              <a:ext cx="3956400" cy="432360"/>
            </p14:xfrm>
          </p:contentPart>
        </mc:Choice>
        <mc:Fallback xmlns="">
          <p:pic>
            <p:nvPicPr>
              <p:cNvPr id="6" name="筆跡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6800" y="3699000"/>
                <a:ext cx="3975120" cy="4510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/>
          <p:cNvSpPr/>
          <p:nvPr/>
        </p:nvSpPr>
        <p:spPr>
          <a:xfrm>
            <a:off x="4427984" y="2564904"/>
            <a:ext cx="4680520" cy="3096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96" y="325995"/>
            <a:ext cx="9144000" cy="6525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筆跡 3"/>
              <p14:cNvContentPartPr/>
              <p14:nvPr/>
            </p14:nvContentPartPr>
            <p14:xfrm>
              <a:off x="6680160" y="2050920"/>
              <a:ext cx="2083320" cy="205164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0800" y="2041560"/>
                <a:ext cx="2102040" cy="20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91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48" y="5461061"/>
            <a:ext cx="5857875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32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88640"/>
            <a:ext cx="8229600" cy="190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dirty="0" smtClean="0">
                <a:solidFill>
                  <a:srgbClr val="FF0000"/>
                </a:solidFill>
              </a:rPr>
              <a:t>TP</a:t>
            </a:r>
            <a:r>
              <a:rPr lang="en-US" altLang="zh-TW" sz="1800" dirty="0" smtClean="0"/>
              <a:t> : </a:t>
            </a:r>
            <a:r>
              <a:rPr lang="en-US" altLang="zh-TW" sz="1800" dirty="0"/>
              <a:t>In this region we correctly predicted that 2DDLCSS </a:t>
            </a:r>
            <a:r>
              <a:rPr lang="en-US" altLang="zh-TW" sz="1800" dirty="0" smtClean="0"/>
              <a:t>would improve </a:t>
            </a:r>
            <a:r>
              <a:rPr lang="en-US" altLang="zh-TW" sz="1800" dirty="0"/>
              <a:t>accuracy.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TN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: In </a:t>
            </a:r>
            <a:r>
              <a:rPr lang="en-US" altLang="zh-TW" sz="1800" dirty="0"/>
              <a:t>this region we correctly predicted that 2DDLCSS </a:t>
            </a:r>
            <a:r>
              <a:rPr lang="en-US" altLang="zh-TW" sz="1800" dirty="0" smtClean="0"/>
              <a:t>would decrease accuracy.</a:t>
            </a:r>
          </a:p>
          <a:p>
            <a:pPr marL="0" indent="0">
              <a:buNone/>
            </a:pPr>
            <a:r>
              <a:rPr lang="en-US" altLang="zh-TW" sz="1800" dirty="0" smtClean="0">
                <a:solidFill>
                  <a:srgbClr val="FF0000"/>
                </a:solidFill>
              </a:rPr>
              <a:t>FN</a:t>
            </a:r>
            <a:r>
              <a:rPr lang="en-US" altLang="zh-TW" sz="1800" dirty="0" smtClean="0"/>
              <a:t> : In </a:t>
            </a:r>
            <a:r>
              <a:rPr lang="en-US" altLang="zh-TW" sz="1800" dirty="0"/>
              <a:t>this region </a:t>
            </a:r>
            <a:r>
              <a:rPr lang="en-US" altLang="zh-TW" sz="1800" dirty="0" smtClean="0"/>
              <a:t>we </a:t>
            </a:r>
            <a:r>
              <a:rPr lang="en-US" altLang="zh-TW" sz="1800" dirty="0"/>
              <a:t>incorrectly predicted that 2DDLCSS </a:t>
            </a:r>
            <a:r>
              <a:rPr lang="en-US" altLang="zh-TW" sz="1800" dirty="0" smtClean="0"/>
              <a:t>would decrease </a:t>
            </a:r>
            <a:r>
              <a:rPr lang="en-US" altLang="zh-TW" sz="1800" dirty="0"/>
              <a:t>accuracy</a:t>
            </a:r>
            <a:r>
              <a:rPr lang="en-US" altLang="zh-TW" sz="1800" dirty="0" smtClean="0"/>
              <a:t>.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FP</a:t>
            </a:r>
            <a:r>
              <a:rPr lang="en-US" altLang="zh-TW" sz="1800" dirty="0"/>
              <a:t> </a:t>
            </a:r>
            <a:r>
              <a:rPr lang="en-US" altLang="zh-TW" sz="1800" dirty="0" smtClean="0"/>
              <a:t>: This </a:t>
            </a:r>
            <a:r>
              <a:rPr lang="en-US" altLang="zh-TW" sz="1800" dirty="0"/>
              <a:t>region is the only truly bad case. Data points falling </a:t>
            </a:r>
            <a:r>
              <a:rPr lang="en-US" altLang="zh-TW" sz="1800" dirty="0" smtClean="0"/>
              <a:t>in this </a:t>
            </a:r>
            <a:r>
              <a:rPr lang="en-US" altLang="zh-TW" sz="1800" dirty="0"/>
              <a:t>region represent data sets where we thought we </a:t>
            </a:r>
            <a:r>
              <a:rPr lang="en-US" altLang="zh-TW" sz="1800" dirty="0" smtClean="0"/>
              <a:t>could improve </a:t>
            </a:r>
            <a:r>
              <a:rPr lang="en-US" altLang="zh-TW" sz="1800" dirty="0"/>
              <a:t>accuracy, but in fact did not.</a:t>
            </a:r>
            <a:endParaRPr lang="zh-TW" alt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88840"/>
            <a:ext cx="47625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654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Statistical comparison of methods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24744"/>
            <a:ext cx="9001000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To identify differences between the methods, we present </a:t>
            </a:r>
            <a:r>
              <a:rPr lang="en-US" altLang="zh-TW" dirty="0" smtClean="0"/>
              <a:t>a detailed </a:t>
            </a:r>
            <a:r>
              <a:rPr lang="en-US" altLang="zh-TW" dirty="0"/>
              <a:t>statistical </a:t>
            </a:r>
            <a:r>
              <a:rPr lang="en-US" altLang="zh-TW" dirty="0" smtClean="0"/>
              <a:t>comparison(ANOVA).</a:t>
            </a:r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ANOVA(</a:t>
            </a:r>
            <a:r>
              <a:rPr lang="zh-TW" altLang="en-US" dirty="0" smtClean="0">
                <a:solidFill>
                  <a:srgbClr val="FF0000"/>
                </a:solidFill>
              </a:rPr>
              <a:t>變異數分析</a:t>
            </a:r>
            <a:r>
              <a:rPr lang="en-US" altLang="zh-TW" dirty="0" smtClean="0">
                <a:solidFill>
                  <a:srgbClr val="FF0000"/>
                </a:solidFill>
              </a:rPr>
              <a:t>):</a:t>
            </a:r>
          </a:p>
          <a:p>
            <a:pPr marL="0" indent="0">
              <a:buNone/>
            </a:pPr>
            <a:r>
              <a:rPr lang="zh-TW" altLang="en-US" sz="2400" dirty="0"/>
              <a:t>用來算</a:t>
            </a:r>
            <a:r>
              <a:rPr lang="zh-TW" altLang="en-US" sz="2400" dirty="0" smtClean="0"/>
              <a:t>出平均值，與組間的差距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每個</a:t>
            </a:r>
            <a:r>
              <a:rPr lang="en-US" altLang="zh-TW" sz="2400" dirty="0" smtClean="0"/>
              <a:t>classifier)</a:t>
            </a:r>
            <a:r>
              <a:rPr lang="zh-TW" altLang="en-US" sz="2400" dirty="0"/>
              <a:t>比較的仍然是組與組</a:t>
            </a:r>
            <a:r>
              <a:rPr lang="zh-TW" altLang="en-US" sz="2400" dirty="0" smtClean="0"/>
              <a:t>之間 對於</a:t>
            </a:r>
            <a:r>
              <a:rPr lang="zh-TW" altLang="en-US" sz="2400" dirty="0"/>
              <a:t>某一個依變數的「平均數</a:t>
            </a:r>
            <a:r>
              <a:rPr lang="zh-TW" altLang="en-US" sz="2400" dirty="0" smtClean="0"/>
              <a:t>」是否</a:t>
            </a:r>
            <a:r>
              <a:rPr lang="zh-TW" altLang="en-US" sz="2400" dirty="0"/>
              <a:t>有</a:t>
            </a:r>
            <a:r>
              <a:rPr lang="zh-TW" altLang="en-US" sz="2400" b="1" dirty="0">
                <a:solidFill>
                  <a:srgbClr val="FF0000"/>
                </a:solidFill>
              </a:rPr>
              <a:t>顯著的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差異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400" b="1" dirty="0" smtClean="0">
                <a:solidFill>
                  <a:srgbClr val="FF0000"/>
                </a:solidFill>
              </a:rPr>
              <a:t>找出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F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值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(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組間均方和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/</a:t>
            </a:r>
            <a:r>
              <a:rPr lang="zh-TW" altLang="en-US" sz="2400" b="1" dirty="0" smtClean="0">
                <a:solidFill>
                  <a:srgbClr val="FF0000"/>
                </a:solidFill>
              </a:rPr>
              <a:t>組內均方和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TW" sz="2400" b="1" dirty="0" smtClean="0">
                <a:solidFill>
                  <a:srgbClr val="FF0000"/>
                </a:solidFill>
              </a:rPr>
              <a:t>Post hoc test:	</a:t>
            </a:r>
            <a:r>
              <a:rPr lang="zh-TW" altLang="en-US" sz="2400" dirty="0" smtClean="0"/>
              <a:t>因</a:t>
            </a:r>
            <a:r>
              <a:rPr lang="en-US" altLang="zh-TW" sz="2400" dirty="0" smtClean="0"/>
              <a:t>ANOVA</a:t>
            </a:r>
            <a:r>
              <a:rPr lang="zh-TW" altLang="en-US" sz="2400" dirty="0" smtClean="0"/>
              <a:t>無法知道組與組之間的比較，而</a:t>
            </a:r>
            <a:r>
              <a:rPr lang="en-US" altLang="zh-TW" sz="2400" dirty="0" smtClean="0"/>
              <a:t>post hoc </a:t>
            </a:r>
            <a:r>
              <a:rPr lang="zh-TW" altLang="en-US" sz="2400" dirty="0" smtClean="0"/>
              <a:t>可倆倆互相比對，去知道組與組之間的差異，事後</a:t>
            </a:r>
            <a:r>
              <a:rPr lang="zh-TW" altLang="en-US" sz="2400" dirty="0"/>
              <a:t>檢驗創建更好地</a:t>
            </a:r>
            <a:r>
              <a:rPr lang="zh-TW" altLang="en-US" sz="2400" dirty="0" smtClean="0"/>
              <a:t>了解</a:t>
            </a:r>
            <a:r>
              <a:rPr lang="zh-TW" altLang="en-US" sz="2400" dirty="0"/>
              <a:t>誰能夠制定更好</a:t>
            </a:r>
            <a:r>
              <a:rPr lang="zh-TW" altLang="en-US" sz="2400" dirty="0" smtClean="0"/>
              <a:t>的。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>
                <a:solidFill>
                  <a:srgbClr val="FF0000"/>
                </a:solidFill>
              </a:rPr>
              <a:t>p-value: </a:t>
            </a:r>
            <a:r>
              <a:rPr lang="zh-TW" altLang="en-US" sz="2400" dirty="0" smtClean="0"/>
              <a:t>一種</a:t>
            </a:r>
            <a:r>
              <a:rPr lang="en-US" altLang="zh-TW" sz="2400" dirty="0" smtClean="0"/>
              <a:t>“</a:t>
            </a:r>
            <a:r>
              <a:rPr lang="zh-TW" altLang="en-US" sz="2400" dirty="0" smtClean="0"/>
              <a:t>無單位</a:t>
            </a:r>
            <a:r>
              <a:rPr lang="en-US" altLang="zh-TW" sz="2400" dirty="0" smtClean="0"/>
              <a:t>”</a:t>
            </a:r>
            <a:r>
              <a:rPr lang="zh-TW" altLang="en-US" sz="2400" dirty="0" smtClean="0"/>
              <a:t>的</a:t>
            </a:r>
            <a:r>
              <a:rPr lang="en-US" altLang="zh-TW" sz="2400" dirty="0" smtClean="0"/>
              <a:t>“</a:t>
            </a:r>
            <a:r>
              <a:rPr lang="zh-TW" altLang="en-US" sz="2400" dirty="0" smtClean="0"/>
              <a:t>通用</a:t>
            </a:r>
            <a:r>
              <a:rPr lang="en-US" altLang="zh-TW" sz="2400" dirty="0" smtClean="0"/>
              <a:t>”</a:t>
            </a:r>
            <a:r>
              <a:rPr lang="zh-TW" altLang="en-US" sz="2400" dirty="0" smtClean="0"/>
              <a:t>指標，</a:t>
            </a:r>
            <a:r>
              <a:rPr lang="zh-TW" altLang="en-US" sz="2400" dirty="0"/>
              <a:t>只跟</a:t>
            </a:r>
            <a:r>
              <a:rPr lang="en-US" altLang="zh-TW" sz="2400" dirty="0"/>
              <a:t>1. null hypothesis 2. test statistics(</a:t>
            </a:r>
            <a:r>
              <a:rPr lang="zh-TW" altLang="en-US" sz="2400" dirty="0"/>
              <a:t>測試統計量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這兩</a:t>
            </a:r>
            <a:r>
              <a:rPr lang="zh-TW" altLang="en-US" sz="2400" dirty="0"/>
              <a:t>個量有關係 </a:t>
            </a:r>
            <a:r>
              <a:rPr lang="zh-TW" altLang="en-US" sz="2400" dirty="0" smtClean="0"/>
              <a:t>，而</a:t>
            </a:r>
            <a:r>
              <a:rPr lang="zh-TW" altLang="en-US" sz="2400" dirty="0"/>
              <a:t>我們的決策是：拒絕</a:t>
            </a:r>
            <a:r>
              <a:rPr lang="en-US" altLang="zh-TW" sz="2400" dirty="0"/>
              <a:t>null hypothesis </a:t>
            </a:r>
            <a:r>
              <a:rPr lang="zh-TW" altLang="en-US" sz="2400" dirty="0"/>
              <a:t>當</a:t>
            </a:r>
            <a:r>
              <a:rPr lang="en-US" altLang="zh-TW" sz="2400" dirty="0"/>
              <a:t>p</a:t>
            </a:r>
            <a:r>
              <a:rPr lang="zh-TW" altLang="en-US" sz="2400" dirty="0"/>
              <a:t>值比給定的顯著水準還要小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67400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The results of multiple comparisons</a:t>
            </a:r>
            <a:endParaRPr lang="zh-TW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7776864" cy="454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78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50704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Result in time/speed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86287"/>
            <a:ext cx="5364088" cy="6525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735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908720"/>
            <a:ext cx="8435280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we have introduced and studied new time series</a:t>
            </a:r>
          </a:p>
          <a:p>
            <a:pPr marL="0" indent="0">
              <a:buNone/>
            </a:pPr>
            <a:r>
              <a:rPr lang="en-US" altLang="zh-TW" dirty="0"/>
              <a:t>dissimilarity measures based on derivatives. We used these </a:t>
            </a:r>
            <a:r>
              <a:rPr lang="en-US" altLang="zh-TW" dirty="0" smtClean="0"/>
              <a:t>measures to </a:t>
            </a:r>
            <a:r>
              <a:rPr lang="en-US" altLang="zh-TW" dirty="0"/>
              <a:t>classify time series in conjunction with the 1NN method</a:t>
            </a:r>
            <a:r>
              <a:rPr lang="en-US" altLang="zh-TW" dirty="0" smtClean="0"/>
              <a:t>.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Our measures </a:t>
            </a:r>
            <a:r>
              <a:rPr lang="en-US" altLang="zh-TW" dirty="0">
                <a:solidFill>
                  <a:srgbClr val="FF0000"/>
                </a:solidFill>
              </a:rPr>
              <a:t>are superior to the </a:t>
            </a:r>
            <a:r>
              <a:rPr lang="en-US" altLang="zh-TW" dirty="0" smtClean="0">
                <a:solidFill>
                  <a:srgbClr val="FF0000"/>
                </a:solidFill>
              </a:rPr>
              <a:t>LCSS. </a:t>
            </a:r>
            <a:r>
              <a:rPr lang="en-US" altLang="zh-TW" dirty="0" smtClean="0"/>
              <a:t>In </a:t>
            </a:r>
            <a:r>
              <a:rPr lang="en-US" altLang="zh-TW" dirty="0"/>
              <a:t>a situation </a:t>
            </a:r>
            <a:r>
              <a:rPr lang="en-US" altLang="zh-TW" dirty="0" smtClean="0"/>
              <a:t>where computation </a:t>
            </a:r>
            <a:r>
              <a:rPr lang="en-US" altLang="zh-TW" dirty="0"/>
              <a:t>time is significant it is </a:t>
            </a:r>
            <a:r>
              <a:rPr lang="en-US" altLang="zh-TW" dirty="0">
                <a:solidFill>
                  <a:srgbClr val="FF0000"/>
                </a:solidFill>
              </a:rPr>
              <a:t>also possible to use the </a:t>
            </a:r>
            <a:r>
              <a:rPr lang="en-US" altLang="zh-TW" dirty="0" smtClean="0">
                <a:solidFill>
                  <a:srgbClr val="FF0000"/>
                </a:solidFill>
              </a:rPr>
              <a:t>DDLCSS method</a:t>
            </a:r>
            <a:r>
              <a:rPr lang="en-US" altLang="zh-TW" dirty="0"/>
              <a:t>, which is only </a:t>
            </a:r>
            <a:r>
              <a:rPr lang="en-US" altLang="zh-TW" dirty="0">
                <a:solidFill>
                  <a:srgbClr val="FF0000"/>
                </a:solidFill>
              </a:rPr>
              <a:t>slightly less efficient than 2DDLCSS </a:t>
            </a:r>
            <a:r>
              <a:rPr lang="en-US" altLang="zh-TW" dirty="0"/>
              <a:t>(</a:t>
            </a:r>
            <a:r>
              <a:rPr lang="en-US" altLang="zh-TW" dirty="0" smtClean="0"/>
              <a:t>giving larger </a:t>
            </a:r>
            <a:r>
              <a:rPr lang="en-US" altLang="zh-TW" dirty="0"/>
              <a:t>classification error) but is less computationally </a:t>
            </a:r>
            <a:r>
              <a:rPr lang="en-US" altLang="zh-TW" dirty="0" smtClean="0"/>
              <a:t>complex (by </a:t>
            </a:r>
            <a:r>
              <a:rPr lang="en-US" altLang="zh-TW" dirty="0"/>
              <a:t>about one-third). We do not recommend using the pure </a:t>
            </a:r>
            <a:r>
              <a:rPr lang="en-US" altLang="zh-TW" dirty="0" smtClean="0"/>
              <a:t>LCSS method.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898</Words>
  <Application>Microsoft Office PowerPoint</Application>
  <PresentationFormat>如螢幕大小 (4:3)</PresentationFormat>
  <Paragraphs>102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Arial</vt:lpstr>
      <vt:lpstr>Calibri</vt:lpstr>
      <vt:lpstr>Cambria Math</vt:lpstr>
      <vt:lpstr>Office 佈景主題</vt:lpstr>
      <vt:lpstr> Presenter:  Shu-Kai Hung Date:2015/12/16 </vt:lpstr>
      <vt:lpstr>Abstract(1/2)</vt:lpstr>
      <vt:lpstr>Abstract(1/2)</vt:lpstr>
      <vt:lpstr>Longest common subsequences of the time series(LCSS)</vt:lpstr>
      <vt:lpstr>PowerPoint 簡報</vt:lpstr>
      <vt:lpstr>Longest common subsequence based on derivatives-2D/3D method</vt:lpstr>
      <vt:lpstr>Parameter dimension-2D</vt:lpstr>
      <vt:lpstr>PowerPoint 簡報</vt:lpstr>
      <vt:lpstr>Experimental setup</vt:lpstr>
      <vt:lpstr>最近鄰居分類法</vt:lpstr>
      <vt:lpstr>leave-one-out cross-validation</vt:lpstr>
      <vt:lpstr>Results</vt:lpstr>
      <vt:lpstr>PowerPoint 簡報</vt:lpstr>
      <vt:lpstr>PowerPoint 簡報</vt:lpstr>
      <vt:lpstr>Statistical comparison of methods</vt:lpstr>
      <vt:lpstr>The results of multiple comparisons</vt:lpstr>
      <vt:lpstr>Result in time/speed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derivatives in a longest common subsequence dissimilarity measure for time series classification</dc:title>
  <dc:creator>Andy</dc:creator>
  <cp:lastModifiedBy>pplab-class</cp:lastModifiedBy>
  <cp:revision>68</cp:revision>
  <dcterms:created xsi:type="dcterms:W3CDTF">2015-12-13T15:50:40Z</dcterms:created>
  <dcterms:modified xsi:type="dcterms:W3CDTF">2015-12-16T14:00:53Z</dcterms:modified>
</cp:coreProperties>
</file>