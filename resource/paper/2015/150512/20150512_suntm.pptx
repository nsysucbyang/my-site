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2015/5/12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1886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2015/5/12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2947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2015/5/12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259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2015/5/12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4498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2015/5/12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9788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2015/5/12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8057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2015/5/12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5527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2015/5/12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4892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2015/5/12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070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2015/5/12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6785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2015/5/12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4034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48DC6-974B-4BDE-AB75-EE90761A0BBC}" type="datetimeFigureOut">
              <a:rPr lang="zh-TW" altLang="en-US" smtClean="0"/>
              <a:t>2015/5/12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614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419230"/>
            <a:ext cx="12191999" cy="147002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/>
              <a:t>Multiresolution Gray-Scale and </a:t>
            </a:r>
            <a:r>
              <a:rPr lang="en-US" altLang="zh-TW" sz="3600" dirty="0" smtClean="0"/>
              <a:t>Rotation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Invariant </a:t>
            </a:r>
            <a:r>
              <a:rPr lang="en-US" altLang="zh-TW" sz="3600" dirty="0"/>
              <a:t>Texture </a:t>
            </a:r>
            <a:r>
              <a:rPr lang="en-US" altLang="zh-TW" sz="3600" dirty="0" smtClean="0"/>
              <a:t>Classification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with </a:t>
            </a:r>
            <a:r>
              <a:rPr lang="en-US" altLang="zh-TW" sz="3600" dirty="0"/>
              <a:t>Local Binary Patterns</a:t>
            </a:r>
            <a:endParaRPr lang="en-US" altLang="zh-TW" sz="3600" b="1" dirty="0"/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13211" y="3076579"/>
            <a:ext cx="11747863" cy="479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2000" dirty="0" err="1"/>
              <a:t>Timo</a:t>
            </a:r>
            <a:r>
              <a:rPr lang="en-US" altLang="zh-TW" sz="2000" dirty="0"/>
              <a:t> </a:t>
            </a:r>
            <a:r>
              <a:rPr lang="en-US" altLang="zh-TW" sz="2000" dirty="0" err="1"/>
              <a:t>Ojala</a:t>
            </a:r>
            <a:r>
              <a:rPr lang="en-US" altLang="zh-TW" sz="2000" dirty="0"/>
              <a:t>, </a:t>
            </a:r>
            <a:r>
              <a:rPr lang="en-US" altLang="zh-TW" sz="2000" dirty="0" err="1"/>
              <a:t>Matti</a:t>
            </a:r>
            <a:r>
              <a:rPr lang="en-US" altLang="zh-TW" sz="2000" dirty="0"/>
              <a:t> </a:t>
            </a:r>
            <a:r>
              <a:rPr lang="en-US" altLang="zh-TW" sz="2000" dirty="0" err="1"/>
              <a:t>PietikaÈ</a:t>
            </a:r>
            <a:r>
              <a:rPr lang="en-US" altLang="zh-TW" sz="2000" dirty="0"/>
              <a:t> </a:t>
            </a:r>
            <a:r>
              <a:rPr lang="en-US" altLang="zh-TW" sz="2000" dirty="0" err="1"/>
              <a:t>inen</a:t>
            </a:r>
            <a:r>
              <a:rPr lang="en-US" altLang="zh-TW" sz="2000" dirty="0"/>
              <a:t>, Senior Member, IEEE, and </a:t>
            </a:r>
            <a:r>
              <a:rPr lang="en-US" altLang="zh-TW" sz="2000" dirty="0" err="1"/>
              <a:t>Topi</a:t>
            </a:r>
            <a:r>
              <a:rPr lang="en-US" altLang="zh-TW" sz="2000" dirty="0"/>
              <a:t> </a:t>
            </a:r>
            <a:r>
              <a:rPr lang="en-US" altLang="zh-TW" sz="2000" dirty="0" err="1"/>
              <a:t>MaÈenpaÈa</a:t>
            </a:r>
            <a:endParaRPr lang="zh-TW" altLang="en-US" sz="20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289685"/>
              </p:ext>
            </p:extLst>
          </p:nvPr>
        </p:nvGraphicFramePr>
        <p:xfrm>
          <a:off x="452846" y="3866605"/>
          <a:ext cx="11660777" cy="977091"/>
        </p:xfrm>
        <a:graphic>
          <a:graphicData uri="http://schemas.openxmlformats.org/drawingml/2006/table">
            <a:tbl>
              <a:tblPr/>
              <a:tblGrid>
                <a:gridCol w="11660777"/>
              </a:tblGrid>
              <a:tr h="3129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IEEE TRANSACTIONS ON PATTERN ANALYSIS AND MACHINE INTELLIGENCE,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VOL. 24, NO. 7, pp.971-988, JULY 2002.</a:t>
                      </a:r>
                      <a:endParaRPr lang="en-US" altLang="zh-TW" sz="2000" kern="1200" dirty="0" smtClean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endParaRPr lang="en-US" sz="15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4656143" y="5229229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Tsai-Ming Sun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Date:</a:t>
            </a:r>
            <a:fld id="{F3590F60-3E7B-48AD-979A-345F224951B5}" type="datetime1">
              <a:rPr lang="zh-TW" altLang="en-US" sz="1800"/>
              <a:pPr eaLnBrk="1" hangingPunct="1">
                <a:spcBef>
                  <a:spcPct val="0"/>
                </a:spcBef>
                <a:buFontTx/>
                <a:buNone/>
              </a:pPr>
              <a:t>2015/5/12</a:t>
            </a:fld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55660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19794"/>
            <a:ext cx="10515600" cy="45571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TW" dirty="0" smtClean="0"/>
              <a:t>This </a:t>
            </a:r>
            <a:r>
              <a:rPr lang="en-US" altLang="zh-TW" dirty="0"/>
              <a:t>paper presents a theoretically very simple, yet efficient, multiresolution approach to gray-scale and rotation </a:t>
            </a:r>
            <a:r>
              <a:rPr lang="en-US" altLang="zh-TW" dirty="0" smtClean="0"/>
              <a:t>invariant texture </a:t>
            </a:r>
            <a:r>
              <a:rPr lang="en-US" altLang="zh-TW" dirty="0"/>
              <a:t>classification based on local binary patterns </a:t>
            </a:r>
            <a:r>
              <a:rPr lang="en-US" altLang="zh-TW" dirty="0" smtClean="0"/>
              <a:t>and nonparametric </a:t>
            </a:r>
            <a:r>
              <a:rPr lang="en-US" altLang="zh-TW" dirty="0"/>
              <a:t>discrimination of sample and prototype distributions. </a:t>
            </a:r>
            <a:r>
              <a:rPr lang="en-US" altLang="zh-TW" dirty="0" smtClean="0"/>
              <a:t>The method </a:t>
            </a:r>
            <a:r>
              <a:rPr lang="en-US" altLang="zh-TW" dirty="0"/>
              <a:t>is based on recognizing that certain local binary patterns, termed </a:t>
            </a:r>
            <a:r>
              <a:rPr lang="en-US" altLang="zh-TW" dirty="0" smtClean="0"/>
              <a:t>“uniform,” </a:t>
            </a:r>
            <a:r>
              <a:rPr lang="en-US" altLang="zh-TW" dirty="0"/>
              <a:t>are fundamental properties of local image </a:t>
            </a:r>
            <a:r>
              <a:rPr lang="en-US" altLang="zh-TW" dirty="0" smtClean="0"/>
              <a:t>texture and </a:t>
            </a:r>
            <a:r>
              <a:rPr lang="en-US" altLang="zh-TW" dirty="0"/>
              <a:t>their occurrence histogram is proven to be a very powerful texture feature. We derive a generalized gray-scale and </a:t>
            </a:r>
            <a:r>
              <a:rPr lang="en-US" altLang="zh-TW" dirty="0" smtClean="0"/>
              <a:t>rotation invariant </a:t>
            </a:r>
            <a:r>
              <a:rPr lang="en-US" altLang="zh-TW" dirty="0"/>
              <a:t>operator presentation that allows for detecting the </a:t>
            </a:r>
            <a:r>
              <a:rPr lang="en-US" altLang="zh-TW" dirty="0" smtClean="0"/>
              <a:t>“uniform” </a:t>
            </a:r>
            <a:r>
              <a:rPr lang="en-US" altLang="zh-TW" dirty="0"/>
              <a:t>patterns for any quantization of the angular space and for </a:t>
            </a:r>
            <a:r>
              <a:rPr lang="en-US" altLang="zh-TW" dirty="0" smtClean="0"/>
              <a:t>any spatial </a:t>
            </a:r>
            <a:r>
              <a:rPr lang="en-US" altLang="zh-TW" dirty="0"/>
              <a:t>resolution and presents a method for combining multiple operators for multiresolution analysis. The proposed approach is </a:t>
            </a:r>
            <a:r>
              <a:rPr lang="en-US" altLang="zh-TW" dirty="0" smtClean="0"/>
              <a:t>very robust </a:t>
            </a:r>
            <a:r>
              <a:rPr lang="en-US" altLang="zh-TW" dirty="0"/>
              <a:t>in terms of gray-scale variations since the operator is, by definition, invariant against any monotonic transformation of the </a:t>
            </a:r>
            <a:r>
              <a:rPr lang="en-US" altLang="zh-TW" dirty="0" smtClean="0"/>
              <a:t>gray scale</a:t>
            </a:r>
            <a:r>
              <a:rPr lang="en-US" altLang="zh-TW" dirty="0"/>
              <a:t>. Another advantage is computational simplicity as the operator can be realized with a few operations in a small neighborhood </a:t>
            </a:r>
            <a:r>
              <a:rPr lang="en-US" altLang="zh-TW" dirty="0" smtClean="0"/>
              <a:t>and a </a:t>
            </a:r>
            <a:r>
              <a:rPr lang="en-US" altLang="zh-TW" dirty="0"/>
              <a:t>lookup table.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1908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GRAY SCALE AND ROTATION INVARIANT LOCAL</a:t>
            </a:r>
            <a:br>
              <a:rPr lang="en-US" altLang="zh-TW" b="1" dirty="0"/>
            </a:br>
            <a:r>
              <a:rPr lang="en-US" altLang="zh-TW" b="1" dirty="0"/>
              <a:t>BINARY PATTERNS</a:t>
            </a:r>
            <a:endParaRPr lang="zh-TW" altLang="en-US" b="1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0263" y="1827553"/>
            <a:ext cx="2609850" cy="42862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93043"/>
            <a:ext cx="11046844" cy="28321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263" y="5152458"/>
            <a:ext cx="5591175" cy="4191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263" y="5670640"/>
            <a:ext cx="6981825" cy="32385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263" y="6093572"/>
            <a:ext cx="633412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20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GRAY SCALE AND ROTATION INVARIANT LOCAL</a:t>
            </a:r>
            <a:br>
              <a:rPr lang="en-US" altLang="zh-TW" b="1" dirty="0" smtClean="0"/>
            </a:br>
            <a:r>
              <a:rPr lang="en-US" altLang="zh-TW" b="1" dirty="0" smtClean="0"/>
              <a:t>BINARY PATTERNS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07006"/>
            <a:ext cx="2238375" cy="10096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32974"/>
            <a:ext cx="3209925" cy="990600"/>
          </a:xfrm>
          <a:prstGeom prst="rect">
            <a:avLst/>
          </a:prstGeom>
        </p:spPr>
      </p:pic>
      <p:pic>
        <p:nvPicPr>
          <p:cNvPr id="1026" name="Picture 2" descr="http://opticalengineering.spiedigitallibrary.org/data/Journals/OPTICE/22128/117203_1_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1297" y="1825828"/>
            <a:ext cx="6531072" cy="3204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303" y="5852704"/>
            <a:ext cx="2838450" cy="3429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2095" y="5828596"/>
            <a:ext cx="7191375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40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7645" y="141288"/>
            <a:ext cx="10515600" cy="842782"/>
          </a:xfrm>
        </p:spPr>
        <p:txBody>
          <a:bodyPr/>
          <a:lstStyle/>
          <a:p>
            <a:r>
              <a:rPr lang="en-US" altLang="zh-TW" b="1" dirty="0"/>
              <a:t>Achieving Rotation Invariance</a:t>
            </a:r>
            <a:endParaRPr lang="zh-TW" altLang="en-US" b="1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0783" y="984070"/>
            <a:ext cx="6962775" cy="44767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45" y="1527806"/>
            <a:ext cx="10312056" cy="451594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117" y="6206625"/>
            <a:ext cx="11658600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57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Achieving Rotation Invariance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6143625" cy="140017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69165"/>
            <a:ext cx="594360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271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Rotation Invariant Variance Measures of the</a:t>
            </a:r>
            <a:br>
              <a:rPr lang="en-US" altLang="zh-TW" b="1" dirty="0"/>
            </a:br>
            <a:r>
              <a:rPr lang="en-US" altLang="zh-TW" b="1" dirty="0"/>
              <a:t>Contrast of Local Image Texture</a:t>
            </a:r>
            <a:endParaRPr lang="zh-TW" altLang="en-US" b="1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06190"/>
            <a:ext cx="5876925" cy="1028700"/>
          </a:xfrm>
          <a:prstGeom prst="rect">
            <a:avLst/>
          </a:prstGeom>
        </p:spPr>
      </p:pic>
      <p:pic>
        <p:nvPicPr>
          <p:cNvPr id="2050" name="Picture 2" descr="http://upload.wikimedia.org/wikipedia/commons/thumb/9/95/Multivariate_normal_sample.svg/300px-Multivariate_normal_sample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5437" y="2001883"/>
            <a:ext cx="285750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738" y="3850685"/>
            <a:ext cx="731520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134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2" y="214312"/>
            <a:ext cx="9477375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005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246</Words>
  <Application>Microsoft Office PowerPoint</Application>
  <PresentationFormat>寬螢幕</PresentationFormat>
  <Paragraphs>12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新細明體</vt:lpstr>
      <vt:lpstr>Arial</vt:lpstr>
      <vt:lpstr>Calibri</vt:lpstr>
      <vt:lpstr>Calibri Light</vt:lpstr>
      <vt:lpstr>Verdana</vt:lpstr>
      <vt:lpstr>Office 佈景主題</vt:lpstr>
      <vt:lpstr>PowerPoint 簡報</vt:lpstr>
      <vt:lpstr>abstract</vt:lpstr>
      <vt:lpstr>GRAY SCALE AND ROTATION INVARIANT LOCAL BINARY PATTERNS</vt:lpstr>
      <vt:lpstr>GRAY SCALE AND ROTATION INVARIANT LOCAL BINARY PATTERNS</vt:lpstr>
      <vt:lpstr>Achieving Rotation Invariance</vt:lpstr>
      <vt:lpstr>Achieving Rotation Invariance</vt:lpstr>
      <vt:lpstr>Rotation Invariant Variance Measures of the Contrast of Local Image Texture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Sun</dc:creator>
  <cp:lastModifiedBy>Sun</cp:lastModifiedBy>
  <cp:revision>10</cp:revision>
  <dcterms:created xsi:type="dcterms:W3CDTF">2015-05-12T06:52:37Z</dcterms:created>
  <dcterms:modified xsi:type="dcterms:W3CDTF">2015-05-12T10:04:24Z</dcterms:modified>
</cp:coreProperties>
</file>