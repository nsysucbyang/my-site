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4" r:id="rId6"/>
    <p:sldId id="261" r:id="rId7"/>
    <p:sldId id="262" r:id="rId8"/>
    <p:sldId id="263" r:id="rId9"/>
    <p:sldId id="265" r:id="rId10"/>
    <p:sldId id="275" r:id="rId11"/>
    <p:sldId id="267" r:id="rId12"/>
    <p:sldId id="266" r:id="rId13"/>
    <p:sldId id="269" r:id="rId14"/>
    <p:sldId id="270" r:id="rId15"/>
    <p:sldId id="268" r:id="rId16"/>
    <p:sldId id="271" r:id="rId17"/>
    <p:sldId id="272" r:id="rId18"/>
    <p:sldId id="274" r:id="rId19"/>
    <p:sldId id="273" r:id="rId20"/>
    <p:sldId id="276" r:id="rId21"/>
    <p:sldId id="277" r:id="rId22"/>
    <p:sldId id="278" r:id="rId23"/>
    <p:sldId id="279" r:id="rId24"/>
    <p:sldId id="280" r:id="rId25"/>
    <p:sldId id="281" r:id="rId26"/>
    <p:sldId id="282" r:id="rId27"/>
    <p:sldId id="284" r:id="rId28"/>
    <p:sldId id="283" r:id="rId29"/>
    <p:sldId id="292" r:id="rId30"/>
    <p:sldId id="294" r:id="rId31"/>
    <p:sldId id="293" r:id="rId32"/>
    <p:sldId id="285" r:id="rId33"/>
    <p:sldId id="286" r:id="rId34"/>
    <p:sldId id="287" r:id="rId35"/>
    <p:sldId id="290" r:id="rId36"/>
    <p:sldId id="288" r:id="rId37"/>
    <p:sldId id="289" r:id="rId38"/>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0" d="100"/>
          <a:sy n="110" d="100"/>
        </p:scale>
        <p:origin x="164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143000" y="1122363"/>
            <a:ext cx="6858000" cy="2387600"/>
          </a:xfrm>
        </p:spPr>
        <p:txBody>
          <a:bodyPr anchor="b"/>
          <a:lstStyle>
            <a:lvl1pPr algn="ctr">
              <a:defRPr sz="6000"/>
            </a:lvl1p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9F2F2BDC-3649-49B4-8431-21741899EAFF}" type="datetimeFigureOut">
              <a:rPr lang="zh-TW" altLang="en-US" smtClean="0"/>
              <a:t>2015/5/12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E10170C-2076-4885-8285-6DDF2ABD8601}" type="slidenum">
              <a:rPr lang="zh-TW" altLang="en-US" smtClean="0"/>
              <a:t>‹#›</a:t>
            </a:fld>
            <a:endParaRPr lang="zh-TW" altLang="en-US"/>
          </a:p>
        </p:txBody>
      </p:sp>
    </p:spTree>
    <p:extLst>
      <p:ext uri="{BB962C8B-B14F-4D97-AF65-F5344CB8AC3E}">
        <p14:creationId xmlns:p14="http://schemas.microsoft.com/office/powerpoint/2010/main" val="5527356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9F2F2BDC-3649-49B4-8431-21741899EAFF}" type="datetimeFigureOut">
              <a:rPr lang="zh-TW" altLang="en-US" smtClean="0"/>
              <a:t>2015/5/12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E10170C-2076-4885-8285-6DDF2ABD8601}" type="slidenum">
              <a:rPr lang="zh-TW" altLang="en-US" smtClean="0"/>
              <a:t>‹#›</a:t>
            </a:fld>
            <a:endParaRPr lang="zh-TW" altLang="en-US"/>
          </a:p>
        </p:txBody>
      </p:sp>
    </p:spTree>
    <p:extLst>
      <p:ext uri="{BB962C8B-B14F-4D97-AF65-F5344CB8AC3E}">
        <p14:creationId xmlns:p14="http://schemas.microsoft.com/office/powerpoint/2010/main" val="2302058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623888" y="1709739"/>
            <a:ext cx="7886700" cy="2852737"/>
          </a:xfrm>
        </p:spPr>
        <p:txBody>
          <a:bodyPr anchor="b"/>
          <a:lstStyle>
            <a:lvl1pPr>
              <a:defRPr sz="60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9F2F2BDC-3649-49B4-8431-21741899EAFF}" type="datetimeFigureOut">
              <a:rPr lang="zh-TW" altLang="en-US" smtClean="0"/>
              <a:t>2015/5/12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E10170C-2076-4885-8285-6DDF2ABD8601}" type="slidenum">
              <a:rPr lang="zh-TW" altLang="en-US" smtClean="0"/>
              <a:t>‹#›</a:t>
            </a:fld>
            <a:endParaRPr lang="zh-TW" altLang="en-US"/>
          </a:p>
        </p:txBody>
      </p:sp>
    </p:spTree>
    <p:extLst>
      <p:ext uri="{BB962C8B-B14F-4D97-AF65-F5344CB8AC3E}">
        <p14:creationId xmlns:p14="http://schemas.microsoft.com/office/powerpoint/2010/main" val="5650956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71487" y="1825625"/>
            <a:ext cx="2900363"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3486150" y="1825625"/>
            <a:ext cx="2900363"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9F2F2BDC-3649-49B4-8431-21741899EAFF}" type="datetimeFigureOut">
              <a:rPr lang="zh-TW" altLang="en-US" smtClean="0"/>
              <a:t>2015/5/12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E10170C-2076-4885-8285-6DDF2ABD8601}" type="slidenum">
              <a:rPr lang="zh-TW" altLang="en-US" smtClean="0"/>
              <a:t>‹#›</a:t>
            </a:fld>
            <a:endParaRPr lang="zh-TW" altLang="en-US"/>
          </a:p>
        </p:txBody>
      </p:sp>
    </p:spTree>
    <p:extLst>
      <p:ext uri="{BB962C8B-B14F-4D97-AF65-F5344CB8AC3E}">
        <p14:creationId xmlns:p14="http://schemas.microsoft.com/office/powerpoint/2010/main" val="4203471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629841" y="365126"/>
            <a:ext cx="78867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629842" y="2505075"/>
            <a:ext cx="3868340"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29150" y="2505075"/>
            <a:ext cx="3887391"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9F2F2BDC-3649-49B4-8431-21741899EAFF}" type="datetimeFigureOut">
              <a:rPr lang="zh-TW" altLang="en-US" smtClean="0"/>
              <a:t>2015/5/12</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E10170C-2076-4885-8285-6DDF2ABD8601}" type="slidenum">
              <a:rPr lang="zh-TW" altLang="en-US" smtClean="0"/>
              <a:t>‹#›</a:t>
            </a:fld>
            <a:endParaRPr lang="zh-TW" altLang="en-US"/>
          </a:p>
        </p:txBody>
      </p:sp>
    </p:spTree>
    <p:extLst>
      <p:ext uri="{BB962C8B-B14F-4D97-AF65-F5344CB8AC3E}">
        <p14:creationId xmlns:p14="http://schemas.microsoft.com/office/powerpoint/2010/main" val="1274953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9F2F2BDC-3649-49B4-8431-21741899EAFF}" type="datetimeFigureOut">
              <a:rPr lang="zh-TW" altLang="en-US" smtClean="0"/>
              <a:t>2015/5/12</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E10170C-2076-4885-8285-6DDF2ABD8601}" type="slidenum">
              <a:rPr lang="zh-TW" altLang="en-US" smtClean="0"/>
              <a:t>‹#›</a:t>
            </a:fld>
            <a:endParaRPr lang="zh-TW" altLang="en-US"/>
          </a:p>
        </p:txBody>
      </p:sp>
    </p:spTree>
    <p:extLst>
      <p:ext uri="{BB962C8B-B14F-4D97-AF65-F5344CB8AC3E}">
        <p14:creationId xmlns:p14="http://schemas.microsoft.com/office/powerpoint/2010/main" val="27292926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9F2F2BDC-3649-49B4-8431-21741899EAFF}" type="datetimeFigureOut">
              <a:rPr lang="zh-TW" altLang="en-US" smtClean="0"/>
              <a:t>2015/5/12</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E10170C-2076-4885-8285-6DDF2ABD8601}" type="slidenum">
              <a:rPr lang="zh-TW" altLang="en-US" smtClean="0"/>
              <a:t>‹#›</a:t>
            </a:fld>
            <a:endParaRPr lang="zh-TW" altLang="en-US"/>
          </a:p>
        </p:txBody>
      </p:sp>
    </p:spTree>
    <p:extLst>
      <p:ext uri="{BB962C8B-B14F-4D97-AF65-F5344CB8AC3E}">
        <p14:creationId xmlns:p14="http://schemas.microsoft.com/office/powerpoint/2010/main" val="2103789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9F2F2BDC-3649-49B4-8431-21741899EAFF}" type="datetimeFigureOut">
              <a:rPr lang="zh-TW" altLang="en-US" smtClean="0"/>
              <a:t>2015/5/12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E10170C-2076-4885-8285-6DDF2ABD8601}" type="slidenum">
              <a:rPr lang="zh-TW" altLang="en-US" smtClean="0"/>
              <a:t>‹#›</a:t>
            </a:fld>
            <a:endParaRPr lang="zh-TW" altLang="en-US"/>
          </a:p>
        </p:txBody>
      </p:sp>
    </p:spTree>
    <p:extLst>
      <p:ext uri="{BB962C8B-B14F-4D97-AF65-F5344CB8AC3E}">
        <p14:creationId xmlns:p14="http://schemas.microsoft.com/office/powerpoint/2010/main" val="25422698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9F2F2BDC-3649-49B4-8431-21741899EAFF}" type="datetimeFigureOut">
              <a:rPr lang="zh-TW" altLang="en-US" smtClean="0"/>
              <a:t>2015/5/12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E10170C-2076-4885-8285-6DDF2ABD8601}" type="slidenum">
              <a:rPr lang="zh-TW" altLang="en-US" smtClean="0"/>
              <a:t>‹#›</a:t>
            </a:fld>
            <a:endParaRPr lang="zh-TW" altLang="en-US"/>
          </a:p>
        </p:txBody>
      </p:sp>
    </p:spTree>
    <p:extLst>
      <p:ext uri="{BB962C8B-B14F-4D97-AF65-F5344CB8AC3E}">
        <p14:creationId xmlns:p14="http://schemas.microsoft.com/office/powerpoint/2010/main" val="2540600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9F2F2BDC-3649-49B4-8431-21741899EAFF}" type="datetimeFigureOut">
              <a:rPr lang="zh-TW" altLang="en-US" smtClean="0"/>
              <a:t>2015/5/12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E10170C-2076-4885-8285-6DDF2ABD8601}" type="slidenum">
              <a:rPr lang="zh-TW" altLang="en-US" smtClean="0"/>
              <a:t>‹#›</a:t>
            </a:fld>
            <a:endParaRPr lang="zh-TW" altLang="en-US"/>
          </a:p>
        </p:txBody>
      </p:sp>
    </p:spTree>
    <p:extLst>
      <p:ext uri="{BB962C8B-B14F-4D97-AF65-F5344CB8AC3E}">
        <p14:creationId xmlns:p14="http://schemas.microsoft.com/office/powerpoint/2010/main" val="33378391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4907757" y="365125"/>
            <a:ext cx="1478756" cy="581183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71488" y="365125"/>
            <a:ext cx="4321969"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9F2F2BDC-3649-49B4-8431-21741899EAFF}" type="datetimeFigureOut">
              <a:rPr lang="zh-TW" altLang="en-US" smtClean="0"/>
              <a:t>2015/5/12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E10170C-2076-4885-8285-6DDF2ABD8601}" type="slidenum">
              <a:rPr lang="zh-TW" altLang="en-US" smtClean="0"/>
              <a:t>‹#›</a:t>
            </a:fld>
            <a:endParaRPr lang="zh-TW" altLang="en-US"/>
          </a:p>
        </p:txBody>
      </p:sp>
    </p:spTree>
    <p:extLst>
      <p:ext uri="{BB962C8B-B14F-4D97-AF65-F5344CB8AC3E}">
        <p14:creationId xmlns:p14="http://schemas.microsoft.com/office/powerpoint/2010/main" val="3771497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2F2BDC-3649-49B4-8431-21741899EAFF}" type="datetimeFigureOut">
              <a:rPr lang="zh-TW" altLang="en-US" smtClean="0"/>
              <a:t>2015/5/12</a:t>
            </a:fld>
            <a:endParaRPr lang="zh-TW" altLang="en-US"/>
          </a:p>
        </p:txBody>
      </p:sp>
      <p:sp>
        <p:nvSpPr>
          <p:cNvPr id="5" name="頁尾版面配置區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10170C-2076-4885-8285-6DDF2ABD8601}" type="slidenum">
              <a:rPr lang="zh-TW" altLang="en-US" smtClean="0"/>
              <a:t>‹#›</a:t>
            </a:fld>
            <a:endParaRPr lang="zh-TW" altLang="en-US"/>
          </a:p>
        </p:txBody>
      </p:sp>
    </p:spTree>
    <p:extLst>
      <p:ext uri="{BB962C8B-B14F-4D97-AF65-F5344CB8AC3E}">
        <p14:creationId xmlns:p14="http://schemas.microsoft.com/office/powerpoint/2010/main" val="36445053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txBox="1">
            <a:spLocks/>
          </p:cNvSpPr>
          <p:nvPr/>
        </p:nvSpPr>
        <p:spPr>
          <a:xfrm>
            <a:off x="608013" y="1571625"/>
            <a:ext cx="7772400" cy="1470025"/>
          </a:xfrm>
          <a:prstGeom prst="rect">
            <a:avLst/>
          </a:prstGeom>
        </p:spPr>
        <p:txBody>
          <a:bodyPr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r>
              <a:rPr lang="en-US" altLang="zh-TW" b="1" dirty="0"/>
              <a:t>Fast Pattern Matching in Strings</a:t>
            </a:r>
            <a:endParaRPr kumimoji="0" lang="zh-TW" altLang="en-US" dirty="0">
              <a:latin typeface="Arial Unicode MS" pitchFamily="34" charset="-120"/>
              <a:ea typeface="Arial Unicode MS" pitchFamily="34" charset="-120"/>
              <a:cs typeface="Arial Unicode MS" pitchFamily="34" charset="-120"/>
            </a:endParaRPr>
          </a:p>
        </p:txBody>
      </p:sp>
      <p:sp>
        <p:nvSpPr>
          <p:cNvPr id="5" name="副標題 2"/>
          <p:cNvSpPr txBox="1">
            <a:spLocks/>
          </p:cNvSpPr>
          <p:nvPr/>
        </p:nvSpPr>
        <p:spPr>
          <a:xfrm>
            <a:off x="1406525" y="3019425"/>
            <a:ext cx="6400800" cy="479425"/>
          </a:xfrm>
          <a:prstGeom prst="rect">
            <a:avLst/>
          </a:prstGeom>
        </p:spPr>
        <p:txBody>
          <a:bodyPr>
            <a:normAutofit fontScale="625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fontAlgn="auto">
              <a:spcAft>
                <a:spcPts val="0"/>
              </a:spcAft>
              <a:defRPr/>
            </a:pPr>
            <a:r>
              <a:rPr lang="en-US" altLang="zh-TW" sz="3100" dirty="0" smtClean="0"/>
              <a:t>Donald </a:t>
            </a:r>
            <a:r>
              <a:rPr lang="en-US" altLang="zh-TW" sz="3100" dirty="0"/>
              <a:t>E. Knuth, James H. Morris, Jr., and Vaughan R. </a:t>
            </a:r>
            <a:r>
              <a:rPr lang="en-US" altLang="zh-TW" sz="3100" dirty="0" smtClean="0"/>
              <a:t>Pratt</a:t>
            </a:r>
            <a:endParaRPr lang="en-US" altLang="zh-TW" sz="3100" dirty="0"/>
          </a:p>
        </p:txBody>
      </p:sp>
      <p:graphicFrame>
        <p:nvGraphicFramePr>
          <p:cNvPr id="6" name="表格 5"/>
          <p:cNvGraphicFramePr>
            <a:graphicFrameLocks noGrp="1"/>
          </p:cNvGraphicFramePr>
          <p:nvPr>
            <p:extLst>
              <p:ext uri="{D42A27DB-BD31-4B8C-83A1-F6EECF244321}">
                <p14:modId xmlns:p14="http://schemas.microsoft.com/office/powerpoint/2010/main" val="2513329986"/>
              </p:ext>
            </p:extLst>
          </p:nvPr>
        </p:nvGraphicFramePr>
        <p:xfrm>
          <a:off x="2843213" y="3581400"/>
          <a:ext cx="3816350" cy="1220788"/>
        </p:xfrm>
        <a:graphic>
          <a:graphicData uri="http://schemas.openxmlformats.org/drawingml/2006/table">
            <a:tbl>
              <a:tblPr/>
              <a:tblGrid>
                <a:gridCol w="3816350"/>
              </a:tblGrid>
              <a:tr h="56754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kern="1200" dirty="0" smtClean="0">
                          <a:solidFill>
                            <a:schemeClr val="tx1"/>
                          </a:solidFill>
                          <a:effectLst/>
                          <a:latin typeface="Verdana" panose="020B0604030504040204" pitchFamily="34" charset="0"/>
                          <a:ea typeface="+mn-ea"/>
                          <a:cs typeface="+mn-cs"/>
                        </a:rPr>
                        <a:t>SIAM Journal on Computing</a:t>
                      </a:r>
                      <a:endParaRPr lang="en-US" sz="1800" kern="1200" dirty="0">
                        <a:solidFill>
                          <a:schemeClr val="tx1"/>
                        </a:solidFill>
                        <a:effectLst/>
                        <a:latin typeface="Verdana" panose="020B0604030504040204" pitchFamily="34" charset="0"/>
                        <a:ea typeface="+mn-ea"/>
                        <a:cs typeface="+mn-cs"/>
                      </a:endParaRPr>
                    </a:p>
                  </a:txBody>
                  <a:tcPr marL="95250" marR="9525" marT="9523" marB="9523">
                    <a:lnL>
                      <a:noFill/>
                    </a:lnL>
                    <a:lnR>
                      <a:noFill/>
                    </a:lnR>
                    <a:lnT>
                      <a:noFill/>
                    </a:lnT>
                    <a:lnB>
                      <a:noFill/>
                    </a:lnB>
                    <a:solidFill>
                      <a:srgbClr val="FFFFFF"/>
                    </a:solidFill>
                  </a:tcPr>
                </a:tc>
              </a:tr>
              <a:tr h="653245">
                <a:tc>
                  <a:txBody>
                    <a:bodyPr/>
                    <a:lstStyle/>
                    <a:p>
                      <a:r>
                        <a:rPr lang="en-US" altLang="zh-TW" sz="1400" kern="1200" dirty="0" smtClean="0">
                          <a:solidFill>
                            <a:schemeClr val="tx1"/>
                          </a:solidFill>
                          <a:effectLst/>
                          <a:latin typeface="Verdana" panose="020B0604030504040204" pitchFamily="34" charset="0"/>
                          <a:ea typeface="+mn-ea"/>
                          <a:cs typeface="+mn-cs"/>
                        </a:rPr>
                        <a:t>Volume 6, Issues 2, 1977, Pages 323-350</a:t>
                      </a:r>
                      <a:endParaRPr lang="en-US" sz="1400" kern="1200" dirty="0">
                        <a:solidFill>
                          <a:schemeClr val="tx1"/>
                        </a:solidFill>
                        <a:effectLst/>
                        <a:latin typeface="Verdana" panose="020B0604030504040204" pitchFamily="34" charset="0"/>
                        <a:ea typeface="+mn-ea"/>
                        <a:cs typeface="+mn-cs"/>
                      </a:endParaRPr>
                    </a:p>
                  </a:txBody>
                  <a:tcPr marL="95250" marR="9525" marT="9523" marB="95225">
                    <a:lnL>
                      <a:noFill/>
                    </a:lnL>
                    <a:lnR>
                      <a:noFill/>
                    </a:lnR>
                    <a:lnT>
                      <a:noFill/>
                    </a:lnT>
                    <a:lnB>
                      <a:noFill/>
                    </a:lnB>
                    <a:solidFill>
                      <a:srgbClr val="FFFFFF"/>
                    </a:solidFill>
                  </a:tcPr>
                </a:tc>
              </a:tr>
            </a:tbl>
          </a:graphicData>
        </a:graphic>
      </p:graphicFrame>
      <p:sp>
        <p:nvSpPr>
          <p:cNvPr id="3079" name="文字方塊 6"/>
          <p:cNvSpPr txBox="1">
            <a:spLocks noChangeArrowheads="1"/>
          </p:cNvSpPr>
          <p:nvPr/>
        </p:nvSpPr>
        <p:spPr bwMode="auto">
          <a:xfrm>
            <a:off x="3132138" y="5229225"/>
            <a:ext cx="32480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kumimoji="0" lang="en-US" altLang="zh-TW" sz="1800" dirty="0"/>
              <a:t>Presenter:  Huang-Ting Chan</a:t>
            </a:r>
          </a:p>
          <a:p>
            <a:pPr eaLnBrk="1" hangingPunct="1">
              <a:spcBef>
                <a:spcPct val="0"/>
              </a:spcBef>
              <a:buFontTx/>
              <a:buNone/>
            </a:pPr>
            <a:r>
              <a:rPr kumimoji="0" lang="en-US" altLang="zh-TW" sz="1800" dirty="0"/>
              <a:t>Date:</a:t>
            </a:r>
            <a:fld id="{F3590F60-3E7B-48AD-979A-345F224951B5}" type="datetime1">
              <a:rPr kumimoji="0" lang="zh-TW" altLang="en-US" sz="1800"/>
              <a:pPr eaLnBrk="1" hangingPunct="1">
                <a:spcBef>
                  <a:spcPct val="0"/>
                </a:spcBef>
                <a:buFontTx/>
                <a:buNone/>
              </a:pPr>
              <a:t>2015/5/12</a:t>
            </a:fld>
            <a:endParaRPr kumimoji="0" lang="zh-TW" altLang="en-US" sz="1800" dirty="0"/>
          </a:p>
        </p:txBody>
      </p:sp>
    </p:spTree>
    <p:extLst>
      <p:ext uri="{BB962C8B-B14F-4D97-AF65-F5344CB8AC3E}">
        <p14:creationId xmlns:p14="http://schemas.microsoft.com/office/powerpoint/2010/main" val="244072806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The problem</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r>
                  <a:rPr lang="en-US" altLang="zh-TW" dirty="0" smtClean="0"/>
                  <a:t>Given a string of symbols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𝑝</m:t>
                        </m:r>
                      </m:e>
                      <m:sub>
                        <m:r>
                          <a:rPr lang="en-US" altLang="zh-TW" b="0" i="1" smtClean="0">
                            <a:latin typeface="Cambria Math" panose="02040503050406030204" pitchFamily="18" charset="0"/>
                          </a:rPr>
                          <m:t>1</m:t>
                        </m:r>
                      </m:sub>
                    </m:sSub>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𝑝</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𝑝</m:t>
                        </m:r>
                      </m:e>
                      <m:sub>
                        <m:r>
                          <a:rPr lang="en-US" altLang="zh-TW" b="0" i="1" smtClean="0">
                            <a:latin typeface="Cambria Math" panose="02040503050406030204" pitchFamily="18" charset="0"/>
                          </a:rPr>
                          <m:t>𝑛</m:t>
                        </m:r>
                      </m:sub>
                    </m:sSub>
                  </m:oMath>
                </a14:m>
                <a:r>
                  <a:rPr lang="en-US" altLang="zh-TW" dirty="0" smtClean="0"/>
                  <a:t>, called the pattern, and a second string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b="0" i="1" smtClean="0">
                            <a:latin typeface="Cambria Math" panose="02040503050406030204" pitchFamily="18" charset="0"/>
                          </a:rPr>
                          <m:t>1</m:t>
                        </m:r>
                      </m:sub>
                    </m:sSub>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b="0" i="1" smtClean="0">
                            <a:latin typeface="Cambria Math" panose="02040503050406030204" pitchFamily="18" charset="0"/>
                          </a:rPr>
                          <m:t>𝑚</m:t>
                        </m:r>
                      </m:sub>
                    </m:sSub>
                  </m:oMath>
                </a14:m>
                <a:r>
                  <a:rPr lang="en-US" altLang="zh-TW" dirty="0" smtClean="0"/>
                  <a:t>, called the text, to determine for each </a:t>
                </a:r>
                <a14:m>
                  <m:oMath xmlns:m="http://schemas.openxmlformats.org/officeDocument/2006/math">
                    <m:r>
                      <a:rPr lang="en-US" altLang="zh-TW" b="0" i="1" smtClean="0">
                        <a:latin typeface="Cambria Math" panose="02040503050406030204" pitchFamily="18" charset="0"/>
                      </a:rPr>
                      <m:t>𝑗</m:t>
                    </m:r>
                  </m:oMath>
                </a14:m>
                <a:r>
                  <a:rPr lang="zh-TW" altLang="en-US" dirty="0" smtClean="0"/>
                  <a:t> </a:t>
                </a:r>
                <a:r>
                  <a:rPr lang="en-US" altLang="zh-TW" dirty="0" smtClean="0"/>
                  <a:t>whether or not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b="0" i="1" smtClean="0">
                            <a:latin typeface="Cambria Math" panose="02040503050406030204" pitchFamily="18" charset="0"/>
                          </a:rPr>
                          <m:t>𝑗</m:t>
                        </m:r>
                        <m:r>
                          <a:rPr lang="en-US" altLang="zh-TW" b="0" i="1" smtClean="0">
                            <a:latin typeface="Cambria Math" panose="02040503050406030204" pitchFamily="18" charset="0"/>
                          </a:rPr>
                          <m:t>−</m:t>
                        </m:r>
                        <m:r>
                          <a:rPr lang="en-US" altLang="zh-TW" b="0" i="1" smtClean="0">
                            <a:latin typeface="Cambria Math" panose="02040503050406030204" pitchFamily="18" charset="0"/>
                          </a:rPr>
                          <m:t>𝑛</m:t>
                        </m:r>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b="0" i="1" smtClean="0">
                            <a:latin typeface="Cambria Math" panose="02040503050406030204" pitchFamily="18" charset="0"/>
                          </a:rPr>
                          <m:t>𝑗</m:t>
                        </m:r>
                      </m:sub>
                    </m:sSub>
                    <m:r>
                      <a:rPr lang="en-US" altLang="zh-TW" b="0"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𝑝</m:t>
                        </m:r>
                      </m:e>
                      <m:sub>
                        <m:r>
                          <a:rPr lang="en-US" altLang="zh-TW" b="0" i="1" smtClean="0">
                            <a:latin typeface="Cambria Math" panose="02040503050406030204" pitchFamily="18" charset="0"/>
                          </a:rPr>
                          <m:t>1</m:t>
                        </m:r>
                      </m:sub>
                    </m:sSub>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𝑝</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𝑝</m:t>
                        </m:r>
                      </m:e>
                      <m:sub>
                        <m:r>
                          <a:rPr lang="en-US" altLang="zh-TW" b="0" i="1" smtClean="0">
                            <a:latin typeface="Cambria Math" panose="02040503050406030204" pitchFamily="18" charset="0"/>
                          </a:rPr>
                          <m:t>𝑛</m:t>
                        </m:r>
                      </m:sub>
                    </m:sSub>
                  </m:oMath>
                </a14:m>
                <a:r>
                  <a:rPr lang="en-US" altLang="zh-TW" dirty="0" smtClean="0"/>
                  <a:t>.</a:t>
                </a:r>
              </a:p>
              <a:p>
                <a:pPr marL="0" indent="0">
                  <a:buNone/>
                </a:pPr>
                <a:endParaRPr lang="en-US" altLang="zh-TW" dirty="0"/>
              </a:p>
              <a:p>
                <a:pPr marL="0" indent="0">
                  <a:buNone/>
                </a:pPr>
                <a:r>
                  <a:rPr lang="en-US" altLang="zh-TW" dirty="0" smtClean="0"/>
                  <a:t>Its running time is </a:t>
                </a:r>
                <a14:m>
                  <m:oMath xmlns:m="http://schemas.openxmlformats.org/officeDocument/2006/math">
                    <m:r>
                      <a:rPr lang="en-US" altLang="zh-TW" b="0" i="1" smtClean="0">
                        <a:latin typeface="Cambria Math" panose="02040503050406030204" pitchFamily="18" charset="0"/>
                      </a:rPr>
                      <m:t>𝑂</m:t>
                    </m:r>
                    <m:r>
                      <a:rPr lang="en-US" altLang="zh-TW" b="0" i="1" smtClean="0">
                        <a:latin typeface="Cambria Math" panose="02040503050406030204" pitchFamily="18" charset="0"/>
                      </a:rPr>
                      <m:t>(</m:t>
                    </m:r>
                    <m:r>
                      <a:rPr lang="en-US" altLang="zh-TW" b="0" i="1" smtClean="0">
                        <a:latin typeface="Cambria Math" panose="02040503050406030204" pitchFamily="18" charset="0"/>
                      </a:rPr>
                      <m:t>𝑛</m:t>
                    </m:r>
                    <m:r>
                      <a:rPr lang="en-US" altLang="zh-TW" b="0" i="1" smtClean="0">
                        <a:latin typeface="Cambria Math" panose="02040503050406030204" pitchFamily="18" charset="0"/>
                      </a:rPr>
                      <m:t>+</m:t>
                    </m:r>
                    <m:r>
                      <a:rPr lang="en-US" altLang="zh-TW" b="0" i="1" smtClean="0">
                        <a:latin typeface="Cambria Math" panose="02040503050406030204" pitchFamily="18" charset="0"/>
                      </a:rPr>
                      <m:t>𝑚</m:t>
                    </m:r>
                    <m:r>
                      <a:rPr lang="en-US" altLang="zh-TW" b="0" i="1" smtClean="0">
                        <a:latin typeface="Cambria Math" panose="02040503050406030204" pitchFamily="18" charset="0"/>
                      </a:rPr>
                      <m:t>)</m:t>
                    </m:r>
                  </m:oMath>
                </a14:m>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546" t="-2241"/>
                </a:stretch>
              </a:blipFill>
            </p:spPr>
            <p:txBody>
              <a:bodyPr/>
              <a:lstStyle/>
              <a:p>
                <a:r>
                  <a:rPr lang="zh-TW" altLang="en-US">
                    <a:noFill/>
                  </a:rPr>
                  <a:t> </a:t>
                </a:r>
              </a:p>
            </p:txBody>
          </p:sp>
        </mc:Fallback>
      </mc:AlternateContent>
      <p:sp>
        <p:nvSpPr>
          <p:cNvPr id="4" name="文字方塊 3"/>
          <p:cNvSpPr txBox="1"/>
          <p:nvPr/>
        </p:nvSpPr>
        <p:spPr>
          <a:xfrm>
            <a:off x="4955177" y="4791968"/>
            <a:ext cx="3335383" cy="1384995"/>
          </a:xfrm>
          <a:prstGeom prst="rect">
            <a:avLst/>
          </a:prstGeom>
          <a:noFill/>
        </p:spPr>
        <p:txBody>
          <a:bodyPr wrap="square" rtlCol="0">
            <a:spAutoFit/>
          </a:bodyPr>
          <a:lstStyle/>
          <a:p>
            <a:r>
              <a:rPr lang="en-US" altLang="zh-TW" sz="2800" dirty="0" smtClean="0"/>
              <a:t>	</a:t>
            </a:r>
            <a:r>
              <a:rPr lang="en-US" altLang="zh-TW" sz="2800" dirty="0" err="1" smtClean="0"/>
              <a:t>aabzabzabcz</a:t>
            </a:r>
            <a:endParaRPr lang="en-US" altLang="zh-TW" sz="2800" dirty="0" smtClean="0"/>
          </a:p>
          <a:p>
            <a:r>
              <a:rPr lang="en-US" altLang="zh-TW" sz="2800" dirty="0" smtClean="0"/>
              <a:t>	        ||||||</a:t>
            </a:r>
          </a:p>
          <a:p>
            <a:r>
              <a:rPr lang="en-US" altLang="zh-TW" sz="2800" dirty="0" smtClean="0"/>
              <a:t>	        </a:t>
            </a:r>
            <a:r>
              <a:rPr lang="en-US" altLang="zh-TW" sz="2800" dirty="0" err="1" smtClean="0"/>
              <a:t>abzabc</a:t>
            </a:r>
            <a:endParaRPr lang="en-US" altLang="zh-TW" sz="2800" dirty="0" smtClean="0"/>
          </a:p>
        </p:txBody>
      </p:sp>
    </p:spTree>
    <p:extLst>
      <p:ext uri="{BB962C8B-B14F-4D97-AF65-F5344CB8AC3E}">
        <p14:creationId xmlns:p14="http://schemas.microsoft.com/office/powerpoint/2010/main" val="17491055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p:txBody>
          <a:bodyPr/>
          <a:lstStyle/>
          <a:p>
            <a:pPr marL="0" indent="0">
              <a:buNone/>
            </a:pPr>
            <a:r>
              <a:rPr lang="en-US" altLang="zh-TW" dirty="0" smtClean="0"/>
              <a:t>Example </a:t>
            </a:r>
          </a:p>
          <a:p>
            <a:pPr marL="0" indent="0">
              <a:buNone/>
            </a:pPr>
            <a:r>
              <a:rPr lang="en-US" altLang="zh-TW" dirty="0" smtClean="0"/>
              <a:t>Text:		</a:t>
            </a:r>
            <a:r>
              <a:rPr lang="en-US" altLang="zh-TW" dirty="0" err="1" smtClean="0"/>
              <a:t>aabzabzabcz</a:t>
            </a:r>
            <a:endParaRPr lang="zh-TW" altLang="en-US" dirty="0" smtClean="0"/>
          </a:p>
          <a:p>
            <a:pPr marL="0" indent="0">
              <a:buNone/>
            </a:pPr>
            <a:endParaRPr lang="en-US" altLang="zh-TW" dirty="0" smtClean="0"/>
          </a:p>
          <a:p>
            <a:pPr marL="0" indent="0">
              <a:buNone/>
            </a:pPr>
            <a:r>
              <a:rPr lang="en-US" altLang="zh-TW" dirty="0" smtClean="0"/>
              <a:t>Pattern: 	</a:t>
            </a:r>
            <a:r>
              <a:rPr lang="en-US" altLang="zh-TW" dirty="0" err="1" smtClean="0"/>
              <a:t>abzabc</a:t>
            </a:r>
            <a:endParaRPr lang="en-US" altLang="zh-TW" dirty="0" smtClean="0"/>
          </a:p>
          <a:p>
            <a:pPr marL="0" indent="0">
              <a:buNone/>
            </a:pPr>
            <a:endParaRPr lang="en-US" altLang="zh-TW" dirty="0"/>
          </a:p>
          <a:p>
            <a:pPr marL="0" indent="0">
              <a:buNone/>
            </a:pPr>
            <a:r>
              <a:rPr lang="en-US" altLang="zh-TW" dirty="0" smtClean="0"/>
              <a:t>			</a:t>
            </a:r>
            <a:r>
              <a:rPr lang="en-US" altLang="zh-TW" dirty="0" err="1" smtClean="0"/>
              <a:t>aabzabzabcz</a:t>
            </a:r>
            <a:endParaRPr lang="en-US" altLang="zh-TW" dirty="0" smtClean="0"/>
          </a:p>
          <a:p>
            <a:pPr marL="0" indent="0">
              <a:buNone/>
            </a:pPr>
            <a:r>
              <a:rPr lang="en-US" altLang="zh-TW" dirty="0"/>
              <a:t>	</a:t>
            </a:r>
            <a:r>
              <a:rPr lang="en-US" altLang="zh-TW" dirty="0" smtClean="0"/>
              <a:t>		  |||||X</a:t>
            </a:r>
          </a:p>
          <a:p>
            <a:pPr marL="0" indent="0">
              <a:buNone/>
            </a:pPr>
            <a:r>
              <a:rPr lang="en-US" altLang="zh-TW" dirty="0"/>
              <a:t>	</a:t>
            </a:r>
            <a:r>
              <a:rPr lang="en-US" altLang="zh-TW" dirty="0" smtClean="0"/>
              <a:t>		  </a:t>
            </a:r>
            <a:r>
              <a:rPr lang="en-US" altLang="zh-TW" dirty="0" err="1" smtClean="0"/>
              <a:t>abzabc</a:t>
            </a:r>
            <a:endParaRPr lang="en-US" altLang="zh-TW" dirty="0" smtClean="0"/>
          </a:p>
        </p:txBody>
      </p:sp>
    </p:spTree>
    <p:extLst>
      <p:ext uri="{BB962C8B-B14F-4D97-AF65-F5344CB8AC3E}">
        <p14:creationId xmlns:p14="http://schemas.microsoft.com/office/powerpoint/2010/main" val="178948874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KMP algorithm</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628650" y="1825624"/>
                <a:ext cx="7886700" cy="4967061"/>
              </a:xfrm>
            </p:spPr>
            <p:txBody>
              <a:bodyPr>
                <a:normAutofit/>
              </a:bodyPr>
              <a:lstStyle/>
              <a:p>
                <a:pPr marL="0" indent="0">
                  <a:buNone/>
                </a:pPr>
                <a:r>
                  <a:rPr lang="en-US" altLang="zh-TW" dirty="0" smtClean="0"/>
                  <a:t>Border: a substring that is both proper prefix and proper suffix.</a:t>
                </a:r>
              </a:p>
              <a:p>
                <a:pPr marL="0" indent="0">
                  <a:buNone/>
                </a:pPr>
                <a:endParaRPr lang="en-US" altLang="zh-TW" dirty="0" smtClean="0"/>
              </a:p>
              <a:p>
                <a:pPr marL="0" indent="0">
                  <a:buNone/>
                </a:pPr>
                <a:r>
                  <a:rPr lang="en-US" altLang="zh-TW" dirty="0" err="1" smtClean="0"/>
                  <a:t>abzab</a:t>
                </a:r>
                <a:r>
                  <a:rPr lang="en-US" altLang="zh-TW" dirty="0" smtClean="0"/>
                  <a:t>	  -&gt;  ab</a:t>
                </a:r>
              </a:p>
              <a:p>
                <a:pPr marL="0" indent="0">
                  <a:buNone/>
                </a:pPr>
                <a:r>
                  <a:rPr lang="en-US" altLang="zh-TW" dirty="0" err="1"/>
                  <a:t>a</a:t>
                </a:r>
                <a:r>
                  <a:rPr lang="en-US" altLang="zh-TW" dirty="0" err="1" smtClean="0"/>
                  <a:t>bza</a:t>
                </a:r>
                <a:r>
                  <a:rPr lang="en-US" altLang="zh-TW" dirty="0" smtClean="0"/>
                  <a:t>	  -&gt;  a</a:t>
                </a:r>
              </a:p>
              <a:p>
                <a:pPr marL="0" indent="0">
                  <a:buNone/>
                </a:pPr>
                <a:r>
                  <a:rPr lang="en-US" altLang="zh-TW" dirty="0" err="1"/>
                  <a:t>a</a:t>
                </a:r>
                <a:r>
                  <a:rPr lang="en-US" altLang="zh-TW" dirty="0" err="1" smtClean="0"/>
                  <a:t>bz</a:t>
                </a:r>
                <a:r>
                  <a:rPr lang="en-US" altLang="zh-TW" dirty="0" smtClean="0"/>
                  <a:t>       -&gt;  </a:t>
                </a:r>
                <a14:m>
                  <m:oMath xmlns:m="http://schemas.openxmlformats.org/officeDocument/2006/math">
                    <m:r>
                      <a:rPr lang="en-US" altLang="zh-TW" i="1" smtClean="0">
                        <a:latin typeface="Cambria Math" panose="02040503050406030204" pitchFamily="18" charset="0"/>
                        <a:ea typeface="Cambria Math" panose="02040503050406030204" pitchFamily="18" charset="0"/>
                      </a:rPr>
                      <m:t>∅</m:t>
                    </m:r>
                  </m:oMath>
                </a14:m>
                <a:endParaRPr lang="en-US" altLang="zh-TW" dirty="0" smtClean="0"/>
              </a:p>
              <a:p>
                <a:pPr marL="0" indent="0">
                  <a:buNone/>
                </a:pPr>
                <a:r>
                  <a:rPr lang="en-US" altLang="zh-TW" dirty="0" smtClean="0"/>
                  <a:t>		</a:t>
                </a:r>
                <a:r>
                  <a:rPr lang="en-US" altLang="zh-TW" dirty="0" err="1" smtClean="0"/>
                  <a:t>aabzabzabcz</a:t>
                </a:r>
                <a:r>
                  <a:rPr lang="en-US" altLang="zh-TW" dirty="0" smtClean="0"/>
                  <a:t>		</a:t>
                </a:r>
              </a:p>
              <a:p>
                <a:pPr marL="0" indent="0">
                  <a:buNone/>
                </a:pPr>
                <a:r>
                  <a:rPr lang="en-US" altLang="zh-TW" dirty="0" smtClean="0"/>
                  <a:t>		  |||||X</a:t>
                </a:r>
              </a:p>
              <a:p>
                <a:pPr marL="0" indent="0">
                  <a:buNone/>
                </a:pPr>
                <a:r>
                  <a:rPr lang="en-US" altLang="zh-TW" dirty="0" smtClean="0"/>
                  <a:t>		  </a:t>
                </a:r>
                <a:r>
                  <a:rPr lang="en-US" altLang="zh-TW" dirty="0" err="1" smtClean="0"/>
                  <a:t>abzabc</a:t>
                </a:r>
                <a:endParaRPr lang="en-US" altLang="zh-TW" dirty="0" smtClean="0"/>
              </a:p>
              <a:p>
                <a:pPr marL="0" indent="0">
                  <a:buNone/>
                </a:pPr>
                <a:endParaRPr lang="en-US" altLang="zh-TW" dirty="0" smtClean="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628650" y="1825624"/>
                <a:ext cx="7886700" cy="4967061"/>
              </a:xfrm>
              <a:blipFill rotWithShape="0">
                <a:blip r:embed="rId2"/>
                <a:stretch>
                  <a:fillRect l="-1546" t="-1963"/>
                </a:stretch>
              </a:blipFill>
            </p:spPr>
            <p:txBody>
              <a:bodyPr/>
              <a:lstStyle/>
              <a:p>
                <a:r>
                  <a:rPr lang="zh-TW" altLang="en-US">
                    <a:noFill/>
                  </a:rPr>
                  <a:t> </a:t>
                </a:r>
              </a:p>
            </p:txBody>
          </p:sp>
        </mc:Fallback>
      </mc:AlternateContent>
      <p:sp>
        <p:nvSpPr>
          <p:cNvPr id="6" name="文字方塊 5"/>
          <p:cNvSpPr txBox="1"/>
          <p:nvPr/>
        </p:nvSpPr>
        <p:spPr>
          <a:xfrm>
            <a:off x="4572000" y="4746171"/>
            <a:ext cx="3335383" cy="1512209"/>
          </a:xfrm>
          <a:prstGeom prst="rect">
            <a:avLst/>
          </a:prstGeom>
          <a:noFill/>
        </p:spPr>
        <p:txBody>
          <a:bodyPr wrap="square" rtlCol="0">
            <a:spAutoFit/>
          </a:bodyPr>
          <a:lstStyle/>
          <a:p>
            <a:pPr>
              <a:lnSpc>
                <a:spcPct val="90000"/>
              </a:lnSpc>
              <a:spcBef>
                <a:spcPts val="1000"/>
              </a:spcBef>
            </a:pPr>
            <a:r>
              <a:rPr lang="en-US" altLang="zh-TW" sz="2800" dirty="0" smtClean="0"/>
              <a:t>	</a:t>
            </a:r>
            <a:r>
              <a:rPr lang="en-US" altLang="zh-TW" sz="2800" dirty="0" err="1"/>
              <a:t>aabzabzabcz</a:t>
            </a:r>
            <a:endParaRPr lang="en-US" altLang="zh-TW" sz="2800" dirty="0"/>
          </a:p>
          <a:p>
            <a:pPr>
              <a:lnSpc>
                <a:spcPct val="90000"/>
              </a:lnSpc>
              <a:spcBef>
                <a:spcPts val="1000"/>
              </a:spcBef>
            </a:pPr>
            <a:r>
              <a:rPr lang="en-US" altLang="zh-TW" sz="2800" dirty="0"/>
              <a:t>	        ||||||</a:t>
            </a:r>
          </a:p>
          <a:p>
            <a:pPr>
              <a:lnSpc>
                <a:spcPct val="90000"/>
              </a:lnSpc>
              <a:spcBef>
                <a:spcPts val="1000"/>
              </a:spcBef>
            </a:pPr>
            <a:r>
              <a:rPr lang="en-US" altLang="zh-TW" sz="2800" dirty="0"/>
              <a:t>	        </a:t>
            </a:r>
            <a:r>
              <a:rPr lang="en-US" altLang="zh-TW" sz="2800" dirty="0" err="1"/>
              <a:t>abzabc</a:t>
            </a:r>
            <a:endParaRPr lang="en-US" altLang="zh-TW" sz="2800" dirty="0"/>
          </a:p>
        </p:txBody>
      </p:sp>
    </p:spTree>
    <p:extLst>
      <p:ext uri="{BB962C8B-B14F-4D97-AF65-F5344CB8AC3E}">
        <p14:creationId xmlns:p14="http://schemas.microsoft.com/office/powerpoint/2010/main" val="221601164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p:txBody>
          <a:bodyPr/>
          <a:lstStyle/>
          <a:p>
            <a:pPr marL="0" indent="0">
              <a:buNone/>
            </a:pPr>
            <a:r>
              <a:rPr lang="en-US" altLang="zh-TW" dirty="0" smtClean="0"/>
              <a:t>Text:		</a:t>
            </a:r>
            <a:r>
              <a:rPr lang="en-US" altLang="zh-TW" dirty="0" err="1" smtClean="0"/>
              <a:t>abzaabzab</a:t>
            </a:r>
            <a:endParaRPr lang="en-US" altLang="zh-TW" dirty="0" smtClean="0"/>
          </a:p>
          <a:p>
            <a:pPr marL="0" indent="0">
              <a:buNone/>
            </a:pPr>
            <a:endParaRPr lang="en-US" altLang="zh-TW" dirty="0" smtClean="0"/>
          </a:p>
          <a:p>
            <a:pPr marL="0" indent="0">
              <a:buNone/>
            </a:pPr>
            <a:r>
              <a:rPr lang="en-US" altLang="zh-TW" dirty="0" smtClean="0"/>
              <a:t>Pattern:	</a:t>
            </a:r>
            <a:r>
              <a:rPr lang="en-US" altLang="zh-TW" dirty="0" err="1" smtClean="0"/>
              <a:t>abzab</a:t>
            </a:r>
            <a:endParaRPr lang="en-US" altLang="zh-TW" dirty="0" smtClean="0"/>
          </a:p>
          <a:p>
            <a:pPr marL="0" indent="0">
              <a:buNone/>
            </a:pPr>
            <a:endParaRPr lang="en-US" altLang="zh-TW" dirty="0" smtClean="0"/>
          </a:p>
          <a:p>
            <a:pPr marL="0" indent="0">
              <a:buNone/>
            </a:pPr>
            <a:r>
              <a:rPr lang="en-US" altLang="zh-TW" dirty="0" err="1" smtClean="0"/>
              <a:t>abzaabzab</a:t>
            </a:r>
            <a:r>
              <a:rPr lang="en-US" altLang="zh-TW" dirty="0" smtClean="0"/>
              <a:t>		</a:t>
            </a:r>
            <a:r>
              <a:rPr lang="en-US" altLang="zh-TW" dirty="0" err="1" smtClean="0"/>
              <a:t>abzaabzab</a:t>
            </a:r>
            <a:r>
              <a:rPr lang="en-US" altLang="zh-TW" dirty="0" smtClean="0"/>
              <a:t>	 	</a:t>
            </a:r>
            <a:r>
              <a:rPr lang="en-US" altLang="zh-TW" dirty="0" err="1" smtClean="0"/>
              <a:t>abzaabzab</a:t>
            </a:r>
            <a:r>
              <a:rPr lang="en-US" altLang="zh-TW" dirty="0" smtClean="0"/>
              <a:t> </a:t>
            </a:r>
            <a:r>
              <a:rPr lang="en-US" altLang="zh-TW" dirty="0" smtClean="0"/>
              <a:t>	</a:t>
            </a:r>
          </a:p>
          <a:p>
            <a:pPr marL="0" indent="0">
              <a:buNone/>
            </a:pPr>
            <a:r>
              <a:rPr lang="en-US" altLang="zh-TW" dirty="0" smtClean="0"/>
              <a:t>||||X</a:t>
            </a:r>
            <a:r>
              <a:rPr lang="en-US" altLang="zh-TW" dirty="0" smtClean="0"/>
              <a:t>		</a:t>
            </a:r>
            <a:r>
              <a:rPr lang="en-US" altLang="zh-TW" dirty="0" smtClean="0"/>
              <a:t>	      |X			        |||||</a:t>
            </a:r>
            <a:endParaRPr lang="en-US" altLang="zh-TW" dirty="0" smtClean="0"/>
          </a:p>
          <a:p>
            <a:pPr marL="0" indent="0">
              <a:buNone/>
            </a:pPr>
            <a:r>
              <a:rPr lang="en-US" altLang="zh-TW" dirty="0" err="1" smtClean="0"/>
              <a:t>abzab</a:t>
            </a:r>
            <a:r>
              <a:rPr lang="en-US" altLang="zh-TW" dirty="0" smtClean="0"/>
              <a:t>		</a:t>
            </a:r>
            <a:r>
              <a:rPr lang="en-US" altLang="zh-TW" dirty="0" smtClean="0"/>
              <a:t>	      ab</a:t>
            </a:r>
            <a:r>
              <a:rPr lang="en-US" altLang="zh-TW" dirty="0" smtClean="0"/>
              <a:t>	</a:t>
            </a:r>
            <a:r>
              <a:rPr lang="en-US" altLang="zh-TW" dirty="0" smtClean="0"/>
              <a:t>		        </a:t>
            </a:r>
            <a:r>
              <a:rPr lang="en-US" altLang="zh-TW" dirty="0" err="1" smtClean="0"/>
              <a:t>abzab</a:t>
            </a:r>
            <a:endParaRPr lang="en-US" altLang="zh-TW" dirty="0" smtClean="0"/>
          </a:p>
          <a:p>
            <a:pPr marL="0" indent="0">
              <a:buNone/>
            </a:pPr>
            <a:endParaRPr lang="zh-TW" altLang="en-US" dirty="0"/>
          </a:p>
        </p:txBody>
      </p:sp>
    </p:spTree>
    <p:extLst>
      <p:ext uri="{BB962C8B-B14F-4D97-AF65-F5344CB8AC3E}">
        <p14:creationId xmlns:p14="http://schemas.microsoft.com/office/powerpoint/2010/main" val="225691264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txBox="1">
            <a:spLocks/>
          </p:cNvSpPr>
          <p:nvPr/>
        </p:nvSpPr>
        <p:spPr>
          <a:xfrm>
            <a:off x="608013" y="1571625"/>
            <a:ext cx="7772400" cy="1470025"/>
          </a:xfrm>
          <a:prstGeom prst="rect">
            <a:avLst/>
          </a:prstGeom>
        </p:spPr>
        <p:txBody>
          <a:bodyPr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r>
              <a:rPr lang="en-US" altLang="zh-TW" b="1" dirty="0"/>
              <a:t>Two dimensional pattern matching</a:t>
            </a:r>
            <a:endParaRPr kumimoji="0" lang="zh-TW" altLang="en-US" dirty="0">
              <a:latin typeface="Arial Unicode MS" pitchFamily="34" charset="-120"/>
              <a:ea typeface="Arial Unicode MS" pitchFamily="34" charset="-120"/>
              <a:cs typeface="Arial Unicode MS" pitchFamily="34" charset="-120"/>
            </a:endParaRPr>
          </a:p>
        </p:txBody>
      </p:sp>
      <p:sp>
        <p:nvSpPr>
          <p:cNvPr id="5" name="副標題 2"/>
          <p:cNvSpPr txBox="1">
            <a:spLocks/>
          </p:cNvSpPr>
          <p:nvPr/>
        </p:nvSpPr>
        <p:spPr>
          <a:xfrm>
            <a:off x="1406525" y="3019425"/>
            <a:ext cx="6400800" cy="479425"/>
          </a:xfrm>
          <a:prstGeom prst="rect">
            <a:avLst/>
          </a:prstGeom>
        </p:spPr>
        <p:txBody>
          <a:bodyPr>
            <a:normAutofit fontScale="925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fontAlgn="auto">
              <a:spcAft>
                <a:spcPts val="0"/>
              </a:spcAft>
              <a:defRPr/>
            </a:pPr>
            <a:r>
              <a:rPr lang="en-US" altLang="zh-TW" sz="3100" dirty="0"/>
              <a:t>R.S. Bird</a:t>
            </a:r>
          </a:p>
        </p:txBody>
      </p:sp>
      <p:graphicFrame>
        <p:nvGraphicFramePr>
          <p:cNvPr id="6" name="表格 5"/>
          <p:cNvGraphicFramePr>
            <a:graphicFrameLocks noGrp="1"/>
          </p:cNvGraphicFramePr>
          <p:nvPr>
            <p:extLst>
              <p:ext uri="{D42A27DB-BD31-4B8C-83A1-F6EECF244321}">
                <p14:modId xmlns:p14="http://schemas.microsoft.com/office/powerpoint/2010/main" val="3293587454"/>
              </p:ext>
            </p:extLst>
          </p:nvPr>
        </p:nvGraphicFramePr>
        <p:xfrm>
          <a:off x="2843213" y="3581400"/>
          <a:ext cx="3816350" cy="1220788"/>
        </p:xfrm>
        <a:graphic>
          <a:graphicData uri="http://schemas.openxmlformats.org/drawingml/2006/table">
            <a:tbl>
              <a:tblPr/>
              <a:tblGrid>
                <a:gridCol w="3816350"/>
              </a:tblGrid>
              <a:tr h="56754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kern="1200" dirty="0" smtClean="0">
                          <a:solidFill>
                            <a:schemeClr val="tx1"/>
                          </a:solidFill>
                          <a:effectLst/>
                          <a:latin typeface="Verdana" panose="020B0604030504040204" pitchFamily="34" charset="0"/>
                          <a:ea typeface="+mn-ea"/>
                          <a:cs typeface="+mn-cs"/>
                        </a:rPr>
                        <a:t>Information Processing Letters</a:t>
                      </a:r>
                      <a:endParaRPr lang="en-US" sz="1800" kern="1200" dirty="0">
                        <a:solidFill>
                          <a:schemeClr val="tx1"/>
                        </a:solidFill>
                        <a:effectLst/>
                        <a:latin typeface="Verdana" panose="020B0604030504040204" pitchFamily="34" charset="0"/>
                        <a:ea typeface="+mn-ea"/>
                        <a:cs typeface="+mn-cs"/>
                      </a:endParaRPr>
                    </a:p>
                  </a:txBody>
                  <a:tcPr marL="95250" marR="9525" marT="9523" marB="9523">
                    <a:lnL>
                      <a:noFill/>
                    </a:lnL>
                    <a:lnR>
                      <a:noFill/>
                    </a:lnR>
                    <a:lnT>
                      <a:noFill/>
                    </a:lnT>
                    <a:lnB>
                      <a:noFill/>
                    </a:lnB>
                    <a:solidFill>
                      <a:srgbClr val="FFFFFF"/>
                    </a:solidFill>
                  </a:tcPr>
                </a:tc>
              </a:tr>
              <a:tr h="653245">
                <a:tc>
                  <a:txBody>
                    <a:bodyPr/>
                    <a:lstStyle/>
                    <a:p>
                      <a:r>
                        <a:rPr lang="en-US" altLang="zh-TW" sz="1400" kern="1200" dirty="0" smtClean="0">
                          <a:solidFill>
                            <a:schemeClr val="tx1"/>
                          </a:solidFill>
                          <a:effectLst/>
                          <a:latin typeface="Verdana" panose="020B0604030504040204" pitchFamily="34" charset="0"/>
                          <a:ea typeface="+mn-ea"/>
                          <a:cs typeface="+mn-cs"/>
                        </a:rPr>
                        <a:t>Volume 6, Issues 5, October 1977, Pages 168-170</a:t>
                      </a:r>
                      <a:endParaRPr lang="en-US" sz="1400" kern="1200" dirty="0">
                        <a:solidFill>
                          <a:schemeClr val="tx1"/>
                        </a:solidFill>
                        <a:effectLst/>
                        <a:latin typeface="Verdana" panose="020B0604030504040204" pitchFamily="34" charset="0"/>
                        <a:ea typeface="+mn-ea"/>
                        <a:cs typeface="+mn-cs"/>
                      </a:endParaRPr>
                    </a:p>
                  </a:txBody>
                  <a:tcPr marL="95250" marR="9525" marT="9523" marB="95225">
                    <a:lnL>
                      <a:noFill/>
                    </a:lnL>
                    <a:lnR>
                      <a:noFill/>
                    </a:lnR>
                    <a:lnT>
                      <a:noFill/>
                    </a:lnT>
                    <a:lnB>
                      <a:noFill/>
                    </a:lnB>
                    <a:solidFill>
                      <a:srgbClr val="FFFFFF"/>
                    </a:solidFill>
                  </a:tcPr>
                </a:tc>
              </a:tr>
            </a:tbl>
          </a:graphicData>
        </a:graphic>
      </p:graphicFrame>
      <p:sp>
        <p:nvSpPr>
          <p:cNvPr id="3079" name="文字方塊 6"/>
          <p:cNvSpPr txBox="1">
            <a:spLocks noChangeArrowheads="1"/>
          </p:cNvSpPr>
          <p:nvPr/>
        </p:nvSpPr>
        <p:spPr bwMode="auto">
          <a:xfrm>
            <a:off x="3132138" y="5229225"/>
            <a:ext cx="32480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kumimoji="0" lang="en-US" altLang="zh-TW" sz="1800" dirty="0"/>
              <a:t>Presenter:  Huang-Ting Chan</a:t>
            </a:r>
          </a:p>
          <a:p>
            <a:pPr eaLnBrk="1" hangingPunct="1">
              <a:spcBef>
                <a:spcPct val="0"/>
              </a:spcBef>
              <a:buFontTx/>
              <a:buNone/>
            </a:pPr>
            <a:r>
              <a:rPr kumimoji="0" lang="en-US" altLang="zh-TW" sz="1800" dirty="0"/>
              <a:t>Date:</a:t>
            </a:r>
            <a:fld id="{F3590F60-3E7B-48AD-979A-345F224951B5}" type="datetime1">
              <a:rPr kumimoji="0" lang="zh-TW" altLang="en-US" sz="1800"/>
              <a:pPr eaLnBrk="1" hangingPunct="1">
                <a:spcBef>
                  <a:spcPct val="0"/>
                </a:spcBef>
                <a:buFontTx/>
                <a:buNone/>
              </a:pPr>
              <a:t>2015/5/12</a:t>
            </a:fld>
            <a:endParaRPr kumimoji="0" lang="zh-TW" altLang="en-US" sz="1800" dirty="0"/>
          </a:p>
        </p:txBody>
      </p:sp>
    </p:spTree>
    <p:extLst>
      <p:ext uri="{BB962C8B-B14F-4D97-AF65-F5344CB8AC3E}">
        <p14:creationId xmlns:p14="http://schemas.microsoft.com/office/powerpoint/2010/main" val="255046277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The problem</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r>
                  <a:rPr lang="en-US" altLang="zh-TW" dirty="0" smtClean="0"/>
                  <a:t>Given a pattern which is two-dimensional array of symbols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𝑝</m:t>
                        </m:r>
                      </m:e>
                      <m:sub>
                        <m:r>
                          <a:rPr lang="en-US" altLang="zh-TW" b="0" i="1" smtClean="0">
                            <a:latin typeface="Cambria Math" panose="02040503050406030204" pitchFamily="18" charset="0"/>
                          </a:rPr>
                          <m:t>𝑖𝑗</m:t>
                        </m:r>
                      </m:sub>
                    </m:sSub>
                    <m:r>
                      <a:rPr lang="en-US" altLang="zh-TW" b="0" i="1" smtClean="0">
                        <a:latin typeface="Cambria Math" panose="02040503050406030204" pitchFamily="18" charset="0"/>
                      </a:rPr>
                      <m:t>,1</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𝑗</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𝑛</m:t>
                    </m:r>
                    <m:r>
                      <a:rPr lang="en-US" altLang="zh-TW" b="0" i="1" smtClean="0">
                        <a:latin typeface="Cambria Math" panose="02040503050406030204" pitchFamily="18" charset="0"/>
                        <a:ea typeface="Cambria Math" panose="02040503050406030204" pitchFamily="18" charset="0"/>
                      </a:rPr>
                      <m:t>,</m:t>
                    </m:r>
                  </m:oMath>
                </a14:m>
                <a:r>
                  <a:rPr lang="zh-TW" altLang="en-US" dirty="0" smtClean="0"/>
                  <a:t> </a:t>
                </a:r>
                <a:r>
                  <a:rPr lang="en-US" altLang="zh-TW" dirty="0" smtClean="0"/>
                  <a:t>and the text is a second array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𝑡</m:t>
                        </m:r>
                      </m:e>
                      <m:sub>
                        <m:r>
                          <a:rPr lang="en-US" altLang="zh-TW" b="0" i="1" smtClean="0">
                            <a:latin typeface="Cambria Math" panose="02040503050406030204" pitchFamily="18" charset="0"/>
                          </a:rPr>
                          <m:t>𝑖𝑗</m:t>
                        </m:r>
                      </m:sub>
                    </m:sSub>
                    <m:r>
                      <a:rPr lang="en-US" altLang="zh-TW" b="0" i="1" smtClean="0">
                        <a:latin typeface="Cambria Math" panose="02040503050406030204" pitchFamily="18" charset="0"/>
                      </a:rPr>
                      <m:t>, 1</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𝑗</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𝑚</m:t>
                    </m:r>
                    <m:r>
                      <a:rPr lang="en-US" altLang="zh-TW" b="0" i="1" smtClean="0">
                        <a:latin typeface="Cambria Math" panose="02040503050406030204" pitchFamily="18" charset="0"/>
                        <a:ea typeface="Cambria Math" panose="02040503050406030204" pitchFamily="18" charset="0"/>
                      </a:rPr>
                      <m:t>.</m:t>
                    </m:r>
                  </m:oMath>
                </a14:m>
                <a:r>
                  <a:rPr lang="zh-TW" altLang="en-US" dirty="0" smtClean="0"/>
                  <a:t> </a:t>
                </a:r>
                <a:r>
                  <a:rPr lang="en-US" altLang="zh-TW" dirty="0" smtClean="0"/>
                  <a:t>In this case the problem is to determine where, if anywhere, the pattern occurs as a subarray of the text.</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546" t="-2241" r="-1005"/>
                </a:stretch>
              </a:blipFill>
            </p:spPr>
            <p:txBody>
              <a:bodyPr/>
              <a:lstStyle/>
              <a:p>
                <a:r>
                  <a:rPr lang="zh-TW" altLang="en-US">
                    <a:noFill/>
                  </a:rPr>
                  <a:t> </a:t>
                </a:r>
              </a:p>
            </p:txBody>
          </p:sp>
        </mc:Fallback>
      </mc:AlternateContent>
      <p:graphicFrame>
        <p:nvGraphicFramePr>
          <p:cNvPr id="4" name="表格 3"/>
          <p:cNvGraphicFramePr>
            <a:graphicFrameLocks noGrp="1"/>
          </p:cNvGraphicFramePr>
          <p:nvPr>
            <p:extLst>
              <p:ext uri="{D42A27DB-BD31-4B8C-83A1-F6EECF244321}">
                <p14:modId xmlns:p14="http://schemas.microsoft.com/office/powerpoint/2010/main" val="3101789323"/>
              </p:ext>
            </p:extLst>
          </p:nvPr>
        </p:nvGraphicFramePr>
        <p:xfrm>
          <a:off x="696686" y="4693601"/>
          <a:ext cx="2299062" cy="1681072"/>
        </p:xfrm>
        <a:graphic>
          <a:graphicData uri="http://schemas.openxmlformats.org/drawingml/2006/table">
            <a:tbl>
              <a:tblPr firstRow="1" bandRow="1">
                <a:tableStyleId>{5940675A-B579-460E-94D1-54222C63F5DA}</a:tableStyleId>
              </a:tblPr>
              <a:tblGrid>
                <a:gridCol w="766354"/>
                <a:gridCol w="766354"/>
                <a:gridCol w="766354"/>
              </a:tblGrid>
              <a:tr h="420268">
                <a:tc>
                  <a:txBody>
                    <a:bodyPr/>
                    <a:lstStyle/>
                    <a:p>
                      <a:r>
                        <a:rPr lang="en-US" altLang="zh-TW" sz="2000" dirty="0" smtClean="0"/>
                        <a:t>A</a:t>
                      </a:r>
                      <a:endParaRPr lang="zh-TW" altLang="en-US" sz="2000" dirty="0"/>
                    </a:p>
                  </a:txBody>
                  <a:tcPr/>
                </a:tc>
                <a:tc>
                  <a:txBody>
                    <a:bodyPr/>
                    <a:lstStyle/>
                    <a:p>
                      <a:r>
                        <a:rPr lang="en-US" altLang="zh-TW" sz="2000" dirty="0" smtClean="0"/>
                        <a:t>B</a:t>
                      </a:r>
                      <a:endParaRPr lang="zh-TW" altLang="en-US" sz="2000" dirty="0"/>
                    </a:p>
                  </a:txBody>
                  <a:tcPr/>
                </a:tc>
                <a:tc>
                  <a:txBody>
                    <a:bodyPr/>
                    <a:lstStyle/>
                    <a:p>
                      <a:r>
                        <a:rPr lang="en-US" altLang="zh-TW" sz="2000" dirty="0" smtClean="0"/>
                        <a:t>C</a:t>
                      </a:r>
                      <a:endParaRPr lang="zh-TW" altLang="en-US" sz="2000" dirty="0"/>
                    </a:p>
                  </a:txBody>
                  <a:tcPr/>
                </a:tc>
              </a:tr>
              <a:tr h="420268">
                <a:tc>
                  <a:txBody>
                    <a:bodyPr/>
                    <a:lstStyle/>
                    <a:p>
                      <a:r>
                        <a:rPr lang="en-US" altLang="zh-TW" sz="2000" dirty="0" smtClean="0"/>
                        <a:t>A</a:t>
                      </a:r>
                      <a:endParaRPr lang="zh-TW" altLang="en-US" sz="2000" dirty="0"/>
                    </a:p>
                  </a:txBody>
                  <a:tcPr/>
                </a:tc>
                <a:tc>
                  <a:txBody>
                    <a:bodyPr/>
                    <a:lstStyle/>
                    <a:p>
                      <a:r>
                        <a:rPr lang="en-US" altLang="zh-TW" sz="2000" dirty="0" smtClean="0"/>
                        <a:t>A</a:t>
                      </a:r>
                      <a:endParaRPr lang="zh-TW" altLang="en-US" sz="2000" dirty="0"/>
                    </a:p>
                  </a:txBody>
                  <a:tcPr/>
                </a:tc>
                <a:tc>
                  <a:txBody>
                    <a:bodyPr/>
                    <a:lstStyle/>
                    <a:p>
                      <a:r>
                        <a:rPr lang="en-US" altLang="zh-TW" sz="2000" dirty="0" smtClean="0"/>
                        <a:t>C</a:t>
                      </a:r>
                      <a:endParaRPr lang="zh-TW" altLang="en-US" sz="2000" dirty="0"/>
                    </a:p>
                  </a:txBody>
                  <a:tcPr/>
                </a:tc>
              </a:tr>
              <a:tr h="420268">
                <a:tc>
                  <a:txBody>
                    <a:bodyPr/>
                    <a:lstStyle/>
                    <a:p>
                      <a:r>
                        <a:rPr lang="en-US" altLang="zh-TW" sz="2000" dirty="0" smtClean="0"/>
                        <a:t>B</a:t>
                      </a:r>
                      <a:endParaRPr lang="zh-TW" altLang="en-US" sz="2000" dirty="0"/>
                    </a:p>
                  </a:txBody>
                  <a:tcPr/>
                </a:tc>
                <a:tc>
                  <a:txBody>
                    <a:bodyPr/>
                    <a:lstStyle/>
                    <a:p>
                      <a:r>
                        <a:rPr lang="en-US" altLang="zh-TW" sz="2000" dirty="0" smtClean="0"/>
                        <a:t>A</a:t>
                      </a:r>
                      <a:endParaRPr lang="zh-TW" altLang="en-US" sz="2000" dirty="0"/>
                    </a:p>
                  </a:txBody>
                  <a:tcPr/>
                </a:tc>
                <a:tc>
                  <a:txBody>
                    <a:bodyPr/>
                    <a:lstStyle/>
                    <a:p>
                      <a:r>
                        <a:rPr lang="en-US" altLang="zh-TW" sz="2000" dirty="0" smtClean="0"/>
                        <a:t>B</a:t>
                      </a:r>
                      <a:endParaRPr lang="zh-TW" altLang="en-US" sz="2000" dirty="0"/>
                    </a:p>
                  </a:txBody>
                  <a:tcPr/>
                </a:tc>
              </a:tr>
              <a:tr h="420268">
                <a:tc>
                  <a:txBody>
                    <a:bodyPr/>
                    <a:lstStyle/>
                    <a:p>
                      <a:r>
                        <a:rPr lang="en-US" altLang="zh-TW" sz="2000" dirty="0" smtClean="0"/>
                        <a:t>C</a:t>
                      </a:r>
                      <a:endParaRPr lang="zh-TW" altLang="en-US" sz="2000" dirty="0"/>
                    </a:p>
                  </a:txBody>
                  <a:tcPr/>
                </a:tc>
                <a:tc>
                  <a:txBody>
                    <a:bodyPr/>
                    <a:lstStyle/>
                    <a:p>
                      <a:r>
                        <a:rPr lang="en-US" altLang="zh-TW" sz="2000" dirty="0" smtClean="0"/>
                        <a:t>B</a:t>
                      </a:r>
                      <a:endParaRPr lang="zh-TW" altLang="en-US" sz="2000" dirty="0"/>
                    </a:p>
                  </a:txBody>
                  <a:tcPr/>
                </a:tc>
                <a:tc>
                  <a:txBody>
                    <a:bodyPr/>
                    <a:lstStyle/>
                    <a:p>
                      <a:r>
                        <a:rPr lang="en-US" altLang="zh-TW" sz="2000" dirty="0" smtClean="0"/>
                        <a:t>A</a:t>
                      </a:r>
                      <a:endParaRPr lang="zh-TW" altLang="en-US" sz="2000" dirty="0"/>
                    </a:p>
                  </a:txBody>
                  <a:tcP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2246007046"/>
              </p:ext>
            </p:extLst>
          </p:nvPr>
        </p:nvGraphicFramePr>
        <p:xfrm>
          <a:off x="5216435" y="5089433"/>
          <a:ext cx="1515292" cy="849814"/>
        </p:xfrm>
        <a:graphic>
          <a:graphicData uri="http://schemas.openxmlformats.org/drawingml/2006/table">
            <a:tbl>
              <a:tblPr firstRow="1" bandRow="1">
                <a:tableStyleId>{5940675A-B579-460E-94D1-54222C63F5DA}</a:tableStyleId>
              </a:tblPr>
              <a:tblGrid>
                <a:gridCol w="757646"/>
                <a:gridCol w="757646"/>
              </a:tblGrid>
              <a:tr h="424907">
                <a:tc>
                  <a:txBody>
                    <a:bodyPr/>
                    <a:lstStyle/>
                    <a:p>
                      <a:r>
                        <a:rPr lang="en-US" altLang="zh-TW" sz="2000" dirty="0" smtClean="0"/>
                        <a:t>A</a:t>
                      </a:r>
                      <a:endParaRPr lang="zh-TW" altLang="en-US" sz="2000" dirty="0"/>
                    </a:p>
                  </a:txBody>
                  <a:tcPr/>
                </a:tc>
                <a:tc>
                  <a:txBody>
                    <a:bodyPr/>
                    <a:lstStyle/>
                    <a:p>
                      <a:r>
                        <a:rPr lang="en-US" altLang="zh-TW" sz="2000" dirty="0" smtClean="0"/>
                        <a:t>C</a:t>
                      </a:r>
                      <a:endParaRPr lang="zh-TW" altLang="en-US" sz="2000" dirty="0"/>
                    </a:p>
                  </a:txBody>
                  <a:tcPr/>
                </a:tc>
              </a:tr>
              <a:tr h="424907">
                <a:tc>
                  <a:txBody>
                    <a:bodyPr/>
                    <a:lstStyle/>
                    <a:p>
                      <a:r>
                        <a:rPr lang="en-US" altLang="zh-TW" sz="2000" dirty="0" smtClean="0"/>
                        <a:t>A</a:t>
                      </a:r>
                      <a:endParaRPr lang="zh-TW" altLang="en-US" sz="2000" dirty="0"/>
                    </a:p>
                  </a:txBody>
                  <a:tcPr/>
                </a:tc>
                <a:tc>
                  <a:txBody>
                    <a:bodyPr/>
                    <a:lstStyle/>
                    <a:p>
                      <a:r>
                        <a:rPr lang="en-US" altLang="zh-TW" sz="2000" dirty="0" smtClean="0"/>
                        <a:t>B</a:t>
                      </a:r>
                      <a:endParaRPr lang="zh-TW" altLang="en-US" sz="2000" dirty="0"/>
                    </a:p>
                  </a:txBody>
                  <a:tcPr/>
                </a:tc>
              </a:tr>
            </a:tbl>
          </a:graphicData>
        </a:graphic>
      </p:graphicFrame>
      <mc:AlternateContent xmlns:mc="http://schemas.openxmlformats.org/markup-compatibility/2006" xmlns:a14="http://schemas.microsoft.com/office/drawing/2010/main">
        <mc:Choice Requires="a14">
          <p:sp>
            <p:nvSpPr>
              <p:cNvPr id="6" name="文字方塊 5"/>
              <p:cNvSpPr txBox="1"/>
              <p:nvPr/>
            </p:nvSpPr>
            <p:spPr>
              <a:xfrm>
                <a:off x="4301412" y="4001294"/>
                <a:ext cx="4352858" cy="523220"/>
              </a:xfrm>
              <a:prstGeom prst="rect">
                <a:avLst/>
              </a:prstGeom>
              <a:noFill/>
            </p:spPr>
            <p:txBody>
              <a:bodyPr wrap="none" rtlCol="0">
                <a:spAutoFit/>
              </a:bodyPr>
              <a:lstStyle/>
              <a:p>
                <a:r>
                  <a:rPr lang="en-US" altLang="zh-TW" sz="2800" dirty="0" smtClean="0"/>
                  <a:t>Running time is </a:t>
                </a:r>
                <a14:m>
                  <m:oMath xmlns:m="http://schemas.openxmlformats.org/officeDocument/2006/math">
                    <m:r>
                      <a:rPr lang="en-US" altLang="zh-TW" sz="2800" b="0" i="1" smtClean="0">
                        <a:latin typeface="Cambria Math" panose="02040503050406030204" pitchFamily="18" charset="0"/>
                      </a:rPr>
                      <m:t>𝑂</m:t>
                    </m:r>
                    <m:r>
                      <a:rPr lang="en-US" altLang="zh-TW" sz="2800" b="0" i="1" smtClean="0">
                        <a:latin typeface="Cambria Math" panose="02040503050406030204" pitchFamily="18" charset="0"/>
                      </a:rPr>
                      <m:t>(</m:t>
                    </m:r>
                    <m:sSup>
                      <m:sSupPr>
                        <m:ctrlPr>
                          <a:rPr lang="en-US" altLang="zh-TW" sz="2800" b="0" i="1" smtClean="0">
                            <a:latin typeface="Cambria Math" panose="02040503050406030204" pitchFamily="18" charset="0"/>
                          </a:rPr>
                        </m:ctrlPr>
                      </m:sSupPr>
                      <m:e>
                        <m:r>
                          <a:rPr lang="en-US" altLang="zh-TW" sz="2800" b="0" i="1" smtClean="0">
                            <a:latin typeface="Cambria Math" panose="02040503050406030204" pitchFamily="18" charset="0"/>
                          </a:rPr>
                          <m:t>𝑚</m:t>
                        </m:r>
                      </m:e>
                      <m:sup>
                        <m:r>
                          <a:rPr lang="en-US" altLang="zh-TW" sz="2800" b="0" i="1" smtClean="0">
                            <a:latin typeface="Cambria Math" panose="02040503050406030204" pitchFamily="18" charset="0"/>
                          </a:rPr>
                          <m:t>2</m:t>
                        </m:r>
                      </m:sup>
                    </m:sSup>
                    <m:r>
                      <a:rPr lang="en-US" altLang="zh-TW" sz="2800" b="0" i="1" smtClean="0">
                        <a:latin typeface="Cambria Math" panose="02040503050406030204" pitchFamily="18" charset="0"/>
                      </a:rPr>
                      <m:t>+</m:t>
                    </m:r>
                    <m:sSup>
                      <m:sSupPr>
                        <m:ctrlPr>
                          <a:rPr lang="en-US" altLang="zh-TW" sz="2800" b="0" i="1" smtClean="0">
                            <a:latin typeface="Cambria Math" panose="02040503050406030204" pitchFamily="18" charset="0"/>
                          </a:rPr>
                        </m:ctrlPr>
                      </m:sSupPr>
                      <m:e>
                        <m:r>
                          <a:rPr lang="en-US" altLang="zh-TW" sz="2800" b="0" i="1" smtClean="0">
                            <a:latin typeface="Cambria Math" panose="02040503050406030204" pitchFamily="18" charset="0"/>
                          </a:rPr>
                          <m:t>𝑛</m:t>
                        </m:r>
                      </m:e>
                      <m:sup>
                        <m:r>
                          <a:rPr lang="en-US" altLang="zh-TW" sz="2800" b="0" i="1" smtClean="0">
                            <a:latin typeface="Cambria Math" panose="02040503050406030204" pitchFamily="18" charset="0"/>
                          </a:rPr>
                          <m:t>2</m:t>
                        </m:r>
                      </m:sup>
                    </m:sSup>
                    <m:r>
                      <a:rPr lang="en-US" altLang="zh-TW" sz="2800" b="0" i="1" smtClean="0">
                        <a:latin typeface="Cambria Math" panose="02040503050406030204" pitchFamily="18" charset="0"/>
                      </a:rPr>
                      <m:t>)</m:t>
                    </m:r>
                  </m:oMath>
                </a14:m>
                <a:endParaRPr lang="zh-TW" altLang="en-US" sz="2800"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4301412" y="4001294"/>
                <a:ext cx="4352858" cy="523220"/>
              </a:xfrm>
              <a:prstGeom prst="rect">
                <a:avLst/>
              </a:prstGeom>
              <a:blipFill rotWithShape="0">
                <a:blip r:embed="rId3"/>
                <a:stretch>
                  <a:fillRect l="-2941" t="-10465" b="-3255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95887865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Row-matching</a:t>
            </a:r>
            <a:endParaRPr lang="zh-TW" altLang="en-US" dirty="0"/>
          </a:p>
        </p:txBody>
      </p:sp>
      <p:pic>
        <p:nvPicPr>
          <p:cNvPr id="7" name="圖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12294" y="1583019"/>
            <a:ext cx="6540758" cy="3698643"/>
          </a:xfrm>
          <a:prstGeom prst="rect">
            <a:avLst/>
          </a:prstGeom>
        </p:spPr>
      </p:pic>
      <p:graphicFrame>
        <p:nvGraphicFramePr>
          <p:cNvPr id="10" name="表格 9"/>
          <p:cNvGraphicFramePr>
            <a:graphicFrameLocks noGrp="1"/>
          </p:cNvGraphicFramePr>
          <p:nvPr>
            <p:extLst>
              <p:ext uri="{D42A27DB-BD31-4B8C-83A1-F6EECF244321}">
                <p14:modId xmlns:p14="http://schemas.microsoft.com/office/powerpoint/2010/main" val="911441783"/>
              </p:ext>
            </p:extLst>
          </p:nvPr>
        </p:nvGraphicFramePr>
        <p:xfrm>
          <a:off x="224557" y="2047653"/>
          <a:ext cx="2350690" cy="1944832"/>
        </p:xfrm>
        <a:graphic>
          <a:graphicData uri="http://schemas.openxmlformats.org/drawingml/2006/table">
            <a:tbl>
              <a:tblPr firstRow="1" bandRow="1">
                <a:tableStyleId>{5940675A-B579-460E-94D1-54222C63F5DA}</a:tableStyleId>
              </a:tblPr>
              <a:tblGrid>
                <a:gridCol w="470138"/>
                <a:gridCol w="470138"/>
                <a:gridCol w="470138"/>
                <a:gridCol w="470138"/>
                <a:gridCol w="470138"/>
              </a:tblGrid>
              <a:tr h="486208">
                <a:tc>
                  <a:txBody>
                    <a:bodyPr/>
                    <a:lstStyle/>
                    <a:p>
                      <a:r>
                        <a:rPr lang="en-US" altLang="zh-TW" dirty="0" smtClean="0"/>
                        <a:t>a</a:t>
                      </a:r>
                      <a:endParaRPr lang="zh-TW" altLang="en-US" dirty="0"/>
                    </a:p>
                  </a:txBody>
                  <a:tcPr/>
                </a:tc>
                <a:tc>
                  <a:txBody>
                    <a:bodyPr/>
                    <a:lstStyle/>
                    <a:p>
                      <a:r>
                        <a:rPr lang="en-US" altLang="zh-TW" sz="2000" dirty="0" smtClean="0"/>
                        <a:t>a</a:t>
                      </a:r>
                      <a:endParaRPr lang="zh-TW" altLang="en-US" sz="2000" dirty="0"/>
                    </a:p>
                  </a:txBody>
                  <a:tcPr/>
                </a:tc>
                <a:tc>
                  <a:txBody>
                    <a:bodyPr/>
                    <a:lstStyle/>
                    <a:p>
                      <a:r>
                        <a:rPr lang="en-US" altLang="zh-TW" sz="2000" dirty="0" smtClean="0"/>
                        <a:t>b</a:t>
                      </a:r>
                      <a:endParaRPr lang="zh-TW" altLang="en-US" sz="2000" dirty="0"/>
                    </a:p>
                  </a:txBody>
                  <a:tcPr/>
                </a:tc>
                <a:tc>
                  <a:txBody>
                    <a:bodyPr/>
                    <a:lstStyle/>
                    <a:p>
                      <a:r>
                        <a:rPr lang="en-US" altLang="zh-TW" sz="2000" dirty="0" smtClean="0"/>
                        <a:t>b</a:t>
                      </a:r>
                      <a:endParaRPr lang="zh-TW" altLang="en-US" sz="2000" dirty="0"/>
                    </a:p>
                  </a:txBody>
                  <a:tcPr/>
                </a:tc>
                <a:tc>
                  <a:txBody>
                    <a:bodyPr/>
                    <a:lstStyle/>
                    <a:p>
                      <a:r>
                        <a:rPr lang="en-US" altLang="zh-TW" sz="2000" dirty="0" smtClean="0"/>
                        <a:t>a</a:t>
                      </a:r>
                      <a:endParaRPr lang="zh-TW" altLang="en-US" sz="2000" dirty="0"/>
                    </a:p>
                  </a:txBody>
                  <a:tcPr/>
                </a:tc>
              </a:tr>
              <a:tr h="486208">
                <a:tc>
                  <a:txBody>
                    <a:bodyPr/>
                    <a:lstStyle/>
                    <a:p>
                      <a:r>
                        <a:rPr lang="en-US" altLang="zh-TW" sz="2000" dirty="0" smtClean="0"/>
                        <a:t>a</a:t>
                      </a:r>
                      <a:endParaRPr lang="zh-TW" altLang="en-US" sz="2000" dirty="0"/>
                    </a:p>
                  </a:txBody>
                  <a:tcPr/>
                </a:tc>
                <a:tc>
                  <a:txBody>
                    <a:bodyPr/>
                    <a:lstStyle/>
                    <a:p>
                      <a:r>
                        <a:rPr lang="en-US" altLang="zh-TW" sz="2000" dirty="0" smtClean="0"/>
                        <a:t>a</a:t>
                      </a:r>
                      <a:endParaRPr lang="zh-TW" altLang="en-US" sz="2000" dirty="0"/>
                    </a:p>
                  </a:txBody>
                  <a:tcPr/>
                </a:tc>
                <a:tc>
                  <a:txBody>
                    <a:bodyPr/>
                    <a:lstStyle/>
                    <a:p>
                      <a:r>
                        <a:rPr lang="en-US" altLang="zh-TW" sz="2000" dirty="0" smtClean="0"/>
                        <a:t>a</a:t>
                      </a:r>
                      <a:endParaRPr lang="zh-TW" altLang="en-US" sz="2000" dirty="0"/>
                    </a:p>
                  </a:txBody>
                  <a:tcPr/>
                </a:tc>
                <a:tc>
                  <a:txBody>
                    <a:bodyPr/>
                    <a:lstStyle/>
                    <a:p>
                      <a:r>
                        <a:rPr lang="en-US" altLang="zh-TW" sz="2000" dirty="0" smtClean="0"/>
                        <a:t>b</a:t>
                      </a:r>
                      <a:endParaRPr lang="zh-TW" altLang="en-US" sz="2000" dirty="0"/>
                    </a:p>
                  </a:txBody>
                  <a:tcPr/>
                </a:tc>
                <a:tc>
                  <a:txBody>
                    <a:bodyPr/>
                    <a:lstStyle/>
                    <a:p>
                      <a:r>
                        <a:rPr lang="en-US" altLang="zh-TW" sz="2000" dirty="0" smtClean="0"/>
                        <a:t>b</a:t>
                      </a:r>
                      <a:endParaRPr lang="zh-TW" altLang="en-US" sz="2000" dirty="0"/>
                    </a:p>
                  </a:txBody>
                  <a:tcPr/>
                </a:tc>
              </a:tr>
              <a:tr h="486208">
                <a:tc>
                  <a:txBody>
                    <a:bodyPr/>
                    <a:lstStyle/>
                    <a:p>
                      <a:r>
                        <a:rPr lang="en-US" altLang="zh-TW" sz="2000" dirty="0" smtClean="0"/>
                        <a:t>a</a:t>
                      </a:r>
                      <a:endParaRPr lang="zh-TW" altLang="en-US" sz="2000" dirty="0"/>
                    </a:p>
                  </a:txBody>
                  <a:tcPr/>
                </a:tc>
                <a:tc>
                  <a:txBody>
                    <a:bodyPr/>
                    <a:lstStyle/>
                    <a:p>
                      <a:r>
                        <a:rPr lang="en-US" altLang="zh-TW" sz="2000" dirty="0" smtClean="0"/>
                        <a:t>b</a:t>
                      </a:r>
                      <a:endParaRPr lang="zh-TW" altLang="en-US" sz="2000" dirty="0"/>
                    </a:p>
                  </a:txBody>
                  <a:tcPr/>
                </a:tc>
                <a:tc>
                  <a:txBody>
                    <a:bodyPr/>
                    <a:lstStyle/>
                    <a:p>
                      <a:r>
                        <a:rPr lang="en-US" altLang="zh-TW" sz="2000" dirty="0" smtClean="0"/>
                        <a:t>a</a:t>
                      </a:r>
                      <a:endParaRPr lang="zh-TW" altLang="en-US" sz="2000" dirty="0"/>
                    </a:p>
                  </a:txBody>
                  <a:tcPr/>
                </a:tc>
                <a:tc>
                  <a:txBody>
                    <a:bodyPr/>
                    <a:lstStyle/>
                    <a:p>
                      <a:r>
                        <a:rPr lang="en-US" altLang="zh-TW" sz="2000" dirty="0" smtClean="0"/>
                        <a:t>b</a:t>
                      </a:r>
                      <a:endParaRPr lang="zh-TW" altLang="en-US" sz="2000" dirty="0"/>
                    </a:p>
                  </a:txBody>
                  <a:tcPr/>
                </a:tc>
                <a:tc>
                  <a:txBody>
                    <a:bodyPr/>
                    <a:lstStyle/>
                    <a:p>
                      <a:r>
                        <a:rPr lang="en-US" altLang="zh-TW" sz="2000" dirty="0" smtClean="0"/>
                        <a:t>a</a:t>
                      </a:r>
                      <a:endParaRPr lang="zh-TW" altLang="en-US" sz="2000" dirty="0"/>
                    </a:p>
                  </a:txBody>
                  <a:tcPr/>
                </a:tc>
              </a:tr>
              <a:tr h="486208">
                <a:tc>
                  <a:txBody>
                    <a:bodyPr/>
                    <a:lstStyle/>
                    <a:p>
                      <a:r>
                        <a:rPr lang="en-US" altLang="zh-TW" sz="2000" dirty="0" smtClean="0"/>
                        <a:t>a</a:t>
                      </a:r>
                      <a:endParaRPr lang="zh-TW" altLang="en-US" sz="2000" dirty="0"/>
                    </a:p>
                  </a:txBody>
                  <a:tcPr/>
                </a:tc>
                <a:tc>
                  <a:txBody>
                    <a:bodyPr/>
                    <a:lstStyle/>
                    <a:p>
                      <a:r>
                        <a:rPr lang="en-US" altLang="zh-TW" sz="2000" dirty="0" smtClean="0"/>
                        <a:t>a</a:t>
                      </a:r>
                      <a:endParaRPr lang="zh-TW" altLang="en-US" sz="2000" dirty="0"/>
                    </a:p>
                  </a:txBody>
                  <a:tcPr/>
                </a:tc>
                <a:tc>
                  <a:txBody>
                    <a:bodyPr/>
                    <a:lstStyle/>
                    <a:p>
                      <a:r>
                        <a:rPr lang="en-US" altLang="zh-TW" sz="2000" dirty="0" smtClean="0"/>
                        <a:t>b</a:t>
                      </a:r>
                      <a:endParaRPr lang="zh-TW" altLang="en-US" sz="2000" dirty="0"/>
                    </a:p>
                  </a:txBody>
                  <a:tcPr/>
                </a:tc>
                <a:tc>
                  <a:txBody>
                    <a:bodyPr/>
                    <a:lstStyle/>
                    <a:p>
                      <a:r>
                        <a:rPr lang="en-US" altLang="zh-TW" sz="2000" dirty="0" smtClean="0"/>
                        <a:t>b</a:t>
                      </a:r>
                      <a:endParaRPr lang="zh-TW" altLang="en-US" sz="2000" dirty="0"/>
                    </a:p>
                  </a:txBody>
                  <a:tcPr/>
                </a:tc>
                <a:tc>
                  <a:txBody>
                    <a:bodyPr/>
                    <a:lstStyle/>
                    <a:p>
                      <a:r>
                        <a:rPr lang="en-US" altLang="zh-TW" sz="2000" dirty="0" smtClean="0"/>
                        <a:t>a</a:t>
                      </a:r>
                      <a:endParaRPr lang="zh-TW" altLang="en-US" sz="2000" dirty="0"/>
                    </a:p>
                  </a:txBody>
                  <a:tcPr/>
                </a:tc>
              </a:tr>
            </a:tbl>
          </a:graphicData>
        </a:graphic>
      </p:graphicFrame>
      <p:pic>
        <p:nvPicPr>
          <p:cNvPr id="11" name="圖片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24" y="5548114"/>
            <a:ext cx="9144000" cy="1042900"/>
          </a:xfrm>
          <a:prstGeom prst="rect">
            <a:avLst/>
          </a:prstGeom>
        </p:spPr>
      </p:pic>
      <p:sp>
        <p:nvSpPr>
          <p:cNvPr id="12" name="文字方塊 11"/>
          <p:cNvSpPr txBox="1"/>
          <p:nvPr/>
        </p:nvSpPr>
        <p:spPr>
          <a:xfrm>
            <a:off x="219347" y="1433921"/>
            <a:ext cx="1255532" cy="523220"/>
          </a:xfrm>
          <a:prstGeom prst="rect">
            <a:avLst/>
          </a:prstGeom>
          <a:noFill/>
        </p:spPr>
        <p:txBody>
          <a:bodyPr wrap="square" rtlCol="0">
            <a:spAutoFit/>
          </a:bodyPr>
          <a:lstStyle/>
          <a:p>
            <a:r>
              <a:rPr lang="en-US" altLang="zh-TW" sz="2800" dirty="0" smtClean="0"/>
              <a:t>Pattern</a:t>
            </a:r>
            <a:endParaRPr lang="zh-TW" altLang="en-US" sz="2800" dirty="0"/>
          </a:p>
        </p:txBody>
      </p:sp>
    </p:spTree>
    <p:extLst>
      <p:ext uri="{BB962C8B-B14F-4D97-AF65-F5344CB8AC3E}">
        <p14:creationId xmlns:p14="http://schemas.microsoft.com/office/powerpoint/2010/main" val="151361054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Column-matching</a:t>
            </a:r>
            <a:endParaRPr lang="zh-TW" altLang="en-US" dirty="0"/>
          </a:p>
        </p:txBody>
      </p:sp>
      <p:graphicFrame>
        <p:nvGraphicFramePr>
          <p:cNvPr id="4" name="表格 3"/>
          <p:cNvGraphicFramePr>
            <a:graphicFrameLocks noGrp="1"/>
          </p:cNvGraphicFramePr>
          <p:nvPr>
            <p:extLst>
              <p:ext uri="{D42A27DB-BD31-4B8C-83A1-F6EECF244321}">
                <p14:modId xmlns:p14="http://schemas.microsoft.com/office/powerpoint/2010/main" val="2272067677"/>
              </p:ext>
            </p:extLst>
          </p:nvPr>
        </p:nvGraphicFramePr>
        <p:xfrm>
          <a:off x="1680134" y="2411547"/>
          <a:ext cx="2350690" cy="1944832"/>
        </p:xfrm>
        <a:graphic>
          <a:graphicData uri="http://schemas.openxmlformats.org/drawingml/2006/table">
            <a:tbl>
              <a:tblPr firstRow="1" bandRow="1">
                <a:tableStyleId>{5940675A-B579-460E-94D1-54222C63F5DA}</a:tableStyleId>
              </a:tblPr>
              <a:tblGrid>
                <a:gridCol w="470138"/>
                <a:gridCol w="470138"/>
                <a:gridCol w="470138"/>
                <a:gridCol w="470138"/>
                <a:gridCol w="470138"/>
              </a:tblGrid>
              <a:tr h="486208">
                <a:tc>
                  <a:txBody>
                    <a:bodyPr/>
                    <a:lstStyle/>
                    <a:p>
                      <a:r>
                        <a:rPr lang="en-US" altLang="zh-TW" dirty="0" smtClean="0"/>
                        <a:t>a</a:t>
                      </a:r>
                      <a:endParaRPr lang="zh-TW" altLang="en-US" dirty="0"/>
                    </a:p>
                  </a:txBody>
                  <a:tcPr/>
                </a:tc>
                <a:tc>
                  <a:txBody>
                    <a:bodyPr/>
                    <a:lstStyle/>
                    <a:p>
                      <a:r>
                        <a:rPr lang="en-US" altLang="zh-TW" sz="2000" dirty="0" smtClean="0"/>
                        <a:t>a</a:t>
                      </a:r>
                      <a:endParaRPr lang="zh-TW" altLang="en-US" sz="2000" dirty="0"/>
                    </a:p>
                  </a:txBody>
                  <a:tcPr/>
                </a:tc>
                <a:tc>
                  <a:txBody>
                    <a:bodyPr/>
                    <a:lstStyle/>
                    <a:p>
                      <a:r>
                        <a:rPr lang="en-US" altLang="zh-TW" sz="2000" dirty="0" smtClean="0"/>
                        <a:t>b</a:t>
                      </a:r>
                      <a:endParaRPr lang="zh-TW" altLang="en-US" sz="2000" dirty="0"/>
                    </a:p>
                  </a:txBody>
                  <a:tcPr/>
                </a:tc>
                <a:tc>
                  <a:txBody>
                    <a:bodyPr/>
                    <a:lstStyle/>
                    <a:p>
                      <a:r>
                        <a:rPr lang="en-US" altLang="zh-TW" sz="2000" dirty="0" smtClean="0"/>
                        <a:t>b</a:t>
                      </a:r>
                      <a:endParaRPr lang="zh-TW" altLang="en-US" sz="2000" dirty="0"/>
                    </a:p>
                  </a:txBody>
                  <a:tcPr/>
                </a:tc>
                <a:tc>
                  <a:txBody>
                    <a:bodyPr/>
                    <a:lstStyle/>
                    <a:p>
                      <a:r>
                        <a:rPr lang="en-US" altLang="zh-TW" sz="2000" dirty="0" smtClean="0"/>
                        <a:t>a</a:t>
                      </a:r>
                      <a:endParaRPr lang="zh-TW" altLang="en-US" sz="2000" dirty="0"/>
                    </a:p>
                  </a:txBody>
                  <a:tcPr/>
                </a:tc>
              </a:tr>
              <a:tr h="486208">
                <a:tc>
                  <a:txBody>
                    <a:bodyPr/>
                    <a:lstStyle/>
                    <a:p>
                      <a:r>
                        <a:rPr lang="en-US" altLang="zh-TW" sz="2000" dirty="0" smtClean="0"/>
                        <a:t>a</a:t>
                      </a:r>
                      <a:endParaRPr lang="zh-TW" altLang="en-US" sz="2000" dirty="0"/>
                    </a:p>
                  </a:txBody>
                  <a:tcPr/>
                </a:tc>
                <a:tc>
                  <a:txBody>
                    <a:bodyPr/>
                    <a:lstStyle/>
                    <a:p>
                      <a:r>
                        <a:rPr lang="en-US" altLang="zh-TW" sz="2000" dirty="0" smtClean="0"/>
                        <a:t>a</a:t>
                      </a:r>
                      <a:endParaRPr lang="zh-TW" altLang="en-US" sz="2000" dirty="0"/>
                    </a:p>
                  </a:txBody>
                  <a:tcPr/>
                </a:tc>
                <a:tc>
                  <a:txBody>
                    <a:bodyPr/>
                    <a:lstStyle/>
                    <a:p>
                      <a:r>
                        <a:rPr lang="en-US" altLang="zh-TW" sz="2000" dirty="0" smtClean="0"/>
                        <a:t>a</a:t>
                      </a:r>
                      <a:endParaRPr lang="zh-TW" altLang="en-US" sz="2000" dirty="0"/>
                    </a:p>
                  </a:txBody>
                  <a:tcPr/>
                </a:tc>
                <a:tc>
                  <a:txBody>
                    <a:bodyPr/>
                    <a:lstStyle/>
                    <a:p>
                      <a:r>
                        <a:rPr lang="en-US" altLang="zh-TW" sz="2000" dirty="0" smtClean="0"/>
                        <a:t>b</a:t>
                      </a:r>
                      <a:endParaRPr lang="zh-TW" altLang="en-US" sz="2000" dirty="0"/>
                    </a:p>
                  </a:txBody>
                  <a:tcPr/>
                </a:tc>
                <a:tc>
                  <a:txBody>
                    <a:bodyPr/>
                    <a:lstStyle/>
                    <a:p>
                      <a:r>
                        <a:rPr lang="en-US" altLang="zh-TW" sz="2000" dirty="0" smtClean="0"/>
                        <a:t>b</a:t>
                      </a:r>
                      <a:endParaRPr lang="zh-TW" altLang="en-US" sz="2000" dirty="0"/>
                    </a:p>
                  </a:txBody>
                  <a:tcPr/>
                </a:tc>
              </a:tr>
              <a:tr h="486208">
                <a:tc>
                  <a:txBody>
                    <a:bodyPr/>
                    <a:lstStyle/>
                    <a:p>
                      <a:r>
                        <a:rPr lang="en-US" altLang="zh-TW" sz="2000" dirty="0" smtClean="0"/>
                        <a:t>a</a:t>
                      </a:r>
                      <a:endParaRPr lang="zh-TW" altLang="en-US" sz="2000" dirty="0"/>
                    </a:p>
                  </a:txBody>
                  <a:tcPr/>
                </a:tc>
                <a:tc>
                  <a:txBody>
                    <a:bodyPr/>
                    <a:lstStyle/>
                    <a:p>
                      <a:r>
                        <a:rPr lang="en-US" altLang="zh-TW" sz="2000" dirty="0" smtClean="0"/>
                        <a:t>b</a:t>
                      </a:r>
                      <a:endParaRPr lang="zh-TW" altLang="en-US" sz="2000" dirty="0"/>
                    </a:p>
                  </a:txBody>
                  <a:tcPr/>
                </a:tc>
                <a:tc>
                  <a:txBody>
                    <a:bodyPr/>
                    <a:lstStyle/>
                    <a:p>
                      <a:r>
                        <a:rPr lang="en-US" altLang="zh-TW" sz="2000" dirty="0" smtClean="0"/>
                        <a:t>a</a:t>
                      </a:r>
                      <a:endParaRPr lang="zh-TW" altLang="en-US" sz="2000" dirty="0"/>
                    </a:p>
                  </a:txBody>
                  <a:tcPr/>
                </a:tc>
                <a:tc>
                  <a:txBody>
                    <a:bodyPr/>
                    <a:lstStyle/>
                    <a:p>
                      <a:r>
                        <a:rPr lang="en-US" altLang="zh-TW" sz="2000" dirty="0" smtClean="0"/>
                        <a:t>b</a:t>
                      </a:r>
                      <a:endParaRPr lang="zh-TW" altLang="en-US" sz="2000" dirty="0"/>
                    </a:p>
                  </a:txBody>
                  <a:tcPr/>
                </a:tc>
                <a:tc>
                  <a:txBody>
                    <a:bodyPr/>
                    <a:lstStyle/>
                    <a:p>
                      <a:r>
                        <a:rPr lang="en-US" altLang="zh-TW" sz="2000" dirty="0" smtClean="0"/>
                        <a:t>a</a:t>
                      </a:r>
                      <a:endParaRPr lang="zh-TW" altLang="en-US" sz="2000" dirty="0"/>
                    </a:p>
                  </a:txBody>
                  <a:tcPr/>
                </a:tc>
              </a:tr>
              <a:tr h="486208">
                <a:tc>
                  <a:txBody>
                    <a:bodyPr/>
                    <a:lstStyle/>
                    <a:p>
                      <a:r>
                        <a:rPr lang="en-US" altLang="zh-TW" sz="2000" dirty="0" smtClean="0"/>
                        <a:t>a</a:t>
                      </a:r>
                      <a:endParaRPr lang="zh-TW" altLang="en-US" sz="2000" dirty="0"/>
                    </a:p>
                  </a:txBody>
                  <a:tcPr/>
                </a:tc>
                <a:tc>
                  <a:txBody>
                    <a:bodyPr/>
                    <a:lstStyle/>
                    <a:p>
                      <a:r>
                        <a:rPr lang="en-US" altLang="zh-TW" sz="2000" dirty="0" smtClean="0"/>
                        <a:t>a</a:t>
                      </a:r>
                      <a:endParaRPr lang="zh-TW" altLang="en-US" sz="2000" dirty="0"/>
                    </a:p>
                  </a:txBody>
                  <a:tcPr/>
                </a:tc>
                <a:tc>
                  <a:txBody>
                    <a:bodyPr/>
                    <a:lstStyle/>
                    <a:p>
                      <a:r>
                        <a:rPr lang="en-US" altLang="zh-TW" sz="2000" dirty="0" smtClean="0"/>
                        <a:t>b</a:t>
                      </a:r>
                      <a:endParaRPr lang="zh-TW" altLang="en-US" sz="2000" dirty="0"/>
                    </a:p>
                  </a:txBody>
                  <a:tcPr/>
                </a:tc>
                <a:tc>
                  <a:txBody>
                    <a:bodyPr/>
                    <a:lstStyle/>
                    <a:p>
                      <a:r>
                        <a:rPr lang="en-US" altLang="zh-TW" sz="2000" dirty="0" smtClean="0"/>
                        <a:t>b</a:t>
                      </a:r>
                      <a:endParaRPr lang="zh-TW" altLang="en-US" sz="2000" dirty="0"/>
                    </a:p>
                  </a:txBody>
                  <a:tcPr/>
                </a:tc>
                <a:tc>
                  <a:txBody>
                    <a:bodyPr/>
                    <a:lstStyle/>
                    <a:p>
                      <a:r>
                        <a:rPr lang="en-US" altLang="zh-TW" sz="2000" dirty="0" smtClean="0"/>
                        <a:t>a</a:t>
                      </a:r>
                      <a:endParaRPr lang="zh-TW" altLang="en-US" sz="2000" dirty="0"/>
                    </a:p>
                  </a:txBody>
                  <a:tcPr/>
                </a:tc>
              </a:tr>
            </a:tbl>
          </a:graphicData>
        </a:graphic>
      </p:graphicFrame>
      <p:cxnSp>
        <p:nvCxnSpPr>
          <p:cNvPr id="6" name="直線單箭頭接點 5"/>
          <p:cNvCxnSpPr/>
          <p:nvPr/>
        </p:nvCxnSpPr>
        <p:spPr>
          <a:xfrm flipV="1">
            <a:off x="3984173" y="2687216"/>
            <a:ext cx="1166326" cy="1866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文字方塊 6"/>
          <p:cNvSpPr txBox="1"/>
          <p:nvPr/>
        </p:nvSpPr>
        <p:spPr>
          <a:xfrm>
            <a:off x="5262466" y="2521212"/>
            <a:ext cx="301686" cy="369332"/>
          </a:xfrm>
          <a:prstGeom prst="rect">
            <a:avLst/>
          </a:prstGeom>
          <a:noFill/>
        </p:spPr>
        <p:txBody>
          <a:bodyPr wrap="none" rtlCol="0">
            <a:spAutoFit/>
          </a:bodyPr>
          <a:lstStyle/>
          <a:p>
            <a:r>
              <a:rPr lang="en-US" altLang="zh-TW" dirty="0" smtClean="0"/>
              <a:t>1</a:t>
            </a:r>
            <a:endParaRPr lang="zh-TW" altLang="en-US" dirty="0"/>
          </a:p>
        </p:txBody>
      </p:sp>
      <p:cxnSp>
        <p:nvCxnSpPr>
          <p:cNvPr id="8" name="直線單箭頭接點 7"/>
          <p:cNvCxnSpPr/>
          <p:nvPr/>
        </p:nvCxnSpPr>
        <p:spPr>
          <a:xfrm flipV="1">
            <a:off x="3977954" y="3119536"/>
            <a:ext cx="1166326" cy="1866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文字方塊 8"/>
          <p:cNvSpPr txBox="1"/>
          <p:nvPr/>
        </p:nvSpPr>
        <p:spPr>
          <a:xfrm>
            <a:off x="5228254" y="2953532"/>
            <a:ext cx="301686" cy="369332"/>
          </a:xfrm>
          <a:prstGeom prst="rect">
            <a:avLst/>
          </a:prstGeom>
          <a:noFill/>
        </p:spPr>
        <p:txBody>
          <a:bodyPr wrap="none" rtlCol="0">
            <a:spAutoFit/>
          </a:bodyPr>
          <a:lstStyle/>
          <a:p>
            <a:r>
              <a:rPr lang="en-US" altLang="zh-TW" dirty="0" smtClean="0"/>
              <a:t>2</a:t>
            </a:r>
            <a:endParaRPr lang="zh-TW" altLang="en-US" dirty="0"/>
          </a:p>
        </p:txBody>
      </p:sp>
      <p:cxnSp>
        <p:nvCxnSpPr>
          <p:cNvPr id="10" name="直線單箭頭接點 9"/>
          <p:cNvCxnSpPr/>
          <p:nvPr/>
        </p:nvCxnSpPr>
        <p:spPr>
          <a:xfrm flipV="1">
            <a:off x="3968620" y="3632717"/>
            <a:ext cx="1166326" cy="1866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文字方塊 10"/>
          <p:cNvSpPr txBox="1"/>
          <p:nvPr/>
        </p:nvSpPr>
        <p:spPr>
          <a:xfrm>
            <a:off x="5209589" y="3466713"/>
            <a:ext cx="301686" cy="369332"/>
          </a:xfrm>
          <a:prstGeom prst="rect">
            <a:avLst/>
          </a:prstGeom>
          <a:noFill/>
        </p:spPr>
        <p:txBody>
          <a:bodyPr wrap="none" rtlCol="0">
            <a:spAutoFit/>
          </a:bodyPr>
          <a:lstStyle/>
          <a:p>
            <a:r>
              <a:rPr lang="en-US" altLang="zh-TW" dirty="0"/>
              <a:t>3</a:t>
            </a:r>
            <a:endParaRPr lang="zh-TW" altLang="en-US" dirty="0"/>
          </a:p>
        </p:txBody>
      </p:sp>
      <p:cxnSp>
        <p:nvCxnSpPr>
          <p:cNvPr id="12" name="直線單箭頭接點 11"/>
          <p:cNvCxnSpPr/>
          <p:nvPr/>
        </p:nvCxnSpPr>
        <p:spPr>
          <a:xfrm flipV="1">
            <a:off x="3953068" y="4139680"/>
            <a:ext cx="1166326" cy="1866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文字方塊 12"/>
          <p:cNvSpPr txBox="1"/>
          <p:nvPr/>
        </p:nvSpPr>
        <p:spPr>
          <a:xfrm>
            <a:off x="5194037" y="3973676"/>
            <a:ext cx="301686" cy="369332"/>
          </a:xfrm>
          <a:prstGeom prst="rect">
            <a:avLst/>
          </a:prstGeom>
          <a:noFill/>
        </p:spPr>
        <p:txBody>
          <a:bodyPr wrap="none" rtlCol="0">
            <a:spAutoFit/>
          </a:bodyPr>
          <a:lstStyle/>
          <a:p>
            <a:r>
              <a:rPr lang="en-US" altLang="zh-TW" dirty="0" smtClean="0"/>
              <a:t>1</a:t>
            </a:r>
            <a:endParaRPr lang="zh-TW" altLang="en-US" dirty="0"/>
          </a:p>
        </p:txBody>
      </p:sp>
    </p:spTree>
    <p:extLst>
      <p:ext uri="{BB962C8B-B14F-4D97-AF65-F5344CB8AC3E}">
        <p14:creationId xmlns:p14="http://schemas.microsoft.com/office/powerpoint/2010/main" val="14200512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4083647544"/>
              </p:ext>
            </p:extLst>
          </p:nvPr>
        </p:nvGraphicFramePr>
        <p:xfrm>
          <a:off x="618309" y="461235"/>
          <a:ext cx="2299062" cy="1681072"/>
        </p:xfrm>
        <a:graphic>
          <a:graphicData uri="http://schemas.openxmlformats.org/drawingml/2006/table">
            <a:tbl>
              <a:tblPr firstRow="1" bandRow="1">
                <a:tableStyleId>{5940675A-B579-460E-94D1-54222C63F5DA}</a:tableStyleId>
              </a:tblPr>
              <a:tblGrid>
                <a:gridCol w="766354"/>
                <a:gridCol w="766354"/>
                <a:gridCol w="766354"/>
              </a:tblGrid>
              <a:tr h="420268">
                <a:tc>
                  <a:txBody>
                    <a:bodyPr/>
                    <a:lstStyle/>
                    <a:p>
                      <a:r>
                        <a:rPr lang="en-US" altLang="zh-TW" sz="2000" dirty="0" smtClean="0"/>
                        <a:t>A</a:t>
                      </a:r>
                      <a:endParaRPr lang="zh-TW" altLang="en-US" sz="2000" dirty="0"/>
                    </a:p>
                  </a:txBody>
                  <a:tcPr/>
                </a:tc>
                <a:tc>
                  <a:txBody>
                    <a:bodyPr/>
                    <a:lstStyle/>
                    <a:p>
                      <a:r>
                        <a:rPr lang="en-US" altLang="zh-TW" sz="2000" dirty="0" smtClean="0"/>
                        <a:t>B</a:t>
                      </a:r>
                      <a:endParaRPr lang="zh-TW" altLang="en-US" sz="2000" dirty="0"/>
                    </a:p>
                  </a:txBody>
                  <a:tcPr/>
                </a:tc>
                <a:tc>
                  <a:txBody>
                    <a:bodyPr/>
                    <a:lstStyle/>
                    <a:p>
                      <a:r>
                        <a:rPr lang="en-US" altLang="zh-TW" sz="2000" dirty="0" smtClean="0"/>
                        <a:t>C</a:t>
                      </a:r>
                      <a:endParaRPr lang="zh-TW" altLang="en-US" sz="2000" dirty="0"/>
                    </a:p>
                  </a:txBody>
                  <a:tcPr/>
                </a:tc>
              </a:tr>
              <a:tr h="420268">
                <a:tc>
                  <a:txBody>
                    <a:bodyPr/>
                    <a:lstStyle/>
                    <a:p>
                      <a:r>
                        <a:rPr lang="en-US" altLang="zh-TW" sz="2000" dirty="0" smtClean="0"/>
                        <a:t>A</a:t>
                      </a:r>
                      <a:endParaRPr lang="zh-TW" altLang="en-US" sz="2000" dirty="0"/>
                    </a:p>
                  </a:txBody>
                  <a:tcPr/>
                </a:tc>
                <a:tc>
                  <a:txBody>
                    <a:bodyPr/>
                    <a:lstStyle/>
                    <a:p>
                      <a:r>
                        <a:rPr lang="en-US" altLang="zh-TW" sz="2000" dirty="0" smtClean="0"/>
                        <a:t>A</a:t>
                      </a:r>
                      <a:endParaRPr lang="zh-TW" altLang="en-US" sz="2000" dirty="0"/>
                    </a:p>
                  </a:txBody>
                  <a:tcPr/>
                </a:tc>
                <a:tc>
                  <a:txBody>
                    <a:bodyPr/>
                    <a:lstStyle/>
                    <a:p>
                      <a:r>
                        <a:rPr lang="en-US" altLang="zh-TW" sz="2000" dirty="0" smtClean="0"/>
                        <a:t>C</a:t>
                      </a:r>
                      <a:endParaRPr lang="zh-TW" altLang="en-US" sz="2000" dirty="0"/>
                    </a:p>
                  </a:txBody>
                  <a:tcPr/>
                </a:tc>
              </a:tr>
              <a:tr h="420268">
                <a:tc>
                  <a:txBody>
                    <a:bodyPr/>
                    <a:lstStyle/>
                    <a:p>
                      <a:r>
                        <a:rPr lang="en-US" altLang="zh-TW" sz="2000" dirty="0" smtClean="0"/>
                        <a:t>B</a:t>
                      </a:r>
                      <a:endParaRPr lang="zh-TW" altLang="en-US" sz="2000" dirty="0"/>
                    </a:p>
                  </a:txBody>
                  <a:tcPr/>
                </a:tc>
                <a:tc>
                  <a:txBody>
                    <a:bodyPr/>
                    <a:lstStyle/>
                    <a:p>
                      <a:r>
                        <a:rPr lang="en-US" altLang="zh-TW" sz="2000" dirty="0" smtClean="0"/>
                        <a:t>A</a:t>
                      </a:r>
                      <a:endParaRPr lang="zh-TW" altLang="en-US" sz="2000" dirty="0"/>
                    </a:p>
                  </a:txBody>
                  <a:tcPr/>
                </a:tc>
                <a:tc>
                  <a:txBody>
                    <a:bodyPr/>
                    <a:lstStyle/>
                    <a:p>
                      <a:r>
                        <a:rPr lang="en-US" altLang="zh-TW" sz="2000" dirty="0" smtClean="0"/>
                        <a:t>B</a:t>
                      </a:r>
                      <a:endParaRPr lang="zh-TW" altLang="en-US" sz="2000" dirty="0"/>
                    </a:p>
                  </a:txBody>
                  <a:tcPr/>
                </a:tc>
              </a:tr>
              <a:tr h="420268">
                <a:tc>
                  <a:txBody>
                    <a:bodyPr/>
                    <a:lstStyle/>
                    <a:p>
                      <a:r>
                        <a:rPr lang="en-US" altLang="zh-TW" sz="2000" dirty="0" smtClean="0"/>
                        <a:t>C</a:t>
                      </a:r>
                      <a:endParaRPr lang="zh-TW" altLang="en-US" sz="2000" dirty="0"/>
                    </a:p>
                  </a:txBody>
                  <a:tcPr/>
                </a:tc>
                <a:tc>
                  <a:txBody>
                    <a:bodyPr/>
                    <a:lstStyle/>
                    <a:p>
                      <a:r>
                        <a:rPr lang="en-US" altLang="zh-TW" sz="2000" dirty="0" smtClean="0"/>
                        <a:t>B</a:t>
                      </a:r>
                      <a:endParaRPr lang="zh-TW" altLang="en-US" sz="2000" dirty="0"/>
                    </a:p>
                  </a:txBody>
                  <a:tcPr/>
                </a:tc>
                <a:tc>
                  <a:txBody>
                    <a:bodyPr/>
                    <a:lstStyle/>
                    <a:p>
                      <a:r>
                        <a:rPr lang="en-US" altLang="zh-TW" sz="2000" dirty="0" smtClean="0"/>
                        <a:t>A</a:t>
                      </a:r>
                      <a:endParaRPr lang="zh-TW" altLang="en-US" sz="2000" dirty="0"/>
                    </a:p>
                  </a:txBody>
                  <a:tcP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1788328442"/>
              </p:ext>
            </p:extLst>
          </p:nvPr>
        </p:nvGraphicFramePr>
        <p:xfrm>
          <a:off x="4720047" y="491307"/>
          <a:ext cx="1515292" cy="849814"/>
        </p:xfrm>
        <a:graphic>
          <a:graphicData uri="http://schemas.openxmlformats.org/drawingml/2006/table">
            <a:tbl>
              <a:tblPr firstRow="1" bandRow="1">
                <a:tableStyleId>{5940675A-B579-460E-94D1-54222C63F5DA}</a:tableStyleId>
              </a:tblPr>
              <a:tblGrid>
                <a:gridCol w="757646"/>
                <a:gridCol w="757646"/>
              </a:tblGrid>
              <a:tr h="424907">
                <a:tc>
                  <a:txBody>
                    <a:bodyPr/>
                    <a:lstStyle/>
                    <a:p>
                      <a:r>
                        <a:rPr lang="en-US" altLang="zh-TW" sz="2000" dirty="0" smtClean="0"/>
                        <a:t>A</a:t>
                      </a:r>
                      <a:endParaRPr lang="zh-TW" altLang="en-US" sz="2000" dirty="0"/>
                    </a:p>
                  </a:txBody>
                  <a:tcPr/>
                </a:tc>
                <a:tc>
                  <a:txBody>
                    <a:bodyPr/>
                    <a:lstStyle/>
                    <a:p>
                      <a:r>
                        <a:rPr lang="en-US" altLang="zh-TW" sz="2000" dirty="0" smtClean="0"/>
                        <a:t>C</a:t>
                      </a:r>
                      <a:endParaRPr lang="zh-TW" altLang="en-US" sz="2000" dirty="0"/>
                    </a:p>
                  </a:txBody>
                  <a:tcPr/>
                </a:tc>
              </a:tr>
              <a:tr h="424907">
                <a:tc>
                  <a:txBody>
                    <a:bodyPr/>
                    <a:lstStyle/>
                    <a:p>
                      <a:r>
                        <a:rPr lang="en-US" altLang="zh-TW" sz="2000" dirty="0" smtClean="0"/>
                        <a:t>A</a:t>
                      </a:r>
                      <a:endParaRPr lang="zh-TW" altLang="en-US" sz="2000" dirty="0"/>
                    </a:p>
                  </a:txBody>
                  <a:tcPr/>
                </a:tc>
                <a:tc>
                  <a:txBody>
                    <a:bodyPr/>
                    <a:lstStyle/>
                    <a:p>
                      <a:r>
                        <a:rPr lang="en-US" altLang="zh-TW" sz="2000" dirty="0" smtClean="0"/>
                        <a:t>B</a:t>
                      </a:r>
                      <a:endParaRPr lang="zh-TW" altLang="en-US" sz="2000" dirty="0"/>
                    </a:p>
                  </a:txBody>
                  <a:tcPr/>
                </a:tc>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32420852"/>
              </p:ext>
            </p:extLst>
          </p:nvPr>
        </p:nvGraphicFramePr>
        <p:xfrm>
          <a:off x="6013270" y="4488948"/>
          <a:ext cx="2299062" cy="1681072"/>
        </p:xfrm>
        <a:graphic>
          <a:graphicData uri="http://schemas.openxmlformats.org/drawingml/2006/table">
            <a:tbl>
              <a:tblPr firstRow="1" bandRow="1">
                <a:tableStyleId>{5940675A-B579-460E-94D1-54222C63F5DA}</a:tableStyleId>
              </a:tblPr>
              <a:tblGrid>
                <a:gridCol w="766354"/>
                <a:gridCol w="766354"/>
                <a:gridCol w="766354"/>
              </a:tblGrid>
              <a:tr h="420268">
                <a:tc>
                  <a:txBody>
                    <a:bodyPr/>
                    <a:lstStyle/>
                    <a:p>
                      <a:endParaRPr lang="zh-TW" altLang="en-US" sz="2000" dirty="0"/>
                    </a:p>
                  </a:txBody>
                  <a:tcPr/>
                </a:tc>
                <a:tc>
                  <a:txBody>
                    <a:bodyPr/>
                    <a:lstStyle/>
                    <a:p>
                      <a:r>
                        <a:rPr lang="en-US" altLang="zh-TW" sz="2000" dirty="0" smtClean="0"/>
                        <a:t>2</a:t>
                      </a:r>
                      <a:endParaRPr lang="zh-TW" altLang="en-US" sz="2000" dirty="0"/>
                    </a:p>
                  </a:txBody>
                  <a:tcPr/>
                </a:tc>
                <a:tc>
                  <a:txBody>
                    <a:bodyPr/>
                    <a:lstStyle/>
                    <a:p>
                      <a:endParaRPr lang="zh-TW" altLang="en-US" sz="2000" dirty="0"/>
                    </a:p>
                  </a:txBody>
                  <a:tcPr/>
                </a:tc>
              </a:tr>
              <a:tr h="420268">
                <a:tc>
                  <a:txBody>
                    <a:bodyPr/>
                    <a:lstStyle/>
                    <a:p>
                      <a:endParaRPr lang="zh-TW" altLang="en-US" sz="2000" dirty="0"/>
                    </a:p>
                  </a:txBody>
                  <a:tcPr/>
                </a:tc>
                <a:tc>
                  <a:txBody>
                    <a:bodyPr/>
                    <a:lstStyle/>
                    <a:p>
                      <a:endParaRPr lang="zh-TW" altLang="en-US" sz="2000" dirty="0"/>
                    </a:p>
                  </a:txBody>
                  <a:tcPr/>
                </a:tc>
                <a:tc>
                  <a:txBody>
                    <a:bodyPr/>
                    <a:lstStyle/>
                    <a:p>
                      <a:r>
                        <a:rPr lang="en-US" altLang="zh-TW" sz="2000" dirty="0" smtClean="0"/>
                        <a:t>1</a:t>
                      </a:r>
                      <a:endParaRPr lang="zh-TW" altLang="en-US" sz="2000" dirty="0"/>
                    </a:p>
                  </a:txBody>
                  <a:tcPr/>
                </a:tc>
              </a:tr>
              <a:tr h="420268">
                <a:tc>
                  <a:txBody>
                    <a:bodyPr/>
                    <a:lstStyle/>
                    <a:p>
                      <a:endParaRPr lang="zh-TW" altLang="en-US" sz="2000" dirty="0"/>
                    </a:p>
                  </a:txBody>
                  <a:tcPr/>
                </a:tc>
                <a:tc>
                  <a:txBody>
                    <a:bodyPr/>
                    <a:lstStyle/>
                    <a:p>
                      <a:endParaRPr lang="zh-TW" altLang="en-US" sz="2000" dirty="0"/>
                    </a:p>
                  </a:txBody>
                  <a:tcPr/>
                </a:tc>
                <a:tc>
                  <a:txBody>
                    <a:bodyPr/>
                    <a:lstStyle/>
                    <a:p>
                      <a:r>
                        <a:rPr lang="en-US" altLang="zh-TW" sz="2000" dirty="0" smtClean="0"/>
                        <a:t>2</a:t>
                      </a:r>
                      <a:endParaRPr lang="zh-TW" altLang="en-US" sz="2000" dirty="0"/>
                    </a:p>
                  </a:txBody>
                  <a:tcPr/>
                </a:tc>
              </a:tr>
              <a:tr h="420268">
                <a:tc>
                  <a:txBody>
                    <a:bodyPr/>
                    <a:lstStyle/>
                    <a:p>
                      <a:endParaRPr lang="zh-TW" altLang="en-US" sz="2000" dirty="0"/>
                    </a:p>
                  </a:txBody>
                  <a:tcPr/>
                </a:tc>
                <a:tc>
                  <a:txBody>
                    <a:bodyPr/>
                    <a:lstStyle/>
                    <a:p>
                      <a:endParaRPr lang="zh-TW" altLang="en-US" sz="2000" dirty="0"/>
                    </a:p>
                  </a:txBody>
                  <a:tcPr/>
                </a:tc>
                <a:tc>
                  <a:txBody>
                    <a:bodyPr/>
                    <a:lstStyle/>
                    <a:p>
                      <a:endParaRPr lang="zh-TW" altLang="en-US" sz="2000" dirty="0"/>
                    </a:p>
                  </a:txBody>
                  <a:tcPr/>
                </a:tc>
              </a:tr>
            </a:tbl>
          </a:graphicData>
        </a:graphic>
      </p:graphicFrame>
    </p:spTree>
    <p:extLst>
      <p:ext uri="{BB962C8B-B14F-4D97-AF65-F5344CB8AC3E}">
        <p14:creationId xmlns:p14="http://schemas.microsoft.com/office/powerpoint/2010/main" val="191001994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txBox="1">
            <a:spLocks/>
          </p:cNvSpPr>
          <p:nvPr/>
        </p:nvSpPr>
        <p:spPr>
          <a:xfrm>
            <a:off x="-46652" y="1261057"/>
            <a:ext cx="9069355" cy="1470025"/>
          </a:xfrm>
          <a:prstGeom prst="rect">
            <a:avLst/>
          </a:prstGeom>
        </p:spPr>
        <p:txBody>
          <a:bodyPr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altLang="zh-TW" sz="4300" b="1" dirty="0"/>
              <a:t>The theory and computation of evolutionary distances: Pattern recognition</a:t>
            </a:r>
            <a:endParaRPr lang="zh-TW" altLang="en-US" sz="4300" b="1" dirty="0"/>
          </a:p>
        </p:txBody>
      </p:sp>
      <p:sp>
        <p:nvSpPr>
          <p:cNvPr id="5" name="副標題 2"/>
          <p:cNvSpPr txBox="1">
            <a:spLocks/>
          </p:cNvSpPr>
          <p:nvPr/>
        </p:nvSpPr>
        <p:spPr>
          <a:xfrm>
            <a:off x="1406525" y="3019425"/>
            <a:ext cx="6400800" cy="479425"/>
          </a:xfrm>
          <a:prstGeom prst="rect">
            <a:avLst/>
          </a:prstGeom>
        </p:spPr>
        <p:txBody>
          <a:bodyPr>
            <a:normAutofit fontScale="925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fontAlgn="auto">
              <a:spcAft>
                <a:spcPts val="0"/>
              </a:spcAft>
              <a:defRPr/>
            </a:pPr>
            <a:r>
              <a:rPr lang="en-US" altLang="zh-TW" sz="3100" dirty="0"/>
              <a:t>Peter H Sellers</a:t>
            </a:r>
          </a:p>
        </p:txBody>
      </p:sp>
      <p:graphicFrame>
        <p:nvGraphicFramePr>
          <p:cNvPr id="6" name="表格 5"/>
          <p:cNvGraphicFramePr>
            <a:graphicFrameLocks noGrp="1"/>
          </p:cNvGraphicFramePr>
          <p:nvPr>
            <p:extLst>
              <p:ext uri="{D42A27DB-BD31-4B8C-83A1-F6EECF244321}">
                <p14:modId xmlns:p14="http://schemas.microsoft.com/office/powerpoint/2010/main" val="2632646118"/>
              </p:ext>
            </p:extLst>
          </p:nvPr>
        </p:nvGraphicFramePr>
        <p:xfrm>
          <a:off x="1782146" y="3581400"/>
          <a:ext cx="5561045" cy="1220788"/>
        </p:xfrm>
        <a:graphic>
          <a:graphicData uri="http://schemas.openxmlformats.org/drawingml/2006/table">
            <a:tbl>
              <a:tblPr/>
              <a:tblGrid>
                <a:gridCol w="5561045"/>
              </a:tblGrid>
              <a:tr h="56754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kern="1200" dirty="0" smtClean="0">
                          <a:solidFill>
                            <a:schemeClr val="tx1"/>
                          </a:solidFill>
                          <a:effectLst/>
                          <a:latin typeface="Verdana" panose="020B0604030504040204" pitchFamily="34" charset="0"/>
                          <a:ea typeface="+mn-ea"/>
                          <a:cs typeface="+mn-cs"/>
                        </a:rPr>
                        <a:t>Journal of Algorithms</a:t>
                      </a:r>
                      <a:endParaRPr lang="en-US" sz="1800" kern="1200" dirty="0">
                        <a:solidFill>
                          <a:schemeClr val="tx1"/>
                        </a:solidFill>
                        <a:effectLst/>
                        <a:latin typeface="Verdana" panose="020B0604030504040204" pitchFamily="34" charset="0"/>
                        <a:ea typeface="+mn-ea"/>
                        <a:cs typeface="+mn-cs"/>
                      </a:endParaRPr>
                    </a:p>
                  </a:txBody>
                  <a:tcPr marL="95250" marR="9525" marT="9523" marB="9523">
                    <a:lnL>
                      <a:noFill/>
                    </a:lnL>
                    <a:lnR>
                      <a:noFill/>
                    </a:lnR>
                    <a:lnT>
                      <a:noFill/>
                    </a:lnT>
                    <a:lnB>
                      <a:noFill/>
                    </a:lnB>
                    <a:solidFill>
                      <a:srgbClr val="FFFFFF"/>
                    </a:solidFill>
                  </a:tcPr>
                </a:tc>
              </a:tr>
              <a:tr h="653245">
                <a:tc>
                  <a:txBody>
                    <a:bodyPr/>
                    <a:lstStyle/>
                    <a:p>
                      <a:r>
                        <a:rPr lang="en-US" altLang="zh-TW" sz="1400" kern="1200" dirty="0" smtClean="0">
                          <a:solidFill>
                            <a:schemeClr val="tx1"/>
                          </a:solidFill>
                          <a:effectLst/>
                          <a:latin typeface="Verdana" panose="020B0604030504040204" pitchFamily="34" charset="0"/>
                          <a:ea typeface="+mn-ea"/>
                          <a:cs typeface="+mn-cs"/>
                        </a:rPr>
                        <a:t>Volume 1, Issues 4, December 1980, Pages 359-373</a:t>
                      </a:r>
                      <a:endParaRPr lang="en-US" altLang="zh-TW" sz="1400" kern="1200" dirty="0">
                        <a:solidFill>
                          <a:schemeClr val="tx1"/>
                        </a:solidFill>
                        <a:effectLst/>
                        <a:latin typeface="Verdana" panose="020B0604030504040204" pitchFamily="34" charset="0"/>
                        <a:ea typeface="+mn-ea"/>
                        <a:cs typeface="+mn-cs"/>
                      </a:endParaRPr>
                    </a:p>
                  </a:txBody>
                  <a:tcPr marL="95250" marR="9525" marT="9523" marB="95225">
                    <a:lnL>
                      <a:noFill/>
                    </a:lnL>
                    <a:lnR>
                      <a:noFill/>
                    </a:lnR>
                    <a:lnT>
                      <a:noFill/>
                    </a:lnT>
                    <a:lnB>
                      <a:noFill/>
                    </a:lnB>
                    <a:solidFill>
                      <a:srgbClr val="FFFFFF"/>
                    </a:solidFill>
                  </a:tcPr>
                </a:tc>
              </a:tr>
            </a:tbl>
          </a:graphicData>
        </a:graphic>
      </p:graphicFrame>
      <p:sp>
        <p:nvSpPr>
          <p:cNvPr id="3079" name="文字方塊 6"/>
          <p:cNvSpPr txBox="1">
            <a:spLocks noChangeArrowheads="1"/>
          </p:cNvSpPr>
          <p:nvPr/>
        </p:nvSpPr>
        <p:spPr bwMode="auto">
          <a:xfrm>
            <a:off x="3132138" y="5229225"/>
            <a:ext cx="32480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kumimoji="0" lang="en-US" altLang="zh-TW" sz="1800" dirty="0"/>
              <a:t>Presenter:  Huang-Ting Chan</a:t>
            </a:r>
          </a:p>
          <a:p>
            <a:pPr eaLnBrk="1" hangingPunct="1">
              <a:spcBef>
                <a:spcPct val="0"/>
              </a:spcBef>
              <a:buFontTx/>
              <a:buNone/>
            </a:pPr>
            <a:r>
              <a:rPr kumimoji="0" lang="en-US" altLang="zh-TW" sz="1800" dirty="0"/>
              <a:t>Date:</a:t>
            </a:r>
            <a:fld id="{F3590F60-3E7B-48AD-979A-345F224951B5}" type="datetime1">
              <a:rPr kumimoji="0" lang="zh-TW" altLang="en-US" sz="1800"/>
              <a:pPr eaLnBrk="1" hangingPunct="1">
                <a:spcBef>
                  <a:spcPct val="0"/>
                </a:spcBef>
                <a:buFontTx/>
                <a:buNone/>
              </a:pPr>
              <a:t>2015/5/12</a:t>
            </a:fld>
            <a:endParaRPr kumimoji="0" lang="zh-TW" altLang="en-US" sz="1800" dirty="0"/>
          </a:p>
        </p:txBody>
      </p:sp>
    </p:spTree>
    <p:extLst>
      <p:ext uri="{BB962C8B-B14F-4D97-AF65-F5344CB8AC3E}">
        <p14:creationId xmlns:p14="http://schemas.microsoft.com/office/powerpoint/2010/main" val="2830954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The problem</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542925" y="1825625"/>
                <a:ext cx="6789692" cy="5032375"/>
              </a:xfrm>
            </p:spPr>
            <p:txBody>
              <a:bodyPr/>
              <a:lstStyle/>
              <a:p>
                <a:pPr marL="0" indent="0">
                  <a:buNone/>
                </a:pPr>
                <a:r>
                  <a:rPr lang="en-US" altLang="zh-TW" dirty="0" smtClean="0"/>
                  <a:t>Text:		</a:t>
                </a:r>
                <a:r>
                  <a:rPr lang="en-US" altLang="zh-TW" dirty="0" err="1" smtClean="0"/>
                  <a:t>bcdefghi</a:t>
                </a:r>
                <a:endParaRPr lang="en-US" altLang="zh-TW" dirty="0" smtClean="0"/>
              </a:p>
              <a:p>
                <a:pPr marL="0" indent="0">
                  <a:buNone/>
                </a:pPr>
                <a:r>
                  <a:rPr lang="en-US" altLang="zh-TW" dirty="0" smtClean="0"/>
                  <a:t>Pattern:	</a:t>
                </a:r>
                <a:r>
                  <a:rPr lang="en-US" altLang="zh-TW" dirty="0" err="1" smtClean="0"/>
                  <a:t>bxdyegh</a:t>
                </a:r>
                <a:endParaRPr lang="en-US" altLang="zh-TW" dirty="0" smtClean="0"/>
              </a:p>
              <a:p>
                <a:pPr marL="0" indent="0">
                  <a:buNone/>
                </a:pPr>
                <a:endParaRPr lang="en-US" altLang="zh-TW" dirty="0"/>
              </a:p>
              <a:p>
                <a:pPr marL="0" indent="0">
                  <a:buNone/>
                </a:pPr>
                <a:r>
                  <a:rPr lang="en-US" altLang="zh-TW" dirty="0" smtClean="0"/>
                  <a:t>		</a:t>
                </a:r>
                <a:r>
                  <a:rPr lang="en-US" altLang="zh-TW" dirty="0" err="1" smtClean="0">
                    <a:ea typeface="+mj-ea"/>
                  </a:rPr>
                  <a:t>bcd</a:t>
                </a:r>
                <a:r>
                  <a:rPr lang="en-US" altLang="zh-TW" dirty="0" smtClean="0">
                    <a:ea typeface="+mj-ea"/>
                  </a:rPr>
                  <a:t>  </a:t>
                </a:r>
                <a:r>
                  <a:rPr lang="en-US" altLang="zh-TW" dirty="0" err="1" smtClean="0">
                    <a:ea typeface="+mj-ea"/>
                  </a:rPr>
                  <a:t>efghi</a:t>
                </a:r>
                <a:endParaRPr lang="en-US" altLang="zh-TW" dirty="0" smtClean="0">
                  <a:ea typeface="+mj-ea"/>
                </a:endParaRPr>
              </a:p>
              <a:p>
                <a:pPr marL="0" indent="0">
                  <a:buNone/>
                </a:pPr>
                <a:r>
                  <a:rPr lang="en-US" altLang="zh-TW" dirty="0">
                    <a:ea typeface="+mj-ea"/>
                  </a:rPr>
                  <a:t>	</a:t>
                </a:r>
                <a:r>
                  <a:rPr lang="en-US" altLang="zh-TW" dirty="0" smtClean="0">
                    <a:ea typeface="+mj-ea"/>
                  </a:rPr>
                  <a:t>	</a:t>
                </a:r>
                <a:r>
                  <a:rPr lang="en-US" altLang="zh-TW" dirty="0" err="1" smtClean="0">
                    <a:ea typeface="+mj-ea"/>
                  </a:rPr>
                  <a:t>bxdye</a:t>
                </a:r>
                <a:r>
                  <a:rPr lang="en-US" altLang="zh-TW" dirty="0" smtClean="0">
                    <a:ea typeface="+mj-ea"/>
                  </a:rPr>
                  <a:t> </a:t>
                </a:r>
                <a:r>
                  <a:rPr lang="en-US" altLang="zh-TW" dirty="0" err="1" smtClean="0">
                    <a:ea typeface="+mj-ea"/>
                  </a:rPr>
                  <a:t>gh</a:t>
                </a:r>
                <a:endParaRPr lang="en-US" altLang="zh-TW" dirty="0" smtClean="0">
                  <a:ea typeface="+mj-ea"/>
                </a:endParaRPr>
              </a:p>
              <a:p>
                <a:pPr marL="0" indent="0">
                  <a:buNone/>
                </a:pPr>
                <a:endParaRPr lang="en-US" altLang="zh-TW" dirty="0">
                  <a:ea typeface="+mj-ea"/>
                </a:endParaRPr>
              </a:p>
              <a:p>
                <a:pPr marL="0" indent="0">
                  <a:buNone/>
                </a:pPr>
                <a:r>
                  <a:rPr lang="en-US" altLang="zh-TW" dirty="0">
                    <a:ea typeface="+mj-ea"/>
                  </a:rPr>
                  <a:t>c</a:t>
                </a:r>
                <a:r>
                  <a:rPr lang="en-US" altLang="zh-TW" dirty="0" smtClean="0">
                    <a:ea typeface="+mj-ea"/>
                  </a:rPr>
                  <a:t> match to x</a:t>
                </a:r>
              </a:p>
              <a:p>
                <a:pPr marL="0" indent="0">
                  <a:buNone/>
                </a:pPr>
                <a:r>
                  <a:rPr lang="en-US" altLang="zh-TW" dirty="0">
                    <a:ea typeface="+mj-ea"/>
                  </a:rPr>
                  <a:t>y</a:t>
                </a:r>
                <a:r>
                  <a:rPr lang="en-US" altLang="zh-TW" dirty="0" smtClean="0">
                    <a:ea typeface="+mj-ea"/>
                  </a:rPr>
                  <a:t> match to </a:t>
                </a:r>
                <a14:m>
                  <m:oMath xmlns:m="http://schemas.openxmlformats.org/officeDocument/2006/math">
                    <m:r>
                      <a:rPr lang="en-US" altLang="zh-TW" i="1" smtClean="0">
                        <a:latin typeface="Cambria Math" panose="02040503050406030204" pitchFamily="18" charset="0"/>
                        <a:ea typeface="Cambria Math" panose="02040503050406030204" pitchFamily="18" charset="0"/>
                      </a:rPr>
                      <m:t>∅</m:t>
                    </m:r>
                  </m:oMath>
                </a14:m>
                <a:r>
                  <a:rPr lang="en-US" altLang="zh-TW" dirty="0" smtClean="0">
                    <a:ea typeface="+mj-ea"/>
                  </a:rPr>
                  <a:t>  (Pattern deletion)</a:t>
                </a:r>
              </a:p>
              <a:p>
                <a:pPr marL="0" indent="0">
                  <a:buNone/>
                </a:pPr>
                <a:r>
                  <a:rPr lang="en-US" altLang="zh-TW" dirty="0">
                    <a:ea typeface="+mj-ea"/>
                  </a:rPr>
                  <a:t>f</a:t>
                </a:r>
                <a:r>
                  <a:rPr lang="en-US" altLang="zh-TW" dirty="0" smtClean="0">
                    <a:ea typeface="+mj-ea"/>
                  </a:rPr>
                  <a:t> match to </a:t>
                </a:r>
                <a14:m>
                  <m:oMath xmlns:m="http://schemas.openxmlformats.org/officeDocument/2006/math">
                    <m:r>
                      <a:rPr lang="en-US" altLang="zh-TW" i="1" smtClean="0">
                        <a:latin typeface="Cambria Math" panose="02040503050406030204" pitchFamily="18" charset="0"/>
                        <a:ea typeface="Cambria Math" panose="02040503050406030204" pitchFamily="18" charset="0"/>
                      </a:rPr>
                      <m:t>∅</m:t>
                    </m:r>
                  </m:oMath>
                </a14:m>
                <a:r>
                  <a:rPr lang="en-US" altLang="zh-TW" dirty="0" smtClean="0"/>
                  <a:t>   (Text deletion)</a:t>
                </a:r>
                <a:endParaRPr lang="en-US" altLang="zh-TW" dirty="0"/>
              </a:p>
              <a:p>
                <a:pPr marL="0" indent="0">
                  <a:buNone/>
                </a:pPr>
                <a:endParaRPr lang="zh-TW" altLang="en-US" dirty="0">
                  <a:ea typeface="+mj-ea"/>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542925" y="1825625"/>
                <a:ext cx="6789692" cy="5032375"/>
              </a:xfrm>
              <a:blipFill rotWithShape="0">
                <a:blip r:embed="rId2"/>
                <a:stretch>
                  <a:fillRect l="-1795" t="-193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73450535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The problem</a:t>
            </a:r>
            <a:endParaRPr lang="zh-TW" altLang="en-US" dirty="0"/>
          </a:p>
        </p:txBody>
      </p:sp>
      <p:sp>
        <p:nvSpPr>
          <p:cNvPr id="5" name="文字方塊 4"/>
          <p:cNvSpPr txBox="1"/>
          <p:nvPr/>
        </p:nvSpPr>
        <p:spPr>
          <a:xfrm>
            <a:off x="175144" y="1503566"/>
            <a:ext cx="5137112" cy="5262979"/>
          </a:xfrm>
          <a:prstGeom prst="rect">
            <a:avLst/>
          </a:prstGeom>
          <a:noFill/>
        </p:spPr>
        <p:txBody>
          <a:bodyPr wrap="none" rtlCol="0">
            <a:spAutoFit/>
          </a:bodyPr>
          <a:lstStyle/>
          <a:p>
            <a:r>
              <a:rPr lang="en-US" altLang="zh-TW" sz="2800" dirty="0" smtClean="0"/>
              <a:t>String matching with k mismatch</a:t>
            </a:r>
          </a:p>
          <a:p>
            <a:endParaRPr lang="en-US" altLang="zh-TW" sz="2800" dirty="0" smtClean="0"/>
          </a:p>
          <a:p>
            <a:r>
              <a:rPr lang="en-US" altLang="zh-TW" sz="2800" dirty="0" smtClean="0"/>
              <a:t>	Find all occurrences of the</a:t>
            </a:r>
            <a:r>
              <a:rPr lang="en-US" altLang="zh-TW" sz="2800" dirty="0"/>
              <a:t> </a:t>
            </a:r>
            <a:endParaRPr lang="en-US" altLang="zh-TW" sz="2800" dirty="0" smtClean="0"/>
          </a:p>
          <a:p>
            <a:r>
              <a:rPr lang="en-US" altLang="zh-TW" sz="2800" dirty="0"/>
              <a:t>p</a:t>
            </a:r>
            <a:r>
              <a:rPr lang="en-US" altLang="zh-TW" sz="2800" dirty="0" smtClean="0"/>
              <a:t>attern in the text with at most </a:t>
            </a:r>
          </a:p>
          <a:p>
            <a:r>
              <a:rPr lang="en-US" altLang="zh-TW" sz="2800" dirty="0" smtClean="0"/>
              <a:t>k mismatch</a:t>
            </a:r>
          </a:p>
          <a:p>
            <a:endParaRPr lang="en-US" altLang="zh-TW" sz="2800" dirty="0"/>
          </a:p>
          <a:p>
            <a:endParaRPr lang="en-US" altLang="zh-TW" sz="2800" dirty="0"/>
          </a:p>
          <a:p>
            <a:r>
              <a:rPr lang="en-US" altLang="zh-TW" sz="2800" dirty="0" smtClean="0"/>
              <a:t>String matching with k differences</a:t>
            </a:r>
          </a:p>
          <a:p>
            <a:endParaRPr lang="en-US" altLang="zh-TW" sz="2800" dirty="0"/>
          </a:p>
          <a:p>
            <a:r>
              <a:rPr lang="en-US" altLang="zh-TW" sz="2800" dirty="0" smtClean="0"/>
              <a:t>	Find all occurrences of the </a:t>
            </a:r>
          </a:p>
          <a:p>
            <a:r>
              <a:rPr lang="en-US" altLang="zh-TW" sz="2800" dirty="0"/>
              <a:t>p</a:t>
            </a:r>
            <a:r>
              <a:rPr lang="en-US" altLang="zh-TW" sz="2800" dirty="0" smtClean="0"/>
              <a:t>attern in the text with at most</a:t>
            </a:r>
          </a:p>
          <a:p>
            <a:r>
              <a:rPr lang="en-US" altLang="zh-TW" sz="2800" dirty="0"/>
              <a:t>k</a:t>
            </a:r>
            <a:r>
              <a:rPr lang="en-US" altLang="zh-TW" sz="2800" dirty="0" smtClean="0"/>
              <a:t> differences</a:t>
            </a:r>
            <a:endParaRPr lang="zh-TW" altLang="en-US" sz="2800" dirty="0"/>
          </a:p>
        </p:txBody>
      </p:sp>
      <mc:AlternateContent xmlns:mc="http://schemas.openxmlformats.org/markup-compatibility/2006" xmlns:a14="http://schemas.microsoft.com/office/drawing/2010/main">
        <mc:Choice Requires="a14">
          <p:sp>
            <p:nvSpPr>
              <p:cNvPr id="6" name="內容版面配置區 2"/>
              <p:cNvSpPr>
                <a:spLocks noGrp="1"/>
              </p:cNvSpPr>
              <p:nvPr>
                <p:ph idx="1"/>
              </p:nvPr>
            </p:nvSpPr>
            <p:spPr>
              <a:xfrm>
                <a:off x="5668736" y="1336286"/>
                <a:ext cx="3747407" cy="5032375"/>
              </a:xfrm>
            </p:spPr>
            <p:txBody>
              <a:bodyPr>
                <a:normAutofit lnSpcReduction="10000"/>
              </a:bodyPr>
              <a:lstStyle/>
              <a:p>
                <a:pPr marL="0" indent="0">
                  <a:buNone/>
                </a:pPr>
                <a:endParaRPr lang="en-US" altLang="zh-TW" dirty="0">
                  <a:ea typeface="+mj-ea"/>
                </a:endParaRPr>
              </a:p>
              <a:p>
                <a:pPr marL="0" indent="0">
                  <a:buNone/>
                </a:pPr>
                <a:r>
                  <a:rPr lang="en-US" altLang="zh-TW" dirty="0">
                    <a:ea typeface="+mj-ea"/>
                  </a:rPr>
                  <a:t>c</a:t>
                </a:r>
                <a:r>
                  <a:rPr lang="en-US" altLang="zh-TW" dirty="0" smtClean="0">
                    <a:ea typeface="+mj-ea"/>
                  </a:rPr>
                  <a:t> match to x</a:t>
                </a:r>
              </a:p>
              <a:p>
                <a:pPr marL="0" indent="0">
                  <a:buNone/>
                </a:pPr>
                <a:endParaRPr lang="en-US" altLang="zh-TW" dirty="0" smtClean="0">
                  <a:ea typeface="+mj-ea"/>
                </a:endParaRPr>
              </a:p>
              <a:p>
                <a:pPr marL="0" indent="0">
                  <a:buNone/>
                </a:pPr>
                <a:endParaRPr lang="en-US" altLang="zh-TW" dirty="0">
                  <a:ea typeface="+mj-ea"/>
                </a:endParaRPr>
              </a:p>
              <a:p>
                <a:pPr marL="0" indent="0">
                  <a:buNone/>
                </a:pPr>
                <a:endParaRPr lang="en-US" altLang="zh-TW" dirty="0" smtClean="0">
                  <a:ea typeface="+mj-ea"/>
                </a:endParaRPr>
              </a:p>
              <a:p>
                <a:pPr marL="0" indent="0">
                  <a:buNone/>
                </a:pPr>
                <a:endParaRPr lang="en-US" altLang="zh-TW" dirty="0">
                  <a:ea typeface="+mj-ea"/>
                </a:endParaRPr>
              </a:p>
              <a:p>
                <a:pPr marL="0" indent="0">
                  <a:buNone/>
                </a:pPr>
                <a:endParaRPr lang="en-US" altLang="zh-TW" dirty="0" smtClean="0">
                  <a:ea typeface="+mj-ea"/>
                </a:endParaRPr>
              </a:p>
              <a:p>
                <a:pPr marL="0" indent="0">
                  <a:buNone/>
                </a:pPr>
                <a:r>
                  <a:rPr lang="en-US" altLang="zh-TW" dirty="0"/>
                  <a:t>c match to x</a:t>
                </a:r>
              </a:p>
              <a:p>
                <a:pPr marL="0" indent="0">
                  <a:buNone/>
                </a:pPr>
                <a:r>
                  <a:rPr lang="en-US" altLang="zh-TW" dirty="0"/>
                  <a:t>y match to </a:t>
                </a:r>
                <a14:m>
                  <m:oMath xmlns:m="http://schemas.openxmlformats.org/officeDocument/2006/math">
                    <m:r>
                      <a:rPr lang="en-US" altLang="zh-TW" i="1" smtClean="0">
                        <a:latin typeface="Cambria Math" panose="02040503050406030204" pitchFamily="18" charset="0"/>
                        <a:ea typeface="Cambria Math" panose="02040503050406030204" pitchFamily="18" charset="0"/>
                      </a:rPr>
                      <m:t>∅</m:t>
                    </m:r>
                  </m:oMath>
                </a14:m>
                <a:endParaRPr lang="en-US" altLang="zh-TW" dirty="0"/>
              </a:p>
              <a:p>
                <a:pPr marL="0" indent="0">
                  <a:buNone/>
                </a:pPr>
                <a:r>
                  <a:rPr lang="en-US" altLang="zh-TW" dirty="0"/>
                  <a:t>f match to </a:t>
                </a:r>
                <a14:m>
                  <m:oMath xmlns:m="http://schemas.openxmlformats.org/officeDocument/2006/math">
                    <m:r>
                      <a:rPr lang="en-US" altLang="zh-TW" i="1" smtClean="0">
                        <a:latin typeface="Cambria Math" panose="02040503050406030204" pitchFamily="18" charset="0"/>
                        <a:ea typeface="Cambria Math" panose="02040503050406030204" pitchFamily="18" charset="0"/>
                      </a:rPr>
                      <m:t>∅</m:t>
                    </m:r>
                  </m:oMath>
                </a14:m>
                <a:endParaRPr lang="en-US" altLang="zh-TW" dirty="0"/>
              </a:p>
              <a:p>
                <a:pPr marL="0" indent="0">
                  <a:buNone/>
                </a:pPr>
                <a:endParaRPr lang="zh-TW" altLang="en-US" dirty="0">
                  <a:ea typeface="+mj-ea"/>
                </a:endParaRPr>
              </a:p>
            </p:txBody>
          </p:sp>
        </mc:Choice>
        <mc:Fallback xmlns="">
          <p:sp>
            <p:nvSpPr>
              <p:cNvPr id="6" name="內容版面配置區 2"/>
              <p:cNvSpPr>
                <a:spLocks noGrp="1" noRot="1" noChangeAspect="1" noMove="1" noResize="1" noEditPoints="1" noAdjustHandles="1" noChangeArrowheads="1" noChangeShapeType="1" noTextEdit="1"/>
              </p:cNvSpPr>
              <p:nvPr>
                <p:ph idx="1"/>
              </p:nvPr>
            </p:nvSpPr>
            <p:spPr>
              <a:xfrm>
                <a:off x="5668736" y="1336286"/>
                <a:ext cx="3747407" cy="5032375"/>
              </a:xfrm>
              <a:blipFill rotWithShape="0">
                <a:blip r:embed="rId2"/>
                <a:stretch>
                  <a:fillRect l="-34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p:cNvSpPr txBox="1"/>
              <p:nvPr/>
            </p:nvSpPr>
            <p:spPr>
              <a:xfrm>
                <a:off x="5570375" y="6243325"/>
                <a:ext cx="3280578" cy="523220"/>
              </a:xfrm>
              <a:prstGeom prst="rect">
                <a:avLst/>
              </a:prstGeom>
              <a:noFill/>
            </p:spPr>
            <p:txBody>
              <a:bodyPr wrap="none" rtlCol="0">
                <a:spAutoFit/>
              </a:bodyPr>
              <a:lstStyle/>
              <a:p>
                <a:r>
                  <a:rPr lang="en-US" altLang="zh-TW" sz="2800" dirty="0" smtClean="0"/>
                  <a:t>Running time </a:t>
                </a:r>
                <a14:m>
                  <m:oMath xmlns:m="http://schemas.openxmlformats.org/officeDocument/2006/math">
                    <m:r>
                      <a:rPr lang="en-US" altLang="zh-TW" sz="2800" b="0" i="1" smtClean="0">
                        <a:latin typeface="Cambria Math" panose="02040503050406030204" pitchFamily="18" charset="0"/>
                      </a:rPr>
                      <m:t>𝑂</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𝑚𝑛</m:t>
                    </m:r>
                    <m:r>
                      <a:rPr lang="en-US" altLang="zh-TW" sz="2800" b="0" i="1" smtClean="0">
                        <a:latin typeface="Cambria Math" panose="02040503050406030204" pitchFamily="18" charset="0"/>
                      </a:rPr>
                      <m:t>)</m:t>
                    </m:r>
                  </m:oMath>
                </a14:m>
                <a:endParaRPr lang="zh-TW" altLang="en-US" sz="2800"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5570375" y="6243325"/>
                <a:ext cx="3280578" cy="523220"/>
              </a:xfrm>
              <a:prstGeom prst="rect">
                <a:avLst/>
              </a:prstGeom>
              <a:blipFill rotWithShape="0">
                <a:blip r:embed="rId3"/>
                <a:stretch>
                  <a:fillRect l="-3903" t="-10465" b="-3255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59958255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txBox="1">
            <a:spLocks/>
          </p:cNvSpPr>
          <p:nvPr/>
        </p:nvSpPr>
        <p:spPr>
          <a:xfrm>
            <a:off x="608013" y="1571625"/>
            <a:ext cx="7772400" cy="1470025"/>
          </a:xfrm>
          <a:prstGeom prst="rect">
            <a:avLst/>
          </a:prstGeom>
        </p:spPr>
        <p:txBody>
          <a:bodyPr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r>
              <a:rPr lang="en-US" altLang="zh-TW" b="1" dirty="0"/>
              <a:t>Efficient two-dimensional pattern matching in the presence of errors</a:t>
            </a:r>
            <a:endParaRPr kumimoji="0" lang="zh-TW" altLang="en-US" dirty="0">
              <a:latin typeface="Arial Unicode MS" pitchFamily="34" charset="-120"/>
              <a:ea typeface="Arial Unicode MS" pitchFamily="34" charset="-120"/>
              <a:cs typeface="Arial Unicode MS" pitchFamily="34" charset="-120"/>
            </a:endParaRPr>
          </a:p>
        </p:txBody>
      </p:sp>
      <p:sp>
        <p:nvSpPr>
          <p:cNvPr id="5" name="副標題 2"/>
          <p:cNvSpPr txBox="1">
            <a:spLocks/>
          </p:cNvSpPr>
          <p:nvPr/>
        </p:nvSpPr>
        <p:spPr>
          <a:xfrm>
            <a:off x="1406525" y="3019425"/>
            <a:ext cx="6400800" cy="479425"/>
          </a:xfrm>
          <a:prstGeom prst="rect">
            <a:avLst/>
          </a:prstGeom>
        </p:spPr>
        <p:txBody>
          <a:bodyPr>
            <a:normAutofit fontScale="925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fontAlgn="auto">
              <a:spcAft>
                <a:spcPts val="0"/>
              </a:spcAft>
              <a:defRPr/>
            </a:pPr>
            <a:r>
              <a:rPr lang="en-US" altLang="zh-TW" sz="3100" dirty="0"/>
              <a:t>Kamala </a:t>
            </a:r>
            <a:r>
              <a:rPr lang="en-US" altLang="zh-TW" sz="3100" dirty="0" err="1" smtClean="0"/>
              <a:t>Krithivasan</a:t>
            </a:r>
            <a:r>
              <a:rPr lang="en-US" altLang="zh-TW" sz="3100" dirty="0" smtClean="0"/>
              <a:t> </a:t>
            </a:r>
            <a:r>
              <a:rPr lang="en-US" altLang="zh-TW" sz="3100" dirty="0"/>
              <a:t>and R. </a:t>
            </a:r>
            <a:r>
              <a:rPr lang="en-US" altLang="zh-TW" sz="3100" dirty="0" err="1"/>
              <a:t>Sitalakshmi</a:t>
            </a:r>
            <a:endParaRPr lang="en-US" altLang="zh-TW" sz="3100" dirty="0"/>
          </a:p>
        </p:txBody>
      </p:sp>
      <p:graphicFrame>
        <p:nvGraphicFramePr>
          <p:cNvPr id="6" name="表格 5"/>
          <p:cNvGraphicFramePr>
            <a:graphicFrameLocks noGrp="1"/>
          </p:cNvGraphicFramePr>
          <p:nvPr>
            <p:extLst>
              <p:ext uri="{D42A27DB-BD31-4B8C-83A1-F6EECF244321}">
                <p14:modId xmlns:p14="http://schemas.microsoft.com/office/powerpoint/2010/main" val="3565284694"/>
              </p:ext>
            </p:extLst>
          </p:nvPr>
        </p:nvGraphicFramePr>
        <p:xfrm>
          <a:off x="1782146" y="3581400"/>
          <a:ext cx="5561045" cy="1220788"/>
        </p:xfrm>
        <a:graphic>
          <a:graphicData uri="http://schemas.openxmlformats.org/drawingml/2006/table">
            <a:tbl>
              <a:tblPr/>
              <a:tblGrid>
                <a:gridCol w="5561045"/>
              </a:tblGrid>
              <a:tr h="56754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kern="1200" dirty="0" smtClean="0">
                          <a:solidFill>
                            <a:schemeClr val="tx1"/>
                          </a:solidFill>
                          <a:effectLst/>
                          <a:latin typeface="Verdana" panose="020B0604030504040204" pitchFamily="34" charset="0"/>
                          <a:ea typeface="+mn-ea"/>
                          <a:cs typeface="+mn-cs"/>
                        </a:rPr>
                        <a:t>Information Sciences</a:t>
                      </a:r>
                      <a:endParaRPr lang="en-US" sz="1800" kern="1200" dirty="0">
                        <a:solidFill>
                          <a:schemeClr val="tx1"/>
                        </a:solidFill>
                        <a:effectLst/>
                        <a:latin typeface="Verdana" panose="020B0604030504040204" pitchFamily="34" charset="0"/>
                        <a:ea typeface="+mn-ea"/>
                        <a:cs typeface="+mn-cs"/>
                      </a:endParaRPr>
                    </a:p>
                  </a:txBody>
                  <a:tcPr marL="95250" marR="9525" marT="9523" marB="9523">
                    <a:lnL>
                      <a:noFill/>
                    </a:lnL>
                    <a:lnR>
                      <a:noFill/>
                    </a:lnR>
                    <a:lnT>
                      <a:noFill/>
                    </a:lnT>
                    <a:lnB>
                      <a:noFill/>
                    </a:lnB>
                    <a:solidFill>
                      <a:srgbClr val="FFFFFF"/>
                    </a:solidFill>
                  </a:tcPr>
                </a:tc>
              </a:tr>
              <a:tr h="653245">
                <a:tc>
                  <a:txBody>
                    <a:bodyPr/>
                    <a:lstStyle/>
                    <a:p>
                      <a:r>
                        <a:rPr lang="en-US" altLang="zh-TW" sz="1400" kern="1200" dirty="0" smtClean="0">
                          <a:solidFill>
                            <a:schemeClr val="tx1"/>
                          </a:solidFill>
                          <a:effectLst/>
                          <a:latin typeface="Verdana" panose="020B0604030504040204" pitchFamily="34" charset="0"/>
                          <a:ea typeface="+mn-ea"/>
                          <a:cs typeface="+mn-cs"/>
                        </a:rPr>
                        <a:t>Volume 43, Issue 3, December 1987, Pages 169–184</a:t>
                      </a:r>
                      <a:endParaRPr lang="en-US" sz="1400" kern="1200" dirty="0">
                        <a:solidFill>
                          <a:schemeClr val="tx1"/>
                        </a:solidFill>
                        <a:effectLst/>
                        <a:latin typeface="Verdana" panose="020B0604030504040204" pitchFamily="34" charset="0"/>
                        <a:ea typeface="+mn-ea"/>
                        <a:cs typeface="+mn-cs"/>
                      </a:endParaRPr>
                    </a:p>
                  </a:txBody>
                  <a:tcPr marL="95250" marR="9525" marT="9523" marB="95225">
                    <a:lnL>
                      <a:noFill/>
                    </a:lnL>
                    <a:lnR>
                      <a:noFill/>
                    </a:lnR>
                    <a:lnT>
                      <a:noFill/>
                    </a:lnT>
                    <a:lnB>
                      <a:noFill/>
                    </a:lnB>
                    <a:solidFill>
                      <a:srgbClr val="FFFFFF"/>
                    </a:solidFill>
                  </a:tcPr>
                </a:tc>
              </a:tr>
            </a:tbl>
          </a:graphicData>
        </a:graphic>
      </p:graphicFrame>
      <p:sp>
        <p:nvSpPr>
          <p:cNvPr id="3079" name="文字方塊 6"/>
          <p:cNvSpPr txBox="1">
            <a:spLocks noChangeArrowheads="1"/>
          </p:cNvSpPr>
          <p:nvPr/>
        </p:nvSpPr>
        <p:spPr bwMode="auto">
          <a:xfrm>
            <a:off x="3132138" y="5229225"/>
            <a:ext cx="32480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kumimoji="0" lang="en-US" altLang="zh-TW" sz="1800" dirty="0"/>
              <a:t>Presenter:  Huang-Ting Chan</a:t>
            </a:r>
          </a:p>
          <a:p>
            <a:pPr eaLnBrk="1" hangingPunct="1">
              <a:spcBef>
                <a:spcPct val="0"/>
              </a:spcBef>
              <a:buFontTx/>
              <a:buNone/>
            </a:pPr>
            <a:r>
              <a:rPr kumimoji="0" lang="en-US" altLang="zh-TW" sz="1800" dirty="0"/>
              <a:t>Date:</a:t>
            </a:r>
            <a:fld id="{F3590F60-3E7B-48AD-979A-345F224951B5}" type="datetime1">
              <a:rPr kumimoji="0" lang="zh-TW" altLang="en-US" sz="1800"/>
              <a:pPr eaLnBrk="1" hangingPunct="1">
                <a:spcBef>
                  <a:spcPct val="0"/>
                </a:spcBef>
                <a:buFontTx/>
                <a:buNone/>
              </a:pPr>
              <a:t>2015/5/12</a:t>
            </a:fld>
            <a:endParaRPr kumimoji="0" lang="zh-TW" altLang="en-US" sz="1800" dirty="0"/>
          </a:p>
        </p:txBody>
      </p:sp>
    </p:spTree>
    <p:extLst>
      <p:ext uri="{BB962C8B-B14F-4D97-AF65-F5344CB8AC3E}">
        <p14:creationId xmlns:p14="http://schemas.microsoft.com/office/powerpoint/2010/main" val="65391512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The problem</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r>
                  <a:rPr lang="en-US" altLang="zh-TW" dirty="0" smtClean="0"/>
                  <a:t>Find out whether pattern(an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𝑛</m:t>
                        </m:r>
                      </m:e>
                      <m:sub>
                        <m:r>
                          <a:rPr lang="en-US" altLang="zh-TW" b="0" i="1" smtClean="0">
                            <a:latin typeface="Cambria Math" panose="02040503050406030204" pitchFamily="18" charset="0"/>
                          </a:rPr>
                          <m:t>1</m:t>
                        </m:r>
                      </m:sub>
                    </m:sSub>
                    <m:r>
                      <a:rPr lang="en-US" altLang="zh-TW" i="1" smtClean="0">
                        <a:latin typeface="Cambria Math" panose="02040503050406030204" pitchFamily="18" charset="0"/>
                        <a:ea typeface="Cambria Math" panose="02040503050406030204" pitchFamily="18" charset="0"/>
                      </a:rPr>
                      <m:t>×</m:t>
                    </m:r>
                    <m:sSub>
                      <m:sSubPr>
                        <m:ctrlPr>
                          <a:rPr lang="en-US" altLang="zh-TW"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𝑛</m:t>
                        </m:r>
                      </m:e>
                      <m:sub>
                        <m:r>
                          <a:rPr lang="en-US" altLang="zh-TW" b="0" i="1" smtClean="0">
                            <a:latin typeface="Cambria Math" panose="02040503050406030204" pitchFamily="18" charset="0"/>
                            <a:ea typeface="Cambria Math" panose="02040503050406030204" pitchFamily="18" charset="0"/>
                          </a:rPr>
                          <m:t>2</m:t>
                        </m:r>
                      </m:sub>
                    </m:sSub>
                  </m:oMath>
                </a14:m>
                <a:r>
                  <a:rPr lang="en-US" altLang="zh-TW" dirty="0" smtClean="0"/>
                  <a:t> array) occurs as a subarray of text(an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𝑚</m:t>
                        </m:r>
                      </m:e>
                      <m:sub>
                        <m:r>
                          <a:rPr lang="en-US" altLang="zh-TW" b="0" i="1" smtClean="0">
                            <a:latin typeface="Cambria Math" panose="02040503050406030204" pitchFamily="18" charset="0"/>
                          </a:rPr>
                          <m:t>1</m:t>
                        </m:r>
                      </m:sub>
                    </m:sSub>
                    <m:r>
                      <a:rPr lang="en-US" altLang="zh-TW" i="1" smtClean="0">
                        <a:latin typeface="Cambria Math" panose="02040503050406030204" pitchFamily="18" charset="0"/>
                        <a:ea typeface="Cambria Math" panose="02040503050406030204" pitchFamily="18" charset="0"/>
                      </a:rPr>
                      <m:t>×</m:t>
                    </m:r>
                    <m:sSub>
                      <m:sSubPr>
                        <m:ctrlPr>
                          <a:rPr lang="en-US" altLang="zh-TW"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𝑚</m:t>
                        </m:r>
                      </m:e>
                      <m:sub>
                        <m:r>
                          <a:rPr lang="en-US" altLang="zh-TW" b="0" i="1" smtClean="0">
                            <a:latin typeface="Cambria Math" panose="02040503050406030204" pitchFamily="18" charset="0"/>
                            <a:ea typeface="Cambria Math" panose="02040503050406030204" pitchFamily="18" charset="0"/>
                          </a:rPr>
                          <m:t>2</m:t>
                        </m:r>
                      </m:sub>
                    </m:sSub>
                  </m:oMath>
                </a14:m>
                <a:r>
                  <a:rPr lang="en-US" altLang="zh-TW" dirty="0" smtClean="0"/>
                  <a:t> array) with at most k mismatches.</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546" t="-2241" r="-2164"/>
                </a:stretch>
              </a:blipFill>
            </p:spPr>
            <p:txBody>
              <a:bodyPr/>
              <a:lstStyle/>
              <a:p>
                <a:r>
                  <a:rPr lang="zh-TW" altLang="en-US">
                    <a:noFill/>
                  </a:rPr>
                  <a:t> </a:t>
                </a:r>
              </a:p>
            </p:txBody>
          </p:sp>
        </mc:Fallback>
      </mc:AlternateContent>
      <p:graphicFrame>
        <p:nvGraphicFramePr>
          <p:cNvPr id="4" name="表格 3"/>
          <p:cNvGraphicFramePr>
            <a:graphicFrameLocks noGrp="1"/>
          </p:cNvGraphicFramePr>
          <p:nvPr>
            <p:extLst>
              <p:ext uri="{D42A27DB-BD31-4B8C-83A1-F6EECF244321}">
                <p14:modId xmlns:p14="http://schemas.microsoft.com/office/powerpoint/2010/main" val="1731344942"/>
              </p:ext>
            </p:extLst>
          </p:nvPr>
        </p:nvGraphicFramePr>
        <p:xfrm>
          <a:off x="706017" y="3866676"/>
          <a:ext cx="2299062" cy="1681072"/>
        </p:xfrm>
        <a:graphic>
          <a:graphicData uri="http://schemas.openxmlformats.org/drawingml/2006/table">
            <a:tbl>
              <a:tblPr firstRow="1" bandRow="1">
                <a:tableStyleId>{5940675A-B579-460E-94D1-54222C63F5DA}</a:tableStyleId>
              </a:tblPr>
              <a:tblGrid>
                <a:gridCol w="766354"/>
                <a:gridCol w="766354"/>
                <a:gridCol w="766354"/>
              </a:tblGrid>
              <a:tr h="420268">
                <a:tc>
                  <a:txBody>
                    <a:bodyPr/>
                    <a:lstStyle/>
                    <a:p>
                      <a:r>
                        <a:rPr lang="en-US" altLang="zh-TW" sz="2000" dirty="0" smtClean="0"/>
                        <a:t>A</a:t>
                      </a:r>
                      <a:endParaRPr lang="zh-TW" altLang="en-US" sz="2000" dirty="0"/>
                    </a:p>
                  </a:txBody>
                  <a:tcPr/>
                </a:tc>
                <a:tc>
                  <a:txBody>
                    <a:bodyPr/>
                    <a:lstStyle/>
                    <a:p>
                      <a:r>
                        <a:rPr lang="en-US" altLang="zh-TW" sz="2000" dirty="0" smtClean="0"/>
                        <a:t>B</a:t>
                      </a:r>
                      <a:endParaRPr lang="zh-TW" altLang="en-US" sz="2000" dirty="0"/>
                    </a:p>
                  </a:txBody>
                  <a:tcPr/>
                </a:tc>
                <a:tc>
                  <a:txBody>
                    <a:bodyPr/>
                    <a:lstStyle/>
                    <a:p>
                      <a:r>
                        <a:rPr lang="en-US" altLang="zh-TW" sz="2000" dirty="0" smtClean="0"/>
                        <a:t>C</a:t>
                      </a:r>
                      <a:endParaRPr lang="zh-TW" altLang="en-US" sz="2000" dirty="0"/>
                    </a:p>
                  </a:txBody>
                  <a:tcPr/>
                </a:tc>
              </a:tr>
              <a:tr h="420268">
                <a:tc>
                  <a:txBody>
                    <a:bodyPr/>
                    <a:lstStyle/>
                    <a:p>
                      <a:r>
                        <a:rPr lang="en-US" altLang="zh-TW" sz="2000" dirty="0" smtClean="0"/>
                        <a:t>A</a:t>
                      </a:r>
                      <a:endParaRPr lang="zh-TW" altLang="en-US" sz="2000" dirty="0"/>
                    </a:p>
                  </a:txBody>
                  <a:tcPr/>
                </a:tc>
                <a:tc>
                  <a:txBody>
                    <a:bodyPr/>
                    <a:lstStyle/>
                    <a:p>
                      <a:r>
                        <a:rPr lang="en-US" altLang="zh-TW" sz="2000" dirty="0" smtClean="0"/>
                        <a:t>A</a:t>
                      </a:r>
                      <a:endParaRPr lang="zh-TW" altLang="en-US" sz="2000" dirty="0"/>
                    </a:p>
                  </a:txBody>
                  <a:tcPr/>
                </a:tc>
                <a:tc>
                  <a:txBody>
                    <a:bodyPr/>
                    <a:lstStyle/>
                    <a:p>
                      <a:r>
                        <a:rPr lang="en-US" altLang="zh-TW" sz="2000" dirty="0" smtClean="0"/>
                        <a:t>C</a:t>
                      </a:r>
                      <a:endParaRPr lang="zh-TW" altLang="en-US" sz="2000" dirty="0"/>
                    </a:p>
                  </a:txBody>
                  <a:tcPr/>
                </a:tc>
              </a:tr>
              <a:tr h="420268">
                <a:tc>
                  <a:txBody>
                    <a:bodyPr/>
                    <a:lstStyle/>
                    <a:p>
                      <a:r>
                        <a:rPr lang="en-US" altLang="zh-TW" sz="2000" dirty="0" smtClean="0"/>
                        <a:t>B</a:t>
                      </a:r>
                      <a:endParaRPr lang="zh-TW" altLang="en-US" sz="2000" dirty="0"/>
                    </a:p>
                  </a:txBody>
                  <a:tcPr/>
                </a:tc>
                <a:tc>
                  <a:txBody>
                    <a:bodyPr/>
                    <a:lstStyle/>
                    <a:p>
                      <a:r>
                        <a:rPr lang="en-US" altLang="zh-TW" sz="2000" dirty="0" smtClean="0"/>
                        <a:t>A</a:t>
                      </a:r>
                      <a:endParaRPr lang="zh-TW" altLang="en-US" sz="2000" dirty="0"/>
                    </a:p>
                  </a:txBody>
                  <a:tcPr/>
                </a:tc>
                <a:tc>
                  <a:txBody>
                    <a:bodyPr/>
                    <a:lstStyle/>
                    <a:p>
                      <a:r>
                        <a:rPr lang="en-US" altLang="zh-TW" sz="2000" dirty="0" smtClean="0"/>
                        <a:t>B</a:t>
                      </a:r>
                      <a:endParaRPr lang="zh-TW" altLang="en-US" sz="2000" dirty="0"/>
                    </a:p>
                  </a:txBody>
                  <a:tcPr/>
                </a:tc>
              </a:tr>
              <a:tr h="420268">
                <a:tc>
                  <a:txBody>
                    <a:bodyPr/>
                    <a:lstStyle/>
                    <a:p>
                      <a:r>
                        <a:rPr lang="en-US" altLang="zh-TW" sz="2000" dirty="0" smtClean="0"/>
                        <a:t>C</a:t>
                      </a:r>
                      <a:endParaRPr lang="zh-TW" altLang="en-US" sz="2000" dirty="0"/>
                    </a:p>
                  </a:txBody>
                  <a:tcPr/>
                </a:tc>
                <a:tc>
                  <a:txBody>
                    <a:bodyPr/>
                    <a:lstStyle/>
                    <a:p>
                      <a:r>
                        <a:rPr lang="en-US" altLang="zh-TW" sz="2000" dirty="0" smtClean="0"/>
                        <a:t>B</a:t>
                      </a:r>
                      <a:endParaRPr lang="zh-TW" altLang="en-US" sz="2000" dirty="0"/>
                    </a:p>
                  </a:txBody>
                  <a:tcPr/>
                </a:tc>
                <a:tc>
                  <a:txBody>
                    <a:bodyPr/>
                    <a:lstStyle/>
                    <a:p>
                      <a:r>
                        <a:rPr lang="en-US" altLang="zh-TW" sz="2000" dirty="0" smtClean="0"/>
                        <a:t>A</a:t>
                      </a:r>
                      <a:endParaRPr lang="zh-TW" altLang="en-US" sz="2000" dirty="0"/>
                    </a:p>
                  </a:txBody>
                  <a:tcP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1024111777"/>
              </p:ext>
            </p:extLst>
          </p:nvPr>
        </p:nvGraphicFramePr>
        <p:xfrm>
          <a:off x="4367350" y="4333654"/>
          <a:ext cx="1515292" cy="849814"/>
        </p:xfrm>
        <a:graphic>
          <a:graphicData uri="http://schemas.openxmlformats.org/drawingml/2006/table">
            <a:tbl>
              <a:tblPr firstRow="1" bandRow="1">
                <a:tableStyleId>{5940675A-B579-460E-94D1-54222C63F5DA}</a:tableStyleId>
              </a:tblPr>
              <a:tblGrid>
                <a:gridCol w="757646"/>
                <a:gridCol w="757646"/>
              </a:tblGrid>
              <a:tr h="424907">
                <a:tc>
                  <a:txBody>
                    <a:bodyPr/>
                    <a:lstStyle/>
                    <a:p>
                      <a:r>
                        <a:rPr lang="en-US" altLang="zh-TW" sz="2000" dirty="0" smtClean="0"/>
                        <a:t>A</a:t>
                      </a:r>
                      <a:endParaRPr lang="zh-TW" altLang="en-US" sz="2000" dirty="0"/>
                    </a:p>
                  </a:txBody>
                  <a:tcPr/>
                </a:tc>
                <a:tc>
                  <a:txBody>
                    <a:bodyPr/>
                    <a:lstStyle/>
                    <a:p>
                      <a:r>
                        <a:rPr lang="en-US" altLang="zh-TW" sz="2000" dirty="0" smtClean="0"/>
                        <a:t>C</a:t>
                      </a:r>
                      <a:endParaRPr lang="zh-TW" altLang="en-US" sz="2000" dirty="0"/>
                    </a:p>
                  </a:txBody>
                  <a:tcPr/>
                </a:tc>
              </a:tr>
              <a:tr h="424907">
                <a:tc>
                  <a:txBody>
                    <a:bodyPr/>
                    <a:lstStyle/>
                    <a:p>
                      <a:r>
                        <a:rPr lang="en-US" altLang="zh-TW" sz="2000" dirty="0" smtClean="0"/>
                        <a:t>C</a:t>
                      </a:r>
                      <a:endParaRPr lang="zh-TW" altLang="en-US" sz="2000" dirty="0"/>
                    </a:p>
                  </a:txBody>
                  <a:tcPr/>
                </a:tc>
                <a:tc>
                  <a:txBody>
                    <a:bodyPr/>
                    <a:lstStyle/>
                    <a:p>
                      <a:r>
                        <a:rPr lang="en-US" altLang="zh-TW" sz="2000" dirty="0" smtClean="0"/>
                        <a:t>B</a:t>
                      </a:r>
                      <a:endParaRPr lang="zh-TW" altLang="en-US" sz="2000" dirty="0"/>
                    </a:p>
                  </a:txBody>
                  <a:tcPr/>
                </a:tc>
              </a:tr>
            </a:tbl>
          </a:graphicData>
        </a:graphic>
      </p:graphicFrame>
      <mc:AlternateContent xmlns:mc="http://schemas.openxmlformats.org/markup-compatibility/2006" xmlns:a14="http://schemas.microsoft.com/office/drawing/2010/main">
        <mc:Choice Requires="a14">
          <p:sp>
            <p:nvSpPr>
              <p:cNvPr id="6" name="文字方塊 5"/>
              <p:cNvSpPr txBox="1"/>
              <p:nvPr/>
            </p:nvSpPr>
            <p:spPr>
              <a:xfrm>
                <a:off x="1053582" y="6050289"/>
                <a:ext cx="7884466" cy="523220"/>
              </a:xfrm>
              <a:prstGeom prst="rect">
                <a:avLst/>
              </a:prstGeom>
              <a:noFill/>
            </p:spPr>
            <p:txBody>
              <a:bodyPr wrap="none" rtlCol="0">
                <a:spAutoFit/>
              </a:bodyPr>
              <a:lstStyle/>
              <a:p>
                <a:r>
                  <a:rPr lang="en-US" altLang="zh-TW" sz="2800" dirty="0" smtClean="0"/>
                  <a:t>Running time </a:t>
                </a:r>
                <a14:m>
                  <m:oMath xmlns:m="http://schemas.openxmlformats.org/officeDocument/2006/math">
                    <m:r>
                      <a:rPr lang="en-US" altLang="zh-TW" sz="2800" b="0" i="1" smtClean="0">
                        <a:latin typeface="Cambria Math" panose="02040503050406030204" pitchFamily="18" charset="0"/>
                      </a:rPr>
                      <m:t>𝑂</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𝑘</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𝑛</m:t>
                        </m:r>
                      </m:e>
                      <m:sub>
                        <m:r>
                          <a:rPr lang="en-US" altLang="zh-TW" sz="2800" b="0" i="1" smtClean="0">
                            <a:latin typeface="Cambria Math" panose="02040503050406030204" pitchFamily="18" charset="0"/>
                          </a:rPr>
                          <m:t>1</m:t>
                        </m:r>
                      </m:sub>
                    </m:sSub>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𝑛</m:t>
                        </m:r>
                      </m:e>
                      <m:sub>
                        <m:r>
                          <a:rPr lang="en-US" altLang="zh-TW" sz="2800" b="0" i="1" smtClean="0">
                            <a:latin typeface="Cambria Math" panose="02040503050406030204" pitchFamily="18" charset="0"/>
                          </a:rPr>
                          <m:t>2</m:t>
                        </m:r>
                      </m:sub>
                    </m:sSub>
                    <m:r>
                      <a:rPr lang="en-US" altLang="zh-TW" sz="2800" b="0" i="1" smtClean="0">
                        <a:latin typeface="Cambria Math" panose="02040503050406030204" pitchFamily="18" charset="0"/>
                      </a:rPr>
                      <m:t>𝑙𝑜𝑔</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𝑛</m:t>
                        </m:r>
                      </m:e>
                      <m:sub>
                        <m:r>
                          <a:rPr lang="en-US" altLang="zh-TW" sz="2800" b="0" i="1" smtClean="0">
                            <a:latin typeface="Cambria Math" panose="02040503050406030204" pitchFamily="18" charset="0"/>
                          </a:rPr>
                          <m:t>2</m:t>
                        </m:r>
                      </m:sub>
                    </m:sSub>
                    <m:r>
                      <a:rPr lang="en-US" altLang="zh-TW" sz="2800" b="0" i="1" smtClean="0">
                        <a:latin typeface="Cambria Math" panose="02040503050406030204" pitchFamily="18" charset="0"/>
                      </a:rPr>
                      <m:t>+</m:t>
                    </m:r>
                    <m:sSup>
                      <m:sSupPr>
                        <m:ctrlPr>
                          <a:rPr lang="en-US" altLang="zh-TW" sz="2800" b="0" i="1" smtClean="0">
                            <a:latin typeface="Cambria Math" panose="02040503050406030204" pitchFamily="18" charset="0"/>
                          </a:rPr>
                        </m:ctrlPr>
                      </m:sSupPr>
                      <m:e>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𝑛</m:t>
                            </m:r>
                          </m:e>
                          <m:sub>
                            <m:r>
                              <a:rPr lang="en-US" altLang="zh-TW" sz="2800" b="0" i="1" smtClean="0">
                                <a:latin typeface="Cambria Math" panose="02040503050406030204" pitchFamily="18" charset="0"/>
                              </a:rPr>
                              <m:t>1</m:t>
                            </m:r>
                          </m:sub>
                        </m:sSub>
                      </m:e>
                      <m:sup>
                        <m:r>
                          <a:rPr lang="en-US" altLang="zh-TW" sz="2800" b="0" i="1" smtClean="0">
                            <a:latin typeface="Cambria Math" panose="02040503050406030204" pitchFamily="18" charset="0"/>
                          </a:rPr>
                          <m:t>2</m:t>
                        </m:r>
                      </m:sup>
                    </m:sSup>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𝑛</m:t>
                        </m:r>
                      </m:e>
                      <m:sub>
                        <m:r>
                          <a:rPr lang="en-US" altLang="zh-TW" sz="2800" b="0" i="1" smtClean="0">
                            <a:latin typeface="Cambria Math" panose="02040503050406030204" pitchFamily="18" charset="0"/>
                          </a:rPr>
                          <m:t>2</m:t>
                        </m:r>
                      </m:sub>
                    </m:sSub>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𝑘</m:t>
                    </m:r>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𝑛</m:t>
                        </m:r>
                      </m:e>
                      <m:sub>
                        <m:r>
                          <a:rPr lang="en-US" altLang="zh-TW" sz="2800" b="0" i="1" smtClean="0">
                            <a:latin typeface="Cambria Math" panose="02040503050406030204" pitchFamily="18" charset="0"/>
                          </a:rPr>
                          <m:t>1</m:t>
                        </m:r>
                      </m:sub>
                    </m:sSub>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𝑚</m:t>
                        </m:r>
                      </m:e>
                      <m:sub>
                        <m:r>
                          <a:rPr lang="en-US" altLang="zh-TW" sz="2800" b="0" i="1" smtClean="0">
                            <a:latin typeface="Cambria Math" panose="02040503050406030204" pitchFamily="18" charset="0"/>
                          </a:rPr>
                          <m:t>1</m:t>
                        </m:r>
                      </m:sub>
                    </m:sSub>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𝑚</m:t>
                        </m:r>
                      </m:e>
                      <m:sub>
                        <m:r>
                          <a:rPr lang="en-US" altLang="zh-TW" sz="2800" b="0" i="1" smtClean="0">
                            <a:latin typeface="Cambria Math" panose="02040503050406030204" pitchFamily="18" charset="0"/>
                          </a:rPr>
                          <m:t>2</m:t>
                        </m:r>
                      </m:sub>
                    </m:sSub>
                    <m:r>
                      <a:rPr lang="en-US" altLang="zh-TW" sz="2800" b="0" i="1" smtClean="0">
                        <a:latin typeface="Cambria Math" panose="02040503050406030204" pitchFamily="18" charset="0"/>
                      </a:rPr>
                      <m:t>)</m:t>
                    </m:r>
                  </m:oMath>
                </a14:m>
                <a:endParaRPr lang="zh-TW" altLang="en-US" sz="2800"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1053582" y="6050289"/>
                <a:ext cx="7884466" cy="523220"/>
              </a:xfrm>
              <a:prstGeom prst="rect">
                <a:avLst/>
              </a:prstGeom>
              <a:blipFill rotWithShape="0">
                <a:blip r:embed="rId3"/>
                <a:stretch>
                  <a:fillRect l="-1624" t="-11765" b="-3411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14661659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The problem</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r>
                  <a:rPr lang="en-US" altLang="zh-TW" dirty="0" smtClean="0"/>
                  <a:t>Find out whether pattern(an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𝑛</m:t>
                        </m:r>
                      </m:e>
                      <m:sub>
                        <m:r>
                          <a:rPr lang="en-US" altLang="zh-TW" b="0" i="1" smtClean="0">
                            <a:latin typeface="Cambria Math" panose="02040503050406030204" pitchFamily="18" charset="0"/>
                          </a:rPr>
                          <m:t>1</m:t>
                        </m:r>
                      </m:sub>
                    </m:sSub>
                    <m:r>
                      <a:rPr lang="en-US" altLang="zh-TW" i="1" smtClean="0">
                        <a:latin typeface="Cambria Math" panose="02040503050406030204" pitchFamily="18" charset="0"/>
                        <a:ea typeface="Cambria Math" panose="02040503050406030204" pitchFamily="18" charset="0"/>
                      </a:rPr>
                      <m:t>×</m:t>
                    </m:r>
                    <m:sSub>
                      <m:sSubPr>
                        <m:ctrlPr>
                          <a:rPr lang="en-US" altLang="zh-TW"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𝑛</m:t>
                        </m:r>
                      </m:e>
                      <m:sub>
                        <m:r>
                          <a:rPr lang="en-US" altLang="zh-TW" b="0" i="1" smtClean="0">
                            <a:latin typeface="Cambria Math" panose="02040503050406030204" pitchFamily="18" charset="0"/>
                            <a:ea typeface="Cambria Math" panose="02040503050406030204" pitchFamily="18" charset="0"/>
                          </a:rPr>
                          <m:t>2</m:t>
                        </m:r>
                      </m:sub>
                    </m:sSub>
                  </m:oMath>
                </a14:m>
                <a:r>
                  <a:rPr lang="en-US" altLang="zh-TW" dirty="0" smtClean="0"/>
                  <a:t> array) occurs as a subarray of text(an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𝑚</m:t>
                        </m:r>
                      </m:e>
                      <m:sub>
                        <m:r>
                          <a:rPr lang="en-US" altLang="zh-TW" b="0" i="1" smtClean="0">
                            <a:latin typeface="Cambria Math" panose="02040503050406030204" pitchFamily="18" charset="0"/>
                          </a:rPr>
                          <m:t>1</m:t>
                        </m:r>
                      </m:sub>
                    </m:sSub>
                    <m:r>
                      <a:rPr lang="en-US" altLang="zh-TW" i="1" smtClean="0">
                        <a:latin typeface="Cambria Math" panose="02040503050406030204" pitchFamily="18" charset="0"/>
                        <a:ea typeface="Cambria Math" panose="02040503050406030204" pitchFamily="18" charset="0"/>
                      </a:rPr>
                      <m:t>×</m:t>
                    </m:r>
                    <m:sSub>
                      <m:sSubPr>
                        <m:ctrlPr>
                          <a:rPr lang="en-US" altLang="zh-TW"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𝑚</m:t>
                        </m:r>
                      </m:e>
                      <m:sub>
                        <m:r>
                          <a:rPr lang="en-US" altLang="zh-TW" b="0" i="1" smtClean="0">
                            <a:latin typeface="Cambria Math" panose="02040503050406030204" pitchFamily="18" charset="0"/>
                            <a:ea typeface="Cambria Math" panose="02040503050406030204" pitchFamily="18" charset="0"/>
                          </a:rPr>
                          <m:t>2</m:t>
                        </m:r>
                      </m:sub>
                    </m:sSub>
                  </m:oMath>
                </a14:m>
                <a:r>
                  <a:rPr lang="en-US" altLang="zh-TW" dirty="0" smtClean="0"/>
                  <a:t> array) with at most k mismatches.</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546" t="-2241" r="-2164"/>
                </a:stretch>
              </a:blipFill>
            </p:spPr>
            <p:txBody>
              <a:bodyPr/>
              <a:lstStyle/>
              <a:p>
                <a:r>
                  <a:rPr lang="zh-TW" altLang="en-US">
                    <a:noFill/>
                  </a:rPr>
                  <a:t> </a:t>
                </a:r>
              </a:p>
            </p:txBody>
          </p:sp>
        </mc:Fallback>
      </mc:AlternateContent>
      <p:graphicFrame>
        <p:nvGraphicFramePr>
          <p:cNvPr id="4" name="表格 3"/>
          <p:cNvGraphicFramePr>
            <a:graphicFrameLocks noGrp="1"/>
          </p:cNvGraphicFramePr>
          <p:nvPr/>
        </p:nvGraphicFramePr>
        <p:xfrm>
          <a:off x="706017" y="4152426"/>
          <a:ext cx="2299062" cy="1681072"/>
        </p:xfrm>
        <a:graphic>
          <a:graphicData uri="http://schemas.openxmlformats.org/drawingml/2006/table">
            <a:tbl>
              <a:tblPr firstRow="1" bandRow="1">
                <a:tableStyleId>{5940675A-B579-460E-94D1-54222C63F5DA}</a:tableStyleId>
              </a:tblPr>
              <a:tblGrid>
                <a:gridCol w="766354"/>
                <a:gridCol w="766354"/>
                <a:gridCol w="766354"/>
              </a:tblGrid>
              <a:tr h="420268">
                <a:tc>
                  <a:txBody>
                    <a:bodyPr/>
                    <a:lstStyle/>
                    <a:p>
                      <a:r>
                        <a:rPr lang="en-US" altLang="zh-TW" sz="2000" dirty="0" smtClean="0"/>
                        <a:t>A</a:t>
                      </a:r>
                      <a:endParaRPr lang="zh-TW" altLang="en-US" sz="2000" dirty="0"/>
                    </a:p>
                  </a:txBody>
                  <a:tcPr/>
                </a:tc>
                <a:tc>
                  <a:txBody>
                    <a:bodyPr/>
                    <a:lstStyle/>
                    <a:p>
                      <a:r>
                        <a:rPr lang="en-US" altLang="zh-TW" sz="2000" dirty="0" smtClean="0"/>
                        <a:t>B</a:t>
                      </a:r>
                      <a:endParaRPr lang="zh-TW" altLang="en-US" sz="2000" dirty="0"/>
                    </a:p>
                  </a:txBody>
                  <a:tcPr/>
                </a:tc>
                <a:tc>
                  <a:txBody>
                    <a:bodyPr/>
                    <a:lstStyle/>
                    <a:p>
                      <a:r>
                        <a:rPr lang="en-US" altLang="zh-TW" sz="2000" dirty="0" smtClean="0"/>
                        <a:t>C</a:t>
                      </a:r>
                      <a:endParaRPr lang="zh-TW" altLang="en-US" sz="2000" dirty="0"/>
                    </a:p>
                  </a:txBody>
                  <a:tcPr/>
                </a:tc>
              </a:tr>
              <a:tr h="420268">
                <a:tc>
                  <a:txBody>
                    <a:bodyPr/>
                    <a:lstStyle/>
                    <a:p>
                      <a:r>
                        <a:rPr lang="en-US" altLang="zh-TW" sz="2000" dirty="0" smtClean="0"/>
                        <a:t>A</a:t>
                      </a:r>
                      <a:endParaRPr lang="zh-TW" altLang="en-US" sz="2000" dirty="0"/>
                    </a:p>
                  </a:txBody>
                  <a:tcPr/>
                </a:tc>
                <a:tc>
                  <a:txBody>
                    <a:bodyPr/>
                    <a:lstStyle/>
                    <a:p>
                      <a:r>
                        <a:rPr lang="en-US" altLang="zh-TW" sz="2000" dirty="0" smtClean="0"/>
                        <a:t>A</a:t>
                      </a:r>
                      <a:endParaRPr lang="zh-TW" altLang="en-US" sz="2000" dirty="0"/>
                    </a:p>
                  </a:txBody>
                  <a:tcPr/>
                </a:tc>
                <a:tc>
                  <a:txBody>
                    <a:bodyPr/>
                    <a:lstStyle/>
                    <a:p>
                      <a:r>
                        <a:rPr lang="en-US" altLang="zh-TW" sz="2000" dirty="0" smtClean="0"/>
                        <a:t>C</a:t>
                      </a:r>
                      <a:endParaRPr lang="zh-TW" altLang="en-US" sz="2000" dirty="0"/>
                    </a:p>
                  </a:txBody>
                  <a:tcPr/>
                </a:tc>
              </a:tr>
              <a:tr h="420268">
                <a:tc>
                  <a:txBody>
                    <a:bodyPr/>
                    <a:lstStyle/>
                    <a:p>
                      <a:r>
                        <a:rPr lang="en-US" altLang="zh-TW" sz="2000" dirty="0" smtClean="0"/>
                        <a:t>B</a:t>
                      </a:r>
                      <a:endParaRPr lang="zh-TW" altLang="en-US" sz="2000" dirty="0"/>
                    </a:p>
                  </a:txBody>
                  <a:tcPr/>
                </a:tc>
                <a:tc>
                  <a:txBody>
                    <a:bodyPr/>
                    <a:lstStyle/>
                    <a:p>
                      <a:r>
                        <a:rPr lang="en-US" altLang="zh-TW" sz="2000" dirty="0" smtClean="0"/>
                        <a:t>A</a:t>
                      </a:r>
                      <a:endParaRPr lang="zh-TW" altLang="en-US" sz="2000" dirty="0"/>
                    </a:p>
                  </a:txBody>
                  <a:tcPr/>
                </a:tc>
                <a:tc>
                  <a:txBody>
                    <a:bodyPr/>
                    <a:lstStyle/>
                    <a:p>
                      <a:r>
                        <a:rPr lang="en-US" altLang="zh-TW" sz="2000" dirty="0" smtClean="0"/>
                        <a:t>B</a:t>
                      </a:r>
                      <a:endParaRPr lang="zh-TW" altLang="en-US" sz="2000" dirty="0"/>
                    </a:p>
                  </a:txBody>
                  <a:tcPr/>
                </a:tc>
              </a:tr>
              <a:tr h="420268">
                <a:tc>
                  <a:txBody>
                    <a:bodyPr/>
                    <a:lstStyle/>
                    <a:p>
                      <a:r>
                        <a:rPr lang="en-US" altLang="zh-TW" sz="2000" dirty="0" smtClean="0"/>
                        <a:t>C</a:t>
                      </a:r>
                      <a:endParaRPr lang="zh-TW" altLang="en-US" sz="2000" dirty="0"/>
                    </a:p>
                  </a:txBody>
                  <a:tcPr/>
                </a:tc>
                <a:tc>
                  <a:txBody>
                    <a:bodyPr/>
                    <a:lstStyle/>
                    <a:p>
                      <a:r>
                        <a:rPr lang="en-US" altLang="zh-TW" sz="2000" dirty="0" smtClean="0"/>
                        <a:t>B</a:t>
                      </a:r>
                      <a:endParaRPr lang="zh-TW" altLang="en-US" sz="2000" dirty="0"/>
                    </a:p>
                  </a:txBody>
                  <a:tcPr/>
                </a:tc>
                <a:tc>
                  <a:txBody>
                    <a:bodyPr/>
                    <a:lstStyle/>
                    <a:p>
                      <a:r>
                        <a:rPr lang="en-US" altLang="zh-TW" sz="2000" dirty="0" smtClean="0"/>
                        <a:t>A</a:t>
                      </a:r>
                      <a:endParaRPr lang="zh-TW" altLang="en-US" sz="2000" dirty="0"/>
                    </a:p>
                  </a:txBody>
                  <a:tcPr/>
                </a:tc>
              </a:tr>
            </a:tbl>
          </a:graphicData>
        </a:graphic>
      </p:graphicFrame>
      <p:graphicFrame>
        <p:nvGraphicFramePr>
          <p:cNvPr id="5" name="表格 4"/>
          <p:cNvGraphicFramePr>
            <a:graphicFrameLocks noGrp="1"/>
          </p:cNvGraphicFramePr>
          <p:nvPr/>
        </p:nvGraphicFramePr>
        <p:xfrm>
          <a:off x="4367350" y="4333654"/>
          <a:ext cx="1515292" cy="849814"/>
        </p:xfrm>
        <a:graphic>
          <a:graphicData uri="http://schemas.openxmlformats.org/drawingml/2006/table">
            <a:tbl>
              <a:tblPr firstRow="1" bandRow="1">
                <a:tableStyleId>{5940675A-B579-460E-94D1-54222C63F5DA}</a:tableStyleId>
              </a:tblPr>
              <a:tblGrid>
                <a:gridCol w="757646"/>
                <a:gridCol w="757646"/>
              </a:tblGrid>
              <a:tr h="424907">
                <a:tc>
                  <a:txBody>
                    <a:bodyPr/>
                    <a:lstStyle/>
                    <a:p>
                      <a:r>
                        <a:rPr lang="en-US" altLang="zh-TW" sz="2000" dirty="0" smtClean="0"/>
                        <a:t>A</a:t>
                      </a:r>
                      <a:endParaRPr lang="zh-TW" altLang="en-US" sz="2000" dirty="0"/>
                    </a:p>
                  </a:txBody>
                  <a:tcPr/>
                </a:tc>
                <a:tc>
                  <a:txBody>
                    <a:bodyPr/>
                    <a:lstStyle/>
                    <a:p>
                      <a:r>
                        <a:rPr lang="en-US" altLang="zh-TW" sz="2000" dirty="0" smtClean="0"/>
                        <a:t>C</a:t>
                      </a:r>
                      <a:endParaRPr lang="zh-TW" altLang="en-US" sz="2000" dirty="0"/>
                    </a:p>
                  </a:txBody>
                  <a:tcPr/>
                </a:tc>
              </a:tr>
              <a:tr h="424907">
                <a:tc>
                  <a:txBody>
                    <a:bodyPr/>
                    <a:lstStyle/>
                    <a:p>
                      <a:r>
                        <a:rPr lang="en-US" altLang="zh-TW" sz="2000" dirty="0" smtClean="0"/>
                        <a:t>C</a:t>
                      </a:r>
                      <a:endParaRPr lang="zh-TW" altLang="en-US" sz="2000" dirty="0"/>
                    </a:p>
                  </a:txBody>
                  <a:tcPr/>
                </a:tc>
                <a:tc>
                  <a:txBody>
                    <a:bodyPr/>
                    <a:lstStyle/>
                    <a:p>
                      <a:r>
                        <a:rPr lang="en-US" altLang="zh-TW" sz="2000" dirty="0" smtClean="0"/>
                        <a:t>B</a:t>
                      </a:r>
                      <a:endParaRPr lang="zh-TW" altLang="en-US" sz="2000" dirty="0"/>
                    </a:p>
                  </a:txBody>
                  <a:tcPr/>
                </a:tc>
              </a:tr>
            </a:tbl>
          </a:graphicData>
        </a:graphic>
      </p:graphicFrame>
      <p:sp>
        <p:nvSpPr>
          <p:cNvPr id="6" name="文字方塊 5"/>
          <p:cNvSpPr txBox="1"/>
          <p:nvPr/>
        </p:nvSpPr>
        <p:spPr>
          <a:xfrm>
            <a:off x="3125755" y="3265714"/>
            <a:ext cx="732893" cy="523220"/>
          </a:xfrm>
          <a:prstGeom prst="rect">
            <a:avLst/>
          </a:prstGeom>
          <a:noFill/>
        </p:spPr>
        <p:txBody>
          <a:bodyPr wrap="none" rtlCol="0">
            <a:spAutoFit/>
          </a:bodyPr>
          <a:lstStyle/>
          <a:p>
            <a:r>
              <a:rPr lang="en-US" altLang="zh-TW" sz="2800" dirty="0" smtClean="0"/>
              <a:t>K=1</a:t>
            </a:r>
            <a:endParaRPr lang="zh-TW" altLang="en-US" sz="2800" dirty="0"/>
          </a:p>
        </p:txBody>
      </p:sp>
      <p:sp>
        <p:nvSpPr>
          <p:cNvPr id="7" name="矩形 6"/>
          <p:cNvSpPr/>
          <p:nvPr/>
        </p:nvSpPr>
        <p:spPr>
          <a:xfrm>
            <a:off x="1427584" y="4572000"/>
            <a:ext cx="1698171" cy="839755"/>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38753898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The problem</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r>
                  <a:rPr lang="en-US" altLang="zh-TW" dirty="0" smtClean="0"/>
                  <a:t>Find out whether pattern(an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𝑛</m:t>
                        </m:r>
                      </m:e>
                      <m:sub>
                        <m:r>
                          <a:rPr lang="en-US" altLang="zh-TW" b="0" i="1" smtClean="0">
                            <a:latin typeface="Cambria Math" panose="02040503050406030204" pitchFamily="18" charset="0"/>
                          </a:rPr>
                          <m:t>1</m:t>
                        </m:r>
                      </m:sub>
                    </m:sSub>
                    <m:r>
                      <a:rPr lang="en-US" altLang="zh-TW" i="1" smtClean="0">
                        <a:latin typeface="Cambria Math" panose="02040503050406030204" pitchFamily="18" charset="0"/>
                        <a:ea typeface="Cambria Math" panose="02040503050406030204" pitchFamily="18" charset="0"/>
                      </a:rPr>
                      <m:t>×</m:t>
                    </m:r>
                    <m:sSub>
                      <m:sSubPr>
                        <m:ctrlPr>
                          <a:rPr lang="en-US" altLang="zh-TW"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𝑛</m:t>
                        </m:r>
                      </m:e>
                      <m:sub>
                        <m:r>
                          <a:rPr lang="en-US" altLang="zh-TW" b="0" i="1" smtClean="0">
                            <a:latin typeface="Cambria Math" panose="02040503050406030204" pitchFamily="18" charset="0"/>
                            <a:ea typeface="Cambria Math" panose="02040503050406030204" pitchFamily="18" charset="0"/>
                          </a:rPr>
                          <m:t>2</m:t>
                        </m:r>
                      </m:sub>
                    </m:sSub>
                  </m:oMath>
                </a14:m>
                <a:r>
                  <a:rPr lang="en-US" altLang="zh-TW" dirty="0" smtClean="0"/>
                  <a:t> array) occurs as a subarray of text(an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𝑚</m:t>
                        </m:r>
                      </m:e>
                      <m:sub>
                        <m:r>
                          <a:rPr lang="en-US" altLang="zh-TW" b="0" i="1" smtClean="0">
                            <a:latin typeface="Cambria Math" panose="02040503050406030204" pitchFamily="18" charset="0"/>
                          </a:rPr>
                          <m:t>1</m:t>
                        </m:r>
                      </m:sub>
                    </m:sSub>
                    <m:r>
                      <a:rPr lang="en-US" altLang="zh-TW" i="1" smtClean="0">
                        <a:latin typeface="Cambria Math" panose="02040503050406030204" pitchFamily="18" charset="0"/>
                        <a:ea typeface="Cambria Math" panose="02040503050406030204" pitchFamily="18" charset="0"/>
                      </a:rPr>
                      <m:t>×</m:t>
                    </m:r>
                    <m:sSub>
                      <m:sSubPr>
                        <m:ctrlPr>
                          <a:rPr lang="en-US" altLang="zh-TW"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𝑚</m:t>
                        </m:r>
                      </m:e>
                      <m:sub>
                        <m:r>
                          <a:rPr lang="en-US" altLang="zh-TW" b="0" i="1" smtClean="0">
                            <a:latin typeface="Cambria Math" panose="02040503050406030204" pitchFamily="18" charset="0"/>
                            <a:ea typeface="Cambria Math" panose="02040503050406030204" pitchFamily="18" charset="0"/>
                          </a:rPr>
                          <m:t>2</m:t>
                        </m:r>
                      </m:sub>
                    </m:sSub>
                  </m:oMath>
                </a14:m>
                <a:r>
                  <a:rPr lang="en-US" altLang="zh-TW" dirty="0" smtClean="0"/>
                  <a:t> array) with at most k mismatches.</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546" t="-2241" r="-2164"/>
                </a:stretch>
              </a:blipFill>
            </p:spPr>
            <p:txBody>
              <a:bodyPr/>
              <a:lstStyle/>
              <a:p>
                <a:r>
                  <a:rPr lang="zh-TW" altLang="en-US">
                    <a:noFill/>
                  </a:rPr>
                  <a:t> </a:t>
                </a:r>
              </a:p>
            </p:txBody>
          </p:sp>
        </mc:Fallback>
      </mc:AlternateContent>
      <p:graphicFrame>
        <p:nvGraphicFramePr>
          <p:cNvPr id="4" name="表格 3"/>
          <p:cNvGraphicFramePr>
            <a:graphicFrameLocks noGrp="1"/>
          </p:cNvGraphicFramePr>
          <p:nvPr/>
        </p:nvGraphicFramePr>
        <p:xfrm>
          <a:off x="706017" y="4152426"/>
          <a:ext cx="2299062" cy="1681072"/>
        </p:xfrm>
        <a:graphic>
          <a:graphicData uri="http://schemas.openxmlformats.org/drawingml/2006/table">
            <a:tbl>
              <a:tblPr firstRow="1" bandRow="1">
                <a:tableStyleId>{5940675A-B579-460E-94D1-54222C63F5DA}</a:tableStyleId>
              </a:tblPr>
              <a:tblGrid>
                <a:gridCol w="766354"/>
                <a:gridCol w="766354"/>
                <a:gridCol w="766354"/>
              </a:tblGrid>
              <a:tr h="420268">
                <a:tc>
                  <a:txBody>
                    <a:bodyPr/>
                    <a:lstStyle/>
                    <a:p>
                      <a:r>
                        <a:rPr lang="en-US" altLang="zh-TW" sz="2000" dirty="0" smtClean="0"/>
                        <a:t>A</a:t>
                      </a:r>
                      <a:endParaRPr lang="zh-TW" altLang="en-US" sz="2000" dirty="0"/>
                    </a:p>
                  </a:txBody>
                  <a:tcPr/>
                </a:tc>
                <a:tc>
                  <a:txBody>
                    <a:bodyPr/>
                    <a:lstStyle/>
                    <a:p>
                      <a:r>
                        <a:rPr lang="en-US" altLang="zh-TW" sz="2000" dirty="0" smtClean="0"/>
                        <a:t>B</a:t>
                      </a:r>
                      <a:endParaRPr lang="zh-TW" altLang="en-US" sz="2000" dirty="0"/>
                    </a:p>
                  </a:txBody>
                  <a:tcPr/>
                </a:tc>
                <a:tc>
                  <a:txBody>
                    <a:bodyPr/>
                    <a:lstStyle/>
                    <a:p>
                      <a:r>
                        <a:rPr lang="en-US" altLang="zh-TW" sz="2000" dirty="0" smtClean="0"/>
                        <a:t>C</a:t>
                      </a:r>
                      <a:endParaRPr lang="zh-TW" altLang="en-US" sz="2000" dirty="0"/>
                    </a:p>
                  </a:txBody>
                  <a:tcPr/>
                </a:tc>
              </a:tr>
              <a:tr h="420268">
                <a:tc>
                  <a:txBody>
                    <a:bodyPr/>
                    <a:lstStyle/>
                    <a:p>
                      <a:r>
                        <a:rPr lang="en-US" altLang="zh-TW" sz="2000" dirty="0" smtClean="0"/>
                        <a:t>A</a:t>
                      </a:r>
                      <a:endParaRPr lang="zh-TW" altLang="en-US" sz="2000" dirty="0"/>
                    </a:p>
                  </a:txBody>
                  <a:tcPr/>
                </a:tc>
                <a:tc>
                  <a:txBody>
                    <a:bodyPr/>
                    <a:lstStyle/>
                    <a:p>
                      <a:r>
                        <a:rPr lang="en-US" altLang="zh-TW" sz="2000" dirty="0" smtClean="0"/>
                        <a:t>A</a:t>
                      </a:r>
                      <a:endParaRPr lang="zh-TW" altLang="en-US" sz="2000" dirty="0"/>
                    </a:p>
                  </a:txBody>
                  <a:tcPr/>
                </a:tc>
                <a:tc>
                  <a:txBody>
                    <a:bodyPr/>
                    <a:lstStyle/>
                    <a:p>
                      <a:r>
                        <a:rPr lang="en-US" altLang="zh-TW" sz="2000" dirty="0" smtClean="0"/>
                        <a:t>C</a:t>
                      </a:r>
                      <a:endParaRPr lang="zh-TW" altLang="en-US" sz="2000" dirty="0"/>
                    </a:p>
                  </a:txBody>
                  <a:tcPr/>
                </a:tc>
              </a:tr>
              <a:tr h="420268">
                <a:tc>
                  <a:txBody>
                    <a:bodyPr/>
                    <a:lstStyle/>
                    <a:p>
                      <a:r>
                        <a:rPr lang="en-US" altLang="zh-TW" sz="2000" dirty="0" smtClean="0"/>
                        <a:t>B</a:t>
                      </a:r>
                      <a:endParaRPr lang="zh-TW" altLang="en-US" sz="2000" dirty="0"/>
                    </a:p>
                  </a:txBody>
                  <a:tcPr/>
                </a:tc>
                <a:tc>
                  <a:txBody>
                    <a:bodyPr/>
                    <a:lstStyle/>
                    <a:p>
                      <a:r>
                        <a:rPr lang="en-US" altLang="zh-TW" sz="2000" dirty="0" smtClean="0"/>
                        <a:t>A</a:t>
                      </a:r>
                      <a:endParaRPr lang="zh-TW" altLang="en-US" sz="2000" dirty="0"/>
                    </a:p>
                  </a:txBody>
                  <a:tcPr/>
                </a:tc>
                <a:tc>
                  <a:txBody>
                    <a:bodyPr/>
                    <a:lstStyle/>
                    <a:p>
                      <a:r>
                        <a:rPr lang="en-US" altLang="zh-TW" sz="2000" dirty="0" smtClean="0"/>
                        <a:t>B</a:t>
                      </a:r>
                      <a:endParaRPr lang="zh-TW" altLang="en-US" sz="2000" dirty="0"/>
                    </a:p>
                  </a:txBody>
                  <a:tcPr/>
                </a:tc>
              </a:tr>
              <a:tr h="420268">
                <a:tc>
                  <a:txBody>
                    <a:bodyPr/>
                    <a:lstStyle/>
                    <a:p>
                      <a:r>
                        <a:rPr lang="en-US" altLang="zh-TW" sz="2000" dirty="0" smtClean="0"/>
                        <a:t>C</a:t>
                      </a:r>
                      <a:endParaRPr lang="zh-TW" altLang="en-US" sz="2000" dirty="0"/>
                    </a:p>
                  </a:txBody>
                  <a:tcPr/>
                </a:tc>
                <a:tc>
                  <a:txBody>
                    <a:bodyPr/>
                    <a:lstStyle/>
                    <a:p>
                      <a:r>
                        <a:rPr lang="en-US" altLang="zh-TW" sz="2000" dirty="0" smtClean="0"/>
                        <a:t>B</a:t>
                      </a:r>
                      <a:endParaRPr lang="zh-TW" altLang="en-US" sz="2000" dirty="0"/>
                    </a:p>
                  </a:txBody>
                  <a:tcPr/>
                </a:tc>
                <a:tc>
                  <a:txBody>
                    <a:bodyPr/>
                    <a:lstStyle/>
                    <a:p>
                      <a:r>
                        <a:rPr lang="en-US" altLang="zh-TW" sz="2000" dirty="0" smtClean="0"/>
                        <a:t>A</a:t>
                      </a:r>
                      <a:endParaRPr lang="zh-TW" altLang="en-US" sz="2000" dirty="0"/>
                    </a:p>
                  </a:txBody>
                  <a:tcPr/>
                </a:tc>
              </a:tr>
            </a:tbl>
          </a:graphicData>
        </a:graphic>
      </p:graphicFrame>
      <p:graphicFrame>
        <p:nvGraphicFramePr>
          <p:cNvPr id="5" name="表格 4"/>
          <p:cNvGraphicFramePr>
            <a:graphicFrameLocks noGrp="1"/>
          </p:cNvGraphicFramePr>
          <p:nvPr/>
        </p:nvGraphicFramePr>
        <p:xfrm>
          <a:off x="4367350" y="4333654"/>
          <a:ext cx="1515292" cy="849814"/>
        </p:xfrm>
        <a:graphic>
          <a:graphicData uri="http://schemas.openxmlformats.org/drawingml/2006/table">
            <a:tbl>
              <a:tblPr firstRow="1" bandRow="1">
                <a:tableStyleId>{5940675A-B579-460E-94D1-54222C63F5DA}</a:tableStyleId>
              </a:tblPr>
              <a:tblGrid>
                <a:gridCol w="757646"/>
                <a:gridCol w="757646"/>
              </a:tblGrid>
              <a:tr h="424907">
                <a:tc>
                  <a:txBody>
                    <a:bodyPr/>
                    <a:lstStyle/>
                    <a:p>
                      <a:r>
                        <a:rPr lang="en-US" altLang="zh-TW" sz="2000" dirty="0" smtClean="0"/>
                        <a:t>A</a:t>
                      </a:r>
                      <a:endParaRPr lang="zh-TW" altLang="en-US" sz="2000" dirty="0"/>
                    </a:p>
                  </a:txBody>
                  <a:tcPr/>
                </a:tc>
                <a:tc>
                  <a:txBody>
                    <a:bodyPr/>
                    <a:lstStyle/>
                    <a:p>
                      <a:r>
                        <a:rPr lang="en-US" altLang="zh-TW" sz="2000" dirty="0" smtClean="0"/>
                        <a:t>C</a:t>
                      </a:r>
                      <a:endParaRPr lang="zh-TW" altLang="en-US" sz="2000" dirty="0"/>
                    </a:p>
                  </a:txBody>
                  <a:tcPr/>
                </a:tc>
              </a:tr>
              <a:tr h="424907">
                <a:tc>
                  <a:txBody>
                    <a:bodyPr/>
                    <a:lstStyle/>
                    <a:p>
                      <a:r>
                        <a:rPr lang="en-US" altLang="zh-TW" sz="2000" dirty="0" smtClean="0"/>
                        <a:t>C</a:t>
                      </a:r>
                      <a:endParaRPr lang="zh-TW" altLang="en-US" sz="2000" dirty="0"/>
                    </a:p>
                  </a:txBody>
                  <a:tcPr/>
                </a:tc>
                <a:tc>
                  <a:txBody>
                    <a:bodyPr/>
                    <a:lstStyle/>
                    <a:p>
                      <a:r>
                        <a:rPr lang="en-US" altLang="zh-TW" sz="2000" dirty="0" smtClean="0"/>
                        <a:t>B</a:t>
                      </a:r>
                      <a:endParaRPr lang="zh-TW" altLang="en-US" sz="2000" dirty="0"/>
                    </a:p>
                  </a:txBody>
                  <a:tcPr/>
                </a:tc>
              </a:tr>
            </a:tbl>
          </a:graphicData>
        </a:graphic>
      </p:graphicFrame>
      <p:sp>
        <p:nvSpPr>
          <p:cNvPr id="6" name="文字方塊 5"/>
          <p:cNvSpPr txBox="1"/>
          <p:nvPr/>
        </p:nvSpPr>
        <p:spPr>
          <a:xfrm>
            <a:off x="3125755" y="3265714"/>
            <a:ext cx="732893" cy="523220"/>
          </a:xfrm>
          <a:prstGeom prst="rect">
            <a:avLst/>
          </a:prstGeom>
          <a:noFill/>
        </p:spPr>
        <p:txBody>
          <a:bodyPr wrap="none" rtlCol="0">
            <a:spAutoFit/>
          </a:bodyPr>
          <a:lstStyle/>
          <a:p>
            <a:r>
              <a:rPr lang="en-US" altLang="zh-TW" sz="2800" dirty="0" smtClean="0"/>
              <a:t>K=2</a:t>
            </a:r>
            <a:endParaRPr lang="zh-TW" altLang="en-US" sz="2800" dirty="0"/>
          </a:p>
        </p:txBody>
      </p:sp>
      <p:sp>
        <p:nvSpPr>
          <p:cNvPr id="7" name="矩形 6"/>
          <p:cNvSpPr/>
          <p:nvPr/>
        </p:nvSpPr>
        <p:spPr>
          <a:xfrm>
            <a:off x="625150" y="4991876"/>
            <a:ext cx="1698171" cy="839755"/>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80577007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txBox="1">
            <a:spLocks/>
          </p:cNvSpPr>
          <p:nvPr/>
        </p:nvSpPr>
        <p:spPr>
          <a:xfrm>
            <a:off x="608013" y="1571625"/>
            <a:ext cx="7772400" cy="1470025"/>
          </a:xfrm>
          <a:prstGeom prst="rect">
            <a:avLst/>
          </a:prstGeom>
        </p:spPr>
        <p:txBody>
          <a:bodyPr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r>
              <a:rPr lang="en-US" altLang="zh-TW" b="1" dirty="0" smtClean="0"/>
              <a:t>Similarity </a:t>
            </a:r>
            <a:r>
              <a:rPr lang="en-US" altLang="zh-TW" b="1" dirty="0"/>
              <a:t>in Two-Dimensional Strings</a:t>
            </a:r>
            <a:endParaRPr kumimoji="0" lang="zh-TW" altLang="en-US" dirty="0">
              <a:latin typeface="Arial Unicode MS" pitchFamily="34" charset="-120"/>
              <a:ea typeface="Arial Unicode MS" pitchFamily="34" charset="-120"/>
              <a:cs typeface="Arial Unicode MS" pitchFamily="34" charset="-120"/>
            </a:endParaRPr>
          </a:p>
        </p:txBody>
      </p:sp>
      <p:sp>
        <p:nvSpPr>
          <p:cNvPr id="5" name="副標題 2"/>
          <p:cNvSpPr txBox="1">
            <a:spLocks/>
          </p:cNvSpPr>
          <p:nvPr/>
        </p:nvSpPr>
        <p:spPr>
          <a:xfrm>
            <a:off x="1406525" y="3019425"/>
            <a:ext cx="6400800" cy="479425"/>
          </a:xfrm>
          <a:prstGeom prst="rect">
            <a:avLst/>
          </a:prstGeom>
        </p:spPr>
        <p:txBody>
          <a:bodyPr>
            <a:normAutofit fontScale="925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fontAlgn="auto">
              <a:spcAft>
                <a:spcPts val="0"/>
              </a:spcAft>
              <a:defRPr/>
            </a:pPr>
            <a:r>
              <a:rPr lang="en-US" altLang="zh-TW" sz="3100" dirty="0"/>
              <a:t>Ricardo A. </a:t>
            </a:r>
            <a:r>
              <a:rPr lang="en-US" altLang="zh-TW" sz="3100" dirty="0" err="1"/>
              <a:t>Baeza</a:t>
            </a:r>
            <a:r>
              <a:rPr lang="en-US" altLang="zh-TW" sz="3100" dirty="0"/>
              <a:t>-Yates</a:t>
            </a:r>
          </a:p>
        </p:txBody>
      </p:sp>
      <p:graphicFrame>
        <p:nvGraphicFramePr>
          <p:cNvPr id="6" name="表格 5"/>
          <p:cNvGraphicFramePr>
            <a:graphicFrameLocks noGrp="1"/>
          </p:cNvGraphicFramePr>
          <p:nvPr>
            <p:extLst>
              <p:ext uri="{D42A27DB-BD31-4B8C-83A1-F6EECF244321}">
                <p14:modId xmlns:p14="http://schemas.microsoft.com/office/powerpoint/2010/main" val="2285652538"/>
              </p:ext>
            </p:extLst>
          </p:nvPr>
        </p:nvGraphicFramePr>
        <p:xfrm>
          <a:off x="1782146" y="3581400"/>
          <a:ext cx="5561045" cy="1220788"/>
        </p:xfrm>
        <a:graphic>
          <a:graphicData uri="http://schemas.openxmlformats.org/drawingml/2006/table">
            <a:tbl>
              <a:tblPr/>
              <a:tblGrid>
                <a:gridCol w="5561045"/>
              </a:tblGrid>
              <a:tr h="56754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kern="1200" dirty="0" smtClean="0">
                          <a:solidFill>
                            <a:schemeClr val="tx1"/>
                          </a:solidFill>
                          <a:effectLst/>
                          <a:latin typeface="Verdana" panose="020B0604030504040204" pitchFamily="34" charset="0"/>
                          <a:ea typeface="+mn-ea"/>
                          <a:cs typeface="+mn-cs"/>
                        </a:rPr>
                        <a:t>Lecture Notes in Computer Science </a:t>
                      </a:r>
                      <a:endParaRPr lang="en-US" sz="1800" kern="1200" dirty="0">
                        <a:solidFill>
                          <a:schemeClr val="tx1"/>
                        </a:solidFill>
                        <a:effectLst/>
                        <a:latin typeface="Verdana" panose="020B0604030504040204" pitchFamily="34" charset="0"/>
                        <a:ea typeface="+mn-ea"/>
                        <a:cs typeface="+mn-cs"/>
                      </a:endParaRPr>
                    </a:p>
                  </a:txBody>
                  <a:tcPr marL="95250" marR="9525" marT="9523" marB="9523">
                    <a:lnL>
                      <a:noFill/>
                    </a:lnL>
                    <a:lnR>
                      <a:noFill/>
                    </a:lnR>
                    <a:lnT>
                      <a:noFill/>
                    </a:lnT>
                    <a:lnB>
                      <a:noFill/>
                    </a:lnB>
                    <a:solidFill>
                      <a:srgbClr val="FFFFFF"/>
                    </a:solidFill>
                  </a:tcPr>
                </a:tc>
              </a:tr>
              <a:tr h="653245">
                <a:tc>
                  <a:txBody>
                    <a:bodyPr/>
                    <a:lstStyle/>
                    <a:p>
                      <a:r>
                        <a:rPr lang="en-US" altLang="zh-TW" sz="1400" kern="1200" dirty="0" smtClean="0">
                          <a:solidFill>
                            <a:schemeClr val="tx1"/>
                          </a:solidFill>
                          <a:effectLst/>
                          <a:latin typeface="Verdana" panose="020B0604030504040204" pitchFamily="34" charset="0"/>
                          <a:ea typeface="+mn-ea"/>
                          <a:cs typeface="+mn-cs"/>
                        </a:rPr>
                        <a:t>Volume 1449, 1998, pp 319-328</a:t>
                      </a:r>
                      <a:endParaRPr lang="en-US" sz="1400" kern="1200" dirty="0">
                        <a:solidFill>
                          <a:schemeClr val="tx1"/>
                        </a:solidFill>
                        <a:effectLst/>
                        <a:latin typeface="Verdana" panose="020B0604030504040204" pitchFamily="34" charset="0"/>
                        <a:ea typeface="+mn-ea"/>
                        <a:cs typeface="+mn-cs"/>
                      </a:endParaRPr>
                    </a:p>
                  </a:txBody>
                  <a:tcPr marL="95250" marR="9525" marT="9523" marB="95225">
                    <a:lnL>
                      <a:noFill/>
                    </a:lnL>
                    <a:lnR>
                      <a:noFill/>
                    </a:lnR>
                    <a:lnT>
                      <a:noFill/>
                    </a:lnT>
                    <a:lnB>
                      <a:noFill/>
                    </a:lnB>
                    <a:solidFill>
                      <a:srgbClr val="FFFFFF"/>
                    </a:solidFill>
                  </a:tcPr>
                </a:tc>
              </a:tr>
            </a:tbl>
          </a:graphicData>
        </a:graphic>
      </p:graphicFrame>
      <p:sp>
        <p:nvSpPr>
          <p:cNvPr id="3079" name="文字方塊 6"/>
          <p:cNvSpPr txBox="1">
            <a:spLocks noChangeArrowheads="1"/>
          </p:cNvSpPr>
          <p:nvPr/>
        </p:nvSpPr>
        <p:spPr bwMode="auto">
          <a:xfrm>
            <a:off x="3132138" y="5229225"/>
            <a:ext cx="32480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kumimoji="0" lang="en-US" altLang="zh-TW" sz="1800" dirty="0"/>
              <a:t>Presenter:  Huang-Ting Chan</a:t>
            </a:r>
          </a:p>
          <a:p>
            <a:pPr eaLnBrk="1" hangingPunct="1">
              <a:spcBef>
                <a:spcPct val="0"/>
              </a:spcBef>
              <a:buFontTx/>
              <a:buNone/>
            </a:pPr>
            <a:r>
              <a:rPr kumimoji="0" lang="en-US" altLang="zh-TW" sz="1800" dirty="0"/>
              <a:t>Date:</a:t>
            </a:r>
            <a:fld id="{F3590F60-3E7B-48AD-979A-345F224951B5}" type="datetime1">
              <a:rPr kumimoji="0" lang="zh-TW" altLang="en-US" sz="1800"/>
              <a:pPr eaLnBrk="1" hangingPunct="1">
                <a:spcBef>
                  <a:spcPct val="0"/>
                </a:spcBef>
                <a:buFontTx/>
                <a:buNone/>
              </a:pPr>
              <a:t>2015/5/12</a:t>
            </a:fld>
            <a:endParaRPr kumimoji="0" lang="zh-TW" altLang="en-US" sz="1800" dirty="0"/>
          </a:p>
        </p:txBody>
      </p:sp>
    </p:spTree>
    <p:extLst>
      <p:ext uri="{BB962C8B-B14F-4D97-AF65-F5344CB8AC3E}">
        <p14:creationId xmlns:p14="http://schemas.microsoft.com/office/powerpoint/2010/main" val="427355152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KS distance</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r>
                  <a:rPr lang="en-US" altLang="zh-TW" dirty="0" smtClean="0"/>
                  <a:t>Let a and b be two images of size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𝑛</m:t>
                        </m:r>
                      </m:e>
                      <m:sub>
                        <m:r>
                          <a:rPr lang="en-US" altLang="zh-TW" b="0" i="1" smtClean="0">
                            <a:latin typeface="Cambria Math" panose="02040503050406030204" pitchFamily="18" charset="0"/>
                          </a:rPr>
                          <m:t>𝑟</m:t>
                        </m:r>
                      </m:sub>
                    </m:sSub>
                    <m:r>
                      <a:rPr lang="en-US" altLang="zh-TW" i="1" smtClean="0">
                        <a:latin typeface="Cambria Math" panose="02040503050406030204" pitchFamily="18" charset="0"/>
                        <a:ea typeface="Cambria Math" panose="02040503050406030204" pitchFamily="18" charset="0"/>
                      </a:rPr>
                      <m:t>×</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𝑛</m:t>
                        </m:r>
                      </m:e>
                      <m:sub>
                        <m:r>
                          <a:rPr lang="en-US" altLang="zh-TW" b="0" i="1" smtClean="0">
                            <a:latin typeface="Cambria Math" panose="02040503050406030204" pitchFamily="18" charset="0"/>
                          </a:rPr>
                          <m:t>𝑐</m:t>
                        </m:r>
                      </m:sub>
                    </m:sSub>
                  </m:oMath>
                </a14:m>
                <a:r>
                  <a:rPr lang="zh-TW" altLang="en-US" dirty="0" smtClean="0"/>
                  <a:t> </a:t>
                </a:r>
                <a:r>
                  <a:rPr lang="en-US" altLang="zh-TW" dirty="0" smtClean="0"/>
                  <a:t>and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𝑚</m:t>
                        </m:r>
                      </m:e>
                      <m:sub>
                        <m:r>
                          <a:rPr lang="en-US" altLang="zh-TW" b="0" i="1" smtClean="0">
                            <a:latin typeface="Cambria Math" panose="02040503050406030204" pitchFamily="18" charset="0"/>
                          </a:rPr>
                          <m:t>𝑟</m:t>
                        </m:r>
                      </m:sub>
                    </m:sSub>
                    <m:r>
                      <a:rPr lang="en-US" altLang="zh-TW" i="1" smtClean="0">
                        <a:latin typeface="Cambria Math" panose="02040503050406030204" pitchFamily="18" charset="0"/>
                        <a:ea typeface="Cambria Math" panose="02040503050406030204" pitchFamily="18" charset="0"/>
                      </a:rPr>
                      <m:t>×</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𝑚</m:t>
                        </m:r>
                      </m:e>
                      <m:sub>
                        <m:r>
                          <a:rPr lang="en-US" altLang="zh-TW" b="0" i="1" smtClean="0">
                            <a:latin typeface="Cambria Math" panose="02040503050406030204" pitchFamily="18" charset="0"/>
                          </a:rPr>
                          <m:t>𝑐</m:t>
                        </m:r>
                      </m:sub>
                    </m:sSub>
                  </m:oMath>
                </a14:m>
                <a:r>
                  <a:rPr lang="zh-TW" altLang="en-US" dirty="0" smtClean="0"/>
                  <a:t> </a:t>
                </a:r>
                <a:r>
                  <a:rPr lang="en-US" altLang="zh-TW" dirty="0" smtClean="0"/>
                  <a:t>respectively.</a:t>
                </a:r>
              </a:p>
              <a:p>
                <a:pPr marL="0" indent="0">
                  <a:buNone/>
                </a:pPr>
                <a:endParaRPr lang="en-US" altLang="zh-TW" dirty="0"/>
              </a:p>
              <a:p>
                <a:pPr marL="0" indent="0">
                  <a:buNone/>
                </a:pPr>
                <a:endParaRPr lang="en-US" altLang="zh-TW" dirty="0" smtClean="0"/>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𝐾𝑆</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𝑎</m:t>
                          </m:r>
                          <m:r>
                            <a:rPr lang="en-US" altLang="zh-TW" b="0" i="1" smtClean="0">
                              <a:latin typeface="Cambria Math" panose="02040503050406030204" pitchFamily="18" charset="0"/>
                            </a:rPr>
                            <m:t>,</m:t>
                          </m:r>
                          <m:r>
                            <a:rPr lang="en-US" altLang="zh-TW" b="0" i="1" smtClean="0">
                              <a:latin typeface="Cambria Math" panose="02040503050406030204" pitchFamily="18" charset="0"/>
                            </a:rPr>
                            <m:t>𝑏</m:t>
                          </m:r>
                        </m:e>
                      </m:d>
                      <m:r>
                        <a:rPr lang="en-US" altLang="zh-TW" b="0" i="1" smtClean="0">
                          <a:latin typeface="Cambria Math" panose="02040503050406030204" pitchFamily="18" charset="0"/>
                        </a:rPr>
                        <m:t>=</m:t>
                      </m:r>
                      <m:nary>
                        <m:naryPr>
                          <m:chr m:val="∑"/>
                          <m:ctrlPr>
                            <a:rPr lang="en-US" altLang="zh-TW" b="0"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=1</m:t>
                          </m:r>
                        </m:sub>
                        <m:sup>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𝑛</m:t>
                              </m:r>
                            </m:e>
                            <m:sub>
                              <m:r>
                                <a:rPr lang="en-US" altLang="zh-TW" b="0" i="1" smtClean="0">
                                  <a:latin typeface="Cambria Math" panose="02040503050406030204" pitchFamily="18" charset="0"/>
                                </a:rPr>
                                <m:t>𝑟</m:t>
                              </m:r>
                            </m:sub>
                          </m:sSub>
                        </m:sup>
                        <m:e>
                          <m:r>
                            <a:rPr lang="en-US" altLang="zh-TW" b="0" i="1" smtClean="0">
                              <a:latin typeface="Cambria Math" panose="02040503050406030204" pitchFamily="18" charset="0"/>
                            </a:rPr>
                            <m:t>𝑒𝑑</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𝑟𝑜𝑤</m:t>
                              </m:r>
                            </m:e>
                            <m:sub>
                              <m:r>
                                <a:rPr lang="en-US" altLang="zh-TW" b="0" i="1" smtClean="0">
                                  <a:latin typeface="Cambria Math" panose="02040503050406030204" pitchFamily="18" charset="0"/>
                                </a:rPr>
                                <m:t>𝑖</m:t>
                              </m:r>
                            </m:sub>
                          </m:sSub>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𝑎</m:t>
                              </m:r>
                            </m:e>
                          </m:d>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𝑟𝑜𝑤</m:t>
                              </m:r>
                            </m:e>
                            <m:sub>
                              <m:r>
                                <a:rPr lang="en-US" altLang="zh-TW" b="0" i="1" smtClean="0">
                                  <a:latin typeface="Cambria Math" panose="02040503050406030204" pitchFamily="18" charset="0"/>
                                </a:rPr>
                                <m:t>𝑖</m:t>
                              </m:r>
                            </m:sub>
                          </m:sSub>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𝑏</m:t>
                              </m:r>
                            </m:e>
                          </m:d>
                          <m:r>
                            <a:rPr lang="en-US" altLang="zh-TW" b="0" i="1" smtClean="0">
                              <a:latin typeface="Cambria Math" panose="02040503050406030204" pitchFamily="18" charset="0"/>
                            </a:rPr>
                            <m:t>)</m:t>
                          </m:r>
                        </m:e>
                      </m:nary>
                    </m:oMath>
                  </m:oMathPara>
                </a14:m>
                <a:endParaRPr lang="en-US" altLang="zh-TW" dirty="0" smtClean="0"/>
              </a:p>
              <a:p>
                <a:pPr marL="0" indent="0">
                  <a:buNone/>
                </a:pPr>
                <a:endParaRPr lang="en-US" altLang="zh-TW" dirty="0"/>
              </a:p>
              <a:p>
                <a:pPr marL="0" indent="0">
                  <a:buNone/>
                </a:pPr>
                <a:r>
                  <a:rPr lang="en-US" altLang="zh-TW" dirty="0" smtClean="0"/>
                  <a:t>With the restriction that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𝑛</m:t>
                        </m:r>
                      </m:e>
                      <m:sub>
                        <m:r>
                          <a:rPr lang="en-US" altLang="zh-TW" b="0" i="1" smtClean="0">
                            <a:latin typeface="Cambria Math" panose="02040503050406030204" pitchFamily="18" charset="0"/>
                          </a:rPr>
                          <m:t>𝑟</m:t>
                        </m:r>
                      </m:sub>
                    </m:sSub>
                  </m:oMath>
                </a14:m>
                <a:r>
                  <a:rPr lang="zh-TW" altLang="en-US" dirty="0" smtClean="0"/>
                  <a:t> </a:t>
                </a:r>
                <a:r>
                  <a:rPr lang="en-US" altLang="zh-TW" dirty="0" smtClean="0"/>
                  <a:t>=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𝑚</m:t>
                        </m:r>
                      </m:e>
                      <m:sub>
                        <m:r>
                          <a:rPr lang="en-US" altLang="zh-TW" b="0" i="1" smtClean="0">
                            <a:latin typeface="Cambria Math" panose="02040503050406030204" pitchFamily="18" charset="0"/>
                          </a:rPr>
                          <m:t>𝑟</m:t>
                        </m:r>
                      </m:sub>
                    </m:sSub>
                  </m:oMath>
                </a14:m>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546" t="-224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54548815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628650" y="87086"/>
            <a:ext cx="7886700" cy="6089877"/>
          </a:xfrm>
        </p:spPr>
        <p:txBody>
          <a:bodyPr/>
          <a:lstStyle/>
          <a:p>
            <a:pPr marL="0" indent="0">
              <a:buNone/>
            </a:pPr>
            <a:r>
              <a:rPr lang="en-US" altLang="zh-TW" dirty="0" smtClean="0"/>
              <a:t>The pattern and a text </a:t>
            </a:r>
            <a:r>
              <a:rPr lang="en-US" altLang="zh-TW" dirty="0" err="1" smtClean="0"/>
              <a:t>subimage</a:t>
            </a:r>
            <a:r>
              <a:rPr lang="en-US" altLang="zh-TW" dirty="0" smtClean="0"/>
              <a:t> are compared from top to bottom and from left to right. </a:t>
            </a:r>
          </a:p>
          <a:p>
            <a:pPr marL="0" indent="0">
              <a:buNone/>
            </a:pPr>
            <a:endParaRPr lang="en-US" altLang="zh-TW" dirty="0" smtClean="0"/>
          </a:p>
          <a:p>
            <a:pPr marL="0" indent="0">
              <a:buNone/>
            </a:pPr>
            <a:r>
              <a:rPr lang="en-US" altLang="zh-TW" dirty="0" smtClean="0"/>
              <a:t>That is a sub-image can be enlarged by extending it the bottom or/and the right side.</a:t>
            </a:r>
          </a:p>
          <a:p>
            <a:pPr marL="0" indent="0">
              <a:buNone/>
            </a:pPr>
            <a:endParaRPr lang="en-US" altLang="zh-TW" dirty="0"/>
          </a:p>
          <a:p>
            <a:pPr marL="0" indent="0">
              <a:buNone/>
            </a:pPr>
            <a:r>
              <a:rPr lang="en-US" altLang="zh-TW" dirty="0" smtClean="0"/>
              <a:t>Text occurrences must have the same shape of the pattern.</a:t>
            </a:r>
          </a:p>
          <a:p>
            <a:pPr marL="0" indent="0">
              <a:buNone/>
            </a:pPr>
            <a:endParaRPr lang="en-US" altLang="zh-TW" dirty="0" smtClean="0"/>
          </a:p>
          <a:p>
            <a:pPr marL="0" indent="0">
              <a:buNone/>
            </a:pPr>
            <a:r>
              <a:rPr lang="en-US" altLang="zh-TW" dirty="0" smtClean="0"/>
              <a:t>Otherwise, we may have occurrences that have at most k errors that don’t count unmatched characters on the boundaries.</a:t>
            </a:r>
          </a:p>
          <a:p>
            <a:pPr marL="0" indent="0">
              <a:buNone/>
            </a:pPr>
            <a:endParaRPr lang="zh-TW" altLang="en-US" dirty="0"/>
          </a:p>
        </p:txBody>
      </p:sp>
    </p:spTree>
    <p:extLst>
      <p:ext uri="{BB962C8B-B14F-4D97-AF65-F5344CB8AC3E}">
        <p14:creationId xmlns:p14="http://schemas.microsoft.com/office/powerpoint/2010/main" val="305531043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 distance</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0" y="1825624"/>
                <a:ext cx="9239794" cy="5032375"/>
              </a:xfrm>
            </p:spPr>
            <p:txBody>
              <a:bodyPr>
                <a:normAutofit fontScale="92500"/>
              </a:bodyPr>
              <a:lstStyle/>
              <a:p>
                <a:pPr marL="0" indent="0">
                  <a:buNone/>
                </a:pPr>
                <a:r>
                  <a:rPr lang="en-US" altLang="zh-TW" dirty="0" smtClean="0"/>
                  <a:t>Treat each row as a single string which is compared to other rows using the normal edit distance(that is, only one dimension).</a:t>
                </a:r>
              </a:p>
              <a:p>
                <a:pPr marL="0" indent="0">
                  <a:buNone/>
                </a:pPr>
                <a:endParaRPr lang="en-US" altLang="zh-TW" dirty="0" smtClean="0"/>
              </a:p>
              <a:p>
                <a:pPr marL="0" indent="0">
                  <a:buNone/>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𝑅</m:t>
                          </m:r>
                        </m:e>
                        <m:sub>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𝑗</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𝑚𝑖𝑛</m:t>
                      </m:r>
                      <m:d>
                        <m:dPr>
                          <m:begChr m:val="{"/>
                          <m:endChr m:val=""/>
                          <m:ctrlPr>
                            <a:rPr lang="en-US" altLang="zh-TW" b="0" i="1" smtClean="0">
                              <a:latin typeface="Cambria Math" panose="02040503050406030204" pitchFamily="18" charset="0"/>
                            </a:rPr>
                          </m:ctrlPr>
                        </m:dPr>
                        <m:e>
                          <m:eqArr>
                            <m:eqArrPr>
                              <m:ctrlPr>
                                <a:rPr lang="en-US" altLang="zh-TW" b="0" i="1" smtClean="0">
                                  <a:latin typeface="Cambria Math" panose="02040503050406030204" pitchFamily="18" charset="0"/>
                                </a:rPr>
                              </m:ctrlPr>
                            </m:eqArr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𝑅</m:t>
                                  </m:r>
                                </m:e>
                                <m:sub>
                                  <m:r>
                                    <a:rPr lang="en-US" altLang="zh-TW" b="0" i="1" smtClean="0">
                                      <a:latin typeface="Cambria Math" panose="02040503050406030204" pitchFamily="18" charset="0"/>
                                    </a:rPr>
                                    <m:t>𝑖</m:t>
                                  </m:r>
                                  <m:r>
                                    <a:rPr lang="en-US" altLang="zh-TW" b="0" i="1" smtClean="0">
                                      <a:latin typeface="Cambria Math" panose="02040503050406030204" pitchFamily="18" charset="0"/>
                                    </a:rPr>
                                    <m:t>−1,</m:t>
                                  </m:r>
                                  <m:r>
                                    <a:rPr lang="en-US" altLang="zh-TW" b="0" i="1" smtClean="0">
                                      <a:latin typeface="Cambria Math" panose="02040503050406030204" pitchFamily="18" charset="0"/>
                                    </a:rPr>
                                    <m:t>𝑗</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𝑛</m:t>
                                  </m:r>
                                </m:e>
                                <m:sub>
                                  <m:r>
                                    <a:rPr lang="en-US" altLang="zh-TW" b="0" i="1" smtClean="0">
                                      <a:latin typeface="Cambria Math" panose="02040503050406030204" pitchFamily="18" charset="0"/>
                                    </a:rPr>
                                    <m:t>𝑐</m:t>
                                  </m:r>
                                </m:sub>
                              </m:sSub>
                            </m:e>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𝑅</m:t>
                                  </m:r>
                                </m:e>
                                <m:sub>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𝑗</m:t>
                                  </m:r>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𝑚</m:t>
                                  </m:r>
                                </m:e>
                                <m:sub>
                                  <m:r>
                                    <a:rPr lang="en-US" altLang="zh-TW" b="0" i="1" smtClean="0">
                                      <a:latin typeface="Cambria Math" panose="02040503050406030204" pitchFamily="18" charset="0"/>
                                    </a:rPr>
                                    <m:t>𝑐</m:t>
                                  </m:r>
                                </m:sub>
                              </m:sSub>
                            </m:e>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𝑅</m:t>
                                  </m:r>
                                </m:e>
                                <m:sub>
                                  <m:r>
                                    <a:rPr lang="en-US" altLang="zh-TW" b="0" i="1" smtClean="0">
                                      <a:latin typeface="Cambria Math" panose="02040503050406030204" pitchFamily="18" charset="0"/>
                                    </a:rPr>
                                    <m:t>𝑖</m:t>
                                  </m:r>
                                  <m:r>
                                    <a:rPr lang="en-US" altLang="zh-TW" b="0" i="1" smtClean="0">
                                      <a:latin typeface="Cambria Math" panose="02040503050406030204" pitchFamily="18" charset="0"/>
                                    </a:rPr>
                                    <m:t>−1,</m:t>
                                  </m:r>
                                  <m:r>
                                    <a:rPr lang="en-US" altLang="zh-TW" b="0" i="1" smtClean="0">
                                      <a:latin typeface="Cambria Math" panose="02040503050406030204" pitchFamily="18" charset="0"/>
                                    </a:rPr>
                                    <m:t>𝑗</m:t>
                                  </m:r>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𝑒𝑑</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𝑟𝑜𝑤</m:t>
                                      </m:r>
                                    </m:e>
                                    <m:sub>
                                      <m:r>
                                        <a:rPr lang="en-US" altLang="zh-TW" b="0" i="1" smtClean="0">
                                          <a:latin typeface="Cambria Math" panose="02040503050406030204" pitchFamily="18" charset="0"/>
                                        </a:rPr>
                                        <m:t>𝑖</m:t>
                                      </m:r>
                                    </m:sub>
                                  </m:sSub>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𝑎</m:t>
                                      </m:r>
                                    </m:e>
                                  </m:d>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𝑟𝑜𝑤</m:t>
                                      </m:r>
                                    </m:e>
                                    <m:sub>
                                      <m:r>
                                        <a:rPr lang="en-US" altLang="zh-TW" b="0" i="1" smtClean="0">
                                          <a:latin typeface="Cambria Math" panose="02040503050406030204" pitchFamily="18" charset="0"/>
                                        </a:rPr>
                                        <m:t>𝑗</m:t>
                                      </m:r>
                                    </m:sub>
                                  </m:sSub>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𝑏</m:t>
                                      </m:r>
                                    </m:e>
                                  </m:d>
                                </m:e>
                              </m:d>
                            </m:e>
                          </m:eqArr>
                        </m:e>
                      </m:d>
                    </m:oMath>
                  </m:oMathPara>
                </a14:m>
                <a:endParaRPr lang="en-US" altLang="zh-TW" dirty="0"/>
              </a:p>
              <a:p>
                <a:pPr marL="0" indent="0">
                  <a:buNone/>
                </a:pPr>
                <a:r>
                  <a:rPr lang="en-US" altLang="zh-TW" dirty="0" smtClean="0"/>
                  <a:t>Similarity, we could use columns instead of rows.</a:t>
                </a:r>
              </a:p>
              <a:p>
                <a:pPr marL="0" indent="0">
                  <a:buNone/>
                </a:pPr>
                <a:endParaRPr lang="en-US" altLang="zh-TW" dirty="0"/>
              </a:p>
              <a:p>
                <a:pPr marL="0" indent="0">
                  <a:buNone/>
                </a:pPr>
                <a:r>
                  <a:rPr lang="en-US" altLang="zh-TW" dirty="0" smtClean="0"/>
                  <a:t>Work for any images where rows are connected and </a:t>
                </a:r>
                <a:r>
                  <a:rPr lang="en-US" altLang="zh-TW" dirty="0" err="1" smtClean="0"/>
                  <a:t>continuouts</a:t>
                </a:r>
                <a:r>
                  <a:rPr lang="en-US" altLang="zh-TW" dirty="0" smtClean="0"/>
                  <a:t>.</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0" y="1825624"/>
                <a:ext cx="9239794" cy="5032375"/>
              </a:xfrm>
              <a:blipFill rotWithShape="0">
                <a:blip r:embed="rId2"/>
                <a:stretch>
                  <a:fillRect l="-1187" t="-181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04372082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RC distance</a:t>
            </a:r>
            <a:endParaRPr lang="zh-TW" altLang="en-US" dirty="0"/>
          </a:p>
        </p:txBody>
      </p:sp>
      <p:sp>
        <p:nvSpPr>
          <p:cNvPr id="3" name="內容版面配置區 2"/>
          <p:cNvSpPr>
            <a:spLocks noGrp="1"/>
          </p:cNvSpPr>
          <p:nvPr>
            <p:ph idx="1"/>
          </p:nvPr>
        </p:nvSpPr>
        <p:spPr/>
        <p:txBody>
          <a:bodyPr/>
          <a:lstStyle/>
          <a:p>
            <a:pPr marL="0" indent="0">
              <a:buNone/>
            </a:pPr>
            <a:r>
              <a:rPr lang="en-US" altLang="zh-TW" dirty="0" smtClean="0"/>
              <a:t>Generalizing this idea to insertions and deletions at the same time in rows and/or columns is not as simple. </a:t>
            </a:r>
          </a:p>
          <a:p>
            <a:pPr marL="0" indent="0">
              <a:buNone/>
            </a:pPr>
            <a:r>
              <a:rPr lang="en-US" altLang="zh-TW" dirty="0" smtClean="0"/>
              <a:t>Suppose that we have two </a:t>
            </a:r>
            <a:r>
              <a:rPr lang="en-US" altLang="zh-TW" dirty="0" err="1" smtClean="0"/>
              <a:t>subimages</a:t>
            </a:r>
            <a:r>
              <a:rPr lang="en-US" altLang="zh-TW" dirty="0" smtClean="0"/>
              <a:t> that we want to compare. One alternative is to decompose the border of a </a:t>
            </a:r>
            <a:r>
              <a:rPr lang="en-US" altLang="zh-TW" dirty="0" err="1" smtClean="0"/>
              <a:t>subimage</a:t>
            </a:r>
            <a:r>
              <a:rPr lang="en-US" altLang="zh-TW" dirty="0" smtClean="0"/>
              <a:t> in rows or columns.</a:t>
            </a:r>
            <a:endParaRPr lang="zh-TW" altLang="en-US" dirty="0"/>
          </a:p>
        </p:txBody>
      </p:sp>
    </p:spTree>
    <p:extLst>
      <p:ext uri="{BB962C8B-B14F-4D97-AF65-F5344CB8AC3E}">
        <p14:creationId xmlns:p14="http://schemas.microsoft.com/office/powerpoint/2010/main" val="379678347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L distance</a:t>
            </a:r>
            <a:endParaRPr lang="zh-TW" altLang="en-US" dirty="0"/>
          </a:p>
        </p:txBody>
      </p:sp>
      <p:sp>
        <p:nvSpPr>
          <p:cNvPr id="3" name="內容版面配置區 2"/>
          <p:cNvSpPr>
            <a:spLocks noGrp="1"/>
          </p:cNvSpPr>
          <p:nvPr>
            <p:ph idx="1"/>
          </p:nvPr>
        </p:nvSpPr>
        <p:spPr/>
        <p:txBody>
          <a:bodyPr/>
          <a:lstStyle/>
          <a:p>
            <a:pPr marL="0" indent="0">
              <a:buNone/>
            </a:pPr>
            <a:r>
              <a:rPr lang="en-US" altLang="zh-TW" dirty="0" smtClean="0"/>
              <a:t>RC distance doesn’t handle cases where we want to change at the same time a row and a column.</a:t>
            </a:r>
          </a:p>
          <a:p>
            <a:pPr marL="0" indent="0">
              <a:buNone/>
            </a:pPr>
            <a:endParaRPr lang="en-US" altLang="zh-TW" dirty="0"/>
          </a:p>
          <a:p>
            <a:pPr marL="0" indent="0">
              <a:buNone/>
            </a:pPr>
            <a:r>
              <a:rPr lang="en-US" altLang="zh-TW" dirty="0" smtClean="0"/>
              <a:t>We can also decompose the border of a </a:t>
            </a:r>
            <a:r>
              <a:rPr lang="en-US" altLang="zh-TW" dirty="0" err="1" smtClean="0"/>
              <a:t>subimage</a:t>
            </a:r>
            <a:r>
              <a:rPr lang="en-US" altLang="zh-TW" dirty="0" smtClean="0"/>
              <a:t> using L-shapes and we can have the same extensions as for rows or columns.</a:t>
            </a:r>
          </a:p>
          <a:p>
            <a:pPr marL="0" indent="0">
              <a:buNone/>
            </a:pPr>
            <a:endParaRPr lang="en-US" altLang="zh-TW" dirty="0"/>
          </a:p>
          <a:p>
            <a:pPr marL="0" indent="0">
              <a:buNone/>
            </a:pPr>
            <a:r>
              <a:rPr lang="en-US" altLang="zh-TW" dirty="0" smtClean="0"/>
              <a:t>To compare two L-shapes we see them as two one-dimensional strings.</a:t>
            </a:r>
            <a:endParaRPr lang="zh-TW" altLang="en-US" dirty="0"/>
          </a:p>
        </p:txBody>
      </p:sp>
    </p:spTree>
    <p:extLst>
      <p:ext uri="{BB962C8B-B14F-4D97-AF65-F5344CB8AC3E}">
        <p14:creationId xmlns:p14="http://schemas.microsoft.com/office/powerpoint/2010/main" val="300178527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74895"/>
            <a:ext cx="9144000" cy="5064369"/>
          </a:xfrm>
          <a:prstGeom prst="rect">
            <a:avLst/>
          </a:prstGeom>
        </p:spPr>
      </p:pic>
    </p:spTree>
    <p:extLst>
      <p:ext uri="{BB962C8B-B14F-4D97-AF65-F5344CB8AC3E}">
        <p14:creationId xmlns:p14="http://schemas.microsoft.com/office/powerpoint/2010/main" val="403386065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1947" y="1174432"/>
            <a:ext cx="8582025" cy="2314575"/>
          </a:xfrm>
          <a:prstGeom prst="rect">
            <a:avLst/>
          </a:prstGeom>
        </p:spPr>
      </p:pic>
    </p:spTree>
    <p:extLst>
      <p:ext uri="{BB962C8B-B14F-4D97-AF65-F5344CB8AC3E}">
        <p14:creationId xmlns:p14="http://schemas.microsoft.com/office/powerpoint/2010/main" val="14656442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pPr marL="0" indent="0">
              <a:buNone/>
            </a:pPr>
            <a:r>
              <a:rPr lang="en-US" altLang="zh-TW" dirty="0" smtClean="0"/>
              <a:t>Neither of the new measures defined can handle scaling transformations nor rotations.</a:t>
            </a:r>
          </a:p>
          <a:p>
            <a:pPr marL="0" indent="0">
              <a:buNone/>
            </a:pPr>
            <a:r>
              <a:rPr lang="en-US" altLang="zh-TW" dirty="0" smtClean="0"/>
              <a:t> </a:t>
            </a:r>
          </a:p>
          <a:p>
            <a:pPr marL="0" indent="0">
              <a:buNone/>
            </a:pPr>
            <a:r>
              <a:rPr lang="en-US" altLang="zh-TW" dirty="0" smtClean="0"/>
              <a:t>A more realistic distance can be defined using the following idea, which tries to define the largest common image of two images, which generalizes the concept of longest common subsequence of one-dimensional strings.</a:t>
            </a:r>
            <a:endParaRPr lang="zh-TW" altLang="en-US" dirty="0"/>
          </a:p>
        </p:txBody>
      </p:sp>
    </p:spTree>
    <p:extLst>
      <p:ext uri="{BB962C8B-B14F-4D97-AF65-F5344CB8AC3E}">
        <p14:creationId xmlns:p14="http://schemas.microsoft.com/office/powerpoint/2010/main" val="184698595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txBox="1">
            <a:spLocks/>
          </p:cNvSpPr>
          <p:nvPr/>
        </p:nvSpPr>
        <p:spPr>
          <a:xfrm>
            <a:off x="608013" y="1571625"/>
            <a:ext cx="7772400" cy="1470025"/>
          </a:xfrm>
          <a:prstGeom prst="rect">
            <a:avLst/>
          </a:prstGeom>
        </p:spPr>
        <p:txBody>
          <a:bodyPr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r>
              <a:rPr lang="en-US" altLang="zh-TW" b="1" dirty="0"/>
              <a:t>Generalized LCS</a:t>
            </a:r>
            <a:endParaRPr kumimoji="0" lang="zh-TW" altLang="en-US" dirty="0">
              <a:latin typeface="Arial Unicode MS" pitchFamily="34" charset="-120"/>
              <a:ea typeface="Arial Unicode MS" pitchFamily="34" charset="-120"/>
              <a:cs typeface="Arial Unicode MS" pitchFamily="34" charset="-120"/>
            </a:endParaRPr>
          </a:p>
        </p:txBody>
      </p:sp>
      <p:sp>
        <p:nvSpPr>
          <p:cNvPr id="5" name="副標題 2"/>
          <p:cNvSpPr txBox="1">
            <a:spLocks/>
          </p:cNvSpPr>
          <p:nvPr/>
        </p:nvSpPr>
        <p:spPr>
          <a:xfrm>
            <a:off x="1406525" y="3019425"/>
            <a:ext cx="6400800" cy="479425"/>
          </a:xfrm>
          <a:prstGeom prst="rect">
            <a:avLst/>
          </a:prstGeom>
        </p:spPr>
        <p:txBody>
          <a:bodyPr>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fontAlgn="auto">
              <a:spcAft>
                <a:spcPts val="0"/>
              </a:spcAft>
              <a:defRPr/>
            </a:pPr>
            <a:r>
              <a:rPr lang="en-US" altLang="zh-TW" sz="1600" dirty="0" err="1"/>
              <a:t>Amihood</a:t>
            </a:r>
            <a:r>
              <a:rPr lang="en-US" altLang="zh-TW" sz="1600" dirty="0"/>
              <a:t> Amir, </a:t>
            </a:r>
            <a:r>
              <a:rPr lang="en-US" altLang="zh-TW" sz="1600" dirty="0" err="1"/>
              <a:t>Tzvika</a:t>
            </a:r>
            <a:r>
              <a:rPr lang="en-US" altLang="zh-TW" sz="1600" dirty="0"/>
              <a:t> Hartman, Oren </a:t>
            </a:r>
            <a:r>
              <a:rPr lang="en-US" altLang="zh-TW" sz="1600" dirty="0" err="1"/>
              <a:t>Kapah</a:t>
            </a:r>
            <a:r>
              <a:rPr lang="en-US" altLang="zh-TW" sz="1600" dirty="0"/>
              <a:t>, B. Riva Shalom, </a:t>
            </a:r>
            <a:r>
              <a:rPr lang="en-US" altLang="zh-TW" sz="1600" dirty="0" err="1"/>
              <a:t>Dekel</a:t>
            </a:r>
            <a:r>
              <a:rPr lang="en-US" altLang="zh-TW" sz="1600" dirty="0"/>
              <a:t> </a:t>
            </a:r>
            <a:r>
              <a:rPr lang="en-US" altLang="zh-TW" sz="1600" dirty="0" err="1"/>
              <a:t>Tsur</a:t>
            </a:r>
            <a:endParaRPr lang="en-US" altLang="zh-TW" sz="1600" dirty="0"/>
          </a:p>
        </p:txBody>
      </p:sp>
      <p:graphicFrame>
        <p:nvGraphicFramePr>
          <p:cNvPr id="6" name="表格 5"/>
          <p:cNvGraphicFramePr>
            <a:graphicFrameLocks noGrp="1"/>
          </p:cNvGraphicFramePr>
          <p:nvPr>
            <p:extLst>
              <p:ext uri="{D42A27DB-BD31-4B8C-83A1-F6EECF244321}">
                <p14:modId xmlns:p14="http://schemas.microsoft.com/office/powerpoint/2010/main" val="250849694"/>
              </p:ext>
            </p:extLst>
          </p:nvPr>
        </p:nvGraphicFramePr>
        <p:xfrm>
          <a:off x="1782146" y="3581400"/>
          <a:ext cx="5561045" cy="1220788"/>
        </p:xfrm>
        <a:graphic>
          <a:graphicData uri="http://schemas.openxmlformats.org/drawingml/2006/table">
            <a:tbl>
              <a:tblPr/>
              <a:tblGrid>
                <a:gridCol w="5561045"/>
              </a:tblGrid>
              <a:tr h="56754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kern="1200" dirty="0" smtClean="0">
                          <a:solidFill>
                            <a:schemeClr val="tx1"/>
                          </a:solidFill>
                          <a:effectLst/>
                          <a:latin typeface="Verdana" panose="020B0604030504040204" pitchFamily="34" charset="0"/>
                          <a:ea typeface="+mn-ea"/>
                          <a:cs typeface="+mn-cs"/>
                        </a:rPr>
                        <a:t>Lecture Notes in Computer Science </a:t>
                      </a:r>
                      <a:endParaRPr lang="en-US" sz="1800" kern="1200" dirty="0">
                        <a:solidFill>
                          <a:schemeClr val="tx1"/>
                        </a:solidFill>
                        <a:effectLst/>
                        <a:latin typeface="Verdana" panose="020B0604030504040204" pitchFamily="34" charset="0"/>
                        <a:ea typeface="+mn-ea"/>
                        <a:cs typeface="+mn-cs"/>
                      </a:endParaRPr>
                    </a:p>
                  </a:txBody>
                  <a:tcPr marL="95250" marR="9525" marT="9523" marB="9523">
                    <a:lnL>
                      <a:noFill/>
                    </a:lnL>
                    <a:lnR>
                      <a:noFill/>
                    </a:lnR>
                    <a:lnT>
                      <a:noFill/>
                    </a:lnT>
                    <a:lnB>
                      <a:noFill/>
                    </a:lnB>
                    <a:solidFill>
                      <a:srgbClr val="FFFFFF"/>
                    </a:solidFill>
                  </a:tcPr>
                </a:tc>
              </a:tr>
              <a:tr h="653245">
                <a:tc>
                  <a:txBody>
                    <a:bodyPr/>
                    <a:lstStyle/>
                    <a:p>
                      <a:r>
                        <a:rPr lang="en-US" altLang="zh-TW" sz="1400" kern="1200" dirty="0" smtClean="0">
                          <a:solidFill>
                            <a:schemeClr val="tx1"/>
                          </a:solidFill>
                          <a:effectLst/>
                          <a:latin typeface="Verdana" panose="020B0604030504040204" pitchFamily="34" charset="0"/>
                          <a:ea typeface="+mn-ea"/>
                          <a:cs typeface="+mn-cs"/>
                        </a:rPr>
                        <a:t>Volume 4726, 2007, pp 50-61</a:t>
                      </a:r>
                      <a:endParaRPr lang="en-US" sz="1400" kern="1200" dirty="0">
                        <a:solidFill>
                          <a:schemeClr val="tx1"/>
                        </a:solidFill>
                        <a:effectLst/>
                        <a:latin typeface="Verdana" panose="020B0604030504040204" pitchFamily="34" charset="0"/>
                        <a:ea typeface="+mn-ea"/>
                        <a:cs typeface="+mn-cs"/>
                      </a:endParaRPr>
                    </a:p>
                  </a:txBody>
                  <a:tcPr marL="95250" marR="9525" marT="9523" marB="95225">
                    <a:lnL>
                      <a:noFill/>
                    </a:lnL>
                    <a:lnR>
                      <a:noFill/>
                    </a:lnR>
                    <a:lnT>
                      <a:noFill/>
                    </a:lnT>
                    <a:lnB>
                      <a:noFill/>
                    </a:lnB>
                    <a:solidFill>
                      <a:srgbClr val="FFFFFF"/>
                    </a:solidFill>
                  </a:tcPr>
                </a:tc>
              </a:tr>
            </a:tbl>
          </a:graphicData>
        </a:graphic>
      </p:graphicFrame>
      <p:sp>
        <p:nvSpPr>
          <p:cNvPr id="3079" name="文字方塊 6"/>
          <p:cNvSpPr txBox="1">
            <a:spLocks noChangeArrowheads="1"/>
          </p:cNvSpPr>
          <p:nvPr/>
        </p:nvSpPr>
        <p:spPr bwMode="auto">
          <a:xfrm>
            <a:off x="3132138" y="5229225"/>
            <a:ext cx="32480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新細明體" panose="02020500000000000000" pitchFamily="18" charset="-12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新細明體" panose="02020500000000000000" pitchFamily="18" charset="-12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新細明體" panose="02020500000000000000" pitchFamily="18" charset="-12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buFontTx/>
              <a:buNone/>
            </a:pPr>
            <a:r>
              <a:rPr kumimoji="0" lang="en-US" altLang="zh-TW" sz="1800" dirty="0"/>
              <a:t>Presenter:  Huang-Ting Chan</a:t>
            </a:r>
          </a:p>
          <a:p>
            <a:pPr eaLnBrk="1" hangingPunct="1">
              <a:spcBef>
                <a:spcPct val="0"/>
              </a:spcBef>
              <a:buFontTx/>
              <a:buNone/>
            </a:pPr>
            <a:r>
              <a:rPr kumimoji="0" lang="en-US" altLang="zh-TW" sz="1800" dirty="0"/>
              <a:t>Date:</a:t>
            </a:r>
            <a:fld id="{F3590F60-3E7B-48AD-979A-345F224951B5}" type="datetime1">
              <a:rPr kumimoji="0" lang="zh-TW" altLang="en-US" sz="1800"/>
              <a:pPr eaLnBrk="1" hangingPunct="1">
                <a:spcBef>
                  <a:spcPct val="0"/>
                </a:spcBef>
                <a:buFontTx/>
                <a:buNone/>
              </a:pPr>
              <a:t>2015/5/12</a:t>
            </a:fld>
            <a:endParaRPr kumimoji="0" lang="zh-TW" altLang="en-US" sz="1800" dirty="0"/>
          </a:p>
        </p:txBody>
      </p:sp>
    </p:spTree>
    <p:extLst>
      <p:ext uri="{BB962C8B-B14F-4D97-AF65-F5344CB8AC3E}">
        <p14:creationId xmlns:p14="http://schemas.microsoft.com/office/powerpoint/2010/main" val="193880560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Definition</a:t>
            </a:r>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8650" y="1482926"/>
            <a:ext cx="7886700" cy="2563504"/>
          </a:xfrm>
        </p:spPr>
      </p:pic>
      <p:graphicFrame>
        <p:nvGraphicFramePr>
          <p:cNvPr id="5" name="表格 4"/>
          <p:cNvGraphicFramePr>
            <a:graphicFrameLocks noGrp="1"/>
          </p:cNvGraphicFramePr>
          <p:nvPr>
            <p:extLst>
              <p:ext uri="{D42A27DB-BD31-4B8C-83A1-F6EECF244321}">
                <p14:modId xmlns:p14="http://schemas.microsoft.com/office/powerpoint/2010/main" val="2577149854"/>
              </p:ext>
            </p:extLst>
          </p:nvPr>
        </p:nvGraphicFramePr>
        <p:xfrm>
          <a:off x="365760" y="4607969"/>
          <a:ext cx="2481942" cy="2149881"/>
        </p:xfrm>
        <a:graphic>
          <a:graphicData uri="http://schemas.openxmlformats.org/drawingml/2006/table">
            <a:tbl>
              <a:tblPr firstRow="1" bandRow="1">
                <a:tableStyleId>{5940675A-B579-460E-94D1-54222C63F5DA}</a:tableStyleId>
              </a:tblPr>
              <a:tblGrid>
                <a:gridCol w="827314"/>
                <a:gridCol w="827314"/>
                <a:gridCol w="827314"/>
              </a:tblGrid>
              <a:tr h="716627">
                <a:tc>
                  <a:txBody>
                    <a:bodyPr/>
                    <a:lstStyle/>
                    <a:p>
                      <a:r>
                        <a:rPr lang="en-US" altLang="zh-TW" sz="2400" dirty="0" smtClean="0"/>
                        <a:t>A</a:t>
                      </a:r>
                      <a:endParaRPr lang="zh-TW" altLang="en-US" sz="2400" dirty="0"/>
                    </a:p>
                  </a:txBody>
                  <a:tcPr/>
                </a:tc>
                <a:tc>
                  <a:txBody>
                    <a:bodyPr/>
                    <a:lstStyle/>
                    <a:p>
                      <a:r>
                        <a:rPr lang="en-US" altLang="zh-TW" sz="2400" dirty="0" smtClean="0"/>
                        <a:t>C</a:t>
                      </a:r>
                      <a:endParaRPr lang="zh-TW" altLang="en-US" sz="2400" dirty="0"/>
                    </a:p>
                  </a:txBody>
                  <a:tcPr/>
                </a:tc>
                <a:tc>
                  <a:txBody>
                    <a:bodyPr/>
                    <a:lstStyle/>
                    <a:p>
                      <a:r>
                        <a:rPr lang="en-US" altLang="zh-TW" sz="2400" dirty="0" smtClean="0"/>
                        <a:t>Z</a:t>
                      </a:r>
                      <a:endParaRPr lang="zh-TW" altLang="en-US" sz="2400" dirty="0"/>
                    </a:p>
                  </a:txBody>
                  <a:tcPr/>
                </a:tc>
              </a:tr>
              <a:tr h="716627">
                <a:tc>
                  <a:txBody>
                    <a:bodyPr/>
                    <a:lstStyle/>
                    <a:p>
                      <a:r>
                        <a:rPr lang="en-US" altLang="zh-TW" sz="2400" dirty="0" smtClean="0"/>
                        <a:t>B</a:t>
                      </a:r>
                      <a:endParaRPr lang="zh-TW" altLang="en-US" sz="2400" dirty="0"/>
                    </a:p>
                  </a:txBody>
                  <a:tcPr/>
                </a:tc>
                <a:tc>
                  <a:txBody>
                    <a:bodyPr/>
                    <a:lstStyle/>
                    <a:p>
                      <a:r>
                        <a:rPr lang="en-US" altLang="zh-TW" sz="2400" dirty="0" smtClean="0"/>
                        <a:t>D</a:t>
                      </a:r>
                      <a:endParaRPr lang="zh-TW" altLang="en-US" sz="2400" dirty="0"/>
                    </a:p>
                  </a:txBody>
                  <a:tcPr/>
                </a:tc>
                <a:tc>
                  <a:txBody>
                    <a:bodyPr/>
                    <a:lstStyle/>
                    <a:p>
                      <a:r>
                        <a:rPr lang="en-US" altLang="zh-TW" sz="2400" dirty="0" smtClean="0"/>
                        <a:t>Z</a:t>
                      </a:r>
                      <a:endParaRPr lang="zh-TW" altLang="en-US" sz="2400" dirty="0"/>
                    </a:p>
                  </a:txBody>
                  <a:tcPr/>
                </a:tc>
              </a:tr>
              <a:tr h="716627">
                <a:tc>
                  <a:txBody>
                    <a:bodyPr/>
                    <a:lstStyle/>
                    <a:p>
                      <a:r>
                        <a:rPr lang="en-US" altLang="zh-TW" sz="2400" dirty="0" smtClean="0"/>
                        <a:t>Z</a:t>
                      </a:r>
                      <a:endParaRPr lang="zh-TW" altLang="en-US" sz="2400" dirty="0"/>
                    </a:p>
                  </a:txBody>
                  <a:tcPr/>
                </a:tc>
                <a:tc>
                  <a:txBody>
                    <a:bodyPr/>
                    <a:lstStyle/>
                    <a:p>
                      <a:r>
                        <a:rPr lang="en-US" altLang="zh-TW" sz="2400" dirty="0" smtClean="0"/>
                        <a:t>Z</a:t>
                      </a:r>
                      <a:endParaRPr lang="zh-TW" altLang="en-US" sz="2400" dirty="0"/>
                    </a:p>
                  </a:txBody>
                  <a:tcPr/>
                </a:tc>
                <a:tc>
                  <a:txBody>
                    <a:bodyPr/>
                    <a:lstStyle/>
                    <a:p>
                      <a:r>
                        <a:rPr lang="en-US" altLang="zh-TW" sz="2400" dirty="0" smtClean="0"/>
                        <a:t>Z</a:t>
                      </a:r>
                      <a:endParaRPr lang="zh-TW" altLang="en-US" sz="2400" dirty="0"/>
                    </a:p>
                  </a:txBody>
                  <a:tcPr/>
                </a:tc>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2003681912"/>
              </p:ext>
            </p:extLst>
          </p:nvPr>
        </p:nvGraphicFramePr>
        <p:xfrm>
          <a:off x="4106091" y="4594906"/>
          <a:ext cx="2481942" cy="2149881"/>
        </p:xfrm>
        <a:graphic>
          <a:graphicData uri="http://schemas.openxmlformats.org/drawingml/2006/table">
            <a:tbl>
              <a:tblPr firstRow="1" bandRow="1">
                <a:tableStyleId>{5940675A-B579-460E-94D1-54222C63F5DA}</a:tableStyleId>
              </a:tblPr>
              <a:tblGrid>
                <a:gridCol w="827314"/>
                <a:gridCol w="827314"/>
                <a:gridCol w="827314"/>
              </a:tblGrid>
              <a:tr h="716627">
                <a:tc>
                  <a:txBody>
                    <a:bodyPr/>
                    <a:lstStyle/>
                    <a:p>
                      <a:r>
                        <a:rPr lang="en-US" altLang="zh-TW" sz="2400" dirty="0" smtClean="0"/>
                        <a:t>A</a:t>
                      </a:r>
                      <a:endParaRPr lang="zh-TW" altLang="en-US" sz="2400" dirty="0"/>
                    </a:p>
                  </a:txBody>
                  <a:tcPr/>
                </a:tc>
                <a:tc>
                  <a:txBody>
                    <a:bodyPr/>
                    <a:lstStyle/>
                    <a:p>
                      <a:r>
                        <a:rPr lang="en-US" altLang="zh-TW" sz="2400" dirty="0" smtClean="0"/>
                        <a:t>X</a:t>
                      </a:r>
                      <a:endParaRPr lang="zh-TW" altLang="en-US" sz="2400" dirty="0"/>
                    </a:p>
                  </a:txBody>
                  <a:tcPr/>
                </a:tc>
                <a:tc>
                  <a:txBody>
                    <a:bodyPr/>
                    <a:lstStyle/>
                    <a:p>
                      <a:r>
                        <a:rPr lang="en-US" altLang="zh-TW" sz="2400" dirty="0" smtClean="0"/>
                        <a:t>C</a:t>
                      </a:r>
                      <a:endParaRPr lang="zh-TW" altLang="en-US" sz="2400" dirty="0"/>
                    </a:p>
                  </a:txBody>
                  <a:tcPr/>
                </a:tc>
              </a:tr>
              <a:tr h="716627">
                <a:tc>
                  <a:txBody>
                    <a:bodyPr/>
                    <a:lstStyle/>
                    <a:p>
                      <a:r>
                        <a:rPr lang="en-US" altLang="zh-TW" sz="2400" dirty="0" smtClean="0"/>
                        <a:t>B</a:t>
                      </a:r>
                      <a:endParaRPr lang="zh-TW" altLang="en-US" sz="2400" dirty="0"/>
                    </a:p>
                  </a:txBody>
                  <a:tcPr/>
                </a:tc>
                <a:tc>
                  <a:txBody>
                    <a:bodyPr/>
                    <a:lstStyle/>
                    <a:p>
                      <a:r>
                        <a:rPr lang="en-US" altLang="zh-TW" sz="2400" dirty="0" smtClean="0"/>
                        <a:t>X</a:t>
                      </a:r>
                      <a:endParaRPr lang="zh-TW" altLang="en-US" sz="2400" dirty="0"/>
                    </a:p>
                  </a:txBody>
                  <a:tcPr/>
                </a:tc>
                <a:tc>
                  <a:txBody>
                    <a:bodyPr/>
                    <a:lstStyle/>
                    <a:p>
                      <a:r>
                        <a:rPr lang="en-US" altLang="zh-TW" sz="2400" dirty="0" smtClean="0"/>
                        <a:t>D</a:t>
                      </a:r>
                      <a:endParaRPr lang="zh-TW" altLang="en-US" sz="2400" dirty="0"/>
                    </a:p>
                  </a:txBody>
                  <a:tcPr/>
                </a:tc>
              </a:tr>
              <a:tr h="716627">
                <a:tc>
                  <a:txBody>
                    <a:bodyPr/>
                    <a:lstStyle/>
                    <a:p>
                      <a:r>
                        <a:rPr lang="en-US" altLang="zh-TW" sz="2400" dirty="0" smtClean="0"/>
                        <a:t>X</a:t>
                      </a:r>
                      <a:endParaRPr lang="zh-TW" altLang="en-US" sz="2400" dirty="0"/>
                    </a:p>
                  </a:txBody>
                  <a:tcPr/>
                </a:tc>
                <a:tc>
                  <a:txBody>
                    <a:bodyPr/>
                    <a:lstStyle/>
                    <a:p>
                      <a:r>
                        <a:rPr lang="en-US" altLang="zh-TW" sz="2400" dirty="0" smtClean="0"/>
                        <a:t>X</a:t>
                      </a:r>
                      <a:endParaRPr lang="zh-TW" altLang="en-US" sz="2400" dirty="0"/>
                    </a:p>
                  </a:txBody>
                  <a:tcPr/>
                </a:tc>
                <a:tc>
                  <a:txBody>
                    <a:bodyPr/>
                    <a:lstStyle/>
                    <a:p>
                      <a:r>
                        <a:rPr lang="en-US" altLang="zh-TW" sz="2400" dirty="0" smtClean="0"/>
                        <a:t>X</a:t>
                      </a:r>
                      <a:endParaRPr lang="zh-TW" altLang="en-US" sz="2400" dirty="0"/>
                    </a:p>
                  </a:txBody>
                  <a:tcPr/>
                </a:tc>
              </a:tr>
            </a:tbl>
          </a:graphicData>
        </a:graphic>
      </p:graphicFrame>
    </p:spTree>
    <p:extLst>
      <p:ext uri="{BB962C8B-B14F-4D97-AF65-F5344CB8AC3E}">
        <p14:creationId xmlns:p14="http://schemas.microsoft.com/office/powerpoint/2010/main" val="195609995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Definition</a:t>
            </a:r>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8650" y="1482926"/>
            <a:ext cx="7886700" cy="2563504"/>
          </a:xfrm>
        </p:spPr>
      </p:pic>
      <p:graphicFrame>
        <p:nvGraphicFramePr>
          <p:cNvPr id="5" name="表格 4"/>
          <p:cNvGraphicFramePr>
            <a:graphicFrameLocks noGrp="1"/>
          </p:cNvGraphicFramePr>
          <p:nvPr>
            <p:extLst/>
          </p:nvPr>
        </p:nvGraphicFramePr>
        <p:xfrm>
          <a:off x="365760" y="4607969"/>
          <a:ext cx="2481942" cy="2149881"/>
        </p:xfrm>
        <a:graphic>
          <a:graphicData uri="http://schemas.openxmlformats.org/drawingml/2006/table">
            <a:tbl>
              <a:tblPr firstRow="1" bandRow="1">
                <a:tableStyleId>{5940675A-B579-460E-94D1-54222C63F5DA}</a:tableStyleId>
              </a:tblPr>
              <a:tblGrid>
                <a:gridCol w="827314"/>
                <a:gridCol w="827314"/>
                <a:gridCol w="827314"/>
              </a:tblGrid>
              <a:tr h="716627">
                <a:tc>
                  <a:txBody>
                    <a:bodyPr/>
                    <a:lstStyle/>
                    <a:p>
                      <a:r>
                        <a:rPr lang="en-US" altLang="zh-TW" sz="2400" dirty="0" smtClean="0"/>
                        <a:t>A</a:t>
                      </a:r>
                      <a:endParaRPr lang="zh-TW" altLang="en-US" sz="2400" dirty="0"/>
                    </a:p>
                  </a:txBody>
                  <a:tcPr/>
                </a:tc>
                <a:tc>
                  <a:txBody>
                    <a:bodyPr/>
                    <a:lstStyle/>
                    <a:p>
                      <a:r>
                        <a:rPr lang="en-US" altLang="zh-TW" sz="2400" dirty="0" smtClean="0"/>
                        <a:t>C</a:t>
                      </a:r>
                      <a:endParaRPr lang="zh-TW" altLang="en-US" sz="2400" dirty="0"/>
                    </a:p>
                  </a:txBody>
                  <a:tcPr/>
                </a:tc>
                <a:tc>
                  <a:txBody>
                    <a:bodyPr/>
                    <a:lstStyle/>
                    <a:p>
                      <a:r>
                        <a:rPr lang="en-US" altLang="zh-TW" sz="2400" dirty="0" smtClean="0"/>
                        <a:t>Z</a:t>
                      </a:r>
                      <a:endParaRPr lang="zh-TW" altLang="en-US" sz="2400" dirty="0"/>
                    </a:p>
                  </a:txBody>
                  <a:tcPr/>
                </a:tc>
              </a:tr>
              <a:tr h="716627">
                <a:tc>
                  <a:txBody>
                    <a:bodyPr/>
                    <a:lstStyle/>
                    <a:p>
                      <a:r>
                        <a:rPr lang="en-US" altLang="zh-TW" sz="2400" dirty="0" smtClean="0"/>
                        <a:t>B</a:t>
                      </a:r>
                      <a:endParaRPr lang="zh-TW" altLang="en-US" sz="2400" dirty="0"/>
                    </a:p>
                  </a:txBody>
                  <a:tcPr/>
                </a:tc>
                <a:tc>
                  <a:txBody>
                    <a:bodyPr/>
                    <a:lstStyle/>
                    <a:p>
                      <a:r>
                        <a:rPr lang="en-US" altLang="zh-TW" sz="2400" dirty="0" smtClean="0"/>
                        <a:t>D</a:t>
                      </a:r>
                      <a:endParaRPr lang="zh-TW" altLang="en-US" sz="2400" dirty="0"/>
                    </a:p>
                  </a:txBody>
                  <a:tcPr/>
                </a:tc>
                <a:tc>
                  <a:txBody>
                    <a:bodyPr/>
                    <a:lstStyle/>
                    <a:p>
                      <a:r>
                        <a:rPr lang="en-US" altLang="zh-TW" sz="2400" dirty="0" smtClean="0"/>
                        <a:t>Z</a:t>
                      </a:r>
                      <a:endParaRPr lang="zh-TW" altLang="en-US" sz="2400" dirty="0"/>
                    </a:p>
                  </a:txBody>
                  <a:tcPr/>
                </a:tc>
              </a:tr>
              <a:tr h="716627">
                <a:tc>
                  <a:txBody>
                    <a:bodyPr/>
                    <a:lstStyle/>
                    <a:p>
                      <a:r>
                        <a:rPr lang="en-US" altLang="zh-TW" sz="2400" dirty="0" smtClean="0"/>
                        <a:t>Z</a:t>
                      </a:r>
                      <a:endParaRPr lang="zh-TW" altLang="en-US" sz="2400" dirty="0"/>
                    </a:p>
                  </a:txBody>
                  <a:tcPr/>
                </a:tc>
                <a:tc>
                  <a:txBody>
                    <a:bodyPr/>
                    <a:lstStyle/>
                    <a:p>
                      <a:r>
                        <a:rPr lang="en-US" altLang="zh-TW" sz="2400" dirty="0" smtClean="0"/>
                        <a:t>Z</a:t>
                      </a:r>
                      <a:endParaRPr lang="zh-TW" altLang="en-US" sz="2400" dirty="0"/>
                    </a:p>
                  </a:txBody>
                  <a:tcPr/>
                </a:tc>
                <a:tc>
                  <a:txBody>
                    <a:bodyPr/>
                    <a:lstStyle/>
                    <a:p>
                      <a:r>
                        <a:rPr lang="en-US" altLang="zh-TW" sz="2400" dirty="0" smtClean="0"/>
                        <a:t>Z</a:t>
                      </a:r>
                      <a:endParaRPr lang="zh-TW" altLang="en-US" sz="2400" dirty="0"/>
                    </a:p>
                  </a:txBody>
                  <a:tcPr/>
                </a:tc>
              </a:tr>
            </a:tbl>
          </a:graphicData>
        </a:graphic>
      </p:graphicFrame>
      <p:graphicFrame>
        <p:nvGraphicFramePr>
          <p:cNvPr id="6" name="表格 5"/>
          <p:cNvGraphicFramePr>
            <a:graphicFrameLocks noGrp="1"/>
          </p:cNvGraphicFramePr>
          <p:nvPr>
            <p:extLst/>
          </p:nvPr>
        </p:nvGraphicFramePr>
        <p:xfrm>
          <a:off x="4106091" y="4594906"/>
          <a:ext cx="2481942" cy="2149881"/>
        </p:xfrm>
        <a:graphic>
          <a:graphicData uri="http://schemas.openxmlformats.org/drawingml/2006/table">
            <a:tbl>
              <a:tblPr firstRow="1" bandRow="1">
                <a:tableStyleId>{5940675A-B579-460E-94D1-54222C63F5DA}</a:tableStyleId>
              </a:tblPr>
              <a:tblGrid>
                <a:gridCol w="827314"/>
                <a:gridCol w="827314"/>
                <a:gridCol w="827314"/>
              </a:tblGrid>
              <a:tr h="716627">
                <a:tc>
                  <a:txBody>
                    <a:bodyPr/>
                    <a:lstStyle/>
                    <a:p>
                      <a:r>
                        <a:rPr lang="en-US" altLang="zh-TW" sz="2400" dirty="0" smtClean="0"/>
                        <a:t>A</a:t>
                      </a:r>
                      <a:endParaRPr lang="zh-TW" altLang="en-US" sz="2400" dirty="0"/>
                    </a:p>
                  </a:txBody>
                  <a:tcPr/>
                </a:tc>
                <a:tc>
                  <a:txBody>
                    <a:bodyPr/>
                    <a:lstStyle/>
                    <a:p>
                      <a:r>
                        <a:rPr lang="en-US" altLang="zh-TW" sz="2400" dirty="0" smtClean="0"/>
                        <a:t>X</a:t>
                      </a:r>
                      <a:endParaRPr lang="zh-TW" altLang="en-US" sz="2400" dirty="0"/>
                    </a:p>
                  </a:txBody>
                  <a:tcPr/>
                </a:tc>
                <a:tc>
                  <a:txBody>
                    <a:bodyPr/>
                    <a:lstStyle/>
                    <a:p>
                      <a:r>
                        <a:rPr lang="en-US" altLang="zh-TW" sz="2400" dirty="0" smtClean="0"/>
                        <a:t>C</a:t>
                      </a:r>
                      <a:endParaRPr lang="zh-TW" altLang="en-US" sz="2400" dirty="0"/>
                    </a:p>
                  </a:txBody>
                  <a:tcPr/>
                </a:tc>
              </a:tr>
              <a:tr h="716627">
                <a:tc>
                  <a:txBody>
                    <a:bodyPr/>
                    <a:lstStyle/>
                    <a:p>
                      <a:r>
                        <a:rPr lang="en-US" altLang="zh-TW" sz="2400" dirty="0" smtClean="0"/>
                        <a:t>B</a:t>
                      </a:r>
                      <a:endParaRPr lang="zh-TW" altLang="en-US" sz="2400" dirty="0"/>
                    </a:p>
                  </a:txBody>
                  <a:tcPr/>
                </a:tc>
                <a:tc>
                  <a:txBody>
                    <a:bodyPr/>
                    <a:lstStyle/>
                    <a:p>
                      <a:r>
                        <a:rPr lang="en-US" altLang="zh-TW" sz="2400" dirty="0" smtClean="0"/>
                        <a:t>X</a:t>
                      </a:r>
                      <a:endParaRPr lang="zh-TW" altLang="en-US" sz="2400" dirty="0"/>
                    </a:p>
                  </a:txBody>
                  <a:tcPr/>
                </a:tc>
                <a:tc>
                  <a:txBody>
                    <a:bodyPr/>
                    <a:lstStyle/>
                    <a:p>
                      <a:r>
                        <a:rPr lang="en-US" altLang="zh-TW" sz="2400" dirty="0" smtClean="0"/>
                        <a:t>D</a:t>
                      </a:r>
                      <a:endParaRPr lang="zh-TW" altLang="en-US" sz="2400" dirty="0"/>
                    </a:p>
                  </a:txBody>
                  <a:tcPr/>
                </a:tc>
              </a:tr>
              <a:tr h="716627">
                <a:tc>
                  <a:txBody>
                    <a:bodyPr/>
                    <a:lstStyle/>
                    <a:p>
                      <a:r>
                        <a:rPr lang="en-US" altLang="zh-TW" sz="2400" dirty="0" smtClean="0"/>
                        <a:t>X</a:t>
                      </a:r>
                      <a:endParaRPr lang="zh-TW" altLang="en-US" sz="2400" dirty="0"/>
                    </a:p>
                  </a:txBody>
                  <a:tcPr/>
                </a:tc>
                <a:tc>
                  <a:txBody>
                    <a:bodyPr/>
                    <a:lstStyle/>
                    <a:p>
                      <a:r>
                        <a:rPr lang="en-US" altLang="zh-TW" sz="2400" dirty="0" smtClean="0"/>
                        <a:t>X</a:t>
                      </a:r>
                      <a:endParaRPr lang="zh-TW" altLang="en-US" sz="2400" dirty="0"/>
                    </a:p>
                  </a:txBody>
                  <a:tcPr/>
                </a:tc>
                <a:tc>
                  <a:txBody>
                    <a:bodyPr/>
                    <a:lstStyle/>
                    <a:p>
                      <a:r>
                        <a:rPr lang="en-US" altLang="zh-TW" sz="2400" dirty="0" smtClean="0"/>
                        <a:t>X</a:t>
                      </a:r>
                      <a:endParaRPr lang="zh-TW" altLang="en-US" sz="2400" dirty="0"/>
                    </a:p>
                  </a:txBody>
                  <a:tcPr/>
                </a:tc>
              </a:tr>
            </a:tbl>
          </a:graphicData>
        </a:graphic>
      </p:graphicFrame>
      <p:sp>
        <p:nvSpPr>
          <p:cNvPr id="7" name="矩形 6"/>
          <p:cNvSpPr/>
          <p:nvPr/>
        </p:nvSpPr>
        <p:spPr>
          <a:xfrm>
            <a:off x="3992880" y="4502329"/>
            <a:ext cx="1031966" cy="161108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p:cNvSpPr/>
          <p:nvPr/>
        </p:nvSpPr>
        <p:spPr>
          <a:xfrm>
            <a:off x="226424" y="4502329"/>
            <a:ext cx="1876698" cy="161108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p:cNvSpPr/>
          <p:nvPr/>
        </p:nvSpPr>
        <p:spPr>
          <a:xfrm>
            <a:off x="5686697" y="4502329"/>
            <a:ext cx="1066800" cy="161108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831103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3788683280"/>
              </p:ext>
            </p:extLst>
          </p:nvPr>
        </p:nvGraphicFramePr>
        <p:xfrm>
          <a:off x="1166949" y="445272"/>
          <a:ext cx="2481942" cy="2149881"/>
        </p:xfrm>
        <a:graphic>
          <a:graphicData uri="http://schemas.openxmlformats.org/drawingml/2006/table">
            <a:tbl>
              <a:tblPr firstRow="1" bandRow="1">
                <a:tableStyleId>{5940675A-B579-460E-94D1-54222C63F5DA}</a:tableStyleId>
              </a:tblPr>
              <a:tblGrid>
                <a:gridCol w="827314"/>
                <a:gridCol w="827314"/>
                <a:gridCol w="827314"/>
              </a:tblGrid>
              <a:tr h="716627">
                <a:tc>
                  <a:txBody>
                    <a:bodyPr/>
                    <a:lstStyle/>
                    <a:p>
                      <a:r>
                        <a:rPr lang="en-US" altLang="zh-TW" sz="2400" dirty="0" smtClean="0"/>
                        <a:t>A</a:t>
                      </a:r>
                      <a:endParaRPr lang="zh-TW" altLang="en-US" sz="2400" dirty="0"/>
                    </a:p>
                  </a:txBody>
                  <a:tcPr/>
                </a:tc>
                <a:tc>
                  <a:txBody>
                    <a:bodyPr/>
                    <a:lstStyle/>
                    <a:p>
                      <a:r>
                        <a:rPr lang="en-US" altLang="zh-TW" sz="2400" dirty="0" smtClean="0"/>
                        <a:t>C</a:t>
                      </a:r>
                      <a:endParaRPr lang="zh-TW" altLang="en-US" sz="2400" dirty="0"/>
                    </a:p>
                  </a:txBody>
                  <a:tcPr/>
                </a:tc>
                <a:tc>
                  <a:txBody>
                    <a:bodyPr/>
                    <a:lstStyle/>
                    <a:p>
                      <a:r>
                        <a:rPr lang="en-US" altLang="zh-TW" sz="2400" dirty="0" smtClean="0"/>
                        <a:t>B</a:t>
                      </a:r>
                      <a:endParaRPr lang="zh-TW" altLang="en-US" sz="2400" dirty="0"/>
                    </a:p>
                  </a:txBody>
                  <a:tcPr/>
                </a:tc>
              </a:tr>
              <a:tr h="716627">
                <a:tc>
                  <a:txBody>
                    <a:bodyPr/>
                    <a:lstStyle/>
                    <a:p>
                      <a:r>
                        <a:rPr lang="en-US" altLang="zh-TW" sz="2400" dirty="0" smtClean="0"/>
                        <a:t>B</a:t>
                      </a:r>
                      <a:endParaRPr lang="zh-TW" altLang="en-US" sz="2400" dirty="0"/>
                    </a:p>
                  </a:txBody>
                  <a:tcPr/>
                </a:tc>
                <a:tc>
                  <a:txBody>
                    <a:bodyPr/>
                    <a:lstStyle/>
                    <a:p>
                      <a:r>
                        <a:rPr lang="en-US" altLang="zh-TW" sz="2400" dirty="0" smtClean="0"/>
                        <a:t>D</a:t>
                      </a:r>
                      <a:endParaRPr lang="zh-TW" altLang="en-US" sz="2400" dirty="0"/>
                    </a:p>
                  </a:txBody>
                  <a:tcPr/>
                </a:tc>
                <a:tc>
                  <a:txBody>
                    <a:bodyPr/>
                    <a:lstStyle/>
                    <a:p>
                      <a:r>
                        <a:rPr lang="en-US" altLang="zh-TW" sz="2400" dirty="0" smtClean="0"/>
                        <a:t>C</a:t>
                      </a:r>
                      <a:endParaRPr lang="zh-TW" altLang="en-US" sz="2400" dirty="0"/>
                    </a:p>
                  </a:txBody>
                  <a:tcPr/>
                </a:tc>
              </a:tr>
              <a:tr h="716627">
                <a:tc>
                  <a:txBody>
                    <a:bodyPr/>
                    <a:lstStyle/>
                    <a:p>
                      <a:r>
                        <a:rPr lang="en-US" altLang="zh-TW" sz="2400" dirty="0" smtClean="0"/>
                        <a:t>C</a:t>
                      </a:r>
                      <a:endParaRPr lang="zh-TW" altLang="en-US" sz="2400" dirty="0"/>
                    </a:p>
                  </a:txBody>
                  <a:tcPr/>
                </a:tc>
                <a:tc>
                  <a:txBody>
                    <a:bodyPr/>
                    <a:lstStyle/>
                    <a:p>
                      <a:r>
                        <a:rPr lang="en-US" altLang="zh-TW" sz="2400" dirty="0" smtClean="0"/>
                        <a:t>B</a:t>
                      </a:r>
                      <a:endParaRPr lang="zh-TW" altLang="en-US" sz="2400" dirty="0"/>
                    </a:p>
                  </a:txBody>
                  <a:tcPr/>
                </a:tc>
                <a:tc>
                  <a:txBody>
                    <a:bodyPr/>
                    <a:lstStyle/>
                    <a:p>
                      <a:r>
                        <a:rPr lang="en-US" altLang="zh-TW" sz="2400" dirty="0" smtClean="0"/>
                        <a:t>A</a:t>
                      </a:r>
                      <a:endParaRPr lang="zh-TW" altLang="en-US" sz="2400" dirty="0"/>
                    </a:p>
                  </a:txBody>
                  <a:tcP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3986501128"/>
              </p:ext>
            </p:extLst>
          </p:nvPr>
        </p:nvGraphicFramePr>
        <p:xfrm>
          <a:off x="4907280" y="432209"/>
          <a:ext cx="2481942" cy="2149881"/>
        </p:xfrm>
        <a:graphic>
          <a:graphicData uri="http://schemas.openxmlformats.org/drawingml/2006/table">
            <a:tbl>
              <a:tblPr firstRow="1" bandRow="1">
                <a:tableStyleId>{5940675A-B579-460E-94D1-54222C63F5DA}</a:tableStyleId>
              </a:tblPr>
              <a:tblGrid>
                <a:gridCol w="827314"/>
                <a:gridCol w="827314"/>
                <a:gridCol w="827314"/>
              </a:tblGrid>
              <a:tr h="716627">
                <a:tc>
                  <a:txBody>
                    <a:bodyPr/>
                    <a:lstStyle/>
                    <a:p>
                      <a:r>
                        <a:rPr lang="en-US" altLang="zh-TW" sz="2400" dirty="0" smtClean="0"/>
                        <a:t>A</a:t>
                      </a:r>
                      <a:endParaRPr lang="zh-TW" altLang="en-US" sz="2400" dirty="0"/>
                    </a:p>
                  </a:txBody>
                  <a:tcPr/>
                </a:tc>
                <a:tc>
                  <a:txBody>
                    <a:bodyPr/>
                    <a:lstStyle/>
                    <a:p>
                      <a:r>
                        <a:rPr lang="en-US" altLang="zh-TW" sz="2400" dirty="0" smtClean="0"/>
                        <a:t>B</a:t>
                      </a:r>
                      <a:endParaRPr lang="zh-TW" altLang="en-US" sz="2400" dirty="0"/>
                    </a:p>
                  </a:txBody>
                  <a:tcPr/>
                </a:tc>
                <a:tc>
                  <a:txBody>
                    <a:bodyPr/>
                    <a:lstStyle/>
                    <a:p>
                      <a:r>
                        <a:rPr lang="en-US" altLang="zh-TW" sz="2400" dirty="0" smtClean="0"/>
                        <a:t>C</a:t>
                      </a:r>
                      <a:endParaRPr lang="zh-TW" altLang="en-US" sz="2400" dirty="0"/>
                    </a:p>
                  </a:txBody>
                  <a:tcPr/>
                </a:tc>
              </a:tr>
              <a:tr h="716627">
                <a:tc>
                  <a:txBody>
                    <a:bodyPr/>
                    <a:lstStyle/>
                    <a:p>
                      <a:r>
                        <a:rPr lang="en-US" altLang="zh-TW" sz="2400" dirty="0" smtClean="0"/>
                        <a:t>B</a:t>
                      </a:r>
                      <a:endParaRPr lang="zh-TW" altLang="en-US" sz="2400" dirty="0"/>
                    </a:p>
                  </a:txBody>
                  <a:tcPr/>
                </a:tc>
                <a:tc>
                  <a:txBody>
                    <a:bodyPr/>
                    <a:lstStyle/>
                    <a:p>
                      <a:r>
                        <a:rPr lang="en-US" altLang="zh-TW" sz="2400" dirty="0" smtClean="0"/>
                        <a:t>A</a:t>
                      </a:r>
                      <a:endParaRPr lang="zh-TW" altLang="en-US" sz="2400" dirty="0"/>
                    </a:p>
                  </a:txBody>
                  <a:tcPr/>
                </a:tc>
                <a:tc>
                  <a:txBody>
                    <a:bodyPr/>
                    <a:lstStyle/>
                    <a:p>
                      <a:r>
                        <a:rPr lang="en-US" altLang="zh-TW" sz="2400" dirty="0" smtClean="0"/>
                        <a:t>C</a:t>
                      </a:r>
                      <a:endParaRPr lang="zh-TW" altLang="en-US" sz="2400" dirty="0"/>
                    </a:p>
                  </a:txBody>
                  <a:tcPr/>
                </a:tc>
              </a:tr>
              <a:tr h="716627">
                <a:tc>
                  <a:txBody>
                    <a:bodyPr/>
                    <a:lstStyle/>
                    <a:p>
                      <a:r>
                        <a:rPr lang="en-US" altLang="zh-TW" sz="2400" dirty="0" smtClean="0"/>
                        <a:t>B</a:t>
                      </a:r>
                      <a:endParaRPr lang="zh-TW" altLang="en-US" sz="2400" dirty="0"/>
                    </a:p>
                  </a:txBody>
                  <a:tcPr/>
                </a:tc>
                <a:tc>
                  <a:txBody>
                    <a:bodyPr/>
                    <a:lstStyle/>
                    <a:p>
                      <a:r>
                        <a:rPr lang="en-US" altLang="zh-TW" sz="2400" dirty="0" smtClean="0"/>
                        <a:t>B</a:t>
                      </a:r>
                      <a:endParaRPr lang="zh-TW" altLang="en-US" sz="2400" dirty="0"/>
                    </a:p>
                  </a:txBody>
                  <a:tcPr/>
                </a:tc>
                <a:tc>
                  <a:txBody>
                    <a:bodyPr/>
                    <a:lstStyle/>
                    <a:p>
                      <a:r>
                        <a:rPr lang="en-US" altLang="zh-TW" sz="2400" dirty="0" smtClean="0"/>
                        <a:t>D</a:t>
                      </a:r>
                      <a:endParaRPr lang="zh-TW" altLang="en-US" sz="2400" dirty="0"/>
                    </a:p>
                  </a:txBody>
                  <a:tcPr/>
                </a:tc>
              </a:tr>
            </a:tbl>
          </a:graphicData>
        </a:graphic>
      </p:graphicFrame>
      <p:sp>
        <p:nvSpPr>
          <p:cNvPr id="6" name="矩形 5"/>
          <p:cNvSpPr/>
          <p:nvPr/>
        </p:nvSpPr>
        <p:spPr>
          <a:xfrm>
            <a:off x="1027612" y="322216"/>
            <a:ext cx="1036320" cy="90569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p:cNvSpPr/>
          <p:nvPr/>
        </p:nvSpPr>
        <p:spPr>
          <a:xfrm>
            <a:off x="4733109" y="322216"/>
            <a:ext cx="1036320" cy="90569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0" name="直線接點 9"/>
          <p:cNvCxnSpPr/>
          <p:nvPr/>
        </p:nvCxnSpPr>
        <p:spPr>
          <a:xfrm>
            <a:off x="1537064" y="1227908"/>
            <a:ext cx="8708" cy="138466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線接點 10"/>
          <p:cNvCxnSpPr/>
          <p:nvPr/>
        </p:nvCxnSpPr>
        <p:spPr>
          <a:xfrm>
            <a:off x="5251269" y="1227907"/>
            <a:ext cx="8708" cy="138466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線接點 11"/>
          <p:cNvCxnSpPr/>
          <p:nvPr/>
        </p:nvCxnSpPr>
        <p:spPr>
          <a:xfrm flipV="1">
            <a:off x="5769429" y="896983"/>
            <a:ext cx="1658982" cy="435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線接點 13"/>
          <p:cNvCxnSpPr/>
          <p:nvPr/>
        </p:nvCxnSpPr>
        <p:spPr>
          <a:xfrm flipV="1">
            <a:off x="2063932" y="892630"/>
            <a:ext cx="1658982" cy="435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2421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986472367"/>
              </p:ext>
            </p:extLst>
          </p:nvPr>
        </p:nvGraphicFramePr>
        <p:xfrm>
          <a:off x="1166949" y="445272"/>
          <a:ext cx="2481942" cy="2149881"/>
        </p:xfrm>
        <a:graphic>
          <a:graphicData uri="http://schemas.openxmlformats.org/drawingml/2006/table">
            <a:tbl>
              <a:tblPr firstRow="1" bandRow="1">
                <a:tableStyleId>{5940675A-B579-460E-94D1-54222C63F5DA}</a:tableStyleId>
              </a:tblPr>
              <a:tblGrid>
                <a:gridCol w="827314"/>
                <a:gridCol w="827314"/>
                <a:gridCol w="827314"/>
              </a:tblGrid>
              <a:tr h="716627">
                <a:tc>
                  <a:txBody>
                    <a:bodyPr/>
                    <a:lstStyle/>
                    <a:p>
                      <a:r>
                        <a:rPr lang="en-US" altLang="zh-TW" sz="2400" dirty="0" smtClean="0"/>
                        <a:t>A</a:t>
                      </a:r>
                      <a:endParaRPr lang="zh-TW" altLang="en-US" sz="2400" dirty="0"/>
                    </a:p>
                  </a:txBody>
                  <a:tcPr/>
                </a:tc>
                <a:tc>
                  <a:txBody>
                    <a:bodyPr/>
                    <a:lstStyle/>
                    <a:p>
                      <a:r>
                        <a:rPr lang="en-US" altLang="zh-TW" sz="2400" dirty="0" smtClean="0"/>
                        <a:t>C</a:t>
                      </a:r>
                      <a:endParaRPr lang="zh-TW" altLang="en-US" sz="2400" dirty="0"/>
                    </a:p>
                  </a:txBody>
                  <a:tcPr/>
                </a:tc>
                <a:tc>
                  <a:txBody>
                    <a:bodyPr/>
                    <a:lstStyle/>
                    <a:p>
                      <a:r>
                        <a:rPr lang="en-US" altLang="zh-TW" sz="2400" dirty="0" smtClean="0"/>
                        <a:t>B</a:t>
                      </a:r>
                      <a:endParaRPr lang="zh-TW" altLang="en-US" sz="2400" dirty="0"/>
                    </a:p>
                  </a:txBody>
                  <a:tcPr/>
                </a:tc>
              </a:tr>
              <a:tr h="716627">
                <a:tc>
                  <a:txBody>
                    <a:bodyPr/>
                    <a:lstStyle/>
                    <a:p>
                      <a:r>
                        <a:rPr lang="en-US" altLang="zh-TW" sz="2400" dirty="0" smtClean="0"/>
                        <a:t>B</a:t>
                      </a:r>
                      <a:endParaRPr lang="zh-TW" altLang="en-US" sz="2400" dirty="0"/>
                    </a:p>
                  </a:txBody>
                  <a:tcPr/>
                </a:tc>
                <a:tc>
                  <a:txBody>
                    <a:bodyPr/>
                    <a:lstStyle/>
                    <a:p>
                      <a:r>
                        <a:rPr lang="en-US" altLang="zh-TW" sz="2400" dirty="0" smtClean="0"/>
                        <a:t>D</a:t>
                      </a:r>
                      <a:endParaRPr lang="zh-TW" altLang="en-US" sz="2400" dirty="0"/>
                    </a:p>
                  </a:txBody>
                  <a:tcPr/>
                </a:tc>
                <a:tc>
                  <a:txBody>
                    <a:bodyPr/>
                    <a:lstStyle/>
                    <a:p>
                      <a:r>
                        <a:rPr lang="en-US" altLang="zh-TW" sz="2400" dirty="0" smtClean="0"/>
                        <a:t>C</a:t>
                      </a:r>
                      <a:endParaRPr lang="zh-TW" altLang="en-US" sz="2400" dirty="0"/>
                    </a:p>
                  </a:txBody>
                  <a:tcPr/>
                </a:tc>
              </a:tr>
              <a:tr h="716627">
                <a:tc>
                  <a:txBody>
                    <a:bodyPr/>
                    <a:lstStyle/>
                    <a:p>
                      <a:r>
                        <a:rPr lang="en-US" altLang="zh-TW" sz="2400" dirty="0" smtClean="0"/>
                        <a:t>C</a:t>
                      </a:r>
                      <a:endParaRPr lang="zh-TW" altLang="en-US" sz="2400" dirty="0"/>
                    </a:p>
                  </a:txBody>
                  <a:tcPr/>
                </a:tc>
                <a:tc>
                  <a:txBody>
                    <a:bodyPr/>
                    <a:lstStyle/>
                    <a:p>
                      <a:r>
                        <a:rPr lang="en-US" altLang="zh-TW" sz="2400" dirty="0" smtClean="0"/>
                        <a:t>B</a:t>
                      </a:r>
                      <a:endParaRPr lang="zh-TW" altLang="en-US" sz="2400" dirty="0"/>
                    </a:p>
                  </a:txBody>
                  <a:tcPr/>
                </a:tc>
                <a:tc>
                  <a:txBody>
                    <a:bodyPr/>
                    <a:lstStyle/>
                    <a:p>
                      <a:r>
                        <a:rPr lang="en-US" altLang="zh-TW" sz="2400" dirty="0" smtClean="0"/>
                        <a:t>A</a:t>
                      </a:r>
                      <a:endParaRPr lang="zh-TW" altLang="en-US" sz="2400" dirty="0"/>
                    </a:p>
                  </a:txBody>
                  <a:tcP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3656445288"/>
              </p:ext>
            </p:extLst>
          </p:nvPr>
        </p:nvGraphicFramePr>
        <p:xfrm>
          <a:off x="4907280" y="432209"/>
          <a:ext cx="2481942" cy="2149881"/>
        </p:xfrm>
        <a:graphic>
          <a:graphicData uri="http://schemas.openxmlformats.org/drawingml/2006/table">
            <a:tbl>
              <a:tblPr firstRow="1" bandRow="1">
                <a:tableStyleId>{5940675A-B579-460E-94D1-54222C63F5DA}</a:tableStyleId>
              </a:tblPr>
              <a:tblGrid>
                <a:gridCol w="827314"/>
                <a:gridCol w="827314"/>
                <a:gridCol w="827314"/>
              </a:tblGrid>
              <a:tr h="716627">
                <a:tc>
                  <a:txBody>
                    <a:bodyPr/>
                    <a:lstStyle/>
                    <a:p>
                      <a:r>
                        <a:rPr lang="en-US" altLang="zh-TW" sz="2400" dirty="0" smtClean="0"/>
                        <a:t>A</a:t>
                      </a:r>
                      <a:endParaRPr lang="zh-TW" altLang="en-US" sz="2400" dirty="0"/>
                    </a:p>
                  </a:txBody>
                  <a:tcPr/>
                </a:tc>
                <a:tc>
                  <a:txBody>
                    <a:bodyPr/>
                    <a:lstStyle/>
                    <a:p>
                      <a:r>
                        <a:rPr lang="en-US" altLang="zh-TW" sz="2400" dirty="0" smtClean="0"/>
                        <a:t>B</a:t>
                      </a:r>
                      <a:endParaRPr lang="zh-TW" altLang="en-US" sz="2400" dirty="0"/>
                    </a:p>
                  </a:txBody>
                  <a:tcPr/>
                </a:tc>
                <a:tc>
                  <a:txBody>
                    <a:bodyPr/>
                    <a:lstStyle/>
                    <a:p>
                      <a:r>
                        <a:rPr lang="en-US" altLang="zh-TW" sz="2400" dirty="0" smtClean="0"/>
                        <a:t>C</a:t>
                      </a:r>
                      <a:endParaRPr lang="zh-TW" altLang="en-US" sz="2400" dirty="0"/>
                    </a:p>
                  </a:txBody>
                  <a:tcPr/>
                </a:tc>
              </a:tr>
              <a:tr h="716627">
                <a:tc>
                  <a:txBody>
                    <a:bodyPr/>
                    <a:lstStyle/>
                    <a:p>
                      <a:r>
                        <a:rPr lang="en-US" altLang="zh-TW" sz="2400" dirty="0" smtClean="0"/>
                        <a:t>B</a:t>
                      </a:r>
                      <a:endParaRPr lang="zh-TW" altLang="en-US" sz="2400" dirty="0"/>
                    </a:p>
                  </a:txBody>
                  <a:tcPr/>
                </a:tc>
                <a:tc>
                  <a:txBody>
                    <a:bodyPr/>
                    <a:lstStyle/>
                    <a:p>
                      <a:r>
                        <a:rPr lang="en-US" altLang="zh-TW" sz="2400" dirty="0" smtClean="0"/>
                        <a:t>A</a:t>
                      </a:r>
                      <a:endParaRPr lang="zh-TW" altLang="en-US" sz="2400" dirty="0"/>
                    </a:p>
                  </a:txBody>
                  <a:tcPr/>
                </a:tc>
                <a:tc>
                  <a:txBody>
                    <a:bodyPr/>
                    <a:lstStyle/>
                    <a:p>
                      <a:r>
                        <a:rPr lang="en-US" altLang="zh-TW" sz="2400" dirty="0" smtClean="0"/>
                        <a:t>C</a:t>
                      </a:r>
                      <a:endParaRPr lang="zh-TW" altLang="en-US" sz="2400" dirty="0"/>
                    </a:p>
                  </a:txBody>
                  <a:tcPr/>
                </a:tc>
              </a:tr>
              <a:tr h="716627">
                <a:tc>
                  <a:txBody>
                    <a:bodyPr/>
                    <a:lstStyle/>
                    <a:p>
                      <a:r>
                        <a:rPr lang="en-US" altLang="zh-TW" sz="2400" dirty="0" smtClean="0"/>
                        <a:t>B</a:t>
                      </a:r>
                      <a:endParaRPr lang="zh-TW" altLang="en-US" sz="2400" dirty="0"/>
                    </a:p>
                  </a:txBody>
                  <a:tcPr/>
                </a:tc>
                <a:tc>
                  <a:txBody>
                    <a:bodyPr/>
                    <a:lstStyle/>
                    <a:p>
                      <a:r>
                        <a:rPr lang="en-US" altLang="zh-TW" sz="2400" dirty="0" smtClean="0"/>
                        <a:t>B</a:t>
                      </a:r>
                      <a:endParaRPr lang="zh-TW" altLang="en-US" sz="2400" dirty="0"/>
                    </a:p>
                  </a:txBody>
                  <a:tcPr/>
                </a:tc>
                <a:tc>
                  <a:txBody>
                    <a:bodyPr/>
                    <a:lstStyle/>
                    <a:p>
                      <a:r>
                        <a:rPr lang="en-US" altLang="zh-TW" sz="2400" dirty="0" smtClean="0"/>
                        <a:t>D</a:t>
                      </a:r>
                      <a:endParaRPr lang="zh-TW" altLang="en-US" sz="2400" dirty="0"/>
                    </a:p>
                  </a:txBody>
                  <a:tcPr/>
                </a:tc>
              </a:tr>
            </a:tbl>
          </a:graphicData>
        </a:graphic>
      </p:graphicFrame>
      <p:sp>
        <p:nvSpPr>
          <p:cNvPr id="6" name="矩形 5"/>
          <p:cNvSpPr/>
          <p:nvPr/>
        </p:nvSpPr>
        <p:spPr>
          <a:xfrm>
            <a:off x="1027612" y="322216"/>
            <a:ext cx="1036320" cy="90569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p:cNvSpPr/>
          <p:nvPr/>
        </p:nvSpPr>
        <p:spPr>
          <a:xfrm>
            <a:off x="4733109" y="322216"/>
            <a:ext cx="1036320" cy="90569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p:cNvSpPr/>
          <p:nvPr/>
        </p:nvSpPr>
        <p:spPr>
          <a:xfrm>
            <a:off x="1867990" y="309152"/>
            <a:ext cx="1036320" cy="90569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p:cNvSpPr/>
          <p:nvPr/>
        </p:nvSpPr>
        <p:spPr>
          <a:xfrm>
            <a:off x="6470469" y="309152"/>
            <a:ext cx="1036320" cy="90569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p:cNvSpPr/>
          <p:nvPr/>
        </p:nvSpPr>
        <p:spPr>
          <a:xfrm>
            <a:off x="2708368" y="309152"/>
            <a:ext cx="1036320" cy="90569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p:cNvSpPr/>
          <p:nvPr/>
        </p:nvSpPr>
        <p:spPr>
          <a:xfrm>
            <a:off x="5630091" y="309152"/>
            <a:ext cx="1036320" cy="90569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2" name="表格 11"/>
          <p:cNvGraphicFramePr>
            <a:graphicFrameLocks noGrp="1"/>
          </p:cNvGraphicFramePr>
          <p:nvPr>
            <p:extLst>
              <p:ext uri="{D42A27DB-BD31-4B8C-83A1-F6EECF244321}">
                <p14:modId xmlns:p14="http://schemas.microsoft.com/office/powerpoint/2010/main" val="3802212887"/>
              </p:ext>
            </p:extLst>
          </p:nvPr>
        </p:nvGraphicFramePr>
        <p:xfrm>
          <a:off x="1145179" y="3880804"/>
          <a:ext cx="2481942" cy="2149881"/>
        </p:xfrm>
        <a:graphic>
          <a:graphicData uri="http://schemas.openxmlformats.org/drawingml/2006/table">
            <a:tbl>
              <a:tblPr firstRow="1" bandRow="1">
                <a:tableStyleId>{5940675A-B579-460E-94D1-54222C63F5DA}</a:tableStyleId>
              </a:tblPr>
              <a:tblGrid>
                <a:gridCol w="827314"/>
                <a:gridCol w="827314"/>
                <a:gridCol w="827314"/>
              </a:tblGrid>
              <a:tr h="716627">
                <a:tc>
                  <a:txBody>
                    <a:bodyPr/>
                    <a:lstStyle/>
                    <a:p>
                      <a:r>
                        <a:rPr lang="en-US" altLang="zh-TW" sz="2400" dirty="0" smtClean="0"/>
                        <a:t>A</a:t>
                      </a:r>
                      <a:endParaRPr lang="zh-TW" altLang="en-US" sz="2400" dirty="0"/>
                    </a:p>
                  </a:txBody>
                  <a:tcPr/>
                </a:tc>
                <a:tc>
                  <a:txBody>
                    <a:bodyPr/>
                    <a:lstStyle/>
                    <a:p>
                      <a:r>
                        <a:rPr lang="en-US" altLang="zh-TW" sz="2400" dirty="0" smtClean="0"/>
                        <a:t>C</a:t>
                      </a:r>
                      <a:endParaRPr lang="zh-TW" altLang="en-US" sz="2400" dirty="0"/>
                    </a:p>
                  </a:txBody>
                  <a:tcPr/>
                </a:tc>
                <a:tc>
                  <a:txBody>
                    <a:bodyPr/>
                    <a:lstStyle/>
                    <a:p>
                      <a:r>
                        <a:rPr lang="en-US" altLang="zh-TW" sz="2400" dirty="0" smtClean="0"/>
                        <a:t>B</a:t>
                      </a:r>
                      <a:endParaRPr lang="zh-TW" altLang="en-US" sz="2400" dirty="0"/>
                    </a:p>
                  </a:txBody>
                  <a:tcPr/>
                </a:tc>
              </a:tr>
              <a:tr h="716627">
                <a:tc>
                  <a:txBody>
                    <a:bodyPr/>
                    <a:lstStyle/>
                    <a:p>
                      <a:r>
                        <a:rPr lang="en-US" altLang="zh-TW" sz="2400" dirty="0" smtClean="0"/>
                        <a:t>B</a:t>
                      </a:r>
                      <a:endParaRPr lang="zh-TW" altLang="en-US" sz="2400" dirty="0"/>
                    </a:p>
                  </a:txBody>
                  <a:tcPr/>
                </a:tc>
                <a:tc>
                  <a:txBody>
                    <a:bodyPr/>
                    <a:lstStyle/>
                    <a:p>
                      <a:r>
                        <a:rPr lang="en-US" altLang="zh-TW" sz="2400" dirty="0" smtClean="0"/>
                        <a:t>D</a:t>
                      </a:r>
                      <a:endParaRPr lang="zh-TW" altLang="en-US" sz="2400" dirty="0"/>
                    </a:p>
                  </a:txBody>
                  <a:tcPr/>
                </a:tc>
                <a:tc>
                  <a:txBody>
                    <a:bodyPr/>
                    <a:lstStyle/>
                    <a:p>
                      <a:r>
                        <a:rPr lang="en-US" altLang="zh-TW" sz="2400" dirty="0" smtClean="0"/>
                        <a:t>C</a:t>
                      </a:r>
                      <a:endParaRPr lang="zh-TW" altLang="en-US" sz="2400" dirty="0"/>
                    </a:p>
                  </a:txBody>
                  <a:tcPr/>
                </a:tc>
              </a:tr>
              <a:tr h="716627">
                <a:tc>
                  <a:txBody>
                    <a:bodyPr/>
                    <a:lstStyle/>
                    <a:p>
                      <a:r>
                        <a:rPr lang="en-US" altLang="zh-TW" sz="2400" dirty="0" smtClean="0"/>
                        <a:t>C</a:t>
                      </a:r>
                      <a:endParaRPr lang="zh-TW" altLang="en-US" sz="2400" dirty="0"/>
                    </a:p>
                  </a:txBody>
                  <a:tcPr/>
                </a:tc>
                <a:tc>
                  <a:txBody>
                    <a:bodyPr/>
                    <a:lstStyle/>
                    <a:p>
                      <a:r>
                        <a:rPr lang="en-US" altLang="zh-TW" sz="2400" dirty="0" smtClean="0"/>
                        <a:t>B</a:t>
                      </a:r>
                      <a:endParaRPr lang="zh-TW" altLang="en-US" sz="2400" dirty="0"/>
                    </a:p>
                  </a:txBody>
                  <a:tcPr/>
                </a:tc>
                <a:tc>
                  <a:txBody>
                    <a:bodyPr/>
                    <a:lstStyle/>
                    <a:p>
                      <a:r>
                        <a:rPr lang="en-US" altLang="zh-TW" sz="2400" dirty="0" smtClean="0"/>
                        <a:t>A</a:t>
                      </a:r>
                      <a:endParaRPr lang="zh-TW" altLang="en-US" sz="2400" dirty="0"/>
                    </a:p>
                  </a:txBody>
                  <a:tcPr/>
                </a:tc>
              </a:tr>
            </a:tbl>
          </a:graphicData>
        </a:graphic>
      </p:graphicFrame>
      <p:graphicFrame>
        <p:nvGraphicFramePr>
          <p:cNvPr id="13" name="表格 12"/>
          <p:cNvGraphicFramePr>
            <a:graphicFrameLocks noGrp="1"/>
          </p:cNvGraphicFramePr>
          <p:nvPr>
            <p:extLst>
              <p:ext uri="{D42A27DB-BD31-4B8C-83A1-F6EECF244321}">
                <p14:modId xmlns:p14="http://schemas.microsoft.com/office/powerpoint/2010/main" val="857557067"/>
              </p:ext>
            </p:extLst>
          </p:nvPr>
        </p:nvGraphicFramePr>
        <p:xfrm>
          <a:off x="4885510" y="3867741"/>
          <a:ext cx="2481942" cy="2149881"/>
        </p:xfrm>
        <a:graphic>
          <a:graphicData uri="http://schemas.openxmlformats.org/drawingml/2006/table">
            <a:tbl>
              <a:tblPr firstRow="1" bandRow="1">
                <a:tableStyleId>{5940675A-B579-460E-94D1-54222C63F5DA}</a:tableStyleId>
              </a:tblPr>
              <a:tblGrid>
                <a:gridCol w="827314"/>
                <a:gridCol w="827314"/>
                <a:gridCol w="827314"/>
              </a:tblGrid>
              <a:tr h="716627">
                <a:tc>
                  <a:txBody>
                    <a:bodyPr/>
                    <a:lstStyle/>
                    <a:p>
                      <a:r>
                        <a:rPr lang="en-US" altLang="zh-TW" sz="2400" dirty="0" smtClean="0"/>
                        <a:t>A</a:t>
                      </a:r>
                      <a:endParaRPr lang="zh-TW" altLang="en-US" sz="2400" dirty="0"/>
                    </a:p>
                  </a:txBody>
                  <a:tcPr/>
                </a:tc>
                <a:tc>
                  <a:txBody>
                    <a:bodyPr/>
                    <a:lstStyle/>
                    <a:p>
                      <a:r>
                        <a:rPr lang="en-US" altLang="zh-TW" sz="2400" dirty="0" smtClean="0"/>
                        <a:t>B</a:t>
                      </a:r>
                      <a:endParaRPr lang="zh-TW" altLang="en-US" sz="2400" dirty="0"/>
                    </a:p>
                  </a:txBody>
                  <a:tcPr/>
                </a:tc>
                <a:tc>
                  <a:txBody>
                    <a:bodyPr/>
                    <a:lstStyle/>
                    <a:p>
                      <a:r>
                        <a:rPr lang="en-US" altLang="zh-TW" sz="2400" dirty="0" smtClean="0"/>
                        <a:t>C</a:t>
                      </a:r>
                      <a:endParaRPr lang="zh-TW" altLang="en-US" sz="2400" dirty="0"/>
                    </a:p>
                  </a:txBody>
                  <a:tcPr/>
                </a:tc>
              </a:tr>
              <a:tr h="716627">
                <a:tc>
                  <a:txBody>
                    <a:bodyPr/>
                    <a:lstStyle/>
                    <a:p>
                      <a:r>
                        <a:rPr lang="en-US" altLang="zh-TW" sz="2400" dirty="0" smtClean="0"/>
                        <a:t>B</a:t>
                      </a:r>
                      <a:endParaRPr lang="zh-TW" altLang="en-US" sz="2400" dirty="0"/>
                    </a:p>
                  </a:txBody>
                  <a:tcPr/>
                </a:tc>
                <a:tc>
                  <a:txBody>
                    <a:bodyPr/>
                    <a:lstStyle/>
                    <a:p>
                      <a:r>
                        <a:rPr lang="en-US" altLang="zh-TW" sz="2400" dirty="0" smtClean="0"/>
                        <a:t>A</a:t>
                      </a:r>
                      <a:endParaRPr lang="zh-TW" altLang="en-US" sz="2400" dirty="0"/>
                    </a:p>
                  </a:txBody>
                  <a:tcPr/>
                </a:tc>
                <a:tc>
                  <a:txBody>
                    <a:bodyPr/>
                    <a:lstStyle/>
                    <a:p>
                      <a:r>
                        <a:rPr lang="en-US" altLang="zh-TW" sz="2400" dirty="0" smtClean="0"/>
                        <a:t>C</a:t>
                      </a:r>
                      <a:endParaRPr lang="zh-TW" altLang="en-US" sz="2400" dirty="0"/>
                    </a:p>
                  </a:txBody>
                  <a:tcPr/>
                </a:tc>
              </a:tr>
              <a:tr h="716627">
                <a:tc>
                  <a:txBody>
                    <a:bodyPr/>
                    <a:lstStyle/>
                    <a:p>
                      <a:r>
                        <a:rPr lang="en-US" altLang="zh-TW" sz="2400" dirty="0" smtClean="0"/>
                        <a:t>B</a:t>
                      </a:r>
                      <a:endParaRPr lang="zh-TW" altLang="en-US" sz="2400" dirty="0"/>
                    </a:p>
                  </a:txBody>
                  <a:tcPr/>
                </a:tc>
                <a:tc>
                  <a:txBody>
                    <a:bodyPr/>
                    <a:lstStyle/>
                    <a:p>
                      <a:r>
                        <a:rPr lang="en-US" altLang="zh-TW" sz="2400" dirty="0" smtClean="0"/>
                        <a:t>B</a:t>
                      </a:r>
                      <a:endParaRPr lang="zh-TW" altLang="en-US" sz="2400" dirty="0"/>
                    </a:p>
                  </a:txBody>
                  <a:tcPr/>
                </a:tc>
                <a:tc>
                  <a:txBody>
                    <a:bodyPr/>
                    <a:lstStyle/>
                    <a:p>
                      <a:r>
                        <a:rPr lang="en-US" altLang="zh-TW" sz="2400" dirty="0" smtClean="0"/>
                        <a:t>D</a:t>
                      </a:r>
                      <a:endParaRPr lang="zh-TW" altLang="en-US" sz="2400" dirty="0"/>
                    </a:p>
                  </a:txBody>
                  <a:tcPr/>
                </a:tc>
              </a:tr>
            </a:tbl>
          </a:graphicData>
        </a:graphic>
      </p:graphicFrame>
      <p:sp>
        <p:nvSpPr>
          <p:cNvPr id="14" name="矩形 13"/>
          <p:cNvSpPr/>
          <p:nvPr/>
        </p:nvSpPr>
        <p:spPr>
          <a:xfrm>
            <a:off x="5630091" y="4502329"/>
            <a:ext cx="1876698" cy="161108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p:cNvSpPr/>
          <p:nvPr/>
        </p:nvSpPr>
        <p:spPr>
          <a:xfrm>
            <a:off x="1027612" y="3814352"/>
            <a:ext cx="1876698" cy="161108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7" name="直線接點 16"/>
          <p:cNvCxnSpPr/>
          <p:nvPr/>
        </p:nvCxnSpPr>
        <p:spPr>
          <a:xfrm>
            <a:off x="1628503" y="1227908"/>
            <a:ext cx="8708" cy="138466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a:off x="2477589" y="1214844"/>
            <a:ext cx="8708" cy="138466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直線接點 18"/>
          <p:cNvCxnSpPr/>
          <p:nvPr/>
        </p:nvCxnSpPr>
        <p:spPr>
          <a:xfrm>
            <a:off x="5281749" y="1254036"/>
            <a:ext cx="8708" cy="138466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直線接點 19"/>
          <p:cNvCxnSpPr/>
          <p:nvPr/>
        </p:nvCxnSpPr>
        <p:spPr>
          <a:xfrm>
            <a:off x="6936379" y="1214844"/>
            <a:ext cx="8708" cy="138466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直線接點 20"/>
          <p:cNvCxnSpPr/>
          <p:nvPr/>
        </p:nvCxnSpPr>
        <p:spPr>
          <a:xfrm>
            <a:off x="1637211" y="1254036"/>
            <a:ext cx="8708" cy="138466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直線接點 21"/>
          <p:cNvCxnSpPr/>
          <p:nvPr/>
        </p:nvCxnSpPr>
        <p:spPr>
          <a:xfrm>
            <a:off x="3174276" y="1227908"/>
            <a:ext cx="8708" cy="138466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直線接點 22"/>
          <p:cNvCxnSpPr/>
          <p:nvPr/>
        </p:nvCxnSpPr>
        <p:spPr>
          <a:xfrm>
            <a:off x="5290457" y="1280164"/>
            <a:ext cx="8708" cy="138466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直線接點 23"/>
          <p:cNvCxnSpPr/>
          <p:nvPr/>
        </p:nvCxnSpPr>
        <p:spPr>
          <a:xfrm>
            <a:off x="6135189" y="1214844"/>
            <a:ext cx="8708" cy="138466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1493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par>
                                <p:cTn id="9" presetID="1"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subTnLst>
                                    <p:set>
                                      <p:cBhvr override="childStyle">
                                        <p:cTn dur="1" fill="hold" display="0" masterRel="nextClick" afterEffect="1"/>
                                        <p:tgtEl>
                                          <p:spTgt spid="18"/>
                                        </p:tgtEl>
                                        <p:attrNameLst>
                                          <p:attrName>style.visibility</p:attrName>
                                        </p:attrNameLst>
                                      </p:cBhvr>
                                      <p:to>
                                        <p:strVal val="hidden"/>
                                      </p:to>
                                    </p:set>
                                  </p:sub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subTnLst>
                                    <p:set>
                                      <p:cBhvr override="childStyle">
                                        <p:cTn dur="1" fill="hold" display="0" masterRel="nextClick" afterEffect="1"/>
                                        <p:tgtEl>
                                          <p:spTgt spid="20"/>
                                        </p:tgtEl>
                                        <p:attrNameLst>
                                          <p:attrName>style.visibility</p:attrName>
                                        </p:attrNameLst>
                                      </p:cBhvr>
                                      <p:to>
                                        <p:strVal val="hidden"/>
                                      </p:to>
                                    </p:set>
                                  </p:sub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subTnLst>
                                    <p:set>
                                      <p:cBhvr override="childStyle">
                                        <p:cTn dur="1" fill="hold" display="0" masterRel="nextClick" afterEffect="1"/>
                                        <p:tgtEl>
                                          <p:spTgt spid="19"/>
                                        </p:tgtEl>
                                        <p:attrNameLst>
                                          <p:attrName>style.visibility</p:attrName>
                                        </p:attrNameLst>
                                      </p:cBhvr>
                                      <p:to>
                                        <p:strVal val="hidden"/>
                                      </p:to>
                                    </p:set>
                                  </p:sub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par>
                                <p:cTn id="23" presetID="1"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subTnLst>
                                    <p:set>
                                      <p:cBhvr override="childStyle">
                                        <p:cTn dur="1" fill="hold" display="0" masterRel="nextClick" afterEffect="1"/>
                                        <p:tgtEl>
                                          <p:spTgt spid="22"/>
                                        </p:tgtEl>
                                        <p:attrNameLst>
                                          <p:attrName>style.visibility</p:attrName>
                                        </p:attrNameLst>
                                      </p:cBhvr>
                                      <p:to>
                                        <p:strVal val="hidden"/>
                                      </p:to>
                                    </p:set>
                                  </p:subTnLst>
                                </p:cTn>
                              </p:par>
                              <p:par>
                                <p:cTn id="25" presetID="1"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par>
                                <p:cTn id="27" presetID="1"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subTnLst>
                                    <p:set>
                                      <p:cBhvr override="childStyle">
                                        <p:cTn dur="1" fill="hold" display="0" masterRel="nextClick" afterEffect="1"/>
                                        <p:tgtEl>
                                          <p:spTgt spid="24"/>
                                        </p:tgtEl>
                                        <p:attrNameLst>
                                          <p:attrName>style.visibility</p:attrName>
                                        </p:attrNameLst>
                                      </p:cBhvr>
                                      <p:to>
                                        <p:strVal val="hidden"/>
                                      </p:to>
                                    </p:set>
                                  </p:subTnLst>
                                </p:cTn>
                              </p:par>
                              <p:par>
                                <p:cTn id="29" presetID="1"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subTnLst>
                                    <p:set>
                                      <p:cBhvr override="childStyle">
                                        <p:cTn dur="1" fill="hold" display="0" masterRel="nextClick" afterEffect="1"/>
                                        <p:tgtEl>
                                          <p:spTgt spid="23"/>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4" grpId="0" animBg="1"/>
      <p:bldP spid="1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Proof</a:t>
            </a:r>
            <a:endParaRPr lang="zh-TW" altLang="en-US" dirty="0"/>
          </a:p>
        </p:txBody>
      </p:sp>
      <p:sp>
        <p:nvSpPr>
          <p:cNvPr id="3" name="內容版面配置區 2"/>
          <p:cNvSpPr>
            <a:spLocks noGrp="1"/>
          </p:cNvSpPr>
          <p:nvPr>
            <p:ph idx="1"/>
          </p:nvPr>
        </p:nvSpPr>
        <p:spPr>
          <a:xfrm>
            <a:off x="628650" y="1825625"/>
            <a:ext cx="7886700" cy="4810012"/>
          </a:xfrm>
        </p:spPr>
        <p:txBody>
          <a:bodyPr>
            <a:normAutofit/>
          </a:bodyPr>
          <a:lstStyle/>
          <a:p>
            <a:pPr marL="0" indent="0">
              <a:buNone/>
            </a:pPr>
            <a:r>
              <a:rPr lang="en-US" altLang="zh-TW" dirty="0" smtClean="0"/>
              <a:t>Prove the hardness of the problem by a reduction from the Clique problem.</a:t>
            </a:r>
          </a:p>
          <a:p>
            <a:pPr marL="0" indent="0">
              <a:buNone/>
            </a:pPr>
            <a:endParaRPr lang="en-US" altLang="zh-TW" dirty="0" smtClean="0"/>
          </a:p>
          <a:p>
            <a:pPr marL="0" indent="0">
              <a:buNone/>
            </a:pPr>
            <a:r>
              <a:rPr lang="en-US" altLang="zh-TW" dirty="0" smtClean="0"/>
              <a:t>A clique in a graph G is a complete subgraph of G; that is, it is a subset S of the vertices such that every two vertices in S are connected by an edge in G.</a:t>
            </a:r>
          </a:p>
          <a:p>
            <a:pPr marL="0" indent="0">
              <a:buNone/>
            </a:pPr>
            <a:endParaRPr lang="en-US" altLang="zh-TW" dirty="0"/>
          </a:p>
          <a:p>
            <a:pPr marL="0" indent="0">
              <a:buNone/>
            </a:pPr>
            <a:r>
              <a:rPr lang="en-US" altLang="zh-TW" dirty="0" smtClean="0"/>
              <a:t>Clique problem:</a:t>
            </a:r>
          </a:p>
          <a:p>
            <a:pPr marL="0" indent="0">
              <a:buNone/>
            </a:pPr>
            <a:r>
              <a:rPr lang="en-US" altLang="zh-TW" dirty="0"/>
              <a:t>Find whether or not there exist a clique</a:t>
            </a:r>
          </a:p>
          <a:p>
            <a:pPr marL="0" indent="0">
              <a:buNone/>
            </a:pPr>
            <a:r>
              <a:rPr lang="en-US" altLang="zh-TW" dirty="0" smtClean="0"/>
              <a:t>size </a:t>
            </a:r>
            <a:r>
              <a:rPr lang="en-US" altLang="zh-TW" dirty="0"/>
              <a:t>of </a:t>
            </a:r>
            <a:r>
              <a:rPr lang="en-US" altLang="zh-TW" dirty="0" smtClean="0"/>
              <a:t>k</a:t>
            </a:r>
            <a:endParaRPr lang="zh-TW" altLang="en-US" dirty="0"/>
          </a:p>
        </p:txBody>
      </p:sp>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10250" y="4572000"/>
            <a:ext cx="3333750" cy="2286000"/>
          </a:xfrm>
          <a:prstGeom prst="rect">
            <a:avLst/>
          </a:prstGeom>
        </p:spPr>
      </p:pic>
    </p:spTree>
    <p:extLst>
      <p:ext uri="{BB962C8B-B14F-4D97-AF65-F5344CB8AC3E}">
        <p14:creationId xmlns:p14="http://schemas.microsoft.com/office/powerpoint/2010/main" val="326204899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Definition</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marL="0" indent="0">
                  <a:buNone/>
                </a:pPr>
                <a:r>
                  <a:rPr lang="en-US" altLang="zh-TW" dirty="0" smtClean="0"/>
                  <a:t>Given a graph </a:t>
                </a:r>
                <a14:m>
                  <m:oMath xmlns:m="http://schemas.openxmlformats.org/officeDocument/2006/math">
                    <m:r>
                      <a:rPr lang="en-US" altLang="zh-TW" b="0" i="1" smtClean="0">
                        <a:latin typeface="Cambria Math" panose="02040503050406030204" pitchFamily="18" charset="0"/>
                      </a:rPr>
                      <m:t>𝐺</m:t>
                    </m:r>
                    <m:r>
                      <a:rPr lang="en-US" altLang="zh-TW" b="0" i="1" smtClean="0">
                        <a:latin typeface="Cambria Math" panose="02040503050406030204" pitchFamily="18" charset="0"/>
                      </a:rPr>
                      <m:t>=(</m:t>
                    </m:r>
                    <m:r>
                      <a:rPr lang="en-US" altLang="zh-TW" b="0" i="1" smtClean="0">
                        <a:latin typeface="Cambria Math" panose="02040503050406030204" pitchFamily="18" charset="0"/>
                      </a:rPr>
                      <m:t>𝑉</m:t>
                    </m:r>
                    <m:r>
                      <a:rPr lang="en-US" altLang="zh-TW" b="0" i="1" smtClean="0">
                        <a:latin typeface="Cambria Math" panose="02040503050406030204" pitchFamily="18" charset="0"/>
                      </a:rPr>
                      <m:t>,</m:t>
                    </m:r>
                    <m:r>
                      <a:rPr lang="en-US" altLang="zh-TW" b="0" i="1" smtClean="0">
                        <a:latin typeface="Cambria Math" panose="02040503050406030204" pitchFamily="18" charset="0"/>
                      </a:rPr>
                      <m:t>𝐸</m:t>
                    </m:r>
                    <m:r>
                      <a:rPr lang="en-US" altLang="zh-TW" b="0" i="1" smtClean="0">
                        <a:latin typeface="Cambria Math" panose="02040503050406030204" pitchFamily="18" charset="0"/>
                      </a:rPr>
                      <m:t>)</m:t>
                    </m:r>
                  </m:oMath>
                </a14:m>
                <a:r>
                  <a:rPr lang="zh-TW" altLang="en-US" dirty="0" smtClean="0"/>
                  <a:t> </a:t>
                </a:r>
                <a:r>
                  <a:rPr lang="en-US" altLang="zh-TW" dirty="0" smtClean="0"/>
                  <a:t>with vertices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𝑣</m:t>
                        </m:r>
                      </m:e>
                      <m:sub>
                        <m:r>
                          <a:rPr lang="en-US" altLang="zh-TW" b="0" i="1" smtClean="0">
                            <a:latin typeface="Cambria Math" panose="02040503050406030204" pitchFamily="18" charset="0"/>
                          </a:rPr>
                          <m:t>1</m:t>
                        </m:r>
                      </m:sub>
                    </m:sSub>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𝑣</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𝑣</m:t>
                        </m:r>
                      </m:e>
                      <m:sub>
                        <m:r>
                          <a:rPr lang="en-US" altLang="zh-TW" b="0" i="1" smtClean="0">
                            <a:latin typeface="Cambria Math" panose="02040503050406030204" pitchFamily="18" charset="0"/>
                          </a:rPr>
                          <m:t>𝑛</m:t>
                        </m:r>
                      </m:sub>
                    </m:sSub>
                  </m:oMath>
                </a14:m>
                <a:r>
                  <a:rPr lang="zh-TW" altLang="en-US" dirty="0" smtClean="0"/>
                  <a:t> </a:t>
                </a:r>
                <a:r>
                  <a:rPr lang="en-US" altLang="zh-TW" dirty="0" smtClean="0"/>
                  <a:t>and an integer </a:t>
                </a:r>
                <a14:m>
                  <m:oMath xmlns:m="http://schemas.openxmlformats.org/officeDocument/2006/math">
                    <m:r>
                      <a:rPr lang="en-US" altLang="zh-TW" b="0" i="1" smtClean="0">
                        <a:latin typeface="Cambria Math" panose="02040503050406030204" pitchFamily="18" charset="0"/>
                      </a:rPr>
                      <m:t>𝐾</m:t>
                    </m:r>
                  </m:oMath>
                </a14:m>
                <a:r>
                  <a:rPr lang="en-US" altLang="zh-TW" dirty="0" smtClean="0"/>
                  <a:t>, we construct two matrices.</a:t>
                </a:r>
              </a:p>
              <a:p>
                <a:pPr marL="0" indent="0">
                  <a:buNone/>
                </a:pPr>
                <a:endParaRPr lang="en-US" altLang="zh-TW" dirty="0"/>
              </a:p>
              <a:p>
                <a:pPr marL="0" indent="0">
                  <a:buNone/>
                </a:pP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1546" t="-2241"/>
                </a:stretch>
              </a:blipFill>
            </p:spPr>
            <p:txBody>
              <a:bodyPr/>
              <a:lstStyle/>
              <a:p>
                <a:r>
                  <a:rPr lang="zh-TW" altLang="en-US">
                    <a:noFill/>
                  </a:rPr>
                  <a:t> </a:t>
                </a:r>
              </a:p>
            </p:txBody>
          </p:sp>
        </mc:Fallback>
      </mc:AlternateContent>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1739" y="3657328"/>
            <a:ext cx="8677275" cy="1581150"/>
          </a:xfrm>
          <a:prstGeom prst="rect">
            <a:avLst/>
          </a:prstGeom>
        </p:spPr>
      </p:pic>
    </p:spTree>
    <p:extLst>
      <p:ext uri="{BB962C8B-B14F-4D97-AF65-F5344CB8AC3E}">
        <p14:creationId xmlns:p14="http://schemas.microsoft.com/office/powerpoint/2010/main" val="18483326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977" y="1180285"/>
            <a:ext cx="8401050" cy="3343275"/>
          </a:xfrm>
          <a:prstGeom prst="rect">
            <a:avLst/>
          </a:prstGeom>
        </p:spPr>
      </p:pic>
    </p:spTree>
    <p:extLst>
      <p:ext uri="{BB962C8B-B14F-4D97-AF65-F5344CB8AC3E}">
        <p14:creationId xmlns:p14="http://schemas.microsoft.com/office/powerpoint/2010/main" val="70748913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977" y="1180285"/>
            <a:ext cx="8401050" cy="3343275"/>
          </a:xfrm>
          <a:prstGeom prst="rect">
            <a:avLst/>
          </a:prstGeom>
        </p:spPr>
      </p:pic>
      <p:sp>
        <p:nvSpPr>
          <p:cNvPr id="5" name="矩形 4"/>
          <p:cNvSpPr/>
          <p:nvPr/>
        </p:nvSpPr>
        <p:spPr>
          <a:xfrm>
            <a:off x="783771" y="1672046"/>
            <a:ext cx="1584960" cy="121049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p:cNvSpPr/>
          <p:nvPr/>
        </p:nvSpPr>
        <p:spPr>
          <a:xfrm>
            <a:off x="6962502" y="1972492"/>
            <a:ext cx="1584960" cy="121049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56793759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600" dirty="0" smtClean="0"/>
              <a:t>Suppose that G contains a clique of size k</a:t>
            </a:r>
            <a:endParaRPr lang="zh-TW" altLang="en-US" sz="3600"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628650" y="1402080"/>
                <a:ext cx="7886700" cy="5455919"/>
              </a:xfrm>
            </p:spPr>
            <p:txBody>
              <a:bodyPr/>
              <a:lstStyle/>
              <a:p>
                <a:pPr marL="0" indent="0">
                  <a:buNone/>
                </a:pPr>
                <a:r>
                  <a:rPr lang="en-US" altLang="zh-TW" dirty="0" smtClean="0"/>
                  <a:t>Let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𝑣</m:t>
                        </m:r>
                      </m:e>
                      <m:sub>
                        <m:r>
                          <a:rPr lang="en-US" altLang="zh-TW" b="0" i="1" smtClean="0">
                            <a:latin typeface="Cambria Math" panose="02040503050406030204" pitchFamily="18" charset="0"/>
                          </a:rPr>
                          <m:t>𝑐</m:t>
                        </m:r>
                        <m:r>
                          <a:rPr lang="en-US" altLang="zh-TW" b="0" i="1" smtClean="0">
                            <a:latin typeface="Cambria Math" panose="02040503050406030204" pitchFamily="18" charset="0"/>
                          </a:rPr>
                          <m:t>1</m:t>
                        </m:r>
                      </m:sub>
                    </m:sSub>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𝑣</m:t>
                        </m:r>
                      </m:e>
                      <m:sub>
                        <m:r>
                          <a:rPr lang="en-US" altLang="zh-TW" b="0" i="1" smtClean="0">
                            <a:latin typeface="Cambria Math" panose="02040503050406030204" pitchFamily="18" charset="0"/>
                          </a:rPr>
                          <m:t>𝑐</m:t>
                        </m:r>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𝑣</m:t>
                        </m:r>
                      </m:e>
                      <m:sub>
                        <m:r>
                          <a:rPr lang="en-US" altLang="zh-TW" b="0" i="1" smtClean="0">
                            <a:latin typeface="Cambria Math" panose="02040503050406030204" pitchFamily="18" charset="0"/>
                          </a:rPr>
                          <m:t>𝑐𝑘</m:t>
                        </m:r>
                      </m:sub>
                    </m:sSub>
                  </m:oMath>
                </a14:m>
                <a:r>
                  <a:rPr lang="zh-TW" altLang="en-US" dirty="0" smtClean="0"/>
                  <a:t> </a:t>
                </a:r>
                <a:r>
                  <a:rPr lang="en-US" altLang="zh-TW" dirty="0" smtClean="0"/>
                  <a:t>be the vertices participating in the clique, listed in increasing indices order.</a:t>
                </a:r>
              </a:p>
              <a:p>
                <a:pPr marL="0" indent="0">
                  <a:buNone/>
                </a:pPr>
                <a:r>
                  <a:rPr lang="en-US" altLang="zh-TW" dirty="0" smtClean="0"/>
                  <a:t>Hence, </a:t>
                </a:r>
                <a14:m>
                  <m:oMath xmlns:m="http://schemas.openxmlformats.org/officeDocument/2006/math">
                    <m:r>
                      <a:rPr lang="en-US" altLang="zh-TW" b="0" i="1" smtClean="0">
                        <a:latin typeface="Cambria Math" panose="02040503050406030204" pitchFamily="18" charset="0"/>
                      </a:rPr>
                      <m:t>𝐵</m:t>
                    </m:r>
                    <m:d>
                      <m:dPr>
                        <m:begChr m:val="["/>
                        <m:endChr m:val="]"/>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𝑐</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𝑐</m:t>
                            </m:r>
                          </m:e>
                          <m:sub>
                            <m:r>
                              <a:rPr lang="en-US" altLang="zh-TW" b="0" i="1" smtClean="0">
                                <a:latin typeface="Cambria Math" panose="02040503050406030204" pitchFamily="18" charset="0"/>
                              </a:rPr>
                              <m:t>𝑗</m:t>
                            </m:r>
                          </m:sub>
                        </m:sSub>
                      </m:e>
                    </m:d>
                    <m:r>
                      <a:rPr lang="en-US" altLang="zh-TW" b="0" i="1" smtClean="0">
                        <a:latin typeface="Cambria Math" panose="02040503050406030204" pitchFamily="18" charset="0"/>
                      </a:rPr>
                      <m:t>=1</m:t>
                    </m:r>
                  </m:oMath>
                </a14:m>
                <a:r>
                  <a:rPr lang="zh-TW" altLang="en-US" dirty="0" smtClean="0"/>
                  <a:t> </a:t>
                </a:r>
                <a:r>
                  <a:rPr lang="en-US" altLang="zh-TW" dirty="0" smtClean="0"/>
                  <a:t>for all </a:t>
                </a:r>
                <a14:m>
                  <m:oMath xmlns:m="http://schemas.openxmlformats.org/officeDocument/2006/math">
                    <m:r>
                      <a:rPr lang="en-US" altLang="zh-TW" b="0" i="1" smtClean="0">
                        <a:latin typeface="Cambria Math" panose="02040503050406030204" pitchFamily="18" charset="0"/>
                      </a:rPr>
                      <m:t>1</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𝑗</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𝐾</m:t>
                    </m:r>
                  </m:oMath>
                </a14:m>
                <a:r>
                  <a:rPr lang="en-US" altLang="zh-TW" dirty="0" smtClean="0"/>
                  <a:t>,</a:t>
                </a:r>
                <a14:m>
                  <m:oMath xmlns:m="http://schemas.openxmlformats.org/officeDocument/2006/math">
                    <m:r>
                      <a:rPr lang="en-US" altLang="zh-TW" b="0" i="1" dirty="0" smtClean="0">
                        <a:latin typeface="Cambria Math" panose="02040503050406030204" pitchFamily="18" charset="0"/>
                      </a:rPr>
                      <m:t>𝑖</m:t>
                    </m:r>
                    <m:r>
                      <a:rPr lang="en-US" altLang="zh-TW" b="0" i="1" dirty="0" smtClean="0">
                        <a:latin typeface="Cambria Math" panose="02040503050406030204" pitchFamily="18" charset="0"/>
                        <a:ea typeface="Cambria Math" panose="02040503050406030204" pitchFamily="18" charset="0"/>
                      </a:rPr>
                      <m:t>≠</m:t>
                    </m:r>
                    <m:r>
                      <a:rPr lang="en-US" altLang="zh-TW" b="0" i="1" dirty="0" smtClean="0">
                        <a:latin typeface="Cambria Math" panose="02040503050406030204" pitchFamily="18" charset="0"/>
                        <a:ea typeface="Cambria Math" panose="02040503050406030204" pitchFamily="18" charset="0"/>
                      </a:rPr>
                      <m:t>𝑗</m:t>
                    </m:r>
                  </m:oMath>
                </a14:m>
                <a:r>
                  <a:rPr lang="en-US" altLang="zh-TW" dirty="0" smtClean="0"/>
                  <a:t>.</a:t>
                </a:r>
              </a:p>
              <a:p>
                <a:pPr marL="0" indent="0">
                  <a:buNone/>
                </a:pPr>
                <a:endParaRPr lang="en-US" altLang="zh-TW" dirty="0"/>
              </a:p>
              <a:p>
                <a:pPr marL="0" indent="0">
                  <a:buNone/>
                </a:pPr>
                <a:r>
                  <a:rPr lang="en-US" altLang="zh-TW" dirty="0" smtClean="0"/>
                  <a:t>We get that all entries of A can be matched to entries of B in the following ways:</a:t>
                </a:r>
              </a:p>
              <a:p>
                <a:pPr marL="0" indent="0">
                  <a:buNone/>
                </a:pPr>
                <a:endParaRPr lang="en-US" altLang="zh-TW" dirty="0" smtClean="0"/>
              </a:p>
              <a:p>
                <a:pPr marL="0" indent="0">
                  <a:buNone/>
                </a:pPr>
                <a:r>
                  <a:rPr lang="en-US" altLang="zh-TW" dirty="0" smtClean="0"/>
                  <a:t>Define a function </a:t>
                </a:r>
                <a14:m>
                  <m:oMath xmlns:m="http://schemas.openxmlformats.org/officeDocument/2006/math">
                    <m:r>
                      <a:rPr lang="en-US" altLang="zh-TW" b="0" i="1" smtClean="0">
                        <a:latin typeface="Cambria Math" panose="02040503050406030204" pitchFamily="18" charset="0"/>
                      </a:rPr>
                      <m:t>𝑓</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𝑗</m:t>
                        </m:r>
                      </m:e>
                    </m:d>
                    <m:r>
                      <a:rPr lang="en-US" altLang="zh-TW" b="0" i="1" smtClean="0">
                        <a:latin typeface="Cambria Math" panose="02040503050406030204" pitchFamily="18" charset="0"/>
                      </a:rPr>
                      <m:t>=</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𝑐</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𝑐</m:t>
                            </m:r>
                          </m:e>
                          <m:sub>
                            <m:r>
                              <a:rPr lang="en-US" altLang="zh-TW" b="0" i="1" smtClean="0">
                                <a:latin typeface="Cambria Math" panose="02040503050406030204" pitchFamily="18" charset="0"/>
                              </a:rPr>
                              <m:t>𝑗</m:t>
                            </m:r>
                          </m:sub>
                        </m:sSub>
                      </m:e>
                    </m:d>
                  </m:oMath>
                </a14:m>
                <a:endParaRPr lang="en-US" altLang="zh-TW" dirty="0" smtClean="0"/>
              </a:p>
              <a:p>
                <a:pPr marL="0" indent="0">
                  <a:buNone/>
                </a:pPr>
                <a:endParaRPr lang="en-US" altLang="zh-TW" dirty="0" smtClean="0"/>
              </a:p>
              <a:p>
                <a:pPr marL="0" indent="0">
                  <a:buNone/>
                </a:pPr>
                <a:r>
                  <a:rPr lang="en-US" altLang="zh-TW" dirty="0" smtClean="0"/>
                  <a:t>We have that </a:t>
                </a:r>
                <a14:m>
                  <m:oMath xmlns:m="http://schemas.openxmlformats.org/officeDocument/2006/math">
                    <m:r>
                      <a:rPr lang="en-US" altLang="zh-TW" b="0" i="1" smtClean="0">
                        <a:latin typeface="Cambria Math" panose="02040503050406030204" pitchFamily="18" charset="0"/>
                      </a:rPr>
                      <m:t>𝐴</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𝑗</m:t>
                        </m:r>
                        <m:r>
                          <a:rPr lang="en-US" altLang="zh-TW" b="0" i="1" smtClean="0">
                            <a:latin typeface="Cambria Math" panose="02040503050406030204" pitchFamily="18" charset="0"/>
                          </a:rPr>
                          <m:t> </m:t>
                        </m:r>
                      </m:e>
                    </m:d>
                    <m:r>
                      <a:rPr lang="en-US" altLang="zh-TW" b="0" i="1" smtClean="0">
                        <a:latin typeface="Cambria Math" panose="02040503050406030204" pitchFamily="18" charset="0"/>
                      </a:rPr>
                      <m:t>=</m:t>
                    </m:r>
                    <m:r>
                      <a:rPr lang="en-US" altLang="zh-TW" b="0" i="1" smtClean="0">
                        <a:latin typeface="Cambria Math" panose="02040503050406030204" pitchFamily="18" charset="0"/>
                      </a:rPr>
                      <m:t>𝐵</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𝑓</m:t>
                        </m:r>
                        <m:r>
                          <a:rPr lang="en-US" altLang="zh-TW" b="0" i="1" smtClean="0">
                            <a:latin typeface="Cambria Math" panose="02040503050406030204" pitchFamily="18" charset="0"/>
                          </a:rPr>
                          <m:t>(</m:t>
                        </m:r>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𝑗</m:t>
                        </m:r>
                        <m:r>
                          <a:rPr lang="en-US" altLang="zh-TW" b="0" i="1" smtClean="0">
                            <a:latin typeface="Cambria Math" panose="02040503050406030204" pitchFamily="18" charset="0"/>
                          </a:rPr>
                          <m:t>) </m:t>
                        </m:r>
                      </m:e>
                    </m:d>
                  </m:oMath>
                </a14:m>
                <a:r>
                  <a:rPr lang="zh-TW" altLang="en-US" dirty="0" smtClean="0"/>
                  <a:t> </a:t>
                </a:r>
                <a:r>
                  <a:rPr lang="en-US" altLang="zh-TW" dirty="0" smtClean="0"/>
                  <a:t>for all </a:t>
                </a:r>
                <a14:m>
                  <m:oMath xmlns:m="http://schemas.openxmlformats.org/officeDocument/2006/math">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𝑗</m:t>
                    </m:r>
                    <m:r>
                      <a:rPr lang="en-US" altLang="zh-TW" b="0" i="1" smtClean="0">
                        <a:latin typeface="Cambria Math" panose="02040503050406030204" pitchFamily="18" charset="0"/>
                      </a:rPr>
                      <m:t> </m:t>
                    </m:r>
                  </m:oMath>
                </a14:m>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628650" y="1402080"/>
                <a:ext cx="7886700" cy="5455919"/>
              </a:xfrm>
              <a:blipFill rotWithShape="0">
                <a:blip r:embed="rId2"/>
                <a:stretch>
                  <a:fillRect l="-1546" t="-1788" r="-247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40383854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標題 1"/>
              <p:cNvSpPr>
                <a:spLocks noGrp="1"/>
              </p:cNvSpPr>
              <p:nvPr>
                <p:ph type="title"/>
              </p:nvPr>
            </p:nvSpPr>
            <p:spPr/>
            <p:txBody>
              <a:bodyPr>
                <a:normAutofit/>
              </a:bodyPr>
              <a:lstStyle/>
              <a:p>
                <a:r>
                  <a:rPr lang="en-US" altLang="zh-TW" sz="3600" dirty="0" smtClean="0"/>
                  <a:t>Suppose there is a common substructure between A and B of size </a:t>
                </a:r>
                <a14:m>
                  <m:oMath xmlns:m="http://schemas.openxmlformats.org/officeDocument/2006/math">
                    <m:sSup>
                      <m:sSupPr>
                        <m:ctrlPr>
                          <a:rPr lang="en-US" altLang="zh-TW" sz="3600" i="1" smtClean="0">
                            <a:latin typeface="Cambria Math" panose="02040503050406030204" pitchFamily="18" charset="0"/>
                          </a:rPr>
                        </m:ctrlPr>
                      </m:sSupPr>
                      <m:e>
                        <m:r>
                          <a:rPr lang="en-US" altLang="zh-TW" sz="3600" b="0" i="1" smtClean="0">
                            <a:latin typeface="Cambria Math" panose="02040503050406030204" pitchFamily="18" charset="0"/>
                          </a:rPr>
                          <m:t>𝑘</m:t>
                        </m:r>
                      </m:e>
                      <m:sup>
                        <m:r>
                          <a:rPr lang="en-US" altLang="zh-TW" sz="3600" b="0" i="1" smtClean="0">
                            <a:latin typeface="Cambria Math" panose="02040503050406030204" pitchFamily="18" charset="0"/>
                          </a:rPr>
                          <m:t>2</m:t>
                        </m:r>
                      </m:sup>
                    </m:sSup>
                  </m:oMath>
                </a14:m>
                <a:endParaRPr lang="zh-TW" altLang="en-US" sz="3600" dirty="0"/>
              </a:p>
            </p:txBody>
          </p:sp>
        </mc:Choice>
        <mc:Fallback xmlns="">
          <p:sp>
            <p:nvSpPr>
              <p:cNvPr id="2" name="標題 1"/>
              <p:cNvSpPr>
                <a:spLocks noGrp="1" noRot="1" noChangeAspect="1" noMove="1" noResize="1" noEditPoints="1" noAdjustHandles="1" noChangeArrowheads="1" noChangeShapeType="1" noTextEdit="1"/>
              </p:cNvSpPr>
              <p:nvPr>
                <p:ph type="title"/>
              </p:nvPr>
            </p:nvSpPr>
            <p:spPr>
              <a:blipFill rotWithShape="0">
                <a:blip r:embed="rId2"/>
                <a:stretch>
                  <a:fillRect l="-2318" t="-1843" r="-1236" b="-875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628650" y="1825624"/>
                <a:ext cx="7886700" cy="5032375"/>
              </a:xfrm>
            </p:spPr>
            <p:txBody>
              <a:bodyPr/>
              <a:lstStyle/>
              <a:p>
                <a:pPr marL="0" indent="0">
                  <a:buNone/>
                </a:pPr>
                <a:r>
                  <a:rPr lang="en-US" altLang="zh-TW" dirty="0" smtClean="0"/>
                  <a:t>Mean all entries of A are matched to entries in B.</a:t>
                </a:r>
              </a:p>
              <a:p>
                <a:pPr marL="0" indent="0">
                  <a:buNone/>
                </a:pPr>
                <a:r>
                  <a:rPr lang="en-US" altLang="zh-TW" dirty="0" smtClean="0"/>
                  <a:t>The matching must preserve the order in the plane, the matched entries from B must appear in K distinct rows and columns.</a:t>
                </a:r>
              </a:p>
              <a:p>
                <a:pPr marL="0" indent="0">
                  <a:buNone/>
                </a:pPr>
                <a:endParaRPr lang="en-US" altLang="zh-TW" dirty="0"/>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𝐴</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1,1</m:t>
                          </m:r>
                        </m:e>
                      </m:d>
                      <m:r>
                        <a:rPr lang="en-US" altLang="zh-TW" b="0" i="1" smtClean="0">
                          <a:latin typeface="Cambria Math" panose="02040503050406030204" pitchFamily="18" charset="0"/>
                        </a:rPr>
                        <m:t>=</m:t>
                      </m:r>
                      <m:r>
                        <a:rPr lang="en-US" altLang="zh-TW" b="0" i="1" smtClean="0">
                          <a:latin typeface="Cambria Math" panose="02040503050406030204" pitchFamily="18" charset="0"/>
                        </a:rPr>
                        <m:t>𝐵</m:t>
                      </m:r>
                      <m:d>
                        <m:dPr>
                          <m:begChr m:val="["/>
                          <m:endChr m:val="]"/>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𝑐</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𝑐</m:t>
                              </m:r>
                            </m:e>
                            <m:sub>
                              <m:r>
                                <a:rPr lang="en-US" altLang="zh-TW" b="0" i="1" smtClean="0">
                                  <a:latin typeface="Cambria Math" panose="02040503050406030204" pitchFamily="18" charset="0"/>
                                </a:rPr>
                                <m:t>1</m:t>
                              </m:r>
                            </m:sub>
                          </m:sSub>
                        </m:e>
                      </m:d>
                      <m:r>
                        <a:rPr lang="en-US" altLang="zh-TW" b="0" i="1" smtClean="0">
                          <a:latin typeface="Cambria Math" panose="02040503050406030204" pitchFamily="18" charset="0"/>
                        </a:rPr>
                        <m:t>=2</m:t>
                      </m:r>
                    </m:oMath>
                  </m:oMathPara>
                </a14:m>
                <a:endParaRPr lang="en-US" altLang="zh-TW" b="0" dirty="0" smtClean="0"/>
              </a:p>
              <a:p>
                <a:pPr marL="0" indent="0">
                  <a:buNone/>
                </a:pPr>
                <a:r>
                  <a:rPr lang="en-US" altLang="zh-TW" dirty="0" smtClean="0"/>
                  <a:t>It means that the entries </a:t>
                </a:r>
                <a14:m>
                  <m:oMath xmlns:m="http://schemas.openxmlformats.org/officeDocument/2006/math">
                    <m:r>
                      <a:rPr lang="en-US" altLang="zh-TW" b="0" i="1" smtClean="0">
                        <a:latin typeface="Cambria Math" panose="02040503050406030204" pitchFamily="18" charset="0"/>
                      </a:rPr>
                      <m:t>𝐴</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1,</m:t>
                        </m:r>
                        <m:r>
                          <a:rPr lang="en-US" altLang="zh-TW" b="0" i="1" smtClean="0">
                            <a:latin typeface="Cambria Math" panose="02040503050406030204" pitchFamily="18" charset="0"/>
                          </a:rPr>
                          <m:t>𝑗</m:t>
                        </m:r>
                      </m:e>
                    </m:d>
                  </m:oMath>
                </a14:m>
                <a:r>
                  <a:rPr lang="en-US" altLang="zh-TW" b="0" dirty="0" smtClean="0"/>
                  <a:t> for </a:t>
                </a:r>
                <a14:m>
                  <m:oMath xmlns:m="http://schemas.openxmlformats.org/officeDocument/2006/math">
                    <m:r>
                      <a:rPr lang="en-US" altLang="zh-TW" b="0" i="0" smtClean="0">
                        <a:latin typeface="Cambria Math" panose="02040503050406030204" pitchFamily="18" charset="0"/>
                      </a:rPr>
                      <m:t>1</m:t>
                    </m:r>
                    <m:r>
                      <a:rPr lang="en-US" altLang="zh-TW" b="0" i="1" smtClean="0">
                        <a:latin typeface="Cambria Math" panose="02040503050406030204" pitchFamily="18" charset="0"/>
                        <a:ea typeface="Cambria Math" panose="02040503050406030204" pitchFamily="18" charset="0"/>
                      </a:rPr>
                      <m:t>&lt;</m:t>
                    </m:r>
                    <m:r>
                      <a:rPr lang="en-US" altLang="zh-TW" b="0" i="1" smtClean="0">
                        <a:latin typeface="Cambria Math" panose="02040503050406030204" pitchFamily="18" charset="0"/>
                        <a:ea typeface="Cambria Math" panose="02040503050406030204" pitchFamily="18" charset="0"/>
                      </a:rPr>
                      <m:t>𝑗</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𝑘</m:t>
                    </m:r>
                  </m:oMath>
                </a14:m>
                <a:r>
                  <a:rPr lang="en-US" altLang="zh-TW" b="0" dirty="0" smtClean="0"/>
                  <a:t> will be matched to the entries of B in row </a:t>
                </a:r>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𝑐</m:t>
                        </m:r>
                      </m:e>
                      <m:sub>
                        <m:r>
                          <a:rPr lang="en-US" altLang="zh-TW" b="0" i="1" smtClean="0">
                            <a:latin typeface="Cambria Math" panose="02040503050406030204" pitchFamily="18" charset="0"/>
                          </a:rPr>
                          <m:t>1</m:t>
                        </m:r>
                      </m:sub>
                    </m:sSub>
                  </m:oMath>
                </a14:m>
                <a:r>
                  <a:rPr lang="en-US" altLang="zh-TW" b="0" dirty="0" smtClean="0"/>
                  <a:t>at </a:t>
                </a:r>
                <a14:m>
                  <m:oMath xmlns:m="http://schemas.openxmlformats.org/officeDocument/2006/math">
                    <m:r>
                      <a:rPr lang="en-US" altLang="zh-TW" b="0" i="1" smtClean="0">
                        <a:latin typeface="Cambria Math" panose="02040503050406030204" pitchFamily="18" charset="0"/>
                        <a:ea typeface="Cambria Math" panose="02040503050406030204" pitchFamily="18" charset="0"/>
                      </a:rPr>
                      <m:t>𝑘</m:t>
                    </m:r>
                    <m:r>
                      <a:rPr lang="en-US" altLang="zh-TW" b="0" i="1" smtClean="0">
                        <a:latin typeface="Cambria Math" panose="02040503050406030204" pitchFamily="18" charset="0"/>
                        <a:ea typeface="Cambria Math" panose="02040503050406030204" pitchFamily="18" charset="0"/>
                      </a:rPr>
                      <m:t>−1</m:t>
                    </m:r>
                  </m:oMath>
                </a14:m>
                <a:r>
                  <a:rPr lang="en-US" altLang="zh-TW" b="0" dirty="0" smtClean="0"/>
                  <a:t> columns, say </a:t>
                </a:r>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𝑐</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𝑐</m:t>
                        </m:r>
                      </m:e>
                      <m:sub>
                        <m:r>
                          <a:rPr lang="en-US" altLang="zh-TW" b="0" i="1" smtClean="0">
                            <a:latin typeface="Cambria Math" panose="02040503050406030204" pitchFamily="18" charset="0"/>
                          </a:rPr>
                          <m:t>𝑘</m:t>
                        </m:r>
                      </m:sub>
                    </m:sSub>
                  </m:oMath>
                </a14:m>
                <a:r>
                  <a:rPr lang="en-US" altLang="zh-TW" b="0" dirty="0" smtClean="0"/>
                  <a:t>.</a:t>
                </a:r>
              </a:p>
              <a:p>
                <a:pPr marL="0" indent="0">
                  <a:buNone/>
                </a:pPr>
                <a:endParaRPr lang="en-US" altLang="zh-TW" b="0" dirty="0" smtClean="0"/>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𝐴</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𝑖</m:t>
                          </m:r>
                        </m:e>
                      </m:d>
                      <m:r>
                        <a:rPr lang="en-US" altLang="zh-TW" b="0" i="1" smtClean="0">
                          <a:latin typeface="Cambria Math" panose="02040503050406030204" pitchFamily="18" charset="0"/>
                        </a:rPr>
                        <m:t>=</m:t>
                      </m:r>
                      <m:r>
                        <a:rPr lang="en-US" altLang="zh-TW" b="0" i="1" smtClean="0">
                          <a:latin typeface="Cambria Math" panose="02040503050406030204" pitchFamily="18" charset="0"/>
                        </a:rPr>
                        <m:t>𝐵</m:t>
                      </m:r>
                      <m:d>
                        <m:dPr>
                          <m:begChr m:val="["/>
                          <m:endChr m:val="]"/>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𝑐</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𝑐</m:t>
                              </m:r>
                            </m:e>
                            <m:sub>
                              <m:r>
                                <a:rPr lang="en-US" altLang="zh-TW" b="0" i="1" smtClean="0">
                                  <a:latin typeface="Cambria Math" panose="02040503050406030204" pitchFamily="18" charset="0"/>
                                </a:rPr>
                                <m:t>𝑖</m:t>
                              </m:r>
                            </m:sub>
                          </m:sSub>
                        </m:e>
                      </m:d>
                      <m:r>
                        <a:rPr lang="en-US" altLang="zh-TW" b="0" i="1" smtClean="0">
                          <a:latin typeface="Cambria Math" panose="02040503050406030204" pitchFamily="18" charset="0"/>
                        </a:rPr>
                        <m:t>=2</m:t>
                      </m:r>
                    </m:oMath>
                  </m:oMathPara>
                </a14:m>
                <a:endParaRPr lang="en-US" altLang="zh-TW" dirty="0" smtClean="0"/>
              </a:p>
              <a:p>
                <a:pPr marL="0" indent="0">
                  <a:buNone/>
                </a:pPr>
                <a:endParaRPr lang="en-US" altLang="zh-TW" dirty="0"/>
              </a:p>
              <a:p>
                <a:pPr marL="0" indent="0">
                  <a:buNone/>
                </a:pP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628650" y="1825624"/>
                <a:ext cx="7886700" cy="5032375"/>
              </a:xfrm>
              <a:blipFill rotWithShape="0">
                <a:blip r:embed="rId3"/>
                <a:stretch>
                  <a:fillRect l="-1546" t="-1937" r="-193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05349072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1694</TotalTime>
  <Words>924</Words>
  <Application>Microsoft Office PowerPoint</Application>
  <PresentationFormat>如螢幕大小 (4:3)</PresentationFormat>
  <Paragraphs>398</Paragraphs>
  <Slides>37</Slides>
  <Notes>0</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37</vt:i4>
      </vt:variant>
    </vt:vector>
  </HeadingPairs>
  <TitlesOfParts>
    <vt:vector size="45" baseType="lpstr">
      <vt:lpstr>Arial Unicode MS</vt:lpstr>
      <vt:lpstr>新細明體</vt:lpstr>
      <vt:lpstr>Arial</vt:lpstr>
      <vt:lpstr>Calibri</vt:lpstr>
      <vt:lpstr>Calibri Light</vt:lpstr>
      <vt:lpstr>Cambria Math</vt:lpstr>
      <vt:lpstr>Verdana</vt:lpstr>
      <vt:lpstr>Office 佈景主題</vt:lpstr>
      <vt:lpstr>PowerPoint 簡報</vt:lpstr>
      <vt:lpstr>The problem</vt:lpstr>
      <vt:lpstr>PowerPoint 簡報</vt:lpstr>
      <vt:lpstr>KMP algorithm</vt:lpstr>
      <vt:lpstr>PowerPoint 簡報</vt:lpstr>
      <vt:lpstr>PowerPoint 簡報</vt:lpstr>
      <vt:lpstr>The problem</vt:lpstr>
      <vt:lpstr>Row-matching</vt:lpstr>
      <vt:lpstr>Column-matching</vt:lpstr>
      <vt:lpstr>PowerPoint 簡報</vt:lpstr>
      <vt:lpstr>PowerPoint 簡報</vt:lpstr>
      <vt:lpstr>The problem</vt:lpstr>
      <vt:lpstr>The problem</vt:lpstr>
      <vt:lpstr>PowerPoint 簡報</vt:lpstr>
      <vt:lpstr>The problem</vt:lpstr>
      <vt:lpstr>The problem</vt:lpstr>
      <vt:lpstr>The problem</vt:lpstr>
      <vt:lpstr>PowerPoint 簡報</vt:lpstr>
      <vt:lpstr>KS distance</vt:lpstr>
      <vt:lpstr>PowerPoint 簡報</vt:lpstr>
      <vt:lpstr>R distance</vt:lpstr>
      <vt:lpstr>RC distance</vt:lpstr>
      <vt:lpstr>L distance</vt:lpstr>
      <vt:lpstr>PowerPoint 簡報</vt:lpstr>
      <vt:lpstr>PowerPoint 簡報</vt:lpstr>
      <vt:lpstr>PowerPoint 簡報</vt:lpstr>
      <vt:lpstr>PowerPoint 簡報</vt:lpstr>
      <vt:lpstr>Definition</vt:lpstr>
      <vt:lpstr>Definition</vt:lpstr>
      <vt:lpstr>PowerPoint 簡報</vt:lpstr>
      <vt:lpstr>PowerPoint 簡報</vt:lpstr>
      <vt:lpstr>Proof</vt:lpstr>
      <vt:lpstr>Definition</vt:lpstr>
      <vt:lpstr>PowerPoint 簡報</vt:lpstr>
      <vt:lpstr>PowerPoint 簡報</vt:lpstr>
      <vt:lpstr>Suppose that G contains a clique of size k</vt:lpstr>
      <vt:lpstr>Suppose there is a common substructure between A and B of size k^2</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HUGO</dc:creator>
  <cp:lastModifiedBy>HUGO</cp:lastModifiedBy>
  <cp:revision>39</cp:revision>
  <dcterms:created xsi:type="dcterms:W3CDTF">2015-05-11T02:38:06Z</dcterms:created>
  <dcterms:modified xsi:type="dcterms:W3CDTF">2015-05-12T10:22:21Z</dcterms:modified>
</cp:coreProperties>
</file>