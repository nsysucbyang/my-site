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7" r:id="rId10"/>
    <p:sldId id="266" r:id="rId11"/>
    <p:sldId id="259" r:id="rId12"/>
    <p:sldId id="268" r:id="rId13"/>
    <p:sldId id="269" r:id="rId14"/>
    <p:sldId id="270" r:id="rId15"/>
    <p:sldId id="271" r:id="rId16"/>
    <p:sldId id="277" r:id="rId17"/>
    <p:sldId id="280" r:id="rId18"/>
    <p:sldId id="272" r:id="rId19"/>
    <p:sldId id="285" r:id="rId20"/>
    <p:sldId id="279" r:id="rId21"/>
    <p:sldId id="281" r:id="rId22"/>
    <p:sldId id="282" r:id="rId23"/>
    <p:sldId id="283" r:id="rId24"/>
    <p:sldId id="286" r:id="rId2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44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9AF7-3B86-4537-A500-3C2A259826B3}" type="datetimeFigureOut">
              <a:rPr lang="zh-TW" altLang="en-US" smtClean="0"/>
              <a:t>2015/7/7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2F5-A821-4683-B7A5-D5B630A38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8086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9AF7-3B86-4537-A500-3C2A259826B3}" type="datetimeFigureOut">
              <a:rPr lang="zh-TW" altLang="en-US" smtClean="0"/>
              <a:t>2015/7/7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2F5-A821-4683-B7A5-D5B630A38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1721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9AF7-3B86-4537-A500-3C2A259826B3}" type="datetimeFigureOut">
              <a:rPr lang="zh-TW" altLang="en-US" smtClean="0"/>
              <a:t>2015/7/7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2F5-A821-4683-B7A5-D5B630A38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5499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9AF7-3B86-4537-A500-3C2A259826B3}" type="datetimeFigureOut">
              <a:rPr lang="zh-TW" altLang="en-US" smtClean="0"/>
              <a:t>2015/7/7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2F5-A821-4683-B7A5-D5B630A38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220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9AF7-3B86-4537-A500-3C2A259826B3}" type="datetimeFigureOut">
              <a:rPr lang="zh-TW" altLang="en-US" smtClean="0"/>
              <a:t>2015/7/7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2F5-A821-4683-B7A5-D5B630A38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5602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9AF7-3B86-4537-A500-3C2A259826B3}" type="datetimeFigureOut">
              <a:rPr lang="zh-TW" altLang="en-US" smtClean="0"/>
              <a:t>2015/7/7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2F5-A821-4683-B7A5-D5B630A38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3756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9AF7-3B86-4537-A500-3C2A259826B3}" type="datetimeFigureOut">
              <a:rPr lang="zh-TW" altLang="en-US" smtClean="0"/>
              <a:t>2015/7/7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2F5-A821-4683-B7A5-D5B630A38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6773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9AF7-3B86-4537-A500-3C2A259826B3}" type="datetimeFigureOut">
              <a:rPr lang="zh-TW" altLang="en-US" smtClean="0"/>
              <a:t>2015/7/7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2F5-A821-4683-B7A5-D5B630A38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5861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9AF7-3B86-4537-A500-3C2A259826B3}" type="datetimeFigureOut">
              <a:rPr lang="zh-TW" altLang="en-US" smtClean="0"/>
              <a:t>2015/7/7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2F5-A821-4683-B7A5-D5B630A38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0177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9AF7-3B86-4537-A500-3C2A259826B3}" type="datetimeFigureOut">
              <a:rPr lang="zh-TW" altLang="en-US" smtClean="0"/>
              <a:t>2015/7/7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2F5-A821-4683-B7A5-D5B630A38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7251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19AF7-3B86-4537-A500-3C2A259826B3}" type="datetimeFigureOut">
              <a:rPr lang="zh-TW" altLang="en-US" smtClean="0"/>
              <a:t>2015/7/7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D32F5-A821-4683-B7A5-D5B630A38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5354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919AF7-3B86-4537-A500-3C2A259826B3}" type="datetimeFigureOut">
              <a:rPr lang="zh-TW" altLang="en-US" smtClean="0"/>
              <a:t>2015/7/7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6D32F5-A821-4683-B7A5-D5B630A38C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83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608013" y="1571629"/>
            <a:ext cx="7772400" cy="1470025"/>
          </a:xfrm>
          <a:prstGeom prst="rect">
            <a:avLst/>
          </a:prstGeom>
        </p:spPr>
        <p:txBody>
          <a:bodyPr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TW" b="1" dirty="0"/>
              <a:t>Efficient </a:t>
            </a:r>
            <a:r>
              <a:rPr lang="en-US" altLang="zh-TW" b="1" dirty="0" smtClean="0"/>
              <a:t>Two-Dimensional Pattern Matching </a:t>
            </a:r>
            <a:r>
              <a:rPr lang="en-US" altLang="zh-TW" b="1" dirty="0"/>
              <a:t>in the P</a:t>
            </a:r>
            <a:r>
              <a:rPr lang="en-US" altLang="zh-TW" b="1" dirty="0" smtClean="0"/>
              <a:t>resence </a:t>
            </a:r>
            <a:r>
              <a:rPr lang="en-US" altLang="zh-TW" b="1" dirty="0"/>
              <a:t>of </a:t>
            </a:r>
            <a:r>
              <a:rPr lang="en-US" altLang="zh-TW" b="1" dirty="0" smtClean="0"/>
              <a:t>Errors</a:t>
            </a:r>
            <a:endParaRPr lang="zh-TW" altLang="en-US" dirty="0">
              <a:latin typeface="Arial Unicode MS" pitchFamily="34" charset="-120"/>
              <a:ea typeface="Arial Unicode MS" pitchFamily="34" charset="-120"/>
              <a:cs typeface="Arial Unicode MS" pitchFamily="34" charset="-120"/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406525" y="3019429"/>
            <a:ext cx="6400800" cy="479425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3100" dirty="0"/>
              <a:t>Kamala </a:t>
            </a:r>
            <a:r>
              <a:rPr lang="en-US" altLang="zh-TW" sz="3100" dirty="0" err="1"/>
              <a:t>Krithivasan</a:t>
            </a:r>
            <a:r>
              <a:rPr lang="en-US" altLang="zh-TW" sz="3100" dirty="0"/>
              <a:t>, R. </a:t>
            </a:r>
            <a:r>
              <a:rPr lang="en-US" altLang="zh-TW" sz="3100" dirty="0" err="1"/>
              <a:t>Sitalakshmi</a:t>
            </a:r>
            <a:endParaRPr lang="en-US" altLang="zh-TW" sz="31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13569"/>
              </p:ext>
            </p:extLst>
          </p:nvPr>
        </p:nvGraphicFramePr>
        <p:xfrm>
          <a:off x="2843215" y="3581401"/>
          <a:ext cx="3816351" cy="1220788"/>
        </p:xfrm>
        <a:graphic>
          <a:graphicData uri="http://schemas.openxmlformats.org/drawingml/2006/table">
            <a:tbl>
              <a:tblPr/>
              <a:tblGrid>
                <a:gridCol w="3816351"/>
              </a:tblGrid>
              <a:tr h="56754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kern="1200" dirty="0" smtClean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Information Sciences</a:t>
                      </a:r>
                      <a:endParaRPr lang="en-US" sz="190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5251" marR="9525" marT="9523" marB="95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3245">
                <a:tc>
                  <a:txBody>
                    <a:bodyPr/>
                    <a:lstStyle/>
                    <a:p>
                      <a:r>
                        <a:rPr lang="en-US" altLang="zh-TW" sz="1500" kern="1200" dirty="0" smtClean="0">
                          <a:solidFill>
                            <a:schemeClr val="tx1"/>
                          </a:solidFill>
                          <a:effectLst/>
                          <a:latin typeface="Verdana" panose="020B0604030504040204" pitchFamily="34" charset="0"/>
                          <a:ea typeface="+mn-ea"/>
                          <a:cs typeface="+mn-cs"/>
                        </a:rPr>
                        <a:t>Volume 43, Issue 3, December 1987, Pages 169–184</a:t>
                      </a:r>
                      <a:endParaRPr lang="en-US" sz="150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5251" marR="9525" marT="9523" marB="952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9" name="文字方塊 6"/>
          <p:cNvSpPr txBox="1">
            <a:spLocks noChangeArrowheads="1"/>
          </p:cNvSpPr>
          <p:nvPr/>
        </p:nvSpPr>
        <p:spPr bwMode="auto">
          <a:xfrm>
            <a:off x="3132142" y="5229228"/>
            <a:ext cx="3248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Presenter:  Huang-Ting Chan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Date:</a:t>
            </a:r>
            <a:fld id="{F3590F60-3E7B-48AD-979A-345F224951B5}" type="datetime1">
              <a:rPr lang="zh-TW" altLang="en-US" sz="1800"/>
              <a:pPr eaLnBrk="1" hangingPunct="1">
                <a:spcBef>
                  <a:spcPct val="0"/>
                </a:spcBef>
                <a:buFontTx/>
                <a:buNone/>
              </a:pPr>
              <a:t>2015/7/7</a:t>
            </a:fld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917159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We give an algorithm for two-dimensional pattern matching in the presence of errors. We find that the complexity of our algorithm is </a:t>
            </a:r>
            <a:r>
              <a:rPr lang="en-US" altLang="zh-TW" i="1" dirty="0"/>
              <a:t>O</a:t>
            </a:r>
            <a:r>
              <a:rPr lang="en-US" altLang="zh-TW" dirty="0"/>
              <a:t>(</a:t>
            </a:r>
            <a:r>
              <a:rPr lang="en-US" altLang="zh-TW" i="1" dirty="0"/>
              <a:t>kn</a:t>
            </a:r>
            <a:r>
              <a:rPr lang="en-US" altLang="zh-TW" baseline="-25000" dirty="0"/>
              <a:t>1</a:t>
            </a:r>
            <a:r>
              <a:rPr lang="en-US" altLang="zh-TW" i="1" dirty="0"/>
              <a:t>n</a:t>
            </a:r>
            <a:r>
              <a:rPr lang="en-US" altLang="zh-TW" baseline="-25000" dirty="0"/>
              <a:t>2</a:t>
            </a:r>
            <a:r>
              <a:rPr lang="en-US" altLang="zh-TW" dirty="0"/>
              <a:t> log </a:t>
            </a:r>
            <a:r>
              <a:rPr lang="en-US" altLang="zh-TW" i="1" dirty="0"/>
              <a:t>n</a:t>
            </a:r>
            <a:r>
              <a:rPr lang="en-US" altLang="zh-TW" baseline="-25000" dirty="0"/>
              <a:t>2</a:t>
            </a:r>
            <a:r>
              <a:rPr lang="en-US" altLang="zh-TW" dirty="0"/>
              <a:t> + </a:t>
            </a:r>
            <a:r>
              <a:rPr lang="en-US" altLang="zh-TW" i="1" dirty="0"/>
              <a:t>n</a:t>
            </a:r>
            <a:r>
              <a:rPr lang="en-US" altLang="zh-TW" baseline="-25000" dirty="0"/>
              <a:t>1</a:t>
            </a:r>
            <a:r>
              <a:rPr lang="en-US" altLang="zh-TW" baseline="30000" dirty="0"/>
              <a:t>2</a:t>
            </a:r>
            <a:r>
              <a:rPr lang="en-US" altLang="zh-TW" i="1" dirty="0"/>
              <a:t>n</a:t>
            </a:r>
            <a:r>
              <a:rPr lang="en-US" altLang="zh-TW" baseline="-25000" dirty="0"/>
              <a:t>2</a:t>
            </a:r>
            <a:r>
              <a:rPr lang="en-US" altLang="zh-TW" dirty="0"/>
              <a:t> + </a:t>
            </a:r>
            <a:r>
              <a:rPr lang="en-US" altLang="zh-TW" i="1" dirty="0"/>
              <a:t>kn</a:t>
            </a:r>
            <a:r>
              <a:rPr lang="en-US" altLang="zh-TW" baseline="-25000" dirty="0"/>
              <a:t>1</a:t>
            </a:r>
            <a:r>
              <a:rPr lang="en-US" altLang="zh-TW" i="1" dirty="0"/>
              <a:t>m</a:t>
            </a:r>
            <a:r>
              <a:rPr lang="en-US" altLang="zh-TW" baseline="-25000" dirty="0"/>
              <a:t>1</a:t>
            </a:r>
            <a:r>
              <a:rPr lang="en-US" altLang="zh-TW" i="1" dirty="0"/>
              <a:t>m</a:t>
            </a:r>
            <a:r>
              <a:rPr lang="en-US" altLang="zh-TW" baseline="-25000" dirty="0"/>
              <a:t>2</a:t>
            </a:r>
            <a:r>
              <a:rPr lang="en-US" altLang="zh-TW" dirty="0"/>
              <a:t>), where the pattern is an </a:t>
            </a:r>
            <a:r>
              <a:rPr lang="en-US" altLang="zh-TW" i="1" dirty="0"/>
              <a:t>n</a:t>
            </a:r>
            <a:r>
              <a:rPr lang="en-US" altLang="zh-TW" baseline="-25000" dirty="0"/>
              <a:t>1</a:t>
            </a:r>
            <a:r>
              <a:rPr lang="en-US" altLang="zh-TW" dirty="0"/>
              <a:t> × </a:t>
            </a:r>
            <a:r>
              <a:rPr lang="en-US" altLang="zh-TW" i="1" dirty="0"/>
              <a:t>n</a:t>
            </a:r>
            <a:r>
              <a:rPr lang="en-US" altLang="zh-TW" baseline="-25000" dirty="0"/>
              <a:t>2</a:t>
            </a:r>
            <a:r>
              <a:rPr lang="en-US" altLang="zh-TW" dirty="0"/>
              <a:t> array, the text is an </a:t>
            </a:r>
            <a:r>
              <a:rPr lang="en-US" altLang="zh-TW" i="1" dirty="0"/>
              <a:t>m</a:t>
            </a:r>
            <a:r>
              <a:rPr lang="en-US" altLang="zh-TW" baseline="-25000" dirty="0"/>
              <a:t>1</a:t>
            </a:r>
            <a:r>
              <a:rPr lang="en-US" altLang="zh-TW" dirty="0"/>
              <a:t> × </a:t>
            </a:r>
            <a:r>
              <a:rPr lang="en-US" altLang="zh-TW" i="1" dirty="0"/>
              <a:t>m</a:t>
            </a:r>
            <a:r>
              <a:rPr lang="en-US" altLang="zh-TW" baseline="-25000" dirty="0"/>
              <a:t>2</a:t>
            </a:r>
            <a:r>
              <a:rPr lang="en-US" altLang="zh-TW" dirty="0"/>
              <a:t> array and </a:t>
            </a:r>
            <a:r>
              <a:rPr lang="en-US" altLang="zh-TW" i="1" dirty="0"/>
              <a:t>k</a:t>
            </a:r>
            <a:r>
              <a:rPr lang="en-US" altLang="zh-TW" dirty="0"/>
              <a:t> is the number of mismatches allowed.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77550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problem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542925" y="1825625"/>
                <a:ext cx="6789692" cy="50323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Text:		</a:t>
                </a:r>
                <a:r>
                  <a:rPr lang="en-US" altLang="zh-TW" dirty="0" err="1" smtClean="0"/>
                  <a:t>bcdefghi</a:t>
                </a: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Pattern:	</a:t>
                </a:r>
                <a:r>
                  <a:rPr lang="en-US" altLang="zh-TW" dirty="0" err="1" smtClean="0"/>
                  <a:t>bxdyegh</a:t>
                </a: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		</a:t>
                </a:r>
                <a:r>
                  <a:rPr lang="en-US" altLang="zh-TW" dirty="0" err="1" smtClean="0">
                    <a:ea typeface="+mj-ea"/>
                  </a:rPr>
                  <a:t>bcd</a:t>
                </a:r>
                <a:r>
                  <a:rPr lang="en-US" altLang="zh-TW" dirty="0" smtClean="0">
                    <a:ea typeface="+mj-ea"/>
                  </a:rPr>
                  <a:t>  </a:t>
                </a:r>
                <a:r>
                  <a:rPr lang="en-US" altLang="zh-TW" dirty="0" err="1" smtClean="0">
                    <a:ea typeface="+mj-ea"/>
                  </a:rPr>
                  <a:t>efghi</a:t>
                </a:r>
                <a:endParaRPr lang="en-US" altLang="zh-TW" dirty="0" smtClean="0">
                  <a:ea typeface="+mj-ea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ea typeface="+mj-ea"/>
                  </a:rPr>
                  <a:t>	</a:t>
                </a:r>
                <a:r>
                  <a:rPr lang="en-US" altLang="zh-TW" dirty="0" smtClean="0">
                    <a:ea typeface="+mj-ea"/>
                  </a:rPr>
                  <a:t>	</a:t>
                </a:r>
                <a:r>
                  <a:rPr lang="en-US" altLang="zh-TW" dirty="0" err="1" smtClean="0">
                    <a:ea typeface="+mj-ea"/>
                  </a:rPr>
                  <a:t>bxdye</a:t>
                </a:r>
                <a:r>
                  <a:rPr lang="en-US" altLang="zh-TW" dirty="0" smtClean="0">
                    <a:ea typeface="+mj-ea"/>
                  </a:rPr>
                  <a:t> </a:t>
                </a:r>
                <a:r>
                  <a:rPr lang="en-US" altLang="zh-TW" dirty="0" err="1" smtClean="0">
                    <a:ea typeface="+mj-ea"/>
                  </a:rPr>
                  <a:t>gh</a:t>
                </a:r>
                <a:endParaRPr lang="en-US" altLang="zh-TW" dirty="0" smtClean="0">
                  <a:ea typeface="+mj-ea"/>
                </a:endParaRPr>
              </a:p>
              <a:p>
                <a:pPr marL="0" indent="0">
                  <a:buNone/>
                </a:pPr>
                <a:endParaRPr lang="en-US" altLang="zh-TW" dirty="0">
                  <a:ea typeface="+mj-ea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ea typeface="+mj-ea"/>
                  </a:rPr>
                  <a:t>c</a:t>
                </a:r>
                <a:r>
                  <a:rPr lang="en-US" altLang="zh-TW" dirty="0" smtClean="0">
                    <a:ea typeface="+mj-ea"/>
                  </a:rPr>
                  <a:t> match to x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ea typeface="+mj-ea"/>
                  </a:rPr>
                  <a:t>y</a:t>
                </a:r>
                <a:r>
                  <a:rPr lang="en-US" altLang="zh-TW" dirty="0" smtClean="0">
                    <a:ea typeface="+mj-ea"/>
                  </a:rPr>
                  <a:t> match to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altLang="zh-TW" dirty="0" smtClean="0">
                    <a:ea typeface="+mj-ea"/>
                  </a:rPr>
                  <a:t>  (Pattern deletion)</a:t>
                </a:r>
              </a:p>
              <a:p>
                <a:pPr marL="0" indent="0">
                  <a:buNone/>
                </a:pPr>
                <a:r>
                  <a:rPr lang="en-US" altLang="zh-TW" dirty="0">
                    <a:ea typeface="+mj-ea"/>
                  </a:rPr>
                  <a:t>f</a:t>
                </a:r>
                <a:r>
                  <a:rPr lang="en-US" altLang="zh-TW" dirty="0" smtClean="0">
                    <a:ea typeface="+mj-ea"/>
                  </a:rPr>
                  <a:t> match to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altLang="zh-TW" dirty="0" smtClean="0"/>
                  <a:t>   (Text deletion)</a:t>
                </a:r>
                <a:endParaRPr lang="en-US" altLang="zh-TW" dirty="0"/>
              </a:p>
              <a:p>
                <a:pPr marL="0" indent="0">
                  <a:buNone/>
                </a:pPr>
                <a:endParaRPr lang="zh-TW" altLang="en-US" dirty="0">
                  <a:ea typeface="+mj-ea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2925" y="1825625"/>
                <a:ext cx="6789692" cy="5032375"/>
              </a:xfrm>
              <a:blipFill rotWithShape="0">
                <a:blip r:embed="rId2"/>
                <a:stretch>
                  <a:fillRect l="-1795" t="-19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179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problem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175144" y="1503566"/>
            <a:ext cx="5137112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String matching with k mismatch</a:t>
            </a:r>
          </a:p>
          <a:p>
            <a:endParaRPr lang="en-US" altLang="zh-TW" sz="2800" dirty="0" smtClean="0"/>
          </a:p>
          <a:p>
            <a:r>
              <a:rPr lang="en-US" altLang="zh-TW" sz="2800" dirty="0" smtClean="0"/>
              <a:t>	Find all occurrences of the</a:t>
            </a:r>
            <a:r>
              <a:rPr lang="en-US" altLang="zh-TW" sz="2800" dirty="0"/>
              <a:t> </a:t>
            </a:r>
            <a:endParaRPr lang="en-US" altLang="zh-TW" sz="2800" dirty="0" smtClean="0"/>
          </a:p>
          <a:p>
            <a:r>
              <a:rPr lang="en-US" altLang="zh-TW" sz="2800" dirty="0"/>
              <a:t>p</a:t>
            </a:r>
            <a:r>
              <a:rPr lang="en-US" altLang="zh-TW" sz="2800" dirty="0" smtClean="0"/>
              <a:t>attern in the text with at most </a:t>
            </a:r>
          </a:p>
          <a:p>
            <a:r>
              <a:rPr lang="en-US" altLang="zh-TW" sz="2800" dirty="0" smtClean="0"/>
              <a:t>k mismatch</a:t>
            </a:r>
          </a:p>
          <a:p>
            <a:endParaRPr lang="en-US" altLang="zh-TW" sz="2800" dirty="0"/>
          </a:p>
          <a:p>
            <a:endParaRPr lang="en-US" altLang="zh-TW" sz="2800" dirty="0"/>
          </a:p>
          <a:p>
            <a:r>
              <a:rPr lang="en-US" altLang="zh-TW" sz="2800" dirty="0" smtClean="0"/>
              <a:t>String matching with k differences</a:t>
            </a:r>
          </a:p>
          <a:p>
            <a:endParaRPr lang="en-US" altLang="zh-TW" sz="2800" dirty="0"/>
          </a:p>
          <a:p>
            <a:r>
              <a:rPr lang="en-US" altLang="zh-TW" sz="2800" dirty="0" smtClean="0"/>
              <a:t>	Find all occurrences of the </a:t>
            </a:r>
          </a:p>
          <a:p>
            <a:r>
              <a:rPr lang="en-US" altLang="zh-TW" sz="2800" dirty="0"/>
              <a:t>p</a:t>
            </a:r>
            <a:r>
              <a:rPr lang="en-US" altLang="zh-TW" sz="2800" dirty="0" smtClean="0"/>
              <a:t>attern in the text with at most</a:t>
            </a:r>
          </a:p>
          <a:p>
            <a:r>
              <a:rPr lang="en-US" altLang="zh-TW" sz="2800" dirty="0"/>
              <a:t>k</a:t>
            </a:r>
            <a:r>
              <a:rPr lang="en-US" altLang="zh-TW" sz="2800" dirty="0" smtClean="0"/>
              <a:t> differences</a:t>
            </a:r>
            <a:endParaRPr lang="zh-TW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5668736" y="1336286"/>
                <a:ext cx="3747407" cy="50323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endParaRPr lang="en-US" altLang="zh-TW" dirty="0">
                  <a:ea typeface="+mj-ea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ea typeface="+mj-ea"/>
                  </a:rPr>
                  <a:t>c</a:t>
                </a:r>
                <a:r>
                  <a:rPr lang="en-US" altLang="zh-TW" dirty="0" smtClean="0">
                    <a:ea typeface="+mj-ea"/>
                  </a:rPr>
                  <a:t> match to x</a:t>
                </a:r>
              </a:p>
              <a:p>
                <a:pPr marL="0" indent="0">
                  <a:buNone/>
                </a:pPr>
                <a:endParaRPr lang="en-US" altLang="zh-TW" dirty="0" smtClean="0">
                  <a:ea typeface="+mj-ea"/>
                </a:endParaRPr>
              </a:p>
              <a:p>
                <a:pPr marL="0" indent="0">
                  <a:buNone/>
                </a:pPr>
                <a:endParaRPr lang="en-US" altLang="zh-TW" dirty="0">
                  <a:ea typeface="+mj-ea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ea typeface="+mj-ea"/>
                </a:endParaRPr>
              </a:p>
              <a:p>
                <a:pPr marL="0" indent="0">
                  <a:buNone/>
                </a:pPr>
                <a:endParaRPr lang="en-US" altLang="zh-TW" dirty="0">
                  <a:ea typeface="+mj-ea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ea typeface="+mj-ea"/>
                </a:endParaRPr>
              </a:p>
              <a:p>
                <a:pPr marL="0" indent="0">
                  <a:buNone/>
                </a:pPr>
                <a:r>
                  <a:rPr lang="en-US" altLang="zh-TW" dirty="0"/>
                  <a:t>c match to x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y match to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f match to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endParaRPr lang="zh-TW" altLang="en-US" dirty="0">
                  <a:ea typeface="+mj-ea"/>
                </a:endParaRPr>
              </a:p>
            </p:txBody>
          </p:sp>
        </mc:Choice>
        <mc:Fallback xmlns="">
          <p:sp>
            <p:nvSpPr>
              <p:cNvPr id="6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68736" y="1336286"/>
                <a:ext cx="3747407" cy="5032375"/>
              </a:xfrm>
              <a:blipFill rotWithShape="0">
                <a:blip r:embed="rId2"/>
                <a:stretch>
                  <a:fillRect l="-34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6447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Text Analysis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Input</a:t>
                </a:r>
              </a:p>
              <a:p>
                <a:pPr marL="0" indent="0">
                  <a:buNone/>
                </a:pPr>
                <a:r>
                  <a:rPr lang="en-US" altLang="zh-TW" b="1" dirty="0" smtClean="0"/>
                  <a:t>Pattern</a:t>
                </a:r>
                <a:r>
                  <a:rPr lang="en-US" altLang="zh-TW" dirty="0" smtClean="0"/>
                  <a:t>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zh-TW" dirty="0" smtClean="0"/>
                  <a:t>  length=m</a:t>
                </a:r>
              </a:p>
              <a:p>
                <a:pPr marL="0" indent="0">
                  <a:buNone/>
                </a:pPr>
                <a:r>
                  <a:rPr lang="en-US" altLang="zh-TW" b="1" dirty="0" smtClean="0"/>
                  <a:t>Text</a:t>
                </a:r>
                <a:r>
                  <a:rPr lang="en-US" altLang="zh-TW" dirty="0" smtClean="0"/>
                  <a:t>: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TW" dirty="0" smtClean="0"/>
                  <a:t> length = n</a:t>
                </a:r>
              </a:p>
              <a:p>
                <a:pPr marL="0" indent="0">
                  <a:buNone/>
                </a:pPr>
                <a:r>
                  <a:rPr lang="en-US" altLang="zh-TW" b="1" dirty="0" smtClean="0"/>
                  <a:t>Pattern analysis</a:t>
                </a:r>
                <a:r>
                  <a:rPr lang="en-US" altLang="zh-TW" dirty="0" smtClean="0"/>
                  <a:t>:  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A 2D array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𝑃𝑀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[1,…,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−1;1,…,2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+1]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Output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A 2D array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𝑇𝑀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[1,…,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;1,…,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+1]</m:t>
                    </m:r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5032375"/>
              </a:xfrm>
              <a:blipFill rotWithShape="0">
                <a:blip r:embed="rId2"/>
                <a:stretch>
                  <a:fillRect l="-1546" t="-193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4154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Pattern analysis: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𝑃𝑀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means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and the mismatch number is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Text analysis: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𝑇𝑀</m:t>
                    </m:r>
                    <m:d>
                      <m:dPr>
                        <m:begChr m:val="["/>
                        <m:endChr m:val="]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means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and the mismatch number is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1420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Pattern = </a:t>
                </a:r>
                <a:r>
                  <a:rPr lang="en-US" altLang="zh-TW" dirty="0" err="1" smtClean="0"/>
                  <a:t>abaacaa</a:t>
                </a:r>
                <a:endParaRPr lang="en-US" altLang="zh-TW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𝑃𝑀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𝑃𝑀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altLang="zh-TW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𝑃𝑀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	</a:t>
                </a:r>
                <a:r>
                  <a:rPr lang="en-US" altLang="zh-TW" dirty="0" smtClean="0"/>
                  <a:t>		</a:t>
                </a:r>
                <a:r>
                  <a:rPr lang="en-US" altLang="zh-TW" sz="3600" dirty="0" err="1" smtClean="0">
                    <a:latin typeface="+mj-ea"/>
                    <a:ea typeface="+mj-ea"/>
                    <a:cs typeface="Times New Roman" panose="02020603050405020304" pitchFamily="18" charset="0"/>
                  </a:rPr>
                  <a:t>abaacaa</a:t>
                </a:r>
                <a:endParaRPr lang="en-US" altLang="zh-TW" sz="3600" dirty="0" smtClean="0">
                  <a:latin typeface="+mj-ea"/>
                  <a:ea typeface="+mj-ea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3600" dirty="0">
                    <a:latin typeface="+mj-ea"/>
                    <a:ea typeface="+mj-ea"/>
                    <a:cs typeface="Times New Roman" panose="02020603050405020304" pitchFamily="18" charset="0"/>
                  </a:rPr>
                  <a:t>	</a:t>
                </a:r>
                <a:r>
                  <a:rPr lang="en-US" altLang="zh-TW" sz="3600" dirty="0" smtClean="0">
                    <a:latin typeface="+mj-ea"/>
                    <a:ea typeface="+mj-ea"/>
                    <a:cs typeface="Times New Roman" panose="02020603050405020304" pitchFamily="18" charset="0"/>
                  </a:rPr>
                  <a:t>		    | | |</a:t>
                </a:r>
                <a:r>
                  <a:rPr lang="en-US" altLang="zh-TW" sz="3600" dirty="0">
                    <a:latin typeface="+mj-ea"/>
                    <a:ea typeface="+mj-ea"/>
                    <a:cs typeface="Times New Roman" panose="02020603050405020304" pitchFamily="18" charset="0"/>
                  </a:rPr>
                  <a:t> </a:t>
                </a:r>
                <a:r>
                  <a:rPr lang="en-US" altLang="zh-TW" sz="3600" dirty="0" smtClean="0">
                    <a:latin typeface="+mj-ea"/>
                    <a:ea typeface="+mj-ea"/>
                    <a:cs typeface="Times New Roman" panose="02020603050405020304" pitchFamily="18" charset="0"/>
                  </a:rPr>
                  <a:t>| |</a:t>
                </a:r>
                <a:endParaRPr lang="en-US" altLang="zh-TW" sz="3600" dirty="0">
                  <a:latin typeface="+mj-ea"/>
                  <a:ea typeface="+mj-ea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3600" dirty="0">
                    <a:latin typeface="+mj-ea"/>
                    <a:ea typeface="+mj-ea"/>
                    <a:cs typeface="Times New Roman" panose="02020603050405020304" pitchFamily="18" charset="0"/>
                  </a:rPr>
                  <a:t>	</a:t>
                </a:r>
                <a:r>
                  <a:rPr lang="en-US" altLang="zh-TW" sz="3600" dirty="0" smtClean="0">
                    <a:latin typeface="+mj-ea"/>
                    <a:ea typeface="+mj-ea"/>
                    <a:cs typeface="Times New Roman" panose="02020603050405020304" pitchFamily="18" charset="0"/>
                  </a:rPr>
                  <a:t>		    </a:t>
                </a:r>
                <a:r>
                  <a:rPr lang="en-US" altLang="zh-TW" sz="3600" dirty="0" err="1" smtClean="0">
                    <a:latin typeface="+mj-ea"/>
                    <a:ea typeface="+mj-ea"/>
                    <a:cs typeface="Times New Roman" panose="02020603050405020304" pitchFamily="18" charset="0"/>
                  </a:rPr>
                  <a:t>abaacaa</a:t>
                </a:r>
                <a:endParaRPr lang="en-US" altLang="zh-TW" sz="3600" dirty="0">
                  <a:latin typeface="+mj-ea"/>
                  <a:ea typeface="+mj-ea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8896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68226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Pattern = </a:t>
                </a:r>
                <a:r>
                  <a:rPr lang="en-US" altLang="zh-TW" dirty="0" err="1" smtClean="0"/>
                  <a:t>abaacaa</a:t>
                </a: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Text = </a:t>
                </a:r>
                <a:r>
                  <a:rPr lang="en-US" altLang="zh-TW" dirty="0" err="1" smtClean="0"/>
                  <a:t>aaaabaccaaccaaa</a:t>
                </a: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𝑇𝑀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,1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𝑇𝑀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𝑇𝑀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/>
                  <a:t>	</a:t>
                </a:r>
                <a:r>
                  <a:rPr lang="en-US" altLang="zh-TW" dirty="0" smtClean="0"/>
                  <a:t>		</a:t>
                </a:r>
                <a:r>
                  <a:rPr lang="en-US" altLang="zh-TW" sz="3500" dirty="0" err="1" smtClean="0">
                    <a:latin typeface="+mj-ea"/>
                    <a:ea typeface="+mj-ea"/>
                  </a:rPr>
                  <a:t>aaaabaccaaccaaa</a:t>
                </a:r>
                <a:endParaRPr lang="en-US" altLang="zh-TW" sz="3500" dirty="0">
                  <a:latin typeface="+mj-ea"/>
                  <a:ea typeface="+mj-ea"/>
                </a:endParaRPr>
              </a:p>
              <a:p>
                <a:pPr marL="0" indent="0">
                  <a:buNone/>
                </a:pPr>
                <a:r>
                  <a:rPr lang="en-US" altLang="zh-TW" sz="3500" dirty="0" smtClean="0">
                    <a:latin typeface="+mn-ea"/>
                  </a:rPr>
                  <a:t>			    | | | | | | |</a:t>
                </a:r>
              </a:p>
              <a:p>
                <a:pPr marL="0" indent="0">
                  <a:buNone/>
                </a:pPr>
                <a:r>
                  <a:rPr lang="en-US" altLang="zh-TW" sz="3500" dirty="0" smtClean="0">
                    <a:latin typeface="+mn-ea"/>
                  </a:rPr>
                  <a:t>  </a:t>
                </a:r>
                <a:r>
                  <a:rPr lang="en-US" altLang="zh-TW" sz="3500" dirty="0">
                    <a:latin typeface="+mn-ea"/>
                  </a:rPr>
                  <a:t>	</a:t>
                </a:r>
                <a:r>
                  <a:rPr lang="en-US" altLang="zh-TW" sz="3500" dirty="0" smtClean="0">
                    <a:latin typeface="+mn-ea"/>
                  </a:rPr>
                  <a:t>		    </a:t>
                </a:r>
                <a:r>
                  <a:rPr lang="en-US" altLang="zh-TW" sz="3500" dirty="0" err="1" smtClean="0">
                    <a:latin typeface="+mn-ea"/>
                  </a:rPr>
                  <a:t>abaacaa</a:t>
                </a:r>
                <a:endParaRPr lang="en-US" altLang="zh-TW" sz="3500" dirty="0">
                  <a:latin typeface="+mn-ea"/>
                </a:endParaRPr>
              </a:p>
              <a:p>
                <a:pPr marL="0" indent="0">
                  <a:buNone/>
                </a:pPr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682267"/>
              </a:xfrm>
              <a:blipFill rotWithShape="0">
                <a:blip r:embed="rId2"/>
                <a:stretch>
                  <a:fillRect l="-1546" t="-2081" b="-26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3733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2" r="23130"/>
          <a:stretch/>
        </p:blipFill>
        <p:spPr>
          <a:xfrm>
            <a:off x="1062683" y="1372544"/>
            <a:ext cx="6837404" cy="5264738"/>
          </a:xfrm>
        </p:spPr>
      </p:pic>
    </p:spTree>
    <p:extLst>
      <p:ext uri="{BB962C8B-B14F-4D97-AF65-F5344CB8AC3E}">
        <p14:creationId xmlns:p14="http://schemas.microsoft.com/office/powerpoint/2010/main" val="2731558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𝑇𝑀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[0,2]=3     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</a:rPr>
                      <m:t>𝑇𝑀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[0,3]=5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𝑃𝑀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[2,1]=3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628650" y="1690689"/>
            <a:ext cx="2765339" cy="17527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3581914" y="1690689"/>
            <a:ext cx="2765339" cy="17527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5135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2D problem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61388"/>
              </p:ext>
            </p:extLst>
          </p:nvPr>
        </p:nvGraphicFramePr>
        <p:xfrm>
          <a:off x="1169773" y="1781304"/>
          <a:ext cx="2850292" cy="22111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2573"/>
                <a:gridCol w="712573"/>
                <a:gridCol w="712573"/>
                <a:gridCol w="712573"/>
              </a:tblGrid>
              <a:tr h="44223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4223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</a:tr>
              <a:tr h="44223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</a:tr>
              <a:tr h="44223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</a:tr>
              <a:tr h="44223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937083"/>
              </p:ext>
            </p:extLst>
          </p:nvPr>
        </p:nvGraphicFramePr>
        <p:xfrm>
          <a:off x="6293707" y="1739836"/>
          <a:ext cx="2158314" cy="9260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9438"/>
                <a:gridCol w="719438"/>
                <a:gridCol w="719438"/>
              </a:tblGrid>
              <a:tr h="46303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6303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文字方塊 6"/>
          <p:cNvSpPr txBox="1"/>
          <p:nvPr/>
        </p:nvSpPr>
        <p:spPr>
          <a:xfrm>
            <a:off x="439221" y="4539049"/>
            <a:ext cx="8979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K=2</a:t>
            </a:r>
            <a:endParaRPr lang="zh-TW" altLang="en-US" sz="2800" dirty="0"/>
          </a:p>
        </p:txBody>
      </p:sp>
      <p:sp>
        <p:nvSpPr>
          <p:cNvPr id="8" name="文字方塊 7"/>
          <p:cNvSpPr txBox="1"/>
          <p:nvPr/>
        </p:nvSpPr>
        <p:spPr>
          <a:xfrm>
            <a:off x="0" y="1828799"/>
            <a:ext cx="7766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Text</a:t>
            </a:r>
            <a:endParaRPr lang="zh-TW" altLang="en-US" sz="28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4963298" y="1845275"/>
            <a:ext cx="12547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Pattern</a:t>
            </a:r>
            <a:endParaRPr lang="zh-TW" altLang="en-US" sz="2800" dirty="0"/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794314"/>
              </p:ext>
            </p:extLst>
          </p:nvPr>
        </p:nvGraphicFramePr>
        <p:xfrm>
          <a:off x="4304270" y="4248536"/>
          <a:ext cx="2850292" cy="22111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2573"/>
                <a:gridCol w="712573"/>
                <a:gridCol w="712573"/>
                <a:gridCol w="712573"/>
              </a:tblGrid>
              <a:tr h="44223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4223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</a:tr>
              <a:tr h="44223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</a:tr>
              <a:tr h="44223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</a:tr>
              <a:tr h="44223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矩形 10"/>
          <p:cNvSpPr/>
          <p:nvPr/>
        </p:nvSpPr>
        <p:spPr>
          <a:xfrm>
            <a:off x="4242486" y="5123935"/>
            <a:ext cx="2248930" cy="8979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4693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Pattern Analysis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內容版面配置區 2"/>
              <p:cNvSpPr txBox="1">
                <a:spLocks/>
              </p:cNvSpPr>
              <p:nvPr/>
            </p:nvSpPr>
            <p:spPr>
              <a:xfrm>
                <a:off x="628650" y="1759721"/>
                <a:ext cx="7886700" cy="50323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3600" dirty="0" smtClean="0"/>
                  <a:t>Input</a:t>
                </a:r>
              </a:p>
              <a:p>
                <a:pPr marL="457200" lvl="1" indent="0">
                  <a:buNone/>
                </a:pPr>
                <a:r>
                  <a:rPr lang="en-US" altLang="zh-TW" sz="2200" b="1" dirty="0" smtClean="0"/>
                  <a:t>Pattern</a:t>
                </a:r>
                <a:r>
                  <a:rPr lang="en-US" altLang="zh-TW" sz="2200" dirty="0" smtClean="0"/>
                  <a:t>: 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zh-TW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200" dirty="0" smtClean="0"/>
                  <a:t> array</a:t>
                </a:r>
              </a:p>
              <a:p>
                <a:pPr marL="457200" lvl="1" indent="0">
                  <a:buNone/>
                </a:pPr>
                <a:endParaRPr lang="en-US" altLang="zh-TW" dirty="0" smtClean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3600" dirty="0" smtClean="0"/>
                  <a:t>Output</a:t>
                </a:r>
              </a:p>
              <a:p>
                <a:pPr marL="457200" lvl="1" indent="0">
                  <a:buNone/>
                </a:pPr>
                <a:r>
                  <a:rPr lang="en-US" altLang="zh-TW" sz="2200" dirty="0" smtClean="0"/>
                  <a:t>3D array </a:t>
                </a:r>
                <a:endParaRPr lang="en-US" altLang="zh-TW" sz="2200" b="0" i="1" dirty="0" smtClean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200" b="0" i="1" dirty="0" smtClean="0">
                          <a:latin typeface="Cambria Math" panose="02040503050406030204" pitchFamily="18" charset="0"/>
                        </a:rPr>
                        <m:t>𝑃𝑀</m:t>
                      </m:r>
                      <m:r>
                        <a:rPr lang="en-US" altLang="zh-TW" sz="2200" i="1" dirty="0">
                          <a:latin typeface="Cambria Math" panose="02040503050406030204" pitchFamily="18" charset="0"/>
                        </a:rPr>
                        <m:t>[1,…,</m:t>
                      </m:r>
                      <m:sSub>
                        <m:sSubPr>
                          <m:ctrlPr>
                            <a:rPr lang="en-US" altLang="zh-TW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TW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200" i="1" dirty="0">
                          <a:latin typeface="Cambria Math" panose="02040503050406030204" pitchFamily="18" charset="0"/>
                        </a:rPr>
                        <m:t>;1,…,</m:t>
                      </m:r>
                      <m:sSub>
                        <m:sSubPr>
                          <m:ctrlPr>
                            <a:rPr lang="en-US" altLang="zh-TW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TW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200" i="1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TW" sz="2200" b="0" i="1" dirty="0" smtClean="0">
                          <a:latin typeface="Cambria Math" panose="02040503050406030204" pitchFamily="18" charset="0"/>
                        </a:rPr>
                        <m:t>;1,…,2</m:t>
                      </m:r>
                      <m:r>
                        <a:rPr lang="en-US" altLang="zh-TW" sz="2200" b="0" i="1" dirty="0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200" b="0" i="1" dirty="0" smtClean="0">
                          <a:latin typeface="Cambria Math" panose="02040503050406030204" pitchFamily="18" charset="0"/>
                        </a:rPr>
                        <m:t>+1]</m:t>
                      </m:r>
                    </m:oMath>
                  </m:oMathPara>
                </a14:m>
                <a:endParaRPr lang="en-US" altLang="zh-TW" sz="2200" dirty="0" smtClean="0"/>
              </a:p>
              <a:p>
                <a:pPr marL="457200" lvl="1" indent="0">
                  <a:buNone/>
                </a:pPr>
                <a:r>
                  <a:rPr lang="en-US" altLang="zh-TW" sz="2200" dirty="0" smtClean="0"/>
                  <a:t>2D array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200" b="0" i="1" dirty="0" smtClean="0">
                          <a:latin typeface="Cambria Math" panose="02040503050406030204" pitchFamily="18" charset="0"/>
                        </a:rPr>
                        <m:t>𝑅𝑜𝑤</m:t>
                      </m:r>
                      <m:r>
                        <a:rPr lang="en-US" altLang="zh-TW" sz="2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200" b="0" i="1" dirty="0" smtClean="0">
                          <a:latin typeface="Cambria Math" panose="02040503050406030204" pitchFamily="18" charset="0"/>
                        </a:rPr>
                        <m:t>𝐶𝑜𝑢𝑛𝑡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200" i="1" dirty="0">
                              <a:latin typeface="Cambria Math" panose="02040503050406030204" pitchFamily="18" charset="0"/>
                            </a:rPr>
                            <m:t>1,…,</m:t>
                          </m:r>
                          <m:sSub>
                            <m:sSubPr>
                              <m:ctrlPr>
                                <a:rPr lang="en-US" altLang="zh-TW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TW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200" i="1" dirty="0">
                              <a:latin typeface="Cambria Math" panose="02040503050406030204" pitchFamily="18" charset="0"/>
                            </a:rPr>
                            <m:t>;1,…,</m:t>
                          </m:r>
                          <m:sSub>
                            <m:sSubPr>
                              <m:ctrlPr>
                                <a:rPr lang="en-US" altLang="zh-TW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TW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sz="2200" b="0" i="1" dirty="0" smtClean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r>
                  <a:rPr lang="en-US" altLang="zh-TW" sz="2200" b="0" dirty="0" smtClean="0"/>
                  <a:t>2D array </a:t>
                </a:r>
                <a:endParaRPr lang="en-US" altLang="zh-TW" sz="2200" b="0" i="1" dirty="0" smtClean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200" b="0" i="1" dirty="0" smtClean="0">
                          <a:latin typeface="Cambria Math" panose="02040503050406030204" pitchFamily="18" charset="0"/>
                        </a:rPr>
                        <m:t>𝑅𝑜𝑤</m:t>
                      </m:r>
                      <m:r>
                        <a:rPr lang="en-US" altLang="zh-TW" sz="22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200" b="0" i="1" dirty="0" smtClean="0">
                          <a:latin typeface="Cambria Math" panose="02040503050406030204" pitchFamily="18" charset="0"/>
                        </a:rPr>
                        <m:t>𝑀𝑖𝑠𝑚𝑎𝑡𝑐h</m:t>
                      </m:r>
                      <m:r>
                        <a:rPr lang="en-US" altLang="zh-TW" sz="2200" i="1" dirty="0">
                          <a:latin typeface="Cambria Math" panose="02040503050406030204" pitchFamily="18" charset="0"/>
                        </a:rPr>
                        <m:t>[1,</m:t>
                      </m:r>
                      <m:r>
                        <a:rPr lang="en-US" altLang="zh-TW" sz="2200" i="1" dirty="0" smtClean="0">
                          <a:latin typeface="Cambria Math" panose="02040503050406030204" pitchFamily="18" charset="0"/>
                        </a:rPr>
                        <m:t>…,</m:t>
                      </m:r>
                      <m:sSub>
                        <m:sSubPr>
                          <m:ctrlPr>
                            <a:rPr lang="en-US" altLang="zh-TW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TW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200" i="1" dirty="0" smtClean="0">
                          <a:latin typeface="Cambria Math" panose="02040503050406030204" pitchFamily="18" charset="0"/>
                        </a:rPr>
                        <m:t>;1,…,</m:t>
                      </m:r>
                      <m:sSub>
                        <m:sSubPr>
                          <m:ctrlPr>
                            <a:rPr lang="en-US" altLang="zh-TW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TW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200" i="1" dirty="0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altLang="zh-TW" sz="2200" b="0" i="1" dirty="0" smtClean="0">
                          <a:latin typeface="Cambria Math" panose="02040503050406030204" pitchFamily="18" charset="0"/>
                        </a:rPr>
                        <m:t>1,…,</m:t>
                      </m:r>
                      <m:func>
                        <m:funcPr>
                          <m:ctrlPr>
                            <a:rPr lang="en-US" altLang="zh-TW" sz="2200" b="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2200" b="0" i="0" dirty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sz="2200" i="1" dirty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TW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TW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altLang="zh-TW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</m:func>
                      <m:r>
                        <a:rPr lang="en-US" altLang="zh-TW" sz="22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zh-TW" sz="2200" b="0" i="1" dirty="0" smtClean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r>
                  <a:rPr lang="en-US" altLang="zh-TW" sz="2200" b="0" dirty="0" smtClean="0"/>
                  <a:t>array </a:t>
                </a:r>
                <a:endParaRPr lang="en-US" altLang="zh-TW" sz="2200" b="0" i="1" dirty="0" smtClean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200" b="0" i="1" dirty="0" smtClean="0">
                          <a:latin typeface="Cambria Math" panose="02040503050406030204" pitchFamily="18" charset="0"/>
                        </a:rPr>
                        <m:t>𝐶𝑜𝑚𝑝𝑎𝑟𝑒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200" i="1" dirty="0">
                              <a:latin typeface="Cambria Math" panose="02040503050406030204" pitchFamily="18" charset="0"/>
                            </a:rPr>
                            <m:t>1,…,</m:t>
                          </m:r>
                          <m:sSub>
                            <m:sSubPr>
                              <m:ctrlPr>
                                <a:rPr lang="en-US" altLang="zh-TW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TW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sz="2200" b="0" dirty="0" smtClean="0"/>
              </a:p>
            </p:txBody>
          </p:sp>
        </mc:Choice>
        <mc:Fallback>
          <p:sp>
            <p:nvSpPr>
              <p:cNvPr id="4" name="內容版面配置區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759721"/>
                <a:ext cx="7886700" cy="5032375"/>
              </a:xfrm>
              <a:prstGeom prst="rect">
                <a:avLst/>
              </a:prstGeom>
              <a:blipFill rotWithShape="0">
                <a:blip r:embed="rId2"/>
                <a:stretch>
                  <a:fillRect l="-2318" t="-30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0931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8281" y="60326"/>
            <a:ext cx="7886700" cy="1325563"/>
          </a:xfrm>
        </p:spPr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48281" y="1210962"/>
                <a:ext cx="8723869" cy="5585253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altLang="zh-TW" dirty="0" smtClean="0"/>
                  <a:t>PM[2,2,1]=1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CDAC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    CD</a:t>
                </a:r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Row-Count[1,2]=2  (mismatches between row 1 and 2)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Row-Count[2,3]=4</a:t>
                </a:r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Row-Mismatch[1,2,2]=4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(row 1 and 2 </a:t>
                </a:r>
                <a:r>
                  <a:rPr lang="zh-TW" altLang="en-US" dirty="0" smtClean="0"/>
                  <a:t>第二個</a:t>
                </a:r>
                <a:r>
                  <a:rPr lang="en-US" altLang="zh-TW" dirty="0" smtClean="0"/>
                  <a:t>mismatch)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Row-Mismatch[1,3,2]=3</a:t>
                </a:r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r>
                  <a:rPr lang="en-US" altLang="zh-TW" dirty="0" smtClean="0"/>
                  <a:t>Compare[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] is a list of integer j where </a:t>
                </a:r>
                <a:endParaRPr lang="en-US" altLang="zh-TW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𝑅𝑜𝑤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𝐶𝑜𝑢𝑛𝑡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]≤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TW" dirty="0" smtClean="0"/>
                  <a:t> and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281" y="1210962"/>
                <a:ext cx="8723869" cy="5585253"/>
              </a:xfrm>
              <a:blipFill rotWithShape="0">
                <a:blip r:embed="rId2"/>
                <a:stretch>
                  <a:fillRect l="-1258" t="-22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072563"/>
              </p:ext>
            </p:extLst>
          </p:nvPr>
        </p:nvGraphicFramePr>
        <p:xfrm>
          <a:off x="5642912" y="1210962"/>
          <a:ext cx="2702020" cy="13891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5505"/>
                <a:gridCol w="675505"/>
                <a:gridCol w="675505"/>
                <a:gridCol w="675505"/>
              </a:tblGrid>
              <a:tr h="46303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</a:tr>
              <a:tr h="46303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</a:tr>
              <a:tr h="46303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4312503" y="1316401"/>
            <a:ext cx="12547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Pattern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02921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Text Analysis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2"/>
              <p:cNvSpPr txBox="1">
                <a:spLocks/>
              </p:cNvSpPr>
              <p:nvPr/>
            </p:nvSpPr>
            <p:spPr>
              <a:xfrm>
                <a:off x="628650" y="1545538"/>
                <a:ext cx="7886700" cy="50323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3600" dirty="0" smtClean="0"/>
                  <a:t>Input</a:t>
                </a:r>
              </a:p>
              <a:p>
                <a:pPr marL="457200" lvl="1" indent="0">
                  <a:buNone/>
                </a:pPr>
                <a:r>
                  <a:rPr lang="en-US" altLang="zh-TW" sz="2200" b="1" dirty="0" smtClean="0"/>
                  <a:t>Pattern</a:t>
                </a:r>
                <a:r>
                  <a:rPr lang="en-US" altLang="zh-TW" sz="2200" dirty="0" smtClean="0"/>
                  <a:t>: 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zh-TW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200" dirty="0" smtClean="0"/>
                  <a:t> array</a:t>
                </a:r>
              </a:p>
              <a:p>
                <a:pPr marL="457200" lvl="1" indent="0">
                  <a:buNone/>
                </a:pPr>
                <a:r>
                  <a:rPr lang="en-US" altLang="zh-TW" sz="2200" b="1" dirty="0"/>
                  <a:t>Text</a:t>
                </a:r>
                <a:r>
                  <a:rPr lang="en-US" altLang="zh-TW" sz="2200" b="1" dirty="0" smtClean="0"/>
                  <a:t>:</a:t>
                </a:r>
                <a:r>
                  <a:rPr lang="en-US" altLang="zh-TW" sz="2200" dirty="0"/>
                  <a:t> </a:t>
                </a:r>
                <a:r>
                  <a:rPr lang="en-US" altLang="zh-TW" sz="2200" dirty="0" smtClean="0"/>
                  <a:t>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TW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altLang="zh-TW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TW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200" dirty="0"/>
                  <a:t> array</a:t>
                </a:r>
              </a:p>
              <a:p>
                <a:pPr marL="457200" lvl="1" indent="0">
                  <a:buNone/>
                </a:pPr>
                <a:r>
                  <a:rPr lang="en-US" altLang="zh-TW" sz="2200" b="1" dirty="0"/>
                  <a:t>Pattern Analysis </a:t>
                </a:r>
                <a:r>
                  <a:rPr lang="en-US" altLang="zh-TW" sz="2200" b="1" dirty="0" err="1"/>
                  <a:t>ouput</a:t>
                </a:r>
                <a:endParaRPr lang="en-US" altLang="zh-TW" sz="2200" b="1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altLang="zh-TW" sz="3600" dirty="0" smtClean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3600" dirty="0" smtClean="0"/>
                  <a:t>Output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3600" b="0" dirty="0"/>
                  <a:t>	</a:t>
                </a:r>
                <a14:m>
                  <m:oMath xmlns:m="http://schemas.openxmlformats.org/officeDocument/2006/math">
                    <m:r>
                      <a:rPr lang="en-US" altLang="zh-TW" sz="22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TW" sz="2200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TW" sz="2200" i="1" dirty="0">
                        <a:latin typeface="Cambria Math" panose="02040503050406030204" pitchFamily="18" charset="0"/>
                      </a:rPr>
                      <m:t>[1,…,</m:t>
                    </m:r>
                    <m:sSub>
                      <m:sSubPr>
                        <m:ctrlPr>
                          <a:rPr lang="en-US" altLang="zh-TW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200" i="1" dirty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altLang="zh-TW" sz="22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TW" sz="2200" i="1" dirty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TW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TW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2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200" i="1" dirty="0">
                        <a:latin typeface="Cambria Math" panose="02040503050406030204" pitchFamily="18" charset="0"/>
                      </a:rPr>
                      <m:t>;1,…,</m:t>
                    </m:r>
                    <m:r>
                      <a:rPr lang="en-US" altLang="zh-TW" sz="2200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TW" sz="2200" i="1" dirty="0">
                        <a:latin typeface="Cambria Math" panose="02040503050406030204" pitchFamily="18" charset="0"/>
                      </a:rPr>
                      <m:t>+1]</m:t>
                    </m:r>
                  </m:oMath>
                </a14:m>
                <a:endParaRPr lang="en-US" altLang="zh-TW" sz="2200" dirty="0"/>
              </a:p>
              <a:p>
                <a:pPr marL="457200" lvl="1" indent="0">
                  <a:buNone/>
                </a:pPr>
                <a:endParaRPr lang="en-US" altLang="zh-TW" sz="2200" b="0" dirty="0" smtClean="0"/>
              </a:p>
            </p:txBody>
          </p:sp>
        </mc:Choice>
        <mc:Fallback xmlns="">
          <p:sp>
            <p:nvSpPr>
              <p:cNvPr id="4" name="內容版面配置區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545538"/>
                <a:ext cx="7886700" cy="5032375"/>
              </a:xfrm>
              <a:prstGeom prst="rect">
                <a:avLst/>
              </a:prstGeom>
              <a:blipFill rotWithShape="0">
                <a:blip r:embed="rId2"/>
                <a:stretch>
                  <a:fillRect l="-2318" t="-30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9991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030824"/>
              </p:ext>
            </p:extLst>
          </p:nvPr>
        </p:nvGraphicFramePr>
        <p:xfrm>
          <a:off x="1729953" y="2077871"/>
          <a:ext cx="2850292" cy="22111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2573"/>
                <a:gridCol w="712573"/>
                <a:gridCol w="712573"/>
                <a:gridCol w="712573"/>
              </a:tblGrid>
              <a:tr h="44223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4223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</a:tr>
              <a:tr h="44223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</a:tr>
              <a:tr h="44223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</a:tr>
              <a:tr h="44223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98121"/>
              </p:ext>
            </p:extLst>
          </p:nvPr>
        </p:nvGraphicFramePr>
        <p:xfrm>
          <a:off x="6853887" y="2036403"/>
          <a:ext cx="2158314" cy="9260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9438"/>
                <a:gridCol w="719438"/>
                <a:gridCol w="719438"/>
              </a:tblGrid>
              <a:tr h="46303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6303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560180" y="2125366"/>
            <a:ext cx="7766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Text</a:t>
            </a:r>
            <a:endParaRPr lang="zh-TW" altLang="en-US" sz="28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5523478" y="2141842"/>
            <a:ext cx="12547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Pattern</a:t>
            </a:r>
            <a:endParaRPr lang="zh-TW" altLang="en-US" sz="2800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179688" y="1322055"/>
            <a:ext cx="8979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/>
              <a:t>K=2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3714814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Compute TM Stage 1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2218573"/>
              </p:ext>
            </p:extLst>
          </p:nvPr>
        </p:nvGraphicFramePr>
        <p:xfrm>
          <a:off x="1233102" y="1773067"/>
          <a:ext cx="2850292" cy="22111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2573"/>
                <a:gridCol w="712573"/>
                <a:gridCol w="712573"/>
                <a:gridCol w="712573"/>
              </a:tblGrid>
              <a:tr h="44223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4223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4223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4223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4223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242889"/>
              </p:ext>
            </p:extLst>
          </p:nvPr>
        </p:nvGraphicFramePr>
        <p:xfrm>
          <a:off x="6357036" y="1731599"/>
          <a:ext cx="2158314" cy="9260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9438"/>
                <a:gridCol w="719438"/>
                <a:gridCol w="719438"/>
              </a:tblGrid>
              <a:tr h="46303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6303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" name="直線單箭頭接點 5"/>
          <p:cNvCxnSpPr/>
          <p:nvPr/>
        </p:nvCxnSpPr>
        <p:spPr>
          <a:xfrm flipH="1" flipV="1">
            <a:off x="4198717" y="1960601"/>
            <a:ext cx="2059459" cy="41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/>
          <p:cNvSpPr txBox="1"/>
          <p:nvPr/>
        </p:nvSpPr>
        <p:spPr>
          <a:xfrm>
            <a:off x="4634181" y="1564035"/>
            <a:ext cx="11885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Extend</a:t>
            </a:r>
            <a:endParaRPr lang="zh-TW" altLang="en-US" sz="280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3203733" y="4596714"/>
            <a:ext cx="218842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Mismatch=2</a:t>
            </a:r>
          </a:p>
          <a:p>
            <a:r>
              <a:rPr lang="en-US" altLang="zh-TW" sz="2800" dirty="0" smtClean="0"/>
              <a:t>A[1,0]=2</a:t>
            </a:r>
          </a:p>
          <a:p>
            <a:r>
              <a:rPr lang="en-US" altLang="zh-TW" sz="2800" dirty="0" smtClean="0"/>
              <a:t>Row match=1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575095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Compute TM Stage 1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722167"/>
              </p:ext>
            </p:extLst>
          </p:nvPr>
        </p:nvGraphicFramePr>
        <p:xfrm>
          <a:off x="1233102" y="1773067"/>
          <a:ext cx="2850292" cy="22111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2573"/>
                <a:gridCol w="712573"/>
                <a:gridCol w="712573"/>
                <a:gridCol w="712573"/>
              </a:tblGrid>
              <a:tr h="44223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4223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4223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4223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4223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357036" y="1731599"/>
          <a:ext cx="2158314" cy="9260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9438"/>
                <a:gridCol w="719438"/>
                <a:gridCol w="719438"/>
              </a:tblGrid>
              <a:tr h="46303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6303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" name="直線單箭頭接點 5"/>
          <p:cNvCxnSpPr/>
          <p:nvPr/>
        </p:nvCxnSpPr>
        <p:spPr>
          <a:xfrm flipH="1" flipV="1">
            <a:off x="4198717" y="1960601"/>
            <a:ext cx="2059459" cy="411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/>
          <p:cNvSpPr txBox="1"/>
          <p:nvPr/>
        </p:nvSpPr>
        <p:spPr>
          <a:xfrm>
            <a:off x="4761471" y="1564035"/>
            <a:ext cx="11337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Merge</a:t>
            </a:r>
            <a:endParaRPr lang="zh-TW" altLang="en-US" sz="28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3238478" y="4646141"/>
            <a:ext cx="217354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Mismatch=2</a:t>
            </a:r>
          </a:p>
          <a:p>
            <a:r>
              <a:rPr lang="en-US" altLang="zh-TW" sz="2800" dirty="0" smtClean="0"/>
              <a:t>A[1,1]=2</a:t>
            </a:r>
          </a:p>
          <a:p>
            <a:r>
              <a:rPr lang="en-US" altLang="zh-TW" sz="2800" dirty="0" smtClean="0"/>
              <a:t>Row match=1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81001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663908"/>
              </p:ext>
            </p:extLst>
          </p:nvPr>
        </p:nvGraphicFramePr>
        <p:xfrm>
          <a:off x="1013259" y="2077871"/>
          <a:ext cx="2850292" cy="22111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2573"/>
                <a:gridCol w="712573"/>
                <a:gridCol w="712573"/>
                <a:gridCol w="712573"/>
              </a:tblGrid>
              <a:tr h="44223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4223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4223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4223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4223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67211"/>
              </p:ext>
            </p:extLst>
          </p:nvPr>
        </p:nvGraphicFramePr>
        <p:xfrm>
          <a:off x="6137193" y="2036403"/>
          <a:ext cx="2158314" cy="9260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9438"/>
                <a:gridCol w="719438"/>
                <a:gridCol w="719438"/>
              </a:tblGrid>
              <a:tr h="46303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6303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直線單箭頭接點 6"/>
          <p:cNvCxnSpPr/>
          <p:nvPr/>
        </p:nvCxnSpPr>
        <p:spPr>
          <a:xfrm flipH="1" flipV="1">
            <a:off x="3962398" y="2636108"/>
            <a:ext cx="2051222" cy="107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標題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altLang="zh-TW" dirty="0" smtClean="0"/>
              <a:t>Compute TM Stage 2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481382" y="2112888"/>
            <a:ext cx="11885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Extend</a:t>
            </a:r>
            <a:endParaRPr lang="zh-TW" altLang="en-US" sz="280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3303373" y="4604951"/>
            <a:ext cx="225529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Mismatch=2</a:t>
            </a:r>
          </a:p>
          <a:p>
            <a:r>
              <a:rPr lang="en-US" altLang="zh-TW" sz="2800" dirty="0" smtClean="0"/>
              <a:t>A[1,0]+2&gt;k</a:t>
            </a:r>
          </a:p>
          <a:p>
            <a:r>
              <a:rPr lang="en-US" altLang="zh-TW" sz="2800" dirty="0" smtClean="0"/>
              <a:t>A[2,0]=2</a:t>
            </a:r>
          </a:p>
          <a:p>
            <a:r>
              <a:rPr lang="en-US" altLang="zh-TW" sz="2800" dirty="0" smtClean="0"/>
              <a:t>Row match=1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3454968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44809"/>
              </p:ext>
            </p:extLst>
          </p:nvPr>
        </p:nvGraphicFramePr>
        <p:xfrm>
          <a:off x="428371" y="1995491"/>
          <a:ext cx="2850292" cy="22111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2573"/>
                <a:gridCol w="712573"/>
                <a:gridCol w="712573"/>
                <a:gridCol w="712573"/>
              </a:tblGrid>
              <a:tr h="44223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4223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4223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4223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4223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522062"/>
              </p:ext>
            </p:extLst>
          </p:nvPr>
        </p:nvGraphicFramePr>
        <p:xfrm>
          <a:off x="5552305" y="1954023"/>
          <a:ext cx="2158314" cy="9260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9438"/>
                <a:gridCol w="719438"/>
                <a:gridCol w="719438"/>
              </a:tblGrid>
              <a:tr h="46303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6303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直線單箭頭接點 6"/>
          <p:cNvCxnSpPr/>
          <p:nvPr/>
        </p:nvCxnSpPr>
        <p:spPr>
          <a:xfrm flipH="1">
            <a:off x="3410461" y="2166550"/>
            <a:ext cx="1993557" cy="502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標題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altLang="zh-TW" dirty="0" smtClean="0"/>
              <a:t>Compute TM Stage 2</a:t>
            </a:r>
            <a:endParaRPr lang="zh-TW" altLang="en-US" dirty="0"/>
          </a:p>
        </p:txBody>
      </p:sp>
      <p:sp>
        <p:nvSpPr>
          <p:cNvPr id="2" name="文字方塊 1"/>
          <p:cNvSpPr txBox="1"/>
          <p:nvPr/>
        </p:nvSpPr>
        <p:spPr>
          <a:xfrm>
            <a:off x="3827994" y="1901604"/>
            <a:ext cx="11337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Merge</a:t>
            </a:r>
            <a:endParaRPr lang="zh-TW" altLang="en-US" sz="280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3303373" y="4604951"/>
            <a:ext cx="217354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/>
              <a:t>Mismatch=3</a:t>
            </a:r>
          </a:p>
          <a:p>
            <a:r>
              <a:rPr lang="en-US" altLang="zh-TW" sz="2800" dirty="0" smtClean="0"/>
              <a:t>A[1,0]=0</a:t>
            </a:r>
          </a:p>
          <a:p>
            <a:r>
              <a:rPr lang="en-US" altLang="zh-TW" sz="2800" dirty="0" smtClean="0"/>
              <a:t>Row match=0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7094305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139928"/>
              </p:ext>
            </p:extLst>
          </p:nvPr>
        </p:nvGraphicFramePr>
        <p:xfrm>
          <a:off x="428371" y="1995491"/>
          <a:ext cx="2850292" cy="22111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2573"/>
                <a:gridCol w="712573"/>
                <a:gridCol w="712573"/>
                <a:gridCol w="712573"/>
              </a:tblGrid>
              <a:tr h="44223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4223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4223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4223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4223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01172"/>
              </p:ext>
            </p:extLst>
          </p:nvPr>
        </p:nvGraphicFramePr>
        <p:xfrm>
          <a:off x="5552305" y="1954023"/>
          <a:ext cx="2158314" cy="9260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9438"/>
                <a:gridCol w="719438"/>
                <a:gridCol w="719438"/>
              </a:tblGrid>
              <a:tr h="46303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  <a:tr h="46303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直線單箭頭接點 6"/>
          <p:cNvCxnSpPr/>
          <p:nvPr/>
        </p:nvCxnSpPr>
        <p:spPr>
          <a:xfrm flipH="1">
            <a:off x="3410461" y="2166550"/>
            <a:ext cx="1993557" cy="502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標題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altLang="zh-TW" dirty="0" smtClean="0"/>
              <a:t>Compute TM Stage 2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3235235" y="413732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之前已經算過</a:t>
            </a:r>
            <a:endParaRPr lang="zh-TW" altLang="en-US" dirty="0"/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590492"/>
              </p:ext>
            </p:extLst>
          </p:nvPr>
        </p:nvGraphicFramePr>
        <p:xfrm>
          <a:off x="420130" y="4557460"/>
          <a:ext cx="2850292" cy="22111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2573"/>
                <a:gridCol w="712573"/>
                <a:gridCol w="712573"/>
                <a:gridCol w="712573"/>
              </a:tblGrid>
              <a:tr h="44223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4223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4223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4223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4223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3177091"/>
              </p:ext>
            </p:extLst>
          </p:nvPr>
        </p:nvGraphicFramePr>
        <p:xfrm>
          <a:off x="5544064" y="4515992"/>
          <a:ext cx="2158314" cy="9260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9438"/>
                <a:gridCol w="719438"/>
                <a:gridCol w="719438"/>
              </a:tblGrid>
              <a:tr h="463035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</a:tr>
              <a:tr h="463035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4" name="直線單箭頭接點 13"/>
          <p:cNvCxnSpPr/>
          <p:nvPr/>
        </p:nvCxnSpPr>
        <p:spPr>
          <a:xfrm flipH="1" flipV="1">
            <a:off x="3369269" y="5115697"/>
            <a:ext cx="2051222" cy="107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42445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If mismatch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+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pattern analysis mismatch</a:t>
                </a:r>
                <a:r>
                  <a:rPr lang="zh-TW" altLang="en-US" dirty="0" smtClean="0"/>
                  <a:t>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k</a:t>
                </a:r>
              </a:p>
              <a:p>
                <a:pPr marL="0" indent="0">
                  <a:buNone/>
                </a:pPr>
                <a:r>
                  <a:rPr lang="en-US" altLang="zh-TW" dirty="0" smtClean="0"/>
                  <a:t>There are five cases:</a:t>
                </a:r>
              </a:p>
              <a:p>
                <a:pPr marL="514350" indent="-514350">
                  <a:buAutoNum type="arabicPeriod"/>
                </a:pPr>
                <a:r>
                  <a:rPr lang="en-US" altLang="zh-TW" dirty="0" smtClean="0"/>
                  <a:t>mismatch = 0</a:t>
                </a:r>
              </a:p>
              <a:p>
                <a:pPr marL="514350" indent="-514350">
                  <a:buAutoNum type="arabicPeriod"/>
                </a:pPr>
                <a:r>
                  <a:rPr lang="en-US" altLang="zh-TW" dirty="0" smtClean="0"/>
                  <a:t>Pattern analysis mismatch = 0</a:t>
                </a:r>
              </a:p>
              <a:p>
                <a:pPr marL="514350" indent="-514350">
                  <a:buAutoNum type="arabicPeriod"/>
                </a:pPr>
                <a:endParaRPr lang="en-US" altLang="zh-TW" dirty="0"/>
              </a:p>
              <a:p>
                <a:pPr marL="514350" indent="-514350">
                  <a:buAutoNum type="arabicPeriod"/>
                </a:pPr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Else</a:t>
                </a:r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smtClean="0"/>
                  <a:t>using 1D method</a:t>
                </a:r>
              </a:p>
              <a:p>
                <a:pPr marL="514350" indent="-514350">
                  <a:buAutoNum type="arabicPeriod"/>
                </a:pPr>
                <a:endParaRPr lang="en-US" altLang="zh-TW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623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41215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Pattern CBA  (Before)</a:t>
            </a:r>
          </a:p>
          <a:p>
            <a:pPr marL="0" indent="0">
              <a:buNone/>
            </a:pPr>
            <a:r>
              <a:rPr lang="en-US" altLang="zh-TW" dirty="0" smtClean="0"/>
              <a:t>Text 	   CAB</a:t>
            </a:r>
          </a:p>
          <a:p>
            <a:pPr marL="0" indent="0">
              <a:buNone/>
            </a:pPr>
            <a:r>
              <a:rPr lang="en-US" altLang="zh-TW" dirty="0" smtClean="0"/>
              <a:t>Pattern ADA  (Now)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 smtClean="0"/>
              <a:t>TM[2,0,1]=2			Row-Mismatch[1,2,1]=1</a:t>
            </a:r>
          </a:p>
          <a:p>
            <a:pPr marL="0" indent="0">
              <a:buNone/>
            </a:pPr>
            <a:r>
              <a:rPr lang="en-US" altLang="zh-TW" dirty="0" smtClean="0"/>
              <a:t>TM[2,0,2]=3			Row-Mismatch[1,2,2]=2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120531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 Complexity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/>
                  <a:t>Merge requires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Extend is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𝑙𝑒𝑛𝑔𝑡h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𝑡𝑒𝑥𝑡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PM is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𝑘</m:t>
                    </m:r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unc>
                      <m:func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b="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Row-Mismatch is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Text analysis is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𝑘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/>
                  <a:t> </a:t>
                </a:r>
                <a:r>
                  <a:rPr lang="en-US" altLang="zh-TW" dirty="0" err="1" smtClean="0"/>
                  <a:t>Tmerge</a:t>
                </a:r>
                <a:r>
                  <a:rPr lang="en-US" altLang="zh-TW" dirty="0" smtClean="0"/>
                  <a:t> requires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lang="en-US" altLang="zh-TW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d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zh-TW" altLang="en-US" dirty="0" smtClean="0"/>
                  <a:t> </a:t>
                </a:r>
                <a:r>
                  <a:rPr lang="en-US" altLang="zh-TW" dirty="0" err="1" smtClean="0"/>
                  <a:t>Textend</a:t>
                </a:r>
                <a:r>
                  <a:rPr lang="en-US" altLang="zh-TW" dirty="0" smtClean="0"/>
                  <a:t> requires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dirty="0" smtClean="0"/>
              </a:p>
              <a:p>
                <a:pPr marL="0" indent="0">
                  <a:buNone/>
                </a:pPr>
                <a:r>
                  <a:rPr lang="en-US" altLang="zh-TW" dirty="0" smtClean="0"/>
                  <a:t>Need do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(1+2+3+…+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 smtClean="0"/>
              </a:p>
              <a:p>
                <a:pPr marL="0" indent="0">
                  <a:buNone/>
                </a:pPr>
                <a:endParaRPr lang="en-US" altLang="zh-TW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24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4942702" y="5946130"/>
                <a:ext cx="201754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TW" altLang="en-US" sz="2400" dirty="0" smtClean="0"/>
                  <a:t> </a:t>
                </a:r>
                <a:r>
                  <a:rPr lang="en-US" altLang="zh-TW" sz="2400" dirty="0" smtClean="0"/>
                  <a:t>times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702" y="5946130"/>
                <a:ext cx="2017540" cy="461665"/>
              </a:xfrm>
              <a:prstGeom prst="rect">
                <a:avLst/>
              </a:prstGeom>
              <a:blipFill rotWithShape="0">
                <a:blip r:embed="rId3"/>
                <a:stretch>
                  <a:fillRect t="-10526" r="-3625" b="-289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向上箭號 4"/>
          <p:cNvSpPr/>
          <p:nvPr/>
        </p:nvSpPr>
        <p:spPr>
          <a:xfrm>
            <a:off x="4852086" y="5952951"/>
            <a:ext cx="181232" cy="265326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07928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Time Complexity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sz="3600" dirty="0" smtClean="0"/>
                  <a:t>Total</a:t>
                </a:r>
              </a:p>
              <a:p>
                <a:pPr marL="0" indent="0">
                  <a:buNone/>
                </a:pPr>
                <a:endParaRPr lang="en-US" altLang="zh-TW" sz="3600" dirty="0"/>
              </a:p>
              <a:p>
                <a:pPr marL="0" indent="0">
                  <a:buNone/>
                </a:pPr>
                <a:endParaRPr lang="en-US" altLang="zh-TW" sz="3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3600" i="1">
                          <a:latin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36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36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altLang="zh-TW" sz="3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TW" sz="36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sup>
                          <m:r>
                            <a:rPr lang="en-US" altLang="zh-TW" sz="36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altLang="zh-TW" sz="3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TW" sz="36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36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3600" i="1" dirty="0">
                          <a:latin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lang="en-US" altLang="zh-TW" sz="3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TW" sz="36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TW" sz="3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TW" sz="36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unc>
                        <m:funcPr>
                          <m:ctrlPr>
                            <a:rPr lang="en-US" altLang="zh-TW" sz="36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TW" sz="3600" dirty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TW" sz="3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TW" sz="36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  <m:r>
                        <a:rPr lang="en-US" altLang="zh-TW" sz="3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3600" dirty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2318" t="-33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2341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235</TotalTime>
  <Words>452</Words>
  <Application>Microsoft Office PowerPoint</Application>
  <PresentationFormat>如螢幕大小 (4:3)</PresentationFormat>
  <Paragraphs>294</Paragraphs>
  <Slides>24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33" baseType="lpstr">
      <vt:lpstr>Arial Unicode MS</vt:lpstr>
      <vt:lpstr>新細明體</vt:lpstr>
      <vt:lpstr>Arial</vt:lpstr>
      <vt:lpstr>Calibri</vt:lpstr>
      <vt:lpstr>Calibri Light</vt:lpstr>
      <vt:lpstr>Cambria Math</vt:lpstr>
      <vt:lpstr>Times New Roman</vt:lpstr>
      <vt:lpstr>Verdana</vt:lpstr>
      <vt:lpstr>Office 佈景主題</vt:lpstr>
      <vt:lpstr>PowerPoint 簡報</vt:lpstr>
      <vt:lpstr>Abstract</vt:lpstr>
      <vt:lpstr>The problem</vt:lpstr>
      <vt:lpstr>The problem</vt:lpstr>
      <vt:lpstr>Text Analysis</vt:lpstr>
      <vt:lpstr>PowerPoint 簡報</vt:lpstr>
      <vt:lpstr>Example</vt:lpstr>
      <vt:lpstr>Example</vt:lpstr>
      <vt:lpstr>Example</vt:lpstr>
      <vt:lpstr>Example</vt:lpstr>
      <vt:lpstr>2D problem</vt:lpstr>
      <vt:lpstr>Pattern Analysis</vt:lpstr>
      <vt:lpstr>Example</vt:lpstr>
      <vt:lpstr>Text Analysis</vt:lpstr>
      <vt:lpstr>Example</vt:lpstr>
      <vt:lpstr>Compute TM Stage 1</vt:lpstr>
      <vt:lpstr>Compute TM Stage 1</vt:lpstr>
      <vt:lpstr>Compute TM Stage 2</vt:lpstr>
      <vt:lpstr>Compute TM Stage 2</vt:lpstr>
      <vt:lpstr>Compute TM Stage 2</vt:lpstr>
      <vt:lpstr>PowerPoint 簡報</vt:lpstr>
      <vt:lpstr>PowerPoint 簡報</vt:lpstr>
      <vt:lpstr>Time Complexity </vt:lpstr>
      <vt:lpstr>Time Complexity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HUGO</dc:creator>
  <cp:lastModifiedBy>HUGO</cp:lastModifiedBy>
  <cp:revision>18</cp:revision>
  <dcterms:created xsi:type="dcterms:W3CDTF">2015-07-07T05:45:41Z</dcterms:created>
  <dcterms:modified xsi:type="dcterms:W3CDTF">2015-07-07T10:27:26Z</dcterms:modified>
</cp:coreProperties>
</file>