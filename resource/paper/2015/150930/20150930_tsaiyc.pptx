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8" r:id="rId3"/>
    <p:sldId id="264" r:id="rId4"/>
    <p:sldId id="265" r:id="rId5"/>
    <p:sldId id="266" r:id="rId6"/>
    <p:sldId id="267" r:id="rId7"/>
    <p:sldId id="271" r:id="rId8"/>
    <p:sldId id="272" r:id="rId9"/>
    <p:sldId id="268" r:id="rId10"/>
    <p:sldId id="269" r:id="rId11"/>
    <p:sldId id="270" r:id="rId12"/>
    <p:sldId id="274" r:id="rId13"/>
    <p:sldId id="273" r:id="rId14"/>
    <p:sldId id="275" r:id="rId15"/>
    <p:sldId id="276" r:id="rId16"/>
    <p:sldId id="277" r:id="rId17"/>
    <p:sldId id="286" r:id="rId18"/>
    <p:sldId id="278" r:id="rId19"/>
    <p:sldId id="279" r:id="rId20"/>
    <p:sldId id="280" r:id="rId21"/>
    <p:sldId id="281" r:id="rId22"/>
    <p:sldId id="282" r:id="rId23"/>
    <p:sldId id="283" r:id="rId24"/>
    <p:sldId id="287" r:id="rId25"/>
    <p:sldId id="288" r:id="rId26"/>
    <p:sldId id="284" r:id="rId27"/>
    <p:sldId id="285" r:id="rId28"/>
  </p:sldIdLst>
  <p:sldSz cx="9144000" cy="6858000" type="screen4x3"/>
  <p:notesSz cx="9947275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B342C-D3E6-4343-B7E6-7344C4D3E48E}" type="datetimeFigureOut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071B8-4507-4225-B265-9ABFCA3C6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4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0486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5063" y="0"/>
            <a:ext cx="4310486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319D-5FEB-4BB2-8449-8B5AD3FD1565}" type="datetimeFigureOut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728" y="3300414"/>
            <a:ext cx="795782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4310486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5063" y="6513514"/>
            <a:ext cx="4310486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D4387-758A-48A1-B6FC-B6449276ED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1250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28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998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35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667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6064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85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078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354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05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102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98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925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8959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337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294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136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5125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75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21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749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207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23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17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674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7818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278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d</a:t>
            </a:r>
            <a:r>
              <a:rPr lang="zh-TW" altLang="en-US" dirty="0" smtClean="0"/>
              <a:t>需要了解一下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D4387-758A-48A1-B6FC-B6449276ED8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16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3411-B8F4-4907-AA92-4552EEC98037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0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7948-3BC4-474B-B2C5-B24B6278D5CC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35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4401-0966-4BE9-949A-1941D46B255A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637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F7A8-39F7-47D3-84AF-7F86628B5FAB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49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4A1C-B702-477E-9BF4-97BB9A31376D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0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D37B-8EDA-44B1-B8D7-9E8653376522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57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D677-579F-4601-A0E0-98D0EF8FF300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27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04F25-68B9-4B98-A00F-22886F6765A0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31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7DF-E3E8-4590-BCB8-918F6FA7A470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71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3A9F8-67B4-415C-958B-B847634E21C6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67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2B4F-FCBB-477E-B7D1-1CF98B64D8ED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8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B09C-9434-434F-8521-A32D48F8D9B0}" type="datetime1">
              <a:rPr lang="zh-TW" altLang="en-US" smtClean="0"/>
              <a:t>2015/9/30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0F78-E2D1-4ADE-B2ED-40AB43ACB23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52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3128317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Data-Snooping, Technical Trading Rule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and the Bootstrap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3204518"/>
            <a:ext cx="9144000" cy="348203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RYAN SULLIVAN, ALLAN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TIMMERMANN, HALBERT WHITE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California, San Diego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1999 THE JOURNAL OF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 2015/09/30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pp. 1647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1691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Tsai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Yao-Chou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199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49" y="98426"/>
            <a:ext cx="8924925" cy="1015999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56070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utilize White’s Reality Check bootstrap methodology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(White(1999))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simple technical trading rules while quantifying the data-snooping bias and fully adjusting for its effect in the context of the full universe from which the trading rules were drawn. Hence, for the first time, the paper presents a comprehensive test of performance across all technical trading rules examined. We consider the study of Brock,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Lakonishok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LeBaron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(1992),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their universe of 26 trading rules, apply the rules to 100 years of daily data on the Dow Jones Industrial Average, and determine the effects of data-snooping.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4253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method</a:t>
            </a: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560705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b="1" u="sng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  <a:r>
              <a:rPr lang="en-US" altLang="zh-TW" b="1" u="sng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當測試樣本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以常態分布來描述時，使用拔靴法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(bootstrap)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來分析。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b="1" u="sng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做法</a:t>
            </a:r>
            <a:r>
              <a:rPr lang="en-US" altLang="zh-TW" b="1" u="sng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利用有限的樣本資料經由多次自身重複抽樣，建立起足以代表母體樣本分布的新樣本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均勻取出放回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(uniformly with replacement)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，從有限資料選取訓練資料集。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每一次選取時，所有樣本被選為訓練資料的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被抽取機率皆相同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對於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小樣本集合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效果很好。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7081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method</a:t>
            </a:r>
            <a:r>
              <a:rPr lang="zh-TW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49" y="1114425"/>
            <a:ext cx="8924925" cy="225549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個原始樣本觀察值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抽取一個觀察值，記下其值後放回原始樣本集合中混合均勻，再重新抽取。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重複步驟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，可以得到一組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Bootstrap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的訓練樣本集合。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重複步驟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，可以得到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Bootstrap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的訓練樣本集。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8" y="3252018"/>
            <a:ext cx="5286474" cy="34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57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formulas(1/2)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Observed performance measure for period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+1.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Z consists of a vector of dependent variables.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trading rules directly generate 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retures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number of prediction period indexed from R through T(T = R + n – 1)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Based on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performance statistic(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number of trading rules).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820" r="-18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7646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formulas(2/2)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set to 27,069 (nearly 100 years).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251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𝑙𝑛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𝑙𝑛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b="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bSup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original price series.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are signal function that convert the sequence of price index information into market position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49" y="1114425"/>
                <a:ext cx="8924925" cy="5607051"/>
              </a:xfrm>
              <a:blipFill rotWithShape="0"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9369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Times New Roman" panose="02020603050405020304" pitchFamily="18" charset="0"/>
              </a:rPr>
              <a:t>Sharpe Ratio (</a:t>
            </a:r>
            <a:r>
              <a:rPr lang="zh-TW" altLang="en-US" sz="4000" dirty="0">
                <a:latin typeface="Times New Roman" panose="02020603050405020304" pitchFamily="18" charset="0"/>
              </a:rPr>
              <a:t>夏普率</a:t>
            </a:r>
            <a:r>
              <a:rPr lang="en-US" altLang="zh-TW" sz="4000" dirty="0">
                <a:latin typeface="Times New Roman" panose="02020603050405020304" pitchFamily="18" charset="0"/>
              </a:rPr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b="1" dirty="0" smtClean="0">
                    <a:latin typeface="Times New Roman" panose="02020603050405020304" pitchFamily="18" charset="0"/>
                  </a:rPr>
                  <a:t>特性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 在固定所能承受的風險下，追求最大的報酬，或在固定的預期報酬下，追求最低的風險。</a:t>
                </a:r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b="1" dirty="0" smtClean="0">
                    <a:latin typeface="Times New Roman" panose="02020603050405020304" pitchFamily="18" charset="0"/>
                  </a:rPr>
                  <a:t>概念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 在建立有風險的投資組合時，報酬率應達到無風險投資的回報，或更多。</a:t>
                </a:r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</a:rPr>
                  <a:t>公式 </a:t>
                </a:r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投資組合預期報酬率</a:t>
                </a:r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無風險利率</a:t>
                </a:r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</a:rPr>
                  <a:t>投資組合標準差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6720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Times New Roman" panose="02020603050405020304" pitchFamily="18" charset="0"/>
              </a:rPr>
              <a:t>Sharpe Ratio (</a:t>
            </a:r>
            <a:r>
              <a:rPr lang="zh-TW" altLang="en-US" sz="4000" dirty="0">
                <a:latin typeface="Times New Roman" panose="02020603050405020304" pitchFamily="18" charset="0"/>
              </a:rPr>
              <a:t>夏普率</a:t>
            </a:r>
            <a:r>
              <a:rPr lang="en-US" altLang="zh-TW" sz="4000" dirty="0">
                <a:latin typeface="Times New Roman" panose="02020603050405020304" pitchFamily="18" charset="0"/>
              </a:rPr>
              <a:t>):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63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</a:rPr>
              <a:t>Sharpe ratio</a:t>
            </a:r>
            <a:r>
              <a:rPr lang="zh-TW" altLang="en-US" dirty="0" smtClean="0">
                <a:latin typeface="Times New Roman" panose="02020603050405020304" pitchFamily="18" charset="0"/>
              </a:rPr>
              <a:t>為正值 </a:t>
            </a:r>
            <a:r>
              <a:rPr lang="en-US" altLang="zh-TW" dirty="0" smtClean="0">
                <a:latin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</a:rPr>
              <a:t> 報酬率高過波動風險</a:t>
            </a:r>
            <a:endParaRPr lang="en-US" altLang="zh-TW" dirty="0" smtClean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</a:rPr>
              <a:t>Sharpe ratio</a:t>
            </a:r>
            <a:r>
              <a:rPr lang="zh-TW" altLang="en-US" dirty="0" smtClean="0">
                <a:latin typeface="Times New Roman" panose="02020603050405020304" pitchFamily="18" charset="0"/>
              </a:rPr>
              <a:t>為負值</a:t>
            </a:r>
            <a:r>
              <a:rPr lang="en-US" altLang="zh-TW" dirty="0" smtClean="0">
                <a:latin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</a:rPr>
              <a:t> 風險高過報酬率</a:t>
            </a:r>
            <a:endParaRPr lang="en-US" altLang="zh-TW" dirty="0" smtClean="0"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2176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假設檢定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(Test of Hypothesis)(1/4)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Null hypothesis(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虛無假設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對母體提出一個主張，假設此主張為真實。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Alternative hypothesis(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對立假設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相對於虛無假設的另一個不同主張，當有足夠證據時可說明此主張為真。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如果結果是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” do not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”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，並不表示虛無假設一定為真，代表沒有足夠的證據來拒絕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如果拒絕虛無假設，則表示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可能為真。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 r="-7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4282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假設檢定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(Test of Hypothesis)(2/4)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內容版面配置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67554497"/>
                  </p:ext>
                </p:extLst>
              </p:nvPr>
            </p:nvGraphicFramePr>
            <p:xfrm>
              <a:off x="95250" y="1114424"/>
              <a:ext cx="8924925" cy="1628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74975"/>
                    <a:gridCol w="2974975"/>
                    <a:gridCol w="2974975"/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決策</a:t>
                          </a:r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/</a:t>
                          </a:r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母體真相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為真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為偽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接受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正確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Type</a:t>
                          </a:r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 II error (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sz="2000" i="1" baseline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altLang="zh-TW" sz="2000" baseline="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拒絕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Type I error (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正確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內容版面配置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67554497"/>
                  </p:ext>
                </p:extLst>
              </p:nvPr>
            </p:nvGraphicFramePr>
            <p:xfrm>
              <a:off x="95250" y="1114424"/>
              <a:ext cx="8924925" cy="16287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74975"/>
                    <a:gridCol w="2974975"/>
                    <a:gridCol w="2974975"/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決策</a:t>
                          </a:r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/</a:t>
                          </a:r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母體真相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1124" r="-100204" b="-2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410" t="-1124" r="-410" b="-207865"/>
                          </a:stretch>
                        </a:blipFill>
                      </a:tcPr>
                    </a:tc>
                  </a:tr>
                  <a:tr h="54292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5" t="-100000" r="-200615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正確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410" t="-100000" r="-410" b="-105556"/>
                          </a:stretch>
                        </a:blipFill>
                      </a:tcPr>
                    </a:tc>
                  </a:tr>
                  <a:tr h="54292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5" t="-202247" r="-200615" b="-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202247" r="-100204" b="-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dirty="0" smtClean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正確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95250" y="2975019"/>
                <a:ext cx="8924925" cy="3000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Type I error : 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拒絕對的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而產生的錯誤。</a:t>
                </a:r>
                <a:endParaRPr lang="en-US" altLang="zh-TW" sz="210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endParaRPr lang="en-US" altLang="zh-TW" sz="210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Type II error : 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接受錯的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而產生的錯誤。</a:t>
                </a:r>
                <a:endParaRPr lang="en-US" altLang="zh-TW" sz="210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endParaRPr lang="en-US" altLang="zh-TW" sz="21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r>
                  <a:rPr lang="en-US" altLang="zh-TW" sz="2100" u="sng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Example:</a:t>
                </a:r>
              </a:p>
              <a:p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調查顯示男性</a:t>
                </a:r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18~21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歲開始吸菸的比例超過</a:t>
                </a:r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20%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，若想檢驗此調查是否屬實，設立假設檢定。</a:t>
                </a:r>
                <a:endParaRPr lang="en-US" altLang="zh-TW" sz="210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H</m:t>
                        </m:r>
                      </m:e>
                      <m:sub>
                        <m:r>
                          <a:rPr lang="en-US" altLang="zh-TW" sz="21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sz="21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𝑝</m:t>
                    </m:r>
                    <m:r>
                      <a:rPr lang="en-US" altLang="zh-TW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n-US" altLang="zh-TW" sz="2100" b="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 </a:t>
                </a:r>
                <a:r>
                  <a:rPr lang="zh-TW" altLang="en-US" sz="2100" b="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虛無假設</a:t>
                </a:r>
                <a:r>
                  <a:rPr lang="en-US" altLang="zh-TW" sz="2100" b="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18~21</a:t>
                </a:r>
                <a:r>
                  <a:rPr lang="zh-TW" altLang="en-US" sz="2100" b="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歲開始吸菸比例小於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等於</a:t>
                </a:r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20%</a:t>
                </a:r>
                <a:endParaRPr lang="en-US" altLang="zh-TW" sz="2100" b="0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1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H</m:t>
                        </m:r>
                      </m:e>
                      <m:sub>
                        <m:r>
                          <a:rPr lang="en-US" altLang="zh-TW" sz="21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1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sz="21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𝑝</m:t>
                    </m:r>
                    <m:r>
                      <a:rPr lang="en-US" altLang="zh-TW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TW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</m:t>
                    </m:r>
                  </m:oMath>
                </a14:m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 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對立假設</a:t>
                </a:r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18~21</a:t>
                </a:r>
                <a:r>
                  <a:rPr lang="zh-TW" altLang="en-US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歲開始吸菸比利大於</a:t>
                </a:r>
                <a:r>
                  <a:rPr lang="en-US" altLang="zh-TW" sz="2100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20%</a:t>
                </a:r>
                <a:endParaRPr lang="en-US" altLang="zh-TW" sz="21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" y="2975019"/>
                <a:ext cx="8924925" cy="3000821"/>
              </a:xfrm>
              <a:prstGeom prst="rect">
                <a:avLst/>
              </a:prstGeom>
              <a:blipFill rotWithShape="0">
                <a:blip r:embed="rId4"/>
                <a:stretch>
                  <a:fillRect l="-820" t="-1220" r="-2596" b="-32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31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假設檢定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(Test of Hypothesis)(3/4)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:</m:t>
                      </m:r>
                      <m:sPre>
                        <m:sPre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Pre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=1,..,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sPre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說明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最好的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(best)trading rules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沒有比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benchmark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performance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好，所以</a:t>
                </a:r>
                <a:r>
                  <a:rPr lang="zh-TW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拒絕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null hypothesis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best trading rules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表現比較好。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Pre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  <m:d>
                                <m:d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sPre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Pre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sPre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</a:rPr>
                  <a:t>B is set to 500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</a:rPr>
                  <a:t>Compare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</a:rPr>
                  <a:t> to obtain p-value for the null hypothesis.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 r="-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8607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zh-TW" altLang="en-US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假設檢定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(Test of Hypothesis</a:t>
            </a:r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)(4/4)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使用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Sharpe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ratio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的假設檢定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=1,…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sPre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050405" y="2975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336" y="2633012"/>
            <a:ext cx="4581525" cy="10096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949" y="4083482"/>
            <a:ext cx="3323363" cy="219717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221764" y="5720995"/>
            <a:ext cx="327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Risk-free interest rate at time t+1</a:t>
            </a:r>
            <a:endParaRPr lang="zh-TW" altLang="en-US" dirty="0"/>
          </a:p>
        </p:txBody>
      </p:sp>
      <p:sp>
        <p:nvSpPr>
          <p:cNvPr id="9" name="向右箭號 8"/>
          <p:cNvSpPr/>
          <p:nvPr/>
        </p:nvSpPr>
        <p:spPr>
          <a:xfrm rot="10800000">
            <a:off x="4493623" y="5792449"/>
            <a:ext cx="653143" cy="226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536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63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Filter Rules 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濾嘴法則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假設某股每日收盤的價格上漲（下跌）了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%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我們就買，一直等到它從後來最高（低）的收盤下跌（上漲）了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%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就賣出，但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必須大於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0.005, 0.01, 0.015, 0.02, 0.025, 0.03, 0.035, 0.04, 0.045, 0.05, 0.06, 0.07, 0.08, 0.09, 0.1, 0.12, 0.14, 0.16, 0.18, 0.2, 0.25, 0.3, 0.4,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0.5 [24]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= 0.005, 0.01, 0.015, 0.02, 0.025, 0.03, 0.04, 0.05, 0.075, 0.1, 0.15,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0.2 [12]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 =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5,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1, 2, 3, 4, 5, 10, 15,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 [8]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 = 5, 10, 25,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 [4]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拿多少天的範圍來比較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closing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price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執行訊號後閒置的天數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63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Moving Averages 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移動平均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線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天的快速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天的慢速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，加上一個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比率的濾嘴，當黃金交叉且突破超過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比率（即，交叉時的價格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× (1+b)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）則買進，死亡交叉且跌破超過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比率則賣出，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BR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 = 5, 2, 5, 10, 15, 20</a:t>
                </a:r>
                <a:r>
                  <a:rPr lang="pt-BR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pt-BR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25, 30, 40, 50, 75, 100, 125, 150, 200, </a:t>
                </a:r>
                <a:r>
                  <a:rPr lang="pt-BR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250 [15]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l-PL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</a:t>
                </a:r>
                <a:r>
                  <a:rPr lang="pl-PL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0.001, 0.005, 0.01, 0.015, 0.02, 0.03, 0.04, </a:t>
                </a:r>
                <a:r>
                  <a:rPr lang="pl-PL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0.05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[8]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2, 3, 4, 5 [4]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5, 10, 20, 50 [4]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d: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買賣訊號延遲幾天後執行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c: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執行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訊號後閒置的天數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 r="-820" b="-9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5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63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 Support and Resistance (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支撐壓力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價格高於過去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天中的最高價，且突破超過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比率（即，突破時的價格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× (1+b)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）則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買進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，一直持有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天後回補；如價格低於過去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天中的最低價或比過去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天中的最低收盤價還低，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且跌破超過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比率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賣出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，一直持有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天後回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pt-BR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5, 10, 15, 20, 25, 50, 100, 150, 200, </a:t>
            </a:r>
            <a:r>
              <a:rPr lang="pt-BR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250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[10]</a:t>
            </a:r>
            <a:endParaRPr lang="pt-BR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 = 2, 3, 4, 5, 10, 20, 25, 50, 100,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[10]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l-PL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pl-PL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0.001, 0.005, 0.01, 0.015, 0.02, 0.03, 0.04, </a:t>
            </a:r>
            <a:r>
              <a:rPr lang="pl-PL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[8]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 = 2, 3, 4,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 = 5, 10, 25,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474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63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Channel Breakout (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區間突破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收盤價突破過去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x%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範圍內的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高低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點（以低點計算，即過去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天的低點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×(1+x%)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），則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買進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賣出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，然後一直持有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天後再回補，持有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天的期間忽略其他訊號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pt-BR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5, 10, 15, 20, 25, 50, 100, 150, 200, </a:t>
            </a:r>
            <a:r>
              <a:rPr lang="pt-BR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250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[10]</a:t>
            </a:r>
            <a:endParaRPr lang="pt-BR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0.005, 0.01, 0.02, 0.03, 0.05, 0.075, 0.10,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0.15 [8]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l-PL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pl-PL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0.001, 0.005, 0.01, 0.015, 0.02, 0.03, 0.04, </a:t>
            </a:r>
            <a:r>
              <a:rPr lang="pl-PL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[8]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 = 5, 10, 25,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 [4]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可當作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filter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加入判斷訊號的執行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124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[On-Balance Volume]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初</a:t>
                </a:r>
                <a:r>
                  <a:rPr lang="zh-TW" altLang="en-US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始</a:t>
                </a:r>
                <a:r>
                  <a:rPr lang="en-US" altLang="zh-TW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 =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當天成交量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計算</a:t>
                </a:r>
                <a:r>
                  <a:rPr lang="en-US" altLang="zh-TW" b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今天收盤價高於昨天收盤價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BV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昨天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OBC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今天成交量</a:t>
                </a:r>
                <a:r>
                  <a:rPr lang="zh-TW" altLang="en-US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en-US" altLang="zh-TW" baseline="-250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今天收盤價低於昨天收盤價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昨天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今天成交量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今天收盤價等於昨天收盤價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昨天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V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809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5. On-Balance Volume Averages 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區間突破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運用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天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快速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移動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平均 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天的慢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速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OBV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移動平均，加上一個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filter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當黃金交叉且突破超過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比率（即，交叉時的價格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× (1+b)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）則買進，死亡交叉且跌破超過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比率則賣出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t-BR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 = 2, 5, 10, 15, 20, 25, 30, 40, 50, 75, 100, 125, 150, 200, </a:t>
                </a:r>
                <a:r>
                  <a:rPr lang="pt-BR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250 [15]</a:t>
                </a:r>
                <a:endParaRPr lang="pt-BR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l-PL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pl-PL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0.001, 0.005, 0.01, 0.015, 0.02, 0.03, 0.04, </a:t>
                </a:r>
                <a:r>
                  <a:rPr lang="pl-PL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0.05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[8]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 = 2, 3, 4,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 [4]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 = 5, 10, 25,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50 [4]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</a:t>
                </a:r>
                <a:r>
                  <a:rPr lang="zh-TW" altLang="en-US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表示延遲幾天後執行訊後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39" y="1114425"/>
                <a:ext cx="8924925" cy="5607051"/>
              </a:xfrm>
              <a:blipFill rotWithShape="0">
                <a:blip r:embed="rId3"/>
                <a:stretch>
                  <a:fillRect l="-820" r="-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99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Dataset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639" y="1114425"/>
            <a:ext cx="8924925" cy="56070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Dow Jones Industrial Average (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道瓊工業指數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 period 1: January 1897 ~ December 1914 (18 years)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 period 2: January 1915 ~ December 1938 (24 years)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 period 3: January 1939 ~ June 1962 (24 years)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 period 4: July 1962 ~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December 1986 (25 years)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Trading rules </a:t>
            </a:r>
            <a:r>
              <a:rPr lang="en-US" altLang="zh-TW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7846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481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59" y="1825625"/>
            <a:ext cx="9009741" cy="303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90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" y="1825625"/>
            <a:ext cx="9077909" cy="360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6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030565" cy="346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0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3" y="1825625"/>
            <a:ext cx="9048318" cy="355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89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49" y="1091045"/>
            <a:ext cx="8873016" cy="530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86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Empirical Results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9" y="1270433"/>
            <a:ext cx="8774566" cy="525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76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Comparison(mean </a:t>
            </a:r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return)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0" y="1265213"/>
            <a:ext cx="8970101" cy="509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14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640" y="46471"/>
            <a:ext cx="8924925" cy="1044574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Comparison(Sharpe ratio)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0F78-E2D1-4ADE-B2ED-40AB43ACB23D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16" y="1357585"/>
            <a:ext cx="8766949" cy="499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8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10322</TotalTime>
  <Words>1306</Words>
  <Application>Microsoft Office PowerPoint</Application>
  <PresentationFormat>如螢幕大小 (4:3)</PresentationFormat>
  <Paragraphs>218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Data-Snooping, Technical Trading Rule Performance, and the Bootstrap</vt:lpstr>
      <vt:lpstr>Abstract</vt:lpstr>
      <vt:lpstr>Bootstrap method (1/2)</vt:lpstr>
      <vt:lpstr>Bootstrap method (2/2)</vt:lpstr>
      <vt:lpstr>Basic formulas(1/2)</vt:lpstr>
      <vt:lpstr>Basic formulas(2/2)</vt:lpstr>
      <vt:lpstr>Sharpe Ratio (夏普率):</vt:lpstr>
      <vt:lpstr>Sharpe Ratio (夏普率):</vt:lpstr>
      <vt:lpstr>假設檢定(Test of Hypothesis)(1/4)</vt:lpstr>
      <vt:lpstr>假設檢定(Test of Hypothesis)(2/4)</vt:lpstr>
      <vt:lpstr>假設檢定(Test of Hypothesis)(3/4)</vt:lpstr>
      <vt:lpstr>假設檢定(Test of Hypothesis)(4/4)</vt:lpstr>
      <vt:lpstr>Trading rules</vt:lpstr>
      <vt:lpstr>Trading rules</vt:lpstr>
      <vt:lpstr>Trading rules</vt:lpstr>
      <vt:lpstr>Trading rules</vt:lpstr>
      <vt:lpstr>Trading rules</vt:lpstr>
      <vt:lpstr>Trading rules</vt:lpstr>
      <vt:lpstr>Dataset</vt:lpstr>
      <vt:lpstr>Empirical Results</vt:lpstr>
      <vt:lpstr>Empirical Results</vt:lpstr>
      <vt:lpstr>Empirical Results</vt:lpstr>
      <vt:lpstr>Empirical Results</vt:lpstr>
      <vt:lpstr>Empirical Results</vt:lpstr>
      <vt:lpstr>Empirical Results</vt:lpstr>
      <vt:lpstr>Comparison(mean return)</vt:lpstr>
      <vt:lpstr>Comparison(Sharpe ratio)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Large Graph Pattern Mining for Big Data in the Cloud</dc:title>
  <dc:creator>MONSTER J</dc:creator>
  <cp:lastModifiedBy>cse5012</cp:lastModifiedBy>
  <cp:revision>315</cp:revision>
  <cp:lastPrinted>2015-05-05T05:44:38Z</cp:lastPrinted>
  <dcterms:created xsi:type="dcterms:W3CDTF">2015-05-03T09:05:15Z</dcterms:created>
  <dcterms:modified xsi:type="dcterms:W3CDTF">2015-09-30T11:36:29Z</dcterms:modified>
</cp:coreProperties>
</file>