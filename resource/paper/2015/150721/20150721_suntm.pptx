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59" r:id="rId6"/>
    <p:sldId id="260" r:id="rId7"/>
    <p:sldId id="261" r:id="rId8"/>
    <p:sldId id="265" r:id="rId9"/>
    <p:sldId id="262" r:id="rId10"/>
    <p:sldId id="264"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257188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1732947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842590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854498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1639788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2538057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3905527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1114892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3270070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1726785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AD48DC6-974B-4BDE-AB75-EE90761A0BBC}" type="datetimeFigureOut">
              <a:rPr lang="zh-TW" altLang="en-US" smtClean="0"/>
              <a:t>2015/7/21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3064034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D48DC6-974B-4BDE-AB75-EE90761A0BBC}" type="datetimeFigureOut">
              <a:rPr lang="zh-TW" altLang="en-US" smtClean="0"/>
              <a:t>2015/7/21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E3236-2980-4D92-AF45-23B4B69B69D9}" type="slidenum">
              <a:rPr lang="zh-TW" altLang="en-US" smtClean="0"/>
              <a:t>‹#›</a:t>
            </a:fld>
            <a:endParaRPr lang="zh-TW" altLang="en-US"/>
          </a:p>
        </p:txBody>
      </p:sp>
    </p:spTree>
    <p:extLst>
      <p:ext uri="{BB962C8B-B14F-4D97-AF65-F5344CB8AC3E}">
        <p14:creationId xmlns:p14="http://schemas.microsoft.com/office/powerpoint/2010/main" val="2096146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0" y="1419230"/>
            <a:ext cx="12191999"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3600" dirty="0"/>
              <a:t>Image segmentation for large-scale subcategory flower recognition</a:t>
            </a:r>
            <a:endParaRPr lang="en-US" altLang="zh-TW" sz="3600" b="1" dirty="0"/>
          </a:p>
        </p:txBody>
      </p:sp>
      <p:sp>
        <p:nvSpPr>
          <p:cNvPr id="5" name="副標題 2"/>
          <p:cNvSpPr txBox="1">
            <a:spLocks/>
          </p:cNvSpPr>
          <p:nvPr/>
        </p:nvSpPr>
        <p:spPr>
          <a:xfrm>
            <a:off x="113211" y="3076579"/>
            <a:ext cx="11747863" cy="479425"/>
          </a:xfrm>
          <a:prstGeom prst="rect">
            <a:avLst/>
          </a:prstGeom>
        </p:spPr>
        <p:txBody>
          <a:bodyP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TW" sz="2000" dirty="0" err="1"/>
              <a:t>Anelia</a:t>
            </a:r>
            <a:r>
              <a:rPr lang="en-US" altLang="zh-TW" sz="2000" dirty="0"/>
              <a:t> </a:t>
            </a:r>
            <a:r>
              <a:rPr lang="en-US" altLang="zh-TW" sz="2000" dirty="0" err="1"/>
              <a:t>Angelova</a:t>
            </a:r>
            <a:r>
              <a:rPr lang="en-US" altLang="zh-TW" sz="2000" dirty="0" smtClean="0"/>
              <a:t>, </a:t>
            </a:r>
            <a:r>
              <a:rPr lang="en-US" altLang="zh-TW" sz="2000" dirty="0" err="1"/>
              <a:t>Shenghuo</a:t>
            </a:r>
            <a:r>
              <a:rPr lang="en-US" altLang="zh-TW" sz="2000" dirty="0"/>
              <a:t> </a:t>
            </a:r>
            <a:r>
              <a:rPr lang="en-US" altLang="zh-TW" sz="2000" dirty="0" smtClean="0"/>
              <a:t>Zhu, </a:t>
            </a:r>
            <a:r>
              <a:rPr lang="en-US" altLang="zh-TW" sz="2000" dirty="0" err="1"/>
              <a:t>Yuanqing</a:t>
            </a:r>
            <a:r>
              <a:rPr lang="en-US" altLang="zh-TW" sz="2000" dirty="0"/>
              <a:t> Lin</a:t>
            </a:r>
            <a:endParaRPr lang="zh-TW" altLang="en-US" sz="2000" dirty="0"/>
          </a:p>
        </p:txBody>
      </p:sp>
      <p:graphicFrame>
        <p:nvGraphicFramePr>
          <p:cNvPr id="6" name="表格 5"/>
          <p:cNvGraphicFramePr>
            <a:graphicFrameLocks noGrp="1"/>
          </p:cNvGraphicFramePr>
          <p:nvPr>
            <p:extLst>
              <p:ext uri="{D42A27DB-BD31-4B8C-83A1-F6EECF244321}">
                <p14:modId xmlns:p14="http://schemas.microsoft.com/office/powerpoint/2010/main" val="452782697"/>
              </p:ext>
            </p:extLst>
          </p:nvPr>
        </p:nvGraphicFramePr>
        <p:xfrm>
          <a:off x="452846" y="3866605"/>
          <a:ext cx="11660777" cy="966207"/>
        </p:xfrm>
        <a:graphic>
          <a:graphicData uri="http://schemas.openxmlformats.org/drawingml/2006/table">
            <a:tbl>
              <a:tblPr/>
              <a:tblGrid>
                <a:gridCol w="11660777"/>
              </a:tblGrid>
              <a:tr h="31296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2013 IEEE Workshop on</a:t>
                      </a:r>
                      <a:r>
                        <a:rPr lang="zh-TW" altLang="en-US" baseline="0" dirty="0" smtClean="0"/>
                        <a:t> </a:t>
                      </a:r>
                      <a:r>
                        <a:rPr lang="en-US" altLang="zh-TW" dirty="0" smtClean="0"/>
                        <a:t>Applications of Computer Vision (WACV), pp. </a:t>
                      </a:r>
                      <a:r>
                        <a:rPr lang="en-US" altLang="zh-TW" sz="1800" b="0" i="0" kern="1200" dirty="0" smtClean="0">
                          <a:solidFill>
                            <a:schemeClr val="tx1"/>
                          </a:solidFill>
                          <a:effectLst/>
                          <a:latin typeface="+mn-lt"/>
                          <a:ea typeface="+mn-ea"/>
                          <a:cs typeface="+mn-cs"/>
                        </a:rPr>
                        <a:t>39-43, 15-17 Jan. 2013</a:t>
                      </a:r>
                      <a:endParaRPr lang="zh-TW" altLang="en-US" dirty="0"/>
                    </a:p>
                  </a:txBody>
                  <a:tcPr marL="95251" marR="9525" marT="9523" marB="9523">
                    <a:lnL>
                      <a:noFill/>
                    </a:lnL>
                    <a:lnR>
                      <a:noFill/>
                    </a:lnR>
                    <a:lnT>
                      <a:noFill/>
                    </a:lnT>
                    <a:lnB>
                      <a:noFill/>
                    </a:lnB>
                    <a:solidFill>
                      <a:srgbClr val="FFFFFF"/>
                    </a:solidFill>
                  </a:tcPr>
                </a:tc>
              </a:tr>
              <a:tr h="653245">
                <a:tc>
                  <a:txBody>
                    <a:bodyPr/>
                    <a:lstStyle/>
                    <a:p>
                      <a:endParaRPr lang="zh-TW" altLang="en-US" dirty="0"/>
                    </a:p>
                  </a:txBody>
                  <a:tcPr marL="95251"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4656143" y="5229229"/>
            <a:ext cx="3248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lang="en-US" altLang="zh-TW" sz="1800" dirty="0"/>
              <a:t>Presenter: Tsai-Ming Sun</a:t>
            </a:r>
          </a:p>
          <a:p>
            <a:pPr eaLnBrk="1" hangingPunct="1">
              <a:spcBef>
                <a:spcPct val="0"/>
              </a:spcBef>
              <a:buFontTx/>
              <a:buNone/>
            </a:pPr>
            <a:r>
              <a:rPr lang="en-US" altLang="zh-TW" sz="1800" dirty="0"/>
              <a:t>Date:</a:t>
            </a:r>
            <a:fld id="{F3590F60-3E7B-48AD-979A-345F224951B5}" type="datetime1">
              <a:rPr lang="zh-TW" altLang="en-US" sz="1800"/>
              <a:pPr eaLnBrk="1" hangingPunct="1">
                <a:spcBef>
                  <a:spcPct val="0"/>
                </a:spcBef>
                <a:buFontTx/>
                <a:buNone/>
              </a:pPr>
              <a:t>2015/7/21</a:t>
            </a:fld>
            <a:endParaRPr lang="zh-TW" altLang="en-US" sz="1800" dirty="0"/>
          </a:p>
        </p:txBody>
      </p:sp>
    </p:spTree>
    <p:extLst>
      <p:ext uri="{BB962C8B-B14F-4D97-AF65-F5344CB8AC3E}">
        <p14:creationId xmlns:p14="http://schemas.microsoft.com/office/powerpoint/2010/main" val="24556609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r>
              <a:rPr lang="en-US" altLang="zh-TW" dirty="0" smtClean="0"/>
              <a:t>(1/2)</a:t>
            </a:r>
            <a:endParaRPr lang="zh-TW" altLang="en-US" dirty="0"/>
          </a:p>
        </p:txBody>
      </p:sp>
      <p:sp>
        <p:nvSpPr>
          <p:cNvPr id="3" name="內容版面配置區 2"/>
          <p:cNvSpPr>
            <a:spLocks noGrp="1"/>
          </p:cNvSpPr>
          <p:nvPr>
            <p:ph idx="1"/>
          </p:nvPr>
        </p:nvSpPr>
        <p:spPr>
          <a:xfrm>
            <a:off x="838200" y="1619794"/>
            <a:ext cx="10515600" cy="4557169"/>
          </a:xfrm>
        </p:spPr>
        <p:txBody>
          <a:bodyPr>
            <a:normAutofit/>
          </a:bodyPr>
          <a:lstStyle/>
          <a:p>
            <a:pPr marL="0" indent="0">
              <a:buNone/>
            </a:pPr>
            <a:r>
              <a:rPr lang="en-US" altLang="zh-TW" dirty="0"/>
              <a:t> </a:t>
            </a:r>
            <a:r>
              <a:rPr lang="en-US" altLang="zh-TW" dirty="0" smtClean="0"/>
              <a:t>   We </a:t>
            </a:r>
            <a:r>
              <a:rPr lang="en-US" altLang="zh-TW" dirty="0"/>
              <a:t>propose a segmentation algorithm for the purposes of large-scale flower species recognition. Our approach is based on identifying potential object regions at the time of detection. We then apply a Laplacian-based segmentation, which is guided by these initially detected regions. More specifically, we show that 1) recognizing parts of the potential object helps the segmentation and makes it more robust to variabilities in both the background and the object appearances, 2) segmenting the object of interest at test time is beneficial for the subsequent recognition</a:t>
            </a:r>
            <a:r>
              <a:rPr lang="en-US" altLang="zh-TW" dirty="0" smtClean="0"/>
              <a:t>.</a:t>
            </a:r>
          </a:p>
          <a:p>
            <a:pPr marL="0" indent="0">
              <a:buNone/>
            </a:pPr>
            <a:r>
              <a:rPr lang="en-US" altLang="zh-TW" dirty="0"/>
              <a:t> </a:t>
            </a:r>
            <a:r>
              <a:rPr lang="en-US" altLang="zh-TW" dirty="0"/>
              <a:t>   </a:t>
            </a:r>
            <a:endParaRPr lang="zh-TW" altLang="en-US" dirty="0"/>
          </a:p>
        </p:txBody>
      </p:sp>
    </p:spTree>
    <p:extLst>
      <p:ext uri="{BB962C8B-B14F-4D97-AF65-F5344CB8AC3E}">
        <p14:creationId xmlns:p14="http://schemas.microsoft.com/office/powerpoint/2010/main" val="1981908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r>
              <a:rPr lang="en-US" altLang="zh-TW" dirty="0"/>
              <a:t>)</a:t>
            </a:r>
            <a:endParaRPr lang="zh-TW" altLang="en-US" dirty="0"/>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smtClean="0"/>
              <a:t>    Here </a:t>
            </a:r>
            <a:r>
              <a:rPr lang="en-US" altLang="zh-TW" dirty="0"/>
              <a:t>we consider a large-scale dataset containing 578 flower species and 250,000 images. This dataset is developed by our team for the purposes of providing a flower recognition application for general use and is the largest in its scale and scope. We tested the proposed segmentation algorithm on the well-known 102 Oxford flowers benchmark [11]and on the new challenging large-scale 578 flower dataset, that we have collected. We observed about 4% improvements in the recognition performance on both datasets compared to the baseline. The algorithm also improves all other known results on the Oxford 102 flower benchmark dataset.</a:t>
            </a:r>
          </a:p>
          <a:p>
            <a:pPr marL="0" indent="0">
              <a:buNone/>
            </a:pPr>
            <a:r>
              <a:rPr lang="en-US" altLang="zh-TW" dirty="0"/>
              <a:t>     Furthermore, our method is both simpler and faster than other related approaches, e.g. [3, 14], and can be potentially applicable to other subcategory recognition datasets.</a:t>
            </a:r>
            <a:endParaRPr lang="zh-TW" altLang="en-US" dirty="0"/>
          </a:p>
          <a:p>
            <a:endParaRPr lang="zh-TW" altLang="en-US" dirty="0"/>
          </a:p>
        </p:txBody>
      </p:sp>
    </p:spTree>
    <p:extLst>
      <p:ext uri="{BB962C8B-B14F-4D97-AF65-F5344CB8AC3E}">
        <p14:creationId xmlns:p14="http://schemas.microsoft.com/office/powerpoint/2010/main" val="2384130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challenges</a:t>
            </a:r>
            <a:endParaRPr lang="zh-TW" altLang="en-US" dirty="0"/>
          </a:p>
        </p:txBody>
      </p:sp>
      <p:sp>
        <p:nvSpPr>
          <p:cNvPr id="3" name="內容版面配置區 2"/>
          <p:cNvSpPr>
            <a:spLocks noGrp="1"/>
          </p:cNvSpPr>
          <p:nvPr>
            <p:ph idx="1"/>
          </p:nvPr>
        </p:nvSpPr>
        <p:spPr/>
        <p:txBody>
          <a:bodyPr/>
          <a:lstStyle/>
          <a:p>
            <a:r>
              <a:rPr lang="en-US" altLang="zh-TW" dirty="0"/>
              <a:t>S</a:t>
            </a:r>
            <a:r>
              <a:rPr lang="en-US" altLang="zh-TW" dirty="0" smtClean="0"/>
              <a:t>cale variations</a:t>
            </a:r>
          </a:p>
          <a:p>
            <a:r>
              <a:rPr lang="en-US" altLang="zh-TW" dirty="0"/>
              <a:t>I</a:t>
            </a:r>
            <a:r>
              <a:rPr lang="en-US" altLang="zh-TW" dirty="0" smtClean="0"/>
              <a:t>ntra-class variabilities</a:t>
            </a:r>
          </a:p>
          <a:p>
            <a:r>
              <a:rPr lang="en-US" altLang="zh-TW" dirty="0"/>
              <a:t>I</a:t>
            </a:r>
            <a:r>
              <a:rPr lang="en-US" altLang="zh-TW" dirty="0" smtClean="0"/>
              <a:t>nter-class similarities</a:t>
            </a:r>
          </a:p>
          <a:p>
            <a:r>
              <a:rPr lang="en-US" altLang="zh-TW" dirty="0"/>
              <a:t>I</a:t>
            </a:r>
            <a:r>
              <a:rPr lang="en-US" altLang="zh-TW" dirty="0" smtClean="0"/>
              <a:t>mage </a:t>
            </a:r>
            <a:r>
              <a:rPr lang="en-US" altLang="zh-TW" dirty="0"/>
              <a:t>blur</a:t>
            </a:r>
            <a:endParaRPr lang="zh-TW" altLang="en-US" dirty="0"/>
          </a:p>
        </p:txBody>
      </p:sp>
    </p:spTree>
    <p:extLst>
      <p:ext uri="{BB962C8B-B14F-4D97-AF65-F5344CB8AC3E}">
        <p14:creationId xmlns:p14="http://schemas.microsoft.com/office/powerpoint/2010/main" val="4085246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77240" y="331516"/>
            <a:ext cx="10515600" cy="1325563"/>
          </a:xfrm>
        </p:spPr>
        <p:txBody>
          <a:bodyPr/>
          <a:lstStyle/>
          <a:p>
            <a:r>
              <a:rPr lang="en-US" altLang="zh-TW" dirty="0"/>
              <a:t>Detecting </a:t>
            </a:r>
            <a:r>
              <a:rPr lang="en-US" altLang="zh-TW" dirty="0" smtClean="0"/>
              <a:t>object-specific</a:t>
            </a:r>
            <a:r>
              <a:rPr lang="zh-TW" altLang="en-US" dirty="0" smtClean="0"/>
              <a:t> </a:t>
            </a:r>
            <a:r>
              <a:rPr lang="en-US" altLang="zh-TW" dirty="0" smtClean="0"/>
              <a:t>regions</a:t>
            </a:r>
            <a:endParaRPr lang="zh-TW" altLang="en-US" dirty="0"/>
          </a:p>
        </p:txBody>
      </p:sp>
      <p:sp>
        <p:nvSpPr>
          <p:cNvPr id="3" name="內容版面配置區 2"/>
          <p:cNvSpPr>
            <a:spLocks noGrp="1"/>
          </p:cNvSpPr>
          <p:nvPr>
            <p:ph idx="1"/>
          </p:nvPr>
        </p:nvSpPr>
        <p:spPr>
          <a:xfrm>
            <a:off x="777240" y="1803899"/>
            <a:ext cx="10515600" cy="4351338"/>
          </a:xfrm>
        </p:spPr>
        <p:txBody>
          <a:bodyPr/>
          <a:lstStyle/>
          <a:p>
            <a:r>
              <a:rPr lang="en-US" altLang="zh-TW" dirty="0"/>
              <a:t>super-pixel </a:t>
            </a:r>
            <a:r>
              <a:rPr lang="en-US" altLang="zh-TW" dirty="0" smtClean="0"/>
              <a:t>segmentation</a:t>
            </a:r>
          </a:p>
          <a:p>
            <a:pPr lvl="1"/>
            <a:r>
              <a:rPr lang="en-US" altLang="zh-TW" dirty="0" smtClean="0"/>
              <a:t>R,G,B</a:t>
            </a:r>
          </a:p>
          <a:p>
            <a:pPr lvl="1"/>
            <a:r>
              <a:rPr lang="en-US" altLang="zh-TW" dirty="0"/>
              <a:t>texture</a:t>
            </a:r>
            <a:endParaRPr lang="en-US" altLang="zh-TW" dirty="0" smtClean="0"/>
          </a:p>
          <a:p>
            <a:pPr lvl="1"/>
            <a:r>
              <a:rPr lang="en-US" altLang="zh-TW" dirty="0" smtClean="0"/>
              <a:t>HOG(Histogram of Oriented Gradients)</a:t>
            </a:r>
          </a:p>
          <a:p>
            <a:pPr lvl="1"/>
            <a:endParaRPr lang="en-US" altLang="zh-TW" dirty="0" smtClean="0"/>
          </a:p>
        </p:txBody>
      </p:sp>
      <p:pic>
        <p:nvPicPr>
          <p:cNvPr id="1030" name="Picture 6" descr="http://www.jayrambhia.com/assets/images/superpixels-SLIC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2543" y="1803899"/>
            <a:ext cx="3905793" cy="3905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51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courses.cs.washington.edu/courses/cse576/08sp/projects/project1/artifacts/ankit/artifact/images/sift.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3837" y="2966425"/>
            <a:ext cx="5816600" cy="2540000"/>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lstStyle/>
          <a:p>
            <a:r>
              <a:rPr lang="en-US" altLang="zh-TW" dirty="0" smtClean="0"/>
              <a:t>HOG</a:t>
            </a:r>
            <a:endParaRPr lang="zh-TW" altLang="en-US" dirty="0"/>
          </a:p>
        </p:txBody>
      </p:sp>
      <p:sp>
        <p:nvSpPr>
          <p:cNvPr id="5" name="內容版面配置區 2"/>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t>HOG(Histogram of Oriented Gradients</a:t>
            </a:r>
            <a:endParaRPr lang="zh-TW" altLang="en-US" dirty="0"/>
          </a:p>
        </p:txBody>
      </p:sp>
    </p:spTree>
    <p:extLst>
      <p:ext uri="{BB962C8B-B14F-4D97-AF65-F5344CB8AC3E}">
        <p14:creationId xmlns:p14="http://schemas.microsoft.com/office/powerpoint/2010/main" val="2079875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LLC</a:t>
            </a:r>
            <a:endParaRPr lang="zh-TW" altLang="en-US" dirty="0"/>
          </a:p>
        </p:txBody>
      </p:sp>
      <p:sp>
        <p:nvSpPr>
          <p:cNvPr id="3" name="內容版面配置區 2"/>
          <p:cNvSpPr>
            <a:spLocks noGrp="1"/>
          </p:cNvSpPr>
          <p:nvPr>
            <p:ph idx="1"/>
          </p:nvPr>
        </p:nvSpPr>
        <p:spPr/>
        <p:txBody>
          <a:bodyPr/>
          <a:lstStyle/>
          <a:p>
            <a:r>
              <a:rPr lang="en-US" altLang="zh-TW" dirty="0"/>
              <a:t>Locality-constrained Linear Coding</a:t>
            </a:r>
            <a:endParaRPr lang="zh-TW" altLang="en-US" dirty="0"/>
          </a:p>
        </p:txBody>
      </p:sp>
      <p:pic>
        <p:nvPicPr>
          <p:cNvPr id="3074" name="Picture 2" descr="https://encrypted-tbn3.gstatic.com/images?q=tbn:ANd9GcSohDzzAfw2hk8sJERefXh_4ZsrSDKbmSmncehW3hBmLjr6RWtt3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783478"/>
            <a:ext cx="3603629" cy="311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104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Laplacian-based segmentation</a:t>
            </a:r>
            <a:endParaRPr lang="zh-TW" altLang="en-US" dirty="0"/>
          </a:p>
        </p:txBody>
      </p:sp>
      <p:pic>
        <p:nvPicPr>
          <p:cNvPr id="4098" name="Picture 2" descr="http://homepages.inf.ed.ac.uk/rbf/CVDICT/CVFIG3/img5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0928" y="2569959"/>
            <a:ext cx="7324725" cy="301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555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Segmentation</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838200" y="1690687"/>
            <a:ext cx="6468291" cy="4840741"/>
          </a:xfrm>
          <a:prstGeom prst="rect">
            <a:avLst/>
          </a:prstGeom>
        </p:spPr>
      </p:pic>
    </p:spTree>
    <p:extLst>
      <p:ext uri="{BB962C8B-B14F-4D97-AF65-F5344CB8AC3E}">
        <p14:creationId xmlns:p14="http://schemas.microsoft.com/office/powerpoint/2010/main" val="258218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838200" y="1690688"/>
            <a:ext cx="4572000" cy="4305300"/>
          </a:xfrm>
          <a:prstGeom prst="rect">
            <a:avLst/>
          </a:prstGeom>
        </p:spPr>
      </p:pic>
    </p:spTree>
    <p:extLst>
      <p:ext uri="{BB962C8B-B14F-4D97-AF65-F5344CB8AC3E}">
        <p14:creationId xmlns:p14="http://schemas.microsoft.com/office/powerpoint/2010/main" val="144762113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315</Words>
  <Application>Microsoft Office PowerPoint</Application>
  <PresentationFormat>寬螢幕</PresentationFormat>
  <Paragraphs>28</Paragraphs>
  <Slides>10</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新細明體</vt:lpstr>
      <vt:lpstr>Arial</vt:lpstr>
      <vt:lpstr>Calibri</vt:lpstr>
      <vt:lpstr>Calibri Light</vt:lpstr>
      <vt:lpstr>Office 佈景主題</vt:lpstr>
      <vt:lpstr>PowerPoint 簡報</vt:lpstr>
      <vt:lpstr>Abstract(1/2)</vt:lpstr>
      <vt:lpstr>Abstract(2/2)</vt:lpstr>
      <vt:lpstr>challenges</vt:lpstr>
      <vt:lpstr>Detecting object-specific regions</vt:lpstr>
      <vt:lpstr>HOG</vt:lpstr>
      <vt:lpstr>LLC</vt:lpstr>
      <vt:lpstr>Laplacian-based segmentation</vt:lpstr>
      <vt:lpstr>Segmentation</vt:lpstr>
      <vt:lpstr>Experiments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Sun</dc:creator>
  <cp:lastModifiedBy>Sun</cp:lastModifiedBy>
  <cp:revision>21</cp:revision>
  <dcterms:created xsi:type="dcterms:W3CDTF">2015-05-12T06:52:37Z</dcterms:created>
  <dcterms:modified xsi:type="dcterms:W3CDTF">2015-07-21T10:01:50Z</dcterms:modified>
</cp:coreProperties>
</file>