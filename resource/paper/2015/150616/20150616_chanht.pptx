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8" r:id="rId14"/>
    <p:sldId id="270" r:id="rId15"/>
    <p:sldId id="267" r:id="rId16"/>
    <p:sldId id="273" r:id="rId17"/>
    <p:sldId id="272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41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458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42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37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302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68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62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31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68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20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58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5F7A0-3410-476A-BA62-E4441D196F63}" type="datetimeFigureOut">
              <a:rPr lang="zh-TW" altLang="en-US" smtClean="0"/>
              <a:t>2015/6/16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904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608013" y="1571629"/>
            <a:ext cx="7772400" cy="147002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b="1" dirty="0" smtClean="0"/>
              <a:t>Efficient String Matching in The Presence of Errors</a:t>
            </a:r>
            <a:endParaRPr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29"/>
            <a:ext cx="6400800" cy="4794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3100" dirty="0"/>
              <a:t>Landau, G.M</a:t>
            </a:r>
            <a:r>
              <a:rPr lang="en-US" altLang="zh-TW" sz="3100" dirty="0" smtClean="0"/>
              <a:t>., </a:t>
            </a:r>
            <a:r>
              <a:rPr lang="en-US" altLang="zh-TW" sz="3100" dirty="0" err="1" smtClean="0"/>
              <a:t>Vishkin</a:t>
            </a:r>
            <a:r>
              <a:rPr lang="en-US" altLang="zh-TW" sz="3100" dirty="0"/>
              <a:t>, U.</a:t>
            </a:r>
            <a:endParaRPr lang="en-US" altLang="zh-TW" sz="31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970186"/>
              </p:ext>
            </p:extLst>
          </p:nvPr>
        </p:nvGraphicFramePr>
        <p:xfrm>
          <a:off x="2843215" y="3581401"/>
          <a:ext cx="3816351" cy="154097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Foundations of Computer Science, 26th Annual Symposium on</a:t>
                      </a:r>
                      <a:endParaRPr lang="en-US" sz="19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1985, </a:t>
                      </a:r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Pages </a:t>
                      </a:r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126-136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42" y="522922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2015/6/16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1400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Consider the string matching problem where differences between characters of the pattern and characters of the text are allowed.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Each </a:t>
                </a:r>
                <a:r>
                  <a:rPr lang="en-US" altLang="zh-TW" dirty="0"/>
                  <a:t>difference is due to either a mismatch between a character of the text and a character of the pattern or a superfluous character in the text or a superfluous character in the pattern.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Given </a:t>
                </a:r>
                <a:r>
                  <a:rPr lang="en-US" altLang="zh-TW" dirty="0"/>
                  <a:t>a text of length n, a pattern of length m and an integer k, we </a:t>
                </a:r>
                <a:r>
                  <a:rPr lang="en-US" altLang="zh-TW" dirty="0" smtClean="0"/>
                  <a:t>present </a:t>
                </a:r>
                <a:r>
                  <a:rPr lang="en-US" altLang="zh-TW" dirty="0"/>
                  <a:t>an algorithm for finding all occurrences of the pattern in the text, each with at most k mismatches (superfluous characters in either the text or the pattern are not allowed). This algorithm runs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𝑙𝑜𝑔𝑚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altLang="zh-TW" dirty="0" smtClean="0"/>
                  <a:t>time.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3501" r="-4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78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42925" y="1825625"/>
                <a:ext cx="6789692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Text:		</a:t>
                </a:r>
                <a:r>
                  <a:rPr lang="en-US" altLang="zh-TW" dirty="0" err="1" smtClean="0"/>
                  <a:t>bcdefghi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Pattern:	</a:t>
                </a:r>
                <a:r>
                  <a:rPr lang="en-US" altLang="zh-TW" dirty="0" err="1" smtClean="0"/>
                  <a:t>bxdyegh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		</a:t>
                </a:r>
                <a:r>
                  <a:rPr lang="en-US" altLang="zh-TW" dirty="0" err="1" smtClean="0">
                    <a:ea typeface="+mj-ea"/>
                  </a:rPr>
                  <a:t>bcd</a:t>
                </a:r>
                <a:r>
                  <a:rPr lang="en-US" altLang="zh-TW" dirty="0" smtClean="0">
                    <a:ea typeface="+mj-ea"/>
                  </a:rPr>
                  <a:t>  </a:t>
                </a:r>
                <a:r>
                  <a:rPr lang="en-US" altLang="zh-TW" dirty="0" err="1" smtClean="0">
                    <a:ea typeface="+mj-ea"/>
                  </a:rPr>
                  <a:t>efghi</a:t>
                </a: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	</a:t>
                </a:r>
                <a:r>
                  <a:rPr lang="en-US" altLang="zh-TW" dirty="0" smtClean="0">
                    <a:ea typeface="+mj-ea"/>
                  </a:rPr>
                  <a:t>	</a:t>
                </a:r>
                <a:r>
                  <a:rPr lang="en-US" altLang="zh-TW" dirty="0" err="1" smtClean="0">
                    <a:ea typeface="+mj-ea"/>
                  </a:rPr>
                  <a:t>bxdye</a:t>
                </a:r>
                <a:r>
                  <a:rPr lang="en-US" altLang="zh-TW" dirty="0" smtClean="0">
                    <a:ea typeface="+mj-ea"/>
                  </a:rPr>
                  <a:t> </a:t>
                </a:r>
                <a:r>
                  <a:rPr lang="en-US" altLang="zh-TW" dirty="0" err="1" smtClean="0">
                    <a:ea typeface="+mj-ea"/>
                  </a:rPr>
                  <a:t>gh</a:t>
                </a: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c</a:t>
                </a:r>
                <a:r>
                  <a:rPr lang="en-US" altLang="zh-TW" dirty="0" smtClean="0">
                    <a:ea typeface="+mj-ea"/>
                  </a:rPr>
                  <a:t> match to x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y</a:t>
                </a:r>
                <a:r>
                  <a:rPr lang="en-US" altLang="zh-TW" dirty="0" smtClean="0">
                    <a:ea typeface="+mj-ea"/>
                  </a:rPr>
                  <a:t>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 smtClean="0">
                    <a:ea typeface="+mj-ea"/>
                  </a:rPr>
                  <a:t>  (Pattern deletion)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f</a:t>
                </a:r>
                <a:r>
                  <a:rPr lang="en-US" altLang="zh-TW" dirty="0" smtClean="0">
                    <a:ea typeface="+mj-ea"/>
                  </a:rPr>
                  <a:t>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 smtClean="0"/>
                  <a:t>   (Text deletion)</a:t>
                </a: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925" y="1825625"/>
                <a:ext cx="6789692" cy="5032375"/>
              </a:xfrm>
              <a:blipFill rotWithShape="0">
                <a:blip r:embed="rId2"/>
                <a:stretch>
                  <a:fillRect l="-1795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75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75144" y="1503566"/>
            <a:ext cx="513711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String matching with k mismatch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	Find all occurrences of the</a:t>
            </a:r>
            <a:r>
              <a:rPr lang="en-US" altLang="zh-TW" sz="2800" dirty="0"/>
              <a:t> </a:t>
            </a:r>
            <a:endParaRPr lang="en-US" altLang="zh-TW" sz="2800" dirty="0" smtClean="0"/>
          </a:p>
          <a:p>
            <a:r>
              <a:rPr lang="en-US" altLang="zh-TW" sz="2800" dirty="0"/>
              <a:t>p</a:t>
            </a:r>
            <a:r>
              <a:rPr lang="en-US" altLang="zh-TW" sz="2800" dirty="0" smtClean="0"/>
              <a:t>attern in the text with at most </a:t>
            </a:r>
          </a:p>
          <a:p>
            <a:r>
              <a:rPr lang="en-US" altLang="zh-TW" sz="2800" dirty="0" smtClean="0"/>
              <a:t>k mismatch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 smtClean="0"/>
              <a:t>String matching with k differences</a:t>
            </a:r>
          </a:p>
          <a:p>
            <a:endParaRPr lang="en-US" altLang="zh-TW" sz="2800" dirty="0"/>
          </a:p>
          <a:p>
            <a:r>
              <a:rPr lang="en-US" altLang="zh-TW" sz="2800" dirty="0" smtClean="0"/>
              <a:t>	Find all occurrences of the </a:t>
            </a:r>
          </a:p>
          <a:p>
            <a:r>
              <a:rPr lang="en-US" altLang="zh-TW" sz="2800" dirty="0"/>
              <a:t>p</a:t>
            </a:r>
            <a:r>
              <a:rPr lang="en-US" altLang="zh-TW" sz="2800" dirty="0" smtClean="0"/>
              <a:t>attern in the text with at most</a:t>
            </a:r>
          </a:p>
          <a:p>
            <a:r>
              <a:rPr lang="en-US" altLang="zh-TW" sz="2800" dirty="0"/>
              <a:t>k</a:t>
            </a:r>
            <a:r>
              <a:rPr lang="en-US" altLang="zh-TW" sz="2800" dirty="0" smtClean="0"/>
              <a:t> differences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668736" y="1336286"/>
                <a:ext cx="3747407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c</a:t>
                </a:r>
                <a:r>
                  <a:rPr lang="en-US" altLang="zh-TW" dirty="0" smtClean="0">
                    <a:ea typeface="+mj-ea"/>
                  </a:rPr>
                  <a:t> match to x</a:t>
                </a: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c match to x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y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f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>
                  <a:ea typeface="+mj-ea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68736" y="1336286"/>
                <a:ext cx="3747407" cy="5032375"/>
              </a:xfrm>
              <a:blipFill rotWithShape="0">
                <a:blip r:embed="rId2"/>
                <a:stretch>
                  <a:fillRect l="-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5570375" y="6243325"/>
                <a:ext cx="32805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Running time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𝑚𝑛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375" y="6243325"/>
                <a:ext cx="3280578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3903" t="-10465" b="-325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19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Two parts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 analysis: </a:t>
            </a:r>
          </a:p>
          <a:p>
            <a:pPr marL="0" indent="0">
              <a:buNone/>
            </a:pPr>
            <a:r>
              <a:rPr lang="en-US" altLang="zh-TW" dirty="0"/>
              <a:t>B</a:t>
            </a:r>
            <a:r>
              <a:rPr lang="en-US" altLang="zh-TW" dirty="0" smtClean="0"/>
              <a:t>uild a table which is based on analysis of the pattern.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Text analysis: </a:t>
            </a:r>
          </a:p>
          <a:p>
            <a:pPr marL="0" indent="0">
              <a:buNone/>
            </a:pPr>
            <a:r>
              <a:rPr lang="en-US" altLang="zh-TW" dirty="0"/>
              <a:t>S</a:t>
            </a:r>
            <a:r>
              <a:rPr lang="en-US" altLang="zh-TW" dirty="0" smtClean="0"/>
              <a:t>how how to find efficiently all the occurrences of the pattern in the text with at most k mismatches.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026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Text Analysis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Input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Pattern: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/>
                  <a:t>  length=m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Text: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 length = n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Pattern analysis: 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 2D array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−1;1,…,2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Output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 2D array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;1,…,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  <a:blipFill rotWithShape="0">
                <a:blip r:embed="rId2"/>
                <a:stretch>
                  <a:fillRect l="-1546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77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analysis: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the mismatch number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Text analysis: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the mismatch number is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018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= </a:t>
                </a:r>
                <a:r>
                  <a:rPr lang="en-US" altLang="zh-TW" dirty="0" err="1" smtClean="0"/>
                  <a:t>abaacaa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</a:t>
                </a:r>
                <a:r>
                  <a:rPr lang="en-US" altLang="zh-TW" sz="3600" dirty="0" err="1" smtClean="0">
                    <a:latin typeface="+mj-ea"/>
                    <a:ea typeface="+mj-ea"/>
                    <a:cs typeface="Times New Roman" panose="02020603050405020304" pitchFamily="18" charset="0"/>
                  </a:rPr>
                  <a:t>abaacaa</a:t>
                </a:r>
                <a:endParaRPr lang="en-US" altLang="zh-TW" sz="3600" dirty="0" smtClean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	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		    | | |</a:t>
                </a: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| |</a:t>
                </a:r>
                <a:endParaRPr lang="en-US" altLang="zh-TW" sz="36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	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		    </a:t>
                </a:r>
                <a:r>
                  <a:rPr lang="en-US" altLang="zh-TW" sz="3600" dirty="0" err="1" smtClean="0">
                    <a:latin typeface="+mj-ea"/>
                    <a:ea typeface="+mj-ea"/>
                    <a:cs typeface="Times New Roman" panose="02020603050405020304" pitchFamily="18" charset="0"/>
                  </a:rPr>
                  <a:t>abaacaa</a:t>
                </a:r>
                <a:endParaRPr lang="en-US" altLang="zh-TW" sz="36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41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822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= </a:t>
                </a:r>
                <a:r>
                  <a:rPr lang="en-US" altLang="zh-TW" dirty="0" err="1" smtClean="0"/>
                  <a:t>abaacaa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Text = </a:t>
                </a:r>
                <a:r>
                  <a:rPr lang="en-US" altLang="zh-TW" dirty="0" err="1" smtClean="0"/>
                  <a:t>aaaabaccaaccaaa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</a:t>
                </a:r>
                <a:r>
                  <a:rPr lang="en-US" altLang="zh-TW" sz="3500" dirty="0" err="1" smtClean="0">
                    <a:latin typeface="+mj-ea"/>
                    <a:ea typeface="+mj-ea"/>
                  </a:rPr>
                  <a:t>aaaabaccaaccaaa</a:t>
                </a:r>
                <a:endParaRPr lang="en-US" altLang="zh-TW" sz="3500" dirty="0">
                  <a:latin typeface="+mj-ea"/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sz="3500" dirty="0" smtClean="0">
                    <a:latin typeface="+mn-ea"/>
                  </a:rPr>
                  <a:t>			    | | | | | | |</a:t>
                </a:r>
              </a:p>
              <a:p>
                <a:pPr marL="0" indent="0">
                  <a:buNone/>
                </a:pPr>
                <a:r>
                  <a:rPr lang="en-US" altLang="zh-TW" sz="3500" dirty="0" smtClean="0">
                    <a:latin typeface="+mn-ea"/>
                  </a:rPr>
                  <a:t>  </a:t>
                </a:r>
                <a:r>
                  <a:rPr lang="en-US" altLang="zh-TW" sz="3500" dirty="0">
                    <a:latin typeface="+mn-ea"/>
                  </a:rPr>
                  <a:t>	</a:t>
                </a:r>
                <a:r>
                  <a:rPr lang="en-US" altLang="zh-TW" sz="3500" dirty="0" smtClean="0">
                    <a:latin typeface="+mn-ea"/>
                  </a:rPr>
                  <a:t>		    </a:t>
                </a:r>
                <a:r>
                  <a:rPr lang="en-US" altLang="zh-TW" sz="3500" dirty="0" err="1" smtClean="0">
                    <a:latin typeface="+mn-ea"/>
                  </a:rPr>
                  <a:t>abaacaa</a:t>
                </a:r>
                <a:endParaRPr lang="en-US" altLang="zh-TW" sz="35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82267"/>
              </a:xfrm>
              <a:blipFill rotWithShape="0">
                <a:blip r:embed="rId2"/>
                <a:stretch>
                  <a:fillRect l="-1546" t="-2081" b="-2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47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Text analysis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617" y="1873615"/>
            <a:ext cx="6210300" cy="4057650"/>
          </a:xfrm>
        </p:spPr>
      </p:pic>
    </p:spTree>
    <p:extLst>
      <p:ext uri="{BB962C8B-B14F-4D97-AF65-F5344CB8AC3E}">
        <p14:creationId xmlns:p14="http://schemas.microsoft.com/office/powerpoint/2010/main" val="363045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2" r="23130"/>
          <a:stretch/>
        </p:blipFill>
        <p:spPr>
          <a:xfrm>
            <a:off x="1062683" y="1372544"/>
            <a:ext cx="6837404" cy="5264738"/>
          </a:xfrm>
        </p:spPr>
      </p:pic>
    </p:spTree>
    <p:extLst>
      <p:ext uri="{BB962C8B-B14F-4D97-AF65-F5344CB8AC3E}">
        <p14:creationId xmlns:p14="http://schemas.microsoft.com/office/powerpoint/2010/main" val="412341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Suppose </a:t>
                </a:r>
                <a:r>
                  <a:rPr lang="en-US" altLang="zh-TW" dirty="0"/>
                  <a:t>that </a:t>
                </a:r>
                <a:r>
                  <a:rPr lang="en-US" altLang="zh-TW" i="1" dirty="0"/>
                  <a:t>r </a:t>
                </a:r>
                <a:r>
                  <a:rPr lang="en-US" altLang="zh-TW" dirty="0"/>
                  <a:t>is </a:t>
                </a:r>
                <a:r>
                  <a:rPr lang="en-US" altLang="zh-TW" dirty="0" smtClean="0"/>
                  <a:t>an iteration </a:t>
                </a:r>
                <a:r>
                  <a:rPr lang="en-US" altLang="zh-TW" dirty="0"/>
                  <a:t>prior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 ( 0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altLang="zh-TW" dirty="0"/>
                  <a:t> that </a:t>
                </a:r>
                <a:r>
                  <a:rPr lang="en-US" altLang="zh-TW" dirty="0" smtClean="0"/>
                  <a:t>maximizes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Namely, </a:t>
                </a:r>
                <a:r>
                  <a:rPr lang="en-US" altLang="zh-TW" i="1" dirty="0"/>
                  <a:t>j </a:t>
                </a:r>
                <a:r>
                  <a:rPr lang="en-US" altLang="zh-TW" dirty="0" smtClean="0"/>
                  <a:t>is the </a:t>
                </a:r>
                <a:r>
                  <a:rPr lang="en-US" altLang="zh-TW" dirty="0"/>
                  <a:t>rightmost index of the text to which </a:t>
                </a:r>
                <a:r>
                  <a:rPr lang="en-US" altLang="zh-TW" dirty="0" smtClean="0"/>
                  <a:t>we arrived </a:t>
                </a:r>
                <a:r>
                  <a:rPr lang="en-US" altLang="zh-TW" dirty="0"/>
                  <a:t>at previous iterations of the loop</a:t>
                </a:r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Each iteration </a:t>
                </a:r>
                <a:r>
                  <a:rPr lang="en-US" altLang="zh-TW" dirty="0"/>
                  <a:t>consists of calling procedure MERGE,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(if 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 &lt; </a:t>
                </a:r>
                <a:r>
                  <a:rPr lang="en-US" altLang="zh-TW" i="1" dirty="0"/>
                  <a:t>j), </a:t>
                </a:r>
                <a:r>
                  <a:rPr lang="en-US" altLang="zh-TW" dirty="0"/>
                  <a:t>and possibly procedure </a:t>
                </a:r>
                <a:r>
                  <a:rPr lang="en-US" altLang="zh-TW" dirty="0" smtClean="0"/>
                  <a:t>EXTEND.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73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2" b="39339"/>
          <a:stretch/>
        </p:blipFill>
        <p:spPr>
          <a:xfrm>
            <a:off x="62779" y="939114"/>
            <a:ext cx="4116928" cy="425896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10" b="37057"/>
          <a:stretch/>
        </p:blipFill>
        <p:spPr>
          <a:xfrm>
            <a:off x="4251253" y="1812325"/>
            <a:ext cx="4755829" cy="267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4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1" b="39940"/>
          <a:stretch/>
        </p:blipFill>
        <p:spPr>
          <a:xfrm>
            <a:off x="103967" y="793205"/>
            <a:ext cx="4310186" cy="441310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" b="38739"/>
          <a:stretch/>
        </p:blipFill>
        <p:spPr>
          <a:xfrm>
            <a:off x="4596714" y="793205"/>
            <a:ext cx="4122044" cy="441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8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87" y="1982616"/>
            <a:ext cx="8228395" cy="4652962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0" y="82379"/>
                <a:ext cx="8826455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sz="2800" i="1" dirty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altLang="zh-TW" sz="2800" b="0" i="1" dirty="0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800" i="1" dirty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altLang="zh-TW" sz="32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80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the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smallest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integer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satisfy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TM</m:t>
                      </m:r>
                      <m:r>
                        <m:rPr>
                          <m:nor/>
                        </m:rPr>
                        <a:rPr lang="en-US" altLang="zh-TW" sz="2800"/>
                        <m:t>[</m:t>
                      </m:r>
                      <m:r>
                        <m:rPr>
                          <m:nor/>
                        </m:rPr>
                        <a:rPr lang="en-US" altLang="zh-TW" sz="2800"/>
                        <m:t>r</m:t>
                      </m:r>
                      <m:r>
                        <m:rPr>
                          <m:nor/>
                        </m:rPr>
                        <a:rPr lang="en-US" altLang="zh-TW" sz="2800"/>
                        <m:t>,</m:t>
                      </m:r>
                      <m:r>
                        <m:rPr>
                          <m:nor/>
                        </m:rPr>
                        <a:rPr lang="en-US" altLang="zh-TW" sz="2800"/>
                        <m:t>q</m:t>
                      </m:r>
                      <m:r>
                        <m:rPr>
                          <m:nor/>
                        </m:rPr>
                        <a:rPr lang="en-US" altLang="zh-TW" sz="2800"/>
                        <m:t>] </m:t>
                      </m:r>
                      <m:r>
                        <m:rPr>
                          <m:nor/>
                        </m:rPr>
                        <a:rPr lang="en-US" altLang="zh-TW" sz="2800"/>
                        <m:t>is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greater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than</m:t>
                      </m:r>
                      <m:r>
                        <m:rPr>
                          <m:nor/>
                        </m:rPr>
                        <a:rPr lang="en-US" altLang="zh-TW" sz="2800"/>
                        <m:t> </m:t>
                      </m:r>
                      <m:r>
                        <m:rPr>
                          <m:nor/>
                        </m:rPr>
                        <a:rPr lang="en-US" altLang="zh-TW" sz="2800"/>
                        <m:t>i</m:t>
                      </m:r>
                      <m:r>
                        <m:rPr>
                          <m:nor/>
                        </m:rPr>
                        <a:rPr lang="en-US" altLang="zh-TW" sz="2800"/>
                        <m:t> - </m:t>
                      </m:r>
                      <m:r>
                        <m:rPr>
                          <m:nor/>
                        </m:rPr>
                        <a:rPr lang="en-US" altLang="zh-TW" sz="2800"/>
                        <m:t>r</m:t>
                      </m:r>
                      <m:r>
                        <m:rPr>
                          <m:nor/>
                        </m:rPr>
                        <a:rPr lang="en-US" altLang="zh-TW" sz="2800"/>
                        <m:t>.</m:t>
                      </m:r>
                    </m:oMath>
                  </m:oMathPara>
                </a14:m>
                <a:endParaRPr lang="en-US" altLang="zh-TW" sz="2800" dirty="0" smtClean="0"/>
              </a:p>
              <a:p>
                <a:r>
                  <a:rPr lang="en-US" altLang="zh-TW" sz="2800" dirty="0" smtClean="0">
                    <a:latin typeface="Cambria Math" panose="02040503050406030204" pitchFamily="18" charset="0"/>
                  </a:rPr>
                  <a:t>PM[</a:t>
                </a:r>
                <a:r>
                  <a:rPr lang="en-US" altLang="zh-TW" sz="2800" dirty="0" err="1" smtClean="0">
                    <a:latin typeface="Cambria Math" panose="02040503050406030204" pitchFamily="18" charset="0"/>
                  </a:rPr>
                  <a:t>i-r,s</a:t>
                </a:r>
                <a:r>
                  <a:rPr lang="en-US" altLang="zh-TW" sz="2800" dirty="0">
                    <a:latin typeface="Cambria Math" panose="02040503050406030204" pitchFamily="18" charset="0"/>
                  </a:rPr>
                  <a:t>] is less than (j - </a:t>
                </a:r>
                <a:r>
                  <a:rPr lang="en-US" altLang="zh-TW" sz="2800" dirty="0" err="1">
                    <a:latin typeface="Cambria Math" panose="02040503050406030204" pitchFamily="18" charset="0"/>
                  </a:rPr>
                  <a:t>i</a:t>
                </a:r>
                <a:r>
                  <a:rPr lang="en-US" altLang="zh-TW" sz="2800" dirty="0">
                    <a:latin typeface="Cambria Math" panose="02040503050406030204" pitchFamily="18" charset="0"/>
                  </a:rPr>
                  <a:t> + 1)</a:t>
                </a:r>
                <a:endParaRPr lang="zh-TW" altLang="en-US" sz="28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2379"/>
                <a:ext cx="8826455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1381" b="-114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71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err="1" smtClean="0"/>
              <a:t>Partiton</a:t>
            </a:r>
            <a:r>
              <a:rPr lang="en-US" altLang="zh-TW" dirty="0" smtClean="0"/>
              <a:t> the set into </a:t>
            </a:r>
            <a:r>
              <a:rPr lang="en-US" altLang="zh-TW" dirty="0" err="1" smtClean="0"/>
              <a:t>logm</a:t>
            </a:r>
            <a:r>
              <a:rPr lang="en-US" altLang="zh-TW" dirty="0" smtClean="0"/>
              <a:t> sets as follows:</a:t>
            </a:r>
          </a:p>
          <a:p>
            <a:pPr marL="0" indent="0">
              <a:buNone/>
            </a:pPr>
            <a:r>
              <a:rPr lang="en-US" altLang="zh-TW" dirty="0" smtClean="0"/>
              <a:t>[1],[2,3],[4,5,6,7],…[m/2,…,m-1].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And then use Merge and Extend to compute.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172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	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Text-Analysis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Merge requires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Total Extend requires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Pattern-Analysis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𝑘𝑚𝑙𝑜𝑔𝑚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One set needs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Total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𝑚𝑙𝑜𝑔𝑚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05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333</Words>
  <Application>Microsoft Office PowerPoint</Application>
  <PresentationFormat>如螢幕大小 (4:3)</PresentationFormat>
  <Paragraphs>109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6" baseType="lpstr">
      <vt:lpstr>Arial Unicode MS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</vt:lpstr>
      <vt:lpstr>The problem</vt:lpstr>
      <vt:lpstr>The problem</vt:lpstr>
      <vt:lpstr>Algorithm</vt:lpstr>
      <vt:lpstr>Text Analysis</vt:lpstr>
      <vt:lpstr>PowerPoint 簡報</vt:lpstr>
      <vt:lpstr>Example</vt:lpstr>
      <vt:lpstr>Example</vt:lpstr>
      <vt:lpstr>Text analysis</vt:lpstr>
      <vt:lpstr>Example</vt:lpstr>
      <vt:lpstr>PowerPoint 簡報</vt:lpstr>
      <vt:lpstr>PowerPoint 簡報</vt:lpstr>
      <vt:lpstr>PowerPoint 簡報</vt:lpstr>
      <vt:lpstr>PowerPoint 簡報</vt:lpstr>
      <vt:lpstr>Pattern Analysis</vt:lpstr>
      <vt:lpstr>Time Complexity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HUGO</cp:lastModifiedBy>
  <cp:revision>12</cp:revision>
  <dcterms:created xsi:type="dcterms:W3CDTF">2015-06-16T04:48:49Z</dcterms:created>
  <dcterms:modified xsi:type="dcterms:W3CDTF">2015-06-16T08:26:10Z</dcterms:modified>
</cp:coreProperties>
</file>