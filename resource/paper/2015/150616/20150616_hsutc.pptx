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0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6" r:id="rId17"/>
    <p:sldId id="285" r:id="rId18"/>
    <p:sldId id="287" r:id="rId19"/>
    <p:sldId id="284" r:id="rId20"/>
    <p:sldId id="288" r:id="rId21"/>
    <p:sldId id="289" r:id="rId22"/>
    <p:sldId id="290" r:id="rId23"/>
    <p:sldId id="291" r:id="rId24"/>
    <p:sldId id="292" r:id="rId25"/>
    <p:sldId id="293" r:id="rId26"/>
    <p:sldId id="297" r:id="rId27"/>
    <p:sldId id="296" r:id="rId28"/>
    <p:sldId id="294" r:id="rId29"/>
    <p:sldId id="295" r:id="rId30"/>
    <p:sldId id="298" r:id="rId31"/>
    <p:sldId id="299" r:id="rId32"/>
    <p:sldId id="300" r:id="rId33"/>
    <p:sldId id="301" r:id="rId34"/>
    <p:sldId id="302" r:id="rId35"/>
    <p:sldId id="303" r:id="rId36"/>
  </p:sldIdLst>
  <p:sldSz cx="9144000" cy="6858000" type="screen4x3"/>
  <p:notesSz cx="6816725" cy="99441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89" d="100"/>
          <a:sy n="89" d="100"/>
        </p:scale>
        <p:origin x="10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A052-B481-4CE4-9D1A-905C89421653}" type="datetimeFigureOut">
              <a:rPr lang="zh-TW" altLang="en-US" smtClean="0"/>
              <a:t>2015/7/27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AC9A7-260B-483A-9E0C-021A1E5509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06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A052-B481-4CE4-9D1A-905C89421653}" type="datetimeFigureOut">
              <a:rPr lang="zh-TW" altLang="en-US" smtClean="0"/>
              <a:t>2015/7/27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AC9A7-260B-483A-9E0C-021A1E5509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58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A052-B481-4CE4-9D1A-905C89421653}" type="datetimeFigureOut">
              <a:rPr lang="zh-TW" altLang="en-US" smtClean="0"/>
              <a:t>2015/7/27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AC9A7-260B-483A-9E0C-021A1E5509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230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A052-B481-4CE4-9D1A-905C89421653}" type="datetimeFigureOut">
              <a:rPr lang="zh-TW" altLang="en-US" smtClean="0"/>
              <a:t>2015/7/27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AC9A7-260B-483A-9E0C-021A1E5509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9548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A052-B481-4CE4-9D1A-905C89421653}" type="datetimeFigureOut">
              <a:rPr lang="zh-TW" altLang="en-US" smtClean="0"/>
              <a:t>2015/7/27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AC9A7-260B-483A-9E0C-021A1E5509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979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A052-B481-4CE4-9D1A-905C89421653}" type="datetimeFigureOut">
              <a:rPr lang="zh-TW" altLang="en-US" smtClean="0"/>
              <a:t>2015/7/27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AC9A7-260B-483A-9E0C-021A1E5509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7211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A052-B481-4CE4-9D1A-905C89421653}" type="datetimeFigureOut">
              <a:rPr lang="zh-TW" altLang="en-US" smtClean="0"/>
              <a:t>2015/7/27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AC9A7-260B-483A-9E0C-021A1E5509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3404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A052-B481-4CE4-9D1A-905C89421653}" type="datetimeFigureOut">
              <a:rPr lang="zh-TW" altLang="en-US" smtClean="0"/>
              <a:t>2015/7/27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AC9A7-260B-483A-9E0C-021A1E5509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393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A052-B481-4CE4-9D1A-905C89421653}" type="datetimeFigureOut">
              <a:rPr lang="zh-TW" altLang="en-US" smtClean="0"/>
              <a:t>2015/7/27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AC9A7-260B-483A-9E0C-021A1E5509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1219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A052-B481-4CE4-9D1A-905C89421653}" type="datetimeFigureOut">
              <a:rPr lang="zh-TW" altLang="en-US" smtClean="0"/>
              <a:t>2015/7/27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AC9A7-260B-483A-9E0C-021A1E5509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233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A052-B481-4CE4-9D1A-905C89421653}" type="datetimeFigureOut">
              <a:rPr lang="zh-TW" altLang="en-US" smtClean="0"/>
              <a:t>2015/7/27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AC9A7-260B-483A-9E0C-021A1E5509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9581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F4A052-B481-4CE4-9D1A-905C89421653}" type="datetimeFigureOut">
              <a:rPr lang="zh-TW" altLang="en-US" smtClean="0"/>
              <a:t>2015/7/27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AC9A7-260B-483A-9E0C-021A1E5509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2082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標題 2"/>
          <p:cNvSpPr>
            <a:spLocks noGrp="1"/>
          </p:cNvSpPr>
          <p:nvPr>
            <p:ph type="subTitle" idx="1"/>
          </p:nvPr>
        </p:nvSpPr>
        <p:spPr>
          <a:xfrm>
            <a:off x="0" y="2511064"/>
            <a:ext cx="9144000" cy="1655762"/>
          </a:xfrm>
        </p:spPr>
        <p:txBody>
          <a:bodyPr>
            <a:noAutofit/>
          </a:bodyPr>
          <a:lstStyle/>
          <a:p>
            <a:pPr fontAlgn="base"/>
            <a:endParaRPr lang="en-US" altLang="zh-TW" sz="3000" dirty="0" smtClean="0"/>
          </a:p>
          <a:p>
            <a:pPr fontAlgn="base"/>
            <a:r>
              <a:rPr lang="en-US" altLang="zh-TW" sz="3000" dirty="0" err="1" smtClean="0"/>
              <a:t>Toan</a:t>
            </a:r>
            <a:r>
              <a:rPr lang="en-US" altLang="zh-TW" sz="3000" dirty="0" smtClean="0"/>
              <a:t> </a:t>
            </a:r>
            <a:r>
              <a:rPr lang="en-US" altLang="zh-TW" sz="3000" dirty="0" err="1" smtClean="0"/>
              <a:t>Thang</a:t>
            </a:r>
            <a:r>
              <a:rPr lang="en-US" altLang="zh-TW" sz="3000" dirty="0" smtClean="0"/>
              <a:t> Ta, Cheng-Yao Lin and Chin Lung Lu</a:t>
            </a:r>
          </a:p>
          <a:p>
            <a:pPr fontAlgn="base"/>
            <a:endParaRPr lang="en-US" altLang="zh-TW" sz="800" dirty="0" smtClean="0"/>
          </a:p>
          <a:p>
            <a:pPr fontAlgn="base"/>
            <a:r>
              <a:rPr lang="en-US" altLang="zh-TW" sz="3000" dirty="0" smtClean="0"/>
              <a:t>The </a:t>
            </a:r>
            <a:r>
              <a:rPr lang="en-US" altLang="zh-TW" sz="3000" dirty="0" smtClean="0"/>
              <a:t>32nd </a:t>
            </a:r>
            <a:r>
              <a:rPr lang="en-US" altLang="zh-TW" sz="3000" dirty="0" smtClean="0"/>
              <a:t>Workshop on Combinatorial Mathematics and Computation Theory</a:t>
            </a:r>
            <a:r>
              <a:rPr lang="en-US" altLang="zh-TW" sz="3000" dirty="0" smtClean="0"/>
              <a:t>,</a:t>
            </a:r>
            <a:r>
              <a:rPr lang="en-US" altLang="zh-TW" sz="3200" b="1" dirty="0" smtClean="0"/>
              <a:t> </a:t>
            </a:r>
            <a:r>
              <a:rPr lang="en-US" altLang="zh-TW" sz="3200" dirty="0"/>
              <a:t>Taichung, Taiwan, May </a:t>
            </a:r>
            <a:r>
              <a:rPr lang="en-US" altLang="zh-TW" sz="3200" dirty="0" smtClean="0"/>
              <a:t>1-2</a:t>
            </a:r>
            <a:r>
              <a:rPr lang="en-US" altLang="zh-TW" sz="3200" b="1" dirty="0" smtClean="0"/>
              <a:t>,</a:t>
            </a:r>
          </a:p>
          <a:p>
            <a:pPr fontAlgn="base"/>
            <a:r>
              <a:rPr lang="en-US" altLang="zh-TW" sz="3000" dirty="0" smtClean="0"/>
              <a:t>pp. 55-61 </a:t>
            </a:r>
            <a:r>
              <a:rPr lang="en-US" altLang="zh-TW" sz="3000" dirty="0" smtClean="0"/>
              <a:t>(2015)</a:t>
            </a:r>
            <a:endParaRPr lang="zh-TW" altLang="en-US" sz="30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685800" y="5331291"/>
            <a:ext cx="6508185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prstClr val="black"/>
                </a:solidFill>
              </a:rPr>
              <a:t>Presenter: Tzu-Chiang Hsu </a:t>
            </a:r>
            <a:r>
              <a:rPr lang="zh-TW" altLang="en-US" sz="3200" dirty="0">
                <a:solidFill>
                  <a:prstClr val="black"/>
                </a:solidFill>
              </a:rPr>
              <a:t> </a:t>
            </a:r>
            <a:r>
              <a:rPr lang="en-US" altLang="zh-TW" sz="3200" dirty="0">
                <a:solidFill>
                  <a:prstClr val="black"/>
                </a:solidFill>
              </a:rPr>
              <a:t>(</a:t>
            </a:r>
            <a:r>
              <a:rPr lang="zh-TW" altLang="en-US" sz="4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徐子強</a:t>
            </a:r>
            <a:r>
              <a:rPr lang="en-US" altLang="zh-TW" sz="3200" dirty="0">
                <a:solidFill>
                  <a:prstClr val="black"/>
                </a:solidFill>
              </a:rPr>
              <a:t>)</a:t>
            </a:r>
          </a:p>
          <a:p>
            <a:r>
              <a:rPr lang="en-US" altLang="zh-TW" sz="2500" dirty="0" smtClean="0">
                <a:solidFill>
                  <a:prstClr val="black"/>
                </a:solidFill>
              </a:rPr>
              <a:t>2015/06/16</a:t>
            </a:r>
            <a:endParaRPr lang="zh-TW" altLang="en-US" sz="2500" dirty="0">
              <a:solidFill>
                <a:prstClr val="black"/>
              </a:solidFill>
            </a:endParaRPr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685800" y="374762"/>
            <a:ext cx="7772400" cy="2387600"/>
          </a:xfrm>
        </p:spPr>
        <p:txBody>
          <a:bodyPr>
            <a:noAutofit/>
          </a:bodyPr>
          <a:lstStyle/>
          <a:p>
            <a:r>
              <a:rPr lang="en-US" altLang="zh-TW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Efficient Algorithm for Computing Non-overlapping Inversion and Transposition Distance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205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Abstract (1/2)</a:t>
            </a:r>
            <a:endParaRPr lang="zh-TW" altLang="en-US" dirty="0">
              <a:latin typeface="Georgia" panose="02040502050405020303" pitchFamily="18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Given two strings of the same length n, the non-overlapping inversion and transposition distance (also called mutation distance) between them is defined as the minimum number of non-overlapping inversion and transposition operations used to transform one string into the other.</a:t>
            </a:r>
            <a:endParaRPr lang="en-US" altLang="zh-TW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089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Abstract (2/2)</a:t>
            </a:r>
            <a:endParaRPr lang="zh-TW" altLang="en-US" dirty="0">
              <a:latin typeface="Georgia" panose="02040502050405020303" pitchFamily="18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this study, we present an O(n</a:t>
            </a:r>
            <a:r>
              <a:rPr lang="en-US" altLang="zh-TW" sz="40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time and O(n</a:t>
            </a:r>
            <a:r>
              <a:rPr lang="en-US" altLang="zh-TW" sz="40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 algorithm to compute the mutation distance of two input strings.</a:t>
            </a:r>
            <a:endParaRPr lang="en-US" altLang="zh-TW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3952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18533" y="879742"/>
            <a:ext cx="280076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5400" dirty="0" smtClean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nversion</a:t>
            </a:r>
            <a:endParaRPr lang="zh-TW" altLang="en-US" sz="5400" b="0" cap="none" spc="0" dirty="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806570" y="2563345"/>
            <a:ext cx="3090911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 T C G</a:t>
            </a:r>
          </a:p>
          <a:p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 G A T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7" name="直線單箭頭接點 6"/>
          <p:cNvCxnSpPr/>
          <p:nvPr/>
        </p:nvCxnSpPr>
        <p:spPr>
          <a:xfrm>
            <a:off x="3157268" y="3355675"/>
            <a:ext cx="2355011" cy="1026544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>
            <a:off x="3919301" y="3355675"/>
            <a:ext cx="833854" cy="1035170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 flipH="1">
            <a:off x="3960979" y="3355675"/>
            <a:ext cx="792176" cy="1000664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flipH="1">
            <a:off x="3157268" y="3355675"/>
            <a:ext cx="2467156" cy="974785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269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97576" y="871115"/>
            <a:ext cx="39539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dirty="0" smtClean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Transposition</a:t>
            </a:r>
            <a:endParaRPr lang="zh-TW" altLang="en-US" sz="5400" b="0" cap="none" spc="0" dirty="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70343" y="2536014"/>
            <a:ext cx="4751622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3 4 5 6 1 2</a:t>
            </a:r>
          </a:p>
          <a:p>
            <a:endParaRPr lang="en-US" altLang="zh-TW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1 2 3 4 5 6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" name="直線單箭頭接點 2"/>
          <p:cNvCxnSpPr/>
          <p:nvPr/>
        </p:nvCxnSpPr>
        <p:spPr>
          <a:xfrm>
            <a:off x="4019909" y="3355675"/>
            <a:ext cx="1492370" cy="947453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>
            <a:off x="4940060" y="3354222"/>
            <a:ext cx="1561382" cy="94890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>
            <a:off x="2317704" y="3355675"/>
            <a:ext cx="1492370" cy="947453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>
            <a:off x="3198973" y="3354222"/>
            <a:ext cx="1531252" cy="94890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 flipH="1">
            <a:off x="2398143" y="3354222"/>
            <a:ext cx="3243532" cy="881348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flipH="1">
            <a:off x="3247883" y="3354222"/>
            <a:ext cx="3313943" cy="917337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363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05946" y="871115"/>
            <a:ext cx="4916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dirty="0" smtClean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Non-overlapping</a:t>
            </a:r>
            <a:endParaRPr lang="zh-TW" altLang="en-US" sz="5400" b="0" cap="none" spc="0" dirty="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457866" y="2794808"/>
            <a:ext cx="5934638" cy="212365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 C G T A T C G A</a:t>
            </a:r>
          </a:p>
          <a:p>
            <a:endParaRPr lang="en-US" altLang="zh-TW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 </a:t>
            </a:r>
            <a:r>
              <a:rPr lang="en-US" altLang="zh-TW" sz="4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A C G C G T A</a:t>
            </a:r>
            <a:endParaRPr lang="zh-TW" altLang="en-US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" name="直線單箭頭接點 2"/>
          <p:cNvCxnSpPr/>
          <p:nvPr/>
        </p:nvCxnSpPr>
        <p:spPr>
          <a:xfrm>
            <a:off x="1716657" y="3476445"/>
            <a:ext cx="8626" cy="741872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/>
          <p:cNvCxnSpPr/>
          <p:nvPr/>
        </p:nvCxnSpPr>
        <p:spPr>
          <a:xfrm>
            <a:off x="2380891" y="3476445"/>
            <a:ext cx="2018581" cy="741872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>
            <a:off x="3088257" y="3476445"/>
            <a:ext cx="642667" cy="785004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flipH="1">
            <a:off x="3010619" y="3476445"/>
            <a:ext cx="720305" cy="741872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flipH="1">
            <a:off x="2380891" y="3476445"/>
            <a:ext cx="1958196" cy="741872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flipH="1">
            <a:off x="5093898" y="3476445"/>
            <a:ext cx="608163" cy="741872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H="1">
            <a:off x="5788324" y="3498011"/>
            <a:ext cx="608163" cy="741872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>
            <a:off x="5055080" y="3498011"/>
            <a:ext cx="1341407" cy="763438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>
            <a:off x="7043470" y="3498011"/>
            <a:ext cx="25879" cy="763438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/>
          <p:nvPr/>
        </p:nvCxnSpPr>
        <p:spPr>
          <a:xfrm flipH="1">
            <a:off x="2027208" y="2622430"/>
            <a:ext cx="17252" cy="262243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 flipH="1">
            <a:off x="4725120" y="2688566"/>
            <a:ext cx="17252" cy="262243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 flipH="1">
            <a:off x="6748013" y="2688566"/>
            <a:ext cx="17252" cy="262243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6532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3741" y="2225463"/>
            <a:ext cx="6827510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  T  C  G  T  A</a:t>
            </a:r>
          </a:p>
          <a:p>
            <a:pPr algn="ctr"/>
            <a:endParaRPr lang="en-US" altLang="zh-TW" sz="5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  </a:t>
            </a:r>
            <a:r>
              <a:rPr lang="en-US" altLang="zh-TW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A  C  G  A</a:t>
            </a:r>
            <a:endParaRPr lang="en-US" altLang="zh-TW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082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3741" y="2225463"/>
            <a:ext cx="6827510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  T  C  G  T  A</a:t>
            </a:r>
          </a:p>
          <a:p>
            <a:pPr algn="ctr"/>
            <a:endParaRPr lang="en-US" altLang="zh-TW" sz="5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5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TW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A  C  G  A</a:t>
            </a:r>
            <a:endParaRPr lang="en-US" altLang="zh-TW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" name="直線單箭頭接點 3"/>
          <p:cNvCxnSpPr/>
          <p:nvPr/>
        </p:nvCxnSpPr>
        <p:spPr>
          <a:xfrm>
            <a:off x="1440611" y="3071004"/>
            <a:ext cx="8627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 flipH="1">
            <a:off x="1635861" y="3071004"/>
            <a:ext cx="1038329" cy="80950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 flipH="1">
            <a:off x="1766108" y="2984740"/>
            <a:ext cx="4462164" cy="948905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flipH="1">
            <a:off x="1952731" y="3071004"/>
            <a:ext cx="5633904" cy="983411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781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3741" y="2225463"/>
            <a:ext cx="6827510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  T  C  G  T  A</a:t>
            </a:r>
          </a:p>
          <a:p>
            <a:pPr algn="ctr"/>
            <a:endParaRPr lang="en-US" altLang="zh-TW" sz="5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  </a:t>
            </a:r>
            <a:r>
              <a:rPr lang="en-US" altLang="zh-TW" sz="5400" u="sng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A  C  G  A</a:t>
            </a:r>
            <a:endParaRPr lang="en-US" altLang="zh-TW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" name="直線單箭頭接點 3"/>
          <p:cNvCxnSpPr/>
          <p:nvPr/>
        </p:nvCxnSpPr>
        <p:spPr>
          <a:xfrm>
            <a:off x="1440611" y="3071004"/>
            <a:ext cx="8627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010656" y="595071"/>
            <a:ext cx="8771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①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1" name="直線單箭頭接點 10"/>
          <p:cNvCxnSpPr/>
          <p:nvPr/>
        </p:nvCxnSpPr>
        <p:spPr>
          <a:xfrm>
            <a:off x="2679940" y="3071004"/>
            <a:ext cx="8627" cy="92302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flipH="1">
            <a:off x="2820838" y="2976113"/>
            <a:ext cx="3381555" cy="94890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flipH="1">
            <a:off x="3122762" y="3071004"/>
            <a:ext cx="4463873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862643" y="2225464"/>
            <a:ext cx="1224950" cy="264846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4392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3741" y="2225463"/>
            <a:ext cx="6827510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  T  C  G  T  A</a:t>
            </a:r>
          </a:p>
          <a:p>
            <a:pPr algn="ctr"/>
            <a:endParaRPr lang="en-US" altLang="zh-TW" sz="5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5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TW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A  C  G  A</a:t>
            </a:r>
            <a:endParaRPr lang="en-US" altLang="zh-TW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10657" y="595071"/>
            <a:ext cx="8771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②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直線單箭頭接點 5"/>
          <p:cNvCxnSpPr/>
          <p:nvPr/>
        </p:nvCxnSpPr>
        <p:spPr>
          <a:xfrm flipH="1">
            <a:off x="1635861" y="3071004"/>
            <a:ext cx="1038329" cy="80950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6653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3741" y="2225463"/>
            <a:ext cx="6827510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  T  C  G  T  A</a:t>
            </a:r>
          </a:p>
          <a:p>
            <a:pPr algn="ctr"/>
            <a:endParaRPr lang="en-US" altLang="zh-TW" sz="5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  </a:t>
            </a:r>
            <a:r>
              <a:rPr lang="en-US" altLang="zh-TW" sz="5400" u="sng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A  C  G  A</a:t>
            </a:r>
            <a:endParaRPr lang="en-US" altLang="zh-TW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10657" y="595071"/>
            <a:ext cx="8771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②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直線單箭頭接點 5"/>
          <p:cNvCxnSpPr/>
          <p:nvPr/>
        </p:nvCxnSpPr>
        <p:spPr>
          <a:xfrm flipH="1">
            <a:off x="1635861" y="3071004"/>
            <a:ext cx="1038329" cy="80950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 flipH="1">
            <a:off x="2769079" y="3071004"/>
            <a:ext cx="1112808" cy="87126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862642" y="2225463"/>
            <a:ext cx="3683479" cy="274335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201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3741" y="2225463"/>
            <a:ext cx="6827510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  T  C  G  T  A</a:t>
            </a:r>
          </a:p>
          <a:p>
            <a:pPr algn="ctr"/>
            <a:endParaRPr lang="en-US" altLang="zh-TW" sz="5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5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TW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A  C  G  A</a:t>
            </a:r>
            <a:endParaRPr lang="en-US" altLang="zh-TW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10657" y="595071"/>
            <a:ext cx="8771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②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直線單箭頭接點 5"/>
          <p:cNvCxnSpPr/>
          <p:nvPr/>
        </p:nvCxnSpPr>
        <p:spPr>
          <a:xfrm flipH="1">
            <a:off x="1635861" y="3071004"/>
            <a:ext cx="1038329" cy="80950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>
            <a:off x="1509623" y="3071004"/>
            <a:ext cx="1164567" cy="80950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862642" y="2225463"/>
            <a:ext cx="2406769" cy="2682967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674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3741" y="2225463"/>
            <a:ext cx="6827510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  T  C  G  T  A</a:t>
            </a:r>
          </a:p>
          <a:p>
            <a:pPr algn="ctr"/>
            <a:endParaRPr lang="en-US" altLang="zh-TW" sz="5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  </a:t>
            </a:r>
            <a:r>
              <a:rPr lang="en-US" altLang="zh-TW" sz="5400" u="sng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A  C  G  A</a:t>
            </a:r>
            <a:endParaRPr lang="en-US" altLang="zh-TW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直線單箭頭接點 7"/>
          <p:cNvCxnSpPr/>
          <p:nvPr/>
        </p:nvCxnSpPr>
        <p:spPr>
          <a:xfrm flipH="1">
            <a:off x="1766108" y="2984740"/>
            <a:ext cx="4462164" cy="948905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010657" y="595071"/>
            <a:ext cx="8771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③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10657" y="2113471"/>
            <a:ext cx="7296581" cy="302787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單箭頭接點 8"/>
          <p:cNvCxnSpPr/>
          <p:nvPr/>
        </p:nvCxnSpPr>
        <p:spPr>
          <a:xfrm flipH="1">
            <a:off x="2769079" y="3053751"/>
            <a:ext cx="4684144" cy="88852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4269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3741" y="2225463"/>
            <a:ext cx="6827510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  T  C  G  T  A</a:t>
            </a:r>
          </a:p>
          <a:p>
            <a:pPr algn="ctr"/>
            <a:endParaRPr lang="en-US" altLang="zh-TW" sz="5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  </a:t>
            </a:r>
            <a:r>
              <a:rPr lang="en-US" altLang="zh-TW" sz="5400" u="sng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A  C  G  A</a:t>
            </a:r>
            <a:endParaRPr lang="en-US" altLang="zh-TW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直線單箭頭接點 7"/>
          <p:cNvCxnSpPr/>
          <p:nvPr/>
        </p:nvCxnSpPr>
        <p:spPr>
          <a:xfrm flipH="1">
            <a:off x="1766108" y="2984740"/>
            <a:ext cx="4462164" cy="948905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010657" y="595071"/>
            <a:ext cx="8771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③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10657" y="2113471"/>
            <a:ext cx="6019871" cy="292435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單箭頭接點 8"/>
          <p:cNvCxnSpPr/>
          <p:nvPr/>
        </p:nvCxnSpPr>
        <p:spPr>
          <a:xfrm>
            <a:off x="1475117" y="3071004"/>
            <a:ext cx="1293962" cy="87126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5734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3741" y="2225463"/>
            <a:ext cx="6827510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  T  C  G  T  A</a:t>
            </a:r>
          </a:p>
          <a:p>
            <a:pPr algn="ctr"/>
            <a:endParaRPr lang="en-US" altLang="zh-TW" sz="5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  </a:t>
            </a:r>
            <a:r>
              <a:rPr lang="en-US" altLang="zh-TW" sz="5400" u="sng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A  C  G  A</a:t>
            </a:r>
            <a:endParaRPr lang="en-US" altLang="zh-TW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3" name="直線單箭頭接點 12"/>
          <p:cNvCxnSpPr/>
          <p:nvPr/>
        </p:nvCxnSpPr>
        <p:spPr>
          <a:xfrm flipH="1">
            <a:off x="1952731" y="3071004"/>
            <a:ext cx="5633904" cy="983411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010657" y="2113471"/>
            <a:ext cx="7296581" cy="302787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1010657" y="595071"/>
            <a:ext cx="8771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④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H="1">
            <a:off x="2725947" y="2984740"/>
            <a:ext cx="3579962" cy="1000664"/>
          </a:xfrm>
          <a:prstGeom prst="straightConnector1">
            <a:avLst/>
          </a:prstGeom>
          <a:ln w="3810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447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3741" y="2225463"/>
            <a:ext cx="6827510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  T  C  G  T  A</a:t>
            </a:r>
          </a:p>
          <a:p>
            <a:pPr algn="ctr"/>
            <a:endParaRPr lang="en-US" altLang="zh-TW" sz="5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  </a:t>
            </a:r>
            <a:r>
              <a:rPr lang="en-US" altLang="zh-TW" sz="5400" u="sng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A  C  G  A</a:t>
            </a:r>
            <a:endParaRPr lang="en-US" altLang="zh-TW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" name="直線單箭頭接點 3"/>
          <p:cNvCxnSpPr/>
          <p:nvPr/>
        </p:nvCxnSpPr>
        <p:spPr>
          <a:xfrm>
            <a:off x="1440611" y="3071004"/>
            <a:ext cx="8627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010656" y="595071"/>
            <a:ext cx="8771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①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1" name="直線單箭頭接點 10"/>
          <p:cNvCxnSpPr/>
          <p:nvPr/>
        </p:nvCxnSpPr>
        <p:spPr>
          <a:xfrm>
            <a:off x="2679940" y="3071004"/>
            <a:ext cx="8627" cy="92302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flipH="1">
            <a:off x="2820838" y="2976113"/>
            <a:ext cx="3381555" cy="94890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flipH="1">
            <a:off x="3122762" y="3071004"/>
            <a:ext cx="4463873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862643" y="2225464"/>
            <a:ext cx="1224950" cy="264846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3770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3741" y="2225463"/>
            <a:ext cx="6827510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  T  C  G  T  A</a:t>
            </a:r>
          </a:p>
          <a:p>
            <a:pPr algn="ctr"/>
            <a:endParaRPr lang="en-US" altLang="zh-TW" sz="5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  </a:t>
            </a:r>
            <a:r>
              <a:rPr lang="en-US" altLang="zh-TW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TW" sz="5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C  G  A</a:t>
            </a:r>
            <a:endParaRPr lang="en-US" altLang="zh-TW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" name="直線單箭頭接點 3"/>
          <p:cNvCxnSpPr/>
          <p:nvPr/>
        </p:nvCxnSpPr>
        <p:spPr>
          <a:xfrm>
            <a:off x="1440611" y="3071004"/>
            <a:ext cx="8627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010656" y="595071"/>
            <a:ext cx="8771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⑴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1" name="直線單箭頭接點 10"/>
          <p:cNvCxnSpPr/>
          <p:nvPr/>
        </p:nvCxnSpPr>
        <p:spPr>
          <a:xfrm>
            <a:off x="2679940" y="3071004"/>
            <a:ext cx="8627" cy="92302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928022" y="2225463"/>
            <a:ext cx="1025177" cy="264846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2162356" y="2208286"/>
            <a:ext cx="1046670" cy="266564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單箭頭接點 5"/>
          <p:cNvCxnSpPr/>
          <p:nvPr/>
        </p:nvCxnSpPr>
        <p:spPr>
          <a:xfrm flipH="1">
            <a:off x="4226943" y="3071004"/>
            <a:ext cx="3390182" cy="1017917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 flipH="1">
            <a:off x="3968151" y="3071004"/>
            <a:ext cx="2346385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7186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3741" y="2225463"/>
            <a:ext cx="6827510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  T  C  G  T  A</a:t>
            </a:r>
          </a:p>
          <a:p>
            <a:pPr algn="ctr"/>
            <a:endParaRPr lang="en-US" altLang="zh-TW" sz="5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  </a:t>
            </a:r>
            <a:r>
              <a:rPr lang="en-US" altLang="zh-TW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TW" sz="5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C  G  A</a:t>
            </a:r>
            <a:endParaRPr lang="en-US" altLang="zh-TW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" name="直線單箭頭接點 3"/>
          <p:cNvCxnSpPr/>
          <p:nvPr/>
        </p:nvCxnSpPr>
        <p:spPr>
          <a:xfrm>
            <a:off x="1440611" y="3071004"/>
            <a:ext cx="8627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010656" y="595071"/>
            <a:ext cx="8771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⑵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2" name="直線單箭頭接點 11"/>
          <p:cNvCxnSpPr/>
          <p:nvPr/>
        </p:nvCxnSpPr>
        <p:spPr>
          <a:xfrm flipH="1">
            <a:off x="2820838" y="2976113"/>
            <a:ext cx="3381555" cy="94890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862643" y="2225464"/>
            <a:ext cx="1155939" cy="264846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單箭頭接點 7"/>
          <p:cNvCxnSpPr/>
          <p:nvPr/>
        </p:nvCxnSpPr>
        <p:spPr>
          <a:xfrm>
            <a:off x="2691442" y="2976113"/>
            <a:ext cx="1138686" cy="101791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2216989" y="2225462"/>
            <a:ext cx="4658264" cy="264846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1400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3741" y="2225463"/>
            <a:ext cx="6827510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  T  C  G  T  A</a:t>
            </a:r>
          </a:p>
          <a:p>
            <a:pPr algn="ctr"/>
            <a:endParaRPr lang="en-US" altLang="zh-TW" sz="5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  </a:t>
            </a:r>
            <a:r>
              <a:rPr lang="en-US" altLang="zh-TW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TW" sz="5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C  G  A</a:t>
            </a:r>
            <a:endParaRPr lang="en-US" altLang="zh-TW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" name="直線單箭頭接點 3"/>
          <p:cNvCxnSpPr/>
          <p:nvPr/>
        </p:nvCxnSpPr>
        <p:spPr>
          <a:xfrm>
            <a:off x="1440611" y="3071004"/>
            <a:ext cx="8627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010656" y="595071"/>
            <a:ext cx="8771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⑵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2" name="直線單箭頭接點 11"/>
          <p:cNvCxnSpPr/>
          <p:nvPr/>
        </p:nvCxnSpPr>
        <p:spPr>
          <a:xfrm flipH="1">
            <a:off x="2820838" y="2976113"/>
            <a:ext cx="3381555" cy="94890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862643" y="2225464"/>
            <a:ext cx="1155939" cy="264846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單箭頭接點 7"/>
          <p:cNvCxnSpPr/>
          <p:nvPr/>
        </p:nvCxnSpPr>
        <p:spPr>
          <a:xfrm flipH="1">
            <a:off x="3985404" y="3071004"/>
            <a:ext cx="3657600" cy="92302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2216989" y="2225462"/>
            <a:ext cx="5734262" cy="258532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6388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3741" y="2225463"/>
            <a:ext cx="6827510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  T  C  G  T  A</a:t>
            </a:r>
          </a:p>
          <a:p>
            <a:pPr algn="ctr"/>
            <a:endParaRPr lang="en-US" altLang="zh-TW" sz="5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  </a:t>
            </a:r>
            <a:r>
              <a:rPr lang="en-US" altLang="zh-TW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A  </a:t>
            </a:r>
            <a:r>
              <a:rPr lang="en-US" altLang="zh-TW" sz="5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G  A</a:t>
            </a:r>
            <a:endParaRPr lang="en-US" altLang="zh-TW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" name="直線單箭頭接點 3"/>
          <p:cNvCxnSpPr/>
          <p:nvPr/>
        </p:nvCxnSpPr>
        <p:spPr>
          <a:xfrm>
            <a:off x="1440611" y="3071004"/>
            <a:ext cx="8627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010656" y="595071"/>
            <a:ext cx="8771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⑵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2" name="直線單箭頭接點 11"/>
          <p:cNvCxnSpPr/>
          <p:nvPr/>
        </p:nvCxnSpPr>
        <p:spPr>
          <a:xfrm flipH="1">
            <a:off x="2820838" y="2976113"/>
            <a:ext cx="3381555" cy="94890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862643" y="2225464"/>
            <a:ext cx="1155939" cy="264846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單箭頭接點 7"/>
          <p:cNvCxnSpPr/>
          <p:nvPr/>
        </p:nvCxnSpPr>
        <p:spPr>
          <a:xfrm flipH="1">
            <a:off x="3985404" y="3071004"/>
            <a:ext cx="3657600" cy="92302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2216989" y="2225462"/>
            <a:ext cx="5734262" cy="258532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單箭頭接點 5"/>
          <p:cNvCxnSpPr/>
          <p:nvPr/>
        </p:nvCxnSpPr>
        <p:spPr>
          <a:xfrm>
            <a:off x="2734574" y="3071004"/>
            <a:ext cx="2389517" cy="92302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4911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3741" y="2225463"/>
            <a:ext cx="6827510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  T  C  G  T  A</a:t>
            </a:r>
          </a:p>
          <a:p>
            <a:pPr algn="ctr"/>
            <a:endParaRPr lang="en-US" altLang="zh-TW" sz="5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  </a:t>
            </a:r>
            <a:r>
              <a:rPr lang="en-US" altLang="zh-TW" sz="5400" u="sng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A  C  G  A</a:t>
            </a:r>
            <a:endParaRPr lang="en-US" altLang="zh-TW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" name="直線單箭頭接點 3"/>
          <p:cNvCxnSpPr/>
          <p:nvPr/>
        </p:nvCxnSpPr>
        <p:spPr>
          <a:xfrm>
            <a:off x="1440611" y="3071004"/>
            <a:ext cx="8627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010656" y="595071"/>
            <a:ext cx="8771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⑶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6" name="直線單箭頭接點 15"/>
          <p:cNvCxnSpPr/>
          <p:nvPr/>
        </p:nvCxnSpPr>
        <p:spPr>
          <a:xfrm flipH="1">
            <a:off x="3027872" y="3071004"/>
            <a:ext cx="4558764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940279" y="2225464"/>
            <a:ext cx="1026544" cy="264846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2227921" y="2225462"/>
            <a:ext cx="5906792" cy="264846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6179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3741" y="2225463"/>
            <a:ext cx="6827510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  T  C  G  T  A</a:t>
            </a:r>
          </a:p>
          <a:p>
            <a:pPr algn="ctr"/>
            <a:endParaRPr lang="en-US" altLang="zh-TW" sz="5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  </a:t>
            </a:r>
            <a:r>
              <a:rPr lang="en-US" altLang="zh-TW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TW" sz="5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C  G  A</a:t>
            </a:r>
            <a:endParaRPr lang="en-US" altLang="zh-TW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" name="直線單箭頭接點 3"/>
          <p:cNvCxnSpPr/>
          <p:nvPr/>
        </p:nvCxnSpPr>
        <p:spPr>
          <a:xfrm>
            <a:off x="1440611" y="3071004"/>
            <a:ext cx="8627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010656" y="595071"/>
            <a:ext cx="8771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⑶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6" name="直線單箭頭接點 15"/>
          <p:cNvCxnSpPr/>
          <p:nvPr/>
        </p:nvCxnSpPr>
        <p:spPr>
          <a:xfrm flipH="1">
            <a:off x="2812211" y="3071004"/>
            <a:ext cx="4774425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940279" y="2225464"/>
            <a:ext cx="1026544" cy="264846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2227921" y="2225462"/>
            <a:ext cx="5906792" cy="264846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單箭頭接點 10"/>
          <p:cNvCxnSpPr/>
          <p:nvPr/>
        </p:nvCxnSpPr>
        <p:spPr>
          <a:xfrm flipH="1">
            <a:off x="3942272" y="3071004"/>
            <a:ext cx="2406771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0106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3741" y="2225463"/>
            <a:ext cx="6827510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  T  C  G  T  A</a:t>
            </a:r>
          </a:p>
          <a:p>
            <a:pPr algn="ctr"/>
            <a:endParaRPr lang="en-US" altLang="zh-TW" sz="5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  </a:t>
            </a:r>
            <a:r>
              <a:rPr lang="en-US" altLang="zh-TW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A  </a:t>
            </a:r>
            <a:r>
              <a:rPr lang="en-US" altLang="zh-TW" sz="5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G  A</a:t>
            </a:r>
            <a:endParaRPr lang="en-US" altLang="zh-TW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" name="直線單箭頭接點 3"/>
          <p:cNvCxnSpPr/>
          <p:nvPr/>
        </p:nvCxnSpPr>
        <p:spPr>
          <a:xfrm>
            <a:off x="1440611" y="3071004"/>
            <a:ext cx="8627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010656" y="595071"/>
            <a:ext cx="8771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⑶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6" name="直線單箭頭接點 15"/>
          <p:cNvCxnSpPr/>
          <p:nvPr/>
        </p:nvCxnSpPr>
        <p:spPr>
          <a:xfrm flipH="1">
            <a:off x="2812211" y="3071004"/>
            <a:ext cx="4774425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940279" y="2225464"/>
            <a:ext cx="1026544" cy="264846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2227921" y="2225462"/>
            <a:ext cx="5906792" cy="264846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單箭頭接點 5"/>
          <p:cNvCxnSpPr/>
          <p:nvPr/>
        </p:nvCxnSpPr>
        <p:spPr>
          <a:xfrm flipH="1">
            <a:off x="3942272" y="3071004"/>
            <a:ext cx="2406771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/>
          <p:cNvCxnSpPr/>
          <p:nvPr/>
        </p:nvCxnSpPr>
        <p:spPr>
          <a:xfrm>
            <a:off x="5124091" y="3071004"/>
            <a:ext cx="8626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135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3741" y="2225463"/>
            <a:ext cx="6827510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  T  C  G  T  A</a:t>
            </a:r>
          </a:p>
          <a:p>
            <a:pPr algn="ctr"/>
            <a:endParaRPr lang="en-US" altLang="zh-TW" sz="5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  </a:t>
            </a:r>
            <a:r>
              <a:rPr lang="en-US" altLang="zh-TW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A  C  G  </a:t>
            </a:r>
            <a:r>
              <a:rPr lang="en-US" altLang="zh-TW" sz="5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altLang="zh-TW" sz="54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" name="直線單箭頭接點 3"/>
          <p:cNvCxnSpPr/>
          <p:nvPr/>
        </p:nvCxnSpPr>
        <p:spPr>
          <a:xfrm>
            <a:off x="1440611" y="3071004"/>
            <a:ext cx="8627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010656" y="595071"/>
            <a:ext cx="8771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⑶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6" name="直線單箭頭接點 15"/>
          <p:cNvCxnSpPr/>
          <p:nvPr/>
        </p:nvCxnSpPr>
        <p:spPr>
          <a:xfrm flipH="1">
            <a:off x="2812211" y="3071004"/>
            <a:ext cx="4774425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940279" y="2225464"/>
            <a:ext cx="1026544" cy="264846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2227921" y="2225462"/>
            <a:ext cx="5906792" cy="264846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單箭頭接點 5"/>
          <p:cNvCxnSpPr/>
          <p:nvPr/>
        </p:nvCxnSpPr>
        <p:spPr>
          <a:xfrm flipH="1">
            <a:off x="3942272" y="3071004"/>
            <a:ext cx="2406771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/>
          <p:cNvCxnSpPr/>
          <p:nvPr/>
        </p:nvCxnSpPr>
        <p:spPr>
          <a:xfrm>
            <a:off x="5124091" y="3071004"/>
            <a:ext cx="8626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>
            <a:off x="3929331" y="3088181"/>
            <a:ext cx="2419712" cy="905849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2704679" y="3053827"/>
            <a:ext cx="4774425" cy="974557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8248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3741" y="2225463"/>
            <a:ext cx="6827510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  T  C  G  T  A</a:t>
            </a:r>
          </a:p>
          <a:p>
            <a:pPr algn="ctr"/>
            <a:endParaRPr lang="en-US" altLang="zh-TW" sz="5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  </a:t>
            </a:r>
            <a:r>
              <a:rPr lang="en-US" altLang="zh-TW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TW" sz="5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C  G  A</a:t>
            </a:r>
            <a:endParaRPr lang="en-US" altLang="zh-TW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" name="直線單箭頭接點 3"/>
          <p:cNvCxnSpPr/>
          <p:nvPr/>
        </p:nvCxnSpPr>
        <p:spPr>
          <a:xfrm>
            <a:off x="1440611" y="3071004"/>
            <a:ext cx="8627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010656" y="595071"/>
            <a:ext cx="8771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⑴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1" name="直線單箭頭接點 10"/>
          <p:cNvCxnSpPr/>
          <p:nvPr/>
        </p:nvCxnSpPr>
        <p:spPr>
          <a:xfrm>
            <a:off x="2679940" y="3071004"/>
            <a:ext cx="8627" cy="92302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928022" y="2225463"/>
            <a:ext cx="1025177" cy="264846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2162356" y="2208286"/>
            <a:ext cx="1046670" cy="266564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單箭頭接點 5"/>
          <p:cNvCxnSpPr/>
          <p:nvPr/>
        </p:nvCxnSpPr>
        <p:spPr>
          <a:xfrm flipH="1">
            <a:off x="4226943" y="3071004"/>
            <a:ext cx="3390182" cy="1017917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 flipH="1">
            <a:off x="3968151" y="3071004"/>
            <a:ext cx="2346385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8597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3741" y="2225463"/>
            <a:ext cx="6827510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  T  C  G  T  A</a:t>
            </a:r>
          </a:p>
          <a:p>
            <a:pPr algn="ctr"/>
            <a:endParaRPr lang="en-US" altLang="zh-TW" sz="5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  </a:t>
            </a:r>
            <a:r>
              <a:rPr lang="en-US" altLang="zh-TW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TW" sz="5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C  G  A</a:t>
            </a:r>
            <a:endParaRPr lang="en-US" altLang="zh-TW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" name="直線單箭頭接點 3"/>
          <p:cNvCxnSpPr/>
          <p:nvPr/>
        </p:nvCxnSpPr>
        <p:spPr>
          <a:xfrm>
            <a:off x="1440611" y="3071004"/>
            <a:ext cx="8627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940926" y="595071"/>
            <a:ext cx="10166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{1}</a:t>
            </a:r>
            <a:endParaRPr lang="zh-TW" altLang="en-US" sz="3600" b="0" cap="none" spc="0" dirty="0">
              <a:ln w="0"/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1" name="直線單箭頭接點 10"/>
          <p:cNvCxnSpPr/>
          <p:nvPr/>
        </p:nvCxnSpPr>
        <p:spPr>
          <a:xfrm>
            <a:off x="2679940" y="3071004"/>
            <a:ext cx="8627" cy="92302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928022" y="2225463"/>
            <a:ext cx="1025177" cy="264846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2162356" y="2208286"/>
            <a:ext cx="1046670" cy="266564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單箭頭接點 5"/>
          <p:cNvCxnSpPr/>
          <p:nvPr/>
        </p:nvCxnSpPr>
        <p:spPr>
          <a:xfrm flipH="1">
            <a:off x="4226943" y="3071004"/>
            <a:ext cx="3390182" cy="1017917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130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3741" y="2225463"/>
            <a:ext cx="6827510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  T  C  G  T  A</a:t>
            </a:r>
          </a:p>
          <a:p>
            <a:pPr algn="ctr"/>
            <a:endParaRPr lang="en-US" altLang="zh-TW" sz="5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  </a:t>
            </a:r>
            <a:r>
              <a:rPr lang="en-US" altLang="zh-TW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A  C  </a:t>
            </a:r>
            <a:r>
              <a:rPr lang="en-US" altLang="zh-TW" sz="5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A</a:t>
            </a:r>
            <a:endParaRPr lang="en-US" altLang="zh-TW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" name="直線單箭頭接點 3"/>
          <p:cNvCxnSpPr/>
          <p:nvPr/>
        </p:nvCxnSpPr>
        <p:spPr>
          <a:xfrm>
            <a:off x="1440611" y="3071004"/>
            <a:ext cx="8627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2679940" y="3071004"/>
            <a:ext cx="8627" cy="92302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928022" y="2225463"/>
            <a:ext cx="1025177" cy="264846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2162356" y="2208286"/>
            <a:ext cx="1046670" cy="266564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單箭頭接點 5"/>
          <p:cNvCxnSpPr/>
          <p:nvPr/>
        </p:nvCxnSpPr>
        <p:spPr>
          <a:xfrm flipH="1">
            <a:off x="4226943" y="3071004"/>
            <a:ext cx="3390182" cy="1017917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369482" y="2216874"/>
            <a:ext cx="4777488" cy="265705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單箭頭接點 6"/>
          <p:cNvCxnSpPr/>
          <p:nvPr/>
        </p:nvCxnSpPr>
        <p:spPr>
          <a:xfrm>
            <a:off x="3985404" y="3071004"/>
            <a:ext cx="1147313" cy="101791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5063705" y="3071003"/>
            <a:ext cx="1155940" cy="101791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940926" y="595071"/>
            <a:ext cx="10166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{1}</a:t>
            </a:r>
            <a:endParaRPr lang="zh-TW" altLang="en-US" sz="3600" b="0" cap="none" spc="0" dirty="0">
              <a:ln w="0"/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004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3741" y="2225463"/>
            <a:ext cx="6827510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  T  C  G  T  A</a:t>
            </a:r>
          </a:p>
          <a:p>
            <a:pPr algn="ctr"/>
            <a:endParaRPr lang="en-US" altLang="zh-TW" sz="5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  </a:t>
            </a:r>
            <a:r>
              <a:rPr lang="en-US" altLang="zh-TW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TW" sz="5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C  G  A</a:t>
            </a:r>
            <a:endParaRPr lang="en-US" altLang="zh-TW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" name="直線單箭頭接點 3"/>
          <p:cNvCxnSpPr/>
          <p:nvPr/>
        </p:nvCxnSpPr>
        <p:spPr>
          <a:xfrm>
            <a:off x="1440611" y="3071004"/>
            <a:ext cx="8627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2679940" y="3071004"/>
            <a:ext cx="8627" cy="92302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928022" y="2225463"/>
            <a:ext cx="1025177" cy="264846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2162356" y="2208286"/>
            <a:ext cx="1046670" cy="266564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單箭頭接點 7"/>
          <p:cNvCxnSpPr/>
          <p:nvPr/>
        </p:nvCxnSpPr>
        <p:spPr>
          <a:xfrm flipH="1">
            <a:off x="3968151" y="3071004"/>
            <a:ext cx="2346385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404744" y="2199696"/>
            <a:ext cx="3444629" cy="267422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940925" y="595071"/>
            <a:ext cx="10166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{2}</a:t>
            </a:r>
            <a:endParaRPr lang="zh-TW" altLang="en-US" sz="3600" b="0" cap="none" spc="0" dirty="0">
              <a:ln w="0"/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342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3741" y="2225463"/>
            <a:ext cx="6827510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  T  C  G  T  A</a:t>
            </a:r>
          </a:p>
          <a:p>
            <a:pPr algn="ctr"/>
            <a:endParaRPr lang="en-US" altLang="zh-TW" sz="5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  </a:t>
            </a:r>
            <a:r>
              <a:rPr lang="en-US" altLang="zh-TW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A  C  </a:t>
            </a:r>
            <a:r>
              <a:rPr lang="en-US" altLang="zh-TW" sz="5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A</a:t>
            </a:r>
            <a:endParaRPr lang="en-US" altLang="zh-TW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" name="直線單箭頭接點 3"/>
          <p:cNvCxnSpPr/>
          <p:nvPr/>
        </p:nvCxnSpPr>
        <p:spPr>
          <a:xfrm>
            <a:off x="1440611" y="3071004"/>
            <a:ext cx="8627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2679940" y="3071004"/>
            <a:ext cx="8627" cy="92302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928022" y="2225463"/>
            <a:ext cx="1025177" cy="264846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2162356" y="2208286"/>
            <a:ext cx="1046670" cy="266564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單箭頭接點 7"/>
          <p:cNvCxnSpPr/>
          <p:nvPr/>
        </p:nvCxnSpPr>
        <p:spPr>
          <a:xfrm flipH="1">
            <a:off x="3968151" y="3071004"/>
            <a:ext cx="2346385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404744" y="2199696"/>
            <a:ext cx="3444629" cy="267422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單箭頭接點 5"/>
          <p:cNvCxnSpPr/>
          <p:nvPr/>
        </p:nvCxnSpPr>
        <p:spPr>
          <a:xfrm>
            <a:off x="5141343" y="3071004"/>
            <a:ext cx="17253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3925018" y="3079593"/>
            <a:ext cx="2432649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940925" y="595071"/>
            <a:ext cx="10166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{2}</a:t>
            </a:r>
            <a:endParaRPr lang="zh-TW" altLang="en-US" sz="3600" b="0" cap="none" spc="0" dirty="0">
              <a:ln w="0"/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328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3741" y="2225463"/>
            <a:ext cx="6827510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  T  C  G  T  A</a:t>
            </a:r>
          </a:p>
          <a:p>
            <a:pPr algn="ctr"/>
            <a:endParaRPr lang="en-US" altLang="zh-TW" sz="5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  </a:t>
            </a:r>
            <a:r>
              <a:rPr lang="en-US" altLang="zh-TW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A  C  </a:t>
            </a:r>
            <a:r>
              <a:rPr lang="en-US" altLang="zh-TW" sz="5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A</a:t>
            </a:r>
            <a:endParaRPr lang="en-US" altLang="zh-TW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" name="直線單箭頭接點 3"/>
          <p:cNvCxnSpPr/>
          <p:nvPr/>
        </p:nvCxnSpPr>
        <p:spPr>
          <a:xfrm>
            <a:off x="1440611" y="3071004"/>
            <a:ext cx="8627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2679940" y="3071004"/>
            <a:ext cx="8627" cy="92302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928022" y="2225463"/>
            <a:ext cx="1025177" cy="264846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2162356" y="2208286"/>
            <a:ext cx="1046670" cy="266564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單箭頭接點 7"/>
          <p:cNvCxnSpPr/>
          <p:nvPr/>
        </p:nvCxnSpPr>
        <p:spPr>
          <a:xfrm flipH="1">
            <a:off x="3968151" y="3071004"/>
            <a:ext cx="2346385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404744" y="2199696"/>
            <a:ext cx="3444629" cy="267422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單箭頭接點 5"/>
          <p:cNvCxnSpPr/>
          <p:nvPr/>
        </p:nvCxnSpPr>
        <p:spPr>
          <a:xfrm>
            <a:off x="5141343" y="3071004"/>
            <a:ext cx="17253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3925018" y="3079593"/>
            <a:ext cx="2432649" cy="92302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7099538" y="2208285"/>
            <a:ext cx="1025177" cy="264846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單箭頭接點 13"/>
          <p:cNvCxnSpPr/>
          <p:nvPr/>
        </p:nvCxnSpPr>
        <p:spPr>
          <a:xfrm>
            <a:off x="7612126" y="3056611"/>
            <a:ext cx="8627" cy="92302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4391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直線單箭頭接點 35"/>
          <p:cNvCxnSpPr/>
          <p:nvPr/>
        </p:nvCxnSpPr>
        <p:spPr>
          <a:xfrm>
            <a:off x="3993245" y="2853320"/>
            <a:ext cx="742657" cy="93829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stCxn id="10" idx="3"/>
          </p:cNvCxnSpPr>
          <p:nvPr/>
        </p:nvCxnSpPr>
        <p:spPr>
          <a:xfrm flipH="1" flipV="1">
            <a:off x="3795623" y="1092186"/>
            <a:ext cx="655608" cy="12571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 flipV="1">
            <a:off x="3966972" y="3333946"/>
            <a:ext cx="1450417" cy="36806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15" y="337329"/>
            <a:ext cx="4156816" cy="1761134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838" y="2236485"/>
            <a:ext cx="4234456" cy="1794027"/>
          </a:xfrm>
          <a:prstGeom prst="rect">
            <a:avLst/>
          </a:prstGeom>
        </p:spPr>
      </p:pic>
      <p:pic>
        <p:nvPicPr>
          <p:cNvPr id="21" name="圖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15" y="4168534"/>
            <a:ext cx="4230423" cy="1792318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4524838" y="933545"/>
            <a:ext cx="410561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[2, 1, 1, (3, </a:t>
            </a:r>
            <a:r>
              <a:rPr lang="en-US" altLang="zh-TW" sz="4400" dirty="0">
                <a:ln w="0"/>
                <a:latin typeface="Cordia New" panose="020B0304020202020204" pitchFamily="34" charset="-34"/>
                <a:cs typeface="Cordia New" panose="020B0304020202020204" pitchFamily="34" charset="-34"/>
              </a:rPr>
              <a:t>6</a:t>
            </a:r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, A)]</a:t>
            </a:r>
            <a:r>
              <a:rPr lang="en-US" altLang="zh-TW" sz="4400" dirty="0" smtClean="0">
                <a:ln w="0"/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altLang="zh-TW" sz="4400" dirty="0">
                <a:ln w="0"/>
                <a:latin typeface="Cordia New" panose="020B0304020202020204" pitchFamily="34" charset="-34"/>
                <a:cs typeface="Cordia New" panose="020B0304020202020204" pitchFamily="34" charset="-34"/>
              </a:rPr>
              <a:t>type F</a:t>
            </a:r>
            <a:endParaRPr lang="en-US" altLang="zh-TW" sz="4400" b="0" cap="none" spc="0" dirty="0" smtClean="0">
              <a:ln w="0"/>
              <a:solidFill>
                <a:schemeClr val="tx1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381375" y="5838107"/>
            <a:ext cx="408477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[2, 1, 2, (2, 3, T)] type S</a:t>
            </a:r>
          </a:p>
        </p:txBody>
      </p:sp>
      <p:sp>
        <p:nvSpPr>
          <p:cNvPr id="24" name="矩形 23"/>
          <p:cNvSpPr/>
          <p:nvPr/>
        </p:nvSpPr>
        <p:spPr>
          <a:xfrm>
            <a:off x="4379096" y="4466091"/>
            <a:ext cx="424988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[1, 1, (4, 4, </a:t>
            </a:r>
            <a:r>
              <a:rPr lang="el-GR" altLang="zh-TW" sz="3200" b="0" cap="none" spc="0" dirty="0" smtClean="0">
                <a:ln w="0"/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θ</a:t>
            </a:r>
            <a:r>
              <a:rPr lang="en-US" altLang="zh-TW" sz="3200" b="0" cap="none" spc="0" dirty="0" smtClean="0">
                <a:ln w="0"/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TW" sz="4400" dirty="0" smtClean="0">
                <a:ln w="0"/>
                <a:latin typeface="Cordia New" panose="020B0304020202020204" pitchFamily="34" charset="-34"/>
                <a:cs typeface="Cordia New" panose="020B0304020202020204" pitchFamily="34" charset="-34"/>
              </a:rPr>
              <a:t>G)</a:t>
            </a:r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)]</a:t>
            </a:r>
            <a:r>
              <a:rPr lang="en-US" altLang="zh-TW" sz="4400" dirty="0" smtClean="0">
                <a:ln w="0"/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altLang="zh-TW" sz="4400" dirty="0">
                <a:ln w="0"/>
                <a:latin typeface="Cordia New" panose="020B0304020202020204" pitchFamily="34" charset="-34"/>
                <a:cs typeface="Cordia New" panose="020B0304020202020204" pitchFamily="34" charset="-34"/>
              </a:rPr>
              <a:t>type </a:t>
            </a:r>
            <a:r>
              <a:rPr lang="en-US" altLang="zh-TW" sz="4400" dirty="0" smtClean="0">
                <a:ln w="0"/>
                <a:latin typeface="Cordia New" panose="020B0304020202020204" pitchFamily="34" charset="-34"/>
                <a:cs typeface="Cordia New" panose="020B0304020202020204" pitchFamily="34" charset="-34"/>
              </a:rPr>
              <a:t>I</a:t>
            </a:r>
            <a:endParaRPr lang="en-US" altLang="zh-TW" sz="4400" b="0" cap="none" spc="0" dirty="0" smtClean="0">
              <a:ln w="0"/>
              <a:solidFill>
                <a:schemeClr val="tx1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17993" y="2197018"/>
            <a:ext cx="433323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[0, 0, (1, </a:t>
            </a:r>
            <a:r>
              <a:rPr lang="en-US" altLang="zh-TW" sz="4400" dirty="0">
                <a:ln w="0"/>
                <a:latin typeface="Cordia New" panose="020B0304020202020204" pitchFamily="34" charset="-34"/>
                <a:cs typeface="Cordia New" panose="020B0304020202020204" pitchFamily="34" charset="-34"/>
              </a:rPr>
              <a:t>1</a:t>
            </a:r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, </a:t>
            </a:r>
            <a:r>
              <a:rPr lang="el-GR" altLang="zh-TW" sz="3200" dirty="0">
                <a:ln w="0"/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θ</a:t>
            </a:r>
            <a:r>
              <a:rPr lang="en-US" altLang="zh-TW" sz="3200" dirty="0">
                <a:ln w="0"/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A))]</a:t>
            </a:r>
            <a:r>
              <a:rPr lang="en-US" altLang="zh-TW" sz="4400" dirty="0" smtClean="0">
                <a:ln w="0"/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altLang="zh-TW" sz="4400" dirty="0">
                <a:ln w="0"/>
                <a:latin typeface="Cordia New" panose="020B0304020202020204" pitchFamily="34" charset="-34"/>
                <a:cs typeface="Cordia New" panose="020B0304020202020204" pitchFamily="34" charset="-34"/>
              </a:rPr>
              <a:t>type </a:t>
            </a:r>
            <a:r>
              <a:rPr lang="en-US" altLang="zh-TW" sz="4400" dirty="0" smtClean="0">
                <a:ln w="0"/>
                <a:latin typeface="Cordia New" panose="020B0304020202020204" pitchFamily="34" charset="-34"/>
                <a:cs typeface="Cordia New" panose="020B0304020202020204" pitchFamily="34" charset="-34"/>
              </a:rPr>
              <a:t>V</a:t>
            </a:r>
            <a:endParaRPr lang="en-US" altLang="zh-TW" sz="4400" b="0" cap="none" spc="0" dirty="0" smtClean="0">
              <a:ln w="0"/>
              <a:solidFill>
                <a:schemeClr val="tx1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94415" y="3173121"/>
            <a:ext cx="3716082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[0, 1, (2, </a:t>
            </a:r>
            <a:r>
              <a:rPr lang="en-US" altLang="zh-TW" sz="4400" dirty="0">
                <a:ln w="0"/>
                <a:latin typeface="Cordia New" panose="020B0304020202020204" pitchFamily="34" charset="-34"/>
                <a:cs typeface="Cordia New" panose="020B0304020202020204" pitchFamily="34" charset="-34"/>
              </a:rPr>
              <a:t>2</a:t>
            </a:r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, T)]</a:t>
            </a:r>
            <a:r>
              <a:rPr lang="en-US" altLang="zh-TW" sz="4400" dirty="0" smtClean="0">
                <a:ln w="0"/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altLang="zh-TW" sz="4400" dirty="0">
                <a:ln w="0"/>
                <a:latin typeface="Cordia New" panose="020B0304020202020204" pitchFamily="34" charset="-34"/>
                <a:cs typeface="Cordia New" panose="020B0304020202020204" pitchFamily="34" charset="-34"/>
              </a:rPr>
              <a:t>type </a:t>
            </a:r>
            <a:r>
              <a:rPr lang="en-US" altLang="zh-TW" sz="4400" dirty="0" smtClean="0">
                <a:ln w="0"/>
                <a:latin typeface="Cordia New" panose="020B0304020202020204" pitchFamily="34" charset="-34"/>
                <a:cs typeface="Cordia New" panose="020B0304020202020204" pitchFamily="34" charset="-34"/>
              </a:rPr>
              <a:t>V</a:t>
            </a:r>
            <a:endParaRPr lang="en-US" altLang="zh-TW" sz="4400" b="0" cap="none" spc="0" dirty="0" smtClean="0">
              <a:ln w="0"/>
              <a:solidFill>
                <a:schemeClr val="tx1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cxnSp>
        <p:nvCxnSpPr>
          <p:cNvPr id="31" name="直線單箭頭接點 30"/>
          <p:cNvCxnSpPr/>
          <p:nvPr/>
        </p:nvCxnSpPr>
        <p:spPr>
          <a:xfrm flipV="1">
            <a:off x="6939678" y="3863516"/>
            <a:ext cx="47718" cy="53808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 flipH="1" flipV="1">
            <a:off x="2152456" y="5838107"/>
            <a:ext cx="2185845" cy="389966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1853084" y="5167069"/>
            <a:ext cx="431528" cy="584775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2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zh-TW" altLang="en-US" sz="32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5" name="直線單箭頭接點 44"/>
          <p:cNvCxnSpPr/>
          <p:nvPr/>
        </p:nvCxnSpPr>
        <p:spPr>
          <a:xfrm>
            <a:off x="1891418" y="5167069"/>
            <a:ext cx="101284" cy="12955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957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903" y="248442"/>
            <a:ext cx="7343619" cy="638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826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56" y="0"/>
            <a:ext cx="4084381" cy="6770857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130" y="638361"/>
            <a:ext cx="4327619" cy="465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05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>
            <a:grpSpLocks noChangeAspect="1"/>
          </p:cNvGrpSpPr>
          <p:nvPr/>
        </p:nvGrpSpPr>
        <p:grpSpPr>
          <a:xfrm>
            <a:off x="2193393" y="246369"/>
            <a:ext cx="4283617" cy="6353794"/>
            <a:chOff x="1166848" y="453401"/>
            <a:chExt cx="4980952" cy="7388132"/>
          </a:xfrm>
        </p:grpSpPr>
        <p:pic>
          <p:nvPicPr>
            <p:cNvPr id="2" name="圖片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66848" y="1155819"/>
              <a:ext cx="4980952" cy="6685714"/>
            </a:xfrm>
            <a:prstGeom prst="rect">
              <a:avLst/>
            </a:prstGeom>
          </p:spPr>
        </p:pic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9229" y="453401"/>
              <a:ext cx="4676190" cy="7714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078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930424" y="2225463"/>
            <a:ext cx="3190297" cy="212365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6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dia New" panose="020B0304020202020204" pitchFamily="34" charset="-34"/>
                <a:cs typeface="Cordia New" panose="020B0304020202020204" pitchFamily="34" charset="-34"/>
              </a:rPr>
              <a:t>O(n</a:t>
            </a:r>
            <a:r>
              <a:rPr lang="en-US" altLang="zh-TW" sz="6600" b="0" cap="none" spc="0" baseline="30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dia New" panose="020B0304020202020204" pitchFamily="34" charset="-34"/>
                <a:cs typeface="Cordia New" panose="020B0304020202020204" pitchFamily="34" charset="-34"/>
              </a:rPr>
              <a:t>3</a:t>
            </a:r>
            <a:r>
              <a:rPr lang="en-US" altLang="zh-TW" sz="6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dia New" panose="020B0304020202020204" pitchFamily="34" charset="-34"/>
                <a:cs typeface="Cordia New" panose="020B0304020202020204" pitchFamily="34" charset="-34"/>
              </a:rPr>
              <a:t>) time</a:t>
            </a:r>
            <a:br>
              <a:rPr lang="en-US" altLang="zh-TW" sz="6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dia New" panose="020B0304020202020204" pitchFamily="34" charset="-34"/>
                <a:cs typeface="Cordia New" panose="020B0304020202020204" pitchFamily="34" charset="-34"/>
              </a:rPr>
            </a:br>
            <a:r>
              <a:rPr lang="en-US" altLang="zh-TW" sz="6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dia New" panose="020B0304020202020204" pitchFamily="34" charset="-34"/>
                <a:cs typeface="Cordia New" panose="020B0304020202020204" pitchFamily="34" charset="-34"/>
              </a:rPr>
              <a:t>O(n</a:t>
            </a:r>
            <a:r>
              <a:rPr lang="en-US" altLang="zh-TW" sz="6600" b="0" cap="none" spc="0" baseline="30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dia New" panose="020B0304020202020204" pitchFamily="34" charset="-34"/>
                <a:cs typeface="Cordia New" panose="020B0304020202020204" pitchFamily="34" charset="-34"/>
              </a:rPr>
              <a:t>2</a:t>
            </a:r>
            <a:r>
              <a:rPr lang="en-US" altLang="zh-TW" sz="6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dia New" panose="020B0304020202020204" pitchFamily="34" charset="-34"/>
                <a:cs typeface="Cordia New" panose="020B0304020202020204" pitchFamily="34" charset="-34"/>
              </a:rPr>
              <a:t>) space</a:t>
            </a:r>
            <a:endParaRPr lang="zh-TW" altLang="en-US" sz="6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372375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933</TotalTime>
  <Words>562</Words>
  <Application>Microsoft Office PowerPoint</Application>
  <PresentationFormat>如螢幕大小 (4:3)</PresentationFormat>
  <Paragraphs>123</Paragraphs>
  <Slides>35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46" baseType="lpstr">
      <vt:lpstr>微軟正黑體</vt:lpstr>
      <vt:lpstr>新細明體</vt:lpstr>
      <vt:lpstr>Arial</vt:lpstr>
      <vt:lpstr>Calibri</vt:lpstr>
      <vt:lpstr>Calibri Light</vt:lpstr>
      <vt:lpstr>Cordia New</vt:lpstr>
      <vt:lpstr>Courier New</vt:lpstr>
      <vt:lpstr>Ebrima</vt:lpstr>
      <vt:lpstr>Georgia</vt:lpstr>
      <vt:lpstr>Times New Roman</vt:lpstr>
      <vt:lpstr>Office 佈景主題</vt:lpstr>
      <vt:lpstr>An Efficient Algorithm for Computing Non-overlapping Inversion and Transposition Distance</vt:lpstr>
      <vt:lpstr>Abstract (1/2)</vt:lpstr>
      <vt:lpstr>Abstract (2/2)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qiang zi</dc:creator>
  <cp:lastModifiedBy>qiang zi</cp:lastModifiedBy>
  <cp:revision>274</cp:revision>
  <cp:lastPrinted>2015-06-16T10:41:59Z</cp:lastPrinted>
  <dcterms:created xsi:type="dcterms:W3CDTF">2015-03-25T17:18:54Z</dcterms:created>
  <dcterms:modified xsi:type="dcterms:W3CDTF">2015-07-27T07:53:48Z</dcterms:modified>
</cp:coreProperties>
</file>