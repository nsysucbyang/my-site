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61" r:id="rId4"/>
    <p:sldId id="259" r:id="rId5"/>
    <p:sldId id="262" r:id="rId6"/>
    <p:sldId id="263" r:id="rId7"/>
    <p:sldId id="264" r:id="rId8"/>
    <p:sldId id="265" r:id="rId9"/>
    <p:sldId id="266" r:id="rId10"/>
    <p:sldId id="275" r:id="rId11"/>
    <p:sldId id="276" r:id="rId12"/>
    <p:sldId id="278" r:id="rId13"/>
    <p:sldId id="267" r:id="rId14"/>
    <p:sldId id="269" r:id="rId15"/>
    <p:sldId id="271" r:id="rId16"/>
    <p:sldId id="273" r:id="rId17"/>
    <p:sldId id="279" r:id="rId18"/>
    <p:sldId id="268" r:id="rId19"/>
    <p:sldId id="277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490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A2E06-6215-4505-B48C-D0E8B4D2F670}" type="datetimeFigureOut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A3823-C206-4FEC-B76E-99DBB29495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82146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A3823-C206-4FEC-B76E-99DBB29495AE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07240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A3823-C206-4FEC-B76E-99DBB29495AE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8172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45D8-404A-4C33-862B-37953E30F095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5296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462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0461E-B108-4DD8-9255-9639DFB3820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5213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1FF7-1BA0-4CCF-A028-75D6A0A5C5FA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2252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8D58A-657E-4A73-8160-C252BAFB7B82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5889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0816-8392-4197-9F9D-20C8034BB6B7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8181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0094-C155-4B0E-AA38-E7A16B3BF231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8928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CCA9-2A1D-420D-9C35-27E94AF165AA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2945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A818-D3FD-494D-8F8C-B0424A745352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2128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98F0-F2D5-4392-ABD5-5E0292B6BE8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6287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98B9-F546-46B8-8B04-3DC070AFF5D4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9156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43ADB-60C9-438F-8E09-6C2E2C1CE966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235D6-932B-4288-B5B5-9093493053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5296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4127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/>
              <a:t>Repetition-free longest common subsequence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7584" y="2900715"/>
            <a:ext cx="7488832" cy="2232248"/>
          </a:xfrm>
        </p:spPr>
        <p:txBody>
          <a:bodyPr>
            <a:normAutofit fontScale="77500" lnSpcReduction="20000"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altLang="zh-TW" dirty="0"/>
              <a:t>Said S. </a:t>
            </a:r>
            <a:r>
              <a:rPr lang="pt-BR" altLang="zh-TW" dirty="0" smtClean="0"/>
              <a:t>Adi, </a:t>
            </a:r>
            <a:r>
              <a:rPr lang="pt-BR" altLang="zh-TW" dirty="0"/>
              <a:t>Marília D.V. </a:t>
            </a:r>
            <a:r>
              <a:rPr lang="pt-BR" altLang="zh-TW" dirty="0" smtClean="0"/>
              <a:t>Braga, Cristina </a:t>
            </a:r>
            <a:r>
              <a:rPr lang="pt-BR" altLang="zh-TW" dirty="0"/>
              <a:t>G. </a:t>
            </a:r>
            <a:r>
              <a:rPr lang="pt-BR" altLang="zh-TW" dirty="0" smtClean="0"/>
              <a:t>Fernandes,</a:t>
            </a:r>
          </a:p>
          <a:p>
            <a:r>
              <a:rPr lang="pt-BR" altLang="zh-TW" dirty="0" smtClean="0"/>
              <a:t> </a:t>
            </a:r>
            <a:r>
              <a:rPr lang="pt-BR" altLang="zh-TW" dirty="0"/>
              <a:t>Carlos E. </a:t>
            </a:r>
            <a:r>
              <a:rPr lang="pt-BR" altLang="zh-TW" dirty="0" smtClean="0"/>
              <a:t>Ferreira, </a:t>
            </a:r>
            <a:r>
              <a:rPr lang="en-US" altLang="zh-TW" dirty="0" err="1" smtClean="0"/>
              <a:t>Fábio</a:t>
            </a:r>
            <a:r>
              <a:rPr lang="en-US" altLang="zh-TW" dirty="0" smtClean="0"/>
              <a:t> </a:t>
            </a:r>
            <a:r>
              <a:rPr lang="en-US" altLang="zh-TW" dirty="0" err="1"/>
              <a:t>Viduani</a:t>
            </a:r>
            <a:r>
              <a:rPr lang="en-US" altLang="zh-TW" dirty="0"/>
              <a:t> </a:t>
            </a:r>
            <a:r>
              <a:rPr lang="en-US" altLang="zh-TW" dirty="0" smtClean="0"/>
              <a:t>Martinez,</a:t>
            </a:r>
          </a:p>
          <a:p>
            <a:r>
              <a:rPr lang="en-US" altLang="zh-TW" dirty="0" smtClean="0"/>
              <a:t> </a:t>
            </a:r>
            <a:r>
              <a:rPr lang="en-US" altLang="zh-TW" dirty="0"/>
              <a:t>Marie-France </a:t>
            </a:r>
            <a:r>
              <a:rPr lang="en-US" altLang="zh-TW" dirty="0" err="1" smtClean="0"/>
              <a:t>Sagot</a:t>
            </a:r>
            <a:r>
              <a:rPr lang="en-US" altLang="zh-TW" dirty="0" smtClean="0"/>
              <a:t>, </a:t>
            </a:r>
            <a:r>
              <a:rPr lang="en-US" altLang="zh-TW" dirty="0"/>
              <a:t>Marco A. </a:t>
            </a:r>
            <a:r>
              <a:rPr lang="en-US" altLang="zh-TW" dirty="0" err="1" smtClean="0"/>
              <a:t>Stefanes</a:t>
            </a:r>
            <a:r>
              <a:rPr lang="en-US" altLang="zh-TW" dirty="0" smtClean="0"/>
              <a:t>,</a:t>
            </a:r>
          </a:p>
          <a:p>
            <a:r>
              <a:rPr lang="en-US" altLang="zh-TW" dirty="0" smtClean="0"/>
              <a:t> Christian </a:t>
            </a:r>
            <a:r>
              <a:rPr lang="en-US" altLang="zh-TW" dirty="0" err="1" smtClean="0"/>
              <a:t>Tjandraatmadja</a:t>
            </a:r>
            <a:r>
              <a:rPr lang="en-US" altLang="zh-TW" dirty="0" smtClean="0"/>
              <a:t>, </a:t>
            </a:r>
            <a:r>
              <a:rPr lang="en-US" altLang="zh-TW" dirty="0"/>
              <a:t>Yoshiko </a:t>
            </a:r>
            <a:r>
              <a:rPr lang="en-US" altLang="zh-TW" dirty="0" smtClean="0"/>
              <a:t>Wakabayashi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093296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Discrete Applied </a:t>
            </a:r>
            <a:r>
              <a:rPr lang="en-US" altLang="zh-TW" sz="2000" dirty="0" smtClean="0"/>
              <a:t>Mathematics, volume 158, pp.1315~1324(2010)</a:t>
            </a: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2EC3-8CC7-48BF-80F3-40956BA13762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304512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We study the following problem. Given two sequences x and y over a finite alphabet, find</a:t>
            </a:r>
          </a:p>
          <a:p>
            <a:pPr marL="0" indent="0">
              <a:buNone/>
            </a:pPr>
            <a:r>
              <a:rPr lang="en-US" altLang="zh-TW" dirty="0"/>
              <a:t>a repetition-free longest common subsequence of x and y.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We show several algorithmic results, a computational complexity result, and we describe a preliminary experimental study based on the proposed algorithms. We also show that this problem is APX-hard.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182662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two strings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Output: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 longest common subsequence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so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contains at most one occurrence of each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symbol </a:t>
            </a:r>
            <a:r>
              <a:rPr lang="el-GR" altLang="zh-TW" i="1" dirty="0" smtClean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l-GR" altLang="zh-TW" dirty="0">
                <a:latin typeface="Times New Roman" pitchFamily="18" charset="0"/>
                <a:cs typeface="Times New Roman" pitchFamily="18" charset="0"/>
              </a:rPr>
              <a:t>∈ </a:t>
            </a:r>
            <a:r>
              <a:rPr lang="el-GR" altLang="zh-TW" i="1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l-GR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c b a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b c b a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RF-LCS:  </a:t>
            </a:r>
            <a:r>
              <a:rPr lang="en-US" altLang="zh-TW" strike="sngStrike" dirty="0" smtClean="0">
                <a:latin typeface="Times New Roman" pitchFamily="18" charset="0"/>
                <a:cs typeface="Times New Roman" pitchFamily="18" charset="0"/>
              </a:rPr>
              <a:t>a c b a(4)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=&gt; a c b, </a:t>
            </a:r>
            <a:r>
              <a:rPr lang="en-US" altLang="zh-TW" strike="sngStrike" dirty="0" smtClean="0">
                <a:latin typeface="Times New Roman" pitchFamily="18" charset="0"/>
                <a:cs typeface="Times New Roman" pitchFamily="18" charset="0"/>
              </a:rPr>
              <a:t>a c 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c b a(3)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4081-3558-4760-937B-3D6ADBB34535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2147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err="1" smtClean="0"/>
              <a:t>Polynomially</a:t>
            </a:r>
            <a:r>
              <a:rPr lang="en-US" altLang="zh-TW" dirty="0" smtClean="0"/>
              <a:t> </a:t>
            </a:r>
            <a:r>
              <a:rPr lang="en-US" altLang="zh-TW" dirty="0"/>
              <a:t>solvable </a:t>
            </a:r>
            <a:r>
              <a:rPr lang="en-US" altLang="zh-TW" dirty="0" smtClean="0"/>
              <a:t>cases of RFLCS(x ,y)(1/2)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For each symbol a and a sequence w, let </a:t>
                </a:r>
                <a:r>
                  <a:rPr lang="en-US" altLang="zh-TW" dirty="0" smtClean="0"/>
                  <a:t>n(w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a) </a:t>
                </a:r>
                <a:r>
                  <a:rPr lang="en-US" altLang="zh-TW" dirty="0"/>
                  <a:t>be the number of appearances of a in w.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Let m</a:t>
                </a:r>
                <a:r>
                  <a:rPr lang="en-US" altLang="zh-TW" baseline="-25000" dirty="0" smtClean="0"/>
                  <a:t>a</a:t>
                </a:r>
                <a:r>
                  <a:rPr lang="en-US" altLang="zh-TW" dirty="0" smtClean="0"/>
                  <a:t>(x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y) =min{n(x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a), n(y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a)}.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Case 1 :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m</a:t>
                </a:r>
                <a:r>
                  <a:rPr lang="en-US" altLang="zh-TW" baseline="-25000" dirty="0" smtClean="0"/>
                  <a:t>a</a:t>
                </a:r>
                <a:r>
                  <a:rPr lang="en-US" altLang="zh-TW" dirty="0" smtClean="0"/>
                  <a:t>(x, y)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(</a:t>
                </a:r>
                <a:r>
                  <a:rPr lang="en-US" altLang="zh-TW" dirty="0"/>
                  <a:t>each symbol appears at most once either in x or </a:t>
                </a:r>
                <a:r>
                  <a:rPr lang="en-US" altLang="zh-TW" dirty="0" smtClean="0"/>
                  <a:t>in y </a:t>
                </a:r>
                <a:r>
                  <a:rPr lang="en-US" altLang="zh-TW" dirty="0"/>
                  <a:t>then the problem</a:t>
                </a:r>
                <a:r>
                  <a:rPr lang="en-US" altLang="zh-TW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There are polynomial algorithms for LCS, so this case is </a:t>
                </a:r>
                <a:r>
                  <a:rPr lang="en-US" altLang="zh-TW" dirty="0" err="1"/>
                  <a:t>polynomially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solvable.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868221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Polynomially</a:t>
            </a:r>
            <a:r>
              <a:rPr lang="en-US" altLang="zh-TW" dirty="0"/>
              <a:t> solvable cases of RFLCS(x ,y)(1/2)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/>
                  <a:t>Case </a:t>
                </a:r>
                <a:r>
                  <a:rPr lang="en-US" altLang="zh-TW" dirty="0" smtClean="0"/>
                  <a:t>2 </a:t>
                </a:r>
                <a:r>
                  <a:rPr lang="en-US" altLang="zh-TW" dirty="0"/>
                  <a:t>: m</a:t>
                </a:r>
                <a:r>
                  <a:rPr lang="en-US" altLang="zh-TW" baseline="-25000" dirty="0"/>
                  <a:t>a</a:t>
                </a:r>
                <a:r>
                  <a:rPr lang="en-US" altLang="zh-TW" dirty="0"/>
                  <a:t>(x, y)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&gt;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1(a constant bound k on the number of symbols a)</a:t>
                </a:r>
              </a:p>
              <a:p>
                <a:pPr marL="0" indent="0">
                  <a:buNone/>
                </a:pPr>
                <a:r>
                  <a:rPr lang="en-US" altLang="zh-TW" sz="2000" dirty="0"/>
                  <a:t>let A</a:t>
                </a:r>
                <a:r>
                  <a:rPr lang="en-US" altLang="zh-TW" sz="2000" baseline="-25000" dirty="0"/>
                  <a:t>x</a:t>
                </a:r>
                <a:r>
                  <a:rPr lang="en-US" altLang="zh-TW" sz="2000" dirty="0"/>
                  <a:t> be the set of symbols for which </a:t>
                </a:r>
                <a:r>
                  <a:rPr lang="en-US" altLang="zh-TW" sz="2000" dirty="0" smtClean="0"/>
                  <a:t>m</a:t>
                </a:r>
                <a:r>
                  <a:rPr lang="en-US" altLang="zh-TW" sz="2000" baseline="-25000" dirty="0" smtClean="0"/>
                  <a:t>a</a:t>
                </a:r>
                <a:r>
                  <a:rPr lang="en-US" altLang="zh-TW" sz="2000" dirty="0" smtClean="0"/>
                  <a:t>(x, y) = n(x, a</a:t>
                </a:r>
                <a:r>
                  <a:rPr lang="en-US" altLang="zh-TW" sz="2000" dirty="0"/>
                  <a:t>)</a:t>
                </a:r>
                <a:r>
                  <a:rPr lang="en-US" altLang="zh-TW" sz="2000" dirty="0" smtClean="0"/>
                  <a:t>, </a:t>
                </a:r>
                <a:r>
                  <a:rPr lang="en-US" altLang="zh-TW" sz="2000" dirty="0"/>
                  <a:t>and A</a:t>
                </a:r>
                <a:r>
                  <a:rPr lang="en-US" altLang="zh-TW" sz="2000" baseline="-25000" dirty="0"/>
                  <a:t>y</a:t>
                </a:r>
                <a:r>
                  <a:rPr lang="en-US" altLang="zh-TW" sz="2000" dirty="0"/>
                  <a:t> be the remaining symbols. </a:t>
                </a:r>
                <a:endParaRPr lang="en-US" altLang="zh-TW" sz="2000" dirty="0" smtClean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Try each subsequence x' </a:t>
                </a:r>
                <a:r>
                  <a:rPr lang="en-US" altLang="zh-TW" sz="2000" dirty="0"/>
                  <a:t>of x and each subsequence </a:t>
                </a:r>
                <a:r>
                  <a:rPr lang="en-US" altLang="zh-TW" sz="2000" dirty="0" smtClean="0"/>
                  <a:t>y' </a:t>
                </a:r>
                <a:r>
                  <a:rPr lang="en-US" altLang="zh-TW" sz="2000" dirty="0"/>
                  <a:t>of y obtained in the following way. </a:t>
                </a:r>
                <a:endParaRPr lang="en-US" altLang="zh-TW" sz="2000" dirty="0" smtClean="0"/>
              </a:p>
              <a:p>
                <a:pPr marL="0" indent="0">
                  <a:buNone/>
                </a:pPr>
                <a:endParaRPr lang="en-US" altLang="zh-TW" sz="2000" dirty="0" smtClean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Step 1:For </a:t>
                </a:r>
                <a:r>
                  <a:rPr lang="en-US" altLang="zh-TW" sz="2000" dirty="0"/>
                  <a:t>each symbol a in A</a:t>
                </a:r>
                <a:r>
                  <a:rPr lang="en-US" altLang="zh-TW" sz="2000" baseline="-25000" dirty="0"/>
                  <a:t>x</a:t>
                </a:r>
                <a:r>
                  <a:rPr lang="en-US" altLang="zh-TW" sz="2000" dirty="0"/>
                  <a:t> and each of </a:t>
                </a:r>
                <a:r>
                  <a:rPr lang="en-US" altLang="zh-TW" sz="2000" dirty="0" smtClean="0"/>
                  <a:t>the m</a:t>
                </a:r>
                <a:r>
                  <a:rPr lang="en-US" altLang="zh-TW" sz="2000" baseline="-25000" dirty="0" smtClean="0"/>
                  <a:t>a</a:t>
                </a:r>
                <a:r>
                  <a:rPr lang="en-US" altLang="zh-TW" sz="2000" dirty="0" smtClean="0"/>
                  <a:t>(x, y) </a:t>
                </a:r>
                <a:r>
                  <a:rPr lang="en-US" altLang="zh-TW" sz="2000" dirty="0"/>
                  <a:t>occurrences of a in x, keep that occurrence and delete all the others from x, obtaining one </a:t>
                </a:r>
                <a:r>
                  <a:rPr lang="en-US" altLang="zh-TW" sz="2000" dirty="0" smtClean="0"/>
                  <a:t>x'. 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Step2 :Do </a:t>
                </a:r>
                <a:r>
                  <a:rPr lang="en-US" altLang="zh-TW" sz="2000" dirty="0"/>
                  <a:t>the same for </a:t>
                </a:r>
                <a:r>
                  <a:rPr lang="en-US" altLang="zh-TW" sz="2000" dirty="0" smtClean="0"/>
                  <a:t>y obtaining </a:t>
                </a:r>
                <a:r>
                  <a:rPr lang="en-US" altLang="zh-TW" sz="2000" dirty="0"/>
                  <a:t>one </a:t>
                </a:r>
                <a:r>
                  <a:rPr lang="en-US" altLang="zh-TW" sz="2000" dirty="0" smtClean="0"/>
                  <a:t>y' </a:t>
                </a:r>
                <a:r>
                  <a:rPr lang="en-US" altLang="zh-TW" sz="2000" dirty="0"/>
                  <a:t>. For each </a:t>
                </a:r>
                <a:r>
                  <a:rPr lang="en-US" altLang="zh-TW" sz="2000" dirty="0" smtClean="0"/>
                  <a:t>x' </a:t>
                </a:r>
                <a:r>
                  <a:rPr lang="en-US" altLang="zh-TW" sz="2000" dirty="0"/>
                  <a:t>and </a:t>
                </a:r>
                <a:r>
                  <a:rPr lang="en-US" altLang="zh-TW" sz="2000" dirty="0" smtClean="0"/>
                  <a:t>y' </a:t>
                </a:r>
                <a:r>
                  <a:rPr lang="en-US" altLang="zh-TW" sz="2000" dirty="0"/>
                  <a:t>, find an LCS of </a:t>
                </a:r>
                <a:r>
                  <a:rPr lang="en-US" altLang="zh-TW" sz="2000" dirty="0" smtClean="0"/>
                  <a:t>x' </a:t>
                </a:r>
                <a:r>
                  <a:rPr lang="en-US" altLang="zh-TW" sz="2000" dirty="0"/>
                  <a:t>and </a:t>
                </a:r>
                <a:r>
                  <a:rPr lang="en-US" altLang="zh-TW" sz="2000" dirty="0" smtClean="0"/>
                  <a:t>y'. 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Step3 :Return </a:t>
                </a:r>
                <a:r>
                  <a:rPr lang="en-US" altLang="zh-TW" sz="2000" dirty="0"/>
                  <a:t>a longest one among all obtained </a:t>
                </a:r>
                <a:r>
                  <a:rPr lang="en-US" altLang="zh-TW" sz="2000" dirty="0" smtClean="0"/>
                  <a:t>LCS s</a:t>
                </a:r>
                <a:r>
                  <a:rPr lang="en-US" altLang="zh-TW" sz="2000" dirty="0"/>
                  <a:t>. </a:t>
                </a:r>
                <a:endParaRPr lang="en-US" altLang="zh-TW" sz="2000" dirty="0" smtClean="0"/>
              </a:p>
              <a:p>
                <a:pPr marL="0" indent="0">
                  <a:buNone/>
                </a:pPr>
                <a:endParaRPr lang="en-US" altLang="zh-TW" sz="2000" dirty="0" smtClean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This method needs </a:t>
                </a:r>
                <a:r>
                  <a:rPr lang="en-US" altLang="zh-TW" sz="2000" dirty="0"/>
                  <a:t>to solve </a:t>
                </a:r>
                <a:r>
                  <a:rPr lang="en-US" altLang="zh-TW" sz="2000" dirty="0" smtClean="0"/>
                  <a:t>O(</a:t>
                </a:r>
                <a:r>
                  <a:rPr lang="en-US" altLang="zh-TW" sz="2000" dirty="0" err="1" smtClean="0"/>
                  <a:t>n</a:t>
                </a:r>
                <a:r>
                  <a:rPr lang="en-US" altLang="zh-TW" sz="2000" baseline="30000" dirty="0" err="1" smtClean="0"/>
                  <a:t>k</a:t>
                </a:r>
                <a:r>
                  <a:rPr lang="en-US" altLang="zh-TW" sz="2000" dirty="0" smtClean="0"/>
                  <a:t>) </a:t>
                </a:r>
                <a:r>
                  <a:rPr lang="en-US" altLang="zh-TW" sz="2000" dirty="0"/>
                  <a:t>different LCS instances and therefore is polynomial.</a:t>
                </a:r>
                <a:endParaRPr lang="zh-TW" altLang="en-US" sz="20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481" t="-3774" r="-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241742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Polynomially</a:t>
            </a:r>
            <a:r>
              <a:rPr lang="en-US" altLang="zh-TW" dirty="0"/>
              <a:t> solvable cases of RFLCS(x ,y)(1/2)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Example</a:t>
            </a:r>
          </a:p>
          <a:p>
            <a:pPr marL="0" indent="0">
              <a:buNone/>
            </a:pPr>
            <a:r>
              <a:rPr lang="en-US" altLang="zh-TW" dirty="0" smtClean="0"/>
              <a:t>x:a b c b a b		y:c </a:t>
            </a:r>
            <a:r>
              <a:rPr lang="en-US" altLang="zh-TW" dirty="0"/>
              <a:t>b c a b</a:t>
            </a:r>
            <a:endParaRPr lang="en-US" altLang="zh-TW" dirty="0" smtClean="0"/>
          </a:p>
          <a:p>
            <a:pPr>
              <a:buFont typeface="Symbol"/>
              <a:buChar char="Þ"/>
            </a:pPr>
            <a:r>
              <a:rPr lang="en-US" altLang="zh-TW" dirty="0" smtClean="0"/>
              <a:t>m</a:t>
            </a:r>
            <a:r>
              <a:rPr lang="en-US" altLang="zh-TW" baseline="-25000" dirty="0" smtClean="0"/>
              <a:t>a</a:t>
            </a:r>
            <a:r>
              <a:rPr lang="en-US" altLang="zh-TW" dirty="0" smtClean="0"/>
              <a:t>(x</a:t>
            </a:r>
            <a:r>
              <a:rPr lang="en-US" altLang="zh-TW" dirty="0"/>
              <a:t>, y)= m</a:t>
            </a:r>
            <a:r>
              <a:rPr lang="en-US" altLang="zh-TW" baseline="-25000" dirty="0"/>
              <a:t>c</a:t>
            </a:r>
            <a:r>
              <a:rPr lang="en-US" altLang="zh-TW" dirty="0"/>
              <a:t>(x, y)=1 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m</a:t>
            </a:r>
            <a:r>
              <a:rPr lang="en-US" altLang="zh-TW" baseline="-25000" dirty="0" err="1" smtClean="0"/>
              <a:t>b</a:t>
            </a:r>
            <a:r>
              <a:rPr lang="en-US" altLang="zh-TW" dirty="0" smtClean="0"/>
              <a:t>(x</a:t>
            </a:r>
            <a:r>
              <a:rPr lang="en-US" altLang="zh-TW" dirty="0"/>
              <a:t>, y)= </a:t>
            </a:r>
            <a:r>
              <a:rPr lang="en-US" altLang="zh-TW" dirty="0" smtClean="0"/>
              <a:t>2    (</a:t>
            </a:r>
            <a:r>
              <a:rPr lang="en-US" altLang="zh-TW" dirty="0"/>
              <a:t>constant bound </a:t>
            </a:r>
            <a:r>
              <a:rPr lang="en-US" altLang="zh-TW" dirty="0" smtClean="0"/>
              <a:t>K=2)</a:t>
            </a:r>
          </a:p>
          <a:p>
            <a:pPr>
              <a:buFont typeface="Symbol"/>
              <a:buChar char="Þ"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b="1" dirty="0" smtClean="0"/>
              <a:t>Step 1</a:t>
            </a:r>
            <a:r>
              <a:rPr lang="en-US" altLang="zh-TW" dirty="0" smtClean="0"/>
              <a:t>: A</a:t>
            </a:r>
            <a:r>
              <a:rPr lang="en-US" altLang="zh-TW" baseline="-25000" dirty="0" smtClean="0"/>
              <a:t>x </a:t>
            </a:r>
            <a:r>
              <a:rPr lang="en-US" altLang="zh-TW" dirty="0" smtClean="0"/>
              <a:t>={c}    </a:t>
            </a:r>
          </a:p>
          <a:p>
            <a:pPr>
              <a:buFont typeface="Symbol"/>
              <a:buChar char="Þ"/>
            </a:pPr>
            <a:r>
              <a:rPr lang="en-US" altLang="zh-TW" dirty="0" smtClean="0"/>
              <a:t>x' = a b </a:t>
            </a:r>
            <a:r>
              <a:rPr lang="en-US" altLang="zh-TW" dirty="0" smtClean="0">
                <a:solidFill>
                  <a:srgbClr val="FF0000"/>
                </a:solidFill>
              </a:rPr>
              <a:t>c</a:t>
            </a:r>
            <a:r>
              <a:rPr lang="en-US" altLang="zh-TW" dirty="0" smtClean="0"/>
              <a:t> b a b </a:t>
            </a:r>
          </a:p>
          <a:p>
            <a:pPr>
              <a:buFont typeface="Symbol"/>
              <a:buChar char="Þ"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b="1" dirty="0" smtClean="0"/>
              <a:t>Step 2</a:t>
            </a:r>
            <a:r>
              <a:rPr lang="en-US" altLang="zh-TW" dirty="0" smtClean="0"/>
              <a:t>:</a:t>
            </a:r>
            <a:r>
              <a:rPr lang="en-US" altLang="zh-TW" dirty="0"/>
              <a:t>A</a:t>
            </a:r>
            <a:r>
              <a:rPr lang="en-US" altLang="zh-TW" baseline="-25000" dirty="0"/>
              <a:t>y</a:t>
            </a:r>
            <a:r>
              <a:rPr lang="en-US" altLang="zh-TW" dirty="0"/>
              <a:t> ={a, b</a:t>
            </a:r>
            <a:r>
              <a:rPr lang="en-US" altLang="zh-TW" dirty="0" smtClean="0"/>
              <a:t>} </a:t>
            </a:r>
          </a:p>
          <a:p>
            <a:pPr>
              <a:buFont typeface="Symbol"/>
              <a:buChar char="Þ"/>
            </a:pPr>
            <a:r>
              <a:rPr lang="en-US" altLang="zh-TW" dirty="0" smtClean="0"/>
              <a:t>y' </a:t>
            </a:r>
            <a:r>
              <a:rPr lang="en-US" altLang="zh-TW" dirty="0"/>
              <a:t>= </a:t>
            </a:r>
            <a:r>
              <a:rPr lang="en-US" altLang="zh-TW" dirty="0" smtClean="0"/>
              <a:t>c </a:t>
            </a:r>
            <a:r>
              <a:rPr lang="en-US" altLang="zh-TW" dirty="0"/>
              <a:t>b c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b, c </a:t>
            </a:r>
            <a:r>
              <a:rPr lang="en-US" altLang="zh-TW" dirty="0" smtClean="0">
                <a:solidFill>
                  <a:srgbClr val="FF0000"/>
                </a:solidFill>
              </a:rPr>
              <a:t>b</a:t>
            </a:r>
            <a:r>
              <a:rPr lang="en-US" altLang="zh-TW" dirty="0" smtClean="0"/>
              <a:t> c a , c </a:t>
            </a:r>
            <a:r>
              <a:rPr lang="en-US" altLang="zh-TW" dirty="0" err="1" smtClean="0"/>
              <a:t>c</a:t>
            </a:r>
            <a:r>
              <a:rPr lang="en-US" altLang="zh-TW" dirty="0" smtClean="0"/>
              <a:t> a </a:t>
            </a:r>
            <a:r>
              <a:rPr lang="en-US" altLang="zh-TW" dirty="0" smtClean="0">
                <a:solidFill>
                  <a:srgbClr val="FF0000"/>
                </a:solidFill>
              </a:rPr>
              <a:t>b</a:t>
            </a:r>
          </a:p>
          <a:p>
            <a:pPr>
              <a:buFont typeface="Symbol"/>
              <a:buChar char="Þ"/>
            </a:pP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b="1" dirty="0" smtClean="0"/>
              <a:t>Step 3</a:t>
            </a:r>
            <a:r>
              <a:rPr lang="en-US" altLang="zh-TW" dirty="0" smtClean="0"/>
              <a:t>: LCS(x', y') =&gt;</a:t>
            </a:r>
            <a:r>
              <a:rPr lang="en-US" altLang="zh-TW" dirty="0" err="1" smtClean="0"/>
              <a:t>bcab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cba</a:t>
            </a:r>
            <a:r>
              <a:rPr lang="en-US" altLang="zh-TW" dirty="0" smtClean="0"/>
              <a:t>, cab</a:t>
            </a:r>
          </a:p>
          <a:p>
            <a:pPr marL="0" indent="0">
              <a:buNone/>
            </a:pPr>
            <a:r>
              <a:rPr lang="en-US" altLang="zh-TW" dirty="0"/>
              <a:t>	 </a:t>
            </a:r>
            <a:r>
              <a:rPr lang="en-US" altLang="zh-TW" dirty="0" smtClean="0"/>
              <a:t>  max of </a:t>
            </a:r>
            <a:r>
              <a:rPr lang="en-US" altLang="zh-TW" dirty="0"/>
              <a:t>LCS(x', y') </a:t>
            </a:r>
            <a:r>
              <a:rPr lang="en-US" altLang="zh-TW" dirty="0" smtClean="0"/>
              <a:t>=</a:t>
            </a:r>
            <a:r>
              <a:rPr lang="en-US" altLang="zh-TW" dirty="0"/>
              <a:t> </a:t>
            </a:r>
            <a:r>
              <a:rPr lang="en-US" altLang="zh-TW" dirty="0" err="1" smtClean="0">
                <a:solidFill>
                  <a:srgbClr val="FF0000"/>
                </a:solidFill>
              </a:rPr>
              <a:t>bca</a:t>
            </a:r>
            <a:r>
              <a:rPr lang="en-US" altLang="zh-TW" strike="sngStrike" dirty="0" err="1" smtClean="0">
                <a:solidFill>
                  <a:srgbClr val="FF0000"/>
                </a:solidFill>
              </a:rPr>
              <a:t>b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 smtClean="0"/>
              <a:t>different </a:t>
            </a:r>
            <a:r>
              <a:rPr lang="en-US" altLang="zh-TW" dirty="0"/>
              <a:t>LCS </a:t>
            </a:r>
            <a:r>
              <a:rPr lang="en-US" altLang="zh-TW" dirty="0" smtClean="0"/>
              <a:t>instances = 3 &lt; |</a:t>
            </a:r>
            <a:r>
              <a:rPr lang="el-GR" altLang="zh-TW" dirty="0" smtClean="0"/>
              <a:t>Σ</a:t>
            </a:r>
            <a:r>
              <a:rPr lang="en-US" altLang="zh-TW" dirty="0"/>
              <a:t>|</a:t>
            </a:r>
            <a:r>
              <a:rPr lang="en-US" altLang="zh-TW" baseline="30000" dirty="0" smtClean="0"/>
              <a:t>2 </a:t>
            </a:r>
            <a:r>
              <a:rPr lang="en-US" altLang="zh-TW" dirty="0" smtClean="0"/>
              <a:t> &lt; </a:t>
            </a:r>
            <a:r>
              <a:rPr lang="en-US" altLang="zh-TW" dirty="0" err="1" smtClean="0"/>
              <a:t>n</a:t>
            </a:r>
            <a:r>
              <a:rPr lang="en-US" altLang="zh-TW" baseline="30000" dirty="0" err="1" smtClean="0"/>
              <a:t>k</a:t>
            </a:r>
            <a:r>
              <a:rPr lang="en-US" altLang="zh-TW" baseline="30000" dirty="0" smtClean="0"/>
              <a:t> </a:t>
            </a:r>
            <a:r>
              <a:rPr lang="en-US" altLang="zh-TW" dirty="0" smtClean="0"/>
              <a:t>=6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</a:t>
            </a:r>
            <a:endParaRPr lang="en-US" altLang="zh-TW" baseline="30000" dirty="0">
              <a:solidFill>
                <a:srgbClr val="FF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4597203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</a:t>
            </a:r>
            <a:r>
              <a:rPr lang="en-US" altLang="zh-TW" dirty="0" smtClean="0"/>
              <a:t>imple </a:t>
            </a:r>
            <a:r>
              <a:rPr lang="en-US" altLang="zh-TW" dirty="0"/>
              <a:t>approximation </a:t>
            </a:r>
            <a:r>
              <a:rPr lang="en-US" altLang="zh-TW" dirty="0" smtClean="0"/>
              <a:t>algorithms(1/5)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/>
              <a:t>Algorithm </a:t>
            </a:r>
            <a:r>
              <a:rPr lang="en-US" altLang="zh-TW" dirty="0" smtClean="0"/>
              <a:t>A1 :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given </a:t>
            </a:r>
            <a:r>
              <a:rPr lang="en-US" altLang="zh-TW" dirty="0"/>
              <a:t>x and y, compute an LCS of x and y and remove all repeated symbols but one, in the obtained LCS. </a:t>
            </a:r>
            <a:r>
              <a:rPr lang="en-US" altLang="zh-TW" dirty="0" smtClean="0"/>
              <a:t>Return the resulting sequence.</a:t>
            </a:r>
          </a:p>
          <a:p>
            <a:pPr marL="0" indent="0">
              <a:buNone/>
            </a:pPr>
            <a:r>
              <a:rPr lang="en-US" altLang="zh-TW" dirty="0" smtClean="0"/>
              <a:t> </a:t>
            </a:r>
          </a:p>
          <a:p>
            <a:pPr marL="0" indent="0">
              <a:buNone/>
            </a:pPr>
            <a:r>
              <a:rPr lang="en-US" altLang="zh-TW" dirty="0" smtClean="0"/>
              <a:t>Algorithm </a:t>
            </a:r>
            <a:r>
              <a:rPr lang="en-US" altLang="zh-TW" dirty="0"/>
              <a:t>A1 </a:t>
            </a:r>
            <a:r>
              <a:rPr lang="en-US" altLang="zh-TW" dirty="0" smtClean="0"/>
              <a:t>is an </a:t>
            </a:r>
            <a:r>
              <a:rPr lang="en-US" altLang="zh-TW" dirty="0">
                <a:solidFill>
                  <a:srgbClr val="FF0000"/>
                </a:solidFill>
              </a:rPr>
              <a:t>m-approximation</a:t>
            </a:r>
            <a:r>
              <a:rPr lang="en-US" altLang="zh-TW" dirty="0"/>
              <a:t> for </a:t>
            </a:r>
            <a:r>
              <a:rPr lang="en-US" altLang="zh-TW" dirty="0" smtClean="0"/>
              <a:t>RFLCS(x</a:t>
            </a:r>
            <a:r>
              <a:rPr lang="en-US" altLang="zh-TW" dirty="0"/>
              <a:t>,</a:t>
            </a:r>
            <a:r>
              <a:rPr lang="en-US" altLang="zh-TW" dirty="0" smtClean="0"/>
              <a:t> y).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(m is the </a:t>
            </a:r>
            <a:r>
              <a:rPr lang="en-US" altLang="zh-TW" dirty="0"/>
              <a:t>maximum value of m</a:t>
            </a:r>
            <a:r>
              <a:rPr lang="en-US" altLang="zh-TW" baseline="-25000" dirty="0"/>
              <a:t>a</a:t>
            </a:r>
            <a:r>
              <a:rPr lang="en-US" altLang="zh-TW" dirty="0"/>
              <a:t>(x ,y) 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Example</a:t>
            </a:r>
          </a:p>
          <a:p>
            <a:pPr marL="0" indent="0">
              <a:buNone/>
            </a:pPr>
            <a:r>
              <a:rPr lang="en-US" altLang="zh-TW" dirty="0"/>
              <a:t>x:a b c b a b		y:c b c a b</a:t>
            </a:r>
          </a:p>
          <a:p>
            <a:pPr marL="0" indent="0">
              <a:buNone/>
            </a:pPr>
            <a:r>
              <a:rPr lang="en-US" altLang="zh-TW" dirty="0"/>
              <a:t>LCS(x , y)=c b a b</a:t>
            </a:r>
          </a:p>
          <a:p>
            <a:pPr marL="0" indent="0">
              <a:buNone/>
            </a:pPr>
            <a:r>
              <a:rPr lang="en-US" altLang="zh-TW" dirty="0"/>
              <a:t>remove repeated symbols =&gt; </a:t>
            </a:r>
            <a:r>
              <a:rPr lang="en-US" altLang="zh-TW" dirty="0">
                <a:solidFill>
                  <a:srgbClr val="FF0000"/>
                </a:solidFill>
              </a:rPr>
              <a:t>c b a</a:t>
            </a:r>
            <a:endParaRPr lang="zh-TW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75642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Simple approximation </a:t>
            </a:r>
            <a:r>
              <a:rPr lang="en-US" altLang="zh-TW" dirty="0" smtClean="0"/>
              <a:t>algorithms(2/5)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Algorithm </a:t>
                </a:r>
                <a:r>
                  <a:rPr lang="en-US" altLang="zh-TW" dirty="0" smtClean="0"/>
                  <a:t>A2(probabilistic):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given </a:t>
                </a:r>
                <a:r>
                  <a:rPr lang="en-US" altLang="zh-TW" dirty="0"/>
                  <a:t>x and y, for each symbol a,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if </a:t>
                </a:r>
                <a:r>
                  <a:rPr lang="en-US" altLang="zh-TW" dirty="0"/>
                  <a:t>m</a:t>
                </a:r>
                <a:r>
                  <a:rPr lang="en-US" altLang="zh-TW" baseline="-25000" dirty="0"/>
                  <a:t>a</a:t>
                </a:r>
                <a:r>
                  <a:rPr lang="en-US" altLang="zh-TW" dirty="0"/>
                  <a:t>(x ,y) =</a:t>
                </a:r>
                <a:r>
                  <a:rPr lang="en-US" altLang="zh-TW" dirty="0" smtClean="0"/>
                  <a:t> n(x ,a), pick uniformly </a:t>
                </a:r>
                <a:r>
                  <a:rPr lang="en-US" altLang="zh-TW" dirty="0"/>
                  <a:t>at random one of the m</a:t>
                </a:r>
                <a:r>
                  <a:rPr lang="en-US" altLang="zh-TW" baseline="-25000" dirty="0"/>
                  <a:t>a</a:t>
                </a:r>
                <a:r>
                  <a:rPr lang="en-US" altLang="zh-TW" dirty="0"/>
                  <a:t>(x ,y)</a:t>
                </a:r>
                <a:r>
                  <a:rPr lang="en-US" altLang="zh-TW" dirty="0" smtClean="0"/>
                  <a:t> occurrences </a:t>
                </a:r>
                <a:r>
                  <a:rPr lang="en-US" altLang="zh-TW" dirty="0"/>
                  <a:t>of a in x, and delete all the others from </a:t>
                </a:r>
                <a:r>
                  <a:rPr lang="en-US" altLang="zh-TW" dirty="0" smtClean="0"/>
                  <a:t>x.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if m</a:t>
                </a:r>
                <a:r>
                  <a:rPr lang="en-US" altLang="zh-TW" baseline="-25000" dirty="0" smtClean="0"/>
                  <a:t>a</a:t>
                </a:r>
                <a:r>
                  <a:rPr lang="en-US" altLang="zh-TW" dirty="0" smtClean="0"/>
                  <a:t>(x, y</a:t>
                </a:r>
                <a:r>
                  <a:rPr lang="en-US" altLang="zh-TW" dirty="0"/>
                  <a:t>)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/>
                        <a:ea typeface="Cambria Math"/>
                      </a:rPr>
                      <m:t>n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m:rPr>
                        <m:nor/>
                      </m:rPr>
                      <a:rPr lang="en-US" altLang="zh-TW" b="0" i="0" dirty="0" smtClean="0"/>
                      <m:t>x</m:t>
                    </m:r>
                    <m:r>
                      <m:rPr>
                        <m:nor/>
                      </m:rPr>
                      <a:rPr lang="en-US" altLang="zh-TW" dirty="0"/>
                      <m:t>,</m:t>
                    </m:r>
                    <m:r>
                      <m:rPr>
                        <m:nor/>
                      </m:rPr>
                      <a:rPr lang="en-US" altLang="zh-TW" b="0" i="0" dirty="0" smtClean="0"/>
                      <m:t> </m:t>
                    </m:r>
                    <m:r>
                      <m:rPr>
                        <m:nor/>
                      </m:rPr>
                      <a:rPr lang="en-US" altLang="zh-TW" b="0" i="0" dirty="0" smtClean="0"/>
                      <m:t>a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 smtClean="0"/>
                  <a:t>, pick uniformly </a:t>
                </a:r>
                <a:r>
                  <a:rPr lang="en-US" altLang="zh-TW" dirty="0"/>
                  <a:t>at random one of the m</a:t>
                </a:r>
                <a:r>
                  <a:rPr lang="en-US" altLang="zh-TW" baseline="-25000" dirty="0"/>
                  <a:t>a</a:t>
                </a:r>
                <a:r>
                  <a:rPr lang="en-US" altLang="zh-TW" dirty="0"/>
                  <a:t>(x ,y) </a:t>
                </a:r>
                <a:r>
                  <a:rPr lang="en-US" altLang="zh-TW" dirty="0" smtClean="0"/>
                  <a:t>occurrences </a:t>
                </a:r>
                <a:r>
                  <a:rPr lang="en-US" altLang="zh-TW" dirty="0"/>
                  <a:t>of a in y, and delete all the others from y.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Let x</a:t>
                </a:r>
                <a:r>
                  <a:rPr lang="en-US" altLang="zh-TW" dirty="0"/>
                  <a:t>'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y</a:t>
                </a:r>
                <a:r>
                  <a:rPr lang="en-US" altLang="zh-TW" dirty="0"/>
                  <a:t>'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be the </a:t>
                </a:r>
                <a:r>
                  <a:rPr lang="en-US" altLang="zh-TW" dirty="0" smtClean="0"/>
                  <a:t>resulting sequences </a:t>
                </a:r>
                <a:r>
                  <a:rPr lang="en-US" altLang="zh-TW" dirty="0"/>
                  <a:t>after this clean-up.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Compute </a:t>
                </a:r>
                <a:r>
                  <a:rPr lang="en-US" altLang="zh-TW" dirty="0"/>
                  <a:t>an LCS </a:t>
                </a:r>
                <a:r>
                  <a:rPr lang="en-US" altLang="zh-TW" dirty="0" smtClean="0"/>
                  <a:t>w' </a:t>
                </a:r>
                <a:r>
                  <a:rPr lang="en-US" altLang="zh-TW" dirty="0"/>
                  <a:t>of </a:t>
                </a:r>
                <a:r>
                  <a:rPr lang="en-US" altLang="zh-TW" dirty="0" smtClean="0"/>
                  <a:t>x'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y' </a:t>
                </a:r>
                <a:r>
                  <a:rPr lang="en-US" altLang="zh-TW" dirty="0"/>
                  <a:t>and return </a:t>
                </a:r>
                <a:r>
                  <a:rPr lang="en-US" altLang="zh-TW" dirty="0" smtClean="0"/>
                  <a:t>w'. 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333" t="-2965" r="-19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3649724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Simple approximation </a:t>
            </a:r>
            <a:r>
              <a:rPr lang="en-US" altLang="zh-TW" dirty="0" smtClean="0"/>
              <a:t>algorithms(3/5)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97152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Example</a:t>
            </a:r>
          </a:p>
          <a:p>
            <a:pPr marL="0" indent="0">
              <a:buNone/>
            </a:pPr>
            <a:r>
              <a:rPr lang="en-US" altLang="zh-TW" dirty="0" smtClean="0"/>
              <a:t>x:a b c b a b		y:c </a:t>
            </a:r>
            <a:r>
              <a:rPr lang="en-US" altLang="zh-TW" dirty="0"/>
              <a:t>b c a b</a:t>
            </a:r>
            <a:endParaRPr lang="en-US" altLang="zh-TW" dirty="0" smtClean="0"/>
          </a:p>
          <a:p>
            <a:pPr>
              <a:buFont typeface="Symbol"/>
              <a:buChar char="Þ"/>
            </a:pPr>
            <a:r>
              <a:rPr lang="en-US" altLang="zh-TW" dirty="0" smtClean="0"/>
              <a:t>m</a:t>
            </a:r>
            <a:r>
              <a:rPr lang="en-US" altLang="zh-TW" baseline="-25000" dirty="0" smtClean="0"/>
              <a:t>a</a:t>
            </a:r>
            <a:r>
              <a:rPr lang="en-US" altLang="zh-TW" dirty="0" smtClean="0"/>
              <a:t>(x</a:t>
            </a:r>
            <a:r>
              <a:rPr lang="en-US" altLang="zh-TW" dirty="0"/>
              <a:t>, y)= m</a:t>
            </a:r>
            <a:r>
              <a:rPr lang="en-US" altLang="zh-TW" baseline="-25000" dirty="0"/>
              <a:t>c</a:t>
            </a:r>
            <a:r>
              <a:rPr lang="en-US" altLang="zh-TW" dirty="0"/>
              <a:t>(x, y)=1 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m</a:t>
            </a:r>
            <a:r>
              <a:rPr lang="en-US" altLang="zh-TW" baseline="-25000" dirty="0" err="1" smtClean="0"/>
              <a:t>b</a:t>
            </a:r>
            <a:r>
              <a:rPr lang="en-US" altLang="zh-TW" dirty="0" smtClean="0"/>
              <a:t>(x</a:t>
            </a:r>
            <a:r>
              <a:rPr lang="en-US" altLang="zh-TW" dirty="0"/>
              <a:t>, y)= </a:t>
            </a:r>
            <a:r>
              <a:rPr lang="en-US" altLang="zh-TW" dirty="0" smtClean="0"/>
              <a:t>2    (</a:t>
            </a:r>
            <a:r>
              <a:rPr lang="en-US" altLang="zh-TW" dirty="0"/>
              <a:t>constant bound </a:t>
            </a:r>
            <a:r>
              <a:rPr lang="en-US" altLang="zh-TW" dirty="0" smtClean="0"/>
              <a:t>K=2)</a:t>
            </a:r>
          </a:p>
          <a:p>
            <a:pPr marL="0" indent="0">
              <a:buNone/>
            </a:pPr>
            <a:endParaRPr lang="en-US" altLang="zh-TW" b="1" dirty="0" smtClean="0"/>
          </a:p>
          <a:p>
            <a:pPr marL="0" indent="0">
              <a:buNone/>
            </a:pPr>
            <a:r>
              <a:rPr lang="en-US" altLang="zh-TW" b="1" dirty="0" smtClean="0"/>
              <a:t>Step 1: </a:t>
            </a:r>
            <a:r>
              <a:rPr lang="en-US" altLang="zh-TW" dirty="0" smtClean="0"/>
              <a:t>m</a:t>
            </a:r>
            <a:r>
              <a:rPr lang="en-US" altLang="zh-TW" baseline="-25000" dirty="0" smtClean="0"/>
              <a:t>c</a:t>
            </a:r>
            <a:r>
              <a:rPr lang="en-US" altLang="zh-TW" dirty="0" smtClean="0"/>
              <a:t>(x </a:t>
            </a:r>
            <a:r>
              <a:rPr lang="en-US" altLang="zh-TW" dirty="0"/>
              <a:t>,y) = n(x </a:t>
            </a:r>
            <a:r>
              <a:rPr lang="en-US" altLang="zh-TW" dirty="0" smtClean="0"/>
              <a:t>,</a:t>
            </a:r>
            <a:r>
              <a:rPr lang="en-US" altLang="zh-TW" dirty="0"/>
              <a:t>c</a:t>
            </a:r>
            <a:r>
              <a:rPr lang="en-US" altLang="zh-TW" dirty="0" smtClean="0"/>
              <a:t>)=1   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random pick one </a:t>
            </a:r>
            <a:r>
              <a:rPr lang="en-US" altLang="zh-TW" dirty="0"/>
              <a:t>of ' </a:t>
            </a:r>
            <a:r>
              <a:rPr lang="en-US" altLang="zh-TW" dirty="0" smtClean="0"/>
              <a:t>c</a:t>
            </a:r>
            <a:r>
              <a:rPr lang="en-US" altLang="zh-TW" dirty="0"/>
              <a:t> '</a:t>
            </a:r>
            <a:r>
              <a:rPr lang="en-US" altLang="zh-TW" dirty="0" smtClean="0"/>
              <a:t>   </a:t>
            </a:r>
            <a:r>
              <a:rPr lang="en-US" altLang="zh-TW" dirty="0"/>
              <a:t>in y </a:t>
            </a:r>
            <a:r>
              <a:rPr lang="en-US" altLang="zh-TW" dirty="0" smtClean="0"/>
              <a:t>and delete all the others</a:t>
            </a:r>
          </a:p>
          <a:p>
            <a:pPr>
              <a:buFont typeface="Symbol"/>
              <a:buChar char="Þ"/>
            </a:pPr>
            <a:r>
              <a:rPr lang="en-US" altLang="zh-TW" dirty="0" smtClean="0"/>
              <a:t>x' = a b </a:t>
            </a:r>
            <a:r>
              <a:rPr lang="en-US" altLang="zh-TW" dirty="0" smtClean="0">
                <a:solidFill>
                  <a:srgbClr val="FF0000"/>
                </a:solidFill>
              </a:rPr>
              <a:t>c</a:t>
            </a:r>
            <a:r>
              <a:rPr lang="en-US" altLang="zh-TW" dirty="0" smtClean="0"/>
              <a:t> b a b 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b="1" dirty="0" smtClean="0"/>
              <a:t>Step 2 : </a:t>
            </a:r>
            <a:r>
              <a:rPr lang="en-US" altLang="zh-TW" dirty="0" smtClean="0"/>
              <a:t>m</a:t>
            </a:r>
            <a:r>
              <a:rPr lang="en-US" altLang="zh-TW" baseline="-25000" dirty="0" smtClean="0"/>
              <a:t>a</a:t>
            </a:r>
            <a:r>
              <a:rPr lang="en-US" altLang="zh-TW" dirty="0" smtClean="0"/>
              <a:t>(x ,y) = n(y ,a)= 1 , </a:t>
            </a:r>
            <a:r>
              <a:rPr lang="en-US" altLang="zh-TW" dirty="0" err="1" smtClean="0"/>
              <a:t>m</a:t>
            </a:r>
            <a:r>
              <a:rPr lang="en-US" altLang="zh-TW" baseline="-25000" dirty="0" err="1" smtClean="0"/>
              <a:t>b</a:t>
            </a:r>
            <a:r>
              <a:rPr lang="en-US" altLang="zh-TW" dirty="0" smtClean="0"/>
              <a:t>(x </a:t>
            </a:r>
            <a:r>
              <a:rPr lang="en-US" altLang="zh-TW" dirty="0"/>
              <a:t>,y) = </a:t>
            </a:r>
            <a:r>
              <a:rPr lang="en-US" altLang="zh-TW" dirty="0" smtClean="0"/>
              <a:t>n(y ,b)= 2 </a:t>
            </a:r>
          </a:p>
          <a:p>
            <a:pPr marL="0" indent="0">
              <a:buNone/>
            </a:pPr>
            <a:r>
              <a:rPr lang="en-US" altLang="zh-TW" dirty="0" smtClean="0"/>
              <a:t>	random </a:t>
            </a:r>
            <a:r>
              <a:rPr lang="en-US" altLang="zh-TW" dirty="0"/>
              <a:t>pick one of </a:t>
            </a:r>
            <a:r>
              <a:rPr lang="en-US" altLang="zh-TW" dirty="0" smtClean="0"/>
              <a:t>'a' or 'b'  in </a:t>
            </a:r>
            <a:r>
              <a:rPr lang="en-US" altLang="zh-TW" dirty="0"/>
              <a:t>y</a:t>
            </a:r>
            <a:r>
              <a:rPr lang="en-US" altLang="zh-TW" dirty="0" smtClean="0"/>
              <a:t>  </a:t>
            </a:r>
            <a:r>
              <a:rPr lang="en-US" altLang="zh-TW" dirty="0"/>
              <a:t>and delete all the </a:t>
            </a:r>
            <a:r>
              <a:rPr lang="en-US" altLang="zh-TW" dirty="0" smtClean="0"/>
              <a:t>others of the picked one.</a:t>
            </a:r>
          </a:p>
          <a:p>
            <a:pPr>
              <a:buFont typeface="Symbol"/>
              <a:buChar char="Þ"/>
            </a:pPr>
            <a:r>
              <a:rPr lang="en-US" altLang="zh-TW" dirty="0" smtClean="0"/>
              <a:t>y</a:t>
            </a:r>
            <a:r>
              <a:rPr lang="en-US" altLang="zh-TW" dirty="0"/>
              <a:t>' = c b c </a:t>
            </a:r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dirty="0"/>
              <a:t> </a:t>
            </a:r>
            <a:r>
              <a:rPr lang="en-US" altLang="zh-TW" dirty="0" smtClean="0"/>
              <a:t>b </a:t>
            </a:r>
            <a:r>
              <a:rPr lang="en-US" altLang="zh-TW" dirty="0"/>
              <a:t>(pick </a:t>
            </a:r>
            <a:r>
              <a:rPr lang="en-US" altLang="zh-TW" dirty="0" smtClean="0"/>
              <a:t>'a' )</a:t>
            </a:r>
          </a:p>
          <a:p>
            <a:pPr>
              <a:buFont typeface="Symbol"/>
              <a:buChar char="Þ"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b="1" dirty="0" smtClean="0"/>
              <a:t>Step 3: </a:t>
            </a:r>
            <a:r>
              <a:rPr lang="en-US" altLang="zh-TW" dirty="0" smtClean="0"/>
              <a:t>LCS(x', y') </a:t>
            </a:r>
            <a:r>
              <a:rPr lang="en-US" altLang="zh-TW" dirty="0"/>
              <a:t>= </a:t>
            </a:r>
            <a:r>
              <a:rPr lang="en-US" altLang="zh-TW" dirty="0" smtClean="0"/>
              <a:t>w' </a:t>
            </a:r>
            <a:r>
              <a:rPr lang="en-US" altLang="zh-TW" dirty="0"/>
              <a:t>= </a:t>
            </a:r>
            <a:r>
              <a:rPr lang="en-US" altLang="zh-TW" dirty="0" err="1" smtClean="0"/>
              <a:t>bcab</a:t>
            </a:r>
            <a:r>
              <a:rPr lang="en-US" altLang="zh-TW" dirty="0"/>
              <a:t>	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207240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Simple approximation </a:t>
            </a:r>
            <a:r>
              <a:rPr lang="en-US" altLang="zh-TW" dirty="0" smtClean="0"/>
              <a:t>algorithms(4/5)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Algorithm A3 : a variant of Algorithm A2 that uses less random bits.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difference now is that A3 picks uniformly at random only one number, say </a:t>
            </a:r>
            <a:r>
              <a:rPr lang="en-US" altLang="zh-TW" u="sng" dirty="0"/>
              <a:t>r</a:t>
            </a:r>
            <a:r>
              <a:rPr lang="en-US" altLang="zh-TW" dirty="0"/>
              <a:t>, in </a:t>
            </a:r>
            <a:r>
              <a:rPr lang="en-US" altLang="zh-TW" dirty="0" smtClean="0"/>
              <a:t>the  interval </a:t>
            </a:r>
            <a:r>
              <a:rPr lang="en-US" altLang="zh-TW" dirty="0"/>
              <a:t>[</a:t>
            </a:r>
            <a:r>
              <a:rPr lang="en-US" altLang="zh-TW" dirty="0" smtClean="0"/>
              <a:t>0</a:t>
            </a:r>
            <a:r>
              <a:rPr lang="en-US" altLang="zh-TW" dirty="0"/>
              <a:t>,</a:t>
            </a:r>
            <a:r>
              <a:rPr lang="en-US" altLang="zh-TW" dirty="0" smtClean="0"/>
              <a:t> 1] </a:t>
            </a:r>
            <a:r>
              <a:rPr lang="en-US" altLang="zh-TW" dirty="0"/>
              <a:t>and uses </a:t>
            </a:r>
            <a:r>
              <a:rPr lang="en-US" altLang="zh-TW" u="sng" dirty="0"/>
              <a:t>r</a:t>
            </a:r>
            <a:r>
              <a:rPr lang="en-US" altLang="zh-TW" dirty="0"/>
              <a:t> to select which occurrence of each symbol will remain.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For </a:t>
            </a:r>
            <a:r>
              <a:rPr lang="en-US" altLang="zh-TW" dirty="0"/>
              <a:t>each repeated symbol, the selection </a:t>
            </a:r>
            <a:r>
              <a:rPr lang="en-US" altLang="zh-TW" dirty="0" smtClean="0"/>
              <a:t>is done </a:t>
            </a:r>
            <a:r>
              <a:rPr lang="en-US" altLang="zh-TW" dirty="0"/>
              <a:t>using </a:t>
            </a:r>
            <a:r>
              <a:rPr lang="en-US" altLang="zh-TW" b="1" dirty="0"/>
              <a:t>the same </a:t>
            </a:r>
            <a:r>
              <a:rPr lang="en-US" altLang="zh-TW" dirty="0"/>
              <a:t>number </a:t>
            </a:r>
            <a:r>
              <a:rPr lang="en-US" altLang="zh-TW" u="sng" dirty="0"/>
              <a:t>r</a:t>
            </a:r>
            <a:r>
              <a:rPr lang="en-US" altLang="zh-TW" dirty="0"/>
              <a:t>. 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461128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Simple approximation </a:t>
            </a:r>
            <a:r>
              <a:rPr lang="en-US" altLang="zh-TW" dirty="0" smtClean="0"/>
              <a:t>algorithms(5/5)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11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altLang="zh-TW" dirty="0" smtClean="0"/>
                  <a:t>Example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x:a b c b a b		y:c </a:t>
                </a:r>
                <a:r>
                  <a:rPr lang="en-US" altLang="zh-TW" dirty="0"/>
                  <a:t>b c a b</a:t>
                </a:r>
                <a:endParaRPr lang="en-US" altLang="zh-TW" dirty="0" smtClean="0"/>
              </a:p>
              <a:p>
                <a:pPr>
                  <a:buFont typeface="Symbol"/>
                  <a:buChar char="Þ"/>
                </a:pPr>
                <a:r>
                  <a:rPr lang="en-US" altLang="zh-TW" dirty="0" smtClean="0"/>
                  <a:t>m</a:t>
                </a:r>
                <a:r>
                  <a:rPr lang="en-US" altLang="zh-TW" baseline="-25000" dirty="0" smtClean="0"/>
                  <a:t>a</a:t>
                </a:r>
                <a:r>
                  <a:rPr lang="en-US" altLang="zh-TW" dirty="0" smtClean="0"/>
                  <a:t>(x</a:t>
                </a:r>
                <a:r>
                  <a:rPr lang="en-US" altLang="zh-TW" dirty="0"/>
                  <a:t>, y)= m</a:t>
                </a:r>
                <a:r>
                  <a:rPr lang="en-US" altLang="zh-TW" baseline="-25000" dirty="0"/>
                  <a:t>c</a:t>
                </a:r>
                <a:r>
                  <a:rPr lang="en-US" altLang="zh-TW" dirty="0"/>
                  <a:t>(x, y)=1 </a:t>
                </a:r>
                <a:r>
                  <a:rPr lang="en-US" altLang="zh-TW" dirty="0" smtClean="0"/>
                  <a:t> </a:t>
                </a:r>
                <a:r>
                  <a:rPr lang="en-US" altLang="zh-TW" dirty="0" err="1" smtClean="0"/>
                  <a:t>m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(x</a:t>
                </a:r>
                <a:r>
                  <a:rPr lang="en-US" altLang="zh-TW" dirty="0"/>
                  <a:t>, y)= </a:t>
                </a:r>
                <a:r>
                  <a:rPr lang="en-US" altLang="zh-TW" dirty="0" smtClean="0"/>
                  <a:t>2    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b="1" dirty="0" smtClean="0"/>
                  <a:t>Step 1: </a:t>
                </a:r>
                <a:r>
                  <a:rPr lang="en-US" altLang="zh-TW" dirty="0"/>
                  <a:t>picks uniformly at random only one </a:t>
                </a:r>
                <a:r>
                  <a:rPr lang="en-US" altLang="zh-TW" dirty="0" smtClean="0"/>
                  <a:t>number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r =0.4 </a:t>
                </a:r>
                <a:r>
                  <a:rPr lang="en-US" altLang="zh-TW" dirty="0" smtClean="0"/>
                  <a:t>(0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altLang="zh-TW" dirty="0" smtClean="0"/>
                  <a:t>)</a:t>
                </a:r>
                <a:endParaRPr lang="en-US" altLang="zh-TW" b="1" dirty="0" smtClean="0"/>
              </a:p>
              <a:p>
                <a:pPr marL="0" indent="0">
                  <a:buNone/>
                </a:pPr>
                <a:r>
                  <a:rPr lang="en-US" altLang="zh-TW" b="1" dirty="0"/>
                  <a:t>Step </a:t>
                </a:r>
                <a:r>
                  <a:rPr lang="en-US" altLang="zh-TW" b="1" dirty="0" smtClean="0"/>
                  <a:t>2: </a:t>
                </a:r>
                <a:r>
                  <a:rPr lang="en-US" altLang="zh-TW" dirty="0"/>
                  <a:t>m</a:t>
                </a:r>
                <a:r>
                  <a:rPr lang="en-US" altLang="zh-TW" baseline="-25000" dirty="0"/>
                  <a:t>c</a:t>
                </a:r>
                <a:r>
                  <a:rPr lang="en-US" altLang="zh-TW" dirty="0"/>
                  <a:t>(x ,y) = n(x ,c)=1  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pick one </a:t>
                </a:r>
                <a:r>
                  <a:rPr lang="en-US" altLang="zh-TW" dirty="0"/>
                  <a:t>of ' </a:t>
                </a:r>
                <a:r>
                  <a:rPr lang="en-US" altLang="zh-TW" dirty="0" smtClean="0"/>
                  <a:t>c</a:t>
                </a:r>
                <a:r>
                  <a:rPr lang="en-US" altLang="zh-TW" dirty="0"/>
                  <a:t> '</a:t>
                </a:r>
                <a:r>
                  <a:rPr lang="en-US" altLang="zh-TW" dirty="0" smtClean="0"/>
                  <a:t>  </a:t>
                </a:r>
                <a:r>
                  <a:rPr lang="en-US" altLang="zh-TW" dirty="0"/>
                  <a:t>in y </a:t>
                </a:r>
                <a:r>
                  <a:rPr lang="en-US" altLang="zh-TW" dirty="0" smtClean="0"/>
                  <a:t>and delete all the others</a:t>
                </a:r>
              </a:p>
              <a:p>
                <a:pPr>
                  <a:buFont typeface="Symbol"/>
                  <a:buChar char="Þ"/>
                </a:pPr>
                <a:r>
                  <a:rPr lang="en-US" altLang="zh-TW" dirty="0" smtClean="0"/>
                  <a:t>x' = a b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dirty="0" smtClean="0"/>
                  <a:t> b a b 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b="1" dirty="0" smtClean="0"/>
                  <a:t>Step 3 : </a:t>
                </a:r>
                <a:r>
                  <a:rPr lang="en-US" altLang="zh-TW" dirty="0" smtClean="0"/>
                  <a:t>m</a:t>
                </a:r>
                <a:r>
                  <a:rPr lang="en-US" altLang="zh-TW" baseline="-25000" dirty="0" smtClean="0"/>
                  <a:t>a</a:t>
                </a:r>
                <a:r>
                  <a:rPr lang="en-US" altLang="zh-TW" dirty="0" smtClean="0"/>
                  <a:t>(x ,y) = n(y ,a)= 1 , </a:t>
                </a:r>
                <a:r>
                  <a:rPr lang="en-US" altLang="zh-TW" dirty="0" err="1" smtClean="0"/>
                  <a:t>m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(x </a:t>
                </a:r>
                <a:r>
                  <a:rPr lang="en-US" altLang="zh-TW" dirty="0"/>
                  <a:t>,y) = </a:t>
                </a:r>
                <a:r>
                  <a:rPr lang="en-US" altLang="zh-TW" dirty="0" smtClean="0"/>
                  <a:t>n(y ,b)= 2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	random </a:t>
                </a:r>
                <a:r>
                  <a:rPr lang="en-US" altLang="zh-TW" dirty="0"/>
                  <a:t>pick one of </a:t>
                </a:r>
                <a:r>
                  <a:rPr lang="en-US" altLang="zh-TW" dirty="0" smtClean="0"/>
                  <a:t>'a' or 'b'  in </a:t>
                </a:r>
                <a:r>
                  <a:rPr lang="en-US" altLang="zh-TW" dirty="0"/>
                  <a:t>y</a:t>
                </a:r>
                <a:r>
                  <a:rPr lang="en-US" altLang="zh-TW" dirty="0" smtClean="0"/>
                  <a:t>  </a:t>
                </a:r>
                <a:r>
                  <a:rPr lang="en-US" altLang="zh-TW" dirty="0"/>
                  <a:t>and delete all the </a:t>
                </a:r>
                <a:r>
                  <a:rPr lang="en-US" altLang="zh-TW" dirty="0" smtClean="0"/>
                  <a:t>others of the picked one.</a:t>
                </a:r>
              </a:p>
              <a:p>
                <a:pPr>
                  <a:buFont typeface="Symbol"/>
                  <a:buChar char="Þ"/>
                </a:pPr>
                <a:r>
                  <a:rPr lang="en-US" altLang="zh-TW" dirty="0" smtClean="0"/>
                  <a:t>y</a:t>
                </a:r>
                <a:r>
                  <a:rPr lang="en-US" altLang="zh-TW" dirty="0"/>
                  <a:t>' = c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dirty="0"/>
                  <a:t> c a </a:t>
                </a:r>
                <a:r>
                  <a:rPr lang="en-US" altLang="zh-TW" dirty="0" smtClean="0"/>
                  <a:t> (pick 'b' )</a:t>
                </a:r>
              </a:p>
              <a:p>
                <a:pPr>
                  <a:buFont typeface="Symbol"/>
                  <a:buChar char="Þ"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b="1" dirty="0" smtClean="0"/>
                  <a:t>Step </a:t>
                </a:r>
                <a:r>
                  <a:rPr lang="en-US" altLang="zh-TW" b="1" dirty="0"/>
                  <a:t>4</a:t>
                </a:r>
                <a:r>
                  <a:rPr lang="en-US" altLang="zh-TW" b="1" dirty="0" smtClean="0"/>
                  <a:t>: </a:t>
                </a:r>
                <a:r>
                  <a:rPr lang="en-US" altLang="zh-TW" dirty="0" smtClean="0"/>
                  <a:t>LCS(x', y')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w' </a:t>
                </a:r>
                <a:r>
                  <a:rPr lang="en-US" altLang="zh-TW" dirty="0"/>
                  <a:t>= </a:t>
                </a:r>
                <a:r>
                  <a:rPr lang="en-US" altLang="zh-TW" dirty="0" err="1" smtClean="0"/>
                  <a:t>cba</a:t>
                </a:r>
                <a:r>
                  <a:rPr lang="en-US" altLang="zh-TW" dirty="0"/>
                  <a:t>	</a:t>
                </a:r>
                <a:endParaRPr lang="en-US" altLang="zh-TW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 cstate="print"/>
                <a:stretch>
                  <a:fillRect l="-741" t="-18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/>
          <p:cNvGrpSpPr/>
          <p:nvPr/>
        </p:nvGrpSpPr>
        <p:grpSpPr>
          <a:xfrm>
            <a:off x="6363692" y="3212976"/>
            <a:ext cx="1567161" cy="1188132"/>
            <a:chOff x="5364088" y="2888940"/>
            <a:chExt cx="1567161" cy="1188132"/>
          </a:xfrm>
        </p:grpSpPr>
        <p:sp>
          <p:nvSpPr>
            <p:cNvPr id="11" name="矩形 10"/>
            <p:cNvSpPr/>
            <p:nvPr/>
          </p:nvSpPr>
          <p:spPr>
            <a:xfrm>
              <a:off x="5580112" y="2888940"/>
              <a:ext cx="288032" cy="324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ysClr val="windowText" lastClr="000000"/>
                  </a:solidFill>
                </a:rPr>
                <a:t>1</a:t>
              </a:r>
              <a:endParaRPr lang="zh-TW" altLang="en-US" dirty="0"/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5364088" y="2996952"/>
              <a:ext cx="1567161" cy="1080120"/>
              <a:chOff x="5364088" y="2996952"/>
              <a:chExt cx="1567161" cy="1080120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5570720" y="3753036"/>
                <a:ext cx="288032" cy="3240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ysClr val="windowText" lastClr="000000"/>
                    </a:solidFill>
                  </a:rPr>
                  <a:t>0</a:t>
                </a:r>
                <a:endParaRPr lang="zh-TW" altLang="en-US" dirty="0"/>
              </a:p>
            </p:txBody>
          </p:sp>
          <p:grpSp>
            <p:nvGrpSpPr>
              <p:cNvPr id="18" name="群組 17"/>
              <p:cNvGrpSpPr/>
              <p:nvPr/>
            </p:nvGrpSpPr>
            <p:grpSpPr>
              <a:xfrm>
                <a:off x="5364088" y="2996952"/>
                <a:ext cx="1567161" cy="936104"/>
                <a:chOff x="5364088" y="2996952"/>
                <a:chExt cx="1567161" cy="936104"/>
              </a:xfrm>
            </p:grpSpPr>
            <p:grpSp>
              <p:nvGrpSpPr>
                <p:cNvPr id="17" name="群組 16"/>
                <p:cNvGrpSpPr/>
                <p:nvPr/>
              </p:nvGrpSpPr>
              <p:grpSpPr>
                <a:xfrm>
                  <a:off x="5796136" y="2996952"/>
                  <a:ext cx="1135113" cy="936104"/>
                  <a:chOff x="5796136" y="2996952"/>
                  <a:chExt cx="1135113" cy="936104"/>
                </a:xfrm>
              </p:grpSpPr>
              <p:sp>
                <p:nvSpPr>
                  <p:cNvPr id="9" name="矩形 8"/>
                  <p:cNvSpPr/>
                  <p:nvPr/>
                </p:nvSpPr>
                <p:spPr>
                  <a:xfrm>
                    <a:off x="6643217" y="3302986"/>
                    <a:ext cx="288032" cy="3240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 smtClean="0">
                        <a:solidFill>
                          <a:sysClr val="windowText" lastClr="000000"/>
                        </a:solidFill>
                      </a:rPr>
                      <a:t>c</a:t>
                    </a:r>
                    <a:endParaRPr lang="zh-TW" altLang="en-US" dirty="0"/>
                  </a:p>
                </p:txBody>
              </p:sp>
              <p:grpSp>
                <p:nvGrpSpPr>
                  <p:cNvPr id="16" name="群組 15"/>
                  <p:cNvGrpSpPr/>
                  <p:nvPr/>
                </p:nvGrpSpPr>
                <p:grpSpPr>
                  <a:xfrm>
                    <a:off x="5796136" y="2996952"/>
                    <a:ext cx="864096" cy="936104"/>
                    <a:chOff x="5796136" y="2996952"/>
                    <a:chExt cx="864096" cy="936104"/>
                  </a:xfrm>
                </p:grpSpPr>
                <p:sp>
                  <p:nvSpPr>
                    <p:cNvPr id="7" name="矩形 6"/>
                    <p:cNvSpPr/>
                    <p:nvPr/>
                  </p:nvSpPr>
                  <p:spPr>
                    <a:xfrm>
                      <a:off x="5796136" y="2996952"/>
                      <a:ext cx="432048" cy="93610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" name="右大括弧 7"/>
                    <p:cNvSpPr/>
                    <p:nvPr/>
                  </p:nvSpPr>
                  <p:spPr>
                    <a:xfrm>
                      <a:off x="6228184" y="2996952"/>
                      <a:ext cx="432048" cy="936104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cxnSp>
                  <p:nvCxnSpPr>
                    <p:cNvPr id="13" name="直線接點 12"/>
                    <p:cNvCxnSpPr/>
                    <p:nvPr/>
                  </p:nvCxnSpPr>
                  <p:spPr>
                    <a:xfrm>
                      <a:off x="5796136" y="3627022"/>
                      <a:ext cx="432048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2"/>
                    </a:lnRef>
                    <a:fillRef idx="0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5" name="矩形 14"/>
                <p:cNvSpPr/>
                <p:nvPr/>
              </p:nvSpPr>
              <p:spPr>
                <a:xfrm>
                  <a:off x="5364088" y="3429000"/>
                  <a:ext cx="559049" cy="32403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 smtClean="0">
                      <a:solidFill>
                        <a:sysClr val="windowText" lastClr="000000"/>
                      </a:solidFill>
                    </a:rPr>
                    <a:t>0.4</a:t>
                  </a:r>
                  <a:endParaRPr lang="zh-TW" altLang="en-US" dirty="0"/>
                </a:p>
              </p:txBody>
            </p:sp>
          </p:grpSp>
        </p:grpSp>
      </p:grpSp>
      <p:grpSp>
        <p:nvGrpSpPr>
          <p:cNvPr id="34" name="群組 33"/>
          <p:cNvGrpSpPr/>
          <p:nvPr/>
        </p:nvGrpSpPr>
        <p:grpSpPr>
          <a:xfrm>
            <a:off x="6317207" y="5013176"/>
            <a:ext cx="1567161" cy="1188132"/>
            <a:chOff x="4978478" y="5013176"/>
            <a:chExt cx="1567161" cy="1188132"/>
          </a:xfrm>
        </p:grpSpPr>
        <p:sp>
          <p:nvSpPr>
            <p:cNvPr id="33" name="矩形 32"/>
            <p:cNvSpPr/>
            <p:nvPr/>
          </p:nvSpPr>
          <p:spPr>
            <a:xfrm>
              <a:off x="5410526" y="5589240"/>
              <a:ext cx="432048" cy="46805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b</a:t>
              </a:r>
              <a:r>
                <a:rPr lang="en-US" altLang="zh-TW" baseline="-25000" dirty="0" smtClean="0"/>
                <a:t>1</a:t>
              </a:r>
              <a:endParaRPr lang="zh-TW" altLang="en-US" baseline="-25000" dirty="0"/>
            </a:p>
          </p:txBody>
        </p:sp>
        <p:grpSp>
          <p:nvGrpSpPr>
            <p:cNvPr id="21" name="群組 20"/>
            <p:cNvGrpSpPr/>
            <p:nvPr/>
          </p:nvGrpSpPr>
          <p:grpSpPr>
            <a:xfrm>
              <a:off x="4978478" y="5013176"/>
              <a:ext cx="1567161" cy="1188132"/>
              <a:chOff x="5364088" y="2888940"/>
              <a:chExt cx="1567161" cy="1188132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5580112" y="2888940"/>
                <a:ext cx="288032" cy="3240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ysClr val="windowText" lastClr="000000"/>
                    </a:solidFill>
                  </a:rPr>
                  <a:t>1</a:t>
                </a:r>
                <a:endParaRPr lang="zh-TW" altLang="en-US" dirty="0"/>
              </a:p>
            </p:txBody>
          </p:sp>
          <p:grpSp>
            <p:nvGrpSpPr>
              <p:cNvPr id="23" name="群組 22"/>
              <p:cNvGrpSpPr/>
              <p:nvPr/>
            </p:nvGrpSpPr>
            <p:grpSpPr>
              <a:xfrm>
                <a:off x="5364088" y="2996952"/>
                <a:ext cx="1567161" cy="1080120"/>
                <a:chOff x="5364088" y="2996952"/>
                <a:chExt cx="1567161" cy="1080120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5570720" y="3753036"/>
                  <a:ext cx="288032" cy="32403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ysClr val="windowText" lastClr="000000"/>
                      </a:solidFill>
                    </a:rPr>
                    <a:t>0</a:t>
                  </a:r>
                  <a:endParaRPr lang="zh-TW" altLang="en-US" dirty="0"/>
                </a:p>
              </p:txBody>
            </p:sp>
            <p:grpSp>
              <p:nvGrpSpPr>
                <p:cNvPr id="25" name="群組 24"/>
                <p:cNvGrpSpPr/>
                <p:nvPr/>
              </p:nvGrpSpPr>
              <p:grpSpPr>
                <a:xfrm>
                  <a:off x="5364088" y="2996952"/>
                  <a:ext cx="1567161" cy="936104"/>
                  <a:chOff x="5364088" y="2996952"/>
                  <a:chExt cx="1567161" cy="936104"/>
                </a:xfrm>
              </p:grpSpPr>
              <p:grpSp>
                <p:nvGrpSpPr>
                  <p:cNvPr id="26" name="群組 25"/>
                  <p:cNvGrpSpPr/>
                  <p:nvPr/>
                </p:nvGrpSpPr>
                <p:grpSpPr>
                  <a:xfrm>
                    <a:off x="5796136" y="2996952"/>
                    <a:ext cx="1135113" cy="936104"/>
                    <a:chOff x="5796136" y="2996952"/>
                    <a:chExt cx="1135113" cy="936104"/>
                  </a:xfrm>
                </p:grpSpPr>
                <p:sp>
                  <p:nvSpPr>
                    <p:cNvPr id="28" name="矩形 27"/>
                    <p:cNvSpPr/>
                    <p:nvPr/>
                  </p:nvSpPr>
                  <p:spPr>
                    <a:xfrm>
                      <a:off x="6643217" y="3302986"/>
                      <a:ext cx="288032" cy="3240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dirty="0"/>
                    </a:p>
                  </p:txBody>
                </p:sp>
                <p:grpSp>
                  <p:nvGrpSpPr>
                    <p:cNvPr id="29" name="群組 28"/>
                    <p:cNvGrpSpPr/>
                    <p:nvPr/>
                  </p:nvGrpSpPr>
                  <p:grpSpPr>
                    <a:xfrm>
                      <a:off x="5796136" y="2996952"/>
                      <a:ext cx="864096" cy="936104"/>
                      <a:chOff x="5796136" y="2996952"/>
                      <a:chExt cx="864096" cy="936104"/>
                    </a:xfrm>
                  </p:grpSpPr>
                  <p:sp>
                    <p:nvSpPr>
                      <p:cNvPr id="30" name="矩形 29"/>
                      <p:cNvSpPr/>
                      <p:nvPr/>
                    </p:nvSpPr>
                    <p:spPr>
                      <a:xfrm>
                        <a:off x="5796136" y="2996952"/>
                        <a:ext cx="432048" cy="468052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 smtClean="0"/>
                          <a:t>b</a:t>
                        </a:r>
                        <a:r>
                          <a:rPr lang="en-US" altLang="zh-TW" baseline="-25000" dirty="0" smtClean="0"/>
                          <a:t>2</a:t>
                        </a:r>
                        <a:endParaRPr lang="zh-TW" altLang="en-US" baseline="-25000" dirty="0"/>
                      </a:p>
                    </p:txBody>
                  </p:sp>
                  <p:sp>
                    <p:nvSpPr>
                      <p:cNvPr id="31" name="右大括弧 30"/>
                      <p:cNvSpPr/>
                      <p:nvPr/>
                    </p:nvSpPr>
                    <p:spPr>
                      <a:xfrm>
                        <a:off x="6228184" y="2996952"/>
                        <a:ext cx="432048" cy="936104"/>
                      </a:xfrm>
                      <a:prstGeom prst="rightBrac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cxnSp>
                    <p:nvCxnSpPr>
                      <p:cNvPr id="32" name="直線接點 31"/>
                      <p:cNvCxnSpPr/>
                      <p:nvPr/>
                    </p:nvCxnSpPr>
                    <p:spPr>
                      <a:xfrm>
                        <a:off x="5796136" y="3627022"/>
                        <a:ext cx="432048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2"/>
                      </a:lnRef>
                      <a:fillRef idx="0">
                        <a:schemeClr val="accent2"/>
                      </a:fillRef>
                      <a:effectRef idx="1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7" name="矩形 26"/>
                  <p:cNvSpPr/>
                  <p:nvPr/>
                </p:nvSpPr>
                <p:spPr>
                  <a:xfrm>
                    <a:off x="5364088" y="3429000"/>
                    <a:ext cx="559049" cy="3240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 smtClean="0">
                        <a:solidFill>
                          <a:sysClr val="windowText" lastClr="000000"/>
                        </a:solidFill>
                      </a:rPr>
                      <a:t>0.4</a:t>
                    </a:r>
                    <a:endParaRPr lang="zh-TW" altLang="en-US" dirty="0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xmlns="" val="404877381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IP(Integer programing) </a:t>
            </a:r>
            <a:r>
              <a:rPr lang="en-US" altLang="zh-TW" dirty="0"/>
              <a:t>based exact algorithm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The IP formulation is then as follows.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Maximize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)∈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𝐸</m:t>
                        </m:r>
                      </m:sub>
                      <m:sup/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𝑧</m:t>
                        </m:r>
                        <m:r>
                          <a:rPr lang="en-US" altLang="zh-TW" b="0" i="1" baseline="-25000" smtClean="0">
                            <a:latin typeface="Cambria Math"/>
                          </a:rPr>
                          <m:t>𝑖𝑗</m:t>
                        </m:r>
                      </m:e>
                    </m:nary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subject </a:t>
                </a:r>
                <a:r>
                  <a:rPr lang="en-US" altLang="zh-TW" dirty="0"/>
                  <a:t>to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1.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)∈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𝐸𝑎</m:t>
                        </m:r>
                      </m:sub>
                      <m:sup/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𝑧</m:t>
                        </m:r>
                        <m:r>
                          <a:rPr lang="en-US" altLang="zh-TW" b="0" i="1" baseline="-25000" smtClean="0">
                            <a:latin typeface="Cambria Math"/>
                          </a:rPr>
                          <m:t>𝑖𝑗</m:t>
                        </m:r>
                      </m:e>
                    </m:nary>
                  </m:oMath>
                </a14:m>
                <a:r>
                  <a:rPr lang="en-US" altLang="zh-TW" dirty="0" smtClean="0"/>
                  <a:t>for </a:t>
                </a:r>
                <a:r>
                  <a:rPr lang="en-US" altLang="zh-TW" dirty="0"/>
                  <a:t>each symbol a;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2.</m:t>
                    </m:r>
                    <m:r>
                      <a:rPr lang="en-US" altLang="zh-TW" i="1" smtClean="0">
                        <a:latin typeface="Cambria Math"/>
                      </a:rPr>
                      <m:t>𝑧</m:t>
                    </m:r>
                    <m:r>
                      <a:rPr lang="en-US" altLang="zh-TW" i="1" baseline="-25000">
                        <a:latin typeface="Cambria Math"/>
                      </a:rPr>
                      <m:t>𝑖𝑗</m:t>
                    </m:r>
                  </m:oMath>
                </a14:m>
                <a:r>
                  <a:rPr lang="en-US" altLang="zh-TW" dirty="0" smtClean="0"/>
                  <a:t>+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𝑧</m:t>
                    </m:r>
                    <m:r>
                      <a:rPr lang="en-US" altLang="zh-TW" b="0" i="1" baseline="-25000" smtClean="0">
                        <a:latin typeface="Cambria Math"/>
                      </a:rPr>
                      <m:t>𝑘𝑙</m:t>
                    </m:r>
                    <m:r>
                      <a:rPr lang="en-US" altLang="zh-TW" i="1" baseline="-25000" smtClean="0">
                        <a:latin typeface="Cambria Math"/>
                      </a:rPr>
                      <m:t> </m:t>
                    </m:r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baseline="-2500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1 </a:t>
                </a:r>
                <a:r>
                  <a:rPr lang="en-US" altLang="zh-TW" dirty="0"/>
                  <a:t>for each </a:t>
                </a:r>
                <a:r>
                  <a:rPr lang="en-US" altLang="zh-TW" dirty="0" smtClean="0"/>
                  <a:t>(i, j)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(k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l) </a:t>
                </a:r>
                <a:r>
                  <a:rPr lang="en-US" altLang="zh-TW" dirty="0"/>
                  <a:t>in </a:t>
                </a:r>
                <a:r>
                  <a:rPr lang="en-US" altLang="zh-TW" dirty="0" smtClean="0"/>
                  <a:t>E that cross</a:t>
                </a:r>
                <a:r>
                  <a:rPr lang="en-US" altLang="zh-TW" dirty="0"/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3.</m:t>
                    </m:r>
                    <m:r>
                      <a:rPr lang="en-US" altLang="zh-TW" i="1">
                        <a:latin typeface="Cambria Math"/>
                      </a:rPr>
                      <m:t>𝑧</m:t>
                    </m:r>
                    <m:r>
                      <a:rPr lang="en-US" altLang="zh-TW" i="1" baseline="-25000">
                        <a:latin typeface="Cambria Math"/>
                      </a:rPr>
                      <m:t>𝑖𝑗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altLang="zh-TW" dirty="0" smtClean="0"/>
                  <a:t> {0,1}  </a:t>
                </a:r>
                <a:r>
                  <a:rPr lang="en-US" altLang="zh-TW" dirty="0"/>
                  <a:t>for each </a:t>
                </a:r>
                <a:r>
                  <a:rPr lang="en-US" altLang="zh-TW" dirty="0" smtClean="0"/>
                  <a:t>(i, j) </a:t>
                </a:r>
                <a:r>
                  <a:rPr lang="en-US" altLang="zh-TW" dirty="0"/>
                  <a:t>in E</a:t>
                </a:r>
                <a:r>
                  <a:rPr lang="en-US" altLang="zh-TW" dirty="0" smtClean="0"/>
                  <a:t>.</a:t>
                </a:r>
              </a:p>
              <a:p>
                <a:pPr lvl="1"/>
                <a:r>
                  <a:rPr lang="da-DK" altLang="zh-TW" dirty="0"/>
                  <a:t>E</a:t>
                </a:r>
                <a:r>
                  <a:rPr lang="da-DK" altLang="zh-TW" baseline="-25000" dirty="0"/>
                  <a:t>a</a:t>
                </a:r>
                <a:r>
                  <a:rPr lang="da-DK" altLang="zh-TW" dirty="0"/>
                  <a:t> </a:t>
                </a:r>
                <a:r>
                  <a:rPr lang="da-DK" altLang="zh-TW" dirty="0" smtClean="0"/>
                  <a:t>={ (i</a:t>
                </a:r>
                <a:r>
                  <a:rPr lang="da-DK" altLang="zh-TW" dirty="0"/>
                  <a:t>,</a:t>
                </a:r>
                <a:r>
                  <a:rPr lang="da-DK" altLang="zh-TW" dirty="0" smtClean="0"/>
                  <a:t> j) :  </a:t>
                </a:r>
                <a:r>
                  <a:rPr lang="da-DK" altLang="zh-TW" dirty="0"/>
                  <a:t>x</a:t>
                </a:r>
                <a:r>
                  <a:rPr lang="da-DK" altLang="zh-TW" baseline="-25000" dirty="0"/>
                  <a:t>i</a:t>
                </a:r>
                <a:r>
                  <a:rPr lang="da-DK" altLang="zh-TW" dirty="0"/>
                  <a:t> </a:t>
                </a:r>
                <a:r>
                  <a:rPr lang="da-DK" altLang="zh-TW" dirty="0" smtClean="0"/>
                  <a:t>= </a:t>
                </a:r>
                <a:r>
                  <a:rPr lang="da-DK" altLang="zh-TW" dirty="0"/>
                  <a:t>y</a:t>
                </a:r>
                <a:r>
                  <a:rPr lang="da-DK" altLang="zh-TW" baseline="-25000" dirty="0"/>
                  <a:t>j</a:t>
                </a:r>
                <a:r>
                  <a:rPr lang="da-DK" altLang="zh-TW" dirty="0"/>
                  <a:t> </a:t>
                </a:r>
                <a:r>
                  <a:rPr lang="da-DK" altLang="zh-TW" dirty="0" smtClean="0"/>
                  <a:t>= a} </a:t>
                </a:r>
              </a:p>
              <a:p>
                <a:pPr lvl="1"/>
                <a:r>
                  <a:rPr lang="da-DK" altLang="zh-TW" dirty="0" smtClean="0"/>
                  <a:t>set E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b="0" i="1" baseline="-2500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(</a:t>
                </a:r>
                <a:r>
                  <a:rPr lang="en-US" altLang="zh-TW" dirty="0"/>
                  <a:t>used GLPK, a general purpose IP solver</a:t>
                </a:r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704" t="-3774" b="-3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12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6948264" y="4043031"/>
                <a:ext cx="1407758" cy="147732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Example:</a:t>
                </a:r>
              </a:p>
              <a:p>
                <a:r>
                  <a:rPr lang="en-US" altLang="zh-TW" dirty="0" smtClean="0"/>
                  <a:t>x:a 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b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dirty="0"/>
                  <a:t> b a </a:t>
                </a:r>
                <a:r>
                  <a:rPr lang="en-US" altLang="zh-TW" dirty="0" smtClean="0"/>
                  <a:t>b</a:t>
                </a:r>
              </a:p>
              <a:p>
                <a:r>
                  <a:rPr lang="en-US" altLang="zh-TW" dirty="0"/>
                  <a:t>y:c b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dirty="0"/>
                  <a:t> a 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b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𝑧</m:t>
                    </m:r>
                    <m:r>
                      <a:rPr lang="en-US" altLang="zh-TW" b="0" i="1" baseline="-2500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altLang="zh-TW" dirty="0"/>
                  <a:t>+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𝑧</m:t>
                    </m:r>
                    <m:r>
                      <a:rPr lang="en-US" altLang="zh-TW" b="0" i="1" baseline="-25000" smtClean="0">
                        <a:latin typeface="Cambria Math" panose="02040503050406030204" pitchFamily="18" charset="0"/>
                      </a:rPr>
                      <m:t>33</m:t>
                    </m:r>
                    <m:r>
                      <a:rPr lang="en-US" altLang="zh-TW" i="1" baseline="-25000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≤ </m:t>
                    </m:r>
                    <m:r>
                      <a:rPr lang="en-US" altLang="zh-TW" i="1" baseline="-2500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1</a:t>
                </a:r>
                <a:endParaRPr lang="en-US" altLang="zh-TW" dirty="0" smtClean="0"/>
              </a:p>
              <a:p>
                <a:r>
                  <a:rPr lang="en-US" altLang="zh-TW" dirty="0" smtClean="0"/>
                  <a:t>  </a:t>
                </a:r>
                <a:r>
                  <a:rPr lang="en-US" altLang="zh-TW" dirty="0" smtClean="0">
                    <a:solidFill>
                      <a:schemeClr val="accent1"/>
                    </a:solidFill>
                  </a:rPr>
                  <a:t>b</a:t>
                </a:r>
                <a:r>
                  <a:rPr lang="en-US" altLang="zh-TW" dirty="0" smtClean="0"/>
                  <a:t>     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c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4043031"/>
                <a:ext cx="1407758" cy="1477328"/>
              </a:xfrm>
              <a:prstGeom prst="rect">
                <a:avLst/>
              </a:prstGeom>
              <a:blipFill rotWithShape="0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7714130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384004"/>
            <a:ext cx="9136362" cy="5565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Computational </a:t>
            </a:r>
            <a:r>
              <a:rPr lang="en-US" altLang="zh-TW" dirty="0" smtClean="0"/>
              <a:t>experiments</a:t>
            </a:r>
            <a:br>
              <a:rPr lang="en-US" altLang="zh-TW" dirty="0" smtClean="0"/>
            </a:br>
            <a:r>
              <a:rPr lang="en-US" altLang="zh-TW" sz="2200" dirty="0" smtClean="0"/>
              <a:t>(Type 1:the </a:t>
            </a:r>
            <a:r>
              <a:rPr lang="en-US" altLang="zh-TW" sz="2200" dirty="0"/>
              <a:t>length and the alphabet </a:t>
            </a:r>
            <a:r>
              <a:rPr lang="en-US" altLang="zh-TW" sz="2200" dirty="0" smtClean="0"/>
              <a:t>size,</a:t>
            </a:r>
            <a:r>
              <a:rPr lang="en-US" altLang="zh-TW" sz="2000" dirty="0"/>
              <a:t> 10 instances</a:t>
            </a:r>
            <a:r>
              <a:rPr lang="en-US" altLang="zh-TW" sz="2200" dirty="0" smtClean="0"/>
              <a:t>)</a:t>
            </a:r>
            <a:r>
              <a:rPr lang="zh-TW" altLang="en-US" sz="2200" dirty="0"/>
              <a:t/>
            </a:r>
            <a:br>
              <a:rPr lang="zh-TW" altLang="en-US" sz="2200" dirty="0"/>
            </a:br>
            <a:endParaRPr lang="zh-TW" altLang="en-US" sz="2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24008" y="5805264"/>
            <a:ext cx="9132511" cy="11994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altLang="zh-TW" sz="1500" dirty="0" smtClean="0"/>
          </a:p>
          <a:p>
            <a:pPr marL="0" indent="0">
              <a:buNone/>
            </a:pPr>
            <a:r>
              <a:rPr lang="en-US" altLang="zh-TW" sz="1500" dirty="0" smtClean="0"/>
              <a:t>(</a:t>
            </a:r>
            <a:r>
              <a:rPr lang="en-US" altLang="zh-TW" sz="1500" dirty="0" err="1" smtClean="0"/>
              <a:t>x,y</a:t>
            </a:r>
            <a:r>
              <a:rPr lang="en-US" altLang="zh-TW" sz="1500" dirty="0" smtClean="0"/>
              <a:t>) 	x : </a:t>
            </a:r>
            <a:r>
              <a:rPr lang="en-US" altLang="zh-TW" sz="1500" dirty="0"/>
              <a:t>the number of times (out of 10) that the corresponding algorithm is the best of the </a:t>
            </a:r>
            <a:r>
              <a:rPr lang="en-US" altLang="zh-TW" sz="1500" dirty="0" smtClean="0"/>
              <a:t>three</a:t>
            </a:r>
            <a:r>
              <a:rPr lang="en-US" altLang="zh-TW" sz="1500" dirty="0"/>
              <a:t>.</a:t>
            </a:r>
            <a:endParaRPr lang="en-US" altLang="zh-TW" sz="1500" dirty="0" smtClean="0"/>
          </a:p>
          <a:p>
            <a:pPr marL="0" indent="0">
              <a:buNone/>
            </a:pPr>
            <a:r>
              <a:rPr lang="en-US" altLang="zh-TW" sz="1500" dirty="0" smtClean="0"/>
              <a:t>	y : </a:t>
            </a:r>
            <a:r>
              <a:rPr lang="en-US" altLang="zh-TW" sz="1500" dirty="0"/>
              <a:t>the number of times </a:t>
            </a:r>
            <a:r>
              <a:rPr lang="en-US" altLang="zh-TW" sz="1500" dirty="0" smtClean="0"/>
              <a:t>it found </a:t>
            </a:r>
            <a:r>
              <a:rPr lang="en-US" altLang="zh-TW" sz="1500" dirty="0"/>
              <a:t>an optimal </a:t>
            </a:r>
            <a:r>
              <a:rPr lang="en-US" altLang="zh-TW" sz="1500" dirty="0" smtClean="0"/>
              <a:t>solution.</a:t>
            </a:r>
          </a:p>
          <a:p>
            <a:pPr marL="0" indent="0">
              <a:buNone/>
            </a:pPr>
            <a:r>
              <a:rPr lang="en-US" altLang="zh-TW" sz="1500" dirty="0" smtClean="0"/>
              <a:t>Max:  </a:t>
            </a:r>
            <a:r>
              <a:rPr lang="en-US" altLang="zh-TW" sz="1600" dirty="0" smtClean="0"/>
              <a:t>the average solution length for the algorithm that runs A1, A2, and A3 and outputs the best solution found.</a:t>
            </a:r>
            <a:endParaRPr lang="zh-TW" altLang="en-US" sz="15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-2170112" y="6309320"/>
            <a:ext cx="2133600" cy="365125"/>
          </a:xfrm>
        </p:spPr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13</a:t>
            </a:fld>
            <a:endParaRPr lang="zh-TW" altLang="en-US"/>
          </a:p>
        </p:txBody>
      </p:sp>
      <p:cxnSp>
        <p:nvCxnSpPr>
          <p:cNvPr id="9" name="直線接點 8"/>
          <p:cNvCxnSpPr/>
          <p:nvPr/>
        </p:nvCxnSpPr>
        <p:spPr>
          <a:xfrm>
            <a:off x="1547664" y="1041563"/>
            <a:ext cx="0" cy="4619685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092280" y="1772816"/>
            <a:ext cx="432048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3419872" y="1772816"/>
            <a:ext cx="36004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092280" y="1063331"/>
            <a:ext cx="0" cy="4669925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524328" y="1052736"/>
            <a:ext cx="0" cy="468052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979712" y="1041563"/>
            <a:ext cx="0" cy="4619685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8748464" y="2204864"/>
            <a:ext cx="36004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-36512" y="2337996"/>
            <a:ext cx="9180512" cy="1163012"/>
          </a:xfrm>
          <a:prstGeom prst="rect">
            <a:avLst/>
          </a:prstGeom>
          <a:noFill/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-36512" y="3501008"/>
            <a:ext cx="9180512" cy="1152128"/>
          </a:xfrm>
          <a:prstGeom prst="rect">
            <a:avLst/>
          </a:prstGeom>
          <a:noFill/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3" name="文字方塊 1032"/>
          <p:cNvSpPr txBox="1"/>
          <p:nvPr/>
        </p:nvSpPr>
        <p:spPr>
          <a:xfrm>
            <a:off x="7668344" y="303039"/>
            <a:ext cx="147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obtained by </a:t>
            </a:r>
            <a:r>
              <a:rPr lang="en-US" altLang="zh-TW" sz="1200" dirty="0" smtClean="0">
                <a:solidFill>
                  <a:srgbClr val="FF0000"/>
                </a:solidFill>
              </a:rPr>
              <a:t>our branch-and-cut code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034" name="矩形 1033"/>
          <p:cNvSpPr/>
          <p:nvPr/>
        </p:nvSpPr>
        <p:spPr>
          <a:xfrm>
            <a:off x="7668344" y="2132856"/>
            <a:ext cx="16767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 smtClean="0">
                <a:solidFill>
                  <a:srgbClr val="FF0000"/>
                </a:solidFill>
              </a:rPr>
              <a:t>More than </a:t>
            </a:r>
            <a:r>
              <a:rPr lang="en-US" altLang="zh-TW" sz="1200" dirty="0">
                <a:solidFill>
                  <a:srgbClr val="FF0000"/>
                </a:solidFill>
              </a:rPr>
              <a:t>two </a:t>
            </a:r>
            <a:r>
              <a:rPr lang="en-US" altLang="zh-TW" sz="1200" dirty="0" smtClean="0">
                <a:solidFill>
                  <a:srgbClr val="FF0000"/>
                </a:solidFill>
              </a:rPr>
              <a:t>hours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035" name="矩形 1034"/>
          <p:cNvSpPr/>
          <p:nvPr/>
        </p:nvSpPr>
        <p:spPr>
          <a:xfrm>
            <a:off x="8676455" y="764703"/>
            <a:ext cx="467545" cy="2768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21448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714" y="2287075"/>
            <a:ext cx="2251030" cy="42184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39869"/>
            <a:ext cx="7560840" cy="3618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16714" y="2719123"/>
            <a:ext cx="2251030" cy="1789997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11760" y="8342"/>
            <a:ext cx="6192688" cy="3276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2276872"/>
            <a:ext cx="24117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Observation 1:</a:t>
            </a:r>
          </a:p>
          <a:p>
            <a:endParaRPr lang="en-US" altLang="zh-TW" dirty="0"/>
          </a:p>
          <a:p>
            <a:r>
              <a:rPr lang="en-US" altLang="zh-TW" dirty="0"/>
              <a:t>that the performance of the approximation algorithms improves when the number of repetitions </a:t>
            </a:r>
            <a:r>
              <a:rPr lang="en-US" altLang="zh-TW" dirty="0" smtClean="0"/>
              <a:t>decreases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8108612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1720" y="-171400"/>
            <a:ext cx="6480720" cy="326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16714" y="2060848"/>
            <a:ext cx="2035006" cy="42184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101114"/>
            <a:ext cx="7776864" cy="375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16714" y="2492896"/>
            <a:ext cx="2035006" cy="259228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0" y="2060848"/>
            <a:ext cx="21237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Observation 2: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for </a:t>
            </a:r>
            <a:r>
              <a:rPr lang="en-US" altLang="zh-TW" dirty="0"/>
              <a:t>a fixed (expected) number of repetitions of each symbol, the </a:t>
            </a:r>
            <a:r>
              <a:rPr lang="en-US" altLang="zh-TW" dirty="0" err="1" smtClean="0"/>
              <a:t>perfor-mance</a:t>
            </a:r>
            <a:r>
              <a:rPr lang="en-US" altLang="zh-TW" dirty="0" smtClean="0"/>
              <a:t> of the </a:t>
            </a:r>
            <a:r>
              <a:rPr lang="en-US" altLang="zh-TW" dirty="0" err="1" smtClean="0"/>
              <a:t>algor-ithms</a:t>
            </a:r>
            <a:r>
              <a:rPr lang="en-US" altLang="zh-TW" dirty="0" smtClean="0"/>
              <a:t> </a:t>
            </a:r>
            <a:r>
              <a:rPr lang="en-US" altLang="zh-TW" dirty="0"/>
              <a:t>decays when the length of the sequences increases.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889479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1681" y="3437950"/>
            <a:ext cx="7452319" cy="342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1681" y="0"/>
            <a:ext cx="7466764" cy="343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橢圓 5"/>
          <p:cNvSpPr/>
          <p:nvPr/>
        </p:nvSpPr>
        <p:spPr>
          <a:xfrm>
            <a:off x="4139952" y="2708920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112332" y="6165304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0" y="260648"/>
                <a:ext cx="3059832" cy="286232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dirty="0" smtClean="0"/>
                  <a:t>For</a:t>
                </a:r>
              </a:p>
              <a:p>
                <a:r>
                  <a:rPr lang="en-US" altLang="zh-TW" dirty="0"/>
                  <a:t>sequences of length n &lt; 128, Algorithm A2 finds better solutions than Algorithm A1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But </a:t>
                </a:r>
                <a:r>
                  <a:rPr lang="en-US" altLang="zh-TW" dirty="0"/>
                  <a:t>for n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128</a:t>
                </a:r>
                <a:r>
                  <a:rPr lang="en-US" altLang="zh-TW" dirty="0"/>
                  <a:t>, Algorithm A1</a:t>
                </a:r>
              </a:p>
              <a:p>
                <a:r>
                  <a:rPr lang="en-US" altLang="zh-TW" dirty="0"/>
                  <a:t>outperforms Algorithm A2. In these figures, we also note that as n gets larger, Max finds fewer optimal solutions.</a:t>
                </a:r>
                <a:endParaRPr lang="zh-TW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0648"/>
                <a:ext cx="3059832" cy="2862322"/>
              </a:xfrm>
              <a:prstGeom prst="rect">
                <a:avLst/>
              </a:prstGeom>
              <a:blipFill rotWithShape="0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6773357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TW" sz="5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zh-TW" sz="5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zh-TW" sz="5000" dirty="0" smtClean="0">
                <a:latin typeface="Times New Roman" pitchFamily="18" charset="0"/>
                <a:cs typeface="Times New Roman" pitchFamily="18" charset="0"/>
              </a:rPr>
              <a:t>Thanks for listening.</a:t>
            </a:r>
          </a:p>
          <a:p>
            <a:pPr marL="0" indent="0" algn="ctr">
              <a:buNone/>
            </a:pP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906670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1882552" cy="4525963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2"/>
            <a:ext cx="6578302" cy="5778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Computational </a:t>
            </a:r>
            <a:r>
              <a:rPr lang="en-US" altLang="zh-TW" dirty="0" smtClean="0"/>
              <a:t>experiments</a:t>
            </a:r>
            <a:br>
              <a:rPr lang="en-US" altLang="zh-TW" dirty="0" smtClean="0"/>
            </a:br>
            <a:r>
              <a:rPr lang="en-US" altLang="zh-TW" sz="2200" dirty="0" smtClean="0"/>
              <a:t>(Type 1:alphabet </a:t>
            </a:r>
            <a:r>
              <a:rPr lang="en-US" altLang="zh-TW" sz="2200" dirty="0"/>
              <a:t>size</a:t>
            </a:r>
            <a:r>
              <a:rPr lang="en-US" altLang="zh-TW" sz="2200" dirty="0" smtClean="0"/>
              <a:t> and </a:t>
            </a:r>
            <a:r>
              <a:rPr lang="en-US" altLang="zh-TW" sz="2000" dirty="0" smtClean="0"/>
              <a:t>the </a:t>
            </a:r>
            <a:r>
              <a:rPr lang="en-US" altLang="zh-TW" sz="2000" dirty="0"/>
              <a:t>maximum number of repetitions</a:t>
            </a:r>
            <a:r>
              <a:rPr lang="en-US" altLang="zh-TW" sz="2200" dirty="0" smtClean="0"/>
              <a:t>)</a:t>
            </a:r>
            <a:r>
              <a:rPr lang="zh-TW" altLang="en-US" sz="2200" dirty="0"/>
              <a:t/>
            </a:r>
            <a:br>
              <a:rPr lang="zh-TW" altLang="en-US" sz="2200" dirty="0"/>
            </a:b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160482023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Analysis of the probabilistic algorithms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we </a:t>
                </a:r>
                <a:r>
                  <a:rPr lang="en-US" altLang="zh-TW" dirty="0"/>
                  <a:t>say </a:t>
                </a:r>
                <a:r>
                  <a:rPr lang="en-US" altLang="zh-TW" u="sng" dirty="0"/>
                  <a:t>A</a:t>
                </a:r>
                <a:r>
                  <a:rPr lang="en-US" altLang="zh-TW" dirty="0"/>
                  <a:t> is an </a:t>
                </a:r>
                <a:r>
                  <a:rPr lang="el-GR" altLang="zh-TW" dirty="0"/>
                  <a:t>α </a:t>
                </a:r>
                <a:r>
                  <a:rPr lang="en-US" altLang="zh-TW" dirty="0" smtClean="0"/>
                  <a:t>-</a:t>
                </a:r>
                <a:r>
                  <a:rPr lang="en-US" altLang="zh-TW" dirty="0"/>
                  <a:t>approximation </a:t>
                </a:r>
                <a:r>
                  <a:rPr lang="en-US" altLang="zh-TW" dirty="0" smtClean="0"/>
                  <a:t>for RFLCS(x, y) if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E[A(x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,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y)]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 opt(RFLCS(x, y))/</a:t>
                </a:r>
                <a:r>
                  <a:rPr lang="el-GR" altLang="zh-TW" dirty="0" smtClean="0">
                    <a:solidFill>
                      <a:srgbClr val="FF0000"/>
                    </a:solidFill>
                  </a:rPr>
                  <a:t>α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for all x and y. The number </a:t>
                </a:r>
                <a:r>
                  <a:rPr lang="en-US" altLang="zh-TW" dirty="0" smtClean="0"/>
                  <a:t>may </a:t>
                </a:r>
                <a:r>
                  <a:rPr lang="en-US" altLang="zh-TW" dirty="0"/>
                  <a:t>depend on x and y.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  <a:blipFill rotWithShape="1">
                <a:blip r:embed="rId2" cstate="print"/>
                <a:stretch>
                  <a:fillRect l="-1618" t="-1887" r="-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pPr/>
              <a:t>2015/6/16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671536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2695</TotalTime>
  <Words>509</Words>
  <Application>Microsoft Office PowerPoint</Application>
  <PresentationFormat>如螢幕大小 (4:3)</PresentationFormat>
  <Paragraphs>143</Paragraphs>
  <Slides>19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Office 佈景主題</vt:lpstr>
      <vt:lpstr> Repetition-free longest common subsequence</vt:lpstr>
      <vt:lpstr>Abstract</vt:lpstr>
      <vt:lpstr>Definition</vt:lpstr>
      <vt:lpstr>Polynomially solvable cases of RFLCS(x ,y)(1/2)</vt:lpstr>
      <vt:lpstr>Polynomially solvable cases of RFLCS(x ,y)(1/2)</vt:lpstr>
      <vt:lpstr>Polynomially solvable cases of RFLCS(x ,y)(1/2)</vt:lpstr>
      <vt:lpstr>Simple approximation algorithms(1/5)</vt:lpstr>
      <vt:lpstr>Simple approximation algorithms(2/5)</vt:lpstr>
      <vt:lpstr>Simple approximation algorithms(3/5)</vt:lpstr>
      <vt:lpstr>Simple approximation algorithms(4/5)</vt:lpstr>
      <vt:lpstr>Simple approximation algorithms(5/5)</vt:lpstr>
      <vt:lpstr>An IP(Integer programing) based exact algorithm</vt:lpstr>
      <vt:lpstr>Computational experiments (Type 1:the length and the alphabet size, 10 instances) </vt:lpstr>
      <vt:lpstr>投影片 14</vt:lpstr>
      <vt:lpstr>投影片 15</vt:lpstr>
      <vt:lpstr>投影片 16</vt:lpstr>
      <vt:lpstr>投影片 17</vt:lpstr>
      <vt:lpstr>Computational experiments (Type 1:alphabet size and the maximum number of repetitions) </vt:lpstr>
      <vt:lpstr>Analysis of the probabilistic algorithms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Variants of constrained longest common subsequence</dc:title>
  <dc:creator>Leo</dc:creator>
  <cp:lastModifiedBy>cse</cp:lastModifiedBy>
  <cp:revision>81</cp:revision>
  <dcterms:created xsi:type="dcterms:W3CDTF">2015-05-03T19:12:17Z</dcterms:created>
  <dcterms:modified xsi:type="dcterms:W3CDTF">2015-06-16T11:07:43Z</dcterms:modified>
</cp:coreProperties>
</file>