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71" r:id="rId14"/>
    <p:sldId id="268" r:id="rId15"/>
    <p:sldId id="269"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700" autoAdjust="0"/>
  </p:normalViewPr>
  <p:slideViewPr>
    <p:cSldViewPr snapToGrid="0">
      <p:cViewPr varScale="1">
        <p:scale>
          <a:sx n="68" d="100"/>
          <a:sy n="68" d="100"/>
        </p:scale>
        <p:origin x="-509" y="-7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558167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1812871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800328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161838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221810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4187644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3925252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366095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1917540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216880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136685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9FEAEE-6910-47A6-8373-C086D4A07582}" type="datetimeFigureOut">
              <a:rPr lang="zh-TW" altLang="en-US" smtClean="0"/>
              <a:pPr/>
              <a:t>2015/4/21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770675-3099-4D75-B129-0A43A00B1379}" type="slidenum">
              <a:rPr lang="zh-TW" altLang="en-US" smtClean="0"/>
              <a:pPr/>
              <a:t>‹#›</a:t>
            </a:fld>
            <a:endParaRPr lang="zh-TW" altLang="en-US"/>
          </a:p>
        </p:txBody>
      </p:sp>
    </p:spTree>
    <p:extLst>
      <p:ext uri="{BB962C8B-B14F-4D97-AF65-F5344CB8AC3E}">
        <p14:creationId xmlns:p14="http://schemas.microsoft.com/office/powerpoint/2010/main" xmlns="" val="4050214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362465"/>
            <a:ext cx="9144000" cy="3127258"/>
          </a:xfrm>
        </p:spPr>
        <p:txBody>
          <a:bodyPr>
            <a:normAutofit fontScale="90000"/>
          </a:bodyPr>
          <a:lstStyle/>
          <a:p>
            <a:r>
              <a:rPr lang="en-US" altLang="zh-TW" dirty="0">
                <a:latin typeface="Times New Roman"/>
                <a:cs typeface="Times New Roman"/>
              </a:rPr>
              <a:t>A Fast and Accurate Online </a:t>
            </a:r>
            <a:r>
              <a:rPr lang="en-US" altLang="zh-TW" dirty="0" smtClean="0">
                <a:latin typeface="Times New Roman"/>
                <a:cs typeface="Times New Roman"/>
              </a:rPr>
              <a:t>Sequential</a:t>
            </a:r>
            <a:r>
              <a:rPr lang="zh-TW" altLang="en-US" dirty="0" smtClean="0">
                <a:latin typeface="Times New Roman"/>
                <a:cs typeface="Times New Roman"/>
              </a:rPr>
              <a:t> </a:t>
            </a:r>
            <a:r>
              <a:rPr lang="en-US" altLang="zh-TW" dirty="0" smtClean="0">
                <a:latin typeface="Times New Roman"/>
                <a:cs typeface="Times New Roman"/>
              </a:rPr>
              <a:t>Learning</a:t>
            </a:r>
            <a:r>
              <a:rPr lang="zh-TW" altLang="en-US" dirty="0" smtClean="0">
                <a:latin typeface="Times New Roman"/>
                <a:cs typeface="Times New Roman"/>
              </a:rPr>
              <a:t> </a:t>
            </a:r>
            <a:r>
              <a:rPr lang="en-US" altLang="zh-TW" dirty="0" smtClean="0">
                <a:latin typeface="Times New Roman"/>
                <a:cs typeface="Times New Roman"/>
              </a:rPr>
              <a:t>Algorithm </a:t>
            </a:r>
            <a:r>
              <a:rPr lang="en-US" altLang="zh-TW" dirty="0">
                <a:latin typeface="Times New Roman"/>
                <a:cs typeface="Times New Roman"/>
              </a:rPr>
              <a:t>for </a:t>
            </a:r>
            <a:r>
              <a:rPr lang="en-US" altLang="zh-TW" dirty="0" smtClean="0">
                <a:latin typeface="Times New Roman"/>
                <a:cs typeface="Times New Roman"/>
              </a:rPr>
              <a:t>Feedforward</a:t>
            </a:r>
            <a:r>
              <a:rPr lang="zh-TW" altLang="en-US" dirty="0" smtClean="0">
                <a:latin typeface="Times New Roman"/>
                <a:cs typeface="Times New Roman"/>
              </a:rPr>
              <a:t> </a:t>
            </a:r>
            <a:r>
              <a:rPr lang="en-US" altLang="zh-TW" dirty="0" smtClean="0">
                <a:latin typeface="Times New Roman"/>
                <a:cs typeface="Times New Roman"/>
              </a:rPr>
              <a:t>Networks</a:t>
            </a:r>
            <a:endParaRPr lang="zh-TW" altLang="en-US" dirty="0">
              <a:latin typeface="Times New Roman"/>
              <a:cs typeface="Times New Roman"/>
            </a:endParaRPr>
          </a:p>
        </p:txBody>
      </p:sp>
      <p:sp>
        <p:nvSpPr>
          <p:cNvPr id="3" name="副標題 2"/>
          <p:cNvSpPr>
            <a:spLocks noGrp="1"/>
          </p:cNvSpPr>
          <p:nvPr>
            <p:ph type="subTitle" idx="1"/>
          </p:nvPr>
        </p:nvSpPr>
        <p:spPr>
          <a:xfrm>
            <a:off x="0" y="3634989"/>
            <a:ext cx="9144000" cy="2469250"/>
          </a:xfrm>
        </p:spPr>
        <p:txBody>
          <a:bodyPr>
            <a:normAutofit fontScale="92500" lnSpcReduction="20000"/>
          </a:bodyPr>
          <a:lstStyle/>
          <a:p>
            <a:r>
              <a:rPr lang="en-US" altLang="zh-TW" dirty="0">
                <a:latin typeface="Times New Roman" panose="02020603050405020304" pitchFamily="18" charset="0"/>
                <a:cs typeface="Times New Roman" panose="02020603050405020304" pitchFamily="18" charset="0"/>
              </a:rPr>
              <a:t>Nan-Ying Liang, </a:t>
            </a:r>
            <a:r>
              <a:rPr lang="en-US" altLang="zh-TW" dirty="0" err="1">
                <a:latin typeface="Times New Roman" panose="02020603050405020304" pitchFamily="18" charset="0"/>
                <a:cs typeface="Times New Roman" panose="02020603050405020304" pitchFamily="18" charset="0"/>
              </a:rPr>
              <a:t>Guang</a:t>
            </a:r>
            <a:r>
              <a:rPr lang="en-US" altLang="zh-TW" dirty="0">
                <a:latin typeface="Times New Roman" panose="02020603050405020304" pitchFamily="18" charset="0"/>
                <a:cs typeface="Times New Roman" panose="02020603050405020304" pitchFamily="18" charset="0"/>
              </a:rPr>
              <a:t>-Bin </a:t>
            </a:r>
            <a:r>
              <a:rPr lang="en-US" altLang="zh-TW" dirty="0" smtClean="0">
                <a:latin typeface="Times New Roman" panose="02020603050405020304" pitchFamily="18" charset="0"/>
                <a:cs typeface="Times New Roman" panose="02020603050405020304" pitchFamily="18" charset="0"/>
              </a:rPr>
              <a:t>Huang, </a:t>
            </a:r>
            <a:r>
              <a:rPr lang="en-US" altLang="zh-TW" dirty="0">
                <a:latin typeface="Times New Roman" panose="02020603050405020304" pitchFamily="18" charset="0"/>
                <a:cs typeface="Times New Roman" panose="02020603050405020304" pitchFamily="18" charset="0"/>
              </a:rPr>
              <a:t>P. </a:t>
            </a:r>
            <a:r>
              <a:rPr lang="en-US" altLang="zh-TW" dirty="0" err="1" smtClean="0">
                <a:latin typeface="Times New Roman" panose="02020603050405020304" pitchFamily="18" charset="0"/>
                <a:cs typeface="Times New Roman" panose="02020603050405020304" pitchFamily="18" charset="0"/>
              </a:rPr>
              <a:t>Saratchandran</a:t>
            </a:r>
            <a:r>
              <a:rPr lang="en-US" altLang="zh-TW" dirty="0">
                <a:latin typeface="Times New Roman" panose="02020603050405020304" pitchFamily="18" charset="0"/>
                <a:cs typeface="Times New Roman" panose="02020603050405020304" pitchFamily="18" charset="0"/>
              </a:rPr>
              <a:t>, N. </a:t>
            </a:r>
            <a:r>
              <a:rPr lang="en-US" altLang="zh-TW" dirty="0" err="1" smtClean="0">
                <a:latin typeface="Times New Roman" panose="02020603050405020304" pitchFamily="18" charset="0"/>
                <a:cs typeface="Times New Roman" panose="02020603050405020304" pitchFamily="18" charset="0"/>
              </a:rPr>
              <a:t>Sundararajan</a:t>
            </a:r>
            <a:endParaRPr lang="en-US" altLang="zh-TW" dirty="0" smtClean="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Nanyang</a:t>
            </a:r>
            <a:r>
              <a:rPr lang="en-US" altLang="zh-TW" dirty="0">
                <a:latin typeface="Times New Roman" panose="02020603050405020304" pitchFamily="18" charset="0"/>
                <a:cs typeface="Times New Roman" panose="02020603050405020304" pitchFamily="18" charset="0"/>
              </a:rPr>
              <a:t> Technological University, </a:t>
            </a:r>
            <a:r>
              <a:rPr lang="en-US" altLang="zh-TW" dirty="0" smtClean="0">
                <a:latin typeface="Times New Roman" panose="02020603050405020304" pitchFamily="18" charset="0"/>
                <a:cs typeface="Times New Roman" panose="02020603050405020304" pitchFamily="18" charset="0"/>
              </a:rPr>
              <a:t>Singapore</a:t>
            </a:r>
          </a:p>
          <a:p>
            <a:r>
              <a:rPr lang="en-US" altLang="zh-TW" dirty="0">
                <a:latin typeface="Times New Roman" panose="02020603050405020304" pitchFamily="18" charset="0"/>
                <a:cs typeface="Times New Roman" panose="02020603050405020304" pitchFamily="18" charset="0"/>
              </a:rPr>
              <a:t>IEEE TRANSACTIONS ON NEURAL NETWORKS, VOL. 17, NO. 6, NOVEMBER </a:t>
            </a:r>
            <a:r>
              <a:rPr lang="en-US" altLang="zh-TW" dirty="0" smtClean="0">
                <a:latin typeface="Times New Roman" panose="02020603050405020304" pitchFamily="18" charset="0"/>
                <a:cs typeface="Times New Roman" panose="02020603050405020304" pitchFamily="18" charset="0"/>
              </a:rPr>
              <a:t>2006</a:t>
            </a:r>
          </a:p>
          <a:p>
            <a:r>
              <a:rPr lang="en-US" altLang="zh-TW" dirty="0" smtClean="0">
                <a:latin typeface="Times New Roman" panose="02020603050405020304" pitchFamily="18" charset="0"/>
                <a:cs typeface="Times New Roman" panose="02020603050405020304" pitchFamily="18" charset="0"/>
              </a:rPr>
              <a:t>PP.1411 – 1423</a:t>
            </a:r>
          </a:p>
          <a:p>
            <a:r>
              <a:rPr lang="en-US" altLang="zh-TW" dirty="0" smtClean="0">
                <a:latin typeface="Times New Roman" panose="02020603050405020304" pitchFamily="18" charset="0"/>
                <a:cs typeface="Times New Roman" panose="02020603050405020304" pitchFamily="18" charset="0"/>
              </a:rPr>
              <a:t>2015/4/21</a:t>
            </a:r>
          </a:p>
          <a:p>
            <a:r>
              <a:rPr lang="en-US" altLang="zh-TW" i="1" dirty="0" smtClean="0">
                <a:latin typeface="Times New Roman" panose="02020603050405020304" pitchFamily="18" charset="0"/>
                <a:cs typeface="Times New Roman" panose="02020603050405020304" pitchFamily="18" charset="0"/>
              </a:rPr>
              <a:t>Presenter </a:t>
            </a:r>
            <a:r>
              <a:rPr lang="en-US" altLang="zh-TW" i="1" dirty="0" smtClean="0">
                <a:latin typeface="Times New Roman" panose="02020603050405020304" pitchFamily="18" charset="0"/>
                <a:cs typeface="Times New Roman" panose="02020603050405020304" pitchFamily="18" charset="0"/>
              </a:rPr>
              <a:t>: Yao-Chou Tsai</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605350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Abstract(1/3)</a:t>
            </a:r>
            <a:endParaRPr lang="zh-TW" altLang="en-US" sz="4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0" y="1062506"/>
            <a:ext cx="9050628" cy="4832092"/>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In this paper, we develop an online sequential learning algorithm for single hidden layer feedforward networks (SLFNs) with additive or radial basis function (RBF) hidden nodes in a unified framework. The algorithm is referred to as online sequential extreme learning machine (OS-ELM) and can learn data one-by-one or chunk-by-chunk (a block of data) with fixed or varying </a:t>
            </a:r>
            <a:r>
              <a:rPr lang="en-US" altLang="zh-TW" sz="2800" dirty="0" smtClean="0">
                <a:latin typeface="Times New Roman" panose="02020603050405020304" pitchFamily="18" charset="0"/>
                <a:cs typeface="Times New Roman" panose="02020603050405020304" pitchFamily="18" charset="0"/>
              </a:rPr>
              <a:t>chunk size.</a:t>
            </a:r>
            <a:r>
              <a:rPr lang="zh-TW" altLang="en-US" sz="2800" dirty="0" smtClean="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The </a:t>
            </a:r>
            <a:r>
              <a:rPr lang="en-US" altLang="zh-TW" sz="2800" dirty="0">
                <a:latin typeface="Times New Roman" panose="02020603050405020304" pitchFamily="18" charset="0"/>
                <a:cs typeface="Times New Roman" panose="02020603050405020304" pitchFamily="18" charset="0"/>
              </a:rPr>
              <a:t>activation functions for additive nodes in OS-ELM </a:t>
            </a:r>
            <a:r>
              <a:rPr lang="en-US" altLang="zh-TW" sz="2800" dirty="0" smtClean="0">
                <a:latin typeface="Times New Roman" panose="02020603050405020304" pitchFamily="18" charset="0"/>
                <a:cs typeface="Times New Roman" panose="02020603050405020304" pitchFamily="18" charset="0"/>
              </a:rPr>
              <a:t>can </a:t>
            </a:r>
            <a:r>
              <a:rPr lang="en-US" altLang="zh-TW" sz="2800" dirty="0">
                <a:latin typeface="Times New Roman" panose="02020603050405020304" pitchFamily="18" charset="0"/>
                <a:cs typeface="Times New Roman" panose="02020603050405020304" pitchFamily="18" charset="0"/>
              </a:rPr>
              <a:t>be any </a:t>
            </a:r>
            <a:r>
              <a:rPr lang="en-US" altLang="zh-TW" sz="2800" dirty="0" smtClean="0">
                <a:latin typeface="Times New Roman" panose="02020603050405020304" pitchFamily="18" charset="0"/>
                <a:cs typeface="Times New Roman" panose="02020603050405020304" pitchFamily="18" charset="0"/>
              </a:rPr>
              <a:t>bounded </a:t>
            </a:r>
            <a:r>
              <a:rPr lang="en-US" altLang="zh-TW" sz="2800" dirty="0" err="1" smtClean="0">
                <a:latin typeface="Times New Roman" panose="02020603050405020304" pitchFamily="18" charset="0"/>
                <a:cs typeface="Times New Roman" panose="02020603050405020304" pitchFamily="18" charset="0"/>
              </a:rPr>
              <a:t>nonconstant</a:t>
            </a:r>
            <a:r>
              <a:rPr lang="en-US" altLang="zh-TW" sz="2800" dirty="0" smtClean="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piecewise continuous functions and the activation functions for RBF nodes can be any </a:t>
            </a:r>
            <a:r>
              <a:rPr lang="en-US" altLang="zh-TW" sz="2800" dirty="0" err="1">
                <a:latin typeface="Times New Roman" panose="02020603050405020304" pitchFamily="18" charset="0"/>
                <a:cs typeface="Times New Roman" panose="02020603050405020304" pitchFamily="18" charset="0"/>
              </a:rPr>
              <a:t>integrable</a:t>
            </a:r>
            <a:r>
              <a:rPr lang="en-US" altLang="zh-TW" sz="2800" dirty="0">
                <a:latin typeface="Times New Roman" panose="02020603050405020304" pitchFamily="18" charset="0"/>
                <a:cs typeface="Times New Roman" panose="02020603050405020304" pitchFamily="18" charset="0"/>
              </a:rPr>
              <a:t> piecewise continuous </a:t>
            </a:r>
            <a:r>
              <a:rPr lang="en-US" altLang="zh-TW" sz="2800" dirty="0" smtClean="0">
                <a:latin typeface="Times New Roman" panose="02020603050405020304" pitchFamily="18" charset="0"/>
                <a:cs typeface="Times New Roman" panose="02020603050405020304" pitchFamily="18" charset="0"/>
              </a:rPr>
              <a:t>functions.</a:t>
            </a:r>
            <a:endParaRPr lang="en-US" altLang="zh-TW"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6959403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Abstract(2/3)</a:t>
            </a:r>
            <a:endParaRPr lang="zh-TW" altLang="en-US" sz="4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0" y="1062506"/>
            <a:ext cx="9144000" cy="5693866"/>
          </a:xfrm>
          <a:prstGeom prst="rect">
            <a:avLst/>
          </a:prstGeom>
          <a:noFill/>
        </p:spPr>
        <p:txBody>
          <a:bodyPr wrap="square" rtlCol="0">
            <a:spAutoFit/>
          </a:bodyPr>
          <a:lstStyle/>
          <a:p>
            <a:r>
              <a:rPr lang="en-US" altLang="zh-TW" sz="2800" dirty="0" smtClean="0">
                <a:latin typeface="Times New Roman" panose="02020603050405020304" pitchFamily="18" charset="0"/>
                <a:cs typeface="Times New Roman" panose="02020603050405020304" pitchFamily="18" charset="0"/>
              </a:rPr>
              <a:t>In OS-ELM, the parameters of hidden nodes (the input weights and biases of additive nodes or the centers and impact factors of RBF nodes) are randomly selected and the output weights are analytically determined based on the sequentially arriving data. The algorithm uses the ideas of ELM of Huang et al. Developed for batch learning which has been shown to be extremely fast with generalization performance better than other batch training methods. Apart from selecting the number of hidden nodes, no other control parameters have to be manually chosen. Detailed performance comparison of OS-ELM is done with other popular sequential learning algorithms on benchmark problems drawn from the regression, classification and time series prediction areas.</a:t>
            </a:r>
            <a:endParaRPr lang="en-US" altLang="zh-TW"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6151889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Abstract(3/3)</a:t>
            </a:r>
            <a:endParaRPr lang="zh-TW" altLang="en-US" sz="4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0" y="1062506"/>
            <a:ext cx="9144000" cy="1384995"/>
          </a:xfrm>
          <a:prstGeom prst="rect">
            <a:avLst/>
          </a:prstGeom>
          <a:noFill/>
        </p:spPr>
        <p:txBody>
          <a:bodyPr wrap="square" rtlCol="0" anchor="t">
            <a:spAutoFit/>
          </a:bodyPr>
          <a:lstStyle/>
          <a:p>
            <a:r>
              <a:rPr lang="en-US" altLang="zh-TW" sz="2800" dirty="0" smtClean="0">
                <a:latin typeface="Times New Roman" panose="02020603050405020304" pitchFamily="18" charset="0"/>
                <a:cs typeface="Times New Roman" panose="02020603050405020304" pitchFamily="18" charset="0"/>
              </a:rPr>
              <a:t>The results show that the OS-ELM is faster than the other sequential algorithms and produces better generalization performance.</a:t>
            </a:r>
            <a:endParaRPr lang="en-US" altLang="zh-TW"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066829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Feedforward </a:t>
            </a:r>
            <a:r>
              <a:rPr lang="en-US" altLang="zh-TW" sz="4800" dirty="0">
                <a:latin typeface="Times New Roman" panose="02020603050405020304" pitchFamily="18" charset="0"/>
                <a:cs typeface="Times New Roman" panose="02020603050405020304" pitchFamily="18" charset="0"/>
              </a:rPr>
              <a:t>N</a:t>
            </a:r>
            <a:r>
              <a:rPr lang="en-US" altLang="zh-TW" sz="4800" dirty="0" smtClean="0">
                <a:latin typeface="Times New Roman" panose="02020603050405020304" pitchFamily="18" charset="0"/>
                <a:cs typeface="Times New Roman" panose="02020603050405020304" pitchFamily="18" charset="0"/>
              </a:rPr>
              <a:t>eural Networks(1/2)</a:t>
            </a:r>
            <a:endParaRPr lang="zh-TW" altLang="en-US" sz="4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0" y="1232728"/>
            <a:ext cx="9144000" cy="523220"/>
          </a:xfrm>
          <a:prstGeom prst="rect">
            <a:avLst/>
          </a:prstGeom>
          <a:noFill/>
        </p:spPr>
        <p:txBody>
          <a:bodyPr wrap="square" rtlCol="0" anchor="t">
            <a:spAutoFit/>
          </a:bodyPr>
          <a:lstStyle/>
          <a:p>
            <a:endParaRPr lang="en-US" altLang="zh-TW" sz="2800" dirty="0">
              <a:latin typeface="Times New Roman" panose="02020603050405020304" pitchFamily="18" charset="0"/>
              <a:cs typeface="Times New Roman" panose="02020603050405020304" pitchFamily="18" charset="0"/>
            </a:endParaRPr>
          </a:p>
        </p:txBody>
      </p:sp>
      <p:pic>
        <p:nvPicPr>
          <p:cNvPr id="3" name="圖片 2" descr="fig1.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1518909"/>
            <a:ext cx="5354527" cy="3352072"/>
          </a:xfrm>
          <a:prstGeom prst="rect">
            <a:avLst/>
          </a:prstGeom>
        </p:spPr>
      </p:pic>
      <p:sp>
        <p:nvSpPr>
          <p:cNvPr id="6" name="文字方塊 5"/>
          <p:cNvSpPr txBox="1"/>
          <p:nvPr/>
        </p:nvSpPr>
        <p:spPr>
          <a:xfrm>
            <a:off x="148882" y="5209535"/>
            <a:ext cx="6716838" cy="369332"/>
          </a:xfrm>
          <a:prstGeom prst="rect">
            <a:avLst/>
          </a:prstGeom>
          <a:noFill/>
        </p:spPr>
        <p:txBody>
          <a:bodyPr wrap="square" rtlCol="0">
            <a:spAutoFit/>
          </a:bodyPr>
          <a:lstStyle/>
          <a:p>
            <a:r>
              <a:rPr kumimoji="1" lang="en-US" altLang="zh-TW" dirty="0" smtClean="0">
                <a:latin typeface="Times New Roman" panose="02020603050405020304" pitchFamily="18" charset="0"/>
                <a:cs typeface="Times New Roman" panose="02020603050405020304" pitchFamily="18" charset="0"/>
              </a:rPr>
              <a:t>Single-hidden Layer </a:t>
            </a:r>
            <a:r>
              <a:rPr kumimoji="1" lang="en-US" altLang="zh-TW" dirty="0" err="1" smtClean="0">
                <a:latin typeface="Times New Roman" panose="02020603050405020304" pitchFamily="18" charset="0"/>
                <a:cs typeface="Times New Roman" panose="02020603050405020304" pitchFamily="18" charset="0"/>
              </a:rPr>
              <a:t>Feedforwards</a:t>
            </a:r>
            <a:r>
              <a:rPr kumimoji="1" lang="en-US" altLang="zh-TW" dirty="0" smtClean="0">
                <a:latin typeface="Times New Roman" panose="02020603050405020304" pitchFamily="18" charset="0"/>
                <a:cs typeface="Times New Roman" panose="02020603050405020304" pitchFamily="18" charset="0"/>
              </a:rPr>
              <a:t> Networks (SLFNs)</a:t>
            </a:r>
            <a:endParaRPr kumimoji="1" lang="zh-TW" altLang="en-US"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cstate="print"/>
          <a:stretch>
            <a:fillRect/>
          </a:stretch>
        </p:blipFill>
        <p:spPr>
          <a:xfrm>
            <a:off x="5428701" y="1755948"/>
            <a:ext cx="3641124" cy="2895281"/>
          </a:xfrm>
          <a:prstGeom prst="rect">
            <a:avLst/>
          </a:prstGeom>
        </p:spPr>
      </p:pic>
      <p:sp>
        <p:nvSpPr>
          <p:cNvPr id="8" name="文字方塊 7"/>
          <p:cNvSpPr txBox="1"/>
          <p:nvPr/>
        </p:nvSpPr>
        <p:spPr>
          <a:xfrm>
            <a:off x="5371035" y="4656317"/>
            <a:ext cx="3756455" cy="307777"/>
          </a:xfrm>
          <a:prstGeom prst="rect">
            <a:avLst/>
          </a:prstGeom>
          <a:noFill/>
        </p:spPr>
        <p:txBody>
          <a:bodyPr wrap="square" rtlCol="0">
            <a:spAutoFit/>
          </a:bodyPr>
          <a:lstStyle/>
          <a:p>
            <a:pPr algn="ctr"/>
            <a:r>
              <a:rPr lang="en-US" altLang="zh-TW" sz="1400" i="1" dirty="0"/>
              <a:t>Activation </a:t>
            </a:r>
            <a:r>
              <a:rPr lang="en-US" altLang="zh-TW" sz="1400" i="1" dirty="0" smtClean="0"/>
              <a:t>Functions example with threshold 0.5</a:t>
            </a:r>
            <a:endParaRPr lang="en-US" altLang="zh-TW" sz="1400" i="1" dirty="0"/>
          </a:p>
        </p:txBody>
      </p:sp>
    </p:spTree>
    <p:extLst>
      <p:ext uri="{BB962C8B-B14F-4D97-AF65-F5344CB8AC3E}">
        <p14:creationId xmlns:p14="http://schemas.microsoft.com/office/powerpoint/2010/main" xmlns="" val="822852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65904"/>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Feedforward </a:t>
            </a:r>
            <a:r>
              <a:rPr lang="en-US" altLang="zh-TW" sz="4800" dirty="0">
                <a:latin typeface="Times New Roman" panose="02020603050405020304" pitchFamily="18" charset="0"/>
                <a:cs typeface="Times New Roman" panose="02020603050405020304" pitchFamily="18" charset="0"/>
              </a:rPr>
              <a:t>N</a:t>
            </a:r>
            <a:r>
              <a:rPr lang="en-US" altLang="zh-TW" sz="4800" dirty="0" smtClean="0">
                <a:latin typeface="Times New Roman" panose="02020603050405020304" pitchFamily="18" charset="0"/>
                <a:cs typeface="Times New Roman" panose="02020603050405020304" pitchFamily="18" charset="0"/>
              </a:rPr>
              <a:t>eural Networks(2/2)</a:t>
            </a:r>
            <a:endParaRPr lang="zh-TW" altLang="en-US" sz="4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0" y="1232728"/>
            <a:ext cx="9144000" cy="523220"/>
          </a:xfrm>
          <a:prstGeom prst="rect">
            <a:avLst/>
          </a:prstGeom>
          <a:noFill/>
        </p:spPr>
        <p:txBody>
          <a:bodyPr wrap="square" rtlCol="0" anchor="t">
            <a:spAutoFit/>
          </a:bodyPr>
          <a:lstStyle/>
          <a:p>
            <a:endParaRPr lang="en-US" altLang="zh-TW" sz="2800" dirty="0">
              <a:latin typeface="Times New Roman" panose="02020603050405020304" pitchFamily="18" charset="0"/>
              <a:cs typeface="Times New Roman" panose="02020603050405020304" pitchFamily="18" charset="0"/>
            </a:endParaRPr>
          </a:p>
        </p:txBody>
      </p:sp>
      <p:pic>
        <p:nvPicPr>
          <p:cNvPr id="7" name="圖片 6" descr="fig3.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699358" y="1572025"/>
            <a:ext cx="4317284" cy="3922449"/>
          </a:xfrm>
          <a:prstGeom prst="rect">
            <a:avLst/>
          </a:prstGeom>
        </p:spPr>
      </p:pic>
      <p:pic>
        <p:nvPicPr>
          <p:cNvPr id="5" name="圖片 4" descr="fig2.png"/>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98854" y="1453051"/>
            <a:ext cx="4473146" cy="4127446"/>
          </a:xfrm>
          <a:prstGeom prst="rect">
            <a:avLst/>
          </a:prstGeom>
        </p:spPr>
      </p:pic>
    </p:spTree>
    <p:extLst>
      <p:ext uri="{BB962C8B-B14F-4D97-AF65-F5344CB8AC3E}">
        <p14:creationId xmlns:p14="http://schemas.microsoft.com/office/powerpoint/2010/main" xmlns="" val="870389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BP learning algorithm and Issues</a:t>
            </a:r>
            <a:endParaRPr lang="zh-TW" altLang="en-US" sz="48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cstate="print"/>
          <a:stretch>
            <a:fillRect/>
          </a:stretch>
        </p:blipFill>
        <p:spPr>
          <a:xfrm>
            <a:off x="274004" y="2119191"/>
            <a:ext cx="8595992" cy="2323594"/>
          </a:xfrm>
          <a:prstGeom prst="rect">
            <a:avLst/>
          </a:prstGeom>
        </p:spPr>
      </p:pic>
      <p:sp>
        <p:nvSpPr>
          <p:cNvPr id="4" name="文字方塊 3"/>
          <p:cNvSpPr txBox="1"/>
          <p:nvPr/>
        </p:nvSpPr>
        <p:spPr>
          <a:xfrm>
            <a:off x="274005" y="1615192"/>
            <a:ext cx="1167618"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274004" y="4507792"/>
            <a:ext cx="8595992" cy="2120902"/>
          </a:xfrm>
          <a:prstGeom prst="rect">
            <a:avLst/>
          </a:prstGeom>
          <a:noFill/>
        </p:spPr>
        <p:txBody>
          <a:bodyPr wrap="square" rtlCol="0">
            <a:spAutoFit/>
          </a:bodyPr>
          <a:lstStyle/>
          <a:p>
            <a:pPr>
              <a:lnSpc>
                <a:spcPct val="150000"/>
              </a:lnSpc>
            </a:pPr>
            <a:r>
              <a:rPr lang="en-US" altLang="zh-TW" dirty="0" smtClean="0">
                <a:latin typeface="Times New Roman" panose="02020603050405020304" pitchFamily="18" charset="0"/>
                <a:ea typeface="標楷體" panose="03000509000000000000" pitchFamily="65" charset="-120"/>
              </a:rPr>
              <a:t>Issues:</a:t>
            </a:r>
          </a:p>
          <a:p>
            <a:pPr marL="342900" indent="-342900">
              <a:lnSpc>
                <a:spcPct val="150000"/>
              </a:lnSpc>
              <a:buAutoNum type="arabicPeriod"/>
            </a:pPr>
            <a:r>
              <a:rPr lang="zh-TW" altLang="en-US" dirty="0" smtClean="0">
                <a:latin typeface="Times New Roman" panose="02020603050405020304" pitchFamily="18" charset="0"/>
                <a:ea typeface="標楷體" panose="03000509000000000000" pitchFamily="65" charset="-120"/>
              </a:rPr>
              <a:t>當</a:t>
            </a:r>
            <a:r>
              <a:rPr lang="en-US" altLang="zh-TW" dirty="0" smtClean="0">
                <a:latin typeface="Times New Roman" panose="02020603050405020304" pitchFamily="18" charset="0"/>
                <a:ea typeface="標楷體" panose="03000509000000000000" pitchFamily="65" charset="-120"/>
              </a:rPr>
              <a:t>learning rate</a:t>
            </a:r>
            <a:r>
              <a:rPr lang="zh-TW" altLang="en-US" dirty="0" smtClean="0">
                <a:latin typeface="Times New Roman" panose="02020603050405020304" pitchFamily="18" charset="0"/>
                <a:ea typeface="標楷體" panose="03000509000000000000" pitchFamily="65" charset="-120"/>
              </a:rPr>
              <a:t>太小時收斂較慢，太大又會造成不穩定</a:t>
            </a:r>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發散</a:t>
            </a:r>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 。</a:t>
            </a:r>
            <a:endParaRPr lang="en-US" altLang="zh-TW" dirty="0" smtClean="0">
              <a:latin typeface="Times New Roman" panose="02020603050405020304" pitchFamily="18" charset="0"/>
              <a:ea typeface="標楷體" panose="03000509000000000000" pitchFamily="65" charset="-120"/>
            </a:endParaRPr>
          </a:p>
          <a:p>
            <a:pPr marL="342900" indent="-342900">
              <a:lnSpc>
                <a:spcPct val="150000"/>
              </a:lnSpc>
              <a:buAutoNum type="arabicPeriod"/>
            </a:pPr>
            <a:r>
              <a:rPr lang="zh-TW" altLang="en-US" dirty="0" smtClean="0">
                <a:latin typeface="Times New Roman" panose="02020603050405020304" pitchFamily="18" charset="0"/>
                <a:ea typeface="標楷體" panose="03000509000000000000" pitchFamily="65" charset="-120"/>
              </a:rPr>
              <a:t>有</a:t>
            </a:r>
            <a:r>
              <a:rPr lang="en-US" altLang="zh-TW" dirty="0" smtClean="0">
                <a:latin typeface="Times New Roman" panose="02020603050405020304" pitchFamily="18" charset="0"/>
                <a:ea typeface="標楷體" panose="03000509000000000000" pitchFamily="65" charset="-120"/>
              </a:rPr>
              <a:t>local</a:t>
            </a:r>
            <a:r>
              <a:rPr lang="zh-TW" altLang="en-US" dirty="0">
                <a:latin typeface="Times New Roman" panose="02020603050405020304" pitchFamily="18" charset="0"/>
                <a:ea typeface="標楷體" panose="03000509000000000000" pitchFamily="65" charset="-120"/>
              </a:rPr>
              <a:t> </a:t>
            </a:r>
            <a:r>
              <a:rPr lang="en-US" altLang="zh-TW" dirty="0" smtClean="0">
                <a:latin typeface="Times New Roman" panose="02020603050405020304" pitchFamily="18" charset="0"/>
                <a:ea typeface="標楷體" panose="03000509000000000000" pitchFamily="65" charset="-120"/>
              </a:rPr>
              <a:t>minima</a:t>
            </a:r>
            <a:r>
              <a:rPr lang="zh-TW" altLang="en-US" dirty="0" smtClean="0">
                <a:latin typeface="Times New Roman" panose="02020603050405020304" pitchFamily="18" charset="0"/>
                <a:ea typeface="標楷體" panose="03000509000000000000" pitchFamily="65" charset="-120"/>
              </a:rPr>
              <a:t>問題。</a:t>
            </a:r>
            <a:endParaRPr lang="en-US" altLang="zh-TW" dirty="0" smtClean="0">
              <a:latin typeface="Times New Roman" panose="02020603050405020304" pitchFamily="18" charset="0"/>
              <a:ea typeface="標楷體" panose="03000509000000000000" pitchFamily="65" charset="-120"/>
            </a:endParaRPr>
          </a:p>
          <a:p>
            <a:pPr marL="342900" indent="-342900">
              <a:lnSpc>
                <a:spcPct val="150000"/>
              </a:lnSpc>
              <a:buAutoNum type="arabicPeriod"/>
            </a:pPr>
            <a:r>
              <a:rPr lang="en-US" altLang="zh-TW" dirty="0" smtClean="0">
                <a:latin typeface="Times New Roman" panose="02020603050405020304" pitchFamily="18" charset="0"/>
                <a:ea typeface="標楷體" panose="03000509000000000000" pitchFamily="65" charset="-120"/>
              </a:rPr>
              <a:t>Over-trained</a:t>
            </a:r>
            <a:r>
              <a:rPr lang="zh-TW" altLang="en-US" dirty="0" smtClean="0">
                <a:latin typeface="Times New Roman" panose="02020603050405020304" pitchFamily="18" charset="0"/>
                <a:ea typeface="標楷體" panose="03000509000000000000" pitchFamily="65" charset="-120"/>
              </a:rPr>
              <a:t>反而造成</a:t>
            </a:r>
            <a:r>
              <a:rPr lang="en-US" altLang="zh-TW" dirty="0" smtClean="0">
                <a:latin typeface="Times New Roman" panose="02020603050405020304" pitchFamily="18" charset="0"/>
                <a:ea typeface="標楷體" panose="03000509000000000000" pitchFamily="65" charset="-120"/>
              </a:rPr>
              <a:t>performance</a:t>
            </a:r>
            <a:r>
              <a:rPr lang="zh-TW" altLang="en-US" dirty="0" smtClean="0">
                <a:latin typeface="Times New Roman" panose="02020603050405020304" pitchFamily="18" charset="0"/>
                <a:ea typeface="標楷體" panose="03000509000000000000" pitchFamily="65" charset="-120"/>
              </a:rPr>
              <a:t>降低。</a:t>
            </a:r>
            <a:endParaRPr lang="en-US" altLang="zh-TW" dirty="0" smtClean="0">
              <a:latin typeface="Times New Roman" panose="02020603050405020304" pitchFamily="18" charset="0"/>
              <a:ea typeface="標楷體" panose="03000509000000000000" pitchFamily="65" charset="-120"/>
            </a:endParaRPr>
          </a:p>
          <a:p>
            <a:pPr marL="342900" indent="-342900">
              <a:lnSpc>
                <a:spcPct val="150000"/>
              </a:lnSpc>
              <a:buAutoNum type="arabicPeriod"/>
            </a:pPr>
            <a:r>
              <a:rPr lang="zh-TW" altLang="en-US" dirty="0" smtClean="0">
                <a:latin typeface="Times New Roman" panose="02020603050405020304" pitchFamily="18" charset="0"/>
                <a:ea typeface="標楷體" panose="03000509000000000000" pitchFamily="65" charset="-120"/>
              </a:rPr>
              <a:t>演算法耗時</a:t>
            </a:r>
            <a:r>
              <a:rPr lang="en-US" altLang="zh-TW" dirty="0" smtClean="0">
                <a:latin typeface="Times New Roman" panose="02020603050405020304" pitchFamily="18" charset="0"/>
                <a:ea typeface="標楷體" panose="03000509000000000000" pitchFamily="65" charset="-120"/>
              </a:rPr>
              <a:t>(</a:t>
            </a:r>
            <a:r>
              <a:rPr lang="en-US" altLang="zh-TW" dirty="0">
                <a:latin typeface="Times New Roman" panose="02020603050405020304" pitchFamily="18" charset="0"/>
                <a:ea typeface="標楷體" panose="03000509000000000000" pitchFamily="65" charset="-120"/>
              </a:rPr>
              <a:t>time-consuming</a:t>
            </a:r>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a:t>
            </a:r>
            <a:endParaRPr lang="en-US" altLang="zh-TW" dirty="0" smtClean="0">
              <a:latin typeface="Times New Roman" panose="02020603050405020304" pitchFamily="18" charset="0"/>
              <a:ea typeface="標楷體" panose="03000509000000000000" pitchFamily="65" charset="-120"/>
            </a:endParaRPr>
          </a:p>
        </p:txBody>
      </p:sp>
      <p:sp>
        <p:nvSpPr>
          <p:cNvPr id="7" name="文字方塊 6"/>
          <p:cNvSpPr txBox="1"/>
          <p:nvPr/>
        </p:nvSpPr>
        <p:spPr>
          <a:xfrm>
            <a:off x="274004" y="1189019"/>
            <a:ext cx="2773996" cy="369332"/>
          </a:xfrm>
          <a:prstGeom prst="rect">
            <a:avLst/>
          </a:prstGeom>
          <a:noFill/>
        </p:spPr>
        <p:txBody>
          <a:bodyPr wrap="square" rtlCol="0">
            <a:spAutoFit/>
          </a:bodyPr>
          <a:lstStyle/>
          <a:p>
            <a:r>
              <a:rPr lang="en-US" altLang="zh-TW" i="1" dirty="0" smtClean="0">
                <a:latin typeface="Times New Roman" panose="02020603050405020304" pitchFamily="18" charset="0"/>
                <a:cs typeface="Times New Roman" panose="02020603050405020304" pitchFamily="18" charset="0"/>
              </a:rPr>
              <a:t>BP is Back-Propagation</a:t>
            </a:r>
            <a:endParaRPr lang="en-US" altLang="zh-TW"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738095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Extreme Learning Machine(1/3)</a:t>
            </a:r>
            <a:endParaRPr lang="zh-TW" altLang="en-US" sz="4800" dirty="0">
              <a:latin typeface="Times New Roman" panose="02020603050405020304" pitchFamily="18" charset="0"/>
              <a:cs typeface="Times New Roman" panose="02020603050405020304" pitchFamily="18" charset="0"/>
            </a:endParaRPr>
          </a:p>
        </p:txBody>
      </p:sp>
      <p:pic>
        <p:nvPicPr>
          <p:cNvPr id="4" name="圖片 3" descr="fig4.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74958" y="1444133"/>
            <a:ext cx="6544035" cy="1016019"/>
          </a:xfrm>
          <a:prstGeom prst="rect">
            <a:avLst/>
          </a:prstGeom>
        </p:spPr>
      </p:pic>
      <p:pic>
        <p:nvPicPr>
          <p:cNvPr id="5" name="圖片 4" descr="fig6.png"/>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30932" y="3228558"/>
            <a:ext cx="3932232" cy="419681"/>
          </a:xfrm>
          <a:prstGeom prst="rect">
            <a:avLst/>
          </a:prstGeom>
        </p:spPr>
      </p:pic>
      <p:pic>
        <p:nvPicPr>
          <p:cNvPr id="6" name="圖片 5" descr="fig7.png"/>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996155" y="2933062"/>
            <a:ext cx="4986258" cy="1139182"/>
          </a:xfrm>
          <a:prstGeom prst="rect">
            <a:avLst/>
          </a:prstGeom>
        </p:spPr>
      </p:pic>
      <p:pic>
        <p:nvPicPr>
          <p:cNvPr id="8" name="圖片 7" descr="fig8.png"/>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274959" y="4644592"/>
            <a:ext cx="5350444" cy="1313193"/>
          </a:xfrm>
          <a:prstGeom prst="rect">
            <a:avLst/>
          </a:prstGeom>
        </p:spPr>
      </p:pic>
      <mc:AlternateContent xmlns:mc="http://schemas.openxmlformats.org/markup-compatibility/2006">
        <mc:Choice xmlns:a14="http://schemas.microsoft.com/office/drawing/2010/main" xmlns="" Requires="a14">
          <p:sp>
            <p:nvSpPr>
              <p:cNvPr id="9" name="文字方塊 8"/>
              <p:cNvSpPr txBox="1"/>
              <p:nvPr/>
            </p:nvSpPr>
            <p:spPr>
              <a:xfrm>
                <a:off x="5789146" y="4545154"/>
                <a:ext cx="3354853" cy="1488997"/>
              </a:xfrm>
              <a:prstGeom prst="rect">
                <a:avLst/>
              </a:prstGeom>
              <a:noFill/>
            </p:spPr>
            <p:txBody>
              <a:bodyPr wrap="square" rtlCol="0">
                <a:spAutoFit/>
              </a:bodyPr>
              <a:lstStyle/>
              <a:p>
                <a:pPr marL="342900" indent="-342900">
                  <a:lnSpc>
                    <a:spcPct val="150000"/>
                  </a:lnSpc>
                  <a:buAutoNum type="arabicPeriod"/>
                </a:pPr>
                <a14:m>
                  <m:oMath xmlns:m="http://schemas.openxmlformats.org/officeDocument/2006/math">
                    <m:r>
                      <m:rPr>
                        <m:sty m:val="p"/>
                      </m:rPr>
                      <a:rPr kumimoji="1" lang="en-US" altLang="zh-TW" sz="2000" i="0">
                        <a:latin typeface="Cambria Math" panose="02040503050406030204" pitchFamily="18" charset="0"/>
                      </a:rPr>
                      <m:t>N</m:t>
                    </m:r>
                  </m:oMath>
                </a14:m>
                <a:r>
                  <a:rPr kumimoji="1" lang="en-US" altLang="zh-TW" sz="2000" dirty="0" smtClean="0">
                    <a:latin typeface="Times New Roman" panose="02020603050405020304" pitchFamily="18" charset="0"/>
                    <a:ea typeface="標楷體" panose="03000509000000000000" pitchFamily="65" charset="-120"/>
                  </a:rPr>
                  <a:t> = input elements</a:t>
                </a:r>
              </a:p>
              <a:p>
                <a:pPr marL="342900" indent="-342900">
                  <a:lnSpc>
                    <a:spcPct val="150000"/>
                  </a:lnSpc>
                  <a:buAutoNum type="arabicPeriod"/>
                </a:pPr>
                <a14:m>
                  <m:oMath xmlns:m="http://schemas.openxmlformats.org/officeDocument/2006/math">
                    <m:acc>
                      <m:accPr>
                        <m:chr m:val="̃"/>
                        <m:ctrlPr>
                          <a:rPr kumimoji="1" lang="en-US" altLang="zh-TW" sz="2000" smtClean="0">
                            <a:latin typeface="Cambria Math" panose="02040503050406030204" pitchFamily="18" charset="0"/>
                          </a:rPr>
                        </m:ctrlPr>
                      </m:accPr>
                      <m:e>
                        <m:r>
                          <m:rPr>
                            <m:sty m:val="p"/>
                          </m:rPr>
                          <a:rPr kumimoji="1" lang="en-US" altLang="zh-TW" sz="2000" i="0">
                            <a:latin typeface="Cambria Math" panose="02040503050406030204" pitchFamily="18" charset="0"/>
                          </a:rPr>
                          <m:t>N</m:t>
                        </m:r>
                      </m:e>
                    </m:acc>
                  </m:oMath>
                </a14:m>
                <a:r>
                  <a:rPr kumimoji="1" lang="en-US" altLang="zh-TW" sz="2000" dirty="0" smtClean="0">
                    <a:latin typeface="Times New Roman" panose="02020603050405020304" pitchFamily="18" charset="0"/>
                    <a:ea typeface="標楷體" panose="03000509000000000000" pitchFamily="65" charset="-120"/>
                  </a:rPr>
                  <a:t>= hidden nodes</a:t>
                </a:r>
              </a:p>
              <a:p>
                <a:pPr marL="342900" indent="-342900">
                  <a:lnSpc>
                    <a:spcPct val="150000"/>
                  </a:lnSpc>
                  <a:buFontTx/>
                  <a:buAutoNum type="arabicPeriod"/>
                </a:pPr>
                <a:r>
                  <a:rPr kumimoji="1" lang="zh-TW" altLang="en-US" sz="2000" dirty="0" smtClean="0">
                    <a:latin typeface="Times New Roman" panose="02020603050405020304" pitchFamily="18" charset="0"/>
                    <a:ea typeface="標楷體" panose="03000509000000000000" pitchFamily="65" charset="-120"/>
                  </a:rPr>
                  <a:t>上述等</a:t>
                </a:r>
                <a:r>
                  <a:rPr kumimoji="1" lang="zh-TW" altLang="en-US" sz="2000" dirty="0">
                    <a:latin typeface="Times New Roman" panose="02020603050405020304" pitchFamily="18" charset="0"/>
                    <a:ea typeface="標楷體" panose="03000509000000000000" pitchFamily="65" charset="-120"/>
                  </a:rPr>
                  <a:t>式</a:t>
                </a:r>
                <a:r>
                  <a:rPr kumimoji="1" lang="zh-TW" altLang="en-US" sz="2000" dirty="0" smtClean="0">
                    <a:latin typeface="Times New Roman" panose="02020603050405020304" pitchFamily="18" charset="0"/>
                    <a:ea typeface="標楷體" panose="03000509000000000000" pitchFamily="65" charset="-120"/>
                  </a:rPr>
                  <a:t>可</a:t>
                </a:r>
                <a:r>
                  <a:rPr kumimoji="1" lang="zh-TW" altLang="en-US" sz="2000" dirty="0">
                    <a:latin typeface="Times New Roman" panose="02020603050405020304" pitchFamily="18" charset="0"/>
                    <a:ea typeface="標楷體" panose="03000509000000000000" pitchFamily="65" charset="-120"/>
                  </a:rPr>
                  <a:t>表示</a:t>
                </a:r>
                <a14:m>
                  <m:oMath xmlns:m="http://schemas.openxmlformats.org/officeDocument/2006/math">
                    <m:r>
                      <a:rPr kumimoji="1" lang="zh-TW" altLang="en-US" sz="2000" i="1" dirty="0">
                        <a:latin typeface="Cambria Math" panose="02040503050406030204" pitchFamily="18" charset="0"/>
                      </a:rPr>
                      <m:t> </m:t>
                    </m:r>
                    <m:r>
                      <m:rPr>
                        <m:sty m:val="p"/>
                      </m:rPr>
                      <a:rPr kumimoji="1" lang="en-US" altLang="zh-TW" sz="2000" i="1" dirty="0" smtClean="0">
                        <a:solidFill>
                          <a:srgbClr val="FF0000"/>
                        </a:solidFill>
                        <a:latin typeface="Cambria Math" panose="02040503050406030204" pitchFamily="18" charset="0"/>
                      </a:rPr>
                      <m:t>H</m:t>
                    </m:r>
                    <m:r>
                      <a:rPr kumimoji="1" lang="zh-TW" altLang="en-US" sz="2000" i="1" dirty="0" smtClean="0">
                        <a:solidFill>
                          <a:srgbClr val="FF0000"/>
                        </a:solidFill>
                        <a:latin typeface="Cambria Math" panose="02040503050406030204" pitchFamily="18" charset="0"/>
                      </a:rPr>
                      <m:t>𝛽</m:t>
                    </m:r>
                    <m:r>
                      <a:rPr kumimoji="1" lang="zh-TW" altLang="en-US" sz="2000" i="1" dirty="0">
                        <a:solidFill>
                          <a:srgbClr val="FF0000"/>
                        </a:solidFill>
                        <a:latin typeface="Cambria Math" panose="02040503050406030204" pitchFamily="18" charset="0"/>
                      </a:rPr>
                      <m:t> </m:t>
                    </m:r>
                  </m:oMath>
                </a14:m>
                <a:r>
                  <a:rPr kumimoji="1" lang="en-US" altLang="zh-TW" sz="2000" dirty="0" smtClean="0">
                    <a:solidFill>
                      <a:srgbClr val="FF0000"/>
                    </a:solidFill>
                    <a:latin typeface="Times New Roman" panose="02020603050405020304" pitchFamily="18" charset="0"/>
                    <a:ea typeface="標楷體" panose="03000509000000000000" pitchFamily="65" charset="-120"/>
                  </a:rPr>
                  <a:t>=</a:t>
                </a:r>
                <a:r>
                  <a:rPr kumimoji="1" lang="zh-TW" altLang="en-US" sz="2000" dirty="0" smtClean="0">
                    <a:solidFill>
                      <a:srgbClr val="FF0000"/>
                    </a:solidFill>
                    <a:latin typeface="Times New Roman" panose="02020603050405020304" pitchFamily="18" charset="0"/>
                    <a:ea typeface="標楷體" panose="03000509000000000000" pitchFamily="65" charset="-120"/>
                  </a:rPr>
                  <a:t> </a:t>
                </a:r>
                <a14:m>
                  <m:oMath xmlns:m="http://schemas.openxmlformats.org/officeDocument/2006/math">
                    <m:r>
                      <m:rPr>
                        <m:sty m:val="p"/>
                      </m:rPr>
                      <a:rPr kumimoji="1" lang="en-US" altLang="zh-TW" sz="2000" i="1" dirty="0">
                        <a:solidFill>
                          <a:srgbClr val="FF0000"/>
                        </a:solidFill>
                        <a:latin typeface="Cambria Math" panose="02040503050406030204" pitchFamily="18" charset="0"/>
                      </a:rPr>
                      <m:t>T</m:t>
                    </m:r>
                  </m:oMath>
                </a14:m>
                <a:endParaRPr kumimoji="1" lang="zh-TW" altLang="en-US" sz="2000" dirty="0">
                  <a:latin typeface="Times New Roman" panose="02020603050405020304" pitchFamily="18" charset="0"/>
                  <a:ea typeface="標楷體" panose="03000509000000000000" pitchFamily="65" charset="-120"/>
                </a:endParaRPr>
              </a:p>
            </p:txBody>
          </p:sp>
        </mc:Choice>
        <mc:Fallback>
          <p:sp>
            <p:nvSpPr>
              <p:cNvPr id="9" name="文字方塊 8"/>
              <p:cNvSpPr txBox="1">
                <a:spLocks noRot="1" noChangeAspect="1" noMove="1" noResize="1" noEditPoints="1" noAdjustHandles="1" noChangeArrowheads="1" noChangeShapeType="1" noTextEdit="1"/>
              </p:cNvSpPr>
              <p:nvPr/>
            </p:nvSpPr>
            <p:spPr>
              <a:xfrm>
                <a:off x="5789146" y="4545154"/>
                <a:ext cx="3354853" cy="1488997"/>
              </a:xfrm>
              <a:prstGeom prst="rect">
                <a:avLst/>
              </a:prstGeom>
              <a:blipFill rotWithShape="0">
                <a:blip r:embed="rId6" cstate="print"/>
                <a:stretch>
                  <a:fillRect l="-1818" b="-28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6402325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Extreme Learning Machine(2/3)</a:t>
            </a:r>
            <a:endParaRPr lang="zh-TW" altLang="en-US" sz="4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文字方塊 2"/>
              <p:cNvSpPr txBox="1"/>
              <p:nvPr/>
            </p:nvSpPr>
            <p:spPr>
              <a:xfrm>
                <a:off x="0" y="1453438"/>
                <a:ext cx="9144000" cy="2317494"/>
              </a:xfrm>
              <a:prstGeom prst="rect">
                <a:avLst/>
              </a:prstGeom>
              <a:noFill/>
            </p:spPr>
            <p:txBody>
              <a:bodyPr wrap="square" rtlCol="0">
                <a:spAutoFit/>
              </a:bodyPr>
              <a:lstStyle/>
              <a:p>
                <a:pPr marL="342900" indent="-342900">
                  <a:buFont typeface="Arial" panose="020B0604020202020204" pitchFamily="34" charset="0"/>
                  <a:buChar char="•"/>
                </a:pPr>
                <a:r>
                  <a:rPr kumimoji="1" lang="zh-TW" altLang="en-US" sz="2400" dirty="0" smtClean="0">
                    <a:latin typeface="Times New Roman" panose="02020603050405020304" pitchFamily="18" charset="0"/>
                    <a:ea typeface="標楷體" panose="03000509000000000000" pitchFamily="65" charset="-120"/>
                  </a:rPr>
                  <a:t>當</a:t>
                </a:r>
                <a:r>
                  <a:rPr kumimoji="1" lang="en-US" altLang="zh-TW" sz="2400" dirty="0" smtClean="0">
                    <a:latin typeface="Times New Roman" panose="02020603050405020304" pitchFamily="18" charset="0"/>
                    <a:ea typeface="標楷體" panose="03000509000000000000" pitchFamily="65" charset="-120"/>
                  </a:rPr>
                  <a:t> </a:t>
                </a:r>
                <a14:m>
                  <m:oMath xmlns:m="http://schemas.openxmlformats.org/officeDocument/2006/math">
                    <m:r>
                      <m:rPr>
                        <m:sty m:val="p"/>
                      </m:rPr>
                      <a:rPr kumimoji="1" lang="en-US" altLang="zh-TW" sz="2400" i="1" dirty="0">
                        <a:latin typeface="Cambria Math" panose="02040503050406030204" pitchFamily="18" charset="0"/>
                      </a:rPr>
                      <m:t>N</m:t>
                    </m:r>
                  </m:oMath>
                </a14:m>
                <a:r>
                  <a:rPr kumimoji="1" lang="zh-TW" altLang="en-US" sz="2400" dirty="0" smtClean="0">
                    <a:latin typeface="Times New Roman" panose="02020603050405020304" pitchFamily="18" charset="0"/>
                    <a:ea typeface="標楷體" panose="03000509000000000000" pitchFamily="65" charset="-120"/>
                  </a:rPr>
                  <a:t> </a:t>
                </a:r>
                <a:r>
                  <a:rPr kumimoji="1" lang="en-US" altLang="zh-TW" sz="2400" dirty="0" smtClean="0">
                    <a:latin typeface="Times New Roman" panose="02020603050405020304" pitchFamily="18" charset="0"/>
                    <a:ea typeface="標楷體" panose="03000509000000000000" pitchFamily="65" charset="-120"/>
                  </a:rPr>
                  <a:t>=</a:t>
                </a:r>
                <a:r>
                  <a:rPr kumimoji="1" lang="zh-TW" altLang="en-US" sz="2400" dirty="0" smtClean="0">
                    <a:latin typeface="Times New Roman" panose="02020603050405020304" pitchFamily="18" charset="0"/>
                    <a:ea typeface="標楷體" panose="03000509000000000000" pitchFamily="65" charset="-120"/>
                  </a:rPr>
                  <a:t> </a:t>
                </a:r>
                <a14:m>
                  <m:oMath xmlns:m="http://schemas.openxmlformats.org/officeDocument/2006/math">
                    <m:acc>
                      <m:accPr>
                        <m:chr m:val="̃"/>
                        <m:ctrlPr>
                          <a:rPr kumimoji="1" lang="zh-TW" altLang="en-US" sz="2400" i="1" smtClean="0">
                            <a:latin typeface="Cambria Math" panose="02040503050406030204" pitchFamily="18" charset="0"/>
                          </a:rPr>
                        </m:ctrlPr>
                      </m:accPr>
                      <m:e>
                        <m:r>
                          <m:rPr>
                            <m:sty m:val="p"/>
                          </m:rPr>
                          <a:rPr kumimoji="1" lang="en-US" altLang="zh-TW" sz="2400" i="1">
                            <a:latin typeface="Cambria Math" panose="02040503050406030204" pitchFamily="18" charset="0"/>
                          </a:rPr>
                          <m:t>N</m:t>
                        </m:r>
                      </m:e>
                    </m:acc>
                  </m:oMath>
                </a14:m>
                <a:r>
                  <a:rPr kumimoji="1" lang="zh-TW" altLang="en-US" sz="2400" dirty="0" smtClean="0">
                    <a:latin typeface="Times New Roman" panose="02020603050405020304" pitchFamily="18" charset="0"/>
                    <a:ea typeface="標楷體" panose="03000509000000000000" pitchFamily="65" charset="-120"/>
                  </a:rPr>
                  <a:t>時，表示 </a:t>
                </a:r>
                <a:r>
                  <a:rPr kumimoji="1" lang="en-US" altLang="zh-TW" sz="2400" dirty="0" err="1" smtClean="0">
                    <a:latin typeface="Times New Roman" panose="02020603050405020304" pitchFamily="18" charset="0"/>
                    <a:ea typeface="標楷體" panose="03000509000000000000" pitchFamily="65" charset="-120"/>
                  </a:rPr>
                  <a:t>traning</a:t>
                </a:r>
                <a:r>
                  <a:rPr kumimoji="1" lang="en-US" altLang="zh-TW" sz="2400" dirty="0" smtClean="0">
                    <a:latin typeface="Times New Roman" panose="02020603050405020304" pitchFamily="18" charset="0"/>
                    <a:ea typeface="標楷體" panose="03000509000000000000" pitchFamily="65" charset="-120"/>
                  </a:rPr>
                  <a:t> samples = hidden nodes</a:t>
                </a:r>
                <a:r>
                  <a:rPr kumimoji="1" lang="zh-TW" altLang="en-US" sz="2400" dirty="0" smtClean="0">
                    <a:latin typeface="Times New Roman" panose="02020603050405020304" pitchFamily="18" charset="0"/>
                    <a:ea typeface="標楷體" panose="03000509000000000000" pitchFamily="65" charset="-120"/>
                  </a:rPr>
                  <a:t>，且可隨意給予</a:t>
                </a:r>
                <a:r>
                  <a:rPr kumimoji="1" lang="en-US" altLang="zh-TW" sz="2400" dirty="0" smtClean="0">
                    <a:latin typeface="Times New Roman" panose="02020603050405020304" pitchFamily="18" charset="0"/>
                    <a:ea typeface="標楷體" panose="03000509000000000000" pitchFamily="65" charset="-120"/>
                  </a:rPr>
                  <a:t>hidden nodes</a:t>
                </a:r>
                <a:r>
                  <a:rPr kumimoji="1" lang="zh-TW" altLang="en-US" sz="2400" dirty="0" smtClean="0">
                    <a:latin typeface="Times New Roman" panose="02020603050405020304" pitchFamily="18" charset="0"/>
                    <a:ea typeface="標楷體" panose="03000509000000000000" pitchFamily="65" charset="-120"/>
                  </a:rPr>
                  <a:t>的參數，得到</a:t>
                </a:r>
                <a:r>
                  <a:rPr kumimoji="1" lang="en-US" altLang="zh-TW" sz="2400" dirty="0" smtClean="0">
                    <a:latin typeface="Times New Roman" panose="02020603050405020304" pitchFamily="18" charset="0"/>
                    <a:ea typeface="標楷體" panose="03000509000000000000" pitchFamily="65" charset="-120"/>
                  </a:rPr>
                  <a:t>H</a:t>
                </a:r>
                <a:r>
                  <a:rPr kumimoji="1" lang="zh-TW" altLang="en-US" sz="2400" dirty="0" smtClean="0">
                    <a:latin typeface="Times New Roman" panose="02020603050405020304" pitchFamily="18" charset="0"/>
                    <a:ea typeface="標楷體" panose="03000509000000000000" pitchFamily="65" charset="-120"/>
                  </a:rPr>
                  <a:t>的</a:t>
                </a:r>
                <a:r>
                  <a:rPr kumimoji="1" lang="en-US" altLang="zh-TW" sz="2400" dirty="0" smtClean="0">
                    <a:latin typeface="Times New Roman" panose="02020603050405020304" pitchFamily="18" charset="0"/>
                    <a:ea typeface="標楷體" panose="03000509000000000000" pitchFamily="65" charset="-120"/>
                  </a:rPr>
                  <a:t>inverse</a:t>
                </a:r>
                <a:r>
                  <a:rPr kumimoji="1" lang="zh-TW" altLang="en-US" sz="2400" dirty="0" smtClean="0">
                    <a:latin typeface="Times New Roman" panose="02020603050405020304" pitchFamily="18" charset="0"/>
                    <a:ea typeface="標楷體" panose="03000509000000000000" pitchFamily="65" charset="-120"/>
                  </a:rPr>
                  <a:t>和</a:t>
                </a:r>
                <a:r>
                  <a:rPr kumimoji="1" lang="en-US" altLang="zh-TW" sz="2400" dirty="0" smtClean="0">
                    <a:latin typeface="Times New Roman" panose="02020603050405020304" pitchFamily="18" charset="0"/>
                    <a:ea typeface="標楷體" panose="03000509000000000000" pitchFamily="65" charset="-120"/>
                  </a:rPr>
                  <a:t>zero training error</a:t>
                </a:r>
                <a:r>
                  <a:rPr kumimoji="1" lang="zh-TW" altLang="en-US" sz="2400" dirty="0" smtClean="0">
                    <a:latin typeface="Times New Roman" panose="02020603050405020304" pitchFamily="18" charset="0"/>
                    <a:ea typeface="標楷體" panose="03000509000000000000" pitchFamily="65" charset="-120"/>
                  </a:rPr>
                  <a:t>。</a:t>
                </a:r>
                <a:endParaRPr kumimoji="1" lang="en-US" altLang="zh-TW" sz="2400" dirty="0" smtClean="0">
                  <a:latin typeface="Times New Roman" panose="02020603050405020304" pitchFamily="18" charset="0"/>
                  <a:ea typeface="標楷體" panose="03000509000000000000" pitchFamily="65" charset="-120"/>
                </a:endParaRPr>
              </a:p>
              <a:p>
                <a:pPr marL="342900" indent="-342900">
                  <a:buFont typeface="Arial" panose="020B0604020202020204" pitchFamily="34" charset="0"/>
                  <a:buChar char="•"/>
                </a:pPr>
                <a:r>
                  <a:rPr kumimoji="1" lang="zh-TW" altLang="en-US" sz="2400" dirty="0" smtClean="0">
                    <a:latin typeface="Times New Roman" panose="02020603050405020304" pitchFamily="18" charset="0"/>
                    <a:ea typeface="標楷體" panose="03000509000000000000" pitchFamily="65" charset="-120"/>
                  </a:rPr>
                  <a:t>上述步驟為</a:t>
                </a:r>
                <a:r>
                  <a:rPr kumimoji="1" lang="en-US" altLang="zh-TW" sz="2400" dirty="0" smtClean="0">
                    <a:latin typeface="Times New Roman" panose="02020603050405020304" pitchFamily="18" charset="0"/>
                    <a:ea typeface="標楷體" panose="03000509000000000000" pitchFamily="65" charset="-120"/>
                  </a:rPr>
                  <a:t>single </a:t>
                </a:r>
                <a:r>
                  <a:rPr kumimoji="1" lang="en-US" altLang="zh-TW" sz="2400" dirty="0" smtClean="0">
                    <a:latin typeface="Times New Roman" panose="02020603050405020304" pitchFamily="18" charset="0"/>
                    <a:ea typeface="標楷體" panose="03000509000000000000" pitchFamily="65" charset="-120"/>
                  </a:rPr>
                  <a:t>step(</a:t>
                </a:r>
                <a:r>
                  <a:rPr kumimoji="1" lang="zh-TW" altLang="en-US" sz="2400" dirty="0" smtClean="0">
                    <a:latin typeface="Times New Roman" panose="02020603050405020304" pitchFamily="18" charset="0"/>
                    <a:ea typeface="標楷體" panose="03000509000000000000" pitchFamily="65" charset="-120"/>
                  </a:rPr>
                  <a:t>計算一次</a:t>
                </a:r>
                <a:r>
                  <a:rPr kumimoji="1" lang="en-US" altLang="zh-TW" sz="2400" dirty="0" smtClean="0">
                    <a:latin typeface="Times New Roman" panose="02020603050405020304" pitchFamily="18" charset="0"/>
                    <a:ea typeface="標楷體" panose="03000509000000000000" pitchFamily="65" charset="-120"/>
                  </a:rPr>
                  <a:t>)</a:t>
                </a:r>
                <a:r>
                  <a:rPr kumimoji="1" lang="zh-TW" altLang="en-US" sz="2400" dirty="0" smtClean="0">
                    <a:latin typeface="Times New Roman" panose="02020603050405020304" pitchFamily="18" charset="0"/>
                    <a:ea typeface="標楷體" panose="03000509000000000000" pitchFamily="65" charset="-120"/>
                  </a:rPr>
                  <a:t>。</a:t>
                </a:r>
                <a:endParaRPr kumimoji="1" lang="en-US" altLang="zh-TW" sz="2400" dirty="0" smtClean="0">
                  <a:latin typeface="Times New Roman" panose="02020603050405020304" pitchFamily="18" charset="0"/>
                  <a:ea typeface="標楷體" panose="03000509000000000000" pitchFamily="65" charset="-120"/>
                </a:endParaRPr>
              </a:p>
              <a:p>
                <a:pPr marL="342900" indent="-342900">
                  <a:buFont typeface="Arial" panose="020B0604020202020204" pitchFamily="34" charset="0"/>
                  <a:buChar char="•"/>
                </a:pPr>
                <a:r>
                  <a:rPr kumimoji="1" lang="zh-TW" altLang="en-US" sz="2400" dirty="0" smtClean="0">
                    <a:latin typeface="Times New Roman" panose="02020603050405020304" pitchFamily="18" charset="0"/>
                    <a:ea typeface="標楷體" panose="03000509000000000000" pitchFamily="65" charset="-120"/>
                  </a:rPr>
                  <a:t>當</a:t>
                </a:r>
                <a:r>
                  <a:rPr kumimoji="1" lang="en-US" altLang="zh-TW" sz="2400" dirty="0" smtClean="0">
                    <a:latin typeface="Times New Roman" panose="02020603050405020304" pitchFamily="18" charset="0"/>
                    <a:ea typeface="標楷體" panose="03000509000000000000" pitchFamily="65" charset="-120"/>
                  </a:rPr>
                  <a:t>training samples &gt; hidden nodes</a:t>
                </a:r>
                <a:r>
                  <a:rPr kumimoji="1" lang="zh-TW" altLang="en-US" sz="2400" dirty="0" smtClean="0">
                    <a:latin typeface="Times New Roman" panose="02020603050405020304" pitchFamily="18" charset="0"/>
                    <a:ea typeface="標楷體" panose="03000509000000000000" pitchFamily="65" charset="-120"/>
                  </a:rPr>
                  <a:t>時，也可隨意給予</a:t>
                </a:r>
                <a:r>
                  <a:rPr kumimoji="1" lang="en-US" altLang="zh-TW" sz="2400" dirty="0" smtClean="0">
                    <a:latin typeface="Times New Roman" panose="02020603050405020304" pitchFamily="18" charset="0"/>
                    <a:ea typeface="標楷體" panose="03000509000000000000" pitchFamily="65" charset="-120"/>
                  </a:rPr>
                  <a:t>hidden</a:t>
                </a:r>
                <a:r>
                  <a:rPr kumimoji="1" lang="zh-TW" altLang="en-US" sz="2400" dirty="0" smtClean="0">
                    <a:latin typeface="Times New Roman" panose="02020603050405020304" pitchFamily="18" charset="0"/>
                    <a:ea typeface="標楷體" panose="03000509000000000000" pitchFamily="65" charset="-120"/>
                  </a:rPr>
                  <a:t> </a:t>
                </a:r>
                <a:r>
                  <a:rPr kumimoji="1" lang="en-US" altLang="zh-TW" sz="2400" dirty="0" smtClean="0">
                    <a:latin typeface="Times New Roman" panose="02020603050405020304" pitchFamily="18" charset="0"/>
                    <a:ea typeface="標楷體" panose="03000509000000000000" pitchFamily="65" charset="-120"/>
                  </a:rPr>
                  <a:t>nodes</a:t>
                </a:r>
                <a:r>
                  <a:rPr kumimoji="1" lang="zh-TW" altLang="en-US" sz="2400" dirty="0" smtClean="0">
                    <a:latin typeface="Times New Roman" panose="02020603050405020304" pitchFamily="18" charset="0"/>
                    <a:ea typeface="標楷體" panose="03000509000000000000" pitchFamily="65" charset="-120"/>
                  </a:rPr>
                  <a:t>的參數，再計算</a:t>
                </a:r>
                <a:r>
                  <a:rPr kumimoji="1" lang="en-US" altLang="zh-TW" sz="2400" dirty="0" smtClean="0">
                    <a:latin typeface="Times New Roman" panose="02020603050405020304" pitchFamily="18" charset="0"/>
                    <a:ea typeface="標楷體" panose="03000509000000000000" pitchFamily="65" charset="-120"/>
                  </a:rPr>
                  <a:t>H</a:t>
                </a:r>
                <a:r>
                  <a:rPr kumimoji="1" lang="zh-TW" altLang="en-US" sz="2400" dirty="0" smtClean="0">
                    <a:latin typeface="Times New Roman" panose="02020603050405020304" pitchFamily="18" charset="0"/>
                    <a:ea typeface="標楷體" panose="03000509000000000000" pitchFamily="65" charset="-120"/>
                  </a:rPr>
                  <a:t>的</a:t>
                </a:r>
                <a:r>
                  <a:rPr kumimoji="1" lang="en-US" altLang="zh-TW" sz="2400" dirty="0" smtClean="0">
                    <a:latin typeface="Times New Roman" panose="02020603050405020304" pitchFamily="18" charset="0"/>
                    <a:ea typeface="標楷體" panose="03000509000000000000" pitchFamily="65" charset="-120"/>
                  </a:rPr>
                  <a:t>pseudoinverse</a:t>
                </a:r>
                <a:r>
                  <a:rPr kumimoji="1" lang="zh-TW" altLang="en-US" sz="2400" dirty="0" smtClean="0">
                    <a:latin typeface="Times New Roman" panose="02020603050405020304" pitchFamily="18" charset="0"/>
                    <a:ea typeface="標楷體" panose="03000509000000000000" pitchFamily="65" charset="-120"/>
                  </a:rPr>
                  <a:t>，得到一個小</a:t>
                </a:r>
                <a:r>
                  <a:rPr kumimoji="1" lang="zh-TW" altLang="en-US" sz="2400" dirty="0" smtClean="0">
                    <a:latin typeface="Times New Roman" panose="02020603050405020304" pitchFamily="18" charset="0"/>
                    <a:ea typeface="標楷體" panose="03000509000000000000" pitchFamily="65" charset="-120"/>
                  </a:rPr>
                  <a:t>的</a:t>
                </a:r>
                <a:r>
                  <a:rPr kumimoji="1" lang="en-US" altLang="zh-TW" sz="2400" dirty="0" smtClean="0">
                    <a:latin typeface="Times New Roman" panose="02020603050405020304" pitchFamily="18" charset="0"/>
                    <a:ea typeface="標楷體" panose="03000509000000000000" pitchFamily="65" charset="-120"/>
                  </a:rPr>
                  <a:t>(</a:t>
                </a:r>
                <a:r>
                  <a:rPr kumimoji="1" lang="en-US" altLang="zh-TW" sz="2400" smtClean="0">
                    <a:latin typeface="Times New Roman" panose="02020603050405020304" pitchFamily="18" charset="0"/>
                    <a:ea typeface="標楷體" panose="03000509000000000000" pitchFamily="65" charset="-120"/>
                  </a:rPr>
                  <a:t>small) training </a:t>
                </a:r>
                <a:r>
                  <a:rPr kumimoji="1" lang="en-US" altLang="zh-TW" sz="2400" dirty="0" smtClean="0">
                    <a:latin typeface="Times New Roman" panose="02020603050405020304" pitchFamily="18" charset="0"/>
                    <a:ea typeface="標楷體" panose="03000509000000000000" pitchFamily="65" charset="-120"/>
                  </a:rPr>
                  <a:t>error</a:t>
                </a:r>
                <a:r>
                  <a:rPr kumimoji="1" lang="zh-TW" altLang="en-US" sz="2400" dirty="0" smtClean="0">
                    <a:latin typeface="Times New Roman" panose="02020603050405020304" pitchFamily="18" charset="0"/>
                    <a:ea typeface="標楷體" panose="03000509000000000000" pitchFamily="65" charset="-120"/>
                  </a:rPr>
                  <a:t>。</a:t>
                </a:r>
                <a:endParaRPr kumimoji="1" lang="en-US" altLang="zh-TW" sz="2400" dirty="0" smtClean="0">
                  <a:latin typeface="Times New Roman" panose="02020603050405020304" pitchFamily="18" charset="0"/>
                  <a:ea typeface="標楷體" panose="03000509000000000000" pitchFamily="65" charset="-120"/>
                </a:endParaRPr>
              </a:p>
            </p:txBody>
          </p:sp>
        </mc:Choice>
        <mc:Fallback>
          <p:sp>
            <p:nvSpPr>
              <p:cNvPr id="3" name="文字方塊 2"/>
              <p:cNvSpPr txBox="1">
                <a:spLocks noRot="1" noChangeAspect="1" noMove="1" noResize="1" noEditPoints="1" noAdjustHandles="1" noChangeArrowheads="1" noChangeShapeType="1" noTextEdit="1"/>
              </p:cNvSpPr>
              <p:nvPr/>
            </p:nvSpPr>
            <p:spPr>
              <a:xfrm>
                <a:off x="0" y="1453438"/>
                <a:ext cx="9144000" cy="2317494"/>
              </a:xfrm>
              <a:prstGeom prst="rect">
                <a:avLst/>
              </a:prstGeom>
              <a:blipFill rotWithShape="0">
                <a:blip r:embed="rId2" cstate="print"/>
                <a:stretch>
                  <a:fillRect l="-867" t="-1575" r="-800" b="-4987"/>
                </a:stretch>
              </a:blipFill>
            </p:spPr>
            <p:txBody>
              <a:bodyPr/>
              <a:lstStyle/>
              <a:p>
                <a:r>
                  <a:rPr lang="zh-TW" altLang="en-US">
                    <a:noFill/>
                  </a:rPr>
                  <a:t> </a:t>
                </a:r>
              </a:p>
            </p:txBody>
          </p:sp>
        </mc:Fallback>
      </mc:AlternateContent>
      <p:pic>
        <p:nvPicPr>
          <p:cNvPr id="4" name="圖片 3"/>
          <p:cNvPicPr>
            <a:picLocks noChangeAspect="1"/>
          </p:cNvPicPr>
          <p:nvPr/>
        </p:nvPicPr>
        <p:blipFill>
          <a:blip r:embed="rId3" cstate="print"/>
          <a:stretch>
            <a:fillRect/>
          </a:stretch>
        </p:blipFill>
        <p:spPr>
          <a:xfrm>
            <a:off x="2607166" y="3813091"/>
            <a:ext cx="1536879" cy="432247"/>
          </a:xfrm>
          <a:prstGeom prst="rect">
            <a:avLst/>
          </a:prstGeom>
        </p:spPr>
      </p:pic>
      <p:pic>
        <p:nvPicPr>
          <p:cNvPr id="5" name="圖片 4"/>
          <p:cNvPicPr>
            <a:picLocks noChangeAspect="1"/>
          </p:cNvPicPr>
          <p:nvPr/>
        </p:nvPicPr>
        <p:blipFill>
          <a:blip r:embed="rId4" cstate="print"/>
          <a:stretch>
            <a:fillRect/>
          </a:stretch>
        </p:blipFill>
        <p:spPr>
          <a:xfrm>
            <a:off x="5605260" y="3669636"/>
            <a:ext cx="1737080" cy="607978"/>
          </a:xfrm>
          <a:prstGeom prst="rect">
            <a:avLst/>
          </a:prstGeom>
        </p:spPr>
      </p:pic>
      <p:sp>
        <p:nvSpPr>
          <p:cNvPr id="6" name="向右箭號 5"/>
          <p:cNvSpPr/>
          <p:nvPr/>
        </p:nvSpPr>
        <p:spPr>
          <a:xfrm>
            <a:off x="4571999" y="3870078"/>
            <a:ext cx="605307" cy="3039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xmlns="" Requires="a14">
          <p:sp>
            <p:nvSpPr>
              <p:cNvPr id="7" name="文字方塊 6"/>
              <p:cNvSpPr txBox="1"/>
              <p:nvPr/>
            </p:nvSpPr>
            <p:spPr>
              <a:xfrm>
                <a:off x="64394" y="4481848"/>
                <a:ext cx="9015211" cy="2357184"/>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p>
                      <m:sSupPr>
                        <m:ctrlPr>
                          <a:rPr kumimoji="1" lang="en-US" altLang="zh-TW" sz="2400" i="1" smtClean="0">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a:rPr kumimoji="1" lang="en-US" altLang="zh-TW" sz="2400">
                            <a:latin typeface="Cambria Math" panose="02040503050406030204" pitchFamily="18" charset="0"/>
                            <a:ea typeface="標楷體" panose="03000509000000000000" pitchFamily="65" charset="-120"/>
                          </a:rPr>
                          <m:t>+</m:t>
                        </m:r>
                      </m:sup>
                    </m:sSup>
                  </m:oMath>
                </a14:m>
                <a:r>
                  <a:rPr kumimoji="1" lang="zh-TW" altLang="en-US" sz="2400" dirty="0">
                    <a:latin typeface="Times New Roman" panose="02020603050405020304" pitchFamily="18" charset="0"/>
                    <a:ea typeface="標楷體" panose="03000509000000000000" pitchFamily="65" charset="-120"/>
                  </a:rPr>
                  <a:t> </a:t>
                </a:r>
                <a:r>
                  <a:rPr kumimoji="1" lang="en-US" altLang="zh-TW" sz="2400" dirty="0">
                    <a:latin typeface="Times New Roman" panose="02020603050405020304" pitchFamily="18" charset="0"/>
                    <a:ea typeface="標楷體" panose="03000509000000000000" pitchFamily="65" charset="-120"/>
                  </a:rPr>
                  <a:t>is the Moore-Penrose generalized inverse(pseudoinverse)</a:t>
                </a:r>
              </a:p>
              <a:p>
                <a:pPr marL="342900" indent="-342900">
                  <a:buFont typeface="Arial" panose="020B0604020202020204" pitchFamily="34" charset="0"/>
                  <a:buChar char="•"/>
                </a:pPr>
                <a14:m>
                  <m:oMath xmlns:m="http://schemas.openxmlformats.org/officeDocument/2006/math">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a:rPr kumimoji="1" lang="en-US" altLang="zh-TW" sz="2400">
                            <a:latin typeface="Cambria Math" panose="02040503050406030204" pitchFamily="18" charset="0"/>
                            <a:ea typeface="標楷體" panose="03000509000000000000" pitchFamily="65" charset="-120"/>
                          </a:rPr>
                          <m:t>+</m:t>
                        </m:r>
                      </m:sup>
                    </m:sSup>
                  </m:oMath>
                </a14:m>
                <a:r>
                  <a:rPr kumimoji="1" lang="zh-TW" altLang="en-US" sz="2400" dirty="0">
                    <a:latin typeface="Times New Roman" panose="02020603050405020304" pitchFamily="18" charset="0"/>
                    <a:ea typeface="標楷體" panose="03000509000000000000" pitchFamily="65" charset="-120"/>
                  </a:rPr>
                  <a:t> </a:t>
                </a:r>
                <a:r>
                  <a:rPr kumimoji="1" lang="en-US" altLang="zh-TW" sz="2400" dirty="0">
                    <a:latin typeface="Times New Roman" panose="02020603050405020304" pitchFamily="18" charset="0"/>
                    <a:ea typeface="標楷體" panose="03000509000000000000" pitchFamily="65" charset="-120"/>
                  </a:rPr>
                  <a:t>=</a:t>
                </a:r>
                <a:r>
                  <a:rPr kumimoji="1" lang="zh-TW" altLang="en-US" sz="2400" dirty="0">
                    <a:latin typeface="Times New Roman" panose="02020603050405020304" pitchFamily="18" charset="0"/>
                    <a:ea typeface="標楷體" panose="03000509000000000000" pitchFamily="65" charset="-120"/>
                  </a:rPr>
                  <a:t> </a:t>
                </a:r>
                <a14:m>
                  <m:oMath xmlns:m="http://schemas.openxmlformats.org/officeDocument/2006/math">
                    <m:sSup>
                      <m:sSupPr>
                        <m:ctrlPr>
                          <a:rPr kumimoji="1" lang="en-US" altLang="zh-TW" sz="2400" i="1">
                            <a:latin typeface="Cambria Math" panose="02040503050406030204" pitchFamily="18" charset="0"/>
                            <a:ea typeface="標楷體" panose="03000509000000000000" pitchFamily="65" charset="-120"/>
                          </a:rPr>
                        </m:ctrlPr>
                      </m:sSupPr>
                      <m:e>
                        <m:d>
                          <m:dPr>
                            <m:ctrlPr>
                              <a:rPr kumimoji="1" lang="en-US" altLang="zh-TW" sz="2400" i="1">
                                <a:latin typeface="Cambria Math" panose="02040503050406030204" pitchFamily="18" charset="0"/>
                                <a:ea typeface="標楷體" panose="03000509000000000000" pitchFamily="65" charset="-120"/>
                              </a:rPr>
                            </m:ctrlPr>
                          </m:dPr>
                          <m:e>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m:rPr>
                                    <m:sty m:val="p"/>
                                  </m:rPr>
                                  <a:rPr kumimoji="1" lang="en-US" altLang="zh-TW" sz="2400">
                                    <a:latin typeface="Cambria Math" panose="02040503050406030204" pitchFamily="18" charset="0"/>
                                    <a:ea typeface="標楷體" panose="03000509000000000000" pitchFamily="65" charset="-120"/>
                                  </a:rPr>
                                  <m:t>T</m:t>
                                </m:r>
                              </m:sup>
                            </m:sSup>
                            <m:r>
                              <m:rPr>
                                <m:sty m:val="p"/>
                              </m:rPr>
                              <a:rPr kumimoji="1" lang="en-US" altLang="zh-TW" sz="2400">
                                <a:latin typeface="Cambria Math" panose="02040503050406030204" pitchFamily="18" charset="0"/>
                                <a:ea typeface="標楷體" panose="03000509000000000000" pitchFamily="65" charset="-120"/>
                              </a:rPr>
                              <m:t>H</m:t>
                            </m:r>
                          </m:e>
                        </m:d>
                      </m:e>
                      <m:sup>
                        <m:r>
                          <a:rPr kumimoji="1" lang="en-US" altLang="zh-TW" sz="2400">
                            <a:latin typeface="Cambria Math" panose="02040503050406030204" pitchFamily="18" charset="0"/>
                            <a:ea typeface="標楷體" panose="03000509000000000000" pitchFamily="65" charset="-120"/>
                          </a:rPr>
                          <m:t>−1</m:t>
                        </m:r>
                      </m:sup>
                    </m:sSup>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m:rPr>
                            <m:sty m:val="p"/>
                          </m:rPr>
                          <a:rPr kumimoji="1" lang="en-US" altLang="zh-TW" sz="2400">
                            <a:latin typeface="Cambria Math" panose="02040503050406030204" pitchFamily="18" charset="0"/>
                            <a:ea typeface="標楷體" panose="03000509000000000000" pitchFamily="65" charset="-120"/>
                          </a:rPr>
                          <m:t>T</m:t>
                        </m:r>
                      </m:sup>
                    </m:sSup>
                  </m:oMath>
                </a14:m>
                <a:endParaRPr kumimoji="1" lang="en-US" altLang="zh-TW" sz="2400" dirty="0">
                  <a:latin typeface="Times New Roman" panose="02020603050405020304" pitchFamily="18" charset="0"/>
                  <a:ea typeface="標楷體" panose="03000509000000000000" pitchFamily="65" charset="-120"/>
                </a:endParaRPr>
              </a:p>
              <a:p>
                <a:pPr marL="342900" indent="-342900">
                  <a:buFont typeface="Arial" panose="020B0604020202020204" pitchFamily="34" charset="0"/>
                  <a:buChar char="•"/>
                </a:pPr>
                <a14:m>
                  <m:oMath xmlns:m="http://schemas.openxmlformats.org/officeDocument/2006/math">
                    <m:acc>
                      <m:accPr>
                        <m:chr m:val="̂"/>
                        <m:ctrlPr>
                          <a:rPr kumimoji="1" lang="zh-TW" altLang="en-US" sz="2400" i="1">
                            <a:latin typeface="Cambria Math" panose="02040503050406030204" pitchFamily="18" charset="0"/>
                            <a:ea typeface="標楷體" panose="03000509000000000000" pitchFamily="65" charset="-120"/>
                          </a:rPr>
                        </m:ctrlPr>
                      </m:accPr>
                      <m:e>
                        <m:r>
                          <a:rPr kumimoji="1" lang="zh-TW" altLang="en-US" sz="2400" i="1" smtClean="0">
                            <a:latin typeface="Cambria Math" panose="02040503050406030204" pitchFamily="18" charset="0"/>
                            <a:ea typeface="標楷體" panose="03000509000000000000" pitchFamily="65" charset="-120"/>
                          </a:rPr>
                          <m:t>𝛽</m:t>
                        </m:r>
                      </m:e>
                    </m:acc>
                  </m:oMath>
                </a14:m>
                <a:r>
                  <a:rPr kumimoji="1" lang="zh-TW" altLang="en-US" sz="2400" dirty="0">
                    <a:latin typeface="Times New Roman" panose="02020603050405020304" pitchFamily="18" charset="0"/>
                    <a:ea typeface="標楷體" panose="03000509000000000000" pitchFamily="65" charset="-120"/>
                  </a:rPr>
                  <a:t> </a:t>
                </a:r>
                <a:r>
                  <a:rPr kumimoji="1" lang="en-US" altLang="zh-TW" sz="2400" dirty="0">
                    <a:latin typeface="Times New Roman" panose="02020603050405020304" pitchFamily="18" charset="0"/>
                    <a:ea typeface="標楷體" panose="03000509000000000000" pitchFamily="65" charset="-120"/>
                  </a:rPr>
                  <a:t>= </a:t>
                </a:r>
                <a14:m>
                  <m:oMath xmlns:m="http://schemas.openxmlformats.org/officeDocument/2006/math">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a:rPr kumimoji="1" lang="en-US" altLang="zh-TW" sz="2400">
                            <a:latin typeface="Cambria Math" panose="02040503050406030204" pitchFamily="18" charset="0"/>
                            <a:ea typeface="標楷體" panose="03000509000000000000" pitchFamily="65" charset="-120"/>
                          </a:rPr>
                          <m:t>+</m:t>
                        </m:r>
                      </m:sup>
                    </m:sSup>
                    <m:r>
                      <m:rPr>
                        <m:sty m:val="p"/>
                      </m:rPr>
                      <a:rPr kumimoji="1" lang="en-US" altLang="zh-TW" sz="2400">
                        <a:latin typeface="Cambria Math" panose="02040503050406030204" pitchFamily="18" charset="0"/>
                        <a:ea typeface="標楷體" panose="03000509000000000000" pitchFamily="65" charset="-120"/>
                      </a:rPr>
                      <m:t>T</m:t>
                    </m:r>
                  </m:oMath>
                </a14:m>
                <a:r>
                  <a:rPr kumimoji="1" lang="zh-TW" altLang="en-US" sz="2400" dirty="0">
                    <a:latin typeface="Times New Roman" panose="02020603050405020304" pitchFamily="18" charset="0"/>
                    <a:ea typeface="標楷體" panose="03000509000000000000" pitchFamily="65" charset="-120"/>
                  </a:rPr>
                  <a:t> </a:t>
                </a:r>
                <a:r>
                  <a:rPr kumimoji="1" lang="en-US" altLang="zh-TW" sz="2400" dirty="0">
                    <a:latin typeface="Times New Roman" panose="02020603050405020304" pitchFamily="18" charset="0"/>
                    <a:ea typeface="標楷體" panose="03000509000000000000" pitchFamily="65" charset="-120"/>
                  </a:rPr>
                  <a:t>= </a:t>
                </a:r>
                <a14:m>
                  <m:oMath xmlns:m="http://schemas.openxmlformats.org/officeDocument/2006/math">
                    <m:sSup>
                      <m:sSupPr>
                        <m:ctrlPr>
                          <a:rPr kumimoji="1" lang="en-US" altLang="zh-TW" sz="2400" i="1">
                            <a:latin typeface="Cambria Math" panose="02040503050406030204" pitchFamily="18" charset="0"/>
                            <a:ea typeface="標楷體" panose="03000509000000000000" pitchFamily="65" charset="-120"/>
                          </a:rPr>
                        </m:ctrlPr>
                      </m:sSupPr>
                      <m:e>
                        <m:d>
                          <m:dPr>
                            <m:ctrlPr>
                              <a:rPr kumimoji="1" lang="en-US" altLang="zh-TW" sz="2400" i="1">
                                <a:latin typeface="Cambria Math" panose="02040503050406030204" pitchFamily="18" charset="0"/>
                                <a:ea typeface="標楷體" panose="03000509000000000000" pitchFamily="65" charset="-120"/>
                              </a:rPr>
                            </m:ctrlPr>
                          </m:dPr>
                          <m:e>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m:rPr>
                                    <m:sty m:val="p"/>
                                  </m:rPr>
                                  <a:rPr kumimoji="1" lang="en-US" altLang="zh-TW" sz="2400">
                                    <a:latin typeface="Cambria Math" panose="02040503050406030204" pitchFamily="18" charset="0"/>
                                    <a:ea typeface="標楷體" panose="03000509000000000000" pitchFamily="65" charset="-120"/>
                                  </a:rPr>
                                  <m:t>T</m:t>
                                </m:r>
                              </m:sup>
                            </m:sSup>
                            <m:r>
                              <m:rPr>
                                <m:sty m:val="p"/>
                              </m:rPr>
                              <a:rPr kumimoji="1" lang="en-US" altLang="zh-TW" sz="2400">
                                <a:latin typeface="Cambria Math" panose="02040503050406030204" pitchFamily="18" charset="0"/>
                                <a:ea typeface="標楷體" panose="03000509000000000000" pitchFamily="65" charset="-120"/>
                              </a:rPr>
                              <m:t>H</m:t>
                            </m:r>
                          </m:e>
                        </m:d>
                      </m:e>
                      <m:sup>
                        <m:r>
                          <a:rPr kumimoji="1" lang="en-US" altLang="zh-TW" sz="2400">
                            <a:latin typeface="Cambria Math" panose="02040503050406030204" pitchFamily="18" charset="0"/>
                            <a:ea typeface="標楷體" panose="03000509000000000000" pitchFamily="65" charset="-120"/>
                          </a:rPr>
                          <m:t>−1</m:t>
                        </m:r>
                      </m:sup>
                    </m:sSup>
                    <m:sSup>
                      <m:sSupPr>
                        <m:ctrlPr>
                          <a:rPr kumimoji="1" lang="en-US" altLang="zh-TW" sz="2400" i="1">
                            <a:latin typeface="Cambria Math" panose="02040503050406030204" pitchFamily="18" charset="0"/>
                            <a:ea typeface="標楷體" panose="03000509000000000000" pitchFamily="65" charset="-120"/>
                          </a:rPr>
                        </m:ctrlPr>
                      </m:sSupPr>
                      <m:e>
                        <m:r>
                          <m:rPr>
                            <m:sty m:val="p"/>
                          </m:rPr>
                          <a:rPr kumimoji="1" lang="en-US" altLang="zh-TW" sz="2400">
                            <a:latin typeface="Cambria Math" panose="02040503050406030204" pitchFamily="18" charset="0"/>
                            <a:ea typeface="標楷體" panose="03000509000000000000" pitchFamily="65" charset="-120"/>
                          </a:rPr>
                          <m:t>H</m:t>
                        </m:r>
                      </m:e>
                      <m:sup>
                        <m:r>
                          <m:rPr>
                            <m:sty m:val="p"/>
                          </m:rPr>
                          <a:rPr kumimoji="1" lang="en-US" altLang="zh-TW" sz="2400">
                            <a:latin typeface="Cambria Math" panose="02040503050406030204" pitchFamily="18" charset="0"/>
                            <a:ea typeface="標楷體" panose="03000509000000000000" pitchFamily="65" charset="-120"/>
                          </a:rPr>
                          <m:t>T</m:t>
                        </m:r>
                      </m:sup>
                    </m:sSup>
                  </m:oMath>
                </a14:m>
                <a:r>
                  <a:rPr kumimoji="1" lang="en-US" altLang="zh-TW" sz="2400" dirty="0">
                    <a:latin typeface="Times New Roman" panose="02020603050405020304" pitchFamily="18" charset="0"/>
                    <a:ea typeface="標楷體" panose="03000509000000000000" pitchFamily="65" charset="-120"/>
                  </a:rPr>
                  <a:t>T</a:t>
                </a:r>
              </a:p>
              <a:p>
                <a:pPr marL="342900" indent="-342900">
                  <a:buFont typeface="Arial" panose="020B0604020202020204" pitchFamily="34" charset="0"/>
                  <a:buChar char="•"/>
                </a:pPr>
                <a:r>
                  <a:rPr kumimoji="1" lang="en-US" altLang="zh-TW" sz="2400" dirty="0" smtClean="0">
                    <a:latin typeface="Times New Roman" panose="02020603050405020304" pitchFamily="18" charset="0"/>
                    <a:ea typeface="標楷體" panose="03000509000000000000" pitchFamily="65" charset="-120"/>
                  </a:rPr>
                  <a:t>Example:</a:t>
                </a:r>
                <a:endParaRPr kumimoji="1" lang="en-US" altLang="zh-TW" sz="2400" dirty="0">
                  <a:latin typeface="Times New Roman" panose="02020603050405020304" pitchFamily="18" charset="0"/>
                  <a:ea typeface="標楷體" panose="03000509000000000000" pitchFamily="65" charset="-120"/>
                </a:endParaRPr>
              </a:p>
              <a:p>
                <a:pPr/>
                <a14:m>
                  <m:oMathPara xmlns:m="http://schemas.openxmlformats.org/officeDocument/2006/math">
                    <m:oMathParaPr>
                      <m:jc m:val="centerGroup"/>
                    </m:oMathParaPr>
                    <m:oMath xmlns:m="http://schemas.openxmlformats.org/officeDocument/2006/math">
                      <m:acc>
                        <m:accPr>
                          <m:chr m:val="̂"/>
                          <m:ctrlPr>
                            <a:rPr lang="en-US" altLang="zh-TW" sz="2400" i="1" smtClean="0">
                              <a:latin typeface="Cambria Math" panose="02040503050406030204" pitchFamily="18" charset="0"/>
                            </a:rPr>
                          </m:ctrlPr>
                        </m:accPr>
                        <m:e>
                          <m:r>
                            <a:rPr lang="zh-TW" altLang="en-US" sz="2400" i="1" smtClean="0">
                              <a:latin typeface="Cambria Math" panose="02040503050406030204" pitchFamily="18" charset="0"/>
                            </a:rPr>
                            <m:t>𝛽</m:t>
                          </m:r>
                        </m:e>
                      </m:acc>
                      <m:r>
                        <a:rPr lang="en-US" altLang="zh-TW" sz="2400">
                          <a:latin typeface="Cambria Math"/>
                        </a:rPr>
                        <m:t>= </m:t>
                      </m:r>
                      <m:sSup>
                        <m:sSupPr>
                          <m:ctrlPr>
                            <a:rPr lang="zh-TW" altLang="zh-TW" sz="2400" i="1">
                              <a:latin typeface="Cambria Math" panose="02040503050406030204" pitchFamily="18" charset="0"/>
                            </a:rPr>
                          </m:ctrlPr>
                        </m:sSupPr>
                        <m:e>
                          <m:d>
                            <m:dPr>
                              <m:ctrlPr>
                                <a:rPr lang="zh-TW" altLang="zh-TW" sz="2400" i="1">
                                  <a:latin typeface="Cambria Math" panose="02040503050406030204" pitchFamily="18" charset="0"/>
                                </a:rPr>
                              </m:ctrlPr>
                            </m:dPr>
                            <m:e>
                              <m:sSubSup>
                                <m:sSubSupPr>
                                  <m:ctrlPr>
                                    <a:rPr lang="zh-TW" altLang="zh-TW" sz="2400" i="1">
                                      <a:latin typeface="Cambria Math" panose="02040503050406030204" pitchFamily="18" charset="0"/>
                                    </a:rPr>
                                  </m:ctrlPr>
                                </m:sSubSupPr>
                                <m:e>
                                  <m:r>
                                    <a:rPr lang="en-US" altLang="zh-TW" sz="2400" i="1">
                                      <a:latin typeface="Cambria Math"/>
                                    </a:rPr>
                                    <m:t>𝐻</m:t>
                                  </m:r>
                                </m:e>
                                <m:sub>
                                  <m:r>
                                    <a:rPr lang="en-US" altLang="zh-TW" sz="2400" i="1">
                                      <a:latin typeface="Cambria Math" panose="02040503050406030204" pitchFamily="18" charset="0"/>
                                    </a:rPr>
                                    <m:t>5000</m:t>
                                  </m:r>
                                  <m:r>
                                    <a:rPr lang="en-US" altLang="zh-TW" sz="2400" i="1">
                                      <a:latin typeface="Cambria Math"/>
                                    </a:rPr>
                                    <m:t>∗</m:t>
                                  </m:r>
                                  <m:r>
                                    <a:rPr lang="en-US" altLang="zh-TW" sz="2400" i="1">
                                      <a:latin typeface="Cambria Math" panose="02040503050406030204" pitchFamily="18" charset="0"/>
                                    </a:rPr>
                                    <m:t>5</m:t>
                                  </m:r>
                                  <m:r>
                                    <a:rPr lang="en-US" altLang="zh-TW" sz="2400" i="1">
                                      <a:latin typeface="Cambria Math"/>
                                    </a:rPr>
                                    <m:t>0</m:t>
                                  </m:r>
                                </m:sub>
                                <m:sup>
                                  <m:r>
                                    <a:rPr lang="en-US" altLang="zh-TW" sz="2400" i="1">
                                      <a:latin typeface="Cambria Math"/>
                                    </a:rPr>
                                    <m:t>𝑇</m:t>
                                  </m:r>
                                </m:sup>
                              </m:sSubSup>
                              <m:sSub>
                                <m:sSubPr>
                                  <m:ctrlPr>
                                    <a:rPr lang="zh-TW" altLang="zh-TW" sz="2400" i="1">
                                      <a:latin typeface="Cambria Math" panose="02040503050406030204" pitchFamily="18" charset="0"/>
                                    </a:rPr>
                                  </m:ctrlPr>
                                </m:sSubPr>
                                <m:e>
                                  <m:r>
                                    <a:rPr lang="en-US" altLang="zh-TW" sz="2400" i="1">
                                      <a:latin typeface="Cambria Math"/>
                                    </a:rPr>
                                    <m:t>𝐻</m:t>
                                  </m:r>
                                </m:e>
                                <m:sub>
                                  <m:r>
                                    <a:rPr lang="en-US" altLang="zh-TW" sz="2400" i="1">
                                      <a:latin typeface="Cambria Math" panose="02040503050406030204" pitchFamily="18" charset="0"/>
                                    </a:rPr>
                                    <m:t>5000</m:t>
                                  </m:r>
                                  <m:r>
                                    <a:rPr lang="en-US" altLang="zh-TW" sz="2400" i="1">
                                      <a:latin typeface="Cambria Math"/>
                                    </a:rPr>
                                    <m:t>∗</m:t>
                                  </m:r>
                                  <m:r>
                                    <a:rPr lang="en-US" altLang="zh-TW" sz="2400" i="1">
                                      <a:latin typeface="Cambria Math" panose="02040503050406030204" pitchFamily="18" charset="0"/>
                                    </a:rPr>
                                    <m:t>5</m:t>
                                  </m:r>
                                  <m:r>
                                    <a:rPr lang="en-US" altLang="zh-TW" sz="2400" i="1">
                                      <a:latin typeface="Cambria Math"/>
                                    </a:rPr>
                                    <m:t>0</m:t>
                                  </m:r>
                                </m:sub>
                              </m:sSub>
                            </m:e>
                          </m:d>
                        </m:e>
                        <m:sup>
                          <m:r>
                            <a:rPr lang="en-US" altLang="zh-TW" sz="2400" i="1">
                              <a:latin typeface="Cambria Math"/>
                            </a:rPr>
                            <m:t>−1</m:t>
                          </m:r>
                        </m:sup>
                      </m:sSup>
                      <m:sSubSup>
                        <m:sSubSupPr>
                          <m:ctrlPr>
                            <a:rPr lang="zh-TW" altLang="zh-TW" sz="2400" i="1">
                              <a:latin typeface="Cambria Math" panose="02040503050406030204" pitchFamily="18" charset="0"/>
                            </a:rPr>
                          </m:ctrlPr>
                        </m:sSubSupPr>
                        <m:e>
                          <m:r>
                            <a:rPr lang="en-US" altLang="zh-TW" sz="2400" i="1">
                              <a:latin typeface="Cambria Math"/>
                            </a:rPr>
                            <m:t>𝐻</m:t>
                          </m:r>
                        </m:e>
                        <m:sub>
                          <m:r>
                            <a:rPr lang="en-US" altLang="zh-TW" sz="2400" i="1">
                              <a:latin typeface="Cambria Math" panose="02040503050406030204" pitchFamily="18" charset="0"/>
                            </a:rPr>
                            <m:t>5000</m:t>
                          </m:r>
                          <m:r>
                            <a:rPr lang="en-US" altLang="zh-TW" sz="2400" i="1">
                              <a:latin typeface="Cambria Math"/>
                            </a:rPr>
                            <m:t>∗</m:t>
                          </m:r>
                          <m:r>
                            <a:rPr lang="en-US" altLang="zh-TW" sz="2400" i="1">
                              <a:latin typeface="Cambria Math" panose="02040503050406030204" pitchFamily="18" charset="0"/>
                            </a:rPr>
                            <m:t>5</m:t>
                          </m:r>
                          <m:r>
                            <a:rPr lang="en-US" altLang="zh-TW" sz="2400" i="1">
                              <a:latin typeface="Cambria Math"/>
                            </a:rPr>
                            <m:t>0</m:t>
                          </m:r>
                        </m:sub>
                        <m:sup>
                          <m:r>
                            <a:rPr lang="en-US" altLang="zh-TW" sz="2400" i="1">
                              <a:latin typeface="Cambria Math"/>
                            </a:rPr>
                            <m:t>𝑇</m:t>
                          </m:r>
                        </m:sup>
                      </m:sSubSup>
                      <m:sSub>
                        <m:sSubPr>
                          <m:ctrlPr>
                            <a:rPr lang="zh-TW" altLang="zh-TW" sz="2400" i="1" smtClean="0">
                              <a:latin typeface="Cambria Math" panose="02040503050406030204" pitchFamily="18" charset="0"/>
                            </a:rPr>
                          </m:ctrlPr>
                        </m:sSubPr>
                        <m:e>
                          <m:r>
                            <a:rPr lang="en-US" altLang="zh-TW" sz="2400" i="1">
                              <a:latin typeface="Cambria Math"/>
                            </a:rPr>
                            <m:t>𝑇</m:t>
                          </m:r>
                        </m:e>
                        <m:sub>
                          <m:r>
                            <a:rPr lang="en-US" altLang="zh-TW" sz="2400" i="1">
                              <a:latin typeface="Cambria Math" panose="02040503050406030204" pitchFamily="18" charset="0"/>
                            </a:rPr>
                            <m:t>5</m:t>
                          </m:r>
                          <m:r>
                            <a:rPr lang="en-US" altLang="zh-TW" sz="2400" i="1">
                              <a:latin typeface="Cambria Math"/>
                            </a:rPr>
                            <m:t>000∗1</m:t>
                          </m:r>
                        </m:sub>
                      </m:sSub>
                      <m:r>
                        <a:rPr lang="en-US" altLang="zh-TW" sz="2400" i="1">
                          <a:latin typeface="Cambria Math" panose="02040503050406030204" pitchFamily="18" charset="0"/>
                        </a:rPr>
                        <m:t>=</m:t>
                      </m:r>
                      <m:sSup>
                        <m:sSupPr>
                          <m:ctrlPr>
                            <a:rPr lang="en-US" altLang="zh-TW" sz="2400" i="1" smtClean="0">
                              <a:latin typeface="Cambria Math" panose="02040503050406030204" pitchFamily="18" charset="0"/>
                            </a:rPr>
                          </m:ctrlPr>
                        </m:sSupPr>
                        <m:e>
                          <m:d>
                            <m:dPr>
                              <m:ctrlPr>
                                <a:rPr lang="en-US" altLang="zh-TW" sz="2400" i="1" smtClean="0">
                                  <a:latin typeface="Cambria Math" panose="02040503050406030204" pitchFamily="18" charset="0"/>
                                </a:rPr>
                              </m:ctrlPr>
                            </m:dPr>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50∗50</m:t>
                                  </m:r>
                                </m:sub>
                              </m:sSub>
                            </m:e>
                          </m:d>
                        </m:e>
                        <m:sup>
                          <m:r>
                            <a:rPr lang="en-US" altLang="zh-TW" sz="2400" b="0" i="1" smtClean="0">
                              <a:latin typeface="Cambria Math" panose="02040503050406030204" pitchFamily="18" charset="0"/>
                            </a:rPr>
                            <m:t>−1</m:t>
                          </m:r>
                        </m:sup>
                      </m:sSup>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50∗1</m:t>
                          </m:r>
                        </m:sub>
                      </m:sSub>
                    </m:oMath>
                  </m:oMathPara>
                </a14:m>
                <a:endParaRPr lang="zh-TW" altLang="en-US" sz="2400" dirty="0"/>
              </a:p>
            </p:txBody>
          </p:sp>
        </mc:Choice>
        <mc:Fallback>
          <p:sp>
            <p:nvSpPr>
              <p:cNvPr id="7" name="文字方塊 6"/>
              <p:cNvSpPr txBox="1">
                <a:spLocks noRot="1" noChangeAspect="1" noMove="1" noResize="1" noEditPoints="1" noAdjustHandles="1" noChangeArrowheads="1" noChangeShapeType="1" noTextEdit="1"/>
              </p:cNvSpPr>
              <p:nvPr/>
            </p:nvSpPr>
            <p:spPr>
              <a:xfrm>
                <a:off x="64394" y="4481848"/>
                <a:ext cx="9015211" cy="2357184"/>
              </a:xfrm>
              <a:prstGeom prst="rect">
                <a:avLst/>
              </a:prstGeom>
              <a:blipFill rotWithShape="0">
                <a:blip r:embed="rId5" cstate="print"/>
                <a:stretch>
                  <a:fillRect l="-947" t="-20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4340917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Extreme Learning Machine(3/3)</a:t>
            </a:r>
            <a:endParaRPr lang="zh-TW" altLang="en-US" sz="4800" dirty="0">
              <a:latin typeface="Times New Roman" panose="02020603050405020304" pitchFamily="18" charset="0"/>
              <a:cs typeface="Times New Roman" panose="02020603050405020304" pitchFamily="18" charset="0"/>
            </a:endParaRPr>
          </a:p>
        </p:txBody>
      </p:sp>
      <p:pic>
        <p:nvPicPr>
          <p:cNvPr id="8"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9334" y="1837854"/>
            <a:ext cx="8905331" cy="28362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文字方塊 8"/>
          <p:cNvSpPr txBox="1"/>
          <p:nvPr/>
        </p:nvSpPr>
        <p:spPr>
          <a:xfrm>
            <a:off x="108642" y="1312749"/>
            <a:ext cx="8863342"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smtClean="0">
                <a:latin typeface="Times New Roman" panose="02020603050405020304" pitchFamily="18" charset="0"/>
                <a:cs typeface="Times New Roman" panose="02020603050405020304" pitchFamily="18" charset="0"/>
              </a:rPr>
              <a:t>The learning algorithm for SLFNs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193257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fontScale="90000"/>
          </a:bodyPr>
          <a:lstStyle/>
          <a:p>
            <a:r>
              <a:rPr lang="en-US" altLang="zh-TW" sz="3600" dirty="0" smtClean="0">
                <a:latin typeface="Times New Roman" panose="02020603050405020304" pitchFamily="18" charset="0"/>
                <a:cs typeface="Times New Roman" panose="02020603050405020304" pitchFamily="18" charset="0"/>
              </a:rPr>
              <a:t>On-Line Sequential Extreme Learning Machine(1/2)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7" name="文字方塊 6"/>
              <p:cNvSpPr txBox="1"/>
              <p:nvPr/>
            </p:nvSpPr>
            <p:spPr>
              <a:xfrm>
                <a:off x="0" y="1287887"/>
                <a:ext cx="9144000" cy="1335109"/>
              </a:xfrm>
              <a:prstGeom prst="rect">
                <a:avLst/>
              </a:prstGeom>
              <a:noFill/>
            </p:spPr>
            <p:txBody>
              <a:bodyPr wrap="square" rtlCol="0">
                <a:spAutoFit/>
              </a:bodyPr>
              <a:lstStyle/>
              <a:p>
                <a:pPr marL="342900" indent="-342900">
                  <a:lnSpc>
                    <a:spcPct val="150000"/>
                  </a:lnSpc>
                  <a:buAutoNum type="arabicPeriod"/>
                </a:pPr>
                <a:r>
                  <a:rPr lang="en-US" altLang="zh-TW" sz="2000" dirty="0" smtClean="0">
                    <a:latin typeface="Times New Roman" panose="02020603050405020304" pitchFamily="18" charset="0"/>
                    <a:cs typeface="Times New Roman" panose="02020603050405020304" pitchFamily="18" charset="0"/>
                  </a:rPr>
                  <a:t>Now consider a chunk of initial training set                            ,  , where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𝑁</m:t>
                        </m:r>
                      </m:e>
                      <m:sub>
                        <m:r>
                          <a:rPr lang="en-US" altLang="zh-TW" sz="2000" b="0" i="1" smtClean="0">
                            <a:latin typeface="Cambria Math" panose="02040503050406030204" pitchFamily="18" charset="0"/>
                          </a:rPr>
                          <m:t>0</m:t>
                        </m:r>
                      </m:sub>
                    </m:sSub>
                  </m:oMath>
                </a14:m>
                <a:r>
                  <a:rPr lang="en-US" altLang="zh-TW" sz="2000"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2000" dirty="0" smtClean="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TW" sz="2000" i="1" smtClean="0">
                            <a:latin typeface="Cambria Math" panose="02040503050406030204" pitchFamily="18" charset="0"/>
                            <a:cs typeface="Times New Roman" panose="02020603050405020304" pitchFamily="18" charset="0"/>
                          </a:rPr>
                        </m:ctrlPr>
                      </m:accPr>
                      <m:e>
                        <m:r>
                          <a:rPr lang="en-US" altLang="zh-TW" sz="2000" b="0" i="1" smtClean="0">
                            <a:latin typeface="Cambria Math" panose="02040503050406030204" pitchFamily="18" charset="0"/>
                            <a:cs typeface="Times New Roman" panose="02020603050405020304" pitchFamily="18" charset="0"/>
                          </a:rPr>
                          <m:t>𝑁</m:t>
                        </m:r>
                      </m:e>
                    </m:acc>
                  </m:oMath>
                </a14:m>
                <a:r>
                  <a:rPr lang="en-US" altLang="zh-TW" sz="2000" dirty="0" smtClean="0">
                    <a:latin typeface="Times New Roman" panose="02020603050405020304" pitchFamily="18" charset="0"/>
                    <a:cs typeface="Times New Roman" panose="02020603050405020304" pitchFamily="18" charset="0"/>
                  </a:rPr>
                  <a:t>.</a:t>
                </a:r>
              </a:p>
              <a:p>
                <a:pPr marL="342900" indent="-342900">
                  <a:lnSpc>
                    <a:spcPct val="150000"/>
                  </a:lnSpc>
                  <a:buAutoNum type="arabicPeriod"/>
                </a:pPr>
                <a:r>
                  <a:rPr lang="en-US" altLang="zh-TW" sz="2000" dirty="0" smtClean="0">
                    <a:latin typeface="Times New Roman" panose="02020603050405020304" pitchFamily="18" charset="0"/>
                    <a:cs typeface="Times New Roman" panose="02020603050405020304" pitchFamily="18" charset="0"/>
                  </a:rPr>
                  <a:t>The formula become </a:t>
                </a:r>
                <a14:m>
                  <m:oMath xmlns:m="http://schemas.openxmlformats.org/officeDocument/2006/math">
                    <m:d>
                      <m:dPr>
                        <m:begChr m:val="‖"/>
                        <m:endChr m:val="‖"/>
                        <m:ctrlPr>
                          <a:rPr lang="en-US" altLang="zh-TW" sz="200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𝐻</m:t>
                            </m:r>
                          </m:e>
                          <m:sub>
                            <m:r>
                              <a:rPr lang="en-US" altLang="zh-TW" sz="2000" b="0" i="1" smtClean="0">
                                <a:latin typeface="Cambria Math" panose="02040503050406030204" pitchFamily="18" charset="0"/>
                              </a:rPr>
                              <m:t>0</m:t>
                            </m:r>
                          </m:sub>
                        </m:sSub>
                        <m:r>
                          <a:rPr lang="zh-TW" altLang="en-US" sz="2000" i="1" smtClean="0">
                            <a:latin typeface="Cambria Math" panose="02040503050406030204" pitchFamily="18" charset="0"/>
                          </a:rPr>
                          <m:t>𝛽</m:t>
                        </m:r>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𝑇</m:t>
                            </m:r>
                          </m:e>
                          <m:sub>
                            <m:r>
                              <a:rPr lang="en-US" altLang="zh-TW" sz="2000" b="0" i="1" smtClean="0">
                                <a:latin typeface="Cambria Math" panose="02040503050406030204" pitchFamily="18" charset="0"/>
                              </a:rPr>
                              <m:t>0</m:t>
                            </m:r>
                          </m:sub>
                        </m:sSub>
                      </m:e>
                    </m:d>
                  </m:oMath>
                </a14:m>
                <a:r>
                  <a:rPr lang="en-US" altLang="zh-TW" sz="2000" dirty="0" smtClean="0">
                    <a:latin typeface="Times New Roman" panose="02020603050405020304" pitchFamily="18" charset="0"/>
                    <a:cs typeface="Times New Roman" panose="02020603050405020304" pitchFamily="18" charset="0"/>
                  </a:rPr>
                  <a:t>, where</a:t>
                </a:r>
              </a:p>
              <a:p>
                <a:pPr marL="342900" indent="-342900">
                  <a:buAutoNum type="arabicPeriod"/>
                </a:pPr>
                <a:endParaRPr lang="en-US" altLang="zh-TW" sz="2000" dirty="0" smtClean="0">
                  <a:latin typeface="Times New Roman" panose="02020603050405020304" pitchFamily="18" charset="0"/>
                  <a:cs typeface="Times New Roman" panose="02020603050405020304" pitchFamily="18" charset="0"/>
                </a:endParaRPr>
              </a:p>
            </p:txBody>
          </p:sp>
        </mc:Choice>
        <mc:Fallback>
          <p:sp>
            <p:nvSpPr>
              <p:cNvPr id="7" name="文字方塊 6"/>
              <p:cNvSpPr txBox="1">
                <a:spLocks noRot="1" noChangeAspect="1" noMove="1" noResize="1" noEditPoints="1" noAdjustHandles="1" noChangeArrowheads="1" noChangeShapeType="1" noTextEdit="1"/>
              </p:cNvSpPr>
              <p:nvPr/>
            </p:nvSpPr>
            <p:spPr>
              <a:xfrm>
                <a:off x="0" y="1287887"/>
                <a:ext cx="9144000" cy="1335109"/>
              </a:xfrm>
              <a:prstGeom prst="rect">
                <a:avLst/>
              </a:prstGeom>
              <a:blipFill rotWithShape="0">
                <a:blip r:embed="rId2" cstate="print"/>
                <a:stretch>
                  <a:fillRect l="-533"/>
                </a:stretch>
              </a:blipFill>
            </p:spPr>
            <p:txBody>
              <a:bodyPr/>
              <a:lstStyle/>
              <a:p>
                <a:r>
                  <a:rPr lang="zh-TW" altLang="en-US">
                    <a:noFill/>
                  </a:rPr>
                  <a:t> </a:t>
                </a:r>
              </a:p>
            </p:txBody>
          </p:sp>
        </mc:Fallback>
      </mc:AlternateContent>
      <p:pic>
        <p:nvPicPr>
          <p:cNvPr id="10" name="圖片 9"/>
          <p:cNvPicPr>
            <a:picLocks noChangeAspect="1"/>
          </p:cNvPicPr>
          <p:nvPr/>
        </p:nvPicPr>
        <p:blipFill>
          <a:blip r:embed="rId3" cstate="print"/>
          <a:stretch>
            <a:fillRect/>
          </a:stretch>
        </p:blipFill>
        <p:spPr>
          <a:xfrm>
            <a:off x="4965610" y="1443451"/>
            <a:ext cx="1752600" cy="314325"/>
          </a:xfrm>
          <a:prstGeom prst="rect">
            <a:avLst/>
          </a:prstGeom>
        </p:spPr>
      </p:pic>
      <p:pic>
        <p:nvPicPr>
          <p:cNvPr id="11" name="圖片 10"/>
          <p:cNvPicPr>
            <a:picLocks noChangeAspect="1"/>
          </p:cNvPicPr>
          <p:nvPr/>
        </p:nvPicPr>
        <p:blipFill>
          <a:blip r:embed="rId4" cstate="print"/>
          <a:stretch>
            <a:fillRect/>
          </a:stretch>
        </p:blipFill>
        <p:spPr>
          <a:xfrm>
            <a:off x="215856" y="2325263"/>
            <a:ext cx="5038725" cy="1171575"/>
          </a:xfrm>
          <a:prstGeom prst="rect">
            <a:avLst/>
          </a:prstGeom>
        </p:spPr>
      </p:pic>
      <p:pic>
        <p:nvPicPr>
          <p:cNvPr id="12" name="圖片 11"/>
          <p:cNvPicPr>
            <a:picLocks noChangeAspect="1"/>
          </p:cNvPicPr>
          <p:nvPr/>
        </p:nvPicPr>
        <p:blipFill>
          <a:blip r:embed="rId5" cstate="print"/>
          <a:stretch>
            <a:fillRect/>
          </a:stretch>
        </p:blipFill>
        <p:spPr>
          <a:xfrm>
            <a:off x="5841910" y="2325263"/>
            <a:ext cx="2019300" cy="1076325"/>
          </a:xfrm>
          <a:prstGeom prst="rect">
            <a:avLst/>
          </a:prstGeom>
        </p:spPr>
      </p:pic>
      <mc:AlternateContent xmlns:mc="http://schemas.openxmlformats.org/markup-compatibility/2006">
        <mc:Choice xmlns:a14="http://schemas.microsoft.com/office/drawing/2010/main" xmlns="" Requires="a14">
          <p:sp>
            <p:nvSpPr>
              <p:cNvPr id="14" name="文字方塊 13"/>
              <p:cNvSpPr txBox="1"/>
              <p:nvPr/>
            </p:nvSpPr>
            <p:spPr>
              <a:xfrm>
                <a:off x="0" y="3513786"/>
                <a:ext cx="9144000" cy="3204660"/>
              </a:xfrm>
              <a:prstGeom prst="rect">
                <a:avLst/>
              </a:prstGeom>
              <a:noFill/>
            </p:spPr>
            <p:txBody>
              <a:bodyPr wrap="square" rtlCol="0">
                <a:spAutoFit/>
              </a:bodyPr>
              <a:lstStyle/>
              <a:p>
                <a:pPr>
                  <a:lnSpc>
                    <a:spcPct val="150000"/>
                  </a:lnSpc>
                </a:pPr>
                <a:r>
                  <a:rPr lang="en-US" altLang="zh-TW" sz="2000" dirty="0" smtClean="0">
                    <a:latin typeface="Times New Roman" panose="02020603050405020304" pitchFamily="18" charset="0"/>
                    <a:cs typeface="Times New Roman" panose="02020603050405020304" pitchFamily="18" charset="0"/>
                  </a:rPr>
                  <a:t>3.  Then </a:t>
                </a:r>
                <a14:m>
                  <m:oMath xmlns:m="http://schemas.openxmlformats.org/officeDocument/2006/math">
                    <m:sSup>
                      <m:sSupPr>
                        <m:ctrlPr>
                          <a:rPr lang="en-US" altLang="zh-TW" sz="2000" i="1" smtClean="0">
                            <a:latin typeface="Cambria Math" panose="02040503050406030204" pitchFamily="18" charset="0"/>
                          </a:rPr>
                        </m:ctrlPr>
                      </m:sSupPr>
                      <m:e>
                        <m:r>
                          <a:rPr lang="zh-TW" altLang="en-US" sz="2000" i="1" smtClean="0">
                            <a:latin typeface="Cambria Math" panose="02040503050406030204" pitchFamily="18" charset="0"/>
                          </a:rPr>
                          <m:t>𝛽</m:t>
                        </m:r>
                      </m:e>
                      <m:sup>
                        <m:d>
                          <m:dPr>
                            <m:ctrlPr>
                              <a:rPr lang="en-US" altLang="zh-TW" sz="2000" i="1" smtClean="0">
                                <a:latin typeface="Cambria Math" panose="02040503050406030204" pitchFamily="18" charset="0"/>
                              </a:rPr>
                            </m:ctrlPr>
                          </m:dPr>
                          <m:e>
                            <m:r>
                              <a:rPr lang="en-US" altLang="zh-TW" sz="2000" b="0" i="1" smtClean="0">
                                <a:latin typeface="Cambria Math" panose="02040503050406030204" pitchFamily="18" charset="0"/>
                              </a:rPr>
                              <m:t>0</m:t>
                            </m:r>
                          </m:e>
                        </m:d>
                      </m:sup>
                    </m:sSup>
                    <m:r>
                      <a:rPr lang="en-US" altLang="zh-TW" sz="2000" b="0" i="1" smtClean="0">
                        <a:latin typeface="Cambria Math" panose="02040503050406030204" pitchFamily="18" charset="0"/>
                      </a:rPr>
                      <m:t>=</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𝐾</m:t>
                        </m:r>
                      </m:e>
                      <m:sub>
                        <m:r>
                          <a:rPr lang="en-US" altLang="zh-TW" sz="2000" b="0" i="1" smtClean="0">
                            <a:latin typeface="Cambria Math" panose="02040503050406030204" pitchFamily="18" charset="0"/>
                          </a:rPr>
                          <m:t>0</m:t>
                        </m:r>
                      </m:sub>
                      <m:sup>
                        <m:r>
                          <a:rPr lang="en-US" altLang="zh-TW" sz="2000" b="0" i="1" smtClean="0">
                            <a:latin typeface="Cambria Math" panose="02040503050406030204" pitchFamily="18" charset="0"/>
                          </a:rPr>
                          <m:t>−1</m:t>
                        </m:r>
                      </m:sup>
                    </m:sSubSup>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𝐻</m:t>
                        </m:r>
                      </m:e>
                      <m:sub>
                        <m:r>
                          <a:rPr lang="en-US" altLang="zh-TW" sz="2000" b="0" i="1" smtClean="0">
                            <a:latin typeface="Cambria Math" panose="02040503050406030204" pitchFamily="18" charset="0"/>
                          </a:rPr>
                          <m:t>0</m:t>
                        </m:r>
                      </m:sub>
                      <m:sup>
                        <m:r>
                          <a:rPr lang="en-US" altLang="zh-TW" sz="2000" b="0" i="1" smtClean="0">
                            <a:latin typeface="Cambria Math" panose="02040503050406030204" pitchFamily="18" charset="0"/>
                          </a:rPr>
                          <m:t>𝑇</m:t>
                        </m:r>
                      </m:sup>
                    </m:sSubSup>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𝑇</m:t>
                        </m:r>
                      </m:e>
                      <m:sub>
                        <m:r>
                          <a:rPr lang="en-US" altLang="zh-TW" sz="2000" b="0" i="1" smtClean="0">
                            <a:latin typeface="Cambria Math" panose="02040503050406030204" pitchFamily="18" charset="0"/>
                          </a:rPr>
                          <m:t>0</m:t>
                        </m:r>
                      </m:sub>
                    </m:sSub>
                  </m:oMath>
                </a14:m>
                <a:r>
                  <a:rPr lang="en-US" altLang="zh-TW" sz="2000" dirty="0" smtClean="0">
                    <a:latin typeface="Times New Roman" panose="02020603050405020304" pitchFamily="18" charset="0"/>
                    <a:cs typeface="Times New Roman" panose="02020603050405020304" pitchFamily="18" charset="0"/>
                  </a:rPr>
                  <a:t>, where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𝐾</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𝐻</m:t>
                        </m:r>
                      </m:e>
                      <m:sub>
                        <m:r>
                          <a:rPr lang="en-US" altLang="zh-TW" sz="2000" b="0" i="1" smtClean="0">
                            <a:latin typeface="Cambria Math" panose="02040503050406030204" pitchFamily="18" charset="0"/>
                          </a:rPr>
                          <m:t>0</m:t>
                        </m:r>
                      </m:sub>
                      <m:sup>
                        <m:r>
                          <a:rPr lang="en-US" altLang="zh-TW" sz="2000" b="0" i="1" smtClean="0">
                            <a:latin typeface="Cambria Math" panose="02040503050406030204" pitchFamily="18" charset="0"/>
                          </a:rPr>
                          <m:t>𝑇</m:t>
                        </m:r>
                      </m:sup>
                    </m:sSubSup>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𝐻</m:t>
                        </m:r>
                      </m:e>
                      <m:sub>
                        <m:r>
                          <a:rPr lang="en-US" altLang="zh-TW" sz="2000" b="0" i="1" smtClean="0">
                            <a:latin typeface="Cambria Math" panose="02040503050406030204" pitchFamily="18" charset="0"/>
                          </a:rPr>
                          <m:t>0</m:t>
                        </m:r>
                      </m:sub>
                    </m:sSub>
                  </m:oMath>
                </a14:m>
                <a:r>
                  <a:rPr lang="en-US" altLang="zh-TW" sz="2000" dirty="0" smtClean="0">
                    <a:latin typeface="Times New Roman" panose="02020603050405020304" pitchFamily="18" charset="0"/>
                    <a:cs typeface="Times New Roman" panose="02020603050405020304" pitchFamily="18" charset="0"/>
                  </a:rPr>
                  <a:t>.</a:t>
                </a:r>
              </a:p>
              <a:p>
                <a:pPr marL="457200" indent="-457200">
                  <a:lnSpc>
                    <a:spcPct val="150000"/>
                  </a:lnSpc>
                  <a:buAutoNum type="arabicPeriod" startAt="4"/>
                </a:pPr>
                <a:r>
                  <a:rPr lang="en-US" altLang="zh-TW" sz="2000" dirty="0" smtClean="0">
                    <a:latin typeface="Times New Roman" panose="02020603050405020304" pitchFamily="18" charset="0"/>
                    <a:cs typeface="Times New Roman" panose="02020603050405020304" pitchFamily="18" charset="0"/>
                  </a:rPr>
                  <a:t>When </a:t>
                </a:r>
                <a14:m>
                  <m:oMath xmlns:m="http://schemas.openxmlformats.org/officeDocument/2006/math">
                    <m:d>
                      <m:dPr>
                        <m:ctrlPr>
                          <a:rPr lang="en-US" altLang="zh-TW" sz="200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e>
                    </m:d>
                    <m:r>
                      <m:rPr>
                        <m:sty m:val="p"/>
                      </m:rPr>
                      <a:rPr lang="en-US" altLang="zh-TW" sz="2000" b="0" i="0" smtClean="0">
                        <a:latin typeface="Cambria Math" panose="02040503050406030204" pitchFamily="18" charset="0"/>
                        <a:cs typeface="Times New Roman" panose="02020603050405020304" pitchFamily="18" charset="0"/>
                      </a:rPr>
                      <m:t>th</m:t>
                    </m:r>
                  </m:oMath>
                </a14:m>
                <a:r>
                  <a:rPr lang="en-US" altLang="zh-TW" sz="2000" dirty="0" smtClean="0">
                    <a:latin typeface="Times New Roman" panose="02020603050405020304" pitchFamily="18" charset="0"/>
                    <a:cs typeface="Times New Roman" panose="02020603050405020304" pitchFamily="18" charset="0"/>
                  </a:rPr>
                  <a:t> chunk of data set is received, where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≥0 </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𝑎𝑛𝑑</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𝑁</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a14:m>
                <a:endParaRPr lang="en-US" altLang="zh-TW" sz="20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AutoNum type="arabicPeriod" startAt="4"/>
                </a:pPr>
                <a:endParaRPr lang="en-US" altLang="zh-TW" sz="2000" dirty="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AutoNum type="arabicPeriod" startAt="4"/>
                </a:pPr>
                <a:endParaRPr lang="en-US" altLang="zh-TW" sz="2000"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nSpc>
                    <a:spcPct val="150000"/>
                  </a:lnSpc>
                  <a:buAutoNum type="arabicPeriod" startAt="4"/>
                </a:pPr>
                <a:endParaRPr lang="en-US" altLang="zh-TW" sz="200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50000"/>
                  </a:lnSpc>
                </a:pPr>
                <a:r>
                  <a:rPr lang="en-US" altLang="zh-TW" sz="2000" b="0" dirty="0" smtClean="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The chunk size is not fixed.</a:t>
                </a:r>
              </a:p>
              <a:p>
                <a:endParaRPr lang="en-US" altLang="zh-TW" sz="2000" b="0"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p:sp>
            <p:nvSpPr>
              <p:cNvPr id="14" name="文字方塊 13"/>
              <p:cNvSpPr txBox="1">
                <a:spLocks noRot="1" noChangeAspect="1" noMove="1" noResize="1" noEditPoints="1" noAdjustHandles="1" noChangeArrowheads="1" noChangeShapeType="1" noTextEdit="1"/>
              </p:cNvSpPr>
              <p:nvPr/>
            </p:nvSpPr>
            <p:spPr>
              <a:xfrm>
                <a:off x="0" y="3513786"/>
                <a:ext cx="9144000" cy="3204660"/>
              </a:xfrm>
              <a:prstGeom prst="rect">
                <a:avLst/>
              </a:prstGeom>
              <a:blipFill rotWithShape="0">
                <a:blip r:embed="rId6" cstate="print"/>
                <a:stretch>
                  <a:fillRect l="-667"/>
                </a:stretch>
              </a:blipFill>
            </p:spPr>
            <p:txBody>
              <a:bodyPr/>
              <a:lstStyle/>
              <a:p>
                <a:r>
                  <a:rPr lang="zh-TW" altLang="en-US">
                    <a:noFill/>
                  </a:rPr>
                  <a:t> </a:t>
                </a:r>
              </a:p>
            </p:txBody>
          </p:sp>
        </mc:Fallback>
      </mc:AlternateContent>
      <p:pic>
        <p:nvPicPr>
          <p:cNvPr id="15" name="圖片 14"/>
          <p:cNvPicPr>
            <a:picLocks noChangeAspect="1"/>
          </p:cNvPicPr>
          <p:nvPr/>
        </p:nvPicPr>
        <p:blipFill>
          <a:blip r:embed="rId7" cstate="print"/>
          <a:stretch>
            <a:fillRect/>
          </a:stretch>
        </p:blipFill>
        <p:spPr>
          <a:xfrm>
            <a:off x="1940377" y="4651465"/>
            <a:ext cx="5263245" cy="803801"/>
          </a:xfrm>
          <a:prstGeom prst="rect">
            <a:avLst/>
          </a:prstGeom>
        </p:spPr>
      </p:pic>
    </p:spTree>
    <p:extLst>
      <p:ext uri="{BB962C8B-B14F-4D97-AF65-F5344CB8AC3E}">
        <p14:creationId xmlns:p14="http://schemas.microsoft.com/office/powerpoint/2010/main" xmlns="" val="42516970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On-Line Sequential Extreme Learning </a:t>
            </a:r>
            <a:r>
              <a:rPr lang="en-US" altLang="zh-TW" sz="3600" dirty="0" smtClean="0">
                <a:latin typeface="Times New Roman" panose="02020603050405020304" pitchFamily="18" charset="0"/>
                <a:cs typeface="Times New Roman" panose="02020603050405020304" pitchFamily="18" charset="0"/>
              </a:rPr>
              <a:t>Machine(2/2)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13" name="文字方塊 12"/>
              <p:cNvSpPr txBox="1"/>
              <p:nvPr/>
            </p:nvSpPr>
            <p:spPr>
              <a:xfrm>
                <a:off x="0" y="1282660"/>
                <a:ext cx="9144000" cy="5345438"/>
              </a:xfrm>
              <a:prstGeom prst="rect">
                <a:avLst/>
              </a:prstGeom>
              <a:noFill/>
            </p:spPr>
            <p:txBody>
              <a:bodyPr wrap="square" rtlCol="0">
                <a:spAutoFit/>
              </a:bodyPr>
              <a:lstStyle/>
              <a:p>
                <a:r>
                  <a:rPr lang="en-US" altLang="zh-TW" sz="2000" b="1" i="1" dirty="0" smtClean="0">
                    <a:latin typeface="Times New Roman" panose="02020603050405020304" pitchFamily="18" charset="0"/>
                    <a:cs typeface="Times New Roman" panose="02020603050405020304" pitchFamily="18" charset="0"/>
                  </a:rPr>
                  <a:t>Two steps of OS-ELM</a:t>
                </a:r>
              </a:p>
              <a:p>
                <a:endParaRPr lang="en-US" altLang="zh-TW" sz="2000" b="1" dirty="0" smtClean="0">
                  <a:latin typeface="Times New Roman" panose="02020603050405020304" pitchFamily="18" charset="0"/>
                  <a:cs typeface="Times New Roman" panose="02020603050405020304" pitchFamily="18" charset="0"/>
                </a:endParaRPr>
              </a:p>
              <a:p>
                <a:r>
                  <a:rPr lang="en-US" altLang="zh-TW" sz="2000" b="1" dirty="0" smtClean="0">
                    <a:latin typeface="Times New Roman" panose="02020603050405020304" pitchFamily="18" charset="0"/>
                    <a:cs typeface="Times New Roman" panose="02020603050405020304" pitchFamily="18" charset="0"/>
                  </a:rPr>
                  <a:t>Step 1 : </a:t>
                </a:r>
                <a:r>
                  <a:rPr lang="en-US" altLang="zh-TW" sz="2000" b="1" dirty="0">
                    <a:latin typeface="Times New Roman" panose="02020603050405020304" pitchFamily="18" charset="0"/>
                    <a:cs typeface="Times New Roman" panose="02020603050405020304" pitchFamily="18" charset="0"/>
                  </a:rPr>
                  <a:t>Initialization Phase</a:t>
                </a:r>
              </a:p>
              <a:p>
                <a:pPr marL="457200" indent="-457200">
                  <a:buAutoNum type="arabicPeriod"/>
                </a:pPr>
                <a:r>
                  <a:rPr lang="en-US" altLang="zh-TW" sz="2000" dirty="0" smtClean="0">
                    <a:latin typeface="Times New Roman" panose="02020603050405020304" pitchFamily="18" charset="0"/>
                    <a:cs typeface="Times New Roman" panose="02020603050405020304" pitchFamily="18" charset="0"/>
                  </a:rPr>
                  <a:t>Initialize the learning using a small chunk of initial training data from the training set.</a:t>
                </a: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Assign random input weights.</a:t>
                </a: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Calculate the initial hidden layer output matrix.</a:t>
                </a:r>
              </a:p>
              <a:p>
                <a:pPr marL="457200" indent="-457200">
                  <a:buAutoNum type="arabicPeriod"/>
                </a:pPr>
                <a:endParaRPr lang="en-US" altLang="zh-TW" sz="2000" dirty="0">
                  <a:latin typeface="Times New Roman" panose="02020603050405020304" pitchFamily="18" charset="0"/>
                  <a:cs typeface="Times New Roman" panose="02020603050405020304" pitchFamily="18" charset="0"/>
                </a:endParaRPr>
              </a:p>
              <a:p>
                <a:r>
                  <a:rPr lang="en-US" altLang="zh-TW" sz="2000" b="1" dirty="0" smtClean="0">
                    <a:latin typeface="Times New Roman" panose="02020603050405020304" pitchFamily="18" charset="0"/>
                    <a:cs typeface="Times New Roman" panose="02020603050405020304" pitchFamily="18" charset="0"/>
                  </a:rPr>
                  <a:t>Step 2 : Sequential </a:t>
                </a:r>
                <a:r>
                  <a:rPr lang="en-US" altLang="zh-TW" sz="2000" b="1" dirty="0">
                    <a:latin typeface="Times New Roman" panose="02020603050405020304" pitchFamily="18" charset="0"/>
                    <a:cs typeface="Times New Roman" panose="02020603050405020304" pitchFamily="18" charset="0"/>
                  </a:rPr>
                  <a:t>L</a:t>
                </a:r>
                <a:r>
                  <a:rPr lang="en-US" altLang="zh-TW" sz="2000" b="1" dirty="0" smtClean="0">
                    <a:latin typeface="Times New Roman" panose="02020603050405020304" pitchFamily="18" charset="0"/>
                    <a:cs typeface="Times New Roman" panose="02020603050405020304" pitchFamily="18" charset="0"/>
                  </a:rPr>
                  <a:t>earning Phase</a:t>
                </a:r>
              </a:p>
              <a:p>
                <a:pPr marL="457200" indent="-457200">
                  <a:buAutoNum type="arabicPeriod"/>
                </a:pPr>
                <a:r>
                  <a:rPr lang="en-US" altLang="zh-TW" sz="2000" dirty="0" smtClean="0">
                    <a:latin typeface="Times New Roman" panose="02020603050405020304" pitchFamily="18" charset="0"/>
                    <a:cs typeface="Times New Roman" panose="02020603050405020304" pitchFamily="18" charset="0"/>
                  </a:rPr>
                  <a:t>Present the (k+1)</a:t>
                </a:r>
                <a:r>
                  <a:rPr lang="en-US" altLang="zh-TW" sz="2000" dirty="0" err="1" smtClean="0">
                    <a:latin typeface="Times New Roman" panose="02020603050405020304" pitchFamily="18" charset="0"/>
                    <a:cs typeface="Times New Roman" panose="02020603050405020304" pitchFamily="18" charset="0"/>
                  </a:rPr>
                  <a:t>th</a:t>
                </a:r>
                <a:r>
                  <a:rPr lang="en-US" altLang="zh-TW" sz="2000" dirty="0" smtClean="0">
                    <a:latin typeface="Times New Roman" panose="02020603050405020304" pitchFamily="18" charset="0"/>
                    <a:cs typeface="Times New Roman" panose="02020603050405020304" pitchFamily="18" charset="0"/>
                  </a:rPr>
                  <a:t> chunk of new observations where </a:t>
                </a:r>
                <a14:m>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𝑁</m:t>
                        </m:r>
                      </m:e>
                      <m:sub>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sub>
                    </m:sSub>
                  </m:oMath>
                </a14:m>
                <a:r>
                  <a:rPr lang="en-US" altLang="zh-TW" sz="2000" dirty="0" smtClean="0">
                    <a:latin typeface="Times New Roman" panose="02020603050405020304" pitchFamily="18" charset="0"/>
                    <a:cs typeface="Times New Roman" panose="02020603050405020304" pitchFamily="18" charset="0"/>
                  </a:rPr>
                  <a:t> denotes the number of observations in (k+1)</a:t>
                </a:r>
                <a:r>
                  <a:rPr lang="en-US" altLang="zh-TW" sz="2000" dirty="0" err="1" smtClean="0">
                    <a:latin typeface="Times New Roman" panose="02020603050405020304" pitchFamily="18" charset="0"/>
                    <a:cs typeface="Times New Roman" panose="02020603050405020304" pitchFamily="18" charset="0"/>
                  </a:rPr>
                  <a:t>th</a:t>
                </a:r>
                <a:r>
                  <a:rPr lang="en-US" altLang="zh-TW" sz="2000" dirty="0" smtClean="0">
                    <a:latin typeface="Times New Roman" panose="02020603050405020304" pitchFamily="18" charset="0"/>
                    <a:cs typeface="Times New Roman" panose="02020603050405020304" pitchFamily="18" charset="0"/>
                  </a:rPr>
                  <a:t> chunk.</a:t>
                </a: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Calculate the partial hidden layer output matrix </a:t>
                </a:r>
                <a14:m>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𝐻</m:t>
                        </m:r>
                      </m:e>
                      <m:sub>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sub>
                    </m:sSub>
                  </m:oMath>
                </a14:m>
                <a:r>
                  <a:rPr lang="en-US" altLang="zh-TW" sz="2000" dirty="0" smtClean="0">
                    <a:latin typeface="Times New Roman" panose="02020603050405020304" pitchFamily="18" charset="0"/>
                    <a:cs typeface="Times New Roman" panose="02020603050405020304" pitchFamily="18" charset="0"/>
                  </a:rPr>
                  <a:t> for the (k+1)</a:t>
                </a:r>
                <a:r>
                  <a:rPr lang="en-US" altLang="zh-TW" sz="2000" dirty="0" err="1" smtClean="0">
                    <a:latin typeface="Times New Roman" panose="02020603050405020304" pitchFamily="18" charset="0"/>
                    <a:cs typeface="Times New Roman" panose="02020603050405020304" pitchFamily="18" charset="0"/>
                  </a:rPr>
                  <a:t>th</a:t>
                </a:r>
                <a:r>
                  <a:rPr lang="en-US" altLang="zh-TW" sz="2000" dirty="0" smtClean="0">
                    <a:latin typeface="Times New Roman" panose="02020603050405020304" pitchFamily="18" charset="0"/>
                    <a:cs typeface="Times New Roman" panose="02020603050405020304" pitchFamily="18" charset="0"/>
                  </a:rPr>
                  <a:t> chunk of data </a:t>
                </a:r>
                <a14:m>
                  <m:oMath xmlns:m="http://schemas.openxmlformats.org/officeDocument/2006/math">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𝑁</m:t>
                        </m:r>
                      </m:e>
                      <m:sub>
                        <m:r>
                          <a:rPr lang="en-US" altLang="zh-TW" sz="2000" i="1">
                            <a:latin typeface="Cambria Math" panose="02040503050406030204" pitchFamily="18" charset="0"/>
                            <a:cs typeface="Times New Roman" panose="02020603050405020304" pitchFamily="18" charset="0"/>
                          </a:rPr>
                          <m:t>𝑘</m:t>
                        </m:r>
                        <m:r>
                          <a:rPr lang="en-US" altLang="zh-TW" sz="2000" i="1">
                            <a:latin typeface="Cambria Math" panose="02040503050406030204" pitchFamily="18" charset="0"/>
                            <a:cs typeface="Times New Roman" panose="02020603050405020304" pitchFamily="18" charset="0"/>
                          </a:rPr>
                          <m:t>+1</m:t>
                        </m:r>
                      </m:sub>
                    </m:sSub>
                  </m:oMath>
                </a14:m>
                <a:r>
                  <a:rPr lang="en-US" altLang="zh-TW" sz="2000" dirty="0" smtClean="0">
                    <a:latin typeface="Times New Roman" panose="02020603050405020304" pitchFamily="18" charset="0"/>
                    <a:cs typeface="Times New Roman" panose="02020603050405020304" pitchFamily="18" charset="0"/>
                  </a:rPr>
                  <a:t>.</a:t>
                </a: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Set </a:t>
                </a:r>
                <a14:m>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𝑇</m:t>
                        </m:r>
                      </m:e>
                      <m:sub>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sub>
                    </m:sSub>
                  </m:oMath>
                </a14:m>
                <a:r>
                  <a:rPr lang="en-US" altLang="zh-TW" sz="2000" dirty="0" smtClean="0">
                    <a:latin typeface="Times New Roman" panose="02020603050405020304" pitchFamily="18" charset="0"/>
                    <a:cs typeface="Times New Roman" panose="02020603050405020304" pitchFamily="18" charset="0"/>
                  </a:rPr>
                  <a:t> =</a:t>
                </a:r>
              </a:p>
              <a:p>
                <a:pPr marL="914400" lvl="1" indent="-457200">
                  <a:buFont typeface="+mj-lt"/>
                  <a:buAutoNum type="alphaLcParenR"/>
                </a:pPr>
                <a:endParaRPr lang="en-US" altLang="zh-TW" sz="2000" dirty="0" smtClean="0">
                  <a:latin typeface="Times New Roman" panose="02020603050405020304" pitchFamily="18" charset="0"/>
                  <a:cs typeface="Times New Roman" panose="02020603050405020304" pitchFamily="18" charset="0"/>
                </a:endParaRP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Calculate the  output weight </a:t>
                </a:r>
                <a14:m>
                  <m:oMath xmlns:m="http://schemas.openxmlformats.org/officeDocument/2006/math">
                    <m:sSup>
                      <m:sSupPr>
                        <m:ctrlPr>
                          <a:rPr lang="en-US" altLang="zh-TW" sz="2000" i="1" smtClean="0">
                            <a:latin typeface="Cambria Math" panose="02040503050406030204" pitchFamily="18" charset="0"/>
                            <a:cs typeface="Times New Roman" panose="02020603050405020304" pitchFamily="18" charset="0"/>
                          </a:rPr>
                        </m:ctrlPr>
                      </m:sSupPr>
                      <m:e>
                        <m:r>
                          <a:rPr lang="zh-TW" altLang="en-US" sz="2000" i="1" smtClean="0">
                            <a:latin typeface="Cambria Math" panose="02040503050406030204" pitchFamily="18" charset="0"/>
                            <a:cs typeface="Times New Roman" panose="02020603050405020304" pitchFamily="18" charset="0"/>
                          </a:rPr>
                          <m:t>𝛽</m:t>
                        </m:r>
                      </m:e>
                      <m:sup>
                        <m:d>
                          <m:dPr>
                            <m:ctrlPr>
                              <a:rPr lang="en-US" altLang="zh-TW" sz="200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e>
                        </m:d>
                      </m:sup>
                    </m:sSup>
                  </m:oMath>
                </a14:m>
                <a:r>
                  <a:rPr lang="en-US" altLang="zh-TW" sz="2000" dirty="0" smtClean="0">
                    <a:latin typeface="Times New Roman" panose="02020603050405020304" pitchFamily="18" charset="0"/>
                    <a:cs typeface="Times New Roman" panose="02020603050405020304" pitchFamily="18" charset="0"/>
                  </a:rPr>
                  <a:t> </a:t>
                </a:r>
              </a:p>
              <a:p>
                <a:pPr marL="914400" lvl="1" indent="-457200">
                  <a:buFont typeface="+mj-lt"/>
                  <a:buAutoNum type="alphaLcParenR"/>
                </a:pPr>
                <a:r>
                  <a:rPr lang="en-US" altLang="zh-TW" sz="2000" dirty="0" smtClean="0">
                    <a:latin typeface="Times New Roman" panose="02020603050405020304" pitchFamily="18" charset="0"/>
                    <a:cs typeface="Times New Roman" panose="02020603050405020304" pitchFamily="18" charset="0"/>
                  </a:rPr>
                  <a:t>Set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𝑘</m:t>
                    </m:r>
                    <m:r>
                      <a:rPr lang="en-US" altLang="zh-TW" sz="2000" b="0" i="1" smtClean="0">
                        <a:latin typeface="Cambria Math" panose="02040503050406030204" pitchFamily="18" charset="0"/>
                        <a:cs typeface="Times New Roman" panose="02020603050405020304" pitchFamily="18" charset="0"/>
                      </a:rPr>
                      <m:t>+1</m:t>
                    </m:r>
                  </m:oMath>
                </a14:m>
                <a:r>
                  <a:rPr lang="en-US" altLang="zh-TW" sz="2000" dirty="0" smtClean="0">
                    <a:latin typeface="Times New Roman" panose="02020603050405020304" pitchFamily="18" charset="0"/>
                    <a:cs typeface="Times New Roman" panose="02020603050405020304" pitchFamily="18" charset="0"/>
                  </a:rPr>
                  <a:t>. Go to </a:t>
                </a:r>
                <a:r>
                  <a:rPr lang="en-US" altLang="zh-TW" sz="2000" b="1" dirty="0" smtClean="0">
                    <a:latin typeface="Times New Roman" panose="02020603050405020304" pitchFamily="18" charset="0"/>
                    <a:cs typeface="Times New Roman" panose="02020603050405020304" pitchFamily="18" charset="0"/>
                  </a:rPr>
                  <a:t>Step2</a:t>
                </a:r>
                <a:r>
                  <a:rPr lang="en-US" altLang="zh-TW" sz="2000" dirty="0" smtClean="0">
                    <a:latin typeface="Times New Roman" panose="02020603050405020304" pitchFamily="18" charset="0"/>
                    <a:cs typeface="Times New Roman" panose="02020603050405020304" pitchFamily="18" charset="0"/>
                  </a:rPr>
                  <a:t>.</a:t>
                </a:r>
              </a:p>
            </p:txBody>
          </p:sp>
        </mc:Choice>
        <mc:Fallback>
          <p:sp>
            <p:nvSpPr>
              <p:cNvPr id="13" name="文字方塊 12"/>
              <p:cNvSpPr txBox="1">
                <a:spLocks noRot="1" noChangeAspect="1" noMove="1" noResize="1" noEditPoints="1" noAdjustHandles="1" noChangeArrowheads="1" noChangeShapeType="1" noTextEdit="1"/>
              </p:cNvSpPr>
              <p:nvPr/>
            </p:nvSpPr>
            <p:spPr>
              <a:xfrm>
                <a:off x="0" y="1282660"/>
                <a:ext cx="9144000" cy="5345438"/>
              </a:xfrm>
              <a:prstGeom prst="rect">
                <a:avLst/>
              </a:prstGeom>
              <a:blipFill rotWithShape="0">
                <a:blip r:embed="rId2" cstate="print"/>
                <a:stretch>
                  <a:fillRect l="-667" t="-570" b="-1140"/>
                </a:stretch>
              </a:blipFill>
            </p:spPr>
            <p:txBody>
              <a:bodyPr/>
              <a:lstStyle/>
              <a:p>
                <a:r>
                  <a:rPr lang="zh-TW" altLang="en-US">
                    <a:noFill/>
                  </a:rPr>
                  <a:t> </a:t>
                </a:r>
              </a:p>
            </p:txBody>
          </p:sp>
        </mc:Fallback>
      </mc:AlternateContent>
      <p:pic>
        <p:nvPicPr>
          <p:cNvPr id="4" name="圖片 3"/>
          <p:cNvPicPr>
            <a:picLocks noChangeAspect="1"/>
          </p:cNvPicPr>
          <p:nvPr/>
        </p:nvPicPr>
        <p:blipFill>
          <a:blip r:embed="rId3" cstate="print"/>
          <a:stretch>
            <a:fillRect/>
          </a:stretch>
        </p:blipFill>
        <p:spPr>
          <a:xfrm>
            <a:off x="2150771" y="5241713"/>
            <a:ext cx="3282602" cy="476507"/>
          </a:xfrm>
          <a:prstGeom prst="rect">
            <a:avLst/>
          </a:prstGeom>
        </p:spPr>
      </p:pic>
    </p:spTree>
    <p:extLst>
      <p:ext uri="{BB962C8B-B14F-4D97-AF65-F5344CB8AC3E}">
        <p14:creationId xmlns:p14="http://schemas.microsoft.com/office/powerpoint/2010/main" xmlns="" val="3057779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Comparison(ELM)</a:t>
            </a:r>
            <a:endParaRPr lang="zh-TW" altLang="en-US" sz="4800"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cstate="print"/>
          <a:stretch>
            <a:fillRect/>
          </a:stretch>
        </p:blipFill>
        <p:spPr>
          <a:xfrm>
            <a:off x="199177" y="2512993"/>
            <a:ext cx="3999273" cy="3109209"/>
          </a:xfrm>
          <a:prstGeom prst="rect">
            <a:avLst/>
          </a:prstGeom>
        </p:spPr>
      </p:pic>
      <p:pic>
        <p:nvPicPr>
          <p:cNvPr id="5" name="圖片 4"/>
          <p:cNvPicPr>
            <a:picLocks noChangeAspect="1"/>
          </p:cNvPicPr>
          <p:nvPr/>
        </p:nvPicPr>
        <p:blipFill>
          <a:blip r:embed="rId3" cstate="print"/>
          <a:stretch>
            <a:fillRect/>
          </a:stretch>
        </p:blipFill>
        <p:spPr>
          <a:xfrm>
            <a:off x="4682769" y="2440565"/>
            <a:ext cx="4090039" cy="3482538"/>
          </a:xfrm>
          <a:prstGeom prst="rect">
            <a:avLst/>
          </a:prstGeom>
        </p:spPr>
      </p:pic>
      <p:sp>
        <p:nvSpPr>
          <p:cNvPr id="7" name="文字方塊 6"/>
          <p:cNvSpPr txBox="1"/>
          <p:nvPr/>
        </p:nvSpPr>
        <p:spPr>
          <a:xfrm>
            <a:off x="116516" y="1973656"/>
            <a:ext cx="4164593" cy="369332"/>
          </a:xfrm>
          <a:prstGeom prst="rect">
            <a:avLst/>
          </a:prstGeom>
          <a:noFill/>
        </p:spPr>
        <p:txBody>
          <a:bodyPr wrap="square" rtlCol="0">
            <a:spAutoFit/>
          </a:bodyPr>
          <a:lstStyle/>
          <a:p>
            <a:pPr algn="ctr"/>
            <a:r>
              <a:rPr lang="en-US" altLang="zh-TW" dirty="0" smtClean="0">
                <a:latin typeface="Times New Roman" panose="02020603050405020304" pitchFamily="18" charset="0"/>
                <a:cs typeface="Times New Roman" panose="02020603050405020304" pitchFamily="18" charset="0"/>
              </a:rPr>
              <a:t>ELM learning algorithm</a:t>
            </a:r>
            <a:endParaRPr lang="zh-TW" altLang="en-US" dirty="0">
              <a:latin typeface="Times New Roman" panose="02020603050405020304" pitchFamily="18" charset="0"/>
              <a:cs typeface="Times New Roman" panose="02020603050405020304" pitchFamily="18" charset="0"/>
            </a:endParaRPr>
          </a:p>
        </p:txBody>
      </p:sp>
      <p:sp>
        <p:nvSpPr>
          <p:cNvPr id="10" name="文字方塊 9"/>
          <p:cNvSpPr txBox="1"/>
          <p:nvPr/>
        </p:nvSpPr>
        <p:spPr>
          <a:xfrm>
            <a:off x="4682769" y="1973656"/>
            <a:ext cx="4164593" cy="369332"/>
          </a:xfrm>
          <a:prstGeom prst="rect">
            <a:avLst/>
          </a:prstGeom>
          <a:noFill/>
        </p:spPr>
        <p:txBody>
          <a:bodyPr wrap="square" rtlCol="0">
            <a:spAutoFit/>
          </a:bodyPr>
          <a:lstStyle/>
          <a:p>
            <a:pPr algn="ctr"/>
            <a:r>
              <a:rPr lang="en-US" altLang="zh-TW" dirty="0" smtClean="0">
                <a:latin typeface="Times New Roman" panose="02020603050405020304" pitchFamily="18" charset="0"/>
                <a:cs typeface="Times New Roman" panose="02020603050405020304" pitchFamily="18" charset="0"/>
              </a:rPr>
              <a:t>SVR</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7700806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Result of ELM</a:t>
            </a:r>
            <a:endParaRPr lang="zh-TW" altLang="en-US" sz="4800" dirty="0">
              <a:latin typeface="Times New Roman" panose="02020603050405020304" pitchFamily="18" charset="0"/>
              <a:cs typeface="Times New Roman" panose="02020603050405020304" pitchFamily="18" charset="0"/>
            </a:endParaRPr>
          </a:p>
        </p:txBody>
      </p:sp>
      <p:pic>
        <p:nvPicPr>
          <p:cNvPr id="8" name="圖片 7"/>
          <p:cNvPicPr>
            <a:picLocks noChangeAspect="1"/>
          </p:cNvPicPr>
          <p:nvPr/>
        </p:nvPicPr>
        <p:blipFill>
          <a:blip r:embed="rId2" cstate="print"/>
          <a:stretch>
            <a:fillRect/>
          </a:stretch>
        </p:blipFill>
        <p:spPr>
          <a:xfrm>
            <a:off x="1" y="1399974"/>
            <a:ext cx="9144000" cy="4137942"/>
          </a:xfrm>
          <a:prstGeom prst="rect">
            <a:avLst/>
          </a:prstGeom>
        </p:spPr>
      </p:pic>
    </p:spTree>
    <p:extLst>
      <p:ext uri="{BB962C8B-B14F-4D97-AF65-F5344CB8AC3E}">
        <p14:creationId xmlns:p14="http://schemas.microsoft.com/office/powerpoint/2010/main" xmlns="" val="16560647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Result of OS-ELM</a:t>
            </a:r>
            <a:endParaRPr lang="zh-TW" altLang="en-US" sz="4800"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2" cstate="print"/>
          <a:stretch>
            <a:fillRect/>
          </a:stretch>
        </p:blipFill>
        <p:spPr>
          <a:xfrm>
            <a:off x="671800" y="1114022"/>
            <a:ext cx="7800400" cy="5469362"/>
          </a:xfrm>
          <a:prstGeom prst="rect">
            <a:avLst/>
          </a:prstGeom>
        </p:spPr>
      </p:pic>
    </p:spTree>
    <p:extLst>
      <p:ext uri="{BB962C8B-B14F-4D97-AF65-F5344CB8AC3E}">
        <p14:creationId xmlns:p14="http://schemas.microsoft.com/office/powerpoint/2010/main" xmlns="" val="10498511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1445</TotalTime>
  <Words>415</Words>
  <Application>Microsoft Office PowerPoint</Application>
  <PresentationFormat>如螢幕大小 (4:3)</PresentationFormat>
  <Paragraphs>42</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A Fast and Accurate Online Sequential Learning Algorithm for Feedforward Networks</vt:lpstr>
      <vt:lpstr>Abstract(1/3)</vt:lpstr>
      <vt:lpstr>Abstract(2/3)</vt:lpstr>
      <vt:lpstr>Abstract(3/3)</vt:lpstr>
      <vt:lpstr>Feedforward Neural Networks(1/2)</vt:lpstr>
      <vt:lpstr>Feedforward Neural Networks(2/2)</vt:lpstr>
      <vt:lpstr>BP learning algorithm and Issues</vt:lpstr>
      <vt:lpstr>Extreme Learning Machine(1/3)</vt:lpstr>
      <vt:lpstr>Extreme Learning Machine(2/3)</vt:lpstr>
      <vt:lpstr>Extreme Learning Machine(3/3)</vt:lpstr>
      <vt:lpstr>On-Line Sequential Extreme Learning Machine(1/2)</vt:lpstr>
      <vt:lpstr>On-Line Sequential Extreme Learning Machine(2/2)</vt:lpstr>
      <vt:lpstr>Comparison(ELM)</vt:lpstr>
      <vt:lpstr>Result of ELM</vt:lpstr>
      <vt:lpstr>Result of OS-ELM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and Accurate Online Sequential Learning Algorithm for Feedforward Networks</dc:title>
  <dc:creator>MONSTER J</dc:creator>
  <cp:lastModifiedBy>cse</cp:lastModifiedBy>
  <cp:revision>57</cp:revision>
  <dcterms:created xsi:type="dcterms:W3CDTF">2015-04-18T09:56:57Z</dcterms:created>
  <dcterms:modified xsi:type="dcterms:W3CDTF">2015-04-21T10:25:49Z</dcterms:modified>
</cp:coreProperties>
</file>