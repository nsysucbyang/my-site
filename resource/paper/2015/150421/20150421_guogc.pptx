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490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189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8849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2103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347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5481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884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3897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1676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3917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9864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9847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A1CA1-E215-4615-8627-F170FC342569}" type="datetimeFigureOut">
              <a:rPr lang="zh-TW" altLang="en-US" smtClean="0"/>
              <a:pPr/>
              <a:t>2015/4/21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D4D8F-E00B-49C3-8865-B019820099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5335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512" y="1556792"/>
            <a:ext cx="8784976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INSIGHT: Efficient and Effective Instance Selection </a:t>
            </a:r>
            <a:r>
              <a:rPr lang="en-US" altLang="zh-TW" dirty="0" smtClean="0"/>
              <a:t>for Time-Series </a:t>
            </a:r>
            <a:r>
              <a:rPr lang="en-US" altLang="zh-TW" dirty="0"/>
              <a:t>Classification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7504" y="3429000"/>
            <a:ext cx="8856984" cy="17526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 err="1" smtClean="0">
                <a:solidFill>
                  <a:schemeClr val="tx1"/>
                </a:solidFill>
              </a:rPr>
              <a:t>Krisztian</a:t>
            </a:r>
            <a:r>
              <a:rPr lang="en-US" altLang="zh-TW" dirty="0" smtClean="0">
                <a:solidFill>
                  <a:schemeClr val="tx1"/>
                </a:solidFill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</a:rPr>
              <a:t>Buza</a:t>
            </a:r>
            <a:r>
              <a:rPr lang="en-US" altLang="zh-TW" dirty="0" smtClean="0">
                <a:solidFill>
                  <a:schemeClr val="tx1"/>
                </a:solidFill>
              </a:rPr>
              <a:t>, Alexandros </a:t>
            </a:r>
            <a:r>
              <a:rPr lang="en-US" altLang="zh-TW" dirty="0" err="1" smtClean="0">
                <a:solidFill>
                  <a:schemeClr val="tx1"/>
                </a:solidFill>
              </a:rPr>
              <a:t>Nanopoulos</a:t>
            </a:r>
            <a:r>
              <a:rPr lang="en-US" altLang="zh-TW" dirty="0" smtClean="0">
                <a:solidFill>
                  <a:schemeClr val="tx1"/>
                </a:solidFill>
              </a:rPr>
              <a:t>, and Lars Schmidt-</a:t>
            </a:r>
            <a:r>
              <a:rPr lang="en-US" altLang="zh-TW" dirty="0" err="1" smtClean="0">
                <a:solidFill>
                  <a:schemeClr val="tx1"/>
                </a:solidFill>
              </a:rPr>
              <a:t>Thieme</a:t>
            </a:r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Proceedings of the 15th Pacific-Asia Conference on Advances in Knowledge Discovery and Data Mining pp. 149-160 (2011)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0112" y="5734997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2015/4/21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104359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Time-series classification is a widely examined data mining task </a:t>
            </a:r>
            <a:r>
              <a:rPr lang="en-US" altLang="zh-TW" dirty="0" smtClean="0"/>
              <a:t>with various </a:t>
            </a:r>
            <a:r>
              <a:rPr lang="en-US" altLang="zh-TW" dirty="0"/>
              <a:t>scientific and industrial applications. Recent research in this domain </a:t>
            </a:r>
            <a:r>
              <a:rPr lang="en-US" altLang="zh-TW" dirty="0" smtClean="0"/>
              <a:t>has shown </a:t>
            </a:r>
            <a:r>
              <a:rPr lang="en-US" altLang="zh-TW" dirty="0"/>
              <a:t>that the simple nearest-neighbor classifier using Dynamic Time </a:t>
            </a:r>
            <a:r>
              <a:rPr lang="en-US" altLang="zh-TW" dirty="0" smtClean="0"/>
              <a:t>Warping (DTW</a:t>
            </a:r>
            <a:r>
              <a:rPr lang="en-US" altLang="zh-TW" dirty="0"/>
              <a:t>) as distance measure performs exceptionally well, in most cases </a:t>
            </a:r>
            <a:r>
              <a:rPr lang="en-US" altLang="zh-TW" dirty="0" smtClean="0"/>
              <a:t>outperforming </a:t>
            </a:r>
            <a:r>
              <a:rPr lang="en-US" altLang="zh-TW" dirty="0"/>
              <a:t>more advanced classification algorithms. Instance selection is a </a:t>
            </a:r>
            <a:r>
              <a:rPr lang="en-US" altLang="zh-TW" dirty="0" smtClean="0"/>
              <a:t>commonly </a:t>
            </a:r>
            <a:r>
              <a:rPr lang="en-US" altLang="zh-TW" dirty="0"/>
              <a:t>applied approach for improving efficiency of nearest-neighbor </a:t>
            </a:r>
            <a:r>
              <a:rPr lang="en-US" altLang="zh-TW" dirty="0" smtClean="0"/>
              <a:t>classifier with </a:t>
            </a:r>
            <a:r>
              <a:rPr lang="en-US" altLang="zh-TW" dirty="0"/>
              <a:t>respect to classification time. This approach reduces the size of the </a:t>
            </a:r>
            <a:r>
              <a:rPr lang="en-US" altLang="zh-TW" dirty="0" smtClean="0"/>
              <a:t>training </a:t>
            </a:r>
            <a:r>
              <a:rPr lang="en-US" altLang="zh-TW" dirty="0"/>
              <a:t>set by selecting the best representative instances and use only them </a:t>
            </a:r>
            <a:r>
              <a:rPr lang="en-US" altLang="zh-TW" dirty="0" smtClean="0"/>
              <a:t>during classification </a:t>
            </a:r>
            <a:r>
              <a:rPr lang="en-US" altLang="zh-TW" dirty="0"/>
              <a:t>of new instances.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6503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84784"/>
            <a:ext cx="8507288" cy="514116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In this paper, we introduce a novel instance selection method that exploits the </a:t>
            </a:r>
            <a:r>
              <a:rPr lang="en-US" altLang="zh-TW" dirty="0" err="1" smtClean="0"/>
              <a:t>hubness</a:t>
            </a:r>
            <a:r>
              <a:rPr lang="en-US" altLang="zh-TW" dirty="0" smtClean="0"/>
              <a:t> phenomenon in time-series data, which states that some few instances tend to be much more frequently nearest neighbors compared to the remaining instances. Based on </a:t>
            </a:r>
            <a:r>
              <a:rPr lang="en-US" altLang="zh-TW" dirty="0" err="1" smtClean="0"/>
              <a:t>hubness</a:t>
            </a:r>
            <a:r>
              <a:rPr lang="en-US" altLang="zh-TW" dirty="0" smtClean="0"/>
              <a:t>, we propose a framework for score-based instance selection, which is combined with a principled approach of selecting instances that optimize the </a:t>
            </a:r>
            <a:r>
              <a:rPr lang="en-US" altLang="zh-TW" i="1" dirty="0" smtClean="0"/>
              <a:t>coverage </a:t>
            </a:r>
            <a:r>
              <a:rPr lang="en-US" altLang="zh-TW" dirty="0" smtClean="0"/>
              <a:t>of training data. We discuss the theoretical considerations of casting the instance selection problem as a graph-coverage problem and analyze the resulting complexity. We experimentally compare the proposed method, denoted as INSIGHT, against </a:t>
            </a:r>
            <a:r>
              <a:rPr lang="en-US" altLang="zh-TW" dirty="0" err="1" smtClean="0"/>
              <a:t>FastAWARD</a:t>
            </a:r>
            <a:r>
              <a:rPr lang="en-US" altLang="zh-TW" dirty="0" smtClean="0"/>
              <a:t>, a state-of-the-art instance selection method for time series. Our results indicate substantial improvements in terms of classification accuracy and drastic reduction (orders of magnitude) in execution times.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9917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err="1" smtClean="0"/>
              <a:t>FastAWARD</a:t>
            </a:r>
            <a:r>
              <a:rPr lang="en-US" altLang="zh-TW" dirty="0" smtClean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Training set </a:t>
            </a:r>
            <a:r>
              <a:rPr lang="en-US" altLang="zh-TW" i="1" dirty="0" smtClean="0"/>
              <a:t>T</a:t>
            </a:r>
          </a:p>
          <a:p>
            <a:pPr marL="0" indent="0">
              <a:buNone/>
            </a:pPr>
            <a:r>
              <a:rPr lang="en-US" altLang="zh-TW" dirty="0" smtClean="0"/>
              <a:t>Naïve </a:t>
            </a:r>
            <a:r>
              <a:rPr lang="en-US" altLang="zh-TW" dirty="0"/>
              <a:t>Rank </a:t>
            </a:r>
            <a:r>
              <a:rPr lang="en-US" altLang="zh-TW" dirty="0" smtClean="0"/>
              <a:t>Reduction:</a:t>
            </a:r>
          </a:p>
          <a:p>
            <a:r>
              <a:rPr lang="en-US" altLang="zh-TW" dirty="0" smtClean="0"/>
              <a:t>leave-one-out 1-NN classification on </a:t>
            </a:r>
            <a:r>
              <a:rPr lang="en-US" altLang="zh-TW" i="1" dirty="0" smtClean="0"/>
              <a:t>T</a:t>
            </a:r>
            <a:endParaRPr lang="en-US" altLang="zh-TW" i="1" dirty="0"/>
          </a:p>
          <a:p>
            <a:r>
              <a:rPr lang="en-US" altLang="zh-TW" dirty="0" smtClean="0"/>
              <a:t>Rank the instances according to the score function: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Keep the n highest ranking instances in S </a:t>
            </a:r>
            <a:r>
              <a:rPr lang="en-US" altLang="zh-TW" dirty="0"/>
              <a:t>as the training set for future </a:t>
            </a:r>
            <a:r>
              <a:rPr lang="en-US" altLang="zh-TW" dirty="0" smtClean="0"/>
              <a:t>classification.</a:t>
            </a:r>
          </a:p>
        </p:txBody>
      </p:sp>
      <p:pic>
        <p:nvPicPr>
          <p:cNvPr id="5" name="Picture 2" descr="C:\Users\yotsuki\Desktop\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030204"/>
            <a:ext cx="6217617" cy="105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6549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FastAWARD</a:t>
            </a:r>
            <a:r>
              <a:rPr lang="en-US" altLang="zh-TW" dirty="0" smtClean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473562" cy="5088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6592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Score Functions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8784976" cy="5257800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For a data set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sz="2800" dirty="0" smtClean="0"/>
                  <a:t> we define the k-occurrence of an instance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𝑥</m:t>
                    </m:r>
                    <m:r>
                      <a:rPr lang="en-US" altLang="zh-TW" sz="2800" i="1" dirty="0" smtClean="0">
                        <a:latin typeface="Cambria Math"/>
                      </a:rPr>
                      <m:t> ∈ </m:t>
                    </m:r>
                    <m:r>
                      <a:rPr lang="en-US" altLang="zh-TW" sz="28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sz="2800" dirty="0" smtClean="0"/>
                  <a:t>, denoted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𝑁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, that is </a:t>
                </a:r>
                <a:r>
                  <a:rPr lang="en-US" altLang="zh-TW" sz="2800" dirty="0"/>
                  <a:t>the number of instances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sz="2800" i="1" dirty="0"/>
                  <a:t> </a:t>
                </a:r>
                <a:r>
                  <a:rPr lang="en-US" altLang="zh-TW" sz="2800" dirty="0"/>
                  <a:t>having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sz="2800" i="1" dirty="0"/>
                  <a:t> </a:t>
                </a:r>
                <a:r>
                  <a:rPr lang="en-US" altLang="zh-TW" sz="2800" dirty="0"/>
                  <a:t>among their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800" i="1" dirty="0"/>
                  <a:t> </a:t>
                </a:r>
                <a:r>
                  <a:rPr lang="en-US" altLang="zh-TW" sz="2800" dirty="0"/>
                  <a:t>nearest neighbors</a:t>
                </a:r>
                <a:r>
                  <a:rPr lang="en-US" altLang="zh-TW" sz="2800" dirty="0" smtClean="0"/>
                  <a:t>.</a:t>
                </a:r>
              </a:p>
              <a:p>
                <a:endParaRPr lang="en-US" altLang="zh-TW" sz="2800" dirty="0" smtClean="0"/>
              </a:p>
              <a:p>
                <a:r>
                  <a:rPr lang="en-US" altLang="zh-TW" sz="2800" dirty="0" smtClean="0"/>
                  <a:t>Define </a:t>
                </a:r>
                <a:r>
                  <a:rPr lang="en-US" altLang="zh-TW" sz="2800" i="1" dirty="0"/>
                  <a:t>good (bad) k-occurrence </a:t>
                </a:r>
                <a:r>
                  <a:rPr lang="en-US" altLang="zh-TW" sz="2800" dirty="0"/>
                  <a:t>of a time series </a:t>
                </a:r>
                <a:r>
                  <a:rPr lang="en-US" altLang="zh-TW" sz="2800" i="1" dirty="0"/>
                  <a:t>x</a:t>
                </a:r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𝐺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 (</a:t>
                </a:r>
                <a:r>
                  <a:rPr lang="en-US" altLang="zh-TW" sz="28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800" dirty="0"/>
                  <a:t> respectively), which is the number of other time series that have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sz="2800" i="1" dirty="0"/>
                  <a:t> </a:t>
                </a:r>
                <a:r>
                  <a:rPr lang="en-US" altLang="zh-TW" sz="2800" dirty="0"/>
                  <a:t>as </a:t>
                </a:r>
                <a:r>
                  <a:rPr lang="en-US" altLang="zh-TW" sz="2800" dirty="0" smtClean="0"/>
                  <a:t>one of </a:t>
                </a:r>
                <a:r>
                  <a:rPr lang="en-US" altLang="zh-TW" sz="2800" dirty="0"/>
                  <a:t>their good (bad) </a:t>
                </a:r>
                <a:r>
                  <a:rPr lang="en-US" altLang="zh-TW" sz="2800" i="1" dirty="0"/>
                  <a:t>k</a:t>
                </a:r>
                <a:r>
                  <a:rPr lang="en-US" altLang="zh-TW" sz="2800" dirty="0"/>
                  <a:t>-nearest </a:t>
                </a:r>
                <a:r>
                  <a:rPr lang="en-US" altLang="zh-TW" sz="2800" dirty="0" smtClean="0"/>
                  <a:t>neighbors.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8784976" cy="5257800"/>
              </a:xfrm>
              <a:blipFill rotWithShape="1">
                <a:blip r:embed="rId2" cstate="print"/>
                <a:stretch>
                  <a:fillRect l="-1179" t="-1044" r="-24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84755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Score Functions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96752"/>
                <a:ext cx="8784976" cy="566124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Good 1-occurrence score:</a:t>
                </a:r>
                <a:br>
                  <a:rPr lang="en-US" altLang="zh-TW" sz="28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𝐺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r>
                  <a:rPr lang="en-US" altLang="zh-TW" sz="2800" dirty="0" smtClean="0"/>
                  <a:t>Relative score:</a:t>
                </a:r>
                <a:br>
                  <a:rPr lang="en-US" altLang="zh-TW" sz="28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𝐺</m:t>
                            </m:r>
                          </m:sub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endParaRPr lang="en-US" altLang="zh-TW" sz="2800" dirty="0" smtClean="0"/>
              </a:p>
              <a:p>
                <a:r>
                  <a:rPr lang="en-US" altLang="zh-TW" sz="2800" dirty="0"/>
                  <a:t>Xi’s </a:t>
                </a:r>
                <a:r>
                  <a:rPr lang="en-US" altLang="zh-TW" sz="2800" dirty="0" smtClean="0"/>
                  <a:t>score:</a:t>
                </a:r>
                <a:br>
                  <a:rPr lang="en-US" altLang="zh-TW" sz="28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𝑋𝑖</m:t>
                        </m:r>
                      </m:sub>
                    </m:sSub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𝐺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800" b="0" i="0" smtClean="0">
                        <a:latin typeface="Cambria Math"/>
                      </a:rPr>
                      <m:t>−2</m:t>
                    </m:r>
                    <m:sSubSup>
                      <m:sSub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2800" dirty="0" smtClean="0"/>
              </a:p>
              <a:p>
                <a:endParaRPr lang="zh-TW" altLang="en-US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96752"/>
                <a:ext cx="8784976" cy="5661248"/>
              </a:xfrm>
              <a:blipFill rotWithShape="1">
                <a:blip r:embed="rId2" cstate="print"/>
                <a:stretch>
                  <a:fillRect l="-1179" t="-9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8761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INSIGHT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9708" y="1600200"/>
            <a:ext cx="8985574" cy="4525963"/>
          </a:xfrm>
        </p:spPr>
        <p:txBody>
          <a:bodyPr/>
          <a:lstStyle/>
          <a:p>
            <a:r>
              <a:rPr lang="en-US" altLang="zh-TW" i="1" dirty="0"/>
              <a:t>Instance Selection </a:t>
            </a:r>
            <a:r>
              <a:rPr lang="en-US" altLang="zh-TW" i="1" dirty="0" smtClean="0"/>
              <a:t>based on </a:t>
            </a:r>
            <a:r>
              <a:rPr lang="en-US" altLang="zh-TW" i="1" dirty="0"/>
              <a:t>Graph-coverage and </a:t>
            </a:r>
            <a:r>
              <a:rPr lang="en-US" altLang="zh-TW" i="1" dirty="0" err="1" smtClean="0"/>
              <a:t>Hubness</a:t>
            </a:r>
            <a:r>
              <a:rPr lang="en-US" altLang="zh-TW" i="1" dirty="0" smtClean="0"/>
              <a:t> for </a:t>
            </a:r>
            <a:r>
              <a:rPr lang="en-US" altLang="zh-TW" i="1" dirty="0"/>
              <a:t>Time-series </a:t>
            </a:r>
            <a:r>
              <a:rPr lang="en-US" altLang="zh-TW" dirty="0"/>
              <a:t>(INSIGHT).</a:t>
            </a:r>
            <a:endParaRPr lang="zh-TW" altLang="en-US" dirty="0"/>
          </a:p>
        </p:txBody>
      </p:sp>
      <p:pic>
        <p:nvPicPr>
          <p:cNvPr id="1026" name="Picture 2" descr="E:\擷取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6946" y="3068960"/>
            <a:ext cx="9057582" cy="232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355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INSIGHT Algorithm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355976" y="3645024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i="1" dirty="0">
                <a:solidFill>
                  <a:schemeClr val="tx1"/>
                </a:solidFill>
              </a:rPr>
              <a:t>x</a:t>
            </a:r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>
            <a:off x="4024688" y="2099283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3592640" y="5007139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771800" y="3212976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5508104" y="2307537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5724128" y="4943127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5940152" y="4027569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cxnSp>
        <p:nvCxnSpPr>
          <p:cNvPr id="12" name="直線單箭頭接點 11"/>
          <p:cNvCxnSpPr>
            <a:stCxn id="8" idx="6"/>
            <a:endCxn id="4" idx="2"/>
          </p:cNvCxnSpPr>
          <p:nvPr/>
        </p:nvCxnSpPr>
        <p:spPr>
          <a:xfrm>
            <a:off x="3203848" y="3429000"/>
            <a:ext cx="1152128" cy="4320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4" idx="3"/>
          </p:cNvCxnSpPr>
          <p:nvPr/>
        </p:nvCxnSpPr>
        <p:spPr>
          <a:xfrm flipV="1">
            <a:off x="3880672" y="4013800"/>
            <a:ext cx="538576" cy="9609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4" idx="0"/>
          </p:cNvCxnSpPr>
          <p:nvPr/>
        </p:nvCxnSpPr>
        <p:spPr>
          <a:xfrm>
            <a:off x="4240712" y="2526961"/>
            <a:ext cx="331288" cy="111806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endCxn id="4" idx="7"/>
          </p:cNvCxnSpPr>
          <p:nvPr/>
        </p:nvCxnSpPr>
        <p:spPr>
          <a:xfrm flipH="1">
            <a:off x="4724752" y="2734066"/>
            <a:ext cx="884112" cy="97423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4" idx="6"/>
          </p:cNvCxnSpPr>
          <p:nvPr/>
        </p:nvCxnSpPr>
        <p:spPr>
          <a:xfrm flipH="1" flipV="1">
            <a:off x="4788024" y="3861048"/>
            <a:ext cx="1158998" cy="38110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0" idx="1"/>
            <a:endCxn id="4" idx="5"/>
          </p:cNvCxnSpPr>
          <p:nvPr/>
        </p:nvCxnSpPr>
        <p:spPr>
          <a:xfrm flipH="1" flipV="1">
            <a:off x="4724752" y="4013800"/>
            <a:ext cx="1062648" cy="99259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/>
          <p:cNvSpPr/>
          <p:nvPr/>
        </p:nvSpPr>
        <p:spPr>
          <a:xfrm>
            <a:off x="1547664" y="4758717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11560" y="5646265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2455113" y="5439187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1268016" y="3554042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cxnSp>
        <p:nvCxnSpPr>
          <p:cNvPr id="29" name="直線單箭頭接點 28"/>
          <p:cNvCxnSpPr>
            <a:stCxn id="28" idx="4"/>
            <a:endCxn id="25" idx="0"/>
          </p:cNvCxnSpPr>
          <p:nvPr/>
        </p:nvCxnSpPr>
        <p:spPr>
          <a:xfrm>
            <a:off x="1484040" y="3986090"/>
            <a:ext cx="279648" cy="7726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25" idx="3"/>
          </p:cNvCxnSpPr>
          <p:nvPr/>
        </p:nvCxnSpPr>
        <p:spPr>
          <a:xfrm flipV="1">
            <a:off x="988426" y="5127493"/>
            <a:ext cx="622510" cy="6086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 flipV="1">
            <a:off x="1987802" y="5127493"/>
            <a:ext cx="508511" cy="3574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7835373" y="3482540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8043653" y="1443264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206376" y="3266516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1415735" y="2156097"/>
            <a:ext cx="390401" cy="43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i="1" dirty="0">
              <a:solidFill>
                <a:schemeClr val="tx1"/>
              </a:solidFill>
            </a:endParaRPr>
          </a:p>
        </p:txBody>
      </p:sp>
      <p:cxnSp>
        <p:nvCxnSpPr>
          <p:cNvPr id="44" name="直線單箭頭接點 43"/>
          <p:cNvCxnSpPr>
            <a:endCxn id="9" idx="6"/>
          </p:cNvCxnSpPr>
          <p:nvPr/>
        </p:nvCxnSpPr>
        <p:spPr>
          <a:xfrm flipH="1" flipV="1">
            <a:off x="5940152" y="2523561"/>
            <a:ext cx="1865661" cy="103048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4745857" y="3554042"/>
            <a:ext cx="481624" cy="22575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7" idx="2"/>
            <a:endCxn id="9" idx="7"/>
          </p:cNvCxnSpPr>
          <p:nvPr/>
        </p:nvCxnSpPr>
        <p:spPr>
          <a:xfrm flipH="1">
            <a:off x="5876880" y="1659288"/>
            <a:ext cx="2166773" cy="7115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7937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87625"/>
            <a:ext cx="8229600" cy="5337720"/>
          </a:xfrm>
        </p:spPr>
        <p:txBody>
          <a:bodyPr/>
          <a:lstStyle/>
          <a:p>
            <a:r>
              <a:rPr lang="en-US" altLang="zh-TW" dirty="0" smtClean="0"/>
              <a:t>Examine the performance of INSIGHT algorithm with the </a:t>
            </a:r>
            <a:r>
              <a:rPr lang="en-US" altLang="zh-TW" dirty="0" err="1" smtClean="0"/>
              <a:t>FastAWARD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 smtClean="0"/>
              <a:t>The number of selected instances is equal to 10% of the size of the training set.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441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95933"/>
            <a:ext cx="8229600" cy="4929411"/>
          </a:xfrm>
        </p:spPr>
        <p:txBody>
          <a:bodyPr/>
          <a:lstStyle/>
          <a:p>
            <a:r>
              <a:rPr lang="en-US" altLang="zh-TW" dirty="0" smtClean="0"/>
              <a:t>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9552" y="1015613"/>
            <a:ext cx="8072841" cy="58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59851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5544616"/>
          </a:xfrm>
        </p:spPr>
        <p:txBody>
          <a:bodyPr/>
          <a:lstStyle/>
          <a:p>
            <a:r>
              <a:rPr lang="en-US" altLang="zh-TW" dirty="0" smtClean="0"/>
              <a:t>Compare the performance of different score function.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042" y="3159386"/>
            <a:ext cx="9113958" cy="15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6694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620688"/>
            <a:ext cx="8208912" cy="6007260"/>
          </a:xfrm>
        </p:spPr>
      </p:pic>
    </p:spTree>
    <p:extLst>
      <p:ext uri="{BB962C8B-B14F-4D97-AF65-F5344CB8AC3E}">
        <p14:creationId xmlns:p14="http://schemas.microsoft.com/office/powerpoint/2010/main" xmlns="" val="18898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380</Words>
  <Application>Microsoft Office PowerPoint</Application>
  <PresentationFormat>如螢幕大小 (4:3)</PresentationFormat>
  <Paragraphs>34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INSIGHT: Efficient and Effective Instance Selection for Time-Series Classification</vt:lpstr>
      <vt:lpstr>Abstract</vt:lpstr>
      <vt:lpstr>Abstract</vt:lpstr>
      <vt:lpstr>FastAWARD Algorithm</vt:lpstr>
      <vt:lpstr>FastAWARD Algorithm</vt:lpstr>
      <vt:lpstr>Score Functions</vt:lpstr>
      <vt:lpstr>Score Functions</vt:lpstr>
      <vt:lpstr>INSIGHT Algorithm</vt:lpstr>
      <vt:lpstr>INSIGHT Algorithm</vt:lpstr>
      <vt:lpstr>Experiments</vt:lpstr>
      <vt:lpstr>Experiments</vt:lpstr>
      <vt:lpstr>Experiments</vt:lpstr>
      <vt:lpstr>Experiments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cse</cp:lastModifiedBy>
  <cp:revision>51</cp:revision>
  <dcterms:created xsi:type="dcterms:W3CDTF">2015-04-20T14:41:54Z</dcterms:created>
  <dcterms:modified xsi:type="dcterms:W3CDTF">2015-04-21T10:12:19Z</dcterms:modified>
</cp:coreProperties>
</file>